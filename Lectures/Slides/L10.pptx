
<file path=[Content_Types].xml><?xml version="1.0" encoding="utf-8"?>
<Types xmlns="http://schemas.openxmlformats.org/package/2006/content-types">
  <Default Extension="gif" ContentType="image/gif"/>
  <Default Extension="jpeg" ContentType="image/jpeg"/>
  <Default Extension="jp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metadata" ContentType="application/binary"/>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saveSubsetFonts="1" autoCompressPictures="0">
  <p:sldMasterIdLst>
    <p:sldMasterId id="2147483648" r:id="rId1"/>
  </p:sldMasterIdLst>
  <p:notesMasterIdLst>
    <p:notesMasterId r:id="rId63"/>
  </p:notesMasterIdLst>
  <p:sldIdLst>
    <p:sldId id="256" r:id="rId2"/>
    <p:sldId id="310" r:id="rId3"/>
    <p:sldId id="257" r:id="rId4"/>
    <p:sldId id="258" r:id="rId5"/>
    <p:sldId id="259" r:id="rId6"/>
    <p:sldId id="313" r:id="rId7"/>
    <p:sldId id="314" r:id="rId8"/>
    <p:sldId id="317" r:id="rId9"/>
    <p:sldId id="316" r:id="rId10"/>
    <p:sldId id="315" r:id="rId11"/>
    <p:sldId id="318" r:id="rId12"/>
    <p:sldId id="319" r:id="rId13"/>
    <p:sldId id="320" r:id="rId14"/>
    <p:sldId id="321" r:id="rId15"/>
    <p:sldId id="322" r:id="rId16"/>
    <p:sldId id="323" r:id="rId17"/>
    <p:sldId id="312" r:id="rId18"/>
    <p:sldId id="324" r:id="rId19"/>
    <p:sldId id="325" r:id="rId20"/>
    <p:sldId id="326" r:id="rId21"/>
    <p:sldId id="327" r:id="rId22"/>
    <p:sldId id="328" r:id="rId23"/>
    <p:sldId id="311" r:id="rId24"/>
    <p:sldId id="329" r:id="rId25"/>
    <p:sldId id="330" r:id="rId26"/>
    <p:sldId id="331" r:id="rId27"/>
    <p:sldId id="332" r:id="rId28"/>
    <p:sldId id="333" r:id="rId29"/>
    <p:sldId id="334" r:id="rId30"/>
    <p:sldId id="335" r:id="rId31"/>
    <p:sldId id="337" r:id="rId32"/>
    <p:sldId id="338" r:id="rId33"/>
    <p:sldId id="339" r:id="rId34"/>
    <p:sldId id="340" r:id="rId35"/>
    <p:sldId id="336" r:id="rId36"/>
    <p:sldId id="341" r:id="rId37"/>
    <p:sldId id="342" r:id="rId38"/>
    <p:sldId id="343" r:id="rId39"/>
    <p:sldId id="387" r:id="rId40"/>
    <p:sldId id="392" r:id="rId41"/>
    <p:sldId id="393" r:id="rId42"/>
    <p:sldId id="395" r:id="rId43"/>
    <p:sldId id="394" r:id="rId44"/>
    <p:sldId id="396" r:id="rId45"/>
    <p:sldId id="398" r:id="rId46"/>
    <p:sldId id="405" r:id="rId47"/>
    <p:sldId id="397" r:id="rId48"/>
    <p:sldId id="399" r:id="rId49"/>
    <p:sldId id="401" r:id="rId50"/>
    <p:sldId id="402" r:id="rId51"/>
    <p:sldId id="403" r:id="rId52"/>
    <p:sldId id="404" r:id="rId53"/>
    <p:sldId id="406" r:id="rId54"/>
    <p:sldId id="407" r:id="rId55"/>
    <p:sldId id="408" r:id="rId56"/>
    <p:sldId id="409" r:id="rId57"/>
    <p:sldId id="410" r:id="rId58"/>
    <p:sldId id="411" r:id="rId59"/>
    <p:sldId id="412" r:id="rId60"/>
    <p:sldId id="271" r:id="rId61"/>
    <p:sldId id="270" r:id="rId62"/>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defaultTextStyle>
  <p:extLst>
    <p:ext uri="{EFAFB233-063F-42B5-8137-9DF3F51BA10A}">
      <p15:sldGuideLst xmlns:p15="http://schemas.microsoft.com/office/powerpoint/2012/main"/>
    </p:ext>
    <p:ext uri="http://customooxmlschemas.google.com/">
      <go:slidesCustomData xmlns:go="http://customooxmlschemas.google.com/" xmlns:ahyp="http://schemas.microsoft.com/office/drawing/2018/hyperlinkcolor" xmlns:p15="http://schemas.microsoft.com/office/powerpoint/2012/main" xmlns:p14="http://schemas.microsoft.com/office/powerpoint/2010/main" xmlns:com="http://schemas.openxmlformats.org/drawingml/2006/compatibility" xmlns:pvml="urn:schemas-microsoft-com:office:powerpoint" xmlns:v="urn:schemas-microsoft-com:vml" xmlns:o="urn:schemas-microsoft-com:office:office" xmlns:dgm="http://schemas.openxmlformats.org/drawingml/2006/diagram" xmlns:c="http://schemas.openxmlformats.org/drawingml/2006/chart" xmlns:mv="urn:schemas-microsoft-com:mac:vml" xmlns:mc="http://schemas.openxmlformats.org/markup-compatibility/2006" xmlns="" r:id="rId64" roundtripDataSignature="AMtx7mjKkk5wOoQj6sDPPETbbKgHU96Dzg=="/>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6838" autoAdjust="0"/>
    <p:restoredTop sz="94660"/>
  </p:normalViewPr>
  <p:slideViewPr>
    <p:cSldViewPr snapToGrid="0">
      <p:cViewPr>
        <p:scale>
          <a:sx n="150" d="100"/>
          <a:sy n="150" d="100"/>
        </p:scale>
        <p:origin x="84" y="108"/>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notesMaster" Target="notesMasters/notesMaster1.xml"/><Relationship Id="rId68"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viewProps" Target="viewProps.xml"/><Relationship Id="rId5" Type="http://schemas.openxmlformats.org/officeDocument/2006/relationships/slide" Target="slides/slide4.xml"/><Relationship Id="rId61" Type="http://schemas.openxmlformats.org/officeDocument/2006/relationships/slide" Target="slides/slide60.xml"/><Relationship Id="rId19" Type="http://schemas.openxmlformats.org/officeDocument/2006/relationships/slide" Target="slides/slide1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customschemas.google.com/relationships/presentationmetadata" Target="metadata"/><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theme" Target="theme/theme1.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presProps" Target="pres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L="914400" marR="0" lvl="1"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2pPr>
            <a:lvl3pPr marL="1371600" marR="0" lvl="2"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3pPr>
            <a:lvl4pPr marL="1828800" marR="0" lvl="3"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4pPr>
            <a:lvl5pPr marL="2286000" marR="0" lvl="4"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5pPr>
            <a:lvl6pPr marL="2743200" marR="0" lvl="5"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6pPr>
            <a:lvl7pPr marL="3200400" marR="0" lvl="6"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7pPr>
            <a:lvl8pPr marL="3657600" marR="0" lvl="7"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8pPr>
            <a:lvl9pPr marL="4114800" marR="0" lvl="8" indent="-22860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lnSpc>
                <a:spcPct val="100000"/>
              </a:lnSpc>
              <a:spcBef>
                <a:spcPts val="0"/>
              </a:spcBef>
              <a:spcAft>
                <a:spcPts val="0"/>
              </a:spcAft>
              <a:buClr>
                <a:srgbClr val="000000"/>
              </a:buClr>
              <a:buSzPts val="1200"/>
              <a:buFont typeface="Arial"/>
              <a:buNone/>
            </a:pPr>
            <a:fld id="{00000000-1234-1234-1234-123412341234}" type="slidenum">
              <a:rPr lang="en-US"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58.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59.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60.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61.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78"/>
        <p:cNvGrpSpPr/>
        <p:nvPr/>
      </p:nvGrpSpPr>
      <p:grpSpPr>
        <a:xfrm>
          <a:off x="0" y="0"/>
          <a:ext cx="0" cy="0"/>
          <a:chOff x="0" y="0"/>
          <a:chExt cx="0" cy="0"/>
        </a:xfrm>
      </p:grpSpPr>
      <p:sp>
        <p:nvSpPr>
          <p:cNvPr id="79" name="Google Shape;79;p2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0" name="Google Shape;80;p26: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11560CD-FFDE-70C6-6183-A453F3E9816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7E4E91-ED9F-DE16-BEB6-F07455961AC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dirty="0"/>
          </a:p>
        </p:txBody>
      </p:sp>
      <p:sp>
        <p:nvSpPr>
          <p:cNvPr id="116" name="Google Shape;116;p29:notes">
            <a:extLst>
              <a:ext uri="{FF2B5EF4-FFF2-40B4-BE49-F238E27FC236}">
                <a16:creationId xmlns:a16="http://schemas.microsoft.com/office/drawing/2014/main" id="{063A7F12-DA54-6672-271A-7F884E56D74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999434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p:cNvGrpSpPr/>
        <p:nvPr/>
      </p:nvGrpSpPr>
      <p:grpSpPr>
        <a:xfrm>
          <a:off x="0" y="0"/>
          <a:ext cx="0" cy="0"/>
          <a:chOff x="0" y="0"/>
          <a:chExt cx="0" cy="0"/>
        </a:xfrm>
      </p:grpSpPr>
      <p:sp>
        <p:nvSpPr>
          <p:cNvPr id="86" name="Google Shape;86;p27: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p:cNvGrpSpPr/>
        <p:nvPr/>
      </p:nvGrpSpPr>
      <p:grpSpPr>
        <a:xfrm>
          <a:off x="0" y="0"/>
          <a:ext cx="0" cy="0"/>
          <a:chOff x="0" y="0"/>
          <a:chExt cx="0" cy="0"/>
        </a:xfrm>
      </p:grpSpPr>
      <p:sp>
        <p:nvSpPr>
          <p:cNvPr id="101" name="Google Shape;101;p2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p:cNvGrpSpPr/>
        <p:nvPr/>
      </p:nvGrpSpPr>
      <p:grpSpPr>
        <a:xfrm>
          <a:off x="0" y="0"/>
          <a:ext cx="0" cy="0"/>
          <a:chOff x="0" y="0"/>
          <a:chExt cx="0" cy="0"/>
        </a:xfrm>
      </p:grpSpPr>
      <p:sp>
        <p:nvSpPr>
          <p:cNvPr id="115" name="Google Shape;115;p29:notes"/>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FAA43166-8A95-E881-566F-CAD4671DE37F}"/>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5D551DF6-AB9E-0C6E-93B6-D392D41D69AD}"/>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20BECC3-FFD6-41EB-10C6-1FBE7846979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24756656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7DBFD4D-AE7D-68F8-0C20-4F90269B2CC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59EEFD2-4ABD-1611-805D-40C4DD0612A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41A35EB-A465-B968-46D2-742B878F02A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9637402"/>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C544E87-0EF6-BE29-B579-6FF8B0F3893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EE9560C3-C856-7382-D905-259B867585A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B18DF1F-5C35-9117-B92F-4BF7924A404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45451889"/>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FE46F52-EFA8-1F2C-CCA3-C40005553E1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1719A0D-72EF-B7D0-C582-E56B355ED4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32B6B89-2CF4-ACDF-1977-12F5C7594AB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35176194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957DE5A-A5C4-C9D1-471C-D93B3D697EF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396E94D-904F-F71E-42DE-121AB1E179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A4129A-E292-4B95-E833-58CA07B3CF4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80183217"/>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E04A5C2-A0E4-8C0F-AC72-C69B44AD1B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F4D7197-2140-682B-7E57-F58CD000436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B803DBD-1BAC-97D2-2B45-E50B43FBBEF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472946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5F4E15-1AB0-51B8-A72E-1C7CC324219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130D498-039D-014A-244D-4D5A8B0C69F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61235C-A8D1-C2A7-803F-8AE69C8AE4A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975431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DB94B0C-3F4E-B744-7920-4CFCCB4A1D8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1C29DA7-EBD8-6761-34D7-560A32A8CB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39FC028-3DA0-97F3-18AB-E0ADFE67CAE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44789366"/>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1BAD955-BED5-2BE4-0327-CAD16938A2B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EEAA1BF-E6D8-F736-52C9-BD3917EAB5C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BE6F9B9-84D8-C099-085F-1E2ADB7EAE7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4106181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00">
          <a:extLst>
            <a:ext uri="{FF2B5EF4-FFF2-40B4-BE49-F238E27FC236}">
              <a16:creationId xmlns:a16="http://schemas.microsoft.com/office/drawing/2014/main" id="{3C650CAE-47A8-B85D-00CA-AD07CD37F58E}"/>
            </a:ext>
          </a:extLst>
        </p:cNvPr>
        <p:cNvGrpSpPr/>
        <p:nvPr/>
      </p:nvGrpSpPr>
      <p:grpSpPr>
        <a:xfrm>
          <a:off x="0" y="0"/>
          <a:ext cx="0" cy="0"/>
          <a:chOff x="0" y="0"/>
          <a:chExt cx="0" cy="0"/>
        </a:xfrm>
      </p:grpSpPr>
      <p:sp>
        <p:nvSpPr>
          <p:cNvPr id="101" name="Google Shape;101;p28:notes">
            <a:extLst>
              <a:ext uri="{FF2B5EF4-FFF2-40B4-BE49-F238E27FC236}">
                <a16:creationId xmlns:a16="http://schemas.microsoft.com/office/drawing/2014/main" id="{B6D49CE6-0EB5-A0DD-8BB5-389DBEF8B810}"/>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02" name="Google Shape;102;p28:notes">
            <a:extLst>
              <a:ext uri="{FF2B5EF4-FFF2-40B4-BE49-F238E27FC236}">
                <a16:creationId xmlns:a16="http://schemas.microsoft.com/office/drawing/2014/main" id="{6127932C-AF78-2089-3C62-AA07FC6F310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536101569"/>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A0651213-8B35-560F-7759-7764D7FED94F}"/>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94E3B979-7B93-EAE1-AEF1-557FB7C1B7FE}"/>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41A24ECE-8009-FD17-8015-7A8B86AB06C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57754663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CDDC444-2663-64AD-C9F4-439798AC1BD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AA7E-01EF-AA46-F3EF-DA8AED50D4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D15DAAEE-E6BA-1500-4B64-05DE092ACE7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81240252"/>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B62E8000-CB92-3A4C-294F-3E054BB5EC9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2DDF51-A013-0964-1D79-297A964005D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E1F7B3D-5DCF-3100-AD2E-94FC8AE883E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047103754"/>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7492335-FBD3-A583-6AA2-D8BFE27806E9}"/>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9AEB991-DE04-9ECA-9523-2E5A56D9D8D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42E4614-C7E3-A1DD-F21C-7999B7385B7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986944467"/>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5692482-4B47-61B5-65EA-56648A060EE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A830643-B89C-263E-8E5E-48BD6E6DE88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25E3F4C-8045-1EB4-7E3C-B4CA3B96801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0812490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D160F9B-A215-A17B-8053-7FF3F0FFDA8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1F34ADB5-936C-260F-EFA2-C12C1D38D31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A5F372D-1045-C0EE-2A6F-D40915C5D75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37517190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EE22260-D135-2677-127C-B369E1B809F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6980CB1-3FD5-4D5F-8261-0A3CF3B55FE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08CEC90-7112-495D-B4E0-2B421B9468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883748627"/>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C42C14D7-E780-55AA-4F75-8143EA0CF6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6FE901C-E865-B22C-65ED-4705BD4DA01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9457A86-0291-05A7-AD45-70A2842B305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8404630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666E6BC-40B5-22AF-A8A7-82518D66E6F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A950A21-BACD-4639-332D-A4644D59414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BDAF0794-FC18-50B4-BD8A-CA0865FD97C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2733588"/>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BC8E0C2-F55E-82D5-7D0D-AEEEE2153EC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D878A16-6351-60A5-4562-EE9767D6A7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FC4F313D-CB6A-05E5-3555-E99E0582422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659777707"/>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D66BED32-8511-856D-B8C8-77F1A569ED8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C79D611-CE19-A6CC-D3B7-DF42F1085F5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3BD546B-81C8-87C7-EBB7-1A9CD19C6C7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97768383"/>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7BD36C30-3EE8-1198-B9D1-94B5FF146EB4}"/>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A2D0E8C1-3F1B-6B93-136B-0F63394B1348}"/>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78974777-6097-1A45-8D81-DB61741A25A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437440325"/>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E72A76E-6E6A-EA50-55DD-70C20DFC21D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2759589-A48B-5967-B686-128C8ACC1C0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B602DA-FD5F-2074-E05A-E8C54A92470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852935905"/>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49521B6-B356-37C6-5D71-917EAE94FC60}"/>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08CE8C6-0817-D5D3-3348-833717CBFF7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C34C71-A3B3-E160-D0E1-022C34CDE0A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852947027"/>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0C1BC1B-E5F6-025C-037F-9506FA9579F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12B6685-8FF5-C07A-4316-B3F9D3A53B1C}"/>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CC6BD691-9E58-0580-C6A9-7399099E792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02412218"/>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DCD259E-766C-0618-FD59-6BF3218F62A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7EEADBE-E0EC-7510-717E-BA781CCCEB2B}"/>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FDCEF93-CAA8-F422-1065-5EF872A3018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66449029"/>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338E008-FF89-0B47-1693-5F5BA8BEE12D}"/>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541FB41-84F3-CA40-1200-E72F89AB492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8A45178F-08C2-B5F5-58EB-EF4A74D1F75D}"/>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13980488"/>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9A4B1404-C649-11DA-7412-51D8FDAC619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BF7C5FA-919E-7EE6-B95E-E80BFEAA166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E4BFC9E-C88F-6315-325F-BDA7AB4AC8F0}"/>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793475595"/>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B0C09FE-791D-491B-8E80-8764EDC1809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4983BE00-14C9-243E-5332-D08D43AB23E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3558CBD-9FA7-D649-4B03-2BBD420A48A1}"/>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00761944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AACA83C1-C5EB-0E3D-3E4B-19CCD8C4A0C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BBA419A-6F23-E879-33AF-D060D903E6F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7673CD66-11DD-DDF1-ED61-E28B675D318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74764897"/>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DDBD0C6-DB01-83AE-FC17-7D483F04782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3CF3F9-A873-7927-B9EC-DB76405B29E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83E23AE-91DD-CB3E-F421-6196D239ACE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4627950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ED6C1BF-95E1-5523-2293-A87711142B4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9E67259-27F6-F786-03E6-065EE996B398}"/>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068D1632-F159-E5D6-9002-D456EEF496E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37405817"/>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6FE6A2B2-A172-A77A-F7E2-DAADE14FBB2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6BB7049-C01F-DECB-B8E5-BACD015FEE6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267EE29-D779-B4BC-D825-9EF12DACC16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431302700"/>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607BC8B-0C1E-EE84-6829-3C6DED334AEF}"/>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0DC2D3CB-8011-65E0-3143-933CED90E497}"/>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AD7B16D-3D7C-FB11-ADC3-3D31200867F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780091403"/>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09C29792-4A77-46FC-4E2A-32C30E2149B1}"/>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DD594CE-A425-C2F2-1A05-B0A3C19645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12A5F9-D8AF-3C25-A81F-8B80FF16A83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47943010"/>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88C494AC-3CB3-D447-0BB4-5C5FA572D583}"/>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EF888F7-1C04-9E04-E5CD-A003AEA2C12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B602BB-E80F-0FC0-5DFE-AE6522C12A7E}"/>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14817069"/>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D69BACB3-9250-501E-492B-02368A646461}"/>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F7FA5AA4-2D06-5E10-E47E-CB58BBC9395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Correct, you would need 15 SPISTE wires to route between the different sensors, this complicates the circuit and, more wires also means more potential interference!</a:t>
            </a:r>
            <a:endParaRPr dirty="0"/>
          </a:p>
        </p:txBody>
      </p:sp>
      <p:sp>
        <p:nvSpPr>
          <p:cNvPr id="87" name="Google Shape;87;p27:notes">
            <a:extLst>
              <a:ext uri="{FF2B5EF4-FFF2-40B4-BE49-F238E27FC236}">
                <a16:creationId xmlns:a16="http://schemas.microsoft.com/office/drawing/2014/main" id="{1506A244-AFEC-BFDE-AA11-AE195A54631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64572082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1582C02F-C285-F449-8EA1-E1D2F00646F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50A8BC2B-1BF1-D612-F9BF-43641C6BD6F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1E2DC188-CDEC-7509-AEFF-4261EDAB4F0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4213358384"/>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27090A88-7CE8-CFF4-2F18-8A131D1457B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387886F1-886C-5426-615C-E07CAC45B9CA}"/>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4F6EBE4A-B54F-87FF-7C29-FB4C0F7F63B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89626297"/>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64BC3D-6452-DF5F-D9A4-D824FB6DCB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8D402A8-708B-8999-FE2E-DEFE2466319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4CAB557-4D64-AF74-C1CA-FFA2AFEADF9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263242167"/>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0A038A9-C724-CFD4-FA00-03791AF11494}"/>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A5017A38-13D9-10D1-7D26-32370DFBBAD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63A98F0E-A8B4-7AC6-0AE6-4FC30C16662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997313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8DCCCF5-0E98-C80D-AD5C-415490B1D7EC}"/>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87B2FEDB-159A-F08A-B832-F0452A5527A6}"/>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D7D7E34-683F-B65B-0D1D-8A98D5BCC2EC}"/>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235262208"/>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727C2667-6FA7-3649-A353-5B09F7FC2DA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CC27687E-7EF7-5767-DD72-91F192651AD3}"/>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330D447-1745-AC3B-2D4C-09F524D63CF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3149291575"/>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36ACAC2C-3B9C-0BF7-6012-9D576CEF6D07}"/>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75409370-3EAD-9487-DAD9-A0E660B6C24D}"/>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E52243D-64FD-AC30-E686-4943A1F0B66B}"/>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473654157"/>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4D9F9877-9868-3F44-D95D-47C77CE827B2}"/>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FF69889D-AFD8-5E55-DE1F-21F108BB3C54}"/>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98E1D671-B8A2-DD52-55D7-A55FC4CFEFC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703057443"/>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2F60CFF-3499-365F-D27E-D2CE0F62451B}"/>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5D84B49C-9472-9574-FE88-58DFAC2CBDB5}"/>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A871F966-285B-370F-E4A0-6D5E2BD9638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494275737"/>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7359F92-92EE-6DCA-5BA0-48586D8AE43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238ADEA5-30CA-6754-72C3-7B17F0ABA931}"/>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FC460299-1C2E-8129-90D1-FE2AB98CBF7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4260552185"/>
      </p:ext>
    </p:extLst>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29E40127-582A-3A0E-85A3-63EFB7248A58}"/>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68980E48-3660-2FC0-3864-7CE0E747A1CB}"/>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r>
              <a:rPr lang="en-US" dirty="0"/>
              <a:t>How do we get the electrical signals to agree on a single clock wave?</a:t>
            </a:r>
            <a:endParaRPr dirty="0"/>
          </a:p>
        </p:txBody>
      </p:sp>
      <p:sp>
        <p:nvSpPr>
          <p:cNvPr id="87" name="Google Shape;87;p27:notes">
            <a:extLst>
              <a:ext uri="{FF2B5EF4-FFF2-40B4-BE49-F238E27FC236}">
                <a16:creationId xmlns:a16="http://schemas.microsoft.com/office/drawing/2014/main" id="{F2A128FA-9E8D-47CF-5904-C3CFB6766208}"/>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048623613"/>
      </p:ext>
    </p:extLst>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F94AAAB-8BC6-8921-F38A-EBABF0F44D25}"/>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68EC11F6-49EA-F5E6-10FC-4DE5FF0756E9}"/>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AEAD4B2-3CE8-A83A-BDA3-5168650D555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724312639"/>
      </p:ext>
    </p:extLst>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571CBFB4-8EF2-C10E-F9B4-07DDC70F90F8}"/>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E05EF9F-11FF-82F6-9958-35D228EA8B0E}"/>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1996EC63-E185-5A52-EB13-FE9752A4D967}"/>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92741626"/>
      </p:ext>
    </p:extLst>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EFCA1EA4-1150-7202-D155-3E447F9DC12A}"/>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3460245-CCF5-A0B7-F2E6-677CCB27AEBF}"/>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E3017F10-C0FF-DD99-9F97-170A808D16A3}"/>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136308116"/>
      </p:ext>
    </p:extLst>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
          <a:extLst>
            <a:ext uri="{FF2B5EF4-FFF2-40B4-BE49-F238E27FC236}">
              <a16:creationId xmlns:a16="http://schemas.microsoft.com/office/drawing/2014/main" id="{F90229A1-C4D5-1E31-B4AE-21F9D76A5FB5}"/>
            </a:ext>
          </a:extLst>
        </p:cNvPr>
        <p:cNvGrpSpPr/>
        <p:nvPr/>
      </p:nvGrpSpPr>
      <p:grpSpPr>
        <a:xfrm>
          <a:off x="0" y="0"/>
          <a:ext cx="0" cy="0"/>
          <a:chOff x="0" y="0"/>
          <a:chExt cx="0" cy="0"/>
        </a:xfrm>
      </p:grpSpPr>
      <p:sp>
        <p:nvSpPr>
          <p:cNvPr id="86" name="Google Shape;86;p27:notes">
            <a:extLst>
              <a:ext uri="{FF2B5EF4-FFF2-40B4-BE49-F238E27FC236}">
                <a16:creationId xmlns:a16="http://schemas.microsoft.com/office/drawing/2014/main" id="{EB72D92A-40DA-CEAB-651A-6390E806EA6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7" name="Google Shape;87;p27:notes">
            <a:extLst>
              <a:ext uri="{FF2B5EF4-FFF2-40B4-BE49-F238E27FC236}">
                <a16:creationId xmlns:a16="http://schemas.microsoft.com/office/drawing/2014/main" id="{9234B7F8-5202-0577-2128-19A5F21FE4E6}"/>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92569866"/>
      </p:ext>
    </p:extLst>
  </p:cSld>
  <p:clrMapOvr>
    <a:masterClrMapping/>
  </p:clrMapOvr>
</p:notes>
</file>

<file path=ppt/notesSlides/notesSlide5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F65EF128-6066-A9F1-7231-CDBCE83D342E}"/>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BD2F2CE0-F6CA-3074-37C2-EAA94DB88460}"/>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1C8D23E-711B-3969-8670-62F87E480BB4}"/>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2562673390"/>
      </p:ext>
    </p:extLst>
  </p:cSld>
  <p:clrMapOvr>
    <a:masterClrMapping/>
  </p:clrMapOvr>
</p:notes>
</file>

<file path=ppt/notesSlides/notesSlide5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14">
          <a:extLst>
            <a:ext uri="{FF2B5EF4-FFF2-40B4-BE49-F238E27FC236}">
              <a16:creationId xmlns:a16="http://schemas.microsoft.com/office/drawing/2014/main" id="{1FBF2369-0DAB-7754-347F-C85C833F0026}"/>
            </a:ext>
          </a:extLst>
        </p:cNvPr>
        <p:cNvGrpSpPr/>
        <p:nvPr/>
      </p:nvGrpSpPr>
      <p:grpSpPr>
        <a:xfrm>
          <a:off x="0" y="0"/>
          <a:ext cx="0" cy="0"/>
          <a:chOff x="0" y="0"/>
          <a:chExt cx="0" cy="0"/>
        </a:xfrm>
      </p:grpSpPr>
      <p:sp>
        <p:nvSpPr>
          <p:cNvPr id="115" name="Google Shape;115;p29:notes">
            <a:extLst>
              <a:ext uri="{FF2B5EF4-FFF2-40B4-BE49-F238E27FC236}">
                <a16:creationId xmlns:a16="http://schemas.microsoft.com/office/drawing/2014/main" id="{DFEDA960-0BD6-630C-D2CC-D8E051554822}"/>
              </a:ext>
            </a:extLst>
          </p:cNvPr>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1400"/>
              <a:buNone/>
            </a:pPr>
            <a:endParaRPr/>
          </a:p>
        </p:txBody>
      </p:sp>
      <p:sp>
        <p:nvSpPr>
          <p:cNvPr id="116" name="Google Shape;116;p29:notes">
            <a:extLst>
              <a:ext uri="{FF2B5EF4-FFF2-40B4-BE49-F238E27FC236}">
                <a16:creationId xmlns:a16="http://schemas.microsoft.com/office/drawing/2014/main" id="{3E1D1E9B-4136-F5C6-9A15-5DB9488C1FF2}"/>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Tree>
    <p:extLst>
      <p:ext uri="{BB962C8B-B14F-4D97-AF65-F5344CB8AC3E}">
        <p14:creationId xmlns:p14="http://schemas.microsoft.com/office/powerpoint/2010/main" val="532894796"/>
      </p:ext>
    </p:extLst>
  </p:cSld>
  <p:clrMapOvr>
    <a:masterClrMapping/>
  </p:clrMapOvr>
</p:notes>
</file>

<file path=ppt/notesSlides/notesSlide6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0">
          <a:extLst>
            <a:ext uri="{FF2B5EF4-FFF2-40B4-BE49-F238E27FC236}">
              <a16:creationId xmlns:a16="http://schemas.microsoft.com/office/drawing/2014/main" id="{ED6D95D0-49C4-BE65-6DB0-A8408AD9A1A2}"/>
            </a:ext>
          </a:extLst>
        </p:cNvPr>
        <p:cNvGrpSpPr/>
        <p:nvPr/>
      </p:nvGrpSpPr>
      <p:grpSpPr>
        <a:xfrm>
          <a:off x="0" y="0"/>
          <a:ext cx="0" cy="0"/>
          <a:chOff x="0" y="0"/>
          <a:chExt cx="0" cy="0"/>
        </a:xfrm>
      </p:grpSpPr>
      <p:sp>
        <p:nvSpPr>
          <p:cNvPr id="261" name="Google Shape;261;p37:notes">
            <a:extLst>
              <a:ext uri="{FF2B5EF4-FFF2-40B4-BE49-F238E27FC236}">
                <a16:creationId xmlns:a16="http://schemas.microsoft.com/office/drawing/2014/main" id="{D5BF9D20-A937-E031-5ACD-4B566F245A56}"/>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2" name="Google Shape;262;p37:notes">
            <a:extLst>
              <a:ext uri="{FF2B5EF4-FFF2-40B4-BE49-F238E27FC236}">
                <a16:creationId xmlns:a16="http://schemas.microsoft.com/office/drawing/2014/main" id="{1666A96F-D523-1F0C-00D5-14D5F35E2C2F}"/>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888823651"/>
      </p:ext>
    </p:extLst>
  </p:cSld>
  <p:clrMapOvr>
    <a:masterClrMapping/>
  </p:clrMapOvr>
</p:notes>
</file>

<file path=ppt/notesSlides/notesSlide6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71"/>
        <p:cNvGrpSpPr/>
        <p:nvPr/>
      </p:nvGrpSpPr>
      <p:grpSpPr>
        <a:xfrm>
          <a:off x="0" y="0"/>
          <a:ext cx="0" cy="0"/>
          <a:chOff x="0" y="0"/>
          <a:chExt cx="0" cy="0"/>
        </a:xfrm>
      </p:grpSpPr>
      <p:sp>
        <p:nvSpPr>
          <p:cNvPr id="272" name="Google Shape;272;p3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3" name="Google Shape;273;p3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15"/>
        <p:cNvGrpSpPr/>
        <p:nvPr/>
      </p:nvGrpSpPr>
      <p:grpSpPr>
        <a:xfrm>
          <a:off x="0" y="0"/>
          <a:ext cx="0" cy="0"/>
          <a:chOff x="0" y="0"/>
          <a:chExt cx="0" cy="0"/>
        </a:xfrm>
      </p:grpSpPr>
      <p:sp>
        <p:nvSpPr>
          <p:cNvPr id="16" name="Google Shape;16;p2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7" name="Google Shape;17;p2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18" name="Google Shape;18;p21"/>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19"/>
        <p:cNvGrpSpPr/>
        <p:nvPr/>
      </p:nvGrpSpPr>
      <p:grpSpPr>
        <a:xfrm>
          <a:off x="0" y="0"/>
          <a:ext cx="0" cy="0"/>
          <a:chOff x="0" y="0"/>
          <a:chExt cx="0" cy="0"/>
        </a:xfrm>
      </p:grpSpPr>
      <p:sp>
        <p:nvSpPr>
          <p:cNvPr id="20" name="Google Shape;20;p16"/>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1" name="Google Shape;21;p16"/>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2" name="Google Shape;22;p1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3" name="Google Shape;23;p1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4" name="Google Shape;24;p16"/>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5"/>
        <p:cNvGrpSpPr/>
        <p:nvPr/>
      </p:nvGrpSpPr>
      <p:grpSpPr>
        <a:xfrm>
          <a:off x="0" y="0"/>
          <a:ext cx="0" cy="0"/>
          <a:chOff x="0" y="0"/>
          <a:chExt cx="0" cy="0"/>
        </a:xfrm>
      </p:grpSpPr>
      <p:sp>
        <p:nvSpPr>
          <p:cNvPr id="26" name="Google Shape;26;p17"/>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7" name="Google Shape;27;p17"/>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28" name="Google Shape;28;p1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29" name="Google Shape;29;p1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0" name="Google Shape;30;p17"/>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1"/>
        <p:cNvGrpSpPr/>
        <p:nvPr/>
      </p:nvGrpSpPr>
      <p:grpSpPr>
        <a:xfrm>
          <a:off x="0" y="0"/>
          <a:ext cx="0" cy="0"/>
          <a:chOff x="0" y="0"/>
          <a:chExt cx="0" cy="0"/>
        </a:xfrm>
      </p:grpSpPr>
      <p:sp>
        <p:nvSpPr>
          <p:cNvPr id="32" name="Google Shape;32;p18"/>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3" name="Google Shape;33;p18"/>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4" name="Google Shape;34;p18"/>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5" name="Google Shape;35;p1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6" name="Google Shape;36;p1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37" name="Google Shape;37;p18"/>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38"/>
        <p:cNvGrpSpPr/>
        <p:nvPr/>
      </p:nvGrpSpPr>
      <p:grpSpPr>
        <a:xfrm>
          <a:off x="0" y="0"/>
          <a:ext cx="0" cy="0"/>
          <a:chOff x="0" y="0"/>
          <a:chExt cx="0" cy="0"/>
        </a:xfrm>
      </p:grpSpPr>
      <p:sp>
        <p:nvSpPr>
          <p:cNvPr id="39" name="Google Shape;39;p19"/>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0" name="Google Shape;40;p19"/>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1" name="Google Shape;41;p19"/>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2" name="Google Shape;42;p19"/>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3" name="Google Shape;43;p19"/>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4" name="Google Shape;44;p1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5" name="Google Shape;45;p1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6" name="Google Shape;46;p19"/>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47"/>
        <p:cNvGrpSpPr/>
        <p:nvPr/>
      </p:nvGrpSpPr>
      <p:grpSpPr>
        <a:xfrm>
          <a:off x="0" y="0"/>
          <a:ext cx="0" cy="0"/>
          <a:chOff x="0" y="0"/>
          <a:chExt cx="0" cy="0"/>
        </a:xfrm>
      </p:grpSpPr>
      <p:sp>
        <p:nvSpPr>
          <p:cNvPr id="48" name="Google Shape;48;p20"/>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49" name="Google Shape;49;p2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0" name="Google Shape;50;p2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1" name="Google Shape;51;p20"/>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52"/>
        <p:cNvGrpSpPr/>
        <p:nvPr/>
      </p:nvGrpSpPr>
      <p:grpSpPr>
        <a:xfrm>
          <a:off x="0" y="0"/>
          <a:ext cx="0" cy="0"/>
          <a:chOff x="0" y="0"/>
          <a:chExt cx="0" cy="0"/>
        </a:xfrm>
      </p:grpSpPr>
      <p:sp>
        <p:nvSpPr>
          <p:cNvPr id="53" name="Google Shape;53;p22"/>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4" name="Google Shape;54;p22"/>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55" name="Google Shape;55;p22"/>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56" name="Google Shape;56;p2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7" name="Google Shape;57;p2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58" name="Google Shape;58;p22"/>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59"/>
        <p:cNvGrpSpPr/>
        <p:nvPr/>
      </p:nvGrpSpPr>
      <p:grpSpPr>
        <a:xfrm>
          <a:off x="0" y="0"/>
          <a:ext cx="0" cy="0"/>
          <a:chOff x="0" y="0"/>
          <a:chExt cx="0" cy="0"/>
        </a:xfrm>
      </p:grpSpPr>
      <p:sp>
        <p:nvSpPr>
          <p:cNvPr id="60" name="Google Shape;60;p23"/>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1" name="Google Shape;61;p23"/>
          <p:cNvSpPr>
            <a:spLocks noGrp="1"/>
          </p:cNvSpPr>
          <p:nvPr>
            <p:ph type="pic" idx="2"/>
          </p:nvPr>
        </p:nvSpPr>
        <p:spPr>
          <a:xfrm>
            <a:off x="5183188" y="987425"/>
            <a:ext cx="6172200" cy="4873625"/>
          </a:xfrm>
          <a:prstGeom prst="rect">
            <a:avLst/>
          </a:prstGeom>
          <a:noFill/>
          <a:ln>
            <a:noFill/>
          </a:ln>
        </p:spPr>
      </p:sp>
      <p:sp>
        <p:nvSpPr>
          <p:cNvPr id="62" name="Google Shape;62;p23"/>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3" name="Google Shape;63;p2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4" name="Google Shape;64;p2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5" name="Google Shape;65;p23"/>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66"/>
        <p:cNvGrpSpPr/>
        <p:nvPr/>
      </p:nvGrpSpPr>
      <p:grpSpPr>
        <a:xfrm>
          <a:off x="0" y="0"/>
          <a:ext cx="0" cy="0"/>
          <a:chOff x="0" y="0"/>
          <a:chExt cx="0" cy="0"/>
        </a:xfrm>
      </p:grpSpPr>
      <p:sp>
        <p:nvSpPr>
          <p:cNvPr id="67" name="Google Shape;67;p2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68" name="Google Shape;68;p24"/>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69" name="Google Shape;69;p2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0" name="Google Shape;70;p2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1" name="Google Shape;71;p2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72"/>
        <p:cNvGrpSpPr/>
        <p:nvPr/>
      </p:nvGrpSpPr>
      <p:grpSpPr>
        <a:xfrm>
          <a:off x="0" y="0"/>
          <a:ext cx="0" cy="0"/>
          <a:chOff x="0" y="0"/>
          <a:chExt cx="0" cy="0"/>
        </a:xfrm>
      </p:grpSpPr>
      <p:sp>
        <p:nvSpPr>
          <p:cNvPr id="73" name="Google Shape;73;p25"/>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4" name="Google Shape;74;p25"/>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5" name="Google Shape;75;p2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6" name="Google Shape;76;p2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lnSpc>
                <a:spcPct val="100000"/>
              </a:lnSpc>
              <a:spcBef>
                <a:spcPts val="0"/>
              </a:spcBef>
              <a:spcAft>
                <a:spcPts val="0"/>
              </a:spcAft>
              <a:buSzPts val="1400"/>
              <a:buNone/>
              <a:defRPr/>
            </a:lvl1pPr>
            <a:lvl2pPr lvl="1" algn="l">
              <a:lnSpc>
                <a:spcPct val="100000"/>
              </a:lnSpc>
              <a:spcBef>
                <a:spcPts val="0"/>
              </a:spcBef>
              <a:spcAft>
                <a:spcPts val="0"/>
              </a:spcAft>
              <a:buSzPts val="1400"/>
              <a:buNone/>
              <a:defRPr/>
            </a:lvl2pPr>
            <a:lvl3pPr lvl="2" algn="l">
              <a:lnSpc>
                <a:spcPct val="100000"/>
              </a:lnSpc>
              <a:spcBef>
                <a:spcPts val="0"/>
              </a:spcBef>
              <a:spcAft>
                <a:spcPts val="0"/>
              </a:spcAft>
              <a:buSzPts val="1400"/>
              <a:buNone/>
              <a:defRPr/>
            </a:lvl3pPr>
            <a:lvl4pPr lvl="3" algn="l">
              <a:lnSpc>
                <a:spcPct val="100000"/>
              </a:lnSpc>
              <a:spcBef>
                <a:spcPts val="0"/>
              </a:spcBef>
              <a:spcAft>
                <a:spcPts val="0"/>
              </a:spcAft>
              <a:buSzPts val="1400"/>
              <a:buNone/>
              <a:defRPr/>
            </a:lvl4pPr>
            <a:lvl5pPr lvl="4" algn="l">
              <a:lnSpc>
                <a:spcPct val="100000"/>
              </a:lnSpc>
              <a:spcBef>
                <a:spcPts val="0"/>
              </a:spcBef>
              <a:spcAft>
                <a:spcPts val="0"/>
              </a:spcAft>
              <a:buSzPts val="1400"/>
              <a:buNone/>
              <a:defRPr/>
            </a:lvl5pPr>
            <a:lvl6pPr lvl="5" algn="l">
              <a:lnSpc>
                <a:spcPct val="100000"/>
              </a:lnSpc>
              <a:spcBef>
                <a:spcPts val="0"/>
              </a:spcBef>
              <a:spcAft>
                <a:spcPts val="0"/>
              </a:spcAft>
              <a:buSzPts val="1400"/>
              <a:buNone/>
              <a:defRPr/>
            </a:lvl6pPr>
            <a:lvl7pPr lvl="6" algn="l">
              <a:lnSpc>
                <a:spcPct val="100000"/>
              </a:lnSpc>
              <a:spcBef>
                <a:spcPts val="0"/>
              </a:spcBef>
              <a:spcAft>
                <a:spcPts val="0"/>
              </a:spcAft>
              <a:buSzPts val="1400"/>
              <a:buNone/>
              <a:defRPr/>
            </a:lvl7pPr>
            <a:lvl8pPr lvl="7" algn="l">
              <a:lnSpc>
                <a:spcPct val="100000"/>
              </a:lnSpc>
              <a:spcBef>
                <a:spcPts val="0"/>
              </a:spcBef>
              <a:spcAft>
                <a:spcPts val="0"/>
              </a:spcAft>
              <a:buSzPts val="1400"/>
              <a:buNone/>
              <a:defRPr/>
            </a:lvl8pPr>
            <a:lvl9pPr lvl="8" algn="l">
              <a:lnSpc>
                <a:spcPct val="100000"/>
              </a:lnSpc>
              <a:spcBef>
                <a:spcPts val="0"/>
              </a:spcBef>
              <a:spcAft>
                <a:spcPts val="0"/>
              </a:spcAft>
              <a:buSzPts val="1400"/>
              <a:buNone/>
              <a:defRPr/>
            </a:lvl9pPr>
          </a:lstStyle>
          <a:p>
            <a:endParaRPr/>
          </a:p>
        </p:txBody>
      </p:sp>
      <p:sp>
        <p:nvSpPr>
          <p:cNvPr id="77" name="Google Shape;77;p25"/>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theme" Target="../theme/theme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4"/>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rgbClr val="000000"/>
                </a:solidFill>
                <a:latin typeface="Arial"/>
                <a:ea typeface="Arial"/>
                <a:cs typeface="Arial"/>
                <a:sym typeface="Arial"/>
              </a:defRPr>
            </a:lvl9pPr>
          </a:lstStyle>
          <a:p>
            <a:endParaRPr/>
          </a:p>
        </p:txBody>
      </p:sp>
      <p:sp>
        <p:nvSpPr>
          <p:cNvPr id="11" name="Google Shape;11;p14"/>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lnSpc>
                <a:spcPct val="100000"/>
              </a:lnSpc>
              <a:spcBef>
                <a:spcPts val="0"/>
              </a:spcBef>
              <a:spcAft>
                <a:spcPts val="0"/>
              </a:spcAft>
              <a:buClr>
                <a:srgbClr val="000000"/>
              </a:buClr>
              <a:buSzPts val="1400"/>
              <a:buFont typeface="Arial"/>
              <a:buNone/>
              <a:defRPr sz="1200" b="0" i="0" u="none" strike="noStrike" cap="none">
                <a:solidFill>
                  <a:srgbClr val="888888"/>
                </a:solidFill>
                <a:latin typeface="Calibri"/>
                <a:ea typeface="Calibri"/>
                <a:cs typeface="Calibri"/>
                <a:sym typeface="Calibri"/>
              </a:defRPr>
            </a:lvl1pPr>
            <a:lvl2pPr marR="0" lvl="1"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2pPr>
            <a:lvl3pPr marR="0" lvl="2"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3pPr>
            <a:lvl4pPr marR="0" lvl="3"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4pPr>
            <a:lvl5pPr marR="0" lvl="4"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5pPr>
            <a:lvl6pPr marR="0" lvl="5"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6pPr>
            <a:lvl7pPr marR="0" lvl="6"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7pPr>
            <a:lvl8pPr marR="0" lvl="7"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8pPr>
            <a:lvl9pPr marR="0" lvl="8" algn="l" rtl="0">
              <a:lnSpc>
                <a:spcPct val="100000"/>
              </a:lnSpc>
              <a:spcBef>
                <a:spcPts val="0"/>
              </a:spcBef>
              <a:spcAft>
                <a:spcPts val="0"/>
              </a:spcAft>
              <a:buClr>
                <a:srgbClr val="000000"/>
              </a:buClr>
              <a:buSzPts val="1400"/>
              <a:buFont typeface="Arial"/>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4"/>
          <p:cNvSpPr txBox="1">
            <a:spLocks noGrp="1"/>
          </p:cNvSpPr>
          <p:nvPr>
            <p:ph type="sldNum" idx="12"/>
          </p:nvPr>
        </p:nvSpPr>
        <p:spPr>
          <a:xfrm>
            <a:off x="8610600" y="6356350"/>
            <a:ext cx="2743200" cy="365125"/>
          </a:xfrm>
          <a:prstGeom prst="rect">
            <a:avLst/>
          </a:prstGeom>
          <a:noFill/>
          <a:ln>
            <a:noFill/>
          </a:ln>
        </p:spPr>
        <p:txBody>
          <a:bodyPr spcFirstLastPara="1" wrap="square" lIns="91425" tIns="45700" rIns="91425" bIns="45700" anchor="ctr" anchorCtr="0">
            <a:noAutofit/>
          </a:bodyPr>
          <a:lstStyle>
            <a:lvl1pPr marL="0" marR="0" lvl="0"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1pPr>
            <a:lvl2pPr marL="0" marR="0" lvl="1"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2pPr>
            <a:lvl3pPr marL="0" marR="0" lvl="2"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3pPr>
            <a:lvl4pPr marL="0" marR="0" lvl="3"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4pPr>
            <a:lvl5pPr marL="0" marR="0" lvl="4"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5pPr>
            <a:lvl6pPr marL="0" marR="0" lvl="5"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6pPr>
            <a:lvl7pPr marL="0" marR="0" lvl="6"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7pPr>
            <a:lvl8pPr marL="0" marR="0" lvl="7"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8pPr>
            <a:lvl9pPr marL="0" marR="0" lvl="8" indent="0" algn="r" rtl="0">
              <a:lnSpc>
                <a:spcPct val="100000"/>
              </a:lnSpc>
              <a:spcBef>
                <a:spcPts val="0"/>
              </a:spcBef>
              <a:spcAft>
                <a:spcPts val="0"/>
              </a:spcAft>
              <a:buClr>
                <a:srgbClr val="000000"/>
              </a:buClr>
              <a:buSzPts val="1200"/>
              <a:buFont typeface="Arial"/>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en-US"/>
              <a:t>‹#›</a:t>
            </a:fld>
            <a:endParaRPr/>
          </a:p>
        </p:txBody>
      </p:sp>
    </p:spTree>
  </p:cSld>
  <p:clrMap bg1="lt1" tx1="dk1" bg2="dk2" tx2="lt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Lst>
  <p:hf sldNum="0"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g"/><Relationship Id="rId2" Type="http://schemas.openxmlformats.org/officeDocument/2006/relationships/notesSlide" Target="../notesSlides/notesSlide1.xml"/><Relationship Id="rId1" Type="http://schemas.openxmlformats.org/officeDocument/2006/relationships/slideLayout" Target="../slideLayouts/slideLayout1.xml"/><Relationship Id="rId4" Type="http://schemas.openxmlformats.org/officeDocument/2006/relationships/image" Target="../media/image2.png"/></Relationships>
</file>

<file path=ppt/slides/_rels/slide2.xml.rels><?xml version="1.0" encoding="UTF-8" standalone="yes"?>
<Relationships xmlns="http://schemas.openxmlformats.org/package/2006/relationships"><Relationship Id="rId3" Type="http://schemas.openxmlformats.org/officeDocument/2006/relationships/hyperlink" Target="https://marius-juston.github.io/SE-423---Class-Material/Homeworks/HW2.pdf" TargetMode="External"/><Relationship Id="rId2" Type="http://schemas.openxmlformats.org/officeDocument/2006/relationships/notesSlide" Target="../notesSlides/notesSlide2.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Homeworks/LabVIEW2.pdf" TargetMode="External"/></Relationships>
</file>

<file path=ppt/slides/_rels/slide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4.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7.xml"/><Relationship Id="rId1" Type="http://schemas.openxmlformats.org/officeDocument/2006/relationships/slideLayout" Target="../slideLayouts/slideLayout2.xml"/><Relationship Id="rId6" Type="http://schemas.openxmlformats.org/officeDocument/2006/relationships/image" Target="../media/image8.svg"/><Relationship Id="rId5" Type="http://schemas.openxmlformats.org/officeDocument/2006/relationships/image" Target="../media/image7.png"/><Relationship Id="rId4" Type="http://schemas.openxmlformats.org/officeDocument/2006/relationships/hyperlink" Target="https://en.wikipedia.org/wiki/Electromagnetic_interference" TargetMode="External"/></Relationships>
</file>

<file path=ppt/slides/_rels/slide8.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8.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9.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9.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0.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0.xml"/><Relationship Id="rId1" Type="http://schemas.openxmlformats.org/officeDocument/2006/relationships/slideLayout" Target="../slideLayouts/slideLayout2.xml"/><Relationship Id="rId6" Type="http://schemas.openxmlformats.org/officeDocument/2006/relationships/image" Target="../media/image13.svg"/><Relationship Id="rId5" Type="http://schemas.openxmlformats.org/officeDocument/2006/relationships/image" Target="../media/image12.png"/><Relationship Id="rId4" Type="http://schemas.openxmlformats.org/officeDocument/2006/relationships/image" Target="../media/image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2.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12.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3.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6.svg"/><Relationship Id="rId5" Type="http://schemas.openxmlformats.org/officeDocument/2006/relationships/image" Target="../media/image15.png"/><Relationship Id="rId4" Type="http://schemas.openxmlformats.org/officeDocument/2006/relationships/image" Target="../media/image3.png"/></Relationships>
</file>

<file path=ppt/slides/_rels/slide14.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1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15.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15.xml"/><Relationship Id="rId1" Type="http://schemas.openxmlformats.org/officeDocument/2006/relationships/slideLayout" Target="../slideLayouts/slideLayout1.xml"/><Relationship Id="rId4" Type="http://schemas.openxmlformats.org/officeDocument/2006/relationships/image" Target="../media/image6.png"/></Relationships>
</file>

<file path=ppt/slides/_rels/slide16.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6.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1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hyperlink" Target="https://commons.wikimedia.org/wiki/File:Prinzip_MIMO.svg" TargetMode="External"/><Relationship Id="rId5" Type="http://schemas.openxmlformats.org/officeDocument/2006/relationships/image" Target="../media/image21.sv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hyperlink" Target="https://www.qsfptek.com/qt-news/half-duplex-vs-full-duplex-vs-simplex-transmission-mode.html?srsltid=AfmBOopvEYPNWR3lh3_nh46jJxnYWESqNo07pANJhJ3pTBwkhLByDD5J" TargetMode="External"/><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23.jpeg"/><Relationship Id="rId5" Type="http://schemas.openxmlformats.org/officeDocument/2006/relationships/hyperlink" Target="https://www.linkedin.com/posts/anis-hassen_communication-modes-simplified-ever-activity-7310553982957948928-FHnT/" TargetMode="External"/><Relationship Id="rId4" Type="http://schemas.openxmlformats.org/officeDocument/2006/relationships/image" Target="../media/image22.gif"/></Relationships>
</file>

<file path=ppt/slides/_rels/slide2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3.xml.rels><?xml version="1.0" encoding="UTF-8" standalone="yes"?>
<Relationships xmlns="http://schemas.openxmlformats.org/package/2006/relationships"><Relationship Id="rId3" Type="http://schemas.openxmlformats.org/officeDocument/2006/relationships/hyperlink" Target="https://marius-juston.github.io/SE-423---Class-Material/Lectures/Slides/L4.pdf" TargetMode="External"/><Relationship Id="rId2" Type="http://schemas.openxmlformats.org/officeDocument/2006/relationships/notesSlide" Target="../notesSlides/notesSlide23.xml"/><Relationship Id="rId1" Type="http://schemas.openxmlformats.org/officeDocument/2006/relationships/slideLayout" Target="../slideLayouts/slideLayout2.xml"/><Relationship Id="rId5" Type="http://schemas.openxmlformats.org/officeDocument/2006/relationships/image" Target="../media/image3.png"/><Relationship Id="rId4" Type="http://schemas.openxmlformats.org/officeDocument/2006/relationships/hyperlink" Target="https://marius-juston.github.io/SE-423---Class-Material/Lectures/Slides/L6-7.pdf" TargetMode="External"/></Relationships>
</file>

<file path=ppt/slides/_rels/slide2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5.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25.svg"/><Relationship Id="rId4" Type="http://schemas.openxmlformats.org/officeDocument/2006/relationships/image" Target="../media/image24.png"/></Relationships>
</file>

<file path=ppt/slides/_rels/slide2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2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2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8.xml"/><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7.svg"/><Relationship Id="rId4" Type="http://schemas.openxmlformats.org/officeDocument/2006/relationships/image" Target="../media/image26.png"/></Relationships>
</file>

<file path=ppt/slides/_rels/slide3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31.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3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5.xml"/><Relationship Id="rId1" Type="http://schemas.openxmlformats.org/officeDocument/2006/relationships/slideLayout" Target="../slideLayouts/slideLayout2.xml"/><Relationship Id="rId5" Type="http://schemas.openxmlformats.org/officeDocument/2006/relationships/image" Target="../media/image29.gif"/><Relationship Id="rId4" Type="http://schemas.openxmlformats.org/officeDocument/2006/relationships/hyperlink" Target="https://en.wikipedia.org/wiki/Serial_Peripheral_Interface" TargetMode="External"/></Relationships>
</file>

<file path=ppt/slides/_rels/slide3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39.xml"/><Relationship Id="rId1" Type="http://schemas.openxmlformats.org/officeDocument/2006/relationships/slideLayout" Target="../slideLayouts/slideLayout2.xml"/><Relationship Id="rId5" Type="http://schemas.openxmlformats.org/officeDocument/2006/relationships/image" Target="../media/image31.svg"/><Relationship Id="rId4" Type="http://schemas.openxmlformats.org/officeDocument/2006/relationships/image" Target="../media/image30.png"/></Relationships>
</file>

<file path=ppt/slides/_rels/slide4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0.xml"/><Relationship Id="rId1" Type="http://schemas.openxmlformats.org/officeDocument/2006/relationships/slideLayout" Target="../slideLayouts/slideLayout2.xml"/><Relationship Id="rId5" Type="http://schemas.openxmlformats.org/officeDocument/2006/relationships/image" Target="../media/image33.svg"/><Relationship Id="rId4" Type="http://schemas.openxmlformats.org/officeDocument/2006/relationships/image" Target="../media/image32.png"/></Relationships>
</file>

<file path=ppt/slides/_rels/slide4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2.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4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44.xml.rels><?xml version="1.0" encoding="UTF-8" standalone="yes"?>
<Relationships xmlns="http://schemas.openxmlformats.org/package/2006/relationships"><Relationship Id="rId3" Type="http://schemas.openxmlformats.org/officeDocument/2006/relationships/image" Target="../media/image34.png"/><Relationship Id="rId2" Type="http://schemas.openxmlformats.org/officeDocument/2006/relationships/notesSlide" Target="../notesSlides/notesSlide44.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4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36.svg"/><Relationship Id="rId4" Type="http://schemas.openxmlformats.org/officeDocument/2006/relationships/image" Target="../media/image35.png"/></Relationships>
</file>

<file path=ppt/slides/_rels/slide4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38.svg"/><Relationship Id="rId4" Type="http://schemas.openxmlformats.org/officeDocument/2006/relationships/image" Target="../media/image37.png"/></Relationships>
</file>

<file path=ppt/slides/_rels/slide47.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3.png"/><Relationship Id="rId7" Type="http://schemas.openxmlformats.org/officeDocument/2006/relationships/image" Target="../media/image42.svg"/><Relationship Id="rId2" Type="http://schemas.openxmlformats.org/officeDocument/2006/relationships/notesSlide" Target="../notesSlides/notesSlide48.xml"/><Relationship Id="rId1" Type="http://schemas.openxmlformats.org/officeDocument/2006/relationships/slideLayout" Target="../slideLayouts/slideLayout2.xml"/><Relationship Id="rId6" Type="http://schemas.openxmlformats.org/officeDocument/2006/relationships/image" Target="../media/image41.png"/><Relationship Id="rId5" Type="http://schemas.openxmlformats.org/officeDocument/2006/relationships/image" Target="../media/image40.svg"/><Relationship Id="rId4" Type="http://schemas.openxmlformats.org/officeDocument/2006/relationships/image" Target="../media/image39.png"/></Relationships>
</file>

<file path=ppt/slides/_rels/slide4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0.xml"/><Relationship Id="rId1" Type="http://schemas.openxmlformats.org/officeDocument/2006/relationships/slideLayout" Target="../slideLayouts/slideLayout2.xml"/><Relationship Id="rId5" Type="http://schemas.openxmlformats.org/officeDocument/2006/relationships/image" Target="../media/image44.svg"/><Relationship Id="rId4" Type="http://schemas.openxmlformats.org/officeDocument/2006/relationships/image" Target="../media/image43.png"/></Relationships>
</file>

<file path=ppt/slides/_rels/slide51.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2.xml"/><Relationship Id="rId1" Type="http://schemas.openxmlformats.org/officeDocument/2006/relationships/slideLayout" Target="../slideLayouts/slideLayout2.xml"/><Relationship Id="rId5" Type="http://schemas.openxmlformats.org/officeDocument/2006/relationships/image" Target="../media/image46.svg"/><Relationship Id="rId4" Type="http://schemas.openxmlformats.org/officeDocument/2006/relationships/image" Target="../media/image45.png"/></Relationships>
</file>

<file path=ppt/slides/_rels/slide53.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3.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55.xml"/><Relationship Id="rId1" Type="http://schemas.openxmlformats.org/officeDocument/2006/relationships/slideLayout" Target="../slideLayouts/slideLayout2.xml"/><Relationship Id="rId4" Type="http://schemas.openxmlformats.org/officeDocument/2006/relationships/image" Target="../media/image3.png"/></Relationships>
</file>

<file path=ppt/slides/_rels/slide5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6.xml"/><Relationship Id="rId1" Type="http://schemas.openxmlformats.org/officeDocument/2006/relationships/slideLayout" Target="../slideLayouts/slideLayout2.xml"/><Relationship Id="rId5" Type="http://schemas.openxmlformats.org/officeDocument/2006/relationships/image" Target="../media/image49.svg"/><Relationship Id="rId4" Type="http://schemas.openxmlformats.org/officeDocument/2006/relationships/image" Target="../media/image48.png"/></Relationships>
</file>

<file path=ppt/slides/_rels/slide57.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57.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58.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8.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59.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60.xml"/><Relationship Id="rId1" Type="http://schemas.openxmlformats.org/officeDocument/2006/relationships/slideLayout" Target="../slideLayouts/slideLayout1.xml"/><Relationship Id="rId4" Type="http://schemas.openxmlformats.org/officeDocument/2006/relationships/image" Target="../media/image3.png"/></Relationships>
</file>

<file path=ppt/slides/_rels/slide61.xml.rels><?xml version="1.0" encoding="UTF-8" standalone="yes"?>
<Relationships xmlns="http://schemas.openxmlformats.org/package/2006/relationships"><Relationship Id="rId3" Type="http://schemas.openxmlformats.org/officeDocument/2006/relationships/image" Target="../media/image5.jpg"/><Relationship Id="rId2" Type="http://schemas.openxmlformats.org/officeDocument/2006/relationships/notesSlide" Target="../notesSlides/notesSlide61.xml"/><Relationship Id="rId1" Type="http://schemas.openxmlformats.org/officeDocument/2006/relationships/slideLayout" Target="../slideLayouts/slideLayout1.xml"/><Relationship Id="rId4" Type="http://schemas.openxmlformats.org/officeDocument/2006/relationships/image" Target="../media/image50.png"/></Relationships>
</file>

<file path=ppt/slides/slide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1"/>
        <p:cNvGrpSpPr/>
        <p:nvPr/>
      </p:nvGrpSpPr>
      <p:grpSpPr>
        <a:xfrm>
          <a:off x="0" y="0"/>
          <a:ext cx="0" cy="0"/>
          <a:chOff x="0" y="0"/>
          <a:chExt cx="0" cy="0"/>
        </a:xfrm>
      </p:grpSpPr>
      <p:sp>
        <p:nvSpPr>
          <p:cNvPr id="82" name="Google Shape;82;p26"/>
          <p:cNvSpPr txBox="1"/>
          <p:nvPr/>
        </p:nvSpPr>
        <p:spPr>
          <a:xfrm>
            <a:off x="1134035" y="2553964"/>
            <a:ext cx="9924000" cy="2723782"/>
          </a:xfrm>
          <a:prstGeom prst="rect">
            <a:avLst/>
          </a:prstGeom>
          <a:noFill/>
          <a:ln>
            <a:noFill/>
          </a:ln>
        </p:spPr>
        <p:txBody>
          <a:bodyPr spcFirstLastPara="1" wrap="square" lIns="91425" tIns="45700" rIns="91425" bIns="45700" anchor="t" anchorCtr="0">
            <a:spAutoFit/>
          </a:bodyPr>
          <a:lstStyle/>
          <a:p>
            <a:pPr lvl="0" algn="ctr">
              <a:spcBef>
                <a:spcPts val="600"/>
              </a:spcBef>
              <a:buSzPts val="4500"/>
            </a:pPr>
            <a:r>
              <a:rPr lang="en-US" sz="4500" b="1" dirty="0">
                <a:solidFill>
                  <a:schemeClr val="lt1"/>
                </a:solidFill>
              </a:rPr>
              <a:t>SE 423: Introduction to Mechatronics</a:t>
            </a:r>
            <a:endParaRPr lang="en-US" sz="4500" dirty="0"/>
          </a:p>
          <a:p>
            <a:pPr marL="0" marR="0" lvl="0" indent="0" algn="ctr" rtl="0">
              <a:lnSpc>
                <a:spcPct val="100000"/>
              </a:lnSpc>
              <a:spcBef>
                <a:spcPts val="600"/>
              </a:spcBef>
              <a:spcAft>
                <a:spcPts val="0"/>
              </a:spcAft>
              <a:buNone/>
            </a:pPr>
            <a:r>
              <a:rPr lang="en-US" sz="2500" dirty="0">
                <a:solidFill>
                  <a:schemeClr val="lt1"/>
                </a:solidFill>
              </a:rPr>
              <a:t>Lecture 10: Communication Protocols</a:t>
            </a:r>
            <a:endParaRPr dirty="0"/>
          </a:p>
          <a:p>
            <a:pPr marL="0" marR="0" lvl="0" indent="0" algn="ctr" rtl="0">
              <a:lnSpc>
                <a:spcPct val="100000"/>
              </a:lnSpc>
              <a:spcBef>
                <a:spcPts val="600"/>
              </a:spcBef>
              <a:spcAft>
                <a:spcPts val="0"/>
              </a:spcAft>
              <a:buNone/>
            </a:pPr>
            <a:endParaRPr sz="1800" b="0" i="0" u="none" strike="noStrike" cap="none" dirty="0">
              <a:solidFill>
                <a:schemeClr val="lt1"/>
              </a:solidFill>
              <a:latin typeface="Arial"/>
              <a:ea typeface="Arial"/>
              <a:cs typeface="Arial"/>
              <a:sym typeface="Arial"/>
            </a:endParaRPr>
          </a:p>
          <a:p>
            <a:pPr marL="0" marR="0" lvl="0" indent="0" algn="ctr" rtl="0">
              <a:lnSpc>
                <a:spcPct val="100000"/>
              </a:lnSpc>
              <a:spcBef>
                <a:spcPts val="600"/>
              </a:spcBef>
              <a:spcAft>
                <a:spcPts val="0"/>
              </a:spcAft>
              <a:buNone/>
            </a:pPr>
            <a:r>
              <a:rPr lang="en-US" sz="1800" b="0" i="0" u="none" strike="noStrike" cap="none" dirty="0">
                <a:solidFill>
                  <a:schemeClr val="lt1"/>
                </a:solidFill>
                <a:latin typeface="Arial"/>
                <a:ea typeface="Arial"/>
                <a:cs typeface="Arial"/>
                <a:sym typeface="Arial"/>
              </a:rPr>
              <a:t>Marius Juston</a:t>
            </a:r>
            <a:endParaRPr sz="1800" b="0" i="0" u="none" strike="noStrike" cap="none" dirty="0">
              <a:solidFill>
                <a:srgbClr val="000000"/>
              </a:solidFill>
              <a:latin typeface="Arial"/>
              <a:ea typeface="Arial"/>
              <a:cs typeface="Arial"/>
              <a:sym typeface="Arial"/>
            </a:endParaRPr>
          </a:p>
        </p:txBody>
      </p:sp>
      <p:sp>
        <p:nvSpPr>
          <p:cNvPr id="83" name="Google Shape;83;p26"/>
          <p:cNvSpPr txBox="1"/>
          <p:nvPr/>
        </p:nvSpPr>
        <p:spPr>
          <a:xfrm>
            <a:off x="3922059" y="5413888"/>
            <a:ext cx="4347882" cy="369291"/>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1800"/>
              <a:buFont typeface="Arial"/>
              <a:buNone/>
            </a:pPr>
            <a:r>
              <a:rPr lang="en-US" sz="1800" b="0" i="0" u="none" strike="noStrike" cap="none" dirty="0">
                <a:solidFill>
                  <a:schemeClr val="lt1"/>
                </a:solidFill>
                <a:latin typeface="Arial"/>
                <a:ea typeface="Arial"/>
                <a:cs typeface="Arial"/>
                <a:sym typeface="Arial"/>
              </a:rPr>
              <a:t>Monday, February 23</a:t>
            </a:r>
            <a:r>
              <a:rPr lang="en-US" sz="1800" b="0" i="0" u="none" strike="noStrike" cap="none" baseline="30000" dirty="0">
                <a:solidFill>
                  <a:schemeClr val="lt1"/>
                </a:solidFill>
                <a:latin typeface="Arial"/>
                <a:ea typeface="Arial"/>
                <a:cs typeface="Arial"/>
                <a:sym typeface="Arial"/>
              </a:rPr>
              <a:t>rd</a:t>
            </a:r>
            <a:r>
              <a:rPr lang="en-US" sz="1800" b="0" i="0" u="none" strike="noStrike" cap="none" dirty="0">
                <a:solidFill>
                  <a:schemeClr val="lt1"/>
                </a:solidFill>
                <a:latin typeface="Arial"/>
                <a:ea typeface="Arial"/>
                <a:cs typeface="Arial"/>
                <a:sym typeface="Arial"/>
              </a:rPr>
              <a:t> 2026</a:t>
            </a:r>
            <a:endParaRPr sz="1800" b="0" i="0" u="none" strike="noStrike" cap="none" dirty="0">
              <a:solidFill>
                <a:schemeClr val="lt1"/>
              </a:solidFill>
              <a:latin typeface="Arial"/>
              <a:ea typeface="Arial"/>
              <a:cs typeface="Arial"/>
              <a:sym typeface="Arial"/>
            </a:endParaRPr>
          </a:p>
        </p:txBody>
      </p:sp>
      <p:pic>
        <p:nvPicPr>
          <p:cNvPr id="84" name="Google Shape;84;p26"/>
          <p:cNvPicPr preferRelativeResize="0"/>
          <p:nvPr/>
        </p:nvPicPr>
        <p:blipFill rotWithShape="1">
          <a:blip r:embed="rId4">
            <a:alphaModFix/>
          </a:blip>
          <a:srcRect/>
          <a:stretch/>
        </p:blipFill>
        <p:spPr>
          <a:xfrm>
            <a:off x="4641007" y="1004743"/>
            <a:ext cx="2909982" cy="754664"/>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81D3E48-EB5B-86EE-C4D9-54116487B2DB}"/>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3BCC2F8C-3A4A-AD98-3682-D9499379E41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b="1" dirty="0">
                <a:solidFill>
                  <a:srgbClr val="E84B36"/>
                </a:solidFill>
                <a:latin typeface="Arial"/>
                <a:ea typeface="Arial"/>
                <a:cs typeface="Arial"/>
                <a:sym typeface="Arial"/>
              </a:rPr>
              <a:t>Office Hours:</a:t>
            </a:r>
            <a:endParaRPr lang="en-US" sz="2600" b="1" dirty="0">
              <a:solidFill>
                <a:srgbClr val="E84B36"/>
              </a:solidFill>
              <a:latin typeface="Arial"/>
              <a:ea typeface="Arial"/>
              <a:cs typeface="Arial"/>
              <a:sym typeface="Arial"/>
            </a:endParaRPr>
          </a:p>
          <a:p>
            <a:pPr marL="285750" indent="-285750">
              <a:lnSpc>
                <a:spcPct val="100000"/>
              </a:lnSpc>
              <a:spcBef>
                <a:spcPts val="0"/>
              </a:spcBef>
              <a:buSzPts val="3000"/>
            </a:pPr>
            <a:r>
              <a:rPr lang="en-US" sz="1800" b="1" dirty="0">
                <a:solidFill>
                  <a:schemeClr val="dk1"/>
                </a:solidFill>
                <a:latin typeface="Arial"/>
                <a:ea typeface="Arial"/>
                <a:cs typeface="Arial"/>
                <a:sym typeface="Arial"/>
              </a:rPr>
              <a:t>Monday: </a:t>
            </a:r>
            <a:r>
              <a:rPr lang="en-US" sz="1800" dirty="0">
                <a:solidFill>
                  <a:schemeClr val="dk1"/>
                </a:solidFill>
                <a:latin typeface="Arial"/>
                <a:ea typeface="Arial"/>
                <a:cs typeface="Arial"/>
                <a:sym typeface="Arial"/>
              </a:rPr>
              <a:t>4-6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Neel</a:t>
            </a:r>
          </a:p>
          <a:p>
            <a:pPr marL="285750" indent="-285750">
              <a:lnSpc>
                <a:spcPct val="100000"/>
              </a:lnSpc>
              <a:spcBef>
                <a:spcPts val="0"/>
              </a:spcBef>
              <a:buSzPts val="3000"/>
            </a:pPr>
            <a:r>
              <a:rPr lang="en-US" sz="1800" b="1" dirty="0">
                <a:latin typeface="Arial"/>
                <a:ea typeface="Arial"/>
                <a:cs typeface="Arial"/>
                <a:sym typeface="Arial"/>
              </a:rPr>
              <a:t>Tuesday: </a:t>
            </a:r>
            <a:r>
              <a:rPr lang="en-US" sz="1800" dirty="0">
                <a:latin typeface="Arial"/>
                <a:ea typeface="Arial"/>
                <a:cs typeface="Arial"/>
                <a:sym typeface="Arial"/>
              </a:rPr>
              <a:t>11-1 PM</a:t>
            </a:r>
            <a:r>
              <a:rPr lang="en-US" sz="1800" b="1" dirty="0">
                <a:latin typeface="Arial"/>
                <a:ea typeface="Arial"/>
                <a:cs typeface="Arial"/>
                <a:sym typeface="Arial"/>
              </a:rPr>
              <a:t>, </a:t>
            </a:r>
            <a:r>
              <a:rPr lang="en-US" sz="1800" dirty="0">
                <a:latin typeface="Arial"/>
                <a:ea typeface="Arial"/>
                <a:cs typeface="Arial"/>
                <a:sym typeface="Arial"/>
              </a:rPr>
              <a:t>Lakshmi</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latin typeface="Arial"/>
                <a:ea typeface="Arial"/>
                <a:cs typeface="Arial"/>
                <a:sym typeface="Arial"/>
              </a:rPr>
              <a:t>1-3 PM</a:t>
            </a:r>
            <a:r>
              <a:rPr lang="en-US" sz="1800" b="1" dirty="0">
                <a:latin typeface="Arial"/>
                <a:ea typeface="Arial"/>
                <a:cs typeface="Arial"/>
                <a:sym typeface="Arial"/>
              </a:rPr>
              <a:t>, </a:t>
            </a:r>
            <a:r>
              <a:rPr lang="en-US" sz="1800" dirty="0">
                <a:latin typeface="Arial"/>
                <a:ea typeface="Arial"/>
                <a:cs typeface="Arial"/>
                <a:sym typeface="Arial"/>
              </a:rPr>
              <a:t>Samuel</a:t>
            </a:r>
          </a:p>
          <a:p>
            <a:pPr marL="285750" indent="-285750">
              <a:lnSpc>
                <a:spcPct val="100000"/>
              </a:lnSpc>
              <a:spcBef>
                <a:spcPts val="0"/>
              </a:spcBef>
              <a:buSzPts val="3000"/>
            </a:pPr>
            <a:r>
              <a:rPr lang="en-US" sz="1800" b="1" dirty="0">
                <a:solidFill>
                  <a:schemeClr val="dk1"/>
                </a:solidFill>
                <a:latin typeface="Arial"/>
                <a:ea typeface="Arial"/>
                <a:cs typeface="Arial"/>
                <a:sym typeface="Arial"/>
              </a:rPr>
              <a:t>Tuesday: </a:t>
            </a:r>
            <a:r>
              <a:rPr lang="en-US" sz="1800" dirty="0">
                <a:solidFill>
                  <a:schemeClr val="dk1"/>
                </a:solidFill>
                <a:latin typeface="Arial"/>
                <a:ea typeface="Arial"/>
                <a:cs typeface="Arial"/>
                <a:sym typeface="Arial"/>
              </a:rPr>
              <a:t>2-5 PM</a:t>
            </a:r>
            <a:r>
              <a:rPr lang="en-US" sz="1800" b="1" dirty="0">
                <a:solidFill>
                  <a:schemeClr val="dk1"/>
                </a:solidFill>
                <a:latin typeface="Arial"/>
                <a:ea typeface="Arial"/>
                <a:cs typeface="Arial"/>
                <a:sym typeface="Arial"/>
              </a:rPr>
              <a:t>, </a:t>
            </a:r>
            <a:r>
              <a:rPr lang="en-US" sz="1800" dirty="0">
                <a:solidFill>
                  <a:schemeClr val="dk1"/>
                </a:solidFill>
                <a:latin typeface="Arial"/>
                <a:ea typeface="Arial"/>
                <a:cs typeface="Arial"/>
                <a:sym typeface="Arial"/>
              </a:rPr>
              <a:t>Dan &amp; Marius</a:t>
            </a:r>
          </a:p>
          <a:p>
            <a:pPr marL="285750" indent="-285750">
              <a:lnSpc>
                <a:spcPct val="100000"/>
              </a:lnSpc>
              <a:spcBef>
                <a:spcPts val="0"/>
              </a:spcBef>
              <a:buSzPts val="3000"/>
            </a:pPr>
            <a:endParaRPr lang="en-US" sz="1800" b="1"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 </a:t>
            </a:r>
            <a:r>
              <a:rPr lang="en-US" sz="1800" dirty="0">
                <a:latin typeface="Arial"/>
                <a:ea typeface="Arial"/>
                <a:cs typeface="Arial"/>
                <a:sym typeface="Arial"/>
              </a:rPr>
              <a:t>Starting Lab 4 this week. This a 2-week lab!</a:t>
            </a:r>
            <a:endParaRPr lang="en-US" sz="1800" dirty="0">
              <a:solidFill>
                <a:srgbClr val="E84B36"/>
              </a:solidFill>
              <a:latin typeface="Arial"/>
              <a:ea typeface="Arial"/>
              <a:cs typeface="Arial"/>
              <a:sym typeface="Arial"/>
            </a:endParaRPr>
          </a:p>
          <a:p>
            <a:pPr marL="0" indent="0">
              <a:lnSpc>
                <a:spcPct val="100000"/>
              </a:lnSpc>
              <a:spcBef>
                <a:spcPts val="0"/>
              </a:spcBef>
              <a:buSzPts val="3000"/>
              <a:buNone/>
            </a:pPr>
            <a:endParaRPr lang="en-US" sz="1800" b="1" dirty="0">
              <a:solidFill>
                <a:srgbClr val="E84B36"/>
              </a:solidFill>
              <a:latin typeface="Arial"/>
              <a:ea typeface="Arial"/>
              <a:cs typeface="Arial"/>
              <a:sym typeface="Arial"/>
            </a:endParaRPr>
          </a:p>
          <a:p>
            <a:pPr marL="0" indent="0">
              <a:lnSpc>
                <a:spcPct val="100000"/>
              </a:lnSpc>
              <a:spcBef>
                <a:spcPts val="0"/>
              </a:spcBef>
              <a:buSzPts val="3000"/>
              <a:buNone/>
            </a:pPr>
            <a:r>
              <a:rPr lang="en-US" sz="1800" b="1" dirty="0" err="1">
                <a:solidFill>
                  <a:srgbClr val="E84B36"/>
                </a:solidFill>
                <a:latin typeface="Arial"/>
                <a:ea typeface="Arial"/>
                <a:cs typeface="Arial"/>
                <a:sym typeface="Arial"/>
              </a:rPr>
              <a:t>Homeworks</a:t>
            </a:r>
            <a:r>
              <a:rPr lang="en-US" sz="1800" b="1" dirty="0">
                <a:solidFill>
                  <a:srgbClr val="E84B36"/>
                </a:solidFill>
                <a:latin typeface="Arial"/>
                <a:ea typeface="Arial"/>
                <a:cs typeface="Arial"/>
                <a:sym typeface="Arial"/>
              </a:rPr>
              <a:t>:</a:t>
            </a:r>
          </a:p>
          <a:p>
            <a:pPr marL="285750" indent="-285750">
              <a:lnSpc>
                <a:spcPct val="100000"/>
              </a:lnSpc>
              <a:spcBef>
                <a:spcPts val="0"/>
              </a:spcBef>
              <a:buSzPts val="3000"/>
            </a:pPr>
            <a:r>
              <a:rPr lang="en-US" sz="1800" dirty="0">
                <a:latin typeface="Arial"/>
                <a:ea typeface="Arial"/>
                <a:cs typeface="Arial"/>
                <a:sym typeface="Arial"/>
              </a:rPr>
              <a:t>Check-offs for </a:t>
            </a:r>
            <a:r>
              <a:rPr lang="en-US" sz="1800" dirty="0">
                <a:latin typeface="Arial"/>
                <a:ea typeface="Arial"/>
                <a:cs typeface="Arial"/>
                <a:sym typeface="Arial"/>
                <a:hlinkClick r:id="rId3"/>
              </a:rPr>
              <a:t>homework 2</a:t>
            </a:r>
            <a:r>
              <a:rPr lang="en-US" sz="1800" dirty="0">
                <a:latin typeface="Arial"/>
                <a:ea typeface="Arial"/>
                <a:cs typeface="Arial"/>
                <a:sym typeface="Arial"/>
              </a:rPr>
              <a:t> Ex 3 &amp; 4 are due </a:t>
            </a:r>
            <a:r>
              <a:rPr lang="en-US" sz="1800" b="1" dirty="0">
                <a:latin typeface="Arial"/>
                <a:ea typeface="Arial"/>
                <a:cs typeface="Arial"/>
                <a:sym typeface="Arial"/>
              </a:rPr>
              <a:t>February 24, 5PM (The end of office hours)</a:t>
            </a: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Answers and code submissions for homework 2 are due </a:t>
            </a:r>
            <a:r>
              <a:rPr lang="en-US" sz="1800" b="1" dirty="0">
                <a:latin typeface="Arial"/>
                <a:ea typeface="Arial"/>
                <a:cs typeface="Arial"/>
                <a:sym typeface="Arial"/>
              </a:rPr>
              <a:t>February 17, 9AM</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b="1" dirty="0">
                <a:solidFill>
                  <a:srgbClr val="E84B36"/>
                </a:solidFill>
                <a:latin typeface="Arial"/>
                <a:ea typeface="Arial"/>
                <a:cs typeface="Arial"/>
                <a:sym typeface="Arial"/>
              </a:rPr>
              <a:t>LabVIEW:</a:t>
            </a:r>
          </a:p>
          <a:p>
            <a:pPr marL="285750" indent="-285750">
              <a:lnSpc>
                <a:spcPct val="100000"/>
              </a:lnSpc>
              <a:spcBef>
                <a:spcPts val="0"/>
              </a:spcBef>
              <a:buSzPts val="3000"/>
            </a:pPr>
            <a:r>
              <a:rPr lang="en-US" sz="1800" dirty="0">
                <a:latin typeface="Arial"/>
                <a:ea typeface="Arial"/>
                <a:cs typeface="Arial"/>
                <a:sym typeface="Arial"/>
              </a:rPr>
              <a:t>All check-offs for </a:t>
            </a:r>
            <a:r>
              <a:rPr lang="en-US" sz="1800" dirty="0">
                <a:latin typeface="Arial"/>
                <a:ea typeface="Arial"/>
                <a:cs typeface="Arial"/>
                <a:sym typeface="Arial"/>
                <a:hlinkClick r:id="rId4"/>
              </a:rPr>
              <a:t>LabVIEW 2</a:t>
            </a:r>
            <a:r>
              <a:rPr lang="en-US" sz="1800" dirty="0">
                <a:latin typeface="Arial"/>
                <a:ea typeface="Arial"/>
                <a:cs typeface="Arial"/>
                <a:sym typeface="Arial"/>
              </a:rPr>
              <a:t> are due </a:t>
            </a:r>
            <a:r>
              <a:rPr lang="en-US" sz="1800" b="1" dirty="0">
                <a:latin typeface="Arial"/>
                <a:ea typeface="Arial"/>
                <a:cs typeface="Arial"/>
                <a:sym typeface="Arial"/>
              </a:rPr>
              <a:t>February 26, 5PM</a:t>
            </a:r>
          </a:p>
          <a:p>
            <a:pPr marL="285750" indent="-285750">
              <a:lnSpc>
                <a:spcPct val="100000"/>
              </a:lnSpc>
              <a:spcBef>
                <a:spcPts val="0"/>
              </a:spcBef>
              <a:buSzPts val="3000"/>
            </a:pPr>
            <a:endParaRPr lang="en-US" sz="1800" b="1" dirty="0">
              <a:latin typeface="Arial"/>
              <a:ea typeface="Arial"/>
              <a:cs typeface="Arial"/>
              <a:sym typeface="Arial"/>
            </a:endParaRPr>
          </a:p>
        </p:txBody>
      </p:sp>
      <p:sp>
        <p:nvSpPr>
          <p:cNvPr id="119" name="Google Shape;119;p29">
            <a:extLst>
              <a:ext uri="{FF2B5EF4-FFF2-40B4-BE49-F238E27FC236}">
                <a16:creationId xmlns:a16="http://schemas.microsoft.com/office/drawing/2014/main" id="{19848B8C-9075-59EA-79FA-AF5B8BFAF8D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AE21486-AEEC-E367-96A5-81B49AD32D6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Reminders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8CCE647-4D9B-354D-A2E9-718CA28CD750}"/>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AC87A64-580A-4863-38B3-4D1504C83F5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649EAB-2DB3-2DA4-9AD9-5D94AEE695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41F8E2C-2780-2776-E8ED-542B082247F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1D628D6E-10A9-03E9-659C-F8F2D0023C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BEB3CD3-0F72-FD08-8FA5-00AD37965F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79584103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p:cNvGrpSpPr/>
        <p:nvPr/>
      </p:nvGrpSpPr>
      <p:grpSpPr>
        <a:xfrm>
          <a:off x="0" y="0"/>
          <a:ext cx="0" cy="0"/>
          <a:chOff x="0" y="0"/>
          <a:chExt cx="0" cy="0"/>
        </a:xfrm>
      </p:grpSpPr>
      <p:grpSp>
        <p:nvGrpSpPr>
          <p:cNvPr id="2" name="Group 1">
            <a:extLst>
              <a:ext uri="{FF2B5EF4-FFF2-40B4-BE49-F238E27FC236}">
                <a16:creationId xmlns:a16="http://schemas.microsoft.com/office/drawing/2014/main" id="{FCD35529-FC63-DDF1-655B-2AC0C85AA128}"/>
              </a:ext>
            </a:extLst>
          </p:cNvPr>
          <p:cNvGrpSpPr/>
          <p:nvPr/>
        </p:nvGrpSpPr>
        <p:grpSpPr>
          <a:xfrm>
            <a:off x="1441528" y="2296815"/>
            <a:ext cx="9308941" cy="2264370"/>
            <a:chOff x="1441528" y="1491040"/>
            <a:chExt cx="9308941" cy="2264370"/>
          </a:xfrm>
        </p:grpSpPr>
        <p:sp>
          <p:nvSpPr>
            <p:cNvPr id="89" name="Google Shape;89;p27"/>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Questions?</a:t>
              </a:r>
              <a:endParaRPr sz="1400" b="0" i="0" u="none" strike="noStrike" cap="none" dirty="0">
                <a:solidFill>
                  <a:srgbClr val="000000"/>
                </a:solidFill>
                <a:latin typeface="Arial"/>
                <a:ea typeface="Arial"/>
                <a:cs typeface="Arial"/>
                <a:sym typeface="Arial"/>
              </a:endParaRPr>
            </a:p>
          </p:txBody>
        </p:sp>
        <p:sp>
          <p:nvSpPr>
            <p:cNvPr id="90" name="Google Shape;90;p27"/>
            <p:cNvSpPr txBox="1"/>
            <p:nvPr/>
          </p:nvSpPr>
          <p:spPr>
            <a:xfrm>
              <a:off x="1441528" y="3232230"/>
              <a:ext cx="9308941" cy="523180"/>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2800"/>
                <a:buFont typeface="Arial"/>
                <a:buNone/>
              </a:pPr>
              <a:r>
                <a:rPr lang="en-US" sz="2800" b="0" i="0" u="none" strike="noStrike" cap="none" dirty="0">
                  <a:solidFill>
                    <a:schemeClr val="lt1"/>
                  </a:solidFill>
                  <a:latin typeface="Arial"/>
                  <a:ea typeface="Arial"/>
                  <a:cs typeface="Arial"/>
                  <a:sym typeface="Arial"/>
                </a:rPr>
                <a:t>Homework, Lab, LabVIEW questions?</a:t>
              </a:r>
              <a:endParaRPr sz="1800" b="0" i="0" u="none" strike="noStrike" cap="none" dirty="0">
                <a:solidFill>
                  <a:schemeClr val="lt1"/>
                </a:solidFill>
                <a:latin typeface="Arial"/>
                <a:ea typeface="Arial"/>
                <a:cs typeface="Arial"/>
                <a:sym typeface="Arial"/>
              </a:endParaRPr>
            </a:p>
          </p:txBody>
        </p:sp>
        <p:grpSp>
          <p:nvGrpSpPr>
            <p:cNvPr id="91" name="Google Shape;91;p27"/>
            <p:cNvGrpSpPr/>
            <p:nvPr/>
          </p:nvGrpSpPr>
          <p:grpSpPr>
            <a:xfrm>
              <a:off x="3943790" y="2676939"/>
              <a:ext cx="3861740" cy="322845"/>
              <a:chOff x="3943790" y="2676939"/>
              <a:chExt cx="3861740" cy="322845"/>
            </a:xfrm>
          </p:grpSpPr>
          <p:cxnSp>
            <p:nvCxnSpPr>
              <p:cNvPr id="92" name="Google Shape;92;p27"/>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p:cNvGrpSpPr/>
          <p:nvPr/>
        </p:nvGrpSpPr>
        <p:grpSpPr>
          <a:xfrm>
            <a:off x="4066674" y="6601537"/>
            <a:ext cx="5233412" cy="70446"/>
            <a:chOff x="4033424" y="6601537"/>
            <a:chExt cx="5233412" cy="70446"/>
          </a:xfrm>
        </p:grpSpPr>
        <p:cxnSp>
          <p:nvCxnSpPr>
            <p:cNvPr id="98" name="Google Shape;98;p27"/>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p:cNvGrpSpPr/>
        <p:nvPr/>
      </p:nvGrpSpPr>
      <p:grpSpPr>
        <a:xfrm>
          <a:off x="0" y="0"/>
          <a:ext cx="0" cy="0"/>
          <a:chOff x="0" y="0"/>
          <a:chExt cx="0" cy="0"/>
        </a:xfrm>
      </p:grpSpPr>
      <p:sp>
        <p:nvSpPr>
          <p:cNvPr id="104" name="Google Shape;104;p28"/>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p:cNvGrpSpPr/>
          <p:nvPr/>
        </p:nvGrpSpPr>
        <p:grpSpPr>
          <a:xfrm>
            <a:off x="3943790" y="2676939"/>
            <a:ext cx="3861740" cy="322845"/>
            <a:chOff x="3943790" y="2676939"/>
            <a:chExt cx="3861740" cy="322845"/>
          </a:xfrm>
        </p:grpSpPr>
        <p:cxnSp>
          <p:nvCxnSpPr>
            <p:cNvPr id="106" name="Google Shape;106;p28"/>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p:cNvGrpSpPr/>
          <p:nvPr/>
        </p:nvGrpSpPr>
        <p:grpSpPr>
          <a:xfrm>
            <a:off x="4066674" y="6601537"/>
            <a:ext cx="5233412" cy="70446"/>
            <a:chOff x="4033424" y="6601537"/>
            <a:chExt cx="5233412" cy="70446"/>
          </a:xfrm>
        </p:grpSpPr>
        <p:cxnSp>
          <p:nvCxnSpPr>
            <p:cNvPr id="112" name="Google Shape;112;p28"/>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117"/>
        <p:cNvGrpSpPr/>
        <p:nvPr/>
      </p:nvGrpSpPr>
      <p:grpSpPr>
        <a:xfrm>
          <a:off x="0" y="0"/>
          <a:ext cx="0" cy="0"/>
          <a:chOff x="0" y="0"/>
          <a:chExt cx="0" cy="0"/>
        </a:xfrm>
      </p:grpSpPr>
      <p:sp>
        <p:nvSpPr>
          <p:cNvPr id="118" name="Google Shape;118;p29"/>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Communication between different signal could happen in 2 ways,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ctr"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Parallel communication vs Serial communication</a:t>
            </a:r>
          </a:p>
          <a:p>
            <a:pPr marL="0" lvl="0" indent="0" algn="ctr" rtl="0">
              <a:lnSpc>
                <a:spcPct val="100000"/>
              </a:lnSpc>
              <a:spcBef>
                <a:spcPts val="0"/>
              </a:spcBef>
              <a:spcAft>
                <a:spcPts val="0"/>
              </a:spcAft>
              <a:buSzPts val="3000"/>
              <a:buNone/>
            </a:pPr>
            <a:endParaRPr lang="en-US" sz="1800" dirty="0">
              <a:latin typeface="Arial"/>
              <a:ea typeface="Arial"/>
              <a:cs typeface="Arial"/>
              <a:sym typeface="Arial"/>
            </a:endParaRPr>
          </a:p>
          <a:p>
            <a:pPr marL="0" lvl="0" indent="0" rtl="0">
              <a:lnSpc>
                <a:spcPct val="100000"/>
              </a:lnSpc>
              <a:spcBef>
                <a:spcPts val="0"/>
              </a:spcBef>
              <a:spcAft>
                <a:spcPts val="0"/>
              </a:spcAft>
              <a:buSzPts val="3000"/>
              <a:buNone/>
            </a:pPr>
            <a:r>
              <a:rPr lang="en-US" sz="1800" dirty="0">
                <a:latin typeface="Arial"/>
                <a:ea typeface="Arial"/>
                <a:cs typeface="Arial"/>
                <a:sym typeface="Arial"/>
              </a:rPr>
              <a:t>Why not do parallel communication?</a:t>
            </a:r>
          </a:p>
          <a:p>
            <a:pPr marL="0" lvl="0" indent="0" rtl="0">
              <a:lnSpc>
                <a:spcPct val="100000"/>
              </a:lnSpc>
              <a:spcBef>
                <a:spcPts val="0"/>
              </a:spcBef>
              <a:spcAft>
                <a:spcPts val="0"/>
              </a:spcAft>
              <a:buSzPts val="3000"/>
              <a:buNone/>
            </a:pPr>
            <a:endParaRPr lang="en-US" sz="1800" dirty="0">
              <a:latin typeface="Arial"/>
              <a:ea typeface="Arial"/>
              <a:cs typeface="Arial"/>
              <a:sym typeface="Arial"/>
            </a:endParaRPr>
          </a:p>
          <a:p>
            <a:pPr marL="285750" indent="-285750">
              <a:lnSpc>
                <a:spcPct val="100000"/>
              </a:lnSpc>
              <a:spcBef>
                <a:spcPts val="0"/>
              </a:spcBef>
              <a:buSzPts val="3000"/>
            </a:pPr>
            <a:r>
              <a:rPr lang="en-US" sz="1800" dirty="0">
                <a:latin typeface="Arial"/>
                <a:ea typeface="Arial"/>
                <a:cs typeface="Arial"/>
                <a:sym typeface="Arial"/>
              </a:rPr>
              <a:t>Requires many I/O pins, these are already very limited</a:t>
            </a:r>
          </a:p>
          <a:p>
            <a:pPr marL="285750" indent="-285750">
              <a:lnSpc>
                <a:spcPct val="100000"/>
              </a:lnSpc>
              <a:spcBef>
                <a:spcPts val="0"/>
              </a:spcBef>
              <a:buSzPts val="3000"/>
            </a:pPr>
            <a:r>
              <a:rPr lang="en-US" sz="1800" dirty="0">
                <a:latin typeface="Arial"/>
                <a:ea typeface="Arial"/>
                <a:cs typeface="Arial"/>
                <a:sym typeface="Arial"/>
              </a:rPr>
              <a:t>With the wires, we can run into electromagnetic interference (EMI) and cross-talk</a:t>
            </a:r>
          </a:p>
          <a:p>
            <a:pPr marL="285750" indent="-285750">
              <a:lnSpc>
                <a:spcPct val="100000"/>
              </a:lnSpc>
              <a:spcBef>
                <a:spcPts val="0"/>
              </a:spcBef>
              <a:buSzPts val="3000"/>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 communication, serializes data into single-bit stream, requires much less circuit complexity. What is the trade-off?</a:t>
            </a:r>
          </a:p>
          <a:p>
            <a:pPr marL="0" indent="0">
              <a:lnSpc>
                <a:spcPct val="100000"/>
              </a:lnSpc>
              <a:spcBef>
                <a:spcPts val="0"/>
              </a:spcBef>
              <a:buSzPts val="3000"/>
              <a:buNone/>
            </a:pPr>
            <a:endParaRPr lang="en-US" sz="1800" dirty="0">
              <a:latin typeface="Arial"/>
              <a:ea typeface="Arial"/>
              <a:cs typeface="Arial"/>
              <a:sym typeface="Arial"/>
            </a:endParaRPr>
          </a:p>
          <a:p>
            <a:pPr marL="0" indent="0" algn="ctr">
              <a:lnSpc>
                <a:spcPct val="100000"/>
              </a:lnSpc>
              <a:spcBef>
                <a:spcPts val="0"/>
              </a:spcBef>
              <a:buSzPts val="3000"/>
              <a:buNone/>
            </a:pPr>
            <a:r>
              <a:rPr lang="en-US" sz="1800" dirty="0">
                <a:latin typeface="Arial"/>
                <a:ea typeface="Arial"/>
                <a:cs typeface="Arial"/>
                <a:sym typeface="Arial"/>
              </a:rPr>
              <a:t>Time! </a:t>
            </a:r>
          </a:p>
          <a:p>
            <a:pPr marL="0" indent="0" algn="ctr">
              <a:lnSpc>
                <a:spcPct val="100000"/>
              </a:lnSpc>
              <a:spcBef>
                <a:spcPts val="0"/>
              </a:spcBef>
              <a:buSzPts val="3000"/>
              <a:buNone/>
            </a:pPr>
            <a:endParaRPr lang="en-US" sz="1800" dirty="0">
              <a:latin typeface="Arial"/>
              <a:ea typeface="Arial"/>
              <a:cs typeface="Arial"/>
              <a:sym typeface="Arial"/>
            </a:endParaRPr>
          </a:p>
          <a:p>
            <a:pPr marL="0" indent="0">
              <a:lnSpc>
                <a:spcPct val="100000"/>
              </a:lnSpc>
              <a:spcBef>
                <a:spcPts val="0"/>
              </a:spcBef>
              <a:buSzPts val="3000"/>
              <a:buNone/>
            </a:pPr>
            <a:r>
              <a:rPr lang="en-US" sz="1800" dirty="0">
                <a:latin typeface="Arial"/>
                <a:ea typeface="Arial"/>
                <a:cs typeface="Arial"/>
                <a:sym typeface="Arial"/>
              </a:rPr>
              <a:t>Serializing an N-bit word requires N discrete clock cycles!</a:t>
            </a:r>
          </a:p>
          <a:p>
            <a:pPr marL="285750" indent="-285750">
              <a:lnSpc>
                <a:spcPct val="100000"/>
              </a:lnSpc>
              <a:spcBef>
                <a:spcPts val="0"/>
              </a:spcBef>
              <a:buSzPts val="3000"/>
            </a:pPr>
            <a:endParaRPr lang="en-US" sz="1800" dirty="0">
              <a:latin typeface="Arial"/>
              <a:ea typeface="Arial"/>
              <a:cs typeface="Arial"/>
              <a:sym typeface="Arial"/>
            </a:endParaRPr>
          </a:p>
        </p:txBody>
      </p:sp>
      <p:sp>
        <p:nvSpPr>
          <p:cNvPr id="119" name="Google Shape;119;p29"/>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p:cNvGrpSpPr/>
          <p:nvPr/>
        </p:nvGrpSpPr>
        <p:grpSpPr>
          <a:xfrm>
            <a:off x="4066674" y="6601537"/>
            <a:ext cx="5233412" cy="70446"/>
            <a:chOff x="4033424" y="6601537"/>
            <a:chExt cx="5233412" cy="70446"/>
          </a:xfrm>
        </p:grpSpPr>
        <p:cxnSp>
          <p:nvCxnSpPr>
            <p:cNvPr id="125" name="Google Shape;125;p29"/>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grpId="0" nodeType="clickEffect">
                                  <p:stCondLst>
                                    <p:cond delay="0"/>
                                  </p:stCondLst>
                                  <p:childTnLst>
                                    <p:set>
                                      <p:cBhvr>
                                        <p:cTn id="12" dur="1" fill="hold">
                                          <p:stCondLst>
                                            <p:cond delay="0"/>
                                          </p:stCondLst>
                                        </p:cTn>
                                        <p:tgtEl>
                                          <p:spTgt spid="118">
                                            <p:txEl>
                                              <p:pRg st="9" end="9"/>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1" end="11"/>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3" end="1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DFAD76F1-3EEB-1CE5-BCF3-2CF0F28E5DAF}"/>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43307880-10A8-466C-A82F-AEF87DAF4436}"/>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Interferences</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C1D1F95D-0303-C926-6050-F0B7D14BB208}"/>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1271C797-5FB9-965B-240D-78A6D4BB0916}"/>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7778F9E7-AF03-7080-8DBC-5D3D6C35FD92}"/>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F0F792E9-4626-2DD3-8C2F-A7B486F4A06C}"/>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9A73BED0-95BB-B9E3-7610-7541656B69C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65690095-507F-DB7F-A84A-08C1B586B916}"/>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72176AFC-B1C1-C8A6-2878-52B8AA67CF7A}"/>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40450786-7484-40DA-33F3-14628489E87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8E5976D0-D247-2180-9FE4-1870155FD05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1127714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7FECF8-EBAB-6751-1A3F-B8ACA0522B1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0E584330-3BFD-10BF-0887-245CBFA444F9}"/>
              </a:ext>
            </a:extLst>
          </p:cNvPr>
          <p:cNvSpPr txBox="1">
            <a:spLocks noGrp="1"/>
          </p:cNvSpPr>
          <p:nvPr>
            <p:ph type="body" idx="1"/>
          </p:nvPr>
        </p:nvSpPr>
        <p:spPr>
          <a:xfrm>
            <a:off x="376810" y="1334279"/>
            <a:ext cx="5719190"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400" dirty="0">
                <a:latin typeface="Arial"/>
                <a:ea typeface="Arial"/>
                <a:cs typeface="Arial"/>
                <a:sym typeface="Arial"/>
              </a:rPr>
              <a:t>There are 4 interference couplings:</a:t>
            </a:r>
          </a:p>
          <a:p>
            <a:pPr marL="0" indent="0">
              <a:lnSpc>
                <a:spcPct val="100000"/>
              </a:lnSpc>
              <a:spcBef>
                <a:spcPts val="0"/>
              </a:spcBef>
              <a:buSzPts val="3000"/>
              <a:buNone/>
            </a:pPr>
            <a:endParaRPr lang="en-US" sz="1400" dirty="0">
              <a:latin typeface="Arial"/>
              <a:ea typeface="Arial"/>
              <a:cs typeface="Arial"/>
              <a:sym typeface="Arial"/>
            </a:endParaRPr>
          </a:p>
          <a:p>
            <a:pPr marL="285750" indent="-285750">
              <a:lnSpc>
                <a:spcPct val="100000"/>
              </a:lnSpc>
              <a:spcBef>
                <a:spcPts val="0"/>
              </a:spcBef>
              <a:buSzPts val="3000"/>
            </a:pPr>
            <a:r>
              <a:rPr lang="en-US" sz="1400" b="1" dirty="0">
                <a:latin typeface="Arial"/>
                <a:ea typeface="Arial"/>
                <a:cs typeface="Arial"/>
                <a:sym typeface="Arial"/>
              </a:rPr>
              <a:t>Conductive</a:t>
            </a:r>
            <a:r>
              <a:rPr lang="en-US" sz="1400" dirty="0">
                <a:latin typeface="Arial"/>
                <a:ea typeface="Arial"/>
                <a:cs typeface="Arial"/>
                <a:sym typeface="Arial"/>
              </a:rPr>
              <a:t>: You have physical connection causing interference</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source and victim are separated by a short distance (typically less than a wavelength). Can be of two kinds, electrical induction and magnetic induction. </a:t>
            </a:r>
          </a:p>
          <a:p>
            <a:pPr marL="742950" lvl="1" indent="-285750">
              <a:lnSpc>
                <a:spcPct val="100000"/>
              </a:lnSpc>
              <a:spcBef>
                <a:spcPts val="0"/>
              </a:spcBef>
              <a:buSzPts val="3000"/>
            </a:pPr>
            <a:r>
              <a:rPr lang="en-US" sz="1400" dirty="0">
                <a:latin typeface="Arial"/>
                <a:ea typeface="Arial"/>
                <a:cs typeface="Arial"/>
                <a:sym typeface="Arial"/>
              </a:rPr>
              <a:t>It is common to refer to electrical induction as </a:t>
            </a:r>
            <a:r>
              <a:rPr lang="en-US" sz="1400" b="1" dirty="0">
                <a:latin typeface="Arial"/>
                <a:ea typeface="Arial"/>
                <a:cs typeface="Arial"/>
                <a:sym typeface="Arial"/>
              </a:rPr>
              <a:t>capacitive</a:t>
            </a:r>
            <a:r>
              <a:rPr lang="en-US" sz="1400" dirty="0">
                <a:latin typeface="Arial"/>
                <a:ea typeface="Arial"/>
                <a:cs typeface="Arial"/>
                <a:sym typeface="Arial"/>
              </a:rPr>
              <a:t> coupling, and to magnetic induction as </a:t>
            </a:r>
            <a:r>
              <a:rPr lang="en-US" sz="1400" b="1" dirty="0">
                <a:latin typeface="Arial"/>
                <a:ea typeface="Arial"/>
                <a:cs typeface="Arial"/>
                <a:sym typeface="Arial"/>
              </a:rPr>
              <a:t>inductive</a:t>
            </a:r>
            <a:r>
              <a:rPr lang="en-US" sz="1400" dirty="0">
                <a:latin typeface="Arial"/>
                <a:ea typeface="Arial"/>
                <a:cs typeface="Arial"/>
                <a:sym typeface="Arial"/>
              </a:rPr>
              <a:t> coupling.</a:t>
            </a:r>
          </a:p>
          <a:p>
            <a:pPr marL="285750" indent="-285750">
              <a:lnSpc>
                <a:spcPct val="100000"/>
              </a:lnSpc>
              <a:spcBef>
                <a:spcPts val="0"/>
              </a:spcBef>
              <a:buSzPts val="3000"/>
            </a:pPr>
            <a:r>
              <a:rPr lang="en-US" sz="1400" b="1" dirty="0">
                <a:latin typeface="Arial"/>
                <a:ea typeface="Arial"/>
                <a:cs typeface="Arial"/>
                <a:sym typeface="Arial"/>
              </a:rPr>
              <a:t>Capacitive:</a:t>
            </a:r>
            <a:r>
              <a:rPr lang="en-US" sz="1400" dirty="0">
                <a:latin typeface="Arial"/>
                <a:ea typeface="Arial"/>
                <a:cs typeface="Arial"/>
                <a:sym typeface="Arial"/>
              </a:rPr>
              <a:t> occurs when a varying electrical field exists between two adjacent conductors, inducing a change in voltage on the receiving conductor.</a:t>
            </a:r>
          </a:p>
          <a:p>
            <a:pPr marL="285750" indent="-285750">
              <a:lnSpc>
                <a:spcPct val="100000"/>
              </a:lnSpc>
              <a:spcBef>
                <a:spcPts val="0"/>
              </a:spcBef>
              <a:buSzPts val="3000"/>
            </a:pPr>
            <a:r>
              <a:rPr lang="en-US" sz="1400" b="1" dirty="0">
                <a:latin typeface="Arial"/>
                <a:ea typeface="Arial"/>
                <a:cs typeface="Arial"/>
                <a:sym typeface="Arial"/>
              </a:rPr>
              <a:t>Inductive:</a:t>
            </a:r>
            <a:r>
              <a:rPr lang="en-US" sz="1400" dirty="0">
                <a:latin typeface="Arial"/>
                <a:ea typeface="Arial"/>
                <a:cs typeface="Arial"/>
                <a:sym typeface="Arial"/>
              </a:rPr>
              <a:t> magnetic coupling occurs when a varying magnetic field exists between two parallel conductors, inducing a change in voltage along the receiving conductor.</a:t>
            </a:r>
          </a:p>
          <a:p>
            <a:pPr marL="285750" indent="-285750">
              <a:lnSpc>
                <a:spcPct val="100000"/>
              </a:lnSpc>
              <a:spcBef>
                <a:spcPts val="0"/>
              </a:spcBef>
              <a:buSzPts val="3000"/>
            </a:pPr>
            <a:r>
              <a:rPr lang="en-US" sz="1400" b="1" dirty="0">
                <a:latin typeface="Arial"/>
                <a:ea typeface="Arial"/>
                <a:cs typeface="Arial"/>
                <a:sym typeface="Arial"/>
              </a:rPr>
              <a:t>Radiative:</a:t>
            </a:r>
            <a:r>
              <a:rPr lang="en-US" sz="1400" dirty="0">
                <a:latin typeface="Arial"/>
                <a:ea typeface="Arial"/>
                <a:cs typeface="Arial"/>
                <a:sym typeface="Arial"/>
              </a:rPr>
              <a:t> electromagnetic coupling occurs when source and victim are separated by a large distance. Source and victim act as radio antennas: the source emits or radiates an electromagnetic wave which is picked up or received by the victim.</a:t>
            </a:r>
          </a:p>
        </p:txBody>
      </p:sp>
      <p:sp>
        <p:nvSpPr>
          <p:cNvPr id="119" name="Google Shape;119;p29">
            <a:extLst>
              <a:ext uri="{FF2B5EF4-FFF2-40B4-BE49-F238E27FC236}">
                <a16:creationId xmlns:a16="http://schemas.microsoft.com/office/drawing/2014/main" id="{284D7BB0-61A9-67FC-EE92-FCE51354AAA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14C4942-D2B2-5C2C-6B0B-EC1676AA119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230C2115-54E5-613C-8947-5EE9742311B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8E4B52-87C7-03E0-4D2B-2221E3E2E6D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398937B-C433-974C-6071-64F7F1F225B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F6971BA-B5D0-ED25-6D47-0747303D5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27603F9-A988-577D-C3A3-D6CD6395BB2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6E84985-2BBC-D75E-FC29-4D57D5720AD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8" name="Group 7">
            <a:extLst>
              <a:ext uri="{FF2B5EF4-FFF2-40B4-BE49-F238E27FC236}">
                <a16:creationId xmlns:a16="http://schemas.microsoft.com/office/drawing/2014/main" id="{6A14C56A-FF96-2426-B536-F84D74CC12ED}"/>
              </a:ext>
            </a:extLst>
          </p:cNvPr>
          <p:cNvGrpSpPr/>
          <p:nvPr/>
        </p:nvGrpSpPr>
        <p:grpSpPr>
          <a:xfrm>
            <a:off x="6269236" y="1626064"/>
            <a:ext cx="5559581" cy="4062325"/>
            <a:chOff x="3543301" y="1928812"/>
            <a:chExt cx="4913074" cy="3200417"/>
          </a:xfrm>
        </p:grpSpPr>
        <p:sp>
          <p:nvSpPr>
            <p:cNvPr id="5" name="TextBox 4">
              <a:extLst>
                <a:ext uri="{FF2B5EF4-FFF2-40B4-BE49-F238E27FC236}">
                  <a16:creationId xmlns:a16="http://schemas.microsoft.com/office/drawing/2014/main" id="{4D3078A5-7752-03DA-28AF-B4F3F489AB95}"/>
                </a:ext>
              </a:extLst>
            </p:cNvPr>
            <p:cNvSpPr txBox="1"/>
            <p:nvPr/>
          </p:nvSpPr>
          <p:spPr>
            <a:xfrm>
              <a:off x="3994169" y="4929187"/>
              <a:ext cx="3675308" cy="200042"/>
            </a:xfrm>
            <a:prstGeom prst="rect">
              <a:avLst/>
            </a:prstGeom>
            <a:noFill/>
          </p:spPr>
          <p:txBody>
            <a:bodyPr wrap="square">
              <a:spAutoFit/>
            </a:bodyPr>
            <a:lstStyle/>
            <a:p>
              <a:pPr algn="ctr"/>
              <a:r>
                <a:rPr lang="en-US" sz="1050" dirty="0">
                  <a:hlinkClick r:id="rId4"/>
                </a:rPr>
                <a:t>https://en.wikipedia.org/wiki/Electromagnetic_interference</a:t>
              </a:r>
              <a:r>
                <a:rPr lang="en-US" sz="1050" dirty="0"/>
                <a:t> </a:t>
              </a:r>
            </a:p>
          </p:txBody>
        </p:sp>
        <p:pic>
          <p:nvPicPr>
            <p:cNvPr id="7" name="Graphic 6">
              <a:extLst>
                <a:ext uri="{FF2B5EF4-FFF2-40B4-BE49-F238E27FC236}">
                  <a16:creationId xmlns:a16="http://schemas.microsoft.com/office/drawing/2014/main" id="{93684A5F-CA2F-28C0-49AD-4A49C4B0AB84}"/>
                </a:ext>
              </a:extLst>
            </p:cNvPr>
            <p:cNvPicPr>
              <a:picLocks noChangeAspect="1"/>
            </p:cNvPicPr>
            <p:nvPr/>
          </p:nvPicPr>
          <p:blipFill>
            <a:blip r:embed="rId5">
              <a:extLst>
                <a:ext uri="{96DAC541-7B7A-43D3-8B79-37D633B846F1}">
                  <asvg:svgBlip xmlns:asvg="http://schemas.microsoft.com/office/drawing/2016/SVG/main" r:embed="rId6"/>
                </a:ext>
              </a:extLst>
            </a:blip>
            <a:srcRect r="3767"/>
            <a:stretch>
              <a:fillRect/>
            </a:stretch>
          </p:blipFill>
          <p:spPr>
            <a:xfrm>
              <a:off x="3543301" y="1928812"/>
              <a:ext cx="4913074" cy="3000375"/>
            </a:xfrm>
            <a:prstGeom prst="rect">
              <a:avLst/>
            </a:prstGeom>
          </p:spPr>
        </p:pic>
      </p:grpSp>
      <p:cxnSp>
        <p:nvCxnSpPr>
          <p:cNvPr id="10" name="Straight Arrow Connector 9">
            <a:extLst>
              <a:ext uri="{FF2B5EF4-FFF2-40B4-BE49-F238E27FC236}">
                <a16:creationId xmlns:a16="http://schemas.microsoft.com/office/drawing/2014/main" id="{C8F2D42A-0976-7F15-4C23-BA3AB1D99CCA}"/>
              </a:ext>
            </a:extLst>
          </p:cNvPr>
          <p:cNvCxnSpPr>
            <a:cxnSpLocks/>
            <a:stCxn id="13" idx="0"/>
          </p:cNvCxnSpPr>
          <p:nvPr/>
        </p:nvCxnSpPr>
        <p:spPr>
          <a:xfrm flipH="1" flipV="1">
            <a:off x="10467642" y="4190538"/>
            <a:ext cx="866441" cy="946372"/>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3" name="TextBox 12">
            <a:extLst>
              <a:ext uri="{FF2B5EF4-FFF2-40B4-BE49-F238E27FC236}">
                <a16:creationId xmlns:a16="http://schemas.microsoft.com/office/drawing/2014/main" id="{76855C2B-F69B-16AC-032E-C990BDD8FCFC}"/>
              </a:ext>
            </a:extLst>
          </p:cNvPr>
          <p:cNvSpPr txBox="1"/>
          <p:nvPr/>
        </p:nvSpPr>
        <p:spPr>
          <a:xfrm>
            <a:off x="10742600" y="5136910"/>
            <a:ext cx="1182965" cy="738664"/>
          </a:xfrm>
          <a:prstGeom prst="rect">
            <a:avLst/>
          </a:prstGeom>
          <a:noFill/>
        </p:spPr>
        <p:txBody>
          <a:bodyPr wrap="square" rtlCol="0">
            <a:spAutoFit/>
          </a:bodyPr>
          <a:lstStyle/>
          <a:p>
            <a:pPr algn="ctr"/>
            <a:r>
              <a:rPr lang="en-US" dirty="0">
                <a:solidFill>
                  <a:srgbClr val="FF0000"/>
                </a:solidFill>
              </a:rPr>
              <a:t>Air acts as a conductor as well</a:t>
            </a:r>
          </a:p>
        </p:txBody>
      </p:sp>
    </p:spTree>
    <p:extLst>
      <p:ext uri="{BB962C8B-B14F-4D97-AF65-F5344CB8AC3E}">
        <p14:creationId xmlns:p14="http://schemas.microsoft.com/office/powerpoint/2010/main" val="12614157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7" fill="hold">
                      <p:stCondLst>
                        <p:cond delay="indefinite"/>
                      </p:stCondLst>
                      <p:childTnLst>
                        <p:par>
                          <p:cTn id="18" fill="hold">
                            <p:stCondLst>
                              <p:cond delay="0"/>
                            </p:stCondLst>
                            <p:childTnLst>
                              <p:par>
                                <p:cTn id="19" presetID="1" presetClass="entr" presetSubtype="0" fill="hold" grpId="0" nodeType="clickEffect">
                                  <p:stCondLst>
                                    <p:cond delay="0"/>
                                  </p:stCondLst>
                                  <p:childTnLst>
                                    <p:set>
                                      <p:cBhvr>
                                        <p:cTn id="2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 presetClass="entr" presetSubtype="0" fill="hold" grpId="0" nodeType="clickEffect">
                                  <p:stCondLst>
                                    <p:cond delay="0"/>
                                  </p:stCondLst>
                                  <p:childTnLst>
                                    <p:set>
                                      <p:cBhvr>
                                        <p:cTn id="24"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040C2A3-EB7B-E7F6-3486-472A4B48AB94}"/>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422022D-3D6E-0FD8-3529-1D91E9C5065A}"/>
                  </a:ext>
                </a:extLst>
              </p:cNvPr>
              <p:cNvSpPr txBox="1">
                <a:spLocks noGrp="1"/>
              </p:cNvSpPr>
              <p:nvPr>
                <p:ph type="body" idx="1"/>
              </p:nvPr>
            </p:nvSpPr>
            <p:spPr>
              <a:xfrm>
                <a:off x="376810" y="1334279"/>
                <a:ext cx="11432202"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capacitive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voltage on the noisy source wires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r>
                      <m:rPr>
                        <m:sty m:val="p"/>
                      </m:rPr>
                      <a:rPr lang="en-US" sz="1500" i="1">
                        <a:latin typeface="Cambria Math" panose="02040503050406030204" pitchFamily="18" charset="0"/>
                        <a:cs typeface="Arial"/>
                        <a:sym typeface="Arial"/>
                      </a:rPr>
                      <m:t>t</m:t>
                    </m:r>
                    <m:r>
                      <a:rPr lang="en-US" sz="1500" i="1">
                        <a:latin typeface="Cambria Math" panose="02040503050406030204" pitchFamily="18" charset="0"/>
                        <a:cs typeface="Arial"/>
                        <a:sym typeface="Arial"/>
                      </a:rPr>
                      <m:t>)</m:t>
                    </m:r>
                  </m:oMath>
                </a14:m>
                <a:r>
                  <a:rPr lang="en-US" sz="1500" dirty="0">
                    <a:latin typeface="Arial"/>
                    <a:ea typeface="Arial"/>
                    <a:cs typeface="Arial"/>
                    <a:sym typeface="Arial"/>
                  </a:rPr>
                  <a:t> be the voltage on the victim wire. 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oMath>
                </a14:m>
                <a:r>
                  <a:rPr lang="en-US" sz="1500" dirty="0">
                    <a:latin typeface="Arial"/>
                    <a:ea typeface="Arial"/>
                    <a:cs typeface="Arial"/>
                    <a:sym typeface="Arial"/>
                  </a:rPr>
                  <a:t> be the mutual stray capacitance between the two wires (could be air), let the victim wire have a resistance of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 </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fundamental equation for current through a capacitor is:</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1500" b="0" i="1" smtClean="0">
                          <a:latin typeface="Cambria Math" panose="02040503050406030204" pitchFamily="18" charset="0"/>
                          <a:ea typeface="Arial"/>
                          <a:cs typeface="Arial"/>
                          <a:sym typeface="Arial"/>
                        </a:rPr>
                        <m:t>I</m:t>
                      </m:r>
                      <m:r>
                        <a:rPr lang="en-US" sz="1500" b="0" i="1" smtClean="0">
                          <a:latin typeface="Cambria Math" panose="02040503050406030204" pitchFamily="18" charset="0"/>
                          <a:ea typeface="Arial"/>
                          <a:cs typeface="Arial"/>
                          <a:sym typeface="Arial"/>
                        </a:rPr>
                        <m:t>=</m:t>
                      </m:r>
                      <m:r>
                        <m:rPr>
                          <m:sty m:val="p"/>
                        </m:rPr>
                        <a:rPr lang="en-US" sz="1500" b="0" i="1" smtClean="0">
                          <a:latin typeface="Cambria Math" panose="02040503050406030204" pitchFamily="18" charset="0"/>
                          <a:ea typeface="Arial"/>
                          <a:cs typeface="Arial"/>
                          <a:sym typeface="Arial"/>
                        </a:rPr>
                        <m:t>C</m:t>
                      </m:r>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dV</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 current injected from wire 1 into wire 2,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oMath>
                </a14:m>
                <a:r>
                  <a:rPr lang="en-US" sz="1500" dirty="0">
                    <a:latin typeface="Arial"/>
                    <a:ea typeface="Arial"/>
                    <a:cs typeface="Arial"/>
                    <a:sym typeface="Arial"/>
                  </a:rPr>
                  <a:t>, is driven from the difference between them across the capacitor.</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m:rPr>
                              <m:sty m:val="p"/>
                            </m:rPr>
                            <a:rPr lang="en-US" sz="1500" b="0" i="1" smtClean="0">
                              <a:latin typeface="Cambria Math" panose="02040503050406030204" pitchFamily="18" charset="0"/>
                              <a:cs typeface="Arial"/>
                              <a:sym typeface="Arial"/>
                            </a:rPr>
                            <m:t>noise</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C</m:t>
                          </m:r>
                        </m:e>
                        <m:sub>
                          <m:r>
                            <a:rPr lang="en-US" sz="1500" b="0" i="1" smtClean="0">
                              <a:latin typeface="Cambria Math" panose="02040503050406030204" pitchFamily="18" charset="0"/>
                              <a:cs typeface="Arial"/>
                              <a:sym typeface="Arial"/>
                            </a:rPr>
                            <m:t>12</m:t>
                          </m:r>
                        </m:sub>
                      </m:sSub>
                      <m:f>
                        <m:fPr>
                          <m:ctrlPr>
                            <a:rPr lang="en-US" sz="1500" b="0" i="1" smtClean="0">
                              <a:latin typeface="Cambria Math" panose="02040503050406030204" pitchFamily="18" charset="0"/>
                              <a:cs typeface="Arial"/>
                              <a:sym typeface="Arial"/>
                            </a:rPr>
                          </m:ctrlPr>
                        </m:fPr>
                        <m:num>
                          <m:r>
                            <m:rPr>
                              <m:sty m:val="p"/>
                            </m:rPr>
                            <a:rPr lang="en-US" sz="1500" b="0" i="1" smtClean="0">
                              <a:latin typeface="Cambria Math" panose="02040503050406030204" pitchFamily="18" charset="0"/>
                              <a:cs typeface="Arial"/>
                              <a:sym typeface="Arial"/>
                            </a:rPr>
                            <m:t>d</m:t>
                          </m:r>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sSub>
                            <m:sSubPr>
                              <m:ctrlPr>
                                <a:rPr lang="en-US" sz="1500" b="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r>
                            <a:rPr lang="en-US" sz="1500" b="0" i="1" smtClean="0">
                              <a:latin typeface="Cambria Math" panose="02040503050406030204" pitchFamily="18" charset="0"/>
                              <a:cs typeface="Arial"/>
                              <a:sym typeface="Arial"/>
                            </a:rPr>
                            <m:t>)</m:t>
                          </m:r>
                        </m:num>
                        <m:den>
                          <m:r>
                            <m:rPr>
                              <m:sty m:val="p"/>
                            </m:rPr>
                            <a:rPr lang="en-US" sz="1500" b="0" i="1" smtClean="0">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In practice, the noise source voltage is much larger than the victim’s wire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1</m:t>
                        </m:r>
                      </m:sub>
                    </m:sSub>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which allows the voltage derivative to simplify to:</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I</m:t>
                          </m:r>
                        </m:e>
                        <m:sub>
                          <m:r>
                            <m:rPr>
                              <m:sty m:val="p"/>
                            </m:rPr>
                            <a:rPr lang="en-US" sz="1500" i="1">
                              <a:latin typeface="Cambria Math" panose="02040503050406030204" pitchFamily="18" charset="0"/>
                              <a:cs typeface="Arial"/>
                              <a:sym typeface="Arial"/>
                            </a:rPr>
                            <m:t>noise</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r>
                            <a:rPr lang="en-US" sz="1500" i="1">
                              <a:latin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2</m:t>
                              </m:r>
                            </m:sub>
                          </m:sSub>
                          <m:r>
                            <a:rPr lang="en-US" sz="1500" i="1">
                              <a:latin typeface="Cambria Math" panose="02040503050406030204" pitchFamily="18" charset="0"/>
                              <a:cs typeface="Arial"/>
                              <a:sym typeface="Arial"/>
                            </a:rPr>
                            <m:t>)</m:t>
                          </m:r>
                        </m:num>
                        <m:den>
                          <m:r>
                            <m:rPr>
                              <m:sty m:val="p"/>
                            </m:rPr>
                            <a:rPr lang="en-US" sz="1500" i="1">
                              <a:latin typeface="Cambria Math" panose="02040503050406030204" pitchFamily="18" charset="0"/>
                              <a:cs typeface="Arial"/>
                              <a:sym typeface="Arial"/>
                            </a:rPr>
                            <m:t>dt</m:t>
                          </m:r>
                        </m:den>
                      </m:f>
                      <m:r>
                        <a:rPr lang="en-US" sz="1500" i="1" smtClean="0">
                          <a:latin typeface="Cambria Math" panose="02040503050406030204" pitchFamily="18" charset="0"/>
                          <a:ea typeface="Cambria Math" panose="02040503050406030204" pitchFamily="18" charset="0"/>
                          <a:cs typeface="Arial"/>
                          <a:sym typeface="Arial"/>
                        </a:rPr>
                        <m:t>≈</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C</m:t>
                          </m:r>
                        </m:e>
                        <m:sub>
                          <m:r>
                            <a:rPr lang="en-US" sz="1500" i="1">
                              <a:latin typeface="Cambria Math" panose="02040503050406030204" pitchFamily="18" charset="0"/>
                              <a:cs typeface="Arial"/>
                              <a:sym typeface="Arial"/>
                            </a:rPr>
                            <m:t>12</m:t>
                          </m:r>
                        </m:sub>
                      </m:sSub>
                      <m:f>
                        <m:fPr>
                          <m:ctrlPr>
                            <a:rPr lang="en-US" sz="1500" i="1">
                              <a:latin typeface="Cambria Math" panose="02040503050406030204" pitchFamily="18" charset="0"/>
                              <a:cs typeface="Arial"/>
                              <a:sym typeface="Arial"/>
                            </a:rPr>
                          </m:ctrlPr>
                        </m:fPr>
                        <m:num>
                          <m:r>
                            <m:rPr>
                              <m:sty m:val="p"/>
                            </m:rPr>
                            <a:rPr lang="en-US" sz="1500" i="1">
                              <a:latin typeface="Cambria Math" panose="02040503050406030204" pitchFamily="18" charset="0"/>
                              <a:cs typeface="Arial"/>
                              <a:sym typeface="Arial"/>
                            </a:rPr>
                            <m:t>d</m:t>
                          </m:r>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V</m:t>
                              </m:r>
                            </m:e>
                            <m:sub>
                              <m:r>
                                <a:rPr lang="en-US" sz="1500" i="1">
                                  <a:latin typeface="Cambria Math" panose="02040503050406030204" pitchFamily="18" charset="0"/>
                                  <a:cs typeface="Arial"/>
                                  <a:sym typeface="Arial"/>
                                </a:rPr>
                                <m:t>1</m:t>
                              </m:r>
                            </m:sub>
                          </m:sSub>
                        </m:num>
                        <m:den>
                          <m:r>
                            <m:rPr>
                              <m:sty m:val="p"/>
                            </m:rPr>
                            <a:rPr lang="en-US" sz="1500" i="1">
                              <a:latin typeface="Cambria Math" panose="02040503050406030204" pitchFamily="18" charset="0"/>
                              <a:cs typeface="Arial"/>
                              <a:sym typeface="Arial"/>
                            </a:rPr>
                            <m:t>dt</m:t>
                          </m:r>
                        </m:den>
                      </m:f>
                    </m:oMath>
                  </m:oMathPara>
                </a14:m>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4422022D-3D6E-0FD8-3529-1D91E9C5065A}"/>
                  </a:ext>
                </a:extLst>
              </p:cNvPr>
              <p:cNvSpPr txBox="1">
                <a:spLocks noGrp="1" noRot="1" noChangeAspect="1" noMove="1" noResize="1" noEditPoints="1" noAdjustHandles="1" noChangeArrowheads="1" noChangeShapeType="1" noTextEdit="1"/>
              </p:cNvSpPr>
              <p:nvPr>
                <p:ph type="body" idx="1"/>
              </p:nvPr>
            </p:nvSpPr>
            <p:spPr>
              <a:xfrm>
                <a:off x="376810" y="1334279"/>
                <a:ext cx="11432202" cy="4821102"/>
              </a:xfrm>
              <a:prstGeom prst="rect">
                <a:avLst/>
              </a:prstGeom>
              <a:blipFill>
                <a:blip r:embed="rId3"/>
                <a:stretch>
                  <a:fillRect l="-213"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4E6F434-EC53-7704-1D46-996DAD5BEB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BBFDB0E-6ECD-D980-B5FA-5E87AE54AE5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B90F7FD-FB2E-F08C-43AB-B23C2F236BA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0F40BC3-F795-1872-CE66-7DDE02CDF5C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88327DF-9B2B-B914-CF1C-C429C8A5A06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984491F-25F2-0A2D-76A5-B1078B262D4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7218655-DB36-6E32-97C6-CB62756E6A5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5B9392B-E800-F01A-3F83-80E89DB750B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3957799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8" end="8"/>
                                            </p:txEl>
                                          </p:spTgt>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118">
                                            <p:txEl>
                                              <p:pRg st="13" end="13"/>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15" end="1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7AAC887-D2D2-5A17-9CBA-3C11B96DD3FA}"/>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706B594-3503-62C2-C03D-687D4C620BC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By Ohm’s law, the inject noise current flows through the victim’s wire </a:t>
                </a:r>
                <a:r>
                  <a:rPr lang="en-US" sz="1800" dirty="0" err="1">
                    <a:solidFill>
                      <a:schemeClr val="dk1"/>
                    </a:solidFill>
                    <a:latin typeface="Arial"/>
                    <a:ea typeface="Arial"/>
                    <a:cs typeface="Arial"/>
                    <a:sym typeface="Arial"/>
                  </a:rPr>
                  <a:t>impedence</a:t>
                </a:r>
                <a:r>
                  <a:rPr lang="en-US" sz="1800" dirty="0">
                    <a:solidFill>
                      <a:schemeClr val="dk1"/>
                    </a:solidFill>
                    <a:latin typeface="Arial"/>
                    <a:ea typeface="Arial"/>
                    <a:cs typeface="Arial"/>
                    <a:sym typeface="Arial"/>
                  </a:rPr>
                  <a:t> to ground (</a:t>
                </a:r>
                <a14:m>
                  <m:oMath xmlns:m="http://schemas.openxmlformats.org/officeDocument/2006/math">
                    <m:r>
                      <m:rPr>
                        <m:sty m:val="p"/>
                      </m:rPr>
                      <a:rPr lang="en-US" sz="1800" b="0" i="1" smtClean="0">
                        <a:solidFill>
                          <a:schemeClr val="dk1"/>
                        </a:solidFill>
                        <a:latin typeface="Cambria Math" panose="02040503050406030204" pitchFamily="18" charset="0"/>
                        <a:ea typeface="Arial"/>
                        <a:cs typeface="Arial"/>
                        <a:sym typeface="Arial"/>
                      </a:rPr>
                      <m:t>R</m:t>
                    </m:r>
                  </m:oMath>
                </a14:m>
                <a:r>
                  <a:rPr lang="en-US" sz="1800" dirty="0">
                    <a:latin typeface="Arial"/>
                    <a:ea typeface="Arial"/>
                    <a:cs typeface="Arial"/>
                    <a:sym typeface="Arial"/>
                  </a:rPr>
                  <a:t>), creating a noise voltage: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smtClean="0">
                              <a:latin typeface="Cambria Math" panose="02040503050406030204" pitchFamily="18" charset="0"/>
                              <a:cs typeface="Arial"/>
                              <a:sym typeface="Arial"/>
                            </a:rPr>
                          </m:ctrlPr>
                        </m:sSubPr>
                        <m:e>
                          <m:r>
                            <m:rPr>
                              <m:sty m:val="p"/>
                            </m:rPr>
                            <a:rPr lang="en-US" sz="1800" b="0" i="1" smtClean="0">
                              <a:latin typeface="Cambria Math" panose="02040503050406030204" pitchFamily="18" charset="0"/>
                              <a:cs typeface="Arial"/>
                              <a:sym typeface="Arial"/>
                            </a:rPr>
                            <m:t>V</m:t>
                          </m:r>
                        </m:e>
                        <m:sub>
                          <m:r>
                            <m:rPr>
                              <m:sty m:val="p"/>
                            </m:rPr>
                            <a:rPr lang="en-US" sz="1800" b="0" i="1" smtClean="0">
                              <a:latin typeface="Cambria Math" panose="02040503050406030204" pitchFamily="18" charset="0"/>
                              <a:cs typeface="Arial"/>
                              <a:sym typeface="Arial"/>
                            </a:rPr>
                            <m:t>noise</m:t>
                          </m:r>
                        </m:sub>
                      </m:sSub>
                      <m:r>
                        <a:rPr lang="en-US" sz="1800" i="1" smtClean="0">
                          <a:latin typeface="Cambria Math" panose="02040503050406030204" pitchFamily="18" charset="0"/>
                          <a:ea typeface="Cambria Math" panose="02040503050406030204" pitchFamily="18" charset="0"/>
                          <a:cs typeface="Arial"/>
                          <a:sym typeface="Arial"/>
                        </a:rPr>
                        <m:t>≈</m:t>
                      </m:r>
                      <m:sSub>
                        <m:sSubPr>
                          <m:ctrlPr>
                            <a:rPr lang="en-US" sz="1800" i="1" smtClean="0">
                              <a:latin typeface="Cambria Math" panose="02040503050406030204" pitchFamily="18" charset="0"/>
                              <a:ea typeface="Cambria Math" panose="02040503050406030204" pitchFamily="18" charset="0"/>
                              <a:cs typeface="Arial"/>
                              <a:sym typeface="Arial"/>
                            </a:rPr>
                          </m:ctrlPr>
                        </m:sSubPr>
                        <m:e>
                          <m:r>
                            <m:rPr>
                              <m:sty m:val="p"/>
                            </m:rPr>
                            <a:rPr lang="en-US" sz="1800" b="0" i="1" smtClean="0">
                              <a:latin typeface="Cambria Math" panose="02040503050406030204" pitchFamily="18" charset="0"/>
                              <a:ea typeface="Cambria Math" panose="02040503050406030204" pitchFamily="18" charset="0"/>
                              <a:cs typeface="Arial"/>
                              <a:sym typeface="Arial"/>
                            </a:rPr>
                            <m:t>I</m:t>
                          </m:r>
                        </m:e>
                        <m:sub>
                          <m:r>
                            <m:rPr>
                              <m:sty m:val="p"/>
                            </m:rPr>
                            <a:rPr lang="en-US" sz="1800" b="0" i="1" smtClean="0">
                              <a:latin typeface="Cambria Math" panose="02040503050406030204" pitchFamily="18" charset="0"/>
                              <a:ea typeface="Cambria Math" panose="02040503050406030204" pitchFamily="18" charset="0"/>
                              <a:cs typeface="Arial"/>
                              <a:sym typeface="Arial"/>
                            </a:rPr>
                            <m:t>noise</m:t>
                          </m:r>
                        </m:sub>
                      </m:sSub>
                      <m:r>
                        <m:rPr>
                          <m:sty m:val="p"/>
                        </m:rPr>
                        <a:rPr lang="en-US" sz="1800" b="0" i="1" smtClean="0">
                          <a:latin typeface="Cambria Math" panose="02040503050406030204" pitchFamily="18" charset="0"/>
                          <a:ea typeface="Cambria Math" panose="02040503050406030204" pitchFamily="18" charset="0"/>
                          <a:cs typeface="Arial"/>
                          <a:sym typeface="Arial"/>
                        </a:rPr>
                        <m:t>R</m:t>
                      </m:r>
                      <m:r>
                        <a:rPr lang="en-US" sz="1800" i="1">
                          <a:latin typeface="Cambria Math" panose="02040503050406030204" pitchFamily="18" charset="0"/>
                          <a:ea typeface="Cambria Math" panose="02040503050406030204" pitchFamily="18" charset="0"/>
                          <a:cs typeface="Arial"/>
                          <a:sym typeface="Arial"/>
                        </a:rPr>
                        <m:t>≈</m:t>
                      </m:r>
                      <m:r>
                        <m:rPr>
                          <m:sty m:val="p"/>
                        </m:rPr>
                        <a:rPr lang="en-US" sz="1800" b="0" i="1" smtClean="0">
                          <a:latin typeface="Cambria Math" panose="02040503050406030204" pitchFamily="18" charset="0"/>
                          <a:ea typeface="Cambria Math" panose="02040503050406030204" pitchFamily="18" charset="0"/>
                          <a:cs typeface="Arial"/>
                          <a:sym typeface="Arial"/>
                        </a:rPr>
                        <m:t>R</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C</m:t>
                          </m:r>
                        </m:e>
                        <m:sub>
                          <m:r>
                            <a:rPr lang="en-US" sz="1800" i="1">
                              <a:latin typeface="Cambria Math" panose="02040503050406030204" pitchFamily="18" charset="0"/>
                              <a:cs typeface="Arial"/>
                              <a:sym typeface="Arial"/>
                            </a:rPr>
                            <m:t>12</m:t>
                          </m:r>
                        </m:sub>
                      </m:sSub>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a:rPr lang="en-US" sz="1800" i="1">
                                  <a:latin typeface="Cambria Math" panose="02040503050406030204" pitchFamily="18" charset="0"/>
                                  <a:cs typeface="Arial"/>
                                  <a:sym typeface="Arial"/>
                                </a:rPr>
                                <m:t>1</m:t>
                              </m:r>
                            </m:sub>
                          </m:sSub>
                        </m:num>
                        <m:den>
                          <m:r>
                            <m:rPr>
                              <m:sty m:val="p"/>
                            </m:rPr>
                            <a:rPr lang="en-US" sz="1800" i="1">
                              <a:latin typeface="Cambria Math" panose="02040503050406030204" pitchFamily="18" charset="0"/>
                              <a:cs typeface="Arial"/>
                              <a:sym typeface="Arial"/>
                            </a:rPr>
                            <m:t>dt</m:t>
                          </m:r>
                        </m:den>
                      </m:f>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source voltage, even if the actual voltage amplitude is moderate!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What causes more digital signal interference?</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latin typeface="Arial"/>
                    <a:ea typeface="Arial"/>
                    <a:cs typeface="Arial"/>
                    <a:sym typeface="Arial"/>
                  </a:rPr>
                  <a:t>High-frequency vs low-frequency</a:t>
                </a: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Assuming a duty cycle of 50%?</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r>
                  <a:rPr lang="en-US" sz="1800" dirty="0">
                    <a:solidFill>
                      <a:srgbClr val="000000"/>
                    </a:solidFill>
                    <a:latin typeface="Consolas" panose="020B0609020204030204" pitchFamily="49" charset="0"/>
                  </a:rPr>
                  <a:t>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5000;  EPwm7Regs.</a:t>
                </a:r>
                <a:r>
                  <a:rPr lang="en-US" sz="1800" dirty="0">
                    <a:solidFill>
                      <a:srgbClr val="0000C0"/>
                    </a:solidFill>
                    <a:latin typeface="Consolas" panose="020B0609020204030204" pitchFamily="49" charset="0"/>
                  </a:rPr>
                  <a:t>TBPRD</a:t>
                </a:r>
                <a:r>
                  <a:rPr lang="en-US" sz="1800" dirty="0">
                    <a:solidFill>
                      <a:srgbClr val="000000"/>
                    </a:solidFill>
                    <a:latin typeface="Consolas" panose="020B0609020204030204" pitchFamily="49" charset="0"/>
                  </a:rPr>
                  <a:t> = 500;</a:t>
                </a: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706B594-3503-62C2-C03D-687D4C620BC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F5683C7E-7158-75B0-5659-F3A0CC7F9DB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5ABA672-B9C0-C40E-48E9-C7C4C72EAA5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6A5230B-52D6-AEC7-6FB9-E0E728389EA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5BCE374-187C-F87B-0D96-46E82848F4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70872BA-30D8-4AB8-EC55-509E5A0C0BF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B463576-3FCC-78BE-2445-D5CE8DAA6435}"/>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E51FC57-D594-0E18-9A2B-B374AEB1B72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49CED8-3749-DBD1-ABDD-540C421201D2}"/>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Rectangle 1">
            <a:extLst>
              <a:ext uri="{FF2B5EF4-FFF2-40B4-BE49-F238E27FC236}">
                <a16:creationId xmlns:a16="http://schemas.microsoft.com/office/drawing/2014/main" id="{A37AD69F-FA9F-ED67-FBD2-B2216717ADCD}"/>
              </a:ext>
            </a:extLst>
          </p:cNvPr>
          <p:cNvSpPr/>
          <p:nvPr/>
        </p:nvSpPr>
        <p:spPr>
          <a:xfrm>
            <a:off x="4258673" y="4297041"/>
            <a:ext cx="1604997"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Rectangle 2">
            <a:extLst>
              <a:ext uri="{FF2B5EF4-FFF2-40B4-BE49-F238E27FC236}">
                <a16:creationId xmlns:a16="http://schemas.microsoft.com/office/drawing/2014/main" id="{A8C09F26-E24A-C1A5-34E8-AE2880A14416}"/>
              </a:ext>
            </a:extLst>
          </p:cNvPr>
          <p:cNvSpPr/>
          <p:nvPr/>
        </p:nvSpPr>
        <p:spPr>
          <a:xfrm>
            <a:off x="6096000" y="5370236"/>
            <a:ext cx="2862562" cy="454002"/>
          </a:xfrm>
          <a:prstGeom prst="rect">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Tree>
    <p:extLst>
      <p:ext uri="{BB962C8B-B14F-4D97-AF65-F5344CB8AC3E}">
        <p14:creationId xmlns:p14="http://schemas.microsoft.com/office/powerpoint/2010/main" val="276176954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118">
                                            <p:txEl>
                                              <p:pRg st="10" end="10"/>
                                            </p:txEl>
                                          </p:spTgt>
                                        </p:tgtEl>
                                        <p:attrNameLst>
                                          <p:attrName>style.visibility</p:attrName>
                                        </p:attrNameLst>
                                      </p:cBhvr>
                                      <p:to>
                                        <p:strVal val="visible"/>
                                      </p:to>
                                    </p:set>
                                  </p:childTnLst>
                                </p:cTn>
                              </p:par>
                              <p:par>
                                <p:cTn id="11" presetID="1" presetClass="entr" presetSubtype="0" fill="hold" nodeType="withEffect">
                                  <p:stCondLst>
                                    <p:cond delay="0"/>
                                  </p:stCondLst>
                                  <p:childTnLst>
                                    <p:set>
                                      <p:cBhvr>
                                        <p:cTn id="12" dur="1" fill="hold">
                                          <p:stCondLst>
                                            <p:cond delay="0"/>
                                          </p:stCondLst>
                                        </p:cTn>
                                        <p:tgtEl>
                                          <p:spTgt spid="118">
                                            <p:txEl>
                                              <p:pRg st="12" end="12"/>
                                            </p:txEl>
                                          </p:spTgt>
                                        </p:tgtEl>
                                        <p:attrNameLst>
                                          <p:attrName>style.visibility</p:attrName>
                                        </p:attrNameLst>
                                      </p:cBhvr>
                                      <p:to>
                                        <p:strVal val="visible"/>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grpId="0" nodeType="clickEffect">
                                  <p:stCondLst>
                                    <p:cond delay="0"/>
                                  </p:stCondLst>
                                  <p:childTnLst>
                                    <p:set>
                                      <p:cBhvr>
                                        <p:cTn id="1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 grpId="0" animBg="1"/>
      <p:bldP spid="3"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E553810-0993-6CA6-C592-FEEBB293FC51}"/>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E9462B77-3A90-663C-F3D7-57DB59DCCA5F}"/>
                  </a:ext>
                </a:extLst>
              </p:cNvPr>
              <p:cNvSpPr txBox="1">
                <a:spLocks noGrp="1"/>
              </p:cNvSpPr>
              <p:nvPr>
                <p:ph type="body" idx="1"/>
              </p:nvPr>
            </p:nvSpPr>
            <p:spPr>
              <a:xfrm>
                <a:off x="376810" y="1334279"/>
                <a:ext cx="7352927" cy="4821102"/>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Let’s try to explain how we get inductive interference!</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Coupling between the circuits can occur when the magnetic field lines from one of the circuits pass through the loop formed by the other circuit.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Magnetic coupling is governed by </a:t>
                </a:r>
                <a:r>
                  <a:rPr lang="en-US" sz="1500" b="1" dirty="0">
                    <a:latin typeface="Arial"/>
                    <a:ea typeface="Arial"/>
                    <a:cs typeface="Arial"/>
                    <a:sym typeface="Arial"/>
                  </a:rPr>
                  <a:t>Ampere's Law </a:t>
                </a:r>
                <a:r>
                  <a:rPr lang="en-US" sz="1500" dirty="0">
                    <a:latin typeface="Arial"/>
                    <a:ea typeface="Arial"/>
                    <a:cs typeface="Arial"/>
                    <a:sym typeface="Arial"/>
                  </a:rPr>
                  <a:t>and </a:t>
                </a:r>
                <a:r>
                  <a:rPr lang="en-US" sz="1500" b="1" dirty="0">
                    <a:latin typeface="Arial"/>
                    <a:ea typeface="Arial"/>
                    <a:cs typeface="Arial"/>
                    <a:sym typeface="Arial"/>
                  </a:rPr>
                  <a:t>Faraday's Law </a:t>
                </a:r>
                <a:r>
                  <a:rPr lang="en-US" sz="1500" dirty="0">
                    <a:latin typeface="Arial"/>
                    <a:ea typeface="Arial"/>
                    <a:cs typeface="Arial"/>
                    <a:sym typeface="Arial"/>
                  </a:rPr>
                  <a:t>of Induction. A time-varying current in a source wire generates a time-varying magnetic field, which penetrates the loop area formed by the victim wire and its ground return path, inducing an electromotive force (EMF).</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Let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I</m:t>
                        </m:r>
                      </m:e>
                      <m:sub>
                        <m:r>
                          <a:rPr lang="en-US" sz="1500" b="0" i="1" smtClean="0">
                            <a:latin typeface="Cambria Math" panose="02040503050406030204" pitchFamily="18" charset="0"/>
                            <a:cs typeface="Arial"/>
                            <a:sym typeface="Arial"/>
                          </a:rPr>
                          <m:t>1</m:t>
                        </m:r>
                      </m:sub>
                    </m:sSub>
                    <m:r>
                      <a:rPr lang="en-US" sz="1500" b="0" i="1" smtClean="0">
                        <a:latin typeface="Cambria Math" panose="02040503050406030204" pitchFamily="18" charset="0"/>
                        <a:cs typeface="Arial"/>
                        <a:sym typeface="Arial"/>
                      </a:rPr>
                      <m:t>(</m:t>
                    </m:r>
                    <m:r>
                      <m:rPr>
                        <m:sty m:val="p"/>
                      </m:rPr>
                      <a:rPr lang="en-US" sz="1500" b="0" i="1" smtClean="0">
                        <a:latin typeface="Cambria Math" panose="02040503050406030204" pitchFamily="18" charset="0"/>
                        <a:cs typeface="Arial"/>
                        <a:sym typeface="Arial"/>
                      </a:rPr>
                      <m:t>t</m:t>
                    </m:r>
                    <m:r>
                      <a:rPr lang="en-US" sz="1500" b="0" i="1" smtClean="0">
                        <a:latin typeface="Cambria Math" panose="02040503050406030204" pitchFamily="18" charset="0"/>
                        <a:cs typeface="Arial"/>
                        <a:sym typeface="Arial"/>
                      </a:rPr>
                      <m:t>)</m:t>
                    </m:r>
                  </m:oMath>
                </a14:m>
                <a:r>
                  <a:rPr lang="en-US" sz="1500" dirty="0">
                    <a:latin typeface="Arial"/>
                    <a:ea typeface="Arial"/>
                    <a:cs typeface="Arial"/>
                    <a:sym typeface="Arial"/>
                  </a:rPr>
                  <a:t> be the time-varying current for. Assuming it is a long, straight wire, we use Ampere’s Law (</a:t>
                </a:r>
                <a14:m>
                  <m:oMath xmlns:m="http://schemas.openxmlformats.org/officeDocument/2006/math">
                    <m:nary>
                      <m:naryPr>
                        <m:chr m:val="∮"/>
                        <m:grow m:val="on"/>
                        <m:subHide m:val="on"/>
                        <m:supHide m:val="on"/>
                        <m:ctrlPr>
                          <a:rPr lang="en-US" sz="1500" i="1" smtClean="0">
                            <a:latin typeface="Cambria Math" panose="02040503050406030204" pitchFamily="18" charset="0"/>
                            <a:sym typeface="Arial"/>
                          </a:rPr>
                        </m:ctrlPr>
                      </m:naryPr>
                      <m:sub/>
                      <m:sup/>
                      <m:e>
                        <m:r>
                          <a:rPr lang="en-US" sz="1500" b="1" i="1" smtClean="0">
                            <a:latin typeface="Cambria Math" panose="02040503050406030204" pitchFamily="18" charset="0"/>
                            <a:sym typeface="Arial"/>
                          </a:rPr>
                          <m:t>𝑩</m:t>
                        </m:r>
                        <m:r>
                          <a:rPr lang="en-US" sz="1500" i="0" smtClean="0">
                            <a:latin typeface="Cambria Math" panose="02040503050406030204" pitchFamily="18" charset="0"/>
                            <a:sym typeface="Arial"/>
                          </a:rPr>
                          <m:t>⋅ⅆ</m:t>
                        </m:r>
                        <m:r>
                          <a:rPr lang="en-US" sz="1500" b="1" i="1" smtClean="0">
                            <a:latin typeface="Cambria Math" panose="02040503050406030204" pitchFamily="18" charset="0"/>
                            <a:sym typeface="Arial"/>
                          </a:rPr>
                          <m:t>𝒍</m:t>
                        </m:r>
                      </m:e>
                    </m:nary>
                    <m:r>
                      <a:rPr lang="en-US" sz="1500" i="0" smtClean="0">
                        <a:latin typeface="Cambria Math" panose="02040503050406030204" pitchFamily="18" charset="0"/>
                        <a:sym typeface="Arial"/>
                      </a:rPr>
                      <m:t>=</m:t>
                    </m:r>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𝜇</m:t>
                        </m:r>
                      </m:e>
                      <m:sub>
                        <m:r>
                          <a:rPr lang="en-US" sz="1500" i="0" smtClean="0">
                            <a:latin typeface="Cambria Math" panose="02040503050406030204" pitchFamily="18" charset="0"/>
                            <a:sym typeface="Arial"/>
                          </a:rPr>
                          <m:t>0</m:t>
                        </m:r>
                      </m:sub>
                    </m:sSub>
                    <m:sSub>
                      <m:sSubPr>
                        <m:ctrlPr>
                          <a:rPr lang="en-US" sz="1500" i="1" smtClean="0">
                            <a:latin typeface="Cambria Math" panose="02040503050406030204" pitchFamily="18" charset="0"/>
                            <a:sym typeface="Arial"/>
                          </a:rPr>
                        </m:ctrlPr>
                      </m:sSubPr>
                      <m:e>
                        <m:r>
                          <a:rPr lang="en-US" sz="1500" i="1" smtClean="0">
                            <a:latin typeface="Cambria Math" panose="02040503050406030204" pitchFamily="18" charset="0"/>
                            <a:sym typeface="Arial"/>
                          </a:rPr>
                          <m:t>𝐼</m:t>
                        </m:r>
                      </m:e>
                      <m:sub>
                        <m:r>
                          <a:rPr lang="en-US" sz="1500" i="1" smtClean="0">
                            <a:latin typeface="Cambria Math" panose="02040503050406030204" pitchFamily="18" charset="0"/>
                            <a:sym typeface="Arial"/>
                          </a:rPr>
                          <m:t>𝑒𝑛𝑐</m:t>
                        </m:r>
                      </m:sub>
                    </m:sSub>
                  </m:oMath>
                </a14:m>
                <a:r>
                  <a:rPr lang="en-US" sz="1500" dirty="0">
                    <a:latin typeface="Arial"/>
                    <a:ea typeface="Arial"/>
                    <a:cs typeface="Arial"/>
                    <a:sym typeface="Arial"/>
                  </a:rPr>
                  <a:t>) to find the magnetic field at radial distance </a:t>
                </a:r>
                <a14:m>
                  <m:oMath xmlns:m="http://schemas.openxmlformats.org/officeDocument/2006/math">
                    <m:r>
                      <m:rPr>
                        <m:sty m:val="p"/>
                      </m:rPr>
                      <a:rPr lang="en-US" sz="1500" b="0" i="1" smtClean="0">
                        <a:latin typeface="Cambria Math" panose="02040503050406030204" pitchFamily="18" charset="0"/>
                        <a:ea typeface="Arial"/>
                        <a:cs typeface="Arial"/>
                        <a:sym typeface="Arial"/>
                      </a:rPr>
                      <m:t>r</m:t>
                    </m:r>
                  </m:oMath>
                </a14:m>
                <a:r>
                  <a:rPr lang="en-US" sz="1500" dirty="0">
                    <a:latin typeface="Arial"/>
                    <a:ea typeface="Arial"/>
                    <a:cs typeface="Arial"/>
                    <a:sym typeface="Arial"/>
                  </a:rPr>
                  <a:t>:</a:t>
                </a: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a:rPr lang="en-US" sz="1500" i="1" dirty="0" smtClean="0">
                          <a:latin typeface="Cambria Math" panose="02040503050406030204" pitchFamily="18" charset="0"/>
                          <a:sym typeface="Arial"/>
                        </a:rPr>
                        <m:t>𝐵</m:t>
                      </m:r>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𝑟</m:t>
                          </m:r>
                          <m:r>
                            <a:rPr lang="en-US" sz="1500" i="0" dirty="0" smtClean="0">
                              <a:latin typeface="Cambria Math" panose="02040503050406030204" pitchFamily="18" charset="0"/>
                              <a:sym typeface="Arial"/>
                            </a:rPr>
                            <m:t>,</m:t>
                          </m:r>
                          <m:r>
                            <a:rPr lang="en-US" sz="1500" i="1" dirty="0" smtClean="0">
                              <a:latin typeface="Cambria Math" panose="02040503050406030204" pitchFamily="18" charset="0"/>
                              <a:sym typeface="Arial"/>
                            </a:rPr>
                            <m:t>𝑡</m:t>
                          </m:r>
                        </m:e>
                      </m:d>
                      <m:r>
                        <a:rPr lang="en-US" sz="1500" i="0" dirty="0" smtClean="0">
                          <a:latin typeface="Cambria Math" panose="02040503050406030204" pitchFamily="18" charset="0"/>
                          <a:sym typeface="Arial"/>
                        </a:rPr>
                        <m:t>=</m:t>
                      </m:r>
                      <m:f>
                        <m:fPr>
                          <m:ctrlPr>
                            <a:rPr lang="en-US" sz="1500" i="1" dirty="0" smtClean="0">
                              <a:latin typeface="Cambria Math" panose="02040503050406030204" pitchFamily="18" charset="0"/>
                              <a:sym typeface="Arial"/>
                            </a:rPr>
                          </m:ctrlPr>
                        </m:fPr>
                        <m:num>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𝜇</m:t>
                              </m:r>
                            </m:e>
                            <m:sub>
                              <m:r>
                                <a:rPr lang="en-US" sz="1500" i="0" dirty="0" smtClean="0">
                                  <a:latin typeface="Cambria Math" panose="02040503050406030204" pitchFamily="18" charset="0"/>
                                  <a:sym typeface="Arial"/>
                                </a:rPr>
                                <m:t>0</m:t>
                              </m:r>
                            </m:sub>
                          </m:sSub>
                          <m:sSub>
                            <m:sSubPr>
                              <m:ctrlPr>
                                <a:rPr lang="en-US" sz="1500" i="1" dirty="0" smtClean="0">
                                  <a:latin typeface="Cambria Math" panose="02040503050406030204" pitchFamily="18" charset="0"/>
                                  <a:sym typeface="Arial"/>
                                </a:rPr>
                              </m:ctrlPr>
                            </m:sSubPr>
                            <m:e>
                              <m:r>
                                <a:rPr lang="en-US" sz="1500" i="1" dirty="0" smtClean="0">
                                  <a:latin typeface="Cambria Math" panose="02040503050406030204" pitchFamily="18" charset="0"/>
                                  <a:sym typeface="Arial"/>
                                </a:rPr>
                                <m:t>𝐼</m:t>
                              </m:r>
                            </m:e>
                            <m:sub>
                              <m:r>
                                <a:rPr lang="en-US" sz="1500" i="0" dirty="0" smtClean="0">
                                  <a:latin typeface="Cambria Math" panose="02040503050406030204" pitchFamily="18" charset="0"/>
                                  <a:sym typeface="Arial"/>
                                </a:rPr>
                                <m:t>1</m:t>
                              </m:r>
                            </m:sub>
                          </m:sSub>
                          <m:d>
                            <m:dPr>
                              <m:ctrlPr>
                                <a:rPr lang="en-US" sz="1500" i="1" dirty="0" smtClean="0">
                                  <a:latin typeface="Cambria Math" panose="02040503050406030204" pitchFamily="18" charset="0"/>
                                  <a:sym typeface="Arial"/>
                                </a:rPr>
                              </m:ctrlPr>
                            </m:dPr>
                            <m:e>
                              <m:r>
                                <a:rPr lang="en-US" sz="1500" i="1" dirty="0" smtClean="0">
                                  <a:latin typeface="Cambria Math" panose="02040503050406030204" pitchFamily="18" charset="0"/>
                                  <a:sym typeface="Arial"/>
                                </a:rPr>
                                <m:t>𝑡</m:t>
                              </m:r>
                            </m:e>
                          </m:d>
                        </m:num>
                        <m:den>
                          <m:r>
                            <a:rPr lang="en-US" sz="1500" i="0" dirty="0" smtClean="0">
                              <a:latin typeface="Cambria Math" panose="02040503050406030204" pitchFamily="18" charset="0"/>
                              <a:sym typeface="Arial"/>
                            </a:rPr>
                            <m:t>2</m:t>
                          </m:r>
                          <m:r>
                            <a:rPr lang="en-US" sz="1500" i="1" dirty="0" smtClean="0">
                              <a:latin typeface="Cambria Math" panose="02040503050406030204" pitchFamily="18" charset="0"/>
                              <a:sym typeface="Arial"/>
                            </a:rPr>
                            <m:t>𝜋</m:t>
                          </m:r>
                          <m:r>
                            <a:rPr lang="en-US" sz="1500" i="1" dirty="0" smtClean="0">
                              <a:latin typeface="Cambria Math" panose="02040503050406030204" pitchFamily="18" charset="0"/>
                              <a:sym typeface="Arial"/>
                            </a:rPr>
                            <m:t>𝑟</m:t>
                          </m:r>
                        </m:den>
                      </m:f>
                      <m:acc>
                        <m:accPr>
                          <m:chr m:val="̂"/>
                          <m:ctrlPr>
                            <a:rPr lang="en-US" sz="1500" i="1" dirty="0" smtClean="0">
                              <a:latin typeface="Cambria Math" panose="02040503050406030204" pitchFamily="18" charset="0"/>
                              <a:sym typeface="Arial"/>
                            </a:rPr>
                          </m:ctrlPr>
                        </m:accPr>
                        <m:e>
                          <m:r>
                            <a:rPr lang="en-US" sz="1500" i="1" dirty="0" smtClean="0">
                              <a:latin typeface="Cambria Math" panose="02040503050406030204" pitchFamily="18" charset="0"/>
                              <a:sym typeface="Arial"/>
                            </a:rPr>
                            <m:t>𝜙</m:t>
                          </m:r>
                        </m:e>
                      </m:acc>
                    </m:oMath>
                  </m:oMathPara>
                </a14:m>
                <a:endParaRPr lang="en-US" sz="1500" dirty="0">
                  <a:latin typeface="Arial"/>
                  <a:ea typeface="Arial"/>
                  <a:cs typeface="Arial"/>
                  <a:sym typeface="Arial"/>
                </a:endParaRPr>
              </a:p>
              <a:p>
                <a:pPr marL="0" indent="0">
                  <a:lnSpc>
                    <a:spcPct val="100000"/>
                  </a:lnSpc>
                  <a:spcBef>
                    <a:spcPts val="0"/>
                  </a:spcBef>
                  <a:buSzPts val="3000"/>
                  <a:buNone/>
                </a:pPr>
                <a:endParaRPr lang="en-US" sz="1500" dirty="0">
                  <a:latin typeface="Arial"/>
                  <a:ea typeface="Arial"/>
                  <a:cs typeface="Arial"/>
                  <a:sym typeface="Arial"/>
                </a:endParaRPr>
              </a:p>
              <a:p>
                <a:pPr marL="0" indent="0">
                  <a:lnSpc>
                    <a:spcPct val="100000"/>
                  </a:lnSpc>
                  <a:spcBef>
                    <a:spcPts val="0"/>
                  </a:spcBef>
                  <a:buSzPts val="3000"/>
                  <a:buNone/>
                </a:pPr>
                <a:r>
                  <a:rPr lang="en-US" sz="1500" dirty="0">
                    <a:latin typeface="Arial"/>
                    <a:ea typeface="Arial"/>
                    <a:cs typeface="Arial"/>
                    <a:sym typeface="Arial"/>
                  </a:rPr>
                  <a:t>(there </a:t>
                </a:r>
                <a14:m>
                  <m:oMath xmlns:m="http://schemas.openxmlformats.org/officeDocument/2006/math">
                    <m:sSub>
                      <m:sSubPr>
                        <m:ctrlPr>
                          <a:rPr lang="en-US" sz="1500" i="1" dirty="0">
                            <a:latin typeface="Cambria Math" panose="02040503050406030204" pitchFamily="18" charset="0"/>
                            <a:sym typeface="Arial"/>
                          </a:rPr>
                        </m:ctrlPr>
                      </m:sSubPr>
                      <m:e>
                        <m:r>
                          <a:rPr lang="en-US" sz="1500" i="1" dirty="0">
                            <a:latin typeface="Cambria Math" panose="02040503050406030204" pitchFamily="18" charset="0"/>
                            <a:sym typeface="Arial"/>
                          </a:rPr>
                          <m:t>𝜇</m:t>
                        </m:r>
                      </m:e>
                      <m:sub>
                        <m:r>
                          <a:rPr lang="en-US" sz="1500" dirty="0">
                            <a:latin typeface="Cambria Math" panose="02040503050406030204" pitchFamily="18" charset="0"/>
                            <a:sym typeface="Arial"/>
                          </a:rPr>
                          <m:t>0</m:t>
                        </m:r>
                      </m:sub>
                    </m:sSub>
                  </m:oMath>
                </a14:m>
                <a:r>
                  <a:rPr lang="en-US" sz="1500" dirty="0">
                    <a:latin typeface="Arial"/>
                    <a:ea typeface="Arial"/>
                    <a:cs typeface="Arial"/>
                    <a:sym typeface="Arial"/>
                  </a:rPr>
                  <a:t>, is the permeability of free space and </a:t>
                </a:r>
                <a14:m>
                  <m:oMath xmlns:m="http://schemas.openxmlformats.org/officeDocument/2006/math">
                    <m:acc>
                      <m:accPr>
                        <m:chr m:val="̂"/>
                        <m:ctrlPr>
                          <a:rPr lang="en-US" sz="1500" i="1" dirty="0">
                            <a:latin typeface="Cambria Math" panose="02040503050406030204" pitchFamily="18" charset="0"/>
                            <a:sym typeface="Arial"/>
                          </a:rPr>
                        </m:ctrlPr>
                      </m:accPr>
                      <m:e>
                        <m:r>
                          <a:rPr lang="en-US" sz="1500" i="1" dirty="0">
                            <a:latin typeface="Cambria Math" panose="02040503050406030204" pitchFamily="18" charset="0"/>
                            <a:sym typeface="Arial"/>
                          </a:rPr>
                          <m:t>𝜙</m:t>
                        </m:r>
                      </m:e>
                    </m:acc>
                  </m:oMath>
                </a14:m>
                <a:r>
                  <a:rPr lang="en-US" sz="1500" dirty="0">
                    <a:latin typeface="Arial"/>
                    <a:ea typeface="Arial"/>
                    <a:cs typeface="Arial"/>
                    <a:sym typeface="Arial"/>
                  </a:rPr>
                  <a:t> represents the flux)</a:t>
                </a:r>
              </a:p>
              <a:p>
                <a:pPr marL="0" indent="0">
                  <a:lnSpc>
                    <a:spcPct val="100000"/>
                  </a:lnSpc>
                  <a:spcBef>
                    <a:spcPts val="0"/>
                  </a:spcBef>
                  <a:buSzPts val="3000"/>
                  <a:buNone/>
                </a:pPr>
                <a:endParaRPr lang="en-US" sz="15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E9462B77-3A90-663C-F3D7-57DB59DCCA5F}"/>
                  </a:ext>
                </a:extLst>
              </p:cNvPr>
              <p:cNvSpPr txBox="1">
                <a:spLocks noGrp="1" noRot="1" noChangeAspect="1" noMove="1" noResize="1" noEditPoints="1" noAdjustHandles="1" noChangeArrowheads="1" noChangeShapeType="1" noTextEdit="1"/>
              </p:cNvSpPr>
              <p:nvPr>
                <p:ph type="body" idx="1"/>
              </p:nvPr>
            </p:nvSpPr>
            <p:spPr>
              <a:xfrm>
                <a:off x="376810" y="1334279"/>
                <a:ext cx="7352927" cy="4821102"/>
              </a:xfrm>
              <a:prstGeom prst="rect">
                <a:avLst/>
              </a:prstGeom>
              <a:blipFill>
                <a:blip r:embed="rId3"/>
                <a:stretch>
                  <a:fillRect l="-332" t="-253"/>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EB01F065-F6E7-D6D8-DE0F-AABD0B55A9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5A78B60-B11D-A3DC-1E60-DFC069AF3A03}"/>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141F66B-3AE3-3256-4B55-8A8C9C4F1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F620FF-E919-339A-F7D0-8CB581A7DFA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6BE268-749B-832D-D911-C5BE24B7AC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CE9D18-8E15-C4EC-14CF-BBFB30061C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65DF155-07AC-5538-C8B8-C11F311B2BA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1BCD11F-7C93-4AE6-D3FF-1FC4A4A872A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3B811EB4-FFC8-B884-FA4E-2DE4D94CF01A}"/>
              </a:ext>
            </a:extLst>
          </p:cNvPr>
          <p:cNvPicPr>
            <a:picLocks noChangeAspect="1"/>
          </p:cNvPicPr>
          <p:nvPr/>
        </p:nvPicPr>
        <p:blipFill>
          <a:blip r:embed="rId5">
            <a:extLst>
              <a:ext uri="{96DAC541-7B7A-43D3-8B79-37D633B846F1}">
                <asvg:svgBlip xmlns:asvg="http://schemas.microsoft.com/office/drawing/2016/SVG/main" r:embed="rId6"/>
              </a:ext>
            </a:extLst>
          </a:blip>
          <a:stretch>
            <a:fillRect/>
          </a:stretch>
        </p:blipFill>
        <p:spPr>
          <a:xfrm>
            <a:off x="7729737" y="2115192"/>
            <a:ext cx="4099080" cy="2627615"/>
          </a:xfrm>
          <a:prstGeom prst="rect">
            <a:avLst/>
          </a:prstGeom>
        </p:spPr>
      </p:pic>
    </p:spTree>
    <p:extLst>
      <p:ext uri="{BB962C8B-B14F-4D97-AF65-F5344CB8AC3E}">
        <p14:creationId xmlns:p14="http://schemas.microsoft.com/office/powerpoint/2010/main" val="271120191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2C46854-055C-B5AF-C373-DC6DDF6C9825}"/>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45B6DE34-97B3-499D-8C3E-581B4B505607}"/>
                  </a:ext>
                </a:extLst>
              </p:cNvPr>
              <p:cNvSpPr txBox="1">
                <a:spLocks noGrp="1"/>
              </p:cNvSpPr>
              <p:nvPr>
                <p:ph type="body" idx="1"/>
              </p:nvPr>
            </p:nvSpPr>
            <p:spPr>
              <a:xfrm>
                <a:off x="376810" y="1334279"/>
                <a:ext cx="11529573" cy="797771"/>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1500" dirty="0">
                    <a:latin typeface="Arial"/>
                    <a:ea typeface="Arial"/>
                    <a:cs typeface="Arial"/>
                    <a:sym typeface="Arial"/>
                  </a:rPr>
                  <a:t>If the victim wire forms a rectangular loop ( not often the case but good enough for showing this specific case), with it’s return path. Having a length </a:t>
                </a:r>
                <a14:m>
                  <m:oMath xmlns:m="http://schemas.openxmlformats.org/officeDocument/2006/math">
                    <m:r>
                      <m:rPr>
                        <m:sty m:val="p"/>
                      </m:rPr>
                      <a:rPr lang="en-US" sz="1500" b="0" i="1" smtClean="0">
                        <a:latin typeface="Cambria Math" panose="02040503050406030204" pitchFamily="18" charset="0"/>
                        <a:ea typeface="Arial"/>
                        <a:cs typeface="Arial"/>
                        <a:sym typeface="Arial"/>
                      </a:rPr>
                      <m:t>l</m:t>
                    </m:r>
                  </m:oMath>
                </a14:m>
                <a:r>
                  <a:rPr lang="en-US" sz="1500" dirty="0">
                    <a:latin typeface="Arial"/>
                    <a:ea typeface="Arial"/>
                    <a:cs typeface="Arial"/>
                    <a:sym typeface="Arial"/>
                  </a:rPr>
                  <a:t> and distance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n-US" sz="1500" b="0" i="1" smtClean="0">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1</m:t>
                        </m:r>
                      </m:sub>
                    </m:sSub>
                  </m:oMath>
                </a14:m>
                <a:r>
                  <a:rPr lang="en-US" sz="1500" dirty="0">
                    <a:latin typeface="Arial"/>
                    <a:ea typeface="Arial"/>
                    <a:cs typeface="Arial"/>
                    <a:sym typeface="Arial"/>
                  </a:rPr>
                  <a:t> and </a:t>
                </a:r>
                <a14:m>
                  <m:oMath xmlns:m="http://schemas.openxmlformats.org/officeDocument/2006/math">
                    <m:sSub>
                      <m:sSubPr>
                        <m:ctrlPr>
                          <a:rPr lang="en-US" sz="1500" i="1">
                            <a:latin typeface="Cambria Math" panose="02040503050406030204" pitchFamily="18" charset="0"/>
                            <a:cs typeface="Arial"/>
                            <a:sym typeface="Arial"/>
                          </a:rPr>
                        </m:ctrlPr>
                      </m:sSubPr>
                      <m:e>
                        <m:r>
                          <m:rPr>
                            <m:sty m:val="p"/>
                          </m:rPr>
                          <a:rPr lang="en-US" sz="1500" i="1">
                            <a:latin typeface="Cambria Math" panose="02040503050406030204" pitchFamily="18" charset="0"/>
                            <a:cs typeface="Arial"/>
                            <a:sym typeface="Arial"/>
                          </a:rPr>
                          <m:t>r</m:t>
                        </m:r>
                      </m:e>
                      <m:sub>
                        <m:r>
                          <a:rPr lang="en-US" sz="1500" b="0" i="1" smtClean="0">
                            <a:latin typeface="Cambria Math" panose="02040503050406030204" pitchFamily="18" charset="0"/>
                            <a:cs typeface="Arial"/>
                            <a:sym typeface="Arial"/>
                          </a:rPr>
                          <m:t>2</m:t>
                        </m:r>
                      </m:sub>
                    </m:sSub>
                  </m:oMath>
                </a14:m>
                <a:r>
                  <a:rPr lang="en-US" sz="1500" dirty="0">
                    <a:latin typeface="Arial"/>
                    <a:ea typeface="Arial"/>
                    <a:cs typeface="Arial"/>
                    <a:sym typeface="Arial"/>
                  </a:rPr>
                  <a:t> from the source wire. The magnetic flux </a:t>
                </a:r>
                <a14:m>
                  <m:oMath xmlns:m="http://schemas.openxmlformats.org/officeDocument/2006/math">
                    <m:sSub>
                      <m:sSubPr>
                        <m:ctrlPr>
                          <a:rPr lang="en-US" sz="1500" i="1" smtClean="0">
                            <a:latin typeface="Cambria Math" panose="02040503050406030204" pitchFamily="18" charset="0"/>
                            <a:cs typeface="Arial"/>
                            <a:sym typeface="Arial"/>
                          </a:rPr>
                        </m:ctrlPr>
                      </m:sSubPr>
                      <m:e>
                        <m:r>
                          <m:rPr>
                            <m:sty m:val="p"/>
                          </m:rPr>
                          <a:rPr lang="el-GR" sz="1500" i="1">
                            <a:latin typeface="Cambria Math" panose="02040503050406030204" pitchFamily="18" charset="0"/>
                            <a:ea typeface="Cambria Math" panose="02040503050406030204" pitchFamily="18" charset="0"/>
                            <a:cs typeface="Arial"/>
                            <a:sym typeface="Arial"/>
                          </a:rPr>
                          <m:t>Φ</m:t>
                        </m:r>
                      </m:e>
                      <m:sub>
                        <m:r>
                          <m:rPr>
                            <m:sty m:val="p"/>
                          </m:rPr>
                          <a:rPr lang="en-US" sz="1500" b="0" i="1" smtClean="0">
                            <a:latin typeface="Cambria Math" panose="02040503050406030204" pitchFamily="18" charset="0"/>
                            <a:cs typeface="Arial"/>
                            <a:sym typeface="Arial"/>
                          </a:rPr>
                          <m:t>B</m:t>
                        </m:r>
                      </m:sub>
                    </m:sSub>
                  </m:oMath>
                </a14:m>
                <a:r>
                  <a:rPr lang="en-US" sz="1500" dirty="0">
                    <a:latin typeface="Arial"/>
                    <a:ea typeface="Arial"/>
                    <a:cs typeface="Arial"/>
                    <a:sym typeface="Arial"/>
                  </a:rPr>
                  <a:t>, though this loop is the surface integral of the magnetic field.</a:t>
                </a:r>
              </a:p>
            </p:txBody>
          </p:sp>
        </mc:Choice>
        <mc:Fallback xmlns="">
          <p:sp>
            <p:nvSpPr>
              <p:cNvPr id="118" name="Google Shape;118;p29">
                <a:extLst>
                  <a:ext uri="{FF2B5EF4-FFF2-40B4-BE49-F238E27FC236}">
                    <a16:creationId xmlns:a16="http://schemas.microsoft.com/office/drawing/2014/main" id="{45B6DE34-97B3-499D-8C3E-581B4B505607}"/>
                  </a:ext>
                </a:extLst>
              </p:cNvPr>
              <p:cNvSpPr txBox="1">
                <a:spLocks noGrp="1" noRot="1" noChangeAspect="1" noMove="1" noResize="1" noEditPoints="1" noAdjustHandles="1" noChangeArrowheads="1" noChangeShapeType="1" noTextEdit="1"/>
              </p:cNvSpPr>
              <p:nvPr>
                <p:ph type="body" idx="1"/>
              </p:nvPr>
            </p:nvSpPr>
            <p:spPr>
              <a:xfrm>
                <a:off x="376810" y="1334279"/>
                <a:ext cx="11529573" cy="797771"/>
              </a:xfrm>
              <a:prstGeom prst="rect">
                <a:avLst/>
              </a:prstGeom>
              <a:blipFill>
                <a:blip r:embed="rId3"/>
                <a:stretch>
                  <a:fillRect l="-212" t="-1527" b="-5344"/>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CEE58DB9-5625-990F-F409-EB9B083C0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7CA482-AB72-74E5-0248-749A0D818BF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81E9A12-AB74-EDCA-180A-4B3D72EB2B1C}"/>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0FB80E4-BF7C-BFC5-F190-CF499181B4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CBB2A733-C909-DB25-00C1-A1F2DBAC6AAD}"/>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0EA645-D3D2-7CF1-299D-FDCAED47ED5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77CDCEC-81D1-298B-318D-D346156D1A9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797F273-8E95-CE18-1F68-F4DBF54C924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2" name="TextBox 1">
            <a:extLst>
              <a:ext uri="{FF2B5EF4-FFF2-40B4-BE49-F238E27FC236}">
                <a16:creationId xmlns:a16="http://schemas.microsoft.com/office/drawing/2014/main" id="{E39B0FC0-03D0-7B0B-BA2C-429A87EC5F84}"/>
              </a:ext>
            </a:extLst>
          </p:cNvPr>
          <p:cNvSpPr txBox="1"/>
          <p:nvPr/>
        </p:nvSpPr>
        <p:spPr>
          <a:xfrm>
            <a:off x="9264863" y="6014058"/>
            <a:ext cx="1330036" cy="307777"/>
          </a:xfrm>
          <a:prstGeom prst="rect">
            <a:avLst/>
          </a:prstGeom>
          <a:noFill/>
        </p:spPr>
        <p:txBody>
          <a:bodyPr wrap="square" rtlCol="0">
            <a:spAutoFit/>
          </a:bodyPr>
          <a:lstStyle/>
          <a:p>
            <a:pPr algn="ctr"/>
            <a:r>
              <a:rPr lang="en-US" dirty="0"/>
              <a:t>Animate this!</a:t>
            </a:r>
          </a:p>
        </p:txBody>
      </p:sp>
      <p:pic>
        <p:nvPicPr>
          <p:cNvPr id="7" name="Graphic 6">
            <a:extLst>
              <a:ext uri="{FF2B5EF4-FFF2-40B4-BE49-F238E27FC236}">
                <a16:creationId xmlns:a16="http://schemas.microsoft.com/office/drawing/2014/main" id="{7FBC60A7-C44A-88C2-2880-42A130B2D873}"/>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3557421" y="2247275"/>
            <a:ext cx="5077158" cy="4175778"/>
          </a:xfrm>
          <a:prstGeom prst="rect">
            <a:avLst/>
          </a:prstGeom>
        </p:spPr>
      </p:pic>
    </p:spTree>
    <p:extLst>
      <p:ext uri="{BB962C8B-B14F-4D97-AF65-F5344CB8AC3E}">
        <p14:creationId xmlns:p14="http://schemas.microsoft.com/office/powerpoint/2010/main" val="104410724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3AE1F92-AC29-518F-C27B-044A750C34B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13396D8D-BDCA-968E-907C-556491E12358}"/>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Cambria Math" panose="02040503050406030204" pitchFamily="18" charset="0"/>
                    <a:sym typeface="Arial"/>
                  </a:rPr>
                  <a:t>Integrating the field across the area.</a:t>
                </a:r>
              </a:p>
              <a:p>
                <a:pPr marL="0" indent="0">
                  <a:lnSpc>
                    <a:spcPct val="100000"/>
                  </a:lnSpc>
                  <a:spcBef>
                    <a:spcPts val="0"/>
                  </a:spcBef>
                  <a:buSzPts val="3000"/>
                  <a:buNone/>
                </a:pPr>
                <a:endParaRPr lang="en-US" sz="2000" dirty="0">
                  <a:latin typeface="Cambria Math" panose="02040503050406030204" pitchFamily="18" charset="0"/>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i="0" dirty="0">
                          <a:latin typeface="Cambria Math" panose="02040503050406030204" pitchFamily="18" charset="0"/>
                          <a:sym typeface="Arial"/>
                        </a:rPr>
                        <m:t>=</m:t>
                      </m:r>
                      <m:nary>
                        <m:naryPr>
                          <m:chr m:val="∬"/>
                          <m:limLoc m:val="subSup"/>
                          <m:supHide m:val="on"/>
                          <m:ctrlPr>
                            <a:rPr lang="en-US" sz="2000" i="1" dirty="0">
                              <a:latin typeface="Cambria Math" panose="02040503050406030204" pitchFamily="18" charset="0"/>
                              <a:sym typeface="Arial"/>
                            </a:rPr>
                          </m:ctrlPr>
                        </m:naryPr>
                        <m:sub>
                          <m:r>
                            <a:rPr lang="en-US" sz="2000" i="1" dirty="0">
                              <a:latin typeface="Cambria Math" panose="02040503050406030204" pitchFamily="18" charset="0"/>
                              <a:sym typeface="Arial"/>
                            </a:rPr>
                            <m:t>𝑆</m:t>
                          </m:r>
                        </m:sub>
                        <m:sup/>
                        <m:e>
                          <m:r>
                            <a:rPr lang="en-US" sz="2000" i="1" dirty="0">
                              <a:latin typeface="Cambria Math" panose="02040503050406030204" pitchFamily="18" charset="0"/>
                              <a:sym typeface="Arial"/>
                            </a:rPr>
                            <m:t>𝐵</m:t>
                          </m:r>
                          <m:r>
                            <a:rPr lang="en-US" sz="2000" i="0" dirty="0">
                              <a:latin typeface="Cambria Math" panose="02040503050406030204" pitchFamily="18" charset="0"/>
                              <a:sym typeface="Arial"/>
                            </a:rPr>
                            <m:t>⋅ⅆ</m:t>
                          </m:r>
                          <m:r>
                            <a:rPr lang="en-US" sz="2000" i="1" dirty="0">
                              <a:latin typeface="Cambria Math" panose="02040503050406030204" pitchFamily="18" charset="0"/>
                              <a:sym typeface="Arial"/>
                            </a:rPr>
                            <m:t>𝐴</m:t>
                          </m:r>
                        </m:e>
                      </m:nary>
                    </m:oMath>
                  </m:oMathPara>
                </a14:m>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and integrating over the area </a:t>
                </a:r>
                <a14:m>
                  <m:oMath xmlns:m="http://schemas.openxmlformats.org/officeDocument/2006/math">
                    <m:r>
                      <m:rPr>
                        <m:sty m:val="p"/>
                      </m:rPr>
                      <a:rPr lang="en-US" sz="2000" b="0" i="1" smtClean="0">
                        <a:latin typeface="Cambria Math" panose="02040503050406030204" pitchFamily="18" charset="0"/>
                        <a:ea typeface="Arial"/>
                        <a:cs typeface="Arial"/>
                        <a:sym typeface="Arial"/>
                      </a:rPr>
                      <m:t>dA</m:t>
                    </m:r>
                    <m:r>
                      <a:rPr lang="en-US" sz="2000" b="0" i="1" smtClean="0">
                        <a:latin typeface="Cambria Math" panose="02040503050406030204" pitchFamily="18" charset="0"/>
                        <a:ea typeface="Arial"/>
                        <a:cs typeface="Arial"/>
                        <a:sym typeface="Arial"/>
                      </a:rPr>
                      <m:t>=</m:t>
                    </m:r>
                    <m:r>
                      <m:rPr>
                        <m:sty m:val="p"/>
                      </m:rPr>
                      <a:rPr lang="en-US" sz="2000" b="0" i="1" smtClean="0">
                        <a:latin typeface="Cambria Math" panose="02040503050406030204" pitchFamily="18" charset="0"/>
                        <a:ea typeface="Arial"/>
                        <a:cs typeface="Arial"/>
                        <a:sym typeface="Arial"/>
                      </a:rPr>
                      <m:t>l</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dr</m:t>
                    </m:r>
                  </m:oMath>
                </a14:m>
                <a:r>
                  <a:rPr lang="en-US" sz="2000" dirty="0">
                    <a:latin typeface="Arial"/>
                    <a:ea typeface="Arial"/>
                    <a:cs typeface="Arial"/>
                    <a:sym typeface="Arial"/>
                  </a:rPr>
                  <a:t>:</a:t>
                </a: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𝛷</m:t>
                          </m:r>
                        </m:e>
                        <m:sub>
                          <m:r>
                            <a:rPr lang="en-US" sz="2000" i="1" dirty="0" smtClean="0">
                              <a:latin typeface="Cambria Math" panose="02040503050406030204" pitchFamily="18" charset="0"/>
                              <a:sym typeface="Arial"/>
                            </a:rPr>
                            <m:t>𝐵</m:t>
                          </m:r>
                        </m:sub>
                      </m:sSub>
                      <m:r>
                        <a:rPr lang="en-US" sz="2000" i="0" dirty="0" smtClean="0">
                          <a:latin typeface="Cambria Math" panose="02040503050406030204" pitchFamily="18" charset="0"/>
                          <a:sym typeface="Arial"/>
                        </a:rPr>
                        <m:t>=</m:t>
                      </m:r>
                      <m:nary>
                        <m:naryPr>
                          <m:limLoc m:val="subSup"/>
                          <m:grow m:val="on"/>
                          <m:ctrlPr>
                            <a:rPr lang="en-US" sz="2000" i="1" dirty="0" smtClean="0">
                              <a:latin typeface="Cambria Math" panose="02040503050406030204" pitchFamily="18" charset="0"/>
                              <a:sym typeface="Arial"/>
                            </a:rPr>
                          </m:ctrlPr>
                        </m:naryPr>
                        <m: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1</m:t>
                              </m:r>
                            </m:sub>
                          </m:sSub>
                        </m:sub>
                        <m:sup>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𝑟</m:t>
                              </m:r>
                            </m:e>
                            <m:sub>
                              <m:r>
                                <a:rPr lang="en-US" sz="2000" i="0" dirty="0" smtClean="0">
                                  <a:latin typeface="Cambria Math" panose="02040503050406030204" pitchFamily="18" charset="0"/>
                                  <a:sym typeface="Arial"/>
                                </a:rPr>
                                <m:t>2</m:t>
                              </m:r>
                            </m:sub>
                          </m:sSub>
                        </m:sup>
                        <m:e>
                          <m:d>
                            <m:dPr>
                              <m:ctrlPr>
                                <a:rPr lang="en-US" sz="2000" i="1" dirty="0" smtClean="0">
                                  <a:latin typeface="Cambria Math" panose="02040503050406030204" pitchFamily="18" charset="0"/>
                                  <a:sym typeface="Arial"/>
                                </a:rPr>
                              </m:ctrlPr>
                            </m:dPr>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𝜇</m:t>
                                      </m:r>
                                    </m:e>
                                    <m:sub>
                                      <m:r>
                                        <a:rPr lang="en-US" sz="2000" i="0" dirty="0" smtClean="0">
                                          <a:latin typeface="Cambria Math" panose="02040503050406030204" pitchFamily="18" charset="0"/>
                                          <a:sym typeface="Arial"/>
                                        </a:rPr>
                                        <m:t>0</m:t>
                                      </m:r>
                                    </m:sub>
                                  </m:sSub>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𝐼</m:t>
                                      </m:r>
                                    </m:e>
                                    <m:sub>
                                      <m:r>
                                        <a:rPr lang="en-US" sz="2000" i="0" dirty="0" smtClean="0">
                                          <a:latin typeface="Cambria Math" panose="02040503050406030204" pitchFamily="18" charset="0"/>
                                          <a:sym typeface="Arial"/>
                                        </a:rPr>
                                        <m:t>1</m:t>
                                      </m:r>
                                    </m:sub>
                                  </m:sSub>
                                  <m:d>
                                    <m:dPr>
                                      <m:ctrlPr>
                                        <a:rPr lang="en-US" sz="2000" i="1" dirty="0" smtClean="0">
                                          <a:latin typeface="Cambria Math" panose="02040503050406030204" pitchFamily="18" charset="0"/>
                                          <a:sym typeface="Arial"/>
                                        </a:rPr>
                                      </m:ctrlPr>
                                    </m:dPr>
                                    <m:e>
                                      <m:r>
                                        <a:rPr lang="en-US" sz="2000" i="1" dirty="0" smtClean="0">
                                          <a:latin typeface="Cambria Math" panose="02040503050406030204" pitchFamily="18" charset="0"/>
                                          <a:sym typeface="Arial"/>
                                        </a:rPr>
                                        <m:t>𝑡</m:t>
                                      </m:r>
                                    </m:e>
                                  </m:d>
                                </m:num>
                                <m:den>
                                  <m:r>
                                    <a:rPr lang="en-US" sz="2000" i="0" dirty="0" smtClean="0">
                                      <a:latin typeface="Cambria Math" panose="02040503050406030204" pitchFamily="18" charset="0"/>
                                      <a:sym typeface="Arial"/>
                                    </a:rPr>
                                    <m:t>2</m:t>
                                  </m:r>
                                  <m:r>
                                    <a:rPr lang="en-US" sz="2000" i="1" dirty="0" smtClean="0">
                                      <a:latin typeface="Cambria Math" panose="02040503050406030204" pitchFamily="18" charset="0"/>
                                      <a:sym typeface="Arial"/>
                                    </a:rPr>
                                    <m:t>𝜋</m:t>
                                  </m:r>
                                  <m:r>
                                    <a:rPr lang="en-US" sz="2000" i="1" dirty="0" smtClean="0">
                                      <a:latin typeface="Cambria Math" panose="02040503050406030204" pitchFamily="18" charset="0"/>
                                      <a:sym typeface="Arial"/>
                                    </a:rPr>
                                    <m:t>𝑟</m:t>
                                  </m:r>
                                </m:den>
                              </m:f>
                            </m:e>
                          </m:d>
                        </m:e>
                      </m:nary>
                      <m:r>
                        <a:rPr lang="en-US" sz="2000" i="1" dirty="0" smtClean="0">
                          <a:latin typeface="Cambria Math" panose="02040503050406030204" pitchFamily="18" charset="0"/>
                          <a:sym typeface="Arial"/>
                        </a:rPr>
                        <m:t>𝑙</m:t>
                      </m:r>
                      <m:sSub>
                        <m:sSubPr>
                          <m:ctrlPr>
                            <a:rPr lang="en-US" sz="2000" i="1" dirty="0" smtClean="0">
                              <a:latin typeface="Cambria Math" panose="02040503050406030204" pitchFamily="18" charset="0"/>
                              <a:sym typeface="Arial"/>
                            </a:rPr>
                          </m:ctrlPr>
                        </m:sSubPr>
                        <m:e>
                          <m:r>
                            <a:rPr lang="en-US" sz="2000" i="1" dirty="0" smtClean="0">
                              <a:latin typeface="Cambria Math" panose="02040503050406030204" pitchFamily="18" charset="0"/>
                              <a:sym typeface="Arial"/>
                            </a:rPr>
                            <m:t>𝑑</m:t>
                          </m:r>
                        </m:e>
                        <m:sub>
                          <m:r>
                            <a:rPr lang="en-US" sz="2000" i="1" dirty="0" smtClean="0">
                              <a:latin typeface="Cambria Math" panose="02040503050406030204" pitchFamily="18" charset="0"/>
                              <a:sym typeface="Arial"/>
                            </a:rPr>
                            <m:t>𝑟</m:t>
                          </m:r>
                        </m:sub>
                      </m:sSub>
                    </m:oMath>
                  </m:oMathPara>
                </a14:m>
                <a:endParaRPr lang="en-US" sz="2000" dirty="0">
                  <a:latin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smtClean="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den>
                      </m:f>
                      <m:nary>
                        <m:naryPr>
                          <m:limLoc m:val="subSup"/>
                          <m:grow m:val="on"/>
                          <m:ctrlPr>
                            <a:rPr lang="en-US" sz="2000" i="1" dirty="0">
                              <a:latin typeface="Cambria Math" panose="02040503050406030204" pitchFamily="18" charset="0"/>
                              <a:sym typeface="Arial"/>
                            </a:rPr>
                          </m:ctrlPr>
                        </m:naryPr>
                        <m:sub>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1</m:t>
                              </m:r>
                            </m:sub>
                          </m:sSub>
                        </m:sub>
                        <m:sup>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𝑟</m:t>
                              </m:r>
                            </m:e>
                            <m:sub>
                              <m:r>
                                <a:rPr lang="en-US" sz="2000" dirty="0">
                                  <a:latin typeface="Cambria Math" panose="02040503050406030204" pitchFamily="18" charset="0"/>
                                  <a:sym typeface="Arial"/>
                                </a:rPr>
                                <m:t>2</m:t>
                              </m:r>
                            </m:sub>
                          </m:sSub>
                        </m:sup>
                        <m:e>
                          <m:f>
                            <m:fPr>
                              <m:ctrlPr>
                                <a:rPr lang="en-US" sz="2000" i="1" dirty="0" smtClean="0">
                                  <a:latin typeface="Cambria Math" panose="02040503050406030204" pitchFamily="18" charset="0"/>
                                  <a:sym typeface="Arial"/>
                                </a:rPr>
                              </m:ctrlPr>
                            </m:fPr>
                            <m:num>
                              <m:r>
                                <a:rPr lang="en-US" sz="2000" b="0" i="1" dirty="0" smtClean="0">
                                  <a:latin typeface="Cambria Math" panose="02040503050406030204" pitchFamily="18" charset="0"/>
                                  <a:sym typeface="Arial"/>
                                </a:rPr>
                                <m:t>1</m:t>
                              </m:r>
                            </m:num>
                            <m:den>
                              <m:r>
                                <m:rPr>
                                  <m:sty m:val="p"/>
                                </m:rPr>
                                <a:rPr lang="en-US" sz="2000" b="0" i="1" dirty="0" smtClean="0">
                                  <a:latin typeface="Cambria Math" panose="02040503050406030204" pitchFamily="18" charset="0"/>
                                  <a:sym typeface="Arial"/>
                                </a:rPr>
                                <m:t>r</m:t>
                              </m:r>
                            </m:den>
                          </m:f>
                          <m:r>
                            <a:rPr lang="en-US" sz="2000" b="0" i="1" dirty="0" smtClean="0">
                              <a:latin typeface="Cambria Math" panose="02040503050406030204" pitchFamily="18" charset="0"/>
                              <a:sym typeface="Arial"/>
                            </a:rPr>
                            <m:t> </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𝑑</m:t>
                              </m:r>
                            </m:e>
                            <m:sub>
                              <m:r>
                                <a:rPr lang="en-US" sz="2000" i="1" dirty="0">
                                  <a:latin typeface="Cambria Math" panose="02040503050406030204" pitchFamily="18" charset="0"/>
                                  <a:sym typeface="Arial"/>
                                </a:rPr>
                                <m:t>𝑟</m:t>
                              </m:r>
                            </m:sub>
                          </m:sSub>
                        </m:e>
                      </m:nary>
                    </m:oMath>
                  </m:oMathPara>
                </a14:m>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r>
                        <a:rPr lang="en-US" sz="2000" dirty="0">
                          <a:latin typeface="Cambria Math" panose="02040503050406030204" pitchFamily="18" charset="0"/>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l</m:t>
                              </m:r>
                              <m:r>
                                <a:rPr lang="en-US" sz="2000" i="1" dirty="0">
                                  <a:latin typeface="Cambria Math" panose="02040503050406030204" pitchFamily="18" charset="0"/>
                                  <a:sym typeface="Arial"/>
                                </a:rPr>
                                <m:t>𝐼</m:t>
                              </m:r>
                            </m:e>
                            <m:sub>
                              <m:r>
                                <a:rPr lang="en-US" sz="2000" dirty="0">
                                  <a:latin typeface="Cambria Math" panose="02040503050406030204" pitchFamily="18" charset="0"/>
                                  <a:sym typeface="Arial"/>
                                </a:rPr>
                                <m:t>1</m:t>
                              </m:r>
                            </m:sub>
                          </m:sSub>
                          <m:d>
                            <m:dPr>
                              <m:ctrlPr>
                                <a:rPr lang="en-US" sz="2000" i="1" dirty="0">
                                  <a:latin typeface="Cambria Math" panose="02040503050406030204" pitchFamily="18" charset="0"/>
                                  <a:sym typeface="Arial"/>
                                </a:rPr>
                              </m:ctrlPr>
                            </m:dPr>
                            <m:e>
                              <m:r>
                                <a:rPr lang="en-US" sz="2000" i="1" dirty="0">
                                  <a:latin typeface="Cambria Math" panose="02040503050406030204" pitchFamily="18" charset="0"/>
                                  <a:sym typeface="Arial"/>
                                </a:rPr>
                                <m:t>𝑡</m:t>
                              </m:r>
                            </m:e>
                          </m:d>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smtClean="0">
                              <a:latin typeface="Cambria Math" panose="02040503050406030204" pitchFamily="18" charset="0"/>
                              <a:sym typeface="Arial"/>
                            </a:rPr>
                          </m:ctrlPr>
                        </m:funcPr>
                        <m:fName>
                          <m:r>
                            <m:rPr>
                              <m:sty m:val="p"/>
                            </m:rPr>
                            <a:rPr lang="en-US" sz="2000" i="0" dirty="0" smtClean="0">
                              <a:latin typeface="Cambria Math" panose="02040503050406030204" pitchFamily="18" charset="0"/>
                              <a:sym typeface="Arial"/>
                            </a:rPr>
                            <m:t>ln</m:t>
                          </m:r>
                        </m:fName>
                        <m:e>
                          <m:f>
                            <m:fPr>
                              <m:ctrlPr>
                                <a:rPr lang="en-US" sz="2000" i="1" dirty="0" smtClean="0">
                                  <a:latin typeface="Cambria Math" panose="02040503050406030204" pitchFamily="18" charset="0"/>
                                  <a:sym typeface="Arial"/>
                                </a:rPr>
                              </m:ctrlPr>
                            </m:fPr>
                            <m:num>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2</m:t>
                                  </m:r>
                                </m:sub>
                              </m:sSub>
                            </m:num>
                            <m:den>
                              <m:sSub>
                                <m:sSubPr>
                                  <m:ctrlPr>
                                    <a:rPr lang="en-US" sz="2000" i="1" dirty="0" smtClean="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r</m:t>
                                  </m:r>
                                </m:e>
                                <m:sub>
                                  <m:r>
                                    <a:rPr lang="en-US" sz="2000" b="0" i="1" dirty="0" smtClean="0">
                                      <a:latin typeface="Cambria Math" panose="02040503050406030204" pitchFamily="18" charset="0"/>
                                      <a:sym typeface="Arial"/>
                                    </a:rPr>
                                    <m:t>1</m:t>
                                  </m:r>
                                </m:sub>
                              </m:sSub>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13396D8D-BDCA-968E-907C-556491E12358}"/>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72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D3002FC6-E3E8-572A-B600-7CBBCF1C373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308B95C-0BBF-CC82-9110-FC475C78CD7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3888AFC-D075-BD8D-DD0B-338D1F71CF3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95F8CA8-84D8-8DFA-EBE3-24C97D9167E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1523BD92-7754-557F-8C94-5FB9E703BD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D042B-EC95-EC00-0937-18D32098E3D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93941CD-DC0D-2212-5B6D-10F40B533C6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83B8BBB-B406-ECA8-EF03-B57F4AA9A15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D302A98A-CEE1-9372-173D-59C903A10761}"/>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46908863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CB3F5C-6E8E-B82B-51A6-A25B573E457E}"/>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DE5C311E-7499-8CF3-2861-156FCBB5C636}"/>
                  </a:ext>
                </a:extLst>
              </p:cNvPr>
              <p:cNvSpPr txBox="1">
                <a:spLocks noGrp="1"/>
              </p:cNvSpPr>
              <p:nvPr>
                <p:ph type="body" idx="1"/>
              </p:nvPr>
            </p:nvSpPr>
            <p:spPr>
              <a:xfrm>
                <a:off x="376810" y="1334279"/>
                <a:ext cx="6522754" cy="5074536"/>
              </a:xfrm>
              <a:prstGeom prst="rect">
                <a:avLst/>
              </a:prstGeom>
              <a:noFill/>
              <a:ln>
                <a:noFill/>
              </a:ln>
            </p:spPr>
            <p:txBody>
              <a:bodyPr spcFirstLastPara="1" wrap="square" lIns="91425" tIns="45700" rIns="91425" bIns="45700" anchor="t" anchorCtr="0">
                <a:noAutofit/>
              </a:bodyPr>
              <a:lstStyle/>
              <a:p>
                <a:pPr marL="0" indent="0">
                  <a:lnSpc>
                    <a:spcPct val="100000"/>
                  </a:lnSpc>
                  <a:spcBef>
                    <a:spcPts val="0"/>
                  </a:spcBef>
                  <a:buSzPts val="3000"/>
                  <a:buNone/>
                </a:pPr>
                <a:r>
                  <a:rPr lang="en-US" sz="2000" dirty="0">
                    <a:latin typeface="Arial"/>
                    <a:ea typeface="Arial"/>
                    <a:cs typeface="Arial"/>
                    <a:sym typeface="Arial"/>
                  </a:rPr>
                  <a:t>Faraday’s Law states that the induced voltage (EMF) in a closed loop is equal to the negative rate of change of magnetic flux through the loop:</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𝛷</m:t>
                              </m:r>
                            </m:e>
                            <m:sub>
                              <m:r>
                                <a:rPr lang="en-US" sz="2000" i="1" dirty="0">
                                  <a:latin typeface="Cambria Math" panose="02040503050406030204" pitchFamily="18" charset="0"/>
                                  <a:sym typeface="Arial"/>
                                </a:rPr>
                                <m:t>𝐵</m:t>
                              </m:r>
                            </m:sub>
                          </m:sSub>
                        </m:num>
                        <m:den>
                          <m:r>
                            <m:rPr>
                              <m:sty m:val="p"/>
                            </m:rPr>
                            <a:rPr lang="en-US" sz="2000" i="1">
                              <a:latin typeface="Cambria Math" panose="02040503050406030204" pitchFamily="18" charset="0"/>
                              <a:cs typeface="Arial"/>
                              <a:sym typeface="Arial"/>
                            </a:rPr>
                            <m:t>dt</m:t>
                          </m:r>
                        </m:den>
                      </m:f>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r>
                  <a:rPr lang="en-US" sz="2000" dirty="0">
                    <a:latin typeface="Arial"/>
                    <a:ea typeface="Arial"/>
                    <a:cs typeface="Arial"/>
                    <a:sym typeface="Arial"/>
                  </a:rPr>
                  <a:t>Substituting we get:</a:t>
                </a: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2000" i="1">
                              <a:latin typeface="Cambria Math" panose="02040503050406030204" pitchFamily="18" charset="0"/>
                              <a:cs typeface="Arial"/>
                              <a:sym typeface="Arial"/>
                            </a:rPr>
                          </m:ctrlPr>
                        </m:sSubPr>
                        <m:e>
                          <m:r>
                            <m:rPr>
                              <m:sty m:val="p"/>
                            </m:rPr>
                            <a:rPr lang="en-US" sz="2000" i="1">
                              <a:latin typeface="Cambria Math" panose="02040503050406030204" pitchFamily="18" charset="0"/>
                              <a:cs typeface="Arial"/>
                              <a:sym typeface="Arial"/>
                            </a:rPr>
                            <m:t>V</m:t>
                          </m:r>
                        </m:e>
                        <m:sub>
                          <m:r>
                            <m:rPr>
                              <m:sty m:val="p"/>
                            </m:rPr>
                            <a:rPr lang="en-US" sz="2000" i="1">
                              <a:latin typeface="Cambria Math" panose="02040503050406030204" pitchFamily="18" charset="0"/>
                              <a:cs typeface="Arial"/>
                              <a:sym typeface="Arial"/>
                            </a:rPr>
                            <m:t>noise</m:t>
                          </m:r>
                        </m:sub>
                      </m:sSub>
                      <m:r>
                        <a:rPr lang="en-US" sz="2000" i="1">
                          <a:latin typeface="Cambria Math" panose="02040503050406030204" pitchFamily="18" charset="0"/>
                          <a:cs typeface="Arial"/>
                          <a:sym typeface="Arial"/>
                        </a:rPr>
                        <m:t>=−</m:t>
                      </m:r>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a:rPr lang="en-US" sz="2000" i="1" dirty="0">
                                  <a:latin typeface="Cambria Math" panose="02040503050406030204" pitchFamily="18" charset="0"/>
                                  <a:sym typeface="Arial"/>
                                </a:rPr>
                                <m:t>𝜇</m:t>
                              </m:r>
                            </m:e>
                            <m:sub>
                              <m:r>
                                <a:rPr lang="en-US" sz="2000" dirty="0">
                                  <a:latin typeface="Cambria Math" panose="02040503050406030204" pitchFamily="18" charset="0"/>
                                  <a:sym typeface="Arial"/>
                                </a:rPr>
                                <m:t>0</m:t>
                              </m:r>
                            </m:sub>
                          </m:sSub>
                          <m:r>
                            <m:rPr>
                              <m:sty m:val="p"/>
                            </m:rPr>
                            <a:rPr lang="en-US" sz="2000" b="0" i="1" dirty="0" smtClean="0">
                              <a:latin typeface="Cambria Math" panose="02040503050406030204" pitchFamily="18" charset="0"/>
                              <a:sym typeface="Arial"/>
                            </a:rPr>
                            <m:t>l</m:t>
                          </m:r>
                        </m:num>
                        <m:den>
                          <m:r>
                            <a:rPr lang="en-US" sz="2000" dirty="0">
                              <a:latin typeface="Cambria Math" panose="02040503050406030204" pitchFamily="18" charset="0"/>
                              <a:sym typeface="Arial"/>
                            </a:rPr>
                            <m:t>2</m:t>
                          </m:r>
                          <m:r>
                            <a:rPr lang="en-US" sz="2000" i="1" dirty="0">
                              <a:latin typeface="Cambria Math" panose="02040503050406030204" pitchFamily="18" charset="0"/>
                              <a:sym typeface="Arial"/>
                            </a:rPr>
                            <m:t>𝜋</m:t>
                          </m:r>
                          <m:r>
                            <a:rPr lang="en-US" sz="2000" i="1" dirty="0">
                              <a:latin typeface="Cambria Math" panose="02040503050406030204" pitchFamily="18" charset="0"/>
                              <a:sym typeface="Arial"/>
                            </a:rPr>
                            <m:t>𝑟</m:t>
                          </m:r>
                        </m:den>
                      </m:f>
                      <m:func>
                        <m:funcPr>
                          <m:ctrlPr>
                            <a:rPr lang="en-US" sz="2000" i="1" dirty="0">
                              <a:latin typeface="Cambria Math" panose="02040503050406030204" pitchFamily="18" charset="0"/>
                              <a:sym typeface="Arial"/>
                            </a:rPr>
                          </m:ctrlPr>
                        </m:funcPr>
                        <m:fName>
                          <m:r>
                            <m:rPr>
                              <m:sty m:val="p"/>
                            </m:rPr>
                            <a:rPr lang="en-US" sz="2000" dirty="0">
                              <a:latin typeface="Cambria Math" panose="02040503050406030204" pitchFamily="18" charset="0"/>
                              <a:sym typeface="Arial"/>
                            </a:rPr>
                            <m:t>ln</m:t>
                          </m:r>
                        </m:fName>
                        <m:e>
                          <m:f>
                            <m:fPr>
                              <m:ctrlPr>
                                <a:rPr lang="en-US" sz="2000" i="1" dirty="0">
                                  <a:latin typeface="Cambria Math" panose="02040503050406030204" pitchFamily="18" charset="0"/>
                                  <a:sym typeface="Arial"/>
                                </a:rPr>
                              </m:ctrlPr>
                            </m:fPr>
                            <m:num>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2</m:t>
                                  </m:r>
                                </m:sub>
                              </m:sSub>
                            </m:num>
                            <m:den>
                              <m:sSub>
                                <m:sSubPr>
                                  <m:ctrlPr>
                                    <a:rPr lang="en-US" sz="2000" i="1" dirty="0">
                                      <a:latin typeface="Cambria Math" panose="02040503050406030204" pitchFamily="18" charset="0"/>
                                      <a:sym typeface="Arial"/>
                                    </a:rPr>
                                  </m:ctrlPr>
                                </m:sSubPr>
                                <m:e>
                                  <m:r>
                                    <m:rPr>
                                      <m:sty m:val="p"/>
                                    </m:rPr>
                                    <a:rPr lang="en-US" sz="2000" i="1" dirty="0">
                                      <a:latin typeface="Cambria Math" panose="02040503050406030204" pitchFamily="18" charset="0"/>
                                      <a:sym typeface="Arial"/>
                                    </a:rPr>
                                    <m:t>r</m:t>
                                  </m:r>
                                </m:e>
                                <m:sub>
                                  <m:r>
                                    <a:rPr lang="en-US" sz="2000" i="1" dirty="0">
                                      <a:latin typeface="Cambria Math" panose="02040503050406030204" pitchFamily="18" charset="0"/>
                                      <a:sym typeface="Arial"/>
                                    </a:rPr>
                                    <m:t>1</m:t>
                                  </m:r>
                                </m:sub>
                              </m:sSub>
                            </m:den>
                          </m:f>
                          <m:r>
                            <a:rPr lang="en-US" sz="2000" i="1" dirty="0" smtClean="0">
                              <a:latin typeface="Cambria Math" panose="02040503050406030204" pitchFamily="18" charset="0"/>
                              <a:ea typeface="Cambria Math" panose="02040503050406030204" pitchFamily="18" charset="0"/>
                              <a:sym typeface="Arial"/>
                            </a:rPr>
                            <m:t>×</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d</m:t>
                              </m:r>
                              <m:sSub>
                                <m:sSubPr>
                                  <m:ctrlPr>
                                    <a:rPr lang="en-US" sz="2000" i="1" dirty="0">
                                      <a:latin typeface="Cambria Math" panose="02040503050406030204" pitchFamily="18" charset="0"/>
                                      <a:sym typeface="Arial"/>
                                    </a:rPr>
                                  </m:ctrlPr>
                                </m:sSubPr>
                                <m:e>
                                  <m:r>
                                    <m:rPr>
                                      <m:sty m:val="p"/>
                                    </m:rPr>
                                    <a:rPr lang="en-US" sz="2000" b="0" i="1" dirty="0" smtClean="0">
                                      <a:latin typeface="Cambria Math" panose="02040503050406030204" pitchFamily="18" charset="0"/>
                                      <a:sym typeface="Arial"/>
                                    </a:rPr>
                                    <m:t>I</m:t>
                                  </m:r>
                                </m:e>
                                <m:sub>
                                  <m:r>
                                    <a:rPr lang="en-US" sz="2000" b="0" i="1" dirty="0" smtClean="0">
                                      <a:latin typeface="Cambria Math" panose="02040503050406030204" pitchFamily="18" charset="0"/>
                                      <a:sym typeface="Arial"/>
                                    </a:rPr>
                                    <m:t>1</m:t>
                                  </m:r>
                                </m:sub>
                              </m:sSub>
                              <m:r>
                                <a:rPr lang="en-US" sz="2000" b="0" i="1" dirty="0" smtClean="0">
                                  <a:latin typeface="Cambria Math" panose="02040503050406030204" pitchFamily="18" charset="0"/>
                                  <a:sym typeface="Arial"/>
                                </a:rPr>
                                <m:t>(</m:t>
                              </m:r>
                              <m:r>
                                <m:rPr>
                                  <m:sty m:val="p"/>
                                </m:rPr>
                                <a:rPr lang="en-US" sz="2000" b="0" i="1" dirty="0" smtClean="0">
                                  <a:latin typeface="Cambria Math" panose="02040503050406030204" pitchFamily="18" charset="0"/>
                                  <a:sym typeface="Arial"/>
                                </a:rPr>
                                <m:t>t</m:t>
                              </m:r>
                              <m:r>
                                <a:rPr lang="en-US" sz="2000" b="0" i="1" dirty="0" smtClean="0">
                                  <a:latin typeface="Cambria Math" panose="02040503050406030204" pitchFamily="18" charset="0"/>
                                  <a:sym typeface="Arial"/>
                                </a:rPr>
                                <m:t>)</m:t>
                              </m:r>
                            </m:num>
                            <m:den>
                              <m:r>
                                <m:rPr>
                                  <m:sty m:val="p"/>
                                </m:rPr>
                                <a:rPr lang="en-US" sz="2000" i="1">
                                  <a:latin typeface="Cambria Math" panose="02040503050406030204" pitchFamily="18" charset="0"/>
                                  <a:cs typeface="Arial"/>
                                  <a:sym typeface="Arial"/>
                                </a:rPr>
                                <m:t>dt</m:t>
                              </m:r>
                            </m:den>
                          </m:f>
                        </m:e>
                      </m:func>
                    </m:oMath>
                  </m:oMathPara>
                </a14:m>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a:p>
                <a:pPr marL="0" indent="0">
                  <a:lnSpc>
                    <a:spcPct val="100000"/>
                  </a:lnSpc>
                  <a:spcBef>
                    <a:spcPts val="0"/>
                  </a:spcBef>
                  <a:buSzPts val="3000"/>
                  <a:buNone/>
                </a:pPr>
                <a:endParaRPr lang="en-US" sz="20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DE5C311E-7499-8CF3-2861-156FCBB5C636}"/>
                  </a:ext>
                </a:extLst>
              </p:cNvPr>
              <p:cNvSpPr txBox="1">
                <a:spLocks noGrp="1" noRot="1" noChangeAspect="1" noMove="1" noResize="1" noEditPoints="1" noAdjustHandles="1" noChangeArrowheads="1" noChangeShapeType="1" noTextEdit="1"/>
              </p:cNvSpPr>
              <p:nvPr>
                <p:ph type="body" idx="1"/>
              </p:nvPr>
            </p:nvSpPr>
            <p:spPr>
              <a:xfrm>
                <a:off x="376810" y="1334279"/>
                <a:ext cx="6522754" cy="5074536"/>
              </a:xfrm>
              <a:prstGeom prst="rect">
                <a:avLst/>
              </a:prstGeom>
              <a:blipFill>
                <a:blip r:embed="rId3"/>
                <a:stretch>
                  <a:fillRect l="-1028" t="-60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13F112B1-E6E1-AA67-74D6-7C4A971EEF8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9DA730E-BFA0-88D0-75AE-38E738356E3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Interferences - Inductive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618560E-9B76-88CC-E452-9BE8C7455589}"/>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8069D4-C784-D34B-261D-480048B8586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AC2567D9-699D-3DC5-D22C-6BB5EA9818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816CDFA-8140-D355-7733-B4622131B46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E7B5226-E8CC-6E43-C05A-3AA00361C74C}"/>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F212C46A-BA33-2E31-5466-A3D5AE9B82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5247E9EB-6C19-47E0-2230-76E8EDED30CD}"/>
              </a:ext>
            </a:extLst>
          </p:cNvPr>
          <p:cNvPicPr>
            <a:picLocks noChangeAspect="1"/>
          </p:cNvPicPr>
          <p:nvPr/>
        </p:nvPicPr>
        <p:blipFill>
          <a:blip r:embed="rId5">
            <a:extLst>
              <a:ext uri="{96DAC541-7B7A-43D3-8B79-37D633B846F1}">
                <asvg:svgBlip xmlns:asvg="http://schemas.microsoft.com/office/drawing/2016/SVG/main" r:embed="rId6"/>
              </a:ext>
            </a:extLst>
          </a:blip>
          <a:srcRect/>
          <a:stretch/>
        </p:blipFill>
        <p:spPr>
          <a:xfrm>
            <a:off x="6899564" y="1341110"/>
            <a:ext cx="5077158" cy="4175778"/>
          </a:xfrm>
          <a:prstGeom prst="rect">
            <a:avLst/>
          </a:prstGeom>
        </p:spPr>
      </p:pic>
    </p:spTree>
    <p:extLst>
      <p:ext uri="{BB962C8B-B14F-4D97-AF65-F5344CB8AC3E}">
        <p14:creationId xmlns:p14="http://schemas.microsoft.com/office/powerpoint/2010/main" val="306068086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DF17008-1B7C-7A5C-D565-DABBBBCD140D}"/>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118" name="Google Shape;118;p29">
                <a:extLst>
                  <a:ext uri="{FF2B5EF4-FFF2-40B4-BE49-F238E27FC236}">
                    <a16:creationId xmlns:a16="http://schemas.microsoft.com/office/drawing/2014/main" id="{3C69FC21-4FE2-D5D3-B148-B6E085C215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solidFill>
                      <a:schemeClr val="dk1"/>
                    </a:solidFill>
                    <a:latin typeface="Arial"/>
                    <a:ea typeface="Arial"/>
                    <a:cs typeface="Arial"/>
                    <a:sym typeface="Arial"/>
                  </a:rPr>
                  <a:t>Thus, given the final inference noise,</a:t>
                </a: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r>
                        <a:rPr lang="en-US" sz="1800" i="1">
                          <a:latin typeface="Cambria Math" panose="02040503050406030204" pitchFamily="18" charset="0"/>
                          <a:cs typeface="Arial"/>
                          <a:sym typeface="Arial"/>
                        </a:rPr>
                        <m:t>=−</m:t>
                      </m:r>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a:rPr lang="en-US" sz="1800" i="1" dirty="0">
                                  <a:latin typeface="Cambria Math" panose="02040503050406030204" pitchFamily="18" charset="0"/>
                                  <a:sym typeface="Arial"/>
                                </a:rPr>
                                <m:t>𝜇</m:t>
                              </m:r>
                            </m:e>
                            <m:sub>
                              <m:r>
                                <a:rPr lang="en-US" sz="1800" dirty="0">
                                  <a:latin typeface="Cambria Math" panose="02040503050406030204" pitchFamily="18" charset="0"/>
                                  <a:sym typeface="Arial"/>
                                </a:rPr>
                                <m:t>0</m:t>
                              </m:r>
                            </m:sub>
                          </m:sSub>
                          <m:r>
                            <m:rPr>
                              <m:sty m:val="p"/>
                            </m:rPr>
                            <a:rPr lang="en-US" sz="1800" i="1" dirty="0">
                              <a:latin typeface="Cambria Math" panose="02040503050406030204" pitchFamily="18" charset="0"/>
                              <a:sym typeface="Arial"/>
                            </a:rPr>
                            <m:t>l</m:t>
                          </m:r>
                        </m:num>
                        <m:den>
                          <m:r>
                            <a:rPr lang="en-US" sz="1800" dirty="0">
                              <a:latin typeface="Cambria Math" panose="02040503050406030204" pitchFamily="18" charset="0"/>
                              <a:sym typeface="Arial"/>
                            </a:rPr>
                            <m:t>2</m:t>
                          </m:r>
                          <m:r>
                            <a:rPr lang="en-US" sz="1800" i="1" dirty="0">
                              <a:latin typeface="Cambria Math" panose="02040503050406030204" pitchFamily="18" charset="0"/>
                              <a:sym typeface="Arial"/>
                            </a:rPr>
                            <m:t>𝜋</m:t>
                          </m:r>
                          <m:r>
                            <a:rPr lang="en-US" sz="1800" i="1" dirty="0">
                              <a:latin typeface="Cambria Math" panose="02040503050406030204" pitchFamily="18" charset="0"/>
                              <a:sym typeface="Arial"/>
                            </a:rPr>
                            <m:t>𝑟</m:t>
                          </m:r>
                        </m:den>
                      </m:f>
                      <m:func>
                        <m:funcPr>
                          <m:ctrlPr>
                            <a:rPr lang="en-US" sz="1800" i="1" dirty="0">
                              <a:latin typeface="Cambria Math" panose="02040503050406030204" pitchFamily="18" charset="0"/>
                              <a:sym typeface="Arial"/>
                            </a:rPr>
                          </m:ctrlPr>
                        </m:funcPr>
                        <m:fName>
                          <m:r>
                            <m:rPr>
                              <m:sty m:val="p"/>
                            </m:rPr>
                            <a:rPr lang="en-US" sz="1800" dirty="0">
                              <a:latin typeface="Cambria Math" panose="02040503050406030204" pitchFamily="18" charset="0"/>
                              <a:sym typeface="Arial"/>
                            </a:rPr>
                            <m:t>ln</m:t>
                          </m:r>
                        </m:fName>
                        <m:e>
                          <m:f>
                            <m:fPr>
                              <m:ctrlPr>
                                <a:rPr lang="en-US" sz="1800" i="1" dirty="0">
                                  <a:latin typeface="Cambria Math" panose="02040503050406030204" pitchFamily="18" charset="0"/>
                                  <a:sym typeface="Arial"/>
                                </a:rPr>
                              </m:ctrlPr>
                            </m:fPr>
                            <m:num>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2</m:t>
                                  </m:r>
                                </m:sub>
                              </m:sSub>
                            </m:num>
                            <m:den>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r</m:t>
                                  </m:r>
                                </m:e>
                                <m:sub>
                                  <m:r>
                                    <a:rPr lang="en-US" sz="1800" i="1" dirty="0">
                                      <a:latin typeface="Cambria Math" panose="02040503050406030204" pitchFamily="18" charset="0"/>
                                      <a:sym typeface="Arial"/>
                                    </a:rPr>
                                    <m:t>1</m:t>
                                  </m:r>
                                </m:sub>
                              </m:sSub>
                            </m:den>
                          </m:f>
                          <m:r>
                            <a:rPr lang="en-US" sz="1800" i="1" dirty="0">
                              <a:latin typeface="Cambria Math" panose="02040503050406030204" pitchFamily="18" charset="0"/>
                              <a:ea typeface="Cambria Math" panose="02040503050406030204" pitchFamily="18" charset="0"/>
                              <a:sym typeface="Arial"/>
                            </a:rPr>
                            <m:t>×</m:t>
                          </m:r>
                          <m:f>
                            <m:fPr>
                              <m:ctrlPr>
                                <a:rPr lang="en-US" sz="1800" i="1">
                                  <a:latin typeface="Cambria Math" panose="02040503050406030204" pitchFamily="18" charset="0"/>
                                  <a:cs typeface="Arial"/>
                                  <a:sym typeface="Arial"/>
                                </a:rPr>
                              </m:ctrlPr>
                            </m:fPr>
                            <m:num>
                              <m:r>
                                <m:rPr>
                                  <m:sty m:val="p"/>
                                </m:rPr>
                                <a:rPr lang="en-US" sz="1800" i="1">
                                  <a:latin typeface="Cambria Math" panose="02040503050406030204" pitchFamily="18" charset="0"/>
                                  <a:cs typeface="Arial"/>
                                  <a:sym typeface="Arial"/>
                                </a:rPr>
                                <m:t>d</m:t>
                              </m:r>
                              <m:sSub>
                                <m:sSubPr>
                                  <m:ctrlPr>
                                    <a:rPr lang="en-US" sz="1800" i="1" dirty="0">
                                      <a:latin typeface="Cambria Math" panose="02040503050406030204" pitchFamily="18" charset="0"/>
                                      <a:sym typeface="Arial"/>
                                    </a:rPr>
                                  </m:ctrlPr>
                                </m:sSubPr>
                                <m:e>
                                  <m:r>
                                    <m:rPr>
                                      <m:sty m:val="p"/>
                                    </m:rPr>
                                    <a:rPr lang="en-US" sz="1800" i="1" dirty="0">
                                      <a:latin typeface="Cambria Math" panose="02040503050406030204" pitchFamily="18" charset="0"/>
                                      <a:sym typeface="Arial"/>
                                    </a:rPr>
                                    <m:t>I</m:t>
                                  </m:r>
                                </m:e>
                                <m:sub>
                                  <m:r>
                                    <a:rPr lang="en-US" sz="1800" i="1" dirty="0">
                                      <a:latin typeface="Cambria Math" panose="02040503050406030204" pitchFamily="18" charset="0"/>
                                      <a:sym typeface="Arial"/>
                                    </a:rPr>
                                    <m:t>1</m:t>
                                  </m:r>
                                </m:sub>
                              </m:sSub>
                              <m:r>
                                <a:rPr lang="en-US" sz="1800" i="1" dirty="0">
                                  <a:latin typeface="Cambria Math" panose="02040503050406030204" pitchFamily="18" charset="0"/>
                                  <a:sym typeface="Arial"/>
                                </a:rPr>
                                <m:t>(</m:t>
                              </m:r>
                              <m:r>
                                <m:rPr>
                                  <m:sty m:val="p"/>
                                </m:rPr>
                                <a:rPr lang="en-US" sz="1800" i="1" dirty="0">
                                  <a:latin typeface="Cambria Math" panose="02040503050406030204" pitchFamily="18" charset="0"/>
                                  <a:sym typeface="Arial"/>
                                </a:rPr>
                                <m:t>t</m:t>
                              </m:r>
                              <m:r>
                                <a:rPr lang="en-US" sz="1800" i="1" dirty="0">
                                  <a:latin typeface="Cambria Math" panose="02040503050406030204" pitchFamily="18" charset="0"/>
                                  <a:sym typeface="Arial"/>
                                </a:rPr>
                                <m:t>)</m:t>
                              </m:r>
                            </m:num>
                            <m:den>
                              <m:r>
                                <m:rPr>
                                  <m:sty m:val="p"/>
                                </m:rPr>
                                <a:rPr lang="en-US" sz="1800" i="1">
                                  <a:latin typeface="Cambria Math" panose="02040503050406030204" pitchFamily="18" charset="0"/>
                                  <a:cs typeface="Arial"/>
                                  <a:sym typeface="Arial"/>
                                </a:rPr>
                                <m:t>dt</m:t>
                              </m:r>
                            </m:den>
                          </m:f>
                        </m:e>
                      </m:func>
                    </m:oMath>
                  </m:oMathPara>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interference voltage </a:t>
                </a:r>
                <a14:m>
                  <m:oMath xmlns:m="http://schemas.openxmlformats.org/officeDocument/2006/math">
                    <m:sSub>
                      <m:sSubPr>
                        <m:ctrlPr>
                          <a:rPr lang="en-US" sz="1800" i="1">
                            <a:latin typeface="Cambria Math" panose="02040503050406030204" pitchFamily="18" charset="0"/>
                            <a:cs typeface="Arial"/>
                            <a:sym typeface="Arial"/>
                          </a:rPr>
                        </m:ctrlPr>
                      </m:sSubPr>
                      <m:e>
                        <m:r>
                          <m:rPr>
                            <m:sty m:val="p"/>
                          </m:rPr>
                          <a:rPr lang="en-US" sz="1800" i="1">
                            <a:latin typeface="Cambria Math" panose="02040503050406030204" pitchFamily="18" charset="0"/>
                            <a:cs typeface="Arial"/>
                            <a:sym typeface="Arial"/>
                          </a:rPr>
                          <m:t>V</m:t>
                        </m:r>
                      </m:e>
                      <m:sub>
                        <m:r>
                          <m:rPr>
                            <m:sty m:val="p"/>
                          </m:rPr>
                          <a:rPr lang="en-US" sz="1800" i="1">
                            <a:latin typeface="Cambria Math" panose="02040503050406030204" pitchFamily="18" charset="0"/>
                            <a:cs typeface="Arial"/>
                            <a:sym typeface="Arial"/>
                          </a:rPr>
                          <m:t>noise</m:t>
                        </m:r>
                      </m:sub>
                    </m:sSub>
                  </m:oMath>
                </a14:m>
                <a:r>
                  <a:rPr lang="en-US" sz="1800" dirty="0">
                    <a:latin typeface="Arial"/>
                    <a:ea typeface="Arial"/>
                    <a:cs typeface="Arial"/>
                    <a:sym typeface="Arial"/>
                  </a:rPr>
                  <a:t> is directly proportion to the rate of change of the current in the interfering wire! </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This is why heavy machinery or circuits that draw massive, pulsating currents (like motor drives) are notorious sources of magnetic Electromagnetic Interference (EMI)!</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gn="ctr">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p:txBody>
          </p:sp>
        </mc:Choice>
        <mc:Fallback xmlns="">
          <p:sp>
            <p:nvSpPr>
              <p:cNvPr id="118" name="Google Shape;118;p29">
                <a:extLst>
                  <a:ext uri="{FF2B5EF4-FFF2-40B4-BE49-F238E27FC236}">
                    <a16:creationId xmlns:a16="http://schemas.microsoft.com/office/drawing/2014/main" id="{3C69FC21-4FE2-D5D3-B148-B6E085C215EF}"/>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1782D00-2F9E-CB81-BF19-73F2CF122E6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189DC00-0F1C-7538-4AA6-0F1C569B6CD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lvl="0">
              <a:buSzPts val="2400"/>
            </a:pPr>
            <a:r>
              <a:rPr lang="en-US" sz="2400" b="0" i="0" u="none" strike="noStrike" cap="none" dirty="0">
                <a:solidFill>
                  <a:schemeClr val="lt1"/>
                </a:solidFill>
                <a:latin typeface="Arial"/>
                <a:ea typeface="Arial"/>
                <a:cs typeface="Arial"/>
                <a:sym typeface="Arial"/>
              </a:rPr>
              <a:t>Serial Communication -</a:t>
            </a:r>
            <a:r>
              <a:rPr lang="en-US" sz="2400" dirty="0">
                <a:solidFill>
                  <a:schemeClr val="lt1"/>
                </a:solidFill>
              </a:rPr>
              <a:t> Interferences - Capacitive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ABA2DCD9-805B-BBC8-D52E-ED32F7CC2C6A}"/>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234D1F8-BC9A-FAD3-DF33-DC28A3B501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E122DA3-15A3-22CC-86AB-2204A0E75F7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F13C6AC-2D99-2185-3360-7F8CF7E6D35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1901639-5B12-A481-BBAE-7E7A06E3506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C358338-80EC-C714-C1B9-D6F901134B8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35678719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103">
          <a:extLst>
            <a:ext uri="{FF2B5EF4-FFF2-40B4-BE49-F238E27FC236}">
              <a16:creationId xmlns:a16="http://schemas.microsoft.com/office/drawing/2014/main" id="{EDC9B6DE-CD64-5B1D-4001-E8D9BF4DE8C8}"/>
            </a:ext>
          </a:extLst>
        </p:cNvPr>
        <p:cNvGrpSpPr/>
        <p:nvPr/>
      </p:nvGrpSpPr>
      <p:grpSpPr>
        <a:xfrm>
          <a:off x="0" y="0"/>
          <a:ext cx="0" cy="0"/>
          <a:chOff x="0" y="0"/>
          <a:chExt cx="0" cy="0"/>
        </a:xfrm>
      </p:grpSpPr>
      <p:sp>
        <p:nvSpPr>
          <p:cNvPr id="104" name="Google Shape;104;p28">
            <a:extLst>
              <a:ext uri="{FF2B5EF4-FFF2-40B4-BE49-F238E27FC236}">
                <a16:creationId xmlns:a16="http://schemas.microsoft.com/office/drawing/2014/main" id="{9C75C4BB-CFBC-E823-E88A-C70278DBB765}"/>
              </a:ext>
            </a:extLst>
          </p:cNvPr>
          <p:cNvSpPr txBox="1"/>
          <p:nvPr/>
        </p:nvSpPr>
        <p:spPr>
          <a:xfrm>
            <a:off x="1295400" y="3225489"/>
            <a:ext cx="9601200" cy="784790"/>
          </a:xfrm>
          <a:prstGeom prst="rect">
            <a:avLst/>
          </a:prstGeom>
          <a:noFill/>
          <a:ln>
            <a:noFill/>
          </a:ln>
        </p:spPr>
        <p:txBody>
          <a:bodyPr spcFirstLastPara="1" wrap="square" lIns="91425" tIns="45700" rIns="91425" bIns="45700" anchor="ctr" anchorCtr="0">
            <a:spAutoFit/>
          </a:bodyPr>
          <a:lstStyle/>
          <a:p>
            <a:pPr marL="0" marR="0" lvl="0" indent="0" algn="ctr" rtl="0">
              <a:lnSpc>
                <a:spcPct val="100000"/>
              </a:lnSpc>
              <a:spcBef>
                <a:spcPts val="0"/>
              </a:spcBef>
              <a:spcAft>
                <a:spcPts val="0"/>
              </a:spcAft>
              <a:buClr>
                <a:srgbClr val="000000"/>
              </a:buClr>
              <a:buSzPts val="4500"/>
              <a:buFont typeface="Arial"/>
              <a:buNone/>
            </a:pPr>
            <a:r>
              <a:rPr lang="en-US" sz="4500" b="1" i="0" u="none" strike="noStrike" cap="none" dirty="0">
                <a:solidFill>
                  <a:srgbClr val="15264B"/>
                </a:solidFill>
                <a:latin typeface="Arial"/>
                <a:ea typeface="Arial"/>
                <a:cs typeface="Arial"/>
                <a:sym typeface="Arial"/>
              </a:rPr>
              <a:t>Serial Communication</a:t>
            </a:r>
            <a:endParaRPr lang="en-US" sz="1800" b="0" i="0" u="none" strike="noStrike" cap="none" dirty="0">
              <a:solidFill>
                <a:srgbClr val="15264B"/>
              </a:solidFill>
              <a:latin typeface="Arial"/>
              <a:ea typeface="Arial"/>
              <a:cs typeface="Arial"/>
              <a:sym typeface="Arial"/>
            </a:endParaRPr>
          </a:p>
        </p:txBody>
      </p:sp>
      <p:grpSp>
        <p:nvGrpSpPr>
          <p:cNvPr id="105" name="Google Shape;105;p28">
            <a:extLst>
              <a:ext uri="{FF2B5EF4-FFF2-40B4-BE49-F238E27FC236}">
                <a16:creationId xmlns:a16="http://schemas.microsoft.com/office/drawing/2014/main" id="{A7AA5307-D48E-1E1B-468D-4CD9036B6A8E}"/>
              </a:ext>
            </a:extLst>
          </p:cNvPr>
          <p:cNvGrpSpPr/>
          <p:nvPr/>
        </p:nvGrpSpPr>
        <p:grpSpPr>
          <a:xfrm>
            <a:off x="3943790" y="2676939"/>
            <a:ext cx="3861740" cy="322845"/>
            <a:chOff x="3943790" y="2676939"/>
            <a:chExt cx="3861740" cy="322845"/>
          </a:xfrm>
        </p:grpSpPr>
        <p:cxnSp>
          <p:nvCxnSpPr>
            <p:cNvPr id="106" name="Google Shape;106;p28">
              <a:extLst>
                <a:ext uri="{FF2B5EF4-FFF2-40B4-BE49-F238E27FC236}">
                  <a16:creationId xmlns:a16="http://schemas.microsoft.com/office/drawing/2014/main" id="{0022EC9C-AF68-6E2E-E94C-C0D4931ED873}"/>
                </a:ext>
              </a:extLst>
            </p:cNvPr>
            <p:cNvCxnSpPr/>
            <p:nvPr/>
          </p:nvCxnSpPr>
          <p:spPr>
            <a:xfrm>
              <a:off x="4426226" y="2676939"/>
              <a:ext cx="3379304" cy="0"/>
            </a:xfrm>
            <a:prstGeom prst="straightConnector1">
              <a:avLst/>
            </a:prstGeom>
            <a:noFill/>
            <a:ln w="19050" cap="flat" cmpd="sng">
              <a:solidFill>
                <a:schemeClr val="lt1"/>
              </a:solidFill>
              <a:prstDash val="solid"/>
              <a:round/>
              <a:headEnd type="none" w="sm" len="sm"/>
              <a:tailEnd type="none" w="sm" len="sm"/>
            </a:ln>
          </p:spPr>
        </p:cxnSp>
        <p:cxnSp>
          <p:nvCxnSpPr>
            <p:cNvPr id="107" name="Google Shape;107;p28">
              <a:extLst>
                <a:ext uri="{FF2B5EF4-FFF2-40B4-BE49-F238E27FC236}">
                  <a16:creationId xmlns:a16="http://schemas.microsoft.com/office/drawing/2014/main" id="{1C9B0655-9B3F-61BE-1528-B0FA56E77389}"/>
                </a:ext>
              </a:extLst>
            </p:cNvPr>
            <p:cNvCxnSpPr/>
            <p:nvPr/>
          </p:nvCxnSpPr>
          <p:spPr>
            <a:xfrm rot="10800000" flipH="1">
              <a:off x="3943790" y="2676939"/>
              <a:ext cx="482436" cy="322845"/>
            </a:xfrm>
            <a:prstGeom prst="straightConnector1">
              <a:avLst/>
            </a:prstGeom>
            <a:noFill/>
            <a:ln w="19050" cap="flat" cmpd="sng">
              <a:solidFill>
                <a:schemeClr val="lt1"/>
              </a:solidFill>
              <a:prstDash val="solid"/>
              <a:round/>
              <a:headEnd type="none" w="sm" len="sm"/>
              <a:tailEnd type="none" w="sm" len="sm"/>
            </a:ln>
          </p:spPr>
        </p:cxnSp>
      </p:grpSp>
      <p:pic>
        <p:nvPicPr>
          <p:cNvPr id="108" name="Google Shape;108;p28">
            <a:extLst>
              <a:ext uri="{FF2B5EF4-FFF2-40B4-BE49-F238E27FC236}">
                <a16:creationId xmlns:a16="http://schemas.microsoft.com/office/drawing/2014/main" id="{7C000F50-1313-4F99-8FCC-B64799CAC77A}"/>
              </a:ext>
            </a:extLst>
          </p:cNvPr>
          <p:cNvPicPr preferRelativeResize="0"/>
          <p:nvPr/>
        </p:nvPicPr>
        <p:blipFill rotWithShape="1">
          <a:blip r:embed="rId4">
            <a:alphaModFix/>
          </a:blip>
          <a:srcRect/>
          <a:stretch/>
        </p:blipFill>
        <p:spPr>
          <a:xfrm>
            <a:off x="11557509" y="233819"/>
            <a:ext cx="271308" cy="389811"/>
          </a:xfrm>
          <a:prstGeom prst="rect">
            <a:avLst/>
          </a:prstGeom>
          <a:noFill/>
          <a:ln>
            <a:noFill/>
          </a:ln>
        </p:spPr>
      </p:pic>
      <p:sp>
        <p:nvSpPr>
          <p:cNvPr id="109" name="Google Shape;109;p28">
            <a:extLst>
              <a:ext uri="{FF2B5EF4-FFF2-40B4-BE49-F238E27FC236}">
                <a16:creationId xmlns:a16="http://schemas.microsoft.com/office/drawing/2014/main" id="{52EB9EDA-9BF9-1FD5-8AD7-15889A955A6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10" name="Google Shape;110;p28">
            <a:extLst>
              <a:ext uri="{FF2B5EF4-FFF2-40B4-BE49-F238E27FC236}">
                <a16:creationId xmlns:a16="http://schemas.microsoft.com/office/drawing/2014/main" id="{4D5276A4-A574-7AF1-5F39-7AF7DD1E7972}"/>
              </a:ext>
            </a:extLst>
          </p:cNvPr>
          <p:cNvSpPr txBox="1"/>
          <p:nvPr/>
        </p:nvSpPr>
        <p:spPr>
          <a:xfrm>
            <a:off x="376807" y="6524381"/>
            <a:ext cx="7991400" cy="230700"/>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a:t>
            </a:r>
            <a:endParaRPr dirty="0"/>
          </a:p>
        </p:txBody>
      </p:sp>
      <p:grpSp>
        <p:nvGrpSpPr>
          <p:cNvPr id="111" name="Google Shape;111;p28">
            <a:extLst>
              <a:ext uri="{FF2B5EF4-FFF2-40B4-BE49-F238E27FC236}">
                <a16:creationId xmlns:a16="http://schemas.microsoft.com/office/drawing/2014/main" id="{2C8B979D-1673-B96E-CA5F-4A8BEB8A438C}"/>
              </a:ext>
            </a:extLst>
          </p:cNvPr>
          <p:cNvGrpSpPr/>
          <p:nvPr/>
        </p:nvGrpSpPr>
        <p:grpSpPr>
          <a:xfrm>
            <a:off x="4066674" y="6601537"/>
            <a:ext cx="5233412" cy="70446"/>
            <a:chOff x="4033424" y="6601537"/>
            <a:chExt cx="5233412" cy="70446"/>
          </a:xfrm>
        </p:grpSpPr>
        <p:cxnSp>
          <p:nvCxnSpPr>
            <p:cNvPr id="112" name="Google Shape;112;p28">
              <a:extLst>
                <a:ext uri="{FF2B5EF4-FFF2-40B4-BE49-F238E27FC236}">
                  <a16:creationId xmlns:a16="http://schemas.microsoft.com/office/drawing/2014/main" id="{D412B2F6-B81B-889C-2487-F175A54E5E9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13" name="Google Shape;113;p28">
              <a:extLst>
                <a:ext uri="{FF2B5EF4-FFF2-40B4-BE49-F238E27FC236}">
                  <a16:creationId xmlns:a16="http://schemas.microsoft.com/office/drawing/2014/main" id="{97958489-3A84-5021-1F6B-F1182744F3D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047176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F0F552A-34B4-E9A2-EF72-F0F5E62741D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B475722-7852-B794-D7AC-24FB25E51702}"/>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E3BCEA4A-B251-BC65-0A4B-A707B06A45D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Notation</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AB43262-0C4F-F28F-38CC-5DB57B4AB5F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55242F9D-4C47-443A-6DA3-EA300AA72D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DC775022-A041-8ED9-5EBB-7621D8FD49AC}"/>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E8AAFAB7-145A-DEBD-B18C-21C31EFD1DB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FD2C60DB-BA4F-B08F-70BE-851172669B9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4247FBCA-4866-1130-EB46-8EA483B11B5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4C0373D-A724-54AE-21B4-CCFF4DAEF0F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17CCF91C-4EFA-5DD5-4703-989E601B6AB3}"/>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19CA8C5-0427-651D-39E5-F00778AC1F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7016150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31F62EC-16B5-C75E-0F3C-9785154A38B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1E50CBD-6144-F5D1-4782-0C605B8F2E2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We want to be able to communicate with multiple devices. We can a “Master / Slave” paradigm in communication.</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“Master / Slave” is still commonly used but sometimes called Peripheral In and Peripheral Out.</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“Master” Node, holds the authority to initiate data transfers and generates the synchronization clock.</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The “Slave” Nodes are strictly reactive and remain low until explicitly addressed.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Think of it as the “Master” node as a “Teacher” asking you to do something, the “Slave” nodes are the “students” doing the work and reporting the results back.</a:t>
            </a:r>
          </a:p>
        </p:txBody>
      </p:sp>
      <p:sp>
        <p:nvSpPr>
          <p:cNvPr id="119" name="Google Shape;119;p29">
            <a:extLst>
              <a:ext uri="{FF2B5EF4-FFF2-40B4-BE49-F238E27FC236}">
                <a16:creationId xmlns:a16="http://schemas.microsoft.com/office/drawing/2014/main" id="{6A625270-3C0C-BD48-721C-32F70E1D8C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9D48B32-E626-95D5-4084-96C399CE9FE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1AE29E5-A472-309A-3DE1-B0247F0031A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2C3DD1A-4D34-65BD-E439-AFE51B5AC51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DB5910B-29AD-3125-843A-31E1893685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3DFE6AF-7AB6-AD0A-A80D-FFB5AD79FE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4C39E0D-8327-E057-CB04-9201E824846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203CAFB-3F8B-C2CB-1998-48A1DD97640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470475574"/>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EB0367F-A769-47E2-3D45-03753F24B316}"/>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600BA93-AE60-F4ED-B7E2-C577ADC87290}"/>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FC7063A-110F-CA01-BB52-0E860F07E02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Multiple Devices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2F2D3D4-7109-1D43-62E8-48434D27DD2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100FC39-51BC-794E-1381-CD0F692BB60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59655E87-219E-51D2-0837-6EBFCEEE242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8CAF377-E40A-6F63-BDC5-8FBE436B45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302BEBE-0916-C76B-9888-602ED06E76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37A743D-86D6-8A51-C14D-AA236921564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F2DB4266-0321-68D1-A7B8-0DC3666EEF0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518275" y="951070"/>
            <a:ext cx="5155450" cy="5425369"/>
          </a:xfrm>
          <a:prstGeom prst="rect">
            <a:avLst/>
          </a:prstGeom>
        </p:spPr>
      </p:pic>
      <p:sp>
        <p:nvSpPr>
          <p:cNvPr id="6" name="TextBox 5">
            <a:extLst>
              <a:ext uri="{FF2B5EF4-FFF2-40B4-BE49-F238E27FC236}">
                <a16:creationId xmlns:a16="http://schemas.microsoft.com/office/drawing/2014/main" id="{82C2F912-C93C-F03C-4DE7-D6A1862D2C91}"/>
              </a:ext>
            </a:extLst>
          </p:cNvPr>
          <p:cNvSpPr txBox="1"/>
          <p:nvPr/>
        </p:nvSpPr>
        <p:spPr>
          <a:xfrm>
            <a:off x="4500716" y="6418067"/>
            <a:ext cx="4296566" cy="253916"/>
          </a:xfrm>
          <a:prstGeom prst="rect">
            <a:avLst/>
          </a:prstGeom>
          <a:noFill/>
        </p:spPr>
        <p:txBody>
          <a:bodyPr wrap="square" rtlCol="0">
            <a:spAutoFit/>
          </a:bodyPr>
          <a:lstStyle/>
          <a:p>
            <a:pPr algn="ctr"/>
            <a:r>
              <a:rPr lang="en-US" sz="1050" dirty="0">
                <a:hlinkClick r:id="rId6"/>
              </a:rPr>
              <a:t>https://commons.wikimedia.org/wiki/File:Prinzip_MIMO.svg</a:t>
            </a:r>
            <a:r>
              <a:rPr lang="en-US" sz="1050" dirty="0"/>
              <a:t> </a:t>
            </a:r>
          </a:p>
        </p:txBody>
      </p:sp>
    </p:spTree>
    <p:extLst>
      <p:ext uri="{BB962C8B-B14F-4D97-AF65-F5344CB8AC3E}">
        <p14:creationId xmlns:p14="http://schemas.microsoft.com/office/powerpoint/2010/main" val="392805804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10395DD-37F8-A7B6-B647-B9252064B8E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A0CE324-C301-C820-0EE3-90E95E3E0F5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Asynchronous networks (SCI/UART) operate </a:t>
            </a:r>
            <a:r>
              <a:rPr lang="en-US" sz="2400" b="1" dirty="0">
                <a:solidFill>
                  <a:schemeClr val="dk1"/>
                </a:solidFill>
                <a:latin typeface="Arial"/>
                <a:ea typeface="Arial"/>
                <a:cs typeface="Arial"/>
                <a:sym typeface="Arial"/>
              </a:rPr>
              <a:t>without</a:t>
            </a:r>
            <a:r>
              <a:rPr lang="en-US" sz="2400" dirty="0">
                <a:solidFill>
                  <a:schemeClr val="dk1"/>
                </a:solidFill>
                <a:latin typeface="Arial"/>
                <a:ea typeface="Arial"/>
                <a:cs typeface="Arial"/>
                <a:sym typeface="Arial"/>
              </a:rPr>
              <a:t> a shared, physical clock line routing between nodes.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Nodes rely on independent, internal clocks that must be pre-configured to a matching baud-rate! ( Remember the UART lecture? )</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You don’t properly communicate the correct baud rate</a:t>
            </a:r>
          </a:p>
          <a:p>
            <a:pPr marL="285750" indent="-285750">
              <a:lnSpc>
                <a:spcPct val="100000"/>
              </a:lnSpc>
              <a:spcBef>
                <a:spcPts val="0"/>
              </a:spcBef>
              <a:buSzPts val="3000"/>
            </a:pPr>
            <a:r>
              <a:rPr lang="en-US" sz="2400" dirty="0">
                <a:latin typeface="Arial"/>
                <a:ea typeface="Arial"/>
                <a:cs typeface="Arial"/>
                <a:sym typeface="Arial"/>
              </a:rPr>
              <a:t>The internal clocks could drift causing the receiver to sample data out of phase, corrupting the data </a:t>
            </a:r>
          </a:p>
        </p:txBody>
      </p:sp>
      <p:sp>
        <p:nvSpPr>
          <p:cNvPr id="119" name="Google Shape;119;p29">
            <a:extLst>
              <a:ext uri="{FF2B5EF4-FFF2-40B4-BE49-F238E27FC236}">
                <a16:creationId xmlns:a16="http://schemas.microsoft.com/office/drawing/2014/main" id="{4FF97E9A-F5E6-3433-689A-CCC2E6693A8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0120183-E4BD-0BFF-1D1F-994A2686453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Asynchronous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8904CD0-286D-F91F-A905-291355B1331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2128093-8245-C834-0815-A4E443B42F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2F280F5-871C-8483-F445-F9DADA4EE0D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0908C8AF-CFF8-B3D7-0D5F-4E49923C019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7CC7DAE-10AB-41E0-9B9B-2B6C6243EB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972DEB-BDE9-BCF5-9C46-0A12169A370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0511907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53B0CF8A-0E0A-4767-51A8-52D7250B79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A62CEA2-560B-AD6B-6C17-48FA06E0D81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solidFill>
                  <a:schemeClr val="dk1"/>
                </a:solidFill>
                <a:latin typeface="Arial"/>
                <a:ea typeface="Arial"/>
                <a:cs typeface="Arial"/>
                <a:sym typeface="Arial"/>
              </a:rPr>
              <a:t>Synchronous networks (SPI/I2C) operate </a:t>
            </a:r>
            <a:r>
              <a:rPr lang="en-US" sz="2400" b="1" dirty="0">
                <a:solidFill>
                  <a:schemeClr val="dk1"/>
                </a:solidFill>
                <a:latin typeface="Arial"/>
                <a:ea typeface="Arial"/>
                <a:cs typeface="Arial"/>
                <a:sym typeface="Arial"/>
              </a:rPr>
              <a:t>with</a:t>
            </a:r>
            <a:r>
              <a:rPr lang="en-US" sz="2400" dirty="0">
                <a:solidFill>
                  <a:schemeClr val="dk1"/>
                </a:solidFill>
                <a:latin typeface="Arial"/>
                <a:ea typeface="Arial"/>
                <a:cs typeface="Arial"/>
                <a:sym typeface="Arial"/>
              </a:rPr>
              <a:t> a shared, physical clock line routing between nodes. The Master node routes a clock to all Slave devices.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This shared clock signal dictates the precise times that data lines are driven and sampled!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What could be some issue?</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285750" indent="-285750">
              <a:lnSpc>
                <a:spcPct val="100000"/>
              </a:lnSpc>
              <a:spcBef>
                <a:spcPts val="0"/>
              </a:spcBef>
              <a:buSzPts val="3000"/>
            </a:pPr>
            <a:r>
              <a:rPr lang="en-US" sz="2400" dirty="0">
                <a:latin typeface="Arial"/>
                <a:ea typeface="Arial"/>
                <a:cs typeface="Arial"/>
                <a:sym typeface="Arial"/>
              </a:rPr>
              <a:t>Extra wiring required, at least one for the clock and one for the data</a:t>
            </a:r>
          </a:p>
          <a:p>
            <a:pPr marL="285750" indent="-285750">
              <a:lnSpc>
                <a:spcPct val="100000"/>
              </a:lnSpc>
              <a:spcBef>
                <a:spcPts val="0"/>
              </a:spcBef>
              <a:buSzPts val="3000"/>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454969F-8A71-33EB-BDDA-023FEEF854B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E984245-CE1C-4896-8B04-18863A6EF0A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Synchronous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DDF8414-A14A-E3F2-87F4-9EFDA1C7D3BD}"/>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38881F2-A36F-71CB-43DF-BD63ED2A396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1C1BA1D-E816-4D19-F1B9-98A0DAEF361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71C4689-D273-4081-F35D-CE02FCEEFD3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876D6BA-E347-1DED-E635-0E672349829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7CBA2052-6DB8-94EA-4649-9A483759D90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60850197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6F53376-15D0-00FB-0E3A-16785845D1FB}"/>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58AE2CAC-0D6E-C146-E18D-483CB9E8C6C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CC53E3B-0565-87E3-0E78-684BE597409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Simplex vs Half-Duplex vs Full-Duplex</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369FBA1-653F-A825-F0D1-FA441B8AD95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95A3CFE2-F40B-F97D-15C9-D419A9AB838E}"/>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DAAA91E-1C80-9815-07B5-B44ABFA2E2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0967FF0-0709-1B3B-BA44-F441E173F36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5501262-88A2-9A72-68B8-20DF8F18F73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3CB847B-612D-5161-C8B2-65CA94AE74F1}"/>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grpSp>
        <p:nvGrpSpPr>
          <p:cNvPr id="7" name="Group 6">
            <a:extLst>
              <a:ext uri="{FF2B5EF4-FFF2-40B4-BE49-F238E27FC236}">
                <a16:creationId xmlns:a16="http://schemas.microsoft.com/office/drawing/2014/main" id="{3C3DA59E-3B3B-AB7C-F807-AE38038C7567}"/>
              </a:ext>
            </a:extLst>
          </p:cNvPr>
          <p:cNvGrpSpPr/>
          <p:nvPr/>
        </p:nvGrpSpPr>
        <p:grpSpPr>
          <a:xfrm>
            <a:off x="8734649" y="982357"/>
            <a:ext cx="3094168" cy="5567470"/>
            <a:chOff x="8734649" y="982357"/>
            <a:chExt cx="3094168" cy="5567470"/>
          </a:xfrm>
        </p:grpSpPr>
        <p:pic>
          <p:nvPicPr>
            <p:cNvPr id="3076" name="Picture 4" descr="How data flows in networks: Simplex, Half-Duplex, Full-Duplex | Anis HASSEN  posted on the topic | LinkedIn">
              <a:extLst>
                <a:ext uri="{FF2B5EF4-FFF2-40B4-BE49-F238E27FC236}">
                  <a16:creationId xmlns:a16="http://schemas.microsoft.com/office/drawing/2014/main" id="{99E9D030-886D-7734-B32F-4BB8C199C523}"/>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6542" t="4466" r="6233" b="2696"/>
            <a:stretch>
              <a:fillRect/>
            </a:stretch>
          </p:blipFill>
          <p:spPr bwMode="auto">
            <a:xfrm>
              <a:off x="8734649" y="982357"/>
              <a:ext cx="3094168" cy="5312664"/>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E0475FB5-0F61-16D6-E1BE-22C648CB3ACB}"/>
                </a:ext>
              </a:extLst>
            </p:cNvPr>
            <p:cNvSpPr txBox="1"/>
            <p:nvPr/>
          </p:nvSpPr>
          <p:spPr>
            <a:xfrm>
              <a:off x="8734650" y="6242050"/>
              <a:ext cx="3094167" cy="307777"/>
            </a:xfrm>
            <a:prstGeom prst="rect">
              <a:avLst/>
            </a:prstGeom>
            <a:noFill/>
          </p:spPr>
          <p:txBody>
            <a:bodyPr wrap="square" rtlCol="0">
              <a:spAutoFit/>
            </a:bodyPr>
            <a:lstStyle/>
            <a:p>
              <a:pPr algn="ctr"/>
              <a:r>
                <a:rPr lang="en-US" sz="700" dirty="0">
                  <a:hlinkClick r:id="rId5"/>
                </a:rPr>
                <a:t>https://www.linkedin.com/posts/anis-hassen_communication-modes-simplified-ever-activity-7310553982957948928-FHnT/</a:t>
              </a:r>
              <a:r>
                <a:rPr lang="en-US" sz="700" dirty="0"/>
                <a:t> </a:t>
              </a:r>
            </a:p>
          </p:txBody>
        </p:sp>
      </p:grpSp>
      <p:grpSp>
        <p:nvGrpSpPr>
          <p:cNvPr id="6" name="Group 5">
            <a:extLst>
              <a:ext uri="{FF2B5EF4-FFF2-40B4-BE49-F238E27FC236}">
                <a16:creationId xmlns:a16="http://schemas.microsoft.com/office/drawing/2014/main" id="{FEFBC80E-7EB9-E901-911A-ED2807369EE2}"/>
              </a:ext>
            </a:extLst>
          </p:cNvPr>
          <p:cNvGrpSpPr/>
          <p:nvPr/>
        </p:nvGrpSpPr>
        <p:grpSpPr>
          <a:xfrm>
            <a:off x="216400" y="982357"/>
            <a:ext cx="8312150" cy="5513608"/>
            <a:chOff x="216400" y="982357"/>
            <a:chExt cx="8312150" cy="5513608"/>
          </a:xfrm>
        </p:grpSpPr>
        <p:pic>
          <p:nvPicPr>
            <p:cNvPr id="3074" name="Picture 2" descr="Half-duplex vs Full-duplex vs Simplex Transmission Mode">
              <a:extLst>
                <a:ext uri="{FF2B5EF4-FFF2-40B4-BE49-F238E27FC236}">
                  <a16:creationId xmlns:a16="http://schemas.microsoft.com/office/drawing/2014/main" id="{CD66EAA8-F009-4E81-E5AB-3F7F4FC56A0D}"/>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493" r="2565"/>
            <a:stretch>
              <a:fillRect/>
            </a:stretch>
          </p:blipFill>
          <p:spPr bwMode="auto">
            <a:xfrm>
              <a:off x="216400" y="982357"/>
              <a:ext cx="8312150" cy="5307723"/>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22AAE732-0000-3CAB-107F-6913C420520C}"/>
                </a:ext>
              </a:extLst>
            </p:cNvPr>
            <p:cNvSpPr txBox="1"/>
            <p:nvPr/>
          </p:nvSpPr>
          <p:spPr>
            <a:xfrm>
              <a:off x="747652" y="6295910"/>
              <a:ext cx="7249646" cy="200055"/>
            </a:xfrm>
            <a:prstGeom prst="rect">
              <a:avLst/>
            </a:prstGeom>
            <a:noFill/>
          </p:spPr>
          <p:txBody>
            <a:bodyPr wrap="square" rtlCol="0">
              <a:spAutoFit/>
            </a:bodyPr>
            <a:lstStyle/>
            <a:p>
              <a:pPr algn="ctr"/>
              <a:r>
                <a:rPr lang="en-US" sz="700" dirty="0">
                  <a:hlinkClick r:id="rId7"/>
                </a:rPr>
                <a:t>https://www.qsfptek.com/qt-news/half-duplex-vs-full-duplex-vs-simplex-transmission-mode.html?srsltid=AfmBOopvEYPNWR3lh3_nh46jJxnYWESqNo07pANJhJ3pTBwkhLByDD5J</a:t>
              </a:r>
              <a:r>
                <a:rPr lang="en-US" sz="700" dirty="0"/>
                <a:t> </a:t>
              </a:r>
            </a:p>
          </p:txBody>
        </p:sp>
      </p:grpSp>
    </p:spTree>
    <p:extLst>
      <p:ext uri="{BB962C8B-B14F-4D97-AF65-F5344CB8AC3E}">
        <p14:creationId xmlns:p14="http://schemas.microsoft.com/office/powerpoint/2010/main" val="1060804981"/>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B4D2AB9D-2457-3211-C0D4-DE135DFAAEC9}"/>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57135A9-31CC-D8EA-1584-009E664D3D7E}"/>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7D3AA029-9DAF-CA5C-CC72-86F6C481A94D}"/>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Protocols</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0D5D6850-CB56-3AA3-B8A1-77B54555F9C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ABAA4E85-8BFE-612F-03A7-D582E7A24C04}"/>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C1FCE07-7739-7976-0281-85EB57EEFE6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C96BD22F-4C43-AC9C-9F54-F694529DED40}"/>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AC4CA889-AF22-6E85-92EF-A110A86E85A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99F85255-AAD3-BD95-8535-ABE4F735CB1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C814889B-3CBF-D837-0CDA-28FC1BA52746}"/>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FDAEA03-58FF-93F6-3AA0-8B81758BFDB5}"/>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D549A4B5-E4AB-DCC3-1A49-92E3173D7D4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7867686"/>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EF98DDE-B645-BBE4-5756-DF6A05CC329F}"/>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EE6462F-EB74-1857-0B24-DB61ED15232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SCI</a:t>
            </a:r>
            <a:r>
              <a:rPr lang="en-US" sz="2200" dirty="0">
                <a:latin typeface="Arial"/>
                <a:ea typeface="Arial"/>
                <a:cs typeface="Arial"/>
                <a:sym typeface="Arial"/>
              </a:rPr>
              <a:t> – Serial Peripheral Interface - The classic UART. It is asynchronous, requiring only two wires (TX/RX), but limited in speed due to the lack of a shared clock. Discussed in </a:t>
            </a:r>
            <a:r>
              <a:rPr lang="en-US" sz="2200" dirty="0">
                <a:latin typeface="Arial"/>
                <a:ea typeface="Arial"/>
                <a:cs typeface="Arial"/>
                <a:sym typeface="Arial"/>
                <a:hlinkClick r:id="rId3"/>
              </a:rPr>
              <a:t>Lecture 4</a:t>
            </a:r>
            <a:r>
              <a:rPr lang="en-US" sz="2200" dirty="0">
                <a:latin typeface="Arial"/>
                <a:ea typeface="Arial"/>
                <a:cs typeface="Arial"/>
                <a:sym typeface="Arial"/>
              </a:rPr>
              <a:t>.</a:t>
            </a: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SPI</a:t>
            </a:r>
            <a:r>
              <a:rPr lang="en-US" sz="2200" dirty="0">
                <a:latin typeface="Arial"/>
                <a:ea typeface="Arial"/>
                <a:cs typeface="Arial"/>
                <a:sym typeface="Arial"/>
              </a:rPr>
              <a:t> – Serial Communications Interface - A high-speed synchronous serial input and output (I/O) port. It requires four wires and dominates high-frequency sensor and motor driver applications. Discussed in </a:t>
            </a:r>
            <a:r>
              <a:rPr lang="en-US" sz="2200" dirty="0">
                <a:latin typeface="Arial"/>
                <a:ea typeface="Arial"/>
                <a:cs typeface="Arial"/>
                <a:sym typeface="Arial"/>
                <a:hlinkClick r:id="rId4"/>
              </a:rPr>
              <a:t>Lecture 6-7</a:t>
            </a:r>
            <a:endParaRPr lang="en-US" sz="2200" dirty="0">
              <a:latin typeface="Arial"/>
              <a:ea typeface="Arial"/>
              <a:cs typeface="Arial"/>
              <a:sym typeface="Arial"/>
            </a:endParaRPr>
          </a:p>
          <a:p>
            <a:pPr marL="285750" indent="-285750">
              <a:lnSpc>
                <a:spcPct val="100000"/>
              </a:lnSpc>
              <a:spcBef>
                <a:spcPts val="0"/>
              </a:spcBef>
              <a:buSzPts val="3000"/>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I2C</a:t>
            </a:r>
            <a:r>
              <a:rPr lang="en-US" sz="2200" dirty="0">
                <a:latin typeface="Arial"/>
                <a:ea typeface="Arial"/>
                <a:cs typeface="Arial"/>
                <a:sym typeface="Arial"/>
              </a:rPr>
              <a:t> – Inter-Integrated Circuit Module - A synchronous, two-wire bus using software addressing rather than hardware routing. Uses less wires some can be advantageous over SCI.</a:t>
            </a:r>
          </a:p>
        </p:txBody>
      </p:sp>
      <p:sp>
        <p:nvSpPr>
          <p:cNvPr id="119" name="Google Shape;119;p29">
            <a:extLst>
              <a:ext uri="{FF2B5EF4-FFF2-40B4-BE49-F238E27FC236}">
                <a16:creationId xmlns:a16="http://schemas.microsoft.com/office/drawing/2014/main" id="{D509A953-34FF-EDC4-89AC-1D041972D5F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2F9FEF23-FA48-B358-65A6-EAD8D453DC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04A900D-EF32-489F-02FA-1EDF247A3714}"/>
              </a:ext>
            </a:extLst>
          </p:cNvPr>
          <p:cNvPicPr preferRelativeResize="0"/>
          <p:nvPr/>
        </p:nvPicPr>
        <p:blipFill rotWithShape="1">
          <a:blip r:embed="rId5">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2D157C4-14C2-D186-2058-7B8BEAC3932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559E22A-9CFF-92DA-34D1-5CDABD737EE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4AED68D-70A7-3D5F-ED5D-ACDD2586471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785742C-E51F-C713-500A-5C187E15A5D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C43059D-61AB-99B2-30BB-9D3C1BCBEBE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629482617"/>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A37AC97-3F7F-C5C7-1A7D-DB688807DF3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7C82BCD4-24AD-A55D-29C2-6252D8BD149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solidFill>
                  <a:schemeClr val="dk1"/>
                </a:solidFill>
                <a:latin typeface="Arial"/>
                <a:ea typeface="Arial"/>
                <a:cs typeface="Arial"/>
                <a:sym typeface="Arial"/>
              </a:rPr>
              <a:t>The Red Board supports a lot of communication protocols:</a:t>
            </a:r>
          </a:p>
          <a:p>
            <a:pPr marL="285750" indent="-285750">
              <a:lnSpc>
                <a:spcPct val="100000"/>
              </a:lnSpc>
              <a:spcBef>
                <a:spcPts val="0"/>
              </a:spcBef>
              <a:buSzPts val="3000"/>
            </a:pPr>
            <a:r>
              <a:rPr lang="en-US" sz="2200" b="1" dirty="0">
                <a:latin typeface="Arial"/>
                <a:ea typeface="Arial"/>
                <a:cs typeface="Arial"/>
                <a:sym typeface="Arial"/>
              </a:rPr>
              <a:t>CAN</a:t>
            </a:r>
            <a:r>
              <a:rPr lang="en-US" sz="2200" dirty="0">
                <a:latin typeface="Arial"/>
                <a:ea typeface="Arial"/>
                <a:cs typeface="Arial"/>
                <a:sym typeface="Arial"/>
              </a:rPr>
              <a:t> – Controller Area Network - A highly robust, differential-signaling serial bus designed for automotive environments. It prioritizes message IDs and deterministic collision resolution over raw speed.</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McBSP</a:t>
            </a:r>
            <a:r>
              <a:rPr lang="en-US" sz="2200" dirty="0">
                <a:latin typeface="Arial"/>
                <a:ea typeface="Arial"/>
                <a:cs typeface="Arial"/>
                <a:sym typeface="Arial"/>
              </a:rPr>
              <a:t> – Multichannel Buffered Serial Port - A high-speed synchronous serial port capable of handling complex audio streams and telecommunications data.</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a:latin typeface="Arial"/>
                <a:ea typeface="Arial"/>
                <a:cs typeface="Arial"/>
                <a:sym typeface="Arial"/>
              </a:rPr>
              <a:t>USB</a:t>
            </a:r>
            <a:r>
              <a:rPr lang="en-US" sz="2200" dirty="0">
                <a:latin typeface="Arial"/>
                <a:ea typeface="Arial"/>
                <a:cs typeface="Arial"/>
                <a:sym typeface="Arial"/>
              </a:rPr>
              <a:t> – Universal Serial Bus - A complex, differential standard used primarily for interfacing the embedded system with host PCs for data logging or firmware updates.</a:t>
            </a:r>
          </a:p>
          <a:p>
            <a:pPr marL="0" indent="0">
              <a:lnSpc>
                <a:spcPct val="100000"/>
              </a:lnSpc>
              <a:spcBef>
                <a:spcPts val="0"/>
              </a:spcBef>
              <a:buSzPts val="3000"/>
              <a:buNone/>
            </a:pPr>
            <a:endParaRPr lang="en-US" sz="2200" dirty="0">
              <a:latin typeface="Arial"/>
              <a:ea typeface="Arial"/>
              <a:cs typeface="Arial"/>
              <a:sym typeface="Arial"/>
            </a:endParaRPr>
          </a:p>
          <a:p>
            <a:pPr marL="285750" indent="-285750">
              <a:lnSpc>
                <a:spcPct val="100000"/>
              </a:lnSpc>
              <a:spcBef>
                <a:spcPts val="0"/>
              </a:spcBef>
              <a:buSzPts val="3000"/>
            </a:pPr>
            <a:r>
              <a:rPr lang="en-US" sz="2200" b="1" dirty="0" err="1">
                <a:latin typeface="Arial"/>
                <a:ea typeface="Arial"/>
                <a:cs typeface="Arial"/>
                <a:sym typeface="Arial"/>
              </a:rPr>
              <a:t>uPP</a:t>
            </a:r>
            <a:r>
              <a:rPr lang="en-US" sz="2200" dirty="0">
                <a:latin typeface="Arial"/>
                <a:ea typeface="Arial"/>
                <a:cs typeface="Arial"/>
                <a:sym typeface="Arial"/>
              </a:rPr>
              <a:t> - Universal Parallel Port - A high-speed parallel interface used for connecting directly to FPGAs or massive data-acquisition modules (high-speed ADC).</a:t>
            </a:r>
          </a:p>
        </p:txBody>
      </p:sp>
      <p:sp>
        <p:nvSpPr>
          <p:cNvPr id="119" name="Google Shape;119;p29">
            <a:extLst>
              <a:ext uri="{FF2B5EF4-FFF2-40B4-BE49-F238E27FC236}">
                <a16:creationId xmlns:a16="http://schemas.microsoft.com/office/drawing/2014/main" id="{490F2AEF-C308-6C69-8192-6A3D11936DF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93DB5E0-7E03-9375-7DED-51DBA1C290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625CE1D-DBC5-E794-D26D-0664C39FF1D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9F33CEA-6097-27AC-96CC-8B2682452DA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DFA79B5C-62A9-290E-3F21-4B7505FE5DC4}"/>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ACB6F1B-99FB-7828-B415-0C215014BEB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52A695C-6644-B0C9-217E-6D5AA82AFAA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AF2C9516-CE55-8195-BB96-324549B1C2F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3191349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5.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E90625A-9078-156F-B6A1-401CCE8326D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99AFDC12-7B22-50E9-8DD3-4690FB639A68}"/>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07AEA660-E915-AE40-2C20-5964643D8AAE}"/>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SCI / UART</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1DA2B9A3-8A6A-FAFA-669E-652C26943454}"/>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36D3443-F5EE-2480-11CF-D3C53E6A9DA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339385CC-8092-7134-E76F-6C774111CB89}"/>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BC3321DF-4F11-1823-A0AD-9D817E0A70BB}"/>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8475933-7067-5115-DBEB-7889C12FF01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C8703854-82A4-5410-63D0-A3D90D732AF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0311F12E-A60F-6DE8-C009-10F9891EA5B2}"/>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ACF3A0FF-06E2-74E0-BD80-252F9F50CD6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2A939E0D-800D-BBED-15F9-64C08901CFE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85106157"/>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8AFA798-9BC3-992F-DE00-7A1126761E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2589EC1F-48AC-C1A0-EC0C-3532BB482D58}"/>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200" b="1" dirty="0">
                <a:latin typeface="Arial"/>
                <a:ea typeface="Arial"/>
                <a:cs typeface="Arial"/>
                <a:sym typeface="Arial"/>
              </a:rPr>
              <a:t>Asynchronous</a:t>
            </a:r>
            <a:r>
              <a:rPr lang="en-US" sz="2200" dirty="0">
                <a:latin typeface="Arial"/>
                <a:ea typeface="Arial"/>
                <a:cs typeface="Arial"/>
                <a:sym typeface="Arial"/>
              </a:rPr>
              <a:t>: No shared clock wire. Timing relies on agreed-upon Baud Rate.</a:t>
            </a:r>
          </a:p>
          <a:p>
            <a:pPr marL="0" lvl="0" indent="0">
              <a:lnSpc>
                <a:spcPct val="100000"/>
              </a:lnSpc>
              <a:spcBef>
                <a:spcPts val="0"/>
              </a:spcBef>
              <a:buSzPts val="3000"/>
              <a:buNone/>
            </a:pPr>
            <a:endParaRPr lang="en-US" sz="2200" dirty="0">
              <a:latin typeface="Arial"/>
              <a:ea typeface="Arial"/>
              <a:cs typeface="Arial"/>
              <a:sym typeface="Arial"/>
            </a:endParaRPr>
          </a:p>
          <a:p>
            <a:pPr marL="114300" lvl="0" indent="0" algn="ctr">
              <a:buClr>
                <a:srgbClr val="000000"/>
              </a:buClr>
              <a:buNone/>
            </a:pPr>
            <a:r>
              <a:rPr lang="en-US" sz="1800" dirty="0" err="1">
                <a:solidFill>
                  <a:srgbClr val="000000"/>
                </a:solidFill>
                <a:latin typeface="Consolas" panose="020B0609020204030204" pitchFamily="49" charset="0"/>
              </a:rPr>
              <a:t>init_serialSCIA</a:t>
            </a:r>
            <a:r>
              <a:rPr lang="en-US" sz="1800" dirty="0">
                <a:solidFill>
                  <a:srgbClr val="000000"/>
                </a:solidFill>
                <a:latin typeface="Consolas" panose="020B0609020204030204" pitchFamily="49" charset="0"/>
              </a:rPr>
              <a:t>(&amp;SerialA,115200);</a:t>
            </a:r>
            <a:endParaRPr lang="en-US" sz="1800" dirty="0">
              <a:solidFill>
                <a:srgbClr val="000000"/>
              </a:solidFill>
              <a:latin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nSpc>
                <a:spcPct val="100000"/>
              </a:lnSpc>
              <a:spcBef>
                <a:spcPts val="0"/>
              </a:spcBef>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6B9BF5F0-457C-4E03-05A4-52C30532A0C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AC3FDC0-4294-4748-4B32-802F62E91CD9}"/>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SCI / UART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50A938-DD5E-52AF-1CA9-E1138F168019}"/>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67A8A6-916E-A3D8-2000-BBDA2A9936D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2C767B3-18CC-7410-A90D-AEB33559539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84D76E-B978-AC85-66B0-65FE7AA6D77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043A9B12-15C8-B715-D59E-5B99997FD69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B8BE521-C5BE-B235-B9FD-F59C2053850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2" name="Graphic 1">
            <a:extLst>
              <a:ext uri="{FF2B5EF4-FFF2-40B4-BE49-F238E27FC236}">
                <a16:creationId xmlns:a16="http://schemas.microsoft.com/office/drawing/2014/main" id="{7F3DCA0B-06EC-CDAB-5F7A-048D3BBDB4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77146" y="2747500"/>
            <a:ext cx="10437708" cy="3592382"/>
          </a:xfrm>
          <a:prstGeom prst="rect">
            <a:avLst/>
          </a:prstGeom>
        </p:spPr>
      </p:pic>
    </p:spTree>
    <p:extLst>
      <p:ext uri="{BB962C8B-B14F-4D97-AF65-F5344CB8AC3E}">
        <p14:creationId xmlns:p14="http://schemas.microsoft.com/office/powerpoint/2010/main" val="68037842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A0E2740-7630-D3AF-878D-DC6BC376ED68}"/>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17C6B595-3CD2-C7CB-F48E-3032BE3B645B}"/>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8CC7C99E-324F-4290-ACFE-0E2D50EC83D5}"/>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SPI</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ACCB0847-714E-0755-C06F-CB227BEB853F}"/>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5E211AB-C88C-2CB5-8676-F238F700C85B}"/>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2E47F6B4-5228-76E2-4FDD-8509ECDDE0FD}"/>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49CA9C54-FDCC-27E9-0788-1BB634D86E53}"/>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63700EE-FC38-B4E4-B9A9-CA1BF5CE666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784BC4D5-CF5F-370C-5401-4CEFEFF6F76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E07FE74-EFD8-6D77-C709-767D3DD6B6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891FB91F-D98B-02B7-3DA6-797F281CB7DE}"/>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62E80ADB-A2C3-AE7C-E90F-55925015333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854632241"/>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144FEC4-F8F6-89C7-072A-F70CD8AD4BF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0153D6E-13A5-F39A-8E08-3FC06E9CE467}"/>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This is full-duplex protocol, capable of simultaneous transmission and reception during a single clock cycle.</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Multi-device communions are supported by the master or slave operation of the SPI.</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0" lvl="0" indent="0" algn="l" rtl="0">
              <a:lnSpc>
                <a:spcPct val="100000"/>
              </a:lnSpc>
              <a:spcBef>
                <a:spcPts val="0"/>
              </a:spcBef>
              <a:spcAft>
                <a:spcPts val="0"/>
              </a:spcAft>
              <a:buSzPts val="3000"/>
              <a:buNone/>
            </a:pPr>
            <a:r>
              <a:rPr lang="en-US" sz="2200" dirty="0">
                <a:latin typeface="Arial"/>
                <a:ea typeface="Arial"/>
                <a:cs typeface="Arial"/>
                <a:sym typeface="Arial"/>
              </a:rPr>
              <a:t>Has 4 wires:</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SPICLK</a:t>
            </a:r>
            <a:r>
              <a:rPr lang="en-US" sz="2200" dirty="0">
                <a:latin typeface="Arial"/>
                <a:ea typeface="Arial"/>
                <a:cs typeface="Arial"/>
                <a:sym typeface="Arial"/>
              </a:rPr>
              <a:t>: The SPI serial-clock pin, supplying the synchronous heartbeat</a:t>
            </a:r>
          </a:p>
          <a:p>
            <a:pPr marL="342900">
              <a:lnSpc>
                <a:spcPct val="100000"/>
              </a:lnSpc>
              <a:spcBef>
                <a:spcPts val="0"/>
              </a:spcBef>
              <a:buSzPts val="3000"/>
            </a:pPr>
            <a:r>
              <a:rPr lang="en-US" sz="2200" b="1" dirty="0">
                <a:latin typeface="Arial"/>
                <a:ea typeface="Arial"/>
                <a:cs typeface="Arial"/>
                <a:sym typeface="Arial"/>
              </a:rPr>
              <a:t>SPISIMO</a:t>
            </a:r>
            <a:r>
              <a:rPr lang="en-US" sz="2200" dirty="0">
                <a:latin typeface="Arial"/>
                <a:ea typeface="Arial"/>
                <a:cs typeface="Arial"/>
                <a:sym typeface="Arial"/>
              </a:rPr>
              <a:t>: The SPI slave-input/master-output pin</a:t>
            </a:r>
          </a:p>
          <a:p>
            <a:pPr marL="342900">
              <a:lnSpc>
                <a:spcPct val="100000"/>
              </a:lnSpc>
              <a:spcBef>
                <a:spcPts val="0"/>
              </a:spcBef>
              <a:buSzPts val="3000"/>
            </a:pPr>
            <a:r>
              <a:rPr lang="en-US" sz="2200" b="1" dirty="0">
                <a:latin typeface="Arial"/>
                <a:ea typeface="Arial"/>
                <a:cs typeface="Arial"/>
                <a:sym typeface="Arial"/>
              </a:rPr>
              <a:t>SPISOMI</a:t>
            </a:r>
            <a:r>
              <a:rPr lang="en-US" sz="2200" dirty="0">
                <a:latin typeface="Arial"/>
                <a:ea typeface="Arial"/>
                <a:cs typeface="Arial"/>
                <a:sym typeface="Arial"/>
              </a:rPr>
              <a:t>: The SPI slave-output/master-input pin</a:t>
            </a:r>
          </a:p>
          <a:p>
            <a:pPr marL="342900">
              <a:lnSpc>
                <a:spcPct val="100000"/>
              </a:lnSpc>
              <a:spcBef>
                <a:spcPts val="0"/>
              </a:spcBef>
              <a:buSzPts val="3000"/>
            </a:pPr>
            <a:r>
              <a:rPr lang="en-US" sz="2200" b="1" dirty="0">
                <a:latin typeface="Arial"/>
                <a:ea typeface="Arial"/>
                <a:cs typeface="Arial"/>
                <a:sym typeface="Arial"/>
              </a:rPr>
              <a:t>SPISTE</a:t>
            </a:r>
            <a:r>
              <a:rPr lang="en-US" sz="2200" dirty="0">
                <a:latin typeface="Arial"/>
                <a:ea typeface="Arial"/>
                <a:cs typeface="Arial"/>
                <a:sym typeface="Arial"/>
              </a:rPr>
              <a:t>: The SPI slave transmit-enable pin</a:t>
            </a:r>
          </a:p>
          <a:p>
            <a:pPr marL="342900">
              <a:lnSpc>
                <a:spcPct val="100000"/>
              </a:lnSpc>
              <a:spcBef>
                <a:spcPts val="0"/>
              </a:spcBef>
              <a:buSzPts val="3000"/>
            </a:pPr>
            <a:endParaRPr lang="en-US" sz="2200" dirty="0">
              <a:latin typeface="Arial"/>
              <a:ea typeface="Arial"/>
              <a:cs typeface="Arial"/>
              <a:sym typeface="Arial"/>
            </a:endParaRPr>
          </a:p>
          <a:p>
            <a:pPr marL="0" indent="0">
              <a:lnSpc>
                <a:spcPct val="100000"/>
              </a:lnSpc>
              <a:spcBef>
                <a:spcPts val="0"/>
              </a:spcBef>
              <a:buSzPts val="3000"/>
              <a:buNone/>
            </a:pPr>
            <a:r>
              <a:rPr lang="en-US" sz="2200" dirty="0">
                <a:latin typeface="Arial"/>
                <a:ea typeface="Arial"/>
                <a:cs typeface="Arial"/>
                <a:sym typeface="Arial"/>
              </a:rPr>
              <a:t>All four pins can be used as general-purpose input/output (GPIO) if the SPI module is not used by the system</a:t>
            </a:r>
          </a:p>
        </p:txBody>
      </p:sp>
      <p:sp>
        <p:nvSpPr>
          <p:cNvPr id="119" name="Google Shape;119;p29">
            <a:extLst>
              <a:ext uri="{FF2B5EF4-FFF2-40B4-BE49-F238E27FC236}">
                <a16:creationId xmlns:a16="http://schemas.microsoft.com/office/drawing/2014/main" id="{EF079DDE-859F-E9D9-3720-A9A3356A5B1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48E2184-734C-3F76-2088-B47AA211C9E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D4D1E0-C163-FF25-21C5-154E3F1F0DD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4E1C8A1-3D5D-FAEE-026C-EA4060BD4E1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F169A76-7327-DD1A-A2D7-23AE12B2728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5A0E1A-B050-59B2-7D49-9ABFA49806D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85F99C-6AB8-F792-22F0-1FBE0EB322A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DD5F7B6-1199-C945-4990-D5060D2827A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905838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7" end="7"/>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9" end="9"/>
                                            </p:txEl>
                                          </p:spTgt>
                                        </p:tgtEl>
                                        <p:attrNameLst>
                                          <p:attrName>style.visibility</p:attrName>
                                        </p:attrNameLst>
                                      </p:cBhvr>
                                      <p:to>
                                        <p:strVal val="visible"/>
                                      </p:to>
                                    </p:set>
                                  </p:childTnLst>
                                </p:cTn>
                              </p:par>
                              <p:par>
                                <p:cTn id="19" presetID="1" presetClass="entr" presetSubtype="0" fill="hold" grpId="0" nodeType="withEffect">
                                  <p:stCondLst>
                                    <p:cond delay="0"/>
                                  </p:stCondLst>
                                  <p:childTnLst>
                                    <p:set>
                                      <p:cBhvr>
                                        <p:cTn id="20" dur="1" fill="hold">
                                          <p:stCondLst>
                                            <p:cond delay="0"/>
                                          </p:stCondLst>
                                        </p:cTn>
                                        <p:tgtEl>
                                          <p:spTgt spid="118">
                                            <p:txEl>
                                              <p:pRg st="11" end="11"/>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7284FE1-E9DC-00E6-F6E2-1C2ADDE3524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806C2B6D-7F85-67B2-82D3-79A52FA6B4C9}"/>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FEDFDCD-1998-A83B-83AC-BED243396E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3F3E8680-590F-D210-2EF1-48F36467A7E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B34A491-FDC4-1DBB-9AEF-4B8F9E3012B1}"/>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D146B73-6142-3914-2DBC-2787FD31694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8B308452-7851-4648-D289-D31D5BC2546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010588B-D5F2-FD61-0FC5-32A96DBED91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B79F794-D3EF-A710-8C64-EB005E0D4AB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37104FA7-F39F-8F31-1F55-4826818DCDA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885950" y="1095675"/>
            <a:ext cx="8420100" cy="5341385"/>
          </a:xfrm>
          <a:prstGeom prst="rect">
            <a:avLst/>
          </a:prstGeom>
        </p:spPr>
      </p:pic>
    </p:spTree>
    <p:extLst>
      <p:ext uri="{BB962C8B-B14F-4D97-AF65-F5344CB8AC3E}">
        <p14:creationId xmlns:p14="http://schemas.microsoft.com/office/powerpoint/2010/main" val="1372245568"/>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43AE2F2-612A-CC5F-B7D8-E007D6231DF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3E7553C-0531-1539-0A26-90E4725B384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200" dirty="0">
                <a:latin typeface="Arial"/>
                <a:ea typeface="Arial"/>
                <a:cs typeface="Arial"/>
                <a:sym typeface="Arial"/>
              </a:rPr>
              <a:t>Has 2 interrupt signal:</a:t>
            </a:r>
          </a:p>
          <a:p>
            <a:pPr marL="0" lvl="0" indent="0" algn="l" rtl="0">
              <a:lnSpc>
                <a:spcPct val="100000"/>
              </a:lnSpc>
              <a:spcBef>
                <a:spcPts val="0"/>
              </a:spcBef>
              <a:spcAft>
                <a:spcPts val="0"/>
              </a:spcAft>
              <a:buSzPts val="3000"/>
              <a:buNone/>
            </a:pPr>
            <a:endParaRPr lang="en-US" sz="2200" dirty="0">
              <a:latin typeface="Arial"/>
              <a:ea typeface="Arial"/>
              <a:cs typeface="Arial"/>
              <a:sym typeface="Arial"/>
            </a:endParaRPr>
          </a:p>
          <a:p>
            <a:pPr marL="342900">
              <a:lnSpc>
                <a:spcPct val="100000"/>
              </a:lnSpc>
              <a:spcBef>
                <a:spcPts val="0"/>
              </a:spcBef>
              <a:buSzPts val="3000"/>
            </a:pPr>
            <a:r>
              <a:rPr lang="en-US" sz="2200" b="1" dirty="0">
                <a:latin typeface="Arial"/>
                <a:ea typeface="Arial"/>
                <a:cs typeface="Arial"/>
                <a:sym typeface="Arial"/>
              </a:rPr>
              <a:t>SPIINT: </a:t>
            </a:r>
            <a:r>
              <a:rPr lang="en-US" sz="2400" dirty="0"/>
              <a:t>Transmit interrupt/ Receive Interrupt in non-FIFO mode</a:t>
            </a:r>
            <a:endParaRPr lang="en-US" sz="2200" dirty="0">
              <a:latin typeface="Arial"/>
              <a:ea typeface="Arial"/>
              <a:cs typeface="Arial"/>
              <a:sym typeface="Arial"/>
            </a:endParaRPr>
          </a:p>
          <a:p>
            <a:pPr marL="342900">
              <a:lnSpc>
                <a:spcPct val="100000"/>
              </a:lnSpc>
              <a:spcBef>
                <a:spcPts val="0"/>
              </a:spcBef>
              <a:buSzPts val="3000"/>
            </a:pPr>
            <a:r>
              <a:rPr lang="en-US" sz="2400" b="1" dirty="0"/>
              <a:t>SPIRXINT: </a:t>
            </a:r>
            <a:r>
              <a:rPr lang="en-US" sz="2400" dirty="0"/>
              <a:t>Receive interrupt in FIFO mode</a:t>
            </a:r>
            <a:endParaRPr lang="en-US" sz="2400" b="1" dirty="0">
              <a:latin typeface="Arial"/>
              <a:ea typeface="Arial"/>
              <a:cs typeface="Arial"/>
              <a:sym typeface="Arial"/>
            </a:endParaRPr>
          </a:p>
          <a:p>
            <a:pPr marL="342900">
              <a:lnSpc>
                <a:spcPct val="100000"/>
              </a:lnSpc>
              <a:spcBef>
                <a:spcPts val="0"/>
              </a:spcBef>
              <a:buSzPts val="3000"/>
            </a:pPr>
            <a:r>
              <a:rPr lang="en-US" sz="2400" b="1" dirty="0"/>
              <a:t>SPITXINT: </a:t>
            </a:r>
            <a:r>
              <a:rPr lang="en-US" sz="2400" dirty="0"/>
              <a:t>Transmit interrupt in FIFO mode</a:t>
            </a:r>
          </a:p>
          <a:p>
            <a:pPr marL="342900">
              <a:lnSpc>
                <a:spcPct val="100000"/>
              </a:lnSpc>
              <a:spcBef>
                <a:spcPts val="0"/>
              </a:spcBef>
              <a:buSzPts val="3000"/>
            </a:pPr>
            <a:endParaRPr lang="en-US" sz="2400" dirty="0">
              <a:latin typeface="Arial"/>
              <a:ea typeface="Arial"/>
              <a:cs typeface="Arial"/>
              <a:sym typeface="Arial"/>
            </a:endParaRPr>
          </a:p>
          <a:p>
            <a:pPr marL="0" indent="0">
              <a:lnSpc>
                <a:spcPct val="100000"/>
              </a:lnSpc>
              <a:spcBef>
                <a:spcPts val="0"/>
              </a:spcBef>
              <a:buSzPts val="3000"/>
              <a:buNone/>
            </a:pPr>
            <a:r>
              <a:rPr lang="en-US" sz="2400" dirty="0">
                <a:latin typeface="Arial"/>
                <a:ea typeface="Arial"/>
                <a:cs typeface="Arial"/>
                <a:sym typeface="Arial"/>
              </a:rPr>
              <a:t>Can also integrate with the DMA (limited to 16-bit register read/writes and only works when FIFO is enabled)</a:t>
            </a:r>
          </a:p>
          <a:p>
            <a:pPr mar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t>SPITXDMA</a:t>
            </a:r>
            <a:r>
              <a:rPr lang="en-US" sz="2400" dirty="0"/>
              <a:t>: Transmit request to DMA</a:t>
            </a:r>
          </a:p>
          <a:p>
            <a:pPr marL="342900">
              <a:lnSpc>
                <a:spcPct val="100000"/>
              </a:lnSpc>
              <a:spcBef>
                <a:spcPts val="0"/>
              </a:spcBef>
              <a:buSzPts val="3000"/>
            </a:pPr>
            <a:r>
              <a:rPr lang="en-US" sz="2400" b="1" dirty="0"/>
              <a:t>SPIRXDMA</a:t>
            </a:r>
            <a:r>
              <a:rPr lang="en-US" sz="2400" dirty="0"/>
              <a:t>: Receive request to DMA</a:t>
            </a:r>
            <a:endParaRPr lang="en-US" sz="2200" dirty="0">
              <a:latin typeface="Arial"/>
              <a:ea typeface="Arial"/>
              <a:cs typeface="Arial"/>
              <a:sym typeface="Arial"/>
            </a:endParaRPr>
          </a:p>
        </p:txBody>
      </p:sp>
      <p:sp>
        <p:nvSpPr>
          <p:cNvPr id="119" name="Google Shape;119;p29">
            <a:extLst>
              <a:ext uri="{FF2B5EF4-FFF2-40B4-BE49-F238E27FC236}">
                <a16:creationId xmlns:a16="http://schemas.microsoft.com/office/drawing/2014/main" id="{33F3420D-6516-22E6-540E-5B0DC22D051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9BB4F42-B762-AEC8-AFB4-1592EEDFE44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D8368B17-F3B3-6B98-394A-4630CA7AB39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FC44A90-552A-61EC-FC7F-1EF1871CEE4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3C8BAC4-F5DD-AC2B-F80A-82EA81698EC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037CB65-1BC5-3AB7-0D3A-44F23A62DF08}"/>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FB69A63-BE9E-B097-BFD7-FD5DF9B1EA75}"/>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81A760E7-FAF0-6AEA-584E-2951423815A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439606327"/>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8BBB06D-4537-9077-FC64-31B182D1D6F2}"/>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2FD9E63C-2556-595F-62E4-10FF5188E35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000" dirty="0">
                    <a:latin typeface="Arial"/>
                    <a:ea typeface="Arial"/>
                    <a:cs typeface="Arial"/>
                    <a:sym typeface="Arial"/>
                  </a:rPr>
                  <a:t>The SPI module supports 125 different baud rates using the SPIBRR register:</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3 to 127:</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14:m>
                  <m:oMathPara xmlns:m="http://schemas.openxmlformats.org/officeDocument/2006/math">
                    <m:oMathParaPr>
                      <m:jc m:val="centerGroup"/>
                    </m:oMathParaPr>
                    <m:oMath xmlns:m="http://schemas.openxmlformats.org/officeDocument/2006/math">
                      <m:r>
                        <m:rPr>
                          <m:sty m:val="p"/>
                        </m:rPr>
                        <a:rPr lang="en-US" sz="2000" b="0" i="1" smtClean="0">
                          <a:latin typeface="Cambria Math" panose="02040503050406030204" pitchFamily="18" charset="0"/>
                          <a:ea typeface="Arial"/>
                          <a:cs typeface="Arial"/>
                          <a:sym typeface="Arial"/>
                        </a:rPr>
                        <m:t>SPI</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Baud</m:t>
                      </m:r>
                      <m:r>
                        <a:rPr lang="en-US" sz="2000" b="0" i="1" smtClean="0">
                          <a:latin typeface="Cambria Math" panose="02040503050406030204" pitchFamily="18" charset="0"/>
                          <a:ea typeface="Arial"/>
                          <a:cs typeface="Arial"/>
                          <a:sym typeface="Arial"/>
                        </a:rPr>
                        <m:t> </m:t>
                      </m:r>
                      <m:r>
                        <m:rPr>
                          <m:sty m:val="p"/>
                        </m:rPr>
                        <a:rPr lang="en-US" sz="2000" b="0" i="1" smtClean="0">
                          <a:latin typeface="Cambria Math" panose="02040503050406030204" pitchFamily="18" charset="0"/>
                          <a:ea typeface="Arial"/>
                          <a:cs typeface="Arial"/>
                          <a:sym typeface="Arial"/>
                        </a:rPr>
                        <m:t>Rate</m:t>
                      </m:r>
                      <m:r>
                        <a:rPr lang="en-US" sz="2000" b="0" i="1" smtClean="0">
                          <a:latin typeface="Cambria Math" panose="02040503050406030204" pitchFamily="18" charset="0"/>
                          <a:ea typeface="Arial"/>
                          <a:cs typeface="Arial"/>
                          <a:sym typeface="Arial"/>
                        </a:rPr>
                        <m:t> = </m:t>
                      </m:r>
                      <m:f>
                        <m:fPr>
                          <m:ctrlPr>
                            <a:rPr lang="en-US" sz="2000" b="0" i="1" smtClean="0">
                              <a:latin typeface="Cambria Math" panose="02040503050406030204" pitchFamily="18" charset="0"/>
                              <a:cs typeface="Arial"/>
                              <a:sym typeface="Arial"/>
                            </a:rPr>
                          </m:ctrlPr>
                        </m:fPr>
                        <m:num>
                          <m:r>
                            <m:rPr>
                              <m:sty m:val="p"/>
                            </m:rPr>
                            <a:rPr lang="en-US" sz="2000" b="0" i="1" smtClean="0">
                              <a:latin typeface="Cambria Math" panose="02040503050406030204" pitchFamily="18" charset="0"/>
                              <a:cs typeface="Arial"/>
                              <a:sym typeface="Arial"/>
                            </a:rPr>
                            <m:t>LSPCLK</m:t>
                          </m:r>
                        </m:num>
                        <m:den>
                          <m:r>
                            <m:rPr>
                              <m:sty m:val="p"/>
                            </m:rPr>
                            <a:rPr lang="en-US" sz="2000" b="0" i="1" smtClean="0">
                              <a:latin typeface="Cambria Math" panose="02040503050406030204" pitchFamily="18" charset="0"/>
                              <a:cs typeface="Arial"/>
                              <a:sym typeface="Arial"/>
                            </a:rPr>
                            <m:t>SPIBRR</m:t>
                          </m:r>
                          <m:r>
                            <a:rPr lang="en-US" sz="2000" b="0" i="1" smtClean="0">
                              <a:latin typeface="Cambria Math" panose="02040503050406030204" pitchFamily="18" charset="0"/>
                              <a:cs typeface="Arial"/>
                              <a:sym typeface="Arial"/>
                            </a:rPr>
                            <m:t> + 1</m:t>
                          </m:r>
                        </m:den>
                      </m:f>
                    </m:oMath>
                  </m:oMathPara>
                </a14:m>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gn="l" rtl="0">
                  <a:lnSpc>
                    <a:spcPct val="100000"/>
                  </a:lnSpc>
                  <a:spcBef>
                    <a:spcPts val="0"/>
                  </a:spcBef>
                  <a:spcAft>
                    <a:spcPts val="0"/>
                  </a:spcAft>
                  <a:buSzPts val="3000"/>
                  <a:buNone/>
                </a:pPr>
                <a:r>
                  <a:rPr lang="en-US" sz="2000" dirty="0">
                    <a:latin typeface="Arial"/>
                    <a:ea typeface="Arial"/>
                    <a:cs typeface="Arial"/>
                    <a:sym typeface="Arial"/>
                  </a:rPr>
                  <a:t>For SPIBRR = 0, 1, or 2:</a:t>
                </a:r>
              </a:p>
              <a:p>
                <a:pPr marL="0" lvl="0" indent="0" algn="l" rtl="0">
                  <a:lnSpc>
                    <a:spcPct val="100000"/>
                  </a:lnSpc>
                  <a:spcBef>
                    <a:spcPts val="0"/>
                  </a:spcBef>
                  <a:spcAft>
                    <a:spcPts val="0"/>
                  </a:spcAft>
                  <a:buSzPts val="3000"/>
                  <a:buNone/>
                </a:pPr>
                <a:endParaRPr lang="en-US" sz="2000" dirty="0">
                  <a:latin typeface="Arial"/>
                  <a:ea typeface="Arial"/>
                  <a:cs typeface="Arial"/>
                  <a:sym typeface="Arial"/>
                </a:endParaRPr>
              </a:p>
              <a:p>
                <a:pPr marL="0" lvl="0" indent="0">
                  <a:lnSpc>
                    <a:spcPct val="100000"/>
                  </a:lnSpc>
                  <a:spcBef>
                    <a:spcPts val="0"/>
                  </a:spcBef>
                  <a:buSzPts val="3000"/>
                  <a:buNone/>
                </a:pPr>
                <a14:m>
                  <m:oMathPara xmlns:m="http://schemas.openxmlformats.org/officeDocument/2006/math">
                    <m:oMathParaPr>
                      <m:jc m:val="centerGroup"/>
                    </m:oMathParaPr>
                    <m:oMath xmlns:m="http://schemas.openxmlformats.org/officeDocument/2006/math">
                      <m:r>
                        <m:rPr>
                          <m:sty m:val="p"/>
                        </m:rPr>
                        <a:rPr lang="en-US" sz="2000" i="1">
                          <a:latin typeface="Cambria Math" panose="02040503050406030204" pitchFamily="18" charset="0"/>
                          <a:ea typeface="Arial"/>
                          <a:cs typeface="Arial"/>
                          <a:sym typeface="Arial"/>
                        </a:rPr>
                        <m:t>SPI</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Baud</m:t>
                      </m:r>
                      <m:r>
                        <a:rPr lang="en-US" sz="2000" i="1">
                          <a:latin typeface="Cambria Math" panose="02040503050406030204" pitchFamily="18" charset="0"/>
                          <a:ea typeface="Arial"/>
                          <a:cs typeface="Arial"/>
                          <a:sym typeface="Arial"/>
                        </a:rPr>
                        <m:t> </m:t>
                      </m:r>
                      <m:r>
                        <m:rPr>
                          <m:sty m:val="p"/>
                        </m:rPr>
                        <a:rPr lang="en-US" sz="2000" i="1">
                          <a:latin typeface="Cambria Math" panose="02040503050406030204" pitchFamily="18" charset="0"/>
                          <a:ea typeface="Arial"/>
                          <a:cs typeface="Arial"/>
                          <a:sym typeface="Arial"/>
                        </a:rPr>
                        <m:t>Rate</m:t>
                      </m:r>
                      <m:r>
                        <a:rPr lang="en-US" sz="2000" i="1">
                          <a:latin typeface="Cambria Math" panose="02040503050406030204" pitchFamily="18" charset="0"/>
                          <a:ea typeface="Arial"/>
                          <a:cs typeface="Arial"/>
                          <a:sym typeface="Arial"/>
                        </a:rPr>
                        <m:t> = </m:t>
                      </m:r>
                      <m:f>
                        <m:fPr>
                          <m:ctrlPr>
                            <a:rPr lang="en-US" sz="2000" i="1">
                              <a:latin typeface="Cambria Math" panose="02040503050406030204" pitchFamily="18" charset="0"/>
                              <a:cs typeface="Arial"/>
                              <a:sym typeface="Arial"/>
                            </a:rPr>
                          </m:ctrlPr>
                        </m:fPr>
                        <m:num>
                          <m:r>
                            <m:rPr>
                              <m:sty m:val="p"/>
                            </m:rPr>
                            <a:rPr lang="en-US" sz="2000" i="1">
                              <a:latin typeface="Cambria Math" panose="02040503050406030204" pitchFamily="18" charset="0"/>
                              <a:cs typeface="Arial"/>
                              <a:sym typeface="Arial"/>
                            </a:rPr>
                            <m:t>LSPCLK</m:t>
                          </m:r>
                        </m:num>
                        <m:den>
                          <m:r>
                            <a:rPr lang="en-US" sz="2000" b="0" i="1" smtClean="0">
                              <a:latin typeface="Cambria Math" panose="02040503050406030204" pitchFamily="18" charset="0"/>
                              <a:cs typeface="Arial"/>
                              <a:sym typeface="Arial"/>
                            </a:rPr>
                            <m:t>4</m:t>
                          </m:r>
                        </m:den>
                      </m:f>
                    </m:oMath>
                  </m:oMathPara>
                </a14:m>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LSPCLK = Low-speed peripheral clock frequency of the device. Like the </a:t>
                </a:r>
                <a:r>
                  <a:rPr lang="en-US" sz="2000" dirty="0" err="1">
                    <a:latin typeface="Arial"/>
                    <a:ea typeface="Arial"/>
                    <a:cs typeface="Arial"/>
                    <a:sym typeface="Arial"/>
                  </a:rPr>
                  <a:t>ePWM</a:t>
                </a:r>
                <a:r>
                  <a:rPr lang="en-US" sz="2000" dirty="0">
                    <a:latin typeface="Arial"/>
                    <a:ea typeface="Arial"/>
                    <a:cs typeface="Arial"/>
                    <a:sym typeface="Arial"/>
                  </a:rPr>
                  <a:t> it is 50 </a:t>
                </a:r>
                <a:r>
                  <a:rPr lang="en-US" sz="2000" dirty="0" err="1">
                    <a:latin typeface="Arial"/>
                    <a:ea typeface="Arial"/>
                    <a:cs typeface="Arial"/>
                    <a:sym typeface="Arial"/>
                  </a:rPr>
                  <a:t>MHz.</a:t>
                </a:r>
                <a:endParaRPr lang="en-US" sz="2000" dirty="0">
                  <a:latin typeface="Arial"/>
                  <a:ea typeface="Arial"/>
                  <a:cs typeface="Arial"/>
                  <a:sym typeface="Arial"/>
                </a:endParaRPr>
              </a:p>
              <a:p>
                <a:pPr marL="0" lvl="0" indent="0">
                  <a:lnSpc>
                    <a:spcPct val="100000"/>
                  </a:lnSpc>
                  <a:spcBef>
                    <a:spcPts val="0"/>
                  </a:spcBef>
                  <a:buSzPts val="3000"/>
                  <a:buNone/>
                </a:pPr>
                <a:endParaRPr lang="en-US" sz="2000" dirty="0">
                  <a:latin typeface="Arial"/>
                  <a:ea typeface="Arial"/>
                  <a:cs typeface="Arial"/>
                  <a:sym typeface="Arial"/>
                </a:endParaRPr>
              </a:p>
              <a:p>
                <a:pPr marL="0" lvl="0" indent="0">
                  <a:lnSpc>
                    <a:spcPct val="100000"/>
                  </a:lnSpc>
                  <a:spcBef>
                    <a:spcPts val="0"/>
                  </a:spcBef>
                  <a:buSzPts val="3000"/>
                  <a:buNone/>
                </a:pPr>
                <a:r>
                  <a:rPr lang="en-US" sz="2000" dirty="0">
                    <a:latin typeface="Arial"/>
                    <a:ea typeface="Arial"/>
                    <a:cs typeface="Arial"/>
                    <a:sym typeface="Arial"/>
                  </a:rPr>
                  <a:t>In </a:t>
                </a:r>
                <a:r>
                  <a:rPr lang="en-US" sz="2000" b="1" dirty="0">
                    <a:latin typeface="Arial"/>
                    <a:ea typeface="Arial"/>
                    <a:cs typeface="Arial"/>
                    <a:sym typeface="Arial"/>
                  </a:rPr>
                  <a:t>master </a:t>
                </a:r>
                <a:r>
                  <a:rPr lang="en-US" sz="2000" dirty="0">
                    <a:latin typeface="Arial"/>
                    <a:ea typeface="Arial"/>
                    <a:cs typeface="Arial"/>
                    <a:sym typeface="Arial"/>
                  </a:rPr>
                  <a:t>mode, the SPI clock is generated by the SPI and is output on the SPICLK pin.</a:t>
                </a:r>
              </a:p>
            </p:txBody>
          </p:sp>
        </mc:Choice>
        <mc:Fallback>
          <p:sp>
            <p:nvSpPr>
              <p:cNvPr id="118" name="Google Shape;118;p29">
                <a:extLst>
                  <a:ext uri="{FF2B5EF4-FFF2-40B4-BE49-F238E27FC236}">
                    <a16:creationId xmlns:a16="http://schemas.microsoft.com/office/drawing/2014/main" id="{2FD9E63C-2556-595F-62E4-10FF5188E35C}"/>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600" t="-632"/>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5EDFF50B-E9FC-B3C7-9FEC-89DC88149F9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8D47E0A6-DA2E-EB86-1691-22841E29B9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SPICLK</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24CB510-5B58-9C10-A961-11D38573C5EE}"/>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82486C-02ED-7A58-8752-75F8FECB23A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DD08FC4-2814-698D-A874-E0FF2070ADB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3A21B5E-16C6-9F79-EE93-07B9D8409E4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FDC23B9-423F-47D4-4FC9-6DE9A444CE1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E060AC62-4B23-EC82-D9B3-AB4FD309BC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30230283"/>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CC5B38E-850E-8E68-CBEB-7F0526A07FCC}"/>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662C33B7-B0F4-FE47-9A49-2B15E3D7144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SPISIMO</a:t>
            </a:r>
            <a:r>
              <a:rPr lang="en-US" sz="3200" dirty="0">
                <a:latin typeface="Arial"/>
                <a:ea typeface="Arial"/>
                <a:cs typeface="Arial"/>
                <a:sym typeface="Arial"/>
              </a:rPr>
              <a:t> pin acts as the primary transmission pin </a:t>
            </a:r>
            <a:r>
              <a:rPr lang="en-US" sz="3200" b="1" dirty="0">
                <a:latin typeface="Arial"/>
                <a:ea typeface="Arial"/>
                <a:cs typeface="Arial"/>
                <a:sym typeface="Arial"/>
              </a:rPr>
              <a:t>from </a:t>
            </a:r>
            <a:r>
              <a:rPr lang="en-US" sz="3200" dirty="0">
                <a:latin typeface="Arial"/>
                <a:ea typeface="Arial"/>
                <a:cs typeface="Arial"/>
                <a:sym typeface="Arial"/>
              </a:rPr>
              <a:t>the controller </a:t>
            </a:r>
            <a:r>
              <a:rPr lang="en-US" sz="3200" b="1" dirty="0">
                <a:latin typeface="Arial"/>
                <a:ea typeface="Arial"/>
                <a:cs typeface="Arial"/>
                <a:sym typeface="Arial"/>
              </a:rPr>
              <a:t>to </a:t>
            </a:r>
            <a:r>
              <a:rPr lang="en-US" sz="3200" dirty="0">
                <a:latin typeface="Arial"/>
                <a:ea typeface="Arial"/>
                <a:cs typeface="Arial"/>
                <a:sym typeface="Arial"/>
              </a:rPr>
              <a:t>the peripheral</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(Microcontroller Unit), is configured as the master, data is shifted out of it’s transmit buffer and onto this line!</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If the MCU is configured as a slave, this pin receives the incoming data from the network’s master.</a:t>
            </a:r>
          </a:p>
        </p:txBody>
      </p:sp>
      <p:sp>
        <p:nvSpPr>
          <p:cNvPr id="119" name="Google Shape;119;p29">
            <a:extLst>
              <a:ext uri="{FF2B5EF4-FFF2-40B4-BE49-F238E27FC236}">
                <a16:creationId xmlns:a16="http://schemas.microsoft.com/office/drawing/2014/main" id="{42839ED7-1F4C-B900-2BA6-2BD518035C71}"/>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904E9EFC-94D6-A915-80E2-1DB358318E3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SPISIMO (Master Output)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7942637-A915-F581-B4EB-A1FCCE7FDAD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CEE6E5A-EC5C-B965-A447-E27A9376D904}"/>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B648222-98A7-F398-4BE0-DB33A043399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3655D45-B8D6-615E-1AAB-64475BE95900}"/>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CF649C2-3366-A59C-4C99-31F2856435F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38FF2F-DC22-3CBC-2481-AEB89D5C9FC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955602761"/>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C98ECC21-0235-5246-DCAA-F11DDAB11EC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8F0297A-E039-3270-D99A-F06B0FE740E1}"/>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3200" dirty="0">
                <a:latin typeface="Arial"/>
                <a:ea typeface="Arial"/>
                <a:cs typeface="Arial"/>
                <a:sym typeface="Arial"/>
              </a:rPr>
              <a:t>The </a:t>
            </a:r>
            <a:r>
              <a:rPr lang="en-US" sz="3200" b="1" dirty="0">
                <a:latin typeface="Arial"/>
                <a:ea typeface="Arial"/>
                <a:cs typeface="Arial"/>
                <a:sym typeface="Arial"/>
              </a:rPr>
              <a:t>SPISOMI</a:t>
            </a:r>
            <a:r>
              <a:rPr lang="en-US" sz="3200" dirty="0">
                <a:latin typeface="Arial"/>
                <a:ea typeface="Arial"/>
                <a:cs typeface="Arial"/>
                <a:sym typeface="Arial"/>
              </a:rPr>
              <a:t> pin acts as the primary receiver pin </a:t>
            </a:r>
            <a:r>
              <a:rPr lang="en-US" sz="3200" b="1" dirty="0">
                <a:latin typeface="Arial"/>
                <a:ea typeface="Arial"/>
                <a:cs typeface="Arial"/>
                <a:sym typeface="Arial"/>
              </a:rPr>
              <a:t>from </a:t>
            </a:r>
            <a:r>
              <a:rPr lang="en-US" sz="3200" dirty="0">
                <a:latin typeface="Arial"/>
                <a:ea typeface="Arial"/>
                <a:cs typeface="Arial"/>
                <a:sym typeface="Arial"/>
              </a:rPr>
              <a:t>the peripheral back </a:t>
            </a:r>
            <a:r>
              <a:rPr lang="en-US" sz="3200" b="1" dirty="0">
                <a:latin typeface="Arial"/>
                <a:ea typeface="Arial"/>
                <a:cs typeface="Arial"/>
                <a:sym typeface="Arial"/>
              </a:rPr>
              <a:t>to </a:t>
            </a:r>
            <a:r>
              <a:rPr lang="en-US" sz="3200" dirty="0">
                <a:latin typeface="Arial"/>
                <a:ea typeface="Arial"/>
                <a:cs typeface="Arial"/>
                <a:sym typeface="Arial"/>
              </a:rPr>
              <a:t>the MCU.</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When the SPI transmits data, it can receive characters simultaneously, placing them in the receiver buffer </a:t>
            </a:r>
            <a:r>
              <a:rPr lang="en-US" sz="3200" b="1" dirty="0">
                <a:latin typeface="Arial"/>
                <a:ea typeface="Arial"/>
                <a:cs typeface="Arial"/>
                <a:sym typeface="Arial"/>
              </a:rPr>
              <a:t>SPIRXBUF</a:t>
            </a:r>
            <a:r>
              <a:rPr lang="en-US" sz="3200" dirty="0">
                <a:latin typeface="Arial"/>
                <a:ea typeface="Arial"/>
                <a:cs typeface="Arial"/>
                <a:sym typeface="Arial"/>
              </a:rPr>
              <a:t>.</a:t>
            </a:r>
          </a:p>
          <a:p>
            <a:pPr marL="0" lvl="0" indent="0" algn="l" rtl="0">
              <a:lnSpc>
                <a:spcPct val="100000"/>
              </a:lnSpc>
              <a:spcBef>
                <a:spcPts val="0"/>
              </a:spcBef>
              <a:spcAft>
                <a:spcPts val="0"/>
              </a:spcAft>
              <a:buSzPts val="3000"/>
              <a:buNone/>
            </a:pPr>
            <a:endParaRPr lang="en-US" sz="3200" dirty="0">
              <a:latin typeface="Arial"/>
              <a:ea typeface="Arial"/>
              <a:cs typeface="Arial"/>
              <a:sym typeface="Arial"/>
            </a:endParaRPr>
          </a:p>
          <a:p>
            <a:pPr marL="0" lvl="0" indent="0" algn="l" rtl="0">
              <a:lnSpc>
                <a:spcPct val="100000"/>
              </a:lnSpc>
              <a:spcBef>
                <a:spcPts val="0"/>
              </a:spcBef>
              <a:spcAft>
                <a:spcPts val="0"/>
              </a:spcAft>
              <a:buSzPts val="3000"/>
              <a:buNone/>
            </a:pPr>
            <a:r>
              <a:rPr lang="en-US" sz="3200" dirty="0">
                <a:latin typeface="Arial"/>
                <a:ea typeface="Arial"/>
                <a:cs typeface="Arial"/>
                <a:sym typeface="Arial"/>
              </a:rPr>
              <a:t>The incoming data is stored right-justified within this register</a:t>
            </a:r>
          </a:p>
        </p:txBody>
      </p:sp>
      <p:sp>
        <p:nvSpPr>
          <p:cNvPr id="119" name="Google Shape;119;p29">
            <a:extLst>
              <a:ext uri="{FF2B5EF4-FFF2-40B4-BE49-F238E27FC236}">
                <a16:creationId xmlns:a16="http://schemas.microsoft.com/office/drawing/2014/main" id="{F046BF22-42D0-A0CC-F8E7-6E900454225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B5151CF3-9331-0DAB-95B4-B76A38AB66E4}"/>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SPISOMI (Master Input)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7733BA-51E0-691E-A2A6-8C075604001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661B270-91AC-FC21-1684-D5BF10BFD4B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4F023484-694F-ED8F-79BE-621AB614865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48FD1BB7-C1BB-C9C4-9EE9-E6B3B1CE5AC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E98B622-6311-731D-316D-79DD110EB47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5354B45-ACCB-D00A-53C6-198FAA02C81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78602409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B5CDD15-AFE6-7605-AF0A-5D10FB2F48A7}"/>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4BCF4FB4-1BEA-AC6A-3F06-DD74FDFE7ABA}"/>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dirty="0">
                <a:latin typeface="Arial"/>
                <a:ea typeface="Arial"/>
                <a:cs typeface="Arial"/>
                <a:sym typeface="Arial"/>
              </a:rPr>
              <a:t>The </a:t>
            </a:r>
            <a:r>
              <a:rPr lang="en-US" b="1" dirty="0">
                <a:latin typeface="Arial"/>
                <a:ea typeface="Arial"/>
                <a:cs typeface="Arial"/>
                <a:sym typeface="Arial"/>
              </a:rPr>
              <a:t>SPISTE</a:t>
            </a:r>
            <a:r>
              <a:rPr lang="en-US" dirty="0">
                <a:latin typeface="Arial"/>
                <a:ea typeface="Arial"/>
                <a:cs typeface="Arial"/>
                <a:sym typeface="Arial"/>
              </a:rPr>
              <a:t> provides the ability to gate any clock and data pulses when SPI is in slave mode.</a:t>
            </a:r>
          </a:p>
          <a:p>
            <a:pPr marL="0" lvl="0" indent="0" algn="l" rtl="0">
              <a:lnSpc>
                <a:spcPct val="100000"/>
              </a:lnSpc>
              <a:spcBef>
                <a:spcPts val="0"/>
              </a:spcBef>
              <a:spcAft>
                <a:spcPts val="0"/>
              </a:spcAft>
              <a:buSzPts val="3000"/>
              <a:buNone/>
            </a:pPr>
            <a:endParaRPr lang="en-US" b="1"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An active </a:t>
            </a:r>
            <a:r>
              <a:rPr lang="en-US" b="1" dirty="0">
                <a:latin typeface="Arial"/>
                <a:ea typeface="Arial"/>
                <a:cs typeface="Arial"/>
                <a:sym typeface="Arial"/>
              </a:rPr>
              <a:t>SPISTE</a:t>
            </a:r>
            <a:r>
              <a:rPr lang="en-US" dirty="0">
                <a:latin typeface="Arial"/>
                <a:ea typeface="Arial"/>
                <a:cs typeface="Arial"/>
                <a:sym typeface="Arial"/>
              </a:rPr>
              <a:t> will not allow the slave to receive data, preventing the SPI slave from losing synchronization with the master.</a:t>
            </a:r>
          </a:p>
          <a:p>
            <a:pPr marL="0" lvl="0" indent="0" algn="l" rtl="0">
              <a:lnSpc>
                <a:spcPct val="100000"/>
              </a:lnSpc>
              <a:spcBef>
                <a:spcPts val="0"/>
              </a:spcBef>
              <a:spcAft>
                <a:spcPts val="0"/>
              </a:spcAft>
              <a:buSzPts val="3000"/>
              <a:buNone/>
            </a:pPr>
            <a:endParaRPr lang="en-US" dirty="0">
              <a:latin typeface="Arial"/>
              <a:ea typeface="Arial"/>
              <a:cs typeface="Arial"/>
              <a:sym typeface="Arial"/>
            </a:endParaRPr>
          </a:p>
          <a:p>
            <a:pPr marL="0" lvl="0" indent="0" algn="l" rtl="0">
              <a:lnSpc>
                <a:spcPct val="100000"/>
              </a:lnSpc>
              <a:spcBef>
                <a:spcPts val="0"/>
              </a:spcBef>
              <a:spcAft>
                <a:spcPts val="0"/>
              </a:spcAft>
              <a:buSzPts val="3000"/>
              <a:buNone/>
            </a:pPr>
            <a:r>
              <a:rPr lang="en-US" dirty="0">
                <a:latin typeface="Arial"/>
                <a:ea typeface="Arial"/>
                <a:cs typeface="Arial"/>
                <a:sym typeface="Arial"/>
              </a:rPr>
              <a:t>Toggling the </a:t>
            </a:r>
            <a:r>
              <a:rPr lang="en-US" b="1" dirty="0">
                <a:latin typeface="Arial"/>
                <a:ea typeface="Arial"/>
                <a:cs typeface="Arial"/>
                <a:sym typeface="Arial"/>
              </a:rPr>
              <a:t>SPISWRESET</a:t>
            </a:r>
            <a:r>
              <a:rPr lang="en-US" dirty="0">
                <a:latin typeface="Arial"/>
                <a:ea typeface="Arial"/>
                <a:cs typeface="Arial"/>
                <a:sym typeface="Arial"/>
              </a:rPr>
              <a:t> bit will reset the internal bit counter and allow a desynchronized slave to recover.</a:t>
            </a:r>
          </a:p>
        </p:txBody>
      </p:sp>
      <p:sp>
        <p:nvSpPr>
          <p:cNvPr id="119" name="Google Shape;119;p29">
            <a:extLst>
              <a:ext uri="{FF2B5EF4-FFF2-40B4-BE49-F238E27FC236}">
                <a16:creationId xmlns:a16="http://schemas.microsoft.com/office/drawing/2014/main" id="{5A261050-3D7F-6018-7427-007591F52CCB}"/>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24DB46D-7DC0-1270-25F4-79CD5E23CB1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SPISTE (Slave Transmit Enable)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8DAF2B11-7E8E-42B6-5552-091393069622}"/>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60E403C6-A5BF-3150-F5E8-3769EB52BCD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2AEFCE6-D04D-2467-7F9B-4D9682032A6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38020E7-89E1-8AA3-4761-AEA9005F481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B5672D0-3BEB-B5C3-3FAA-184428A1CD4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A9B83F0-E7F8-E3E7-B860-5F7CA01C60F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46440253"/>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3484EB3-7ADF-0B3F-6113-7663E2C8DED9}"/>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C3303FD9-BEA6-DF6F-19C6-CD5B716D0E7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DB55C3-4C34-072B-DAEC-F7505A532E8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C1D719C-887E-69EF-24D6-1AE1DF131C5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C2B721C-3728-4781-3E59-328508D8BE4F}"/>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F8682E44-516C-34BD-9D39-6B6247AA592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A40C99F-96E8-B584-FFCB-39C3C5F41F6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EE1D6E-8EDE-8B12-8BF5-527E6108362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458611A-0B1D-B91D-EE2C-ADB66C17B40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
        <p:nvSpPr>
          <p:cNvPr id="5" name="TextBox 4">
            <a:extLst>
              <a:ext uri="{FF2B5EF4-FFF2-40B4-BE49-F238E27FC236}">
                <a16:creationId xmlns:a16="http://schemas.microsoft.com/office/drawing/2014/main" id="{F2EE5986-6E63-AB28-8A27-F0791EBCC56F}"/>
              </a:ext>
            </a:extLst>
          </p:cNvPr>
          <p:cNvSpPr txBox="1"/>
          <p:nvPr/>
        </p:nvSpPr>
        <p:spPr>
          <a:xfrm>
            <a:off x="4839249" y="6251431"/>
            <a:ext cx="3619500" cy="253916"/>
          </a:xfrm>
          <a:prstGeom prst="rect">
            <a:avLst/>
          </a:prstGeom>
          <a:noFill/>
        </p:spPr>
        <p:txBody>
          <a:bodyPr wrap="square">
            <a:spAutoFit/>
          </a:bodyPr>
          <a:lstStyle/>
          <a:p>
            <a:pPr algn="ctr"/>
            <a:r>
              <a:rPr lang="en-US" sz="1050" dirty="0">
                <a:hlinkClick r:id="rId4"/>
              </a:rPr>
              <a:t>https://en.wikipedia.org/wiki/Serial_Peripheral_Interface</a:t>
            </a:r>
            <a:r>
              <a:rPr lang="en-US" sz="1050" dirty="0"/>
              <a:t> </a:t>
            </a:r>
          </a:p>
        </p:txBody>
      </p:sp>
      <p:pic>
        <p:nvPicPr>
          <p:cNvPr id="7" name="Picture 6">
            <a:extLst>
              <a:ext uri="{FF2B5EF4-FFF2-40B4-BE49-F238E27FC236}">
                <a16:creationId xmlns:a16="http://schemas.microsoft.com/office/drawing/2014/main" id="{647DD6B5-C8C7-BE73-FB99-988487132B67}"/>
              </a:ext>
            </a:extLst>
          </p:cNvPr>
          <p:cNvPicPr>
            <a:picLocks noChangeAspect="1"/>
          </p:cNvPicPr>
          <p:nvPr/>
        </p:nvPicPr>
        <p:blipFill>
          <a:blip r:embed="rId5"/>
          <a:stretch>
            <a:fillRect/>
          </a:stretch>
        </p:blipFill>
        <p:spPr>
          <a:xfrm>
            <a:off x="423862" y="2081212"/>
            <a:ext cx="11344275" cy="2695575"/>
          </a:xfrm>
          <a:prstGeom prst="rect">
            <a:avLst/>
          </a:prstGeom>
        </p:spPr>
      </p:pic>
    </p:spTree>
    <p:extLst>
      <p:ext uri="{BB962C8B-B14F-4D97-AF65-F5344CB8AC3E}">
        <p14:creationId xmlns:p14="http://schemas.microsoft.com/office/powerpoint/2010/main" val="250957774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E7117FF3-D79A-4E6D-75C3-CE94ED729B6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EF2FD01B-408F-E151-CDE7-E4201C6F18F2}"/>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system can be compressed by setting the </a:t>
            </a:r>
            <a:r>
              <a:rPr lang="en-US" sz="1800" b="1" dirty="0">
                <a:latin typeface="Arial"/>
                <a:ea typeface="Arial"/>
                <a:cs typeface="Arial"/>
                <a:sym typeface="Arial"/>
              </a:rPr>
              <a:t>TRIWIRE</a:t>
            </a:r>
            <a:r>
              <a:rPr lang="en-US" sz="1800" dirty="0">
                <a:latin typeface="Arial"/>
                <a:ea typeface="Arial"/>
                <a:cs typeface="Arial"/>
                <a:sym typeface="Arial"/>
              </a:rPr>
              <a:t> bit to 1, enabling a 3-wire SPI mode.</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SPI 3-wire mode allows for SPI communication over three pins instead of the normal four pins.</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Because in 3-wire mode, the receive and transmit paths within the SPI are connected, any data transmitted by the SPI module is also received by itself. The application software must take care to perform a dummy read to clear the SPI data register of the additional received data.</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This helps reduce pin count on your microcontroller when interfacing with peripherals that do not require full-duplex communication.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If you only need to send/read commands and occasionally read/send data (not simultaneously), 3-wire saves wiring complexity without losing functionality.</a:t>
            </a:r>
          </a:p>
        </p:txBody>
      </p:sp>
      <p:sp>
        <p:nvSpPr>
          <p:cNvPr id="119" name="Google Shape;119;p29">
            <a:extLst>
              <a:ext uri="{FF2B5EF4-FFF2-40B4-BE49-F238E27FC236}">
                <a16:creationId xmlns:a16="http://schemas.microsoft.com/office/drawing/2014/main" id="{7BFEB8EA-0E4F-2EAC-C59E-34F83F5376C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E60C4D4-092F-24FC-70E2-4A6FDF1DC1D0}"/>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3-wire mode</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CEC345F1-C0B5-77BF-2EFC-16C759F24F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2C3A5B73-18EC-95BA-6963-29C225325AB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FB7D5C2-0E3C-4C21-2AA2-DF365254E17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4E95C-CB19-D7B8-C42C-39E4409048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B7DD552-0BF9-485D-B66F-19FCBB77910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B00B087-3BE3-41E6-55F8-128DC1FFB57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3738346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DF1D52B-88FB-4B21-6A7A-48542FFB1195}"/>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AAB5E393-A3EA-A3F7-16EC-C7934B6E0C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To successfully transmit data, the master and slave must share an identical clock wave mapping.</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 clock polarity select bit (</a:t>
            </a:r>
            <a:r>
              <a:rPr lang="en-US" sz="1800" b="1" dirty="0">
                <a:latin typeface="Arial"/>
                <a:ea typeface="Arial"/>
                <a:cs typeface="Arial"/>
                <a:sym typeface="Arial"/>
              </a:rPr>
              <a:t>CLKPOLARITY</a:t>
            </a:r>
            <a:r>
              <a:rPr lang="en-US" sz="1800" dirty="0">
                <a:latin typeface="Arial"/>
                <a:ea typeface="Arial"/>
                <a:cs typeface="Arial"/>
                <a:sym typeface="Arial"/>
              </a:rPr>
              <a:t>) and the clock phase select bit (CLK_</a:t>
            </a:r>
            <a:r>
              <a:rPr lang="en-US" sz="1800" b="1" dirty="0">
                <a:latin typeface="Arial"/>
                <a:ea typeface="Arial"/>
                <a:cs typeface="Arial"/>
                <a:sym typeface="Arial"/>
              </a:rPr>
              <a:t>PHASE</a:t>
            </a:r>
            <a:r>
              <a:rPr lang="en-US" sz="1800" dirty="0">
                <a:latin typeface="Arial"/>
                <a:ea typeface="Arial"/>
                <a:cs typeface="Arial"/>
                <a:sym typeface="Arial"/>
              </a:rPr>
              <a:t>) control four different clocking schemes on the </a:t>
            </a:r>
            <a:r>
              <a:rPr lang="en-US" sz="1800" b="1" dirty="0">
                <a:latin typeface="Arial"/>
                <a:ea typeface="Arial"/>
                <a:cs typeface="Arial"/>
                <a:sym typeface="Arial"/>
              </a:rPr>
              <a:t>SPICLK</a:t>
            </a:r>
            <a:r>
              <a:rPr lang="en-US" sz="1800" dirty="0">
                <a:latin typeface="Arial"/>
                <a:ea typeface="Arial"/>
                <a:cs typeface="Arial"/>
                <a:sym typeface="Arial"/>
              </a:rPr>
              <a:t> pin.</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CLKPOLARITY</a:t>
            </a:r>
            <a:r>
              <a:rPr lang="en-US" sz="1800" dirty="0">
                <a:latin typeface="Arial"/>
                <a:ea typeface="Arial"/>
                <a:cs typeface="Arial"/>
                <a:sym typeface="Arial"/>
              </a:rPr>
              <a:t> selects the active edge, either rising or falling,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b="1" dirty="0">
                <a:latin typeface="Arial"/>
                <a:ea typeface="Arial"/>
                <a:cs typeface="Arial"/>
                <a:sym typeface="Arial"/>
              </a:rPr>
              <a:t>CLK_PHASE </a:t>
            </a:r>
            <a:r>
              <a:rPr lang="en-US" sz="1800" dirty="0">
                <a:latin typeface="Arial"/>
                <a:ea typeface="Arial"/>
                <a:cs typeface="Arial"/>
                <a:sym typeface="Arial"/>
              </a:rPr>
              <a:t>selects a half-cycle delay of the clock.</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Very dependent on your sensor, look at and understand your dataset to know what is expected!</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There are 4 different modes.</a:t>
            </a:r>
          </a:p>
        </p:txBody>
      </p:sp>
      <p:sp>
        <p:nvSpPr>
          <p:cNvPr id="119" name="Google Shape;119;p29">
            <a:extLst>
              <a:ext uri="{FF2B5EF4-FFF2-40B4-BE49-F238E27FC236}">
                <a16:creationId xmlns:a16="http://schemas.microsoft.com/office/drawing/2014/main" id="{A1FC147D-272D-7DC0-8061-875C174157A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B98CECE-7032-DBE7-EA67-9F7E009C01C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33E0F5-E0C4-C971-0B0E-56D1C80A4AE3}"/>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DC46077-EA7A-7E22-65B9-D382F1C66D9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8E2001D-A723-FCCF-8558-F03BDF8E09B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10DD7F2-39FC-F4DF-DB77-DF919EB8A19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DE126E3-EED5-A37F-D56C-B51F7CA9AF9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D50334B-2460-FB7A-282A-1C50909667D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4131465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BD5EBC93-2C11-C4EE-C644-76FFD4B07443}"/>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799FA6D-EE91-A13E-C628-A9AFF64352A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000" dirty="0"/>
              <a:t>Rising Edge Without Delay: </a:t>
            </a:r>
            <a:r>
              <a:rPr lang="en-US" sz="2000" b="1" dirty="0"/>
              <a:t>CLKPOLARITY</a:t>
            </a:r>
            <a:r>
              <a:rPr lang="en-US" sz="2000" dirty="0"/>
              <a:t> = 0 and </a:t>
            </a:r>
            <a:r>
              <a:rPr lang="en-US" sz="2000" b="1" dirty="0"/>
              <a:t>CLK_PHASE </a:t>
            </a:r>
            <a:r>
              <a:rPr lang="en-US" sz="2000" dirty="0"/>
              <a:t>= 0</a:t>
            </a:r>
          </a:p>
          <a:p>
            <a:pPr marL="285750" indent="-285750">
              <a:lnSpc>
                <a:spcPct val="100000"/>
              </a:lnSpc>
              <a:spcBef>
                <a:spcPts val="0"/>
              </a:spcBef>
              <a:buSzPts val="3000"/>
            </a:pPr>
            <a:r>
              <a:rPr lang="en-US" sz="2000" dirty="0"/>
              <a:t>The SPI transmits data on the </a:t>
            </a:r>
            <a:r>
              <a:rPr lang="en-US" sz="2000" b="1" dirty="0"/>
              <a:t>rising edge </a:t>
            </a:r>
            <a:r>
              <a:rPr lang="en-US" sz="2000" dirty="0"/>
              <a:t>of the SPICLK signal.</a:t>
            </a:r>
          </a:p>
          <a:p>
            <a:pPr marL="285750" indent="-285750">
              <a:lnSpc>
                <a:spcPct val="100000"/>
              </a:lnSpc>
              <a:spcBef>
                <a:spcPts val="0"/>
              </a:spcBef>
              <a:buSzPts val="3000"/>
            </a:pPr>
            <a:r>
              <a:rPr lang="en-US" sz="2000" dirty="0"/>
              <a:t>The SPI receives data on the </a:t>
            </a:r>
            <a:r>
              <a:rPr lang="en-US" sz="2000" b="1" dirty="0"/>
              <a:t>falling edge </a:t>
            </a:r>
            <a:r>
              <a:rPr lang="en-US" sz="2000" dirty="0"/>
              <a:t>of the SPICLK signal.</a:t>
            </a:r>
          </a:p>
          <a:p>
            <a:pPr marL="0" indent="0">
              <a:lnSpc>
                <a:spcPct val="100000"/>
              </a:lnSpc>
              <a:spcBef>
                <a:spcPts val="0"/>
              </a:spcBef>
              <a:buSzPts val="3000"/>
              <a:buNone/>
            </a:pPr>
            <a:endParaRPr lang="en-US" sz="2000" dirty="0"/>
          </a:p>
          <a:p>
            <a:pPr marL="0" indent="0">
              <a:lnSpc>
                <a:spcPct val="100000"/>
              </a:lnSpc>
              <a:spcBef>
                <a:spcPts val="0"/>
              </a:spcBef>
              <a:buSzPts val="3000"/>
              <a:buNone/>
            </a:pPr>
            <a:r>
              <a:rPr lang="en-US" sz="2000" dirty="0"/>
              <a:t>Rising Edge With Delay: </a:t>
            </a:r>
            <a:r>
              <a:rPr lang="en-US" sz="2000" b="1" dirty="0"/>
              <a:t>CLKPOLARITY</a:t>
            </a:r>
            <a:r>
              <a:rPr lang="en-US" sz="2000" dirty="0"/>
              <a:t> = 0 and </a:t>
            </a:r>
            <a:r>
              <a:rPr lang="en-US" sz="2000" b="1" dirty="0"/>
              <a:t>CLK_PHASE </a:t>
            </a:r>
            <a:r>
              <a:rPr lang="en-US" sz="2000" dirty="0"/>
              <a:t>= 1</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rising edge</a:t>
            </a:r>
            <a:r>
              <a:rPr lang="en-US" sz="2000" dirty="0">
                <a:latin typeface="Arial"/>
                <a:ea typeface="Arial"/>
                <a:cs typeface="Arial"/>
                <a:sym typeface="Arial"/>
              </a:rPr>
              <a:t> 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Without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rising edge </a:t>
            </a:r>
            <a:r>
              <a:rPr lang="en-US" sz="2000" dirty="0">
                <a:latin typeface="Arial"/>
                <a:ea typeface="Arial"/>
                <a:cs typeface="Arial"/>
                <a:sym typeface="Arial"/>
              </a:rPr>
              <a:t>of the SPICLK signal.</a:t>
            </a:r>
          </a:p>
          <a:p>
            <a:pPr marL="285750" indent="-285750">
              <a:lnSpc>
                <a:spcPct val="100000"/>
              </a:lnSpc>
              <a:spcBef>
                <a:spcPts val="0"/>
              </a:spcBef>
              <a:buSzPts val="3000"/>
            </a:pPr>
            <a:endParaRPr lang="en-US" sz="2000" dirty="0">
              <a:latin typeface="Arial"/>
              <a:ea typeface="Arial"/>
              <a:cs typeface="Arial"/>
              <a:sym typeface="Arial"/>
            </a:endParaRPr>
          </a:p>
          <a:p>
            <a:pPr marL="0" indent="0">
              <a:lnSpc>
                <a:spcPct val="100000"/>
              </a:lnSpc>
              <a:spcBef>
                <a:spcPts val="0"/>
              </a:spcBef>
              <a:buSzPts val="3000"/>
              <a:buNone/>
            </a:pPr>
            <a:r>
              <a:rPr lang="en-US" sz="2000" dirty="0"/>
              <a:t>Falling Edge With Delay: </a:t>
            </a:r>
            <a:r>
              <a:rPr lang="en-US" sz="2000" b="1" dirty="0"/>
              <a:t>CLKPOLARITY</a:t>
            </a:r>
            <a:r>
              <a:rPr lang="en-US" sz="2000" dirty="0"/>
              <a:t> = 1 and </a:t>
            </a:r>
            <a:r>
              <a:rPr lang="en-US" sz="2000" b="1" dirty="0"/>
              <a:t>CLK_PHASE </a:t>
            </a:r>
            <a:r>
              <a:rPr lang="en-US" sz="2000" dirty="0"/>
              <a:t>= 0</a:t>
            </a:r>
          </a:p>
          <a:p>
            <a:pPr marL="285750" indent="-285750">
              <a:lnSpc>
                <a:spcPct val="100000"/>
              </a:lnSpc>
              <a:spcBef>
                <a:spcPts val="0"/>
              </a:spcBef>
              <a:buSzPts val="3000"/>
            </a:pPr>
            <a:r>
              <a:rPr lang="en-US" sz="2000" dirty="0">
                <a:latin typeface="Arial"/>
                <a:ea typeface="Arial"/>
                <a:cs typeface="Arial"/>
                <a:sym typeface="Arial"/>
              </a:rPr>
              <a:t>The SPI transmits data </a:t>
            </a:r>
            <a:r>
              <a:rPr lang="en-US" sz="2000" b="1" dirty="0">
                <a:latin typeface="Arial"/>
                <a:ea typeface="Arial"/>
                <a:cs typeface="Arial"/>
                <a:sym typeface="Arial"/>
              </a:rPr>
              <a:t>one half-cycle ahead of the falling edge </a:t>
            </a:r>
            <a:r>
              <a:rPr lang="en-US" sz="2000" dirty="0">
                <a:latin typeface="Arial"/>
                <a:ea typeface="Arial"/>
                <a:cs typeface="Arial"/>
                <a:sym typeface="Arial"/>
              </a:rPr>
              <a:t>of the SPICLK signal.</a:t>
            </a:r>
          </a:p>
          <a:p>
            <a:pPr marL="285750" indent="-285750">
              <a:lnSpc>
                <a:spcPct val="100000"/>
              </a:lnSpc>
              <a:spcBef>
                <a:spcPts val="0"/>
              </a:spcBef>
              <a:buSzPts val="3000"/>
            </a:pPr>
            <a:r>
              <a:rPr lang="en-US" sz="2000" dirty="0">
                <a:latin typeface="Arial"/>
                <a:ea typeface="Arial"/>
                <a:cs typeface="Arial"/>
                <a:sym typeface="Arial"/>
              </a:rPr>
              <a:t>The SPI receives data on the </a:t>
            </a:r>
            <a:r>
              <a:rPr lang="en-US" sz="2000" b="1" dirty="0">
                <a:latin typeface="Arial"/>
                <a:ea typeface="Arial"/>
                <a:cs typeface="Arial"/>
                <a:sym typeface="Arial"/>
              </a:rPr>
              <a:t>falling edge </a:t>
            </a:r>
            <a:r>
              <a:rPr lang="en-US" sz="2000" dirty="0">
                <a:latin typeface="Arial"/>
                <a:ea typeface="Arial"/>
                <a:cs typeface="Arial"/>
                <a:sym typeface="Arial"/>
              </a:rPr>
              <a:t>of the SPICLK signal.</a:t>
            </a:r>
          </a:p>
        </p:txBody>
      </p:sp>
      <p:sp>
        <p:nvSpPr>
          <p:cNvPr id="119" name="Google Shape;119;p29">
            <a:extLst>
              <a:ext uri="{FF2B5EF4-FFF2-40B4-BE49-F238E27FC236}">
                <a16:creationId xmlns:a16="http://schemas.microsoft.com/office/drawing/2014/main" id="{F86BCD1E-9445-A503-955D-FA134776F51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12CA28CE-660E-C139-1CA5-82DBADA3930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8D80FE-A2BA-623D-4126-354579FB24C0}"/>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FBE91B12-4D03-F3E8-68A6-FB617718F81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CBC6453-2DBD-E3CA-28FE-E3F0C4523905}"/>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A354189E-21FA-7149-818C-7C8F218BA2E4}"/>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8DD3FC35-F134-64FE-A734-A948D473C42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0453609-3613-5B02-DD12-7E0407A4284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21715443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18">
                                            <p:txEl>
                                              <p:pRg st="1" end="1"/>
                                            </p:txEl>
                                          </p:spTgt>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par>
                                <p:cTn id="15" presetID="1" presetClass="entr" presetSubtype="0" fill="hold" grpId="0" nodeType="withEffect">
                                  <p:stCondLst>
                                    <p:cond delay="0"/>
                                  </p:stCondLst>
                                  <p:childTnLst>
                                    <p:set>
                                      <p:cBhvr>
                                        <p:cTn id="16" dur="1" fill="hold">
                                          <p:stCondLst>
                                            <p:cond delay="0"/>
                                          </p:stCondLst>
                                        </p:cTn>
                                        <p:tgtEl>
                                          <p:spTgt spid="118">
                                            <p:txEl>
                                              <p:pRg st="5" end="5"/>
                                            </p:txEl>
                                          </p:spTgt>
                                        </p:tgtEl>
                                        <p:attrNameLst>
                                          <p:attrName>style.visibility</p:attrName>
                                        </p:attrNameLst>
                                      </p:cBhvr>
                                      <p:to>
                                        <p:strVal val="visible"/>
                                      </p:to>
                                    </p:set>
                                  </p:childTnLst>
                                </p:cTn>
                              </p:par>
                              <p:par>
                                <p:cTn id="17" presetID="1" presetClass="entr" presetSubtype="0" fill="hold" grpId="0" nodeType="with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par>
                                <p:cTn id="23" presetID="1" presetClass="entr" presetSubtype="0" fill="hold" grpId="0" nodeType="withEffect">
                                  <p:stCondLst>
                                    <p:cond delay="0"/>
                                  </p:stCondLst>
                                  <p:childTnLst>
                                    <p:set>
                                      <p:cBhvr>
                                        <p:cTn id="24" dur="1" fill="hold">
                                          <p:stCondLst>
                                            <p:cond delay="0"/>
                                          </p:stCondLst>
                                        </p:cTn>
                                        <p:tgtEl>
                                          <p:spTgt spid="118">
                                            <p:txEl>
                                              <p:pRg st="9" end="9"/>
                                            </p:txEl>
                                          </p:spTgt>
                                        </p:tgtEl>
                                        <p:attrNameLst>
                                          <p:attrName>style.visibility</p:attrName>
                                        </p:attrNameLst>
                                      </p:cBhvr>
                                      <p:to>
                                        <p:strVal val="visible"/>
                                      </p:to>
                                    </p:set>
                                  </p:childTnLst>
                                </p:cTn>
                              </p:par>
                              <p:par>
                                <p:cTn id="25" presetID="1" presetClass="entr" presetSubtype="0" fill="hold" grpId="0" nodeType="with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118">
                                            <p:txEl>
                                              <p:pRg st="12" end="12"/>
                                            </p:txEl>
                                          </p:spTgt>
                                        </p:tgtEl>
                                        <p:attrNameLst>
                                          <p:attrName>style.visibility</p:attrName>
                                        </p:attrNameLst>
                                      </p:cBhvr>
                                      <p:to>
                                        <p:strVal val="visible"/>
                                      </p:to>
                                    </p:set>
                                  </p:childTnLst>
                                </p:cTn>
                              </p:par>
                              <p:par>
                                <p:cTn id="31" presetID="1" presetClass="entr" presetSubtype="0" fill="hold" grpId="0" nodeType="withEffect">
                                  <p:stCondLst>
                                    <p:cond delay="0"/>
                                  </p:stCondLst>
                                  <p:childTnLst>
                                    <p:set>
                                      <p:cBhvr>
                                        <p:cTn id="32" dur="1" fill="hold">
                                          <p:stCondLst>
                                            <p:cond delay="0"/>
                                          </p:stCondLst>
                                        </p:cTn>
                                        <p:tgtEl>
                                          <p:spTgt spid="118">
                                            <p:txEl>
                                              <p:pRg st="13" end="13"/>
                                            </p:txEl>
                                          </p:spTgt>
                                        </p:tgtEl>
                                        <p:attrNameLst>
                                          <p:attrName>style.visibility</p:attrName>
                                        </p:attrNameLst>
                                      </p:cBhvr>
                                      <p:to>
                                        <p:strVal val="visible"/>
                                      </p:to>
                                    </p:set>
                                  </p:childTnLst>
                                </p:cTn>
                              </p:par>
                              <p:par>
                                <p:cTn id="33" presetID="1" presetClass="entr" presetSubtype="0" fill="hold" grpId="0" nodeType="withEffect">
                                  <p:stCondLst>
                                    <p:cond delay="0"/>
                                  </p:stCondLst>
                                  <p:childTnLst>
                                    <p:set>
                                      <p:cBhvr>
                                        <p:cTn id="34" dur="1" fill="hold">
                                          <p:stCondLst>
                                            <p:cond delay="0"/>
                                          </p:stCondLst>
                                        </p:cTn>
                                        <p:tgtEl>
                                          <p:spTgt spid="118">
                                            <p:txEl>
                                              <p:pRg st="14" end="1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6F4481CE-9E3D-FCD5-84B8-BF89B7AC129E}"/>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0821E877-0319-C596-2C2C-4303B31DC0B2}"/>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D74EE54B-1F1D-8250-4A09-B4AD0329075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9A91297-B33E-FFC9-DCC4-F620390A9774}"/>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A09F547-F404-6386-E268-500D5E1E35CA}"/>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FD2EE8-1927-47CB-767D-760CEB4EC359}"/>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7ACF77D-6109-E666-9335-B0C379FBF641}"/>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21831EC6-1511-0248-5425-B94CC2F3843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F65C4A2-4203-9BF1-6296-B83966E3DAE5}"/>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7" name="Graphic 6">
            <a:extLst>
              <a:ext uri="{FF2B5EF4-FFF2-40B4-BE49-F238E27FC236}">
                <a16:creationId xmlns:a16="http://schemas.microsoft.com/office/drawing/2014/main" id="{9260AE3A-C439-4AAE-1D54-D8DA2A1046CD}"/>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060714" y="935653"/>
            <a:ext cx="8070573" cy="5471885"/>
          </a:xfrm>
          <a:prstGeom prst="rect">
            <a:avLst/>
          </a:prstGeom>
        </p:spPr>
      </p:pic>
      <p:graphicFrame>
        <p:nvGraphicFramePr>
          <p:cNvPr id="8" name="Table 7">
            <a:extLst>
              <a:ext uri="{FF2B5EF4-FFF2-40B4-BE49-F238E27FC236}">
                <a16:creationId xmlns:a16="http://schemas.microsoft.com/office/drawing/2014/main" id="{6E144E7D-15DC-6E6F-5CFB-5C9F4BBC3A17}"/>
              </a:ext>
            </a:extLst>
          </p:cNvPr>
          <p:cNvGraphicFramePr>
            <a:graphicFrameLocks noGrp="1"/>
          </p:cNvGraphicFramePr>
          <p:nvPr/>
        </p:nvGraphicFramePr>
        <p:xfrm>
          <a:off x="117061" y="1139735"/>
          <a:ext cx="1943652" cy="3180475"/>
        </p:xfrm>
        <a:graphic>
          <a:graphicData uri="http://schemas.openxmlformats.org/drawingml/2006/table">
            <a:tbl>
              <a:tblPr firstRow="1" bandRow="1">
                <a:tableStyleId>{5C22544A-7EE6-4342-B048-85BDC9FD1C3A}</a:tableStyleId>
              </a:tblPr>
              <a:tblGrid>
                <a:gridCol w="971826">
                  <a:extLst>
                    <a:ext uri="{9D8B030D-6E8A-4147-A177-3AD203B41FA5}">
                      <a16:colId xmlns:a16="http://schemas.microsoft.com/office/drawing/2014/main" val="92026252"/>
                    </a:ext>
                  </a:extLst>
                </a:gridCol>
                <a:gridCol w="971826">
                  <a:extLst>
                    <a:ext uri="{9D8B030D-6E8A-4147-A177-3AD203B41FA5}">
                      <a16:colId xmlns:a16="http://schemas.microsoft.com/office/drawing/2014/main" val="3319111987"/>
                    </a:ext>
                  </a:extLst>
                </a:gridCol>
              </a:tblGrid>
              <a:tr h="636095">
                <a:tc>
                  <a:txBody>
                    <a:bodyPr/>
                    <a:lstStyle/>
                    <a:p>
                      <a:pPr algn="ctr"/>
                      <a:r>
                        <a:rPr lang="en-US" dirty="0"/>
                        <a:t>Polarity</a:t>
                      </a:r>
                    </a:p>
                  </a:txBody>
                  <a:tcPr anchor="ctr"/>
                </a:tc>
                <a:tc>
                  <a:txBody>
                    <a:bodyPr/>
                    <a:lstStyle/>
                    <a:p>
                      <a:pPr algn="ctr"/>
                      <a:r>
                        <a:rPr lang="en-US" dirty="0"/>
                        <a:t>Phase</a:t>
                      </a:r>
                    </a:p>
                  </a:txBody>
                  <a:tcPr anchor="ctr"/>
                </a:tc>
                <a:extLst>
                  <a:ext uri="{0D108BD9-81ED-4DB2-BD59-A6C34878D82A}">
                    <a16:rowId xmlns:a16="http://schemas.microsoft.com/office/drawing/2014/main" val="3745624164"/>
                  </a:ext>
                </a:extLst>
              </a:tr>
              <a:tr h="636095">
                <a:tc>
                  <a:txBody>
                    <a:bodyPr/>
                    <a:lstStyle/>
                    <a:p>
                      <a:pPr algn="ctr"/>
                      <a:r>
                        <a:rPr lang="en-US" dirty="0"/>
                        <a:t>0</a:t>
                      </a:r>
                    </a:p>
                  </a:txBody>
                  <a:tcPr anchor="ctr"/>
                </a:tc>
                <a:tc>
                  <a:txBody>
                    <a:bodyPr/>
                    <a:lstStyle/>
                    <a:p>
                      <a:pPr algn="ctr"/>
                      <a:r>
                        <a:rPr lang="en-US" dirty="0"/>
                        <a:t>0</a:t>
                      </a:r>
                    </a:p>
                  </a:txBody>
                  <a:tcPr anchor="ctr"/>
                </a:tc>
                <a:extLst>
                  <a:ext uri="{0D108BD9-81ED-4DB2-BD59-A6C34878D82A}">
                    <a16:rowId xmlns:a16="http://schemas.microsoft.com/office/drawing/2014/main" val="239835093"/>
                  </a:ext>
                </a:extLst>
              </a:tr>
              <a:tr h="636095">
                <a:tc>
                  <a:txBody>
                    <a:bodyPr/>
                    <a:lstStyle/>
                    <a:p>
                      <a:pPr algn="ctr"/>
                      <a:r>
                        <a:rPr lang="en-US" dirty="0"/>
                        <a:t>0</a:t>
                      </a:r>
                    </a:p>
                  </a:txBody>
                  <a:tcPr anchor="ctr"/>
                </a:tc>
                <a:tc>
                  <a:txBody>
                    <a:bodyPr/>
                    <a:lstStyle/>
                    <a:p>
                      <a:pPr algn="ctr"/>
                      <a:r>
                        <a:rPr lang="en-US" dirty="0"/>
                        <a:t>1</a:t>
                      </a:r>
                    </a:p>
                  </a:txBody>
                  <a:tcPr anchor="ctr"/>
                </a:tc>
                <a:extLst>
                  <a:ext uri="{0D108BD9-81ED-4DB2-BD59-A6C34878D82A}">
                    <a16:rowId xmlns:a16="http://schemas.microsoft.com/office/drawing/2014/main" val="4230236753"/>
                  </a:ext>
                </a:extLst>
              </a:tr>
              <a:tr h="636095">
                <a:tc>
                  <a:txBody>
                    <a:bodyPr/>
                    <a:lstStyle/>
                    <a:p>
                      <a:pPr algn="ctr"/>
                      <a:r>
                        <a:rPr lang="en-US" dirty="0"/>
                        <a:t>1</a:t>
                      </a:r>
                    </a:p>
                  </a:txBody>
                  <a:tcPr anchor="ctr"/>
                </a:tc>
                <a:tc>
                  <a:txBody>
                    <a:bodyPr/>
                    <a:lstStyle/>
                    <a:p>
                      <a:pPr algn="ctr"/>
                      <a:r>
                        <a:rPr lang="en-US" dirty="0"/>
                        <a:t>0</a:t>
                      </a:r>
                    </a:p>
                  </a:txBody>
                  <a:tcPr anchor="ctr"/>
                </a:tc>
                <a:extLst>
                  <a:ext uri="{0D108BD9-81ED-4DB2-BD59-A6C34878D82A}">
                    <a16:rowId xmlns:a16="http://schemas.microsoft.com/office/drawing/2014/main" val="477358395"/>
                  </a:ext>
                </a:extLst>
              </a:tr>
              <a:tr h="636095">
                <a:tc>
                  <a:txBody>
                    <a:bodyPr/>
                    <a:lstStyle/>
                    <a:p>
                      <a:pPr algn="ctr"/>
                      <a:r>
                        <a:rPr lang="en-US" dirty="0"/>
                        <a:t>1</a:t>
                      </a:r>
                    </a:p>
                  </a:txBody>
                  <a:tcPr anchor="ctr"/>
                </a:tc>
                <a:tc>
                  <a:txBody>
                    <a:bodyPr/>
                    <a:lstStyle/>
                    <a:p>
                      <a:pPr algn="ctr"/>
                      <a:r>
                        <a:rPr lang="en-US" dirty="0"/>
                        <a:t>1</a:t>
                      </a:r>
                    </a:p>
                  </a:txBody>
                  <a:tcPr anchor="ctr"/>
                </a:tc>
                <a:extLst>
                  <a:ext uri="{0D108BD9-81ED-4DB2-BD59-A6C34878D82A}">
                    <a16:rowId xmlns:a16="http://schemas.microsoft.com/office/drawing/2014/main" val="419066989"/>
                  </a:ext>
                </a:extLst>
              </a:tr>
            </a:tbl>
          </a:graphicData>
        </a:graphic>
      </p:graphicFrame>
    </p:spTree>
    <p:extLst>
      <p:ext uri="{BB962C8B-B14F-4D97-AF65-F5344CB8AC3E}">
        <p14:creationId xmlns:p14="http://schemas.microsoft.com/office/powerpoint/2010/main" val="2384578517"/>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D8AA2D9A-4F0D-5CFB-85DD-44B83CEDC44D}"/>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6037133-21E7-ABE4-E59E-4A9B8223B1CD}"/>
              </a:ext>
            </a:extLst>
          </p:cNvPr>
          <p:cNvSpPr txBox="1">
            <a:spLocks noGrp="1"/>
          </p:cNvSpPr>
          <p:nvPr>
            <p:ph type="body" idx="1"/>
          </p:nvPr>
        </p:nvSpPr>
        <p:spPr>
          <a:xfrm>
            <a:off x="214662" y="3613196"/>
            <a:ext cx="2456175" cy="567408"/>
          </a:xfrm>
          <a:prstGeom prst="rect">
            <a:avLst/>
          </a:prstGeom>
          <a:noFill/>
          <a:ln>
            <a:noFill/>
          </a:ln>
        </p:spPr>
        <p:txBody>
          <a:bodyPr spcFirstLastPara="1" wrap="square" lIns="91425" tIns="45700" rIns="91425" bIns="45700" anchor="t" anchorCtr="0">
            <a:noAutofit/>
          </a:bodyPr>
          <a:lstStyle/>
          <a:p>
            <a:pPr marL="114300" indent="0">
              <a:buNone/>
            </a:pPr>
            <a:r>
              <a:rPr lang="en-US" sz="1800" dirty="0">
                <a:solidFill>
                  <a:srgbClr val="FF0000"/>
                </a:solidFill>
                <a:latin typeface="+mj-lt"/>
              </a:rPr>
              <a:t>What is this registry?</a:t>
            </a:r>
          </a:p>
        </p:txBody>
      </p:sp>
      <p:sp>
        <p:nvSpPr>
          <p:cNvPr id="119" name="Google Shape;119;p29">
            <a:extLst>
              <a:ext uri="{FF2B5EF4-FFF2-40B4-BE49-F238E27FC236}">
                <a16:creationId xmlns:a16="http://schemas.microsoft.com/office/drawing/2014/main" id="{681A0D4A-2AF0-4D18-1D07-D3F7FD7467B7}"/>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755C4FC0-2EDE-4155-F99A-16CC3D82588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dirty="0">
                <a:solidFill>
                  <a:schemeClr val="lt1"/>
                </a:solidFill>
              </a:rPr>
              <a:t>SPI</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FAD2D90-87ED-5DBF-604A-DEB8B660583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FD47AF8-2E72-D5C8-70CD-DCBF1BDC313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934C81B-1250-64D2-7A40-713811B2862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9D18668-F942-CA06-845A-C4C419CE39E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D3C8662-4B20-4DF3-1908-8ED12F7FEA03}"/>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442E81C0-72AA-379C-EC70-A58A445FA19E}"/>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A2C751A5-B34B-D3F6-4EA0-0BA4554B90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159101" y="1015602"/>
            <a:ext cx="5752986" cy="5476401"/>
          </a:xfrm>
          <a:prstGeom prst="rect">
            <a:avLst/>
          </a:prstGeom>
        </p:spPr>
      </p:pic>
      <p:cxnSp>
        <p:nvCxnSpPr>
          <p:cNvPr id="6" name="Straight Arrow Connector 5">
            <a:extLst>
              <a:ext uri="{FF2B5EF4-FFF2-40B4-BE49-F238E27FC236}">
                <a16:creationId xmlns:a16="http://schemas.microsoft.com/office/drawing/2014/main" id="{BBDCD480-53B6-1B12-6CBE-D187B4F8A2CA}"/>
              </a:ext>
            </a:extLst>
          </p:cNvPr>
          <p:cNvCxnSpPr>
            <a:cxnSpLocks/>
            <a:stCxn id="118" idx="2"/>
          </p:cNvCxnSpPr>
          <p:nvPr/>
        </p:nvCxnSpPr>
        <p:spPr>
          <a:xfrm>
            <a:off x="1442750" y="4180604"/>
            <a:ext cx="1872772" cy="1661794"/>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7">
            <a:extLst>
              <a:ext uri="{FF2B5EF4-FFF2-40B4-BE49-F238E27FC236}">
                <a16:creationId xmlns:a16="http://schemas.microsoft.com/office/drawing/2014/main" id="{7D9949BA-79AB-ED08-D582-E57071277C76}"/>
              </a:ext>
            </a:extLst>
          </p:cNvPr>
          <p:cNvCxnSpPr>
            <a:cxnSpLocks/>
            <a:stCxn id="118" idx="2"/>
          </p:cNvCxnSpPr>
          <p:nvPr/>
        </p:nvCxnSpPr>
        <p:spPr>
          <a:xfrm>
            <a:off x="1442750" y="4180604"/>
            <a:ext cx="1872772" cy="1384737"/>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0">
            <a:extLst>
              <a:ext uri="{FF2B5EF4-FFF2-40B4-BE49-F238E27FC236}">
                <a16:creationId xmlns:a16="http://schemas.microsoft.com/office/drawing/2014/main" id="{3291793F-D77F-A632-4663-3AF450DD5C70}"/>
              </a:ext>
            </a:extLst>
          </p:cNvPr>
          <p:cNvCxnSpPr>
            <a:cxnSpLocks/>
            <a:stCxn id="118" idx="3"/>
          </p:cNvCxnSpPr>
          <p:nvPr/>
        </p:nvCxnSpPr>
        <p:spPr>
          <a:xfrm>
            <a:off x="2670837" y="3896900"/>
            <a:ext cx="644685"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4" name="Straight Arrow Connector 13">
            <a:extLst>
              <a:ext uri="{FF2B5EF4-FFF2-40B4-BE49-F238E27FC236}">
                <a16:creationId xmlns:a16="http://schemas.microsoft.com/office/drawing/2014/main" id="{E607E795-D483-C24E-D6A2-3DFA766E147C}"/>
              </a:ext>
            </a:extLst>
          </p:cNvPr>
          <p:cNvCxnSpPr>
            <a:cxnSpLocks/>
          </p:cNvCxnSpPr>
          <p:nvPr/>
        </p:nvCxnSpPr>
        <p:spPr>
          <a:xfrm flipV="1">
            <a:off x="2670836" y="3289209"/>
            <a:ext cx="598637" cy="598108"/>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a:extLst>
              <a:ext uri="{FF2B5EF4-FFF2-40B4-BE49-F238E27FC236}">
                <a16:creationId xmlns:a16="http://schemas.microsoft.com/office/drawing/2014/main" id="{236D5DB3-4160-CFBF-3A0C-0D3D386919D9}"/>
              </a:ext>
            </a:extLst>
          </p:cNvPr>
          <p:cNvCxnSpPr>
            <a:cxnSpLocks/>
            <a:stCxn id="118" idx="3"/>
          </p:cNvCxnSpPr>
          <p:nvPr/>
        </p:nvCxnSpPr>
        <p:spPr>
          <a:xfrm flipV="1">
            <a:off x="2670837" y="3336139"/>
            <a:ext cx="1585399" cy="560761"/>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17191256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nodeType="clickEffect">
                                  <p:stCondLst>
                                    <p:cond delay="0"/>
                                  </p:stCondLst>
                                  <p:childTnLst>
                                    <p:set>
                                      <p:cBhvr>
                                        <p:cTn id="10" dur="1" fill="hold">
                                          <p:stCondLst>
                                            <p:cond delay="0"/>
                                          </p:stCondLst>
                                        </p:cTn>
                                        <p:tgtEl>
                                          <p:spTgt spid="8"/>
                                        </p:tgtEl>
                                        <p:attrNameLst>
                                          <p:attrName>style.visibility</p:attrName>
                                        </p:attrNameLst>
                                      </p:cBhvr>
                                      <p:to>
                                        <p:strVal val="visible"/>
                                      </p:to>
                                    </p:set>
                                  </p:childTnLst>
                                </p:cTn>
                              </p:par>
                              <p:par>
                                <p:cTn id="11" presetID="1" presetClass="exit" presetSubtype="0" fill="hold" nodeType="withEffect">
                                  <p:stCondLst>
                                    <p:cond delay="0"/>
                                  </p:stCondLst>
                                  <p:childTnLst>
                                    <p:set>
                                      <p:cBhvr>
                                        <p:cTn id="12" dur="1" fill="hold">
                                          <p:stCondLst>
                                            <p:cond delay="0"/>
                                          </p:stCondLst>
                                        </p:cTn>
                                        <p:tgtEl>
                                          <p:spTgt spid="6"/>
                                        </p:tgtEl>
                                        <p:attrNameLst>
                                          <p:attrName>style.visibility</p:attrName>
                                        </p:attrNameLst>
                                      </p:cBhvr>
                                      <p:to>
                                        <p:strVal val="hidden"/>
                                      </p:to>
                                    </p:set>
                                  </p:childTnLst>
                                </p:cTn>
                              </p:par>
                            </p:childTnLst>
                          </p:cTn>
                        </p:par>
                      </p:childTnLst>
                    </p:cTn>
                  </p:par>
                  <p:par>
                    <p:cTn id="13" fill="hold">
                      <p:stCondLst>
                        <p:cond delay="indefinite"/>
                      </p:stCondLst>
                      <p:childTnLst>
                        <p:par>
                          <p:cTn id="14" fill="hold">
                            <p:stCondLst>
                              <p:cond delay="0"/>
                            </p:stCondLst>
                            <p:childTnLst>
                              <p:par>
                                <p:cTn id="15" presetID="1" presetClass="entr" presetSubtype="0" fill="hold" nodeType="clickEffect">
                                  <p:stCondLst>
                                    <p:cond delay="0"/>
                                  </p:stCondLst>
                                  <p:childTnLst>
                                    <p:set>
                                      <p:cBhvr>
                                        <p:cTn id="16" dur="1" fill="hold">
                                          <p:stCondLst>
                                            <p:cond delay="0"/>
                                          </p:stCondLst>
                                        </p:cTn>
                                        <p:tgtEl>
                                          <p:spTgt spid="11"/>
                                        </p:tgtEl>
                                        <p:attrNameLst>
                                          <p:attrName>style.visibility</p:attrName>
                                        </p:attrNameLst>
                                      </p:cBhvr>
                                      <p:to>
                                        <p:strVal val="visible"/>
                                      </p:to>
                                    </p:set>
                                  </p:childTnLst>
                                </p:cTn>
                              </p:par>
                              <p:par>
                                <p:cTn id="17" presetID="1" presetClass="exit" presetSubtype="0" fill="hold" nodeType="withEffect">
                                  <p:stCondLst>
                                    <p:cond delay="0"/>
                                  </p:stCondLst>
                                  <p:childTnLst>
                                    <p:set>
                                      <p:cBhvr>
                                        <p:cTn id="18" dur="1" fill="hold">
                                          <p:stCondLst>
                                            <p:cond delay="0"/>
                                          </p:stCondLst>
                                        </p:cTn>
                                        <p:tgtEl>
                                          <p:spTgt spid="8"/>
                                        </p:tgtEl>
                                        <p:attrNameLst>
                                          <p:attrName>style.visibility</p:attrName>
                                        </p:attrNameLst>
                                      </p:cBhvr>
                                      <p:to>
                                        <p:strVal val="hidden"/>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nodeType="clickEffect">
                                  <p:stCondLst>
                                    <p:cond delay="0"/>
                                  </p:stCondLst>
                                  <p:childTnLst>
                                    <p:set>
                                      <p:cBhvr>
                                        <p:cTn id="22" dur="1" fill="hold">
                                          <p:stCondLst>
                                            <p:cond delay="0"/>
                                          </p:stCondLst>
                                        </p:cTn>
                                        <p:tgtEl>
                                          <p:spTgt spid="16"/>
                                        </p:tgtEl>
                                        <p:attrNameLst>
                                          <p:attrName>style.visibility</p:attrName>
                                        </p:attrNameLst>
                                      </p:cBhvr>
                                      <p:to>
                                        <p:strVal val="visible"/>
                                      </p:to>
                                    </p:set>
                                  </p:childTnLst>
                                </p:cTn>
                              </p:par>
                              <p:par>
                                <p:cTn id="23" presetID="1" presetClass="exit" presetSubtype="0" fill="hold" nodeType="withEffect">
                                  <p:stCondLst>
                                    <p:cond delay="0"/>
                                  </p:stCondLst>
                                  <p:childTnLst>
                                    <p:set>
                                      <p:cBhvr>
                                        <p:cTn id="24" dur="1" fill="hold">
                                          <p:stCondLst>
                                            <p:cond delay="0"/>
                                          </p:stCondLst>
                                        </p:cTn>
                                        <p:tgtEl>
                                          <p:spTgt spid="11"/>
                                        </p:tgtEl>
                                        <p:attrNameLst>
                                          <p:attrName>style.visibility</p:attrName>
                                        </p:attrNameLst>
                                      </p:cBhvr>
                                      <p:to>
                                        <p:strVal val="hidden"/>
                                      </p:to>
                                    </p:set>
                                  </p:childTnLst>
                                </p:cTn>
                              </p:par>
                            </p:childTnLst>
                          </p:cTn>
                        </p:par>
                      </p:childTnLst>
                    </p:cTn>
                  </p:par>
                  <p:par>
                    <p:cTn id="25" fill="hold">
                      <p:stCondLst>
                        <p:cond delay="indefinite"/>
                      </p:stCondLst>
                      <p:childTnLst>
                        <p:par>
                          <p:cTn id="26" fill="hold">
                            <p:stCondLst>
                              <p:cond delay="0"/>
                            </p:stCondLst>
                            <p:childTnLst>
                              <p:par>
                                <p:cTn id="27" presetID="1" presetClass="entr" presetSubtype="0" fill="hold" nodeType="clickEffect">
                                  <p:stCondLst>
                                    <p:cond delay="0"/>
                                  </p:stCondLst>
                                  <p:childTnLst>
                                    <p:set>
                                      <p:cBhvr>
                                        <p:cTn id="28" dur="1" fill="hold">
                                          <p:stCondLst>
                                            <p:cond delay="0"/>
                                          </p:stCondLst>
                                        </p:cTn>
                                        <p:tgtEl>
                                          <p:spTgt spid="14"/>
                                        </p:tgtEl>
                                        <p:attrNameLst>
                                          <p:attrName>style.visibility</p:attrName>
                                        </p:attrNameLst>
                                      </p:cBhvr>
                                      <p:to>
                                        <p:strVal val="visible"/>
                                      </p:to>
                                    </p:set>
                                  </p:childTnLst>
                                </p:cTn>
                              </p:par>
                              <p:par>
                                <p:cTn id="29" presetID="1" presetClass="exit" presetSubtype="0" fill="hold" nodeType="withEffect">
                                  <p:stCondLst>
                                    <p:cond delay="0"/>
                                  </p:stCondLst>
                                  <p:childTnLst>
                                    <p:set>
                                      <p:cBhvr>
                                        <p:cTn id="30" dur="1" fill="hold">
                                          <p:stCondLst>
                                            <p:cond delay="0"/>
                                          </p:stCondLst>
                                        </p:cTn>
                                        <p:tgtEl>
                                          <p:spTgt spid="16"/>
                                        </p:tgtEl>
                                        <p:attrNameLst>
                                          <p:attrName>style.visibility</p:attrName>
                                        </p:attrNameLst>
                                      </p:cBhvr>
                                      <p:to>
                                        <p:strVal val="hidden"/>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47BB3E1-6E1A-44DC-0599-20BA8D6382C1}"/>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F0200B1E-59A5-5DD3-C0A3-6A42067F67C6}"/>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The problem is that this can only allow you to communicate to one peripheral, what about if you want to communicate multiple peripherals, i.e., addressing all your wheel motors individually?</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many systems, a SPI master may be connected to multiple SPI slaves using multiple instances of </a:t>
            </a:r>
            <a:r>
              <a:rPr lang="en-US" sz="1800" b="1" dirty="0">
                <a:latin typeface="Arial"/>
                <a:ea typeface="Arial"/>
                <a:cs typeface="Arial"/>
                <a:sym typeface="Arial"/>
              </a:rPr>
              <a:t>SPISTE</a:t>
            </a:r>
            <a:r>
              <a:rPr lang="en-US" sz="1800" dirty="0">
                <a:latin typeface="Arial"/>
                <a:ea typeface="Arial"/>
                <a:cs typeface="Arial"/>
                <a:sym typeface="Arial"/>
              </a:rPr>
              <a:t> (You selectively choose which SPI slave to enable and read the incoming data).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Though this SPI module </a:t>
            </a:r>
            <a:r>
              <a:rPr lang="en-US" sz="1800" b="1" dirty="0">
                <a:latin typeface="Arial"/>
                <a:ea typeface="Arial"/>
                <a:cs typeface="Arial"/>
                <a:sym typeface="Arial"/>
              </a:rPr>
              <a:t>does not natively support multiple SPISTE signals</a:t>
            </a:r>
            <a:r>
              <a:rPr lang="en-US" sz="1800" dirty="0">
                <a:latin typeface="Arial"/>
                <a:ea typeface="Arial"/>
                <a:cs typeface="Arial"/>
                <a:sym typeface="Arial"/>
              </a:rPr>
              <a:t>, it is possible to emulate this behavior in software using GPIOs.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In this configuration, the SPI must be configured as the </a:t>
            </a:r>
            <a:r>
              <a:rPr lang="en-US" sz="1800" b="1" dirty="0">
                <a:latin typeface="Arial"/>
                <a:ea typeface="Arial"/>
                <a:cs typeface="Arial"/>
                <a:sym typeface="Arial"/>
              </a:rPr>
              <a:t>master</a:t>
            </a:r>
            <a:r>
              <a:rPr lang="en-US" sz="1800" dirty="0">
                <a:latin typeface="Arial"/>
                <a:ea typeface="Arial"/>
                <a:cs typeface="Arial"/>
                <a:sym typeface="Arial"/>
              </a:rPr>
              <a:t>. Rather than using the GPIO Mux to select SPISTE, the application would configure pins to be GPIO outputs, </a:t>
            </a:r>
            <a:r>
              <a:rPr lang="en-US" sz="1800" b="1" dirty="0">
                <a:latin typeface="Arial"/>
                <a:ea typeface="Arial"/>
                <a:cs typeface="Arial"/>
                <a:sym typeface="Arial"/>
              </a:rPr>
              <a:t>one GPIO per SPI slave</a:t>
            </a:r>
            <a:r>
              <a:rPr lang="en-US" sz="1800" dirty="0">
                <a:latin typeface="Arial"/>
                <a:ea typeface="Arial"/>
                <a:cs typeface="Arial"/>
                <a:sym typeface="Arial"/>
              </a:rPr>
              <a:t>.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gn="l" rtl="0">
              <a:lnSpc>
                <a:spcPct val="100000"/>
              </a:lnSpc>
              <a:spcBef>
                <a:spcPts val="0"/>
              </a:spcBef>
              <a:spcAft>
                <a:spcPts val="0"/>
              </a:spcAft>
              <a:buSzPts val="3000"/>
              <a:buNone/>
            </a:pPr>
            <a:r>
              <a:rPr lang="en-US" sz="1800" dirty="0">
                <a:latin typeface="Arial"/>
                <a:ea typeface="Arial"/>
                <a:cs typeface="Arial"/>
                <a:sym typeface="Arial"/>
              </a:rPr>
              <a:t>Before transmitting any data, the application would drive the desired GPIO to the active state. </a:t>
            </a:r>
          </a:p>
          <a:p>
            <a:pPr marL="0" lvl="0" indent="0" algn="l" rtl="0">
              <a:lnSpc>
                <a:spcPct val="100000"/>
              </a:lnSpc>
              <a:spcBef>
                <a:spcPts val="0"/>
              </a:spcBef>
              <a:spcAft>
                <a:spcPts val="0"/>
              </a:spcAft>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Immediately after the transmission has been completed, the GPIO chip select would be driven to the inactive state. This process can be repeated for many slaves which share the SPICLK, SPISIMO, and SPISOMI lines! Essentially creating a </a:t>
            </a:r>
            <a:r>
              <a:rPr lang="en-US" sz="1800" b="1" dirty="0">
                <a:latin typeface="Arial"/>
                <a:ea typeface="Arial"/>
                <a:cs typeface="Arial"/>
                <a:sym typeface="Arial"/>
              </a:rPr>
              <a:t>SPISTE pin mux!</a:t>
            </a:r>
            <a:endParaRPr lang="en-US" sz="1800" dirty="0">
              <a:latin typeface="Arial"/>
              <a:ea typeface="Arial"/>
              <a:cs typeface="Arial"/>
              <a:sym typeface="Arial"/>
            </a:endParaRPr>
          </a:p>
        </p:txBody>
      </p:sp>
      <p:sp>
        <p:nvSpPr>
          <p:cNvPr id="119" name="Google Shape;119;p29">
            <a:extLst>
              <a:ext uri="{FF2B5EF4-FFF2-40B4-BE49-F238E27FC236}">
                <a16:creationId xmlns:a16="http://schemas.microsoft.com/office/drawing/2014/main" id="{A0031E1B-3762-A8B2-8113-06902AD650EA}"/>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D39AFD9-F10C-A3CC-01A3-A48164FE31C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SPI – Multiple Slaves</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87F5880-B6A4-4D89-618C-9127FBD0A8D8}"/>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B541E52-2810-B5EE-F26E-466247828773}"/>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19D0E66-04A7-2098-D41A-3C11B7902F4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7AD142DD-EEF9-97D4-78B1-409BA656648A}"/>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54FF4AF-70A3-A6AB-20E2-9564CFDF4850}"/>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7910CE7-C09B-2922-8BE6-25DE1F3FA474}"/>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223234630"/>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build="p"/>
    </p:bldLst>
  </p:timing>
</p:sld>
</file>

<file path=ppt/slides/slide42.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8FD3DA57-ED24-5D05-75BC-7BE3EF59469A}"/>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1EAFD47A-F5AC-7C5A-3353-C8627D84FD82}"/>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What happens if you want to communicate with 15 temperature sensors?</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4379E6E5-B909-8DBB-9356-1D0A49331E9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5D2E71F0-3BC8-F7A8-8226-5500502243A0}"/>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7E8071F-D599-0B85-1A0C-D05F189034A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E67F08F8-E495-3293-8231-30567D0D61BC}"/>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6F5211B6-398D-3B48-6347-22EF4F887239}"/>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530FFD4D-8480-6630-54C1-7A349C76FFA0}"/>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0287154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621D344B-34C4-C335-DD49-4E27E5841F2A}"/>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8751D50D-A562-407A-425A-46CB493D7547}"/>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9BAF097B-4B41-24EB-93FD-D7BB11662E9B}"/>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4C88420D-27D3-6A7F-E259-B8AB9971B5FA}"/>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D5100363-33AA-F297-53EC-F698EC7DBBE0}"/>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B85D6D7A-BAE9-F05C-245C-2AD52823284B}"/>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AACA8BFC-6902-9915-431F-CDD0ABC690C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88C3552A-315C-7AFD-45A0-B6597BC8671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52FFF52A-D67A-F7A3-668A-D4E22C0A77BF}"/>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97DB60A1-F2DE-6038-F546-8D0E2D0B10CB}"/>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EF434972-6740-9A13-FB07-31A6D8234C0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4A0F022-25C1-15B9-440E-3B25D737B331}"/>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514255242"/>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F7487F3-F8C5-A4D7-FBE6-64BE928883A5}"/>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1D357FDE-29D5-D17D-51AB-6167DAF284CB}"/>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The I2C bus consists of 2 wires: Serial Data (SDA) and Serial Clock (SCL). Instead of relying active push-pull transistors like SPI (which forces a line high or low), I2C uses an open-draw architecture with passive pull-up resistors.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When a microcontroller wants to send a logical 1, it simply “lets go” of the wire, and the physical pull-up resistor pulls the voltage to </a:t>
                </a:r>
                <a14:m>
                  <m:oMath xmlns:m="http://schemas.openxmlformats.org/officeDocument/2006/math">
                    <m:sSub>
                      <m:sSubPr>
                        <m:ctrlPr>
                          <a:rPr lang="en-US" sz="2400" i="1" smtClean="0">
                            <a:latin typeface="Cambria Math" panose="02040503050406030204" pitchFamily="18" charset="0"/>
                            <a:cs typeface="Arial"/>
                            <a:sym typeface="Arial"/>
                          </a:rPr>
                        </m:ctrlPr>
                      </m:sSubPr>
                      <m:e>
                        <m:r>
                          <m:rPr>
                            <m:sty m:val="p"/>
                          </m:rPr>
                          <a:rPr lang="en-US" sz="2400" b="0" i="1" smtClean="0">
                            <a:latin typeface="Cambria Math" panose="02040503050406030204" pitchFamily="18" charset="0"/>
                            <a:cs typeface="Arial"/>
                            <a:sym typeface="Arial"/>
                          </a:rPr>
                          <m:t>V</m:t>
                        </m:r>
                      </m:e>
                      <m:sub>
                        <m:r>
                          <m:rPr>
                            <m:sty m:val="p"/>
                          </m:rPr>
                          <a:rPr lang="en-US" sz="2400" b="0" i="1" smtClean="0">
                            <a:latin typeface="Cambria Math" panose="02040503050406030204" pitchFamily="18" charset="0"/>
                            <a:cs typeface="Arial"/>
                            <a:sym typeface="Arial"/>
                          </a:rPr>
                          <m:t>cc</m:t>
                        </m:r>
                      </m:sub>
                    </m:sSub>
                  </m:oMath>
                </a14:m>
                <a:r>
                  <a:rPr lang="en-US" sz="2400" dirty="0">
                    <a:latin typeface="Arial"/>
                    <a:ea typeface="Arial"/>
                    <a:cs typeface="Arial"/>
                    <a:sym typeface="Arial"/>
                  </a:rPr>
                  <a:t> (e.g., 3.3V). When it wants to send a logical 0, an internal transistor connects the wire to ground.</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Why?</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0" lvl="0" indent="0" algn="l" rtl="0">
                  <a:lnSpc>
                    <a:spcPct val="100000"/>
                  </a:lnSpc>
                  <a:spcBef>
                    <a:spcPts val="0"/>
                  </a:spcBef>
                  <a:spcAft>
                    <a:spcPts val="0"/>
                  </a:spcAft>
                  <a:buSzPts val="3000"/>
                  <a:buNone/>
                </a:pPr>
                <a:r>
                  <a:rPr lang="en-US" sz="2400" dirty="0">
                    <a:latin typeface="Arial"/>
                    <a:ea typeface="Arial"/>
                    <a:cs typeface="Arial"/>
                    <a:sym typeface="Arial"/>
                  </a:rPr>
                  <a:t>If 2 devices accidentally talk at the exact same time, and one sends a 0 (pulls to ground), while the other sends a 1 (let’s go), the line safely goes to ground. There is no short circuit!</a:t>
                </a:r>
              </a:p>
            </p:txBody>
          </p:sp>
        </mc:Choice>
        <mc:Fallback>
          <p:sp>
            <p:nvSpPr>
              <p:cNvPr id="118" name="Google Shape;118;p29">
                <a:extLst>
                  <a:ext uri="{FF2B5EF4-FFF2-40B4-BE49-F238E27FC236}">
                    <a16:creationId xmlns:a16="http://schemas.microsoft.com/office/drawing/2014/main" id="{1D357FDE-29D5-D17D-51AB-6167DAF284CB}"/>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873" t="-885" r="-1528" b="-3540"/>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8A028D5C-EF47-A065-84B7-9A37F345153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0284915D-79F7-C7EA-DDF4-820E489628F7}"/>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5EC77E2A-ECB7-4349-CFE9-6C1226BB7CF2}"/>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A234193-D738-D71E-4335-BD4FBB266AA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6F2DE2C0-A824-993B-E084-DBC20A4EBB72}"/>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31CADFDB-5942-3297-5DF3-5708D85C49EC}"/>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C3DDD364-E8B8-459B-20D8-F6962B397276}"/>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D1AEC0-6763-9B36-1651-A82B03C2D57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56453738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B84DF02-4701-ED5E-434F-8C62DEB83DA3}"/>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765134A-8C9D-26E7-934A-6E5D256A91D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5BD7B67E-5ACC-AEF3-5CDC-3C4F91C27A9B}"/>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6551F54-CD75-F325-D74A-A484A37F778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AF391FDC-C7F4-99E5-0EA7-62410D182D28}"/>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2F8D305A-6BAA-F931-F3DD-5E6C61DE126A}"/>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2BB607B4-2187-F9DF-DB29-249F6C3FD7BD}"/>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71FF328-E131-F39C-CC4B-0BC683D7CAF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9DD6BA5-DF87-8D67-85C8-A996B881DA27}"/>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7F78193-1707-7908-BA06-B40E6782147B}"/>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269201" y="1145610"/>
            <a:ext cx="11119236" cy="5105772"/>
          </a:xfrm>
          <a:prstGeom prst="rect">
            <a:avLst/>
          </a:prstGeom>
        </p:spPr>
      </p:pic>
    </p:spTree>
    <p:extLst>
      <p:ext uri="{BB962C8B-B14F-4D97-AF65-F5344CB8AC3E}">
        <p14:creationId xmlns:p14="http://schemas.microsoft.com/office/powerpoint/2010/main" val="267520599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6F672AC-7FFD-4B4F-0053-69785110245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10086514-791C-25F8-446D-D9D53D32311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E6E730E-0980-D699-20E9-8BEB629F689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035AD2B-C0E5-3CD6-4815-457D08A66A0F}"/>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B8ABF4D9-2A46-B81E-C9D5-2DB42F78AB9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820DE947-4BAB-83AA-E0F6-6356BB9DD4B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F558268-D3A5-5422-F89E-D01A71DE6C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A43F4A17-9C79-78C7-E37F-1F7D1A3B597A}"/>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C0C110E5-0BA2-6222-8F03-97C0DC82D13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3" name="Graphic 2">
            <a:extLst>
              <a:ext uri="{FF2B5EF4-FFF2-40B4-BE49-F238E27FC236}">
                <a16:creationId xmlns:a16="http://schemas.microsoft.com/office/drawing/2014/main" id="{7C788A6C-9173-E3C2-5AA8-97894712E557}"/>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000375" y="1053754"/>
            <a:ext cx="6191250" cy="5373235"/>
          </a:xfrm>
          <a:prstGeom prst="rect">
            <a:avLst/>
          </a:prstGeom>
        </p:spPr>
      </p:pic>
    </p:spTree>
    <p:extLst>
      <p:ext uri="{BB962C8B-B14F-4D97-AF65-F5344CB8AC3E}">
        <p14:creationId xmlns:p14="http://schemas.microsoft.com/office/powerpoint/2010/main" val="1728997098"/>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0BE9971E-13D8-A1E6-F0ED-F7B23E3E4574}"/>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89FAD190-6CBF-E568-10EF-CE6FBEFABE1C}"/>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2400" dirty="0">
                <a:latin typeface="Arial"/>
                <a:ea typeface="Arial"/>
                <a:cs typeface="Arial"/>
                <a:sym typeface="Arial"/>
              </a:rPr>
              <a:t>Because there is no Chip Select wires, the Master must should a specific “Address” onto the bus. Every slave device listens. The protocol is strictly framed as:</a:t>
            </a:r>
          </a:p>
          <a:p>
            <a:pPr marL="0" lvl="0" indent="0" algn="l" rtl="0">
              <a:lnSpc>
                <a:spcPct val="100000"/>
              </a:lnSpc>
              <a:spcBef>
                <a:spcPts val="0"/>
              </a:spcBef>
              <a:spcAft>
                <a:spcPts val="0"/>
              </a:spcAft>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START condition</a:t>
            </a:r>
            <a:r>
              <a:rPr lang="en-US" sz="2400" dirty="0">
                <a:latin typeface="Arial"/>
                <a:ea typeface="Arial"/>
                <a:cs typeface="Arial"/>
                <a:sym typeface="Arial"/>
              </a:rPr>
              <a:t>: The Master pulls SDA low while SCL remains high. This violates normal data rules, acting as a wake-up for all devices.</a:t>
            </a:r>
          </a:p>
          <a:p>
            <a:pPr marL="342900">
              <a:lnSpc>
                <a:spcPct val="100000"/>
              </a:lnSpc>
              <a:spcBef>
                <a:spcPts val="0"/>
              </a:spcBef>
              <a:buSzPts val="3000"/>
            </a:pPr>
            <a:r>
              <a:rPr lang="en-US" sz="2400" b="1" dirty="0">
                <a:latin typeface="Arial"/>
                <a:ea typeface="Arial"/>
                <a:cs typeface="Arial"/>
                <a:sym typeface="Arial"/>
              </a:rPr>
              <a:t>Addressing</a:t>
            </a:r>
            <a:r>
              <a:rPr lang="en-US" sz="2400" dirty="0">
                <a:latin typeface="Arial"/>
                <a:ea typeface="Arial"/>
                <a:cs typeface="Arial"/>
                <a:sym typeface="Arial"/>
              </a:rPr>
              <a:t>: The Master transmits a 7-bit (or 10-bit) hardware </a:t>
            </a:r>
            <a:r>
              <a:rPr lang="en-US" sz="2400" dirty="0" err="1">
                <a:latin typeface="Arial"/>
                <a:ea typeface="Arial"/>
                <a:cs typeface="Arial"/>
                <a:sym typeface="Arial"/>
              </a:rPr>
              <a:t>addres</a:t>
            </a:r>
            <a:r>
              <a:rPr lang="en-US" sz="2400" dirty="0">
                <a:latin typeface="Arial"/>
                <a:ea typeface="Arial"/>
                <a:cs typeface="Arial"/>
                <a:sym typeface="Arial"/>
              </a:rPr>
              <a:t>, </a:t>
            </a:r>
            <a:r>
              <a:rPr lang="en-US" sz="2400" dirty="0" err="1">
                <a:latin typeface="Arial"/>
                <a:ea typeface="Arial"/>
                <a:cs typeface="Arial"/>
                <a:sym typeface="Arial"/>
              </a:rPr>
              <a:t>folled</a:t>
            </a:r>
            <a:r>
              <a:rPr lang="en-US" sz="2400" dirty="0">
                <a:latin typeface="Arial"/>
                <a:ea typeface="Arial"/>
                <a:cs typeface="Arial"/>
                <a:sym typeface="Arial"/>
              </a:rPr>
              <a:t> by a Read/Write direction bit.</a:t>
            </a:r>
          </a:p>
          <a:p>
            <a:pPr marL="342900">
              <a:lnSpc>
                <a:spcPct val="100000"/>
              </a:lnSpc>
              <a:spcBef>
                <a:spcPts val="0"/>
              </a:spcBef>
              <a:buSzPts val="3000"/>
            </a:pPr>
            <a:r>
              <a:rPr lang="en-US" sz="2400" b="1" dirty="0">
                <a:latin typeface="Arial"/>
                <a:ea typeface="Arial"/>
                <a:cs typeface="Arial"/>
                <a:sym typeface="Arial"/>
              </a:rPr>
              <a:t>Acknowledge (ACK): </a:t>
            </a:r>
            <a:r>
              <a:rPr lang="en-US" sz="2400" dirty="0">
                <a:latin typeface="Arial"/>
                <a:ea typeface="Arial"/>
                <a:cs typeface="Arial"/>
                <a:sym typeface="Arial"/>
              </a:rPr>
              <a:t>The specific Slave that matches the address pulls the SDA line low on the 9</a:t>
            </a:r>
            <a:r>
              <a:rPr lang="en-US" sz="2400" baseline="30000" dirty="0">
                <a:latin typeface="Arial"/>
                <a:ea typeface="Arial"/>
                <a:cs typeface="Arial"/>
                <a:sym typeface="Arial"/>
              </a:rPr>
              <a:t>th</a:t>
            </a:r>
            <a:r>
              <a:rPr lang="en-US" sz="2400" dirty="0">
                <a:latin typeface="Arial"/>
                <a:ea typeface="Arial"/>
                <a:cs typeface="Arial"/>
                <a:sym typeface="Arial"/>
              </a:rPr>
              <a:t> clock cycle to say “I am here”</a:t>
            </a:r>
          </a:p>
          <a:p>
            <a:pPr marL="342900">
              <a:lnSpc>
                <a:spcPct val="100000"/>
              </a:lnSpc>
              <a:spcBef>
                <a:spcPts val="0"/>
              </a:spcBef>
              <a:buSzPts val="3000"/>
            </a:pPr>
            <a:r>
              <a:rPr lang="en-US" sz="2400" b="1" dirty="0">
                <a:latin typeface="Arial"/>
                <a:ea typeface="Arial"/>
                <a:cs typeface="Arial"/>
                <a:sym typeface="Arial"/>
              </a:rPr>
              <a:t>Data Transfer: </a:t>
            </a:r>
            <a:r>
              <a:rPr lang="en-US" sz="2400" dirty="0">
                <a:latin typeface="Arial"/>
                <a:ea typeface="Arial"/>
                <a:cs typeface="Arial"/>
                <a:sym typeface="Arial"/>
              </a:rPr>
              <a:t>Butes are clocked across the SDA line</a:t>
            </a:r>
          </a:p>
          <a:p>
            <a:pPr marL="342900">
              <a:lnSpc>
                <a:spcPct val="100000"/>
              </a:lnSpc>
              <a:spcBef>
                <a:spcPts val="0"/>
              </a:spcBef>
              <a:buSzPts val="3000"/>
            </a:pPr>
            <a:r>
              <a:rPr lang="en-US" sz="2400" b="1" dirty="0">
                <a:latin typeface="Arial"/>
                <a:ea typeface="Arial"/>
                <a:cs typeface="Arial"/>
                <a:sym typeface="Arial"/>
              </a:rPr>
              <a:t>STOP Condition: </a:t>
            </a:r>
            <a:r>
              <a:rPr lang="en-US" sz="2400" dirty="0">
                <a:latin typeface="Arial"/>
                <a:ea typeface="Arial"/>
                <a:cs typeface="Arial"/>
                <a:sym typeface="Arial"/>
              </a:rPr>
              <a:t>The Master releases SDA while SCL is high, signaling the bus is free.</a:t>
            </a:r>
          </a:p>
        </p:txBody>
      </p:sp>
      <p:sp>
        <p:nvSpPr>
          <p:cNvPr id="119" name="Google Shape;119;p29">
            <a:extLst>
              <a:ext uri="{FF2B5EF4-FFF2-40B4-BE49-F238E27FC236}">
                <a16:creationId xmlns:a16="http://schemas.microsoft.com/office/drawing/2014/main" id="{8F3E41B2-88A7-5916-F31D-7DB6B765AA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0628E1F-1AA7-256E-1384-65A804075CA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77122E7-92DB-A6AD-213E-2E195575F08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D4A68C82-4892-9817-1154-1E2D1A4DBF9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8A589C-F79B-37BF-C994-1D5A2FB3ABE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51C4B192-38EC-CA60-8758-E2B09B86A36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7E255656-97A1-3E35-62F0-7ED594396F68}"/>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324C7368-817C-7E14-C36E-99F75522D40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287186044"/>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36A3864-4F69-11BA-53FC-2912087497C5}"/>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EBE3CBC1-7785-28EF-DB97-973C8332462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E690C082-325F-EF50-430C-78F7525E222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FCD7A86B-22A4-7413-443C-8B39BE5648D6}"/>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E9CB6B79-A899-83F2-6284-D4ED53BBABB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91B5EA53-CBE5-ED60-A230-D261570A86A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0790389-EAA8-F085-F3F4-8E4D238B5E46}"/>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5BC3DBA3-198A-C4A3-DF54-8DD004349144}"/>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B1D30128-EDC6-AEAD-553F-9710289F0FF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B029C68A-1543-011F-D3B6-A4CE4200B828}"/>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511854" y="1072273"/>
            <a:ext cx="9168291" cy="2927348"/>
          </a:xfrm>
          <a:prstGeom prst="rect">
            <a:avLst/>
          </a:prstGeom>
        </p:spPr>
      </p:pic>
      <p:pic>
        <p:nvPicPr>
          <p:cNvPr id="7" name="Graphic 6">
            <a:extLst>
              <a:ext uri="{FF2B5EF4-FFF2-40B4-BE49-F238E27FC236}">
                <a16:creationId xmlns:a16="http://schemas.microsoft.com/office/drawing/2014/main" id="{1A4A4412-5944-0B4E-16E8-7FDCA80BC159}"/>
              </a:ext>
            </a:extLst>
          </p:cNvPr>
          <p:cNvPicPr>
            <a:picLocks noChangeAspect="1"/>
          </p:cNvPicPr>
          <p:nvPr/>
        </p:nvPicPr>
        <p:blipFill>
          <a:blip r:embed="rId6">
            <a:extLst>
              <a:ext uri="{96DAC541-7B7A-43D3-8B79-37D633B846F1}">
                <asvg:svgBlip xmlns:asvg="http://schemas.microsoft.com/office/drawing/2016/SVG/main" r:embed="rId7"/>
              </a:ext>
            </a:extLst>
          </a:blip>
          <a:stretch>
            <a:fillRect/>
          </a:stretch>
        </p:blipFill>
        <p:spPr>
          <a:xfrm>
            <a:off x="1246256" y="4203673"/>
            <a:ext cx="9798109" cy="1362069"/>
          </a:xfrm>
          <a:prstGeom prst="rect">
            <a:avLst/>
          </a:prstGeom>
        </p:spPr>
      </p:pic>
      <p:sp>
        <p:nvSpPr>
          <p:cNvPr id="8" name="Google Shape;118;p29">
            <a:extLst>
              <a:ext uri="{FF2B5EF4-FFF2-40B4-BE49-F238E27FC236}">
                <a16:creationId xmlns:a16="http://schemas.microsoft.com/office/drawing/2014/main" id="{5C0D0C41-61BB-1A43-AF16-5292C2E3741F}"/>
              </a:ext>
            </a:extLst>
          </p:cNvPr>
          <p:cNvSpPr txBox="1">
            <a:spLocks noGrp="1"/>
          </p:cNvSpPr>
          <p:nvPr>
            <p:ph type="body" idx="1"/>
          </p:nvPr>
        </p:nvSpPr>
        <p:spPr>
          <a:xfrm>
            <a:off x="376809" y="5674257"/>
            <a:ext cx="11177401" cy="811714"/>
          </a:xfrm>
          <a:prstGeom prst="rect">
            <a:avLst/>
          </a:prstGeom>
          <a:noFill/>
          <a:ln>
            <a:noFill/>
          </a:ln>
        </p:spPr>
        <p:txBody>
          <a:bodyPr spcFirstLastPara="1" wrap="square" lIns="91425" tIns="45700" rIns="91425" bIns="45700" anchor="t" anchorCtr="0">
            <a:noAutofit/>
          </a:bodyPr>
          <a:lstStyle/>
          <a:p>
            <a:pPr marL="0" lvl="0" indent="0" algn="l" rtl="0">
              <a:lnSpc>
                <a:spcPct val="100000"/>
              </a:lnSpc>
              <a:spcBef>
                <a:spcPts val="0"/>
              </a:spcBef>
              <a:spcAft>
                <a:spcPts val="0"/>
              </a:spcAft>
              <a:buSzPts val="3000"/>
              <a:buNone/>
            </a:pPr>
            <a:r>
              <a:rPr lang="en-US" sz="1800" dirty="0">
                <a:latin typeface="Arial"/>
                <a:ea typeface="Arial"/>
                <a:cs typeface="Arial"/>
                <a:sym typeface="Arial"/>
              </a:rPr>
              <a:t>R/W=0: The I2C master writes (transmits) data to the addressed slave.</a:t>
            </a:r>
          </a:p>
          <a:p>
            <a:pPr marL="0" lvl="0" indent="0" algn="l" rtl="0">
              <a:lnSpc>
                <a:spcPct val="100000"/>
              </a:lnSpc>
              <a:spcBef>
                <a:spcPts val="0"/>
              </a:spcBef>
              <a:spcAft>
                <a:spcPts val="0"/>
              </a:spcAft>
              <a:buSzPts val="3000"/>
              <a:buNone/>
            </a:pPr>
            <a:r>
              <a:rPr lang="en-US" sz="1800" dirty="0">
                <a:latin typeface="Arial"/>
                <a:ea typeface="Arial"/>
                <a:cs typeface="Arial"/>
                <a:sym typeface="Arial"/>
              </a:rPr>
              <a:t>R/W=1: The I2C master reads (receives) data from the slave.</a:t>
            </a:r>
          </a:p>
        </p:txBody>
      </p:sp>
    </p:spTree>
    <p:extLst>
      <p:ext uri="{BB962C8B-B14F-4D97-AF65-F5344CB8AC3E}">
        <p14:creationId xmlns:p14="http://schemas.microsoft.com/office/powerpoint/2010/main" val="1164738453"/>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3CAEDD3C-36CE-F798-2D34-19995D124E79}"/>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BE006DE9-3D78-FFFD-23E6-B477CB7EE294}"/>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An extra clock cycle dedicated for acknowledgement (</a:t>
            </a:r>
            <a:r>
              <a:rPr lang="en-US" sz="2400" b="1" dirty="0"/>
              <a:t>ACK</a:t>
            </a:r>
            <a:r>
              <a:rPr lang="en-US" sz="2400" dirty="0"/>
              <a:t>) is inserted after each byte.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If the </a:t>
            </a:r>
            <a:r>
              <a:rPr lang="en-US" sz="2400" b="1" dirty="0"/>
              <a:t>ACK</a:t>
            </a:r>
            <a:r>
              <a:rPr lang="en-US" sz="2400" dirty="0"/>
              <a:t> bit is inserted by the slave after the first byte from the master, it is followed by n bits of data from the transmitter (master or slave depending on the R/W bit).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n is a number from 1-8 determined by the bit count (</a:t>
            </a:r>
            <a:r>
              <a:rPr lang="en-US" sz="2400" b="1" dirty="0"/>
              <a:t>BC</a:t>
            </a:r>
            <a:r>
              <a:rPr lang="en-US" sz="2400" dirty="0"/>
              <a:t>) field of the </a:t>
            </a:r>
            <a:r>
              <a:rPr lang="en-US" sz="2400" b="1" dirty="0"/>
              <a:t>I2CMDR</a:t>
            </a:r>
            <a:r>
              <a:rPr lang="en-US" sz="2400" dirty="0"/>
              <a:t>. </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After the data bits have been transferred, the receiver inserts an ACK bit.</a:t>
            </a:r>
          </a:p>
          <a:p>
            <a:pPr marL="0" lvl="0" indent="0">
              <a:lnSpc>
                <a:spcPct val="100000"/>
              </a:lnSpc>
              <a:spcBef>
                <a:spcPts val="0"/>
              </a:spcBef>
              <a:buSzPts val="3000"/>
              <a:buNone/>
            </a:pPr>
            <a:endParaRPr lang="en-US" sz="2400" dirty="0"/>
          </a:p>
          <a:p>
            <a:pPr marL="0" lvl="0" indent="0">
              <a:lnSpc>
                <a:spcPct val="100000"/>
              </a:lnSpc>
              <a:spcBef>
                <a:spcPts val="0"/>
              </a:spcBef>
              <a:buSzPts val="3000"/>
              <a:buNone/>
            </a:pPr>
            <a:r>
              <a:rPr lang="en-US" sz="2400" dirty="0"/>
              <a:t>We can have a 10-bit slave address. The problem is that we have a maximum of 8 bits that we send at a time!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endParaRPr lang="en-US" sz="2400" dirty="0">
              <a:latin typeface="Arial"/>
              <a:ea typeface="Arial"/>
              <a:cs typeface="Arial"/>
              <a:sym typeface="Arial"/>
            </a:endParaRPr>
          </a:p>
        </p:txBody>
      </p:sp>
      <p:sp>
        <p:nvSpPr>
          <p:cNvPr id="119" name="Google Shape;119;p29">
            <a:extLst>
              <a:ext uri="{FF2B5EF4-FFF2-40B4-BE49-F238E27FC236}">
                <a16:creationId xmlns:a16="http://schemas.microsoft.com/office/drawing/2014/main" id="{C339E387-5944-AE70-BEE4-8EB52E34C54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AC32EDE0-99EC-80EA-64F6-C87F629D7622}"/>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E0600181-BF00-DB2D-E878-11CC4D0D776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8A010EFD-97E0-85C5-9CA5-A95698984417}"/>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49C965B-815D-8CB1-51C2-17F70DC865F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CC7016E4-1A2E-1E14-068B-22374F8EE16B}"/>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37E7CBDE-B0B6-F2C2-94C4-9C388E13187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F83E08F-08C5-5935-D307-429A83FE36F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1939925309"/>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28E392E1-612C-C130-1945-EF331F96F11D}"/>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F4A05257-8C25-10FD-41A6-F0BF5F22CEF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63DBBBE2-A23D-CEB2-B0F7-D5174A08BD4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B9DAA26B-288A-57B7-B8F7-A47772DFFB2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EDDE3A1-A9B1-5BEC-EACE-6EC6F4EC64D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774DB5E-85E6-1D6D-3F00-C5CC2CF3A757}"/>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F51275BB-3821-6EF9-FE62-ABF5096B0BB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4D91A37C-DD8E-55C3-8CC2-183B53C3BA3F}"/>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22B9B64D-7D92-B705-7F64-3BBD27BBA726}"/>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53F754A7-3686-6B9D-9B12-97F1F3E76F8A}"/>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341885" y="3047999"/>
            <a:ext cx="11508231" cy="1644033"/>
          </a:xfrm>
          <a:prstGeom prst="rect">
            <a:avLst/>
          </a:prstGeom>
        </p:spPr>
      </p:pic>
    </p:spTree>
    <p:extLst>
      <p:ext uri="{BB962C8B-B14F-4D97-AF65-F5344CB8AC3E}">
        <p14:creationId xmlns:p14="http://schemas.microsoft.com/office/powerpoint/2010/main" val="3057279262"/>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F75BECFD-9724-832F-7DA6-5F4F59F51C68}"/>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38DD1D0-1783-6E64-BD44-26CBD0D5F2D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t>I2C allows multiple MCUI to exist on the same two wires, potentially attempting a START condition simultaneously.</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Both Masters begin clocking out their addresses bit-by-bit, monitoring the actual voltage on the SDA line.</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If Master A transmits a 1 (lets go) but physically measures a 0 on the SDA line, it determines another Master (Master B) is pulling it low.</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Master A instantly realizes it has lost arbitration, ceases transmission, and returns to slave/listening mode without corrupting Master B's packet. </a:t>
            </a:r>
          </a:p>
        </p:txBody>
      </p:sp>
      <p:sp>
        <p:nvSpPr>
          <p:cNvPr id="119" name="Google Shape;119;p29">
            <a:extLst>
              <a:ext uri="{FF2B5EF4-FFF2-40B4-BE49-F238E27FC236}">
                <a16:creationId xmlns:a16="http://schemas.microsoft.com/office/drawing/2014/main" id="{A5FDE61E-A420-3291-E4E6-9D747E1F5873}"/>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4E075C7-BD88-26A7-8EEA-EDC5CA3EC99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04E763B4-A8D9-20C6-BDAF-1ABFD1180A61}"/>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583E09BC-9EEC-1BF7-3F23-CE20579623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2281C0E-4E25-712E-A3BB-8C1ED32A073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C92344-305F-8243-B4B9-B057EA3082A3}"/>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FC0F9952-1400-EAC4-B4CF-5C4E26E2C0A2}"/>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68C3377F-3447-5A08-619A-C7EBBE75A17D}"/>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459052884"/>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74D4377E-6022-DF57-4F54-BDC8BB583767}"/>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2AC7E5EC-E9C4-6EE7-3246-CC93AB2A4A34}"/>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B3832A8-CC55-1448-B1BB-E9F074EE807A}"/>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1FF0413C-DFDA-C427-2DC8-3703C0BBFE2B}"/>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05C57DF7-BD8B-1F6D-B38C-50F7EC2F6309}"/>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EA9751AE-3C29-7FB3-0560-1283C1915BE8}"/>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6D181074-2FD7-9EDC-FA44-D4BF9D74BB8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6B42D78A-E902-68E0-42BE-4C1CB667F44E}"/>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085078D0-1C76-5CE1-D6EA-457598B6140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61188845-24DF-5C13-BC45-4F51B6829131}"/>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890760" y="1180443"/>
            <a:ext cx="9882125" cy="5146940"/>
          </a:xfrm>
          <a:prstGeom prst="rect">
            <a:avLst/>
          </a:prstGeom>
        </p:spPr>
      </p:pic>
    </p:spTree>
    <p:extLst>
      <p:ext uri="{BB962C8B-B14F-4D97-AF65-F5344CB8AC3E}">
        <p14:creationId xmlns:p14="http://schemas.microsoft.com/office/powerpoint/2010/main" val="3457269991"/>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AD7BF95E-8667-4A44-BA67-BD4F57432EFE}"/>
            </a:ext>
          </a:extLst>
        </p:cNvPr>
        <p:cNvGrpSpPr/>
        <p:nvPr/>
      </p:nvGrpSpPr>
      <p:grpSpPr>
        <a:xfrm>
          <a:off x="0" y="0"/>
          <a:ext cx="0" cy="0"/>
          <a:chOff x="0" y="0"/>
          <a:chExt cx="0" cy="0"/>
        </a:xfrm>
      </p:grpSpPr>
      <p:sp>
        <p:nvSpPr>
          <p:cNvPr id="89" name="Google Shape;89;p27">
            <a:extLst>
              <a:ext uri="{FF2B5EF4-FFF2-40B4-BE49-F238E27FC236}">
                <a16:creationId xmlns:a16="http://schemas.microsoft.com/office/drawing/2014/main" id="{45719416-3BD5-E383-A0CB-E73179505DAD}"/>
              </a:ext>
            </a:extLst>
          </p:cNvPr>
          <p:cNvSpPr txBox="1"/>
          <p:nvPr/>
        </p:nvSpPr>
        <p:spPr>
          <a:xfrm>
            <a:off x="1026302" y="2274858"/>
            <a:ext cx="10139396" cy="2308284"/>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4800" b="1" i="0" u="none" strike="noStrike" cap="none" dirty="0">
                <a:solidFill>
                  <a:schemeClr val="lt1"/>
                </a:solidFill>
                <a:latin typeface="Arial"/>
                <a:ea typeface="Arial"/>
                <a:cs typeface="Arial"/>
                <a:sym typeface="Arial"/>
              </a:rPr>
              <a:t>If you have 2 masters sending Serial Clock (SCL) signals what is a problem?</a:t>
            </a:r>
            <a:endParaRPr sz="1100" b="0" i="0" u="none" strike="noStrike" cap="none" dirty="0">
              <a:solidFill>
                <a:srgbClr val="000000"/>
              </a:solidFill>
              <a:latin typeface="Arial"/>
              <a:ea typeface="Arial"/>
              <a:cs typeface="Arial"/>
              <a:sym typeface="Arial"/>
            </a:endParaRPr>
          </a:p>
        </p:txBody>
      </p:sp>
      <p:pic>
        <p:nvPicPr>
          <p:cNvPr id="94" name="Google Shape;94;p27">
            <a:extLst>
              <a:ext uri="{FF2B5EF4-FFF2-40B4-BE49-F238E27FC236}">
                <a16:creationId xmlns:a16="http://schemas.microsoft.com/office/drawing/2014/main" id="{F3A6ACC7-D95C-0659-DC85-D61DF2001C87}"/>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7BFB8DCC-EEAF-87C0-FF44-DB896716858B}"/>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694B86FB-033C-E635-CF45-FBE1DCFEA2F1}"/>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1FCC97C0-4059-7882-76D8-D1740F00B160}"/>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46BB1CB7-6A4D-56EC-F957-7B965616A557}"/>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407D31D6-E7C2-6977-4F50-7952BC02DD5F}"/>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53193153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24A41A8-CD52-99E7-AB74-235F610D154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1A463925-3294-DFB3-2070-A69BA4B88FEF}"/>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2400" dirty="0">
                <a:latin typeface="Arial"/>
                <a:ea typeface="Arial"/>
                <a:cs typeface="Arial"/>
                <a:sym typeface="Arial"/>
              </a:rPr>
              <a:t>The microcontrollers on the bus can only drive the SCL line as such:</a:t>
            </a:r>
          </a:p>
          <a:p>
            <a:pPr marL="0" lvl="0" indent="0">
              <a:lnSpc>
                <a:spcPct val="100000"/>
              </a:lnSpc>
              <a:spcBef>
                <a:spcPts val="0"/>
              </a:spcBef>
              <a:buSzPts val="3000"/>
              <a:buNone/>
            </a:pPr>
            <a:endParaRPr lang="en-US" sz="2400" dirty="0">
              <a:latin typeface="Arial"/>
              <a:ea typeface="Arial"/>
              <a:cs typeface="Arial"/>
              <a:sym typeface="Arial"/>
            </a:endParaRPr>
          </a:p>
          <a:p>
            <a:pPr marL="342900">
              <a:lnSpc>
                <a:spcPct val="100000"/>
              </a:lnSpc>
              <a:spcBef>
                <a:spcPts val="0"/>
              </a:spcBef>
              <a:buSzPts val="3000"/>
            </a:pPr>
            <a:r>
              <a:rPr lang="en-US" sz="2400" b="1" dirty="0">
                <a:latin typeface="Arial"/>
                <a:ea typeface="Arial"/>
                <a:cs typeface="Arial"/>
                <a:sym typeface="Arial"/>
              </a:rPr>
              <a:t>Drive LOW</a:t>
            </a:r>
            <a:r>
              <a:rPr lang="en-US" sz="2400" dirty="0">
                <a:latin typeface="Arial"/>
                <a:ea typeface="Arial"/>
                <a:cs typeface="Arial"/>
                <a:sym typeface="Arial"/>
              </a:rPr>
              <a:t>: They can turn on an internal transistor to connect the SCL line to ground (0V)</a:t>
            </a:r>
          </a:p>
          <a:p>
            <a:pPr marL="342900">
              <a:lnSpc>
                <a:spcPct val="100000"/>
              </a:lnSpc>
              <a:spcBef>
                <a:spcPts val="0"/>
              </a:spcBef>
              <a:buSzPts val="3000"/>
            </a:pPr>
            <a:r>
              <a:rPr lang="en-US" sz="2400" b="1" dirty="0">
                <a:latin typeface="Arial"/>
                <a:ea typeface="Arial"/>
                <a:cs typeface="Arial"/>
                <a:sym typeface="Arial"/>
              </a:rPr>
              <a:t>Release HIGH</a:t>
            </a:r>
            <a:r>
              <a:rPr lang="en-US" sz="2400" dirty="0">
                <a:latin typeface="Arial"/>
                <a:ea typeface="Arial"/>
                <a:cs typeface="Arial"/>
                <a:sym typeface="Arial"/>
              </a:rPr>
              <a:t>: They can turn </a:t>
            </a:r>
            <a:r>
              <a:rPr lang="en-US" sz="2400" b="1" i="1" dirty="0">
                <a:latin typeface="Arial"/>
                <a:ea typeface="Arial"/>
                <a:cs typeface="Arial"/>
                <a:sym typeface="Arial"/>
              </a:rPr>
              <a:t>off</a:t>
            </a:r>
            <a:r>
              <a:rPr lang="en-US" sz="2400" dirty="0">
                <a:latin typeface="Arial"/>
                <a:ea typeface="Arial"/>
                <a:cs typeface="Arial"/>
                <a:sym typeface="Arial"/>
              </a:rPr>
              <a:t> the transistor, letting go of the line. They cannot force the line high; they rely entirely on the pull-up resistor to pull the voltage back up</a:t>
            </a:r>
          </a:p>
          <a:p>
            <a:pPr marL="0" lvl="0" indent="0">
              <a:lnSpc>
                <a:spcPct val="100000"/>
              </a:lnSpc>
              <a:spcBef>
                <a:spcPts val="0"/>
              </a:spcBef>
              <a:buSzPts val="3000"/>
              <a:buNone/>
            </a:pPr>
            <a:endParaRPr lang="en-US" sz="2400" dirty="0">
              <a:latin typeface="Arial"/>
              <a:ea typeface="Arial"/>
              <a:cs typeface="Arial"/>
              <a:sym typeface="Arial"/>
            </a:endParaRPr>
          </a:p>
          <a:p>
            <a:pPr marL="0" lvl="0" indent="0">
              <a:lnSpc>
                <a:spcPct val="100000"/>
              </a:lnSpc>
              <a:spcBef>
                <a:spcPts val="0"/>
              </a:spcBef>
              <a:buSzPts val="3000"/>
              <a:buNone/>
            </a:pPr>
            <a:r>
              <a:rPr lang="en-US" sz="2400" dirty="0">
                <a:latin typeface="Arial"/>
                <a:ea typeface="Arial"/>
                <a:cs typeface="Arial"/>
                <a:sym typeface="Arial"/>
              </a:rPr>
              <a:t>Because of this, the SCL line acts as a massive physical </a:t>
            </a:r>
            <a:r>
              <a:rPr lang="en-US" sz="2400" b="1" dirty="0">
                <a:latin typeface="Arial"/>
                <a:ea typeface="Arial"/>
                <a:cs typeface="Arial"/>
                <a:sym typeface="Arial"/>
              </a:rPr>
              <a:t>AND</a:t>
            </a:r>
            <a:r>
              <a:rPr lang="en-US" sz="2400" dirty="0">
                <a:latin typeface="Arial"/>
                <a:ea typeface="Arial"/>
                <a:cs typeface="Arial"/>
                <a:sym typeface="Arial"/>
              </a:rPr>
              <a:t> gate.</a:t>
            </a:r>
          </a:p>
          <a:p>
            <a:pPr marL="342900">
              <a:lnSpc>
                <a:spcPct val="100000"/>
              </a:lnSpc>
              <a:spcBef>
                <a:spcPts val="0"/>
              </a:spcBef>
              <a:buSzPts val="3000"/>
            </a:pPr>
            <a:r>
              <a:rPr lang="en-US" sz="2400" dirty="0">
                <a:latin typeface="Arial"/>
                <a:ea typeface="Arial"/>
                <a:cs typeface="Arial"/>
                <a:sym typeface="Arial"/>
              </a:rPr>
              <a:t>The SCL line will only transition HIGH if </a:t>
            </a:r>
            <a:r>
              <a:rPr lang="en-US" sz="2400" b="1" dirty="0">
                <a:latin typeface="Arial"/>
                <a:ea typeface="Arial"/>
                <a:cs typeface="Arial"/>
                <a:sym typeface="Arial"/>
              </a:rPr>
              <a:t>ALL</a:t>
            </a:r>
            <a:r>
              <a:rPr lang="en-US" sz="2400" dirty="0">
                <a:latin typeface="Arial"/>
                <a:ea typeface="Arial"/>
                <a:cs typeface="Arial"/>
                <a:sym typeface="Arial"/>
              </a:rPr>
              <a:t> devices let go of it.</a:t>
            </a:r>
          </a:p>
          <a:p>
            <a:pPr marL="342900">
              <a:lnSpc>
                <a:spcPct val="100000"/>
              </a:lnSpc>
              <a:spcBef>
                <a:spcPts val="0"/>
              </a:spcBef>
              <a:buSzPts val="3000"/>
            </a:pPr>
            <a:r>
              <a:rPr lang="en-US" sz="2400" dirty="0">
                <a:latin typeface="Arial"/>
                <a:ea typeface="Arial"/>
                <a:cs typeface="Arial"/>
                <a:sym typeface="Arial"/>
              </a:rPr>
              <a:t>The SCL line will instantly transition LOW if </a:t>
            </a:r>
            <a:r>
              <a:rPr lang="en-US" sz="2400" b="1" dirty="0">
                <a:latin typeface="Arial"/>
                <a:ea typeface="Arial"/>
                <a:cs typeface="Arial"/>
                <a:sym typeface="Arial"/>
              </a:rPr>
              <a:t>ANY</a:t>
            </a:r>
            <a:r>
              <a:rPr lang="en-US" sz="2400" dirty="0">
                <a:latin typeface="Arial"/>
                <a:ea typeface="Arial"/>
                <a:cs typeface="Arial"/>
                <a:sym typeface="Arial"/>
              </a:rPr>
              <a:t> device pulls it to ground.</a:t>
            </a:r>
          </a:p>
        </p:txBody>
      </p:sp>
      <p:sp>
        <p:nvSpPr>
          <p:cNvPr id="119" name="Google Shape;119;p29">
            <a:extLst>
              <a:ext uri="{FF2B5EF4-FFF2-40B4-BE49-F238E27FC236}">
                <a16:creationId xmlns:a16="http://schemas.microsoft.com/office/drawing/2014/main" id="{E959204E-565B-D1B5-164E-DFDB9828F27D}"/>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476316FF-FACF-B41C-011A-B29BB33EF7D8}"/>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70EB4395-8BF9-CAD0-9A68-22A4877AA23A}"/>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3D50C7B0-4A70-AACE-FE33-6224AB6479F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A632AD2-DD73-A222-8583-651D398636D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978F1484-5986-8E5E-6E1D-6087540D03BE}"/>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649364C-440E-B595-A427-FFBCC85D1331}"/>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1553F227-5AFF-47F2-5D10-F84AC8623E8C}"/>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85270726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20F126F-ABE0-53FE-4040-5DD70C8F7304}"/>
            </a:ext>
          </a:extLst>
        </p:cNvPr>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118" name="Google Shape;118;p29">
                <a:extLst>
                  <a:ext uri="{FF2B5EF4-FFF2-40B4-BE49-F238E27FC236}">
                    <a16:creationId xmlns:a16="http://schemas.microsoft.com/office/drawing/2014/main" id="{643EF024-AE49-44D7-3D0E-BDBE542A1980}"/>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t" anchorCtr="0">
                <a:noAutofit/>
              </a:bodyPr>
              <a:lstStyle/>
              <a:p>
                <a:pPr marL="0" lvl="0" indent="0">
                  <a:lnSpc>
                    <a:spcPct val="100000"/>
                  </a:lnSpc>
                  <a:spcBef>
                    <a:spcPts val="0"/>
                  </a:spcBef>
                  <a:buSzPts val="3000"/>
                  <a:buNone/>
                </a:pPr>
                <a:r>
                  <a:rPr lang="en-US" sz="1800" dirty="0">
                    <a:latin typeface="Arial"/>
                    <a:ea typeface="Arial"/>
                    <a:cs typeface="Arial"/>
                    <a:sym typeface="Arial"/>
                  </a:rPr>
                  <a:t>Masters attempt to begin their clock cycles by pulling the SCL line LOW.</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Whichever Master pulls the line LOW first instantly forces the entire physical bus to 0V.</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other Masters, seeing the line go LOW, immediately synchronize its internal state machine to this falling edge and beings counting its own programmed LOW period</a:t>
                </a:r>
                <a14:m>
                  <m:oMath xmlns:m="http://schemas.openxmlformats.org/officeDocument/2006/math">
                    <a:fld id="{825F15A7-03F4-43D7-82C5-3E23DA2F108C}" type="mathplaceholder">
                      <a:rPr lang="en-US" sz="1800" i="1" smtClean="0">
                        <a:latin typeface="Cambria Math" panose="02040503050406030204" pitchFamily="18" charset="0"/>
                        <a:ea typeface="Arial"/>
                        <a:cs typeface="Arial"/>
                        <a:sym typeface="Arial"/>
                      </a:rPr>
                      <a:t>.</a:t>
                    </a:fld>
                  </m:oMath>
                </a14:m>
                <a:endParaRPr lang="en-US" sz="1800" dirty="0">
                  <a:latin typeface="Arial"/>
                  <a:ea typeface="Arial"/>
                  <a:cs typeface="Arial"/>
                  <a:sym typeface="Arial"/>
                </a:endParaRP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LOW period is strictly determined by the Master with the </a:t>
                </a:r>
                <a:r>
                  <a:rPr lang="en-US" sz="1800" b="1" dirty="0">
                    <a:latin typeface="Arial"/>
                    <a:ea typeface="Arial"/>
                    <a:cs typeface="Arial"/>
                    <a:sym typeface="Arial"/>
                  </a:rPr>
                  <a:t>longest</a:t>
                </a:r>
                <a:r>
                  <a:rPr lang="en-US" sz="1800" dirty="0">
                    <a:latin typeface="Arial"/>
                    <a:ea typeface="Arial"/>
                    <a:cs typeface="Arial"/>
                    <a:sym typeface="Arial"/>
                  </a:rPr>
                  <a:t> programmed LOW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The synchronized HIGH period is strictly determined by the Master with the </a:t>
                </a:r>
                <a:r>
                  <a:rPr lang="en-US" sz="1800" b="1" dirty="0">
                    <a:latin typeface="Arial"/>
                    <a:ea typeface="Arial"/>
                    <a:cs typeface="Arial"/>
                    <a:sym typeface="Arial"/>
                  </a:rPr>
                  <a:t>shortest</a:t>
                </a:r>
                <a:r>
                  <a:rPr lang="en-US" sz="1800" dirty="0">
                    <a:latin typeface="Arial"/>
                    <a:ea typeface="Arial"/>
                    <a:cs typeface="Arial"/>
                    <a:sym typeface="Arial"/>
                  </a:rPr>
                  <a:t> programmed HIGH period.</a:t>
                </a:r>
              </a:p>
              <a:p>
                <a:pPr marL="0" lvl="0" indent="0">
                  <a:lnSpc>
                    <a:spcPct val="100000"/>
                  </a:lnSpc>
                  <a:spcBef>
                    <a:spcPts val="0"/>
                  </a:spcBef>
                  <a:buSzPts val="3000"/>
                  <a:buNone/>
                </a:pPr>
                <a:endParaRPr lang="en-US" sz="1800" dirty="0">
                  <a:latin typeface="Arial"/>
                  <a:ea typeface="Arial"/>
                  <a:cs typeface="Arial"/>
                  <a:sym typeface="Arial"/>
                </a:endParaRPr>
              </a:p>
              <a:p>
                <a:pPr marL="0" lvl="0" indent="0">
                  <a:lnSpc>
                    <a:spcPct val="100000"/>
                  </a:lnSpc>
                  <a:spcBef>
                    <a:spcPts val="0"/>
                  </a:spcBef>
                  <a:buSzPts val="3000"/>
                  <a:buNone/>
                </a:pPr>
                <a:r>
                  <a:rPr lang="en-US" sz="1800" dirty="0">
                    <a:latin typeface="Arial"/>
                    <a:ea typeface="Arial"/>
                    <a:cs typeface="Arial"/>
                    <a:sym typeface="Arial"/>
                  </a:rPr>
                  <a:t>If a device pulls down the clock line for a longer time, the result is that all clock generators must enter the wait state. In this way, a slave slows down a fast master, and the slow device creates enough time to store a received byte or to prepare a byte to be transmitted.</a:t>
                </a:r>
              </a:p>
            </p:txBody>
          </p:sp>
        </mc:Choice>
        <mc:Fallback>
          <p:sp>
            <p:nvSpPr>
              <p:cNvPr id="118" name="Google Shape;118;p29">
                <a:extLst>
                  <a:ext uri="{FF2B5EF4-FFF2-40B4-BE49-F238E27FC236}">
                    <a16:creationId xmlns:a16="http://schemas.microsoft.com/office/drawing/2014/main" id="{643EF024-AE49-44D7-3D0E-BDBE542A1980}"/>
                  </a:ext>
                </a:extLst>
              </p:cNvPr>
              <p:cNvSpPr txBox="1">
                <a:spLocks noGrp="1" noRot="1" noChangeAspect="1" noMove="1" noResize="1" noEditPoints="1" noAdjustHandles="1" noChangeArrowheads="1" noChangeShapeType="1" noTextEdit="1"/>
              </p:cNvSpPr>
              <p:nvPr>
                <p:ph type="body" idx="1"/>
              </p:nvPr>
            </p:nvSpPr>
            <p:spPr>
              <a:xfrm>
                <a:off x="376809" y="1334279"/>
                <a:ext cx="11177401" cy="4821102"/>
              </a:xfrm>
              <a:prstGeom prst="rect">
                <a:avLst/>
              </a:prstGeom>
              <a:blipFill>
                <a:blip r:embed="rId3"/>
                <a:stretch>
                  <a:fillRect l="-491" t="-759" r="-491"/>
                </a:stretch>
              </a:blipFill>
              <a:ln>
                <a:noFill/>
              </a:ln>
            </p:spPr>
            <p:txBody>
              <a:bodyPr/>
              <a:lstStyle/>
              <a:p>
                <a:r>
                  <a:rPr lang="en-US">
                    <a:noFill/>
                  </a:rPr>
                  <a:t> </a:t>
                </a:r>
              </a:p>
            </p:txBody>
          </p:sp>
        </mc:Fallback>
      </mc:AlternateContent>
      <p:sp>
        <p:nvSpPr>
          <p:cNvPr id="119" name="Google Shape;119;p29">
            <a:extLst>
              <a:ext uri="{FF2B5EF4-FFF2-40B4-BE49-F238E27FC236}">
                <a16:creationId xmlns:a16="http://schemas.microsoft.com/office/drawing/2014/main" id="{73FBB912-3BE1-0FDC-0F8D-75F17807F438}"/>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B753FFA-1062-4F7F-C60E-4F17B9216E15}"/>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62671A65-398A-4E29-D9CF-2D806A346A5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74AB7BC8-64B4-8E68-C76C-0246C7DE4C76}"/>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B1BA12BC-D4AB-639E-6A19-7D09BC8BE620}"/>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2E3CBD1-9AE4-6CC7-3BF7-78BDF5533B72}"/>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58DF4DC-5B6B-F42C-2A96-D7B2FE5FA56D}"/>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D4E81CC8-3FD2-8E53-EBDC-72FAEEE66C3F}"/>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2751342612"/>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118">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118">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118">
                                            <p:txEl>
                                              <p:pRg st="6" end="6"/>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118">
                                            <p:txEl>
                                              <p:pRg st="8" end="8"/>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118">
                                            <p:txEl>
                                              <p:pRg st="10" end="10"/>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18" grpId="0" uiExpand="1" build="p"/>
    </p:bldLst>
  </p:timing>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AE85744D-8F64-9B67-7C52-05D0B3EA7A0F}"/>
            </a:ext>
          </a:extLst>
        </p:cNvPr>
        <p:cNvGrpSpPr/>
        <p:nvPr/>
      </p:nvGrpSpPr>
      <p:grpSpPr>
        <a:xfrm>
          <a:off x="0" y="0"/>
          <a:ext cx="0" cy="0"/>
          <a:chOff x="0" y="0"/>
          <a:chExt cx="0" cy="0"/>
        </a:xfrm>
      </p:grpSpPr>
      <p:sp>
        <p:nvSpPr>
          <p:cNvPr id="119" name="Google Shape;119;p29">
            <a:extLst>
              <a:ext uri="{FF2B5EF4-FFF2-40B4-BE49-F238E27FC236}">
                <a16:creationId xmlns:a16="http://schemas.microsoft.com/office/drawing/2014/main" id="{6833CF3F-84C2-34A0-2BA3-F9A8B80F23FC}"/>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C1C10439-E04A-9BA5-3801-684146A10E9F}"/>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993BF50D-F511-4BE4-3D97-103ADE761955}"/>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4B019C62-854F-AE33-B3C6-E7D14E4E486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06DD070C-1E94-C3FD-5B89-2C48DF261246}"/>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E4649661-4C33-DF20-5644-DD94DD874D1F}"/>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BB21825C-F709-ED5C-85D5-10058831D159}"/>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97FE6DA0-F44D-7571-BF30-5345E2AEA9E9}"/>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pic>
        <p:nvPicPr>
          <p:cNvPr id="5" name="Graphic 4">
            <a:extLst>
              <a:ext uri="{FF2B5EF4-FFF2-40B4-BE49-F238E27FC236}">
                <a16:creationId xmlns:a16="http://schemas.microsoft.com/office/drawing/2014/main" id="{89F6B071-B715-7FBB-0E30-D060E408D0E0}"/>
              </a:ext>
            </a:extLst>
          </p:cNvPr>
          <p:cNvPicPr>
            <a:picLocks noChangeAspect="1"/>
          </p:cNvPicPr>
          <p:nvPr/>
        </p:nvPicPr>
        <p:blipFill>
          <a:blip r:embed="rId4">
            <a:extLst>
              <a:ext uri="{96DAC541-7B7A-43D3-8B79-37D633B846F1}">
                <asvg:svgBlip xmlns:asvg="http://schemas.microsoft.com/office/drawing/2016/SVG/main" r:embed="rId5"/>
              </a:ext>
            </a:extLst>
          </a:blip>
          <a:stretch>
            <a:fillRect/>
          </a:stretch>
        </p:blipFill>
        <p:spPr>
          <a:xfrm>
            <a:off x="191126" y="1205042"/>
            <a:ext cx="11281394" cy="5097742"/>
          </a:xfrm>
          <a:prstGeom prst="rect">
            <a:avLst/>
          </a:prstGeom>
        </p:spPr>
      </p:pic>
    </p:spTree>
    <p:extLst>
      <p:ext uri="{BB962C8B-B14F-4D97-AF65-F5344CB8AC3E}">
        <p14:creationId xmlns:p14="http://schemas.microsoft.com/office/powerpoint/2010/main" val="17264475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88">
          <a:extLst>
            <a:ext uri="{FF2B5EF4-FFF2-40B4-BE49-F238E27FC236}">
              <a16:creationId xmlns:a16="http://schemas.microsoft.com/office/drawing/2014/main" id="{4C84DABF-1A65-C6B6-59B9-E38B0BF872E4}"/>
            </a:ext>
          </a:extLst>
        </p:cNvPr>
        <p:cNvGrpSpPr/>
        <p:nvPr/>
      </p:nvGrpSpPr>
      <p:grpSpPr>
        <a:xfrm>
          <a:off x="0" y="0"/>
          <a:ext cx="0" cy="0"/>
          <a:chOff x="0" y="0"/>
          <a:chExt cx="0" cy="0"/>
        </a:xfrm>
      </p:grpSpPr>
      <p:grpSp>
        <p:nvGrpSpPr>
          <p:cNvPr id="2" name="Group 1">
            <a:extLst>
              <a:ext uri="{FF2B5EF4-FFF2-40B4-BE49-F238E27FC236}">
                <a16:creationId xmlns:a16="http://schemas.microsoft.com/office/drawing/2014/main" id="{28BFBCFF-B319-7084-60B4-F40A9B4A3E3F}"/>
              </a:ext>
            </a:extLst>
          </p:cNvPr>
          <p:cNvGrpSpPr/>
          <p:nvPr/>
        </p:nvGrpSpPr>
        <p:grpSpPr>
          <a:xfrm>
            <a:off x="2206906" y="2674628"/>
            <a:ext cx="7778187" cy="1508744"/>
            <a:chOff x="2206906" y="1491040"/>
            <a:chExt cx="7778187" cy="1508744"/>
          </a:xfrm>
        </p:grpSpPr>
        <p:sp>
          <p:nvSpPr>
            <p:cNvPr id="89" name="Google Shape;89;p27">
              <a:extLst>
                <a:ext uri="{FF2B5EF4-FFF2-40B4-BE49-F238E27FC236}">
                  <a16:creationId xmlns:a16="http://schemas.microsoft.com/office/drawing/2014/main" id="{DFEEFAD1-FD07-DA27-3395-E9F381198CEC}"/>
                </a:ext>
              </a:extLst>
            </p:cNvPr>
            <p:cNvSpPr txBox="1"/>
            <p:nvPr/>
          </p:nvSpPr>
          <p:spPr>
            <a:xfrm>
              <a:off x="2206906" y="1491040"/>
              <a:ext cx="7778187" cy="1015663"/>
            </a:xfrm>
            <a:prstGeom prst="rect">
              <a:avLst/>
            </a:prstGeom>
            <a:noFill/>
            <a:ln>
              <a:noFill/>
            </a:ln>
          </p:spPr>
          <p:txBody>
            <a:bodyPr spcFirstLastPara="1" wrap="square" lIns="91425" tIns="45700" rIns="91425" bIns="45700" anchor="t" anchorCtr="0">
              <a:spAutoFit/>
            </a:bodyPr>
            <a:lstStyle/>
            <a:p>
              <a:pPr marL="0" marR="0" lvl="0" indent="0" algn="ctr" rtl="0">
                <a:lnSpc>
                  <a:spcPct val="100000"/>
                </a:lnSpc>
                <a:spcBef>
                  <a:spcPts val="0"/>
                </a:spcBef>
                <a:spcAft>
                  <a:spcPts val="0"/>
                </a:spcAft>
                <a:buClr>
                  <a:srgbClr val="000000"/>
                </a:buClr>
                <a:buSzPts val="6000"/>
                <a:buFont typeface="Arial"/>
                <a:buNone/>
              </a:pPr>
              <a:r>
                <a:rPr lang="en-US" sz="6000" b="1" i="0" u="none" strike="noStrike" cap="none" dirty="0">
                  <a:solidFill>
                    <a:schemeClr val="lt1"/>
                  </a:solidFill>
                  <a:latin typeface="Arial"/>
                  <a:ea typeface="Arial"/>
                  <a:cs typeface="Arial"/>
                  <a:sym typeface="Arial"/>
                </a:rPr>
                <a:t>I2C Code</a:t>
              </a:r>
              <a:endParaRPr sz="1400" b="0" i="0" u="none" strike="noStrike" cap="none" dirty="0">
                <a:solidFill>
                  <a:srgbClr val="000000"/>
                </a:solidFill>
                <a:latin typeface="Arial"/>
                <a:ea typeface="Arial"/>
                <a:cs typeface="Arial"/>
                <a:sym typeface="Arial"/>
              </a:endParaRPr>
            </a:p>
          </p:txBody>
        </p:sp>
        <p:grpSp>
          <p:nvGrpSpPr>
            <p:cNvPr id="91" name="Google Shape;91;p27">
              <a:extLst>
                <a:ext uri="{FF2B5EF4-FFF2-40B4-BE49-F238E27FC236}">
                  <a16:creationId xmlns:a16="http://schemas.microsoft.com/office/drawing/2014/main" id="{C1953101-C1B4-8CB0-EDF2-2B63B55E05F5}"/>
                </a:ext>
              </a:extLst>
            </p:cNvPr>
            <p:cNvGrpSpPr/>
            <p:nvPr/>
          </p:nvGrpSpPr>
          <p:grpSpPr>
            <a:xfrm>
              <a:off x="3943790" y="2676939"/>
              <a:ext cx="3861740" cy="322845"/>
              <a:chOff x="3943790" y="2676939"/>
              <a:chExt cx="3861740" cy="322845"/>
            </a:xfrm>
          </p:grpSpPr>
          <p:cxnSp>
            <p:nvCxnSpPr>
              <p:cNvPr id="92" name="Google Shape;92;p27">
                <a:extLst>
                  <a:ext uri="{FF2B5EF4-FFF2-40B4-BE49-F238E27FC236}">
                    <a16:creationId xmlns:a16="http://schemas.microsoft.com/office/drawing/2014/main" id="{B27C0305-474B-0245-D124-55042940E23D}"/>
                  </a:ext>
                </a:extLst>
              </p:cNvPr>
              <p:cNvCxnSpPr/>
              <p:nvPr/>
            </p:nvCxnSpPr>
            <p:spPr>
              <a:xfrm>
                <a:off x="4426226" y="2676939"/>
                <a:ext cx="3379304" cy="0"/>
              </a:xfrm>
              <a:prstGeom prst="straightConnector1">
                <a:avLst/>
              </a:prstGeom>
              <a:noFill/>
              <a:ln w="19050" cap="flat" cmpd="sng">
                <a:solidFill>
                  <a:srgbClr val="E84B36"/>
                </a:solidFill>
                <a:prstDash val="solid"/>
                <a:round/>
                <a:headEnd type="none" w="sm" len="sm"/>
                <a:tailEnd type="none" w="sm" len="sm"/>
              </a:ln>
            </p:spPr>
          </p:cxnSp>
          <p:cxnSp>
            <p:nvCxnSpPr>
              <p:cNvPr id="93" name="Google Shape;93;p27">
                <a:extLst>
                  <a:ext uri="{FF2B5EF4-FFF2-40B4-BE49-F238E27FC236}">
                    <a16:creationId xmlns:a16="http://schemas.microsoft.com/office/drawing/2014/main" id="{AA189254-DAC8-83C7-CCA9-AA7F71F3AA12}"/>
                  </a:ext>
                </a:extLst>
              </p:cNvPr>
              <p:cNvCxnSpPr/>
              <p:nvPr/>
            </p:nvCxnSpPr>
            <p:spPr>
              <a:xfrm rot="10800000" flipH="1">
                <a:off x="3943790" y="2676939"/>
                <a:ext cx="482436" cy="322845"/>
              </a:xfrm>
              <a:prstGeom prst="straightConnector1">
                <a:avLst/>
              </a:prstGeom>
              <a:noFill/>
              <a:ln w="19050" cap="flat" cmpd="sng">
                <a:solidFill>
                  <a:srgbClr val="E84B36"/>
                </a:solidFill>
                <a:prstDash val="solid"/>
                <a:round/>
                <a:headEnd type="none" w="sm" len="sm"/>
                <a:tailEnd type="none" w="sm" len="sm"/>
              </a:ln>
            </p:spPr>
          </p:cxnSp>
        </p:grpSp>
      </p:grpSp>
      <p:pic>
        <p:nvPicPr>
          <p:cNvPr id="94" name="Google Shape;94;p27">
            <a:extLst>
              <a:ext uri="{FF2B5EF4-FFF2-40B4-BE49-F238E27FC236}">
                <a16:creationId xmlns:a16="http://schemas.microsoft.com/office/drawing/2014/main" id="{7C3506FF-25B6-D07B-BC27-27559D006FF8}"/>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95" name="Google Shape;95;p27">
            <a:extLst>
              <a:ext uri="{FF2B5EF4-FFF2-40B4-BE49-F238E27FC236}">
                <a16:creationId xmlns:a16="http://schemas.microsoft.com/office/drawing/2014/main" id="{647443F8-13EA-9F99-6347-86686C2F1BED}"/>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96" name="Google Shape;96;p27">
            <a:extLst>
              <a:ext uri="{FF2B5EF4-FFF2-40B4-BE49-F238E27FC236}">
                <a16:creationId xmlns:a16="http://schemas.microsoft.com/office/drawing/2014/main" id="{A9DC57D0-865F-E52A-7998-32204E9C691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97" name="Google Shape;97;p27">
            <a:extLst>
              <a:ext uri="{FF2B5EF4-FFF2-40B4-BE49-F238E27FC236}">
                <a16:creationId xmlns:a16="http://schemas.microsoft.com/office/drawing/2014/main" id="{71ABA7B5-D926-F07C-904B-3086E1D28534}"/>
              </a:ext>
            </a:extLst>
          </p:cNvPr>
          <p:cNvGrpSpPr/>
          <p:nvPr/>
        </p:nvGrpSpPr>
        <p:grpSpPr>
          <a:xfrm>
            <a:off x="4066674" y="6601537"/>
            <a:ext cx="5233412" cy="70446"/>
            <a:chOff x="4033424" y="6601537"/>
            <a:chExt cx="5233412" cy="70446"/>
          </a:xfrm>
        </p:grpSpPr>
        <p:cxnSp>
          <p:nvCxnSpPr>
            <p:cNvPr id="98" name="Google Shape;98;p27">
              <a:extLst>
                <a:ext uri="{FF2B5EF4-FFF2-40B4-BE49-F238E27FC236}">
                  <a16:creationId xmlns:a16="http://schemas.microsoft.com/office/drawing/2014/main" id="{CEE29D37-31CC-3B06-AD9F-5E2CFB3184DF}"/>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99" name="Google Shape;99;p27">
              <a:extLst>
                <a:ext uri="{FF2B5EF4-FFF2-40B4-BE49-F238E27FC236}">
                  <a16:creationId xmlns:a16="http://schemas.microsoft.com/office/drawing/2014/main" id="{3E25C5FF-1F7B-1CC5-6931-30EDADB0D41E}"/>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1063084109"/>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46AB9445-A2D5-5FC1-BDC2-BEBA1C2E88E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D64F7AAD-1DF6-2CFB-9ED5-A6E399F504C9}"/>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I2CA_Init(</a:t>
            </a:r>
            <a:r>
              <a:rPr lang="en-US" sz="1400" dirty="0">
                <a:solidFill>
                  <a:srgbClr val="7F0055"/>
                </a:solidFill>
                <a:latin typeface="Consolas" panose="020B0609020204030204" pitchFamily="49" charset="0"/>
              </a:rPr>
              <a:t>void</a:t>
            </a: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1. Set the </a:t>
            </a:r>
            <a:r>
              <a:rPr lang="en-US" sz="1400" dirty="0" err="1">
                <a:solidFill>
                  <a:srgbClr val="3F7F5F"/>
                </a:solidFill>
                <a:latin typeface="Consolas" panose="020B0609020204030204" pitchFamily="49" charset="0"/>
              </a:rPr>
              <a:t>Prescaler</a:t>
            </a:r>
            <a:r>
              <a:rPr lang="en-US" sz="1400" dirty="0">
                <a:solidFill>
                  <a:srgbClr val="3F7F5F"/>
                </a:solidFill>
                <a:latin typeface="Consolas" panose="020B0609020204030204" pitchFamily="49" charset="0"/>
              </a:rPr>
              <a:t> to generate the Module Clock</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I2CPSC</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16;   </a:t>
            </a:r>
            <a:r>
              <a:rPr lang="en-US" sz="1400" dirty="0">
                <a:solidFill>
                  <a:srgbClr val="3F7F5F"/>
                </a:solidFill>
                <a:latin typeface="Consolas" panose="020B0609020204030204" pitchFamily="49" charset="0"/>
              </a:rPr>
              <a:t>// Divides high-speed system clock down to ~7-12 MHz</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2. Define the exact characteristics of the SCL wave</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I2CCLKL</a:t>
            </a:r>
            <a:r>
              <a:rPr lang="en-US" sz="1400" dirty="0">
                <a:solidFill>
                  <a:srgbClr val="000000"/>
                </a:solidFill>
                <a:latin typeface="Consolas" panose="020B0609020204030204" pitchFamily="49" charset="0"/>
              </a:rPr>
              <a:t> = 10;      </a:t>
            </a:r>
            <a:r>
              <a:rPr lang="en-US" sz="1400" dirty="0">
                <a:solidFill>
                  <a:srgbClr val="3F7F5F"/>
                </a:solidFill>
                <a:latin typeface="Consolas" panose="020B0609020204030204" pitchFamily="49" charset="0"/>
              </a:rPr>
              <a:t>// Defines the duration of the SCL LOW period</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I2CCLKH</a:t>
            </a:r>
            <a:r>
              <a:rPr lang="en-US" sz="1400" dirty="0">
                <a:solidFill>
                  <a:srgbClr val="000000"/>
                </a:solidFill>
                <a:latin typeface="Consolas" panose="020B0609020204030204" pitchFamily="49" charset="0"/>
              </a:rPr>
              <a:t> = 5;       </a:t>
            </a:r>
            <a:r>
              <a:rPr lang="en-US" sz="1400" dirty="0">
                <a:solidFill>
                  <a:srgbClr val="3F7F5F"/>
                </a:solidFill>
                <a:latin typeface="Consolas" panose="020B0609020204030204" pitchFamily="49" charset="0"/>
              </a:rPr>
              <a:t>// Defines the duration of the SCL HIGH period</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3. Enable Interrupts for critical network events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I2CIER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0x24; </a:t>
            </a:r>
            <a:r>
              <a:rPr lang="en-US" sz="1400" dirty="0">
                <a:solidFill>
                  <a:srgbClr val="3F7F5F"/>
                </a:solidFill>
                <a:latin typeface="Consolas" panose="020B0609020204030204" pitchFamily="49" charset="0"/>
              </a:rPr>
              <a:t>// Enable Start Condition Detected (SCD) &amp; Register Access Ready (ARDY)</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4. Take the I2C module out of reset</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I2CMDR</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0x0020; </a:t>
            </a:r>
          </a:p>
          <a:p>
            <a:pPr marL="114300" indent="0" algn="l">
              <a:spcBef>
                <a:spcPts val="0"/>
              </a:spcBef>
              <a:buNone/>
            </a:pPr>
            <a:r>
              <a:rPr lang="en-US" sz="1400" dirty="0">
                <a:solidFill>
                  <a:srgbClr val="000000"/>
                </a:solidFill>
                <a:latin typeface="Consolas" panose="020B0609020204030204" pitchFamily="49" charset="0"/>
              </a:rPr>
              <a:t>    </a:t>
            </a:r>
          </a:p>
          <a:p>
            <a:pPr marL="114300" indent="0" algn="l">
              <a:spcBef>
                <a:spcPts val="0"/>
              </a:spcBef>
              <a:buNone/>
            </a:pPr>
            <a:r>
              <a:rPr lang="en-US" sz="1400" dirty="0">
                <a:solidFill>
                  <a:srgbClr val="000000"/>
                </a:solidFill>
                <a:latin typeface="Consolas" panose="020B0609020204030204" pitchFamily="49" charset="0"/>
              </a:rPr>
              <a:t>    </a:t>
            </a:r>
            <a:r>
              <a:rPr lang="en-US" sz="1400" dirty="0">
                <a:solidFill>
                  <a:srgbClr val="3F7F5F"/>
                </a:solidFill>
                <a:latin typeface="Consolas" panose="020B0609020204030204" pitchFamily="49" charset="0"/>
              </a:rPr>
              <a:t>// 5. Enable the 16-level Transmit and Receive FIFOs</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I2CFFTX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0x6000; </a:t>
            </a:r>
            <a:r>
              <a:rPr lang="en-US" sz="1400" dirty="0">
                <a:solidFill>
                  <a:srgbClr val="3F7F5F"/>
                </a:solidFill>
                <a:latin typeface="Consolas" panose="020B0609020204030204" pitchFamily="49" charset="0"/>
              </a:rPr>
              <a:t>// Enable FIFO mode and TXFIFO</a:t>
            </a:r>
          </a:p>
          <a:p>
            <a:pPr marL="114300" indent="0" algn="l">
              <a:spcBef>
                <a:spcPts val="0"/>
              </a:spcBef>
              <a:buNone/>
            </a:pPr>
            <a:r>
              <a:rPr lang="en-US" sz="1400" dirty="0">
                <a:solidFill>
                  <a:srgbClr val="000000"/>
                </a:solidFill>
                <a:latin typeface="Consolas" panose="020B0609020204030204" pitchFamily="49" charset="0"/>
              </a:rPr>
              <a:t>    I2caRegs.</a:t>
            </a:r>
            <a:r>
              <a:rPr lang="en-US" sz="1400" dirty="0">
                <a:solidFill>
                  <a:srgbClr val="0000C0"/>
                </a:solidFill>
                <a:latin typeface="Consolas" panose="020B0609020204030204" pitchFamily="49" charset="0"/>
              </a:rPr>
              <a:t>I2CFFRX</a:t>
            </a:r>
            <a:r>
              <a:rPr lang="en-US" sz="1400" dirty="0">
                <a:solidFill>
                  <a:srgbClr val="000000"/>
                </a:solidFill>
                <a:latin typeface="Consolas" panose="020B0609020204030204" pitchFamily="49" charset="0"/>
              </a:rPr>
              <a:t>.</a:t>
            </a:r>
            <a:r>
              <a:rPr lang="en-US" sz="1400" dirty="0">
                <a:solidFill>
                  <a:srgbClr val="0000C0"/>
                </a:solidFill>
                <a:latin typeface="Consolas" panose="020B0609020204030204" pitchFamily="49" charset="0"/>
              </a:rPr>
              <a:t>all</a:t>
            </a:r>
            <a:r>
              <a:rPr lang="en-US" sz="1400" dirty="0">
                <a:solidFill>
                  <a:srgbClr val="000000"/>
                </a:solidFill>
                <a:latin typeface="Consolas" panose="020B0609020204030204" pitchFamily="49" charset="0"/>
              </a:rPr>
              <a:t> = 0x2040; </a:t>
            </a:r>
            <a:r>
              <a:rPr lang="en-US" sz="1400" dirty="0">
                <a:solidFill>
                  <a:srgbClr val="3F7F5F"/>
                </a:solidFill>
                <a:latin typeface="Consolas" panose="020B0609020204030204" pitchFamily="49" charset="0"/>
              </a:rPr>
              <a:t>// Enable RXFIFO and clear interrupt flags</a:t>
            </a:r>
          </a:p>
          <a:p>
            <a:pPr marL="114300" indent="0" algn="l">
              <a:spcBef>
                <a:spcPts val="0"/>
              </a:spcBef>
              <a:buNone/>
            </a:pPr>
            <a:r>
              <a:rPr lang="en-US" sz="1400" dirty="0">
                <a:solidFill>
                  <a:srgbClr val="000000"/>
                </a:solidFill>
                <a:latin typeface="Consolas" panose="020B0609020204030204" pitchFamily="49" charset="0"/>
              </a:rPr>
              <a:t>}</a:t>
            </a:r>
          </a:p>
          <a:p>
            <a:pPr marL="114300" indent="0" algn="l">
              <a:spcBef>
                <a:spcPts val="0"/>
              </a:spcBef>
              <a:buNone/>
            </a:pPr>
            <a:endParaRPr lang="en-US" sz="1400" dirty="0">
              <a:solidFill>
                <a:srgbClr val="000000"/>
              </a:solidFill>
              <a:latin typeface="Consolas" panose="020B0609020204030204" pitchFamily="49" charset="0"/>
              <a:ea typeface="Arial"/>
              <a:cs typeface="Arial"/>
              <a:sym typeface="Arial"/>
            </a:endParaRPr>
          </a:p>
          <a:p>
            <a:pPr marL="114300" indent="0">
              <a:spcBef>
                <a:spcPts val="0"/>
              </a:spcBef>
              <a:buNone/>
            </a:pPr>
            <a:r>
              <a:rPr lang="en-US" sz="1400" dirty="0">
                <a:latin typeface="Arial"/>
                <a:ea typeface="Arial"/>
                <a:cs typeface="Arial"/>
                <a:sym typeface="Arial"/>
              </a:rPr>
              <a:t>Notice that </a:t>
            </a:r>
            <a:r>
              <a:rPr lang="en-US" sz="1400" dirty="0">
                <a:solidFill>
                  <a:srgbClr val="0000C0"/>
                </a:solidFill>
                <a:latin typeface="Consolas" panose="020B0609020204030204" pitchFamily="49" charset="0"/>
              </a:rPr>
              <a:t>I2CCLKL</a:t>
            </a:r>
            <a:r>
              <a:rPr lang="en-US" sz="1400" dirty="0">
                <a:latin typeface="Arial"/>
                <a:ea typeface="Arial"/>
                <a:cs typeface="Arial"/>
                <a:sym typeface="Arial"/>
              </a:rPr>
              <a:t> (10) is mathematically larger than </a:t>
            </a:r>
            <a:r>
              <a:rPr lang="en-US" sz="1400" dirty="0">
                <a:solidFill>
                  <a:srgbClr val="0000C0"/>
                </a:solidFill>
                <a:latin typeface="Consolas" panose="020B0609020204030204" pitchFamily="49" charset="0"/>
              </a:rPr>
              <a:t>I2CCLKH</a:t>
            </a:r>
            <a:r>
              <a:rPr lang="en-US" sz="1400" dirty="0">
                <a:latin typeface="Arial"/>
                <a:ea typeface="Arial"/>
                <a:cs typeface="Arial"/>
                <a:sym typeface="Arial"/>
              </a:rPr>
              <a:t> (5). Because the physical bus relies on passive pull-up resistors to transition HIGH, the rise-time is inherently slower, compared to the transistors, than the fall-time (which is actively pulled LOW by a transistor).</a:t>
            </a:r>
          </a:p>
        </p:txBody>
      </p:sp>
      <p:sp>
        <p:nvSpPr>
          <p:cNvPr id="119" name="Google Shape;119;p29">
            <a:extLst>
              <a:ext uri="{FF2B5EF4-FFF2-40B4-BE49-F238E27FC236}">
                <a16:creationId xmlns:a16="http://schemas.microsoft.com/office/drawing/2014/main" id="{895F2CF9-F9F3-853C-93A6-089F5EECECDF}"/>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F4E18208-B2D2-2EA9-4104-1A4E6257BBDE}"/>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98F12A4-E1E6-5C24-9100-6B1E328460AC}"/>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1D654F67-44EB-984F-1CDC-AA66144EBFDC}"/>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7E7D704D-26FA-6372-2EEE-C3B7BE81D5DC}"/>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B5F22221-BB8D-4ABD-3F2C-9DF51F5C2E07}"/>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DF23AE3F-1633-9D7C-DC38-12ABF363C73B}"/>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5B159FC-EA3B-C2C2-22D6-327F6226D698}"/>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4101440428"/>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Shape 117">
          <a:extLst>
            <a:ext uri="{FF2B5EF4-FFF2-40B4-BE49-F238E27FC236}">
              <a16:creationId xmlns:a16="http://schemas.microsoft.com/office/drawing/2014/main" id="{197F4231-B65F-212C-0CA4-631254DC90FA}"/>
            </a:ext>
          </a:extLst>
        </p:cNvPr>
        <p:cNvGrpSpPr/>
        <p:nvPr/>
      </p:nvGrpSpPr>
      <p:grpSpPr>
        <a:xfrm>
          <a:off x="0" y="0"/>
          <a:ext cx="0" cy="0"/>
          <a:chOff x="0" y="0"/>
          <a:chExt cx="0" cy="0"/>
        </a:xfrm>
      </p:grpSpPr>
      <p:sp>
        <p:nvSpPr>
          <p:cNvPr id="118" name="Google Shape;118;p29">
            <a:extLst>
              <a:ext uri="{FF2B5EF4-FFF2-40B4-BE49-F238E27FC236}">
                <a16:creationId xmlns:a16="http://schemas.microsoft.com/office/drawing/2014/main" id="{93F088E7-1145-C609-7933-790D8E932D65}"/>
              </a:ext>
            </a:extLst>
          </p:cNvPr>
          <p:cNvSpPr txBox="1">
            <a:spLocks noGrp="1"/>
          </p:cNvSpPr>
          <p:nvPr>
            <p:ph type="body" idx="1"/>
          </p:nvPr>
        </p:nvSpPr>
        <p:spPr>
          <a:xfrm>
            <a:off x="376809" y="1334279"/>
            <a:ext cx="11177401" cy="4821102"/>
          </a:xfrm>
          <a:prstGeom prst="rect">
            <a:avLst/>
          </a:prstGeom>
          <a:noFill/>
          <a:ln>
            <a:noFill/>
          </a:ln>
        </p:spPr>
        <p:txBody>
          <a:bodyPr spcFirstLastPara="1" wrap="square" lIns="91425" tIns="45700" rIns="91425" bIns="45700" anchor="ctr" anchorCtr="0">
            <a:noAutofit/>
          </a:bodyPr>
          <a:lstStyle/>
          <a:p>
            <a:pPr marL="114300" indent="0" algn="l">
              <a:spcBef>
                <a:spcPts val="0"/>
              </a:spcBef>
              <a:buNone/>
            </a:pPr>
            <a:r>
              <a:rPr lang="nn-NO" sz="1000" dirty="0">
                <a:solidFill>
                  <a:srgbClr val="005032"/>
                </a:solidFill>
                <a:latin typeface="Consolas" panose="020B0609020204030204" pitchFamily="49" charset="0"/>
              </a:rPr>
              <a:t>Uint16</a:t>
            </a:r>
            <a:r>
              <a:rPr lang="nn-NO" sz="1000" dirty="0">
                <a:solidFill>
                  <a:srgbClr val="000000"/>
                </a:solidFill>
                <a:latin typeface="Consolas" panose="020B0609020204030204" pitchFamily="49" charset="0"/>
              </a:rPr>
              <a:t> I2CA_WriteData(</a:t>
            </a:r>
            <a:r>
              <a:rPr lang="nn-NO" sz="1000" dirty="0">
                <a:solidFill>
                  <a:srgbClr val="7F0055"/>
                </a:solidFill>
                <a:latin typeface="Consolas" panose="020B0609020204030204" pitchFamily="49" charset="0"/>
              </a:rPr>
              <a:t>struct</a:t>
            </a:r>
            <a:r>
              <a:rPr lang="nn-NO" sz="1000" dirty="0">
                <a:solidFill>
                  <a:srgbClr val="000000"/>
                </a:solidFill>
                <a:latin typeface="Consolas" panose="020B0609020204030204" pitchFamily="49" charset="0"/>
              </a:rPr>
              <a:t> </a:t>
            </a:r>
            <a:r>
              <a:rPr lang="nn-NO" sz="1000" dirty="0">
                <a:solidFill>
                  <a:srgbClr val="005032"/>
                </a:solidFill>
                <a:latin typeface="Consolas" panose="020B0609020204030204" pitchFamily="49" charset="0"/>
              </a:rPr>
              <a:t>I2CMSG</a:t>
            </a:r>
            <a:r>
              <a:rPr lang="nn-NO" sz="1000" dirty="0">
                <a:solidFill>
                  <a:srgbClr val="000000"/>
                </a:solidFill>
                <a:latin typeface="Consolas" panose="020B0609020204030204" pitchFamily="49" charset="0"/>
              </a:rPr>
              <a:t> *msg)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1. Verify if the previous message completed?</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STP</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I2C_STP_NOT_READY_ERROR;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Verify if another Master using the bus?</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if</a:t>
            </a:r>
            <a:r>
              <a:rPr lang="en-US" sz="1000" dirty="0">
                <a:solidFill>
                  <a:srgbClr val="000000"/>
                </a:solidFill>
                <a:latin typeface="Consolas" panose="020B0609020204030204" pitchFamily="49" charset="0"/>
              </a:rPr>
              <a:t>(I2caRegs.</a:t>
            </a:r>
            <a:r>
              <a:rPr lang="en-US" sz="1000" dirty="0">
                <a:solidFill>
                  <a:srgbClr val="0000C0"/>
                </a:solidFill>
                <a:latin typeface="Consolas" panose="020B0609020204030204" pitchFamily="49" charset="0"/>
              </a:rPr>
              <a:t>I2CSTR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bit</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BB</a:t>
            </a:r>
            <a:r>
              <a:rPr lang="en-US" sz="1000" dirty="0">
                <a:solidFill>
                  <a:srgbClr val="000000"/>
                </a:solidFill>
                <a:latin typeface="Consolas" panose="020B0609020204030204" pitchFamily="49" charset="0"/>
              </a:rPr>
              <a:t> == 1) {</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I2C_BUS_BUSY_ERROR;</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3. Broadcast the Slave's address (EEPROM is typically 0x50)</a:t>
            </a:r>
          </a:p>
          <a:p>
            <a:pPr marL="114300" indent="0">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I2CSAR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SlaveAddress</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 </a:t>
            </a:r>
            <a:endParaRPr lang="en-US" sz="1000" dirty="0">
              <a:solidFill>
                <a:srgbClr val="000000"/>
              </a:solidFill>
              <a:latin typeface="Consolas" panose="020B0609020204030204" pitchFamily="49" charset="0"/>
            </a:endParaRP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Define exactly how many bytes we will transmit</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(2 bytes for the EEPROM memory address + the actual data bytes)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I2CCNT</a:t>
            </a:r>
            <a:r>
              <a:rPr lang="en-US" sz="1000" dirty="0">
                <a:solidFill>
                  <a:srgbClr val="000000"/>
                </a:solidFill>
                <a:latin typeface="Consolas" panose="020B0609020204030204" pitchFamily="49" charset="0"/>
              </a:rPr>
              <a:t> = 2 +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4. Push the EEPROM memory pointer into the Transmit FIFO (think of the Slave's address as the apartment address and this as setting the specific apartment number we want to write to)</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MemoryHighAddr</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MemoryLowAddr</a:t>
            </a:r>
            <a:r>
              <a:rPr lang="en-US" sz="1000" dirty="0">
                <a:solidFill>
                  <a:srgbClr val="000000"/>
                </a:solidFill>
                <a:latin typeface="Consolas" panose="020B0609020204030204" pitchFamily="49" charset="0"/>
              </a:rPr>
              <a:t>;</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5. Push the actual data payload into the Transmit FIFO</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for</a:t>
            </a: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int</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 0;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&lt; msg-&gt;</a:t>
            </a:r>
            <a:r>
              <a:rPr lang="en-US" sz="1000" dirty="0" err="1">
                <a:solidFill>
                  <a:srgbClr val="0000C0"/>
                </a:solidFill>
                <a:latin typeface="Consolas" panose="020B0609020204030204" pitchFamily="49" charset="0"/>
              </a:rPr>
              <a:t>NumOfBytes</a:t>
            </a:r>
            <a:r>
              <a:rPr lang="en-US" sz="1000" dirty="0">
                <a:solidFill>
                  <a:srgbClr val="000000"/>
                </a:solidFill>
                <a:latin typeface="Consolas" panose="020B0609020204030204" pitchFamily="49" charset="0"/>
              </a:rPr>
              <a:t>;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 {</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I2CDXR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*(msg-&gt;</a:t>
            </a:r>
            <a:r>
              <a:rPr lang="en-US" sz="1000" dirty="0" err="1">
                <a:solidFill>
                  <a:srgbClr val="0000C0"/>
                </a:solidFill>
                <a:latin typeface="Consolas" panose="020B0609020204030204" pitchFamily="49" charset="0"/>
              </a:rPr>
              <a:t>MsgBuffer</a:t>
            </a:r>
            <a:r>
              <a:rPr lang="en-US" sz="1000" dirty="0">
                <a:solidFill>
                  <a:srgbClr val="000000"/>
                </a:solidFill>
                <a:latin typeface="Consolas" panose="020B0609020204030204" pitchFamily="49" charset="0"/>
              </a:rPr>
              <a:t> + </a:t>
            </a:r>
            <a:r>
              <a:rPr lang="en-US" sz="1000" dirty="0" err="1">
                <a:solidFill>
                  <a:srgbClr val="000000"/>
                </a:solidFill>
                <a:latin typeface="Consolas" panose="020B0609020204030204" pitchFamily="49" charset="0"/>
              </a:rPr>
              <a:t>i</a:t>
            </a:r>
            <a:r>
              <a:rPr lang="en-US" sz="1000" dirty="0">
                <a:solidFill>
                  <a:srgbClr val="000000"/>
                </a:solidFill>
                <a:latin typeface="Consolas" panose="020B0609020204030204" pitchFamily="49" charset="0"/>
              </a:rPr>
              <a:t>);</a:t>
            </a:r>
          </a:p>
          <a:p>
            <a:pPr marL="114300" indent="0" algn="l">
              <a:spcBef>
                <a:spcPts val="0"/>
              </a:spcBef>
              <a:buNone/>
            </a:pPr>
            <a:r>
              <a:rPr lang="en-US" sz="1000" dirty="0">
                <a:solidFill>
                  <a:srgbClr val="000000"/>
                </a:solidFill>
                <a:latin typeface="Consolas" panose="020B0609020204030204" pitchFamily="49" charset="0"/>
              </a:rPr>
              <a:t>    }</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6. Command the hardware to execute the transaction</a:t>
            </a: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3F7F5F"/>
                </a:solidFill>
                <a:latin typeface="Consolas" panose="020B0609020204030204" pitchFamily="49" charset="0"/>
              </a:rPr>
              <a:t>// 0x6E20 sets: FREE (run during debug), START, STOP, MASTER, TRANSMIT, and ENABLE bits</a:t>
            </a:r>
          </a:p>
          <a:p>
            <a:pPr marL="114300" indent="0" algn="l">
              <a:spcBef>
                <a:spcPts val="0"/>
              </a:spcBef>
              <a:buNone/>
            </a:pPr>
            <a:r>
              <a:rPr lang="en-US" sz="1000" dirty="0">
                <a:solidFill>
                  <a:srgbClr val="000000"/>
                </a:solidFill>
                <a:latin typeface="Consolas" panose="020B0609020204030204" pitchFamily="49" charset="0"/>
              </a:rPr>
              <a:t>    I2caRegs.</a:t>
            </a:r>
            <a:r>
              <a:rPr lang="en-US" sz="1000" dirty="0">
                <a:solidFill>
                  <a:srgbClr val="0000C0"/>
                </a:solidFill>
                <a:latin typeface="Consolas" panose="020B0609020204030204" pitchFamily="49" charset="0"/>
              </a:rPr>
              <a:t>I2CMDR</a:t>
            </a:r>
            <a:r>
              <a:rPr lang="en-US" sz="1000" dirty="0">
                <a:solidFill>
                  <a:srgbClr val="000000"/>
                </a:solidFill>
                <a:latin typeface="Consolas" panose="020B0609020204030204" pitchFamily="49" charset="0"/>
              </a:rPr>
              <a:t>.</a:t>
            </a:r>
            <a:r>
              <a:rPr lang="en-US" sz="1000" dirty="0">
                <a:solidFill>
                  <a:srgbClr val="0000C0"/>
                </a:solidFill>
                <a:latin typeface="Consolas" panose="020B0609020204030204" pitchFamily="49" charset="0"/>
              </a:rPr>
              <a:t>all</a:t>
            </a:r>
            <a:r>
              <a:rPr lang="en-US" sz="1000" dirty="0">
                <a:solidFill>
                  <a:srgbClr val="000000"/>
                </a:solidFill>
                <a:latin typeface="Consolas" panose="020B0609020204030204" pitchFamily="49" charset="0"/>
              </a:rPr>
              <a:t> = 0x6E20;</a:t>
            </a:r>
          </a:p>
          <a:p>
            <a:pPr marL="114300" indent="0" algn="l">
              <a:spcBef>
                <a:spcPts val="0"/>
              </a:spcBef>
              <a:buNone/>
            </a:pPr>
            <a:endParaRPr lang="en-US" sz="1000" dirty="0">
              <a:latin typeface="Consolas" panose="020B0609020204030204" pitchFamily="49" charset="0"/>
            </a:endParaRPr>
          </a:p>
          <a:p>
            <a:pPr marL="114300" indent="0" algn="l">
              <a:spcBef>
                <a:spcPts val="0"/>
              </a:spcBef>
              <a:buNone/>
            </a:pPr>
            <a:r>
              <a:rPr lang="en-US" sz="1000" dirty="0">
                <a:solidFill>
                  <a:srgbClr val="000000"/>
                </a:solidFill>
                <a:latin typeface="Consolas" panose="020B0609020204030204" pitchFamily="49" charset="0"/>
              </a:rPr>
              <a:t>    </a:t>
            </a:r>
            <a:r>
              <a:rPr lang="en-US" sz="1000" dirty="0">
                <a:solidFill>
                  <a:srgbClr val="7F0055"/>
                </a:solidFill>
                <a:latin typeface="Consolas" panose="020B0609020204030204" pitchFamily="49" charset="0"/>
              </a:rPr>
              <a:t>return</a:t>
            </a:r>
            <a:r>
              <a:rPr lang="en-US" sz="1000" dirty="0">
                <a:solidFill>
                  <a:srgbClr val="000000"/>
                </a:solidFill>
                <a:latin typeface="Consolas" panose="020B0609020204030204" pitchFamily="49" charset="0"/>
              </a:rPr>
              <a:t> I2C_SUCCESS;</a:t>
            </a:r>
          </a:p>
          <a:p>
            <a:pPr marL="114300" indent="0" algn="l">
              <a:spcBef>
                <a:spcPts val="0"/>
              </a:spcBef>
              <a:buNone/>
            </a:pPr>
            <a:r>
              <a:rPr lang="en-US" sz="1000" dirty="0">
                <a:solidFill>
                  <a:srgbClr val="000000"/>
                </a:solidFill>
                <a:latin typeface="Consolas" panose="020B0609020204030204" pitchFamily="49" charset="0"/>
              </a:rPr>
              <a:t>}</a:t>
            </a:r>
            <a:endParaRPr lang="en-US" sz="1000" dirty="0">
              <a:latin typeface="Arial"/>
              <a:ea typeface="Arial"/>
              <a:cs typeface="Arial"/>
              <a:sym typeface="Arial"/>
            </a:endParaRPr>
          </a:p>
        </p:txBody>
      </p:sp>
      <p:sp>
        <p:nvSpPr>
          <p:cNvPr id="119" name="Google Shape;119;p29">
            <a:extLst>
              <a:ext uri="{FF2B5EF4-FFF2-40B4-BE49-F238E27FC236}">
                <a16:creationId xmlns:a16="http://schemas.microsoft.com/office/drawing/2014/main" id="{444DCDA8-B2DC-D389-AC24-934093A1F4AE}"/>
              </a:ext>
            </a:extLst>
          </p:cNvPr>
          <p:cNvSpPr/>
          <p:nvPr/>
        </p:nvSpPr>
        <p:spPr>
          <a:xfrm rot="10800000" flipH="1">
            <a:off x="0" y="0"/>
            <a:ext cx="12192000" cy="868220"/>
          </a:xfrm>
          <a:prstGeom prst="rect">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Clr>
                <a:schemeClr val="lt1"/>
              </a:buClr>
              <a:buSzPts val="1800"/>
              <a:buFont typeface="Calibri"/>
              <a:buNone/>
            </a:pPr>
            <a:endParaRPr sz="1800" b="0" i="0" u="none" strike="noStrike" cap="none">
              <a:solidFill>
                <a:srgbClr val="13294B"/>
              </a:solidFill>
              <a:latin typeface="Calibri"/>
              <a:ea typeface="Calibri"/>
              <a:cs typeface="Calibri"/>
              <a:sym typeface="Calibri"/>
            </a:endParaRPr>
          </a:p>
        </p:txBody>
      </p:sp>
      <p:sp>
        <p:nvSpPr>
          <p:cNvPr id="120" name="Google Shape;120;p29">
            <a:extLst>
              <a:ext uri="{FF2B5EF4-FFF2-40B4-BE49-F238E27FC236}">
                <a16:creationId xmlns:a16="http://schemas.microsoft.com/office/drawing/2014/main" id="{33F19BD0-8C1F-F2BA-2D97-1FA5B92539CC}"/>
              </a:ext>
            </a:extLst>
          </p:cNvPr>
          <p:cNvSpPr txBox="1"/>
          <p:nvPr/>
        </p:nvSpPr>
        <p:spPr>
          <a:xfrm>
            <a:off x="376810" y="204051"/>
            <a:ext cx="10910026" cy="461624"/>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Clr>
                <a:srgbClr val="000000"/>
              </a:buClr>
              <a:buSzPts val="2400"/>
              <a:buFont typeface="Arial"/>
              <a:buNone/>
            </a:pPr>
            <a:r>
              <a:rPr lang="en-US" sz="2400" b="0" i="0" u="none" strike="noStrike" cap="none" dirty="0">
                <a:solidFill>
                  <a:schemeClr val="lt1"/>
                </a:solidFill>
                <a:latin typeface="Arial"/>
                <a:ea typeface="Arial"/>
                <a:cs typeface="Arial"/>
                <a:sym typeface="Arial"/>
              </a:rPr>
              <a:t>Serial Communication – I2C - Init</a:t>
            </a:r>
            <a:endParaRPr sz="2400" b="0" i="0" u="none" strike="noStrike" cap="none" dirty="0">
              <a:solidFill>
                <a:schemeClr val="lt1"/>
              </a:solidFill>
              <a:latin typeface="Arial"/>
              <a:ea typeface="Arial"/>
              <a:cs typeface="Arial"/>
              <a:sym typeface="Arial"/>
            </a:endParaRPr>
          </a:p>
        </p:txBody>
      </p:sp>
      <p:pic>
        <p:nvPicPr>
          <p:cNvPr id="121" name="Google Shape;121;p29">
            <a:extLst>
              <a:ext uri="{FF2B5EF4-FFF2-40B4-BE49-F238E27FC236}">
                <a16:creationId xmlns:a16="http://schemas.microsoft.com/office/drawing/2014/main" id="{41BB0513-306A-FD0C-E69D-E0B72EF85B97}"/>
              </a:ext>
            </a:extLst>
          </p:cNvPr>
          <p:cNvPicPr preferRelativeResize="0"/>
          <p:nvPr/>
        </p:nvPicPr>
        <p:blipFill rotWithShape="1">
          <a:blip r:embed="rId3">
            <a:alphaModFix/>
          </a:blip>
          <a:srcRect/>
          <a:stretch/>
        </p:blipFill>
        <p:spPr>
          <a:xfrm>
            <a:off x="11557509" y="233819"/>
            <a:ext cx="271308" cy="389810"/>
          </a:xfrm>
          <a:prstGeom prst="rect">
            <a:avLst/>
          </a:prstGeom>
          <a:noFill/>
          <a:ln>
            <a:noFill/>
          </a:ln>
        </p:spPr>
      </p:pic>
      <p:sp>
        <p:nvSpPr>
          <p:cNvPr id="122" name="Google Shape;122;p29">
            <a:extLst>
              <a:ext uri="{FF2B5EF4-FFF2-40B4-BE49-F238E27FC236}">
                <a16:creationId xmlns:a16="http://schemas.microsoft.com/office/drawing/2014/main" id="{C5DED8B8-74B5-A936-A54B-451973AFB475}"/>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rgbClr val="13294B"/>
                </a:solidFill>
                <a:latin typeface="Arial"/>
                <a:ea typeface="Arial"/>
                <a:cs typeface="Arial"/>
                <a:sym typeface="Arial"/>
              </a:rPr>
              <a:t>GRAINGER ENGINEERING</a:t>
            </a:r>
            <a:endParaRPr/>
          </a:p>
        </p:txBody>
      </p:sp>
      <p:sp>
        <p:nvSpPr>
          <p:cNvPr id="123" name="Google Shape;123;p29">
            <a:extLst>
              <a:ext uri="{FF2B5EF4-FFF2-40B4-BE49-F238E27FC236}">
                <a16:creationId xmlns:a16="http://schemas.microsoft.com/office/drawing/2014/main" id="{3CD8CA38-1255-BEE8-59E1-F4649DD77E03}"/>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rgbClr val="13294B"/>
                </a:solidFill>
              </a:rPr>
              <a:t>SYSTEMS ENGINEERING </a:t>
            </a:r>
            <a:endParaRPr dirty="0"/>
          </a:p>
        </p:txBody>
      </p:sp>
      <p:grpSp>
        <p:nvGrpSpPr>
          <p:cNvPr id="124" name="Google Shape;124;p29">
            <a:extLst>
              <a:ext uri="{FF2B5EF4-FFF2-40B4-BE49-F238E27FC236}">
                <a16:creationId xmlns:a16="http://schemas.microsoft.com/office/drawing/2014/main" id="{D0719A25-255F-57E9-4EA4-F8775804FBC9}"/>
              </a:ext>
            </a:extLst>
          </p:cNvPr>
          <p:cNvGrpSpPr/>
          <p:nvPr/>
        </p:nvGrpSpPr>
        <p:grpSpPr>
          <a:xfrm>
            <a:off x="4066674" y="6601537"/>
            <a:ext cx="5233412" cy="70446"/>
            <a:chOff x="4033424" y="6601537"/>
            <a:chExt cx="5233412" cy="70446"/>
          </a:xfrm>
        </p:grpSpPr>
        <p:cxnSp>
          <p:nvCxnSpPr>
            <p:cNvPr id="125" name="Google Shape;125;p29">
              <a:extLst>
                <a:ext uri="{FF2B5EF4-FFF2-40B4-BE49-F238E27FC236}">
                  <a16:creationId xmlns:a16="http://schemas.microsoft.com/office/drawing/2014/main" id="{9DC82D69-0F8D-E590-1CB5-E4F4FF04DF17}"/>
                </a:ext>
              </a:extLst>
            </p:cNvPr>
            <p:cNvCxnSpPr/>
            <p:nvPr/>
          </p:nvCxnSpPr>
          <p:spPr>
            <a:xfrm rot="10800000">
              <a:off x="4033424" y="6639606"/>
              <a:ext cx="5164651" cy="0"/>
            </a:xfrm>
            <a:prstGeom prst="straightConnector1">
              <a:avLst/>
            </a:prstGeom>
            <a:noFill/>
            <a:ln w="9525" cap="flat" cmpd="sng">
              <a:solidFill>
                <a:srgbClr val="13294B"/>
              </a:solidFill>
              <a:prstDash val="solid"/>
              <a:round/>
              <a:headEnd type="none" w="sm" len="sm"/>
              <a:tailEnd type="none" w="sm" len="sm"/>
            </a:ln>
          </p:spPr>
        </p:cxnSp>
        <p:sp>
          <p:nvSpPr>
            <p:cNvPr id="126" name="Google Shape;126;p29">
              <a:extLst>
                <a:ext uri="{FF2B5EF4-FFF2-40B4-BE49-F238E27FC236}">
                  <a16:creationId xmlns:a16="http://schemas.microsoft.com/office/drawing/2014/main" id="{57C34F90-B255-9CFB-5140-9BEB92DB7820}"/>
                </a:ext>
              </a:extLst>
            </p:cNvPr>
            <p:cNvSpPr/>
            <p:nvPr/>
          </p:nvSpPr>
          <p:spPr>
            <a:xfrm>
              <a:off x="9196390" y="6601537"/>
              <a:ext cx="70446" cy="70446"/>
            </a:xfrm>
            <a:prstGeom prst="ellipse">
              <a:avLst/>
            </a:prstGeom>
            <a:solidFill>
              <a:srgbClr val="13294B"/>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rgbClr val="13294B"/>
                </a:solidFill>
                <a:latin typeface="Arial"/>
                <a:ea typeface="Arial"/>
                <a:cs typeface="Arial"/>
                <a:sym typeface="Arial"/>
              </a:endParaRPr>
            </a:p>
          </p:txBody>
        </p:sp>
      </p:grpSp>
    </p:spTree>
    <p:extLst>
      <p:ext uri="{BB962C8B-B14F-4D97-AF65-F5344CB8AC3E}">
        <p14:creationId xmlns:p14="http://schemas.microsoft.com/office/powerpoint/2010/main" val="3175689221"/>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63">
          <a:extLst>
            <a:ext uri="{FF2B5EF4-FFF2-40B4-BE49-F238E27FC236}">
              <a16:creationId xmlns:a16="http://schemas.microsoft.com/office/drawing/2014/main" id="{FA145421-BB40-88A0-CFFD-DC4D9CAC5BB5}"/>
            </a:ext>
          </a:extLst>
        </p:cNvPr>
        <p:cNvGrpSpPr/>
        <p:nvPr/>
      </p:nvGrpSpPr>
      <p:grpSpPr>
        <a:xfrm>
          <a:off x="0" y="0"/>
          <a:ext cx="0" cy="0"/>
          <a:chOff x="0" y="0"/>
          <a:chExt cx="0" cy="0"/>
        </a:xfrm>
      </p:grpSpPr>
      <p:sp>
        <p:nvSpPr>
          <p:cNvPr id="264" name="Google Shape;264;p37">
            <a:extLst>
              <a:ext uri="{FF2B5EF4-FFF2-40B4-BE49-F238E27FC236}">
                <a16:creationId xmlns:a16="http://schemas.microsoft.com/office/drawing/2014/main" id="{B5B2745B-F5C6-8FBF-1FAE-FE621EFA88F0}"/>
              </a:ext>
            </a:extLst>
          </p:cNvPr>
          <p:cNvSpPr txBox="1"/>
          <p:nvPr/>
        </p:nvSpPr>
        <p:spPr>
          <a:xfrm>
            <a:off x="2275515" y="2823928"/>
            <a:ext cx="7640969" cy="1210143"/>
          </a:xfrm>
          <a:prstGeom prst="rect">
            <a:avLst/>
          </a:prstGeom>
          <a:noFill/>
          <a:ln>
            <a:noFill/>
          </a:ln>
        </p:spPr>
        <p:txBody>
          <a:bodyPr spcFirstLastPara="1" wrap="square" lIns="91425" tIns="45700" rIns="91425" bIns="45700" anchor="t" anchorCtr="0">
            <a:noAutofit/>
          </a:bodyPr>
          <a:lstStyle/>
          <a:p>
            <a:pPr lvl="0" algn="ctr"/>
            <a:r>
              <a:rPr lang="en-US" sz="6600" b="1" dirty="0">
                <a:solidFill>
                  <a:schemeClr val="lt1"/>
                </a:solidFill>
              </a:rPr>
              <a:t>Questions</a:t>
            </a:r>
            <a:r>
              <a:rPr lang="en-US" sz="5400" b="1" dirty="0">
                <a:solidFill>
                  <a:schemeClr val="lt1"/>
                </a:solidFill>
              </a:rPr>
              <a:t>?</a:t>
            </a:r>
          </a:p>
        </p:txBody>
      </p:sp>
      <p:pic>
        <p:nvPicPr>
          <p:cNvPr id="265" name="Google Shape;265;p37">
            <a:extLst>
              <a:ext uri="{FF2B5EF4-FFF2-40B4-BE49-F238E27FC236}">
                <a16:creationId xmlns:a16="http://schemas.microsoft.com/office/drawing/2014/main" id="{EDC8C897-5AB2-076F-5135-9B30ACCBD22F}"/>
              </a:ext>
            </a:extLst>
          </p:cNvPr>
          <p:cNvPicPr preferRelativeResize="0"/>
          <p:nvPr/>
        </p:nvPicPr>
        <p:blipFill rotWithShape="1">
          <a:blip r:embed="rId4">
            <a:alphaModFix/>
          </a:blip>
          <a:srcRect/>
          <a:stretch/>
        </p:blipFill>
        <p:spPr>
          <a:xfrm>
            <a:off x="11557509" y="233819"/>
            <a:ext cx="271308" cy="389810"/>
          </a:xfrm>
          <a:prstGeom prst="rect">
            <a:avLst/>
          </a:prstGeom>
          <a:noFill/>
          <a:ln>
            <a:noFill/>
          </a:ln>
        </p:spPr>
      </p:pic>
      <p:sp>
        <p:nvSpPr>
          <p:cNvPr id="266" name="Google Shape;266;p37">
            <a:extLst>
              <a:ext uri="{FF2B5EF4-FFF2-40B4-BE49-F238E27FC236}">
                <a16:creationId xmlns:a16="http://schemas.microsoft.com/office/drawing/2014/main" id="{CF8648FC-7240-4BBB-9E09-C030BD1A8052}"/>
              </a:ext>
            </a:extLst>
          </p:cNvPr>
          <p:cNvSpPr txBox="1"/>
          <p:nvPr/>
        </p:nvSpPr>
        <p:spPr>
          <a:xfrm>
            <a:off x="9335597" y="6524381"/>
            <a:ext cx="2473415" cy="230792"/>
          </a:xfrm>
          <a:prstGeom prst="rect">
            <a:avLst/>
          </a:prstGeom>
          <a:noFill/>
          <a:ln>
            <a:noFill/>
          </a:ln>
        </p:spPr>
        <p:txBody>
          <a:bodyPr spcFirstLastPara="1" wrap="square" lIns="91425" tIns="45700" rIns="91425" bIns="45700" anchor="t" anchorCtr="0">
            <a:spAutoFit/>
          </a:bodyPr>
          <a:lstStyle/>
          <a:p>
            <a:pPr marL="0" marR="0" lvl="0" indent="0" algn="r" rtl="0">
              <a:lnSpc>
                <a:spcPct val="100000"/>
              </a:lnSpc>
              <a:spcBef>
                <a:spcPts val="0"/>
              </a:spcBef>
              <a:spcAft>
                <a:spcPts val="0"/>
              </a:spcAft>
              <a:buNone/>
            </a:pPr>
            <a:r>
              <a:rPr lang="en-US" sz="900" b="0" i="0" u="none" strike="noStrike" cap="none">
                <a:solidFill>
                  <a:schemeClr val="lt1"/>
                </a:solidFill>
                <a:latin typeface="Arial"/>
                <a:ea typeface="Arial"/>
                <a:cs typeface="Arial"/>
                <a:sym typeface="Arial"/>
              </a:rPr>
              <a:t>GRAINGER ENGINEERING</a:t>
            </a:r>
            <a:endParaRPr/>
          </a:p>
        </p:txBody>
      </p:sp>
      <p:sp>
        <p:nvSpPr>
          <p:cNvPr id="267" name="Google Shape;267;p37">
            <a:extLst>
              <a:ext uri="{FF2B5EF4-FFF2-40B4-BE49-F238E27FC236}">
                <a16:creationId xmlns:a16="http://schemas.microsoft.com/office/drawing/2014/main" id="{6A5B7064-0FC6-E501-D020-2C92B5A6057B}"/>
              </a:ext>
            </a:extLst>
          </p:cNvPr>
          <p:cNvSpPr txBox="1"/>
          <p:nvPr/>
        </p:nvSpPr>
        <p:spPr>
          <a:xfrm>
            <a:off x="376807" y="6524381"/>
            <a:ext cx="7991337" cy="230792"/>
          </a:xfrm>
          <a:prstGeom prst="rect">
            <a:avLst/>
          </a:prstGeom>
          <a:noFill/>
          <a:ln>
            <a:noFill/>
          </a:ln>
        </p:spPr>
        <p:txBody>
          <a:bodyPr spcFirstLastPara="1" wrap="square" lIns="91425" tIns="45700" rIns="91425" bIns="45700" anchor="t" anchorCtr="0">
            <a:spAutoFit/>
          </a:bodyPr>
          <a:lstStyle/>
          <a:p>
            <a:pPr marL="0" marR="0" lvl="0" indent="0" algn="l" rtl="0">
              <a:lnSpc>
                <a:spcPct val="100000"/>
              </a:lnSpc>
              <a:spcBef>
                <a:spcPts val="0"/>
              </a:spcBef>
              <a:spcAft>
                <a:spcPts val="0"/>
              </a:spcAft>
              <a:buNone/>
            </a:pPr>
            <a:r>
              <a:rPr lang="en-US" sz="900" dirty="0">
                <a:solidFill>
                  <a:schemeClr val="lt1"/>
                </a:solidFill>
              </a:rPr>
              <a:t>SYSTEMS ENGINEERING </a:t>
            </a:r>
            <a:endParaRPr dirty="0"/>
          </a:p>
        </p:txBody>
      </p:sp>
      <p:grpSp>
        <p:nvGrpSpPr>
          <p:cNvPr id="268" name="Google Shape;268;p37">
            <a:extLst>
              <a:ext uri="{FF2B5EF4-FFF2-40B4-BE49-F238E27FC236}">
                <a16:creationId xmlns:a16="http://schemas.microsoft.com/office/drawing/2014/main" id="{69F24B96-E9CD-EB54-C22A-3DD90799A7A7}"/>
              </a:ext>
            </a:extLst>
          </p:cNvPr>
          <p:cNvGrpSpPr/>
          <p:nvPr/>
        </p:nvGrpSpPr>
        <p:grpSpPr>
          <a:xfrm>
            <a:off x="4066674" y="6601537"/>
            <a:ext cx="5233412" cy="70446"/>
            <a:chOff x="4033424" y="6601537"/>
            <a:chExt cx="5233412" cy="70446"/>
          </a:xfrm>
        </p:grpSpPr>
        <p:cxnSp>
          <p:nvCxnSpPr>
            <p:cNvPr id="269" name="Google Shape;269;p37">
              <a:extLst>
                <a:ext uri="{FF2B5EF4-FFF2-40B4-BE49-F238E27FC236}">
                  <a16:creationId xmlns:a16="http://schemas.microsoft.com/office/drawing/2014/main" id="{BDF89024-C4A2-8F3A-DA57-A772C1368044}"/>
                </a:ext>
              </a:extLst>
            </p:cNvPr>
            <p:cNvCxnSpPr/>
            <p:nvPr/>
          </p:nvCxnSpPr>
          <p:spPr>
            <a:xfrm rot="10800000">
              <a:off x="4033424" y="6639606"/>
              <a:ext cx="5164651" cy="0"/>
            </a:xfrm>
            <a:prstGeom prst="straightConnector1">
              <a:avLst/>
            </a:prstGeom>
            <a:noFill/>
            <a:ln w="9525" cap="flat" cmpd="sng">
              <a:solidFill>
                <a:schemeClr val="lt1"/>
              </a:solidFill>
              <a:prstDash val="solid"/>
              <a:round/>
              <a:headEnd type="none" w="sm" len="sm"/>
              <a:tailEnd type="none" w="sm" len="sm"/>
            </a:ln>
          </p:spPr>
        </p:cxnSp>
        <p:sp>
          <p:nvSpPr>
            <p:cNvPr id="270" name="Google Shape;270;p37">
              <a:extLst>
                <a:ext uri="{FF2B5EF4-FFF2-40B4-BE49-F238E27FC236}">
                  <a16:creationId xmlns:a16="http://schemas.microsoft.com/office/drawing/2014/main" id="{B3758997-614E-F4D9-9F4D-D716DCC856BA}"/>
                </a:ext>
              </a:extLst>
            </p:cNvPr>
            <p:cNvSpPr/>
            <p:nvPr/>
          </p:nvSpPr>
          <p:spPr>
            <a:xfrm>
              <a:off x="9196390" y="6601537"/>
              <a:ext cx="70446" cy="70446"/>
            </a:xfrm>
            <a:prstGeom prst="ellipse">
              <a:avLst/>
            </a:prstGeom>
            <a:solidFill>
              <a:schemeClr val="lt1"/>
            </a:solidFill>
            <a:ln>
              <a:noFill/>
            </a:ln>
          </p:spPr>
          <p:txBody>
            <a:bodyPr spcFirstLastPara="1" wrap="square" lIns="91425" tIns="45700" rIns="91425" bIns="45700" anchor="ctr" anchorCtr="0">
              <a:noAutofit/>
            </a:bodyPr>
            <a:lstStyle/>
            <a:p>
              <a:pPr marL="0" marR="0" lvl="0" indent="0" algn="ctr" rtl="0">
                <a:lnSpc>
                  <a:spcPct val="100000"/>
                </a:lnSpc>
                <a:spcBef>
                  <a:spcPts val="0"/>
                </a:spcBef>
                <a:spcAft>
                  <a:spcPts val="0"/>
                </a:spcAft>
                <a:buNone/>
              </a:pPr>
              <a:endParaRPr sz="1400" b="0" i="0" u="none" strike="noStrike" cap="none">
                <a:solidFill>
                  <a:schemeClr val="lt1"/>
                </a:solidFill>
                <a:latin typeface="Arial"/>
                <a:ea typeface="Arial"/>
                <a:cs typeface="Arial"/>
                <a:sym typeface="Arial"/>
              </a:endParaRPr>
            </a:p>
          </p:txBody>
        </p:sp>
      </p:grpSp>
    </p:spTree>
    <p:extLst>
      <p:ext uri="{BB962C8B-B14F-4D97-AF65-F5344CB8AC3E}">
        <p14:creationId xmlns:p14="http://schemas.microsoft.com/office/powerpoint/2010/main" val="2315989789"/>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bg>
      <p:bgPr>
        <a:blipFill>
          <a:blip r:embed="rId3">
            <a:alphaModFix/>
          </a:blip>
          <a:stretch>
            <a:fillRect/>
          </a:stretch>
        </a:blipFill>
        <a:effectLst/>
      </p:bgPr>
    </p:bg>
    <p:spTree>
      <p:nvGrpSpPr>
        <p:cNvPr id="1" name="Shape 274"/>
        <p:cNvGrpSpPr/>
        <p:nvPr/>
      </p:nvGrpSpPr>
      <p:grpSpPr>
        <a:xfrm>
          <a:off x="0" y="0"/>
          <a:ext cx="0" cy="0"/>
          <a:chOff x="0" y="0"/>
          <a:chExt cx="0" cy="0"/>
        </a:xfrm>
      </p:grpSpPr>
      <p:pic>
        <p:nvPicPr>
          <p:cNvPr id="275" name="Google Shape;275;p38"/>
          <p:cNvPicPr preferRelativeResize="0"/>
          <p:nvPr/>
        </p:nvPicPr>
        <p:blipFill rotWithShape="1">
          <a:blip r:embed="rId4">
            <a:alphaModFix/>
          </a:blip>
          <a:srcRect/>
          <a:stretch/>
        </p:blipFill>
        <p:spPr>
          <a:xfrm>
            <a:off x="2259350" y="2791508"/>
            <a:ext cx="5414193" cy="1274984"/>
          </a:xfrm>
          <a:prstGeom prst="rect">
            <a:avLst/>
          </a:prstGeom>
          <a:noFill/>
          <a:ln>
            <a:noFill/>
          </a:ln>
        </p:spPr>
      </p:pic>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957</TotalTime>
  <Words>4413</Words>
  <Application>Microsoft Office PowerPoint</Application>
  <PresentationFormat>Widescreen</PresentationFormat>
  <Paragraphs>548</Paragraphs>
  <Slides>61</Slides>
  <Notes>61</Notes>
  <HiddenSlides>0</HiddenSlides>
  <MMClips>0</MMClips>
  <ScaleCrop>false</ScaleCrop>
  <HeadingPairs>
    <vt:vector size="6" baseType="variant">
      <vt:variant>
        <vt:lpstr>Fonts Used</vt:lpstr>
      </vt:variant>
      <vt:variant>
        <vt:i4>4</vt:i4>
      </vt:variant>
      <vt:variant>
        <vt:lpstr>Theme</vt:lpstr>
      </vt:variant>
      <vt:variant>
        <vt:i4>1</vt:i4>
      </vt:variant>
      <vt:variant>
        <vt:lpstr>Slide Titles</vt:lpstr>
      </vt:variant>
      <vt:variant>
        <vt:i4>61</vt:i4>
      </vt:variant>
    </vt:vector>
  </HeadingPairs>
  <TitlesOfParts>
    <vt:vector size="66" baseType="lpstr">
      <vt:lpstr>Arial</vt:lpstr>
      <vt:lpstr>Calibri</vt:lpstr>
      <vt:lpstr>Cambria Math</vt:lpstr>
      <vt:lpstr>Consolas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creator>Nielsen, Joshua</dc:creator>
  <cp:lastModifiedBy>Juston, Marius F</cp:lastModifiedBy>
  <cp:revision>233</cp:revision>
  <dcterms:created xsi:type="dcterms:W3CDTF">2019-01-14T22:06:33Z</dcterms:created>
  <dcterms:modified xsi:type="dcterms:W3CDTF">2026-02-23T00:38:10Z</dcterms:modified>
</cp:coreProperties>
</file>