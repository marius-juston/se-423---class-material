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3"/>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396" r:id="rId45"/>
    <p:sldId id="398" r:id="rId46"/>
    <p:sldId id="405" r:id="rId47"/>
    <p:sldId id="397" r:id="rId48"/>
    <p:sldId id="399" r:id="rId49"/>
    <p:sldId id="401" r:id="rId50"/>
    <p:sldId id="402" r:id="rId51"/>
    <p:sldId id="403" r:id="rId52"/>
    <p:sldId id="404" r:id="rId53"/>
    <p:sldId id="406" r:id="rId54"/>
    <p:sldId id="407" r:id="rId55"/>
    <p:sldId id="408" r:id="rId56"/>
    <p:sldId id="409" r:id="rId57"/>
    <p:sldId id="410" r:id="rId58"/>
    <p:sldId id="411" r:id="rId59"/>
    <p:sldId id="412" r:id="rId60"/>
    <p:sldId id="271" r:id="rId61"/>
    <p:sldId id="270" r:id="rId6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38" autoAdjust="0"/>
    <p:restoredTop sz="94660"/>
  </p:normalViewPr>
  <p:slideViewPr>
    <p:cSldViewPr snapToGrid="0">
      <p:cViewPr varScale="1">
        <p:scale>
          <a:sx n="150" d="100"/>
          <a:sy n="150" d="100"/>
        </p:scale>
        <p:origin x="56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Correct, you would need 15 SPISTE wires to route between the different sensors, this complicates the circuit and, more wires also means more potential interference!</a:t>
            </a:r>
            <a:endParaRPr dirty="0"/>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090A88-7CE8-CFF4-2F18-8A131D1457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7886F1-886C-5426-615C-E07CAC45B9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6EBE4A-B54F-87FF-7C29-FB4C0F7F6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6262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4BC3D-6452-DF5F-D9A4-D824FB6DCB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D402A8-708B-8999-FE2E-DEFE246631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CAB557-4D64-AF74-C1CA-FFA2AFEADF9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3242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038A9-C724-CFD4-FA00-03791AF114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017A38-13D9-10D1-7D26-32370DFBBA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A98F0E-A8B4-7AC6-0AE6-4FC30C1666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313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DCCCF5-0E98-C80D-AD5C-415490B1D7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B2FEDB-159A-F08A-B832-F0452A5527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D7D7E34-683F-B65B-0D1D-8A98D5BCC2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35262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C2667-6FA7-3649-A353-5B09F7FC2D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7687E-7EF7-5767-DD72-91F192651A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330D447-1745-AC3B-2D4C-09F524D63C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92915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ACAC2C-3B9C-0BF7-6012-9D576CEF6D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09370-3EAD-9487-DAD9-A0E660B6C2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52243D-64FD-AC30-E686-4943A1F0B6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36541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9F9877-9868-3F44-D95D-47C77CE827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69889D-AFD8-5E55-DE1F-21F108BB3C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E1D671-B8A2-DD52-55D7-A55FC4CFEF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30574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F60CFF-3499-365F-D27E-D2CE0F624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B49C-9472-9574-FE88-58DFAC2CBD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71F966-285B-370F-E4A0-6D5E2BD963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42757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59F92-92EE-6DCA-5BA0-48586D8AE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8ADEA5-30CA-6754-72C3-7B17F0ABA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460299-1C2E-8129-90D1-FE2AB98CB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5521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9E40127-582A-3A0E-85A3-63EFB7248A5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8980E48-3660-2FC0-3864-7CE0E747A1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How do we get the electrical signals to agree on a single clock wave?</a:t>
            </a:r>
            <a:endParaRPr dirty="0"/>
          </a:p>
        </p:txBody>
      </p:sp>
      <p:sp>
        <p:nvSpPr>
          <p:cNvPr id="87" name="Google Shape;87;p27:notes">
            <a:extLst>
              <a:ext uri="{FF2B5EF4-FFF2-40B4-BE49-F238E27FC236}">
                <a16:creationId xmlns:a16="http://schemas.microsoft.com/office/drawing/2014/main" id="{F2A128FA-9E8D-47CF-5904-C3CFB67662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8623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4AAAB-8BC6-8921-F38A-EBABF0F44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EC11F6-49EA-F5E6-10FC-4DE5FF0756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EAD4B2-3CE8-A83A-BDA3-5168650D55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4312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1CBFB4-8EF2-C10E-F9B4-07DDC70F9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05EF9F-11FF-82F6-9958-35D228EA8B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96EC63-E185-5A52-EB13-FE9752A4D9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416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CA1EA4-1150-7202-D155-3E447F9DC12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460245-CCF5-A0B7-F2E6-677CCB27AE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017F10-C0FF-DD99-9F97-170A808D16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3081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90229A1-C4D5-1E31-B4AE-21F9D76A5FB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B72D92A-40DA-CEAB-651A-6390E806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234B7F8-5202-0577-2128-19A5F21FE4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25698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5EF128-6066-A9F1-7231-CDBCE83D34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2F2CE0-F6CA-3074-37C2-EAA94DB88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8D23E-711B-3969-8670-62F87E480B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62673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BF2369-0DAB-7754-347F-C85C833F00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EDA960-0BD6-630C-D2CC-D8E051554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1D1E9B-4136-F5C6-9A15-5DB9488C1F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289479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8.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10: Communication Protocols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23</a:t>
            </a:r>
            <a:r>
              <a:rPr lang="en-US" sz="1800" b="0" i="0" u="none" strike="noStrike" cap="none" baseline="30000" dirty="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rtl="0">
              <a:lnSpc>
                <a:spcPct val="100000"/>
              </a:lnSpc>
              <a:spcBef>
                <a:spcPts val="0"/>
              </a:spcBef>
              <a:spcAft>
                <a:spcPts val="0"/>
              </a:spcAft>
              <a:buSzPts val="3000"/>
              <a:buNone/>
            </a:pPr>
            <a:r>
              <a:rPr lang="en-US" sz="1800" dirty="0">
                <a:latin typeface="Atkinson Hyperlegible Next"/>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tkinson Hyperlegible Next"/>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Time!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Interferences</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There are 4 interference couplings: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285750" indent="-285750">
              <a:lnSpc>
                <a:spcPct val="100000"/>
              </a:lnSpc>
              <a:spcBef>
                <a:spcPts val="0"/>
              </a:spcBef>
              <a:buSzPts val="3000"/>
            </a:pPr>
            <a:r>
              <a:rPr lang="en-US" sz="1400" b="1" dirty="0">
                <a:latin typeface="Atkinson Hyperlegible Next"/>
                <a:ea typeface="Arial"/>
                <a:cs typeface="Arial"/>
                <a:sym typeface="Arial"/>
              </a:rPr>
              <a:t>Conductive</a:t>
            </a:r>
            <a:r>
              <a:rPr lang="en-US" sz="1400" dirty="0">
                <a:latin typeface="Atkinson Hyperlegible Next"/>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tkinson Hyperlegible Next"/>
                <a:ea typeface="Arial"/>
                <a:cs typeface="Arial"/>
                <a:sym typeface="Arial"/>
              </a:rPr>
              <a:t>It is common to refer to electrical induction as </a:t>
            </a: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coupling, and to magnetic induction as </a:t>
            </a: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coupling.</a:t>
            </a:r>
          </a:p>
          <a:p>
            <a:pPr marL="285750" indent="-285750">
              <a:lnSpc>
                <a:spcPct val="100000"/>
              </a:lnSpc>
              <a:spcBef>
                <a:spcPts val="0"/>
              </a:spcBef>
              <a:buSzPts val="3000"/>
            </a:pP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Radiative:</a:t>
            </a:r>
            <a:r>
              <a:rPr lang="en-US" sz="1400" dirty="0">
                <a:latin typeface="Atkinson Hyperlegible Next"/>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FF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tkinson Hyperlegible Next"/>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 </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tkinson Hyperlegible Next"/>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By Ohm’s law, the inject noise current flows through the victim’s wire </a:t>
                </a:r>
                <a:r>
                  <a:rPr lang="en-US" sz="1800" dirty="0" err="1">
                    <a:solidFill>
                      <a:schemeClr val="dk1"/>
                    </a:solidFill>
                    <a:latin typeface="Atkinson Hyperlegible Next"/>
                    <a:ea typeface="Arial"/>
                    <a:cs typeface="Arial"/>
                    <a:sym typeface="Arial"/>
                  </a:rPr>
                  <a:t>impedence</a:t>
                </a:r>
                <a:r>
                  <a:rPr lang="en-US" sz="1800" dirty="0">
                    <a:solidFill>
                      <a:schemeClr val="dk1"/>
                    </a:solidFill>
                    <a:latin typeface="Atkinson Hyperlegible Next"/>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tkinson Hyperlegible Next"/>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High-frequency vs low-frequency</a:t>
                </a: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Assuming a duty cycle of 50%?</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tkinson Hyperlegible Next"/>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Magnetic coupling is governed by </a:t>
                </a:r>
                <a:r>
                  <a:rPr lang="en-US" sz="1500" b="1" dirty="0">
                    <a:latin typeface="Atkinson Hyperlegible Next"/>
                    <a:ea typeface="Arial"/>
                    <a:cs typeface="Arial"/>
                    <a:sym typeface="Arial"/>
                  </a:rPr>
                  <a:t>Ampere's Law </a:t>
                </a:r>
                <a:r>
                  <a:rPr lang="en-US" sz="1500" dirty="0">
                    <a:latin typeface="Atkinson Hyperlegible Next"/>
                    <a:ea typeface="Arial"/>
                    <a:cs typeface="Arial"/>
                    <a:sym typeface="Arial"/>
                  </a:rPr>
                  <a:t>and </a:t>
                </a:r>
                <a:r>
                  <a:rPr lang="en-US" sz="1500" b="1" dirty="0">
                    <a:latin typeface="Atkinson Hyperlegible Next"/>
                    <a:ea typeface="Arial"/>
                    <a:cs typeface="Arial"/>
                    <a:sym typeface="Arial"/>
                  </a:rPr>
                  <a:t>Faraday's Law </a:t>
                </a:r>
                <a:r>
                  <a:rPr lang="en-US" sz="1500" dirty="0">
                    <a:latin typeface="Atkinson Hyperlegible Next"/>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tkinson Hyperlegible Next"/>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tkinson Hyperlegible Next"/>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tkinson Hyperlegible Next"/>
                    <a:ea typeface="Arial"/>
                    <a:cs typeface="Arial"/>
                    <a:sym typeface="Arial"/>
                  </a:rPr>
                  <a:t> represents the flux)</a:t>
                </a:r>
              </a:p>
              <a:p>
                <a:pPr marL="0" indent="0">
                  <a:lnSpc>
                    <a:spcPct val="100000"/>
                  </a:lnSpc>
                  <a:spcBef>
                    <a:spcPts val="0"/>
                  </a:spcBef>
                  <a:buSzPts val="3000"/>
                  <a:buNone/>
                </a:pPr>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tkinson Hyperlegible Next"/>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tkinson Hyperlegible Next"/>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tkinson Hyperlegible Next"/>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tkinson Hyperlegible Next"/>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we get: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Thus, given the final inference noise,</a:t>
                </a: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tkinson Hyperlegible Next"/>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Notation</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Asynchronous networks (SCI/UART) operate </a:t>
            </a:r>
            <a:r>
              <a:rPr lang="en-US" sz="2400" b="1" dirty="0">
                <a:solidFill>
                  <a:schemeClr val="dk1"/>
                </a:solidFill>
                <a:latin typeface="Atkinson Hyperlegible Next"/>
                <a:ea typeface="Arial"/>
                <a:cs typeface="Arial"/>
                <a:sym typeface="Arial"/>
              </a:rPr>
              <a:t>without</a:t>
            </a:r>
            <a:r>
              <a:rPr lang="en-US" sz="2400" dirty="0">
                <a:solidFill>
                  <a:schemeClr val="dk1"/>
                </a:solidFill>
                <a:latin typeface="Atkinson Hyperlegible Next"/>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tkinson Hyperlegible Next"/>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Asynchronous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Synchronous networks (SPI/I2C) operate </a:t>
            </a:r>
            <a:r>
              <a:rPr lang="en-US" sz="2400" b="1" dirty="0">
                <a:solidFill>
                  <a:schemeClr val="dk1"/>
                </a:solidFill>
                <a:latin typeface="Atkinson Hyperlegible Next"/>
                <a:ea typeface="Arial"/>
                <a:cs typeface="Arial"/>
                <a:sym typeface="Arial"/>
              </a:rPr>
              <a:t>with</a:t>
            </a:r>
            <a:r>
              <a:rPr lang="en-US" sz="2400" dirty="0">
                <a:solidFill>
                  <a:schemeClr val="dk1"/>
                </a:solidFill>
                <a:latin typeface="Atkinson Hyperlegible Next"/>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Simplex vs Half-Duplex vs Full-Duplex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How data flows in networks: Simplex, Half-Duplex, Full-Duplex | Anis HASSEN  posted on the topic | LinkedIn">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Half-duplex vs Full-duplex vs Simplex Transmission Mode">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Protocols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SCI</a:t>
            </a:r>
            <a:r>
              <a:rPr lang="en-US" sz="2200" dirty="0">
                <a:latin typeface="Atkinson Hyperlegible Next"/>
                <a:ea typeface="Arial"/>
                <a:cs typeface="Arial"/>
                <a:sym typeface="Arial"/>
              </a:rPr>
              <a:t> – Serial Communications Interface - The classic UART. It is asynchronous, requiring only two wires (TX/RX), but limited in speed due to the lack of a shared clock. Discussed in </a:t>
            </a:r>
            <a:r>
              <a:rPr lang="en-US" sz="2200" dirty="0">
                <a:latin typeface="Atkinson Hyperlegible Next"/>
                <a:ea typeface="Arial"/>
                <a:cs typeface="Arial"/>
                <a:sym typeface="Arial"/>
                <a:hlinkClick r:id="rId3"/>
              </a:rPr>
              <a:t>Lecture 4</a:t>
            </a:r>
            <a:r>
              <a:rPr lang="en-US" sz="2200" dirty="0">
                <a:latin typeface="Atkinson Hyperlegible Next"/>
                <a:ea typeface="Arial"/>
                <a:cs typeface="Arial"/>
                <a:sym typeface="Arial"/>
              </a:rPr>
              <a:t>.</a:t>
            </a: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SPI</a:t>
            </a:r>
            <a:r>
              <a:rPr lang="en-US" sz="2200" dirty="0">
                <a:latin typeface="Atkinson Hyperlegible Next"/>
                <a:ea typeface="Arial"/>
                <a:cs typeface="Arial"/>
                <a:sym typeface="Arial"/>
              </a:rPr>
              <a:t> – Serial Peripheral Interface - A high-speed synchronous serial input and output (I/O) port. It requires four wires and dominates high-frequency sensor and motor driver applications. Discussed in </a:t>
            </a:r>
            <a:r>
              <a:rPr lang="en-US" sz="2200" dirty="0">
                <a:latin typeface="Atkinson Hyperlegible Next"/>
                <a:ea typeface="Arial"/>
                <a:cs typeface="Arial"/>
                <a:sym typeface="Arial"/>
                <a:hlinkClick r:id="rId4"/>
              </a:rPr>
              <a:t>Lecture 6-7</a:t>
            </a:r>
            <a:endParaRPr lang="en-US" sz="2200" dirty="0">
              <a:latin typeface="Atkinson Hyperlegible Next"/>
              <a:ea typeface="Arial"/>
              <a:cs typeface="Arial"/>
              <a:sym typeface="Arial"/>
            </a:endParaRP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I2C</a:t>
            </a:r>
            <a:r>
              <a:rPr lang="en-US" sz="2200" dirty="0">
                <a:latin typeface="Atkinson Hyperlegible Next"/>
                <a:ea typeface="Arial"/>
                <a:cs typeface="Arial"/>
                <a:sym typeface="Arial"/>
              </a:rPr>
              <a:t> – Inter-Integrated Circuit Module - A synchronous, two-wire bus using software addressing rather than hardware routing. Uses less wires some can be advantageous over SPI.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CAN</a:t>
            </a:r>
            <a:r>
              <a:rPr lang="en-US" sz="2200" dirty="0">
                <a:latin typeface="Atkinson Hyperlegible Next"/>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McBSP</a:t>
            </a:r>
            <a:r>
              <a:rPr lang="en-US" sz="2200" dirty="0">
                <a:latin typeface="Atkinson Hyperlegible Next"/>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USB</a:t>
            </a:r>
            <a:r>
              <a:rPr lang="en-US" sz="2200" dirty="0">
                <a:latin typeface="Atkinson Hyperlegible Next"/>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uPP</a:t>
            </a:r>
            <a:r>
              <a:rPr lang="en-US" sz="2200" dirty="0">
                <a:latin typeface="Atkinson Hyperlegible Next"/>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SCI / UART</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tkinson Hyperlegible Next"/>
                <a:ea typeface="Arial"/>
                <a:cs typeface="Arial"/>
                <a:sym typeface="Arial"/>
              </a:rPr>
              <a:t>Asynchronous</a:t>
            </a:r>
            <a:r>
              <a:rPr lang="en-US" sz="2200" dirty="0">
                <a:latin typeface="Atkinson Hyperlegible Next"/>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tkinson Hyperlegible Next"/>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SCI / UART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SPI</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Multi-device communication is supported by the master or slave operation of the SPI.</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SPICLK</a:t>
            </a:r>
            <a:r>
              <a:rPr lang="en-US" sz="2200" dirty="0">
                <a:latin typeface="Atkinson Hyperlegible Next"/>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tkinson Hyperlegible Next"/>
                <a:ea typeface="Arial"/>
                <a:cs typeface="Arial"/>
                <a:sym typeface="Arial"/>
              </a:rPr>
              <a:t>SPISIMO</a:t>
            </a:r>
            <a:r>
              <a:rPr lang="en-US" sz="2200" dirty="0">
                <a:latin typeface="Atkinson Hyperlegible Next"/>
                <a:ea typeface="Arial"/>
                <a:cs typeface="Arial"/>
                <a:sym typeface="Arial"/>
              </a:rPr>
              <a:t>: The SPI slave-input/master-output pin</a:t>
            </a:r>
          </a:p>
          <a:p>
            <a:pPr marL="342900">
              <a:lnSpc>
                <a:spcPct val="100000"/>
              </a:lnSpc>
              <a:spcBef>
                <a:spcPts val="0"/>
              </a:spcBef>
              <a:buSzPts val="3000"/>
            </a:pPr>
            <a:r>
              <a:rPr lang="en-US" sz="2200" b="1" dirty="0">
                <a:latin typeface="Atkinson Hyperlegible Next"/>
                <a:ea typeface="Arial"/>
                <a:cs typeface="Arial"/>
                <a:sym typeface="Arial"/>
              </a:rPr>
              <a:t>SPISOMI</a:t>
            </a:r>
            <a:r>
              <a:rPr lang="en-US" sz="2200" dirty="0">
                <a:latin typeface="Atkinson Hyperlegible Next"/>
                <a:ea typeface="Arial"/>
                <a:cs typeface="Arial"/>
                <a:sym typeface="Arial"/>
              </a:rPr>
              <a:t>: The SPI slave-output/master-input pin</a:t>
            </a:r>
          </a:p>
          <a:p>
            <a:pPr marL="342900">
              <a:lnSpc>
                <a:spcPct val="100000"/>
              </a:lnSpc>
              <a:spcBef>
                <a:spcPts val="0"/>
              </a:spcBef>
              <a:buSzPts val="3000"/>
            </a:pPr>
            <a:r>
              <a:rPr lang="en-US" sz="2200" b="1" dirty="0">
                <a:latin typeface="Atkinson Hyperlegible Next"/>
                <a:ea typeface="Arial"/>
                <a:cs typeface="Arial"/>
                <a:sym typeface="Arial"/>
              </a:rPr>
              <a:t>SPISTE</a:t>
            </a:r>
            <a:r>
              <a:rPr lang="en-US" sz="2200" dirty="0">
                <a:latin typeface="Atkinson Hyperlegible Next"/>
                <a:ea typeface="Arial"/>
                <a:cs typeface="Arial"/>
                <a:sym typeface="Arial"/>
              </a:rPr>
              <a:t>: The SPI slave transmit-enable pin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SPIINT: </a:t>
            </a:r>
            <a:r>
              <a:rPr lang="en-US" sz="2400" dirty="0"/>
              <a:t>Transmit interrupt/ Receive Interrupt in non-FIFO mode</a:t>
            </a:r>
            <a:endParaRPr lang="en-US" sz="2200" dirty="0">
              <a:latin typeface="Atkinson Hyperlegible Next"/>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tkinson Hyperlegible Next"/>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LSPCLK = Low-speed peripheral clock frequency of the device. Like the </a:t>
                </a:r>
                <a:r>
                  <a:rPr lang="en-US" sz="2000" dirty="0" err="1">
                    <a:latin typeface="Atkinson Hyperlegible Next"/>
                    <a:ea typeface="Arial"/>
                    <a:cs typeface="Arial"/>
                    <a:sym typeface="Arial"/>
                  </a:rPr>
                  <a:t>ePWM</a:t>
                </a:r>
                <a:r>
                  <a:rPr lang="en-US" sz="2000" dirty="0">
                    <a:latin typeface="Atkinson Hyperlegible Next"/>
                    <a:ea typeface="Arial"/>
                    <a:cs typeface="Arial"/>
                    <a:sym typeface="Arial"/>
                  </a:rPr>
                  <a:t> it is 50 </a:t>
                </a:r>
                <a:r>
                  <a:rPr lang="en-US" sz="2000" dirty="0" err="1">
                    <a:latin typeface="Atkinson Hyperlegible Next"/>
                    <a:ea typeface="Arial"/>
                    <a:cs typeface="Arial"/>
                    <a:sym typeface="Arial"/>
                  </a:rPr>
                  <a:t>MHz.</a:t>
                </a:r>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In </a:t>
                </a:r>
                <a:r>
                  <a:rPr lang="en-US" sz="2000" b="1" dirty="0">
                    <a:latin typeface="Atkinson Hyperlegible Next"/>
                    <a:ea typeface="Arial"/>
                    <a:cs typeface="Arial"/>
                    <a:sym typeface="Arial"/>
                  </a:rPr>
                  <a:t>master </a:t>
                </a:r>
                <a:r>
                  <a:rPr lang="en-US" sz="2000" dirty="0">
                    <a:latin typeface="Atkinson Hyperlegible Next"/>
                    <a:ea typeface="Arial"/>
                    <a:cs typeface="Arial"/>
                    <a:sym typeface="Arial"/>
                  </a:rPr>
                  <a:t>mode, the SPI clock is generated by the SPI and is output on the SPICLK pin.</a:t>
                </a:r>
              </a:p>
            </p:txBody>
          </p:sp>
        </mc:Choice>
        <mc:Fallback xmlns="">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SPICLK</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SPISIMO</a:t>
            </a:r>
            <a:r>
              <a:rPr lang="en-US" sz="3200" dirty="0">
                <a:latin typeface="Atkinson Hyperlegible Next"/>
                <a:ea typeface="Arial"/>
                <a:cs typeface="Arial"/>
                <a:sym typeface="Arial"/>
              </a:rPr>
              <a:t> pin acts as the primary transmission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controller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SPISIMO (Master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SPISOMI</a:t>
            </a:r>
            <a:r>
              <a:rPr lang="en-US" sz="3200" dirty="0">
                <a:latin typeface="Atkinson Hyperlegible Next"/>
                <a:ea typeface="Arial"/>
                <a:cs typeface="Arial"/>
                <a:sym typeface="Arial"/>
              </a:rPr>
              <a:t> pin acts as the primary receiver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peripheral back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the SPI transmits data, it can receive characters simultaneously, placing them in the receiver buffer </a:t>
            </a:r>
            <a:r>
              <a:rPr lang="en-US" sz="3200" b="1" dirty="0">
                <a:latin typeface="Atkinson Hyperlegible Next"/>
                <a:ea typeface="Arial"/>
                <a:cs typeface="Arial"/>
                <a:sym typeface="Arial"/>
              </a:rPr>
              <a:t>SPIRXBUF</a:t>
            </a:r>
            <a:r>
              <a:rPr lang="en-US" sz="3200" dirty="0">
                <a:latin typeface="Atkinson Hyperlegible Next"/>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SPISOMI (Master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An active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Toggling the </a:t>
            </a:r>
            <a:r>
              <a:rPr lang="en-US" b="1" dirty="0">
                <a:latin typeface="Atkinson Hyperlegible Next"/>
                <a:ea typeface="Arial"/>
                <a:cs typeface="Arial"/>
                <a:sym typeface="Arial"/>
              </a:rPr>
              <a:t>SPISWRESET</a:t>
            </a:r>
            <a:r>
              <a:rPr lang="en-US" dirty="0">
                <a:latin typeface="Atkinson Hyperlegible Next"/>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SPISTE (Slave Transmit Enable)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system can be compressed by setting the </a:t>
            </a:r>
            <a:r>
              <a:rPr lang="en-US" sz="1800" b="1" dirty="0">
                <a:latin typeface="Atkinson Hyperlegible Next"/>
                <a:ea typeface="Arial"/>
                <a:cs typeface="Arial"/>
                <a:sym typeface="Arial"/>
              </a:rPr>
              <a:t>TRIWIRE</a:t>
            </a:r>
            <a:r>
              <a:rPr lang="en-US" sz="1800" dirty="0">
                <a:latin typeface="Atkinson Hyperlegible Next"/>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3-wire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clock polarity select bit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the clock phase select bit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control four different clocking schemes on the </a:t>
            </a:r>
            <a:r>
              <a:rPr lang="en-US" sz="1800" b="1" dirty="0">
                <a:latin typeface="Atkinson Hyperlegible Next"/>
                <a:ea typeface="Arial"/>
                <a:cs typeface="Arial"/>
                <a:sym typeface="Arial"/>
              </a:rPr>
              <a:t>SPICLK</a:t>
            </a:r>
            <a:r>
              <a:rPr lang="en-US" sz="1800" dirty="0">
                <a:latin typeface="Atkinson Hyperlegible Next"/>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CLK_PHASE </a:t>
            </a:r>
            <a:r>
              <a:rPr lang="en-US" sz="1800" dirty="0">
                <a:latin typeface="Atkinson Hyperlegible Next"/>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can only 0 or 1 each, how many different modes are there available?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4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rising edge</a:t>
            </a:r>
            <a:r>
              <a:rPr lang="en-US" sz="2000" dirty="0">
                <a:latin typeface="Atkinson Hyperlegible Next"/>
                <a:ea typeface="Arial"/>
                <a:cs typeface="Arial"/>
                <a:sym typeface="Arial"/>
              </a:rPr>
              <a:t> 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many systems, a SPI master may be connected to multiple SPI slaves using multiple instances of </a:t>
            </a:r>
            <a:r>
              <a:rPr lang="en-US" sz="1800" b="1" dirty="0">
                <a:latin typeface="Atkinson Hyperlegible Next"/>
                <a:ea typeface="Arial"/>
                <a:cs typeface="Arial"/>
                <a:sym typeface="Arial"/>
              </a:rPr>
              <a:t>SPISTE</a:t>
            </a:r>
            <a:r>
              <a:rPr lang="en-US" sz="1800" dirty="0">
                <a:latin typeface="Atkinson Hyperlegible Next"/>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Though this SPI module </a:t>
            </a:r>
            <a:r>
              <a:rPr lang="en-US" sz="1800" b="1" dirty="0">
                <a:latin typeface="Atkinson Hyperlegible Next"/>
                <a:ea typeface="Arial"/>
                <a:cs typeface="Arial"/>
                <a:sym typeface="Arial"/>
              </a:rPr>
              <a:t>does not natively support multiple SPISTE signals</a:t>
            </a:r>
            <a:r>
              <a:rPr lang="en-US" sz="1800" dirty="0">
                <a:latin typeface="Atkinson Hyperlegible Next"/>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this configuration, the SPI must be configured as the </a:t>
            </a:r>
            <a:r>
              <a:rPr lang="en-US" sz="1800" b="1" dirty="0">
                <a:latin typeface="Atkinson Hyperlegible Next"/>
                <a:ea typeface="Arial"/>
                <a:cs typeface="Arial"/>
                <a:sym typeface="Arial"/>
              </a:rPr>
              <a:t>master</a:t>
            </a:r>
            <a:r>
              <a:rPr lang="en-US" sz="1800" dirty="0">
                <a:latin typeface="Atkinson Hyperlegible Next"/>
                <a:ea typeface="Arial"/>
                <a:cs typeface="Arial"/>
                <a:sym typeface="Arial"/>
              </a:rPr>
              <a:t>. Rather than using the GPIO Mux to select SPISTE, the application would configure pins to be GPIO outputs, </a:t>
            </a:r>
            <a:r>
              <a:rPr lang="en-US" sz="1800" b="1" dirty="0">
                <a:latin typeface="Atkinson Hyperlegible Next"/>
                <a:ea typeface="Arial"/>
                <a:cs typeface="Arial"/>
                <a:sym typeface="Arial"/>
              </a:rPr>
              <a:t>one GPIO per SPI slave</a:t>
            </a:r>
            <a:r>
              <a:rPr lang="en-US" sz="1800" dirty="0">
                <a:latin typeface="Atkinson Hyperlegible Next"/>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tkinson Hyperlegible Next"/>
                <a:ea typeface="Arial"/>
                <a:cs typeface="Arial"/>
                <a:sym typeface="Arial"/>
              </a:rPr>
              <a:t>SPISTE pin mux!</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Multiple Slaves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What happens if you want to communicate with 15 temperature sensors?</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487F3-F8C5-A4D7-FBE6-64BE928883A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357FDE-29D5-D17D-51AB-6167DAF284C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I2C bus consists of 2 wires: Serial Data (SDA) and Serial Clock (SCL). Instead of relying active push-pull transistors like SPI (which forces a line high or low), I2C uses an open-draw architecture with passive pull-up resistors.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When a microcontroller wants to send a logical 1, it simply “lets go” of the wire, and the physical pull-up resistor pulls the voltage to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cc</m:t>
                        </m:r>
                      </m:sub>
                    </m:sSub>
                  </m:oMath>
                </a14:m>
                <a:r>
                  <a:rPr lang="en-US" sz="2400" dirty="0">
                    <a:latin typeface="Atkinson Hyperlegible Next"/>
                    <a:ea typeface="Arial"/>
                    <a:cs typeface="Arial"/>
                    <a:sym typeface="Arial"/>
                  </a:rPr>
                  <a:t> (e.g., 3.3V). When it wants to send a logical 0, an internal transistor connects the wire to ground.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Why?</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If 2 devices accidentally talk at the exact same time, and one sends a 0 (pulls to ground), while the other sends a 1 (let’s go), the line safely goes to ground. There is no short circuit!</a:t>
                </a:r>
              </a:p>
            </p:txBody>
          </p:sp>
        </mc:Choice>
        <mc:Fallback xmlns="">
          <p:sp>
            <p:nvSpPr>
              <p:cNvPr id="118" name="Google Shape;118;p29">
                <a:extLst>
                  <a:ext uri="{FF2B5EF4-FFF2-40B4-BE49-F238E27FC236}">
                    <a16:creationId xmlns:a16="http://schemas.microsoft.com/office/drawing/2014/main" id="{1D357FDE-29D5-D17D-51AB-6167DAF284C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528"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028D5C-EF47-A065-84B7-9A37F34515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84915D-79F7-C7EA-DDF4-820E489628F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EC77E2A-ECB7-4349-CFE9-6C1226BB7C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234193-D738-D71E-4335-BD4FBB266A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DE2C0-A824-993B-E084-DBC20A4EB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CADFDB-5942-3297-5DF3-5708D85C49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DD364-E8B8-459B-20D8-F6962B3972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D1AEC0-6763-9B36-1651-A82B03C2D5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4537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84DF02-4701-ED5E-434F-8C62DEB83D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65134A-8C9D-26E7-934A-6E5D256A91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BD7B67E-5ACC-AEF3-5CDC-3C4F91C27A9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6551F54-CD75-F325-D74A-A484A37F77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391FDC-C7F4-99E5-0EA7-62410D182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8D305A-6BAA-F931-F3DD-5E6C61DE12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B607B4-2187-F9DF-DB29-249F6C3FD7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FF328-E131-F39C-CC4B-0BC683D7C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DD6BA5-DF87-8D67-85C8-A996B881DA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7F78193-1707-7908-BA06-B40E678214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9201" y="1145610"/>
            <a:ext cx="11119236" cy="5105772"/>
          </a:xfrm>
          <a:prstGeom prst="rect">
            <a:avLst/>
          </a:prstGeom>
        </p:spPr>
      </p:pic>
    </p:spTree>
    <p:extLst>
      <p:ext uri="{BB962C8B-B14F-4D97-AF65-F5344CB8AC3E}">
        <p14:creationId xmlns:p14="http://schemas.microsoft.com/office/powerpoint/2010/main" val="2675205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F672AC-7FFD-4B4F-0053-6978511024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086514-791C-25F8-446D-D9D53D3231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6E730E-0980-D699-20E9-8BEB629F68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035AD2B-C0E5-3CD6-4815-457D08A66A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BF4D9-2A46-B81E-C9D5-2DB42F78AB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0DE947-4BAB-83AA-E0F6-6356BB9DD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558268-D3A5-5422-F89E-D01A71DE6C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3F4A17-9C79-78C7-E37F-1F7D1A3B59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C110E5-0BA2-6222-8F03-97C0DC82D13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7C788A6C-9173-E3C2-5AA8-97894712E5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0375" y="1053754"/>
            <a:ext cx="6191250" cy="5373235"/>
          </a:xfrm>
          <a:prstGeom prst="rect">
            <a:avLst/>
          </a:prstGeom>
        </p:spPr>
      </p:pic>
    </p:spTree>
    <p:extLst>
      <p:ext uri="{BB962C8B-B14F-4D97-AF65-F5344CB8AC3E}">
        <p14:creationId xmlns:p14="http://schemas.microsoft.com/office/powerpoint/2010/main" val="17289970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E9971E-13D8-A1E6-F0ED-F7B23E3E45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FAD190-6CBF-E568-10EF-CE6FBEFABE1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Because there is no Chip Select wires, the Master must should a specific “Address” onto the bus. Every slave device listens. The protocol is strictly framed as: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START condition</a:t>
            </a:r>
            <a:r>
              <a:rPr lang="en-US" sz="2400" dirty="0">
                <a:latin typeface="Atkinson Hyperlegible Next"/>
                <a:ea typeface="Arial"/>
                <a:cs typeface="Arial"/>
                <a:sym typeface="Arial"/>
              </a:rPr>
              <a:t>: The Master pulls SDA low while SCL remains high. This violates normal data rules, acting as a wake-up for all devices.</a:t>
            </a:r>
          </a:p>
          <a:p>
            <a:pPr marL="342900">
              <a:lnSpc>
                <a:spcPct val="100000"/>
              </a:lnSpc>
              <a:spcBef>
                <a:spcPts val="0"/>
              </a:spcBef>
              <a:buSzPts val="3000"/>
            </a:pPr>
            <a:r>
              <a:rPr lang="en-US" sz="2400" b="1" dirty="0">
                <a:latin typeface="Atkinson Hyperlegible Next"/>
                <a:ea typeface="Arial"/>
                <a:cs typeface="Arial"/>
                <a:sym typeface="Arial"/>
              </a:rPr>
              <a:t>Addressing</a:t>
            </a:r>
            <a:r>
              <a:rPr lang="en-US" sz="2400" dirty="0">
                <a:latin typeface="Atkinson Hyperlegible Next"/>
                <a:ea typeface="Arial"/>
                <a:cs typeface="Arial"/>
                <a:sym typeface="Arial"/>
              </a:rPr>
              <a:t>: The Master transmits a 7-bit (or 10-bit) hardware </a:t>
            </a:r>
            <a:r>
              <a:rPr lang="en-US" sz="2400" dirty="0" err="1">
                <a:latin typeface="Atkinson Hyperlegible Next"/>
                <a:ea typeface="Arial"/>
                <a:cs typeface="Arial"/>
                <a:sym typeface="Arial"/>
              </a:rPr>
              <a:t>addres</a:t>
            </a:r>
            <a:r>
              <a:rPr lang="en-US" sz="2400" dirty="0">
                <a:latin typeface="Atkinson Hyperlegible Next"/>
                <a:ea typeface="Arial"/>
                <a:cs typeface="Arial"/>
                <a:sym typeface="Arial"/>
              </a:rPr>
              <a:t>, </a:t>
            </a:r>
            <a:r>
              <a:rPr lang="en-US" sz="2400" dirty="0" err="1">
                <a:latin typeface="Atkinson Hyperlegible Next"/>
                <a:ea typeface="Arial"/>
                <a:cs typeface="Arial"/>
                <a:sym typeface="Arial"/>
              </a:rPr>
              <a:t>folled</a:t>
            </a:r>
            <a:r>
              <a:rPr lang="en-US" sz="2400" dirty="0">
                <a:latin typeface="Atkinson Hyperlegible Next"/>
                <a:ea typeface="Arial"/>
                <a:cs typeface="Arial"/>
                <a:sym typeface="Arial"/>
              </a:rPr>
              <a:t> by a Read/Write direction bit.</a:t>
            </a:r>
          </a:p>
          <a:p>
            <a:pPr marL="342900">
              <a:lnSpc>
                <a:spcPct val="100000"/>
              </a:lnSpc>
              <a:spcBef>
                <a:spcPts val="0"/>
              </a:spcBef>
              <a:buSzPts val="3000"/>
            </a:pPr>
            <a:r>
              <a:rPr lang="en-US" sz="2400" b="1" dirty="0">
                <a:latin typeface="Atkinson Hyperlegible Next"/>
                <a:ea typeface="Arial"/>
                <a:cs typeface="Arial"/>
                <a:sym typeface="Arial"/>
              </a:rPr>
              <a:t>Acknowledge (ACK): </a:t>
            </a:r>
            <a:r>
              <a:rPr lang="en-US" sz="2400" dirty="0">
                <a:latin typeface="Atkinson Hyperlegible Next"/>
                <a:ea typeface="Arial"/>
                <a:cs typeface="Arial"/>
                <a:sym typeface="Arial"/>
              </a:rPr>
              <a:t>The specific Slave that matches the address pulls the SDA line low on the 9</a:t>
            </a:r>
            <a:r>
              <a:rPr lang="en-US" sz="2400" baseline="30000" dirty="0">
                <a:latin typeface="Atkinson Hyperlegible Next"/>
                <a:ea typeface="Arial"/>
                <a:cs typeface="Arial"/>
                <a:sym typeface="Arial"/>
              </a:rPr>
              <a:t>th</a:t>
            </a:r>
            <a:r>
              <a:rPr lang="en-US" sz="2400" dirty="0">
                <a:latin typeface="Atkinson Hyperlegible Next"/>
                <a:ea typeface="Arial"/>
                <a:cs typeface="Arial"/>
                <a:sym typeface="Arial"/>
              </a:rPr>
              <a:t> clock cycle to say “I am here”</a:t>
            </a:r>
          </a:p>
          <a:p>
            <a:pPr marL="342900">
              <a:lnSpc>
                <a:spcPct val="100000"/>
              </a:lnSpc>
              <a:spcBef>
                <a:spcPts val="0"/>
              </a:spcBef>
              <a:buSzPts val="3000"/>
            </a:pPr>
            <a:r>
              <a:rPr lang="en-US" sz="2400" b="1" dirty="0">
                <a:latin typeface="Atkinson Hyperlegible Next"/>
                <a:ea typeface="Arial"/>
                <a:cs typeface="Arial"/>
                <a:sym typeface="Arial"/>
              </a:rPr>
              <a:t>Data Transfer: </a:t>
            </a:r>
            <a:r>
              <a:rPr lang="en-US" sz="2400" dirty="0">
                <a:latin typeface="Atkinson Hyperlegible Next"/>
                <a:ea typeface="Arial"/>
                <a:cs typeface="Arial"/>
                <a:sym typeface="Arial"/>
              </a:rPr>
              <a:t>Butes are clocked across the SDA line</a:t>
            </a:r>
          </a:p>
          <a:p>
            <a:pPr marL="342900">
              <a:lnSpc>
                <a:spcPct val="100000"/>
              </a:lnSpc>
              <a:spcBef>
                <a:spcPts val="0"/>
              </a:spcBef>
              <a:buSzPts val="3000"/>
            </a:pPr>
            <a:r>
              <a:rPr lang="en-US" sz="2400" b="1" dirty="0">
                <a:latin typeface="Atkinson Hyperlegible Next"/>
                <a:ea typeface="Arial"/>
                <a:cs typeface="Arial"/>
                <a:sym typeface="Arial"/>
              </a:rPr>
              <a:t>STOP Condition: </a:t>
            </a:r>
            <a:r>
              <a:rPr lang="en-US" sz="2400" dirty="0">
                <a:latin typeface="Atkinson Hyperlegible Next"/>
                <a:ea typeface="Arial"/>
                <a:cs typeface="Arial"/>
                <a:sym typeface="Arial"/>
              </a:rPr>
              <a:t>The Master releases SDA while SCL is high, signaling the bus is free.</a:t>
            </a:r>
          </a:p>
        </p:txBody>
      </p:sp>
      <p:sp>
        <p:nvSpPr>
          <p:cNvPr id="119" name="Google Shape;119;p29">
            <a:extLst>
              <a:ext uri="{FF2B5EF4-FFF2-40B4-BE49-F238E27FC236}">
                <a16:creationId xmlns:a16="http://schemas.microsoft.com/office/drawing/2014/main" id="{8F3E41B2-88A7-5916-F31D-7DB6B765AA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28E1F-1AA7-256E-1384-65A804075C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77122E7-92DB-A6AD-213E-2E195575F0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A68C82-4892-9817-1154-1E2D1A4DB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8A589C-F79B-37BF-C994-1D5A2FB3A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C4B192-38EC-CA60-8758-E2B09B86A36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E255656-97A1-3E35-62F0-7ED594396F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24C7368-817C-7E14-C36E-99F75522D40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186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6A3864-4F69-11BA-53FC-2912087497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3CBC1-7785-28EF-DB97-973C833246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0C082-325F-EF50-430C-78F7525E22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CD7A86B-22A4-7413-443C-8B39BE5648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CB6B79-A899-83F2-6284-D4ED53BBAB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B5EA53-CBE5-ED60-A230-D261570A86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90389-EAA8-F085-F3F4-8E4D238B5E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C3DBA3-198A-C4A3-DF54-8DD0043491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D30128-EDC6-AEAD-553F-9710289F0F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B029C68A-1543-011F-D3B6-A4CE4200B8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1854" y="1072273"/>
            <a:ext cx="9168291" cy="2927348"/>
          </a:xfrm>
          <a:prstGeom prst="rect">
            <a:avLst/>
          </a:prstGeom>
        </p:spPr>
      </p:pic>
      <p:pic>
        <p:nvPicPr>
          <p:cNvPr id="7" name="Graphic 6">
            <a:extLst>
              <a:ext uri="{FF2B5EF4-FFF2-40B4-BE49-F238E27FC236}">
                <a16:creationId xmlns:a16="http://schemas.microsoft.com/office/drawing/2014/main" id="{1A4A4412-5944-0B4E-16E8-7FDCA80BC15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46256" y="4203673"/>
            <a:ext cx="9798109" cy="1362069"/>
          </a:xfrm>
          <a:prstGeom prst="rect">
            <a:avLst/>
          </a:prstGeom>
        </p:spPr>
      </p:pic>
      <p:sp>
        <p:nvSpPr>
          <p:cNvPr id="8" name="Google Shape;118;p29">
            <a:extLst>
              <a:ext uri="{FF2B5EF4-FFF2-40B4-BE49-F238E27FC236}">
                <a16:creationId xmlns:a16="http://schemas.microsoft.com/office/drawing/2014/main" id="{5C0D0C41-61BB-1A43-AF16-5292C2E3741F}"/>
              </a:ext>
            </a:extLst>
          </p:cNvPr>
          <p:cNvSpPr txBox="1">
            <a:spLocks noGrp="1"/>
          </p:cNvSpPr>
          <p:nvPr>
            <p:ph type="body" idx="1"/>
          </p:nvPr>
        </p:nvSpPr>
        <p:spPr>
          <a:xfrm>
            <a:off x="376809" y="5674257"/>
            <a:ext cx="11177401" cy="8117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R/W=0: The I2C master writes (transmits) data to the addressed slave.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R/W=1: The I2C master reads (receives) data from the slave.</a:t>
            </a:r>
          </a:p>
        </p:txBody>
      </p:sp>
    </p:spTree>
    <p:extLst>
      <p:ext uri="{BB962C8B-B14F-4D97-AF65-F5344CB8AC3E}">
        <p14:creationId xmlns:p14="http://schemas.microsoft.com/office/powerpoint/2010/main" val="11647384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AEDD3C-36CE-F798-2D34-19995D124E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006DE9-3D78-FFFD-23E6-B477CB7EE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An extra clock cycle dedicated for acknowledgement (</a:t>
            </a:r>
            <a:r>
              <a:rPr lang="en-US" sz="2400" b="1" dirty="0"/>
              <a:t>ACK</a:t>
            </a:r>
            <a:r>
              <a:rPr lang="en-US" sz="2400" dirty="0"/>
              <a:t>) is inserted after each byte.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If the </a:t>
            </a:r>
            <a:r>
              <a:rPr lang="en-US" sz="2400" b="1" dirty="0"/>
              <a:t>ACK</a:t>
            </a:r>
            <a:r>
              <a:rPr lang="en-US" sz="2400" dirty="0"/>
              <a:t> bit is inserted by the slave after the first byte from the master, it is followed by n bits of data from the transmitter (master or slave depending on the R/W bit).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n is a number from 1-8 determined by the bit count (</a:t>
            </a:r>
            <a:r>
              <a:rPr lang="en-US" sz="2400" b="1" dirty="0"/>
              <a:t>BC</a:t>
            </a:r>
            <a:r>
              <a:rPr lang="en-US" sz="2400" dirty="0"/>
              <a:t>) field of the </a:t>
            </a:r>
            <a:r>
              <a:rPr lang="en-US" sz="2400" b="1" dirty="0"/>
              <a:t>I2CMDR</a:t>
            </a:r>
            <a:r>
              <a:rPr lang="en-US" sz="2400" dirty="0"/>
              <a: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After the data bits have been transferred, the receiver inserts an ACK bit.</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We can have a 10-bit slave address. The problem is that we have a maximum of 8 bits that we send at a time!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339E387-5944-AE70-BEE4-8EB52E34C5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32EDE0-99EC-80EA-64F6-C87F629D76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0600181-BF00-DB2D-E878-11CC4D0D776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010EFD-97E0-85C5-9CA5-A9569898441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9C965B-815D-8CB1-51C2-17F70DC865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7016E4-1A2E-1E14-068B-22374F8EE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E7CBDE-B0B6-F2C2-94C4-9C388E1318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83E08F-08C5-5935-D307-429A83FE36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3992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E392E1-612C-C130-1945-EF331F96F1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4A05257-8C25-10FD-41A6-F0BF5F22CE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DBBBE2-A23D-CEB2-B0F7-D5174A08BD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9DAA26B-288A-57B7-B8F7-A47772DFFB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DDE3A1-A9B1-5BEC-EACE-6EC6F4EC64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74DB5E-85E6-1D6D-3F00-C5CC2CF3A75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1275BB-3821-6EF9-FE62-ABF5096B0B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91A37C-DD8E-55C3-8CC2-183B53C3BA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9B64D-7D92-B705-7F64-3BBD27BBA7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3F754A7-3686-6B9D-9B12-97F1F3E76F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1885" y="3047999"/>
            <a:ext cx="11508231" cy="1644033"/>
          </a:xfrm>
          <a:prstGeom prst="rect">
            <a:avLst/>
          </a:prstGeom>
        </p:spPr>
      </p:pic>
    </p:spTree>
    <p:extLst>
      <p:ext uri="{BB962C8B-B14F-4D97-AF65-F5344CB8AC3E}">
        <p14:creationId xmlns:p14="http://schemas.microsoft.com/office/powerpoint/2010/main" val="30572792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BECFD-9724-832F-7DA6-5F4F59F51C6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8DD1D0-1783-6E64-BD44-26CBD0D5F2D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I2C allows </a:t>
            </a:r>
            <a:r>
              <a:rPr lang="en-US" sz="2400"/>
              <a:t>multiple MCU </a:t>
            </a:r>
            <a:r>
              <a:rPr lang="en-US" sz="2400" dirty="0"/>
              <a:t>to exist on the same two wires, potentially attempting a START condition simultaneously.</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Both Masters begin clocking out their addresses bit-by-bit, monitoring the actual voltage on the SDA line.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If Master A transmits a 1 (lets go) but physically measures a 0 on the SDA line, it determines another Master (Master B) is pulling it low.</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Master A instantly realizes it has lost arbitration, ceases transmission, and returns to slave/listening mode without corrupting Master B's packet. </a:t>
            </a:r>
          </a:p>
        </p:txBody>
      </p:sp>
      <p:sp>
        <p:nvSpPr>
          <p:cNvPr id="119" name="Google Shape;119;p29">
            <a:extLst>
              <a:ext uri="{FF2B5EF4-FFF2-40B4-BE49-F238E27FC236}">
                <a16:creationId xmlns:a16="http://schemas.microsoft.com/office/drawing/2014/main" id="{A5FDE61E-A420-3291-E4E6-9D747E1F58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E075C7-BD88-26A7-8EEA-EDC5CA3EC9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4E763B4-A8D9-20C6-BDAF-1ABFD1180A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3E09BC-9EEC-1BF7-3F23-CE20579623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281C0E-4E25-712E-A3BB-8C1ED32A07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2344-305F-8243-B4B9-B057EA3082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0F9952-1400-EAC4-B4CF-5C4E26E2C0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3377F-3447-5A08-619A-C7EBBE75A1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905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D4377E-6022-DF57-4F54-BDC8BB58376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C7E5EC-E9C4-6EE7-3246-CC93AB2A4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32A8-CC55-1448-B1BB-E9F074EE807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FF0413C-DFDA-C427-2DC8-3703C0BBFE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C57DF7-BD8B-1F6D-B38C-50F7EC2F6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9751AE-3C29-7FB3-0560-1283C1915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81074-2FD7-9EDC-FA44-D4BF9D74BB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42D78A-E902-68E0-42BE-4C1CB667F4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5078D0-1C76-5CE1-D6EA-457598B614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1188845-24DF-5C13-BC45-4F51B68291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760" y="1180443"/>
            <a:ext cx="9882125" cy="5146940"/>
          </a:xfrm>
          <a:prstGeom prst="rect">
            <a:avLst/>
          </a:prstGeom>
        </p:spPr>
      </p:pic>
    </p:spTree>
    <p:extLst>
      <p:ext uri="{BB962C8B-B14F-4D97-AF65-F5344CB8AC3E}">
        <p14:creationId xmlns:p14="http://schemas.microsoft.com/office/powerpoint/2010/main" val="34572699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D7BF95E-8667-4A44-BA67-BD4F57432EFE}"/>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45719416-3BD5-E383-A0CB-E73179505DAD}"/>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If you have 2 masters sending Serial Clock (SCL) signals what is a problem?</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FF2B5EF4-FFF2-40B4-BE49-F238E27FC236}">
                <a16:creationId xmlns:a16="http://schemas.microsoft.com/office/drawing/2014/main" id="{F3A6ACC7-D95C-0659-DC85-D61DF2001C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BFB8DCC-EEAF-87C0-FF44-DB89671685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94B86FB-033C-E635-CF45-FBE1DCFEA2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1FCC97C0-4059-7882-76D8-D1740F00B1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6BB1CB7-6A4D-56EC-F957-7B965616A55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07D31D6-E7C2-6977-4F50-7952BC02DD5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31931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4A41A8-CD52-99E7-AB74-235F610D15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463925-3294-DFB3-2070-A69BA4B88F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microcontrollers on the bus can only drive the SCL line as such:</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Drive LOW</a:t>
            </a:r>
            <a:r>
              <a:rPr lang="en-US" sz="2400" dirty="0">
                <a:latin typeface="Atkinson Hyperlegible Next"/>
                <a:ea typeface="Arial"/>
                <a:cs typeface="Arial"/>
                <a:sym typeface="Arial"/>
              </a:rPr>
              <a:t>: They can turn on an internal transistor to connect the SCL line to ground (0V)</a:t>
            </a:r>
          </a:p>
          <a:p>
            <a:pPr marL="342900">
              <a:lnSpc>
                <a:spcPct val="100000"/>
              </a:lnSpc>
              <a:spcBef>
                <a:spcPts val="0"/>
              </a:spcBef>
              <a:buSzPts val="3000"/>
            </a:pPr>
            <a:r>
              <a:rPr lang="en-US" sz="2400" b="1" dirty="0">
                <a:latin typeface="Atkinson Hyperlegible Next"/>
                <a:ea typeface="Arial"/>
                <a:cs typeface="Arial"/>
                <a:sym typeface="Arial"/>
              </a:rPr>
              <a:t>Release HIGH</a:t>
            </a:r>
            <a:r>
              <a:rPr lang="en-US" sz="2400" dirty="0">
                <a:latin typeface="Atkinson Hyperlegible Next"/>
                <a:ea typeface="Arial"/>
                <a:cs typeface="Arial"/>
                <a:sym typeface="Arial"/>
              </a:rPr>
              <a:t>: They can turn </a:t>
            </a:r>
            <a:r>
              <a:rPr lang="en-US" sz="2400" b="1" i="1" dirty="0">
                <a:latin typeface="Atkinson Hyperlegible Next"/>
                <a:ea typeface="Arial"/>
                <a:cs typeface="Arial"/>
                <a:sym typeface="Arial"/>
              </a:rPr>
              <a:t>off</a:t>
            </a:r>
            <a:r>
              <a:rPr lang="en-US" sz="2400" dirty="0">
                <a:latin typeface="Atkinson Hyperlegible Next"/>
                <a:ea typeface="Arial"/>
                <a:cs typeface="Arial"/>
                <a:sym typeface="Arial"/>
              </a:rPr>
              <a:t> the transistor, letting go of the line. They cannot force the line high; they rely entirely on the pull-up resistor to pull the voltage back up</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Because of this, the SCL line acts as a massive physical </a:t>
            </a:r>
            <a:r>
              <a:rPr lang="en-US" sz="2400" b="1" dirty="0">
                <a:latin typeface="Atkinson Hyperlegible Next"/>
                <a:ea typeface="Arial"/>
                <a:cs typeface="Arial"/>
                <a:sym typeface="Arial"/>
              </a:rPr>
              <a:t>AND</a:t>
            </a:r>
            <a:r>
              <a:rPr lang="en-US" sz="2400" dirty="0">
                <a:latin typeface="Atkinson Hyperlegible Next"/>
                <a:ea typeface="Arial"/>
                <a:cs typeface="Arial"/>
                <a:sym typeface="Arial"/>
              </a:rPr>
              <a:t> gate.</a:t>
            </a:r>
          </a:p>
          <a:p>
            <a:pPr marL="342900">
              <a:lnSpc>
                <a:spcPct val="100000"/>
              </a:lnSpc>
              <a:spcBef>
                <a:spcPts val="0"/>
              </a:spcBef>
              <a:buSzPts val="3000"/>
            </a:pPr>
            <a:r>
              <a:rPr lang="en-US" sz="2400" dirty="0">
                <a:latin typeface="Atkinson Hyperlegible Next"/>
                <a:ea typeface="Arial"/>
                <a:cs typeface="Arial"/>
                <a:sym typeface="Arial"/>
              </a:rPr>
              <a:t>The SCL line will only transition HIGH if </a:t>
            </a:r>
            <a:r>
              <a:rPr lang="en-US" sz="2400" b="1" dirty="0">
                <a:latin typeface="Atkinson Hyperlegible Next"/>
                <a:ea typeface="Arial"/>
                <a:cs typeface="Arial"/>
                <a:sym typeface="Arial"/>
              </a:rPr>
              <a:t>ALL</a:t>
            </a:r>
            <a:r>
              <a:rPr lang="en-US" sz="2400" dirty="0">
                <a:latin typeface="Atkinson Hyperlegible Next"/>
                <a:ea typeface="Arial"/>
                <a:cs typeface="Arial"/>
                <a:sym typeface="Arial"/>
              </a:rPr>
              <a:t> devices let go of it.</a:t>
            </a:r>
          </a:p>
          <a:p>
            <a:pPr marL="342900">
              <a:lnSpc>
                <a:spcPct val="100000"/>
              </a:lnSpc>
              <a:spcBef>
                <a:spcPts val="0"/>
              </a:spcBef>
              <a:buSzPts val="3000"/>
            </a:pPr>
            <a:r>
              <a:rPr lang="en-US" sz="2400" dirty="0">
                <a:latin typeface="Atkinson Hyperlegible Next"/>
                <a:ea typeface="Arial"/>
                <a:cs typeface="Arial"/>
                <a:sym typeface="Arial"/>
              </a:rPr>
              <a:t>The SCL line will instantly transition LOW if </a:t>
            </a:r>
            <a:r>
              <a:rPr lang="en-US" sz="2400" b="1" dirty="0">
                <a:latin typeface="Atkinson Hyperlegible Next"/>
                <a:ea typeface="Arial"/>
                <a:cs typeface="Arial"/>
                <a:sym typeface="Arial"/>
              </a:rPr>
              <a:t>ANY</a:t>
            </a:r>
            <a:r>
              <a:rPr lang="en-US" sz="2400" dirty="0">
                <a:latin typeface="Atkinson Hyperlegible Next"/>
                <a:ea typeface="Arial"/>
                <a:cs typeface="Arial"/>
                <a:sym typeface="Arial"/>
              </a:rPr>
              <a:t> device pulls it to ground.</a:t>
            </a:r>
          </a:p>
        </p:txBody>
      </p:sp>
      <p:sp>
        <p:nvSpPr>
          <p:cNvPr id="119" name="Google Shape;119;p29">
            <a:extLst>
              <a:ext uri="{FF2B5EF4-FFF2-40B4-BE49-F238E27FC236}">
                <a16:creationId xmlns:a16="http://schemas.microsoft.com/office/drawing/2014/main" id="{E959204E-565B-D1B5-164E-DFDB9828F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6316FF-FACF-B41C-011A-B29BB33EF7D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0EB4395-8BF9-CAD0-9A68-22A4877AA2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50C7B0-4A70-AACE-FE33-6224AB6479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632AD2-DD73-A222-8583-651D398636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8F1484-5986-8E5E-6E1D-6087540D03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9364C-440E-B595-A427-FFBCC85D13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3F227-5AFF-47F2-5D10-F84AC8623E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27072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F126F-ABE0-53FE-4040-5DD70C8F73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43EF024-AE49-44D7-3D0E-BDBE542A198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Masters attempt to begin their clock cycles by pulling the SCL line LOW.</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Whichever Master pulls the line LOW first instantly forces the entire physical bus to 0V.</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other Masters, seeing the line go LOW, immediately synchronize its internal state machine to this falling edge and beings counting its own programmed LOW period</a:t>
                </a:r>
                <a14:m>
                  <m:oMath xmlns:m="http://schemas.openxmlformats.org/officeDocument/2006/math">
                    <a:fld id="{825F15A7-03F4-43D7-82C5-3E23DA2F108C}" type="mathplaceholder">
                      <a:rPr lang="en-US" sz="1800" i="1" smtClean="0">
                        <a:latin typeface="Cambria Math" panose="02040503050406030204" pitchFamily="18" charset="0"/>
                        <a:cs typeface="Arial"/>
                        <a:sym typeface="Arial"/>
                      </a:rPr>
                      <a:t>.</a:t>
                    </a:fld>
                  </m:oMath>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LOW period is strictly determined by the Master with the </a:t>
                </a:r>
                <a:r>
                  <a:rPr lang="en-US" sz="1800" b="1" dirty="0">
                    <a:latin typeface="Atkinson Hyperlegible Next"/>
                    <a:ea typeface="Arial"/>
                    <a:cs typeface="Arial"/>
                    <a:sym typeface="Arial"/>
                  </a:rPr>
                  <a:t>longest</a:t>
                </a:r>
                <a:r>
                  <a:rPr lang="en-US" sz="1800" dirty="0">
                    <a:latin typeface="Atkinson Hyperlegible Next"/>
                    <a:ea typeface="Arial"/>
                    <a:cs typeface="Arial"/>
                    <a:sym typeface="Arial"/>
                  </a:rPr>
                  <a:t> programmed LOW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HIGH period is strictly determined by the Master with the </a:t>
                </a:r>
                <a:r>
                  <a:rPr lang="en-US" sz="1800" b="1" dirty="0">
                    <a:latin typeface="Atkinson Hyperlegible Next"/>
                    <a:ea typeface="Arial"/>
                    <a:cs typeface="Arial"/>
                    <a:sym typeface="Arial"/>
                  </a:rPr>
                  <a:t>shortest</a:t>
                </a:r>
                <a:r>
                  <a:rPr lang="en-US" sz="1800" dirty="0">
                    <a:latin typeface="Atkinson Hyperlegible Next"/>
                    <a:ea typeface="Arial"/>
                    <a:cs typeface="Arial"/>
                    <a:sym typeface="Arial"/>
                  </a:rPr>
                  <a:t> programmed HIGH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 device pulls down the clock line for a longer time, the result is that all clock generators must enter the wait state. In this way, a slave slows down a fast master, and the slow device creates enough time to store a received byte or to prepare a byte to be transmitted.</a:t>
                </a:r>
              </a:p>
            </p:txBody>
          </p:sp>
        </mc:Choice>
        <mc:Fallback xmlns="">
          <p:sp>
            <p:nvSpPr>
              <p:cNvPr id="118" name="Google Shape;118;p29">
                <a:extLst>
                  <a:ext uri="{FF2B5EF4-FFF2-40B4-BE49-F238E27FC236}">
                    <a16:creationId xmlns:a16="http://schemas.microsoft.com/office/drawing/2014/main" id="{643EF024-AE49-44D7-3D0E-BDBE542A198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4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FBB912-3BE1-0FDC-0F8D-75F17807F4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753FFA-1062-4F7F-C60E-4F17B9216E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2671A65-398A-4E29-D9CF-2D806A346A5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AB7BC8-64B4-8E68-C76C-0246C7DE4C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BA12BC-D4AB-639E-6A19-7D09BC8BE6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E3CBD1-9AE4-6CC7-3BF7-78BDF5533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8DF4DC-5B6B-F42C-2A96-D7B2FE5FA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E81CC8-3FD2-8E53-EBDC-72FAEEE66C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134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5744D-8F64-9B67-7C52-05D0B3EA7A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833CF3F-84C2-34A0-2BA3-F9A8B80F23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10439-E04A-9BA5-3801-684146A10E9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93BF50D-F511-4BE4-3D97-103ADE76195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019C62-854F-AE33-B3C6-E7D14E4E48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DD070C-1E94-C3FD-5B89-2C48DF2612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649661-4C33-DF20-5644-DD94DD874D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21825C-F709-ED5C-85D5-10058831D1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E6DA0-F44D-7571-BF30-5345E2AEA9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9F6B071-B715-7FBB-0E30-D060E408D0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126" y="1205042"/>
            <a:ext cx="11281394" cy="5097742"/>
          </a:xfrm>
          <a:prstGeom prst="rect">
            <a:avLst/>
          </a:prstGeom>
        </p:spPr>
      </p:pic>
    </p:spTree>
    <p:extLst>
      <p:ext uri="{BB962C8B-B14F-4D97-AF65-F5344CB8AC3E}">
        <p14:creationId xmlns:p14="http://schemas.microsoft.com/office/powerpoint/2010/main" val="1726447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C84DABF-1A65-C6B6-59B9-E38B0BF872E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8BFBCFF-B319-7084-60B4-F40A9B4A3E3F}"/>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DFEEFAD1-FD07-DA27-3395-E9F381198CE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 Code</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C1953101-C1B4-8CB0-EDF2-2B63B55E05F5}"/>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27C0305-474B-0245-D124-55042940E23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A189254-DAC8-83C7-CCA9-AA7F71F3AA1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7C3506FF-25B6-D07B-BC27-27559D006F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47443F8-13EA-9F99-6347-86686C2F1BE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9DC57D0-865F-E52A-7998-32204E9C6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1ABA7B5-D926-F07C-904B-3086E1D2853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EE29D37-31CC-3B06-AD9F-5E2CFB3184D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E25C5FF-1F7B-1CC5-6931-30EDADB0D41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06308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AB9445-A2D5-5FC1-BDC2-BEBA1C2E88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64F7AAD-1DF6-2CFB-9ED5-A6E399F504C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I2CA_Init(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1. Set the </a:t>
            </a:r>
            <a:r>
              <a:rPr lang="en-US" sz="1400" dirty="0" err="1">
                <a:solidFill>
                  <a:srgbClr val="3F7F5F"/>
                </a:solidFill>
                <a:latin typeface="Consolas" panose="020B0609020204030204" pitchFamily="49" charset="0"/>
              </a:rPr>
              <a:t>Prescaler</a:t>
            </a:r>
            <a:r>
              <a:rPr lang="en-US" sz="1400" dirty="0">
                <a:solidFill>
                  <a:srgbClr val="3F7F5F"/>
                </a:solidFill>
                <a:latin typeface="Consolas" panose="020B0609020204030204" pitchFamily="49" charset="0"/>
              </a:rPr>
              <a:t> to generate the Module Clock</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I2CPSC</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16;   </a:t>
            </a:r>
            <a:r>
              <a:rPr lang="en-US" sz="1400" dirty="0">
                <a:solidFill>
                  <a:srgbClr val="3F7F5F"/>
                </a:solidFill>
                <a:latin typeface="Consolas" panose="020B0609020204030204" pitchFamily="49" charset="0"/>
              </a:rPr>
              <a:t>// Divides high-speed system clock down to ~7-12 MHz</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2. Define the exact characteristics of the SCL wave</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 Defines the duration of the SCL LOW period</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I2CCLKH</a:t>
            </a:r>
            <a:r>
              <a:rPr lang="en-US" sz="1400" dirty="0">
                <a:solidFill>
                  <a:srgbClr val="000000"/>
                </a:solidFill>
                <a:latin typeface="Consolas" panose="020B0609020204030204" pitchFamily="49" charset="0"/>
              </a:rPr>
              <a:t> = 5;       </a:t>
            </a:r>
            <a:r>
              <a:rPr lang="en-US" sz="1400" dirty="0">
                <a:solidFill>
                  <a:srgbClr val="3F7F5F"/>
                </a:solidFill>
                <a:latin typeface="Consolas" panose="020B0609020204030204" pitchFamily="49" charset="0"/>
              </a:rPr>
              <a:t>// Defines the duration of the SCL HIGH period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3. Enable Interrupts for critical network events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I2CIER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0x24; </a:t>
            </a:r>
            <a:r>
              <a:rPr lang="en-US" sz="1400" dirty="0">
                <a:solidFill>
                  <a:srgbClr val="3F7F5F"/>
                </a:solidFill>
                <a:latin typeface="Consolas" panose="020B0609020204030204" pitchFamily="49" charset="0"/>
              </a:rPr>
              <a:t>// Enable Start Condition Detected (SCD) &amp; Register Access Ready (ARDY)</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4. Take the I2C module out of reset</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I2CMDR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0x0020;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5. Enable the 16-level Transmit and Receive FIFOs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I2CFFTX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0x6000; </a:t>
            </a:r>
            <a:r>
              <a:rPr lang="en-US" sz="1400" dirty="0">
                <a:solidFill>
                  <a:srgbClr val="3F7F5F"/>
                </a:solidFill>
                <a:latin typeface="Consolas" panose="020B0609020204030204" pitchFamily="49" charset="0"/>
              </a:rPr>
              <a:t>// Enable FIFO mode and TXFIFO</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I2CFFRX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0x2040; </a:t>
            </a:r>
            <a:r>
              <a:rPr lang="en-US" sz="1400" dirty="0">
                <a:solidFill>
                  <a:srgbClr val="3F7F5F"/>
                </a:solidFill>
                <a:latin typeface="Consolas" panose="020B0609020204030204" pitchFamily="49" charset="0"/>
              </a:rPr>
              <a:t>// Enable RXFIFO and clear interrupt flags</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a typeface="Arial"/>
              <a:cs typeface="Arial"/>
              <a:sym typeface="Arial"/>
            </a:endParaRPr>
          </a:p>
          <a:p>
            <a:pPr marL="114300" indent="0">
              <a:spcBef>
                <a:spcPts val="0"/>
              </a:spcBef>
              <a:buNone/>
            </a:pPr>
            <a:r>
              <a:rPr lang="en-US" sz="1400" dirty="0">
                <a:latin typeface="Atkinson Hyperlegible Next"/>
                <a:ea typeface="Arial"/>
                <a:cs typeface="Arial"/>
                <a:sym typeface="Arial"/>
              </a:rPr>
              <a:t>Notice that </a:t>
            </a:r>
            <a:r>
              <a:rPr lang="en-US" sz="1400" dirty="0">
                <a:solidFill>
                  <a:srgbClr val="0000C0"/>
                </a:solidFill>
                <a:latin typeface="Consolas" panose="020B0609020204030204" pitchFamily="49" charset="0"/>
              </a:rPr>
              <a:t>I2CCLKL</a:t>
            </a:r>
            <a:r>
              <a:rPr lang="en-US" sz="1400" dirty="0">
                <a:latin typeface="Atkinson Hyperlegible Next"/>
                <a:ea typeface="Arial"/>
                <a:cs typeface="Arial"/>
                <a:sym typeface="Arial"/>
              </a:rPr>
              <a:t> (10) is mathematically larger than </a:t>
            </a:r>
            <a:r>
              <a:rPr lang="en-US" sz="1400" dirty="0">
                <a:solidFill>
                  <a:srgbClr val="0000C0"/>
                </a:solidFill>
                <a:latin typeface="Consolas" panose="020B0609020204030204" pitchFamily="49" charset="0"/>
              </a:rPr>
              <a:t>I2CCLKH</a:t>
            </a:r>
            <a:r>
              <a:rPr lang="en-US" sz="1400" dirty="0">
                <a:latin typeface="Atkinson Hyperlegible Next"/>
                <a:ea typeface="Arial"/>
                <a:cs typeface="Arial"/>
                <a:sym typeface="Arial"/>
              </a:rPr>
              <a:t> (5). Because the physical bus relies on passive pull-up resistors to transition HIGH, the rise-time is inherently slower, compared to the transistors, than the fall-time (which is actively pulled LOW by a transistor).</a:t>
            </a:r>
          </a:p>
        </p:txBody>
      </p:sp>
      <p:sp>
        <p:nvSpPr>
          <p:cNvPr id="119" name="Google Shape;119;p29">
            <a:extLst>
              <a:ext uri="{FF2B5EF4-FFF2-40B4-BE49-F238E27FC236}">
                <a16:creationId xmlns:a16="http://schemas.microsoft.com/office/drawing/2014/main" id="{895F2CF9-F9F3-853C-93A6-089F5EECEC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E18208-B2D2-2EA9-4104-1A4E6257BB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98F12A4-E1E6-5C24-9100-6B1E328460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654F67-44EB-984F-1CDC-AA66144EBF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7D704D-26FA-6372-2EEE-C3B7BE81D5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F22221-BB8D-4ABD-3F2C-9DF51F5C2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3AE3F-1633-9D7C-DC38-12ABF363C7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B159FC-EA3B-C2C2-22D6-327F6226D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1440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7F4231-B65F-212C-0CA4-631254DC90F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F088E7-1145-C609-7933-790D8E932D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nn-NO" sz="1000" dirty="0">
                <a:solidFill>
                  <a:srgbClr val="005032"/>
                </a:solidFill>
                <a:latin typeface="Consolas" panose="020B0609020204030204" pitchFamily="49" charset="0"/>
              </a:rPr>
              <a:t>Uint16</a:t>
            </a:r>
            <a:r>
              <a:rPr lang="nn-NO" sz="1000" dirty="0">
                <a:solidFill>
                  <a:srgbClr val="000000"/>
                </a:solidFill>
                <a:latin typeface="Consolas" panose="020B0609020204030204" pitchFamily="49" charset="0"/>
              </a:rPr>
              <a:t> I2CA_WriteData(</a:t>
            </a:r>
            <a:r>
              <a:rPr lang="nn-NO" sz="1000" dirty="0">
                <a:solidFill>
                  <a:srgbClr val="7F0055"/>
                </a:solidFill>
                <a:latin typeface="Consolas" panose="020B0609020204030204" pitchFamily="49" charset="0"/>
              </a:rPr>
              <a:t>struct</a:t>
            </a:r>
            <a:r>
              <a:rPr lang="nn-NO" sz="1000" dirty="0">
                <a:solidFill>
                  <a:srgbClr val="000000"/>
                </a:solidFill>
                <a:latin typeface="Consolas" panose="020B0609020204030204" pitchFamily="49" charset="0"/>
              </a:rPr>
              <a:t> </a:t>
            </a:r>
            <a:r>
              <a:rPr lang="nn-NO" sz="1000" dirty="0">
                <a:solidFill>
                  <a:srgbClr val="005032"/>
                </a:solidFill>
                <a:latin typeface="Consolas" panose="020B0609020204030204" pitchFamily="49" charset="0"/>
              </a:rPr>
              <a:t>I2CMSG</a:t>
            </a:r>
            <a:r>
              <a:rPr lang="nn-NO" sz="1000" dirty="0">
                <a:solidFill>
                  <a:srgbClr val="000000"/>
                </a:solidFill>
                <a:latin typeface="Consolas" panose="020B0609020204030204" pitchFamily="49" charset="0"/>
              </a:rPr>
              <a:t> *msg)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1. Verify if the previous message completed?</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STP</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I2C_STP_NOT_READY_ERROR;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Verify if another Master using the bus?</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I2CSTR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BB</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I2C_BUS_BUSY_ERROR;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3. Broadcast the Slave's address (EEPROM is typically 0x50)</a:t>
            </a:r>
          </a:p>
          <a:p>
            <a:pPr marL="114300" indent="0">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I2CSAR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SlaveAddress</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 </a:t>
            </a:r>
            <a:endParaRPr lang="en-US" sz="1000" dirty="0">
              <a:solidFill>
                <a:srgbClr val="000000"/>
              </a:solidFill>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Define exactly how many bytes we will transmit</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bytes for the EEPROM memory address + the actual data bytes)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I2CCNT</a:t>
            </a:r>
            <a:r>
              <a:rPr lang="en-US" sz="1000" dirty="0">
                <a:solidFill>
                  <a:srgbClr val="000000"/>
                </a:solidFill>
                <a:latin typeface="Consolas" panose="020B0609020204030204" pitchFamily="49" charset="0"/>
              </a:rPr>
              <a:t> = 2 +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Push the EEPROM memory pointer into the Transmit FIFO (think of the Slave's address as the apartment address and this as setting the specific apartment number we want to write to)</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MemoryHighAddr</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MemoryLowAddr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5. Push the actual data payload into the Transmit FIFO</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for</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 0;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&lt;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MsgBuffer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6. Command the hardware to execute the transaction</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0x6E20 sets: FREE (run during debug), START, STOP, MASTER, TRANSMIT, and ENABLE bits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0x6E20;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I2C_SUCCESS;</a:t>
            </a:r>
          </a:p>
          <a:p>
            <a:pPr marL="114300" indent="0" algn="l">
              <a:spcBef>
                <a:spcPts val="0"/>
              </a:spcBef>
              <a:buNone/>
            </a:pPr>
            <a:r>
              <a:rPr lang="en-US" sz="1000" dirty="0">
                <a:solidFill>
                  <a:srgbClr val="000000"/>
                </a:solidFill>
                <a:latin typeface="Consolas" panose="020B0609020204030204" pitchFamily="49" charset="0"/>
              </a:rPr>
              <a:t>}</a:t>
            </a:r>
            <a:endParaRPr lang="en-US" sz="1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44DCDA8-B2DC-D389-AC24-934093A1F4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19BD0-8C1F-F2BA-2D97-1FA5B92539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1BB0513-306A-FD0C-E69D-E0B72EF85B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DED8B8-74B5-A936-A54B-451973AFB4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D8CA38-1255-BEE8-59E1-F4649DD77E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719A25-255F-57E9-4EA4-F8775804FB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C82D69-0F8D-E590-1CB5-E4F4FF04DF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C34F90-B255-9CFB-5140-9BEB92DB78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756892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963</TotalTime>
  <Words>4431</Words>
  <Application>Microsoft Office PowerPoint</Application>
  <PresentationFormat>Widescreen</PresentationFormat>
  <Paragraphs>550</Paragraphs>
  <Slides>61</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244</cp:revision>
  <dcterms:created xsi:type="dcterms:W3CDTF">2019-01-14T22:06:33Z</dcterms:created>
  <dcterms:modified xsi:type="dcterms:W3CDTF">2026-02-24T02:58:25Z</dcterms:modified>
</cp:coreProperties>
</file>