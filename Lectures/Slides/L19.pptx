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0"/>
  </p:notesMasterIdLst>
  <p:sldIdLst>
    <p:sldId id="256" r:id="rId2"/>
    <p:sldId id="417" r:id="rId3"/>
    <p:sldId id="413" r:id="rId4"/>
    <p:sldId id="272" r:id="rId5"/>
    <p:sldId id="258" r:id="rId6"/>
    <p:sldId id="418" r:id="rId7"/>
    <p:sldId id="451" r:id="rId8"/>
    <p:sldId id="452" r:id="rId9"/>
    <p:sldId id="454" r:id="rId10"/>
    <p:sldId id="458" r:id="rId11"/>
    <p:sldId id="455" r:id="rId12"/>
    <p:sldId id="456" r:id="rId13"/>
    <p:sldId id="457" r:id="rId14"/>
    <p:sldId id="459" r:id="rId15"/>
    <p:sldId id="492" r:id="rId16"/>
    <p:sldId id="460" r:id="rId17"/>
    <p:sldId id="464" r:id="rId18"/>
    <p:sldId id="461" r:id="rId19"/>
    <p:sldId id="463" r:id="rId20"/>
    <p:sldId id="462" r:id="rId21"/>
    <p:sldId id="465" r:id="rId22"/>
    <p:sldId id="466" r:id="rId23"/>
    <p:sldId id="467" r:id="rId24"/>
    <p:sldId id="468" r:id="rId25"/>
    <p:sldId id="469" r:id="rId26"/>
    <p:sldId id="470" r:id="rId27"/>
    <p:sldId id="471" r:id="rId28"/>
    <p:sldId id="474" r:id="rId29"/>
    <p:sldId id="472" r:id="rId30"/>
    <p:sldId id="473" r:id="rId31"/>
    <p:sldId id="475" r:id="rId32"/>
    <p:sldId id="476" r:id="rId33"/>
    <p:sldId id="484" r:id="rId34"/>
    <p:sldId id="477" r:id="rId35"/>
    <p:sldId id="478" r:id="rId36"/>
    <p:sldId id="479" r:id="rId37"/>
    <p:sldId id="480" r:id="rId38"/>
    <p:sldId id="481" r:id="rId39"/>
    <p:sldId id="482" r:id="rId40"/>
    <p:sldId id="483" r:id="rId41"/>
    <p:sldId id="485" r:id="rId42"/>
    <p:sldId id="487" r:id="rId43"/>
    <p:sldId id="488" r:id="rId44"/>
    <p:sldId id="489" r:id="rId45"/>
    <p:sldId id="490" r:id="rId46"/>
    <p:sldId id="491" r:id="rId47"/>
    <p:sldId id="271" r:id="rId48"/>
    <p:sldId id="270" r:id="rId4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4C5FFB-4BB7-C2F1-1993-C5759FE1A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A5FDF30-0D29-42B3-F78D-B3D18E887D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175042-8200-DCCA-0494-A9200692E2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714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F36398-9F2E-12E0-F042-7CB9FBE72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44281-1B4A-8B9F-1EBC-E95C168136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DC3BC4-7BEF-5A8A-9D3D-B431C23163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52089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3FE5D9-EB4B-FF88-F451-7B5CDEAFB1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811C4A-1F71-4862-77E5-D8CA40C6B3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16099A-7352-A101-AF1D-258334404D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21496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B990E7-03F9-5D02-57C9-808EBAF32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FFE6A8-6405-AB9D-9484-2DD2A98EE9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6176E1-9C52-8178-175B-43B3AC7199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7360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8B9AD63-5CA5-E7B3-530E-F1B3F6C1C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C52676-1F66-358A-E8B0-CC2AA1C81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521AD-EC91-51C8-873D-544669CC9E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80031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61978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6C719B-CF0B-0B1F-9B03-2077346BDE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F7BE2E-D551-D12B-BC85-87290AFAF2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72CB2-CF00-9E8E-B95E-AA7F2F49C0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5157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A510BE-A689-08CF-319F-DF2D4BCE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2FAF2A4-6ECB-75E9-C9A9-0E2FB12B4E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09BB38-1903-B166-2DA1-D4A847D83D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41613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6162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33DFD7-C055-E995-C127-D89823EAF3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BCC46D-4B15-0383-82FC-AA4D0A0152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5ADB11-FE91-4544-FB21-E411E61CC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488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2A68DE8-851D-353C-4D5E-8773DEC92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93D992-4697-E627-9276-AF6B90708D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12F3703-9738-CCCB-A7A7-5F73CE36FF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333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377253-58B2-C4A7-1F1B-080115D415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9B9D00-6F1E-1F1E-ABF6-444A2962C9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4808D7-4DF4-95DC-95FA-E73CCB62CA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4761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B97C1-6828-B69E-9D9D-4C5329B19E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5DF1B9-8000-49CF-DDF0-C6FCDD2472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87DF31-B89D-7725-E619-F6FABBC411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885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D64117A-0067-F853-65E2-68C96ED69D2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69CCAB5-A4F7-2E41-3991-30D95F40750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533726A-CDE9-8A19-424C-5EB6321D8B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0261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E1D80F5-AA49-2708-86C5-02C7F45A12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9DD3FA-D285-0E71-8ECE-2FB0F25D5C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EEDA22C-ABDD-B146-8848-2C8F718FCD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51410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998B07-B115-0679-969A-7AF92C7A97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8C7B09-0E2F-8AA0-6926-A237BD6BDC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0044814-C3C4-3707-EBAC-0345C985B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0442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E14387-E01A-A876-0BEA-BC85400E40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F3DF66-10B7-E48A-BBC1-DA961D8B41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640EEA-CA7F-F31F-D654-C1BA27EEA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8421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274FF3-C350-3897-8150-18F427A9C42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FDE64-7E82-283D-A4C7-B30A856DB6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A3C04E-E636-E2AD-1E77-04551DB980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0365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E3EE12-92F0-223D-84C9-0264C8395C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CCA754-4212-1F8B-3DF6-A3BEAC494D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F0A6-33B4-BA6D-FA0D-844B759C45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4214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E6D5A4-B556-26CA-79C8-3C52F71669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CB6F34-5D5C-D0C7-12DC-B13EE300BE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C5B9A6-DB62-2422-4B1A-399CA09EE0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1369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1A55E8-2987-A60D-3E2A-8208A6A937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3859EE-AB9D-62E1-A049-F0C145F503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EE5D60-91BD-7292-45B8-562AC1F0D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25487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82CECE-15F4-0DF1-1F29-FF03DF101B0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7DA174-DA16-72CE-D159-0B7FB23775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4C4F4FD-504D-69AF-C585-A1AEB45146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24347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9A2885-87AD-9CBB-6A3D-65A26177BB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0FAFB7-4250-1917-ABB4-E941F4D907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E910A7-22E0-0FE6-A886-BB145A53AC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5167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8EB744-065B-1507-3246-65EEBCD421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BB137-2B8D-1C6A-4F2A-2D15E700F2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B26332-DCD4-8BD3-DD12-51305F59F7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88922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4C6590-D5AB-6833-12E8-99F7B1A814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A9A1DD-58DD-DADA-B560-E78BE9E66F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DB4C2B-885A-318E-369E-7FFA115FD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055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476F84-4404-90D3-2CD2-4606D31B22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EAD060-16D6-6534-2265-7AA3D820D3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4D712E5-F79D-B9F6-E065-C53076DF4D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136596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C3B63E-41BA-B88A-35B5-090A208D47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19121B-0D67-7B15-1ECE-1F1C6FF822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542AD9-E8AB-F881-0228-43CD26DD48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85733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20FEB34-C2E8-A56D-E154-F0D6A5948B0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9B0971F-B2E2-1700-17E0-4DD2402368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E51665-D4C1-9E17-3B4A-F36EA79A9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2420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DA8A3F7-5FCF-35C4-F268-805AF9E90F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60D62-C71E-DF0F-0BF6-F19D40B902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6D1B5E-1F2F-FBB5-E0BD-A2EB46E205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444896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9A1F1B-AFDC-0E77-A498-E6D79378BC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EFBF91-BCC1-7B5E-2A12-66CF7550C5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2025C1-D29C-CDAB-600D-80F535E4EB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19044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929F68-61D3-3A10-5585-614C7BFC3C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8D3A06-C21E-512E-A5AB-6F19C75058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E78D13-6F79-B383-2472-6FF93FFAFB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751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4C962F-DB53-88D2-EB0C-175F7FD171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DE394F-CF69-91D3-F463-C3A61716B4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9FA922-7FBB-6F1F-8B8C-4B4695699B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96323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36F722-E461-E38D-317C-E6343CBF9E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122735-CED6-4E0B-6965-529BFA7920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00941D-310A-DE18-74B0-00C816B351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46469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3E890-7F0F-2360-1B14-B617A1B93C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960FDA-E068-7CE2-0B06-7975C9785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623D48-AC63-5F48-4BA5-3224283F2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1110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50CF8C-5CBF-2280-2B31-3FE5604D6A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168F08-70BF-DE65-9EEA-046055BFC9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75BDB4-BE4C-B0E0-8B8E-5ADD3B9FCB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89818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4490DBA-E9BC-1343-F48F-B5966E6AB1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CF38B5-B2E1-2D12-AB6D-B16A9636CC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0930FC6-94D3-E2DA-C4BC-35396C330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46730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712E9-1DBC-7106-3AA6-449075DD1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18DC9E-41EB-7B25-351D-26AB1045BD5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80463D-3C1A-6DF5-0681-A0D0AB74E1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91704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7D3BEF-59E6-FDEC-E592-E924EE136C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932010-ACE4-2F98-1F82-93B58C4E48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DC79D1-205E-6BCC-E038-60FAD5D409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14420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DEE373-9DAF-C5C9-CFBE-1B714E6528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846900-030C-21CF-465A-D026F08692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806F6A-A97D-C595-8492-B1BA9B83D2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479977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81670D-BB5F-CD9B-9405-8369A8DA3B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0C0064-C75B-A0D2-8D7F-6D3A098861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D66A24-E004-F526-19FA-878C8D4DD7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33375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gif"/></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hyperlink" Target="https://en.wikipedia.org/wiki/Dubins_path"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svg"/></Relationships>
</file>

<file path=ppt/slides/_rels/slide3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19: Trajectory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April 1</a:t>
            </a:r>
            <a:r>
              <a:rPr lang="en-US" sz="1800" b="0" i="0" u="none" strike="noStrike" cap="none" baseline="30000" dirty="0">
                <a:solidFill>
                  <a:schemeClr val="lt1"/>
                </a:solidFill>
                <a:latin typeface="Atkinson Hyperlegible Next"/>
                <a:ea typeface="Arial"/>
                <a:cs typeface="Arial"/>
                <a:sym typeface="Arial"/>
              </a:rPr>
              <a:t>st</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had multi-goals that you were trying to reach what would use A*, Dijkstra, Greedy Best First, or BFS? What about a single goal?</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In the previous lecture we performed path planning on a grid graph, what did each vertex in the grid represent (i.e. what was the state space that A* was searching through?) </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kind robot is most closely represented when you perform path planning with the state only being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2400" dirty="0">
                    <a:latin typeface="Atkinson Hyperlegible Next"/>
                    <a:ea typeface="Arial"/>
                    <a:cs typeface="Arial"/>
                    <a:sym typeface="Arial"/>
                  </a:rPr>
                  <a:t>For a differential robot, is the movement cost uniform based purely on the position on the robot? The movement cost from </a:t>
                </a:r>
                <a14:m>
                  <m:oMath xmlns:m="http://schemas.openxmlformats.org/officeDocument/2006/math">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or</m:t>
                    </m:r>
                    <m:r>
                      <a:rPr lang="en-US" sz="2400" b="0" i="1" smtClean="0">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the state space of differential robot?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EA1A55-2BAC-C6A5-ABC3-168138F62B6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r="-1473" b="-429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the previous lecture we explored A* on a 2D grid, where we represented the environment as a graph discrete nodes.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was the output path returned?</a:t>
                </a: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output path was a sequence of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waypoints.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lecture 15, we however, define the robot’s pose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θ</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in the global frame which moves using the linear velocity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V</m:t>
                    </m:r>
                  </m:oMath>
                </a14:m>
                <a:r>
                  <a:rPr lang="en-US" sz="2400" dirty="0">
                    <a:solidFill>
                      <a:schemeClr val="dk1"/>
                    </a:solidFill>
                    <a:latin typeface="Atkinson Hyperlegible Next"/>
                    <a:ea typeface="Arial"/>
                    <a:cs typeface="Arial"/>
                    <a:sym typeface="Arial"/>
                  </a:rPr>
                  <a:t> and angular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ω</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0B82F22-2950-651A-368C-79B66C4118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DE29BBC0-4BB7-869B-8200-C3349CD5F674}"/>
              </a:ext>
            </a:extLst>
          </p:cNvPr>
          <p:cNvPicPr>
            <a:picLocks noChangeAspect="1" noChangeArrowheads="1"/>
          </p:cNvPicPr>
          <p:nvPr/>
        </p:nvPicPr>
        <p:blipFill>
          <a:blip r:embed="rId5"/>
          <a:srcRect/>
          <a:stretch/>
        </p:blipFill>
        <p:spPr bwMode="auto">
          <a:xfrm>
            <a:off x="3778250" y="3207429"/>
            <a:ext cx="4385452" cy="2218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421D264-CCBF-6216-3561-1662BD47BD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F6A097-F224-7317-492B-DD13DDA365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Standard A* assumes the robot is a "point mass" that can move in any direction!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differential drive robots cannot translate sideways! A drone, however, would be fine with this “point mass” definition.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When the path goes from moving "North" to "East", the angle changes by 90 degrees instantly.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implies an infinite angular velocity at that corner if you are not already facing that direction. What happens to our DC motors if we command an infinite angular velocity?</a:t>
            </a:r>
          </a:p>
          <a:p>
            <a:pPr marL="0" indent="0">
              <a:lnSpc>
                <a:spcPct val="100000"/>
              </a:lnSpc>
              <a:spcBef>
                <a:spcPts val="0"/>
              </a:spcBef>
              <a:buSzPts val="3000"/>
              <a:buNone/>
            </a:pPr>
            <a:r>
              <a:rPr lang="en-US" sz="2400" dirty="0">
                <a:latin typeface="Atkinson Hyperlegible Next"/>
                <a:ea typeface="Arial"/>
                <a:cs typeface="Arial"/>
                <a:sym typeface="Arial"/>
              </a:rPr>
              <a:t>How can we handle this?</a:t>
            </a:r>
          </a:p>
          <a:p>
            <a:pPr marL="0" indent="0" algn="ctr">
              <a:lnSpc>
                <a:spcPct val="100000"/>
              </a:lnSpc>
              <a:spcBef>
                <a:spcPts val="0"/>
              </a:spcBef>
              <a:buSzPts val="3000"/>
              <a:buNone/>
            </a:pPr>
            <a:r>
              <a:rPr lang="en-US" sz="2400" dirty="0">
                <a:latin typeface="Atkinson Hyperlegible Next"/>
                <a:ea typeface="Arial"/>
                <a:cs typeface="Arial"/>
                <a:sym typeface="Arial"/>
              </a:rPr>
              <a:t>Stop and turn or try tracking the next waypoint.</a:t>
            </a:r>
          </a:p>
        </p:txBody>
      </p:sp>
      <p:sp>
        <p:nvSpPr>
          <p:cNvPr id="119" name="Google Shape;119;p29">
            <a:extLst>
              <a:ext uri="{FF2B5EF4-FFF2-40B4-BE49-F238E27FC236}">
                <a16:creationId xmlns:a16="http://schemas.microsoft.com/office/drawing/2014/main" id="{F7660C1E-E82C-0AAC-4E33-4C21F14C1C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9A1833-A27A-239C-7663-4F50669321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E96364-CE48-ABE7-F89E-E2277E80DB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E8B0AC-8851-78D2-7ADA-6178500754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00B05F-484B-EC41-0AC9-B49E4967A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46E3FB-E836-6BA3-A9E9-EF8D078781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0A4F3B-B0D8-85E0-FD8C-870B99A8F9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4D6307-C1D6-AE6E-58A2-7F62315191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1282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05ECD9-0F2D-0ECF-7BF7-8438FE0476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7F892ED-3147-6427-2496-3889965C11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common approach is to ignore the robot's kinematics during planning.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Plan in 2D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space using A*.</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Build a continuous feedback controller to "chase" the discrete path.</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We infer the desired heading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oMath>
                </a14:m>
                <a:r>
                  <a:rPr lang="en-US" sz="2400" dirty="0">
                    <a:latin typeface="Atkinson Hyperlegible Next"/>
                    <a:ea typeface="Arial"/>
                    <a:cs typeface="Arial"/>
                    <a:sym typeface="Arial"/>
                  </a:rPr>
                  <a:t> from the angle between waypoints: </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m:rPr>
                          <m:nor/>
                        </m:rPr>
                        <a:rPr lang="en-US" sz="2400" i="0" dirty="0">
                          <a:latin typeface="Cambria Math" panose="02040503050406030204" pitchFamily="18" charset="0"/>
                          <a:ea typeface="Arial"/>
                          <a:cs typeface="Arial"/>
                          <a:sym typeface="Arial"/>
                        </a:rPr>
                        <m:t>atan</m:t>
                      </m:r>
                      <m:r>
                        <m:rPr>
                          <m:nor/>
                        </m:rPr>
                        <a:rPr lang="en-US" sz="2400" i="0" dirty="0">
                          <a:latin typeface="Cambria Math" panose="02040503050406030204" pitchFamily="18" charset="0"/>
                          <a:ea typeface="Arial"/>
                          <a:cs typeface="Arial"/>
                          <a:sym typeface="Arial"/>
                        </a:rPr>
                        <m:t>2</m:t>
                      </m:r>
                      <m:d>
                        <m:dPr>
                          <m:ctrlPr>
                            <a:rPr lang="en-US" sz="2400" i="1" dirty="0">
                              <a:latin typeface="Cambria Math" panose="02040503050406030204" pitchFamily="18" charset="0"/>
                              <a:ea typeface="Arial"/>
                              <a:cs typeface="Arial"/>
                              <a:sym typeface="Arial"/>
                            </a:rPr>
                          </m:ctrlPr>
                        </m:dPr>
                        <m:e>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𝑦</m:t>
                          </m:r>
                          <m:r>
                            <a:rPr lang="en-US" sz="2400" i="1" dirty="0">
                              <a:latin typeface="Cambria Math" panose="02040503050406030204" pitchFamily="18" charset="0"/>
                              <a:ea typeface="Arial"/>
                              <a:cs typeface="Arial"/>
                              <a:sym typeface="Arial"/>
                            </a:rPr>
                            <m:t>,</m:t>
                          </m:r>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𝑥</m:t>
                          </m:r>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7F892ED-3147-6427-2496-3889965C115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0E91B57-3BF9-46F2-9502-B612D37C6E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14E862-F6BA-CD78-1762-18B395B698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6B73B6-DD3A-B838-59B4-DDCC55C6ED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3210FA-7663-176F-1567-5431119589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ED16BD-85D8-6033-3E3B-4FD88CE57D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C98A78-DBF0-DBBF-158B-60B3F532BC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63A5E7-60ED-8D09-1290-B862226D6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2DA2E3-28FF-06BE-F568-3D03F512ED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6720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151B22-5552-217E-7213-643B4F6B282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124761E-F7E5-49F7-2483-45F4DDAD64B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possible way is to define the error state </a:t>
                </a:r>
                <a14:m>
                  <m:oMath xmlns:m="http://schemas.openxmlformats.org/officeDocument/2006/math">
                    <m:r>
                      <a:rPr lang="en-US" sz="2400" i="1" dirty="0">
                        <a:latin typeface="Cambria Math" panose="02040503050406030204" pitchFamily="18" charset="0"/>
                        <a:ea typeface="Arial"/>
                        <a:cs typeface="Arial"/>
                        <a:sym typeface="Arial"/>
                      </a:rPr>
                      <m:t>𝐞</m:t>
                    </m:r>
                    <m:r>
                      <a:rPr lang="en-US" sz="2400" i="1" dirty="0">
                        <a:latin typeface="Cambria Math" panose="02040503050406030204" pitchFamily="18" charset="0"/>
                        <a:ea typeface="Arial"/>
                        <a:cs typeface="Arial"/>
                        <a:sym typeface="Arial"/>
                      </a:rPr>
                      <m:t>=</m:t>
                    </m:r>
                    <m:sSup>
                      <m:sSupPr>
                        <m:ctrlPr>
                          <a:rPr lang="en-US" sz="2400" i="1" dirty="0">
                            <a:latin typeface="Cambria Math" panose="02040503050406030204" pitchFamily="18" charset="0"/>
                            <a:ea typeface="Arial"/>
                            <a:cs typeface="Arial"/>
                            <a:sym typeface="Arial"/>
                          </a:rPr>
                        </m:ctrlPr>
                      </m:sSupPr>
                      <m:e>
                        <m:d>
                          <m:dPr>
                            <m:begChr m:val="["/>
                            <m:endChr m:val="]"/>
                            <m:ctrlPr>
                              <a:rPr lang="en-US" sz="2400" i="1" dirty="0">
                                <a:latin typeface="Cambria Math" panose="02040503050406030204" pitchFamily="18" charset="0"/>
                                <a:ea typeface="Arial"/>
                                <a:cs typeface="Arial"/>
                                <a:sym typeface="Arial"/>
                              </a:rPr>
                            </m:ctrlPr>
                          </m:dP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r>
                              <a:rPr lang="en-US" sz="2400" i="1" dirty="0">
                                <a:latin typeface="Cambria Math" panose="02040503050406030204" pitchFamily="18" charset="0"/>
                                <a:ea typeface="Arial"/>
                                <a:cs typeface="Arial"/>
                                <a:sym typeface="Arial"/>
                              </a:rPr>
                              <m:t>,</m:t>
                            </m:r>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r>
                              <a:rPr lang="en-US" sz="2400" i="1" dirty="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d>
                      </m:e>
                      <m:sup>
                        <m:r>
                          <a:rPr lang="en-US" sz="2400" i="1" dirty="0">
                            <a:latin typeface="Cambria Math" panose="02040503050406030204" pitchFamily="18" charset="0"/>
                            <a:ea typeface="Arial"/>
                            <a:cs typeface="Arial"/>
                            <a:sym typeface="Arial"/>
                          </a:rPr>
                          <m:t>𝑇</m:t>
                        </m:r>
                      </m:sup>
                    </m:sSup>
                  </m:oMath>
                </a14:m>
                <a:r>
                  <a:rPr lang="en-US" sz="2400" dirty="0">
                    <a:latin typeface="Atkinson Hyperlegible Next"/>
                    <a:ea typeface="Arial"/>
                    <a:cs typeface="Arial"/>
                    <a:sym typeface="Arial"/>
                  </a:rPr>
                  <a:t> transformed into the robot's local coordinate frame: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e>
                            </m:mr>
                            <m:mr>
                              <m:e>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mr>
                          </m:m>
                        </m:e>
                      </m:d>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3"/>
                                    <m:mcJc m:val="center"/>
                                  </m:mcPr>
                                </m:mc>
                              </m:mcs>
                              <m:ctrlPr>
                                <a:rPr lang="en-US" sz="2400" i="1" dirty="0">
                                  <a:latin typeface="Cambria Math" panose="02040503050406030204" pitchFamily="18" charset="0"/>
                                  <a:ea typeface="Arial"/>
                                  <a:cs typeface="Arial"/>
                                  <a:sym typeface="Arial"/>
                                </a:rPr>
                              </m:ctrlPr>
                            </m:mPr>
                            <m:mr>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m:t>
                                </m:r>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1</m:t>
                                </m:r>
                              </m:e>
                            </m:mr>
                          </m:m>
                        </m:e>
                      </m:d>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𝑥</m:t>
                                </m:r>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𝑦</m:t>
                                </m:r>
                              </m:e>
                            </m:mr>
                            <m:mr>
                              <m:e>
                                <m:sSub>
                                  <m:sSubPr>
                                    <m:ctrlPr>
                                      <a:rPr lang="en-US" sz="2400" i="1" dirty="0" err="1">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𝜃</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r>
                      <a:rPr lang="en-US" sz="2400" b="0" i="0"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represents the waypoint coordinate from 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kinematic model governing the motion of a unicycle (which accurately represents the center point of a differential drive robot)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𝜃</m:t>
                                    </m:r>
                                  </m:e>
                                </m:acc>
                              </m:e>
                            </m:mr>
                          </m:m>
                        </m:e>
                      </m:d>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400" i="1" dirty="0" smtClean="0">
                                  <a:latin typeface="Cambria Math" panose="02040503050406030204" pitchFamily="18" charset="0"/>
                                  <a:ea typeface="Arial"/>
                                  <a:cs typeface="Arial"/>
                                  <a:sym typeface="Arial"/>
                                </a:rPr>
                              </m:ctrlPr>
                            </m:mP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𝑣</m:t>
                                </m:r>
                              </m:e>
                            </m:mr>
                            <m:mr>
                              <m:e>
                                <m:r>
                                  <a:rPr lang="en-US" sz="2400" i="1" dirty="0" smtClean="0">
                                    <a:latin typeface="Cambria Math" panose="02040503050406030204" pitchFamily="18" charset="0"/>
                                    <a:ea typeface="Arial"/>
                                    <a:cs typeface="Arial"/>
                                    <a:sym typeface="Arial"/>
                                  </a:rPr>
                                  <m:t>𝜔</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124761E-F7E5-49F7-2483-45F4DDAD64B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873"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28248C-17E6-0709-C028-AD60F1D63F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0B3E5B-11CD-5AA4-BA0D-D7BDC5D321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668B16-ECDE-A54C-3B0D-3CCB1D977E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8909FB-08A4-628C-7C67-220EE6E86F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05036F-410F-1DF4-409B-35586E5F95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083245-AB6E-9B94-34CD-602188D388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5FF986-842B-8881-6D8D-EE92792A38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06F4CB-484B-2BDE-C248-03819F3AAC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5206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63FB4F-4CEA-683A-714C-BDADCEF162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DA4D93-7F56-FF0F-9A6F-CFA4A3D864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1157C5-610F-F6C2-01CD-24E6637803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C0C1C9-9847-9A80-DF75-E862F5FADE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59ED37-E652-219D-F49E-517364C460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EE2468-A394-646D-9866-63ED2FD9B4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81EF3-1155-8B5C-8713-65E545663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4D0786-BF7A-CDC1-7585-9A1DCFFD8E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B8FD40-8F92-4A34-3AA3-77D9E2CA73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iagram: tracking error for a differential-drive robot following a path segment from p sub k (x sub k, y sub k) to p sub k plus 1 (x sub k plus 1, y sub k plus 1). The segment makes angle theta sub r with the X axis, and its endpoint is the reference (x sub r, y sub r, v sub r, omega sub r). The robot sits at (x, y) with heading theta. Vector d equals x sub r minus x, y sub r minus y points from robot to target and splits into e sub x along the robot's x axis and e sub y along its y axis. e sub theta is the angle between robot heading and path direction.">
            <a:extLst>
              <a:ext uri="{FF2B5EF4-FFF2-40B4-BE49-F238E27FC236}">
                <a16:creationId xmlns:a16="http://schemas.microsoft.com/office/drawing/2014/main" id="{5F5E9C8F-1320-10CF-C7C0-24E090752B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99678" y="973521"/>
            <a:ext cx="7064290" cy="5531825"/>
          </a:xfrm>
          <a:prstGeom prst="rect">
            <a:avLst/>
          </a:prstGeom>
        </p:spPr>
      </p:pic>
    </p:spTree>
    <p:extLst>
      <p:ext uri="{BB962C8B-B14F-4D97-AF65-F5344CB8AC3E}">
        <p14:creationId xmlns:p14="http://schemas.microsoft.com/office/powerpoint/2010/main" val="838650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AA5D57-0732-DC7B-BC3A-8BF001C2C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BF1DDB-7F7C-3D0F-5BAF-FC1984B483E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Taking the time derivative of this error vector and substituting our kinematic equations yields the open-loop error dynamics: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𝑥</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𝑦</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ac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generate control actions that guarantee the robot will converge to the path, we can utilize a non-linear feedback tracking controller (originally proposed by Kanayama et al.).</a:t>
                </a:r>
              </a:p>
              <a:p>
                <a:pPr marL="0" indent="0">
                  <a:lnSpc>
                    <a:spcPct val="100000"/>
                  </a:lnSpc>
                  <a:spcBef>
                    <a:spcPts val="0"/>
                  </a:spcBef>
                  <a:buSzPts val="3000"/>
                  <a:buNone/>
                </a:pPr>
                <a:r>
                  <a:rPr lang="en-US" sz="2400" dirty="0">
                    <a:latin typeface="Atkinson Hyperlegible Next"/>
                    <a:ea typeface="Arial"/>
                    <a:cs typeface="Arial"/>
                    <a:sym typeface="Arial"/>
                  </a:rPr>
                  <a:t>We propose the following control law using positive gain constants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r>
                      <a:rPr lang="en-US" sz="2400" i="1" dirty="0" smtClean="0">
                        <a:latin typeface="Cambria Math" panose="02040503050406030204" pitchFamily="18" charset="0"/>
                        <a:ea typeface="Arial"/>
                        <a:cs typeface="Arial"/>
                        <a:sym typeface="Arial"/>
                      </a:rPr>
                      <m:t>&gt;0</m:t>
                    </m:r>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𝜔</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BF1DDB-7F7C-3D0F-5BAF-FC1984B483E9}"/>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73" t="-818"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7EFDE-0AC4-CFAC-3C25-7E4BD6E2EF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5C8F6E-F40E-DDAA-314C-46B63B8150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EE393-9AE4-B6E7-3FBE-97F255F6C36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67ACEB-142E-76C1-E358-74F11A588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C3C21D-EDED-0FF0-1448-84BF7424E4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34BFB0-6E8A-22D6-604D-3687D0FEAF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4B46FF-3F51-4697-57C2-0A44D3DED6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790B5CD-B8A1-1B69-D12A-D0D29A3358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2741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With non-linear control stability theory (Lyapunov), you can prove that the previously provided controller will converge to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You can define a positive-definite Lyapunov candidate function </a:t>
                </a:r>
                <a14:m>
                  <m:oMath xmlns:m="http://schemas.openxmlformats.org/officeDocument/2006/math">
                    <m:r>
                      <a:rPr lang="en-US" sz="2350" i="1" dirty="0" smtClean="0">
                        <a:latin typeface="Cambria Math" panose="02040503050406030204" pitchFamily="18" charset="0"/>
                        <a:ea typeface="Arial"/>
                        <a:cs typeface="Arial"/>
                        <a:sym typeface="Arial"/>
                      </a:rPr>
                      <m:t>𝑉</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𝐞</m:t>
                        </m:r>
                      </m:e>
                    </m:d>
                    <m:r>
                      <a:rPr lang="en-US" sz="2350" i="1" dirty="0" smtClean="0">
                        <a:latin typeface="Cambria Math" panose="02040503050406030204" pitchFamily="18" charset="0"/>
                        <a:ea typeface="Arial"/>
                        <a:cs typeface="Arial"/>
                        <a:sym typeface="Arial"/>
                      </a:rPr>
                      <m:t>:</m:t>
                    </m:r>
                  </m:oMath>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num>
                        <m:den>
                          <m:r>
                            <a:rPr lang="en-US" sz="2350" i="1" dirty="0" smtClean="0">
                              <a:latin typeface="Cambria Math" panose="02040503050406030204" pitchFamily="18" charset="0"/>
                              <a:ea typeface="Arial"/>
                              <a:cs typeface="Arial"/>
                              <a:sym typeface="Arial"/>
                            </a:rPr>
                            <m:t>2</m:t>
                          </m:r>
                        </m:den>
                      </m:f>
                      <m:d>
                        <m:dPr>
                          <m:ctrlPr>
                            <a:rPr lang="en-US" sz="2350" i="1" dirty="0" smtClean="0">
                              <a:latin typeface="Cambria Math" panose="02040503050406030204" pitchFamily="18" charset="0"/>
                              <a:ea typeface="Arial"/>
                              <a:cs typeface="Arial"/>
                              <a:sym typeface="Arial"/>
                            </a:rPr>
                          </m:ctrlPr>
                        </m:dPr>
                        <m:e>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up>
                              <m:r>
                                <a:rPr lang="en-US" sz="2350" i="1" dirty="0" smtClean="0">
                                  <a:latin typeface="Cambria Math" panose="02040503050406030204" pitchFamily="18" charset="0"/>
                                  <a:ea typeface="Arial"/>
                                  <a:cs typeface="Arial"/>
                                  <a:sym typeface="Arial"/>
                                </a:rPr>
                                <m:t>2</m:t>
                              </m:r>
                            </m:sup>
                          </m:sSubSup>
                          <m:r>
                            <a:rPr lang="en-US" sz="2350" i="1" dirty="0" smtClean="0">
                              <a:latin typeface="Cambria Math" panose="02040503050406030204" pitchFamily="18" charset="0"/>
                              <a:ea typeface="Arial"/>
                              <a:cs typeface="Arial"/>
                              <a:sym typeface="Arial"/>
                            </a:rPr>
                            <m:t>+</m:t>
                          </m:r>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up>
                              <m:r>
                                <a:rPr lang="en-US" sz="2350" i="1" dirty="0" smtClean="0">
                                  <a:latin typeface="Cambria Math" panose="02040503050406030204" pitchFamily="18" charset="0"/>
                                  <a:ea typeface="Arial"/>
                                  <a:cs typeface="Arial"/>
                                  <a:sym typeface="Arial"/>
                                </a:rPr>
                                <m:t>2</m:t>
                              </m:r>
                            </m:sup>
                          </m:sSub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cos</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must prove that its time derivative </a:t>
                </a:r>
                <a14:m>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oMath>
                </a14:m>
                <a:r>
                  <a:rPr lang="en-US" sz="2350" dirty="0">
                    <a:latin typeface="Atkinson Hyperlegible Next"/>
                    <a:ea typeface="Arial"/>
                    <a:cs typeface="Arial"/>
                    <a:sym typeface="Arial"/>
                  </a:rPr>
                  <a:t> is negative semi-definite. Taking the derivative: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𝑥</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Sub>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𝑦</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Sub>
                        </m:e>
                      </m:acc>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sin</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acc>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 will leave as an exercise to you to verify that as long as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𝑥</m:t>
                        </m:r>
                      </m:sub>
                    </m:sSub>
                    <m:r>
                      <a:rPr lang="en-US" sz="2350" i="1" dirty="0">
                        <a:latin typeface="Cambria Math" panose="02040503050406030204" pitchFamily="18" charset="0"/>
                        <a:ea typeface="Arial"/>
                        <a:cs typeface="Arial"/>
                        <a:sym typeface="Arial"/>
                      </a:rPr>
                      <m:t>,</m:t>
                    </m:r>
                    <m:sSub>
                      <m:sSubPr>
                        <m:ctrlPr>
                          <a:rPr lang="en-US" sz="2350" i="1" dirty="0" err="1">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𝑦</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𝐾</m:t>
                        </m:r>
                      </m:e>
                      <m:sub>
                        <m:r>
                          <a:rPr lang="en-US" sz="2350" i="1" dirty="0">
                            <a:latin typeface="Cambria Math" panose="02040503050406030204" pitchFamily="18" charset="0"/>
                            <a:ea typeface="Arial"/>
                            <a:cs typeface="Arial"/>
                            <a:sym typeface="Arial"/>
                          </a:rPr>
                          <m:t>𝜃</m:t>
                        </m:r>
                      </m:sub>
                    </m:sSub>
                    <m:r>
                      <a:rPr lang="en-US" sz="2350" i="1" dirty="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The error states asymptotically converge to zero.</a:t>
                </a:r>
              </a:p>
            </p:txBody>
          </p:sp>
        </mc:Choice>
        <mc:Fallback xmlns="">
          <p:sp>
            <p:nvSpPr>
              <p:cNvPr id="118" name="Google Shape;118;p29">
                <a:extLst>
                  <a:ext uri="{FF2B5EF4-FFF2-40B4-BE49-F238E27FC236}">
                    <a16:creationId xmlns:a16="http://schemas.microsoft.com/office/drawing/2014/main" id="{936574AF-556B-132F-418B-F588EB2FF55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764" b="-42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479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2C52DE-8450-CA96-69DB-9AE0C901E3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6836C7-91CD-93AD-8907-48EC6C982C2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So, we have decoupled the control from the robot’s planner. However, doing so we could have potential problems. What might they be?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When inferring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from a jagged grid path, the reference heading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is discontinuous.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creates sudden spikes in heading error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feedback controller saturates the motors trying to fix the error.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robot swings wide around corners, potentially crashing into obstacles the planner thought were safe.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path planner does not understand the robot’s kinematics when planning!</a:t>
                </a:r>
              </a:p>
            </p:txBody>
          </p:sp>
        </mc:Choice>
        <mc:Fallback xmlns="">
          <p:sp>
            <p:nvSpPr>
              <p:cNvPr id="118" name="Google Shape;118;p29">
                <a:extLst>
                  <a:ext uri="{FF2B5EF4-FFF2-40B4-BE49-F238E27FC236}">
                    <a16:creationId xmlns:a16="http://schemas.microsoft.com/office/drawing/2014/main" id="{CA6836C7-91CD-93AD-8907-48EC6C982C2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C6214A-4506-DF87-2356-12A48E319E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45543-6425-DF53-672E-4634CB4806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B75B47-9C12-BE19-68DA-28CFEF91CD1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6D98C6-6E53-5B76-008F-FCEA685281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67DFD-5261-ADFB-79D6-3D1F9EBB0CF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CDEF84-5A1B-9521-0A17-1457E84664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CCF48-418B-7A38-7DB2-6BE8BA5448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306C8-ECCD-8709-F78C-1FD809BCB7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257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BEA05B-47C4-F381-D76A-ADBC3EF47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52E965-A612-62CC-6FA5-0781336FAF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460F2-788B-8AEC-8094-4F5770A38C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F958B4-ED32-4D43-D8A1-B1F17403B6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B65466-A698-A44C-A44C-C65C255B03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54575D-5FF7-F751-E6DB-75A5CED0D6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A4F88-1A0D-F35C-10F1-ADB4BF106D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41FC62-531B-A6A4-FAF1-FAE22E5646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D11B7-CC20-0F44-F9DD-8254767975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E61970EF-EA99-2744-F656-F18E3429C05B}"/>
              </a:ext>
            </a:extLst>
          </p:cNvPr>
          <p:cNvSpPr>
            <a:spLocks noGrp="1"/>
          </p:cNvSpPr>
          <p:nvPr>
            <p:ph type="body" idx="1"/>
          </p:nvPr>
        </p:nvSpPr>
        <p:spPr/>
        <p:txBody>
          <a:bodyPr/>
          <a:lstStyle/>
          <a:p>
            <a:endParaRPr lang="en-US" dirty="0"/>
          </a:p>
        </p:txBody>
      </p:sp>
      <p:pic>
        <p:nvPicPr>
          <p:cNvPr id="7" name="Picture 6" descr="Plot: a 20 by 20 map with a horizontal wall at y equals 10 that has a narrow gap near x equals 15. The A star path (red dashed) runs diagonally from the start at (2, 2) to (9, 9), follows y equals 9 under the wall to x equals 14, passes up through the gap, then zigzags diagonally and vertically to the goal at (18, 18). The robot (green, with a heading line) has just left the start, steering toward its current target waypoint at (3, 3) on the path.">
            <a:extLst>
              <a:ext uri="{FF2B5EF4-FFF2-40B4-BE49-F238E27FC236}">
                <a16:creationId xmlns:a16="http://schemas.microsoft.com/office/drawing/2014/main" id="{2506955E-C640-0B5D-8D0B-301D7AF462E5}"/>
              </a:ext>
            </a:extLst>
          </p:cNvPr>
          <p:cNvPicPr>
            <a:picLocks noChangeAspect="1"/>
          </p:cNvPicPr>
          <p:nvPr/>
        </p:nvPicPr>
        <p:blipFill>
          <a:blip r:embed="rId4"/>
          <a:stretch>
            <a:fillRect/>
          </a:stretch>
        </p:blipFill>
        <p:spPr>
          <a:xfrm>
            <a:off x="3303142" y="906290"/>
            <a:ext cx="5585715" cy="5585715"/>
          </a:xfrm>
          <a:prstGeom prst="rect">
            <a:avLst/>
          </a:prstGeom>
        </p:spPr>
      </p:pic>
    </p:spTree>
    <p:extLst>
      <p:ext uri="{BB962C8B-B14F-4D97-AF65-F5344CB8AC3E}">
        <p14:creationId xmlns:p14="http://schemas.microsoft.com/office/powerpoint/2010/main" val="2595507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decoupled controller, which pursues a target point and has the controller constantly chasing after it is called </a:t>
            </a:r>
            <a:r>
              <a:rPr lang="en-US" sz="2350" b="1" dirty="0">
                <a:latin typeface="Atkinson Hyperlegible Next"/>
                <a:ea typeface="Arial"/>
                <a:cs typeface="Arial"/>
                <a:sym typeface="Arial"/>
              </a:rPr>
              <a:t>Pure Pursuit</a:t>
            </a:r>
          </a:p>
          <a:p>
            <a:pPr marL="0" indent="0">
              <a:lnSpc>
                <a:spcPct val="100000"/>
              </a:lnSpc>
              <a:spcBef>
                <a:spcPts val="0"/>
              </a:spcBef>
              <a:buSzPts val="3000"/>
              <a:buNone/>
            </a:pPr>
            <a:endParaRPr lang="en-US" sz="2350" b="1"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other ways of implementing the trajectory following, among which we will talk about below. Some other ways revolve around solving optimization problems. </a:t>
            </a:r>
          </a:p>
        </p:txBody>
      </p:sp>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8699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154B0F-A8D5-156B-92EC-6CA1C0698C4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7995FC-451A-1425-9299-B378AB1DF2F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the planner must understand the robot's physical heading.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expand our search state from 2D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to 3D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robot now searches through </a:t>
                </a:r>
                <a:r>
                  <a:rPr lang="en-US" sz="2000" b="1" dirty="0">
                    <a:latin typeface="Atkinson Hyperlegible Next"/>
                    <a:ea typeface="Arial"/>
                    <a:cs typeface="Arial"/>
                    <a:sym typeface="Arial"/>
                  </a:rPr>
                  <a:t>positions and orientations</a:t>
                </a:r>
                <a:r>
                  <a:rPr lang="en-US" sz="2000" dirty="0">
                    <a:latin typeface="Atkinson Hyperlegible Next"/>
                    <a:ea typeface="Arial"/>
                    <a:cs typeface="Arial"/>
                    <a:sym typeface="Arial"/>
                  </a:rPr>
                  <a:t>! A state transition is no longer just moving to an adjacent grid cell.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can </a:t>
                </a:r>
                <a:r>
                  <a:rPr lang="en-US" sz="2000" b="1" dirty="0">
                    <a:latin typeface="Atkinson Hyperlegible Next"/>
                    <a:ea typeface="Arial"/>
                    <a:cs typeface="Arial"/>
                    <a:sym typeface="Arial"/>
                  </a:rPr>
                  <a:t>discretize </a:t>
                </a:r>
                <a14:m>
                  <m:oMath xmlns:m="http://schemas.openxmlformats.org/officeDocument/2006/math">
                    <m:r>
                      <a:rPr lang="en-US" sz="2000" b="1" i="1" dirty="0" smtClean="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into bins </a:t>
                </a:r>
                <a:r>
                  <a:rPr lang="en-US" sz="2000" dirty="0">
                    <a:latin typeface="Atkinson Hyperlegible Next"/>
                    <a:ea typeface="Arial"/>
                    <a:cs typeface="Arial"/>
                    <a:sym typeface="Arial"/>
                  </a:rPr>
                  <a:t>(e.g., 8 directions, 16 directions).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From a state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e>
                    </m:d>
                  </m:oMath>
                </a14:m>
                <a:r>
                  <a:rPr lang="en-US" sz="2000" dirty="0">
                    <a:latin typeface="Atkinson Hyperlegible Next"/>
                    <a:ea typeface="Arial"/>
                    <a:cs typeface="Arial"/>
                    <a:sym typeface="Arial"/>
                  </a:rPr>
                  <a:t>, valid moves might be "drive forward at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or "turn to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45</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and drive".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we have the state </a:t>
                </a:r>
                <a14:m>
                  <m:oMath xmlns:m="http://schemas.openxmlformats.org/officeDocument/2006/math">
                    <m:r>
                      <a:rPr lang="en-US" sz="2000" i="1" dirty="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can give a </a:t>
                </a:r>
                <a:r>
                  <a:rPr lang="en-US" sz="2000" b="1" dirty="0">
                    <a:latin typeface="Atkinson Hyperlegible Next"/>
                    <a:ea typeface="Arial"/>
                    <a:cs typeface="Arial"/>
                    <a:sym typeface="Arial"/>
                  </a:rPr>
                  <a:t>penalty for </a:t>
                </a:r>
                <a14:m>
                  <m:oMath xmlns:m="http://schemas.openxmlformats.org/officeDocument/2006/math">
                    <m:r>
                      <a:rPr lang="en-US" sz="2000" b="1" i="1" dirty="0" smtClean="0">
                        <a:latin typeface="Cambria Math" panose="02040503050406030204" pitchFamily="18" charset="0"/>
                        <a:ea typeface="Arial"/>
                        <a:cs typeface="Arial"/>
                        <a:sym typeface="Arial"/>
                      </a:rPr>
                      <m:t>𝜟</m:t>
                    </m:r>
                    <m:r>
                      <a:rPr lang="en-US" sz="2000" b="1" i="1" dirty="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between states to make robots move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ensures the path considers the robot's current orientation. However, true non-holonomic robots don't just "turn and drive"—they curve.</a:t>
                </a:r>
              </a:p>
            </p:txBody>
          </p:sp>
        </mc:Choice>
        <mc:Fallback xmlns="">
          <p:sp>
            <p:nvSpPr>
              <p:cNvPr id="118" name="Google Shape;118;p29">
                <a:extLst>
                  <a:ext uri="{FF2B5EF4-FFF2-40B4-BE49-F238E27FC236}">
                    <a16:creationId xmlns:a16="http://schemas.microsoft.com/office/drawing/2014/main" id="{6F7995FC-451A-1425-9299-B378AB1DF2F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600"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FEF1E32-06FD-8956-9043-0AB068DA22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87AA41-1BBE-765B-B1A3-2C1FB80C9F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20AE5F9-070C-1188-5AC9-39B9541DD9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0E4874-4615-D122-73F7-31E11CEA37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934E72C-FB46-3AC4-D499-B8EDC1679A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8741DD-F3BF-E8EC-A133-86343D7D9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97013A3-5588-9B5C-1613-79D2190E74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0C09F2-46A7-1DD1-F6E1-63426FBAC0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355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EF569B-40B9-AA6A-66DB-2830A83D873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F67260C-9D60-2FC3-3459-75035FC87B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F3378-5399-D07D-1407-81785A7749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7ACAC8-5364-27D1-D65B-AFE85B1D8B9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E3A880-690E-E792-16DC-5D8ACBABAD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B23B27-8463-CC71-4608-1BA8F3AABC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9740C1-2C1B-0C3E-5DE9-F6A2914F27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9CFEB8-023B-F34B-BF2B-B72DA57A73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53D1-08AE-864D-1F2C-5E42037065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hree-dimensional configuration space for robot path planning, with X and Y position axes from 0 to 6 and orientation theta as the vertical axis, stacked as three grid layers at 0, 90 and 180 degrees. A path runs from Start (1, 1, 0 degrees) to Goal (5, 5, 0 degrees). Horizontal segments within a layer are moves between grid cells, and vertical segments are turns in place to the next orientation. The path climbs from the 0-degree layer through 90 degrees to the 180-degree layer, where the goal marker is drawn even though it is labeled 0 degrees.">
            <a:extLst>
              <a:ext uri="{FF2B5EF4-FFF2-40B4-BE49-F238E27FC236}">
                <a16:creationId xmlns:a16="http://schemas.microsoft.com/office/drawing/2014/main" id="{4E5447E2-7341-B44F-352B-3D9830A5CB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87675" y="884181"/>
            <a:ext cx="6216650" cy="5662224"/>
          </a:xfrm>
          <a:prstGeom prst="rect">
            <a:avLst/>
          </a:prstGeom>
        </p:spPr>
      </p:pic>
    </p:spTree>
    <p:extLst>
      <p:ext uri="{BB962C8B-B14F-4D97-AF65-F5344CB8AC3E}">
        <p14:creationId xmlns:p14="http://schemas.microsoft.com/office/powerpoint/2010/main" val="162357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B0A3C8-98D1-5250-7503-96E6A0FA4F8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3F2485-4D78-8243-0988-EEAB3BDF82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Adding </a:t>
                </a:r>
                <a14:m>
                  <m:oMath xmlns:m="http://schemas.openxmlformats.org/officeDocument/2006/math">
                    <m:r>
                      <a:rPr lang="en-US" sz="2350" i="1" dirty="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dramatically increases the search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100x100 grid has 10,000 states in 2D discretizing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into 72 angles (every 5 degrees) yields </a:t>
                </a:r>
                <a:r>
                  <a:rPr lang="en-US" sz="2350" b="1" dirty="0">
                    <a:latin typeface="Atkinson Hyperlegible Next"/>
                    <a:ea typeface="Arial"/>
                    <a:cs typeface="Arial"/>
                    <a:sym typeface="Arial"/>
                  </a:rPr>
                  <a:t>720,000 states</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 does this affect the memory and compute time required for A*?</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time you add a dimension you increase the number of possibilities exponentially!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phenomenon is called the </a:t>
                </a:r>
                <a:r>
                  <a:rPr lang="en-US" sz="2350" b="1" dirty="0">
                    <a:latin typeface="Atkinson Hyperlegible Next"/>
                    <a:ea typeface="Arial"/>
                    <a:cs typeface="Arial"/>
                    <a:sym typeface="Arial"/>
                  </a:rPr>
                  <a:t>Curse of Dimensionality </a:t>
                </a:r>
                <a:r>
                  <a:rPr lang="en-US" sz="2350" dirty="0">
                    <a:latin typeface="Atkinson Hyperlegible Next"/>
                    <a:ea typeface="Arial"/>
                    <a:cs typeface="Arial"/>
                    <a:sym typeface="Arial"/>
                  </a:rPr>
                  <a:t>and is a problem is a lot of applications of math!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is no way to escape this problem!</a:t>
                </a:r>
              </a:p>
            </p:txBody>
          </p:sp>
        </mc:Choice>
        <mc:Fallback xmlns="">
          <p:sp>
            <p:nvSpPr>
              <p:cNvPr id="118" name="Google Shape;118;p29">
                <a:extLst>
                  <a:ext uri="{FF2B5EF4-FFF2-40B4-BE49-F238E27FC236}">
                    <a16:creationId xmlns:a16="http://schemas.microsoft.com/office/drawing/2014/main" id="{A53F2485-4D78-8243-0988-EEAB3BDF829F}"/>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41C6C1-AA3F-5FF5-360D-DFCBB62736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815A8-2F2C-9E1C-2872-878C3B048A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5F1EC-9C94-3E71-192E-9FBCC8FF55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795EC4-1EA0-E2C0-04F1-D9A0516C5A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185C3-0E72-D03B-6977-9166758B58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01A1D0-FEEC-4797-EA50-D038C77237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DC5937-A0CA-C372-8C2C-473C5E466D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FA81E-993A-A0A6-AE15-8337D8E55D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6233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8DD3A0-5D9D-7741-21AC-CBDD57D8EB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FB5C77-6A3C-657E-B5E5-1BDF1206BF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Before we commit to heavy 3D planning, let's establish when 2D is acceptable: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2D planning works well for omnidirectional robots (</a:t>
            </a:r>
            <a:r>
              <a:rPr lang="en-US" sz="2350" dirty="0" err="1">
                <a:latin typeface="Atkinson Hyperlegible Next"/>
                <a:ea typeface="Arial"/>
                <a:cs typeface="Arial"/>
                <a:sym typeface="Arial"/>
              </a:rPr>
              <a:t>Mecanum</a:t>
            </a:r>
            <a:r>
              <a:rPr lang="en-US" sz="2350" dirty="0">
                <a:latin typeface="Atkinson Hyperlegible Next"/>
                <a:ea typeface="Arial"/>
                <a:cs typeface="Arial"/>
                <a:sym typeface="Arial"/>
              </a:rPr>
              <a:t> wheels).</a:t>
            </a:r>
          </a:p>
          <a:p>
            <a:pPr marL="342900">
              <a:lnSpc>
                <a:spcPct val="100000"/>
              </a:lnSpc>
              <a:spcBef>
                <a:spcPts val="0"/>
              </a:spcBef>
              <a:buSzPts val="3000"/>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It also works for very slow differential drive robots in wide-open spaces (you can have 8-connected neighbors and tune your controller to minimize edge clipping).</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fails catastrophically for cars (Ackermann steering) or robots in tight, cluttered corridors.</a:t>
            </a:r>
          </a:p>
        </p:txBody>
      </p:sp>
      <p:sp>
        <p:nvSpPr>
          <p:cNvPr id="119" name="Google Shape;119;p29">
            <a:extLst>
              <a:ext uri="{FF2B5EF4-FFF2-40B4-BE49-F238E27FC236}">
                <a16:creationId xmlns:a16="http://schemas.microsoft.com/office/drawing/2014/main" id="{B13A86C1-64E4-C49B-1C5A-9015EC356D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DB0C9B-0EE5-A576-BC5E-884BE7720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78344A-63E9-282D-79C2-4BF324BC83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8BACFE-7142-8C3A-A768-40A175A19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D9136E-C27D-DF98-BB5D-40EFCD4024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06039D-4B00-32F9-DB25-DBCAAA6E3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5467C5-2F26-AD27-A1FE-369C1D87A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705DE7-E658-33DE-7A91-5E9F4E2613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46498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FF39F0-61F6-4969-F0A2-BC2B174792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41C7AAC-444E-E730-FE92-36DBFA80328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Hybrid 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CB7D4B5-02FF-71CE-F91F-4CAB12C0A1B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98ED22C-D241-0D2E-A82D-350089F4A82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4700CA7-31AF-AFBB-9BEF-B182AA0189F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7E3B612-2CA4-DD28-A068-CACE686116A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87FC0D-DAB1-480F-3DEF-651054D02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745949F-8D90-5814-D515-0935D25E17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CC1214-3B7C-1FA9-F303-B70BD9FFD8B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4077038-CAFD-C980-C77E-AC88091FA6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7DC4168-6590-8DC7-7F27-51B5926279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128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FDA475-E734-7938-583F-D9B8273EE89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932218D-BE93-0316-8391-54062ED6B70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expanding to adjacent grid cells, Hybrid A* simulates the kinematics.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applies a set of discrete control commands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 for a short time step </a:t>
                </a:r>
                <a14:m>
                  <m:oMath xmlns:m="http://schemas.openxmlformats.org/officeDocument/2006/math">
                    <m:r>
                      <m:rPr>
                        <m:sty m:val="p"/>
                      </m:rPr>
                      <a:rPr lang="en-US" sz="2350" i="0" dirty="0" smtClean="0">
                        <a:latin typeface="Cambria Math" panose="02040503050406030204" pitchFamily="18" charset="0"/>
                        <a:ea typeface="Arial"/>
                        <a:cs typeface="Arial"/>
                        <a:sym typeface="Arial"/>
                      </a:rPr>
                      <m:t>Δ</m:t>
                    </m:r>
                    <m:r>
                      <a:rPr lang="en-US" sz="2350" i="1" dirty="0" err="1">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end points of these simulated curves become the new child nodes.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differential drive robots, we can also command </a:t>
                </a:r>
                <a14:m>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 = 0</m:t>
                    </m:r>
                  </m:oMath>
                </a14:m>
                <a:r>
                  <a:rPr lang="en-US" sz="2350" dirty="0">
                    <a:latin typeface="Atkinson Hyperlegible Next"/>
                    <a:ea typeface="Arial"/>
                    <a:cs typeface="Arial"/>
                    <a:sym typeface="Arial"/>
                  </a:rPr>
                  <a:t> and </a:t>
                </a:r>
                <a14:m>
                  <m:oMath xmlns:m="http://schemas.openxmlformats.org/officeDocument/2006/math">
                    <m:r>
                      <a:rPr lang="en-US" sz="2350" i="1" dirty="0" smtClean="0">
                        <a:latin typeface="Cambria Math" panose="02040503050406030204" pitchFamily="18" charset="0"/>
                        <a:ea typeface="Arial"/>
                        <a:cs typeface="Arial"/>
                        <a:sym typeface="Arial"/>
                      </a:rPr>
                      <m:t>𝜔</m:t>
                    </m:r>
                    <m:r>
                      <a:rPr lang="en-US" sz="2350" i="1" dirty="0" smtClean="0">
                        <a:latin typeface="Cambria Math" panose="02040503050406030204" pitchFamily="18" charset="0"/>
                        <a:ea typeface="Arial"/>
                        <a:cs typeface="Arial"/>
                        <a:sym typeface="Arial"/>
                      </a:rPr>
                      <m:t>≠0</m:t>
                    </m:r>
                  </m:oMath>
                </a14:m>
                <a:r>
                  <a:rPr lang="en-US" sz="2350" dirty="0">
                    <a:latin typeface="Atkinson Hyperlegible Next"/>
                    <a:ea typeface="Arial"/>
                    <a:cs typeface="Arial"/>
                    <a:sym typeface="Arial"/>
                  </a:rPr>
                  <a:t>. This allows the robot to turn in place (a zero-point turn). Hybrid A* can include these zero-point turns as valid node expansions.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assign a high "cost penalty" to zero-point turns in our algorithm?</a:t>
                </a:r>
              </a:p>
              <a:p>
                <a:pPr marL="0" indent="0">
                  <a:lnSpc>
                    <a:spcPct val="100000"/>
                  </a:lnSpc>
                  <a:spcBef>
                    <a:spcPts val="0"/>
                  </a:spcBef>
                  <a:buSzPts val="3000"/>
                  <a:buNone/>
                </a:pPr>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932218D-BE93-0316-8391-54062ED6B70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615F81-4D05-2BBC-F1BA-6343FBE8C8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98E31-ADD1-3D02-BB8B-26288D2721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8FA7F1-D737-762C-33D7-CBC96C80B1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B2FD96-A551-09D9-CB02-7C4375C360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449AD-BE62-18EA-3FE7-CED1C94675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D86CCB-31D7-40F1-9D25-3D4B444177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CEAAF9-9927-4282-FFE3-4A49AF88BB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B7DD9-CA65-24A9-9831-ECDF9C7509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9160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F7B4EF-3DD6-CBD4-350C-A1487B9699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5AF7BD-8CC3-1694-1613-009ED25E7DB6}"/>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uses a discrete 3D grid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purely for spatial hashing (to know if an area was visited). However, the actual coordinates stored in the nodes are continuous floating-point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guarantees that the generated path is physically drivable and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𝐶</m:t>
                        </m:r>
                      </m:e>
                      <m:sup>
                        <m:r>
                          <a:rPr lang="en-US" sz="2350" i="1" dirty="0" smtClean="0">
                            <a:latin typeface="Cambria Math" panose="02040503050406030204" pitchFamily="18" charset="0"/>
                            <a:ea typeface="Arial"/>
                            <a:cs typeface="Arial"/>
                            <a:sym typeface="Arial"/>
                          </a:rPr>
                          <m:t>1</m:t>
                        </m:r>
                      </m:sup>
                    </m:sSup>
                  </m:oMath>
                </a14:m>
                <a:r>
                  <a:rPr lang="en-US" sz="2350" dirty="0">
                    <a:latin typeface="Atkinson Hyperlegible Next"/>
                    <a:ea typeface="Arial"/>
                    <a:cs typeface="Arial"/>
                    <a:sym typeface="Arial"/>
                  </a:rPr>
                  <a:t> continuous (smooth).There are no impossible 90-degree instantaneous turns!</a:t>
                </a:r>
              </a:p>
            </p:txBody>
          </p:sp>
        </mc:Choice>
        <mc:Fallback xmlns="">
          <p:sp>
            <p:nvSpPr>
              <p:cNvPr id="118" name="Google Shape;118;p29">
                <a:extLst>
                  <a:ext uri="{FF2B5EF4-FFF2-40B4-BE49-F238E27FC236}">
                    <a16:creationId xmlns:a16="http://schemas.microsoft.com/office/drawing/2014/main" id="{CA5AF7BD-8CC3-1694-1613-009ED25E7DB6}"/>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C476FE-BE29-F3F7-CCCF-68A62DE8C5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E00B6B-3CAD-553F-CA0D-2EC2D62AD6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F6565-52E4-121D-490F-5321AC6965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BDC0D4-BAA8-8029-73B2-2AEB3E0DEC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C4D5D3-916A-165A-8863-05E293E4A6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BFD2D8-44EB-C99A-91C1-7A2AE7C1AA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3B5707-D5C2-8CF7-8847-8C46BCE7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E09EF3-EC3E-8F6D-BD1E-DF69F46372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919D33E8-7EAF-AA80-88C6-2F1B4B16AC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286112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43007-2BC3-7048-5CC0-6CBDA9EDB79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04B605E-CF18-83E6-C7AE-6D046A7CCB8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Computing the cost of each state is relatively similar. We determine the cost by considering the length of the arcs between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r>
                          <a:rPr lang="en-US" sz="2350" b="0" i="1" smtClean="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04B605E-CF18-83E6-C7AE-6D046A7CCB84}"/>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46CFFE3-FD8A-8CE6-ABF1-6B38E92685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79852-A0A4-6A5F-85DE-F3E637605E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0FF7DE-9E86-BDB2-22BA-D508DC8B972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678BD9-C14C-9FE6-9A7A-BCD2376C1C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65B0EF-E681-8206-2422-E9E6EF0D36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1D06D8-914C-5D9B-8760-A2390FEF80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B149A3-1584-F731-70F6-25DF6F6E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C61D5F-0C7A-7BAA-72B9-7F6A89872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EEC4A36C-2B95-7EB7-BB96-4923A7CEC1A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128899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091984-37FB-9BCA-3848-E332C1CC80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7CAAE18-335F-F4D5-0986-6045E50F05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916503-F281-742B-BACA-5BCA2E176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0D67E-2929-A38D-381F-6B99646569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FD7296-CD34-87AC-9127-A25E90C5AD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846EBF-1205-E327-22B3-534E9A6916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D28FBE-50E1-F953-599A-27E3FD7B5CB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E46C4-4528-7B40-A839-D7084F5D72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FC77C9-5033-4932-182D-39C26A897D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Hybrid A* search on an occupancy grid with a large square obstacle in the center and a horizontal bar obstacle at lower right. From start S at top left, facing right, the search expands a tree of short motion primitives (straight segments and left and right turning arcs) that spreads around both sides of the large obstacle. The final smooth, drivable path curves from S, runs diagonally past the left and lower side of the large obstacle, then turns to run straight right beneath the bar to goal G, arriving with the required rightward heading.">
            <a:extLst>
              <a:ext uri="{FF2B5EF4-FFF2-40B4-BE49-F238E27FC236}">
                <a16:creationId xmlns:a16="http://schemas.microsoft.com/office/drawing/2014/main" id="{4F94F830-256A-67F2-824F-F9E77F5C87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06073" y="930494"/>
            <a:ext cx="5651500" cy="5651500"/>
          </a:xfrm>
          <a:prstGeom prst="rect">
            <a:avLst/>
          </a:prstGeom>
        </p:spPr>
      </p:pic>
    </p:spTree>
    <p:extLst>
      <p:ext uri="{BB962C8B-B14F-4D97-AF65-F5344CB8AC3E}">
        <p14:creationId xmlns:p14="http://schemas.microsoft.com/office/powerpoint/2010/main" val="3114208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FE4E64-8F4E-0B5A-7123-BAEC058036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8D414DB-EB8E-13DC-B89C-C09EAF3C483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Because expanding kinematic curves is slow, Hybrid A* needs incredibly strong heuristics.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uses a combination of two heuristics:</a:t>
                </a:r>
              </a:p>
              <a:p>
                <a:pPr marL="342900">
                  <a:lnSpc>
                    <a:spcPct val="100000"/>
                  </a:lnSpc>
                  <a:spcBef>
                    <a:spcPts val="0"/>
                  </a:spcBef>
                  <a:buSzPts val="3000"/>
                </a:pPr>
                <a:r>
                  <a:rPr lang="en-US" sz="2350" dirty="0">
                    <a:latin typeface="Atkinson Hyperlegible Next"/>
                    <a:ea typeface="Arial"/>
                    <a:cs typeface="Arial"/>
                    <a:sym typeface="Arial"/>
                  </a:rPr>
                  <a:t>The Non-Holonomic Heuristic (ignores obstacles, respects turning radius).</a:t>
                </a:r>
              </a:p>
              <a:p>
                <a:pPr marL="342900">
                  <a:lnSpc>
                    <a:spcPct val="100000"/>
                  </a:lnSpc>
                  <a:spcBef>
                    <a:spcPts val="0"/>
                  </a:spcBef>
                  <a:buSzPts val="3000"/>
                </a:pPr>
                <a:r>
                  <a:rPr lang="en-US" sz="2350" dirty="0">
                    <a:latin typeface="Atkinson Hyperlegible Next"/>
                    <a:ea typeface="Arial"/>
                    <a:cs typeface="Arial"/>
                    <a:sym typeface="Arial"/>
                  </a:rPr>
                  <a:t>The Holonomic Heuristic (respects obstacles, ignores turning radius).</a:t>
                </a:r>
              </a:p>
              <a:p>
                <a:pPr marL="342900">
                  <a:lnSpc>
                    <a:spcPct val="100000"/>
                  </a:lnSpc>
                  <a:spcBef>
                    <a:spcPts val="0"/>
                  </a:spcBef>
                  <a:buSzPts val="3000"/>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algorithm takes the maximum of these two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𝑓</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r>
                        <a:rPr lang="en-US" sz="2350" i="1">
                          <a:latin typeface="Cambria Math" panose="02040503050406030204" pitchFamily="18" charset="0"/>
                          <a:cs typeface="Arial"/>
                          <a:sym typeface="Arial"/>
                        </a:rPr>
                        <m:t>𝑔</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func>
                        <m:funcPr>
                          <m:ctrlPr>
                            <a:rPr lang="en-US" sz="2350" i="1">
                              <a:latin typeface="Cambria Math" panose="02040503050406030204" pitchFamily="18" charset="0"/>
                              <a:cs typeface="Arial"/>
                              <a:sym typeface="Arial"/>
                            </a:rPr>
                          </m:ctrlPr>
                        </m:funcPr>
                        <m:fName>
                          <m:r>
                            <m:rPr>
                              <m:sty m:val="p"/>
                            </m:rPr>
                            <a:rPr lang="en-US" sz="2350" i="0">
                              <a:latin typeface="Cambria Math" panose="02040503050406030204" pitchFamily="18" charset="0"/>
                              <a:cs typeface="Arial"/>
                              <a:sym typeface="Arial"/>
                            </a:rPr>
                            <m:t>max</m:t>
                          </m:r>
                        </m:fName>
                        <m:e>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2</m:t>
                                  </m:r>
                                </m:sub>
                              </m:sSub>
                            </m:e>
                          </m:d>
                        </m:e>
                      </m:func>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8D414DB-EB8E-13DC-B89C-C09EAF3C483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8F2B39-DE94-7E27-DC3F-EFF6AA3079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FBDD9A-B39D-C7AB-F798-CD9C74DFD8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A4DFA5-B48F-F760-4386-C566B63760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67C466-DB57-9399-B97F-7DF4C09AC8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4E19C2-8EBC-C870-E8DC-FA1070E092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8D3858-9AAD-FC7B-7264-3A8422EF37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B210A-8F5B-E997-1341-490B273E08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0F2E54-5428-FA46-F13C-69A428E8E5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29495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23142C-CA09-E660-9713-96D8162738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70EF4B-E65B-291B-052D-9DE8C485D83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is simply a standard 2D grid A* (or Dijkstra's) running in the background!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calculates the distance to the goal avoiding all walls.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prevents the kinematic search from getting stuck in dead ends. Because it's 2D, it computes very quickly.</a:t>
            </a:r>
          </a:p>
        </p:txBody>
      </p:sp>
      <p:sp>
        <p:nvSpPr>
          <p:cNvPr id="119" name="Google Shape;119;p29">
            <a:extLst>
              <a:ext uri="{FF2B5EF4-FFF2-40B4-BE49-F238E27FC236}">
                <a16:creationId xmlns:a16="http://schemas.microsoft.com/office/drawing/2014/main" id="{7F9FF727-088E-D157-1E71-623942B4D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5402F-B44F-63EE-442B-456BF09B1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Holonomic Heuristic (Obstacle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448563-1593-E20F-DF86-9C9999CE9D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7D9FE4-6579-B201-B419-D617428DE2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E9E56-0C2D-9C27-977C-B0CB2FA05D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09625-2A96-E3DE-BCFF-BC58D9947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9B6D6-60CB-DA35-C1A2-3E36493DD8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4D8925-E9DB-E517-2366-8CEA90461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AF935A9C-ED9D-597F-5808-6489F310C0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4" name="Rectangle 3">
            <a:extLst>
              <a:ext uri="{FF2B5EF4-FFF2-40B4-BE49-F238E27FC236}">
                <a16:creationId xmlns:a16="http://schemas.microsoft.com/office/drawing/2014/main" id="{F91A45C1-99DF-174A-D30A-056F880C928D}"/>
              </a:ext>
            </a:extLst>
          </p:cNvPr>
          <p:cNvSpPr/>
          <p:nvPr/>
        </p:nvSpPr>
        <p:spPr>
          <a:xfrm>
            <a:off x="636905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2A599C2-48CA-6C83-1809-B7791E0E1C62}"/>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3098637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2CE3E5-9D9E-0DBA-F196-91F010D060F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AF20A5-BE35-1CB1-7F4B-7B50CDBEEA2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heuristic ignores all obstacles but calculates the mathematical shortest path for a vehicle with a minimum turning radius.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the robot needs to arrive at the goal facing a specific direction, it computes the required curves.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These optimal obstacle-free paths are called </a:t>
            </a: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or </a:t>
            </a: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a:t>
            </a:r>
          </a:p>
        </p:txBody>
      </p:sp>
      <p:sp>
        <p:nvSpPr>
          <p:cNvPr id="119" name="Google Shape;119;p29">
            <a:extLst>
              <a:ext uri="{FF2B5EF4-FFF2-40B4-BE49-F238E27FC236}">
                <a16:creationId xmlns:a16="http://schemas.microsoft.com/office/drawing/2014/main" id="{DF772795-8274-FD8B-6DB9-DAF861D697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C41F52-2DDB-DB9D-7BB6-5038091D5D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Non-Holonomic Heuristic (Turning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C4A560-E8E4-63A0-EFF9-3254A08D6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6A40F1-152F-BD7C-309A-9BF41E0FDE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F9D9C3-03A8-100B-0D95-C9C2C415C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C63282-CC45-CE22-6B65-EF2E76F3C3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8E7F6B-05B4-38BF-4983-906D93D98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D5E06E-344E-BE84-3FF9-FF33714E83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2BA1BAA0-EC2A-FBB3-AF83-752E1DA00F4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5" name="Rectangle 4">
            <a:extLst>
              <a:ext uri="{FF2B5EF4-FFF2-40B4-BE49-F238E27FC236}">
                <a16:creationId xmlns:a16="http://schemas.microsoft.com/office/drawing/2014/main" id="{80893D27-E2B8-1311-0EDE-A458B3C7C6F5}"/>
              </a:ext>
            </a:extLst>
          </p:cNvPr>
          <p:cNvSpPr/>
          <p:nvPr/>
        </p:nvSpPr>
        <p:spPr>
          <a:xfrm>
            <a:off x="351282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D1CDAD3-63C2-B598-39CA-BECA075B17E5}"/>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15475202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5C1F5A2-B105-D88F-F670-089403F6DBA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11A8F8D-1093-9F02-F00F-A8406E38852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Dubins</a:t>
            </a:r>
            <a:r>
              <a:rPr lang="en-US" sz="4500" b="1" i="0" u="none" strike="noStrike" cap="none" dirty="0">
                <a:solidFill>
                  <a:srgbClr val="15264B"/>
                </a:solidFill>
                <a:latin typeface="Atkinson Hyperlegible Next"/>
                <a:ea typeface="Arial"/>
                <a:cs typeface="Arial"/>
                <a:sym typeface="Arial"/>
              </a:rPr>
              <a:t> </a:t>
            </a:r>
            <a:r>
              <a:rPr lang="en-US" sz="4500" b="1" i="0" u="none" strike="noStrike" cap="none">
                <a:solidFill>
                  <a:srgbClr val="15264B"/>
                </a:solidFill>
                <a:latin typeface="Atkinson Hyperlegible Next"/>
                <a:ea typeface="Arial"/>
                <a:cs typeface="Arial"/>
                <a:sym typeface="Arial"/>
              </a:rPr>
              <a:t>and Reeds-Shepp </a:t>
            </a:r>
            <a:r>
              <a:rPr lang="en-US" sz="4500" b="1" i="0" u="none" strike="noStrike" cap="none" dirty="0">
                <a:solidFill>
                  <a:srgbClr val="15264B"/>
                </a:solidFill>
                <a:latin typeface="Atkinson Hyperlegible Next"/>
                <a:ea typeface="Arial"/>
                <a:cs typeface="Arial"/>
                <a:sym typeface="Arial"/>
              </a:rPr>
              <a:t>Curves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E583403-9A26-2ABC-D442-A0F22426653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8249712-BCC4-3B82-EB53-72263B89588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3ED7582-B935-5FBE-C372-8498B69B985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F37A15B-2C9C-DCE3-6B15-E797474AE24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CBA4AE0-A5EB-270C-1825-FED691F15B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04EC88E-E101-19D8-7A80-E01F13751BF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51AABED-B98D-855F-3621-8F13F545C9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0AAC0B4-3A6B-5865-7F7A-03C26CC0D9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B3B7FC7-5A66-357D-9265-58AADC0821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13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45A283-A10C-FECA-4C11-3556A40CF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CBCACD2-70E6-11CF-9E9E-2ECF81C1B22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find the shortest path between two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states using only </a:t>
                </a:r>
                <a:r>
                  <a:rPr lang="en-US" sz="2350" b="1" dirty="0">
                    <a:latin typeface="Atkinson Hyperlegible Next"/>
                    <a:ea typeface="Arial"/>
                    <a:cs typeface="Arial"/>
                    <a:sym typeface="Arial"/>
                  </a:rPr>
                  <a:t>forward</a:t>
                </a:r>
                <a:r>
                  <a:rPr lang="en-US" sz="2350" dirty="0">
                    <a:latin typeface="Atkinson Hyperlegible Next"/>
                    <a:ea typeface="Arial"/>
                    <a:cs typeface="Arial"/>
                    <a:sym typeface="Arial"/>
                  </a:rPr>
                  <a:t> motion.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consist of maximum-steering arcs (Right or Left) and Straight-line segments.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6 possible optimal combinations: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RSR, LSR, RSL, LSR, RLR, LRL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are highly useful for fixed-wing drones or robots that cannot drive backward.</a:t>
                </a:r>
              </a:p>
            </p:txBody>
          </p:sp>
        </mc:Choice>
        <mc:Fallback xmlns="">
          <p:sp>
            <p:nvSpPr>
              <p:cNvPr id="118" name="Google Shape;118;p29">
                <a:extLst>
                  <a:ext uri="{FF2B5EF4-FFF2-40B4-BE49-F238E27FC236}">
                    <a16:creationId xmlns:a16="http://schemas.microsoft.com/office/drawing/2014/main" id="{0CBCACD2-70E6-11CF-9E9E-2ECF81C1B22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76EA5F5-BBB1-A2B2-6CFC-EE52F381D66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78A46D-53C3-4EA7-94A9-5CF74A1436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5FA674-C4B8-1BA5-B9CE-CC7E84F9D7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A7993A-2C33-0CEF-AFA9-18C9A6DC7F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BE91D-F7CD-0A33-D0D4-8353C71CF6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72BBB6-4A54-4258-5CE3-EF7A7B74DA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BCF7D2-DAFD-9B5A-BF62-2AE84FEB80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56C3E1-7507-6298-D203-B08D1C675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898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2826E-7578-7514-2555-BB66EF51268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4B6E29B-3309-0B98-1B29-162994D17C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8628B5-90FD-EEC3-0A30-3C4D421773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4BA743-692B-6A00-0D57-FA76C890B9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98397E3-657F-1745-A15F-D3329B6B2D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F4833E-6FCB-73C7-A31B-AB568767F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885083-B447-301A-6FF8-74CEFEA435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7DE091-5060-6265-92B7-F6653AF763E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6E4E18-DDE3-518A-0D5D-DB6E992696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371A65-F0A4-1FF6-E606-6C21F1831FF0}"/>
              </a:ext>
            </a:extLst>
          </p:cNvPr>
          <p:cNvSpPr txBox="1"/>
          <p:nvPr/>
        </p:nvSpPr>
        <p:spPr>
          <a:xfrm>
            <a:off x="4685648" y="6405928"/>
            <a:ext cx="2292350" cy="230832"/>
          </a:xfrm>
          <a:prstGeom prst="rect">
            <a:avLst/>
          </a:prstGeom>
          <a:noFill/>
        </p:spPr>
        <p:txBody>
          <a:bodyPr wrap="square">
            <a:spAutoFit/>
          </a:bodyPr>
          <a:lstStyle/>
          <a:p>
            <a:pPr algn="ctr"/>
            <a:r>
              <a:rPr lang="en-US" sz="900" dirty="0">
                <a:hlinkClick r:id="rId4"/>
              </a:rPr>
              <a:t>https://en.wikipedia.org/wiki/Dubins_path</a:t>
            </a:r>
            <a:r>
              <a:rPr lang="en-US" sz="900" dirty="0"/>
              <a:t> </a:t>
            </a:r>
          </a:p>
        </p:txBody>
      </p:sp>
      <p:pic>
        <p:nvPicPr>
          <p:cNvPr id="5" name="Graphic 4" descr="Dubins path of type RSL (right, straight, left) from start pose A to goal pose B, each with an arrow showing its heading direction. The car leaves A turning right along a minimum-radius circle, follows a straight segment tangent to both circles, then turns left along a second minimum-radius circle to arrive at B with the required heading.">
            <a:extLst>
              <a:ext uri="{FF2B5EF4-FFF2-40B4-BE49-F238E27FC236}">
                <a16:creationId xmlns:a16="http://schemas.microsoft.com/office/drawing/2014/main" id="{2559E48E-C689-C2E4-FD11-7D15588834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3665" y="2125138"/>
            <a:ext cx="3048000" cy="3257550"/>
          </a:xfrm>
          <a:prstGeom prst="rect">
            <a:avLst/>
          </a:prstGeom>
        </p:spPr>
      </p:pic>
      <p:pic>
        <p:nvPicPr>
          <p:cNvPr id="7" name="Graphic 6" descr="Dubins path example of type RSR (right turn, straight, right turn): start A on a left circle, heading up and to the right. The path turns right (clockwise) along the top of that circle to a tangent point, follows a straight line along the common upper tangent to a second, equal-radius circle, then turns right again down that circle's right side to goal B, which heads down and to the left.">
            <a:extLst>
              <a:ext uri="{FF2B5EF4-FFF2-40B4-BE49-F238E27FC236}">
                <a16:creationId xmlns:a16="http://schemas.microsoft.com/office/drawing/2014/main" id="{414DD0D5-C094-C132-3B6F-960BF02C569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352925" y="2686546"/>
            <a:ext cx="3486150" cy="2333625"/>
          </a:xfrm>
          <a:prstGeom prst="rect">
            <a:avLst/>
          </a:prstGeom>
        </p:spPr>
      </p:pic>
      <p:pic>
        <p:nvPicPr>
          <p:cNvPr id="9" name="Graphic 8" descr="Dubins LRL path built from three touching circles of equal minimum turning radius. Starting at pose A, heading down-left on the right circle, the path turns left along that circle to where it touches the lower-left circle. It then turns right, sweeping most of the way around the lower-left circle to where it touches the upper circle. Finally it turns left along the upper circle to goal pose B, heading up-right.">
            <a:extLst>
              <a:ext uri="{FF2B5EF4-FFF2-40B4-BE49-F238E27FC236}">
                <a16:creationId xmlns:a16="http://schemas.microsoft.com/office/drawing/2014/main" id="{F94BBFB2-2786-0EF6-0D70-23FAAC7D84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1900" y="2158475"/>
            <a:ext cx="4524375" cy="3190875"/>
          </a:xfrm>
          <a:prstGeom prst="rect">
            <a:avLst/>
          </a:prstGeom>
        </p:spPr>
      </p:pic>
      <p:sp>
        <p:nvSpPr>
          <p:cNvPr id="10" name="TextBox 9">
            <a:extLst>
              <a:ext uri="{FF2B5EF4-FFF2-40B4-BE49-F238E27FC236}">
                <a16:creationId xmlns:a16="http://schemas.microsoft.com/office/drawing/2014/main" id="{55953A99-F84D-F045-D3B6-AD573B92DC5F}"/>
              </a:ext>
            </a:extLst>
          </p:cNvPr>
          <p:cNvSpPr txBox="1"/>
          <p:nvPr/>
        </p:nvSpPr>
        <p:spPr>
          <a:xfrm>
            <a:off x="1390650" y="1304616"/>
            <a:ext cx="1416050" cy="523220"/>
          </a:xfrm>
          <a:prstGeom prst="rect">
            <a:avLst/>
          </a:prstGeom>
          <a:noFill/>
        </p:spPr>
        <p:txBody>
          <a:bodyPr wrap="square" rtlCol="0">
            <a:spAutoFit/>
          </a:bodyPr>
          <a:lstStyle/>
          <a:p>
            <a:pPr algn="ctr"/>
            <a:r>
              <a:rPr lang="en-US" sz="2800" dirty="0"/>
              <a:t>RSL</a:t>
            </a:r>
          </a:p>
        </p:txBody>
      </p:sp>
      <p:sp>
        <p:nvSpPr>
          <p:cNvPr id="11" name="TextBox 10">
            <a:extLst>
              <a:ext uri="{FF2B5EF4-FFF2-40B4-BE49-F238E27FC236}">
                <a16:creationId xmlns:a16="http://schemas.microsoft.com/office/drawing/2014/main" id="{86C95F5E-AA9B-9B50-C4F6-4F1BC897738E}"/>
              </a:ext>
            </a:extLst>
          </p:cNvPr>
          <p:cNvSpPr txBox="1"/>
          <p:nvPr/>
        </p:nvSpPr>
        <p:spPr>
          <a:xfrm>
            <a:off x="5123798" y="1285197"/>
            <a:ext cx="1416050" cy="523220"/>
          </a:xfrm>
          <a:prstGeom prst="rect">
            <a:avLst/>
          </a:prstGeom>
          <a:noFill/>
        </p:spPr>
        <p:txBody>
          <a:bodyPr wrap="square" rtlCol="0">
            <a:spAutoFit/>
          </a:bodyPr>
          <a:lstStyle/>
          <a:p>
            <a:pPr algn="ctr"/>
            <a:r>
              <a:rPr lang="en-US" sz="2800" dirty="0"/>
              <a:t>RSR</a:t>
            </a:r>
          </a:p>
        </p:txBody>
      </p:sp>
      <p:sp>
        <p:nvSpPr>
          <p:cNvPr id="12" name="TextBox 11">
            <a:extLst>
              <a:ext uri="{FF2B5EF4-FFF2-40B4-BE49-F238E27FC236}">
                <a16:creationId xmlns:a16="http://schemas.microsoft.com/office/drawing/2014/main" id="{D8B00935-B090-248B-7B22-B2A06967B4AA}"/>
              </a:ext>
            </a:extLst>
          </p:cNvPr>
          <p:cNvSpPr txBox="1"/>
          <p:nvPr/>
        </p:nvSpPr>
        <p:spPr>
          <a:xfrm>
            <a:off x="9229640" y="1324034"/>
            <a:ext cx="1416050" cy="523220"/>
          </a:xfrm>
          <a:prstGeom prst="rect">
            <a:avLst/>
          </a:prstGeom>
          <a:noFill/>
        </p:spPr>
        <p:txBody>
          <a:bodyPr wrap="square" rtlCol="0">
            <a:spAutoFit/>
          </a:bodyPr>
          <a:lstStyle/>
          <a:p>
            <a:pPr algn="ctr"/>
            <a:r>
              <a:rPr lang="en-US" sz="2800" dirty="0"/>
              <a:t>LRL</a:t>
            </a:r>
          </a:p>
        </p:txBody>
      </p:sp>
    </p:spTree>
    <p:extLst>
      <p:ext uri="{BB962C8B-B14F-4D97-AF65-F5344CB8AC3E}">
        <p14:creationId xmlns:p14="http://schemas.microsoft.com/office/powerpoint/2010/main" val="266107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EF3AB-52C9-173E-1D12-BD16DB177F4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3808872-29C3-375F-9991-5783AB42F16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If a robot can drive in </a:t>
            </a:r>
            <a:r>
              <a:rPr lang="en-US" sz="2350" b="1" dirty="0">
                <a:latin typeface="Atkinson Hyperlegible Next"/>
                <a:ea typeface="Arial"/>
                <a:cs typeface="Arial"/>
                <a:sym typeface="Arial"/>
              </a:rPr>
              <a:t>reverse</a:t>
            </a:r>
            <a:r>
              <a:rPr lang="en-US" sz="2350" dirty="0">
                <a:latin typeface="Atkinson Hyperlegible Next"/>
                <a:ea typeface="Arial"/>
                <a:cs typeface="Arial"/>
                <a:sym typeface="Arial"/>
              </a:rPr>
              <a:t>, the shortest path changes.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 extend </a:t>
            </a:r>
            <a:r>
              <a:rPr lang="en-US" sz="2350" dirty="0" err="1">
                <a:latin typeface="Atkinson Hyperlegible Next"/>
                <a:ea typeface="Arial"/>
                <a:cs typeface="Arial"/>
                <a:sym typeface="Arial"/>
              </a:rPr>
              <a:t>Dubins</a:t>
            </a:r>
            <a:r>
              <a:rPr lang="en-US" sz="2350" dirty="0">
                <a:latin typeface="Atkinson Hyperlegible Next"/>
                <a:ea typeface="Arial"/>
                <a:cs typeface="Arial"/>
                <a:sym typeface="Arial"/>
              </a:rPr>
              <a:t> curves by allowing the vehicle to shift into reverse (cusps).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results in 48 possible optimal path combinations (e.g., Forward Right, Reverse Left, Forward Straight).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What is a real-world driving maneuver that uses a Reeds-Shepp curve?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Parallel parking!</a:t>
            </a:r>
          </a:p>
        </p:txBody>
      </p:sp>
      <p:sp>
        <p:nvSpPr>
          <p:cNvPr id="119" name="Google Shape;119;p29">
            <a:extLst>
              <a:ext uri="{FF2B5EF4-FFF2-40B4-BE49-F238E27FC236}">
                <a16:creationId xmlns:a16="http://schemas.microsoft.com/office/drawing/2014/main" id="{DF975639-92A4-4708-8DB4-1979B133D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3CDDCF-9CB8-BFA7-3F02-F1DABED7191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3AE1B9-8617-12D5-DE0E-4D7BE91884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1E29F9-AAB3-24F6-A299-20F38CB5EB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D33AF2-7F6A-0364-DCBB-B8C8E6F489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86B368-A5EE-0989-CE4C-87EA059944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D8B852-7771-4BE3-ACDF-26D30CCE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093A07-DC10-9F1C-3C95-DD9F1AF5DE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455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112829-932D-34F5-0967-94E2E5651C8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FF59D62-4EBC-AFC0-FDAC-59FFD401AC8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speed up the search, Hybrid A* uses an "analytic expansion.“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few nodes, the algorithm attempts to connect the current state directly to the goal using a Reeds-Shepp curve.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that continuous curve doesn't hit any obstacles, the search is finished instantly!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skips thousands of discrete node expansions near the end of the path.</a:t>
            </a:r>
          </a:p>
        </p:txBody>
      </p:sp>
      <p:sp>
        <p:nvSpPr>
          <p:cNvPr id="119" name="Google Shape;119;p29">
            <a:extLst>
              <a:ext uri="{FF2B5EF4-FFF2-40B4-BE49-F238E27FC236}">
                <a16:creationId xmlns:a16="http://schemas.microsoft.com/office/drawing/2014/main" id="{CC5EF934-4351-22F7-3C72-EC5C498B2F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E5E666-87E2-BCEE-D32A-1363EE5071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498FD1D-388A-95D2-CCCC-7772D77CBF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C128F2-778B-9E33-0E88-02C5E0195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6CE16E-3644-1289-A478-45FA3CD118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E4EDEA-6183-3729-8F7D-1804D6705F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DEFD39-9DEC-E475-0265-6DCCE5757D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3F7CD7-7330-E94C-8247-82C48AB019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438432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4C1CF9-D613-8DD9-7B40-A301844267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C6D97FE-6BA8-A2A8-2199-69BBCF96A4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C5C5DB-CD19-17FA-A6E6-E6DE0C27D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FE6B2E-FEAC-9038-BEF9-D2F604EE0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3CBB44-8184-3124-E6EF-1E22B040F0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B1FCF3B-EF4E-BCFB-0F1D-D3635D8C3AC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A6F1E0-6A7F-7FED-BC2B-22F9F2E960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A5370-DF98-4014-1723-CF31AFF03C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E7A4-FF84-4F60-1F4C-621933A598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A car-like robot's Reeds-Shepp path between two vehicle poses, drawn as rectangles at lower left and upper right. From the lower pose, a short arc curves up and left to a sharp cusp, where the vehicle switches between forward and reverse. A long arc then sweeps down, right, and up to the upper pose. This shows that Reeds-Shepp curves, unlike Dubins curves, allow reversing, joining minimum-radius arcs at direction changes.">
            <a:extLst>
              <a:ext uri="{FF2B5EF4-FFF2-40B4-BE49-F238E27FC236}">
                <a16:creationId xmlns:a16="http://schemas.microsoft.com/office/drawing/2014/main" id="{08DBD55E-454A-A22E-8FCA-0324AB9558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700" y="1666569"/>
            <a:ext cx="4972050" cy="4410075"/>
          </a:xfrm>
          <a:prstGeom prst="rect">
            <a:avLst/>
          </a:prstGeom>
        </p:spPr>
      </p:pic>
      <p:pic>
        <p:nvPicPr>
          <p:cNvPr id="8" name="Graphic 7" descr="A Reeds-Shepp path joining two car poses, drawn as rectangles. From the start pose at lower left, the car drives down and to the right along an arc to a sharp cusp at the bottom, where it switches between forward and reverse. It then follows a long curve up and to the right, ending aligned with the goal pose at upper right. The path is built from arcs with one direction reversal.">
            <a:extLst>
              <a:ext uri="{FF2B5EF4-FFF2-40B4-BE49-F238E27FC236}">
                <a16:creationId xmlns:a16="http://schemas.microsoft.com/office/drawing/2014/main" id="{A261F26B-1B5E-F705-6B89-BC061BD783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1450" y="1666569"/>
            <a:ext cx="4895850" cy="4410075"/>
          </a:xfrm>
          <a:prstGeom prst="rect">
            <a:avLst/>
          </a:prstGeom>
        </p:spPr>
      </p:pic>
    </p:spTree>
    <p:extLst>
      <p:ext uri="{BB962C8B-B14F-4D97-AF65-F5344CB8AC3E}">
        <p14:creationId xmlns:p14="http://schemas.microsoft.com/office/powerpoint/2010/main" val="2047088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D1D04F4-040C-A157-70CC-0C11CD35DE2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D73E842-029B-064A-E4FB-86AF1C0C56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Trajectory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6D253B-CAB3-EA23-6809-8575D5C952C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413346E-4F09-E843-E8D0-495919E83DC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A4FBC31-C158-71C9-8197-CA7E6E89210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30F48EF-F775-A434-D320-FD403C1BEC9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531DAEA-8725-4057-91C2-D2E4D7202C1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58E4CFC-E354-F317-656F-2F1B3504A7E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6A5370A-9C6A-E873-B1FD-0D1CE431433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88BA5D-2B41-589F-20BA-F881A5289B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1740694-9AC8-849E-426F-B005D19157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56962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B9C51D0-EF06-A4EF-5FFE-E5E09DAA23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ECB419-FAB0-AF15-BBF9-150D4283F481}"/>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gives us a smooth, drivable path (geometry).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However, a path is purely spatial. It lacks the dimension of time. A trajectory defines exactly when the robot should be at what state.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Trajectory Planning maps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To plan trajectories, we must expand our state space again. The state vector becomes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𝑣</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now care about the robot's current speed and its rotational speed.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required because we must respect the physical limits of our DC motors.</a:t>
                </a:r>
              </a:p>
            </p:txBody>
          </p:sp>
        </mc:Choice>
        <mc:Fallback xmlns="">
          <p:sp>
            <p:nvSpPr>
              <p:cNvPr id="118" name="Google Shape;118;p29">
                <a:extLst>
                  <a:ext uri="{FF2B5EF4-FFF2-40B4-BE49-F238E27FC236}">
                    <a16:creationId xmlns:a16="http://schemas.microsoft.com/office/drawing/2014/main" id="{81ECB419-FAB0-AF15-BBF9-150D4283F481}"/>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C5ED1F-1620-AC61-C7E7-6B9072FCE0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24692-AE41-3776-E6B0-E1153BA9B5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1EF9F4-D01D-435B-843A-39C6AE5867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61FD91-18E4-73EB-BAAA-A9E40C1611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35A04D-8151-4713-5B8E-3C20071292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B194E-8FFC-C028-A6C8-CECE8456AD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8EB21F-E711-1E09-46B1-39B03CB7BC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B672A-DBF0-314B-A2A7-5C7BED0383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03055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86CE13-A719-F57B-0625-985CB23A42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AC0906-9215-52DF-C247-2D2A71EA414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Every motor has a max RPM, meaning our robot has a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path commands a tight turn at high speed, the inner wheel might be commanded to spin faster than physically possible.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trajectory planner analyzes the curvature of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slows down the target velocity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𝑣</m:t>
                        </m:r>
                      </m:e>
                      <m:sub>
                        <m:r>
                          <a:rPr lang="en-US" sz="2350" i="1" dirty="0" err="1">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before entering a sharp turn.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cannot change velocity instantly; motors have limited torque (acceleration limit).</a:t>
                </a:r>
              </a:p>
              <a:p>
                <a:pPr marL="0" indent="0">
                  <a:lnSpc>
                    <a:spcPct val="100000"/>
                  </a:lnSpc>
                  <a:spcBef>
                    <a:spcPts val="0"/>
                  </a:spcBef>
                  <a:buSzPts val="3000"/>
                  <a:buNone/>
                </a:pPr>
                <a:r>
                  <a:rPr lang="en-US" sz="2350" dirty="0">
                    <a:latin typeface="Atkinson Hyperlegible Next"/>
                    <a:ea typeface="Arial"/>
                    <a:cs typeface="Arial"/>
                    <a:sym typeface="Arial"/>
                  </a:rPr>
                  <a:t>We also don't want to change acceleration instantly (jerk limit).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In passenger vehicles, why is minimizing "jerk" so important?</a:t>
                </a:r>
              </a:p>
            </p:txBody>
          </p:sp>
        </mc:Choice>
        <mc:Fallback xmlns="">
          <p:sp>
            <p:nvSpPr>
              <p:cNvPr id="118" name="Google Shape;118;p29">
                <a:extLst>
                  <a:ext uri="{FF2B5EF4-FFF2-40B4-BE49-F238E27FC236}">
                    <a16:creationId xmlns:a16="http://schemas.microsoft.com/office/drawing/2014/main" id="{26AC0906-9215-52DF-C247-2D2A71EA414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BD4691-100E-2965-D8A2-8020DD69AA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B3106B-7A7F-ED0B-5868-6C187956E9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FD2DFA-EFD7-B747-284D-1D518A369FE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361FAD-48F3-B167-C938-5D37CE5E75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AED3DA-8FBE-2DCA-209C-16AC174719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24551D2-807A-0FB7-B212-D8FB821214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06FB61-4BA9-71A8-9CB0-C6BCBAB600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79D66A-26EF-30A1-3618-220B276279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5304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B5B519-DCAC-16FC-6F37-1839E147D8A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2CA34C-0AEA-87E6-EB01-D1B1FFBEB18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discretizing time, we represent the continuous trajectory mathematically.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use piecewise polynomials (splines) to describe the position over time. For example, a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𝑥</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𝑡</m:t>
                          </m:r>
                        </m:e>
                      </m:d>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𝑡</m:t>
                      </m:r>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2</m:t>
                          </m:r>
                        </m:sup>
                      </m:sSup>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Combining multiple polynomials / curve fitting functions between multiple waypoints is called a spline.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you have 3 waypoints, how many polynomials would you need to derive?</a:t>
                </a:r>
              </a:p>
            </p:txBody>
          </p:sp>
        </mc:Choice>
        <mc:Fallback xmlns="">
          <p:sp>
            <p:nvSpPr>
              <p:cNvPr id="118" name="Google Shape;118;p29">
                <a:extLst>
                  <a:ext uri="{FF2B5EF4-FFF2-40B4-BE49-F238E27FC236}">
                    <a16:creationId xmlns:a16="http://schemas.microsoft.com/office/drawing/2014/main" id="{9F2CA34C-0AEA-87E6-EB01-D1B1FFBEB18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148309-BF61-C0F4-072F-5C2282A48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38F492-6F4A-206F-F970-A1BC7CF97B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EFDEA4-1CDC-1EF3-C7E9-6399B684D9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34B9A8-87AA-67E8-8228-7714914F0A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76D30-FDE1-EB1E-463B-C6C0C9924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F20691-74FB-3118-E199-28C30B45DE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90C5C0-66A9-12BC-8019-1D668F2B0F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BF6894-E600-C618-552B-CD755F8310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9139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06C01-93D5-6314-49AA-260AAAF7220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4472B4-E6A8-0F67-6D8A-88C91A906EE2}"/>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Polynomials are easy to differentiate.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position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Velocity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+3</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Acceleration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+6</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r>
                        <a:rPr lang="en-US" sz="2350" i="1" dirty="0" smtClean="0">
                          <a:latin typeface="Cambria Math" panose="02040503050406030204" pitchFamily="18" charset="0"/>
                          <a:ea typeface="Arial"/>
                          <a:cs typeface="Arial"/>
                          <a:sym typeface="Arial"/>
                        </a:rPr>
                        <m:t>𝑡</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solving for the coefficients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e>
                    </m:d>
                  </m:oMath>
                </a14:m>
                <a:r>
                  <a:rPr lang="en-US" sz="2350" dirty="0">
                    <a:latin typeface="Atkinson Hyperlegible Next"/>
                    <a:ea typeface="Arial"/>
                    <a:cs typeface="Arial"/>
                    <a:sym typeface="Arial"/>
                  </a:rPr>
                  <a:t>, we solve for the entire kinematic profile!</a:t>
                </a:r>
              </a:p>
            </p:txBody>
          </p:sp>
        </mc:Choice>
        <mc:Fallback xmlns="">
          <p:sp>
            <p:nvSpPr>
              <p:cNvPr id="118" name="Google Shape;118;p29">
                <a:extLst>
                  <a:ext uri="{FF2B5EF4-FFF2-40B4-BE49-F238E27FC236}">
                    <a16:creationId xmlns:a16="http://schemas.microsoft.com/office/drawing/2014/main" id="{554472B4-E6A8-0F67-6D8A-88C91A906EE2}"/>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50F2AB-4BEF-1912-C3CE-4D64678D3C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32B04F-AD33-D207-865D-453A22492A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28E6D-45F9-7EB6-75A6-E1908EB7842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BF28B-272C-7F87-84BC-4A8196F588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4417B7-BB1B-6EF5-1FF2-70C8A1B504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5060AC-2DB1-0C3E-8B3D-789A19C5E2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F49A06-2057-AD81-87DB-9627618A47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7F39BF-751B-A916-8A8A-E7E6FAA92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3186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AE648E-D064-9F67-B423-558980CD4E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24083C-FA2C-12AB-BF49-10963514A43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solve for the polynomial coefficients, we need boundary conditions.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b="1" dirty="0">
                    <a:latin typeface="Atkinson Hyperlegible Next"/>
                    <a:ea typeface="Arial"/>
                    <a:cs typeface="Arial"/>
                    <a:sym typeface="Arial"/>
                  </a:rPr>
                  <a:t>Start condition</a:t>
                </a:r>
                <a:r>
                  <a:rPr lang="en-US" sz="2350" dirty="0">
                    <a:latin typeface="Atkinson Hyperlegible Next"/>
                    <a:ea typeface="Arial"/>
                    <a:cs typeface="Arial"/>
                    <a:sym typeface="Arial"/>
                  </a:rPr>
                  <a:t>: The robot's current position and current velocity.</a:t>
                </a:r>
              </a:p>
              <a:p>
                <a:pPr marL="342900">
                  <a:lnSpc>
                    <a:spcPct val="100000"/>
                  </a:lnSpc>
                  <a:spcBef>
                    <a:spcPts val="0"/>
                  </a:spcBef>
                  <a:buSzPts val="3000"/>
                </a:pPr>
                <a:r>
                  <a:rPr lang="en-US" sz="2350" b="1" dirty="0">
                    <a:latin typeface="Atkinson Hyperlegible Next"/>
                    <a:ea typeface="Arial"/>
                    <a:cs typeface="Arial"/>
                    <a:sym typeface="Arial"/>
                  </a:rPr>
                  <a:t>End condition</a:t>
                </a:r>
                <a:r>
                  <a:rPr lang="en-US" sz="2350" dirty="0">
                    <a:latin typeface="Atkinson Hyperlegible Next"/>
                    <a:ea typeface="Arial"/>
                    <a:cs typeface="Arial"/>
                    <a:sym typeface="Arial"/>
                  </a:rPr>
                  <a:t>: The target waypoint position and desired arrival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4 constraints allow us to perfectly solve a 3rd-order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a:rPr lang="en-US" sz="2350" b="0" i="1" dirty="0" smtClean="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𝑥</m:t>
                          </m:r>
                        </m:e>
                        <m:sub>
                          <m:r>
                            <a:rPr lang="en-US" sz="2350" b="0" i="1" dirty="0" smtClean="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  </m:t>
                      </m:r>
                      <m:acc>
                        <m:accPr>
                          <m:chr m:val="̇"/>
                          <m:ctrlPr>
                            <a:rPr lang="en-US" sz="2350" i="1" dirty="0" smtClean="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a:rPr lang="en-US" sz="2350" i="1" dirty="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𝑣</m:t>
                          </m:r>
                        </m:e>
                        <m:sub>
                          <m:r>
                            <a:rPr lang="en-US" sz="2350" b="0" i="1" dirty="0" smtClean="0">
                              <a:latin typeface="Cambria Math" panose="02040503050406030204" pitchFamily="18" charset="0"/>
                              <a:ea typeface="Arial"/>
                              <a:cs typeface="Arial"/>
                              <a:sym typeface="Arial"/>
                            </a:rPr>
                            <m:t>0</m:t>
                          </m:r>
                        </m:sub>
                      </m:sSub>
                    </m:oMath>
                  </m:oMathPara>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3</m:t>
                          </m:r>
                        </m:sup>
                      </m:sSup>
                      <m:r>
                        <a:rPr lang="en-US" sz="2350" b="0" i="1" dirty="0" smtClean="0">
                          <a:latin typeface="Cambria Math" panose="02040503050406030204" pitchFamily="18" charset="0"/>
                          <a:ea typeface="Arial"/>
                          <a:cs typeface="Arial"/>
                          <a:sym typeface="Arial"/>
                        </a:rPr>
                        <m:t>,  </m:t>
                      </m:r>
                      <m:acc>
                        <m:accPr>
                          <m:chr m:val="̇"/>
                          <m:ctrlPr>
                            <a:rPr lang="en-US" sz="2350" i="1" dirty="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i="1" dirty="0">
                          <a:latin typeface="Cambria Math" panose="02040503050406030204" pitchFamily="18" charset="0"/>
                          <a:ea typeface="Arial"/>
                          <a:cs typeface="Arial"/>
                          <a:sym typeface="Arial"/>
                        </a:rPr>
                        <m:t>+2</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+3</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Substituting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smtClean="0">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3</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2</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2</m:t>
                              </m:r>
                            </m:sup>
                          </m:sSup>
                        </m:den>
                      </m:f>
                      <m:r>
                        <a:rPr lang="en-US" sz="2350" b="0" i="1" smtClean="0">
                          <a:latin typeface="Cambria Math" panose="02040503050406030204" pitchFamily="18" charset="0"/>
                          <a:cs typeface="Arial"/>
                          <a:sym typeface="Arial"/>
                        </a:rPr>
                        <m:t>,  </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2</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3</m:t>
                              </m:r>
                            </m:sup>
                          </m:sSup>
                        </m:den>
                      </m:f>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24083C-FA2C-12AB-BF49-10963514A43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D894D5F-C2ED-F019-3533-7739C303AC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0336B6-43FC-6BA0-5418-4E3B90F37E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37325C-BFB6-0382-13A7-3FF96821E85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1D843B-8891-4C26-DC6B-8084A9C115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010CDB-C85A-F1ED-040F-5E94608191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0E8E-C996-1194-2098-E3E5622059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13B085-2C80-5CDD-6D7B-2D32CCCFEB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B81AFE-6FBE-66F5-AC29-093F43DB3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9338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40AA34-ACEB-AC54-160A-56B9869818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FA64612-3CC2-87DB-4380-32DD5E21393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We often use a polynomial of order </a:t>
                </a:r>
                <a14:m>
                  <m:oMath xmlns:m="http://schemas.openxmlformats.org/officeDocument/2006/math">
                    <m:r>
                      <a:rPr lang="en-US" sz="2350" i="1" dirty="0" smtClean="0">
                        <a:latin typeface="Cambria Math" panose="02040503050406030204" pitchFamily="18" charset="0"/>
                        <a:ea typeface="Arial"/>
                        <a:cs typeface="Arial"/>
                        <a:sym typeface="Arial"/>
                      </a:rPr>
                      <m:t>𝑛</m:t>
                    </m:r>
                    <m:r>
                      <a:rPr lang="en-US" sz="2350" i="1" dirty="0" smtClean="0">
                        <a:latin typeface="Cambria Math" panose="02040503050406030204" pitchFamily="18" charset="0"/>
                        <a:ea typeface="Arial"/>
                        <a:cs typeface="Arial"/>
                        <a:sym typeface="Arial"/>
                      </a:rPr>
                      <m:t>=5</m:t>
                    </m:r>
                  </m:oMath>
                </a14:m>
                <a:r>
                  <a:rPr lang="en-US" sz="2350" dirty="0">
                    <a:latin typeface="Atkinson Hyperlegible Next"/>
                    <a:ea typeface="Arial"/>
                    <a:cs typeface="Arial"/>
                    <a:sym typeface="Arial"/>
                  </a:rPr>
                  <a:t> to ensure that the motor doesn't experience "infinite" jerk at the start and end.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50" i="1" smtClean="0">
                              <a:latin typeface="Cambria Math" panose="02040503050406030204" pitchFamily="18" charset="0"/>
                              <a:cs typeface="Arial"/>
                              <a:sym typeface="Arial"/>
                            </a:rPr>
                          </m:ctrlPr>
                        </m:dPr>
                        <m:e>
                          <m:m>
                            <m:mPr>
                              <m:plcHide m:val="on"/>
                              <m:mcs>
                                <m:mc>
                                  <m:mcPr>
                                    <m:count m:val="6"/>
                                    <m:mcJc m:val="center"/>
                                  </m:mcPr>
                                </m:mc>
                              </m:mcs>
                              <m:ctrlPr>
                                <a:rPr lang="en-US" sz="2350" i="1" smtClean="0">
                                  <a:latin typeface="Cambria Math" panose="02040503050406030204" pitchFamily="18" charset="0"/>
                                  <a:cs typeface="Arial"/>
                                  <a:sym typeface="Arial"/>
                                </a:rPr>
                              </m:ctrlPr>
                            </m:mP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𝑇</m:t>
                                </m:r>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5</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2</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3</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4</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r>
                                  <a:rPr lang="en-US" sz="2350" i="1" smtClean="0">
                                    <a:latin typeface="Cambria Math" panose="02040503050406030204" pitchFamily="18" charset="0"/>
                                    <a:cs typeface="Arial"/>
                                    <a:sym typeface="Arial"/>
                                  </a:rPr>
                                  <m:t>5</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6</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12</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20</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mr>
                          </m:m>
                        </m:e>
                      </m:d>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1</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2</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3</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4</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5</m:t>
                                    </m:r>
                                  </m:sub>
                                </m:sSub>
                              </m:e>
                            </m:mr>
                          </m:m>
                        </m:e>
                      </m:d>
                      <m:r>
                        <a:rPr lang="en-US" sz="2350" i="1" smtClean="0">
                          <a:latin typeface="Cambria Math" panose="02040503050406030204" pitchFamily="18" charset="0"/>
                          <a:cs typeface="Arial"/>
                          <a:sym typeface="Arial"/>
                        </a:rPr>
                        <m:t>=</m:t>
                      </m:r>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𝑓</m:t>
                                    </m:r>
                                  </m:sub>
                                </m:sSub>
                              </m:e>
                            </m:mr>
                          </m:m>
                        </m:e>
                      </m:d>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inverting A (which is non-singular for </a:t>
                </a:r>
                <a14:m>
                  <m:oMath xmlns:m="http://schemas.openxmlformats.org/officeDocument/2006/math">
                    <m:r>
                      <a:rPr lang="en-US" sz="2350" i="1" dirty="0" smtClean="0">
                        <a:latin typeface="Cambria Math" panose="02040503050406030204" pitchFamily="18" charset="0"/>
                        <a:ea typeface="Arial"/>
                        <a:cs typeface="Arial"/>
                        <a:sym typeface="Arial"/>
                      </a:rPr>
                      <m:t>𝑇</m:t>
                    </m:r>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you find the unique coefficients that define the smoothest possible path for those specific requirements.</a:t>
                </a:r>
              </a:p>
            </p:txBody>
          </p:sp>
        </mc:Choice>
        <mc:Fallback xmlns="">
          <p:sp>
            <p:nvSpPr>
              <p:cNvPr id="118" name="Google Shape;118;p29">
                <a:extLst>
                  <a:ext uri="{FF2B5EF4-FFF2-40B4-BE49-F238E27FC236}">
                    <a16:creationId xmlns:a16="http://schemas.microsoft.com/office/drawing/2014/main" id="{FFA64612-3CC2-87DB-4380-32DD5E21393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FB47F05-FEF7-CB18-8B17-856C5FA41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4FD9CB-4BEB-31F7-D649-557394B0F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46DFC74-06D2-2A1A-E9C2-64D8155163C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DF55A3-3144-9BD3-B3F7-AF8F9E8212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063576-9E24-8B4B-B05E-78A48A1E97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F503C5-3A4D-BE12-3297-73BF36D84D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3F4D3-CF36-AB6B-D174-4B97D34D80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18399ED-5508-D24B-9659-9C0D3A60E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4676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A3E5A0-A814-1C98-E448-EF3FFD98F04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B5848B9-10EA-83D6-BF42-781228D4C61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can further be generalized to any order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a polynomial </a:t>
                </a:r>
                <a14:m>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nary>
                      <m:naryPr>
                        <m:chr m:val="∑"/>
                        <m:ctrlPr>
                          <a:rPr lang="en-US" sz="2350" i="1" dirty="0" smtClean="0">
                            <a:latin typeface="Cambria Math" panose="02040503050406030204" pitchFamily="18" charset="0"/>
                            <a:ea typeface="Arial"/>
                            <a:cs typeface="Arial"/>
                            <a:sym typeface="Arial"/>
                          </a:rPr>
                        </m:ctrlPr>
                      </m:naryPr>
                      <m:sub>
                        <m:r>
                          <a:rPr lang="en-US" sz="2350" i="1" dirty="0" err="1" smtClean="0">
                            <a:latin typeface="Cambria Math" panose="02040503050406030204" pitchFamily="18" charset="0"/>
                            <a:ea typeface="Arial"/>
                            <a:cs typeface="Arial"/>
                            <a:sym typeface="Arial"/>
                          </a:rPr>
                          <m:t>𝑖</m:t>
                        </m:r>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𝑛</m:t>
                        </m:r>
                      </m:sup>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𝑖</m:t>
                            </m:r>
                          </m:sub>
                        </m:sSub>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𝑖</m:t>
                            </m:r>
                          </m:sup>
                        </m:sSup>
                      </m:e>
                    </m:nary>
                  </m:oMath>
                </a14:m>
                <a:r>
                  <a:rPr lang="en-US" sz="2350" dirty="0">
                    <a:latin typeface="Atkinson Hyperlegible Next"/>
                    <a:ea typeface="Arial"/>
                    <a:cs typeface="Arial"/>
                    <a:sym typeface="Arial"/>
                  </a:rPr>
                  <a:t>, we can represent the relationship between coefficients and boundary conditions as a linear system: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𝐛</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𝐀𝐜</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Where:</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𝐜</m:t>
                    </m:r>
                    <m:r>
                      <a:rPr lang="en-US" sz="2350" i="1" dirty="0" smtClean="0">
                        <a:latin typeface="Cambria Math" panose="02040503050406030204" pitchFamily="18" charset="0"/>
                        <a:ea typeface="Arial"/>
                        <a:cs typeface="Arial"/>
                        <a:sym typeface="Arial"/>
                      </a:rPr>
                      <m:t>=</m:t>
                    </m:r>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𝑛</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 is the vector of unknown coefficients.</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𝐛</m:t>
                    </m:r>
                  </m:oMath>
                </a14:m>
                <a:r>
                  <a:rPr lang="en-US" sz="2350" dirty="0">
                    <a:latin typeface="Atkinson Hyperlegible Next"/>
                    <a:ea typeface="Arial"/>
                    <a:cs typeface="Arial"/>
                    <a:sym typeface="Arial"/>
                  </a:rPr>
                  <a:t> is the vector of boundary conditions (e.g.,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𝑥</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𝑎</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𝑎</m:t>
                                </m:r>
                              </m:e>
                              <m:sub>
                                <m:r>
                                  <a:rPr lang="en-US" sz="2350" i="1" dirty="0" err="1" smtClean="0">
                                    <a:latin typeface="Cambria Math" panose="02040503050406030204" pitchFamily="18" charset="0"/>
                                    <a:ea typeface="Arial"/>
                                    <a:cs typeface="Arial"/>
                                    <a:sym typeface="Arial"/>
                                  </a:rPr>
                                  <m:t>𝑓</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is the constraint matrix derived from the power rule.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Each row of </a:t>
                </a: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corresponds to a specific derivative </a:t>
                </a:r>
                <a14:m>
                  <m:oMath xmlns:m="http://schemas.openxmlformats.org/officeDocument/2006/math">
                    <m:r>
                      <a:rPr lang="en-US" sz="2350" i="1" dirty="0" smtClean="0">
                        <a:latin typeface="Cambria Math" panose="02040503050406030204" pitchFamily="18" charset="0"/>
                        <a:ea typeface="Arial"/>
                        <a:cs typeface="Arial"/>
                        <a:sym typeface="Arial"/>
                      </a:rPr>
                      <m:t>𝑘</m:t>
                    </m:r>
                  </m:oMath>
                </a14:m>
                <a:r>
                  <a:rPr lang="en-US" sz="2350" dirty="0">
                    <a:latin typeface="Atkinson Hyperlegible Next"/>
                    <a:ea typeface="Arial"/>
                    <a:cs typeface="Arial"/>
                    <a:sym typeface="Arial"/>
                  </a:rPr>
                  <a:t> at a specific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The entry for the </a:t>
                </a:r>
                <a14:m>
                  <m:oMath xmlns:m="http://schemas.openxmlformats.org/officeDocument/2006/math">
                    <m:r>
                      <a:rPr lang="en-US" sz="2350" i="1" dirty="0" smtClean="0">
                        <a:latin typeface="Cambria Math" panose="02040503050406030204" pitchFamily="18" charset="0"/>
                        <a:ea typeface="Arial"/>
                        <a:cs typeface="Arial"/>
                        <a:sym typeface="Arial"/>
                      </a:rPr>
                      <m:t>𝑗</m:t>
                    </m:r>
                  </m:oMath>
                </a14:m>
                <a:r>
                  <a:rPr lang="en-US" sz="2350" dirty="0">
                    <a:latin typeface="Atkinson Hyperlegible Next"/>
                    <a:ea typeface="Arial"/>
                    <a:cs typeface="Arial"/>
                    <a:sym typeface="Arial"/>
                  </a:rPr>
                  <a:t>-</a:t>
                </a:r>
                <a:r>
                  <a:rPr lang="en-US" sz="2350" dirty="0" err="1">
                    <a:latin typeface="Atkinson Hyperlegible Next"/>
                    <a:ea typeface="Arial"/>
                    <a:cs typeface="Arial"/>
                    <a:sym typeface="Arial"/>
                  </a:rPr>
                  <a:t>th</a:t>
                </a:r>
                <a:r>
                  <a:rPr lang="en-US" sz="2350" dirty="0">
                    <a:latin typeface="Atkinson Hyperlegible Next"/>
                    <a:ea typeface="Arial"/>
                    <a:cs typeface="Arial"/>
                    <a:sym typeface="Arial"/>
                  </a:rPr>
                  <a:t> column (corresponding to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𝑗</m:t>
                        </m:r>
                      </m:sub>
                    </m:sSub>
                  </m:oMath>
                </a14:m>
                <a:r>
                  <a:rPr lang="en-US" sz="2350" dirty="0">
                    <a:latin typeface="Atkinson Hyperlegible Next"/>
                    <a:ea typeface="Arial"/>
                    <a:cs typeface="Arial"/>
                    <a:sym typeface="Arial"/>
                  </a:rPr>
                  <a:t>) in that row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𝐴</m:t>
                          </m:r>
                        </m:e>
                        <m:sub>
                          <m:r>
                            <a:rPr lang="en-US" sz="2350" i="1" dirty="0" smtClean="0">
                              <a:latin typeface="Cambria Math" panose="02040503050406030204" pitchFamily="18" charset="0"/>
                              <a:ea typeface="Arial"/>
                              <a:cs typeface="Arial"/>
                              <a:sym typeface="Arial"/>
                            </a:rPr>
                            <m:t>𝑟𝑜𝑤</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𝑗</m:t>
                          </m:r>
                        </m:sub>
                      </m:sSub>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𝑑</m:t>
                              </m:r>
                            </m:e>
                            <m:sup>
                              <m:r>
                                <a:rPr lang="en-US" sz="2350" i="1" dirty="0" err="1" smtClean="0">
                                  <a:latin typeface="Cambria Math" panose="02040503050406030204" pitchFamily="18" charset="0"/>
                                  <a:ea typeface="Arial"/>
                                  <a:cs typeface="Arial"/>
                                  <a:sym typeface="Arial"/>
                                </a:rPr>
                                <m:t>𝑘</m:t>
                              </m:r>
                            </m:sup>
                          </m:sSup>
                        </m:num>
                        <m:den>
                          <m:r>
                            <a:rPr lang="en-US" sz="2350" i="1" dirty="0" err="1" smtClean="0">
                              <a:latin typeface="Cambria Math" panose="02040503050406030204" pitchFamily="18" charset="0"/>
                              <a:ea typeface="Arial"/>
                              <a:cs typeface="Arial"/>
                              <a:sym typeface="Arial"/>
                            </a:rPr>
                            <m:t>𝑑</m:t>
                          </m:r>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𝑘</m:t>
                              </m:r>
                            </m:sup>
                          </m:sSup>
                        </m:den>
                      </m:f>
                      <m:d>
                        <m:dPr>
                          <m:ctrlPr>
                            <a:rPr lang="en-US" sz="2350" i="1" dirty="0" smtClean="0">
                              <a:latin typeface="Cambria Math" panose="02040503050406030204" pitchFamily="18" charset="0"/>
                              <a:ea typeface="Arial"/>
                              <a:cs typeface="Arial"/>
                              <a:sym typeface="Arial"/>
                            </a:rPr>
                          </m:ctrlPr>
                        </m:dPr>
                        <m:e>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𝑗</m:t>
                              </m:r>
                            </m:sup>
                          </m:s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num>
                        <m:den>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e>
                          </m:d>
                          <m:r>
                            <a:rPr lang="en-US" sz="2350" i="1" dirty="0" smtClean="0">
                              <a:latin typeface="Cambria Math" panose="02040503050406030204" pitchFamily="18" charset="0"/>
                              <a:ea typeface="Arial"/>
                              <a:cs typeface="Arial"/>
                              <a:sym typeface="Arial"/>
                            </a:rPr>
                            <m:t>!</m:t>
                          </m:r>
                        </m:den>
                      </m:f>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sup>
                      </m:sSup>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B5848B9-10EA-83D6-BF42-781228D4C618}"/>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b="-175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B4FF3E-F313-4F61-44D3-0FBD1BDFA9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2F7C56-9281-B296-65E7-01EADE86B0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EF998-BFA5-D4F6-5736-C7C6DD9FBC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DA2ED8-D796-F0E4-E003-BB3BDBCD5B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87EFF8-B588-78FC-CC0D-4F76E31268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46E4B0-B2D8-8B59-0269-D1997ED637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80A532-145D-D245-BCEE-C17B57A125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5D7D4C-F883-B8A3-A960-E798B9C34A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483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329EB4-27AD-43F9-074C-24AE8F8F78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E96770-CA02-D53B-7CBC-1C5DE650936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Often, we don't just "solve" for a curve; we optimize it.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define a Cost Function </a:t>
                </a:r>
                <a14:m>
                  <m:oMath xmlns:m="http://schemas.openxmlformats.org/officeDocument/2006/math">
                    <m:r>
                      <a:rPr lang="en-US" sz="2350" i="1" dirty="0" smtClean="0">
                        <a:latin typeface="Cambria Math" panose="02040503050406030204" pitchFamily="18" charset="0"/>
                        <a:ea typeface="Arial"/>
                        <a:cs typeface="Arial"/>
                        <a:sym typeface="Arial"/>
                      </a:rPr>
                      <m:t>𝐽</m:t>
                    </m:r>
                  </m:oMath>
                </a14:m>
                <a:r>
                  <a:rPr lang="en-US" sz="2350" dirty="0">
                    <a:latin typeface="Atkinson Hyperlegible Next"/>
                    <a:ea typeface="Arial"/>
                    <a:cs typeface="Arial"/>
                    <a:sym typeface="Arial"/>
                  </a:rPr>
                  <a:t>, usually aiming to minimize total time or minimize jerk.</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min</m:t>
                          </m:r>
                        </m:fName>
                        <m:e>
                          <m:r>
                            <a:rPr lang="en-US" sz="2350" i="1" dirty="0" smtClean="0">
                              <a:latin typeface="Cambria Math" panose="02040503050406030204" pitchFamily="18" charset="0"/>
                              <a:ea typeface="Arial"/>
                              <a:cs typeface="Arial"/>
                              <a:sym typeface="Arial"/>
                            </a:rPr>
                            <m:t>𝐽</m:t>
                          </m:r>
                        </m:e>
                      </m:func>
                      <m:r>
                        <a:rPr lang="en-US" sz="2350" i="1" dirty="0" smtClean="0">
                          <a:latin typeface="Cambria Math" panose="02040503050406030204" pitchFamily="18" charset="0"/>
                          <a:ea typeface="Arial"/>
                          <a:cs typeface="Arial"/>
                          <a:sym typeface="Arial"/>
                        </a:rPr>
                        <m:t>=</m:t>
                      </m:r>
                      <m:nary>
                        <m:naryPr>
                          <m:ctrlPr>
                            <a:rPr lang="en-US" sz="2350" i="1" dirty="0" smtClean="0">
                              <a:latin typeface="Cambria Math" panose="02040503050406030204" pitchFamily="18" charset="0"/>
                              <a:ea typeface="Arial"/>
                              <a:cs typeface="Arial"/>
                              <a:sym typeface="Arial"/>
                            </a:rPr>
                          </m:ctrlPr>
                        </m:naryPr>
                        <m:sub>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𝑇</m:t>
                          </m:r>
                        </m:sup>
                        <m:e>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d>
                                    <m:dPr>
                                      <m:begChr m:val="|"/>
                                      <m:endChr m:val="|"/>
                                      <m:ctrlPr>
                                        <a:rPr lang="en-US" sz="2350" i="1" dirty="0" smtClean="0">
                                          <a:latin typeface="Cambria Math" panose="02040503050406030204" pitchFamily="18" charset="0"/>
                                          <a:ea typeface="Arial"/>
                                          <a:cs typeface="Arial"/>
                                          <a:sym typeface="Arial"/>
                                        </a:rPr>
                                      </m:ctrlPr>
                                    </m:dPr>
                                    <m:e>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e>
                              </m:d>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𝑑𝑡</m:t>
                          </m:r>
                        </m:e>
                      </m:nary>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framed as a Quadratic Programming (QP) problem, which microcontrollers can solve in milliseconds.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do the Polynomial trajectory generation instead of the QP optimization?</a:t>
                </a:r>
              </a:p>
            </p:txBody>
          </p:sp>
        </mc:Choice>
        <mc:Fallback xmlns="">
          <p:sp>
            <p:nvSpPr>
              <p:cNvPr id="118" name="Google Shape;118;p29">
                <a:extLst>
                  <a:ext uri="{FF2B5EF4-FFF2-40B4-BE49-F238E27FC236}">
                    <a16:creationId xmlns:a16="http://schemas.microsoft.com/office/drawing/2014/main" id="{A1E96770-CA02-D53B-7CBC-1C5DE650936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18D871-5660-6B9C-CCD9-D31C9F98B4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8156DF-6288-8192-C39A-EF367A4814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EE7C50-49E3-7DF7-DABB-7B42D72FA6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395C26-E398-579A-145E-5E8D7663AB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9B0764-EFB9-9A4B-BD6B-B1A6C00CD7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B1DEF6-93B8-9320-766D-BE89899C81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D08C9-1C6E-3D0B-6553-1C91E5352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5A2AAE-A5E4-DF2F-CEF8-95B14AE801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696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D5DB9A-2F62-4FAB-CAF3-C1BFF3416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494AD4-74CB-AED9-F120-90B78158D710}"/>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 state-of-the-art approach for local trajectory planning is </a:t>
            </a:r>
            <a:r>
              <a:rPr lang="en-US" sz="2350" b="1" dirty="0">
                <a:latin typeface="Atkinson Hyperlegible Next"/>
                <a:ea typeface="Arial"/>
                <a:cs typeface="Arial"/>
                <a:sym typeface="Arial"/>
              </a:rPr>
              <a:t>Time-Elastic Bands (TEB)</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treats the path like a rubber band stretched between the start and goal.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Obstacles act as repulsive forces pushing the band away.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Kinematic limits (max velocity, minimum turning radius) act as internal tension forces keeping the band physically viable.</a:t>
            </a:r>
          </a:p>
        </p:txBody>
      </p:sp>
      <p:sp>
        <p:nvSpPr>
          <p:cNvPr id="119" name="Google Shape;119;p29">
            <a:extLst>
              <a:ext uri="{FF2B5EF4-FFF2-40B4-BE49-F238E27FC236}">
                <a16:creationId xmlns:a16="http://schemas.microsoft.com/office/drawing/2014/main" id="{DC1773BA-A95A-D57C-DD9C-EB8F25CEE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4CAFF8-92E9-810F-E063-0140F38D7B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807127-17F8-85D6-2271-2146E63EF4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9B56F5-5178-0F6F-ECC9-5120E3C67C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097C17-93B5-7824-9A24-7B176BDE01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9BD50-5476-AD36-E58A-FEC5602991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68406B-9BB0-876E-7446-ABADB1853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502FA3-CA6A-2525-1C61-2575FAF63D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6462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210958-D4B5-F403-5330-8F571493C9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D9443C-B24A-E08F-90EB-9675C49946F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Now that we have a dynamically feasible trajectory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𝑦</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 and reference velocities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a:rPr lang="en-US" sz="2350" i="1" dirty="0" err="1" smtClean="0">
                                <a:latin typeface="Cambria Math" panose="02040503050406030204" pitchFamily="18" charset="0"/>
                                <a:ea typeface="Arial"/>
                                <a:cs typeface="Arial"/>
                                <a:sym typeface="Arial"/>
                              </a:rPr>
                              <m:t>𝑟</m:t>
                            </m:r>
                          </m:sub>
                        </m:sSub>
                      </m:e>
                    </m:d>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finally feed this into our continuous feedback controller!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Because the trajectory respects the robot's physical limits, the controller will not saturate.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From this we can thus ensure that we follow the constraints of the robot!</a:t>
                </a:r>
              </a:p>
            </p:txBody>
          </p:sp>
        </mc:Choice>
        <mc:Fallback xmlns="">
          <p:sp>
            <p:nvSpPr>
              <p:cNvPr id="118" name="Google Shape;118;p29">
                <a:extLst>
                  <a:ext uri="{FF2B5EF4-FFF2-40B4-BE49-F238E27FC236}">
                    <a16:creationId xmlns:a16="http://schemas.microsoft.com/office/drawing/2014/main" id="{38D9443C-B24A-E08F-90EB-9675C49946F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A44A385-7E24-53EF-747F-3960B2178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5F9F3A-2649-69CA-532F-551EA7B48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30865-F681-4C9E-96E4-EA92739FB64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4EDD4C-9F51-57C3-E499-78D936D46F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E7135D-C930-C2E9-7BB5-D1CA3955F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6FF2E6-C8D0-D6B0-8364-85A4BC838F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8381AA-9669-DB90-F1A0-AB652E3300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953F46-02CB-C4CF-777C-19A582A20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0720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C45E73-E9F8-0211-09A5-369576D747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09C89CA-5619-B017-2944-3AA86818354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Discrete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e>
                    </m:d>
                  </m:oMath>
                </a14:m>
                <a:r>
                  <a:rPr lang="en-US" sz="2350" dirty="0">
                    <a:latin typeface="Atkinson Hyperlegible Next"/>
                    <a:ea typeface="Arial"/>
                    <a:cs typeface="Arial"/>
                    <a:sym typeface="Arial"/>
                  </a:rPr>
                  <a:t> planning ignores physical reality, leading to control instability.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Hybrid A* solves this by planning with kinematic curves in 3D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Trajectories add the dimension of time and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Polynomial optimization allows for smooth acceleration and jerk-free movement.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controller makes sure that we follow the velocities desired.</a:t>
                </a:r>
              </a:p>
            </p:txBody>
          </p:sp>
        </mc:Choice>
        <mc:Fallback xmlns="">
          <p:sp>
            <p:nvSpPr>
              <p:cNvPr id="118" name="Google Shape;118;p29">
                <a:extLst>
                  <a:ext uri="{FF2B5EF4-FFF2-40B4-BE49-F238E27FC236}">
                    <a16:creationId xmlns:a16="http://schemas.microsoft.com/office/drawing/2014/main" id="{309C89CA-5619-B017-2944-3AA86818354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105B7DB-50B8-746E-5108-1D198A7040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DDF416-CFB5-77DF-7E04-7AA88F2D19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2E589E-3F5D-65FD-30B2-9DA2721A0A3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E6C9C6-E0C7-6451-4E22-BB2D95562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CA982-F7BC-5FFE-C020-ED6BA14F11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B5A2E4-5905-013E-E88A-6271108D91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0B2CF6-87A3-4E84-A4B0-FB0965AD61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DCE117-9FCF-0692-4519-0E0993529C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96089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C79F57C-AFA3-584F-3984-6A4AC83FB98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66285-FD09-F129-29A1-20D3247E9C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D45042-CEAC-5D39-2114-6AF7CCA61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6678B9-5999-595D-7C03-A7004E5EFC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9AEF77-174B-D779-E69D-AF951122FC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DC37CD-F258-108D-1B2A-2C0933228F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16B8158-D204-E3C5-4022-A453CEBAE3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86AFD5-1D92-666F-EBF6-A6530A52AC4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5D1529-4AA9-6154-6895-BBB2B1737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an autonomous navigation pipeline. Perception and mapping passes an Octomap or costmap to path planning (Hybrid A star on state x, y, theta with a bicycle model and steering-constrained node expansion), which outputs a geometric path of poses. Trajectory planning optimizes for smoothness under velocity and acceleration limits using polynomials or splines, producing reference trajectory s sub ref of t equals x, y, theta, v, omega, a, kappa. A tracking controller (MPC or pure pursuit) minimizes tracking error and sends commanded v and omega to the vehicle plant, which feeds back state x, y, theta, v, omega.">
            <a:extLst>
              <a:ext uri="{FF2B5EF4-FFF2-40B4-BE49-F238E27FC236}">
                <a16:creationId xmlns:a16="http://schemas.microsoft.com/office/drawing/2014/main" id="{13CEFEBB-CABF-3586-5974-092C1A099C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97" y="1521429"/>
            <a:ext cx="12053605" cy="4506302"/>
          </a:xfrm>
          <a:prstGeom prst="rect">
            <a:avLst/>
          </a:prstGeom>
        </p:spPr>
      </p:pic>
    </p:spTree>
    <p:extLst>
      <p:ext uri="{BB962C8B-B14F-4D97-AF65-F5344CB8AC3E}">
        <p14:creationId xmlns:p14="http://schemas.microsoft.com/office/powerpoint/2010/main" val="6680384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2568</TotalTime>
  <Words>3036</Words>
  <Application>Microsoft Office PowerPoint</Application>
  <PresentationFormat>Widescreen</PresentationFormat>
  <Paragraphs>430</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392</cp:revision>
  <dcterms:created xsi:type="dcterms:W3CDTF">2019-01-14T22:06:33Z</dcterms:created>
  <dcterms:modified xsi:type="dcterms:W3CDTF">2026-04-02T09:05:17Z</dcterms:modified>
</cp:coreProperties>
</file>