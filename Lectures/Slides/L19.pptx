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417" r:id="rId3"/>
    <p:sldId id="413" r:id="rId4"/>
    <p:sldId id="272" r:id="rId5"/>
    <p:sldId id="258" r:id="rId6"/>
    <p:sldId id="418" r:id="rId7"/>
    <p:sldId id="451" r:id="rId8"/>
    <p:sldId id="452" r:id="rId9"/>
    <p:sldId id="454" r:id="rId10"/>
    <p:sldId id="458" r:id="rId11"/>
    <p:sldId id="455" r:id="rId12"/>
    <p:sldId id="456" r:id="rId13"/>
    <p:sldId id="457" r:id="rId14"/>
    <p:sldId id="459" r:id="rId15"/>
    <p:sldId id="460" r:id="rId16"/>
    <p:sldId id="464" r:id="rId17"/>
    <p:sldId id="461" r:id="rId18"/>
    <p:sldId id="463" r:id="rId19"/>
    <p:sldId id="462" r:id="rId20"/>
    <p:sldId id="271" r:id="rId21"/>
    <p:sldId id="270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55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59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56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04C5FFB-4BB7-C2F1-1993-C5759FE1A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A5FDF30-0D29-42B3-F78D-B3D18E887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175042-8200-DCCA-0494-A9200692E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6714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0F36398-9F2E-12E0-F042-7CB9FBE7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444281-1B4A-8B9F-1EBC-E95C16813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BDC3BC4-7BEF-5A8A-9D3D-B431C23163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5208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53FE5D9-EB4B-FF88-F451-7B5CDEAFB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7811C4A-1F71-4862-77E5-D8CA40C6B3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C16099A-7352-A101-AF1D-258334404D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2149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B990E7-03F9-5D02-57C9-808EBAF32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0FFE6A8-6405-AB9D-9484-2DD2A98EE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6176E1-9C52-8178-175B-43B3AC7199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7736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8B9AD63-5CA5-E7B3-530E-F1B3F6C1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3C52676-1F66-358A-E8B0-CC2AA1C81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521AD-EC91-51C8-873D-544669CC9E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80031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61978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D6C719B-CF0B-0B1F-9B03-2077346BD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F7BE2E-D551-D12B-BC85-87290AFAF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772CB2-CF00-9E8E-B95E-AA7F2F49C0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5157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A510BE-A689-08CF-319F-DF2D4BCE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2FAF2A4-6ECB-75E9-C9A9-0E2FB12B4E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A09BB38-1903-B166-2DA1-D4A847D83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416137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33DFD7-C055-E995-C127-D89823EA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2BCC46D-4B15-0383-82FC-AA4D0A0152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5ADB11-FE91-4544-FB21-E411E61CC4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824885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2A68DE8-851D-353C-4D5E-8773DEC92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993D992-4697-E627-9276-AF6B90708D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2F3703-9738-CCCB-A7A7-5F73CE36FF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3334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A377253-58B2-C4A7-1F1B-080115D4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99B9D00-6F1E-1F1E-ABF6-444A2962C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4808D7-4DF4-95DC-95FA-E73CCB62CA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047615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A0B97C1-6828-B69E-9D9D-4C5329B19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65DF1B9-8000-49CF-DDF0-C6FCDD2472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387DF31-B89D-7725-E619-F6FABBC41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188521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D64117A-0067-F853-65E2-68C96ED6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369CCAB5-A4F7-2E41-3991-30D95F4075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3533726A-CDE9-8A19-424C-5EB6321D8B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26129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18: Path planning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Talk to the person next to you and answer these questions.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If you had multi-goals that you were trying to reach what would use A*, Dijkstra, Greedy Best First, or BFS? What about a single goal?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the previous lecture we performed path planning on a grid graph, what did each vertex in the grid represent (i.e. what was the state space that A* was searching through?)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What kind robot is most closely represented when you perform path planning with the state only being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For a differential robot, is the movement cost uniform based purely on the position on the robot? The movement cost from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 =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or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≠(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What is the state space of differential robot?</a:t>
                </a: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 r="-1473" b="-429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the previous lecture we explored A* on a 2D grid, where we represented the environment as a graph discrete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What was the output path returned?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output path was a sequence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waypoints.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lecture 15, we however, define the robot’s pose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in the global frame which moves using the linear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and 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ω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Preface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DE29BBC0-4BB7-869B-8200-C3349CD5F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/>
        </p:blipFill>
        <p:spPr bwMode="auto">
          <a:xfrm>
            <a:off x="3778250" y="3207429"/>
            <a:ext cx="4385452" cy="221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421D264-CCBF-6216-3561-1662BD47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CF6A097-F224-7317-492B-DD13DDA36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Standard A* assumes the robot is a "point mass" that can move in any direction!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However, differential drive robots cannot translate sideways! A drone, however, would be fine with this “point mass” definition.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When the path goes from moving "North" to "East", the angle changes by 90 degrees instantly.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This implies an infinite angular velocity at that corner if you are not already facing that direction. What happens to our DC motors if we command an infinite angular velocity?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 can we handle this?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Stop and turn or try tracking the next waypoint.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7660C1E-E82C-0AAC-4E33-4C21F14C1C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A9A1833-A27A-239C-7663-4F50669321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Preface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E96364-CE48-ABE7-F89E-E2277E80DB8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E8B0AC-8851-78D2-7ADA-6178500754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00B05F-484B-EC41-0AC9-B49E4967AA2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846E3FB-E836-6BA3-A9E9-EF8D0787811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F0A4F3B-B0D8-85E0-FD8C-870B99A8F9A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54D6307-C1D6-AE6E-58A2-7F62315191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282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B05ECD9-0F2D-0ECF-7BF7-8438FE04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One common approach is to ignore the robot's kinematics during planning.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Plan in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space using A*.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Build a continuous feedback controller to "chase" the discrete path.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infer the desired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from the angle between waypoints: </a:t>
                </a:r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4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atan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2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E91B57-3BF9-46F2-9502-B612D37C6E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B14E862-F6BA-CD78-1762-18B395B6982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Preface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F6B73B6-DD3A-B838-59B4-DDCC55C6ED1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73210FA-7663-176F-1567-54311195892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ED16BD-85D8-6033-3E3B-4FD88CE57D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7C98A78-DBF0-DBBF-158B-60B3F532BCA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63A5E7-60ED-8D09-1290-B862226D6E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2DA2E3-28FF-06BE-F568-3D03F512ED7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672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A151B22-5552-217E-7213-643B4F6B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One possible way is to define the error state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𝐞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transformed into the robot's local coordinate frame: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represents the waypoint coordinate from A*.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kinematic model governing the motion of a unicycle (which accurately represents the center point of a differential drive robot) is: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𝜔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blipFill>
                <a:blip r:embed="rId3"/>
                <a:stretch>
                  <a:fillRect l="-873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28248C-17E6-0709-C028-AD60F1D63FF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0B3E5B-11CD-5AA4-BA0D-D7BDC5D321F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Preface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0668B16-ECDE-A54C-3B0D-3CCB1D977EE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8909FB-08A4-628C-7C67-220EE6E86F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05036F-410F-1DF4-409B-35586E5F959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2083245-AB6E-9B94-34CD-602188D388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5FF986-842B-8881-6D8D-EE92792A381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06F4CB-484B-2BDE-C248-03819F3AACF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5206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A63FB4F-4CEA-683A-714C-BDADCEF1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DA4D93-7F56-FF0F-9A6F-CFA4A3D8643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1157C5-610F-F6C2-01CD-24E6637803D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Preface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7C0C1C9-9847-9A80-DF75-E862F5FADE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59ED37-E652-219D-F49E-517364C4607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EE2468-A394-646D-9866-63ED2FD9B4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D81EF3-1155-8B5C-8713-65E5456631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4D0786-BF7A-CDC1-7585-9A1DCFFD8E2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FB8FD40-8F92-4A34-3AA3-77D9E2CA730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5F5E9C8F-1320-10CF-C7C0-24E090752B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99678" y="973521"/>
            <a:ext cx="7064290" cy="553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650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AA5D57-0732-DC7B-BC3A-8BF001C2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Taking the time derivative of this error vector and substituting our kinematic equations yields the open-loop error dynamics: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To generate control actions that guarantee the robot will converge to the path, we can utilize a non-linear feedback tracking controller (originally proposed by Kanayama et al.).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propose the following control law using positive gain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73" t="-818" r="-13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87EFDE-0AC4-CFAC-3C25-7E4BD6E2EF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95C8F6E-F40E-DDAA-314C-46B63B81503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Preface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11EE393-9AE4-B6E7-3FBE-97F255F6C3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067ACEB-142E-76C1-E358-74F11A58875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C3C21D-EDED-0FF0-1448-84BF7424E43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34BFB0-6E8A-22D6-604D-3687D0FEAFC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4B46FF-3F51-4697-57C2-0A44D3DED6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790B5CD-B8A1-1B69-D12A-D0D29A3358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32741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With non-linear control stability theory (Lyapunov), you can prove that the previously provided controller will converge to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You can define a positive-definite Lyapunov candidate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𝐞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</m:t>
                    </m:r>
                  </m:oMath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num>
                        <m:den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must prove that its time derivative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</m:e>
                    </m:acc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negative semi-definite. Taking the derivative: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𝑉</m:t>
                          </m:r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 will leave as an exercise to you to verify that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 The error states asymptotically converge to zero.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764" b="-420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Preface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47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2C52DE-8450-CA96-69DB-9AE0C901E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So, we have decoupled the control from the robot’s planner. However, doing so we could have potential problems. What might they be?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When inferring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from a jagged grid path, the reference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discontinuous.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creates sudden spikes in heading error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feedback controller saturates the motors trying to fix the error.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robot swings wide around corners, potentially crashing into obstacles the planner thought were safe.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path planner does not understand the robot’s kinematics when planning!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C6214A-4506-DF87-2356-12A48E319EB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7C45543-6425-DF53-672E-4634CB4806C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Preface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3B75B47-9C12-BE19-68DA-28CFEF91CD1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66D98C6-6E53-5B76-008F-FCEA6852817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C67DFD-5261-ADFB-79D6-3D1F9EBB0CF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CDEF84-5A1B-9521-0A17-1457E846649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75CCF48-418B-7A38-7DB2-6BE8BA5448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306C8-ECCD-8709-F78C-1FD809BCB7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2571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0BEA05B-47C4-F381-D76A-ADBC3EF47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A52E965-A612-62CC-6FA5-0781336FAF7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7460F2-788B-8AEC-8094-4F5770A38C7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Preface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2F958B4-ED32-4D43-D8A1-B1F17403B6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B65466-A698-A44C-A44C-C65C255B03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54575D-5FF7-F751-E6DB-75A5CED0D6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FA4F88-1A0D-F35C-10F1-ADB4BF106D8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41FC62-531B-A6A4-FAF1-FAE22E56461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6D11B7-CC20-0F44-F9DD-82547679751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970EF-EA99-2744-F656-F18E3429C0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06955E-C640-0B5D-8D0B-301D7AF46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142" y="906290"/>
            <a:ext cx="5585715" cy="558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507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154B0F-A8D5-156B-92EC-6CA1C0698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To fix this, the planner must understand the robot's physical heading.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must expand our search state from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to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robot now searches through positions and orientations! A state transition is no longer just moving to an adjacent grid cell.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can discretize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into bins (e.g., 8 directions, 16 directions).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From a state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p>
                          <m:sSup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e>
                          <m:sup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, valid moves might be "drive forward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" or "turn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45</m:t>
                        </m:r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drive".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ensures the path considers the robot's current orientation. However, true non-holonomic robots don't just "turn and drive"—they curve.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65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FEF1E32-06FD-8956-9043-0AB068DA22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87AA41-1BBE-765B-B1A3-2C1FB80C9F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Preface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20AE5F9-070C-1188-5AC9-39B9541DD9C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0E4874-4615-D122-73F7-31E11CEA37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934E72C-FB46-3AC4-D499-B8EDC1679A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28741DD-F3BF-E8EC-A133-86343D7D9D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97013A3-5588-9B5C-1613-79D2190E748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0C09F2-46A7-1DD1-F6E1-63426FBAC0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553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EF569B-40B9-AA6A-66DB-2830A83D8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F67260C-9D60-2FC3-3459-75035FC87B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1F3378-5399-D07D-1407-81785A7749E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Preface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B7ACAC8-5364-27D1-D65B-AFE85B1D8B9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FE3A880-690E-E792-16DC-5D8ACBABAD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B23B27-8463-CC71-4608-1BA8F3AABC6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9740C1-2C1B-0C3E-5DE9-F6A2914F27D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9CFEB8-023B-F34B-BF2B-B72DA57A739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053D1-08AE-864D-1F2C-5E420370653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4E5447E2-7341-B44F-352B-3D9830A5CB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87675" y="884181"/>
            <a:ext cx="6216650" cy="5662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74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AB0A3C8-98D1-5250-7503-96E6A0FA4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Adding </a:t>
                </a:r>
                <a14:m>
                  <m:oMath xmlns:m="http://schemas.openxmlformats.org/officeDocument/2006/math"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dramatically increases the search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a 100x100 grid has 10,000 states in 2D discretizing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into 72 angles (every 5 degrees) yields 720,000 states!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How does this affect the memory and compute time required for A*?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Every time you add a dimension you increase the number of possibilities exponentially!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phenomenon is called the 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Curse of Dimensionality 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and is a problem is a lot of applications of math!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There is no way to escape this problem!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B41C6C1-AA3F-5FF5-360D-DFCBB62736A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EE815A8-2F2C-9E1C-2872-878C3B048A8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035F1EC-9C94-3E71-192E-9FBCC8FF559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795EC4-1EA0-E2C0-04F1-D9A0516C5A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F185C3-0E72-D03B-6977-9166758B58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01A1D0-FEEC-4797-EA50-D038C772373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DC5937-A0CA-C372-8C2C-473C5E466D5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FA81E-993A-A0A6-AE15-8337D8E55D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233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8DD3A0-5D9D-7741-21AC-CBDD57D8E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FB5C77-6A3C-657E-B5E5-1BDF1206B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Before we commit to heavy 3D planning, let's establish when 2D is acceptable: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2D planning works well for omnidirectional robots (</a:t>
            </a:r>
            <a:r>
              <a:rPr lang="en-US" sz="2350" dirty="0" err="1">
                <a:latin typeface="Arial"/>
                <a:ea typeface="Arial"/>
                <a:cs typeface="Arial"/>
                <a:sym typeface="Arial"/>
              </a:rPr>
              <a:t>Mecanum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wheels).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also works for very slow differential drive robots in wide-open spaces (you can have 8-connected neighbors and tune your controller to minimize edge clipping).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fails catastrophically for cars (Ackermann steering) or robots in tight, cluttered corridors.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13A86C1-64E4-C49B-1C5A-9015EC356D4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DB0C9B-0EE5-A576-BC5E-884BE7720AD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778344A-63E9-282D-79C2-4BF324BC834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E8BACFE-7142-8C3A-A768-40A175A19F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8D9136E-C27D-DF98-BB5D-40EFCD4024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06039D-4B00-32F9-DB25-DBCAAA6E3D5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5467C5-2F26-AD27-A1FE-369C1D87A87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705DE7-E658-33DE-7A91-5E9F4E2613B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64983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FF39F0-61F6-4969-F0A2-BC2B17479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D41C7AAC-444E-E730-FE92-36DBFA803280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CB7D4B5-02FF-71CE-F91F-4CAB12C0A1B7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98ED22C-D241-0D2E-A82D-350089F4A82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4700CA7-31AF-AFBB-9BEF-B182AA0189F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7E3B612-2CA4-DD28-A068-CACE686116A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A87FC0D-DAB1-480F-3DEF-651054D028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745949F-8D90-5814-D515-0935D25E17A2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8DCC1214-3B7C-1FA9-F303-B70BD9FFD8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4077038-CAFD-C980-C77E-AC88091FA6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7DC4168-6590-8DC7-7F27-51B5926279D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1287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2418</TotalTime>
  <Words>1290</Words>
  <Application>Microsoft Office PowerPoint</Application>
  <PresentationFormat>Widescreen</PresentationFormat>
  <Paragraphs>176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303</cp:revision>
  <dcterms:created xsi:type="dcterms:W3CDTF">2019-01-14T22:06:33Z</dcterms:created>
  <dcterms:modified xsi:type="dcterms:W3CDTF">2026-04-01T08:09:00Z</dcterms:modified>
</cp:coreProperties>
</file>