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417" r:id="rId3"/>
    <p:sldId id="413" r:id="rId4"/>
    <p:sldId id="272" r:id="rId5"/>
    <p:sldId id="258" r:id="rId6"/>
    <p:sldId id="418" r:id="rId7"/>
    <p:sldId id="451" r:id="rId8"/>
    <p:sldId id="452" r:id="rId9"/>
    <p:sldId id="454" r:id="rId10"/>
    <p:sldId id="458" r:id="rId11"/>
    <p:sldId id="455" r:id="rId12"/>
    <p:sldId id="456" r:id="rId13"/>
    <p:sldId id="457" r:id="rId14"/>
    <p:sldId id="459" r:id="rId15"/>
    <p:sldId id="492" r:id="rId16"/>
    <p:sldId id="460" r:id="rId17"/>
    <p:sldId id="464" r:id="rId18"/>
    <p:sldId id="461" r:id="rId19"/>
    <p:sldId id="463" r:id="rId20"/>
    <p:sldId id="462" r:id="rId21"/>
    <p:sldId id="465" r:id="rId22"/>
    <p:sldId id="466" r:id="rId23"/>
    <p:sldId id="467" r:id="rId24"/>
    <p:sldId id="468" r:id="rId25"/>
    <p:sldId id="469" r:id="rId26"/>
    <p:sldId id="470" r:id="rId27"/>
    <p:sldId id="471" r:id="rId28"/>
    <p:sldId id="474" r:id="rId29"/>
    <p:sldId id="472" r:id="rId30"/>
    <p:sldId id="473" r:id="rId31"/>
    <p:sldId id="475" r:id="rId32"/>
    <p:sldId id="476" r:id="rId33"/>
    <p:sldId id="484" r:id="rId34"/>
    <p:sldId id="477" r:id="rId35"/>
    <p:sldId id="478" r:id="rId36"/>
    <p:sldId id="479" r:id="rId37"/>
    <p:sldId id="480" r:id="rId38"/>
    <p:sldId id="481" r:id="rId39"/>
    <p:sldId id="482" r:id="rId40"/>
    <p:sldId id="483" r:id="rId41"/>
    <p:sldId id="485" r:id="rId42"/>
    <p:sldId id="487" r:id="rId43"/>
    <p:sldId id="488" r:id="rId44"/>
    <p:sldId id="489" r:id="rId45"/>
    <p:sldId id="490" r:id="rId46"/>
    <p:sldId id="491" r:id="rId47"/>
    <p:sldId id="271" r:id="rId48"/>
    <p:sldId id="270" r:id="rId4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04C5FFB-4BB7-C2F1-1993-C5759FE1A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A5FDF30-0D29-42B3-F78D-B3D18E887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5175042-8200-DCCA-0494-A9200692E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67149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0F36398-9F2E-12E0-F042-7CB9FBE7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444281-1B4A-8B9F-1EBC-E95C16813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BDC3BC4-7BEF-5A8A-9D3D-B431C23163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5208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53FE5D9-EB4B-FF88-F451-7B5CDEAFB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7811C4A-1F71-4862-77E5-D8CA40C6B3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C16099A-7352-A101-AF1D-258334404D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2149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AB990E7-03F9-5D02-57C9-808EBAF32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0FFE6A8-6405-AB9D-9484-2DD2A98EE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66176E1-9C52-8178-175B-43B3AC7199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7736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8B9AD63-5CA5-E7B3-530E-F1B3F6C1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3C52676-1F66-358A-E8B0-CC2AA1C81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521AD-EC91-51C8-873D-544669CC9E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80031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47A902-C2CE-571F-5AAB-C2FC90EE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C65241-34A8-79D5-AD71-6EBA11BA4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5158E3-7D9E-AE16-2EA2-594F8D6E8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61978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D6C719B-CF0B-0B1F-9B03-2077346BD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F7BE2E-D551-D12B-BC85-87290AFAF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772CB2-CF00-9E8E-B95E-AA7F2F49C0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51576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A510BE-A689-08CF-319F-DF2D4BCE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2FAF2A4-6ECB-75E9-C9A9-0E2FB12B4E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A09BB38-1903-B166-2DA1-D4A847D83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416137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47A902-C2CE-571F-5AAB-C2FC90EE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C65241-34A8-79D5-AD71-6EBA11BA4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5158E3-7D9E-AE16-2EA2-594F8D6E8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661623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33DFD7-C055-E995-C127-D89823EAF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2BCC46D-4B15-0383-82FC-AA4D0A0152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5ADB11-FE91-4544-FB21-E411E61CC4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82488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2A68DE8-851D-353C-4D5E-8773DEC92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993D992-4697-E627-9276-AF6B90708D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2F3703-9738-CCCB-A7A7-5F73CE36FF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1333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A377253-58B2-C4A7-1F1B-080115D4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99B9D00-6F1E-1F1E-ABF6-444A2962C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4808D7-4DF4-95DC-95FA-E73CCB62CA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047615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A0B97C1-6828-B69E-9D9D-4C5329B19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65DF1B9-8000-49CF-DDF0-C6FCDD2472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387DF31-B89D-7725-E619-F6FABBC41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188521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D64117A-0067-F853-65E2-68C96ED69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369CCAB5-A4F7-2E41-3991-30D95F4075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3533726A-CDE9-8A19-424C-5EB6321D8B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26129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E1D80F5-AA49-2708-86C5-02C7F45A1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09DD3FA-D285-0E71-8ECE-2FB0F25D5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EDA22C-ABDD-B146-8848-2C8F718FCD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51410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998B07-B115-0679-969A-7AF92C7A9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8C7B09-0E2F-8AA0-6926-A237BD6BDC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044814-C3C4-3707-EBAC-0345C985BD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90442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E14387-E01A-A876-0BEA-BC85400E4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F3DF66-10B7-E48A-BBC1-DA961D8B4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3640EEA-CA7F-F31F-D654-C1BA27EEAF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448421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A274FF3-C350-3897-8150-18F427A9C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8FDE64-7E82-283D-A4C7-B30A856DB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A3C04E-E636-E2AD-1E77-04551DB980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03653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E3EE12-92F0-223D-84C9-0264C8395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6CCA754-4212-1F8B-3DF6-A3BEAC494D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4ADF0A6-33B4-BA6D-FA0D-844B759C45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242147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EE6D5A4-B556-26CA-79C8-3C52F7166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5CB6F34-5D5C-D0C7-12DC-B13EE300BE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8C5B9A6-DB62-2422-4B1A-399CA09EE0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1369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91A55E8-2987-A60D-3E2A-8208A6A93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03859EE-AB9D-62E1-A049-F0C145F503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EEE5D60-91BD-7292-45B8-562AC1F0DF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2254873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E82CECE-15F4-0DF1-1F29-FF03DF10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737DA174-DA16-72CE-D159-0B7FB23775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44C4F4FD-504D-69AF-C585-A1AEB45146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24347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9A2885-87AD-9CBB-6A3D-65A26177B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C0FAFB7-4250-1917-ABB4-E941F4D907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E910A7-22E0-0FE6-A886-BB145A53AC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251677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D8EB744-065B-1507-3246-65EEBCD42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B1BB137-2B8D-1C6A-4F2A-2D15E700F2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3B26332-DCD4-8BD3-DD12-51305F59F7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788922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B4C6590-D5AB-6833-12E8-99F7B1A8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9A9A1DD-58DD-DADA-B560-E78BE9E66F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6DB4C2B-885A-318E-369E-7FFA115FD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3055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476F84-4404-90D3-2CD2-4606D31B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BEAD060-16D6-6534-2265-7AA3D820D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4D712E5-F79D-B9F6-E065-C53076DF4D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136596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C3B63E-41BA-B88A-35B5-090A208D4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319121B-0D67-7B15-1ECE-1F1C6FF82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542AD9-E8AB-F881-0228-43CD26DD4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85733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20FEB34-C2E8-A56D-E154-F0D6A5948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F9B0971F-B2E2-1700-17E0-4DD2402368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2FE51665-D4C1-9E17-3B4A-F36EA79A9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4200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DA8A3F7-5FCF-35C4-F268-805AF9E9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E260D62-C71E-DF0F-0BF6-F19D40B902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6D1B5E-1F2F-FBB5-E0BD-A2EB46E205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444896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9A1F1B-AFDC-0E77-A498-E6D79378B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EEFBF91-BCC1-7B5E-2A12-66CF7550C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72025C1-D29C-CDAB-600D-80F535E4EB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19044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929F68-61D3-3A10-5585-614C7BFC3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78D3A06-C21E-512E-A5AB-6F19C75058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3E78D13-6F79-B383-2472-6FF93FFAF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751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4C962F-DB53-88D2-EB0C-175F7FD17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5DE394F-CF69-91D3-F463-C3A61716B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9FA922-7FBB-6F1F-8B8C-4B4695699B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696323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F36F722-E461-E38D-317C-E6343CBF9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6122735-CED6-4E0B-6965-529BFA7920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C00941D-310A-DE18-74B0-00C816B351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464696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33E890-7F0F-2360-1B14-B617A1B93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4960FDA-E068-7CE2-0B06-7975C9785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623D48-AC63-5F48-4BA5-3224283F2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111058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F50CF8C-5CBF-2280-2B31-3FE5604D6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0168F08-70BF-DE65-9EEA-046055BFC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B75BDB4-BE4C-B0E0-8B8E-5ADD3B9FCB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689818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4490DBA-E9BC-1343-F48F-B5966E6AB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0CF38B5-B2E1-2D12-AB6D-B16A9636CC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0930FC6-94D3-E2DA-C4BC-35396C3307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467303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C4712E9-1DBC-7106-3AA6-449075DD1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18DC9E-41EB-7B25-351D-26AB1045BD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C80463D-3C1A-6DF5-0681-A0D0AB74E1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917042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77D3BEF-59E6-FDEC-E592-E924EE136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7932010-ACE4-2F98-1F82-93B58C4E48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1DC79D1-205E-6BCC-E038-60FAD5D409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414420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DEE373-9DAF-C5C9-CFBE-1B714E652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846900-030C-21CF-465A-D026F08692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0806F6A-A97D-C595-8492-B1BA9B83D2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479977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681670D-BB5F-CD9B-9405-8369A8DA3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80C0064-C75B-A0D2-8D7F-6D3A098861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D66A24-E004-F526-19FA-878C8D4DD7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33375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kth.diva-portal.org/smash/record.jsf?pid=diva2%3A1057261&amp;dswid=4852" TargetMode="External"/><Relationship Id="rId4" Type="http://schemas.openxmlformats.org/officeDocument/2006/relationships/image" Target="../media/image1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kth.diva-portal.org/smash/record.jsf?pid=diva2%3A1057261&amp;dswid=4852" TargetMode="External"/><Relationship Id="rId4" Type="http://schemas.openxmlformats.org/officeDocument/2006/relationships/image" Target="../media/image1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hyperlink" Target="https://en.wikipedia.org/wiki/Dubins_path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19: Trajectory planning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Wednesday, April 1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st</a:t>
            </a:r>
            <a:r>
              <a:rPr lang="en-US" sz="1800" dirty="0">
                <a:solidFill>
                  <a:schemeClr val="lt1"/>
                </a:solidFill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Talk to the person next to you and answer these questions.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If you had multi-goals that you were trying to reach what would use A*, Dijkstra, Greedy Best First, or BFS? What about a single goal?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the previous lecture we performed path planning on a grid graph, what did each vertex in the grid represent (i.e. what was the state space that A* was searching through?)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What kind robot is most closely represented when you perform path planning with the state only being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For a differential robot, is the movement cost uniform based purely on the position on the robot? The movement cost from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 =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or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≠(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What is the state space of differential robot?</a:t>
                </a: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 r="-1473" b="-429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the previous lecture we explored A* on a 2D grid, where we represented the environment as a graph discrete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What was the output path returned?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output path was a sequence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waypoints.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lecture 15, we however, define the robot’s pose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in the global frame which moves using the linear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and 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ω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Picture 2">
            <a:extLst>
              <a:ext uri="{FF2B5EF4-FFF2-40B4-BE49-F238E27FC236}">
                <a16:creationId xmlns:a16="http://schemas.microsoft.com/office/drawing/2014/main" id="{DE29BBC0-4BB7-869B-8200-C3349CD5F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/>
        </p:blipFill>
        <p:spPr bwMode="auto">
          <a:xfrm>
            <a:off x="3778250" y="3207429"/>
            <a:ext cx="4385452" cy="221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421D264-CCBF-6216-3561-1662BD47B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CF6A097-F224-7317-492B-DD13DDA365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Standard A* assumes the robot is a "point mass" that can move in any direction!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However, differential drive robots cannot translate sideways! A drone, however, would be fine with this “point mass” definition.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When the path goes from moving "North" to "East", the angle changes by 90 degrees instantly.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This implies an infinite angular velocity at that corner if you are not already facing that direction. What happens to our DC motors if we command an infinite angular velocity?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 can we handle this?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Stop and turn or try tracking the next waypoint.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7660C1E-E82C-0AAC-4E33-4C21F14C1C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A9A1833-A27A-239C-7663-4F50669321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E96364-CE48-ABE7-F89E-E2277E80DB8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EE8B0AC-8851-78D2-7ADA-6178500754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00B05F-484B-EC41-0AC9-B49E4967AA2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846E3FB-E836-6BA3-A9E9-EF8D0787811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F0A4F3B-B0D8-85E0-FD8C-870B99A8F9A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54D6307-C1D6-AE6E-58A2-7F62315191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1282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B05ECD9-0F2D-0ECF-7BF7-8438FE04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One common approach is to ignore the robot's kinematics during planning.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Plan in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space using A*.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Build a continuous feedback controller to "chase" the discrete path.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infer the desired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from the angle between waypoints: </a:t>
                </a:r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4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atan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2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E91B57-3BF9-46F2-9502-B612D37C6E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B14E862-F6BA-CD78-1762-18B395B6982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F6B73B6-DD3A-B838-59B4-DDCC55C6ED1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73210FA-7663-176F-1567-54311195892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ED16BD-85D8-6033-3E3B-4FD88CE57DE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7C98A78-DBF0-DBBF-158B-60B3F532BCA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63A5E7-60ED-8D09-1290-B862226D6E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2DA2E3-28FF-06BE-F568-3D03F512ED7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672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A151B22-5552-217E-7213-643B4F6B2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One possible way is to define the error state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𝐞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transformed into the robot's local coordinate frame: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represents the waypoint coordinate from A*.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kinematic model governing the motion of a unicycle (which accurately represents the center point of a differential drive robot) is: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𝜔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blipFill>
                <a:blip r:embed="rId3"/>
                <a:stretch>
                  <a:fillRect l="-873" r="-6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28248C-17E6-0709-C028-AD60F1D63FF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0B3E5B-11CD-5AA4-BA0D-D7BDC5D321F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0668B16-ECDE-A54C-3B0D-3CCB1D977EE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8909FB-08A4-628C-7C67-220EE6E86F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05036F-410F-1DF4-409B-35586E5F959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2083245-AB6E-9B94-34CD-602188D388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5FF986-842B-8881-6D8D-EE92792A381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106F4CB-484B-2BDE-C248-03819F3AACF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5206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A63FB4F-4CEA-683A-714C-BDADCEF16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DA4D93-7F56-FF0F-9A6F-CFA4A3D8643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1157C5-610F-F6C2-01CD-24E6637803D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7C0C1C9-9847-9A80-DF75-E862F5FADE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59ED37-E652-219D-F49E-517364C4607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EE2468-A394-646D-9866-63ED2FD9B4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D81EF3-1155-8B5C-8713-65E5456631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4D0786-BF7A-CDC1-7585-9A1DCFFD8E2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FB8FD40-8F92-4A34-3AA3-77D9E2CA730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5F5E9C8F-1320-10CF-C7C0-24E090752B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99678" y="973521"/>
            <a:ext cx="7064290" cy="553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650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AA5D57-0732-DC7B-BC3A-8BF001C2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Taking the time derivative of this error vector and substituting our kinematic equations yields the open-loop error dynamics: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To generate control actions that guarantee the robot will converge to the path, we can utilize a non-linear feedback tracking controller (originally proposed by Kanayama et al.).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propose the following control law using positive gain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73" t="-818" r="-13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87EFDE-0AC4-CFAC-3C25-7E4BD6E2EF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95C8F6E-F40E-DDAA-314C-46B63B81503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11EE393-9AE4-B6E7-3FBE-97F255F6C36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067ACEB-142E-76C1-E358-74F11A58875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C3C21D-EDED-0FF0-1448-84BF7424E43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34BFB0-6E8A-22D6-604D-3687D0FEAFC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4B46FF-3F51-4697-57C2-0A44D3DED6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790B5CD-B8A1-1B69-D12A-D0D29A3358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32741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E21D844-3E06-FF26-F159-240D6B33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With non-linear control stability theory (Lyapunov), you can prove that the previously provided controller will converge to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You can define a positive-definite Lyapunov candidate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𝐞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</m:t>
                    </m:r>
                  </m:oMath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num>
                        <m:den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must prove that its time derivative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</m:e>
                    </m:acc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negative semi-definite. Taking the derivative: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𝑉</m:t>
                          </m:r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 will leave as an exercise to you to verify that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 The error states asymptotically converge to zero.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764" b="-420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2C693D-46CC-A170-E74D-34C4BBB8CE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E8E022-634D-DF13-36C0-915E5C25ED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9A09E-7D57-CB8A-0123-CFC3E200AF7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FAD0BE-C5CE-2562-1B74-245DDC936E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3F6CCD4-F7DB-33D1-D8BB-710F9765B4D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D562EEC-C37E-38C3-7938-0C39171C02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A3CCCA-061B-E0B8-C120-69B40C540F9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C8AD2E-574C-EAFE-DB70-ED80C583958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47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2C52DE-8450-CA96-69DB-9AE0C901E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So, we have decoupled the control from the robot’s planner. However, doing so we could have potential problems. What might they be?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When inferring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from a jagged grid path, the reference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discontinuous.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creates sudden spikes in heading error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feedback controller saturates the motors trying to fix the error.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robot swings wide around corners, potentially crashing into obstacles the planner thought were safe.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path planner does not understand the robot’s kinematics when planning!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C6214A-4506-DF87-2356-12A48E319EB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7C45543-6425-DF53-672E-4634CB4806C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3B75B47-9C12-BE19-68DA-28CFEF91CD1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66D98C6-6E53-5B76-008F-FCEA6852817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C67DFD-5261-ADFB-79D6-3D1F9EBB0CF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CDEF84-5A1B-9521-0A17-1457E846649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75CCF48-418B-7A38-7DB2-6BE8BA5448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306C8-ECCD-8709-F78C-1FD809BCB7C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2571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0BEA05B-47C4-F381-D76A-ADBC3EF47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A52E965-A612-62CC-6FA5-0781336FAF7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7460F2-788B-8AEC-8094-4F5770A38C7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2F958B4-ED32-4D43-D8A1-B1F17403B6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B65466-A698-A44C-A44C-C65C255B03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54575D-5FF7-F751-E6DB-75A5CED0D6F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FA4F88-1A0D-F35C-10F1-ADB4BF106D8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41FC62-531B-A6A4-FAF1-FAE22E56461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6D11B7-CC20-0F44-F9DD-82547679751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970EF-EA99-2744-F656-F18E3429C0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06955E-C640-0B5D-8D0B-301D7AF46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142" y="906290"/>
            <a:ext cx="5585715" cy="558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507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E21D844-3E06-FF26-F159-240D6B33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36574AF-556B-132F-418B-F588EB2FF5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decoupled controller, which pursues a target point and has the controller constantly chasing after it is called 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Pure Pursuit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There are other ways of implementing the trajectory following, among which we will talk about below. Some other ways revolve around solving optimization problems. 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2C693D-46CC-A170-E74D-34C4BBB8CE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E8E022-634D-DF13-36C0-915E5C25ED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9A09E-7D57-CB8A-0123-CFC3E200AF7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FAD0BE-C5CE-2562-1B74-245DDC936E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3F6CCD4-F7DB-33D1-D8BB-710F9765B4D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D562EEC-C37E-38C3-7938-0C39171C02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A3CCCA-061B-E0B8-C120-69B40C540F9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C8AD2E-574C-EAFE-DB70-ED80C583958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8699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154B0F-A8D5-156B-92EC-6CA1C0698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To fix this, the planner must understand the robot's physical heading.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We must expand our search state from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 to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The robot now searches through </a:t>
                </a:r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positions and orientations</a:t>
                </a: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! A state transition is no longer just moving to an adjacent grid cell.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We can </a:t>
                </a:r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discretize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𝜽</m:t>
                    </m:r>
                  </m:oMath>
                </a14:m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 into bins </a:t>
                </a: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(e.g., 8 directions, 16 directions).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From a state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p>
                          <m:sSup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e>
                          <m:sup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∘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, valid moves might be "drive forward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" or "turn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45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 and drive".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Given that we have the state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, we can give a </a:t>
                </a:r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penalty for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𝜟</m:t>
                    </m:r>
                    <m:r>
                      <a:rPr lang="en-US" sz="2000" b="1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𝜽</m:t>
                    </m:r>
                  </m:oMath>
                </a14:m>
                <a:r>
                  <a:rPr lang="en-US" sz="2000" b="1" dirty="0"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between states to make robots move less.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This ensures the path considers the robot's current orientation. However, true non-holonomic robots don't just "turn and drive"—they curve.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600" t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FEF1E32-06FD-8956-9043-0AB068DA22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87AA41-1BBE-765B-B1A3-2C1FB80C9F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20AE5F9-070C-1188-5AC9-39B9541DD9C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0E4874-4615-D122-73F7-31E11CEA37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934E72C-FB46-3AC4-D499-B8EDC1679A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28741DD-F3BF-E8EC-A133-86343D7D9D6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97013A3-5588-9B5C-1613-79D2190E748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0C09F2-46A7-1DD1-F6E1-63426FBAC0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553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EF569B-40B9-AA6A-66DB-2830A83D8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F67260C-9D60-2FC3-3459-75035FC87B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1F3378-5399-D07D-1407-81785A7749E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B7ACAC8-5364-27D1-D65B-AFE85B1D8B9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FE3A880-690E-E792-16DC-5D8ACBABAD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B23B27-8463-CC71-4608-1BA8F3AABC6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9740C1-2C1B-0C3E-5DE9-F6A2914F27D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9CFEB8-023B-F34B-BF2B-B72DA57A739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053D1-08AE-864D-1F2C-5E420370653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4E5447E2-7341-B44F-352B-3D9830A5CB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87675" y="884181"/>
            <a:ext cx="6216650" cy="5662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74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AB0A3C8-98D1-5250-7503-96E6A0FA4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Adding </a:t>
                </a:r>
                <a14:m>
                  <m:oMath xmlns:m="http://schemas.openxmlformats.org/officeDocument/2006/math"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dramatically increases the search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a 100x100 grid has 10,000 states in 2D discretizing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into 72 angles (every 5 degrees) yields 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720,000 states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How does this affect the memory and compute time required for A*?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Every time you add a dimension you increase the number of possibilities exponentially!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phenomenon is called the 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Curse of Dimensionality 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and is a problem is a lot of applications of math!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There is no way to escape this problem!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B41C6C1-AA3F-5FF5-360D-DFCBB62736A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EE815A8-2F2C-9E1C-2872-878C3B048A8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035F1EC-9C94-3E71-192E-9FBCC8FF559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795EC4-1EA0-E2C0-04F1-D9A0516C5A7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F185C3-0E72-D03B-6977-9166758B58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01A1D0-FEEC-4797-EA50-D038C772373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DC5937-A0CA-C372-8C2C-473C5E466D5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FA81E-993A-A0A6-AE15-8337D8E55D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233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8DD3A0-5D9D-7741-21AC-CBDD57D8E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FB5C77-6A3C-657E-B5E5-1BDF1206B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Before we commit to heavy 3D planning, let's establish when 2D is acceptable: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2D planning works well for omnidirectional robots (</a:t>
            </a:r>
            <a:r>
              <a:rPr lang="en-US" sz="2350" dirty="0" err="1">
                <a:latin typeface="Arial"/>
                <a:ea typeface="Arial"/>
                <a:cs typeface="Arial"/>
                <a:sym typeface="Arial"/>
              </a:rPr>
              <a:t>Mecanum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wheels).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also works for very slow differential drive robots in wide-open spaces (you can have 8-connected neighbors and tune your controller to minimize edge clipping).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fails catastrophically for cars (Ackermann steering) or robots in tight, cluttered corridors.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13A86C1-64E4-C49B-1C5A-9015EC356D4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DB0C9B-0EE5-A576-BC5E-884BE7720AD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778344A-63E9-282D-79C2-4BF324BC834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E8BACFE-7142-8C3A-A768-40A175A19F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8D9136E-C27D-DF98-BB5D-40EFCD4024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06039D-4B00-32F9-DB25-DBCAAA6E3D5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5467C5-2F26-AD27-A1FE-369C1D87A87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705DE7-E658-33DE-7A91-5E9F4E2613B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64983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FF39F0-61F6-4969-F0A2-BC2B17479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D41C7AAC-444E-E730-FE92-36DBFA803280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CB7D4B5-02FF-71CE-F91F-4CAB12C0A1B7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98ED22C-D241-0D2E-A82D-350089F4A82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4700CA7-31AF-AFBB-9BEF-B182AA0189F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7E3B612-2CA4-DD28-A068-CACE686116A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A87FC0D-DAB1-480F-3DEF-651054D028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745949F-8D90-5814-D515-0935D25E17A2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8DCC1214-3B7C-1FA9-F303-B70BD9FFD8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4077038-CAFD-C980-C77E-AC88091FA6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7DC4168-6590-8DC7-7F27-51B5926279D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1287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FDA475-E734-7938-583F-D9B8273E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932218D-BE93-0316-8391-54062ED6B70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Instead of expanding to adjacent grid cells, Hybrid A* simulates the kinematics.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It applies a set of discrete control commands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for a short time step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5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Δ</m:t>
                    </m:r>
                    <m:r>
                      <a:rPr lang="en-US" sz="2350" i="1" dirty="0" err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end points of these simulated curves become the new child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For differential drive robots, we can also command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𝜔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≠0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 This allows the robot to turn in place (a zero-point turn). Hybrid A* can include these zero-point turns as valid node expansions.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Why might we want to assign a high "cost penalty" to zero-point turns in our algorithm?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932218D-BE93-0316-8391-54062ED6B70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615F81-4D05-2BBC-F1BA-6343FBE8C8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498E31-ADD1-3D02-BB8B-26288D27212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8FA7F1-D737-762C-33D7-CBC96C80B1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B2FD96-A551-09D9-CB02-7C4375C3609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64449AD-BE62-18EA-3FE7-CED1C94675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D86CCB-31D7-40F1-9D25-3D4B444177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FCEAAF9-9927-4282-FFE3-4A49AF88BB1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E8B7DD9-CA65-24A9-9831-ECDF9C7509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916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BF7B4EF-3DD6-CBD4-350C-A1487B969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5AF7BD-8CC3-1694-1613-009ED25E7DB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Hybrid A* uses a discrete 3D grid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purely for spatial hashing (to know if an area was visited). However, the actual coordinates stored in the nodes are continuous floating-point values.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guarantees that the generated path is physically drivable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𝐶</m:t>
                        </m:r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continuous (smooth).There are no impossible 90-degree instantaneous turns!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5AF7BD-8CC3-1694-1613-009ED25E7DB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C476FE-BE29-F3F7-CCCF-68A62DE8C5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AE00B6B-3CAD-553F-CA0D-2EC2D62AD62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DF6565-52E4-121D-490F-5321AC6965D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4BDC0D4-BAA8-8029-73B2-2AEB3E0DEC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EC4D5D3-916A-165A-8863-05E293E4A6F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3BFD2D8-44EB-C99A-91C1-7A2AE7C1AA7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3B5707-D5C2-8CF7-8847-8C46BCE748D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5E09EF3-EC3E-8F6D-BD1E-DF69F463729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19D33E8-7EAF-AA80-88C6-2F1B4B16AC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2439" y="3429000"/>
            <a:ext cx="6886140" cy="30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112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3B43007-2BC3-7048-5CC0-6CBDA9ED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04B605E-CF18-83E6-C7AE-6D046A7CCB8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Computing the cost of each state is relatively similar. We determine the cost by considering the length of the arcs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</m:t>
                        </m:r>
                      </m:e>
                      <m:sub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</m:t>
                        </m:r>
                      </m:e>
                      <m:sub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+1</m:t>
                        </m:r>
                      </m:sub>
                    </m:sSub>
                  </m:oMath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04B605E-CF18-83E6-C7AE-6D046A7CCB8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6CFFE3-FD8A-8CE6-ABF1-6B38E92685F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479852-A0A4-6A5F-85DE-F3E637605EE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D0FF7DE-9E86-BDB2-22BA-D508DC8B972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A678BD9-C14C-9FE6-9A7A-BCD2376C1C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65B0EF-E681-8206-2422-E9E6EF0D36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1D06D8-914C-5D9B-8760-A2390FEF80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3B149A3-1584-F731-70F6-25DF6F6E26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AC61D5F-0C7A-7BAA-72B9-7F6A898724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EEC4A36C-2B95-7EB7-BB96-4923A7CEC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2439" y="3429000"/>
            <a:ext cx="6886140" cy="30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899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091984-37FB-9BCA-3848-E332C1CC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CAAE18-335F-F4D5-0986-6045E50F05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3916503-F281-742B-BACA-5BCA2E1762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AE0D67E-2929-A38D-381F-6B99646569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CFD7296-CD34-87AC-9127-A25E90C5AD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846EBF-1205-E327-22B3-534E9A69160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D28FBE-50E1-F953-599A-27E3FD7B5C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BE46C4-4528-7B40-A839-D7084F5D72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5FC77C9-5033-4932-182D-39C26A897DF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4F94F830-256A-67F2-824F-F9E77F5C87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06073" y="930494"/>
            <a:ext cx="5651500" cy="565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208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4FE4E64-8F4E-0B5A-7123-BAEC05803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8D414DB-EB8E-13DC-B89C-C09EAF3C483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Because expanding kinematic curves is slow, Hybrid A* needs incredibly strong heuristics.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It uses a combination of two heuristics: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Non-Holonomic Heuristic (ignores obstacles, respects turning radius).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Holonomic Heuristic (respects obstacles, ignores turning radius).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algorithm takes the maximum of these two values.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𝑓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𝑔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func>
                        <m:func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50" i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8D414DB-EB8E-13DC-B89C-C09EAF3C483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28F2B39-DE94-7E27-DC3F-EFF6AA3079E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FBDD9A-B39D-C7AB-F798-CD9C74DFD82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AA4DFA5-B48F-F760-4386-C566B637601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67C466-DB57-9399-B97F-7DF4C09AC8D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C4E19C2-8EBC-C870-E8DC-FA1070E092D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B8D3858-9AAD-FC7B-7264-3A8422EF37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D2B210A-8F5B-E997-1341-490B273E08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0F2E54-5428-FA46-F13C-69A428E8E5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02949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823142C-CA09-E660-9713-96D81627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D70EF4B-E65B-291B-052D-9DE8C485D8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is simply a standard 2D grid A* (or Dijkstra's) running in the background!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calculates the distance to the goal avoiding all walls.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prevents the kinematic search from getting stuck in dead ends. Because it's 2D, it computes very quickly.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9FF727-088E-D157-1E71-623942B4D8E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D5402F-B44F-63EE-442B-456BF09B17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Holonomic Heuristic (Obstacle Aware)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1448563-1593-E20F-DF86-9C9999CE9D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17D9FE4-6579-B201-B419-D617428DE28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2EE9E56-0C2D-9C27-977C-B0CB2FA05D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9B09625-2A96-E3DE-BCFF-BC58D9947DB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79B6D6-60CB-DA35-C1A2-3E36493DD8B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C4D8925-E9DB-E517-2366-8CEA9046150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F935A9C-ED9D-597F-5808-6489F310C0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2820" y="3636815"/>
            <a:ext cx="5166360" cy="286853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91A45C1-99DF-174A-D30A-056F880C928D}"/>
              </a:ext>
            </a:extLst>
          </p:cNvPr>
          <p:cNvSpPr/>
          <p:nvPr/>
        </p:nvSpPr>
        <p:spPr>
          <a:xfrm>
            <a:off x="6369050" y="3636815"/>
            <a:ext cx="2310130" cy="2294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599C2-48CA-6C83-1809-B7791E0E1C62}"/>
              </a:ext>
            </a:extLst>
          </p:cNvPr>
          <p:cNvSpPr txBox="1"/>
          <p:nvPr/>
        </p:nvSpPr>
        <p:spPr>
          <a:xfrm>
            <a:off x="3971925" y="6423117"/>
            <a:ext cx="42481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5"/>
              </a:rPr>
              <a:t>https://kth.diva-portal.org/smash/record.jsf?pid=diva2%3A1057261&amp;dswid=4852</a:t>
            </a:r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986379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2CE3E5-9D9E-0DBA-F196-91F010D06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AF20A5-BE35-1CB1-7F4B-7B50CDBEEA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heuristic ignores all obstacles but calculates the mathematical shortest path for a vehicle with a minimum turning radius.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If the robot needs to arrive at the goal facing a specific direction, it computes the required curves.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These optimal obstacle-free paths are called </a:t>
            </a:r>
            <a:r>
              <a:rPr lang="en-US" sz="2350" b="1" dirty="0" err="1"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 curves 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or 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Reeds-Shepp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curves.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772795-8274-FD8B-6DB9-DAF861D6974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C41F52-2DDB-DB9D-7BB6-5038091D5D9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Non-Holonomic Heuristic (Turning Aware)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DC4A560-E8E4-63A0-EFF9-3254A08D6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6A40F1-152F-BD7C-309A-9BF41E0FDEF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F9D9C3-03A8-100B-0D95-C9C2C415C2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C63282-CC45-CE22-6B65-EF2E76F3C3A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8E7F6B-05B4-38BF-4983-906D93D98C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CD5E06E-344E-BE84-3FF9-FF33714E83B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Graphic 1">
            <a:extLst>
              <a:ext uri="{FF2B5EF4-FFF2-40B4-BE49-F238E27FC236}">
                <a16:creationId xmlns:a16="http://schemas.microsoft.com/office/drawing/2014/main" id="{2BA1BAA0-EC2A-FBB3-AF83-752E1DA00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2820" y="3636815"/>
            <a:ext cx="5166360" cy="286853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893D27-E2B8-1311-0EDE-A458B3C7C6F5}"/>
              </a:ext>
            </a:extLst>
          </p:cNvPr>
          <p:cNvSpPr/>
          <p:nvPr/>
        </p:nvSpPr>
        <p:spPr>
          <a:xfrm>
            <a:off x="3512820" y="3636815"/>
            <a:ext cx="2310130" cy="2294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CDAD3-63C2-B598-39CA-BECA075B17E5}"/>
              </a:ext>
            </a:extLst>
          </p:cNvPr>
          <p:cNvSpPr txBox="1"/>
          <p:nvPr/>
        </p:nvSpPr>
        <p:spPr>
          <a:xfrm>
            <a:off x="3971925" y="6423117"/>
            <a:ext cx="42481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5"/>
              </a:rPr>
              <a:t>https://kth.diva-portal.org/smash/record.jsf?pid=diva2%3A1057261&amp;dswid=4852</a:t>
            </a:r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75202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5C1F5A2-B105-D88F-F670-089403F6D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11A8F8D-1093-9F02-F00F-A8406E38852F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 err="1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500" b="1" i="0" u="none" strike="noStrike" cap="none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and Reeds-Shepp </a:t>
            </a: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Curves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AE583403-9A26-2ABC-D442-A0F22426653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38249712-BCC4-3B82-EB53-72263B89588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3ED7582-B935-5FBE-C372-8498B69B985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F37A15B-2C9C-DCE3-6B15-E797474AE24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3CBA4AE0-A5EB-270C-1825-FED691F15BE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04EC88E-E101-19D8-7A80-E01F13751BF9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051AABED-B98D-855F-3621-8F13F545C98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0AAC0B4-3A6B-5865-7F7A-03C26CC0D97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B3B7FC7-5A66-357D-9265-58AADC0821C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41386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945A283-A10C-FECA-4C11-3556A40CF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CBCACD2-70E6-11CF-9E9E-2ECF81C1B2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b="1" dirty="0" err="1">
                    <a:latin typeface="Arial"/>
                    <a:ea typeface="Arial"/>
                    <a:cs typeface="Arial"/>
                    <a:sym typeface="Arial"/>
                  </a:rPr>
                  <a:t>Dubins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 curves 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find the shortest path between two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states using only </a:t>
                </a: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forward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motion.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They consist of maximum-steering arcs (Right or Left) and Straight-line segments.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There are 6 possible optimal combinations: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RSR, LSR, RSL, LSR, RLR, LRL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They are highly useful for fixed-wing drones or robots that cannot drive backward.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CBCACD2-70E6-11CF-9E9E-2ECF81C1B2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76EA5F5-BBB1-A2B2-6CFC-EE52F381D66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78A46D-53C3-4EA7-94A9-5CF74A14360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5FA674-C4B8-1BA5-B9CE-CC7E84F9D7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A7993A-2C33-0CEF-AFA9-18C9A6DC7F6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5BE91D-F7CD-0A33-D0D4-8353C71CF6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072BBB6-4A54-4258-5CE3-EF7A7B74DA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BBCF7D2-DAFD-9B5A-BF62-2AE84FEB80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156C3E1-7507-6298-D203-B08D1C6759F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8988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372826E-7578-7514-2555-BB66EF512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B6E29B-3309-0B98-1B29-162994D17CB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68628B5-90FD-EEC3-0A30-3C4D421773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4BA743-692B-6A00-0D57-FA76C890B9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98397E3-657F-1745-A15F-D3329B6B2D9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7F4833E-6FCB-73C7-A31B-AB568767FD1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D885083-B447-301A-6FF8-74CEFEA435E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17DE091-5060-6265-92B7-F6653AF763E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C6E4E18-DDE3-518A-0D5D-DB6E992696A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371A65-F0A4-1FF6-E606-6C21F1831FF0}"/>
              </a:ext>
            </a:extLst>
          </p:cNvPr>
          <p:cNvSpPr txBox="1"/>
          <p:nvPr/>
        </p:nvSpPr>
        <p:spPr>
          <a:xfrm>
            <a:off x="4685648" y="6405928"/>
            <a:ext cx="22923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4"/>
              </a:rPr>
              <a:t>https://en.wikipedia.org/wiki/Dubins_path</a:t>
            </a:r>
            <a:r>
              <a:rPr lang="en-US" sz="900" dirty="0"/>
              <a:t>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559E48E-C689-C2E4-FD11-7D15588834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13665" y="2125138"/>
            <a:ext cx="3048000" cy="325755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14DD0D5-C094-C132-3B6F-960BF02C56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52925" y="2686546"/>
            <a:ext cx="3486150" cy="233362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F94BBFB2-2786-0EF6-0D70-23FAAC7D84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51900" y="2158475"/>
            <a:ext cx="4524375" cy="3190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5953A99-F84D-F045-D3B6-AD573B92DC5F}"/>
              </a:ext>
            </a:extLst>
          </p:cNvPr>
          <p:cNvSpPr txBox="1"/>
          <p:nvPr/>
        </p:nvSpPr>
        <p:spPr>
          <a:xfrm>
            <a:off x="1390650" y="1304616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RSL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C95F5E-AA9B-9B50-C4F6-4F1BC897738E}"/>
              </a:ext>
            </a:extLst>
          </p:cNvPr>
          <p:cNvSpPr txBox="1"/>
          <p:nvPr/>
        </p:nvSpPr>
        <p:spPr>
          <a:xfrm>
            <a:off x="5123798" y="1285197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RSR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B00935-B090-248B-7B22-B2A06967B4AA}"/>
              </a:ext>
            </a:extLst>
          </p:cNvPr>
          <p:cNvSpPr txBox="1"/>
          <p:nvPr/>
        </p:nvSpPr>
        <p:spPr>
          <a:xfrm>
            <a:off x="9229640" y="1324034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LRL</a:t>
            </a:r>
          </a:p>
        </p:txBody>
      </p:sp>
    </p:spTree>
    <p:extLst>
      <p:ext uri="{BB962C8B-B14F-4D97-AF65-F5344CB8AC3E}">
        <p14:creationId xmlns:p14="http://schemas.microsoft.com/office/powerpoint/2010/main" val="26610788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AAEF3AB-52C9-173E-1D12-BD16DB177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3808872-29C3-375F-9991-5783AB42F1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If a robot can drive in 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reverse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, the shortest path changes.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Reeds-Shepp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curves extend </a:t>
            </a:r>
            <a:r>
              <a:rPr lang="en-US" sz="2350" dirty="0" err="1">
                <a:latin typeface="Arial"/>
                <a:ea typeface="Arial"/>
                <a:cs typeface="Arial"/>
                <a:sym typeface="Arial"/>
              </a:rPr>
              <a:t>Dubins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 curves by allowing the vehicle to shift into reverse (cusps).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results in 48 possible optimal path combinations (e.g., Forward Right, Reverse Left, Forward Straight).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What is a real-world driving maneuver that uses a Reeds-Shepp curve?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Parallel parking!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975639-92A4-4708-8DB4-1979B133D5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D3CDDCF-9CB8-BFA7-3F02-F1DABED7191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3AE1B9-8617-12D5-DE0E-4D7BE91884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51E29F9-AAB3-24F6-A299-20F38CB5EB1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3D33AF2-7F6A-0364-DCBB-B8C8E6F489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D86B368-A5EE-0989-CE4C-87EA059944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BD8B852-7771-4BE3-ACDF-26D30CCEB6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D093A07-DC10-9F1C-3C95-DD9F1AF5DE7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455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3112829-932D-34F5-0967-94E2E5651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FF59D62-4EBC-AFC0-FDAC-59FFD401A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To speed up the search, Hybrid A* uses an "analytic expansion.“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Every few nodes, the algorithm attempts to connect the current state directly to the goal using a Reeds-Shepp curve.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If that continuous curve doesn't hit any obstacles, the search is finished instantly!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This skips thousands of discrete node expansions near the end of the path.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C5EF934-4351-22F7-3C72-EC5C498B2F4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E5E666-87E2-BCEE-D32A-1363EE50710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498FD1D-388A-95D2-CCCC-7772D77CBF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BC128F2-778B-9E33-0E88-02C5E0195C9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86CE16E-3644-1289-A478-45FA3CD1187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AE4EDEA-6183-3729-8F7D-1804D6705F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DEFD39-9DEC-E475-0265-6DCCE5757D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D3F7CD7-7330-E94C-8247-82C48AB0195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438432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B4C1CF9-D613-8DD9-7B40-A30184426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C6D97FE-6BA8-A2A8-2199-69BBCF96A46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C5C5DB-CD19-17FA-A6E6-E6DE0C27DD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DFE6B2E-FEAC-9038-BEF9-D2F604EE0A4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3CBB44-8184-3124-E6EF-1E22B040F0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B1FCF3B-EF4E-BCFB-0F1D-D3635D8C3AC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CA6F1E0-6A7F-7FED-BC2B-22F9F2E960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2A5370-DF98-4014-1723-CF31AFF03CE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E7A4-FF84-4F60-1F4C-621933A598B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08DBD55E-454A-A22E-8FCA-0324AB9558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4700" y="1666569"/>
            <a:ext cx="4972050" cy="44100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261F26B-1B5E-F705-6B89-BC061BD783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1450" y="1666569"/>
            <a:ext cx="4895850" cy="441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0889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D1D04F4-040C-A157-70CC-0C11CD35D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D73E842-029B-064A-E4FB-86AF1C0C565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416D253B-CAB3-EA23-6809-8575D5C952C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413346E-4F09-E843-E8D0-495919E83DC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3A4FBC31-C158-71C9-8197-CA7E6E89210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30F48EF-F775-A434-D320-FD403C1BEC9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0531DAEA-8725-4057-91C2-D2E4D7202C1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58E4CFC-E354-F317-656F-2F1B3504A7E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6A5370A-9C6A-E873-B1FD-0D1CE43143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88BA5D-2B41-589F-20BA-F881A5289B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1740694-9AC8-849E-426F-B005D19157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69625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B9C51D0-EF06-A4EF-5FFE-E5E09DAA2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1ECB419-FAB0-AF15-BBF9-150D4283F48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Hybrid A* gives us a smooth, drivable path (geometry).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However, a path is purely spatial. It lacks the dimension of time. A trajectory defines exactly when the robot should be at what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Trajectory Planning maps time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to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To plan trajectories, we must expand our state space again. The state vector becomes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now care about the robot's current speed and its rotational speed.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is required because we must respect the physical limits of our DC motors.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1ECB419-FAB0-AF15-BBF9-150D4283F48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AC5ED1F-1620-AC61-C7E7-6B9072FCE0B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24692-AE41-3776-E6B0-E1153BA9B5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E1EF9F4-D01D-435B-843A-39C6AE5867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961FD91-18E4-73EB-BAAA-A9E40C1611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35A04D-8151-4713-5B8E-3C20071292E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9B194E-8FFC-C028-A6C8-CECE8456ADA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8EB21F-E711-1E09-46B1-39B03CB7BC4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CCB672A-DBF0-314B-A2A7-5C7BED0383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03055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086CE13-A719-F57B-0625-985CB23A4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6AC0906-9215-52DF-C247-2D2A71EA414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Every motor has a max RPM, meaning our robot has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a path commands a tight turn at high speed, the inner wheel might be commanded to spin faster than physically possible.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trajectory planner analyzes the curvature of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It slows down the target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before entering a sharp turn.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cannot change velocity instantly; motors have limited torque (acceleration limit).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also don't want to change acceleration instantly (jerk limit).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In passenger vehicles, why is minimizing "jerk" so important?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6AC0906-9215-52DF-C247-2D2A71EA41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BD4691-100E-2965-D8A2-8020DD69AAE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5B3106B-7A7F-ED0B-5868-6C187956E94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EFD2DFA-EFD7-B747-284D-1D518A369FE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E361FAD-48F3-B167-C938-5D37CE5E75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5AED3DA-8FBE-2DCA-209C-16AC1747198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24551D2-807A-0FB7-B212-D8FB821214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106FB61-4BA9-71A8-9CB0-C6BCBAB600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79D66A-26EF-30A1-3618-220B2762796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3048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CB5B519-DCAC-16FC-6F37-1839E147D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F2CA34C-0AEA-87E6-EB01-D1B1FFBEB1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Instead of discretizing time, we represent the continuous trajectory mathematically.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use piecewise polynomials (splines) to describe the position over time. For example, a cubic polynomial: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Combining multiple polynomials / curve fitting functions between multiple waypoints is called a spline.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you have 3 waypoints, how many polynomials would you need to derive?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F2CA34C-0AEA-87E6-EB01-D1B1FFBEB1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5148309-BF61-C0F4-072F-5C2282A480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38F492-6F4A-206F-F970-A1BC7CF97B7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EEFDEA4-1CDC-1EF3-C7E9-6399B684D97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F34B9A8-87AA-67E8-8228-7714914F0A4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D476D30-FDE1-EB1E-463B-C6C0C99244F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F20691-74FB-3118-E199-28C30B45DEC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90C5C0-66A9-12BC-8019-1D668F2B0F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BBF6894-E600-C618-552B-CD755F8310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9139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06C01-93D5-6314-49AA-260AAAF72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4472B4-E6A8-0F67-6D8A-88C91A906EE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Polynomials are easy to differentiate.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If position is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Velocity is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+3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Acceleration is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=2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+6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By solving for the coefficients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sub>
                        </m:s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…</m:t>
                        </m:r>
                        <m:sSub>
                          <m:sSub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, we solve for the entire kinematic profile!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4472B4-E6A8-0F67-6D8A-88C91A906EE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850F2AB-4BEF-1912-C3CE-4D64678D3CA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32B04F-AD33-D207-865D-453A22492A4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E928E6D-45F9-7EB6-75A6-E1908EB7842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BF28B-272C-7F87-84BC-4A8196F588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A4417B7-BB1B-6EF5-1FF2-70C8A1B504C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B5060AC-2DB1-0C3E-8B3D-789A19C5E2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F49A06-2057-AD81-87DB-9627618A47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07F39BF-751B-A916-8A8A-E7E6FAA9223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3186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2AE648E-D064-9F67-B423-558980CD4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24083C-FA2C-12AB-BF49-10963514A43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To solve for the polynomial coefficients, we need boundary conditions.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Start condition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: The robot's current position and current velocity.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b="1" dirty="0">
                    <a:latin typeface="Arial"/>
                    <a:ea typeface="Arial"/>
                    <a:cs typeface="Arial"/>
                    <a:sym typeface="Arial"/>
                  </a:rPr>
                  <a:t>End condition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: The target waypoint position and desired arrival velocity.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4 constraints allow us to perfectly solve a 3rd-order (cubic) polynomial.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</m:t>
                      </m:r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</m:t>
                      </m:r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+3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Substituting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35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,  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24083C-FA2C-12AB-BF49-10963514A43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D894D5F-C2ED-F019-3533-7739C303ACB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80336B6-43FC-6BA0-5418-4E3B90F37E4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A37325C-BFB6-0382-13A7-3FF96821E85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41D843B-8891-4C26-DC6B-8084A9C115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010CDB-C85A-F1ED-040F-5E94608191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400E8E-C996-1194-2098-E3E56220592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13B085-2C80-5CDD-6D7B-2D32CCCFEB0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B81AFE-6FBE-66F5-AC29-093F43DB3AB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9338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40AA34-ACEB-AC54-160A-56B986981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FA64612-3CC2-87DB-4380-32DD5E21393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often use a polynomial of order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𝑛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=5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to ensure that the motor doesn't experience "infinite" jerk at the start and end.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5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3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4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6</m:t>
                                </m:r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12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20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5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By inverting A (which is non-singular for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𝑇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), you find the unique coefficients that define the smoothest possible path for those specific requirements.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FA64612-3CC2-87DB-4380-32DD5E21393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B47F05-FEF7-CB18-8B17-856C5FA41B7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84FD9CB-4BEB-31F7-D649-557394B0FC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46DFC74-06D2-2A1A-E9C2-64D8155163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8DF55A3-3144-9BD3-B3F7-AF8F9E8212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8063576-9E24-8B4B-B05E-78A48A1E97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F503C5-3A4D-BE12-3297-73BF36D84D9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F23F4D3-CF36-AB6B-D174-4B97D34D805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18399ED-5508-D24B-9659-9C0D3A60E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46762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DA3E5A0-A814-1C98-E448-EF3FFD98F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B5848B9-10EA-83D6-BF42-781228D4C61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can further be generalized to any order polynomial,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For a polynomial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naryPr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=0</m:t>
                        </m:r>
                      </m:sub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, we can represent the relationship between coefficients and boundary conditions as a linear system: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𝐛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𝐀𝐜</m:t>
                      </m:r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Where: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𝐜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the vector of unknown coefficients.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𝐛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the vector of boundary conditions (e.g.,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𝐀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is the constraint matrix derived from the power rule.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Each row of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𝐀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corresponds to a specific derivative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𝑘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at a specific time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. The entry for the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𝑗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-</a:t>
                </a:r>
                <a:r>
                  <a:rPr lang="en-US" sz="2350" dirty="0" err="1">
                    <a:latin typeface="Arial"/>
                    <a:ea typeface="Arial"/>
                    <a:cs typeface="Arial"/>
                    <a:sym typeface="Arial"/>
                  </a:rPr>
                  <a:t>th</a:t>
                </a: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column (corresponding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) in that row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𝐴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𝑟𝑜𝑤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p>
                          </m:sSup>
                        </m:num>
                        <m:den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𝑗</m:t>
                              </m:r>
                            </m:sup>
                          </m:s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!</m:t>
                          </m:r>
                        </m:num>
                        <m:den>
                          <m:d>
                            <m:d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𝑗</m:t>
                              </m:r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!</m:t>
                          </m:r>
                        </m:den>
                      </m:f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B5848B9-10EA-83D6-BF42-781228D4C61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 b="-175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B4FF3E-F313-4F61-44D3-0FBD1BDFA9C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F2F7C56-9281-B296-65E7-01EADE86B0A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03EF998-BFA5-D4F6-5736-C7C6DD9FBC6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DA2ED8-D796-F0E4-E003-BB3BDBCD5B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87EFF8-B588-78FC-CC0D-4F76E31268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46E4B0-B2D8-8B59-0269-D1997ED637B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80A532-145D-D245-BCEE-C17B57A1253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E5D7D4C-F883-B8A3-A960-E798B9C34A9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483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8329EB4-27AD-43F9-074C-24AE8F8F7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1E96770-CA02-D53B-7CBC-1C5DE65093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Often, we don't just "solve" for a curve; we optimize it.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can define a Cost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𝐽</m:t>
                    </m:r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, usually aiming to minimize total time or minimize jerk.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5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min</m:t>
                          </m:r>
                        </m:fName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</m:fun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⃛"/>
                                          <m:ctrlP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This is framed as a Quadratic Programming (QP) problem, which microcontrollers can solve in milliseconds.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Why might we want to do the Polynomial trajectory generation instead of the QP optimization?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1E96770-CA02-D53B-7CBC-1C5DE65093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3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818D871-5660-6B9C-CCD9-D31C9F98B4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E8156DF-6288-8192-C39A-EF367A4814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5EE7C50-49E3-7DF7-DABB-7B42D72FA6F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395C26-E398-579A-145E-5E8D7663ABD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29B0764-EFB9-9A4B-BD6B-B1A6C00CD7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EB1DEF6-93B8-9320-766D-BE89899C81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1D08C9-1C6E-3D0B-6553-1C91E53524D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5A2AAE-A5E4-DF2F-CEF8-95B14AE801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6967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4D5DB9A-2F62-4FAB-CAF3-C1BFF341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9494AD4-74CB-AED9-F120-90B78158D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A state-of-the-art approach for local trajectory planning is </a:t>
            </a:r>
            <a:r>
              <a:rPr lang="en-US" sz="2350" b="1" dirty="0">
                <a:latin typeface="Arial"/>
                <a:ea typeface="Arial"/>
                <a:cs typeface="Arial"/>
                <a:sym typeface="Arial"/>
              </a:rPr>
              <a:t>Time-Elastic Bands (TEB)</a:t>
            </a: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It treats the path like a rubber band stretched between the start and goal.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Obstacles act as repulsive forces pushing the band away.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rial"/>
                <a:ea typeface="Arial"/>
                <a:cs typeface="Arial"/>
                <a:sym typeface="Arial"/>
              </a:rPr>
              <a:t>Kinematic limits (max velocity, minimum turning radius) act as internal tension forces keeping the band physically viable.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1773BA-A95A-D57C-DD9C-EB8F25CEEB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4CAFF8-92E9-810F-E063-0140F38D7B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B807127-17F8-85D6-2271-2146E63EF4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9B56F5-5178-0F6F-ECC9-5120E3C67C2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0097C17-93B5-7824-9A24-7B176BDE01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A09BD50-5476-AD36-E58A-FEC5602991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468406B-9BB0-876E-7446-ABADB18537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6502FA3-CA6A-2525-1C61-2575FAF63D9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64627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210958-D4B5-F403-5330-8F571493C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D9443C-B24A-E08F-90EB-9675C49946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Now that we have a dynamically feasible trajectory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and reference velocities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𝜔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</m:e>
                    </m:d>
                  </m:oMath>
                </a14:m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We can finally feed this into our continuous feedback controller!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Because the trajectory respects the robot's physical limits, the controller will not saturate.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From this we can thus ensure that we follow the constraints of the robot!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D9443C-B24A-E08F-90EB-9675C49946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A44A385-7E24-53EF-747F-3960B2178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F5F9F3A-2649-69CA-532F-551EA7B48B1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DE30865-F681-4C9E-96E4-EA92739FB6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24EDD4C-9F51-57C3-E499-78D936D46FE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E7135D-C930-C2E9-7BB5-D1CA3955F0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16FF2E6-C8D0-D6B0-8364-85A4BC838F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8381AA-9669-DB90-F1A0-AB652E3300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953F46-02CB-C4CF-777C-19A582A2064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0720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3C45E73-E9F8-0211-09A5-369576D74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09C89CA-5619-B017-2944-3AA86818354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Discrete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planning ignores physical reality, leading to control instability.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Hybrid A* solves this by planning with kinematic curves in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Trajectories add the dimension of time and velocity.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Polynomial optimization allows for smooth acceleration and jerk-free movement.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rial"/>
                    <a:ea typeface="Arial"/>
                    <a:cs typeface="Arial"/>
                    <a:sym typeface="Arial"/>
                  </a:rPr>
                  <a:t>The controller makes sure that we follow the velocities desired.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09C89CA-5619-B017-2944-3AA86818354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105B7DB-50B8-746E-5108-1D198A70403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DDF416-CFB5-77DF-7E04-7AA88F2D19F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E2E589E-3F5D-65FD-30B2-9DA2721A0A3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E6C9C6-E0C7-6451-4E22-BB2D955628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F7CA982-F7BC-5FFE-C020-ED6BA14F11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B5A2E4-5905-013E-E88A-6271108D91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70B2CF6-87A3-4E84-A4B0-FB0965AD61C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8DCE117-9FCF-0692-4519-0E0993529C8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96089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C79F57C-AFA3-584F-3984-6A4AC83FB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1166285-FD09-F129-29A1-20D3247E9C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D45042-CEAC-5D39-2114-6AF7CCA61B1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C6678B9-5999-595D-7C03-A7004E5EFC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D9AEF77-174B-D779-E69D-AF951122FC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DC37CD-F258-108D-1B2A-2C0933228F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16B8158-D204-E3C5-4022-A453CEBAE3F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86AFD5-1D92-666F-EBF6-A6530A52AC4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5D1529-4AA9-6154-6895-BBB2B1737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13CEFEBB-CABF-3586-5974-092C1A099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197" y="1521429"/>
            <a:ext cx="12053605" cy="4506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038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2568</TotalTime>
  <Words>3036</Words>
  <Application>Microsoft Office PowerPoint</Application>
  <PresentationFormat>Widescreen</PresentationFormat>
  <Paragraphs>430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392</cp:revision>
  <dcterms:created xsi:type="dcterms:W3CDTF">2019-01-14T22:06:33Z</dcterms:created>
  <dcterms:modified xsi:type="dcterms:W3CDTF">2026-04-02T09:05:17Z</dcterms:modified>
</cp:coreProperties>
</file>