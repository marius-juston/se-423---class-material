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opens Lecture 14 of SE 423, Introduction to Mechatronics: "Sensors &amp; Maze following &amp; Localizations," presented by Marius Juston on Monday, March 16th,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move beyond the IMU to IR sensors and LiDAR, then use them for wall following with inner and outer control loops and a state machine. First, a quick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14. The heading reads "Review – 5-minute partner discussion," and the slide asks you to talk with the person next to you about two questions. First: with the IMU onboard the lab robot, how would you measure its current position? Second, an open-ended question: with what you know about the robot and its current sensors, could you send it from point A to point B in a real-world setting? If not, what is missing from the robot? If yes, what assumptions have you made?</a:t>
            </a:r>
          </a:p>
          <a:p>
            <a:pPr marL="0" lvl="0" indent="0" algn="l" rtl="0">
              <a:lnSpc>
                <a:spcPct val="100000"/>
              </a:lnSpc>
              <a:spcBef>
                <a:spcPts val="0"/>
              </a:spcBef>
              <a:spcAft>
                <a:spcPts val="600"/>
              </a:spcAft>
              <a:buSzPts val="1400"/>
              <a:buNone/>
            </a:pPr>
            <a:r>
              <a:rPr lang="en-US" dirty="0"/>
              <a:t>For the first question, remember what an IMU measures. The accelerometer gives linear acceleration and the gyro gives angular rate, so neither measures position directly. You would integrate the gyro rate to get heading, theta, then use theta to rotate the body-frame acceleration into the world frame. Integrating that acceleration once gives velocity, and integrating again gives position, for example x_(t+1) = x_t + v_t*dt. The catch is drift. A small constant accelerometer bias b produces a position error of roughly (1/2)*b*t^2, so the error grows with the square of time. An IMU alone is only useful for short intervals.</a:t>
            </a:r>
          </a:p>
          <a:p>
            <a:pPr marL="0" lvl="0" indent="0" algn="l" rtl="0">
              <a:lnSpc>
                <a:spcPct val="100000"/>
              </a:lnSpc>
              <a:spcBef>
                <a:spcPts val="0"/>
              </a:spcBef>
              <a:spcAft>
                <a:spcPts val="600"/>
              </a:spcAft>
              <a:buSzPts val="1400"/>
              <a:buNone/>
            </a:pPr>
            <a:r>
              <a:rPr lang="en-US" dirty="0"/>
              <a:t>For the second question, consider what you already have: wheel encoders for dead reckoning and the IMU for heading. Common answers for what is missing are an absolute position reference, a map, and a way to sense obstacles and walls. Hidden assumptions include a flat floor, no wheel slip, a known starting pose, and a clear path.</a:t>
            </a:r>
          </a:p>
          <a:p>
            <a:pPr marL="0" lvl="0" indent="0" algn="l" rtl="0">
              <a:lnSpc>
                <a:spcPct val="100000"/>
              </a:lnSpc>
              <a:spcBef>
                <a:spcPts val="0"/>
              </a:spcBef>
              <a:spcAft>
                <a:spcPts val="600"/>
              </a:spcAft>
              <a:buSzPts val="1400"/>
              <a:buNone/>
            </a:pPr>
            <a:r>
              <a:rPr lang="en-US" dirty="0"/>
              <a:t>Hold on to your answers. After the reminders, this lecture introduces the sensors that fill those gaps, IR and LiDAR, and then uses them for wall following and localization.</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shown in red because there are no office hours in that slot this week, though they might be rescheduled; and Tuesday 2 to 5 PM with Dan and Marius.</a:t>
            </a:r>
          </a:p>
          <a:p>
            <a:pPr marL="0" lvl="0" indent="0" algn="l" rtl="0">
              <a:lnSpc>
                <a:spcPct val="100000"/>
              </a:lnSpc>
              <a:spcBef>
                <a:spcPts val="0"/>
              </a:spcBef>
              <a:spcAft>
                <a:spcPts val="600"/>
              </a:spcAft>
              <a:buSzPts val="1400"/>
              <a:buNone/>
            </a:pPr>
            <a:r>
              <a:rPr lang="en-US" dirty="0"/>
              <a:t>Lab 5 starts this week, and it is a one-week lab, so plan your time accordingly.</a:t>
            </a:r>
          </a:p>
          <a:p>
            <a:pPr marL="0" lvl="0" indent="0" algn="l" rtl="0">
              <a:lnSpc>
                <a:spcPct val="100000"/>
              </a:lnSpc>
              <a:spcBef>
                <a:spcPts val="0"/>
              </a:spcBef>
              <a:spcAft>
                <a:spcPts val="600"/>
              </a:spcAft>
              <a:buSzPts val="1400"/>
              <a:buNone/>
            </a:pPr>
            <a:r>
              <a:rPr lang="en-US" dirty="0"/>
              <a:t>For homework 3, each mention of "homework 3" on the slide links to the assignment. Check-offs for exercises 1, 2, 3 and 4 were due March 10 at 5 PM, the end of office hours. Check-offs for exercise 5 are due March 24 at 5 PM, also the end of office hours. Written answers and code submissions for all of homework 3 are due March 25 at 9 AM.</a:t>
            </a:r>
          </a:p>
          <a:p>
            <a:pPr marL="0" lvl="0" indent="0" algn="l" rtl="0">
              <a:lnSpc>
                <a:spcPct val="100000"/>
              </a:lnSpc>
              <a:spcBef>
                <a:spcPts val="0"/>
              </a:spcBef>
              <a:spcAft>
                <a:spcPts val="600"/>
              </a:spcAft>
              <a:buSzPts val="1400"/>
              <a:buNone/>
            </a:pPr>
            <a:r>
              <a:rPr lang="en-US" dirty="0"/>
              <a:t>Next, there is a chance to ask questions about the homework,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before the new material. It shows the word "Questions?" in large white text on the dark blue Illinois background, with a short orange line beneath it and the prompt "Homework, Lab, LabVIEW?"</a:t>
            </a:r>
          </a:p>
          <a:p>
            <a:pPr marL="0" lvl="0" indent="0" algn="l" rtl="0">
              <a:spcBef>
                <a:spcPts val="0"/>
              </a:spcBef>
              <a:spcAft>
                <a:spcPts val="600"/>
              </a:spcAft>
              <a:buNone/>
            </a:pPr>
            <a:r>
              <a:rPr lang="en-US" dirty="0"/>
              <a:t>This is your chance to ask about anything from the reminders slide, including Homework 3, starting Lab 5, or LabVIEW. Next, the lecture turns to sensors that let the robot perceive the outside world, not just its own motion.</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"Sensors" in large dark blue text on the orange Illinois background, with faint hand-drawn equations and diagrams as decoration, the Illinois "I" logo in the corner, and the footer "Systems Engineering" and "Grainger Engineering."</a:t>
            </a:r>
          </a:p>
          <a:p>
            <a:pPr marL="0" lvl="0" indent="0" algn="l" rtl="0">
              <a:spcBef>
                <a:spcPts val="0"/>
              </a:spcBef>
              <a:spcAft>
                <a:spcPts val="600"/>
              </a:spcAft>
              <a:buNone/>
            </a:pPr>
            <a:r>
              <a:rPr lang="en-US" dirty="0"/>
              <a:t>So far you have sensed the robot's own state with encoders and the IMU. This section turns outward: how the robot senses the world around it. It sets up the IR and LiDAR sensors that you will later use for wall following.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"Sensors," opens the new topic with a short prompt-and-answer sequence. It states that so far you have explored a couple of ways to sense the robot's internal state: the IMU and the wheel encoders. It then asks, "What are we missing?" and answers, "Sensing external objects!" Finally it asks for examples and lists walls, people, water, doors, and "etc."</a:t>
            </a:r>
          </a:p>
          <a:p>
            <a:pPr marL="0" lvl="0" indent="0" algn="l" rtl="0">
              <a:lnSpc>
                <a:spcPct val="100000"/>
              </a:lnSpc>
              <a:spcBef>
                <a:spcPts val="0"/>
              </a:spcBef>
              <a:spcAft>
                <a:spcPts val="600"/>
              </a:spcAft>
              <a:buSzPts val="1400"/>
              <a:buNone/>
            </a:pPr>
            <a:r>
              <a:rPr lang="en-US" dirty="0"/>
              <a:t>The key distinction is between internal and external sensing. Sensors that measure the robot's own state, such as wheel angle from the encoders or angular rate and acceleration from the IMU, are often called proprioceptive. Sensors that measure the world around the robot are called exteroceptive. Encoders and the IMU can estimate how far and in what direction the robot has moved, but they cannot tell it that a wall is half a meter ahead or that a person just stepped into its path. Estimates built only from internal sensors also accumulate drift over time, because there is no outside reference to correct them.</a:t>
            </a:r>
          </a:p>
          <a:p>
            <a:pPr marL="0" lvl="0" indent="0" algn="l" rtl="0">
              <a:lnSpc>
                <a:spcPct val="100000"/>
              </a:lnSpc>
              <a:spcBef>
                <a:spcPts val="0"/>
              </a:spcBef>
              <a:spcAft>
                <a:spcPts val="600"/>
              </a:spcAft>
              <a:buSzPts val="1400"/>
              <a:buNone/>
            </a:pPr>
            <a:r>
              <a:rPr lang="en-US" dirty="0"/>
              <a:t>Before the answer appears, pause and ask the class for their own examples. Think about what each would require: detecting a wall needs a distance measurement, detecting water might need a moisture or optical sensor, and recognizing a door or a person may need a camera.</a:t>
            </a:r>
          </a:p>
          <a:p>
            <a:pPr marL="0" lvl="0" indent="0" algn="l" rtl="0">
              <a:lnSpc>
                <a:spcPct val="100000"/>
              </a:lnSpc>
              <a:spcBef>
                <a:spcPts val="0"/>
              </a:spcBef>
              <a:spcAft>
                <a:spcPts val="600"/>
              </a:spcAft>
              <a:buSzPts val="1400"/>
              <a:buNone/>
            </a:pPr>
            <a:r>
              <a:rPr lang="en-US" dirty="0"/>
              <a:t>This motivates the rest of the lecture: IR distance sensors and LiDAR, which the robot uses for wall following. Next, sensors are sorted into two categories, passive and active.</a:t>
            </a: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divides sensors into two categories. It is text only, with the words "Passive" and "Active" in bold. Passive sensors measure the environment without emitting their own signals; the examples listed are a standard camera and a thermometer. Active sensors emit energy into the environment and measure the reflection or reaction to determine object properties; the examples listed are LiDAR, radar, and sonar.</a:t>
            </a:r>
          </a:p>
          <a:p>
            <a:pPr marL="0" lvl="0" indent="0" algn="l" rtl="0">
              <a:lnSpc>
                <a:spcPct val="100000"/>
              </a:lnSpc>
              <a:spcBef>
                <a:spcPts val="0"/>
              </a:spcBef>
              <a:spcAft>
                <a:spcPts val="600"/>
              </a:spcAft>
              <a:buSzPts val="1400"/>
              <a:buNone/>
            </a:pPr>
            <a:r>
              <a:rPr lang="en-US" dirty="0"/>
              <a:t>On the last slide you saw that the IMU and encoders only tell the robot about its own state, and that you also need to sense external things like walls, people, and doors. This slide gives you a first way to classify the sensors that can do that.</a:t>
            </a:r>
          </a:p>
          <a:p>
            <a:pPr marL="0" lvl="0" indent="0" algn="l" rtl="0">
              <a:lnSpc>
                <a:spcPct val="100000"/>
              </a:lnSpc>
              <a:spcBef>
                <a:spcPts val="0"/>
              </a:spcBef>
              <a:spcAft>
                <a:spcPts val="600"/>
              </a:spcAft>
              <a:buSzPts val="1400"/>
              <a:buNone/>
            </a:pPr>
            <a:r>
              <a:rPr lang="en-US" dirty="0"/>
              <a:t>The key question is where the energy you measure comes from. A camera records light that is already in the scene, from the sun or room lights, and a thermometer responds to heat that is already present. Neither sends anything out. A LiDAR fires laser pulses, a radar sends radio waves, and a sonar emits sound pulses. Each then times or analyzes the echo to find the distance to an object, and sometimes its speed.</a:t>
            </a:r>
          </a:p>
          <a:p>
            <a:pPr marL="0" lvl="0" indent="0" algn="l" rtl="0">
              <a:lnSpc>
                <a:spcPct val="100000"/>
              </a:lnSpc>
              <a:spcBef>
                <a:spcPts val="0"/>
              </a:spcBef>
              <a:spcAft>
                <a:spcPts val="600"/>
              </a:spcAft>
              <a:buSzPts val="1400"/>
              <a:buNone/>
            </a:pPr>
            <a:r>
              <a:rPr lang="en-US" dirty="0"/>
              <a:t>This distinction matters in practice. Passive sensors depend on the environment providing a usable signal, so a camera struggles in the dark. Active sensors bring their own signal, so they work without external light, but they consume more power and can interfere with each other.</a:t>
            </a:r>
          </a:p>
          <a:p>
            <a:pPr marL="0" lvl="0" indent="0" algn="l" rtl="0">
              <a:lnSpc>
                <a:spcPct val="100000"/>
              </a:lnSpc>
              <a:spcBef>
                <a:spcPts val="0"/>
              </a:spcBef>
              <a:spcAft>
                <a:spcPts val="600"/>
              </a:spcAft>
              <a:buSzPts val="1400"/>
              <a:buNone/>
            </a:pPr>
            <a:r>
              <a:rPr lang="en-US" dirty="0"/>
              <a:t>Later in this lecture you meet two active sensors in detail, the IR distance sensor and the LiDAR on your robot. Next, try classifying the IMU sensors you already know as passive or active.</a:t>
            </a: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quiz that applies the passive versus active definitions from the previous slide to the sensors inside the IMU you have already used on the robot. It shows three questions, each followed by its answer in bold. Is the accelerometer passive or active? Passive. Is the gyroscope passive or active? Active, because the gyro has a drive motor, so you have provided energy. Is the magnetometer passive or active? Passive.</a:t>
            </a:r>
          </a:p>
          <a:p>
            <a:pPr marL="0" lvl="0" indent="0" algn="l" rtl="0">
              <a:lnSpc>
                <a:spcPct val="100000"/>
              </a:lnSpc>
              <a:spcBef>
                <a:spcPts val="0"/>
              </a:spcBef>
              <a:spcAft>
                <a:spcPts val="600"/>
              </a:spcAft>
              <a:buSzPts val="1400"/>
              <a:buNone/>
            </a:pPr>
            <a:r>
              <a:rPr lang="en-US" dirty="0"/>
              <a:t>Before revealing each answer, pause and let the class vote. The test is whether the sensor puts its own energy into what it measures, or only responds to something that already exists.</a:t>
            </a:r>
          </a:p>
          <a:p>
            <a:pPr marL="0" lvl="0" indent="0" algn="l" rtl="0">
              <a:lnSpc>
                <a:spcPct val="100000"/>
              </a:lnSpc>
              <a:spcBef>
                <a:spcPts val="0"/>
              </a:spcBef>
              <a:spcAft>
                <a:spcPts val="600"/>
              </a:spcAft>
              <a:buSzPts val="1400"/>
              <a:buNone/>
            </a:pPr>
            <a:r>
              <a:rPr lang="en-US" dirty="0"/>
              <a:t>The accelerometer is passive. Inside the MEMS chip, a tiny proof mass on springs deflects when the robot accelerates or tilts relative to gravity. The chip reads that deflection, usually as a change in capacitance, without driving the mass.</a:t>
            </a:r>
          </a:p>
          <a:p>
            <a:pPr marL="0" lvl="0" indent="0" algn="l" rtl="0">
              <a:lnSpc>
                <a:spcPct val="100000"/>
              </a:lnSpc>
              <a:spcBef>
                <a:spcPts val="0"/>
              </a:spcBef>
              <a:spcAft>
                <a:spcPts val="600"/>
              </a:spcAft>
              <a:buSzPts val="1400"/>
              <a:buNone/>
            </a:pPr>
            <a:r>
              <a:rPr lang="en-US" dirty="0"/>
              <a:t>The magnetometer is also passive. It responds to the Earth's magnetic field and any nearby fields, such as those from motors, and it creates no field of its own.</a:t>
            </a:r>
          </a:p>
          <a:p>
            <a:pPr marL="0" lvl="0" indent="0" algn="l" rtl="0">
              <a:lnSpc>
                <a:spcPct val="100000"/>
              </a:lnSpc>
              <a:spcBef>
                <a:spcPts val="0"/>
              </a:spcBef>
              <a:spcAft>
                <a:spcPts val="600"/>
              </a:spcAft>
              <a:buSzPts val="1400"/>
              <a:buNone/>
            </a:pPr>
            <a:r>
              <a:rPr lang="en-US" dirty="0"/>
              <a:t>The gyroscope is the surprise. A MEMS gyro keeps its proof mass constantly vibrating with a built-in drive. When the robot rotates, the Coriolis effect pushes that moving mass sideways, and the size of that sideways motion gives the angular rate. Because the sensor supplies energy to create the motion it measures, the slide classifies it as active.</a:t>
            </a:r>
          </a:p>
          <a:p>
            <a:pPr marL="0" lvl="0" indent="0" algn="l" rtl="0">
              <a:lnSpc>
                <a:spcPct val="100000"/>
              </a:lnSpc>
              <a:spcBef>
                <a:spcPts val="0"/>
              </a:spcBef>
              <a:spcAft>
                <a:spcPts val="600"/>
              </a:spcAft>
              <a:buSzPts val="1400"/>
              <a:buNone/>
            </a:pPr>
            <a:r>
              <a:rPr lang="en-US" dirty="0"/>
              <a:t>A common mistake is to call every sensor active because it needs a supply voltage. Every chip needs power to run its electronics. What matters is whether the sensor injects energy in order to make the measurement.</a:t>
            </a:r>
          </a:p>
          <a:p>
            <a:pPr marL="0" lvl="0" indent="0" algn="l" rtl="0">
              <a:lnSpc>
                <a:spcPct val="100000"/>
              </a:lnSpc>
              <a:spcBef>
                <a:spcPts val="0"/>
              </a:spcBef>
              <a:spcAft>
                <a:spcPts val="600"/>
              </a:spcAft>
              <a:buSzPts val="1400"/>
              <a:buNone/>
            </a:pPr>
            <a:r>
              <a:rPr lang="en-US" dirty="0"/>
              <a:t>Next, you choose sensor types for specific sensing tasks.</a:t>
            </a: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passive versus active quiz from the previous slide, now with application scenarios. It shows three questions in black text, each followed by a centered bold answer. First: which type of sensor works better in complete pitch-black darkness for finding walls? Answer: Active. Second: which type works best for measuring the location of forest fires? Answer: Passive. Third: which type works best for measuring the current environment in the visible spectrum? Answer: Passive, with the note "this is just a camera!"</a:t>
            </a:r>
          </a:p>
          <a:p>
            <a:pPr marL="0" lvl="0" indent="0" algn="l" rtl="0">
              <a:lnSpc>
                <a:spcPct val="100000"/>
              </a:lnSpc>
              <a:spcBef>
                <a:spcPts val="0"/>
              </a:spcBef>
              <a:spcAft>
                <a:spcPts val="600"/>
              </a:spcAft>
              <a:buSzPts val="1400"/>
              <a:buNone/>
            </a:pPr>
            <a:r>
              <a:rPr lang="en-US" dirty="0"/>
              <a:t>The rule behind all three is to ask where the energy comes from. In pitch-black darkness there is no ambient light to reflect off the walls, so a passive camera sees nothing. An active sensor such as LiDAR, sonar or an IR rangefinder supplies its own energy and measures the return, so it works regardless of lighting.</a:t>
            </a:r>
          </a:p>
          <a:p>
            <a:pPr marL="0" lvl="0" indent="0" algn="l" rtl="0">
              <a:lnSpc>
                <a:spcPct val="100000"/>
              </a:lnSpc>
              <a:spcBef>
                <a:spcPts val="0"/>
              </a:spcBef>
              <a:spcAft>
                <a:spcPts val="600"/>
              </a:spcAft>
              <a:buSzPts val="1400"/>
              <a:buNone/>
            </a:pPr>
            <a:r>
              <a:rPr lang="en-US" dirty="0"/>
              <a:t>A forest fire is itself a strong source of energy, emitting heat as infrared radiation. A passive thermal camera, for example on a satellite or aircraft, simply detects that emission without sending anything out.</a:t>
            </a:r>
          </a:p>
          <a:p>
            <a:pPr marL="0" lvl="0" indent="0" algn="l" rtl="0">
              <a:lnSpc>
                <a:spcPct val="100000"/>
              </a:lnSpc>
              <a:spcBef>
                <a:spcPts val="0"/>
              </a:spcBef>
              <a:spcAft>
                <a:spcPts val="600"/>
              </a:spcAft>
              <a:buSzPts val="1400"/>
              <a:buNone/>
            </a:pPr>
            <a:r>
              <a:rPr lang="en-US" dirty="0"/>
              <a:t>For the visible spectrum, sunlight or room lighting already illuminates the scene, so an ordinary camera only needs to collect that light.</a:t>
            </a:r>
          </a:p>
          <a:p>
            <a:pPr marL="0" lvl="0" indent="0" algn="l" rtl="0">
              <a:lnSpc>
                <a:spcPct val="100000"/>
              </a:lnSpc>
              <a:spcBef>
                <a:spcPts val="0"/>
              </a:spcBef>
              <a:spcAft>
                <a:spcPts val="600"/>
              </a:spcAft>
              <a:buSzPts val="1400"/>
              <a:buNone/>
            </a:pPr>
            <a:r>
              <a:rPr lang="en-US" dirty="0"/>
              <a:t>A common mistake is to assume that anything "infrared" is active. A thermal camera is passive because it only receives emitted heat. The IR distance sensor on the next slides is active because it carries its own IR LED.</a:t>
            </a:r>
          </a:p>
          <a:p>
            <a:pPr marL="0" lvl="0" indent="0" algn="l" rtl="0">
              <a:lnSpc>
                <a:spcPct val="100000"/>
              </a:lnSpc>
              <a:spcBef>
                <a:spcPts val="0"/>
              </a:spcBef>
              <a:spcAft>
                <a:spcPts val="600"/>
              </a:spcAft>
              <a:buSzPts val="1400"/>
              <a:buNone/>
            </a:pPr>
            <a:r>
              <a:rPr lang="en-US" dirty="0"/>
              <a:t>That sets up the IR sensor section. Detecting walls in front of the robot is exactly the first scenario, so you use an active sensor.</a:t>
            </a: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"IR," short for infrared, in large dark blue letters centered on the orange Illinois background. Faint hand-drawn equations and sketches decorate the background, and the footer reads Systems Engineering and Grainger Engineering.</a:t>
            </a:r>
          </a:p>
          <a:p>
            <a:pPr marL="0" lvl="0" indent="0" algn="l" rtl="0">
              <a:spcBef>
                <a:spcPts val="0"/>
              </a:spcBef>
              <a:spcAft>
                <a:spcPts val="600"/>
              </a:spcAft>
              <a:buNone/>
            </a:pPr>
            <a:r>
              <a:rPr lang="en-US" dirty="0"/>
              <a:t>You just decided that an active sensor works best for finding walls in complete darkness. The IR distance sensor is exactly that kind of sensor: it supplies its own infrared light and measures the reflection. Next, you see how it works.</a:t>
            </a: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infrared, or IR, distance sensor. It is all text on a white background. It states the goal: you want to detect whether there is an obstacle in front of the robot, and the simplest way is an active sensor. It then explains that an IR sensor emits an invisible infrared beam and measures the reflection that bounces back, and that the strength of the returning light indicates how far away the object is. Finally, it lists the two parts: a PSD, or position sensitive detector, and an IR-LED, an infrared emitting diode.</a:t>
            </a:r>
          </a:p>
          <a:p>
            <a:pPr marL="0" lvl="0" indent="0" algn="l" rtl="0">
              <a:lnSpc>
                <a:spcPct val="100000"/>
              </a:lnSpc>
              <a:spcBef>
                <a:spcPts val="0"/>
              </a:spcBef>
              <a:spcAft>
                <a:spcPts val="600"/>
              </a:spcAft>
              <a:buSzPts val="1400"/>
              <a:buNone/>
            </a:pPr>
            <a:r>
              <a:rPr lang="en-US" dirty="0"/>
              <a:t>This follows from the quiz on the last slide. Finding walls in total darkness calls for an active sensor, one that supplies its own energy instead of relying on ambient light. The IR-LED is that energy source. The PSD is the receiver. It is a light-sensitive strip that reports not only how much light arrives but also where on the strip the reflected spot lands.</a:t>
            </a:r>
          </a:p>
          <a:p>
            <a:pPr marL="0" lvl="0" indent="0" algn="l" rtl="0">
              <a:lnSpc>
                <a:spcPct val="100000"/>
              </a:lnSpc>
              <a:spcBef>
                <a:spcPts val="0"/>
              </a:spcBef>
              <a:spcAft>
                <a:spcPts val="600"/>
              </a:spcAft>
              <a:buSzPts val="1400"/>
              <a:buNone/>
            </a:pPr>
            <a:r>
              <a:rPr lang="en-US" dirty="0"/>
              <a:t>Here is the intuitive picture: a near wall sends back a strong reflection, and a far wall sends back a weak one. Keep the word "position" in mind, though. In two slides you see that sensors like the Sharp module use the spot's position on the PSD, a triangulation method, to estimate distance. That makes them less fooled by surface color than pure intensity would be.</a:t>
            </a:r>
          </a:p>
          <a:p>
            <a:pPr marL="0" lvl="0" indent="0" algn="l" rtl="0">
              <a:lnSpc>
                <a:spcPct val="100000"/>
              </a:lnSpc>
              <a:spcBef>
                <a:spcPts val="0"/>
              </a:spcBef>
              <a:spcAft>
                <a:spcPts val="600"/>
              </a:spcAft>
              <a:buSzPts val="1400"/>
              <a:buNone/>
            </a:pPr>
            <a:r>
              <a:rPr lang="en-US" dirty="0"/>
              <a:t>Quick check: why does a passive camera fail at this task in a dark maze, while the IR sensor still works?</a:t>
            </a:r>
          </a:p>
          <a:p>
            <a:pPr marL="0" lvl="0" indent="0" algn="l" rtl="0">
              <a:lnSpc>
                <a:spcPct val="100000"/>
              </a:lnSpc>
              <a:spcBef>
                <a:spcPts val="0"/>
              </a:spcBef>
              <a:spcAft>
                <a:spcPts val="600"/>
              </a:spcAft>
              <a:buSzPts val="1400"/>
              <a:buNone/>
            </a:pPr>
            <a:r>
              <a:rPr lang="en-US" dirty="0"/>
              <a:t>Next, you see the actual Sharp sensor used on the robot and walk through its operation step by step.</a:t>
            </a: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how an infrared distance sensor works, step by step. On the left is the basic operating principle. First, the IR LED emitter sends out an infrared light beam, which is invisible to the human eye. Second, the light travels forward until it hits an object or obstacle. Third, the object reflects some of that IR light back. Fourth, the receiver detects the reflected light. Finally, the sensor determines the approximate distance. Below the steps, the slide summarizes the relationship: a closer object gives a stronger reflected signal, and a farther object gives a weaker one.</a:t>
            </a:r>
          </a:p>
          <a:p>
            <a:pPr marL="0" lvl="0" indent="0" algn="l" rtl="0">
              <a:lnSpc>
                <a:spcPct val="100000"/>
              </a:lnSpc>
              <a:spcBef>
                <a:spcPts val="0"/>
              </a:spcBef>
              <a:spcAft>
                <a:spcPts val="600"/>
              </a:spcAft>
              <a:buSzPts val="1400"/>
              <a:buNone/>
            </a:pPr>
            <a:r>
              <a:rPr lang="en-US" dirty="0"/>
              <a:t>On the right is a photo of a Sharp GP2Y0A41SK0F IR distance sensor, rated for 4 to 30 centimeters. It is a small black module with a mounting hole at each end and two round lenses side by side. Red boxes label the left lens "LED" and the right lens "Light detector." A white connector leads to three wires: red for power, black for ground, and yellow for the analog distance output. The image source is the smart-prototyping.com product page for this sensor.</a:t>
            </a:r>
          </a:p>
          <a:p>
            <a:pPr marL="0" lvl="0" indent="0" algn="l" rtl="0">
              <a:lnSpc>
                <a:spcPct val="100000"/>
              </a:lnSpc>
              <a:spcBef>
                <a:spcPts val="0"/>
              </a:spcBef>
              <a:spcAft>
                <a:spcPts val="600"/>
              </a:spcAft>
              <a:buSzPts val="1400"/>
              <a:buNone/>
            </a:pPr>
            <a:r>
              <a:rPr lang="en-US" dirty="0"/>
              <a:t>The "stronger means closer" idea is the intuitive picture. Sharp modules like this one actually find distance from where the reflected spot lands on the position sensitive detector, which is triangulation, and the next slide shows it. Either way, the output is an analog voltage that you read with the ADC. That voltage is nonlinear in distance, so you need a calibration curve.</a:t>
            </a:r>
          </a:p>
          <a:p>
            <a:pPr marL="0" lvl="0" indent="0" algn="l" rtl="0">
              <a:lnSpc>
                <a:spcPct val="100000"/>
              </a:lnSpc>
              <a:spcBef>
                <a:spcPts val="0"/>
              </a:spcBef>
              <a:spcAft>
                <a:spcPts val="600"/>
              </a:spcAft>
              <a:buSzPts val="1400"/>
              <a:buNone/>
            </a:pPr>
            <a:r>
              <a:rPr lang="en-US" dirty="0"/>
              <a:t>Quick check: what happens to the reading if an object sits closer than 4 cm?</a:t>
            </a: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advantages and limitations of the IR distance sensor, with a diagram of how it measures distance.</a:t>
            </a:r>
          </a:p>
          <a:p>
            <a:pPr marL="0" lvl="0" indent="0" algn="l" rtl="0">
              <a:lnSpc>
                <a:spcPct val="100000"/>
              </a:lnSpc>
              <a:spcBef>
                <a:spcPts val="0"/>
              </a:spcBef>
              <a:spcAft>
                <a:spcPts val="600"/>
              </a:spcAft>
              <a:buSzPts val="1400"/>
              <a:buNone/>
            </a:pPr>
            <a:r>
              <a:rPr lang="en-US" dirty="0"/>
              <a:t>The advantages listed are: simple and inexpensive, small and lightweight, fast response time, and low power consumption. The limitations are: performance depends on surface color and reflectivity; detection range is limited because signal power disperses at a rate of d squared (d^2); the sensor is sensitive to ambient IR light such as sunlight; and it gives a single point of data, like a flashlight beam rather than a wide field of view. The typical range is 2 to 80 cm.</a:t>
            </a:r>
          </a:p>
          <a:p>
            <a:pPr marL="0" lvl="0" indent="0" algn="l" rtl="0">
              <a:lnSpc>
                <a:spcPct val="100000"/>
              </a:lnSpc>
              <a:spcBef>
                <a:spcPts val="0"/>
              </a:spcBef>
              <a:spcAft>
                <a:spcPts val="600"/>
              </a:spcAft>
              <a:buSzPts val="1400"/>
              <a:buNone/>
            </a:pPr>
            <a:r>
              <a:rPr lang="en-US" dirty="0"/>
              <a:t>The diagram on the right shows the sensor from the side. The IR LED sits under one lens and shines a beam straight up. Two horizontal dashed lines mark a near object and a far object. Light scatters off the object and returns at an angle through a second lens onto a position-sensitive IR detector. A near object returns light at a steeper angle than a far object, so the light spot lands at a different place on the detector. The position of the spot therefore encodes distance. This is called triangulation, and it is why the PSD from the earlier slide is a strip rather than a single photodiode.</a:t>
            </a:r>
          </a:p>
          <a:p>
            <a:pPr marL="0" lvl="0" indent="0" algn="l" rtl="0">
              <a:lnSpc>
                <a:spcPct val="100000"/>
              </a:lnSpc>
              <a:spcBef>
                <a:spcPts val="0"/>
              </a:spcBef>
              <a:spcAft>
                <a:spcPts val="600"/>
              </a:spcAft>
              <a:buSzPts val="1400"/>
              <a:buNone/>
            </a:pPr>
            <a:r>
              <a:rPr lang="en-US" dirty="0"/>
              <a:t>A dark, matte surface returns much less light than a white wall, and sunlight floods the detector with IR. In the lab, test your readings against the real surfaces your robot sees. Also remember that one sensor sees only one spot.</a:t>
            </a:r>
          </a:p>
          <a:p>
            <a:pPr marL="0" lvl="0" indent="0" algn="l" rtl="0">
              <a:lnSpc>
                <a:spcPct val="100000"/>
              </a:lnSpc>
              <a:spcBef>
                <a:spcPts val="0"/>
              </a:spcBef>
              <a:spcAft>
                <a:spcPts val="600"/>
              </a:spcAft>
              <a:buSzPts val="1400"/>
              <a:buNone/>
            </a:pPr>
            <a:r>
              <a:rPr lang="en-US" dirty="0"/>
              <a:t>Quick check: why does doubling the distance hurt so much? The next slide answers this with the inverse square law.</a:t>
            </a: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left over from the limitations list: why do IR distance sensors work poorly at long range, and why would you need a more powerful LED to see farther? The slide gives a one-phrase answer, "Signal dissipation!", followed by three lines of reasoning and one equation.</a:t>
            </a:r>
          </a:p>
          <a:p>
            <a:pPr marL="0" lvl="0" indent="0" algn="l" rtl="0">
              <a:lnSpc>
                <a:spcPct val="100000"/>
              </a:lnSpc>
              <a:spcBef>
                <a:spcPts val="0"/>
              </a:spcBef>
              <a:spcAft>
                <a:spcPts val="600"/>
              </a:spcAft>
              <a:buSzPts val="1400"/>
              <a:buNone/>
            </a:pPr>
            <a:r>
              <a:rPr lang="en-US" dirty="0"/>
              <a:t>The reasoning goes like this. When an IR LED emits light, the energy spreads out in all directions. As distance increases, that same energy covers a larger surface area. Therefore the signal intensity, meaning power per unit area, decreases with distance. The slide names this the Inverse Square Law and shows it as I ∝ 1/r^2, read "I is proportional to one over r squared." Here I is the signal intensity and r is the distance the light has traveled from the source.</a:t>
            </a:r>
          </a:p>
          <a:p>
            <a:pPr marL="0" lvl="0" indent="0" algn="l" rtl="0">
              <a:lnSpc>
                <a:spcPct val="100000"/>
              </a:lnSpc>
              <a:spcBef>
                <a:spcPts val="0"/>
              </a:spcBef>
              <a:spcAft>
                <a:spcPts val="600"/>
              </a:spcAft>
              <a:buSzPts val="1400"/>
              <a:buNone/>
            </a:pPr>
            <a:r>
              <a:rPr lang="en-US" dirty="0"/>
              <a:t>The square comes from geometry. Light leaving a point source spreads over a sphere whose area is 4*pi*r^2. A real LED emits into a cone rather than a full sphere, but the illuminated area still grows with r^2. So if you double the distance, the intensity drops to one quarter. Triple it, and the intensity drops to one ninth. This is the "disperses at a rate of d^2" limitation from the previous slide, and it is why the Sharp sensor on your robot is only useful over a short window like 4 to 30 cm.</a:t>
            </a:r>
          </a:p>
          <a:p>
            <a:pPr marL="0" lvl="0" indent="0" algn="l" rtl="0">
              <a:lnSpc>
                <a:spcPct val="100000"/>
              </a:lnSpc>
              <a:spcBef>
                <a:spcPts val="0"/>
              </a:spcBef>
              <a:spcAft>
                <a:spcPts val="600"/>
              </a:spcAft>
              <a:buSzPts val="1400"/>
              <a:buNone/>
            </a:pPr>
            <a:r>
              <a:rPr lang="en-US" dirty="0"/>
              <a:t>Quick check: if your sensor sees intensity I at 10 cm, what does the object receive at 20 cm? (I/4.)</a:t>
            </a:r>
          </a:p>
          <a:p>
            <a:pPr marL="0" lvl="0" indent="0" algn="l" rtl="0">
              <a:lnSpc>
                <a:spcPct val="100000"/>
              </a:lnSpc>
              <a:spcBef>
                <a:spcPts val="0"/>
              </a:spcBef>
              <a:spcAft>
                <a:spcPts val="600"/>
              </a:spcAft>
              <a:buSzPts val="1400"/>
              <a:buNone/>
            </a:pPr>
            <a:r>
              <a:rPr lang="en-US" dirty="0"/>
              <a:t>On the next slide, think about what happens when the light also has to bounce back to the receiver. The signal then travels two paths, and the loss is worse than this.</a:t>
            </a: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reflected-light ranging is even harder than the inverse square law from the last slide suggests. On the left, the text says IR distance sensing is worse than 1 over r squared, because the signal travels two paths: emitter to object, then object back to receiver. The returned signal is therefore roughly: received signal proportional to 1 over r to the fourth, written 1/r^4. The slide concludes that seeing far, and rising above noise, takes an extremely powerful LED, and that the same holds for most active sensors such as radar, sonar and LiDAR.</a:t>
            </a:r>
          </a:p>
          <a:p>
            <a:pPr marL="0" lvl="0" indent="0" algn="l" rtl="0">
              <a:lnSpc>
                <a:spcPct val="100000"/>
              </a:lnSpc>
              <a:spcBef>
                <a:spcPts val="0"/>
              </a:spcBef>
              <a:spcAft>
                <a:spcPts val="600"/>
              </a:spcAft>
              <a:buSzPts val="1400"/>
              <a:buNone/>
            </a:pPr>
            <a:r>
              <a:rPr lang="en-US" dirty="0"/>
              <a:t>On the right is a NASA JPL Education illustration of the inverse square law. A source of power P radiates through a cone. On a sphere of radius r, the area is 4*pi*r^2, so the intensity is I = P/(4*pi*r^2). A patch of area A at distance r covers 4 patches at 2r and 9 patches at 3r, so the intensity falls to I/4 and then I/9. The source link is jpl.nasa.gov/edu.</a:t>
            </a:r>
          </a:p>
          <a:p>
            <a:pPr marL="0" lvl="0" indent="0" algn="l" rtl="0">
              <a:lnSpc>
                <a:spcPct val="100000"/>
              </a:lnSpc>
              <a:spcBef>
                <a:spcPts val="0"/>
              </a:spcBef>
              <a:spcAft>
                <a:spcPts val="600"/>
              </a:spcAft>
              <a:buSzPts val="1400"/>
              <a:buNone/>
            </a:pPr>
            <a:r>
              <a:rPr lang="en-US" dirty="0"/>
              <a:t>Here is why the exponent is 4. The outgoing light spreads as 1/r^2 on its way to the object. The object then scatters what it receives back out in many directions, so the return trip spreads again as 1/r^2. Multiplying the two gives 1/r^4. Doubling the distance cuts the received signal to 1/16, not 1/4.</a:t>
            </a:r>
          </a:p>
          <a:p>
            <a:pPr marL="0" lvl="0" indent="0" algn="l" rtl="0">
              <a:lnSpc>
                <a:spcPct val="100000"/>
              </a:lnSpc>
              <a:spcBef>
                <a:spcPts val="0"/>
              </a:spcBef>
              <a:spcAft>
                <a:spcPts val="600"/>
              </a:spcAft>
              <a:buSzPts val="1400"/>
              <a:buNone/>
            </a:pPr>
            <a:r>
              <a:rPr lang="en-US" dirty="0"/>
              <a:t>You can use the typical 2 to 80 cm range from earlier to see the effect. Going from 10 cm to 80 cm is a factor of 8 in distance, so the return falls by 8^4, which is 4096. Surface color and reflectivity, mentioned two slides ago, scale this weak return further.</a:t>
            </a:r>
          </a:p>
          <a:p>
            <a:pPr marL="0" lvl="0" indent="0" algn="l" rtl="0">
              <a:lnSpc>
                <a:spcPct val="100000"/>
              </a:lnSpc>
              <a:spcBef>
                <a:spcPts val="0"/>
              </a:spcBef>
              <a:spcAft>
                <a:spcPts val="600"/>
              </a:spcAft>
              <a:buSzPts val="1400"/>
              <a:buNone/>
            </a:pPr>
            <a:r>
              <a:rPr lang="en-US" dirty="0"/>
              <a:t>A common mistake is to assume that doubling LED power doubles the range. Range grows only with the fourth root of power. Quick check: how much more power do you need to double the range? The answer is 16 times.</a:t>
            </a:r>
          </a:p>
          <a:p>
            <a:pPr marL="0" lvl="0" indent="0" algn="l" rtl="0">
              <a:lnSpc>
                <a:spcPct val="100000"/>
              </a:lnSpc>
              <a:spcBef>
                <a:spcPts val="0"/>
              </a:spcBef>
              <a:spcAft>
                <a:spcPts val="600"/>
              </a:spcAft>
              <a:buSzPts val="1400"/>
              <a:buNone/>
            </a:pPr>
            <a:r>
              <a:rPr lang="en-US" dirty="0"/>
              <a:t>Next, you will see how LiDAR handles these limits and gives a full 360 degree view of the robot's surroundings.</a:t>
            </a: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"LiDAR" in dark blue, centered on the orange Illinois background with faint hand-drawn equation and diagram sketches, the block I logo in the corner, and the footer "Systems Engineering" and "Grainger Engineering."</a:t>
            </a:r>
          </a:p>
          <a:p>
            <a:pPr marL="0" lvl="0" indent="0" algn="l" rtl="0">
              <a:spcBef>
                <a:spcPts val="0"/>
              </a:spcBef>
              <a:spcAft>
                <a:spcPts val="600"/>
              </a:spcAft>
              <a:buNone/>
            </a:pPr>
            <a:r>
              <a:rPr lang="en-US" dirty="0"/>
              <a:t>You just saw that an IR sensor's returned signal falls off roughly as 1/r^4, which limits its range, and that one sensor sees only one direction. Next you look at how LiDAR scans a laser around the robot to measure distances in many directions at once.</a:t>
            </a: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LiDAR. It opens with a question: what if you want to know the distance to every obstacle around you at once? Would IR be enough, and how would you use IR sensors to build a 360-degree view of the world? It then states that a basic IR distance sensor measures distance in only one direction. A full view would need many IR sensors, each pointing in a different direction, to cover all 360 degrees around the robot. It lists four problems with that approach: a large number of sensors, limited accuracy from bleed between sensors, slow updates if the sensors are scanned sequentially, and difficult calibration.</a:t>
            </a:r>
          </a:p>
          <a:p>
            <a:pPr marL="0" lvl="0" indent="0" algn="l" rtl="0">
              <a:lnSpc>
                <a:spcPct val="100000"/>
              </a:lnSpc>
              <a:spcBef>
                <a:spcPts val="0"/>
              </a:spcBef>
              <a:spcAft>
                <a:spcPts val="600"/>
              </a:spcAft>
              <a:buSzPts val="1400"/>
              <a:buNone/>
            </a:pPr>
            <a:r>
              <a:rPr lang="en-US" dirty="0"/>
              <a:t>Take a moment with the opening question before going further. Each IR sensor gives one number, the distance along its own beam. To get a ring of measurements, you need one sensor per direction. Spacing them every 10 degrees, for example, already means 36 sensors, each with its own wiring and ADC channel. Bleed, also called crosstalk, happens when one sensor's emitted light reflects into a neighbor's receiver and corrupts that reading. To avoid crosstalk, you can fire the sensors one at a time. That is sequential scanning, and the full ring then refreshes much more slowly. Every sensor also has its own nonlinear voltage-to-distance curve, so calibrating dozens of them is tedious. The previous slide's inverse-square result adds to this: each emitter must be strong to see far.</a:t>
            </a:r>
          </a:p>
          <a:p>
            <a:pPr marL="0" lvl="0" indent="0" algn="l" rtl="0">
              <a:lnSpc>
                <a:spcPct val="100000"/>
              </a:lnSpc>
              <a:spcBef>
                <a:spcPts val="0"/>
              </a:spcBef>
              <a:spcAft>
                <a:spcPts val="600"/>
              </a:spcAft>
              <a:buSzPts val="1400"/>
              <a:buNone/>
            </a:pPr>
            <a:r>
              <a:rPr lang="en-US" dirty="0"/>
              <a:t>Quick check: why does firing all the sensors simultaneously make accuracy worse?</a:t>
            </a:r>
          </a:p>
          <a:p>
            <a:pPr marL="0" lvl="0" indent="0" algn="l" rtl="0">
              <a:lnSpc>
                <a:spcPct val="100000"/>
              </a:lnSpc>
              <a:spcBef>
                <a:spcPts val="0"/>
              </a:spcBef>
              <a:spcAft>
                <a:spcPts val="600"/>
              </a:spcAft>
              <a:buSzPts val="1400"/>
              <a:buNone/>
            </a:pPr>
            <a:r>
              <a:rPr lang="en-US" dirty="0"/>
              <a:t>The next slide answers the opening question with LiDAR: one laser rangefinder that rotates to sweep every direction.</a:t>
            </a: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introduces Light Detection and Ranging, or LiDAR, as the answer to the problem from the previous slide. A single-point IR sensor sees in only one direction, and ringing the robot with many IR sensors means lots of hardware, crosstalk between sensors, slow updates and hard calibration. LiDAR instead uses one laser that scans the environment.</a:t>
            </a:r>
          </a:p>
          <a:p>
            <a:pPr marL="0" lvl="0" indent="0" algn="l" rtl="0">
              <a:lnSpc>
                <a:spcPct val="100000"/>
              </a:lnSpc>
              <a:spcBef>
                <a:spcPts val="0"/>
              </a:spcBef>
              <a:spcAft>
                <a:spcPts val="600"/>
              </a:spcAft>
              <a:buSzPts val="1400"/>
              <a:buNone/>
            </a:pPr>
            <a:r>
              <a:rPr lang="en-US" dirty="0"/>
              <a:t>The slide gives the key idea in three steps. First, send a laser pulse. Second, measure how long it takes to bounce back. Third, convert that time into distance. This is different from the IR sensors you just saw, which estimate distance from the strength or angle of the reflected light. LiDAR measures time, which can be done very precisely.</a:t>
            </a:r>
          </a:p>
          <a:p>
            <a:pPr marL="0" lvl="0" indent="0" algn="l" rtl="0">
              <a:lnSpc>
                <a:spcPct val="100000"/>
              </a:lnSpc>
              <a:spcBef>
                <a:spcPts val="0"/>
              </a:spcBef>
              <a:spcAft>
                <a:spcPts val="600"/>
              </a:spcAft>
              <a:buSzPts val="1400"/>
              <a:buNone/>
            </a:pPr>
            <a:r>
              <a:rPr lang="en-US" dirty="0"/>
              <a:t>The slide lists four main components. The laser emitter produces the short light pulse. The photodetector senses the reflected light when it returns. The precise timing electronics measure the travel time; light covers about 30 centimeters per nanosecond, so the timing must be extremely fine. The rotating motor or scanning system sweeps the beam around the robot so that one rangefinder covers all directions.</a:t>
            </a:r>
          </a:p>
          <a:p>
            <a:pPr marL="0" lvl="0" indent="0" algn="l" rtl="0">
              <a:lnSpc>
                <a:spcPct val="100000"/>
              </a:lnSpc>
              <a:spcBef>
                <a:spcPts val="0"/>
              </a:spcBef>
              <a:spcAft>
                <a:spcPts val="600"/>
              </a:spcAft>
              <a:buSzPts val="1400"/>
              <a:buNone/>
            </a:pPr>
            <a:r>
              <a:rPr lang="en-US" dirty="0"/>
              <a:t>The result is a point cloud, the term in bold on the slide. A point cloud is a large set of measured points that represents the surrounding world. For a 2D spinning LiDAR, each reading is an angle theta and a range r. You can convert it to a point with x = r*cos(theta) and y = r*sin(theta).</a:t>
            </a:r>
          </a:p>
          <a:p>
            <a:pPr marL="0" lvl="0" indent="0" algn="l" rtl="0">
              <a:lnSpc>
                <a:spcPct val="100000"/>
              </a:lnSpc>
              <a:spcBef>
                <a:spcPts val="0"/>
              </a:spcBef>
              <a:spcAft>
                <a:spcPts val="600"/>
              </a:spcAft>
              <a:buSzPts val="1400"/>
              <a:buNone/>
            </a:pPr>
            <a:r>
              <a:rPr lang="en-US" dirty="0"/>
              <a:t>Next, you see what real spinning LiDAR units look like. After that, you work through the time-of-flight equation in detail.</a:t>
            </a: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faces on the components from the last slide: two real LiDAR sensors, side by side.</a:t>
            </a:r>
          </a:p>
          <a:p>
            <a:pPr marL="0" lvl="0" indent="0" algn="l" rtl="0">
              <a:lnSpc>
                <a:spcPct val="100000"/>
              </a:lnSpc>
              <a:spcBef>
                <a:spcPts val="0"/>
              </a:spcBef>
              <a:spcAft>
                <a:spcPts val="600"/>
              </a:spcAft>
              <a:buSzPts val="1400"/>
              <a:buNone/>
            </a:pPr>
            <a:r>
              <a:rPr lang="en-US" dirty="0"/>
              <a:t>On the left is a rendering of a cylindrical spinning LiDAR. It has a metal base and cap around a dark window that rotates, and a thin red laser beam shoots out horizontally from the window. As the head spins, the beam sweeps around the sensor and measures distance in every direction. Units like this often stack many lasers at different vertical angles, so one rotation captures many horizontal slices of the world at once. That builds a 3D point cloud, the idea behind the source article's title, "the more lasers the better."</a:t>
            </a:r>
          </a:p>
          <a:p>
            <a:pPr marL="0" lvl="0" indent="0" algn="l" rtl="0">
              <a:lnSpc>
                <a:spcPct val="100000"/>
              </a:lnSpc>
              <a:spcBef>
                <a:spcPts val="0"/>
              </a:spcBef>
              <a:spcAft>
                <a:spcPts val="600"/>
              </a:spcAft>
              <a:buSzPts val="1400"/>
              <a:buNone/>
            </a:pPr>
            <a:r>
              <a:rPr lang="en-US" dirty="0"/>
              <a:t>On the right is a photo of an inexpensive 2D scanning LiDAR module. A round black sensor head sits on a teardrop-shaped circuit board. A small DC motor at the narrow end spins the head with a belt, so a single laser rangefinder sweeps a full 360-degree circle in one plane. A multi-wire cable on the side carries power and data. This is the low-cost class of sensor that makes LiDAR practical on small mobile robots, and it is the kind of data you need later for LiDAR SLAM.</a:t>
            </a:r>
          </a:p>
          <a:p>
            <a:pPr marL="0" lvl="0" indent="0" algn="l" rtl="0">
              <a:lnSpc>
                <a:spcPct val="100000"/>
              </a:lnSpc>
              <a:spcBef>
                <a:spcPts val="0"/>
              </a:spcBef>
              <a:spcAft>
                <a:spcPts val="600"/>
              </a:spcAft>
              <a:buSzPts val="1400"/>
              <a:buNone/>
            </a:pPr>
            <a:r>
              <a:rPr lang="en-US" dirty="0"/>
              <a:t>Notice that both devices answer the problem from slide 17 the same way. Instead of mounting dozens of IR sensors, you spin one rangefinder and take many readings per revolution. Each reading is just an angle plus a distance.</a:t>
            </a:r>
          </a:p>
          <a:p>
            <a:pPr marL="0" lvl="0" indent="0" algn="l" rtl="0">
              <a:lnSpc>
                <a:spcPct val="100000"/>
              </a:lnSpc>
              <a:spcBef>
                <a:spcPts val="0"/>
              </a:spcBef>
              <a:spcAft>
                <a:spcPts val="600"/>
              </a:spcAft>
              <a:buSzPts val="1400"/>
              <a:buNone/>
            </a:pPr>
            <a:r>
              <a:rPr lang="en-US" dirty="0"/>
              <a:t>Quick check: what does a 2D scanner miss that a multi-laser 3D unit would catch? Think of a table edge above the scan plane.</a:t>
            </a:r>
          </a:p>
          <a:p>
            <a:pPr marL="0" lvl="0" indent="0" algn="l" rtl="0">
              <a:lnSpc>
                <a:spcPct val="100000"/>
              </a:lnSpc>
              <a:spcBef>
                <a:spcPts val="0"/>
              </a:spcBef>
              <a:spcAft>
                <a:spcPts val="600"/>
              </a:spcAft>
              <a:buSzPts val="1400"/>
              <a:buNone/>
            </a:pPr>
            <a:r>
              <a:rPr lang="en-US" dirty="0"/>
              <a:t>Image sources, shown on the slide: https://www.hesaitech.com/things-you-need-to-know-about-lidar-the-more-lasers-the-better/ and https://hackaday.com/2017/04/20/new-part-day-very-cheap-lidar/</a:t>
            </a:r>
          </a:p>
          <a:p>
            <a:pPr marL="0" lvl="0" indent="0" algn="l" rtl="0">
              <a:lnSpc>
                <a:spcPct val="100000"/>
              </a:lnSpc>
              <a:spcBef>
                <a:spcPts val="0"/>
              </a:spcBef>
              <a:spcAft>
                <a:spcPts val="600"/>
              </a:spcAft>
              <a:buSzPts val="1400"/>
              <a:buNone/>
            </a:pPr>
            <a:r>
              <a:rPr lang="en-US" dirty="0"/>
              <a:t>Next, we look at how each of those distance readings is actually measured: time of flight.</a:t>
            </a: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LiDAR actually measures distance. The text says LiDAR uses Time-of-Flight, or ToF, rather than signal intensity, because travel time can be measured precisely, which gives a more accurate distance. Compare this with the IR sensors from earlier in the lecture, which infer distance from how much light returns. That depends on surface color, angle and ambient light.</a:t>
            </a:r>
          </a:p>
          <a:p>
            <a:pPr marL="0" lvl="0" indent="0" algn="l" rtl="0">
              <a:lnSpc>
                <a:spcPct val="100000"/>
              </a:lnSpc>
              <a:spcBef>
                <a:spcPts val="0"/>
              </a:spcBef>
              <a:spcAft>
                <a:spcPts val="600"/>
              </a:spcAft>
              <a:buSzPts val="1400"/>
              <a:buNone/>
            </a:pPr>
            <a:r>
              <a:rPr lang="en-US" dirty="0"/>
              <a:t>The slide lists four steps. A laser pulse is emitted. It travels to an object. The object reflects it back. The sensor measures the round-trip travel time. The distance is then d = (c * t) / 2, read as "d equals c times t, divided by 2." Here d is the distance to the object, c is the speed of light, about 3 x 10^8 meters per second, and t is the measured round-trip time.</a:t>
            </a:r>
          </a:p>
          <a:p>
            <a:pPr marL="0" lvl="0" indent="0" algn="l" rtl="0">
              <a:lnSpc>
                <a:spcPct val="100000"/>
              </a:lnSpc>
              <a:spcBef>
                <a:spcPts val="0"/>
              </a:spcBef>
              <a:spcAft>
                <a:spcPts val="600"/>
              </a:spcAft>
              <a:buSzPts val="1400"/>
              <a:buNone/>
            </a:pPr>
            <a:r>
              <a:rPr lang="en-US" dirty="0"/>
              <a:t>On the right is a diagram from the Wikipedia time-of-flight camera article. An emitter on the left sends a yellow beam across a horizontal span labeled "distance d" to a bullseye target. The beam reflects back to a receiver beside the emitter. A vertical arrow labeled "time t" spans from emission down to reception, showing that t covers the whole trip out and back. The equation d = c t / 2 is printed beneath.</a:t>
            </a:r>
          </a:p>
          <a:p>
            <a:pPr marL="0" lvl="0" indent="0" algn="l" rtl="0">
              <a:lnSpc>
                <a:spcPct val="100000"/>
              </a:lnSpc>
              <a:spcBef>
                <a:spcPts val="0"/>
              </a:spcBef>
              <a:spcAft>
                <a:spcPts val="600"/>
              </a:spcAft>
              <a:buSzPts val="1400"/>
              <a:buNone/>
            </a:pPr>
            <a:r>
              <a:rPr lang="en-US" dirty="0"/>
              <a:t>The slide asks why there is a division by 2. Pause and let students answer. The light travels to the object and back, so c * t is twice the distance. Forgetting the factor of 2 is a common mistake, and it doubles every range you compute.</a:t>
            </a:r>
          </a:p>
          <a:p>
            <a:pPr marL="0" lvl="0" indent="0" algn="l" rtl="0">
              <a:lnSpc>
                <a:spcPct val="100000"/>
              </a:lnSpc>
              <a:spcBef>
                <a:spcPts val="0"/>
              </a:spcBef>
              <a:spcAft>
                <a:spcPts val="600"/>
              </a:spcAft>
              <a:buSzPts val="1400"/>
              <a:buNone/>
            </a:pPr>
            <a:r>
              <a:rPr lang="en-US" dirty="0"/>
              <a:t>Because c is so large, timing errors matter a lot. Every nanosecond of round-trip error is about 15 centimeters of distance error. That leads into the next slide, where we look at how fast the timing clock must be.</a:t>
            </a: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why time-of-flight LiDAR is practical only now: it depends on clocks that are extremely fast and accurate. The text says ToF sensors are only possible because clocks are now extremely fast and accurate, then works an example.</a:t>
            </a:r>
          </a:p>
          <a:p>
            <a:pPr marL="0" lvl="0" indent="0" algn="l" rtl="0">
              <a:lnSpc>
                <a:spcPct val="100000"/>
              </a:lnSpc>
              <a:spcBef>
                <a:spcPts val="0"/>
              </a:spcBef>
              <a:spcAft>
                <a:spcPts val="600"/>
              </a:spcAft>
              <a:buSzPts val="1400"/>
              <a:buNone/>
            </a:pPr>
            <a:r>
              <a:rPr lang="en-US" dirty="0"/>
              <a:t>The example: if the pulse returns in 20 nanoseconds, the distance is d = (3 × 10^8 × 20 × 10^-9) / 2 = 3 meters. In words, d equals three times ten to the eighth meters per second, times twenty times ten to the minus nine seconds, all divided by two, which gives three meters. This also answers the question from the last slide. The division by 2 is there because the measured time covers the trip out to the object and back, and you only want the one-way distance. Two common mistakes are forgetting that factor of 2 and mishandling "nano," which means 10^-9.</a:t>
            </a:r>
          </a:p>
          <a:p>
            <a:pPr marL="0" lvl="0" indent="0" algn="l" rtl="0">
              <a:lnSpc>
                <a:spcPct val="100000"/>
              </a:lnSpc>
              <a:spcBef>
                <a:spcPts val="0"/>
              </a:spcBef>
              <a:spcAft>
                <a:spcPts val="600"/>
              </a:spcAft>
              <a:buSzPts val="1400"/>
              <a:buNone/>
            </a:pPr>
            <a:r>
              <a:rPr lang="en-US" dirty="0"/>
              <a:t>The slide then notes that the Red Board's clock runs at 200 MHz, which is one cycle every 5 nanoseconds. It adds, in parentheses, that you would not actually use the Red Board for this. Work out what one tick means. In 5 ns light travels 3 × 10^8 × 5 × 10^-9 = 1.5 m round trip, which is 0.75 m of distance. Even a 200 MHz processor counting clock cycles could only resolve range in steps of about three quarters of a meter. That is far too coarse for mapping a maze. Real LiDARs therefore use dedicated, much finer timing hardware.</a:t>
            </a:r>
          </a:p>
          <a:p>
            <a:pPr marL="0" lvl="0" indent="0" algn="l" rtl="0">
              <a:lnSpc>
                <a:spcPct val="100000"/>
              </a:lnSpc>
              <a:spcBef>
                <a:spcPts val="0"/>
              </a:spcBef>
              <a:spcAft>
                <a:spcPts val="600"/>
              </a:spcAft>
              <a:buSzPts val="1400"/>
              <a:buNone/>
            </a:pPr>
            <a:r>
              <a:rPr lang="en-US" dirty="0"/>
              <a:t>Quick check: what clock period would you need for 1 cm resolution? Light covers 2 cm round trip in about 67 picoseconds.</a:t>
            </a:r>
          </a:p>
          <a:p>
            <a:pPr marL="0" lvl="0" indent="0" algn="l" rtl="0">
              <a:lnSpc>
                <a:spcPct val="100000"/>
              </a:lnSpc>
              <a:spcBef>
                <a:spcPts val="0"/>
              </a:spcBef>
              <a:spcAft>
                <a:spcPts val="600"/>
              </a:spcAft>
              <a:buSzPts val="1400"/>
              <a:buNone/>
            </a:pPr>
            <a:r>
              <a:rPr lang="en-US" dirty="0"/>
              <a:t>Next, we look at what goes wrong when the clock is too slow.</a:t>
            </a: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previous slide noted that the Red Board's 200 MHz clock has a 5 nanosecond period. This slide asks what happens when the clock is too slow to time a laser pulse well.</a:t>
            </a:r>
          </a:p>
          <a:p>
            <a:pPr marL="0" lvl="0" indent="0" algn="l" rtl="0">
              <a:lnSpc>
                <a:spcPct val="100000"/>
              </a:lnSpc>
              <a:spcBef>
                <a:spcPts val="0"/>
              </a:spcBef>
              <a:spcAft>
                <a:spcPts val="600"/>
              </a:spcAft>
              <a:buSzPts val="1400"/>
              <a:buNone/>
            </a:pPr>
            <a:r>
              <a:rPr lang="en-US" dirty="0"/>
              <a:t>The slide gives two consequences. First, accuracy drops, because you can only measure the round-trip time in whole clock ticks, so the distance is quantized. Second, you cannot measure objects that are too close. Real LiDARs list both a minimum range and a field of view in their datasheets.</a:t>
            </a:r>
          </a:p>
          <a:p>
            <a:pPr marL="0" lvl="0" indent="0" algn="l" rtl="0">
              <a:lnSpc>
                <a:spcPct val="100000"/>
              </a:lnSpc>
              <a:spcBef>
                <a:spcPts val="0"/>
              </a:spcBef>
              <a:spcAft>
                <a:spcPts val="600"/>
              </a:spcAft>
              <a:buSzPts val="1400"/>
              <a:buNone/>
            </a:pPr>
            <a:r>
              <a:rPr lang="en-US" dirty="0"/>
              <a:t>The equation reads: minimum d equals 3 times 10 to the 8th, times 5 times 10 to the minus 9, all divided by 2, which equals 0.75 meters. In plain text, d_min = (3e8 m/s * 5e-9 s) / 2 = 0.75 m. One clock tick of light travel is 1.5 m, and halving it for the round trip gives 0.75 m. So with a 5 ns clock, each tick also represents 0.75 m of distance resolution. This is far too coarse for a robot in a hallway, which is why real LiDARs use dedicated, much faster timing hardware.</a:t>
            </a:r>
          </a:p>
          <a:p>
            <a:pPr marL="0" lvl="0" indent="0" algn="l" rtl="0">
              <a:lnSpc>
                <a:spcPct val="100000"/>
              </a:lnSpc>
              <a:spcBef>
                <a:spcPts val="0"/>
              </a:spcBef>
              <a:spcAft>
                <a:spcPts val="600"/>
              </a:spcAft>
              <a:buSzPts val="1400"/>
              <a:buNone/>
            </a:pPr>
            <a:r>
              <a:rPr lang="en-US" dirty="0"/>
              <a:t>The last bullet adds a geometric limit. Figure 8, "Minimum Sensing Distance," from the TI reference design (https://www.ti.com/lit/ug/tiducm1b/tiducm1b.pdf), shows a laser mounted above a sensor with a small offset between them. The narrow red laser beam and the wide blue sensor cone start from different points. At the near plane, labeled 1, the red laser spot sits just above the blue circle, so the receiver misses the return. At the farther plane, labeled 2, the spot falls inside the circle and is detected.</a:t>
            </a:r>
          </a:p>
          <a:p>
            <a:pPr marL="0" lvl="0" indent="0" algn="l" rtl="0">
              <a:lnSpc>
                <a:spcPct val="100000"/>
              </a:lnSpc>
              <a:spcBef>
                <a:spcPts val="0"/>
              </a:spcBef>
              <a:spcAft>
                <a:spcPts val="600"/>
              </a:spcAft>
              <a:buSzPts val="1400"/>
              <a:buNone/>
            </a:pPr>
            <a:r>
              <a:rPr lang="en-US" dirty="0"/>
              <a:t>Quick check: if the clock were 1 GHz, what would the minimum distance be? (0.15 m.)</a:t>
            </a:r>
          </a:p>
          <a:p>
            <a:pPr marL="0" lvl="0" indent="0" algn="l" rtl="0">
              <a:lnSpc>
                <a:spcPct val="100000"/>
              </a:lnSpc>
              <a:spcBef>
                <a:spcPts val="0"/>
              </a:spcBef>
              <a:spcAft>
                <a:spcPts val="600"/>
              </a:spcAft>
              <a:buSzPts val="1400"/>
              <a:buNone/>
            </a:pPr>
            <a:r>
              <a:rPr lang="en-US" dirty="0"/>
              <a:t>Next, we look at why LiDARs use lasers at all.</a:t>
            </a: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"Why use lasers?" It says the problem with the inverse square law is that it comes from the light's surface expanding in space. It asks for two ways to improve the intensity of the returned signal, and answers: increase the power, and reduce how dispersed the signal is. It then lists what happens because IR LEDs spread light over a wide angle: rapid signal loss, poor directional accuracy, and lower range.</a:t>
            </a:r>
          </a:p>
          <a:p>
            <a:pPr marL="0" lvl="0" indent="0" algn="l" rtl="0">
              <a:lnSpc>
                <a:spcPct val="100000"/>
              </a:lnSpc>
              <a:spcBef>
                <a:spcPts val="0"/>
              </a:spcBef>
              <a:spcAft>
                <a:spcPts val="600"/>
              </a:spcAft>
              <a:buSzPts val="1400"/>
              <a:buNone/>
            </a:pPr>
            <a:r>
              <a:rPr lang="en-US" dirty="0"/>
              <a:t>The last two slides covered the timing side of time of flight, meaning how fast the clock must be and why there is a minimum distance. This slide turns to the signal itself. Light from a point source spreads over a growing sphere, so intensity I = P / (4*pi*r^2), read as "intensity equals power divided by four pi r squared." Double the distance and you get one quarter of the intensity. A ranging sensor pays this twice, on the way out and again as the diffuse reflection spreads back to the receiver.</a:t>
            </a:r>
          </a:p>
          <a:p>
            <a:pPr marL="0" lvl="0" indent="0" algn="l" rtl="0">
              <a:lnSpc>
                <a:spcPct val="100000"/>
              </a:lnSpc>
              <a:spcBef>
                <a:spcPts val="0"/>
              </a:spcBef>
              <a:spcAft>
                <a:spcPts val="600"/>
              </a:spcAft>
              <a:buSzPts val="1400"/>
              <a:buNone/>
            </a:pPr>
            <a:r>
              <a:rPr lang="en-US" dirty="0"/>
              <a:t>You can push back in two ways. The first is to raise P. That has limits: battery drain, heat, and eye-safety rules for infrared sources. The second is to keep the beam from spreading, so the energy stays concentrated on a small spot. The IR sensors from earlier in the lecture use LEDs, which pick the worst option here. Their wide cone loses signal quickly, cannot tell you exactly which direction the return came from, and limits usable range.</a:t>
            </a:r>
          </a:p>
          <a:p>
            <a:pPr marL="0" lvl="0" indent="0" algn="l" rtl="0">
              <a:lnSpc>
                <a:spcPct val="100000"/>
              </a:lnSpc>
              <a:spcBef>
                <a:spcPts val="0"/>
              </a:spcBef>
              <a:spcAft>
                <a:spcPts val="600"/>
              </a:spcAft>
              <a:buSzPts val="1400"/>
              <a:buNone/>
            </a:pPr>
            <a:r>
              <a:rPr lang="en-US" dirty="0"/>
              <a:t>Quick check: if an IR sensor reads a wall reliably at 30 cm, how much weaker is the outgoing light at 60 cm? The answer is one quarter. The next slide shows why a narrow laser beam solves this.</a:t>
            </a: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no figures. Under the heading "Lasers are preferred because they have:" it lists four advantages, each with a short explanation.</a:t>
            </a:r>
          </a:p>
          <a:p>
            <a:pPr marL="0" lvl="0" indent="0" algn="l" rtl="0">
              <a:lnSpc>
                <a:spcPct val="100000"/>
              </a:lnSpc>
              <a:spcBef>
                <a:spcPts val="0"/>
              </a:spcBef>
              <a:spcAft>
                <a:spcPts val="600"/>
              </a:spcAft>
              <a:buSzPts val="1400"/>
              <a:buNone/>
            </a:pPr>
            <a:r>
              <a:rPr lang="en-US" dirty="0"/>
              <a:t>High directionality: a laser beam is very narrow, so most of its energy travels in one direction, and you can detect objects much farther away.</a:t>
            </a:r>
          </a:p>
          <a:p>
            <a:pPr marL="0" lvl="0" indent="0" algn="l" rtl="0">
              <a:lnSpc>
                <a:spcPct val="100000"/>
              </a:lnSpc>
              <a:spcBef>
                <a:spcPts val="0"/>
              </a:spcBef>
              <a:spcAft>
                <a:spcPts val="600"/>
              </a:spcAft>
              <a:buSzPts val="1400"/>
              <a:buNone/>
            </a:pPr>
            <a:r>
              <a:rPr lang="en-US" dirty="0"/>
              <a:t>High optical power density: because the beam is concentrated, the signal that comes back is stronger.</a:t>
            </a:r>
          </a:p>
          <a:p>
            <a:pPr marL="0" lvl="0" indent="0" algn="l" rtl="0">
              <a:lnSpc>
                <a:spcPct val="100000"/>
              </a:lnSpc>
              <a:spcBef>
                <a:spcPts val="0"/>
              </a:spcBef>
              <a:spcAft>
                <a:spcPts val="600"/>
              </a:spcAft>
              <a:buSzPts val="1400"/>
              <a:buNone/>
            </a:pPr>
            <a:r>
              <a:rPr lang="en-US" dirty="0"/>
              <a:t>Precise timing: laser pulses can be extremely short, which allows timing accuracy at the nanosecond level.</a:t>
            </a:r>
          </a:p>
          <a:p>
            <a:pPr marL="0" lvl="0" indent="0" algn="l" rtl="0">
              <a:lnSpc>
                <a:spcPct val="100000"/>
              </a:lnSpc>
              <a:spcBef>
                <a:spcPts val="0"/>
              </a:spcBef>
              <a:spcAft>
                <a:spcPts val="600"/>
              </a:spcAft>
              <a:buSzPts val="1400"/>
              <a:buNone/>
            </a:pPr>
            <a:r>
              <a:rPr lang="en-US" dirty="0"/>
              <a:t>Better spatial resolution: a narrow beam lets the LiDAR pick out fine details and small objects.</a:t>
            </a:r>
          </a:p>
          <a:p>
            <a:pPr marL="0" lvl="0" indent="0" algn="l" rtl="0">
              <a:lnSpc>
                <a:spcPct val="100000"/>
              </a:lnSpc>
              <a:spcBef>
                <a:spcPts val="0"/>
              </a:spcBef>
              <a:spcAft>
                <a:spcPts val="600"/>
              </a:spcAft>
              <a:buSzPts val="1400"/>
              <a:buNone/>
            </a:pPr>
            <a:r>
              <a:rPr lang="en-US" dirty="0"/>
              <a:t>This answers the question from the previous slide. The inverse square law says intensity drops as the light spreads over a growing surface. You can fight that by adding power or by spreading the light less. An IR LED spreads light over a wide cone and loses signal quickly. A laser takes the second route: it keeps the energy in a tight beam, so more of it lands on the target and more returns to the receiver.</a:t>
            </a:r>
          </a:p>
          <a:p>
            <a:pPr marL="0" lvl="0" indent="0" algn="l" rtl="0">
              <a:lnSpc>
                <a:spcPct val="100000"/>
              </a:lnSpc>
              <a:spcBef>
                <a:spcPts val="0"/>
              </a:spcBef>
              <a:spcAft>
                <a:spcPts val="600"/>
              </a:spcAft>
              <a:buSzPts val="1400"/>
              <a:buNone/>
            </a:pPr>
            <a:r>
              <a:rPr lang="en-US" dirty="0"/>
              <a:t>Timing matters because LiDAR measures distance from the round-trip time, d = c*t/2, distance equals the speed of light times the time divided by two. Light travels about 30 cm per nanosecond. Each nanosecond of round-trip time therefore corresponds to about 15 cm of range, so short pulses and fast clocks translate directly into range accuracy.</a:t>
            </a:r>
          </a:p>
          <a:p>
            <a:pPr marL="0" lvl="0" indent="0" algn="l" rtl="0">
              <a:lnSpc>
                <a:spcPct val="100000"/>
              </a:lnSpc>
              <a:spcBef>
                <a:spcPts val="0"/>
              </a:spcBef>
              <a:spcAft>
                <a:spcPts val="600"/>
              </a:spcAft>
              <a:buSzPts val="1400"/>
              <a:buNone/>
            </a:pPr>
            <a:r>
              <a:rPr lang="en-US" dirty="0"/>
              <a:t>Resolution works the same way. A wide beam averages over everything it hits, while a narrow spot tells you exactly which direction the return came from. That is what makes a scan sharp enough for wall following and mapping.</a:t>
            </a:r>
          </a:p>
          <a:p>
            <a:pPr marL="0" lvl="0" indent="0" algn="l" rtl="0">
              <a:lnSpc>
                <a:spcPct val="100000"/>
              </a:lnSpc>
              <a:spcBef>
                <a:spcPts val="0"/>
              </a:spcBef>
              <a:spcAft>
                <a:spcPts val="600"/>
              </a:spcAft>
              <a:buSzPts val="1400"/>
              <a:buNone/>
            </a:pPr>
            <a:r>
              <a:rPr lang="en-US" dirty="0"/>
              <a:t>Quick check: why would a wide IR beam make a thin table leg hard to detect?</a:t>
            </a:r>
          </a:p>
          <a:p>
            <a:pPr marL="0" lvl="0" indent="0" algn="l" rtl="0">
              <a:lnSpc>
                <a:spcPct val="100000"/>
              </a:lnSpc>
              <a:spcBef>
                <a:spcPts val="0"/>
              </a:spcBef>
              <a:spcAft>
                <a:spcPts val="600"/>
              </a:spcAft>
              <a:buSzPts val="1400"/>
              <a:buNone/>
            </a:pPr>
            <a:r>
              <a:rPr lang="en-US" dirty="0"/>
              <a:t>Next, we look at how pulsed LiDAR uses these short pulses.</a:t>
            </a: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pulsed LiDAR turns time into distance. The text says that in pulsed LiDAR you send a short light pulse and measure when its reflection arrives, which allows precise timing. The LiDAR sends pulses at set intervals and waits for each return. The maximum distance you can measure depends on the pulse width, because a later return would bleed into the next pulse. The equation reads "D max equals c times t zero over two", written D_max = c*t_0/2, where c is the speed of light and t_0 is the pulse width.</a:t>
            </a:r>
          </a:p>
          <a:p>
            <a:pPr marL="0" lvl="0" indent="0" algn="l" rtl="0">
              <a:lnSpc>
                <a:spcPct val="100000"/>
              </a:lnSpc>
              <a:spcBef>
                <a:spcPts val="0"/>
              </a:spcBef>
              <a:spcAft>
                <a:spcPts val="600"/>
              </a:spcAft>
              <a:buSzPts val="1400"/>
              <a:buNone/>
            </a:pPr>
            <a:r>
              <a:rPr lang="en-US" dirty="0"/>
              <a:t>On the right are two timing diagrams. Each shows a sun-like light source sending a red ray to a green ball at distance d, and the ray reflecting back to a purple camera-shaped sensor. In case 1, the top trace is the emitted square pulse of width t. Below it is the received pulse, shifted later in time. It is split by two back-to-back gates, q1 and q2, each one pulse width long. Case 2 adds a second gate pair, q3 and q4, shifted by half a pulse width, which gives extra samples of the same return.</a:t>
            </a:r>
          </a:p>
          <a:p>
            <a:pPr marL="0" lvl="0" indent="0" algn="l" rtl="0">
              <a:lnSpc>
                <a:spcPct val="100000"/>
              </a:lnSpc>
              <a:spcBef>
                <a:spcPts val="0"/>
              </a:spcBef>
              <a:spcAft>
                <a:spcPts val="600"/>
              </a:spcAft>
              <a:buSzPts val="1400"/>
              <a:buNone/>
            </a:pPr>
            <a:r>
              <a:rPr lang="en-US" dirty="0"/>
              <a:t>Here is how the gates work. The longer the round trip takes, the more of the returned light falls into q2 instead of q1. The delay is t_0*q2/(q1+q2), so d = (c/2)*t_0*q2/(q1+q2). The factor of 2 accounts for the trip out and back. If the delay exceeds t_0, the return misses the gates entirely, and that is where D_max comes from.</a:t>
            </a:r>
          </a:p>
          <a:p>
            <a:pPr marL="0" lvl="0" indent="0" algn="l" rtl="0">
              <a:lnSpc>
                <a:spcPct val="100000"/>
              </a:lnSpc>
              <a:spcBef>
                <a:spcPts val="0"/>
              </a:spcBef>
              <a:spcAft>
                <a:spcPts val="600"/>
              </a:spcAft>
              <a:buSzPts val="1400"/>
              <a:buNone/>
            </a:pPr>
            <a:r>
              <a:rPr lang="en-US" dirty="0"/>
              <a:t>To check your understanding, work out D_max for t_0 = 100 ns. The answer is (3e8 * 100e-9)/2 = 15 m.</a:t>
            </a:r>
          </a:p>
          <a:p>
            <a:pPr marL="0" lvl="0" indent="0" algn="l" rtl="0">
              <a:lnSpc>
                <a:spcPct val="100000"/>
              </a:lnSpc>
              <a:spcBef>
                <a:spcPts val="0"/>
              </a:spcBef>
              <a:spcAft>
                <a:spcPts val="600"/>
              </a:spcAft>
              <a:buSzPts val="1400"/>
              <a:buNone/>
            </a:pPr>
            <a:r>
              <a:rPr lang="en-US" dirty="0"/>
              <a:t>This links back to the previous slide: lasers allow very short, sharp pulses, and that is what makes this timing possible. Next, you will see what happens when a long pulse produces multiple returns.</a:t>
            </a: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that one LiDAR pulse can produce more than one echo. The text says that with a long pulse width you can receive multiple returns, and that these returns give you extra information about the environment, letting you see into or through different materials.</a:t>
            </a:r>
          </a:p>
          <a:p>
            <a:pPr marL="0" lvl="0" indent="0" algn="l" rtl="0">
              <a:lnSpc>
                <a:spcPct val="100000"/>
              </a:lnSpc>
              <a:spcBef>
                <a:spcPts val="0"/>
              </a:spcBef>
              <a:spcAft>
                <a:spcPts val="600"/>
              </a:spcAft>
              <a:buSzPts val="1400"/>
              <a:buNone/>
            </a:pPr>
            <a:r>
              <a:rPr lang="en-US" dirty="0"/>
              <a:t>The figure, from the IOP Science article at https://iopscience.iop.org/article/10.1088/1361-6501/abc867, shows a laser beam drawn as a widening red-checkered column travelling down through a tall tree, past a small tree, and onto the ground. Time, or range, increases downward. Two columns on the right record the result. The "Discrete return" column marks only five points: First at the top of the canopy, Second and Third at two branch layers inside the tree, Fourth at the small tree, and Last at the ground. The "Full waveform" column plots the continuous return intensity. Its tallest peak is at the canopy top, smaller peaks appear at the branch layers and the small tree, and a narrow peak appears at the ground.</a:t>
            </a:r>
          </a:p>
          <a:p>
            <a:pPr marL="0" lvl="0" indent="0" algn="l" rtl="0">
              <a:lnSpc>
                <a:spcPct val="100000"/>
              </a:lnSpc>
              <a:spcBef>
                <a:spcPts val="0"/>
              </a:spcBef>
              <a:spcAft>
                <a:spcPts val="600"/>
              </a:spcAft>
              <a:buSzPts val="1400"/>
              <a:buNone/>
            </a:pPr>
            <a:r>
              <a:rPr lang="en-US" dirty="0"/>
              <a:t>The key idea is that the beam is not a point. Its footprint grows with distance, so part of the light hits leaves while the rest continues to objects behind them. If the receiver keeps listening after the first echo, each partial reflection arrives at a different time-of-flight, which means a different range. This is how airborne LiDAR maps the ground under a forest canopy.</a:t>
            </a:r>
          </a:p>
          <a:p>
            <a:pPr marL="0" lvl="0" indent="0" algn="l" rtl="0">
              <a:lnSpc>
                <a:spcPct val="100000"/>
              </a:lnSpc>
              <a:spcBef>
                <a:spcPts val="0"/>
              </a:spcBef>
              <a:spcAft>
                <a:spcPts val="600"/>
              </a:spcAft>
              <a:buSzPts val="1400"/>
              <a:buNone/>
            </a:pPr>
            <a:r>
              <a:rPr lang="en-US" dirty="0"/>
              <a:t>A common mistake is to assume one pulse always means one distance. Edges, foliage, and glass can return several echoes or a blended one. Quick check: which return would you use to measure ground height under a tree?</a:t>
            </a:r>
          </a:p>
          <a:p>
            <a:pPr marL="0" lvl="0" indent="0" algn="l" rtl="0">
              <a:lnSpc>
                <a:spcPct val="100000"/>
              </a:lnSpc>
              <a:spcBef>
                <a:spcPts val="0"/>
              </a:spcBef>
              <a:spcAft>
                <a:spcPts val="600"/>
              </a:spcAft>
              <a:buSzPts val="1400"/>
              <a:buNone/>
            </a:pPr>
            <a:r>
              <a:rPr lang="en-US" dirty="0"/>
              <a:t>Next, we spin the beam to build a full point cloud.</a:t>
            </a: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 single-beam range sensor becomes a full scanning LiDAR: spin the beam with a motor and collect a range at every angle.</a:t>
            </a:r>
          </a:p>
          <a:p>
            <a:pPr marL="0" lvl="0" indent="0" algn="l" rtl="0">
              <a:lnSpc>
                <a:spcPct val="100000"/>
              </a:lnSpc>
              <a:spcBef>
                <a:spcPts val="0"/>
              </a:spcBef>
              <a:spcAft>
                <a:spcPts val="600"/>
              </a:spcAft>
              <a:buSzPts val="1400"/>
              <a:buNone/>
            </a:pPr>
            <a:r>
              <a:rPr lang="en-US" dirty="0"/>
              <a:t>The text says that by rapidly spinning the laser with a motor, you generate a dense 2D or 3D map of the environment. Because the rate of turn is constant, you know the angle of each pulse as well as the distance it returns, and from these you build a point cloud. In 2D, the location of obstacle i relative to the LiDAR is p_i = (d_i*cos(theta_i), d_i*sin(theta_i)), read as "p sub i equals d sub i times cosine theta sub i, comma, d sub i times sine theta sub i." A point cloud is a map of 2D or 3D points in space where objects are located.</a:t>
            </a:r>
          </a:p>
          <a:p>
            <a:pPr marL="0" lvl="0" indent="0" algn="l" rtl="0">
              <a:lnSpc>
                <a:spcPct val="100000"/>
              </a:lnSpc>
              <a:spcBef>
                <a:spcPts val="0"/>
              </a:spcBef>
              <a:spcAft>
                <a:spcPts val="600"/>
              </a:spcAft>
              <a:buSzPts val="1400"/>
              <a:buNone/>
            </a:pPr>
            <a:r>
              <a:rPr lang="en-US" dirty="0"/>
              <a:t>The figure, from https://en.wikipedia.org/wiki/Lidar, has three panels. The top panel shows a LiDAR unit whose laser reflects off an angled internal mirror, with a curved arrow showing the mirror spinning to sweep the beam. The middle panel is a top-down view of a walled rectangular room, with the LiDAR near the top wall, its red beam striking the left wall, and a round obstacle in the lower right. The bottom panel is the point cloud built so far: a dot for the LiDAR and a column of plus-sign points tracing the left wall.</a:t>
            </a:r>
          </a:p>
          <a:p>
            <a:pPr marL="0" lvl="0" indent="0" algn="l" rtl="0">
              <a:lnSpc>
                <a:spcPct val="100000"/>
              </a:lnSpc>
              <a:spcBef>
                <a:spcPts val="0"/>
              </a:spcBef>
              <a:spcAft>
                <a:spcPts val="600"/>
              </a:spcAft>
              <a:buSzPts val="1400"/>
              <a:buNone/>
            </a:pPr>
            <a:r>
              <a:rPr lang="en-US" dirty="0"/>
              <a:t>This is simply a conversion from polar to Cartesian coordinates. If the scan starts at angle theta_0 and the angular step is delta_theta, then theta_i = theta_0 + i*delta_theta. A common mistake is forgetting that these points are in the sensor's frame. To place them on a world map, you must rotate and translate them by the robot's pose.</a:t>
            </a:r>
          </a:p>
          <a:p>
            <a:pPr marL="0" lvl="0" indent="0" algn="l" rtl="0">
              <a:lnSpc>
                <a:spcPct val="100000"/>
              </a:lnSpc>
              <a:spcBef>
                <a:spcPts val="0"/>
              </a:spcBef>
              <a:spcAft>
                <a:spcPts val="600"/>
              </a:spcAft>
              <a:buSzPts val="1400"/>
              <a:buNone/>
            </a:pPr>
            <a:r>
              <a:rPr lang="en-US" dirty="0"/>
              <a:t>Next, you use these distance readings to steer the robot along a wall.</a:t>
            </a: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"Wall Following" in dark blue on the orange Illinois background, with faint hand-drawn equations and diagrams as decoration.</a:t>
            </a:r>
          </a:p>
          <a:p>
            <a:pPr marL="0" lvl="0" indent="0" algn="l" rtl="0">
              <a:spcBef>
                <a:spcPts val="0"/>
              </a:spcBef>
              <a:spcAft>
                <a:spcPts val="600"/>
              </a:spcAft>
              <a:buNone/>
            </a:pPr>
            <a:r>
              <a:rPr lang="en-US" dirty="0"/>
              <a:t>So far you have seen what LiDAR gives you: distances at known angles, turned into a point cloud of where the walls and obstacles are. This section turns those readings into motion. You will see how distance measurements become wheel commands, why the slow LiDAR and the fast motor control loop are split into an inner and an outer loop, and how a state machine decides what the robot does at corners and obstacles. This is the logic you will build in lab.</a:t>
            </a: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Wall Following. It says that you now have sensors to find where obstacles are and where the robot itself is, and that in lab you use the LiDAR and the IMU to do wall following. It then names the problem: raw sensor data does not steer a robot by itself. You have to map distance readings to wheel motor commands. Finally, it points out a timing mismatch and names the solution, a Cascade Control architecture with an Inner Loop and an Outer Loop.</a:t>
            </a:r>
          </a:p>
          <a:p>
            <a:pPr marL="0" lvl="0" indent="0" algn="l" rtl="0">
              <a:lnSpc>
                <a:spcPct val="100000"/>
              </a:lnSpc>
              <a:spcBef>
                <a:spcPts val="0"/>
              </a:spcBef>
              <a:spcAft>
                <a:spcPts val="600"/>
              </a:spcAft>
              <a:buSzPts val="1400"/>
              <a:buNone/>
            </a:pPr>
            <a:r>
              <a:rPr lang="en-US" dirty="0"/>
              <a:t>The previous slides showed how the spinning LiDAR builds a point cloud of the room. Now you have to turn that point cloud into motion. Look at the numbers on the slide. The Hokuyo URG-04LX LADAR (another name for a laser rangefinder like this LiDAR) gives a new scan every 100 ms, which is 10 Hz. The motor controllers need a fresh voltage command every 1 ms, which is 1000 Hz, to stay stable. That is a factor of 100: about 100 motor updates happen between two LiDAR scans.</a:t>
            </a:r>
          </a:p>
          <a:p>
            <a:pPr marL="0" lvl="0" indent="0" algn="l" rtl="0">
              <a:lnSpc>
                <a:spcPct val="100000"/>
              </a:lnSpc>
              <a:spcBef>
                <a:spcPts val="0"/>
              </a:spcBef>
              <a:spcAft>
                <a:spcPts val="600"/>
              </a:spcAft>
              <a:buSzPts val="1400"/>
              <a:buNone/>
            </a:pPr>
            <a:r>
              <a:rPr lang="en-US" dirty="0"/>
              <a:t>Cascade control solves this by nesting two controllers. The fast inner loop regulates wheel speed every 1 ms using the encoders. The slow outer loop runs whenever new LADAR data arrives. It looks at the wall distances and decides what wheel speeds or turn rate the inner loop should track. The outer loop's output becomes the inner loop's reference.</a:t>
            </a:r>
          </a:p>
          <a:p>
            <a:pPr marL="0" lvl="0" indent="0" algn="l" rtl="0">
              <a:lnSpc>
                <a:spcPct val="100000"/>
              </a:lnSpc>
              <a:spcBef>
                <a:spcPts val="0"/>
              </a:spcBef>
              <a:spcAft>
                <a:spcPts val="600"/>
              </a:spcAft>
              <a:buSzPts val="1400"/>
              <a:buNone/>
            </a:pPr>
            <a:r>
              <a:rPr lang="en-US" dirty="0"/>
              <a:t>A common mistake is to try to compute motor voltages directly from LiDAR data. The motors would then go 100 ms without a correction, and the control would be sluggish or unstable.</a:t>
            </a:r>
          </a:p>
          <a:p>
            <a:pPr marL="0" lvl="0" indent="0" algn="l" rtl="0">
              <a:lnSpc>
                <a:spcPct val="100000"/>
              </a:lnSpc>
              <a:spcBef>
                <a:spcPts val="0"/>
              </a:spcBef>
              <a:spcAft>
                <a:spcPts val="600"/>
              </a:spcAft>
              <a:buSzPts val="1400"/>
              <a:buNone/>
            </a:pPr>
            <a:r>
              <a:rPr lang="en-US" dirty="0"/>
              <a:t>The slide notes that the sensor and its code are covered in detail after Spring Break. Next, you see why mixed sensor rates matter in real systems such as fighter jets.</a:t>
            </a: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outside our robot to show why the timing problem from the last slide matters. The text says that for our robot timing might not be extremely critical, but a fighter jet has many sensors running at different speeds and priorities, and any delay could be catastrophic. The figure comes from the ME 547 Robust and Adaptive Control slides.</a:t>
            </a:r>
          </a:p>
          <a:p>
            <a:pPr marL="0" lvl="0" indent="0" algn="l" rtl="0">
              <a:lnSpc>
                <a:spcPct val="100000"/>
              </a:lnSpc>
              <a:spcBef>
                <a:spcPts val="0"/>
              </a:spcBef>
              <a:spcAft>
                <a:spcPts val="600"/>
              </a:spcAft>
              <a:buSzPts val="1400"/>
              <a:buNone/>
            </a:pPr>
            <a:r>
              <a:rPr lang="en-US" dirty="0"/>
              <a:t>The block diagram shows a flight control computer, FC, running at 100 Hz, so each frame is 10 ms. Within that frame, 100 Hz processing comes first, then low-rate priority processing. An IMU at 600 Hz sends data over an RS422 serial link to a navigation processor, NAV, which runs at 600, 100 and 20 Hz. NAV passes data to the FC through dual-port RAM, DPR. The alpha and beta vanes measure angle of attack and sideslip. They feed analog signals to a remote interface unit, RIU, at 100 Hz, which connects to the FC over a MIL-STD-1553 bus. The FC sends commands over RS422 to the electromechanical actuators, EMAs, for the elevons, thrust vectoring and nosewheel steering. Those actuators process inputs at 600 Hz. A 1553 link carries commands to the gear brake EMAs at 100 Hz.</a:t>
            </a:r>
          </a:p>
          <a:p>
            <a:pPr marL="0" lvl="0" indent="0" algn="l" rtl="0">
              <a:lnSpc>
                <a:spcPct val="100000"/>
              </a:lnSpc>
              <a:spcBef>
                <a:spcPts val="0"/>
              </a:spcBef>
              <a:spcAft>
                <a:spcPts val="600"/>
              </a:spcAft>
              <a:buSzPts val="1400"/>
              <a:buNone/>
            </a:pPr>
            <a:r>
              <a:rPr lang="en-US" dirty="0"/>
              <a:t>A timeline across the top splits the total lag into two parts. Feedback signal delays run from sampling to the start of the FC frame. Command signal delays run from the FC to the actuators.</a:t>
            </a:r>
          </a:p>
          <a:p>
            <a:pPr marL="0" lvl="0" indent="0" algn="l" rtl="0">
              <a:lnSpc>
                <a:spcPct val="100000"/>
              </a:lnSpc>
              <a:spcBef>
                <a:spcPts val="0"/>
              </a:spcBef>
              <a:spcAft>
                <a:spcPts val="600"/>
              </a:spcAft>
              <a:buSzPts val="1400"/>
              <a:buNone/>
            </a:pPr>
            <a:r>
              <a:rPr lang="en-US" dirty="0"/>
              <a:t>The feedback-delay table lists these delays. IMU data takes 1 ms of NAV processing plus 0 to 1.7 ms waiting asynchronously for the FC, a total of 1 to 2.7 ms. Vane data waits 0 to 20 ms. The software uses the elevon and thrust-vector commands with fixed delays of 18 ms and 12 ms.</a:t>
            </a:r>
          </a:p>
          <a:p>
            <a:pPr marL="0" lvl="0" indent="0" algn="l" rtl="0">
              <a:lnSpc>
                <a:spcPct val="100000"/>
              </a:lnSpc>
              <a:spcBef>
                <a:spcPts val="0"/>
              </a:spcBef>
              <a:spcAft>
                <a:spcPts val="600"/>
              </a:spcAft>
              <a:buSzPts val="1400"/>
              <a:buNone/>
            </a:pPr>
            <a:r>
              <a:rPr lang="en-US" dirty="0"/>
              <a:t>The command-delay table lists the outgoing side. Control-surface commands total 6 to 7.7 ms: 4 ms of processing, 2 ms of RS422 transmission and up to 1.7 ms asynchronous delay. Brake commands total 6 to 16 ms.</a:t>
            </a:r>
          </a:p>
          <a:p>
            <a:pPr marL="0" lvl="0" indent="0" algn="l" rtl="0">
              <a:lnSpc>
                <a:spcPct val="100000"/>
              </a:lnSpc>
              <a:spcBef>
                <a:spcPts val="0"/>
              </a:spcBef>
              <a:spcAft>
                <a:spcPts val="600"/>
              </a:spcAft>
              <a:buSzPts val="1400"/>
              <a:buNone/>
            </a:pPr>
            <a:r>
              <a:rPr lang="en-US" dirty="0"/>
              <a:t>The key idea is that when loops run at different rates and are not synchronized, data waits for the next cycle, and those waits add up. On our robot, the 10 Hz LiDAR and the 1 kHz motor loop create the same issue on a smaller scale. Next, you see how hardware and software interrupts manage it.</a:t>
            </a: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only text, under the title Wall Following. It explains how the F28379D runs the two loops of the cascade control architecture from the previous slide: a strict priority hierarchy of Hardware Interrupts, HWIs, and Software Interrupts, SWIs. It ends with a timing question for you.</a:t>
            </a:r>
          </a:p>
          <a:p>
            <a:pPr marL="0" lvl="0" indent="0" algn="l" rtl="0">
              <a:lnSpc>
                <a:spcPct val="100000"/>
              </a:lnSpc>
              <a:spcBef>
                <a:spcPts val="0"/>
              </a:spcBef>
              <a:spcAft>
                <a:spcPts val="600"/>
              </a:spcAft>
              <a:buSzPts val="1400"/>
              <a:buNone/>
            </a:pPr>
            <a:r>
              <a:rPr lang="en-US" dirty="0"/>
              <a:t>The inner loop runs inside an HWI, triggered by a timer every 1 ms. When the timer fires, the processor stops whatever it is doing, runs the inner loop, and returns. The motors therefore get new voltage commands on a precise, regular schedule.</a:t>
            </a:r>
          </a:p>
          <a:p>
            <a:pPr marL="0" lvl="0" indent="0" algn="l" rtl="0">
              <a:lnSpc>
                <a:spcPct val="100000"/>
              </a:lnSpc>
              <a:spcBef>
                <a:spcPts val="0"/>
              </a:spcBef>
              <a:spcAft>
                <a:spcPts val="600"/>
              </a:spcAft>
              <a:buSzPts val="1400"/>
              <a:buNone/>
            </a:pPr>
            <a:r>
              <a:rPr lang="en-US" dirty="0"/>
              <a:t>The outer loop handles the LADAR math, and the slide places it inside an SWI. An SWI is a lower-priority interrupt that your code posts, for example when a new LADAR scan finishes arriving. It can run long computations in the background, and the 1 ms HWI can still preempt it. That preemption is the whole point: a 3 ms trigonometry job must never delay a motor update, or the wheels would stall or jerk.</a:t>
            </a:r>
          </a:p>
          <a:p>
            <a:pPr marL="0" lvl="0" indent="0" algn="l" rtl="0">
              <a:lnSpc>
                <a:spcPct val="100000"/>
              </a:lnSpc>
              <a:spcBef>
                <a:spcPts val="0"/>
              </a:spcBef>
              <a:spcAft>
                <a:spcPts val="600"/>
              </a:spcAft>
              <a:buSzPts val="1400"/>
              <a:buNone/>
            </a:pPr>
            <a:r>
              <a:rPr lang="en-US" dirty="0"/>
              <a:t>Now the question. Suppose the LADAR computation needs 3.5 ms of processor time and starts right after an HWI tick. Ticks then arrive at 1, 2 and 3 ms, so the HWI pauses the SWI 3 times. In practice the count can be 4. The SWI rarely starts exactly on a tick, and each HWI adds its own execution time, which stretches the SWI's total time. Either way, the SWI finishes long before the next scan arrives 100 ms later.</a:t>
            </a:r>
          </a:p>
          <a:p>
            <a:pPr marL="0" lvl="0" indent="0" algn="l" rtl="0">
              <a:lnSpc>
                <a:spcPct val="100000"/>
              </a:lnSpc>
              <a:spcBef>
                <a:spcPts val="0"/>
              </a:spcBef>
              <a:spcAft>
                <a:spcPts val="600"/>
              </a:spcAft>
              <a:buSzPts val="1400"/>
              <a:buNone/>
            </a:pPr>
            <a:r>
              <a:rPr lang="en-US" dirty="0"/>
              <a:t>Next, we look at what the inner loop actually computes.</a:t>
            </a: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"Wall Following – Inner Loop," has three text statements and no figures. First, the inner loop is the low-level controller: it sets and computes the wheel velocities using the same PI controller you built in lab. Second, it calculates the robot's spatial coordinates, X and Y, by integrating the IMU and the left and right wheel speeds. Third, it uses the MPU-9250's Z-axis rate gyro to compute the robot's heading, theta.</a:t>
            </a:r>
          </a:p>
          <a:p>
            <a:pPr marL="0" lvl="0" indent="0" algn="l" rtl="0">
              <a:lnSpc>
                <a:spcPct val="100000"/>
              </a:lnSpc>
              <a:spcBef>
                <a:spcPts val="0"/>
              </a:spcBef>
              <a:spcAft>
                <a:spcPts val="600"/>
              </a:spcAft>
              <a:buSzPts val="1400"/>
              <a:buNone/>
            </a:pPr>
            <a:r>
              <a:rPr lang="en-US" dirty="0"/>
              <a:t>Recall from the last slide that this loop runs in the 1 ms hardware interrupt. Every millisecond it reads the encoders, estimates each wheel's speed, and runs PI control so each wheel tracks its commanded velocity.</a:t>
            </a:r>
          </a:p>
          <a:p>
            <a:pPr marL="0" lvl="0" indent="0" algn="l" rtl="0">
              <a:lnSpc>
                <a:spcPct val="100000"/>
              </a:lnSpc>
              <a:spcBef>
                <a:spcPts val="0"/>
              </a:spcBef>
              <a:spcAft>
                <a:spcPts val="600"/>
              </a:spcAft>
              <a:buSzPts val="1400"/>
              <a:buNone/>
            </a:pPr>
            <a:r>
              <a:rPr lang="en-US" dirty="0"/>
              <a:t>The same interrupt also does dead reckoning. The gyro measures angular rate about the vertical axis, so heading is a running sum: theta_k = theta_(k-1) + gyroZ*dt, with dt = 0.001 s. The forward speed is the average of the two wheels, v = (vL + vR)/2. Then X_k = X_(k-1) + v*cos(theta)*dt and Y_k = Y_(k-1) + v*sin(theta)*dt. Running this every 1 ms keeps the integration error from the time step small.</a:t>
            </a:r>
          </a:p>
          <a:p>
            <a:pPr marL="0" lvl="0" indent="0" algn="l" rtl="0">
              <a:lnSpc>
                <a:spcPct val="100000"/>
              </a:lnSpc>
              <a:spcBef>
                <a:spcPts val="0"/>
              </a:spcBef>
              <a:spcAft>
                <a:spcPts val="600"/>
              </a:spcAft>
              <a:buSzPts val="1400"/>
              <a:buNone/>
            </a:pPr>
            <a:r>
              <a:rPr lang="en-US" dirty="0"/>
              <a:t>A common mistake is forgetting the gyro's bias. Even a tiny constant offset integrates into a heading that drifts steadily, so average the gyro reading while the robot sits still at startup and subtract that offset. Also check that your units are consistent, radians versus degrees, before you call cos and sin.</a:t>
            </a:r>
          </a:p>
          <a:p>
            <a:pPr marL="0" lvl="0" indent="0" algn="l" rtl="0">
              <a:lnSpc>
                <a:spcPct val="100000"/>
              </a:lnSpc>
              <a:spcBef>
                <a:spcPts val="0"/>
              </a:spcBef>
              <a:spcAft>
                <a:spcPts val="600"/>
              </a:spcAft>
              <a:buSzPts val="1400"/>
              <a:buNone/>
            </a:pPr>
            <a:r>
              <a:rPr lang="en-US" dirty="0"/>
              <a:t>With fast, reliable wheel control and a pose estimate in place, the next slide moves to the slower outer loop, which turns LiDAR data into wall-following decisions.</a:t>
            </a: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outer loop of the wall-following controller. The previous slide described the 1 ms inner loop, which handles wheel speeds and robot pose. The outer loop, which runs in the software interrupt, does the heavy lifting of interpreting what the robot sees.</a:t>
            </a:r>
          </a:p>
          <a:p>
            <a:pPr marL="0" lvl="0" indent="0" algn="l" rtl="0">
              <a:lnSpc>
                <a:spcPct val="100000"/>
              </a:lnSpc>
              <a:spcBef>
                <a:spcPts val="0"/>
              </a:spcBef>
              <a:spcAft>
                <a:spcPts val="600"/>
              </a:spcAft>
              <a:buSzPts val="1400"/>
              <a:buNone/>
            </a:pPr>
            <a:r>
              <a:rPr lang="en-US" dirty="0"/>
              <a:t>The text says that every 100 ms the LiDAR sends 228 distance points to the F28379D over the UART serial port. Converting all 228 readings into x and y coordinates means computing a sine and a cosine for each one, which is expensive. So instead we extract a few named sub-vectors, small groups of rays that cover regions of interest such as "front," "left front," and "right front."</a:t>
            </a:r>
          </a:p>
          <a:p>
            <a:pPr marL="0" lvl="0" indent="0" algn="l" rtl="0">
              <a:lnSpc>
                <a:spcPct val="100000"/>
              </a:lnSpc>
              <a:spcBef>
                <a:spcPts val="0"/>
              </a:spcBef>
              <a:spcAft>
                <a:spcPts val="600"/>
              </a:spcAft>
              <a:buSzPts val="1400"/>
              <a:buNone/>
            </a:pPr>
            <a:r>
              <a:rPr lang="en-US" dirty="0"/>
              <a:t>The diagram is a top-down view of the scan. The LiDAR, labeled as a small circle, sits at the center, and the forward direction points to the right. Rays fan out every 15 degrees across a 240-degree sector. The 120-degree wedge behind the sensor is not scanned. Three red boxes mark the regions:</a:t>
            </a:r>
          </a:p>
          <a:p>
            <a:pPr marL="0" lvl="0" indent="0" algn="l" rtl="0">
              <a:lnSpc>
                <a:spcPct val="100000"/>
              </a:lnSpc>
              <a:spcBef>
                <a:spcPts val="0"/>
              </a:spcBef>
              <a:spcAft>
                <a:spcPts val="600"/>
              </a:spcAft>
              <a:buSzPts val="1400"/>
              <a:buNone/>
            </a:pPr>
            <a:r>
              <a:rPr lang="en-US" dirty="0"/>
              <a:t>- Front straddles the forward axis.</a:t>
            </a:r>
          </a:p>
          <a:p>
            <a:pPr marL="0" lvl="0" indent="0" algn="l" rtl="0">
              <a:lnSpc>
                <a:spcPct val="100000"/>
              </a:lnSpc>
              <a:spcBef>
                <a:spcPts val="0"/>
              </a:spcBef>
              <a:spcAft>
                <a:spcPts val="600"/>
              </a:spcAft>
              <a:buSzPts val="1400"/>
              <a:buNone/>
            </a:pPr>
            <a:r>
              <a:rPr lang="en-US" dirty="0"/>
              <a:t>- Left Front sits in the upper part of the fan, between straight left and forward.</a:t>
            </a:r>
          </a:p>
          <a:p>
            <a:pPr marL="0" lvl="0" indent="0" algn="l" rtl="0">
              <a:lnSpc>
                <a:spcPct val="100000"/>
              </a:lnSpc>
              <a:spcBef>
                <a:spcPts val="0"/>
              </a:spcBef>
              <a:spcAft>
                <a:spcPts val="600"/>
              </a:spcAft>
              <a:buSzPts val="1400"/>
              <a:buNone/>
            </a:pPr>
            <a:r>
              <a:rPr lang="en-US" dirty="0"/>
              <a:t>- Right Front mirrors it in the lower part.</a:t>
            </a:r>
          </a:p>
          <a:p>
            <a:pPr marL="0" lvl="0" indent="0" algn="l" rtl="0">
              <a:lnSpc>
                <a:spcPct val="100000"/>
              </a:lnSpc>
              <a:spcBef>
                <a:spcPts val="0"/>
              </a:spcBef>
              <a:spcAft>
                <a:spcPts val="600"/>
              </a:spcAft>
              <a:buSzPts val="1400"/>
              <a:buNone/>
            </a:pPr>
            <a:r>
              <a:rPr lang="en-US" dirty="0"/>
              <a:t>The slide asks: why take the minimum of a 5-point cluster instead of trusting one ray or taking the mean? A single ray can be noisy or can slip past a thin obstacle. A mean can dilute one close reading among far ones, so the robot thinks it has more room than it does. The minimum is the conservative choice. Actually hitting something is the dangerous outcome, so it is better to be safe and react to the closest return. One caution: the minimum will also pick up invalid readings, so screen those out before taking it.</a:t>
            </a:r>
          </a:p>
          <a:p>
            <a:pPr marL="0" lvl="0" indent="0" algn="l" rtl="0">
              <a:lnSpc>
                <a:spcPct val="100000"/>
              </a:lnSpc>
              <a:spcBef>
                <a:spcPts val="0"/>
              </a:spcBef>
              <a:spcAft>
                <a:spcPts val="600"/>
              </a:spcAft>
              <a:buSzPts val="1400"/>
              <a:buNone/>
            </a:pPr>
            <a:r>
              <a:rPr lang="en-US" dirty="0"/>
              <a:t>Next, these region distances become the inputs to a state machine that decides when to follow the wall and when to turn.</a:t>
            </a:r>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"State Machine" in dark blue on the orange Grainger Engineering background. Faint hand-drawn sketches of equations, molecules and arrow diagrams sit in the background as decoration only.</a:t>
            </a:r>
          </a:p>
          <a:p>
            <a:pPr marL="0" lvl="0" indent="0" algn="l" rtl="0">
              <a:spcBef>
                <a:spcPts val="0"/>
              </a:spcBef>
              <a:spcAft>
                <a:spcPts val="600"/>
              </a:spcAft>
              <a:buNone/>
            </a:pPr>
            <a:r>
              <a:rPr lang="en-US" dirty="0"/>
              <a:t>So far you have the inner loop controlling wheel speeds and the outer loop extracting front, left front and right front distances from the LiDAR. Next you need a way to decide what the robot should do with those numbers. A finite state machine gives the robot that decision-making structure.</a:t>
            </a: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Finite State Machine, or FSM, as the decision-making structure for maze solving. It is text only, with four short paragraphs and a two-item list.</a:t>
            </a:r>
          </a:p>
          <a:p>
            <a:pPr marL="0" lvl="0" indent="0" algn="l" rtl="0">
              <a:lnSpc>
                <a:spcPct val="100000"/>
              </a:lnSpc>
              <a:spcBef>
                <a:spcPts val="0"/>
              </a:spcBef>
              <a:spcAft>
                <a:spcPts val="600"/>
              </a:spcAft>
              <a:buSzPts val="1400"/>
              <a:buNone/>
            </a:pPr>
            <a:r>
              <a:rPr lang="en-US" dirty="0"/>
              <a:t>The slide's main points are these. Autonomous navigation needs a rigid decision-making architecture, and the FSM is the most robust paradigm for maze solving. An FSM divides continuous mechatronic behavior into discrete operational modes, called states, and strict conditional transitions govern how the robot moves between them. Each state has its own actions, such as driving forward, turning left, or doing nothing, and each state can be completely different from the others. To switch states, you write specific conditions that say which state comes next. For continuous right-wall following, a simple two-state FSM is enough: State 1 is Wall Follow, and State 2 is Left Turn.</a:t>
            </a:r>
          </a:p>
          <a:p>
            <a:pPr marL="0" lvl="0" indent="0" algn="l" rtl="0">
              <a:lnSpc>
                <a:spcPct val="100000"/>
              </a:lnSpc>
              <a:spcBef>
                <a:spcPts val="0"/>
              </a:spcBef>
              <a:spcAft>
                <a:spcPts val="600"/>
              </a:spcAft>
              <a:buSzPts val="1400"/>
              <a:buNone/>
            </a:pPr>
            <a:r>
              <a:rPr lang="en-US" dirty="0"/>
              <a:t>The key idea is that only one behavior is active at a time. On every pass through the control loop, two things happen. First, the code runs the actions of the current state, which means computing the forward velocity v and the turn rate omega. Second, it checks that state's exit conditions. Those conditions come straight from the LiDAR regions you just extracted in the outer loop, such as "front" and "right front." For example, a short front distance means a wall is ahead, so the robot should stop following the right wall and turn left.</a:t>
            </a:r>
          </a:p>
          <a:p>
            <a:pPr marL="0" lvl="0" indent="0" algn="l" rtl="0">
              <a:lnSpc>
                <a:spcPct val="100000"/>
              </a:lnSpc>
              <a:spcBef>
                <a:spcPts val="0"/>
              </a:spcBef>
              <a:spcAft>
                <a:spcPts val="600"/>
              </a:spcAft>
              <a:buSzPts val="1400"/>
              <a:buNone/>
            </a:pPr>
            <a:r>
              <a:rPr lang="en-US" dirty="0"/>
              <a:t>Why not use one big set of if-statements? With a single block of conditions, the behaviors interfere with each other, and the code is hard to debug.</a:t>
            </a:r>
          </a:p>
          <a:p>
            <a:pPr marL="0" lvl="0" indent="0" algn="l" rtl="0">
              <a:lnSpc>
                <a:spcPct val="100000"/>
              </a:lnSpc>
              <a:spcBef>
                <a:spcPts val="0"/>
              </a:spcBef>
              <a:spcAft>
                <a:spcPts val="600"/>
              </a:spcAft>
              <a:buSzPts val="1400"/>
              <a:buNone/>
            </a:pPr>
            <a:r>
              <a:rPr lang="en-US" dirty="0"/>
              <a:t>A common mistake is forgetting to store the current state in a variable that persists between calls. If it resets every loop, the robot never stays in a state.</a:t>
            </a:r>
          </a:p>
          <a:p>
            <a:pPr marL="0" lvl="0" indent="0" algn="l" rtl="0">
              <a:lnSpc>
                <a:spcPct val="100000"/>
              </a:lnSpc>
              <a:spcBef>
                <a:spcPts val="0"/>
              </a:spcBef>
              <a:spcAft>
                <a:spcPts val="600"/>
              </a:spcAft>
              <a:buSzPts val="1400"/>
              <a:buNone/>
            </a:pPr>
            <a:r>
              <a:rPr lang="en-US" dirty="0"/>
              <a:t>The next slide explains what each of the two states does and when the robot switches between them.</a:t>
            </a: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gives two reasons to use a state machine and then describes the two states for right-wall following, each with the condition that makes the robot leave it.</a:t>
            </a:r>
          </a:p>
          <a:p>
            <a:pPr marL="0" lvl="0" indent="0" algn="l" rtl="0">
              <a:lnSpc>
                <a:spcPct val="100000"/>
              </a:lnSpc>
              <a:spcBef>
                <a:spcPts val="0"/>
              </a:spcBef>
              <a:spcAft>
                <a:spcPts val="600"/>
              </a:spcAft>
              <a:buSzPts val="1400"/>
              <a:buNone/>
            </a:pPr>
            <a:r>
              <a:rPr lang="en-US" dirty="0"/>
              <a:t>The first reason is behavioral. Separating tasks lets the robot carry out complex behaviors that are independent of each other, because each state does one job well. The second reason is software. Each state can live in its own function or file instead of one large function full of nested if statements. That makes your code easier to debug, since you know which state was active when something went wrong, and easier to extend when you want to add a new state later.</a:t>
            </a:r>
          </a:p>
          <a:p>
            <a:pPr marL="0" lvl="0" indent="0" algn="l" rtl="0">
              <a:lnSpc>
                <a:spcPct val="100000"/>
              </a:lnSpc>
              <a:spcBef>
                <a:spcPts val="0"/>
              </a:spcBef>
              <a:spcAft>
                <a:spcPts val="600"/>
              </a:spcAft>
              <a:buSzPts val="1400"/>
              <a:buNone/>
            </a:pPr>
            <a:r>
              <a:rPr lang="en-US" dirty="0"/>
              <a:t>For right-wall following there are two states. State 1 holds the robot at a specific distance from the right wall, using the LiDAR readings. If the robot sees an obstacle in front, such as another wall, it switches to State 2. State 2 handles that obstacle: to avoid a collision, the robot stops and turns left. Once it no longer sees an obstacle ahead, it returns to State 1 and continues following the wall on its right.</a:t>
            </a:r>
          </a:p>
          <a:p>
            <a:pPr marL="0" lvl="0" indent="0" algn="l" rtl="0">
              <a:lnSpc>
                <a:spcPct val="100000"/>
              </a:lnSpc>
              <a:spcBef>
                <a:spcPts val="0"/>
              </a:spcBef>
              <a:spcAft>
                <a:spcPts val="600"/>
              </a:spcAft>
              <a:buSzPts val="1400"/>
              <a:buNone/>
            </a:pPr>
            <a:r>
              <a:rPr lang="en-US" dirty="0"/>
              <a:t>A common mistake is to mix the transition checks into the control math so the logic becomes hard to follow. Keep the two parts separate: each state computes its outputs, then checks its exit condition.</a:t>
            </a:r>
          </a:p>
          <a:p>
            <a:pPr marL="0" lvl="0" indent="0" algn="l" rtl="0">
              <a:lnSpc>
                <a:spcPct val="100000"/>
              </a:lnSpc>
              <a:spcBef>
                <a:spcPts val="0"/>
              </a:spcBef>
              <a:spcAft>
                <a:spcPts val="600"/>
              </a:spcAft>
              <a:buSzPts val="1400"/>
              <a:buNone/>
            </a:pPr>
            <a:r>
              <a:rPr lang="en-US" dirty="0"/>
              <a:t>Quick check: which LiDAR measurement drives the decision to switch between the two states? It is the distance straight ahead, the front reading.</a:t>
            </a:r>
          </a:p>
          <a:p>
            <a:pPr marL="0" lvl="0" indent="0" algn="l" rtl="0">
              <a:lnSpc>
                <a:spcPct val="100000"/>
              </a:lnSpc>
              <a:spcBef>
                <a:spcPts val="0"/>
              </a:spcBef>
              <a:spcAft>
                <a:spcPts val="600"/>
              </a:spcAft>
              <a:buSzPts val="1400"/>
              <a:buNone/>
            </a:pPr>
            <a:r>
              <a:rPr lang="en-US" dirty="0"/>
              <a:t>The next slide turns this description into a state diagram, with the velocity and turn-rate equations for each state and the exact switching thresholds.</a:t>
            </a: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two-state idea from the previous slide into a formal state diagram. It shows two circles connected by two curved arrows. An arrow labeled "start" enters the left circle, so the robot always begins in State 1.</a:t>
            </a:r>
          </a:p>
          <a:p>
            <a:pPr marL="0" lvl="0" indent="0" algn="l" rtl="0">
              <a:lnSpc>
                <a:spcPct val="100000"/>
              </a:lnSpc>
              <a:spcBef>
                <a:spcPts val="0"/>
              </a:spcBef>
              <a:spcAft>
                <a:spcPts val="600"/>
              </a:spcAft>
              <a:buSzPts val="1400"/>
              <a:buNone/>
            </a:pPr>
            <a:r>
              <a:rPr lang="en-US" dirty="0"/>
              <a:t>State 1, Right Wall Follow, sets two commands. The forward velocity is v = v_forward_velocity, a constant. The turn rate is omega = K_p*(d_ref - d_right), read "omega equals K p times d ref minus d right." This is a proportional controller on the LiDAR distance to the right wall. If the robot drifts too close, d_right drops below d_ref and the error grows. That changes omega and steers the robot back toward the reference distance.</a:t>
            </a:r>
          </a:p>
          <a:p>
            <a:pPr marL="0" lvl="0" indent="0" algn="l" rtl="0">
              <a:lnSpc>
                <a:spcPct val="100000"/>
              </a:lnSpc>
              <a:spcBef>
                <a:spcPts val="0"/>
              </a:spcBef>
              <a:spcAft>
                <a:spcPts val="600"/>
              </a:spcAft>
              <a:buSzPts val="1400"/>
              <a:buNone/>
            </a:pPr>
            <a:r>
              <a:rPr lang="en-US" dirty="0"/>
              <a:t>The top arrow goes from State 1 to State 2 and is labeled d_front &gt; d_stop_thresh, "d front greater than d stop thresh."</a:t>
            </a:r>
          </a:p>
          <a:p>
            <a:pPr marL="0" lvl="0" indent="0" algn="l" rtl="0">
              <a:lnSpc>
                <a:spcPct val="100000"/>
              </a:lnSpc>
              <a:spcBef>
                <a:spcPts val="0"/>
              </a:spcBef>
              <a:spcAft>
                <a:spcPts val="600"/>
              </a:spcAft>
              <a:buSzPts val="1400"/>
              <a:buNone/>
            </a:pPr>
            <a:r>
              <a:rPr lang="en-US" dirty="0"/>
              <a:t>State 2, Left Turn, uses v = v_front_turn, typically small, and omega = K_front*(14.5 - d_front), "omega equals K front times 14.5 minus d front." Here 14.5 is a fixed reference for the front distance on the slide. The turn rate scales with how far d_front is from that value.</a:t>
            </a:r>
          </a:p>
          <a:p>
            <a:pPr marL="0" lvl="0" indent="0" algn="l" rtl="0">
              <a:lnSpc>
                <a:spcPct val="100000"/>
              </a:lnSpc>
              <a:spcBef>
                <a:spcPts val="0"/>
              </a:spcBef>
              <a:spcAft>
                <a:spcPts val="600"/>
              </a:spcAft>
              <a:buSzPts val="1400"/>
              <a:buNone/>
            </a:pPr>
            <a:r>
              <a:rPr lang="en-US" dirty="0"/>
              <a:t>The bottom arrow returns from State 2 to State 1 and is labeled d_front &lt; d_start_thresh.</a:t>
            </a:r>
          </a:p>
          <a:p>
            <a:pPr marL="0" lvl="0" indent="0" algn="l" rtl="0">
              <a:lnSpc>
                <a:spcPct val="100000"/>
              </a:lnSpc>
              <a:spcBef>
                <a:spcPts val="0"/>
              </a:spcBef>
              <a:spcAft>
                <a:spcPts val="600"/>
              </a:spcAft>
              <a:buSzPts val="1400"/>
              <a:buNone/>
            </a:pPr>
            <a:r>
              <a:rPr lang="en-US" dirty="0"/>
              <a:t>Notice that the two transitions use two different thresholds, d_stop_thresh and d_start_thresh, rather than one. That choice is deliberate, and the next slides explain why: it prevents the robot from chattering between states.</a:t>
            </a:r>
          </a:p>
          <a:p>
            <a:pPr marL="0" lvl="0" indent="0" algn="l" rtl="0">
              <a:lnSpc>
                <a:spcPct val="100000"/>
              </a:lnSpc>
              <a:spcBef>
                <a:spcPts val="0"/>
              </a:spcBef>
              <a:spcAft>
                <a:spcPts val="600"/>
              </a:spcAft>
              <a:buSzPts val="1400"/>
              <a:buNone/>
            </a:pPr>
            <a:r>
              <a:rPr lang="en-US" dirty="0"/>
              <a:t>A quick check for the lab: when you write this as a switch statement in your code, print d_front as you walk a wall toward the robot. Confirm that each inequality triggers in the situation you intend before tuning K_p and K_front.</a:t>
            </a: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main weakness of the two-state wall-following machine you just saw: chattering, also called Zeno behavior. Zeno behavior means the system makes an infinite number of jumps in finite time. On the robot, if the front LiDAR distance hovers right at a single transition threshold, small sensor noise pushes it back and forth across that line, and the logic flips between State 1 (right wall follow) and State 2 (left turn) on nearly every sample. The motors receive alternating commands and the robot jitters instead of committing to either behavior.</a:t>
            </a:r>
          </a:p>
          <a:p>
            <a:pPr marL="0" lvl="0" indent="0" algn="l" rtl="0">
              <a:lnSpc>
                <a:spcPct val="100000"/>
              </a:lnSpc>
              <a:spcBef>
                <a:spcPts val="0"/>
              </a:spcBef>
              <a:spcAft>
                <a:spcPts val="600"/>
              </a:spcAft>
              <a:buSzPts val="1400"/>
              <a:buNone/>
            </a:pPr>
            <a:r>
              <a:rPr lang="en-US" dirty="0"/>
              <a:t>The fix the slide proposes is to build a deadband, or hysteresis, zone into the transition boundaries. A deadband is an inactive region where no action is taken. The slide's example applies this to a velocity command: rather than sending a velocity that is almost zero, set it exactly to zero. In words, when the absolute value of v is less than epsilon, set v to zero, written as if |v| &lt; epsilon then v = 0. This saves power and avoids reacting to small noise or gear backlash.</a:t>
            </a:r>
          </a:p>
          <a:p>
            <a:pPr marL="0" lvl="0" indent="0" algn="l" rtl="0">
              <a:lnSpc>
                <a:spcPct val="100000"/>
              </a:lnSpc>
              <a:spcBef>
                <a:spcPts val="0"/>
              </a:spcBef>
              <a:spcAft>
                <a:spcPts val="600"/>
              </a:spcAft>
              <a:buSzPts val="1400"/>
              <a:buNone/>
            </a:pPr>
            <a:r>
              <a:rPr lang="en-US" dirty="0"/>
              <a:t>The plot on the right shows a deadband with both axes running from minus 1 to 1. The input is a solid blue diagonal line, where output equals input. The dashed red output lies on that line except between minus 0.5 and 0.5, where it is held at zero. At plus and minus 0.5 it jumps vertically back onto the line. So in this plot epsilon is 0.5. Any input smaller than 0.5 in magnitude produces no output, and larger inputs pass through unchanged.</a:t>
            </a:r>
          </a:p>
          <a:p>
            <a:pPr marL="0" lvl="0" indent="0" algn="l" rtl="0">
              <a:lnSpc>
                <a:spcPct val="100000"/>
              </a:lnSpc>
              <a:spcBef>
                <a:spcPts val="0"/>
              </a:spcBef>
              <a:spcAft>
                <a:spcPts val="600"/>
              </a:spcAft>
              <a:buSzPts val="1400"/>
              <a:buNone/>
            </a:pPr>
            <a:r>
              <a:rPr lang="en-US" dirty="0"/>
              <a:t>A common mistake is choosing an epsilon smaller than your sensor's noise level. If you do that, the deadband does nothing to stop the chatter.</a:t>
            </a:r>
          </a:p>
          <a:p>
            <a:pPr marL="0" lvl="0" indent="0" algn="l" rtl="0">
              <a:lnSpc>
                <a:spcPct val="100000"/>
              </a:lnSpc>
              <a:spcBef>
                <a:spcPts val="0"/>
              </a:spcBef>
              <a:spcAft>
                <a:spcPts val="600"/>
              </a:spcAft>
              <a:buSzPts val="1400"/>
              <a:buNone/>
            </a:pPr>
            <a:r>
              <a:rPr lang="en-US" dirty="0"/>
              <a:t>Next, you will look at hysteresis, which applies the same idea using two different thresholds.</a:t>
            </a:r>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hysteresis, the second tool against chattering after the deadband on the previous slide. The text reads: hysteresis is path-dependent, where the output relies on whether the variable is rising or falling.</a:t>
            </a:r>
          </a:p>
          <a:p>
            <a:pPr marL="0" lvl="0" indent="0" algn="l" rtl="0">
              <a:lnSpc>
                <a:spcPct val="100000"/>
              </a:lnSpc>
              <a:spcBef>
                <a:spcPts val="0"/>
              </a:spcBef>
              <a:spcAft>
                <a:spcPts val="600"/>
              </a:spcAft>
              <a:buSzPts val="1400"/>
              <a:buNone/>
            </a:pPr>
            <a:r>
              <a:rPr lang="en-US" dirty="0"/>
              <a:t>The figure plots output on the vertical axis against input on the horizontal axis. A dashed orange diagonal line marks the ideal one-to-one response, where each input always gives the same output. Around it, two green curves form a lens-shaped loop. Both curves start at the origin and meet again at the upper right. When the input increases, the output follows the lower curve, below the diagonal; the arrows on that curve point up and to the right. When the input decreases, the output comes back along the upper curve, above the diagonal, with arrows pointing down and to the left. A dashed vertical line at one input value crosses both curves. The double-headed arrow between those two crossings is labeled "Hysteresis": at the same input there are two possible outputs.</a:t>
            </a:r>
          </a:p>
          <a:p>
            <a:pPr marL="0" lvl="0" indent="0" algn="l" rtl="0">
              <a:lnSpc>
                <a:spcPct val="100000"/>
              </a:lnSpc>
              <a:spcBef>
                <a:spcPts val="0"/>
              </a:spcBef>
              <a:spcAft>
                <a:spcPts val="600"/>
              </a:spcAft>
              <a:buSzPts val="1400"/>
              <a:buNone/>
            </a:pPr>
            <a:r>
              <a:rPr lang="en-US" dirty="0"/>
              <a:t>The key idea is memory. With hysteresis, you cannot predict the output from the current input alone. You also need to know which direction the input came from, which means knowing the current state. A home thermostat works this way. It turns the heat on at 19 degrees and off at 21, so it does not click on and off around 20.</a:t>
            </a:r>
          </a:p>
          <a:p>
            <a:pPr marL="0" lvl="0" indent="0" algn="l" rtl="0">
              <a:lnSpc>
                <a:spcPct val="100000"/>
              </a:lnSpc>
              <a:spcBef>
                <a:spcPts val="0"/>
              </a:spcBef>
              <a:spcAft>
                <a:spcPts val="600"/>
              </a:spcAft>
              <a:buSzPts val="1400"/>
              <a:buNone/>
            </a:pPr>
            <a:r>
              <a:rPr lang="en-US" dirty="0"/>
              <a:t>For the wall follower, the same idea means using two different thresholds instead of one. One threshold switches the robot into the turn. A different threshold switches it back to wall following. Sensor noise near either threshold can then no longer flip the state back and forth.</a:t>
            </a:r>
          </a:p>
          <a:p>
            <a:pPr marL="0" lvl="0" indent="0" algn="l" rtl="0">
              <a:lnSpc>
                <a:spcPct val="100000"/>
              </a:lnSpc>
              <a:spcBef>
                <a:spcPts val="0"/>
              </a:spcBef>
              <a:spcAft>
                <a:spcPts val="600"/>
              </a:spcAft>
              <a:buSzPts val="1400"/>
              <a:buNone/>
            </a:pPr>
            <a:r>
              <a:rPr lang="en-US" dirty="0"/>
              <a:t>On the next slide, you see this applied with start and stop thresholds of 1.0 and 1.5 meters.</a:t>
            </a: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hysteresis idea from the last two slides directly to our wall-following state machine.</a:t>
            </a:r>
          </a:p>
          <a:p>
            <a:pPr marL="0" lvl="0" indent="0" algn="l" rtl="0">
              <a:lnSpc>
                <a:spcPct val="100000"/>
              </a:lnSpc>
              <a:spcBef>
                <a:spcPts val="0"/>
              </a:spcBef>
              <a:spcAft>
                <a:spcPts val="600"/>
              </a:spcAft>
              <a:buSzPts val="1400"/>
              <a:buNone/>
            </a:pPr>
            <a:r>
              <a:rPr lang="en-US" dirty="0"/>
              <a:t>The diagram shows two states. A start arrow enters State 1, Right Wall Follow, where v = v_forward_velocity and omega = K_p*(d_ref - d_right). This is the proportional controller that holds the robot a reference distance from the right wall. An arrow along the top goes to State 2, Left Turn, labeled d_front &gt; d_stop_thresh. In State 2, v = v_front_turn and omega = K_front*(14.5 - d_front), so the turn rate depends on the front distance compared to a fixed value of 14.5. An arrow along the bottom returns to State 1, labeled d_front &lt; d_start_thresh.</a:t>
            </a:r>
          </a:p>
          <a:p>
            <a:pPr marL="0" lvl="0" indent="0" algn="l" rtl="0">
              <a:lnSpc>
                <a:spcPct val="100000"/>
              </a:lnSpc>
              <a:spcBef>
                <a:spcPts val="0"/>
              </a:spcBef>
              <a:spcAft>
                <a:spcPts val="600"/>
              </a:spcAft>
              <a:buSzPts val="1400"/>
              <a:buNone/>
            </a:pPr>
            <a:r>
              <a:rPr lang="en-US" dirty="0"/>
              <a:t>The key design rule on the slide is that the two thresholds are different numbers: d_stop_thresh is strictly greater than d_start_thresh. That gap is the hysteresis band. A single shared threshold would let sensor noise flip the robot back and forth between states, which is the chattering we discussed earlier.</a:t>
            </a:r>
          </a:p>
          <a:p>
            <a:pPr marL="0" lvl="0" indent="0" algn="l" rtl="0">
              <a:lnSpc>
                <a:spcPct val="100000"/>
              </a:lnSpc>
              <a:spcBef>
                <a:spcPts val="0"/>
              </a:spcBef>
              <a:spcAft>
                <a:spcPts val="600"/>
              </a:spcAft>
              <a:buSzPts val="1400"/>
              <a:buNone/>
            </a:pPr>
            <a:r>
              <a:rPr lang="en-US" dirty="0"/>
              <a:t>Try the slide's question: the start threshold is 1.0 meter, the stop threshold is 1.5 meters, and the robot reads 1.2 meters. Which state is it in? The answer is that it simply stays in whatever state it is already in. A reading of 1.2 is not greater than 1.5 and not less than 1.0, so neither transition fires. The current state depends on the path the robot took to get there, which is exactly the path dependence of hysteresis.</a:t>
            </a:r>
          </a:p>
          <a:p>
            <a:pPr marL="0" lvl="0" indent="0" algn="l" rtl="0">
              <a:lnSpc>
                <a:spcPct val="100000"/>
              </a:lnSpc>
              <a:spcBef>
                <a:spcPts val="0"/>
              </a:spcBef>
              <a:spcAft>
                <a:spcPts val="600"/>
              </a:spcAft>
              <a:buSzPts val="1400"/>
              <a:buNone/>
            </a:pPr>
            <a:r>
              <a:rPr lang="en-US" dirty="0"/>
              <a:t>A common mistake in the lab is to write both transitions against the same number, or to forget to store the current state between calls of your control loop. The state variable must persist, for example as a static or global variable.</a:t>
            </a:r>
          </a:p>
          <a:p>
            <a:pPr marL="0" lvl="0" indent="0" algn="l" rtl="0">
              <a:lnSpc>
                <a:spcPct val="100000"/>
              </a:lnSpc>
              <a:spcBef>
                <a:spcPts val="0"/>
              </a:spcBef>
              <a:spcAft>
                <a:spcPts val="600"/>
              </a:spcAft>
              <a:buSzPts val="1400"/>
              <a:buNone/>
            </a:pPr>
            <a:r>
              <a:rPr lang="en-US" dirty="0"/>
              <a:t>Next, we look at a micromouse, a small maze-solving robot that combines these same sensors and control ideas.</a:t>
            </a: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"Mechatronics Example" in dark blue on the orange Illinois background, decorated with faint hand-drawn engineering sketches and the Grainger Engineering footer.</a:t>
            </a:r>
          </a:p>
          <a:p>
            <a:pPr marL="0" lvl="0" indent="0" algn="l" rtl="0">
              <a:spcBef>
                <a:spcPts val="0"/>
              </a:spcBef>
              <a:spcAft>
                <a:spcPts val="600"/>
              </a:spcAft>
              <a:buNone/>
            </a:pPr>
            <a:r>
              <a:rPr lang="en-US" dirty="0"/>
              <a:t>You just built a wall-following state machine with hysteresis. Before finishing it, take a short detour to a real robot that solves mazes with the same building blocks you use: IR distance sensors, a gyroscope, encoders, DC motors and a microcontroller. Watch how tightly hardware, software and environment fit together, then return to the state machine.</a:t>
            </a: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a real-world mechatronics example: the micromouse, a small autonomous robot that races to the center of a maze. The text calls the video we are about to watch a fantastic example of mechatronics, the tight integration of hardware, software, an understanding of the environment the robot operates in, and building the robot specifically for that environment. It also calls micromouse the forefront of micro-optimizations, where every small improvement is squeezed out for performance.</a:t>
            </a:r>
          </a:p>
          <a:p>
            <a:pPr marL="0" lvl="0" indent="0" algn="l" rtl="0">
              <a:lnSpc>
                <a:spcPct val="100000"/>
              </a:lnSpc>
              <a:spcBef>
                <a:spcPts val="0"/>
              </a:spcBef>
              <a:spcAft>
                <a:spcPts val="600"/>
              </a:spcAft>
              <a:buSzPts val="1400"/>
              <a:buNone/>
            </a:pPr>
            <a:r>
              <a:rPr lang="en-US" dirty="0"/>
              <a:t>The photo, credited to Hackaday's 2008 article on a vacuum micromouse, shows a palm-sized robot on a red oval circuit board. It has two black drive wheels on DC motors, a large square microcontroller chip, a small green gyroscope breakout board, and pairs of infrared sensors angled outward at the front. A round white disc with a black patterned ring sits on top above the wheels. The word "here" on the slide links to some of the robot's code.</a:t>
            </a:r>
          </a:p>
          <a:p>
            <a:pPr marL="0" lvl="0" indent="0" algn="l" rtl="0">
              <a:lnSpc>
                <a:spcPct val="100000"/>
              </a:lnSpc>
              <a:spcBef>
                <a:spcPts val="0"/>
              </a:spcBef>
              <a:spcAft>
                <a:spcPts val="600"/>
              </a:spcAft>
              <a:buSzPts val="1400"/>
              <a:buNone/>
            </a:pPr>
            <a:r>
              <a:rPr lang="en-US" dirty="0"/>
              <a:t>The point to notice is that this robot uses the same building blocks you use in this course. It has IR sensors for measuring distance to walls, a gyroscope for heading, encoders for wheel distance, DC motors driven by PWM, and a microcontroller running all of it. The wall-following state machine from the last few slides is essentially the core of a micromouse search run.</a:t>
            </a:r>
          </a:p>
          <a:p>
            <a:pPr marL="0" lvl="0" indent="0" algn="l" rtl="0">
              <a:lnSpc>
                <a:spcPct val="100000"/>
              </a:lnSpc>
              <a:spcBef>
                <a:spcPts val="0"/>
              </a:spcBef>
              <a:spcAft>
                <a:spcPts val="600"/>
              </a:spcAft>
              <a:buSzPts val="1400"/>
              <a:buNone/>
            </a:pPr>
            <a:r>
              <a:rPr lang="en-US" dirty="0"/>
              <a:t>As you watch the video on the next slide, ask yourself which state transitions and sensor thresholds the robot must be using.</a:t>
            </a: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the Veritasium video "The Fastest Maze-Solving Competition On Earth." The thumbnail is an overhead view of a large micromouse maze with glowing red walls. A blue line traces the robot's path from a corner start square toward the white goal square near the center. Spectators crowd the edges, and a red digital timer reads 3.59 seconds. As you watch, notice the IR sensors, gyroscope, encoders, and motors from the previous slide. Afterward, we map that behavior onto a full wall-following state machine.</a:t>
            </a: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revisits the wall-following state machine, extended into a full micromouse controller like the one in the video. The diagram shows nine states as circles connected by labeled transition arrows.</a:t>
            </a:r>
          </a:p>
          <a:p>
            <a:pPr marL="0" lvl="0" indent="0" algn="l" rtl="0">
              <a:lnSpc>
                <a:spcPct val="100000"/>
              </a:lnSpc>
              <a:spcBef>
                <a:spcPts val="0"/>
              </a:spcBef>
              <a:spcAft>
                <a:spcPts val="600"/>
              </a:spcAft>
              <a:buSzPts val="1400"/>
              <a:buNone/>
            </a:pPr>
            <a:r>
              <a:rPr lang="en-US" dirty="0"/>
              <a:t>At power on, the robot enters State 0, Idle/Calibrate: v = 0 and omega = 0, the IMU is zeroed and SLAM is initialized. A pushbutton press, with the IMU ready flag equal to 1, moves it to State 1, Search Forward. Here v = v_search and omega = K_p*(d_ref - d_side), which is "omega equals K p times the reference wall distance minus the measured side distance." This is the wall-following controller from earlier in the lecture.</a:t>
            </a:r>
          </a:p>
          <a:p>
            <a:pPr marL="0" lvl="0" indent="0" algn="l" rtl="0">
              <a:lnSpc>
                <a:spcPct val="100000"/>
              </a:lnSpc>
              <a:spcBef>
                <a:spcPts val="0"/>
              </a:spcBef>
              <a:spcAft>
                <a:spcPts val="600"/>
              </a:spcAft>
              <a:buSzPts val="1400"/>
              <a:buNone/>
            </a:pPr>
            <a:r>
              <a:rPr lang="en-US" dirty="0"/>
              <a:t>When the encoder distance reaches one cell length, L_cell, the robot enters State 4, SLAM and Flood-Fill. It updates the occupancy grid, recalculates the path cost, and then branches:</a:t>
            </a:r>
          </a:p>
          <a:p>
            <a:pPr marL="0" lvl="0" indent="0" algn="l" rtl="0">
              <a:lnSpc>
                <a:spcPct val="100000"/>
              </a:lnSpc>
              <a:spcBef>
                <a:spcPts val="0"/>
              </a:spcBef>
              <a:spcAft>
                <a:spcPts val="600"/>
              </a:spcAft>
              <a:buSzPts val="1400"/>
              <a:buNone/>
            </a:pPr>
            <a:r>
              <a:rPr lang="en-US" dirty="0"/>
              <a:t>1. If the optimal path is forward, it returns to State 1.</a:t>
            </a:r>
          </a:p>
          <a:p>
            <a:pPr marL="0" lvl="0" indent="0" algn="l" rtl="0">
              <a:lnSpc>
                <a:spcPct val="100000"/>
              </a:lnSpc>
              <a:spcBef>
                <a:spcPts val="0"/>
              </a:spcBef>
              <a:spcAft>
                <a:spcPts val="600"/>
              </a:spcAft>
              <a:buSzPts val="1400"/>
              <a:buNone/>
            </a:pPr>
            <a:r>
              <a:rPr lang="en-US" dirty="0"/>
              <a:t>2. If the path is left or right, it goes to State 2, a 90 degree pivot with v = 0 and omega = K_t*(theta_target - theta_gyro). It returns to State 1 when the heading error is about zero.</a:t>
            </a:r>
          </a:p>
          <a:p>
            <a:pPr marL="0" lvl="0" indent="0" algn="l" rtl="0">
              <a:lnSpc>
                <a:spcPct val="100000"/>
              </a:lnSpc>
              <a:spcBef>
                <a:spcPts val="0"/>
              </a:spcBef>
              <a:spcAft>
                <a:spcPts val="600"/>
              </a:spcAft>
              <a:buSzPts val="1400"/>
              <a:buNone/>
            </a:pPr>
            <a:r>
              <a:rPr lang="en-US" dirty="0"/>
              <a:t>3. If three walls are closed (a dead end), it goes to State 3, a 180 degree U-turn at saturated omega_max. It returns to State 1 once it has turned 180 degrees.</a:t>
            </a:r>
          </a:p>
          <a:p>
            <a:pPr marL="0" lvl="0" indent="0" algn="l" rtl="0">
              <a:lnSpc>
                <a:spcPct val="100000"/>
              </a:lnSpc>
              <a:spcBef>
                <a:spcPts val="0"/>
              </a:spcBef>
              <a:spcAft>
                <a:spcPts val="600"/>
              </a:spcAft>
              <a:buSzPts val="1400"/>
              <a:buNone/>
            </a:pPr>
            <a:r>
              <a:rPr lang="en-US" dirty="0"/>
              <a:t>4. If the center coordinate is reached, it goes to State 5, Goal Reached, which optimizes a diagonal path and flashes a ready LED.</a:t>
            </a:r>
          </a:p>
          <a:p>
            <a:pPr marL="0" lvl="0" indent="0" algn="l" rtl="0">
              <a:lnSpc>
                <a:spcPct val="100000"/>
              </a:lnSpc>
              <a:spcBef>
                <a:spcPts val="0"/>
              </a:spcBef>
              <a:spcAft>
                <a:spcPts val="600"/>
              </a:spcAft>
              <a:buSzPts val="1400"/>
              <a:buNone/>
            </a:pPr>
            <a:r>
              <a:rPr lang="en-US" dirty="0"/>
              <a:t>A second button press starts State 6, Speed Sprint, at v_max with gyro heading hold. When d_error &lt; d_brake near a waypoint, the robot switches to State 7, High-G Curve. The vacuum fan turns on and the robot tracks a clothoid trajectory, then returns to State 6 when the curve exit vector is achieved. The finish line, or any collision or fault, triggers State 8, Hard Deceleration: a = -a_max until v reaches zero, then back to State 0.</a:t>
            </a:r>
          </a:p>
          <a:p>
            <a:pPr marL="0" lvl="0" indent="0" algn="l" rtl="0">
              <a:lnSpc>
                <a:spcPct val="100000"/>
              </a:lnSpc>
              <a:spcBef>
                <a:spcPts val="0"/>
              </a:spcBef>
              <a:spcAft>
                <a:spcPts val="600"/>
              </a:spcAft>
              <a:buSzPts val="1400"/>
              <a:buNone/>
            </a:pPr>
            <a:r>
              <a:rPr lang="en-US" dirty="0"/>
              <a:t>One coding tip: never test floats with ==. Write encoder distance &gt;= L_cell.</a:t>
            </a:r>
          </a:p>
          <a:p>
            <a:pPr marL="0" lvl="0" indent="0" algn="l" rtl="0">
              <a:lnSpc>
                <a:spcPct val="100000"/>
              </a:lnSpc>
              <a:spcBef>
                <a:spcPts val="0"/>
              </a:spcBef>
              <a:spcAft>
                <a:spcPts val="600"/>
              </a:spcAft>
              <a:buSzPts val="1400"/>
              <a:buNone/>
            </a:pPr>
            <a:r>
              <a:rPr lang="en-US" dirty="0"/>
              <a:t>Which state would you add for recovering from a lost wall reading?</a:t>
            </a: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navy background. Faint hand-drawn sketches of equations, a cube, molecules and a commutative diagram sit in the background. The Illinois "I" logo is in the top right, and the footer reads Systems Engineering and Grainger Engineering.</a:t>
            </a:r>
          </a:p>
          <a:p>
            <a:pPr marL="0" lvl="0" indent="0" algn="l" rtl="0">
              <a:spcBef>
                <a:spcPts val="0"/>
              </a:spcBef>
              <a:spcAft>
                <a:spcPts val="600"/>
              </a:spcAft>
              <a:buNone/>
            </a:pPr>
            <a:r>
              <a:rPr lang="en-US" dirty="0"/>
              <a:t>This is the time to ask about anything from today: IR and LiDAR sensing, the inner and outer loops of wall following, or the maze-robot state machine you just saw.</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standard Grainger College of Engineering title card. It has an orange background with faint hand-sketched equations, a cube, a sphere and commutative diagrams. In the center are the Illinois block "I" logo and the text "The Grainger College of Engineering, University of Illinois Urbana-Champaign."</a:t>
            </a:r>
          </a:p>
          <a:p>
            <a:pPr marL="0" lvl="0" indent="0" algn="l" rtl="0">
              <a:spcBef>
                <a:spcPts val="0"/>
              </a:spcBef>
              <a:spcAft>
                <a:spcPts val="600"/>
              </a:spcAft>
              <a:buNone/>
            </a:pPr>
            <a:r>
              <a:rPr lang="en-US" dirty="0"/>
              <a:t>That ends Lecture 14. Today you saw IR and LiDAR sensing, wall following with an inner and an outer control loop, and how a state machine organizes a full maze-solving robot. Before the next lab, consider which states your own robot will need.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EA0000"/>
                </a:solidFill>
                <a:latin typeface="Atkinson Hyperlegible Next"/>
                <a:ea typeface="Arial"/>
                <a:cs typeface="Arial"/>
                <a:sym typeface="Arial"/>
              </a:rPr>
              <a:t>NO OFFICE HOURS </a:t>
            </a:r>
            <a:r>
              <a:rPr lang="en-US" sz="1800">
                <a:solidFill>
                  <a:srgbClr val="EA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hoto: Sharp GP2Y0A41SK0F infrared distance sensor (4 to 30 centimeter range), a small black module with mounting holes at each end and two round lenses stacked vertically, one for the IR LED emitter and one for the light detector, as labeled on the slide. A white connector on its side leads to three wires: red for power, black for ground, and yellow for the analog distance output.">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EA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riangulation in an IR distance sensor: an IR LED shines a beam straight up through a lens onto an object. The scattered reflection returns at an angle through a second lens beside it and lands on a position-sensitive IR detector. A near object's reflection arrives at a steeper angle and lands farther along the detector than a far object's, so the spot's position on the detector indicates distance.">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descr="Illustration of the inverse-square law: a source of power P radiates through a cone, so intensity on a sphere of radius r is I equals P over 4 pi r squared. The patch of area A at distance r spreads over 4 patches at 2r and 9 patches at 3r, so intensity drops to I over 4 and I over 9. Doubling the distance spreads the energy over four times the area, giving one-fourth the intensity.">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Rendering of a cylindrical spinning LiDAR sensor: a metal base and cap around a dark rotating window, with a red laser beam emitted horizontally from the window. The head rotates to sweep the beam around the sensor and measure distances in all directions.">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hoto: An inexpensive 2D scanning LiDAR module. A round black sensor head sits on a teardrop-shaped circuit-board base, with a small DC motor at the narrow end that spins the head so its laser rangefinder sweeps a full 360-degree circle. A multi-wire cable connects at the side for power and data.">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descr="Time-of-flight diagram: a laser emitter sends a pulse across distance d to a target, which reflects it back to a receiver beside the emitter. The time t, marked between emission and reception, spans the full round trip out and back. The resulting equation is d equals c times t, divided by 2, where c is the speed of light.">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descr="Diagram: a laser mounted above a sensor, separated by a small offset. The laser's narrow red beam and the sensor's wide blue field of view diverge from different points and overlap only beyond a certain distance. At a near target plane, 1, the red laser spot falls just above the sensor's circular view, so the return is not seen. At a farther plane, 2, the laser spot lies inside the sensor's view, so it is detected. This sets the minimum sensing distance.">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descr="Timing diagram of pulsed time-of-flight ranging, shown in two cases. A light source emits pulses of width t toward a target at distance d, and the reflection returns to a sensor. In case 1, the received pulse train is sampled by two consecutive gates, q sub 1 and q sub 2, each one pulse width long; the split of returned light between them encodes the delay. Case 2 adds a second gate pair, q sub 3 and q sub 4, offset by half a pulse width, giving additional phase samples of the same return.">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descr="Diagram: a LiDAR beam widens as it travels down through a tall tree, a small tree, and onto the ground, with time or range increasing downward. Five echoes occur at the canopy top (first), two branch layers (second, third), the small tree (fourth), and the ground (last). The discrete-return column records only these five points. The full-waveform column records continuous return intensity, with peaks at the same depths: the strongest at the canopy top, smaller ones below, and a narrow peak at the ground.">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Three-panel illustration of LiDAR scanning. Top: a LiDAR unit whose laser bounces off an angled mirror inside, with an arrow showing the mirror spinning to sweep the beam. Middle: top-down view of a walled rectangular room with the LiDAR near the top wall, its beam hitting the left wall, and a round obstacle in the lower right. Bottom: the resulting point cloud so far, with the LiDAR as a dot and a column of plus-sign points marking the detected left wall.">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and delay tables for a fighter-jet flight control (FC) system running a 10 ms, 100 Hz frame. IMU (600 Hz) feeds NAV processing over RS422, then dual-port RAM to the FC. Alpha and beta vanes feed an RIU over analog, then 1553 to the FC. The FC commands elevon, thrust-vector and nosewheel-steering actuators over RS422, and gear brake actuators over 1553. Feedback delays: IMU 1 to 2.7 ms, vanes up to 20 ms. Command delays: control surfaces 6 to 7.7 ms, brakes 6 to 16 ms.">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top-down view of the LiDAR scan pattern. The LiDAR sits at the center, and distance rays fan outward every 15 degrees across a 240-degree sector centered on the forward direction (pointing right), from 120 degrees on one side to 120 degrees on the other. A 120-degree wedge directly behind the sensor is not scanned.">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EA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EA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EA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lot: deadband function, output versus input, both axes from minus 1 to 1. The input is a solid diagonal line, output equals input. The dashed output follows that line except between minus 0.5 and 0.5, where it is held at zero, jumping vertically to zero at plus and minus 0.5. Inputs smaller than 0.5 in magnitude produce no output; larger inputs pass through unchang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lot of output versus input showing a hysteresis loop. A straight diagonal line marks the ideal one-to-one response. As input increases, the output follows a lower curve below the line; as input decreases, it returns along an upper curve above it. Both curves meet at the minimum and maximum. A vertical line at one input value crosses both curves at different outputs, and the vertical gap between them is labeled hysteresis.">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descr="Photo: a palm-sized micromouse maze-solving robot built on a red oval circuit board, with two black drive wheels on DC motors, a large square microcontroller chip, a small green gyroscope breakout board, and pairs of infrared sensors angled outward at the front. A round white disc with a black patterned ring sits on top above the wheels. Together these show the IR sensors, gyroscope, encoders, motors and microcontroller listed on the slide packed into one compact robot.">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of a maze robot. From power on, State 0 (Idle/Calibrate: stopped, zero IMU, init SLAM) goes to State 1 (Search Forward: v equals v sub search, omega equals K sub p times d sub ref minus d sub side) on pushbutton with IMU ready. After one cell of encoder distance, State 4 (SLAM and flood-fill) chooses: forward back to State 1; left/right to State 2, a 90° gyro pivot, omega equals K sub t times theta sub target minus theta sub gyro, returning when heading error is near zero; dead end to State 3, a saturated 180° U-turn, returning at 180°; or center reached to State 5 (Goal Reached: optimize diagonal path). A second button starts State 6, Speed Sprint at v max, alternating with State 7, High-G Curve with vacuum fan, when distance error falls below braking distance. Finish line or collision triggers State 8, Hard Deceleration, returning to State 0 once stopped.">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