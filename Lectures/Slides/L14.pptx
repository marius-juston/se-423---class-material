
<file path=[Content_Types].xml><?xml version="1.0" encoding="utf-8"?>
<Types xmlns="http://schemas.openxmlformats.org/package/2006/content-types"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417" r:id="rId3"/>
    <p:sldId id="413" r:id="rId4"/>
    <p:sldId id="272" r:id="rId5"/>
    <p:sldId id="258" r:id="rId6"/>
    <p:sldId id="418" r:id="rId7"/>
    <p:sldId id="419" r:id="rId8"/>
    <p:sldId id="424" r:id="rId9"/>
    <p:sldId id="420" r:id="rId10"/>
    <p:sldId id="425" r:id="rId11"/>
    <p:sldId id="426" r:id="rId12"/>
    <p:sldId id="427" r:id="rId13"/>
    <p:sldId id="428" r:id="rId14"/>
    <p:sldId id="429" r:id="rId15"/>
    <p:sldId id="430" r:id="rId16"/>
    <p:sldId id="431" r:id="rId17"/>
    <p:sldId id="433" r:id="rId18"/>
    <p:sldId id="434" r:id="rId19"/>
    <p:sldId id="437" r:id="rId20"/>
    <p:sldId id="436" r:id="rId21"/>
    <p:sldId id="441" r:id="rId22"/>
    <p:sldId id="442" r:id="rId23"/>
    <p:sldId id="435" r:id="rId24"/>
    <p:sldId id="439" r:id="rId25"/>
    <p:sldId id="440" r:id="rId26"/>
    <p:sldId id="444" r:id="rId27"/>
    <p:sldId id="443" r:id="rId28"/>
    <p:sldId id="445" r:id="rId29"/>
    <p:sldId id="447" r:id="rId30"/>
    <p:sldId id="446" r:id="rId31"/>
    <p:sldId id="422" r:id="rId32"/>
    <p:sldId id="423" r:id="rId33"/>
    <p:sldId id="271" r:id="rId34"/>
    <p:sldId id="270" r:id="rId35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7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6" d="100"/>
          <a:sy n="146" d="100"/>
        </p:scale>
        <p:origin x="120" y="2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customschemas.google.com/relationships/presentationmetadata" Target="metadata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CE7E3B5-49B9-1887-BB3D-532FE9FF859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5B324B9-F340-1116-1318-88A50BDE8B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0993868-158A-56AF-D3A1-6FFF7658AE6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25405439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F004519-0EAD-FA0D-DE7A-BBED69225C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9E58F23-9AF7-DB67-E863-18BBB13641E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3C79A737-144F-41FB-6FD9-A9EBE11C95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771917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AF9ED5EC-765E-DDD7-332B-8A00B0540F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5154540A-10BF-B029-D910-A380E44E1A0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D65677FB-0014-3040-C794-160B4CD86AA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2538161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D34AD55-D0C6-5D68-E050-4F94A2D016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DA5A085-5EBC-FABD-4836-8DEAA0E329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ACEF470-D060-3636-DAF4-FC8F3E3F2C4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264572940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678030C-9A80-DCB6-FB9E-F49FC87EAF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4859AA9-FADB-43FF-D4B4-B9D1220FC7A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D728E28-8AA0-CB59-5D32-2559A40D813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3807906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9A14EAB-0DB8-2DCC-37DF-12E6B1061D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45280FF-CFEE-5EC7-CB7E-B6727E395D5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F0B66F4-2528-81D8-50B8-5ED120B113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7210814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B70FF64-A0B7-350C-1DF7-3C39BBE92E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FAF515B-4B8E-0BA1-FEE2-A1824B1179B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3BCA82D-A0C9-AA64-1969-5FF00FD9EBD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5927681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94497091-9AD6-265D-EBED-F77C6E12B0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ECC046CF-44B8-D104-DC3D-06E53478C07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3807690A-A0AE-756E-6B11-627B22873D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01973849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57CEA06-8988-A6A1-B200-6C716ED775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32B7910-84F0-EA5E-F470-F9F2EB40B4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B911C18-0B25-F82E-AF69-3B75E4093A6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41389772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971EEEA-D621-B9EB-9BAD-9A038354A7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2129399B-A073-0D27-CF9C-663534E0242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CF4F3AD-6C1E-44CD-7B07-EA8EAC7874D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05213693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25F1C95-F9C3-5482-32EC-523AA6B992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0A98234-7FD6-D7D4-425D-A9FBDF6F266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660A290-00AF-036C-DE30-5F490B496DA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965222888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D4CB045-F60D-AA20-7051-A3B506E17D9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6D6BEDF-BDA3-319E-DBE4-6F9F1AA9491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B45C9B0-2D16-447B-95E8-B33C7F89FDB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7749094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E3CC942D-6170-B6BF-0FCA-11353B05E6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3A86DC03-5AE7-8C3F-C362-B906AFD880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94363D7-BB1B-B176-9EBE-21797BB78F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70639950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375D989A-6349-DFE4-39E3-711D031BE6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5A6B6E0D-8281-FD38-E756-3D45B167329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10FE89B1-8EF5-7E69-5733-B4AA14FEB22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83422563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799ABDE-E7B2-CBF9-488D-91D9D643C3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09068DB-ED88-3894-2ABC-F35BBF2948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39CC4E3-EDFB-D8CE-4C93-FE26C25A3AD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0419398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8848D44-3FD7-C460-18C2-A64E4B9A3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BCE8490-F6B2-FC23-2A02-438F8117DD6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C6667FB-3D38-4C22-E4C7-968A1B87487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87924425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95B234C4-8F98-4046-5663-EAC4D5EFA8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9F7F33B-CC13-F2BF-1143-AEC1D930F2F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5AD144E-9849-FE9E-478F-AE2BCD6D181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3274047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CAB5B29-B562-BC85-1DD4-C9FB4835F25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4A406A0-532A-914A-48E1-4D6686BF718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C48227F-A62A-C895-0AFC-EF1217EB076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79866888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1326592-BE1E-DB23-0680-EADD5E321B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7856802-9671-5504-6DD9-7E08FC4102A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86F2757-F4E6-9443-DB5A-75EA6EFD03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94038765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F5A2EF6-FDF4-3B77-B0AC-7AF667D01E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7C1D23C-0038-6336-2BE2-994D197984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B3127E9-6D21-2D98-0300-889C1F1347D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02578682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E549C82-D21E-DF00-7113-F39AA45A17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68745A07-8B59-E309-9E70-548E66C7689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AF654C7-4681-8358-84E1-6276C57D1F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61043048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F8D1244-6DF1-9E27-F200-09A0C69182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1F41758-CF3E-974C-1DAB-E7B0811FF08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52B3CA4-1DCC-02A9-50E2-D8ED0FE6BB3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884389850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C3B0403-02DE-3381-8519-65E3E0CE2C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24AF00A-B5CA-2DE4-2A70-65D57FE6C22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663C3C4-C254-8072-5AC6-C187C46913C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797686943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99AB677-A8BB-CA0C-1685-0A255380E3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4CB836C-2866-C6B7-A85B-0D333B88B3B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EB701BA-7CC0-313B-D848-8F659565C8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691450155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1772249-A57A-795D-5FBA-AE00222A84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8D4B529E-A824-C98B-6B56-D9E1408837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135F34A-FA11-909A-289D-9A6FB0B8D0C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76912007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1C5FCE47-B455-658A-B528-CC3BA626AC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F06B22C1-8814-8BF6-E065-F5ED7AFF574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42DB6258-24D7-6550-41AA-20B9DFB7F25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550514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FF99141D-6312-451B-BEE2-E75F3FC5DC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78E0948-B84F-1EF7-7345-24735C926C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AAC686F-5930-2758-2516-2DECE0EE679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958904778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F4A4B199-A4D2-104F-4F6B-433745D9E7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70346AF5-F07B-70AF-A5E2-E341F131945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1DAC811B-9A2D-E4AB-29A0-7DB616404DD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62291532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897B6C2-ACE8-1051-28A9-9CEA4668CB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2FA555B-C72A-3A07-F9C9-1FCDAEB913C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2185C33-C9E5-435D-B8A8-73E374D717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92796417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41E63AA-FC65-FE27-0851-155D3733A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1BD7045-2FE2-FF3B-CB4D-8CDC516DC2C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5D3998B-70BA-EF6A-96A6-E7DD3804FF7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3927293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>
          <a:extLst>
            <a:ext uri="{FF2B5EF4-FFF2-40B4-BE49-F238E27FC236}">
              <a16:creationId xmlns:a16="http://schemas.microsoft.com/office/drawing/2014/main" id="{ED6D95D0-49C4-BE65-6DB0-A8408AD9A1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>
            <a:extLst>
              <a:ext uri="{FF2B5EF4-FFF2-40B4-BE49-F238E27FC236}">
                <a16:creationId xmlns:a16="http://schemas.microsoft.com/office/drawing/2014/main" id="{D5BF9D20-A937-E031-5ACD-4B566F245A5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62" name="Google Shape;262;p37:notes">
            <a:extLst>
              <a:ext uri="{FF2B5EF4-FFF2-40B4-BE49-F238E27FC236}">
                <a16:creationId xmlns:a16="http://schemas.microsoft.com/office/drawing/2014/main" id="{1666A96F-D523-1F0C-00D5-14D5F35E2C2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8882365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Homeworks/HW3.pdf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smart-prototyping.com/Sharp-IR-Distance-Sensor-GP2Y0A41SK0F-4-30-cm" TargetMode="External"/><Relationship Id="rId4" Type="http://schemas.openxmlformats.org/officeDocument/2006/relationships/image" Target="../media/image7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www.seeedstudio.com/blog/2019/12/23/distance-sensors-types-and-selection-guide/?srsltid=AfmBOoqqTzG5IXwUkxoz5_Zqd1hbp99oPKSt_J4rwNNXKZuSm4sWI-MF" TargetMode="External"/><Relationship Id="rId4" Type="http://schemas.openxmlformats.org/officeDocument/2006/relationships/image" Target="../media/image8.jpe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www.jpl.nasa.gov/edu/resources/lesson-plan/collecting-light-inverse-square-law-demo/" TargetMode="External"/><Relationship Id="rId5" Type="http://schemas.openxmlformats.org/officeDocument/2006/relationships/image" Target="../media/image11.jpeg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hyperlink" Target="https://www.hesaitech.com/things-you-need-to-know-about-lidar-the-more-lasers-the-better/" TargetMode="External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hackaday.com/2017/04/20/new-part-day-very-cheap-lidar/" TargetMode="External"/><Relationship Id="rId5" Type="http://schemas.openxmlformats.org/officeDocument/2006/relationships/image" Target="../media/image13.gif"/><Relationship Id="rId4" Type="http://schemas.openxmlformats.org/officeDocument/2006/relationships/image" Target="../media/image12.gif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hyperlink" Target="https://en.wikipedia.org/wiki/Time-of-flight_camera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6.sv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hyperlink" Target="https://www.ti.com/lit/ug/tiducm1b/tiducm1b.pdf" TargetMode="External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0.sv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3.sv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4.jpg"/><Relationship Id="rId4" Type="http://schemas.openxmlformats.org/officeDocument/2006/relationships/hyperlink" Target="https://iopscience.iop.org/article/10.1088/1361-6501/abc867" TargetMode="Externa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hyperlink" Target="https://en.wikipedia.org/wiki/Lidar" TargetMode="External"/><Relationship Id="rId4" Type="http://schemas.openxmlformats.org/officeDocument/2006/relationships/image" Target="../media/image25.gif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6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ukmars/mazerunner-core/blob/main/mazerunner-core/maze.h" TargetMode="External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32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ZMQbHMgK2rw?feature=oembed" TargetMode="External"/><Relationship Id="rId5" Type="http://schemas.openxmlformats.org/officeDocument/2006/relationships/image" Target="../media/image27.jpeg"/><Relationship Id="rId4" Type="http://schemas.openxmlformats.org/officeDocument/2006/relationships/image" Target="../media/image3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 txBox="1"/>
          <p:nvPr/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spcBef>
                <a:spcPts val="600"/>
              </a:spcBef>
              <a:buSzPts val="4500"/>
            </a:pPr>
            <a:r>
              <a:rPr lang="en-US" sz="4500" b="1" dirty="0">
                <a:solidFill>
                  <a:schemeClr val="lt1"/>
                </a:solidFill>
              </a:rPr>
              <a:t>SE 423: Introduction to Mechatronics</a:t>
            </a:r>
            <a:endParaRPr lang="en-US" sz="4500"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chemeClr val="lt1"/>
                </a:solidFill>
              </a:rPr>
              <a:t>Lecture 14: Sensors &amp; Maze following &amp; Localizations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Monday, March 16</a:t>
            </a:r>
            <a:r>
              <a:rPr lang="en-US" sz="1800" b="0" i="0" u="none" strike="noStrike" cap="none" baseline="30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</a:t>
            </a:r>
            <a:r>
              <a:rPr lang="en-US" sz="1800">
                <a:solidFill>
                  <a:schemeClr val="lt1"/>
                </a:solidFill>
              </a:rPr>
              <a:t>, 2026</a:t>
            </a: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787707C-0AB4-57C3-5639-B4BEF43893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E7EA1A55-2BAC-C6A5-ABC3-168138F62B6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Talk to the person next to you and answer these questions.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With the IMU onboard the lab robot, how would I measure its current position?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With the current knowledge you have with the robot and the current set of sensors would we be able to send it out to go from point A-to-B in real world scenarios (more of an open-ended question)? 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000" dirty="0">
                <a:latin typeface="Arial"/>
                <a:ea typeface="Arial"/>
                <a:cs typeface="Arial"/>
                <a:sym typeface="Arial"/>
              </a:rPr>
              <a:t>If not, what do you think we are missing from the current robot?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0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If </a:t>
            </a:r>
            <a:r>
              <a:rPr lang="en-US" sz="2000" dirty="0">
                <a:latin typeface="Arial"/>
                <a:ea typeface="Arial"/>
                <a:cs typeface="Arial"/>
                <a:sym typeface="Arial"/>
              </a:rPr>
              <a:t>yes, are there any assumptions that have been made?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ADDCC56-907C-FD39-6E34-87042D08FA2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941C760-8B23-A46D-5C4A-981290CB9EB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Review – 5-minute partner discussion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1984774-B7FA-53FC-ECBE-3FFBD377F556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52648EA-0120-942E-FA7D-98B9C25F4F3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187DBB9-03BE-10E2-9B63-400A9675CEA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3B542CF-2028-95AA-CCEF-91A8D02AD17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3141631-F3ED-2759-4D92-932A85BC40E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4D9BF8E-CB10-CAD2-7648-4939A5B564E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7020808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75841FD-D14E-77AC-760B-C98E4D88C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A3B12240-FBE7-C432-98A9-C2883C24C7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Office Hours:</a:t>
            </a:r>
            <a:endParaRPr lang="en-US" sz="26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Starting Lab 5 this week. This a 1-week lab!</a:t>
            </a:r>
            <a:endParaRPr lang="en-US" sz="1800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homework 3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Ex 1, 2, 3 &amp; 4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March 10, 5PM (The end of office hours)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homework 3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Ex 5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March 24, 5PM (The end of office hours)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Answers and code submissions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homework 3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March 25, 9AM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8F4DC60-5615-4235-EF8F-749635053A2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7341C0B-3353-6FAC-59B6-1BC184B1DEE7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Reminders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5A7A3C5-2C94-DFDE-B6CE-1AA71BB909D6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31F53DB-DB9B-6876-2739-ED5A2DD2AF6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656C000-32C7-7004-5110-9F4CDD9B502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CD0378D-0FED-2133-BE9C-D95394C460C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1170382-A03B-CBAF-126E-BC0414D20EC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38B4CC3-ADE6-376F-FF48-9094A8F0ECD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3281291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8AF3B574-1FB7-47D8-7C3B-2D8B80C1B7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018C368B-FE2D-5B17-BE43-7465482AEBFA}"/>
              </a:ext>
            </a:extLst>
          </p:cNvPr>
          <p:cNvGrpSpPr/>
          <p:nvPr/>
        </p:nvGrpSpPr>
        <p:grpSpPr>
          <a:xfrm>
            <a:off x="1441528" y="2296815"/>
            <a:ext cx="9308941" cy="2264370"/>
            <a:chOff x="1441528" y="1491040"/>
            <a:chExt cx="9308941" cy="2264370"/>
          </a:xfrm>
        </p:grpSpPr>
        <p:sp>
          <p:nvSpPr>
            <p:cNvPr id="89" name="Google Shape;89;p27">
              <a:extLst>
                <a:ext uri="{FF2B5EF4-FFF2-40B4-BE49-F238E27FC236}">
                  <a16:creationId xmlns:a16="http://schemas.microsoft.com/office/drawing/2014/main" id="{BCBC3FB6-47F6-7775-CB52-E1D0141B8A3F}"/>
                </a:ext>
              </a:extLst>
            </p:cNvPr>
            <p:cNvSpPr txBox="1"/>
            <p:nvPr/>
          </p:nvSpPr>
          <p:spPr>
            <a:xfrm>
              <a:off x="2206906" y="1491040"/>
              <a:ext cx="7778187" cy="1015663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6000"/>
                <a:buFont typeface="Arial"/>
                <a:buNone/>
              </a:pPr>
              <a:r>
                <a:rPr lang="en-US" sz="6000" b="1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Questions?</a:t>
              </a:r>
              <a:endParaRPr sz="1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90" name="Google Shape;90;p27">
              <a:extLst>
                <a:ext uri="{FF2B5EF4-FFF2-40B4-BE49-F238E27FC236}">
                  <a16:creationId xmlns:a16="http://schemas.microsoft.com/office/drawing/2014/main" id="{D56A7593-AC73-7040-DB5D-E69F313BBDE7}"/>
                </a:ext>
              </a:extLst>
            </p:cNvPr>
            <p:cNvSpPr txBox="1"/>
            <p:nvPr/>
          </p:nvSpPr>
          <p:spPr>
            <a:xfrm>
              <a:off x="1441528" y="3232230"/>
              <a:ext cx="9308941" cy="52318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45700" rIns="91425" bIns="45700" anchor="t" anchorCtr="0">
              <a:sp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800"/>
                <a:buFont typeface="Arial"/>
                <a:buNone/>
              </a:pPr>
              <a:r>
                <a:rPr lang="en-US" sz="2800" b="0" i="0" u="none" strike="noStrike" cap="none" dirty="0">
                  <a:solidFill>
                    <a:schemeClr val="lt1"/>
                  </a:solidFill>
                  <a:latin typeface="Arial"/>
                  <a:ea typeface="Arial"/>
                  <a:cs typeface="Arial"/>
                  <a:sym typeface="Arial"/>
                </a:rPr>
                <a:t>Homework, Lab, LabVIEW?</a:t>
              </a:r>
              <a:endParaRPr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BFE751B6-CF4D-273E-D560-6B4D883779FC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A7768501-64BD-D022-44D2-3CA620B502C6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19915C55-6271-9B95-62A4-D901C77AA9D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96534BB9-415B-75C5-14DF-605417B1EA0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A8493C96-336F-E402-218B-5C13C8F047B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33C3076B-D3BE-042B-369B-996B00F03F2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A886A22C-18CA-ADCE-8A13-5D51F5F174D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F5546652-0DF2-2B1B-5CB6-25C023D4F23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306566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/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Sensors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/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/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11D1D45-8AA1-9CEA-9D0C-D7B1BD831D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61EAE36-37E0-2D63-A9B6-1DCF9312C63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We current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ly 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have explored a couple of way to sense information about the robot’s internal state (IMU, encoders).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What are we missing?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Sensing external objects!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What are some examples?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Walls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People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Water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Doors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Etc.</a:t>
            </a:r>
            <a:endParaRPr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930EB0B-C50D-F4CD-0F97-A1890E3DD73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6DE702A-77BE-C1D8-19FE-C35C0FDAB23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Sensors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DE43439-71A0-2104-7854-B1E51244CF2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5A4CA29-6A8B-2028-296C-0602C13D7B5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6FE6996-7AF7-0BA5-FB9B-DD4AFF3058D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16D3425-570E-6FFB-559F-129A0463532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3FB76EE-C13C-6235-A81D-61F1EE129CF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F61CF97-C316-2FE9-4B0D-14FB47273AA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1781256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5146A743-C0B7-6002-044C-621B5202B1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A826FB3A-6B0A-9FBD-ECE9-D4E54ADA235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There are 2 types of sensors,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Passive 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sensors: Measure the environment without emitting their own signals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Examples: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Standard camera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Thermometer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Active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sensors: Emit energy into the environment and measure the reflection / reaction to determine object properties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Examples: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LiDAR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Radar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Sonar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FA1E4D5-DE98-C569-5BD5-34E0FA2C1B3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60F73ED-6A9C-F301-1648-FF857387D61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Sensors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DBAEC7E-9882-0FB8-C11D-53CA06DC967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BC84759-0DBF-E4C2-9772-A75AFB12212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6CE5780-7B61-DBBD-D038-EA889EE2D386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FAC3309-CE5B-ADEC-F8D9-EBC0DDFD34B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CADC7C6-A8C3-19DB-866C-945124C8C17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7503884-AB26-A85B-AED8-D4AC2D4641D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05683163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5F90DDC-F247-4A8B-1556-576C12A61D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ED050064-E0A1-A9F5-D9C6-16863F58DDF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Is the accelerometer a passive or active sensor?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Passive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Is the gyroscope a passive or active sensor?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Active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 (the gyro has a drive motor; thus, you have provided energy)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Is the magnetometer a passive or active sensor?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Passive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CDBBC520-DAE5-74B8-7AFC-17655167930C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2A8CAEB-6FBC-FC9A-FFD4-A73528A9ABE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Sensors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EEEA868B-27ED-34E0-5EF1-50E709AFF60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BA6257F-594F-7FAF-1298-6FD9631113C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E029DE1-0DD0-8DA2-D928-8EEDA8B546D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CFFFA91-4693-4336-7959-4D0AB1EBB43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40A2284-8A72-BC19-03D8-69240C33A93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E09DF34-4FF2-8151-5929-F8CC0D7BA8C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40988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1BE7A22-3056-4474-450C-0BD9BECDAB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3E1F564-24AB-357A-599B-C84D6D65F9E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Which type of sensor do you think operates better in complete pitch-black darkness for finding walls? 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Active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Which type of sensor do you think operates best in measuring location of forest fires? 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Passive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Which type of sensor do you think operates best in measuring the current environment in the visible spectrum?</a:t>
            </a:r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b="1" dirty="0">
                <a:latin typeface="Arial"/>
                <a:ea typeface="Arial"/>
                <a:cs typeface="Arial"/>
                <a:sym typeface="Arial"/>
              </a:rPr>
              <a:t>Passive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 (this is just a camera!)</a:t>
            </a:r>
            <a:endParaRPr lang="en-US"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C19195FD-C1B3-F95C-B1BA-31D8539C44F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C92764E-9448-EDFF-4151-CB2427708DE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Sensors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77F8CEA-441D-F7A7-E8CD-0EA83A2EC9FD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2AA0119-95EB-4A70-88CA-9A73B4FD503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206276C-F3AC-69C9-F3A7-47E77769F63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BCB1F15-1177-A278-1E27-6F38F7D05DC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C9413E3-EB1E-FE2D-ECDE-A03074F0666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6580D22E-DC02-8C4B-1616-FFEE8695D65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011250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B8E3D08F-6DF1-5C8E-1275-936C12EBAE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53D6AC7B-903F-1CEA-A673-4ECD3162C2BF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IR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BF8BAD17-C433-0940-541A-A6261D90DAE9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678F01B3-65C8-3D66-6360-3479F56EDD28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665BD945-A935-A3F5-9110-FBE542DBAABA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568D08D6-7B6F-B254-DB3C-978890E7ADD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A7A64B89-EE1E-2301-A4C5-56E9D57EA96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4CDCADA5-A7B4-F34D-4591-6303AE61EA4F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FA0D7454-0FE5-BAC0-2E14-523A6799328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6426799F-3DF3-4D36-85AA-BD75BC57CBB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EB07586F-EE5D-779D-59AB-A54FF5D3643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6782885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A7CE0C0-D019-2CA9-6E24-0C9B192501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B297B86-E77D-C9B8-8CF0-2B7AB45E1C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We want to be able to detect if there is an obstacle in front of us. The best / simplest way to do this is though an active sensor.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IR sensors emit an invisible infrared light beam and measures the reflection that bounces back.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intensity of the returning light indicates the distance of an object.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Composed of 2 parts: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PSD (position sensitive detector)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IR-LED (infrared emitting diode)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116E738-9015-254F-90C5-F74D2C48C94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A87CDB3-464B-7044-CCFC-CD8303C898E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IR Sensor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C2D6136-5B63-E0D6-0717-438EA7B78CE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10A8B8C-1C63-272F-7DB5-9D62FFF6332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56AA4B8A-F47D-3BB9-9A56-1FB8817E466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BD6576D-DB3F-BD05-0E82-C60354F7436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8E812B2-2A9F-3990-0346-FED13E5A23D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0D2CE03-2C19-B30B-8D1B-B7082577B98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459036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9A5EC5F-449C-6688-AF28-95C93525B5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CAF35FC-85C2-649F-C749-A1FFE358317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3A0275F-32A4-C827-0836-BF4A218ED8A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IR Sensor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4AA55327-7A42-D40B-0035-72681D58BD6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12C21B7-22BD-0BAF-9E4B-AAF282BEB6A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4C5E4DC-7411-0EBF-6AED-13E62D1AFBA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3CFA967-D7FC-0082-4782-53C8185B1BC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6618E2E-B1B1-9BE4-C1C3-82A3241C443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CD922E3-92D9-D65B-2969-CF17331C386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050" name="Picture 2">
            <a:extLst>
              <a:ext uri="{FF2B5EF4-FFF2-40B4-BE49-F238E27FC236}">
                <a16:creationId xmlns:a16="http://schemas.microsoft.com/office/drawing/2014/main" id="{95B64AEF-6C4C-F19B-2D4D-03E6FA9EA2C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3889" t="26621" r="43607" b="23241"/>
          <a:stretch>
            <a:fillRect/>
          </a:stretch>
        </p:blipFill>
        <p:spPr bwMode="auto">
          <a:xfrm rot="5400000">
            <a:off x="8017826" y="2244746"/>
            <a:ext cx="2229142" cy="34385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Rectangle 4">
            <a:extLst>
              <a:ext uri="{FF2B5EF4-FFF2-40B4-BE49-F238E27FC236}">
                <a16:creationId xmlns:a16="http://schemas.microsoft.com/office/drawing/2014/main" id="{4D7227C8-5DCE-7532-63C3-8C02F783D6F0}"/>
              </a:ext>
            </a:extLst>
          </p:cNvPr>
          <p:cNvSpPr/>
          <p:nvPr/>
        </p:nvSpPr>
        <p:spPr>
          <a:xfrm>
            <a:off x="8610600" y="2908300"/>
            <a:ext cx="1035050" cy="812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2C363CD2-9DA5-C693-D53D-48C5D190D000}"/>
              </a:ext>
            </a:extLst>
          </p:cNvPr>
          <p:cNvCxnSpPr>
            <a:cxnSpLocks/>
            <a:stCxn id="10" idx="2"/>
            <a:endCxn id="5" idx="0"/>
          </p:cNvCxnSpPr>
          <p:nvPr/>
        </p:nvCxnSpPr>
        <p:spPr>
          <a:xfrm flipH="1">
            <a:off x="9128125" y="2429598"/>
            <a:ext cx="289436" cy="478702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D3424813-3C78-5598-2E7E-DDF2E72070E7}"/>
              </a:ext>
            </a:extLst>
          </p:cNvPr>
          <p:cNvSpPr txBox="1"/>
          <p:nvPr/>
        </p:nvSpPr>
        <p:spPr>
          <a:xfrm>
            <a:off x="8741286" y="2121821"/>
            <a:ext cx="13525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Light detector</a:t>
            </a:r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C8DF3320-AE76-23CF-3D29-F5A6E602ABD1}"/>
              </a:ext>
            </a:extLst>
          </p:cNvPr>
          <p:cNvSpPr/>
          <p:nvPr/>
        </p:nvSpPr>
        <p:spPr>
          <a:xfrm>
            <a:off x="7766050" y="2896661"/>
            <a:ext cx="768114" cy="812800"/>
          </a:xfrm>
          <a:prstGeom prst="rect">
            <a:avLst/>
          </a:prstGeom>
          <a:noFill/>
          <a:ln w="38100"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514C3A15-45C6-3454-F267-E95933B0F560}"/>
              </a:ext>
            </a:extLst>
          </p:cNvPr>
          <p:cNvCxnSpPr>
            <a:cxnSpLocks/>
            <a:stCxn id="20" idx="2"/>
            <a:endCxn id="18" idx="0"/>
          </p:cNvCxnSpPr>
          <p:nvPr/>
        </p:nvCxnSpPr>
        <p:spPr>
          <a:xfrm>
            <a:off x="7806249" y="2583486"/>
            <a:ext cx="343858" cy="31317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27C4D47C-BC89-1795-1824-EC1EE2BAAD22}"/>
              </a:ext>
            </a:extLst>
          </p:cNvPr>
          <p:cNvSpPr txBox="1"/>
          <p:nvPr/>
        </p:nvSpPr>
        <p:spPr>
          <a:xfrm>
            <a:off x="7129974" y="2275709"/>
            <a:ext cx="135255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>
                <a:solidFill>
                  <a:srgbClr val="FF0000"/>
                </a:solidFill>
              </a:rPr>
              <a:t>LED</a:t>
            </a:r>
          </a:p>
        </p:txBody>
      </p:sp>
      <p:sp>
        <p:nvSpPr>
          <p:cNvPr id="23" name="Google Shape;118;p29">
            <a:extLst>
              <a:ext uri="{FF2B5EF4-FFF2-40B4-BE49-F238E27FC236}">
                <a16:creationId xmlns:a16="http://schemas.microsoft.com/office/drawing/2014/main" id="{EFF16A46-D07E-9BDB-EB9F-EF4E81257EA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10" y="1334279"/>
            <a:ext cx="6930378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Basic operation principle: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 IR LED emitter sends out and infrared light beam (invisible to the human eye)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light travels forward until it hits and object or obstacle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 object reflects some of the IR light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receiver detects the reflectance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light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sensor determines the approximate distance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Distance is measured from reflectance: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Closer object  = stronger reflected signal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Further object = weaker reflected signal</a:t>
            </a:r>
            <a:endParaRPr lang="en-US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37B7EE8C-699B-9028-DC3C-C67205F41CD5}"/>
              </a:ext>
            </a:extLst>
          </p:cNvPr>
          <p:cNvSpPr txBox="1"/>
          <p:nvPr/>
        </p:nvSpPr>
        <p:spPr>
          <a:xfrm>
            <a:off x="7250037" y="5428205"/>
            <a:ext cx="3756175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50" dirty="0">
                <a:hlinkClick r:id="rId5"/>
              </a:rPr>
              <a:t>https://www.smart-prototyping.com/Sharp-IR-Distance-Sensor-GP2Y0A41SK0F-4-30-cm</a:t>
            </a:r>
            <a:r>
              <a:rPr lang="en-US" sz="105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88582541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uiExpand="1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B3E21A5-0BBA-CB81-3804-DD9216B263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260EFBF-51D9-CABA-F798-580A0BDFCC0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F08C13E-A731-478C-3CE0-3D5109FD852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IR Sensor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68A15D9-D2F7-54F6-5F25-6EE1C602956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B5AC782-9F51-66EE-C885-8B7FD7C3DFF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4DFBC42-98A9-A458-CABD-8DA2171A3A1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AE04037D-1064-0116-29AA-FBF84541059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F9D24AB-B9A7-33B9-E451-BE06F78BCFA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5733413-F28E-CFA6-7E76-1A7D80BCF8CB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3" name="Google Shape;118;p29">
            <a:extLst>
              <a:ext uri="{FF2B5EF4-FFF2-40B4-BE49-F238E27FC236}">
                <a16:creationId xmlns:a16="http://schemas.microsoft.com/office/drawing/2014/main" id="{B0942BFC-A809-42E9-40F9-F556330D3FE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10" y="1334279"/>
            <a:ext cx="6930378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Advantages: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Simple and inexpensive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Small size and lightweight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Fast response time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Low power consumption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Limitations: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Performance affected by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surface color and reflectivity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Limited detection range (signal power disperses at a rate of d</a:t>
            </a:r>
            <a:r>
              <a:rPr lang="en-US" sz="1800" baseline="300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Sensitive to ambient IR light (sunlight)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They provide a single point of data, acting like a flashlight beam rather than a wide field of view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Typical Range: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2 to 80 cm</a:t>
            </a:r>
            <a:endParaRPr lang="en-US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074" name="Picture 2" descr="Types of Distance Sensors and How to Select One? - Latest News from Seeed  Studio">
            <a:extLst>
              <a:ext uri="{FF2B5EF4-FFF2-40B4-BE49-F238E27FC236}">
                <a16:creationId xmlns:a16="http://schemas.microsoft.com/office/drawing/2014/main" id="{011725C8-59C4-03A3-48F2-633CF75A3A1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18" t="10244" r="11918" b="11273"/>
          <a:stretch>
            <a:fillRect/>
          </a:stretch>
        </p:blipFill>
        <p:spPr bwMode="auto">
          <a:xfrm>
            <a:off x="7373543" y="2014901"/>
            <a:ext cx="4183966" cy="307044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7836389-D6B0-C54D-9A16-005B18C90995}"/>
              </a:ext>
            </a:extLst>
          </p:cNvPr>
          <p:cNvSpPr txBox="1"/>
          <p:nvPr/>
        </p:nvSpPr>
        <p:spPr>
          <a:xfrm>
            <a:off x="7373543" y="5523923"/>
            <a:ext cx="429719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800" dirty="0">
                <a:hlinkClick r:id="rId5"/>
              </a:rPr>
              <a:t>https://www.seeedstudio.com/blog/2019/12/23/distance-sensors-types-and-selection-guide/?srsltid=AfmBOoqqTzG5IXwUkxoz5_Zqd1hbp99oPKSt_J4rwNNXKZuSm4sWI-MF</a:t>
            </a:r>
            <a:r>
              <a:rPr lang="en-US" sz="8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56221028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58F00432-D749-0287-4427-280F2EEFF7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B87C7C3-634F-6EC1-7CE0-F6C36935B99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92B4866-12D7-3816-D2DA-964DAE3DBA1E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IR Sensor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D1386E5-184B-69CA-EBE2-D496F46BD81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10EBD00-6A2C-AE12-AB59-1ACE0CA5DEE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5787AE8-F232-B9A1-2078-EFA948B6AD1C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BED872F-377A-A3E4-EDBA-7B6FF3B7892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E1E935B-F14A-2AFE-73DF-4166855BD81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BBF4C9B-73A4-D8CA-D3C3-9FF35F8D873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Google Shape;118;p29">
                <a:extLst>
                  <a:ext uri="{FF2B5EF4-FFF2-40B4-BE49-F238E27FC236}">
                    <a16:creationId xmlns:a16="http://schemas.microsoft.com/office/drawing/2014/main" id="{A10A2C47-C3AA-BE0C-0E30-875DEB6788ED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10" y="1334279"/>
                <a:ext cx="11432202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18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Why do these light signals not do very well in long ranges? Why do we need more powerful LEDs to be able to see further?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8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18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Signal dissipation!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8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18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When an IR LED emits light, the energy spreads out in </a:t>
                </a:r>
                <a:r>
                  <a:rPr lang="en-US" sz="1800" b="1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all directions</a:t>
                </a:r>
                <a:r>
                  <a:rPr lang="en-US" sz="18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1800" dirty="0">
                    <a:latin typeface="Arial"/>
                    <a:ea typeface="Arial"/>
                    <a:cs typeface="Arial"/>
                    <a:sym typeface="Arial"/>
                  </a:rPr>
                  <a:t>As distance increases, the same energy covers a </a:t>
                </a:r>
                <a:r>
                  <a:rPr lang="en-US" sz="1800" b="1" dirty="0">
                    <a:latin typeface="Arial"/>
                    <a:ea typeface="Arial"/>
                    <a:cs typeface="Arial"/>
                    <a:sym typeface="Arial"/>
                  </a:rPr>
                  <a:t>larger surface area</a:t>
                </a:r>
                <a:r>
                  <a:rPr lang="en-US" sz="1800" dirty="0">
                    <a:latin typeface="Arial"/>
                    <a:ea typeface="Arial"/>
                    <a:cs typeface="Arial"/>
                    <a:sym typeface="Arial"/>
                  </a:rPr>
                  <a:t>!</a:t>
                </a:r>
                <a:endParaRPr lang="en-US" sz="18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1800" dirty="0">
                    <a:latin typeface="Arial"/>
                    <a:ea typeface="Arial"/>
                    <a:cs typeface="Arial"/>
                    <a:sym typeface="Arial"/>
                  </a:rPr>
                  <a:t>Therefore, the signal intensity </a:t>
                </a:r>
                <a:r>
                  <a:rPr lang="en-US" sz="1800" b="1" dirty="0">
                    <a:latin typeface="Arial"/>
                    <a:ea typeface="Arial"/>
                    <a:cs typeface="Arial"/>
                    <a:sym typeface="Arial"/>
                  </a:rPr>
                  <a:t>decreases with distance</a:t>
                </a:r>
                <a:r>
                  <a:rPr lang="en-US" sz="18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8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1800" dirty="0">
                    <a:latin typeface="Arial"/>
                    <a:ea typeface="Arial"/>
                    <a:cs typeface="Arial"/>
                    <a:sym typeface="Arial"/>
                  </a:rPr>
                  <a:t>This relationship is called the </a:t>
                </a:r>
                <a:r>
                  <a:rPr lang="en-US" sz="1800" b="1" dirty="0">
                    <a:latin typeface="Arial"/>
                    <a:ea typeface="Arial"/>
                    <a:cs typeface="Arial"/>
                    <a:sym typeface="Arial"/>
                  </a:rPr>
                  <a:t>Inverse Square Law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800" b="1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8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I</m:t>
                      </m:r>
                      <m:r>
                        <a:rPr lang="en-US" sz="1800" b="0" i="1" smtClean="0">
                          <a:solidFill>
                            <a:schemeClr val="dk1"/>
                          </a:solidFill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∝</m:t>
                      </m:r>
                      <m:f>
                        <m:fPr>
                          <m:ctrlPr>
                            <a:rPr lang="en-US" sz="1800" b="0" i="1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1800" b="0" i="1" smtClean="0">
                              <a:solidFill>
                                <a:schemeClr val="dk1"/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sz="1800" b="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1800" b="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r</m:t>
                              </m:r>
                            </m:e>
                            <m:sup>
                              <m:r>
                                <a:rPr lang="en-US" sz="1800" b="0" i="1" smtClean="0">
                                  <a:solidFill>
                                    <a:schemeClr val="dk1"/>
                                  </a:solidFill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18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18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Where</a:t>
                </a:r>
                <a:r>
                  <a:rPr lang="en-US" sz="1800" dirty="0">
                    <a:latin typeface="Arial"/>
                    <a:ea typeface="Arial"/>
                    <a:cs typeface="Arial"/>
                    <a:sym typeface="Arial"/>
                  </a:rPr>
                  <a:t>: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I</m:t>
                    </m:r>
                  </m:oMath>
                </a14:m>
                <a:r>
                  <a:rPr lang="en-US" sz="18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 = signal intensity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1" smtClean="0">
                        <a:solidFill>
                          <a:schemeClr val="dk1"/>
                        </a:solidFill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r</m:t>
                    </m:r>
                  </m:oMath>
                </a14:m>
                <a:r>
                  <a:rPr lang="en-US" sz="18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 = distance traveled from the source</a:t>
                </a:r>
              </a:p>
            </p:txBody>
          </p:sp>
        </mc:Choice>
        <mc:Fallback>
          <p:sp>
            <p:nvSpPr>
              <p:cNvPr id="23" name="Google Shape;118;p29">
                <a:extLst>
                  <a:ext uri="{FF2B5EF4-FFF2-40B4-BE49-F238E27FC236}">
                    <a16:creationId xmlns:a16="http://schemas.microsoft.com/office/drawing/2014/main" id="{A10A2C47-C3AA-BE0C-0E30-875DEB6788ED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10" y="1334279"/>
                <a:ext cx="11432202" cy="4821102"/>
              </a:xfrm>
              <a:prstGeom prst="rect">
                <a:avLst/>
              </a:prstGeom>
              <a:blipFill>
                <a:blip r:embed="rId4"/>
                <a:stretch>
                  <a:fillRect l="-1120" t="-759" r="-160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0897321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uiExpand="1" build="p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026BD8AE-85EF-D2FE-840C-78973F45D0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0DEBD78-7099-E062-D840-B422970384A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2089EE9-0198-3D87-4577-9D023B9D921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IR Sensor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8588C3A-C6F7-0329-CFDD-3B02ECF7DA0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33FD8C4-8A77-5A76-77B8-5693712D9A0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D2DA19D-D335-56B9-C01B-E81323ECA16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03921FC-6D9F-3E68-2936-3EA5AE5830E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C5F280E-9941-E479-9A6F-8D05BE5DF0B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A2FC93E-8AF9-0BD4-B701-E6A2E5FFD31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Google Shape;118;p29">
                <a:extLst>
                  <a:ext uri="{FF2B5EF4-FFF2-40B4-BE49-F238E27FC236}">
                    <a16:creationId xmlns:a16="http://schemas.microsoft.com/office/drawing/2014/main" id="{86437BE4-C88A-1B5F-7481-5014FC3F0006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09" y="1334279"/>
                <a:ext cx="4297977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18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However, these IR type distance sensing is worse than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fPr>
                      <m:num>
                        <m:r>
                          <a:rPr lang="en-US" sz="1800" i="1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  <m:t>1</m:t>
                        </m:r>
                      </m:num>
                      <m:den>
                        <m:sSup>
                          <m:sSupPr>
                            <m:ctrlPr>
                              <a:rPr lang="en-US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/>
                                <a:sym typeface="Arial"/>
                              </a:rPr>
                            </m:ctrlPr>
                          </m:sSupPr>
                          <m:e>
                            <m:r>
                              <m:rPr>
                                <m:sty m:val="p"/>
                              </m:rPr>
                              <a:rPr lang="en-US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/>
                                <a:sym typeface="Arial"/>
                              </a:rPr>
                              <m:t>r</m:t>
                            </m:r>
                          </m:e>
                          <m:sup>
                            <m:r>
                              <a:rPr lang="en-US" sz="18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  <a:cs typeface="Arial"/>
                                <a:sym typeface="Arial"/>
                              </a:rPr>
                              <m:t>2</m:t>
                            </m:r>
                          </m:sup>
                        </m:sSup>
                      </m:den>
                    </m:f>
                  </m:oMath>
                </a14:m>
                <a:r>
                  <a:rPr lang="en-US" sz="18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8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18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Because the signal travels </a:t>
                </a:r>
                <a:r>
                  <a:rPr lang="en-US" sz="1800" dirty="0">
                    <a:latin typeface="Arial"/>
                    <a:ea typeface="Arial"/>
                    <a:cs typeface="Arial"/>
                    <a:sym typeface="Arial"/>
                  </a:rPr>
                  <a:t>2 paths: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18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Emitter </a:t>
                </a:r>
                <a:r>
                  <a:rPr lang="en-US" sz="1800" dirty="0">
                    <a:latin typeface="Arial"/>
                    <a:ea typeface="Arial"/>
                    <a:cs typeface="Arial"/>
                    <a:sym typeface="Arial"/>
                  </a:rPr>
                  <a:t>to Object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18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Object to Receiver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endParaRPr lang="en-US" sz="18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18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So, the returned signal is roughly: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8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Received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Signal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 ∝</m:t>
                      </m:r>
                      <m:f>
                        <m:fPr>
                          <m:ctrlP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1</m:t>
                          </m:r>
                        </m:num>
                        <m:den>
                          <m:sSup>
                            <m:sSup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m:rPr>
                                  <m:sty m:val="p"/>
                                </m:r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r</m:t>
                              </m:r>
                            </m:e>
                            <m:sup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4</m:t>
                              </m:r>
                            </m:sup>
                          </m:sSup>
                        </m:den>
                      </m:f>
                    </m:oMath>
                  </m:oMathPara>
                </a14:m>
                <a:endParaRPr lang="en-US" sz="1800" dirty="0">
                  <a:solidFill>
                    <a:schemeClr val="dk1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8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18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So, to see very far and be able to remove noise you need an extremely powerful LED!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1800" dirty="0">
                    <a:solidFill>
                      <a:schemeClr val="dk1"/>
                    </a:solidFill>
                    <a:latin typeface="Arial"/>
                    <a:ea typeface="Arial"/>
                    <a:cs typeface="Arial"/>
                    <a:sym typeface="Arial"/>
                  </a:rPr>
                  <a:t>Same goes for most active sensors such as Radar / Sonar / LiDAR!</a:t>
                </a:r>
              </a:p>
            </p:txBody>
          </p:sp>
        </mc:Choice>
        <mc:Fallback>
          <p:sp>
            <p:nvSpPr>
              <p:cNvPr id="23" name="Google Shape;118;p29">
                <a:extLst>
                  <a:ext uri="{FF2B5EF4-FFF2-40B4-BE49-F238E27FC236}">
                    <a16:creationId xmlns:a16="http://schemas.microsoft.com/office/drawing/2014/main" id="{86437BE4-C88A-1B5F-7481-5014FC3F0006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09" y="1334279"/>
                <a:ext cx="4297977" cy="4821102"/>
              </a:xfrm>
              <a:prstGeom prst="rect">
                <a:avLst/>
              </a:prstGeom>
              <a:blipFill>
                <a:blip r:embed="rId4"/>
                <a:stretch>
                  <a:fillRect l="-2979" t="-759" r="-2411" b="-2276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098" name="Picture 2">
            <a:extLst>
              <a:ext uri="{FF2B5EF4-FFF2-40B4-BE49-F238E27FC236}">
                <a16:creationId xmlns:a16="http://schemas.microsoft.com/office/drawing/2014/main" id="{6EE6CDDF-E069-0316-A6F0-FE9CA97486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74787" y="1196718"/>
            <a:ext cx="7134225" cy="49991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6A95439-9464-0C8F-EB1B-3F7BDB8C5A9C}"/>
              </a:ext>
            </a:extLst>
          </p:cNvPr>
          <p:cNvSpPr txBox="1"/>
          <p:nvPr/>
        </p:nvSpPr>
        <p:spPr>
          <a:xfrm>
            <a:off x="5713012" y="6170498"/>
            <a:ext cx="6096000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50" dirty="0">
                <a:hlinkClick r:id="rId6"/>
              </a:rPr>
              <a:t>https://www.jpl.nasa.gov/edu/resources/lesson-plan/collecting-light-inverse-square-law-demo/</a:t>
            </a:r>
            <a:r>
              <a:rPr lang="en-US" sz="105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049089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473D04E3-9EFB-9434-1E1B-4C9A82F80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45D3B0D3-6DAB-53B7-EEF7-42F53C6C737B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LiDAR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927FDBEA-E521-57C9-5AF6-BCCB9F4213FF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324BB8A2-7CB2-1DC7-0BA0-A2014EA0AE0B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905EC72B-AFBA-3BC4-22DA-1D284D88587D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9613643D-A391-5DB6-7BB4-82C4F9BC77CE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8BD81D42-74A2-DD3B-ECE7-E286461B7C0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2AB84645-D709-102C-1183-715457E542DD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D51E9118-615B-DD4A-C892-86600E20547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FE2D6BDE-33CC-11BD-E0DE-C7976A50113E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06489293-6A98-E11E-82AF-458B405D7D55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773772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A56EEFB-80F4-7181-14E3-CD328D688B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39D8F31-2A58-FB0E-99B0-60E9486302D9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67648AC-C58E-1D68-93F0-CDB7A6081B6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LiDAR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3A9A994-BDE9-1C16-7DA4-FA9E5BE27BA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44D9512-94F8-31D1-EB0C-84A51EA42D1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ED080E2F-5657-70B5-127C-3E12A4B9D38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CC2660D-F2E2-EE66-81AD-B302C4D2A3E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F19DA01-2695-ABA4-EB88-825BF84D08E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E002A8C-A9AC-8DC9-4641-36651FE6B43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3" name="Google Shape;118;p29">
            <a:extLst>
              <a:ext uri="{FF2B5EF4-FFF2-40B4-BE49-F238E27FC236}">
                <a16:creationId xmlns:a16="http://schemas.microsoft.com/office/drawing/2014/main" id="{A3AEE96E-4F4C-BBFF-8627-7791027031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10" y="1334279"/>
            <a:ext cx="11432202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What if you want to see the distance of all the obstacles around you instantaneously? Would IR be enough? How would you use IR sensors to create a 360 view of the world?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basic IR distance sensor only measures 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distance in one direction.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If we want a complete view of obstacles around a robot, we will need: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Many IR sensors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Each pointing in a 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different direction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to cover the 360 degrees around the robot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Problems with this approach: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Large number of sensors required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Limited accuracy (bleed from the other sensors)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Slow updates if scanned sequentially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Difficult calibration</a:t>
            </a:r>
          </a:p>
        </p:txBody>
      </p:sp>
    </p:spTree>
    <p:extLst>
      <p:ext uri="{BB962C8B-B14F-4D97-AF65-F5344CB8AC3E}">
        <p14:creationId xmlns:p14="http://schemas.microsoft.com/office/powerpoint/2010/main" val="42468743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uiExpand="1" build="p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EC12BB9-CF96-94ED-4CEC-C1298CB66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FA64434-5592-5CC8-9C6A-2F31EF4DB8D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A2FD5AB-D7CB-C16B-B01A-178C8701E26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LiDAR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BF62C91-3BCC-E27E-4D15-2DD8284FA40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2D526E5-0422-77DB-BDF4-FF32F7505F7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2421D06-83B5-0DA8-F9EC-9746F3873A3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3EC58A4-6EBE-D75B-4E4D-B4A577FCCAE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F20CA32-C3E0-FD2C-D4DD-E6F53D275F1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658D370-4797-B687-F0AF-1908AFD1940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3" name="Google Shape;118;p29">
            <a:extLst>
              <a:ext uri="{FF2B5EF4-FFF2-40B4-BE49-F238E27FC236}">
                <a16:creationId xmlns:a16="http://schemas.microsoft.com/office/drawing/2014/main" id="{098F6028-2461-B85D-7B6E-BBAE884A995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10" y="1334279"/>
            <a:ext cx="11432202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When a single-point IR isn’t enough, we turn to Light Detection and Ranging (LiDAR)!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LiDAR solves this by using a laser that scans the environment.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Key idea: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Send a laser pulse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Measure how long it takes to bounce back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Convert that time into distance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Main components: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Laser emitter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Photodetector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Precise timing electronics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Rotating motor / scanning system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 system rapidly scans the environment and generates a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point cloud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, which represents the surrounding world.</a:t>
            </a:r>
          </a:p>
        </p:txBody>
      </p:sp>
    </p:spTree>
    <p:extLst>
      <p:ext uri="{BB962C8B-B14F-4D97-AF65-F5344CB8AC3E}">
        <p14:creationId xmlns:p14="http://schemas.microsoft.com/office/powerpoint/2010/main" val="41999954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151F7AC4-7A1B-B950-09E9-DFC0A3462D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CB4E3445-8967-4B65-9EF7-06551030F42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DD243A85-9CF6-89E8-9FF1-6C7792291F6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LiDAR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6B1A686-9ED9-9F0D-FC79-166C01CC801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B34988D5-A032-B6F7-5752-3BF3BB9AE3F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A70CE3C-9531-FCCD-72E3-477EAD547CE2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A28C00F-D639-9136-D279-93C097ACCAE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9CA1AD4-1F0A-DF58-4ABB-CE2FEBD057B7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D6DAD93-3645-6C16-D276-D3E9E6237DF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122" name="Picture 2" descr="Things you need to know about LiDAR: the more lasers, the better? | Hesai">
            <a:extLst>
              <a:ext uri="{FF2B5EF4-FFF2-40B4-BE49-F238E27FC236}">
                <a16:creationId xmlns:a16="http://schemas.microsoft.com/office/drawing/2014/main" id="{D3309F61-DBF8-ADD5-DDCC-7CAFCBCBDE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913" y="2014204"/>
            <a:ext cx="6239030" cy="35052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New Part Day: Very Cheap LIDAR | Hackaday">
            <a:extLst>
              <a:ext uri="{FF2B5EF4-FFF2-40B4-BE49-F238E27FC236}">
                <a16:creationId xmlns:a16="http://schemas.microsoft.com/office/drawing/2014/main" id="{03EB3E49-9F9E-4275-AD28-CC209C19086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94574" y="1370673"/>
            <a:ext cx="4792262" cy="47922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8B0A3C0-55E4-4EE0-BE30-A65A2EF15709}"/>
              </a:ext>
            </a:extLst>
          </p:cNvPr>
          <p:cNvSpPr txBox="1"/>
          <p:nvPr/>
        </p:nvSpPr>
        <p:spPr>
          <a:xfrm>
            <a:off x="7192562" y="6220547"/>
            <a:ext cx="38989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6"/>
              </a:rPr>
              <a:t>https://hackaday.com/2017/04/20/new-part-day-very-cheap-lidar/</a:t>
            </a:r>
            <a:r>
              <a:rPr lang="en-US" sz="1000" dirty="0"/>
              <a:t> 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1563E62-AB78-F826-C7B9-81F910EE245C}"/>
              </a:ext>
            </a:extLst>
          </p:cNvPr>
          <p:cNvSpPr txBox="1"/>
          <p:nvPr/>
        </p:nvSpPr>
        <p:spPr>
          <a:xfrm>
            <a:off x="323428" y="6220547"/>
            <a:ext cx="60960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7"/>
              </a:rPr>
              <a:t>https://www.hesaitech.com/things-you-need-to-know-about-lidar-the-more-lasers-the-better/</a:t>
            </a:r>
            <a:r>
              <a:rPr lang="en-US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121677558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6FED6F16-8F99-6D22-9907-73D969147E0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7CDFD3C-3859-F24D-5743-617DE708C90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762D5A7-8419-14AE-482F-115BAE0E7068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LiDAR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FFE0A5C-76E3-4144-9BAA-635D5FDE61DC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D43DED04-855A-2533-8EB8-518CB2E192E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F3F5FCF-95EB-7504-31AF-59A4CDD9D9B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63671C2-7137-841A-E421-A68A0C8432B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AFF2FB1-A9D8-C7BD-584E-051E322CCDA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FDD1026-B25A-4518-44F0-080D5E2B593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Google Shape;118;p29">
                <a:extLst>
                  <a:ext uri="{FF2B5EF4-FFF2-40B4-BE49-F238E27FC236}">
                    <a16:creationId xmlns:a16="http://schemas.microsoft.com/office/drawing/2014/main" id="{7BE67D1C-96DB-A083-AB1C-DC6B8F185743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10" y="1334279"/>
                <a:ext cx="11432202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1800" dirty="0">
                    <a:latin typeface="Arial"/>
                    <a:ea typeface="Arial"/>
                    <a:cs typeface="Arial"/>
                    <a:sym typeface="Arial"/>
                  </a:rPr>
                  <a:t>LiDAR determines distance using Time-of-Flight (</a:t>
                </a:r>
                <a:r>
                  <a:rPr lang="en-US" sz="1800" dirty="0" err="1">
                    <a:latin typeface="Arial"/>
                    <a:ea typeface="Arial"/>
                    <a:cs typeface="Arial"/>
                    <a:sym typeface="Arial"/>
                  </a:rPr>
                  <a:t>ToF</a:t>
                </a:r>
                <a:r>
                  <a:rPr lang="en-US" sz="1800" dirty="0">
                    <a:latin typeface="Arial"/>
                    <a:ea typeface="Arial"/>
                    <a:cs typeface="Arial"/>
                    <a:sym typeface="Arial"/>
                  </a:rPr>
                  <a:t>). Instead of signal intensity, since it can measure that precisely and thus is can get a more accurate distance measurement.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8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1800" dirty="0">
                    <a:latin typeface="Arial"/>
                    <a:ea typeface="Arial"/>
                    <a:cs typeface="Arial"/>
                    <a:sym typeface="Arial"/>
                  </a:rPr>
                  <a:t>A laser pulse is emitted.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1800" dirty="0">
                    <a:latin typeface="Arial"/>
                    <a:ea typeface="Arial"/>
                    <a:cs typeface="Arial"/>
                    <a:sym typeface="Arial"/>
                  </a:rPr>
                  <a:t>The pulse travels to an object.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1800" dirty="0">
                    <a:latin typeface="Arial"/>
                    <a:ea typeface="Arial"/>
                    <a:cs typeface="Arial"/>
                    <a:sym typeface="Arial"/>
                  </a:rPr>
                  <a:t>The object reflects the pulse back.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1800" dirty="0">
                    <a:latin typeface="Arial"/>
                    <a:ea typeface="Arial"/>
                    <a:cs typeface="Arial"/>
                    <a:sym typeface="Arial"/>
                  </a:rPr>
                  <a:t>The sensor measures the round-trip travel time.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endParaRPr lang="en-US" sz="18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1800" dirty="0">
                    <a:latin typeface="Arial"/>
                    <a:ea typeface="Arial"/>
                    <a:cs typeface="Arial"/>
                    <a:sym typeface="Arial"/>
                  </a:rPr>
                  <a:t>Distance is calculated using: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8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d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 </m:t>
                      </m:r>
                      <m:f>
                        <m:f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8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c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×</m:t>
                          </m:r>
                          <m:r>
                            <m:rPr>
                              <m:sty m:val="p"/>
                            </m:rP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t</m:t>
                          </m:r>
                        </m:num>
                        <m:den>
                          <m:r>
                            <a:rPr lang="en-US" sz="18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18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1800" dirty="0">
                    <a:latin typeface="Arial"/>
                    <a:ea typeface="Arial"/>
                    <a:cs typeface="Arial"/>
                    <a:sym typeface="Arial"/>
                  </a:rPr>
                  <a:t>Where: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i="1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d</m:t>
                    </m:r>
                  </m:oMath>
                </a14:m>
                <a:r>
                  <a:rPr lang="en-US" sz="1800" dirty="0">
                    <a:latin typeface="Arial"/>
                    <a:ea typeface="Arial"/>
                    <a:cs typeface="Arial"/>
                    <a:sym typeface="Arial"/>
                  </a:rPr>
                  <a:t> = distance to the object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c</m:t>
                    </m:r>
                  </m:oMath>
                </a14:m>
                <a:r>
                  <a:rPr lang="en-US" sz="1800" dirty="0">
                    <a:latin typeface="Arial"/>
                    <a:ea typeface="Arial"/>
                    <a:cs typeface="Arial"/>
                    <a:sym typeface="Arial"/>
                  </a:rPr>
                  <a:t> = speed of light (</a:t>
                </a:r>
                <a14:m>
                  <m:oMath xmlns:m="http://schemas.openxmlformats.org/officeDocument/2006/math">
                    <m:r>
                      <a:rPr lang="en-US" sz="180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/>
                        <a:sym typeface="Arial"/>
                      </a:rPr>
                      <m:t>≈</m:t>
                    </m:r>
                    <m:r>
                      <a:rPr lang="en-US" sz="1800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  <a:cs typeface="Arial"/>
                        <a:sym typeface="Arial"/>
                      </a:rPr>
                      <m:t>3×</m:t>
                    </m:r>
                    <m:sSup>
                      <m:sSupPr>
                        <m:ctrlP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pPr>
                      <m:e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  <m:t>10</m:t>
                        </m:r>
                      </m:e>
                      <m:sup>
                        <m:r>
                          <a:rPr lang="en-US" sz="18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  <a:cs typeface="Arial"/>
                            <a:sym typeface="Arial"/>
                          </a:rPr>
                          <m:t>8</m:t>
                        </m:r>
                      </m:sup>
                    </m:sSup>
                  </m:oMath>
                </a14:m>
                <a:r>
                  <a:rPr lang="en-US" sz="1800" dirty="0">
                    <a:latin typeface="Arial"/>
                    <a:ea typeface="Arial"/>
                    <a:cs typeface="Arial"/>
                    <a:sym typeface="Arial"/>
                  </a:rPr>
                  <a:t> m/s)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800" b="0" i="1" smtClean="0">
                        <a:latin typeface="Cambria Math" panose="02040503050406030204" pitchFamily="18" charset="0"/>
                        <a:ea typeface="Arial"/>
                        <a:cs typeface="Arial"/>
                        <a:sym typeface="Arial"/>
                      </a:rPr>
                      <m:t>t</m:t>
                    </m:r>
                  </m:oMath>
                </a14:m>
                <a:r>
                  <a:rPr lang="en-US" sz="1800" dirty="0">
                    <a:latin typeface="Arial"/>
                    <a:ea typeface="Arial"/>
                    <a:cs typeface="Arial"/>
                    <a:sym typeface="Arial"/>
                  </a:rPr>
                  <a:t> = measured round-trip time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8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1800" dirty="0">
                    <a:latin typeface="Arial"/>
                    <a:ea typeface="Arial"/>
                    <a:cs typeface="Arial"/>
                    <a:sym typeface="Arial"/>
                  </a:rPr>
                  <a:t>Why is there a division by 2 in the equation?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endParaRPr lang="en-US" sz="18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23" name="Google Shape;118;p29">
                <a:extLst>
                  <a:ext uri="{FF2B5EF4-FFF2-40B4-BE49-F238E27FC236}">
                    <a16:creationId xmlns:a16="http://schemas.microsoft.com/office/drawing/2014/main" id="{7BE67D1C-96DB-A083-AB1C-DC6B8F185743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10" y="1334279"/>
                <a:ext cx="11432202" cy="4821102"/>
              </a:xfrm>
              <a:prstGeom prst="rect">
                <a:avLst/>
              </a:prstGeom>
              <a:blipFill>
                <a:blip r:embed="rId4"/>
                <a:stretch>
                  <a:fillRect l="-1120" t="-759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Graphic 3">
            <a:extLst>
              <a:ext uri="{FF2B5EF4-FFF2-40B4-BE49-F238E27FC236}">
                <a16:creationId xmlns:a16="http://schemas.microsoft.com/office/drawing/2014/main" id="{0C64EA01-EC69-2AB7-A454-9CA845DCA2E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6763847" y="2276037"/>
            <a:ext cx="5143500" cy="3429000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96E44806-97B8-AAEA-6D4A-18A644F403FC}"/>
              </a:ext>
            </a:extLst>
          </p:cNvPr>
          <p:cNvSpPr txBox="1"/>
          <p:nvPr/>
        </p:nvSpPr>
        <p:spPr>
          <a:xfrm>
            <a:off x="7224222" y="5820603"/>
            <a:ext cx="42227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7"/>
              </a:rPr>
              <a:t>https://en.wikipedia.org/wiki/Time-of-flight_camera</a:t>
            </a:r>
            <a:r>
              <a:rPr lang="en-US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9168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4" end="1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uiExpand="1" build="p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9C44437-F811-9A43-6C83-93CB96A1094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D81D137-25FC-DCBE-6CF3-5B6F7126A23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A047505-404A-81D2-D436-30DBACA0BEF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LiDAR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7B650946-037E-B452-BB17-9412BBEA889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9FC7AC53-099A-38DD-388A-C29527371F3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89A1195E-1F8A-144C-5F71-23992375E7B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0268CBCC-CC5A-054A-BA7E-00D18A3C1A8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4CBC2103-6C72-8F82-F182-5F121FCB208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E0B3C58-8D4F-01DD-19EB-38229C07392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Google Shape;118;p29">
                <a:extLst>
                  <a:ext uri="{FF2B5EF4-FFF2-40B4-BE49-F238E27FC236}">
                    <a16:creationId xmlns:a16="http://schemas.microsoft.com/office/drawing/2014/main" id="{8E81D82E-008D-4CCE-C4F8-4D255495B59E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10" y="1334279"/>
                <a:ext cx="11432202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1800" dirty="0">
                    <a:latin typeface="Arial"/>
                    <a:ea typeface="Arial"/>
                    <a:cs typeface="Arial"/>
                    <a:sym typeface="Arial"/>
                  </a:rPr>
                  <a:t>Only possible to use </a:t>
                </a:r>
                <a:r>
                  <a:rPr lang="en-US" sz="1800" dirty="0" err="1">
                    <a:latin typeface="Arial"/>
                    <a:ea typeface="Arial"/>
                    <a:cs typeface="Arial"/>
                    <a:sym typeface="Arial"/>
                  </a:rPr>
                  <a:t>ToF</a:t>
                </a:r>
                <a:r>
                  <a:rPr lang="en-US" sz="1800" dirty="0">
                    <a:latin typeface="Arial"/>
                    <a:ea typeface="Arial"/>
                    <a:cs typeface="Arial"/>
                    <a:sym typeface="Arial"/>
                  </a:rPr>
                  <a:t> flight sensors since clocks are now extremely fast and accurate.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8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1800" dirty="0">
                    <a:latin typeface="Arial"/>
                    <a:ea typeface="Arial"/>
                    <a:cs typeface="Arial"/>
                    <a:sym typeface="Arial"/>
                  </a:rPr>
                  <a:t>Example: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1800" dirty="0">
                    <a:latin typeface="Arial"/>
                    <a:ea typeface="Arial"/>
                    <a:cs typeface="Arial"/>
                    <a:sym typeface="Arial"/>
                  </a:rPr>
                  <a:t>If the pulse returns in </a:t>
                </a:r>
                <a:r>
                  <a:rPr lang="en-US" sz="1800" b="1" dirty="0">
                    <a:latin typeface="Arial"/>
                    <a:ea typeface="Arial"/>
                    <a:cs typeface="Arial"/>
                    <a:sym typeface="Arial"/>
                  </a:rPr>
                  <a:t>20 nanoseconds</a:t>
                </a:r>
                <a:r>
                  <a:rPr lang="en-US" sz="1800" dirty="0">
                    <a:latin typeface="Arial"/>
                    <a:ea typeface="Arial"/>
                    <a:cs typeface="Arial"/>
                    <a:sym typeface="Arial"/>
                  </a:rPr>
                  <a:t>: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800" b="1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8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d</m:t>
                      </m:r>
                      <m:r>
                        <a:rPr lang="en-US" sz="18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 </m:t>
                      </m:r>
                      <m:f>
                        <m:fPr>
                          <m:ctrlPr>
                            <a:rPr lang="en-US" sz="18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3×</m:t>
                          </m:r>
                          <m:sSup>
                            <m:sSup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10</m:t>
                              </m:r>
                            </m:e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8</m:t>
                              </m:r>
                            </m:sup>
                          </m:sSup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×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20</m:t>
                          </m:r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×</m:t>
                          </m:r>
                          <m:sSup>
                            <m:sSup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10</m:t>
                              </m:r>
                            </m:e>
                            <m:sup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−9</m:t>
                              </m:r>
                            </m:sup>
                          </m:sSup>
                        </m:num>
                        <m:den>
                          <m:r>
                            <a:rPr lang="en-US" sz="18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2</m:t>
                          </m:r>
                        </m:den>
                      </m:f>
                      <m:r>
                        <a:rPr lang="en-US" sz="1800" b="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=3 </m:t>
                      </m:r>
                      <m:r>
                        <m:rPr>
                          <m:sty m:val="p"/>
                        </m:rPr>
                        <a:rPr lang="en-US" sz="1800" b="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meters</m:t>
                      </m:r>
                    </m:oMath>
                  </m:oMathPara>
                </a14:m>
                <a:endParaRPr lang="en-US" sz="1800" b="1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800" b="1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1800" dirty="0">
                    <a:latin typeface="Arial"/>
                    <a:ea typeface="Arial"/>
                    <a:cs typeface="Arial"/>
                    <a:sym typeface="Arial"/>
                  </a:rPr>
                  <a:t>The Red Board’s clock runs at 200 MHz ( not that you would use the Red Board ). Which has a clock cycle of </a:t>
                </a:r>
                <a:r>
                  <a:rPr lang="en-US" sz="1800" b="1" dirty="0">
                    <a:latin typeface="Arial"/>
                    <a:ea typeface="Arial"/>
                    <a:cs typeface="Arial"/>
                    <a:sym typeface="Arial"/>
                  </a:rPr>
                  <a:t>5 nanoseconds</a:t>
                </a:r>
                <a:r>
                  <a:rPr lang="en-US" sz="1800" dirty="0">
                    <a:latin typeface="Arial"/>
                    <a:ea typeface="Arial"/>
                    <a:cs typeface="Arial"/>
                    <a:sym typeface="Arial"/>
                  </a:rPr>
                  <a:t>. </a:t>
                </a:r>
              </a:p>
            </p:txBody>
          </p:sp>
        </mc:Choice>
        <mc:Fallback>
          <p:sp>
            <p:nvSpPr>
              <p:cNvPr id="23" name="Google Shape;118;p29">
                <a:extLst>
                  <a:ext uri="{FF2B5EF4-FFF2-40B4-BE49-F238E27FC236}">
                    <a16:creationId xmlns:a16="http://schemas.microsoft.com/office/drawing/2014/main" id="{8E81D82E-008D-4CCE-C4F8-4D255495B59E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10" y="1334279"/>
                <a:ext cx="11432202" cy="4821102"/>
              </a:xfrm>
              <a:prstGeom prst="rect">
                <a:avLst/>
              </a:prstGeom>
              <a:blipFill>
                <a:blip r:embed="rId4"/>
                <a:stretch>
                  <a:fillRect l="-480" t="-759" r="-58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71636930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122B463-4E48-BF5E-862F-BA35F70F74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0066F92-B57B-A3DD-B408-F7B708D8CE0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028F6D4-B4E7-1860-2FD7-FE62FEA230F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LiDAR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3C9C3071-9258-1080-44B1-15A3FCF7587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A76196D-81E4-5E78-945D-864CAB3965D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B4727FB6-73E0-EAA8-42EC-CEBA8BCBDCE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BC66D77-3979-F281-9104-ECFDCFFB7A7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217959D-34FA-17D3-DBB0-030979E993F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C724C74-2C84-32EB-4250-8E58F663A75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Google Shape;118;p29">
                <a:extLst>
                  <a:ext uri="{FF2B5EF4-FFF2-40B4-BE49-F238E27FC236}">
                    <a16:creationId xmlns:a16="http://schemas.microsoft.com/office/drawing/2014/main" id="{F1CF2F24-F533-9610-FF3E-5932CF526A0D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10" y="1334279"/>
                <a:ext cx="11432202" cy="2714239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1800" dirty="0">
                    <a:latin typeface="Arial"/>
                    <a:ea typeface="Arial"/>
                    <a:cs typeface="Arial"/>
                    <a:sym typeface="Arial"/>
                  </a:rPr>
                  <a:t>What happens if the clock is too slow?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8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1800" dirty="0">
                    <a:latin typeface="Arial"/>
                    <a:ea typeface="Arial"/>
                    <a:cs typeface="Arial"/>
                    <a:sym typeface="Arial"/>
                  </a:rPr>
                  <a:t>You get a lower accuracy since the time is not as accurate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1800" dirty="0">
                    <a:latin typeface="Arial"/>
                    <a:ea typeface="Arial"/>
                    <a:cs typeface="Arial"/>
                    <a:sym typeface="Arial"/>
                  </a:rPr>
                  <a:t>You cannot measure distances that are too close! (there is usually a minimum distance for </a:t>
                </a:r>
                <a:r>
                  <a:rPr lang="en-US" sz="1800" dirty="0" err="1">
                    <a:latin typeface="Arial"/>
                    <a:ea typeface="Arial"/>
                    <a:cs typeface="Arial"/>
                    <a:sym typeface="Arial"/>
                  </a:rPr>
                  <a:t>LiDARs</a:t>
                </a:r>
                <a:r>
                  <a:rPr lang="en-US" sz="1800" dirty="0">
                    <a:latin typeface="Arial"/>
                    <a:ea typeface="Arial"/>
                    <a:cs typeface="Arial"/>
                    <a:sym typeface="Arial"/>
                  </a:rPr>
                  <a:t> as well as the field of view)</a:t>
                </a:r>
                <a:endParaRPr lang="en-US" sz="1800" b="1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sz="18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minimum</m:t>
                      </m:r>
                      <m:r>
                        <a:rPr lang="en-US" sz="18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8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d</m:t>
                      </m:r>
                      <m:r>
                        <a:rPr lang="en-US" sz="18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 </m:t>
                      </m:r>
                      <m:f>
                        <m:fPr>
                          <m:ctrlPr>
                            <a:rPr lang="en-US" sz="18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3×</m:t>
                          </m:r>
                          <m:sSup>
                            <m:sSup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10</m:t>
                              </m:r>
                            </m:e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8</m:t>
                              </m:r>
                            </m:sup>
                          </m:sSup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×5×</m:t>
                          </m:r>
                          <m:sSup>
                            <m:sSupPr>
                              <m:ctrlP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pPr>
                            <m:e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10</m:t>
                              </m:r>
                            </m:e>
                            <m:sup>
                              <m:r>
                                <a:rPr lang="en-US" sz="1800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−9</m:t>
                              </m:r>
                            </m:sup>
                          </m:sSup>
                        </m:num>
                        <m:den>
                          <m:r>
                            <a:rPr lang="en-US" sz="18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2</m:t>
                          </m:r>
                        </m:den>
                      </m:f>
                      <m:r>
                        <a:rPr lang="en-US" sz="18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=0.75 </m:t>
                      </m:r>
                      <m:r>
                        <m:rPr>
                          <m:sty m:val="p"/>
                        </m:rPr>
                        <a:rPr lang="en-US" sz="1800" i="1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meters</m:t>
                      </m:r>
                    </m:oMath>
                  </m:oMathPara>
                </a14:m>
                <a:endParaRPr lang="en-US" sz="18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8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:r>
                  <a:rPr lang="en-US" sz="1800" dirty="0">
                    <a:latin typeface="Arial"/>
                    <a:ea typeface="Arial"/>
                    <a:cs typeface="Arial"/>
                    <a:sym typeface="Arial"/>
                  </a:rPr>
                  <a:t>In addition, if you are not far enough your receiver cannot see the signal</a:t>
                </a:r>
              </a:p>
            </p:txBody>
          </p:sp>
        </mc:Choice>
        <mc:Fallback>
          <p:sp>
            <p:nvSpPr>
              <p:cNvPr id="23" name="Google Shape;118;p29">
                <a:extLst>
                  <a:ext uri="{FF2B5EF4-FFF2-40B4-BE49-F238E27FC236}">
                    <a16:creationId xmlns:a16="http://schemas.microsoft.com/office/drawing/2014/main" id="{F1CF2F24-F533-9610-FF3E-5932CF526A0D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10" y="1334279"/>
                <a:ext cx="11432202" cy="2714239"/>
              </a:xfrm>
              <a:prstGeom prst="rect">
                <a:avLst/>
              </a:prstGeom>
              <a:blipFill>
                <a:blip r:embed="rId4"/>
                <a:stretch>
                  <a:fillRect l="-1120" t="-1348" b="-1573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Graphic 2">
            <a:extLst>
              <a:ext uri="{FF2B5EF4-FFF2-40B4-BE49-F238E27FC236}">
                <a16:creationId xmlns:a16="http://schemas.microsoft.com/office/drawing/2014/main" id="{90BDC651-87BC-7F7F-A3A5-D34A1C94641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3325200" y="4047414"/>
            <a:ext cx="5535420" cy="220287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643BEB1F-8BDB-E9A3-7F40-636528F52482}"/>
              </a:ext>
            </a:extLst>
          </p:cNvPr>
          <p:cNvSpPr txBox="1"/>
          <p:nvPr/>
        </p:nvSpPr>
        <p:spPr>
          <a:xfrm>
            <a:off x="4099010" y="6321835"/>
            <a:ext cx="3987800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000" dirty="0">
                <a:hlinkClick r:id="rId7"/>
              </a:rPr>
              <a:t>https://www.ti.com/lit/ug/tiducm1b/tiducm1b.pdf</a:t>
            </a:r>
            <a:r>
              <a:rPr lang="en-US" sz="1000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660855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uiExpand="1" build="p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9839703-1CAE-4C31-DA7B-966127E5C8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3DD8FA93-D0FB-80B1-8D30-9CE8F6D64E78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668B059-5E6D-6B5E-E139-18E0E032723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LiDAR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7E92A90-117B-09F0-3A00-FC0385FAF01A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33510B8-359B-E6A4-52D5-3B87A4A873C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DD45200-83C0-DDF3-92AA-660E18E6C10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3832325-408C-0CEE-5E3B-75A0E94A437C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B213426-B125-ED2D-861C-442759B6AE7B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3284C35-53EF-9778-BB20-5B1EE9201A9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3" name="Google Shape;118;p29">
            <a:extLst>
              <a:ext uri="{FF2B5EF4-FFF2-40B4-BE49-F238E27FC236}">
                <a16:creationId xmlns:a16="http://schemas.microsoft.com/office/drawing/2014/main" id="{AD5E02C5-90EC-3D3F-DB6B-73D3F09A892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10" y="1334279"/>
            <a:ext cx="11432202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Why use lasers?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 problem is that Inverse Square Law it is based on the surface expanding in space. What are 2 ways to improve the intensity of the signal returned?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Increase the power.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Reduce how dispersed the signal is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IR LEDs spread light over a wide angle, which causes: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Rapid signal loss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Poor directional accuracy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Lower range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2519401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1913CC9-8E6E-F2DC-5F77-12BFD48755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DD4E0680-EC00-6F17-151C-8340D7473517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7652A16-982D-C0DD-F059-D78127DF6E8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LiDAR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59D4081-07E2-CEF1-A08E-DE393B3741E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F7EE9C3-4D5C-2518-4742-94E44ACA41A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FD7B6FE-5D36-5AAB-4FCD-1756ECDA272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505AE00-AD2E-E7D4-8BDD-95D0D9EF043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B89B629-48AF-2222-BCB5-A87E7B7A947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476ECB4D-4F48-17EA-1F88-06164A98B7C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3" name="Google Shape;118;p29">
            <a:extLst>
              <a:ext uri="{FF2B5EF4-FFF2-40B4-BE49-F238E27FC236}">
                <a16:creationId xmlns:a16="http://schemas.microsoft.com/office/drawing/2014/main" id="{C15C344A-8E0B-801D-DCE9-4348BC6918D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10" y="1334279"/>
            <a:ext cx="11432202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Lasers are preferred because they have: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High Directionality: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Laser beams are very narrow, so most energy travels in one direction.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This allows detection of objects much farther away.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High Optical Power Density: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Because the beam is concentrated, the returned signal is stronger.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Precise Timing: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Laser pulses can be extremely short, enabling nanosecond-level timing accuracy.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Better Spatial Resolution: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 narrow beam allows LiDAR to detect fine details and small objects.</a:t>
            </a:r>
          </a:p>
        </p:txBody>
      </p:sp>
    </p:spTree>
    <p:extLst>
      <p:ext uri="{BB962C8B-B14F-4D97-AF65-F5344CB8AC3E}">
        <p14:creationId xmlns:p14="http://schemas.microsoft.com/office/powerpoint/2010/main" val="10206600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13" end="1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3A55BB7-39C1-8BE4-D05E-EE20898686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8876AAC-E7E8-EBDF-E864-70628DDA9C3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485292D-3CC6-3443-B448-AD67379F4C8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LiDAR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7796D89-2A5D-26FC-7DF2-C0D4AB75F50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2D698D0-ED70-8992-AF46-920C9391DB0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88844DE-56C8-60BF-99E1-55AFB4AC8B3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C36546B-F14F-B986-94ED-8495F4EF870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B960CA2-923C-5B5D-B61B-17B930B6BAC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C54E65F-446C-58CE-E10B-9B6F8313DC9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23" name="Google Shape;118;p29">
                <a:extLst>
                  <a:ext uri="{FF2B5EF4-FFF2-40B4-BE49-F238E27FC236}">
                    <a16:creationId xmlns:a16="http://schemas.microsoft.com/office/drawing/2014/main" id="{DBD5450D-10A6-79FA-5BB8-407E93CA68AD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10" y="1334279"/>
                <a:ext cx="4156001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1800" dirty="0">
                    <a:latin typeface="Arial"/>
                    <a:ea typeface="Arial"/>
                    <a:cs typeface="Arial"/>
                    <a:sym typeface="Arial"/>
                  </a:rPr>
                  <a:t>Pulsed LiDAR, you send a small light pulse and get the time that it arrived. Allows for the precise timing.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8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1800" dirty="0">
                    <a:latin typeface="Arial"/>
                    <a:ea typeface="Arial"/>
                    <a:cs typeface="Arial"/>
                    <a:sym typeface="Arial"/>
                  </a:rPr>
                  <a:t>The LiDAR sends pulses at set intervals and waits for the return.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8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1800" dirty="0">
                    <a:latin typeface="Arial"/>
                    <a:ea typeface="Arial"/>
                    <a:cs typeface="Arial"/>
                    <a:sym typeface="Arial"/>
                  </a:rPr>
                  <a:t>The maximum distance that you measure is based on that pulse width. As otherwise it would bleed into other pulses. 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8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max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 = </m:t>
                      </m:r>
                      <m:f>
                        <m:f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fPr>
                        <m:num>
                          <m:r>
                            <m:rPr>
                              <m:sty m:val="p"/>
                            </m:rPr>
                            <a:rPr lang="en-US" sz="18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c</m:t>
                          </m:r>
                          <m:r>
                            <a:rPr lang="en-US" sz="18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sz="1800" b="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sz="1800" b="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t</m:t>
                              </m:r>
                            </m:e>
                            <m:sub>
                              <m:r>
                                <a:rPr lang="en-US" sz="1800" b="0" i="1" smtClean="0">
                                  <a:latin typeface="Cambria Math" panose="02040503050406030204" pitchFamily="18" charset="0"/>
                                  <a:cs typeface="Arial"/>
                                  <a:sym typeface="Arial"/>
                                </a:rPr>
                                <m:t>0</m:t>
                              </m:r>
                            </m:sub>
                          </m:sSub>
                        </m:num>
                        <m:den>
                          <m:r>
                            <a:rPr lang="en-US" sz="18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2</m:t>
                          </m:r>
                        </m:den>
                      </m:f>
                    </m:oMath>
                  </m:oMathPara>
                </a14:m>
                <a:endParaRPr lang="en-US" sz="18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8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1800" dirty="0">
                    <a:latin typeface="Arial"/>
                    <a:ea typeface="Arial"/>
                    <a:cs typeface="Arial"/>
                    <a:sym typeface="Arial"/>
                  </a:rPr>
                  <a:t>Where:</a:t>
                </a:r>
              </a:p>
              <a:p>
                <a:pPr marL="285750" indent="-285750">
                  <a:lnSpc>
                    <a:spcPct val="100000"/>
                  </a:lnSpc>
                  <a:spcBef>
                    <a:spcPts val="0"/>
                  </a:spcBef>
                  <a:buSzPts val="3000"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8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8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t</m:t>
                        </m:r>
                      </m:e>
                      <m:sub>
                        <m:r>
                          <a:rPr lang="en-US" sz="1800" i="1">
                            <a:latin typeface="Cambria Math" panose="02040503050406030204" pitchFamily="18" charset="0"/>
                            <a:cs typeface="Arial"/>
                            <a:sym typeface="Arial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1800" dirty="0">
                    <a:latin typeface="Arial"/>
                    <a:ea typeface="Arial"/>
                    <a:cs typeface="Arial"/>
                    <a:sym typeface="Arial"/>
                  </a:rPr>
                  <a:t> = the pulse width.</a:t>
                </a:r>
              </a:p>
            </p:txBody>
          </p:sp>
        </mc:Choice>
        <mc:Fallback>
          <p:sp>
            <p:nvSpPr>
              <p:cNvPr id="23" name="Google Shape;118;p29">
                <a:extLst>
                  <a:ext uri="{FF2B5EF4-FFF2-40B4-BE49-F238E27FC236}">
                    <a16:creationId xmlns:a16="http://schemas.microsoft.com/office/drawing/2014/main" id="{DBD5450D-10A6-79FA-5BB8-407E93CA68AD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10" y="1334279"/>
                <a:ext cx="4156001" cy="4821102"/>
              </a:xfrm>
              <a:prstGeom prst="rect">
                <a:avLst/>
              </a:prstGeom>
              <a:blipFill>
                <a:blip r:embed="rId4"/>
                <a:stretch>
                  <a:fillRect l="-3079" t="-759" b="-1517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Graphic 4">
            <a:extLst>
              <a:ext uri="{FF2B5EF4-FFF2-40B4-BE49-F238E27FC236}">
                <a16:creationId xmlns:a16="http://schemas.microsoft.com/office/drawing/2014/main" id="{22F6EAA8-D1E8-2E30-34AA-E3E04D9A1ED7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4699509" y="1237221"/>
            <a:ext cx="6858000" cy="45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994296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BF18A37-68A2-7AB0-C0AA-02A67FA678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4AAA99B-A7AC-B119-E333-BEBE603941C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13C44BF-8CF9-FF30-A421-9B9B67A6863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LiDAR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3F3D005-F0F3-9E09-F8D0-53A200B20AA2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2F27F2D-A0F2-3F51-C8FC-4BA430CA097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B1666A2-BBB8-C687-C5F0-49F8FDFB87A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4F49D67-6128-4F87-2036-5610490C594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0E91A12-D1F5-282C-3F48-5AA7F27B912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AD0D983-4A03-8BB0-EA68-27021B309E9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3" name="Google Shape;118;p29">
            <a:extLst>
              <a:ext uri="{FF2B5EF4-FFF2-40B4-BE49-F238E27FC236}">
                <a16:creationId xmlns:a16="http://schemas.microsoft.com/office/drawing/2014/main" id="{E3F5A2DA-ECC3-A162-07CD-E6D45F8A82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10" y="1334279"/>
            <a:ext cx="41560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Given a long pulse width, it is possible to receive multiple returns.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Which can help with additional information in the environment allowing you to enter different materials.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1569A32-E436-B9AA-C0F0-669A865204AC}"/>
              </a:ext>
            </a:extLst>
          </p:cNvPr>
          <p:cNvSpPr txBox="1"/>
          <p:nvPr/>
        </p:nvSpPr>
        <p:spPr>
          <a:xfrm>
            <a:off x="5406753" y="6221425"/>
            <a:ext cx="609708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dirty="0">
                <a:hlinkClick r:id="rId4"/>
              </a:rPr>
              <a:t>https://iopscience.iop.org/article/10.1088/1361-6501/abc867</a:t>
            </a:r>
            <a:r>
              <a:rPr lang="en-US" dirty="0"/>
              <a:t> 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662D4277-2399-920C-94B4-F3EE2E5790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15906" y="906290"/>
            <a:ext cx="5478781" cy="53611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2037695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C00A812-18A3-AD0B-DB3B-F3EBBBB569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24D8B18-5735-9AA5-2F76-90C70CFDA1C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7DD2CB6-86DE-5DF1-D7EF-D7FBEE56ED2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LiDAR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0B7B360-3027-6A93-C8E2-C3B82BB80051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3642053-BEB7-E67E-FC66-281338FF728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1F0EFF74-18F4-E453-36B8-CB11EB88A17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B7AE07D-ECDF-D1A3-1079-2EBBB49B732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39C1E516-2676-7FB7-138D-1645E78E8B6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53CF4C5-C5A8-BBAA-38EC-8BEF8C70861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A74F562D-D9DC-FBB6-DBFA-B7CF2EBE86DE}"/>
              </a:ext>
            </a:extLst>
          </p:cNvPr>
          <p:cNvGrpSpPr/>
          <p:nvPr/>
        </p:nvGrpSpPr>
        <p:grpSpPr>
          <a:xfrm>
            <a:off x="8733211" y="1102041"/>
            <a:ext cx="2876550" cy="5136523"/>
            <a:chOff x="4344091" y="1070427"/>
            <a:chExt cx="2876550" cy="5136523"/>
          </a:xfrm>
        </p:grpSpPr>
        <p:pic>
          <p:nvPicPr>
            <p:cNvPr id="7170" name="Picture 2" descr="undefined">
              <a:extLst>
                <a:ext uri="{FF2B5EF4-FFF2-40B4-BE49-F238E27FC236}">
                  <a16:creationId xmlns:a16="http://schemas.microsoft.com/office/drawing/2014/main" id="{FE6F859E-2E0D-BE78-1AFA-2D262DE7E68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696261" y="1070427"/>
              <a:ext cx="2172209" cy="471318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sp>
          <p:nvSpPr>
            <p:cNvPr id="3" name="TextBox 2">
              <a:extLst>
                <a:ext uri="{FF2B5EF4-FFF2-40B4-BE49-F238E27FC236}">
                  <a16:creationId xmlns:a16="http://schemas.microsoft.com/office/drawing/2014/main" id="{C8E27330-C1BE-3169-7144-D42155EFDD6F}"/>
                </a:ext>
              </a:extLst>
            </p:cNvPr>
            <p:cNvSpPr txBox="1"/>
            <p:nvPr/>
          </p:nvSpPr>
          <p:spPr>
            <a:xfrm>
              <a:off x="4344091" y="5899173"/>
              <a:ext cx="2876550" cy="307777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n-US" dirty="0">
                  <a:hlinkClick r:id="rId5"/>
                </a:rPr>
                <a:t>https://en.wikipedia.org/wiki/Lidar</a:t>
              </a:r>
              <a:r>
                <a:rPr lang="en-US" dirty="0"/>
                <a:t> </a:t>
              </a:r>
            </a:p>
          </p:txBody>
        </p:sp>
      </p:grp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Google Shape;118;p29">
                <a:extLst>
                  <a:ext uri="{FF2B5EF4-FFF2-40B4-BE49-F238E27FC236}">
                    <a16:creationId xmlns:a16="http://schemas.microsoft.com/office/drawing/2014/main" id="{97A935CE-46DD-A57D-3864-80B2FDF44093}"/>
                  </a:ext>
                </a:extLst>
              </p:cNvPr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376810" y="1334279"/>
                <a:ext cx="7937699" cy="4821102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1800" dirty="0">
                    <a:latin typeface="Arial"/>
                    <a:ea typeface="Arial"/>
                    <a:cs typeface="Arial"/>
                    <a:sym typeface="Arial"/>
                  </a:rPr>
                  <a:t>By rapidly spinning the laser via a motor, we can generate a dense 2D or 3D map of the environment.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8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1800" dirty="0">
                    <a:latin typeface="Arial"/>
                    <a:ea typeface="Arial"/>
                    <a:cs typeface="Arial"/>
                    <a:sym typeface="Arial"/>
                  </a:rPr>
                  <a:t>Given that we know the constant rate of turn, we thus know where each pulse will be located radially and the distance returned. We can thus generate a </a:t>
                </a:r>
                <a:r>
                  <a:rPr lang="en-US" sz="1800" b="1" dirty="0">
                    <a:latin typeface="Arial"/>
                    <a:ea typeface="Arial"/>
                    <a:cs typeface="Arial"/>
                    <a:sym typeface="Arial"/>
                  </a:rPr>
                  <a:t>point cloud</a:t>
                </a:r>
                <a:r>
                  <a:rPr lang="en-US" sz="1800" dirty="0">
                    <a:latin typeface="Arial"/>
                    <a:ea typeface="Arial"/>
                    <a:cs typeface="Arial"/>
                    <a:sym typeface="Arial"/>
                  </a:rPr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8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1800" dirty="0">
                    <a:latin typeface="Arial"/>
                    <a:ea typeface="Arial"/>
                    <a:cs typeface="Arial"/>
                    <a:sym typeface="Arial"/>
                  </a:rPr>
                  <a:t>For 2D, the location of an obstacle relative to the LiDAR would be,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800" b="0" i="1" dirty="0">
                  <a:latin typeface="Cambria Math" panose="02040503050406030204" pitchFamily="18" charset="0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p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i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= (</m:t>
                      </m:r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i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  </m:t>
                      </m:r>
                      <m:r>
                        <m:rPr>
                          <m:sty m:val="p"/>
                        </m:rPr>
                        <a:rPr lang="en-US" sz="18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cos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(</m:t>
                      </m:r>
                      <m:sSub>
                        <m:sSubPr>
                          <m:ctrlPr>
                            <a:rPr lang="en-US" sz="18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b="0" i="1" smtClean="0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i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),</m:t>
                      </m:r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sz="18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d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i</m:t>
                          </m:r>
                        </m:sub>
                      </m:sSub>
                      <m:r>
                        <a:rPr lang="en-US" sz="1800" b="0" i="1" smtClean="0">
                          <a:latin typeface="Cambria Math" panose="02040503050406030204" pitchFamily="18" charset="0"/>
                          <a:cs typeface="Arial"/>
                          <a:sym typeface="Arial"/>
                        </a:rPr>
                        <m:t> </m:t>
                      </m:r>
                      <m:r>
                        <m:rPr>
                          <m:sty m:val="p"/>
                        </m:rPr>
                        <a:rPr lang="en-US" sz="1800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sin</m:t>
                      </m:r>
                      <m:r>
                        <a:rPr lang="en-US" sz="1800" i="1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(</m:t>
                      </m:r>
                      <m:sSub>
                        <m:sSubPr>
                          <m:ctrlPr>
                            <a:rPr lang="en-US" sz="18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</m:ctrlPr>
                        </m:sSubPr>
                        <m:e>
                          <m:r>
                            <a:rPr lang="en-US" sz="180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  <a:cs typeface="Arial"/>
                              <a:sym typeface="Arial"/>
                            </a:rPr>
                            <m:t>𝜃</m:t>
                          </m:r>
                        </m:e>
                        <m:sub>
                          <m:r>
                            <m:rPr>
                              <m:sty m:val="p"/>
                            </m:rPr>
                            <a:rPr lang="en-US" sz="1800" i="1">
                              <a:latin typeface="Cambria Math" panose="02040503050406030204" pitchFamily="18" charset="0"/>
                              <a:cs typeface="Arial"/>
                              <a:sym typeface="Arial"/>
                            </a:rPr>
                            <m:t>i</m:t>
                          </m:r>
                        </m:sub>
                      </m:sSub>
                      <m:r>
                        <a:rPr lang="en-US" sz="1800" i="1">
                          <a:latin typeface="Cambria Math" panose="02040503050406030204" pitchFamily="18" charset="0"/>
                          <a:ea typeface="Cambria Math" panose="02040503050406030204" pitchFamily="18" charset="0"/>
                          <a:cs typeface="Arial"/>
                          <a:sym typeface="Arial"/>
                        </a:rPr>
                        <m:t>)</m:t>
                      </m:r>
                      <m:r>
                        <a:rPr lang="en-US" sz="1800" b="0" i="1" smtClean="0">
                          <a:latin typeface="Cambria Math" panose="02040503050406030204" pitchFamily="18" charset="0"/>
                          <a:ea typeface="Arial"/>
                          <a:cs typeface="Arial"/>
                          <a:sym typeface="Arial"/>
                        </a:rPr>
                        <m:t>)</m:t>
                      </m:r>
                    </m:oMath>
                  </m:oMathPara>
                </a14:m>
                <a:endParaRPr lang="en-US" sz="18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8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800" dirty="0">
                  <a:latin typeface="Arial"/>
                  <a:ea typeface="Arial"/>
                  <a:cs typeface="Arial"/>
                  <a:sym typeface="Arial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r>
                  <a:rPr lang="en-US" sz="1800" dirty="0">
                    <a:latin typeface="Arial"/>
                    <a:ea typeface="Arial"/>
                    <a:cs typeface="Arial"/>
                    <a:sym typeface="Arial"/>
                  </a:rPr>
                  <a:t>A point cloud is a map of 2D/3D points in space where objects are located.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SzPts val="3000"/>
                  <a:buNone/>
                </a:pPr>
                <a:endParaRPr lang="en-US" sz="1800" dirty="0"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mc:Choice>
        <mc:Fallback>
          <p:sp>
            <p:nvSpPr>
              <p:cNvPr id="5" name="Google Shape;118;p29">
                <a:extLst>
                  <a:ext uri="{FF2B5EF4-FFF2-40B4-BE49-F238E27FC236}">
                    <a16:creationId xmlns:a16="http://schemas.microsoft.com/office/drawing/2014/main" id="{97A935CE-46DD-A57D-3864-80B2FDF44093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376810" y="1334279"/>
                <a:ext cx="7937699" cy="4821102"/>
              </a:xfrm>
              <a:prstGeom prst="rect">
                <a:avLst/>
              </a:prstGeom>
              <a:blipFill>
                <a:blip r:embed="rId6"/>
                <a:stretch>
                  <a:fillRect l="-691" t="-759" r="-99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1704492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59A47BCA-E9C1-BB23-82CF-95AA0763F3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94D4B8F8-0646-5A0B-503C-C0207D11E92E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Wall Following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41A0AF24-EBDC-0026-07BB-3E9E6A3F5F09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885B6867-51CD-0E4A-AF13-A3B2E0FE9DA3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B2E544D8-9E30-2246-CFBC-D9607B033F0F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4264C899-AF39-7AC3-9634-5F50CE689F3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735F353D-B64D-3675-26A2-BF905DFE814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E72F3FF3-1CD8-C9DC-E0F8-75CFD5AB2D88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B4454524-342F-65DC-9763-E0FAC301F25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FC95CE5D-7BB9-28CA-79B9-6A021C649EA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E70935BF-4C0F-5AF0-53B7-829A82866FF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5670362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95518B6-4C7B-33CE-F17B-2CF2917387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D498F9C-6E11-E02F-9F08-9EB57A9CE5A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We now have sensors to figure out where obstacles are and where </a:t>
            </a:r>
            <a:r>
              <a:rPr lang="en-US" sz="24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robot 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itself is located! </a:t>
            </a:r>
            <a:endParaRPr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0865AF1-F3D3-ECDD-8ACE-EEACCF6E3B06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9B91B10-C13A-AC69-D2EA-E78480FC007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Wall Following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125D1E0-06F7-5558-6DC3-8371E3A1C5C7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465CE07-467A-B7D4-225A-FBC2E9DC6918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C6E1B63-6503-C57F-903F-28E13827B70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7C441FD-9ACD-51FE-260B-8D14E0131A2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D087078-7DC4-3E43-FF88-DF8C2360F4B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3FE391FE-5E07-65EF-D0A7-6FCCA784870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823755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A1D6FFDF-F5B2-0DC6-E3BF-2AD61472DE7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5EAD0C55-A2B6-CE7E-9746-554536B83088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Mechatronics Example</a:t>
            </a:r>
            <a:endParaRPr sz="1800" b="0" i="0" u="none" strike="noStrike" cap="none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617CA5C1-374D-05BB-D91B-C3A619D7AFDF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B645D7F7-D45B-AA81-8A07-19D7D6500BE3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8735BF47-2AA0-FC82-26AD-BBF1E787AD14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ECBF56AC-830B-EF0D-6539-F6722B615F5C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9BAD72FC-7AF4-4F84-7217-8623D1CB15EC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BE7AD005-3CC6-493C-857E-E732A048A53E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B1A5E78B-FDB8-87CB-12CE-E89137E740A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D2B45E73-87C3-87E0-E1F8-E83C1D04C61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A7E6E7BD-7E15-C508-B610-627D7671C53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590778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D7434D2F-1ECC-7384-2675-5E068F3DBB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86DC076-B249-E6DA-DF91-465C81B5052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Fantastic video of mechatronics, the tight integration of hardware, software and understand the environment you operate it and building the sensors for it!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forefront of micro-optimizations to just improve performance as much as possible!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24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Uses everything that we do as well!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IR Sensor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Gyroscope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Encoders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DC motors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Micro-controllers</a:t>
            </a:r>
            <a:r>
              <a:rPr lang="en-US" sz="24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The some of the code can be found 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  <a:hlinkClick r:id="rId3"/>
              </a:rPr>
              <a:t>here</a:t>
            </a:r>
            <a:r>
              <a:rPr lang="en-US" sz="2400" dirty="0">
                <a:latin typeface="Arial"/>
                <a:ea typeface="Arial"/>
                <a:cs typeface="Arial"/>
                <a:sym typeface="Arial"/>
              </a:rPr>
              <a:t>.</a:t>
            </a:r>
            <a:endParaRPr sz="24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4816254-124F-926F-75F9-1E2DF118751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73FF14F-690D-A803-DBBC-FB9B856AD78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Sensors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84D88D7-57A0-06B1-53C3-3FF36EC7514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3884A00-0E61-6C5C-31C0-C20B6062A17B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4FE36AB6-49C4-767B-5487-DA6C20627533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30E1944-6C71-F55A-0B36-DD574AF2DED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10904F9-EA5F-9268-F18D-873CB96D4A8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679264B-A9A0-A8E2-2292-153EF189C2F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9349241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8" grpId="0" uiExpand="1" build="p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E37F254-9286-9E87-C698-29C0485E27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E6117A39-D77F-0968-63B0-2D9EA0076E5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51D8F61-E41F-C670-B2BC-417B04A51DC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Review – 5-minute partner discussion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C29A6D15-E6F8-7FB3-9ED4-A0761BC2D2CB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1A9BDEBA-350C-7DC5-AA9E-F04A54F008E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8106443-3BB1-6CAB-9FD8-BA27664E57B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B75B9844-D22E-FB4E-305A-E4364F766F8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97B5FB44-6F2D-8647-7728-EECB3A09F07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A67854E5-C132-67C4-4936-6AB96F4FE66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4" name="Online Media 3" title="The Fastest Maze-Solving Competition On Earth">
            <a:hlinkClick r:id="" action="ppaction://media"/>
            <a:extLst>
              <a:ext uri="{FF2B5EF4-FFF2-40B4-BE49-F238E27FC236}">
                <a16:creationId xmlns:a16="http://schemas.microsoft.com/office/drawing/2014/main" id="{E277F7A4-DC0A-5C1E-F2F5-CFC67683FB7A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1143000" y="917393"/>
            <a:ext cx="9906000" cy="55969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43177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4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4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4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4"/>
                  </p:tgtEl>
                </p:cond>
              </p:nextCondLst>
            </p:seq>
          </p:childTnLst>
        </p:cTn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>
          <a:extLst>
            <a:ext uri="{FF2B5EF4-FFF2-40B4-BE49-F238E27FC236}">
              <a16:creationId xmlns:a16="http://schemas.microsoft.com/office/drawing/2014/main" id="{FA145421-BB40-88A0-CFFD-DC4D9CAC5B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>
            <a:extLst>
              <a:ext uri="{FF2B5EF4-FFF2-40B4-BE49-F238E27FC236}">
                <a16:creationId xmlns:a16="http://schemas.microsoft.com/office/drawing/2014/main" id="{B5B2745B-F5C6-8FBF-1FAE-FE621EFA88F0}"/>
              </a:ext>
            </a:extLst>
          </p:cNvPr>
          <p:cNvSpPr txBox="1"/>
          <p:nvPr/>
        </p:nvSpPr>
        <p:spPr>
          <a:xfrm>
            <a:off x="2275515" y="2823928"/>
            <a:ext cx="7640969" cy="121014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6600" b="1" dirty="0">
                <a:solidFill>
                  <a:schemeClr val="lt1"/>
                </a:solidFill>
              </a:rPr>
              <a:t>Questions</a:t>
            </a:r>
            <a:r>
              <a:rPr lang="en-US" sz="5400" b="1" dirty="0">
                <a:solidFill>
                  <a:schemeClr val="lt1"/>
                </a:solidFill>
              </a:rPr>
              <a:t>?</a:t>
            </a:r>
          </a:p>
        </p:txBody>
      </p:sp>
      <p:pic>
        <p:nvPicPr>
          <p:cNvPr id="265" name="Google Shape;265;p37">
            <a:extLst>
              <a:ext uri="{FF2B5EF4-FFF2-40B4-BE49-F238E27FC236}">
                <a16:creationId xmlns:a16="http://schemas.microsoft.com/office/drawing/2014/main" id="{EDC8C897-5AB2-076F-5135-9B30ACCBD22F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>
            <a:extLst>
              <a:ext uri="{FF2B5EF4-FFF2-40B4-BE49-F238E27FC236}">
                <a16:creationId xmlns:a16="http://schemas.microsoft.com/office/drawing/2014/main" id="{CF8648FC-7240-4BBB-9E09-C030BD1A805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>
            <a:extLst>
              <a:ext uri="{FF2B5EF4-FFF2-40B4-BE49-F238E27FC236}">
                <a16:creationId xmlns:a16="http://schemas.microsoft.com/office/drawing/2014/main" id="{6A5B7064-0FC6-E501-D020-2C92B5A6057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>
            <a:extLst>
              <a:ext uri="{FF2B5EF4-FFF2-40B4-BE49-F238E27FC236}">
                <a16:creationId xmlns:a16="http://schemas.microsoft.com/office/drawing/2014/main" id="{69F24B96-E9CD-EB54-C22A-3DD90799A7A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>
              <a:extLst>
                <a:ext uri="{FF2B5EF4-FFF2-40B4-BE49-F238E27FC236}">
                  <a16:creationId xmlns:a16="http://schemas.microsoft.com/office/drawing/2014/main" id="{BDF89024-C4A2-8F3A-DA57-A772C136804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>
              <a:extLst>
                <a:ext uri="{FF2B5EF4-FFF2-40B4-BE49-F238E27FC236}">
                  <a16:creationId xmlns:a16="http://schemas.microsoft.com/office/drawing/2014/main" id="{B3758997-614E-F4D9-9F4D-D716DCC856B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315989789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1063</TotalTime>
  <Words>1950</Words>
  <Application>Microsoft Office PowerPoint</Application>
  <PresentationFormat>Widescreen</PresentationFormat>
  <Paragraphs>351</Paragraphs>
  <Slides>34</Slides>
  <Notes>34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8" baseType="lpstr">
      <vt:lpstr>Arial</vt:lpstr>
      <vt:lpstr>Calibri</vt:lpstr>
      <vt:lpstr>Cambria Math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146</cp:revision>
  <dcterms:created xsi:type="dcterms:W3CDTF">2019-01-14T22:06:33Z</dcterms:created>
  <dcterms:modified xsi:type="dcterms:W3CDTF">2026-03-08T22:08:34Z</dcterms:modified>
</cp:coreProperties>
</file>