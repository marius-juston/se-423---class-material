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48"/>
  </p:notesMasterIdLst>
  <p:sldIdLst>
    <p:sldId id="256" r:id="rId2"/>
    <p:sldId id="417" r:id="rId3"/>
    <p:sldId id="413" r:id="rId4"/>
    <p:sldId id="272" r:id="rId5"/>
    <p:sldId id="258" r:id="rId6"/>
    <p:sldId id="418" r:id="rId7"/>
    <p:sldId id="419" r:id="rId8"/>
    <p:sldId id="424" r:id="rId9"/>
    <p:sldId id="420" r:id="rId10"/>
    <p:sldId id="425" r:id="rId11"/>
    <p:sldId id="426" r:id="rId12"/>
    <p:sldId id="427" r:id="rId13"/>
    <p:sldId id="428" r:id="rId14"/>
    <p:sldId id="429" r:id="rId15"/>
    <p:sldId id="430" r:id="rId16"/>
    <p:sldId id="431" r:id="rId17"/>
    <p:sldId id="433" r:id="rId18"/>
    <p:sldId id="434" r:id="rId19"/>
    <p:sldId id="437" r:id="rId20"/>
    <p:sldId id="436" r:id="rId21"/>
    <p:sldId id="441" r:id="rId22"/>
    <p:sldId id="442" r:id="rId23"/>
    <p:sldId id="435" r:id="rId24"/>
    <p:sldId id="439" r:id="rId25"/>
    <p:sldId id="440" r:id="rId26"/>
    <p:sldId id="444" r:id="rId27"/>
    <p:sldId id="443" r:id="rId28"/>
    <p:sldId id="445" r:id="rId29"/>
    <p:sldId id="447" r:id="rId30"/>
    <p:sldId id="448" r:id="rId31"/>
    <p:sldId id="449" r:id="rId32"/>
    <p:sldId id="450" r:id="rId33"/>
    <p:sldId id="451" r:id="rId34"/>
    <p:sldId id="453" r:id="rId35"/>
    <p:sldId id="452" r:id="rId36"/>
    <p:sldId id="454" r:id="rId37"/>
    <p:sldId id="456" r:id="rId38"/>
    <p:sldId id="457" r:id="rId39"/>
    <p:sldId id="459" r:id="rId40"/>
    <p:sldId id="458" r:id="rId41"/>
    <p:sldId id="446" r:id="rId42"/>
    <p:sldId id="422" r:id="rId43"/>
    <p:sldId id="423" r:id="rId44"/>
    <p:sldId id="455" r:id="rId45"/>
    <p:sldId id="271" r:id="rId46"/>
    <p:sldId id="270" r:id="rId4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jKkk5wOoQj6sDPPETbbKgHU96Dz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Atkinson Hyperlegible Next"/>
                <a:ea typeface="Calibri"/>
                <a:cs typeface="Calibri"/>
                <a:sym typeface="Calibri"/>
              </a:rPr>
              <a:t>‹#›</a:t>
            </a:fld>
            <a:endParaRPr sz="1200" b="0" i="0" u="none" strike="noStrike" cap="none">
              <a:solidFill>
                <a:schemeClr val="dk1"/>
              </a:solidFill>
              <a:latin typeface="Atkinson Hyperlegible Next"/>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2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 name="Google Shape;8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CE7E3B5-49B9-1887-BB3D-532FE9FF859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15B324B9-F340-1116-1318-88A50BDE8BC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F0993868-158A-56AF-D3A1-6FFF7658AE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540543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F004519-0EAD-FA0D-DE7A-BBED69225C0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9E58F23-9AF7-DB67-E863-18BBB13641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16" name="Google Shape;116;p29:notes">
            <a:extLst>
              <a:ext uri="{FF2B5EF4-FFF2-40B4-BE49-F238E27FC236}">
                <a16:creationId xmlns:a16="http://schemas.microsoft.com/office/drawing/2014/main" id="{3C79A737-144F-41FB-6FD9-A9EBE11C95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719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a:extLst>
            <a:ext uri="{FF2B5EF4-FFF2-40B4-BE49-F238E27FC236}">
              <a16:creationId xmlns:a16="http://schemas.microsoft.com/office/drawing/2014/main" id="{AF9ED5EC-765E-DDD7-332B-8A00B0540F98}"/>
            </a:ext>
          </a:extLst>
        </p:cNvPr>
        <p:cNvGrpSpPr/>
        <p:nvPr/>
      </p:nvGrpSpPr>
      <p:grpSpPr>
        <a:xfrm>
          <a:off x="0" y="0"/>
          <a:ext cx="0" cy="0"/>
          <a:chOff x="0" y="0"/>
          <a:chExt cx="0" cy="0"/>
        </a:xfrm>
      </p:grpSpPr>
      <p:sp>
        <p:nvSpPr>
          <p:cNvPr id="86" name="Google Shape;86;p27:notes">
            <a:extLst>
              <a:ext uri="{FF2B5EF4-FFF2-40B4-BE49-F238E27FC236}">
                <a16:creationId xmlns:a16="http://schemas.microsoft.com/office/drawing/2014/main" id="{5154540A-10BF-B029-D910-A380E44E1A04}"/>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7" name="Google Shape;87;p27:notes">
            <a:extLst>
              <a:ext uri="{FF2B5EF4-FFF2-40B4-BE49-F238E27FC236}">
                <a16:creationId xmlns:a16="http://schemas.microsoft.com/office/drawing/2014/main" id="{D65677FB-0014-3040-C794-160B4CD86AA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25381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2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D34AD55-D0C6-5D68-E050-4F94A2D0160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DA5A085-5EBC-FABD-4836-8DEAA0E3291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4ACEF470-D060-3636-DAF4-FC8F3E3F2C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645729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678030C-9A80-DCB6-FB9E-F49FC87EAF0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4859AA9-FADB-43FF-D4B4-B9D1220FC7A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ED728E28-8AA0-CB59-5D32-2559A40D813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807906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9A14EAB-0DB8-2DCC-37DF-12E6B1061D3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45280FF-CFEE-5EC7-CB7E-B6727E395D5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AF0B66F4-2528-81D8-50B8-5ED120B1139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721081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B70FF64-A0B7-350C-1DF7-3C39BBE92EE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FAF515B-4B8E-0BA1-FEE2-A1824B1179B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53BCA82D-A0C9-AA64-1969-5FF00FD9EBD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927681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94497091-9AD6-265D-EBED-F77C6E12B0DA}"/>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ECC046CF-44B8-D104-DC3D-06E53478C07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a:extLst>
              <a:ext uri="{FF2B5EF4-FFF2-40B4-BE49-F238E27FC236}">
                <a16:creationId xmlns:a16="http://schemas.microsoft.com/office/drawing/2014/main" id="{3807690A-A0AE-756E-6B11-627B22873D4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019738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57CEA06-8988-A6A1-B200-6C716ED775B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32B7910-84F0-EA5E-F470-F9F2EB40B4C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6B911C18-0B25-F82E-AF69-3B75E4093A6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413897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971EEEA-D621-B9EB-9BAD-9A038354A7C5}"/>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129399B-A073-0D27-CF9C-663534E0242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ACF4F3AD-6C1E-44CD-7B07-EA8EAC7874D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521369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25F1C95-F9C3-5482-32EC-523AA6B992D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0A98234-7FD6-D7D4-425D-A9FBDF6F266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8660A290-00AF-036C-DE30-5F490B496DA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652228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D4CB045-F60D-AA20-7051-A3B506E17D9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6D6BEDF-BDA3-319E-DBE4-6F9F1AA9491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EB45C9B0-2D16-447B-95E8-B33C7F89FDB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749094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E3CC942D-6170-B6BF-0FCA-11353B05E64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A86DC03-5AE7-8C3F-C362-B906AFD880A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A94363D7-BB1B-B176-9EBE-21797BB78F7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706399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375D989A-6349-DFE4-39E3-711D031BE6C8}"/>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5A6B6E0D-8281-FD38-E756-3D45B167329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a:extLst>
              <a:ext uri="{FF2B5EF4-FFF2-40B4-BE49-F238E27FC236}">
                <a16:creationId xmlns:a16="http://schemas.microsoft.com/office/drawing/2014/main" id="{10FE89B1-8EF5-7E69-5733-B4AA14FEB22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834225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799ABDE-E7B2-CBF9-488D-91D9D643C36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09068DB-ED88-3894-2ABC-F35BBF2948F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39CC4E3-EDFB-D8CE-4C93-FE26C25A3AD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6041939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8848D44-3FD7-C460-18C2-A64E4B9A317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BCE8490-F6B2-FC23-2A02-438F8117DD6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C6667FB-3D38-4C22-E4C7-968A1B8748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879244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95B234C4-8F98-4046-5663-EAC4D5EFA84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9F7F33B-CC13-F2BF-1143-AEC1D930F2F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95AD144E-9849-FE9E-478F-AE2BCD6D181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327404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5CAB5B29-B562-BC85-1DD4-C9FB4835F252}"/>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4A406A0-532A-914A-48E1-4D6686BF718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4C48227F-A62A-C895-0AFC-EF1217EB076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798668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1326592-BE1E-DB23-0680-EADD5E321B7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C7856802-9671-5504-6DD9-7E08FC4102A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86F2757-F4E6-9443-DB5A-75EA6EFD03A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940387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F5A2EF6-FDF4-3B77-B0AC-7AF667D01E2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7C1D23C-0038-6336-2BE2-994D1979845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DB3127E9-6D21-2D98-0300-889C1F1347D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2578682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E549C82-D21E-DF00-7113-F39AA45A1763}"/>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68745A07-8B59-E309-9E70-548E66C7689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DAF654C7-4681-8358-84E1-6276C57D1F2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104304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F8D1244-6DF1-9E27-F200-09A0C6918256}"/>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E1F41758-CF3E-974C-1DAB-E7B0811FF08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052B3CA4-1DCC-02A9-50E2-D8ED0FE6BB3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8438985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C3B0403-02DE-3381-8519-65E3E0CE2C8E}"/>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924AF00A-B5CA-2DE4-2A70-65D57FE6C22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5663C3C4-C254-8072-5AC6-C187C46913C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976869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C99AB677-A8BB-CA0C-1685-0A255380E31B}"/>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4CB836C-2866-C6B7-A85B-0D333B88B3B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9EB701BA-7CC0-313B-D848-8F659565C80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914501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1772249-A57A-795D-5FBA-AE00222A8468}"/>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8D4B529E-A824-C98B-6B56-D9E1408837A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8135F34A-FA11-909A-289D-9A6FB0B8D0C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691200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1C5FCE47-B455-658A-B528-CC3BA626ACF6}"/>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F06B22C1-8814-8BF6-E065-F5ED7AFF5748}"/>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a:extLst>
              <a:ext uri="{FF2B5EF4-FFF2-40B4-BE49-F238E27FC236}">
                <a16:creationId xmlns:a16="http://schemas.microsoft.com/office/drawing/2014/main" id="{42DB6258-24D7-6550-41AA-20B9DFB7F25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855051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FF99141D-6312-451B-BEE2-E75F3FC5DC2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478E0948-B84F-1EF7-7345-24735C926CB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7AAC686F-5930-2758-2516-2DECE0EE679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589047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2B25C4FE-983E-E1F9-4D86-A2809E7EF7C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27A3A894-BB23-BCDA-B217-7B39871E63C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6B1C3A9A-F900-EF80-3011-44DD1497E1F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807828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0997D9CB-4819-85CE-0F35-CE51EA0637D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75C14C7-0A2B-5F85-42F3-C0EC3E8E1A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DC3E6F82-09D2-CC88-190F-72093D0CD65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640248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584E289-CF73-8A14-3553-B023E93E1CBF}"/>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0D5C35A9-A420-2CAF-CB88-0FCE89DA229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BC3D1F2D-9FA8-79BE-0EC8-5449D19DEB3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493816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4E8BFD74-C073-7ED8-373B-3186F0665CA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AB1F12C0-681E-6E50-B1B3-CA797572CE7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It is more dangerous to actual hit something. So it is better to be safer, so that is why we use the minimum!</a:t>
            </a:r>
            <a:endParaRPr dirty="0"/>
          </a:p>
        </p:txBody>
      </p:sp>
      <p:sp>
        <p:nvSpPr>
          <p:cNvPr id="116" name="Google Shape;116;p29:notes">
            <a:extLst>
              <a:ext uri="{FF2B5EF4-FFF2-40B4-BE49-F238E27FC236}">
                <a16:creationId xmlns:a16="http://schemas.microsoft.com/office/drawing/2014/main" id="{902503E2-BC95-8898-AFB1-2A6C56F6F14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227890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815DE67B-A2C1-BB2D-F552-AA3778527F12}"/>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881CF541-E7C9-E38F-F0B5-595CDF97DAF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a:extLst>
              <a:ext uri="{FF2B5EF4-FFF2-40B4-BE49-F238E27FC236}">
                <a16:creationId xmlns:a16="http://schemas.microsoft.com/office/drawing/2014/main" id="{1A09A1D7-B1AF-9471-1C45-8AFF5133D48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37717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DC5F3CDC-D389-9697-CBE2-CC85D67FD3F9}"/>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CBA3F6D-894A-A60F-9E14-344A4ED3BCA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82D57132-6025-1225-0706-2E367CADC14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4686784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8A77469-5071-B259-E4EE-9C0D056AFC5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3BDDA66-6331-FD8C-B354-D00E5637514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BEC853C4-C7BE-E1C3-F120-4E8AFCF5A46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2612070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863850B5-2CB0-10E7-5767-479599C9BF91}"/>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D42E356B-0D84-620D-5012-E77E245A0335}"/>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E3739E19-6308-3BE2-ABFD-AFD15A8B8D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4058380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21630EF-0466-4138-BCDF-6F58927F463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7966A5D8-03A1-ADAD-AE42-3543DD6A78D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dirty="0"/>
              <a:t>Zeno behavior means “the system makes an infinite number of jumps, in finite time”</a:t>
            </a:r>
            <a:endParaRPr dirty="0"/>
          </a:p>
        </p:txBody>
      </p:sp>
      <p:sp>
        <p:nvSpPr>
          <p:cNvPr id="116" name="Google Shape;116;p29:notes">
            <a:extLst>
              <a:ext uri="{FF2B5EF4-FFF2-40B4-BE49-F238E27FC236}">
                <a16:creationId xmlns:a16="http://schemas.microsoft.com/office/drawing/2014/main" id="{EB92E7C1-D65A-7D5C-3CE8-FF21FC0C637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32915821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675C0EF7-EE6A-41F9-028B-6900C6C8A860}"/>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BE7971E3-2432-4064-D5C3-368D771B665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03E5DDF4-C178-DC4C-DECC-12DC819AF26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766928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ADB6E390-DD17-3998-CFD3-62DE6AB493FD}"/>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32E3459B-7CDE-E24B-2EA5-2BF88A56E7E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D334F3EC-1B58-1B2E-7A1D-F2EE608E828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8306128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F4A4B199-A4D2-104F-4F6B-433745D9E7EE}"/>
            </a:ext>
          </a:extLst>
        </p:cNvPr>
        <p:cNvGrpSpPr/>
        <p:nvPr/>
      </p:nvGrpSpPr>
      <p:grpSpPr>
        <a:xfrm>
          <a:off x="0" y="0"/>
          <a:ext cx="0" cy="0"/>
          <a:chOff x="0" y="0"/>
          <a:chExt cx="0" cy="0"/>
        </a:xfrm>
      </p:grpSpPr>
      <p:sp>
        <p:nvSpPr>
          <p:cNvPr id="101" name="Google Shape;101;p28:notes">
            <a:extLst>
              <a:ext uri="{FF2B5EF4-FFF2-40B4-BE49-F238E27FC236}">
                <a16:creationId xmlns:a16="http://schemas.microsoft.com/office/drawing/2014/main" id="{70346AF5-F07B-70AF-A5E2-E341F131945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28:notes">
            <a:extLst>
              <a:ext uri="{FF2B5EF4-FFF2-40B4-BE49-F238E27FC236}">
                <a16:creationId xmlns:a16="http://schemas.microsoft.com/office/drawing/2014/main" id="{1DAC811B-9A2D-E4AB-29A0-7DB616404DD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9153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7897B6C2-ACE8-1051-28A9-9CEA4668CB3A}"/>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2FA555B-C72A-3A07-F9C9-1FCDAEB913C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F2185C33-C9E5-435D-B8A8-73E374D717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279641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141E63AA-FC65-FE27-0851-155D3733AB1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F1BD7045-2FE2-FF3B-CB4D-8CDC516DC2C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15D3998B-70BA-EF6A-96A6-E7DD3804FF7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3927293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a:extLst>
            <a:ext uri="{FF2B5EF4-FFF2-40B4-BE49-F238E27FC236}">
              <a16:creationId xmlns:a16="http://schemas.microsoft.com/office/drawing/2014/main" id="{3E8818D9-DDBA-FBAA-77B7-3447AFF4F0DC}"/>
            </a:ext>
          </a:extLst>
        </p:cNvPr>
        <p:cNvGrpSpPr/>
        <p:nvPr/>
      </p:nvGrpSpPr>
      <p:grpSpPr>
        <a:xfrm>
          <a:off x="0" y="0"/>
          <a:ext cx="0" cy="0"/>
          <a:chOff x="0" y="0"/>
          <a:chExt cx="0" cy="0"/>
        </a:xfrm>
      </p:grpSpPr>
      <p:sp>
        <p:nvSpPr>
          <p:cNvPr id="115" name="Google Shape;115;p29:notes">
            <a:extLst>
              <a:ext uri="{FF2B5EF4-FFF2-40B4-BE49-F238E27FC236}">
                <a16:creationId xmlns:a16="http://schemas.microsoft.com/office/drawing/2014/main" id="{557C422C-ECD4-8772-5A05-A31D52A7A23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29:notes">
            <a:extLst>
              <a:ext uri="{FF2B5EF4-FFF2-40B4-BE49-F238E27FC236}">
                <a16:creationId xmlns:a16="http://schemas.microsoft.com/office/drawing/2014/main" id="{884C3189-119C-A7C7-3AF4-4035C231E62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6108637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a:extLst>
            <a:ext uri="{FF2B5EF4-FFF2-40B4-BE49-F238E27FC236}">
              <a16:creationId xmlns:a16="http://schemas.microsoft.com/office/drawing/2014/main" id="{ED6D95D0-49C4-BE65-6DB0-A8408AD9A1A2}"/>
            </a:ext>
          </a:extLst>
        </p:cNvPr>
        <p:cNvGrpSpPr/>
        <p:nvPr/>
      </p:nvGrpSpPr>
      <p:grpSpPr>
        <a:xfrm>
          <a:off x="0" y="0"/>
          <a:ext cx="0" cy="0"/>
          <a:chOff x="0" y="0"/>
          <a:chExt cx="0" cy="0"/>
        </a:xfrm>
      </p:grpSpPr>
      <p:sp>
        <p:nvSpPr>
          <p:cNvPr id="261" name="Google Shape;261;p37:notes">
            <a:extLst>
              <a:ext uri="{FF2B5EF4-FFF2-40B4-BE49-F238E27FC236}">
                <a16:creationId xmlns:a16="http://schemas.microsoft.com/office/drawing/2014/main" id="{D5BF9D20-A937-E031-5ACD-4B566F245A5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37:notes">
            <a:extLst>
              <a:ext uri="{FF2B5EF4-FFF2-40B4-BE49-F238E27FC236}">
                <a16:creationId xmlns:a16="http://schemas.microsoft.com/office/drawing/2014/main" id="{1666A96F-D523-1F0C-00D5-14D5F35E2C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888236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3" name="Google Shape;273;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8" name="Google Shape;28;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5" name="Google Shape;35;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2"/>
        <p:cNvGrpSpPr/>
        <p:nvPr/>
      </p:nvGrpSpPr>
      <p:grpSpPr>
        <a:xfrm>
          <a:off x="0" y="0"/>
          <a:ext cx="0" cy="0"/>
          <a:chOff x="0" y="0"/>
          <a:chExt cx="0" cy="0"/>
        </a:xfrm>
      </p:grpSpPr>
      <p:sp>
        <p:nvSpPr>
          <p:cNvPr id="53" name="Google Shape;53;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5" name="Google Shape;55;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6" name="Google Shape;5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9"/>
        <p:cNvGrpSpPr/>
        <p:nvPr/>
      </p:nvGrpSpPr>
      <p:grpSpPr>
        <a:xfrm>
          <a:off x="0" y="0"/>
          <a:ext cx="0" cy="0"/>
          <a:chOff x="0" y="0"/>
          <a:chExt cx="0" cy="0"/>
        </a:xfrm>
      </p:grpSpPr>
      <p:sp>
        <p:nvSpPr>
          <p:cNvPr id="60" name="Google Shape;60;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23"/>
          <p:cNvSpPr>
            <a:spLocks noGrp="1"/>
          </p:cNvSpPr>
          <p:nvPr>
            <p:ph type="pic" idx="2"/>
          </p:nvPr>
        </p:nvSpPr>
        <p:spPr>
          <a:xfrm>
            <a:off x="5183188" y="987425"/>
            <a:ext cx="6172200" cy="4873625"/>
          </a:xfrm>
          <a:prstGeom prst="rect">
            <a:avLst/>
          </a:prstGeom>
          <a:noFill/>
          <a:ln>
            <a:noFill/>
          </a:ln>
        </p:spPr>
      </p:sp>
      <p:sp>
        <p:nvSpPr>
          <p:cNvPr id="62" name="Google Shape;62;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6"/>
        <p:cNvGrpSpPr/>
        <p:nvPr/>
      </p:nvGrpSpPr>
      <p:grpSpPr>
        <a:xfrm>
          <a:off x="0" y="0"/>
          <a:ext cx="0" cy="0"/>
          <a:chOff x="0" y="0"/>
          <a:chExt cx="0" cy="0"/>
        </a:xfrm>
      </p:grpSpPr>
      <p:sp>
        <p:nvSpPr>
          <p:cNvPr id="67" name="Google Shape;67;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8" name="Google Shape;68;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73" name="Google Shape;73;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tkinson Hyperlegible Next"/>
                <a:ea typeface="Arial"/>
                <a:cs typeface="Arial"/>
                <a:sym typeface="Arial"/>
              </a:defRPr>
            </a:lvl9pPr>
          </a:lstStyle>
          <a:p>
            <a:endParaRPr/>
          </a:p>
        </p:txBody>
      </p:sp>
      <p:sp>
        <p:nvSpPr>
          <p:cNvPr id="11" name="Google Shape;11;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tkinson Hyperlegible Next"/>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tkinson Hyperlegible Next"/>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tkinson Hyperlegible Next"/>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tkinson Hyperlegible Next"/>
                <a:ea typeface="Calibri"/>
                <a:cs typeface="Calibri"/>
                <a:sym typeface="Calibri"/>
              </a:defRPr>
            </a:lvl9pPr>
          </a:lstStyle>
          <a:p>
            <a:endParaRPr/>
          </a:p>
        </p:txBody>
      </p:sp>
      <p:sp>
        <p:nvSpPr>
          <p:cNvPr id="12" name="Google Shape;1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3" name="Google Shape;1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tkinson Hyperlegible Next"/>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tkinson Hyperlegible Next"/>
                <a:ea typeface="Calibri"/>
                <a:cs typeface="Calibri"/>
                <a:sym typeface="Calibri"/>
              </a:defRPr>
            </a:lvl9pPr>
          </a:lstStyle>
          <a:p>
            <a:endParaRPr/>
          </a:p>
        </p:txBody>
      </p:sp>
      <p:sp>
        <p:nvSpPr>
          <p:cNvPr id="14" name="Google Shape;1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Atkinson Hyperlegible Next"/>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tkinson Hyperlegible Next"/>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marius-juston.github.io/SE-423---Class-Material/Homeworks/HW3.pdf"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hyperlink" Target="https://www.smart-prototyping.com/Sharp-IR-Distance-Sensor-GP2Y0A41SK0F-4-30-cm" TargetMode="External"/><Relationship Id="rId4" Type="http://schemas.openxmlformats.org/officeDocument/2006/relationships/image" Target="../media/image7.jpe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hyperlink" Target="https://www.seeedstudio.com/blog/2019/12/23/distance-sensors-types-and-selection-guide/?srsltid=AfmBOoqqTzG5IXwUkxoz5_Zqd1hbp99oPKSt_J4rwNNXKZuSm4sWI-MF" TargetMode="External"/><Relationship Id="rId4" Type="http://schemas.openxmlformats.org/officeDocument/2006/relationships/image" Target="../media/image8.jpe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hyperlink" Target="https://www.jpl.nasa.gov/edu/resources/lesson-plan/collecting-light-inverse-square-law-demo/" TargetMode="External"/><Relationship Id="rId5" Type="http://schemas.openxmlformats.org/officeDocument/2006/relationships/image" Target="../media/image9.jpe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www.hesaitech.com/things-you-need-to-know-about-lidar-the-more-lasers-the-better/"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https://hackaday.com/2017/04/20/new-part-day-very-cheap-lidar/" TargetMode="External"/><Relationship Id="rId5" Type="http://schemas.openxmlformats.org/officeDocument/2006/relationships/image" Target="../media/image11.gif"/><Relationship Id="rId4" Type="http://schemas.openxmlformats.org/officeDocument/2006/relationships/image" Target="../media/image10.gif"/></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en.wikipedia.org/wiki/Time-of-flight_camera"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hyperlink" Target="https://www.ti.com/lit/ug/tiducm1b/tiducm1b.pdf" TargetMode="External"/><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18.png"/></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21.jpg"/><Relationship Id="rId4" Type="http://schemas.openxmlformats.org/officeDocument/2006/relationships/hyperlink" Target="https://iopscience.iop.org/article/10.1088/1361-6501/abc867" TargetMode="Externa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hyperlink" Target="https://en.wikipedia.org/wiki/Lidar" TargetMode="External"/><Relationship Id="rId4" Type="http://schemas.openxmlformats.org/officeDocument/2006/relationships/image" Target="../media/image22.gif"/></Relationships>
</file>

<file path=ppt/slides/_rels/slide2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24.svg"/><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3.xml"/><Relationship Id="rId1" Type="http://schemas.openxmlformats.org/officeDocument/2006/relationships/slideLayout" Target="../slideLayouts/slideLayout2.xml"/><Relationship Id="rId5" Type="http://schemas.openxmlformats.org/officeDocument/2006/relationships/image" Target="../media/image26.svg"/><Relationship Id="rId4" Type="http://schemas.openxmlformats.org/officeDocument/2006/relationships/image" Target="../media/image25.png"/></Relationships>
</file>

<file path=ppt/slides/_rels/slide3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7.xml"/><Relationship Id="rId1" Type="http://schemas.openxmlformats.org/officeDocument/2006/relationships/slideLayout" Target="../slideLayouts/slideLayout2.xml"/><Relationship Id="rId5" Type="http://schemas.openxmlformats.org/officeDocument/2006/relationships/image" Target="../media/image28.svg"/><Relationship Id="rId4" Type="http://schemas.openxmlformats.org/officeDocument/2006/relationships/image" Target="../media/image27.png"/></Relationships>
</file>

<file path=ppt/slides/_rels/slide3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3.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image" Target="../media/image32.svg"/><Relationship Id="rId4" Type="http://schemas.openxmlformats.org/officeDocument/2006/relationships/image" Target="../media/image31.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28.svg"/><Relationship Id="rId4" Type="http://schemas.openxmlformats.org/officeDocument/2006/relationships/image" Target="../media/image27.png"/></Relationships>
</file>

<file path=ppt/slides/_rels/slide4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42.xml.rels><?xml version="1.0" encoding="UTF-8" standalone="yes"?>
<Relationships xmlns="http://schemas.openxmlformats.org/package/2006/relationships"><Relationship Id="rId3" Type="http://schemas.openxmlformats.org/officeDocument/2006/relationships/hyperlink" Target="https://github.com/ukmars/mazerunner-core/blob/main/mazerunner-core/maze.h" TargetMode="External"/><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33.png"/><Relationship Id="rId5" Type="http://schemas.openxmlformats.org/officeDocument/2006/relationships/hyperlink" Target="https://hackaday.com/2008/11/26/vacuum-micromouse/" TargetMode="External"/><Relationship Id="rId4" Type="http://schemas.openxmlformats.org/officeDocument/2006/relationships/image" Target="../media/image3.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2.xml"/><Relationship Id="rId1" Type="http://schemas.openxmlformats.org/officeDocument/2006/relationships/video" Target="https://www.youtube.com/embed/ZMQbHMgK2rw?feature=oembed" TargetMode="External"/><Relationship Id="rId5" Type="http://schemas.openxmlformats.org/officeDocument/2006/relationships/image" Target="../media/image34.jpeg"/><Relationship Id="rId4" Type="http://schemas.openxmlformats.org/officeDocument/2006/relationships/image" Target="../media/image3.png"/></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36.svg"/><Relationship Id="rId4" Type="http://schemas.openxmlformats.org/officeDocument/2006/relationships/image" Target="../media/image35.png"/></Relationships>
</file>

<file path=ppt/slides/_rels/slide4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4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37.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1"/>
        <p:cNvGrpSpPr/>
        <p:nvPr/>
      </p:nvGrpSpPr>
      <p:grpSpPr>
        <a:xfrm>
          <a:off x="0" y="0"/>
          <a:ext cx="0" cy="0"/>
          <a:chOff x="0" y="0"/>
          <a:chExt cx="0" cy="0"/>
        </a:xfrm>
      </p:grpSpPr>
      <p:sp>
        <p:nvSpPr>
          <p:cNvPr id="82" name="Google Shape;82;p26"/>
          <p:cNvSpPr/>
          <p:nvPr>
            <p:ph type="title"/>
          </p:nvPr>
        </p:nvSpPr>
        <p:spPr>
          <a:xfrm>
            <a:off x="1134035" y="2553964"/>
            <a:ext cx="9924000" cy="2723782"/>
          </a:xfrm>
          <a:prstGeom prst="rect">
            <a:avLst/>
          </a:prstGeom>
          <a:noFill/>
          <a:ln>
            <a:noFill/>
          </a:ln>
        </p:spPr>
        <p:txBody>
          <a:bodyPr spcFirstLastPara="1" wrap="square" lIns="91425" tIns="45700" rIns="91425" bIns="45700" anchor="t" anchorCtr="0">
            <a:spAutoFit/>
          </a:bodyPr>
          <a:lstStyle/>
          <a:p>
            <a:pPr lvl="0" algn="ctr">
              <a:lnSpc>
                <a:spcPct val="100000"/>
              </a:lnSpc>
              <a:spcBef>
                <a:spcPts val="600"/>
              </a:spcBef>
              <a:spcAft>
                <a:spcPts val="0"/>
              </a:spcAft>
              <a:buSzPts val="4500"/>
            </a:pPr>
            <a:r>
              <a:rPr i="0" lang="en-US" sz="4500" b="1" dirty="0">
                <a:solidFill>
                  <a:schemeClr val="lt1"/>
                </a:solidFill>
              </a:rPr>
              <a:t>SE 423: Introduction to Mechatronics</a:t>
            </a:r>
            <a:endParaRPr i="0" b="0" lang="en-US" sz="4500" dirty="0">
              <a:solidFill>
                <a:srgbClr val="000000"/>
              </a:solidFill>
            </a:endParaRPr>
          </a:p>
          <a:p>
            <a:pPr marL="0" marR="0" lvl="0" indent="0" algn="ctr" rtl="0">
              <a:lnSpc>
                <a:spcPct val="100000"/>
              </a:lnSpc>
              <a:spcBef>
                <a:spcPts val="600"/>
              </a:spcBef>
              <a:spcAft>
                <a:spcPts val="0"/>
              </a:spcAft>
              <a:buNone/>
            </a:pPr>
            <a:r>
              <a:rPr i="0" b="0" lang="en-US" sz="2500" dirty="0">
                <a:solidFill>
                  <a:schemeClr val="lt1"/>
                </a:solidFill>
              </a:rPr>
              <a:t>Lecture 14: Sensors &amp; Maze following &amp; Localizations</a:t>
            </a:r>
            <a:endParaRPr i="0" b="0" sz="1400" dirty="0">
              <a:solidFill>
                <a:srgbClr val="000000"/>
              </a:solidFill>
            </a:endParaRPr>
          </a:p>
          <a:p>
            <a:pPr marL="0" marR="0" lvl="0" indent="0" algn="ctr" rtl="0">
              <a:lnSpc>
                <a:spcPct val="100000"/>
              </a:lnSpc>
              <a:spcBef>
                <a:spcPts val="600"/>
              </a:spcBef>
              <a:spcAft>
                <a:spcPts val="0"/>
              </a:spcAft>
              <a:buNone/>
            </a:pPr>
            <a:endParaRPr sz="1800" b="0" i="0" u="none" strike="noStrike" cap="none" dirty="0">
              <a:solidFill>
                <a:schemeClr val="lt1"/>
              </a:solidFill>
              <a:latin typeface="Atkinson Hyperlegible Next"/>
              <a:ea typeface="Arial"/>
              <a:cs typeface="Arial"/>
              <a:sym typeface="Arial"/>
            </a:endParaRPr>
          </a:p>
          <a:p>
            <a:pPr marL="0" marR="0" lvl="0" indent="0" algn="ctr" rtl="0">
              <a:lnSpc>
                <a:spcPct val="100000"/>
              </a:lnSpc>
              <a:spcBef>
                <a:spcPts val="600"/>
              </a:spcBef>
              <a:spcAft>
                <a:spcPts val="0"/>
              </a:spcAft>
              <a:buNone/>
            </a:pPr>
            <a:r>
              <a:rPr lang="en-US" sz="1800" b="0" i="0" u="none" strike="noStrike" cap="none" dirty="0">
                <a:solidFill>
                  <a:schemeClr val="lt1"/>
                </a:solidFill>
                <a:latin typeface="Atkinson Hyperlegible Next"/>
                <a:ea typeface="Arial"/>
                <a:cs typeface="Arial"/>
                <a:sym typeface="Arial"/>
              </a:rPr>
              <a:t>Marius Juston</a:t>
            </a:r>
            <a:endParaRPr sz="1800" b="0" i="0" u="none" strike="noStrike" cap="none" dirty="0">
              <a:solidFill>
                <a:srgbClr val="000000"/>
              </a:solidFill>
              <a:latin typeface="Atkinson Hyperlegible Next"/>
              <a:ea typeface="Arial"/>
              <a:cs typeface="Arial"/>
              <a:sym typeface="Arial"/>
            </a:endParaRPr>
          </a:p>
        </p:txBody>
      </p:sp>
      <p:sp>
        <p:nvSpPr>
          <p:cNvPr id="83" name="Google Shape;83;p26"/>
          <p:cNvSpPr txBox="1"/>
          <p:nvPr/>
        </p:nvSpPr>
        <p:spPr>
          <a:xfrm>
            <a:off x="3922059" y="5413888"/>
            <a:ext cx="4347882" cy="369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tkinson Hyperlegible Next"/>
                <a:ea typeface="Arial"/>
                <a:cs typeface="Arial"/>
                <a:sym typeface="Arial"/>
              </a:rPr>
              <a:t>Monday, March 16</a:t>
            </a:r>
            <a:r>
              <a:rPr lang="en-US" sz="1800" b="0" i="0" u="none" strike="noStrike" cap="none" baseline="30000">
                <a:solidFill>
                  <a:schemeClr val="lt1"/>
                </a:solidFill>
                <a:latin typeface="Atkinson Hyperlegible Next"/>
                <a:ea typeface="Arial"/>
                <a:cs typeface="Arial"/>
                <a:sym typeface="Arial"/>
              </a:rPr>
              <a:t>th</a:t>
            </a:r>
            <a:r>
              <a:rPr lang="en-US" sz="1800">
                <a:solidFill>
                  <a:schemeClr val="lt1"/>
                </a:solidFill>
              </a:rPr>
              <a:t>, 2026</a:t>
            </a:r>
            <a:endParaRPr sz="1800" b="0" i="0" u="none" strike="noStrike" cap="none" dirty="0">
              <a:solidFill>
                <a:schemeClr val="lt1"/>
              </a:solidFill>
              <a:latin typeface="Atkinson Hyperlegible Next"/>
              <a:ea typeface="Arial"/>
              <a:cs typeface="Arial"/>
              <a:sym typeface="Arial"/>
            </a:endParaRPr>
          </a:p>
        </p:txBody>
      </p:sp>
      <p:pic>
        <p:nvPicPr>
          <p:cNvPr id="84" name="Google Shape;84;p26"/>
          <p:cNvPicPr preferRelativeResize="0"/>
          <p:nvPr/>
        </p:nvPicPr>
        <p:blipFill rotWithShape="1">
          <a:blip r:embed="rId4">
            <a:alphaModFix/>
          </a:blip>
          <a:srcRect/>
          <a:stretch/>
        </p:blipFill>
        <p:spPr>
          <a:xfrm>
            <a:off x="4641007" y="1004743"/>
            <a:ext cx="2909982" cy="75466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787707C-0AB4-57C3-5639-B4BEF438938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7EA1A55-2BAC-C6A5-ABC3-168138F62B6C}"/>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Talk to the person next to you and answer these questions.</a:t>
            </a:r>
          </a:p>
          <a:p>
            <a:pPr marL="285750" indent="-285750">
              <a:lnSpc>
                <a:spcPct val="100000"/>
              </a:lnSpc>
              <a:spcBef>
                <a:spcPts val="0"/>
              </a:spcBef>
              <a:buSzPts val="3000"/>
            </a:pPr>
            <a:endParaRPr lang="en-US" sz="2400" dirty="0">
              <a:latin typeface="Atkinson Hyperlegible Next"/>
              <a:ea typeface="Arial"/>
              <a:cs typeface="Arial"/>
              <a:sym typeface="Arial"/>
            </a:endParaRPr>
          </a:p>
          <a:p>
            <a:pPr marL="285750" indent="-285750">
              <a:lnSpc>
                <a:spcPct val="100000"/>
              </a:lnSpc>
              <a:spcBef>
                <a:spcPts val="0"/>
              </a:spcBef>
              <a:buSzPts val="3000"/>
            </a:pPr>
            <a:r>
              <a:rPr lang="en-US" sz="2400" dirty="0">
                <a:solidFill>
                  <a:schemeClr val="dk1"/>
                </a:solidFill>
                <a:latin typeface="Atkinson Hyperlegible Next"/>
                <a:ea typeface="Arial"/>
                <a:cs typeface="Arial"/>
                <a:sym typeface="Arial"/>
              </a:rPr>
              <a:t>With the IMU onboard the lab robot, how would I measure its current position?</a:t>
            </a:r>
          </a:p>
          <a:p>
            <a:pPr marL="0" indent="0">
              <a:lnSpc>
                <a:spcPct val="100000"/>
              </a:lnSpc>
              <a:spcBef>
                <a:spcPts val="0"/>
              </a:spcBef>
              <a:buSzPts val="3000"/>
              <a:buNone/>
            </a:pPr>
            <a:endParaRPr lang="en-US" sz="2400" dirty="0">
              <a:solidFill>
                <a:schemeClr val="dk1"/>
              </a:solidFill>
              <a:latin typeface="Atkinson Hyperlegible Next"/>
              <a:ea typeface="Arial"/>
              <a:cs typeface="Arial"/>
              <a:sym typeface="Arial"/>
            </a:endParaRPr>
          </a:p>
          <a:p>
            <a:pPr marL="285750" indent="-285750">
              <a:lnSpc>
                <a:spcPct val="100000"/>
              </a:lnSpc>
              <a:spcBef>
                <a:spcPts val="0"/>
              </a:spcBef>
              <a:buSzPts val="3000"/>
            </a:pPr>
            <a:r>
              <a:rPr lang="en-US" sz="2400" dirty="0">
                <a:latin typeface="Atkinson Hyperlegible Next"/>
                <a:ea typeface="Arial"/>
                <a:cs typeface="Arial"/>
                <a:sym typeface="Arial"/>
              </a:rPr>
              <a:t>With the current knowledge you have with the robot and the current set of sensors would we be able to send it out to go from point A-to-B in real world scenarios (more of an open-ended question)? </a:t>
            </a:r>
          </a:p>
          <a:p>
            <a:pPr marL="742950" lvl="1" indent="-285750">
              <a:lnSpc>
                <a:spcPct val="100000"/>
              </a:lnSpc>
              <a:spcBef>
                <a:spcPts val="0"/>
              </a:spcBef>
              <a:buSzPts val="3000"/>
            </a:pPr>
            <a:r>
              <a:rPr lang="en-US" sz="2000" dirty="0">
                <a:latin typeface="Atkinson Hyperlegible Next"/>
                <a:ea typeface="Arial"/>
                <a:cs typeface="Arial"/>
                <a:sym typeface="Arial"/>
              </a:rPr>
              <a:t>If not, what do you think we are missing from the current robot?</a:t>
            </a:r>
          </a:p>
          <a:p>
            <a:pPr marL="742950" lvl="1" indent="-285750">
              <a:lnSpc>
                <a:spcPct val="100000"/>
              </a:lnSpc>
              <a:spcBef>
                <a:spcPts val="0"/>
              </a:spcBef>
              <a:buSzPts val="3000"/>
            </a:pPr>
            <a:r>
              <a:rPr lang="en-US" sz="2000" dirty="0">
                <a:solidFill>
                  <a:schemeClr val="dk1"/>
                </a:solidFill>
                <a:latin typeface="Atkinson Hyperlegible Next"/>
                <a:ea typeface="Arial"/>
                <a:cs typeface="Arial"/>
                <a:sym typeface="Arial"/>
              </a:rPr>
              <a:t>If </a:t>
            </a:r>
            <a:r>
              <a:rPr lang="en-US" sz="2000" dirty="0">
                <a:latin typeface="Atkinson Hyperlegible Next"/>
                <a:ea typeface="Arial"/>
                <a:cs typeface="Arial"/>
                <a:sym typeface="Arial"/>
              </a:rPr>
              <a:t>yes, are there any assumptions that have been made?</a:t>
            </a:r>
          </a:p>
        </p:txBody>
      </p:sp>
      <p:sp>
        <p:nvSpPr>
          <p:cNvPr id="119" name="Google Shape;119;p29">
            <a:extLst>
              <a:ext uri="{FF2B5EF4-FFF2-40B4-BE49-F238E27FC236}">
                <a16:creationId xmlns:a16="http://schemas.microsoft.com/office/drawing/2014/main" id="{AADDCC56-907C-FD39-6E34-87042D08FA2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941C760-8B23-A46D-5C4A-981290CB9EB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Review – 5-minute partner discussion</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C1984774-B7FA-53FC-ECBE-3FFBD377F556}"/>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52648EA-0120-942E-FA7D-98B9C25F4F3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187DBB9-03BE-10E2-9B63-400A9675CEA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3B542CF-2028-95AA-CCEF-91A8D02AD17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3141631-F3ED-2759-4D92-932A85BC40E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4D9BF8E-CB10-CAD2-7648-4939A5B564E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7020808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75841FD-D14E-77AC-760B-C98E4D88C8D9}"/>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3B12240-FBE7-C432-98A9-C2883C24C714}"/>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000"/>
              <a:buNone/>
            </a:pPr>
            <a:r>
              <a:rPr lang="en-US" sz="1800" b="1" dirty="0">
                <a:solidFill>
                  <a:srgbClr val="E84B36"/>
                </a:solidFill>
                <a:latin typeface="Atkinson Hyperlegible Next"/>
                <a:ea typeface="Arial"/>
                <a:cs typeface="Arial"/>
                <a:sym typeface="Arial"/>
              </a:rPr>
              <a:t>Office Hours:</a:t>
            </a:r>
            <a:endParaRPr lang="en-US" sz="2600" b="1" dirty="0">
              <a:solidFill>
                <a:srgbClr val="E84B36"/>
              </a:solidFill>
              <a:latin typeface="Atkinson Hyperlegible Next"/>
              <a:ea typeface="Arial"/>
              <a:cs typeface="Arial"/>
              <a:sym typeface="Arial"/>
            </a:endParaRP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Monday: </a:t>
            </a:r>
            <a:r>
              <a:rPr lang="en-US" sz="1800" dirty="0">
                <a:solidFill>
                  <a:schemeClr val="dk1"/>
                </a:solidFill>
                <a:latin typeface="Atkinson Hyperlegible Next"/>
                <a:ea typeface="Arial"/>
                <a:cs typeface="Arial"/>
                <a:sym typeface="Arial"/>
              </a:rPr>
              <a:t>4-6 PM</a:t>
            </a:r>
            <a:r>
              <a:rPr lang="en-US" sz="1800" b="1" dirty="0">
                <a:solidFill>
                  <a:schemeClr val="dk1"/>
                </a:solidFill>
                <a:latin typeface="Atkinson Hyperlegible Next"/>
                <a:ea typeface="Arial"/>
                <a:cs typeface="Arial"/>
                <a:sym typeface="Arial"/>
              </a:rPr>
              <a:t>, </a:t>
            </a:r>
            <a:r>
              <a:rPr lang="en-US" sz="1800" dirty="0">
                <a:solidFill>
                  <a:schemeClr val="dk1"/>
                </a:solidFill>
                <a:latin typeface="Atkinson Hyperlegible Next"/>
                <a:ea typeface="Arial"/>
                <a:cs typeface="Arial"/>
                <a:sym typeface="Arial"/>
              </a:rPr>
              <a:t>Neel</a:t>
            </a:r>
          </a:p>
          <a:p>
            <a:pPr marL="285750" indent="-285750">
              <a:lnSpc>
                <a:spcPct val="100000"/>
              </a:lnSpc>
              <a:spcBef>
                <a:spcPts val="0"/>
              </a:spcBef>
              <a:buSzPts val="3000"/>
            </a:pPr>
            <a:r>
              <a:rPr lang="en-US" sz="1800" b="1" dirty="0">
                <a:latin typeface="Atkinson Hyperlegible Next"/>
                <a:ea typeface="Arial"/>
                <a:cs typeface="Arial"/>
                <a:sym typeface="Arial"/>
              </a:rPr>
              <a:t>Tuesday: </a:t>
            </a:r>
            <a:r>
              <a:rPr lang="en-US" sz="1800" dirty="0">
                <a:latin typeface="Atkinson Hyperlegible Next"/>
                <a:ea typeface="Arial"/>
                <a:cs typeface="Arial"/>
                <a:sym typeface="Arial"/>
              </a:rPr>
              <a:t>11-1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Lakshmi</a:t>
            </a: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Tuesday: </a:t>
            </a:r>
            <a:r>
              <a:rPr lang="en-US" sz="1800" dirty="0">
                <a:latin typeface="Atkinson Hyperlegible Next"/>
                <a:ea typeface="Arial"/>
                <a:cs typeface="Arial"/>
                <a:sym typeface="Arial"/>
              </a:rPr>
              <a:t>1-3 PM</a:t>
            </a:r>
            <a:r>
              <a:rPr lang="en-US" sz="1800" b="1" dirty="0">
                <a:latin typeface="Atkinson Hyperlegible Next"/>
                <a:ea typeface="Arial"/>
                <a:cs typeface="Arial"/>
                <a:sym typeface="Arial"/>
              </a:rPr>
              <a:t>, </a:t>
            </a:r>
            <a:r>
              <a:rPr lang="en-US" sz="1800" dirty="0">
                <a:latin typeface="Atkinson Hyperlegible Next"/>
                <a:ea typeface="Arial"/>
                <a:cs typeface="Arial"/>
                <a:sym typeface="Arial"/>
              </a:rPr>
              <a:t>Samuel, </a:t>
            </a:r>
            <a:r>
              <a:rPr lang="en-US" sz="1800" dirty="0">
                <a:solidFill>
                  <a:srgbClr val="FF0000"/>
                </a:solidFill>
                <a:latin typeface="Atkinson Hyperlegible Next"/>
                <a:ea typeface="Arial"/>
                <a:cs typeface="Arial"/>
                <a:sym typeface="Arial"/>
              </a:rPr>
              <a:t>NO OFFICE HOURS </a:t>
            </a:r>
            <a:r>
              <a:rPr lang="en-US" sz="1800">
                <a:solidFill>
                  <a:srgbClr val="FF0000"/>
                </a:solidFill>
                <a:latin typeface="Atkinson Hyperlegible Next"/>
                <a:ea typeface="Arial"/>
                <a:cs typeface="Arial"/>
                <a:sym typeface="Arial"/>
              </a:rPr>
              <a:t>THIS WEEK (MIGHT BE RESCHEDULED)</a:t>
            </a:r>
            <a:endParaRPr lang="en-US" sz="1800" dirty="0">
              <a:solidFill>
                <a:srgbClr val="FF0000"/>
              </a:solidFill>
              <a:latin typeface="Atkinson Hyperlegible Next"/>
              <a:ea typeface="Arial"/>
              <a:cs typeface="Arial"/>
              <a:sym typeface="Arial"/>
            </a:endParaRPr>
          </a:p>
          <a:p>
            <a:pPr marL="285750" indent="-285750">
              <a:lnSpc>
                <a:spcPct val="100000"/>
              </a:lnSpc>
              <a:spcBef>
                <a:spcPts val="0"/>
              </a:spcBef>
              <a:buSzPts val="3000"/>
            </a:pPr>
            <a:r>
              <a:rPr lang="en-US" sz="1800" b="1" dirty="0">
                <a:solidFill>
                  <a:schemeClr val="dk1"/>
                </a:solidFill>
                <a:latin typeface="Atkinson Hyperlegible Next"/>
                <a:ea typeface="Arial"/>
                <a:cs typeface="Arial"/>
                <a:sym typeface="Arial"/>
              </a:rPr>
              <a:t>Tuesday: </a:t>
            </a:r>
            <a:r>
              <a:rPr lang="en-US" sz="1800" dirty="0">
                <a:solidFill>
                  <a:schemeClr val="dk1"/>
                </a:solidFill>
                <a:latin typeface="Atkinson Hyperlegible Next"/>
                <a:ea typeface="Arial"/>
                <a:cs typeface="Arial"/>
                <a:sym typeface="Arial"/>
              </a:rPr>
              <a:t>2-5 PM</a:t>
            </a:r>
            <a:r>
              <a:rPr lang="en-US" sz="1800" b="1" dirty="0">
                <a:solidFill>
                  <a:schemeClr val="dk1"/>
                </a:solidFill>
                <a:latin typeface="Atkinson Hyperlegible Next"/>
                <a:ea typeface="Arial"/>
                <a:cs typeface="Arial"/>
                <a:sym typeface="Arial"/>
              </a:rPr>
              <a:t>, </a:t>
            </a:r>
            <a:r>
              <a:rPr lang="en-US" sz="1800" dirty="0">
                <a:solidFill>
                  <a:schemeClr val="dk1"/>
                </a:solidFill>
                <a:latin typeface="Atkinson Hyperlegible Next"/>
                <a:ea typeface="Arial"/>
                <a:cs typeface="Arial"/>
                <a:sym typeface="Arial"/>
              </a:rPr>
              <a:t>Dan &amp; Marius</a:t>
            </a:r>
          </a:p>
          <a:p>
            <a:pPr marL="285750" indent="-285750">
              <a:lnSpc>
                <a:spcPct val="100000"/>
              </a:lnSpc>
              <a:spcBef>
                <a:spcPts val="0"/>
              </a:spcBef>
              <a:buSzPts val="3000"/>
            </a:pPr>
            <a:endParaRPr lang="en-US" sz="1800" b="1" dirty="0">
              <a:latin typeface="Atkinson Hyperlegible Next"/>
              <a:ea typeface="Arial"/>
              <a:cs typeface="Arial"/>
              <a:sym typeface="Arial"/>
            </a:endParaRPr>
          </a:p>
          <a:p>
            <a:pPr marL="0" indent="0">
              <a:lnSpc>
                <a:spcPct val="100000"/>
              </a:lnSpc>
              <a:spcBef>
                <a:spcPts val="0"/>
              </a:spcBef>
              <a:buSzPts val="3000"/>
              <a:buNone/>
            </a:pPr>
            <a:r>
              <a:rPr lang="en-US" sz="1800" b="1" dirty="0">
                <a:solidFill>
                  <a:srgbClr val="E84B36"/>
                </a:solidFill>
                <a:latin typeface="Atkinson Hyperlegible Next"/>
                <a:ea typeface="Arial"/>
                <a:cs typeface="Arial"/>
                <a:sym typeface="Arial"/>
              </a:rPr>
              <a:t>Lab: </a:t>
            </a:r>
            <a:r>
              <a:rPr lang="en-US" sz="1800" dirty="0">
                <a:latin typeface="Atkinson Hyperlegible Next"/>
                <a:ea typeface="Arial"/>
                <a:cs typeface="Arial"/>
                <a:sym typeface="Arial"/>
              </a:rPr>
              <a:t>Starting Lab 5 this week. This a 1-week lab!</a:t>
            </a:r>
            <a:endParaRPr lang="en-US" sz="1800" dirty="0">
              <a:solidFill>
                <a:srgbClr val="E84B36"/>
              </a:solidFill>
              <a:latin typeface="Atkinson Hyperlegible Next"/>
              <a:ea typeface="Arial"/>
              <a:cs typeface="Arial"/>
              <a:sym typeface="Arial"/>
            </a:endParaRPr>
          </a:p>
          <a:p>
            <a:pPr marL="0" indent="0">
              <a:lnSpc>
                <a:spcPct val="100000"/>
              </a:lnSpc>
              <a:spcBef>
                <a:spcPts val="0"/>
              </a:spcBef>
              <a:buSzPts val="3000"/>
              <a:buNone/>
            </a:pPr>
            <a:endParaRPr lang="en-US" sz="1800" b="1" dirty="0">
              <a:solidFill>
                <a:srgbClr val="E84B36"/>
              </a:solidFill>
              <a:latin typeface="Atkinson Hyperlegible Next"/>
              <a:ea typeface="Arial"/>
              <a:cs typeface="Arial"/>
              <a:sym typeface="Arial"/>
            </a:endParaRPr>
          </a:p>
          <a:p>
            <a:pPr marL="0" indent="0">
              <a:lnSpc>
                <a:spcPct val="100000"/>
              </a:lnSpc>
              <a:spcBef>
                <a:spcPts val="0"/>
              </a:spcBef>
              <a:buSzPts val="3000"/>
              <a:buNone/>
            </a:pPr>
            <a:r>
              <a:rPr lang="en-US" sz="1800" b="1" dirty="0" err="1">
                <a:solidFill>
                  <a:srgbClr val="E84B36"/>
                </a:solidFill>
                <a:latin typeface="Atkinson Hyperlegible Next"/>
                <a:ea typeface="Arial"/>
                <a:cs typeface="Arial"/>
                <a:sym typeface="Arial"/>
              </a:rPr>
              <a:t>Homeworks</a:t>
            </a:r>
            <a:r>
              <a:rPr lang="en-US" sz="1800" b="1" dirty="0">
                <a:solidFill>
                  <a:srgbClr val="E84B36"/>
                </a:solidFill>
                <a:latin typeface="Atkinson Hyperlegible Next"/>
                <a:ea typeface="Arial"/>
                <a:cs typeface="Arial"/>
                <a:sym typeface="Arial"/>
              </a:rPr>
              <a:t>:</a:t>
            </a:r>
          </a:p>
          <a:p>
            <a:pPr marL="285750" indent="-285750">
              <a:lnSpc>
                <a:spcPct val="100000"/>
              </a:lnSpc>
              <a:spcBef>
                <a:spcPts val="0"/>
              </a:spcBef>
              <a:buSzPts val="3000"/>
            </a:pPr>
            <a:r>
              <a:rPr lang="en-US" sz="1800" dirty="0">
                <a:latin typeface="Atkinson Hyperlegible Next"/>
                <a:ea typeface="Arial"/>
                <a:cs typeface="Arial"/>
                <a:sym typeface="Arial"/>
              </a:rPr>
              <a:t>Check-offs for </a:t>
            </a:r>
            <a:r>
              <a:rPr lang="en-US" sz="1800" dirty="0">
                <a:latin typeface="Atkinson Hyperlegible Next"/>
                <a:ea typeface="Arial"/>
                <a:cs typeface="Arial"/>
                <a:sym typeface="Arial"/>
                <a:hlinkClick r:id="rId3"/>
              </a:rPr>
              <a:t>homework 3 </a:t>
            </a:r>
            <a:r>
              <a:rPr lang="en-US" sz="1800" dirty="0">
                <a:latin typeface="Atkinson Hyperlegible Next"/>
                <a:ea typeface="Arial"/>
                <a:cs typeface="Arial"/>
                <a:sym typeface="Arial"/>
              </a:rPr>
              <a:t>Ex 1, 2, 3 &amp; 4 are due </a:t>
            </a:r>
            <a:r>
              <a:rPr lang="en-US" sz="1800" b="1" dirty="0">
                <a:latin typeface="Atkinson Hyperlegible Next"/>
                <a:ea typeface="Arial"/>
                <a:cs typeface="Arial"/>
                <a:sym typeface="Arial"/>
              </a:rPr>
              <a:t>March 10, 5PM (The end of office hours)</a:t>
            </a:r>
            <a:endParaRPr lang="en-US" sz="1800" dirty="0">
              <a:latin typeface="Atkinson Hyperlegible Next"/>
              <a:ea typeface="Arial"/>
              <a:cs typeface="Arial"/>
              <a:sym typeface="Arial"/>
            </a:endParaRPr>
          </a:p>
          <a:p>
            <a:pPr marL="285750" indent="-285750">
              <a:lnSpc>
                <a:spcPct val="100000"/>
              </a:lnSpc>
              <a:spcBef>
                <a:spcPts val="0"/>
              </a:spcBef>
              <a:buSzPts val="3000"/>
            </a:pPr>
            <a:r>
              <a:rPr lang="en-US" sz="1800" dirty="0">
                <a:latin typeface="Atkinson Hyperlegible Next"/>
                <a:ea typeface="Arial"/>
                <a:cs typeface="Arial"/>
                <a:sym typeface="Arial"/>
              </a:rPr>
              <a:t>Check-offs for </a:t>
            </a:r>
            <a:r>
              <a:rPr lang="en-US" sz="1800" dirty="0">
                <a:latin typeface="Atkinson Hyperlegible Next"/>
                <a:ea typeface="Arial"/>
                <a:cs typeface="Arial"/>
                <a:sym typeface="Arial"/>
                <a:hlinkClick r:id="rId3"/>
              </a:rPr>
              <a:t>homework 3 </a:t>
            </a:r>
            <a:r>
              <a:rPr lang="en-US" sz="1800" dirty="0">
                <a:latin typeface="Atkinson Hyperlegible Next"/>
                <a:ea typeface="Arial"/>
                <a:cs typeface="Arial"/>
                <a:sym typeface="Arial"/>
              </a:rPr>
              <a:t>Ex 5 are due </a:t>
            </a:r>
            <a:r>
              <a:rPr lang="en-US" sz="1800" b="1" dirty="0">
                <a:latin typeface="Atkinson Hyperlegible Next"/>
                <a:ea typeface="Arial"/>
                <a:cs typeface="Arial"/>
                <a:sym typeface="Arial"/>
              </a:rPr>
              <a:t>March 24, 5PM (The end of office hours)</a:t>
            </a:r>
            <a:endParaRPr lang="en-US" sz="1800" dirty="0">
              <a:latin typeface="Atkinson Hyperlegible Next"/>
              <a:ea typeface="Arial"/>
              <a:cs typeface="Arial"/>
              <a:sym typeface="Arial"/>
            </a:endParaRPr>
          </a:p>
          <a:p>
            <a:pPr marL="285750" indent="-285750">
              <a:lnSpc>
                <a:spcPct val="100000"/>
              </a:lnSpc>
              <a:spcBef>
                <a:spcPts val="0"/>
              </a:spcBef>
              <a:buSzPts val="3000"/>
            </a:pPr>
            <a:r>
              <a:rPr lang="en-US" sz="1800" dirty="0">
                <a:latin typeface="Atkinson Hyperlegible Next"/>
                <a:ea typeface="Arial"/>
                <a:cs typeface="Arial"/>
                <a:sym typeface="Arial"/>
              </a:rPr>
              <a:t>Answers and code submissions for </a:t>
            </a:r>
            <a:r>
              <a:rPr lang="en-US" sz="1800" dirty="0">
                <a:latin typeface="Atkinson Hyperlegible Next"/>
                <a:ea typeface="Arial"/>
                <a:cs typeface="Arial"/>
                <a:sym typeface="Arial"/>
                <a:hlinkClick r:id="rId3"/>
              </a:rPr>
              <a:t>homework 3</a:t>
            </a:r>
            <a:r>
              <a:rPr lang="en-US" sz="1800" dirty="0">
                <a:latin typeface="Atkinson Hyperlegible Next"/>
                <a:ea typeface="Arial"/>
                <a:cs typeface="Arial"/>
                <a:sym typeface="Arial"/>
              </a:rPr>
              <a:t> are due </a:t>
            </a:r>
            <a:r>
              <a:rPr lang="en-US" sz="1800" b="1" dirty="0">
                <a:latin typeface="Atkinson Hyperlegible Next"/>
                <a:ea typeface="Arial"/>
                <a:cs typeface="Arial"/>
                <a:sym typeface="Arial"/>
              </a:rPr>
              <a:t>March 25, 9AM</a:t>
            </a:r>
          </a:p>
        </p:txBody>
      </p:sp>
      <p:sp>
        <p:nvSpPr>
          <p:cNvPr id="119" name="Google Shape;119;p29">
            <a:extLst>
              <a:ext uri="{FF2B5EF4-FFF2-40B4-BE49-F238E27FC236}">
                <a16:creationId xmlns:a16="http://schemas.microsoft.com/office/drawing/2014/main" id="{28F4DC60-5615-4235-EF8F-749635053A2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7341C0B-3353-6FAC-59B6-1BC184B1DEE7}"/>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Reminders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25A7A3C5-2C94-DFDE-B6CE-1AA71BB909D6}"/>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31F53DB-DB9B-6876-2739-ED5A2DD2AF6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656C000-32C7-7004-5110-9F4CDD9B502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CD0378D-0FED-2133-BE9C-D95394C460C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1170382-A03B-CBAF-126E-BC0414D20EC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38B4CC3-ADE6-376F-FF48-9094A8F0ECD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8328129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8">
          <a:extLst>
            <a:ext uri="{FF2B5EF4-FFF2-40B4-BE49-F238E27FC236}">
              <a16:creationId xmlns:a16="http://schemas.microsoft.com/office/drawing/2014/main" id="{8AF3B574-1FB7-47D8-7C3B-2D8B80C1B71E}"/>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018C368B-FE2D-5B17-BE43-7465482AEBFA}"/>
              </a:ext>
            </a:extLst>
          </p:cNvPr>
          <p:cNvGrpSpPr/>
          <p:nvPr/>
        </p:nvGrpSpPr>
        <p:grpSpPr>
          <a:xfrm>
            <a:off x="1441528" y="2296815"/>
            <a:ext cx="9308941" cy="2264370"/>
            <a:chOff x="1441528" y="1491040"/>
            <a:chExt cx="9308941" cy="2264370"/>
          </a:xfrm>
        </p:grpSpPr>
        <p:sp>
          <p:nvSpPr>
            <p:cNvPr id="89" name="Google Shape;89;p27">
              <a:extLst>
                <a:ext uri="{FF2B5EF4-FFF2-40B4-BE49-F238E27FC236}">
                  <a16:creationId xmlns:a16="http://schemas.microsoft.com/office/drawing/2014/main" id="{BCBC3FB6-47F6-7775-CB52-E1D0141B8A3F}"/>
                </a:ext>
              </a:extLst>
            </p:cNvPr>
            <p:cNvSpPr/>
            <p:nvPr>
              <p:ph type="title"/>
            </p:nvPr>
          </p:nvSpPr>
          <p:spPr>
            <a:xfrm>
              <a:off x="2206906" y="1491040"/>
              <a:ext cx="7778187" cy="101566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6000"/>
                <a:buFont typeface="Arial"/>
                <a:buNone/>
              </a:pPr>
              <a:r>
                <a:rPr lang="en-US" sz="6000" b="1" i="0" u="none" strike="noStrike" cap="none" dirty="0">
                  <a:solidFill>
                    <a:schemeClr val="lt1"/>
                  </a:solidFill>
                  <a:latin typeface="Atkinson Hyperlegible Next"/>
                  <a:ea typeface="Arial"/>
                  <a:cs typeface="Arial"/>
                  <a:sym typeface="Arial"/>
                </a:rPr>
                <a:t>Questions?</a:t>
              </a:r>
              <a:endParaRPr sz="1400" b="0" i="0" u="none" strike="noStrike" cap="none" dirty="0">
                <a:solidFill>
                  <a:srgbClr val="000000"/>
                </a:solidFill>
                <a:latin typeface="Atkinson Hyperlegible Next"/>
                <a:ea typeface="Arial"/>
                <a:cs typeface="Arial"/>
                <a:sym typeface="Arial"/>
              </a:endParaRPr>
            </a:p>
          </p:txBody>
        </p:sp>
        <p:sp>
          <p:nvSpPr>
            <p:cNvPr id="90" name="Google Shape;90;p27">
              <a:extLst>
                <a:ext uri="{FF2B5EF4-FFF2-40B4-BE49-F238E27FC236}">
                  <a16:creationId xmlns:a16="http://schemas.microsoft.com/office/drawing/2014/main" id="{D56A7593-AC73-7040-DB5D-E69F313BBDE7}"/>
                </a:ext>
              </a:extLst>
            </p:cNvPr>
            <p:cNvSpPr txBox="1"/>
            <p:nvPr/>
          </p:nvSpPr>
          <p:spPr>
            <a:xfrm>
              <a:off x="1441528" y="3232230"/>
              <a:ext cx="9308941" cy="52318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dirty="0">
                  <a:solidFill>
                    <a:schemeClr val="lt1"/>
                  </a:solidFill>
                  <a:latin typeface="Atkinson Hyperlegible Next"/>
                  <a:ea typeface="Arial"/>
                  <a:cs typeface="Arial"/>
                  <a:sym typeface="Arial"/>
                </a:rPr>
                <a:t>Homework, Lab, LabVIEW?</a:t>
              </a:r>
              <a:endParaRPr sz="1800" b="0" i="0" u="none" strike="noStrike" cap="none" dirty="0">
                <a:solidFill>
                  <a:schemeClr val="lt1"/>
                </a:solidFill>
                <a:latin typeface="Atkinson Hyperlegible Next"/>
                <a:ea typeface="Arial"/>
                <a:cs typeface="Arial"/>
                <a:sym typeface="Arial"/>
              </a:endParaRPr>
            </a:p>
          </p:txBody>
        </p:sp>
        <p:cxnSp>
          <p:nvCxnSpPr>
            <p:cNvPr id="92" name="Google Shape;92;p27">
              <a:extLst>
                <a:ext uri="{FF2B5EF4-FFF2-40B4-BE49-F238E27FC236}">
                  <a16:creationId xmlns:a16="http://schemas.microsoft.com/office/drawing/2014/main" id="{BFE751B6-CF4D-273E-D560-6B4D883779FC}"/>
                </a:ext>
              </a:extLst>
            </p:cNvPr>
            <p:cNvCxnSpPr/>
            <p:nvPr/>
          </p:nvCxnSpPr>
          <p:spPr>
            <a:xfrm>
              <a:off x="4426226" y="2676939"/>
              <a:ext cx="3379304" cy="0"/>
            </a:xfrm>
            <a:prstGeom prst="straightConnector1">
              <a:avLst/>
            </a:prstGeom>
            <a:noFill/>
            <a:ln w="19050" cap="flat" cmpd="sng">
              <a:solidFill>
                <a:srgbClr val="E84B36"/>
              </a:solidFill>
              <a:prstDash val="solid"/>
              <a:round/>
              <a:headEnd type="none" w="sm" len="sm"/>
              <a:tailEnd type="none" w="sm" len="sm"/>
            </a:ln>
          </p:spPr>
        </p:cxnSp>
        <p:cxnSp>
          <p:nvCxnSpPr>
            <p:cNvPr id="93" name="Google Shape;93;p27">
              <a:extLst>
                <a:ext uri="{FF2B5EF4-FFF2-40B4-BE49-F238E27FC236}">
                  <a16:creationId xmlns:a16="http://schemas.microsoft.com/office/drawing/2014/main" id="{A7768501-64BD-D022-44D2-3CA620B502C6}"/>
                </a:ext>
              </a:extLst>
            </p:cNvPr>
            <p:cNvCxnSpPr/>
            <p:nvPr/>
          </p:nvCxnSpPr>
          <p:spPr>
            <a:xfrm rot="10800000" flipH="1">
              <a:off x="3943790" y="2676939"/>
              <a:ext cx="482436" cy="322845"/>
            </a:xfrm>
            <a:prstGeom prst="straightConnector1">
              <a:avLst/>
            </a:prstGeom>
            <a:noFill/>
            <a:ln w="19050" cap="flat" cmpd="sng">
              <a:solidFill>
                <a:srgbClr val="E84B36"/>
              </a:solidFill>
              <a:prstDash val="solid"/>
              <a:round/>
              <a:headEnd type="none" w="sm" len="sm"/>
              <a:tailEnd type="none" w="sm" len="sm"/>
            </a:ln>
          </p:spPr>
        </p:cxnSp>
      </p:grpSp>
      <p:pic>
        <p:nvPicPr>
          <p:cNvPr id="94" name="Google Shape;94;p27">
            <a:extLst>
              <a:ext uri="{FF2B5EF4-FFF2-40B4-BE49-F238E27FC236}">
                <a16:creationId xmlns:a16="http://schemas.microsoft.com/office/drawing/2014/main" id="{19915C55-6271-9B95-62A4-D901C77AA9DE}"/>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95" name="Google Shape;95;p27">
            <a:extLst>
              <a:ext uri="{FF2B5EF4-FFF2-40B4-BE49-F238E27FC236}">
                <a16:creationId xmlns:a16="http://schemas.microsoft.com/office/drawing/2014/main" id="{96534BB9-415B-75C5-14DF-605417B1EA0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96" name="Google Shape;96;p27">
            <a:extLst>
              <a:ext uri="{FF2B5EF4-FFF2-40B4-BE49-F238E27FC236}">
                <a16:creationId xmlns:a16="http://schemas.microsoft.com/office/drawing/2014/main" id="{A8493C96-336F-E402-218B-5C13C8F047B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97" name="Google Shape;97;p27">
            <a:extLst>
              <a:ext uri="{FF2B5EF4-FFF2-40B4-BE49-F238E27FC236}">
                <a16:creationId xmlns:a16="http://schemas.microsoft.com/office/drawing/2014/main" id="{33C3076B-D3BE-042B-369B-996B00F03F2C}"/>
              </a:ext>
            </a:extLst>
          </p:cNvPr>
          <p:cNvGrpSpPr/>
          <p:nvPr/>
        </p:nvGrpSpPr>
        <p:grpSpPr>
          <a:xfrm>
            <a:off x="4066674" y="6601537"/>
            <a:ext cx="5233412" cy="70446"/>
            <a:chOff x="4033424" y="6601537"/>
            <a:chExt cx="5233412" cy="70446"/>
          </a:xfrm>
        </p:grpSpPr>
        <p:cxnSp>
          <p:nvCxnSpPr>
            <p:cNvPr id="98" name="Google Shape;98;p27">
              <a:extLst>
                <a:ext uri="{FF2B5EF4-FFF2-40B4-BE49-F238E27FC236}">
                  <a16:creationId xmlns:a16="http://schemas.microsoft.com/office/drawing/2014/main" id="{A886A22C-18CA-ADCE-8A13-5D51F5F174D3}"/>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99" name="Google Shape;99;p27">
              <a:extLst>
                <a:ext uri="{FF2B5EF4-FFF2-40B4-BE49-F238E27FC236}">
                  <a16:creationId xmlns:a16="http://schemas.microsoft.com/office/drawing/2014/main" id="{F5546652-0DF2-2B1B-5CB6-25C023D4F23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130656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p:cNvGrpSpPr/>
        <p:nvPr/>
      </p:nvGrpSpPr>
      <p:grpSpPr>
        <a:xfrm>
          <a:off x="0" y="0"/>
          <a:ext cx="0" cy="0"/>
          <a:chOff x="0" y="0"/>
          <a:chExt cx="0" cy="0"/>
        </a:xfrm>
      </p:grpSpPr>
      <p:sp>
        <p:nvSpPr>
          <p:cNvPr id="104" name="Google Shape;104;p28"/>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Sensors</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p:cNvGrpSpPr/>
          <p:nvPr/>
        </p:nvGrpSpPr>
        <p:grpSpPr>
          <a:xfrm>
            <a:off x="3943790" y="2676939"/>
            <a:ext cx="3861740" cy="322845"/>
            <a:chOff x="3943790" y="2676939"/>
            <a:chExt cx="3861740" cy="322845"/>
          </a:xfrm>
        </p:grpSpPr>
        <p:cxnSp>
          <p:nvCxnSpPr>
            <p:cNvPr id="106" name="Google Shape;106;p28"/>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p:cNvGrpSpPr/>
          <p:nvPr/>
        </p:nvGrpSpPr>
        <p:grpSpPr>
          <a:xfrm>
            <a:off x="4066674" y="6601537"/>
            <a:ext cx="5233412" cy="70446"/>
            <a:chOff x="4033424" y="6601537"/>
            <a:chExt cx="5233412" cy="70446"/>
          </a:xfrm>
        </p:grpSpPr>
        <p:cxnSp>
          <p:nvCxnSpPr>
            <p:cNvPr id="112" name="Google Shape;112;p28"/>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11D1D45-8AA1-9CEA-9D0C-D7B1BD831DE4}"/>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B61EAE36-37E0-2D63-A9B6-1DCF9312C638}"/>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We current</a:t>
            </a:r>
            <a:r>
              <a:rPr lang="en-US" sz="2400" dirty="0">
                <a:latin typeface="Atkinson Hyperlegible Next"/>
                <a:ea typeface="Arial"/>
                <a:cs typeface="Arial"/>
                <a:sym typeface="Arial"/>
              </a:rPr>
              <a:t>ly </a:t>
            </a:r>
            <a:r>
              <a:rPr lang="en-US" sz="2400" dirty="0">
                <a:solidFill>
                  <a:schemeClr val="dk1"/>
                </a:solidFill>
                <a:latin typeface="Atkinson Hyperlegible Next"/>
                <a:ea typeface="Arial"/>
                <a:cs typeface="Arial"/>
                <a:sym typeface="Arial"/>
              </a:rPr>
              <a:t>have explored a couple of way to sense information about the robot’s internal state (IMU, encoders).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What are we missing?</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Sensing external objects!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What are some examples?</a:t>
            </a:r>
          </a:p>
          <a:p>
            <a:pPr marL="342900">
              <a:lnSpc>
                <a:spcPct val="100000"/>
              </a:lnSpc>
              <a:spcBef>
                <a:spcPts val="0"/>
              </a:spcBef>
              <a:buSzPts val="3000"/>
            </a:pPr>
            <a:r>
              <a:rPr lang="en-US" sz="2400" dirty="0">
                <a:latin typeface="Atkinson Hyperlegible Next"/>
                <a:ea typeface="Arial"/>
                <a:cs typeface="Arial"/>
                <a:sym typeface="Arial"/>
              </a:rPr>
              <a:t>Walls</a:t>
            </a:r>
          </a:p>
          <a:p>
            <a:pPr marL="342900">
              <a:lnSpc>
                <a:spcPct val="100000"/>
              </a:lnSpc>
              <a:spcBef>
                <a:spcPts val="0"/>
              </a:spcBef>
              <a:buSzPts val="3000"/>
            </a:pPr>
            <a:r>
              <a:rPr lang="en-US" sz="2400" dirty="0">
                <a:solidFill>
                  <a:schemeClr val="dk1"/>
                </a:solidFill>
                <a:latin typeface="Atkinson Hyperlegible Next"/>
                <a:ea typeface="Arial"/>
                <a:cs typeface="Arial"/>
                <a:sym typeface="Arial"/>
              </a:rPr>
              <a:t>People</a:t>
            </a:r>
          </a:p>
          <a:p>
            <a:pPr marL="342900">
              <a:lnSpc>
                <a:spcPct val="100000"/>
              </a:lnSpc>
              <a:spcBef>
                <a:spcPts val="0"/>
              </a:spcBef>
              <a:buSzPts val="3000"/>
            </a:pPr>
            <a:r>
              <a:rPr lang="en-US" sz="2400" dirty="0">
                <a:latin typeface="Atkinson Hyperlegible Next"/>
                <a:ea typeface="Arial"/>
                <a:cs typeface="Arial"/>
                <a:sym typeface="Arial"/>
              </a:rPr>
              <a:t>Water</a:t>
            </a:r>
          </a:p>
          <a:p>
            <a:pPr marL="342900">
              <a:lnSpc>
                <a:spcPct val="100000"/>
              </a:lnSpc>
              <a:spcBef>
                <a:spcPts val="0"/>
              </a:spcBef>
              <a:buSzPts val="3000"/>
            </a:pPr>
            <a:r>
              <a:rPr lang="en-US" sz="2400" dirty="0">
                <a:solidFill>
                  <a:schemeClr val="dk1"/>
                </a:solidFill>
                <a:latin typeface="Atkinson Hyperlegible Next"/>
                <a:ea typeface="Arial"/>
                <a:cs typeface="Arial"/>
                <a:sym typeface="Arial"/>
              </a:rPr>
              <a:t>Doors</a:t>
            </a:r>
          </a:p>
          <a:p>
            <a:pPr marL="342900">
              <a:lnSpc>
                <a:spcPct val="100000"/>
              </a:lnSpc>
              <a:spcBef>
                <a:spcPts val="0"/>
              </a:spcBef>
              <a:buSzPts val="3000"/>
            </a:pPr>
            <a:r>
              <a:rPr lang="en-US" sz="2400" dirty="0">
                <a:latin typeface="Atkinson Hyperlegible Next"/>
                <a:ea typeface="Arial"/>
                <a:cs typeface="Arial"/>
                <a:sym typeface="Arial"/>
              </a:rPr>
              <a:t>Etc.</a:t>
            </a:r>
            <a:endParaRPr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A930EB0B-C50D-F4CD-0F97-A1890E3DD73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6DE702A-77BE-C1D8-19FE-C35C0FDAB23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Sensors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ADE43439-71A0-2104-7854-B1E51244CF2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E5A4CA29-6A8B-2028-296C-0602C13D7B5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6FE6996-7AF7-0BA5-FB9B-DD4AFF3058D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16D3425-570E-6FFB-559F-129A0463532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3FB76EE-C13C-6235-A81D-61F1EE129CF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F61CF97-C316-2FE9-4B0D-14FB47273AA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4178125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7" end="7"/>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8">
                                            <p:txEl>
                                              <p:pRg st="8" end="8"/>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8">
                                            <p:txEl>
                                              <p:pRg st="9" end="9"/>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xEl>
                                              <p:pRg st="10" end="1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146A743-C0B7-6002-044C-621B5202B1BB}"/>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A826FB3A-6B0A-9FBD-ECE9-D4E54ADA235A}"/>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There are 2 types of sensors,</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b="1" dirty="0">
                <a:latin typeface="Atkinson Hyperlegible Next"/>
                <a:ea typeface="Arial"/>
                <a:cs typeface="Arial"/>
                <a:sym typeface="Arial"/>
              </a:rPr>
              <a:t>Passive </a:t>
            </a:r>
            <a:r>
              <a:rPr lang="en-US" sz="2400" dirty="0">
                <a:latin typeface="Atkinson Hyperlegible Next"/>
                <a:ea typeface="Arial"/>
                <a:cs typeface="Arial"/>
                <a:sym typeface="Arial"/>
              </a:rPr>
              <a:t>sensors: Measure the environment without emitting their own signals</a:t>
            </a:r>
          </a:p>
          <a:p>
            <a:pPr marL="0" indent="0">
              <a:lnSpc>
                <a:spcPct val="100000"/>
              </a:lnSpc>
              <a:spcBef>
                <a:spcPts val="0"/>
              </a:spcBef>
              <a:buSzPts val="3000"/>
              <a:buNone/>
            </a:pPr>
            <a:r>
              <a:rPr lang="en-US" sz="2400" dirty="0">
                <a:latin typeface="Atkinson Hyperlegible Next"/>
                <a:ea typeface="Arial"/>
                <a:cs typeface="Arial"/>
                <a:sym typeface="Arial"/>
              </a:rPr>
              <a:t>Examples:</a:t>
            </a:r>
          </a:p>
          <a:p>
            <a:pPr marL="342900">
              <a:lnSpc>
                <a:spcPct val="100000"/>
              </a:lnSpc>
              <a:spcBef>
                <a:spcPts val="0"/>
              </a:spcBef>
              <a:buSzPts val="3000"/>
            </a:pPr>
            <a:r>
              <a:rPr lang="en-US" sz="2400" dirty="0">
                <a:latin typeface="Atkinson Hyperlegible Next"/>
                <a:ea typeface="Arial"/>
                <a:cs typeface="Arial"/>
                <a:sym typeface="Arial"/>
              </a:rPr>
              <a:t>Standard camera</a:t>
            </a:r>
          </a:p>
          <a:p>
            <a:pPr marL="342900">
              <a:lnSpc>
                <a:spcPct val="100000"/>
              </a:lnSpc>
              <a:spcBef>
                <a:spcPts val="0"/>
              </a:spcBef>
              <a:buSzPts val="3000"/>
            </a:pPr>
            <a:r>
              <a:rPr lang="en-US" sz="2400" dirty="0">
                <a:latin typeface="Atkinson Hyperlegible Next"/>
                <a:ea typeface="Arial"/>
                <a:cs typeface="Arial"/>
                <a:sym typeface="Arial"/>
              </a:rPr>
              <a:t>Thermometer</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b="1" dirty="0">
                <a:solidFill>
                  <a:schemeClr val="dk1"/>
                </a:solidFill>
                <a:latin typeface="Atkinson Hyperlegible Next"/>
                <a:ea typeface="Arial"/>
                <a:cs typeface="Arial"/>
                <a:sym typeface="Arial"/>
              </a:rPr>
              <a:t>Active</a:t>
            </a:r>
            <a:r>
              <a:rPr lang="en-US" sz="2400" dirty="0">
                <a:solidFill>
                  <a:schemeClr val="dk1"/>
                </a:solidFill>
                <a:latin typeface="Atkinson Hyperlegible Next"/>
                <a:ea typeface="Arial"/>
                <a:cs typeface="Arial"/>
                <a:sym typeface="Arial"/>
              </a:rPr>
              <a:t> sensors: Emit energy into the environment and measure the reflection / reaction to determine object properties</a:t>
            </a:r>
          </a:p>
          <a:p>
            <a:pPr marL="0" indent="0">
              <a:lnSpc>
                <a:spcPct val="100000"/>
              </a:lnSpc>
              <a:spcBef>
                <a:spcPts val="0"/>
              </a:spcBef>
              <a:buSzPts val="3000"/>
              <a:buNone/>
            </a:pPr>
            <a:r>
              <a:rPr lang="en-US" sz="2400" dirty="0">
                <a:latin typeface="Atkinson Hyperlegible Next"/>
                <a:ea typeface="Arial"/>
                <a:cs typeface="Arial"/>
                <a:sym typeface="Arial"/>
              </a:rPr>
              <a:t>Examples:</a:t>
            </a:r>
          </a:p>
          <a:p>
            <a:pPr marL="342900">
              <a:lnSpc>
                <a:spcPct val="100000"/>
              </a:lnSpc>
              <a:spcBef>
                <a:spcPts val="0"/>
              </a:spcBef>
              <a:buSzPts val="3000"/>
            </a:pPr>
            <a:r>
              <a:rPr lang="en-US" sz="2400" dirty="0">
                <a:solidFill>
                  <a:schemeClr val="dk1"/>
                </a:solidFill>
                <a:latin typeface="Atkinson Hyperlegible Next"/>
                <a:ea typeface="Arial"/>
                <a:cs typeface="Arial"/>
                <a:sym typeface="Arial"/>
              </a:rPr>
              <a:t>LiDAR</a:t>
            </a:r>
          </a:p>
          <a:p>
            <a:pPr marL="342900">
              <a:lnSpc>
                <a:spcPct val="100000"/>
              </a:lnSpc>
              <a:spcBef>
                <a:spcPts val="0"/>
              </a:spcBef>
              <a:buSzPts val="3000"/>
            </a:pPr>
            <a:r>
              <a:rPr lang="en-US" sz="2400" dirty="0">
                <a:latin typeface="Atkinson Hyperlegible Next"/>
                <a:ea typeface="Arial"/>
                <a:cs typeface="Arial"/>
                <a:sym typeface="Arial"/>
              </a:rPr>
              <a:t>Radar</a:t>
            </a:r>
          </a:p>
          <a:p>
            <a:pPr marL="342900">
              <a:lnSpc>
                <a:spcPct val="100000"/>
              </a:lnSpc>
              <a:spcBef>
                <a:spcPts val="0"/>
              </a:spcBef>
              <a:buSzPts val="3000"/>
            </a:pPr>
            <a:r>
              <a:rPr lang="en-US" sz="2400" dirty="0">
                <a:solidFill>
                  <a:schemeClr val="dk1"/>
                </a:solidFill>
                <a:latin typeface="Atkinson Hyperlegible Next"/>
                <a:ea typeface="Arial"/>
                <a:cs typeface="Arial"/>
                <a:sym typeface="Arial"/>
              </a:rPr>
              <a:t>Sonar</a:t>
            </a:r>
          </a:p>
          <a:p>
            <a:pPr marL="0" indent="0">
              <a:lnSpc>
                <a:spcPct val="100000"/>
              </a:lnSpc>
              <a:spcBef>
                <a:spcPts val="0"/>
              </a:spcBef>
              <a:buSzPts val="3000"/>
              <a:buNone/>
            </a:pPr>
            <a:endParaRPr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3FA1E4D5-DE98-C569-5BD5-34E0FA2C1B3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60F73ED-6A9C-F301-1648-FF857387D61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Sensors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9DBAEC7E-9882-0FB8-C11D-53CA06DC967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BC84759-0DBF-E4C2-9772-A75AFB12212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6CE5780-7B61-DBBD-D038-EA889EE2D386}"/>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FAC3309-CE5B-ADEC-F8D9-EBC0DDFD34B9}"/>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CADC7C6-A8C3-19DB-866C-945124C8C17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7503884-AB26-A85B-AED8-D4AC2D4641D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1056831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4"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8">
                                            <p:txEl>
                                              <p:pRg st="7" end="7"/>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9" end="9"/>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xEl>
                                              <p:pRg st="10" end="1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5F90DDC-F247-4A8B-1556-576C12A61DD6}"/>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ED050064-E0A1-A9F5-D9C6-16863F58DDFB}"/>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latin typeface="Atkinson Hyperlegible Next"/>
                <a:ea typeface="Arial"/>
                <a:cs typeface="Arial"/>
                <a:sym typeface="Arial"/>
              </a:rPr>
              <a:t>Is the accelerometer a passive or active sensor?</a:t>
            </a:r>
          </a:p>
          <a:p>
            <a:pPr marL="0" indent="0" algn="ctr">
              <a:lnSpc>
                <a:spcPct val="100000"/>
              </a:lnSpc>
              <a:spcBef>
                <a:spcPts val="0"/>
              </a:spcBef>
              <a:buSzPts val="3000"/>
              <a:buNone/>
            </a:pPr>
            <a:r>
              <a:rPr lang="en-US" sz="2400" b="1" dirty="0">
                <a:latin typeface="Atkinson Hyperlegible Next"/>
                <a:ea typeface="Arial"/>
                <a:cs typeface="Arial"/>
                <a:sym typeface="Arial"/>
              </a:rPr>
              <a:t>Passive</a:t>
            </a:r>
          </a:p>
          <a:p>
            <a:pPr marL="0" indent="0" algn="ctr">
              <a:lnSpc>
                <a:spcPct val="100000"/>
              </a:lnSpc>
              <a:spcBef>
                <a:spcPts val="0"/>
              </a:spcBef>
              <a:buSzPts val="3000"/>
              <a:buNone/>
            </a:pPr>
            <a:endParaRPr lang="en-US" sz="2400" b="1"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Is the gyroscope a passive or active sensor?</a:t>
            </a:r>
          </a:p>
          <a:p>
            <a:pPr marL="0" indent="0" algn="ctr">
              <a:lnSpc>
                <a:spcPct val="100000"/>
              </a:lnSpc>
              <a:spcBef>
                <a:spcPts val="0"/>
              </a:spcBef>
              <a:buSzPts val="3000"/>
              <a:buNone/>
            </a:pPr>
            <a:r>
              <a:rPr lang="en-US" sz="2400" b="1" dirty="0">
                <a:latin typeface="Atkinson Hyperlegible Next"/>
                <a:ea typeface="Arial"/>
                <a:cs typeface="Arial"/>
                <a:sym typeface="Arial"/>
              </a:rPr>
              <a:t>Active</a:t>
            </a:r>
            <a:r>
              <a:rPr lang="en-US" sz="2400" dirty="0">
                <a:latin typeface="Atkinson Hyperlegible Next"/>
                <a:ea typeface="Arial"/>
                <a:cs typeface="Arial"/>
                <a:sym typeface="Arial"/>
              </a:rPr>
              <a:t> (the gyro has a drive motor; thus, you have provided energy)</a:t>
            </a:r>
          </a:p>
          <a:p>
            <a:pPr marL="0" indent="0" algn="ctr">
              <a:lnSpc>
                <a:spcPct val="100000"/>
              </a:lnSpc>
              <a:spcBef>
                <a:spcPts val="0"/>
              </a:spcBef>
              <a:buSzPts val="3000"/>
              <a:buNone/>
            </a:pPr>
            <a:endParaRPr lang="en-US" sz="2400" b="1" dirty="0">
              <a:latin typeface="Atkinson Hyperlegible Next"/>
              <a:ea typeface="Arial"/>
              <a:cs typeface="Arial"/>
              <a:sym typeface="Arial"/>
            </a:endParaRPr>
          </a:p>
          <a:p>
            <a:pPr marL="0" indent="0">
              <a:lnSpc>
                <a:spcPct val="100000"/>
              </a:lnSpc>
              <a:spcBef>
                <a:spcPts val="0"/>
              </a:spcBef>
              <a:buSzPts val="3000"/>
              <a:buNone/>
            </a:pPr>
            <a:r>
              <a:rPr lang="en-US" sz="2400" dirty="0">
                <a:latin typeface="Atkinson Hyperlegible Next"/>
                <a:ea typeface="Arial"/>
                <a:cs typeface="Arial"/>
                <a:sym typeface="Arial"/>
              </a:rPr>
              <a:t>Is the magnetometer a passive or active sensor?</a:t>
            </a:r>
          </a:p>
          <a:p>
            <a:pPr marL="0" indent="0" algn="ctr">
              <a:lnSpc>
                <a:spcPct val="100000"/>
              </a:lnSpc>
              <a:spcBef>
                <a:spcPts val="0"/>
              </a:spcBef>
              <a:buSzPts val="3000"/>
              <a:buNone/>
            </a:pPr>
            <a:r>
              <a:rPr lang="en-US" sz="2400" b="1" dirty="0">
                <a:latin typeface="Atkinson Hyperlegible Next"/>
                <a:ea typeface="Arial"/>
                <a:cs typeface="Arial"/>
                <a:sym typeface="Arial"/>
              </a:rPr>
              <a:t>Passive</a:t>
            </a:r>
          </a:p>
        </p:txBody>
      </p:sp>
      <p:sp>
        <p:nvSpPr>
          <p:cNvPr id="119" name="Google Shape;119;p29">
            <a:extLst>
              <a:ext uri="{FF2B5EF4-FFF2-40B4-BE49-F238E27FC236}">
                <a16:creationId xmlns:a16="http://schemas.microsoft.com/office/drawing/2014/main" id="{CDBBC520-DAE5-74B8-7AFC-17655167930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2A8CAEB-6FBC-FC9A-FFD4-A73528A9ABE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Sensors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EEEA868B-27ED-34E0-5EF1-50E709AFF60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BA6257F-594F-7FAF-1298-6FD9631113C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AE029DE1-0DD0-8DA2-D928-8EEDA8B546D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CFFFA91-4693-4336-7959-4D0AB1EBB432}"/>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40A2284-8A72-BC19-03D8-69240C33A93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E09DF34-4FF2-8151-5929-F8CC0D7BA8C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740988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91BE7A22-3056-4474-450C-0BD9BECDAB17}"/>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13E1F564-24AB-357A-599B-C84D6D65F9EE}"/>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Which type of sensor do you think operates better in complete pitch-black darkness for finding walls? </a:t>
            </a:r>
          </a:p>
          <a:p>
            <a:pPr marL="0" indent="0" algn="ctr">
              <a:lnSpc>
                <a:spcPct val="100000"/>
              </a:lnSpc>
              <a:spcBef>
                <a:spcPts val="0"/>
              </a:spcBef>
              <a:buSzPts val="3000"/>
              <a:buNone/>
            </a:pPr>
            <a:r>
              <a:rPr lang="en-US" sz="2400" b="1" dirty="0">
                <a:solidFill>
                  <a:schemeClr val="dk1"/>
                </a:solidFill>
                <a:latin typeface="Atkinson Hyperlegible Next"/>
                <a:ea typeface="Arial"/>
                <a:cs typeface="Arial"/>
                <a:sym typeface="Arial"/>
              </a:rPr>
              <a:t>Active</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Which type of sensor do you think operates best in measuring location of forest fires? </a:t>
            </a:r>
          </a:p>
          <a:p>
            <a:pPr marL="0" indent="0" algn="ctr">
              <a:lnSpc>
                <a:spcPct val="100000"/>
              </a:lnSpc>
              <a:spcBef>
                <a:spcPts val="0"/>
              </a:spcBef>
              <a:buSzPts val="3000"/>
              <a:buNone/>
            </a:pPr>
            <a:r>
              <a:rPr lang="en-US" sz="2400" b="1" dirty="0">
                <a:solidFill>
                  <a:schemeClr val="dk1"/>
                </a:solidFill>
                <a:latin typeface="Atkinson Hyperlegible Next"/>
                <a:ea typeface="Arial"/>
                <a:cs typeface="Arial"/>
                <a:sym typeface="Arial"/>
              </a:rPr>
              <a:t>Passive</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Which type of sensor do you think operates best in measuring the current environment in the visible spectrum?</a:t>
            </a:r>
          </a:p>
          <a:p>
            <a:pPr marL="0" indent="0" algn="ctr">
              <a:lnSpc>
                <a:spcPct val="100000"/>
              </a:lnSpc>
              <a:spcBef>
                <a:spcPts val="0"/>
              </a:spcBef>
              <a:buSzPts val="3000"/>
              <a:buNone/>
            </a:pPr>
            <a:r>
              <a:rPr lang="en-US" sz="2400" b="1" dirty="0">
                <a:latin typeface="Atkinson Hyperlegible Next"/>
                <a:ea typeface="Arial"/>
                <a:cs typeface="Arial"/>
                <a:sym typeface="Arial"/>
              </a:rPr>
              <a:t>Passive</a:t>
            </a:r>
            <a:r>
              <a:rPr lang="en-US" sz="2400" dirty="0">
                <a:latin typeface="Atkinson Hyperlegible Next"/>
                <a:ea typeface="Arial"/>
                <a:cs typeface="Arial"/>
                <a:sym typeface="Arial"/>
              </a:rPr>
              <a:t> (this is just a camera!)</a:t>
            </a:r>
            <a:endParaRPr lang="en-US"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C19195FD-C1B3-F95C-B1BA-31D8539C44F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5C92764E-9448-EDFF-4151-CB2427708DE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Sensors</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D77F8CEA-441D-F7A7-E8CD-0EA83A2EC9FD}"/>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2AA0119-95EB-4A70-88CA-9A73B4FD503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206276C-F3AC-69C9-F3A7-47E77769F63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BCB1F15-1177-A278-1E27-6F38F7D05DC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C9413E3-EB1E-FE2D-ECDE-A03074F0666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6580D22E-DC02-8C4B-1616-FFEE8695D65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0011250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B8E3D08F-6DF1-5C8E-1275-936C12EBAE5A}"/>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53D6AC7B-903F-1CEA-A673-4ECD3162C2BF}"/>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IR</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BF8BAD17-C433-0940-541A-A6261D90DAE9}"/>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678F01B3-65C8-3D66-6360-3479F56EDD28}"/>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665BD945-A935-A3F5-9110-FBE542DBAABA}"/>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FF2B5EF4-FFF2-40B4-BE49-F238E27FC236}">
                <a16:creationId xmlns:a16="http://schemas.microsoft.com/office/drawing/2014/main" id="{568D08D6-7B6F-B254-DB3C-978890E7ADDF}"/>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A7A64B89-EE1E-2301-A4C5-56E9D57EA96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4CDCADA5-A7B4-F34D-4591-6303AE61EA4F}"/>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FA0D7454-0FE5-BAC0-2E14-523A67993284}"/>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6426799F-3DF3-4D36-85AA-BD75BC57CBB6}"/>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EB07586F-EE5D-779D-59AB-A54FF5D3643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667828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A7CE0C0-D019-2CA9-6E24-0C9B1925018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B297B86-E77D-C9B8-8CF0-2B7AB45E1CDB}"/>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We want to be able to detect if there is an obstacle in front of us. The best / simplest way to do this is though an active sensor.</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IR sensors emit an invisible infrared light beam and measures the reflection that bounces back.</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The intensity of the returning light indicates the distance of an object.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Composed of 2 parts:</a:t>
            </a:r>
          </a:p>
          <a:p>
            <a:pPr marL="342900">
              <a:lnSpc>
                <a:spcPct val="100000"/>
              </a:lnSpc>
              <a:spcBef>
                <a:spcPts val="0"/>
              </a:spcBef>
              <a:buSzPts val="3000"/>
            </a:pPr>
            <a:r>
              <a:rPr lang="en-US" sz="2400" dirty="0">
                <a:latin typeface="Atkinson Hyperlegible Next"/>
                <a:ea typeface="Arial"/>
                <a:cs typeface="Arial"/>
                <a:sym typeface="Arial"/>
              </a:rPr>
              <a:t>PSD (position sensitive detector)</a:t>
            </a:r>
          </a:p>
          <a:p>
            <a:pPr marL="342900">
              <a:lnSpc>
                <a:spcPct val="100000"/>
              </a:lnSpc>
              <a:spcBef>
                <a:spcPts val="0"/>
              </a:spcBef>
              <a:buSzPts val="3000"/>
            </a:pPr>
            <a:r>
              <a:rPr lang="en-US" sz="2400" dirty="0">
                <a:solidFill>
                  <a:schemeClr val="dk1"/>
                </a:solidFill>
                <a:latin typeface="Atkinson Hyperlegible Next"/>
                <a:ea typeface="Arial"/>
                <a:cs typeface="Arial"/>
                <a:sym typeface="Arial"/>
              </a:rPr>
              <a:t>IR-LED (infrared emitting diode)</a:t>
            </a:r>
          </a:p>
        </p:txBody>
      </p:sp>
      <p:sp>
        <p:nvSpPr>
          <p:cNvPr id="119" name="Google Shape;119;p29">
            <a:extLst>
              <a:ext uri="{FF2B5EF4-FFF2-40B4-BE49-F238E27FC236}">
                <a16:creationId xmlns:a16="http://schemas.microsoft.com/office/drawing/2014/main" id="{9116E738-9015-254F-90C5-F74D2C48C94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A87CDB3-464B-7044-CCFC-CD8303C898E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IR Sensor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4C2D6136-5B63-E0D6-0717-438EA7B78CE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10A8B8C-1C63-272F-7DB5-9D62FFF6332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6AA4B8A-F47D-3BB9-9A56-1FB8817E466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BD6576D-DB3F-BD05-0E82-C60354F74360}"/>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8E812B2-2A9F-3990-0346-FED13E5A23D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0D2CE03-2C19-B30B-8D1B-B7082577B98F}"/>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745903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9A5EC5F-449C-6688-AF28-95C93525B55B}"/>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1CAF35FC-85C2-649F-C749-A1FFE358317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3A0275F-32A4-C827-0836-BF4A218ED8AC}"/>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IR Sensor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4AA55327-7A42-D40B-0035-72681D58BD6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12C21B7-22BD-0BAF-9E4B-AAF282BEB6A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4C5E4DC-7411-0EBF-6AED-13E62D1AFBA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3CFA967-D7FC-0082-4782-53C8185B1BC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6618E2E-B1B1-9BE4-C1C3-82A3241C443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CD922E3-92D9-D65B-2969-CF17331C386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2050" name="Picture 2">
            <a:extLst>
              <a:ext uri="{FF2B5EF4-FFF2-40B4-BE49-F238E27FC236}">
                <a16:creationId xmlns:a16="http://schemas.microsoft.com/office/drawing/2014/main" id="{95B64AEF-6C4C-F19B-2D4D-03E6FA9EA2C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3889" t="26621" r="43607" b="23241"/>
          <a:stretch>
            <a:fillRect/>
          </a:stretch>
        </p:blipFill>
        <p:spPr bwMode="auto">
          <a:xfrm rot="5400000">
            <a:off x="8017826" y="2244746"/>
            <a:ext cx="2229142" cy="343852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4D7227C8-5DCE-7532-63C3-8C02F783D6F0}"/>
              </a:ext>
            </a:extLst>
          </p:cNvPr>
          <p:cNvSpPr/>
          <p:nvPr/>
        </p:nvSpPr>
        <p:spPr>
          <a:xfrm>
            <a:off x="8610600" y="2908300"/>
            <a:ext cx="1035050" cy="8128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Arrow Connector 8">
            <a:extLst>
              <a:ext uri="{FF2B5EF4-FFF2-40B4-BE49-F238E27FC236}">
                <a16:creationId xmlns:a16="http://schemas.microsoft.com/office/drawing/2014/main" id="{2C363CD2-9DA5-C693-D53D-48C5D190D000}"/>
              </a:ext>
            </a:extLst>
          </p:cNvPr>
          <p:cNvCxnSpPr>
            <a:cxnSpLocks/>
            <a:stCxn id="10" idx="2"/>
            <a:endCxn id="5" idx="0"/>
          </p:cNvCxnSpPr>
          <p:nvPr/>
        </p:nvCxnSpPr>
        <p:spPr>
          <a:xfrm flipH="1">
            <a:off x="9128125" y="2429598"/>
            <a:ext cx="289436" cy="478702"/>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3424813-3C78-5598-2E7E-DDF2E72070E7}"/>
              </a:ext>
            </a:extLst>
          </p:cNvPr>
          <p:cNvSpPr txBox="1"/>
          <p:nvPr/>
        </p:nvSpPr>
        <p:spPr>
          <a:xfrm>
            <a:off x="8741286" y="2121821"/>
            <a:ext cx="1352550" cy="307777"/>
          </a:xfrm>
          <a:prstGeom prst="rect">
            <a:avLst/>
          </a:prstGeom>
          <a:noFill/>
        </p:spPr>
        <p:txBody>
          <a:bodyPr wrap="square" rtlCol="0">
            <a:spAutoFit/>
          </a:bodyPr>
          <a:lstStyle/>
          <a:p>
            <a:pPr algn="ctr"/>
            <a:r>
              <a:rPr lang="en-US" dirty="0">
                <a:solidFill>
                  <a:srgbClr val="FF0000"/>
                </a:solidFill>
              </a:rPr>
              <a:t>Light detector</a:t>
            </a:r>
          </a:p>
        </p:txBody>
      </p:sp>
      <p:sp>
        <p:nvSpPr>
          <p:cNvPr id="18" name="Rectangle 17">
            <a:extLst>
              <a:ext uri="{FF2B5EF4-FFF2-40B4-BE49-F238E27FC236}">
                <a16:creationId xmlns:a16="http://schemas.microsoft.com/office/drawing/2014/main" id="{C8DF3320-AE76-23CF-3D29-F5A6E602ABD1}"/>
              </a:ext>
            </a:extLst>
          </p:cNvPr>
          <p:cNvSpPr/>
          <p:nvPr/>
        </p:nvSpPr>
        <p:spPr>
          <a:xfrm>
            <a:off x="7766050" y="2896661"/>
            <a:ext cx="768114" cy="8128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9" name="Straight Arrow Connector 18">
            <a:extLst>
              <a:ext uri="{FF2B5EF4-FFF2-40B4-BE49-F238E27FC236}">
                <a16:creationId xmlns:a16="http://schemas.microsoft.com/office/drawing/2014/main" id="{514C3A15-45C6-3454-F267-E95933B0F560}"/>
              </a:ext>
            </a:extLst>
          </p:cNvPr>
          <p:cNvCxnSpPr>
            <a:cxnSpLocks/>
            <a:stCxn id="20" idx="2"/>
            <a:endCxn id="18" idx="0"/>
          </p:cNvCxnSpPr>
          <p:nvPr/>
        </p:nvCxnSpPr>
        <p:spPr>
          <a:xfrm>
            <a:off x="7806249" y="2583486"/>
            <a:ext cx="343858" cy="31317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27C4D47C-BC89-1795-1824-EC1EE2BAAD22}"/>
              </a:ext>
            </a:extLst>
          </p:cNvPr>
          <p:cNvSpPr txBox="1"/>
          <p:nvPr/>
        </p:nvSpPr>
        <p:spPr>
          <a:xfrm>
            <a:off x="7129974" y="2275709"/>
            <a:ext cx="1352550" cy="307777"/>
          </a:xfrm>
          <a:prstGeom prst="rect">
            <a:avLst/>
          </a:prstGeom>
          <a:noFill/>
        </p:spPr>
        <p:txBody>
          <a:bodyPr wrap="square" rtlCol="0">
            <a:spAutoFit/>
          </a:bodyPr>
          <a:lstStyle/>
          <a:p>
            <a:pPr algn="ctr"/>
            <a:r>
              <a:rPr lang="en-US" dirty="0">
                <a:solidFill>
                  <a:srgbClr val="FF0000"/>
                </a:solidFill>
              </a:rPr>
              <a:t>LED</a:t>
            </a:r>
          </a:p>
        </p:txBody>
      </p:sp>
      <p:sp>
        <p:nvSpPr>
          <p:cNvPr id="23" name="Google Shape;118;p29">
            <a:extLst>
              <a:ext uri="{FF2B5EF4-FFF2-40B4-BE49-F238E27FC236}">
                <a16:creationId xmlns:a16="http://schemas.microsoft.com/office/drawing/2014/main" id="{EFF16A46-D07E-9BDB-EB9F-EF4E81257EAA}"/>
              </a:ext>
            </a:extLst>
          </p:cNvPr>
          <p:cNvSpPr txBox="1">
            <a:spLocks noGrp="1"/>
          </p:cNvSpPr>
          <p:nvPr>
            <p:ph type="body" idx="1"/>
          </p:nvPr>
        </p:nvSpPr>
        <p:spPr>
          <a:xfrm>
            <a:off x="376810" y="1334279"/>
            <a:ext cx="6930378"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1800" dirty="0">
                <a:solidFill>
                  <a:schemeClr val="dk1"/>
                </a:solidFill>
                <a:latin typeface="Atkinson Hyperlegible Next"/>
                <a:ea typeface="Arial"/>
                <a:cs typeface="Arial"/>
                <a:sym typeface="Arial"/>
              </a:rPr>
              <a:t>Basic operation principle:</a:t>
            </a:r>
          </a:p>
          <a:p>
            <a:pPr marL="342900">
              <a:lnSpc>
                <a:spcPct val="100000"/>
              </a:lnSpc>
              <a:spcBef>
                <a:spcPts val="0"/>
              </a:spcBef>
              <a:buSzPts val="3000"/>
            </a:pPr>
            <a:r>
              <a:rPr lang="en-US" sz="1800" dirty="0">
                <a:latin typeface="Atkinson Hyperlegible Next"/>
                <a:ea typeface="Arial"/>
                <a:cs typeface="Arial"/>
                <a:sym typeface="Arial"/>
              </a:rPr>
              <a:t>The IR LED emitter sends out and infrared light beam (invisible to the human eye)</a:t>
            </a:r>
          </a:p>
          <a:p>
            <a:pPr marL="342900">
              <a:lnSpc>
                <a:spcPct val="100000"/>
              </a:lnSpc>
              <a:spcBef>
                <a:spcPts val="0"/>
              </a:spcBef>
              <a:buSzPts val="3000"/>
            </a:pPr>
            <a:r>
              <a:rPr lang="en-US" sz="1800" dirty="0">
                <a:solidFill>
                  <a:schemeClr val="dk1"/>
                </a:solidFill>
                <a:latin typeface="Atkinson Hyperlegible Next"/>
                <a:ea typeface="Arial"/>
                <a:cs typeface="Arial"/>
                <a:sym typeface="Arial"/>
              </a:rPr>
              <a:t>The light travels forward until it hits and object or obstacle</a:t>
            </a:r>
          </a:p>
          <a:p>
            <a:pPr marL="342900">
              <a:lnSpc>
                <a:spcPct val="100000"/>
              </a:lnSpc>
              <a:spcBef>
                <a:spcPts val="0"/>
              </a:spcBef>
              <a:buSzPts val="3000"/>
            </a:pPr>
            <a:r>
              <a:rPr lang="en-US" sz="1800" dirty="0">
                <a:latin typeface="Atkinson Hyperlegible Next"/>
                <a:ea typeface="Arial"/>
                <a:cs typeface="Arial"/>
                <a:sym typeface="Arial"/>
              </a:rPr>
              <a:t>The object reflects some of the IR light</a:t>
            </a:r>
          </a:p>
          <a:p>
            <a:pPr marL="342900">
              <a:lnSpc>
                <a:spcPct val="100000"/>
              </a:lnSpc>
              <a:spcBef>
                <a:spcPts val="0"/>
              </a:spcBef>
              <a:buSzPts val="3000"/>
            </a:pPr>
            <a:r>
              <a:rPr lang="en-US" sz="1800" dirty="0">
                <a:solidFill>
                  <a:schemeClr val="dk1"/>
                </a:solidFill>
                <a:latin typeface="Atkinson Hyperlegible Next"/>
                <a:ea typeface="Arial"/>
                <a:cs typeface="Arial"/>
                <a:sym typeface="Arial"/>
              </a:rPr>
              <a:t>The receiver detects the reflectance</a:t>
            </a:r>
            <a:r>
              <a:rPr lang="en-US" sz="1800" dirty="0">
                <a:latin typeface="Atkinson Hyperlegible Next"/>
                <a:ea typeface="Arial"/>
                <a:cs typeface="Arial"/>
                <a:sym typeface="Arial"/>
              </a:rPr>
              <a:t> light</a:t>
            </a:r>
          </a:p>
          <a:p>
            <a:pPr marL="342900">
              <a:lnSpc>
                <a:spcPct val="100000"/>
              </a:lnSpc>
              <a:spcBef>
                <a:spcPts val="0"/>
              </a:spcBef>
              <a:buSzPts val="3000"/>
            </a:pPr>
            <a:r>
              <a:rPr lang="en-US" sz="1800" dirty="0">
                <a:solidFill>
                  <a:schemeClr val="dk1"/>
                </a:solidFill>
                <a:latin typeface="Atkinson Hyperlegible Next"/>
                <a:ea typeface="Arial"/>
                <a:cs typeface="Arial"/>
                <a:sym typeface="Arial"/>
              </a:rPr>
              <a:t>The sensor determines the approximate distance</a:t>
            </a:r>
          </a:p>
          <a:p>
            <a:pPr marL="342900">
              <a:lnSpc>
                <a:spcPct val="100000"/>
              </a:lnSpc>
              <a:spcBef>
                <a:spcPts val="0"/>
              </a:spcBef>
              <a:buSzPts val="3000"/>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Distance is measured from reflectance:</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solidFill>
                  <a:schemeClr val="dk1"/>
                </a:solidFill>
                <a:latin typeface="Atkinson Hyperlegible Next"/>
                <a:ea typeface="Arial"/>
                <a:cs typeface="Arial"/>
                <a:sym typeface="Arial"/>
              </a:rPr>
              <a:t>Closer object  = stronger reflected signal</a:t>
            </a:r>
          </a:p>
          <a:p>
            <a:pPr marL="0" indent="0">
              <a:lnSpc>
                <a:spcPct val="100000"/>
              </a:lnSpc>
              <a:spcBef>
                <a:spcPts val="0"/>
              </a:spcBef>
              <a:buSzPts val="3000"/>
              <a:buNone/>
            </a:pPr>
            <a:r>
              <a:rPr lang="en-US" sz="1800" dirty="0">
                <a:latin typeface="Atkinson Hyperlegible Next"/>
                <a:ea typeface="Arial"/>
                <a:cs typeface="Arial"/>
                <a:sym typeface="Arial"/>
              </a:rPr>
              <a:t>Further object = weaker reflected signal</a:t>
            </a:r>
            <a:endParaRPr lang="en-US" sz="1800" dirty="0">
              <a:solidFill>
                <a:schemeClr val="dk1"/>
              </a:solidFill>
              <a:latin typeface="Atkinson Hyperlegible Next"/>
              <a:ea typeface="Arial"/>
              <a:cs typeface="Arial"/>
              <a:sym typeface="Arial"/>
            </a:endParaRPr>
          </a:p>
        </p:txBody>
      </p:sp>
      <p:sp>
        <p:nvSpPr>
          <p:cNvPr id="25" name="TextBox 24">
            <a:extLst>
              <a:ext uri="{FF2B5EF4-FFF2-40B4-BE49-F238E27FC236}">
                <a16:creationId xmlns:a16="http://schemas.microsoft.com/office/drawing/2014/main" id="{37B7EE8C-699B-9028-DC3C-C67205F41CD5}"/>
              </a:ext>
            </a:extLst>
          </p:cNvPr>
          <p:cNvSpPr txBox="1"/>
          <p:nvPr/>
        </p:nvSpPr>
        <p:spPr>
          <a:xfrm>
            <a:off x="7250037" y="5428205"/>
            <a:ext cx="3756175" cy="430887"/>
          </a:xfrm>
          <a:prstGeom prst="rect">
            <a:avLst/>
          </a:prstGeom>
          <a:noFill/>
        </p:spPr>
        <p:txBody>
          <a:bodyPr wrap="square">
            <a:spAutoFit/>
          </a:bodyPr>
          <a:lstStyle/>
          <a:p>
            <a:pPr algn="ctr"/>
            <a:r>
              <a:rPr lang="en-US" sz="1050" dirty="0">
                <a:hlinkClick r:id="rId5"/>
              </a:rPr>
              <a:t>https://www.smart-prototyping.com/Sharp-IR-Distance-Sensor-GP2Y0A41SK0F-4-30-cm</a:t>
            </a:r>
            <a:r>
              <a:rPr lang="en-US" sz="1050" dirty="0"/>
              <a:t> </a:t>
            </a:r>
          </a:p>
        </p:txBody>
      </p:sp>
    </p:spTree>
    <p:extLst>
      <p:ext uri="{BB962C8B-B14F-4D97-AF65-F5344CB8AC3E}">
        <p14:creationId xmlns:p14="http://schemas.microsoft.com/office/powerpoint/2010/main" val="18858254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B3E21A5-0BBA-CB81-3804-DD9216B26371}"/>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0260EFBF-51D9-CABA-F798-580A0BDFCC0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F08C13E-A731-478C-3CE0-3D5109FD852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IR Sensor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768A15D9-D2F7-54F6-5F25-6EE1C602956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4B5AC782-9F51-66EE-C885-8B7FD7C3DFF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4DFBC42-98A9-A458-CABD-8DA2171A3A1E}"/>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E04037D-1064-0116-29AA-FBF84541059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F9D24AB-B9A7-33B9-E451-BE06F78BCFAF}"/>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5733413-F28E-CFA6-7E76-1A7D80BCF8C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23" name="Google Shape;118;p29">
            <a:extLst>
              <a:ext uri="{FF2B5EF4-FFF2-40B4-BE49-F238E27FC236}">
                <a16:creationId xmlns:a16="http://schemas.microsoft.com/office/drawing/2014/main" id="{B0942BFC-A809-42E9-40F9-F556330D3FE0}"/>
              </a:ext>
            </a:extLst>
          </p:cNvPr>
          <p:cNvSpPr txBox="1">
            <a:spLocks noGrp="1"/>
          </p:cNvSpPr>
          <p:nvPr>
            <p:ph type="body" idx="1"/>
          </p:nvPr>
        </p:nvSpPr>
        <p:spPr>
          <a:xfrm>
            <a:off x="376810" y="1334279"/>
            <a:ext cx="6930378"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1800" dirty="0">
                <a:solidFill>
                  <a:schemeClr val="dk1"/>
                </a:solidFill>
                <a:latin typeface="Atkinson Hyperlegible Next"/>
                <a:ea typeface="Arial"/>
                <a:cs typeface="Arial"/>
                <a:sym typeface="Arial"/>
              </a:rPr>
              <a:t>Advantages:</a:t>
            </a:r>
          </a:p>
          <a:p>
            <a:pPr marL="285750" indent="-285750">
              <a:lnSpc>
                <a:spcPct val="100000"/>
              </a:lnSpc>
              <a:spcBef>
                <a:spcPts val="0"/>
              </a:spcBef>
              <a:buSzPts val="3000"/>
            </a:pPr>
            <a:r>
              <a:rPr lang="en-US" sz="1800" dirty="0">
                <a:latin typeface="Atkinson Hyperlegible Next"/>
                <a:ea typeface="Arial"/>
                <a:cs typeface="Arial"/>
                <a:sym typeface="Arial"/>
              </a:rPr>
              <a:t>Simple and inexpensive</a:t>
            </a:r>
          </a:p>
          <a:p>
            <a:pPr marL="285750" indent="-285750">
              <a:lnSpc>
                <a:spcPct val="100000"/>
              </a:lnSpc>
              <a:spcBef>
                <a:spcPts val="0"/>
              </a:spcBef>
              <a:buSzPts val="3000"/>
            </a:pPr>
            <a:r>
              <a:rPr lang="en-US" sz="1800" dirty="0">
                <a:solidFill>
                  <a:schemeClr val="dk1"/>
                </a:solidFill>
                <a:latin typeface="Atkinson Hyperlegible Next"/>
                <a:ea typeface="Arial"/>
                <a:cs typeface="Arial"/>
                <a:sym typeface="Arial"/>
              </a:rPr>
              <a:t>Small size and lightweight</a:t>
            </a:r>
          </a:p>
          <a:p>
            <a:pPr marL="285750" indent="-285750">
              <a:lnSpc>
                <a:spcPct val="100000"/>
              </a:lnSpc>
              <a:spcBef>
                <a:spcPts val="0"/>
              </a:spcBef>
              <a:buSzPts val="3000"/>
            </a:pPr>
            <a:r>
              <a:rPr lang="en-US" sz="1800" dirty="0">
                <a:latin typeface="Atkinson Hyperlegible Next"/>
                <a:ea typeface="Arial"/>
                <a:cs typeface="Arial"/>
                <a:sym typeface="Arial"/>
              </a:rPr>
              <a:t>Fast response time</a:t>
            </a:r>
          </a:p>
          <a:p>
            <a:pPr marL="285750" indent="-285750">
              <a:lnSpc>
                <a:spcPct val="100000"/>
              </a:lnSpc>
              <a:spcBef>
                <a:spcPts val="0"/>
              </a:spcBef>
              <a:buSzPts val="3000"/>
            </a:pPr>
            <a:r>
              <a:rPr lang="en-US" sz="1800" dirty="0">
                <a:solidFill>
                  <a:schemeClr val="dk1"/>
                </a:solidFill>
                <a:latin typeface="Atkinson Hyperlegible Next"/>
                <a:ea typeface="Arial"/>
                <a:cs typeface="Arial"/>
                <a:sym typeface="Arial"/>
              </a:rPr>
              <a:t>Low power consumption</a:t>
            </a:r>
          </a:p>
          <a:p>
            <a:pPr marL="285750" indent="-285750">
              <a:lnSpc>
                <a:spcPct val="100000"/>
              </a:lnSpc>
              <a:spcBef>
                <a:spcPts val="0"/>
              </a:spcBef>
              <a:buSzPts val="3000"/>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solidFill>
                  <a:schemeClr val="dk1"/>
                </a:solidFill>
                <a:latin typeface="Atkinson Hyperlegible Next"/>
                <a:ea typeface="Arial"/>
                <a:cs typeface="Arial"/>
                <a:sym typeface="Arial"/>
              </a:rPr>
              <a:t>Limitations:</a:t>
            </a:r>
          </a:p>
          <a:p>
            <a:pPr marL="285750" indent="-285750">
              <a:lnSpc>
                <a:spcPct val="100000"/>
              </a:lnSpc>
              <a:spcBef>
                <a:spcPts val="0"/>
              </a:spcBef>
              <a:buSzPts val="3000"/>
            </a:pPr>
            <a:r>
              <a:rPr lang="en-US" sz="1800" dirty="0">
                <a:latin typeface="Atkinson Hyperlegible Next"/>
                <a:ea typeface="Arial"/>
                <a:cs typeface="Arial"/>
                <a:sym typeface="Arial"/>
              </a:rPr>
              <a:t>Performance affected by </a:t>
            </a:r>
            <a:r>
              <a:rPr lang="en-US" sz="1800" b="1" dirty="0">
                <a:latin typeface="Atkinson Hyperlegible Next"/>
                <a:ea typeface="Arial"/>
                <a:cs typeface="Arial"/>
                <a:sym typeface="Arial"/>
              </a:rPr>
              <a:t>surface color and reflectivity</a:t>
            </a:r>
          </a:p>
          <a:p>
            <a:pPr marL="285750" indent="-285750">
              <a:lnSpc>
                <a:spcPct val="100000"/>
              </a:lnSpc>
              <a:spcBef>
                <a:spcPts val="0"/>
              </a:spcBef>
              <a:buSzPts val="3000"/>
            </a:pPr>
            <a:r>
              <a:rPr lang="en-US" sz="1800" dirty="0">
                <a:solidFill>
                  <a:schemeClr val="dk1"/>
                </a:solidFill>
                <a:latin typeface="Atkinson Hyperlegible Next"/>
                <a:ea typeface="Arial"/>
                <a:cs typeface="Arial"/>
                <a:sym typeface="Arial"/>
              </a:rPr>
              <a:t>Limited detection range (signal power disperses at a rate of d</a:t>
            </a:r>
            <a:r>
              <a:rPr lang="en-US" sz="1800" baseline="30000" dirty="0">
                <a:solidFill>
                  <a:schemeClr val="dk1"/>
                </a:solidFill>
                <a:latin typeface="Atkinson Hyperlegible Next"/>
                <a:ea typeface="Arial"/>
                <a:cs typeface="Arial"/>
                <a:sym typeface="Arial"/>
              </a:rPr>
              <a:t>2</a:t>
            </a:r>
            <a:r>
              <a:rPr lang="en-US" sz="1800" dirty="0">
                <a:solidFill>
                  <a:schemeClr val="dk1"/>
                </a:solidFill>
                <a:latin typeface="Atkinson Hyperlegible Next"/>
                <a:ea typeface="Arial"/>
                <a:cs typeface="Arial"/>
                <a:sym typeface="Arial"/>
              </a:rPr>
              <a:t>)</a:t>
            </a:r>
          </a:p>
          <a:p>
            <a:pPr marL="285750" indent="-285750">
              <a:lnSpc>
                <a:spcPct val="100000"/>
              </a:lnSpc>
              <a:spcBef>
                <a:spcPts val="0"/>
              </a:spcBef>
              <a:buSzPts val="3000"/>
            </a:pPr>
            <a:r>
              <a:rPr lang="en-US" sz="1800" dirty="0">
                <a:latin typeface="Atkinson Hyperlegible Next"/>
                <a:ea typeface="Arial"/>
                <a:cs typeface="Arial"/>
                <a:sym typeface="Arial"/>
              </a:rPr>
              <a:t>Sensitive to ambient IR light (sunlight)</a:t>
            </a:r>
          </a:p>
          <a:p>
            <a:pPr marL="285750" indent="-285750">
              <a:lnSpc>
                <a:spcPct val="100000"/>
              </a:lnSpc>
              <a:spcBef>
                <a:spcPts val="0"/>
              </a:spcBef>
              <a:buSzPts val="3000"/>
            </a:pPr>
            <a:r>
              <a:rPr lang="en-US" sz="1800" dirty="0">
                <a:latin typeface="Atkinson Hyperlegible Next"/>
                <a:ea typeface="Arial"/>
                <a:cs typeface="Arial"/>
                <a:sym typeface="Arial"/>
              </a:rPr>
              <a:t>They provide a single point of data, acting like a flashlight beam rather than a wide field of view</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solidFill>
                  <a:schemeClr val="dk1"/>
                </a:solidFill>
                <a:latin typeface="Atkinson Hyperlegible Next"/>
                <a:ea typeface="Arial"/>
                <a:cs typeface="Arial"/>
                <a:sym typeface="Arial"/>
              </a:rPr>
              <a:t>Typical Range:</a:t>
            </a:r>
          </a:p>
          <a:p>
            <a:pPr marL="0" indent="0">
              <a:lnSpc>
                <a:spcPct val="100000"/>
              </a:lnSpc>
              <a:spcBef>
                <a:spcPts val="0"/>
              </a:spcBef>
              <a:buSzPts val="3000"/>
              <a:buNone/>
            </a:pPr>
            <a:r>
              <a:rPr lang="en-US" sz="1800" dirty="0">
                <a:latin typeface="Atkinson Hyperlegible Next"/>
                <a:ea typeface="Arial"/>
                <a:cs typeface="Arial"/>
                <a:sym typeface="Arial"/>
              </a:rPr>
              <a:t>2 to 80 cm</a:t>
            </a:r>
            <a:endParaRPr lang="en-US" sz="1800" dirty="0">
              <a:solidFill>
                <a:schemeClr val="dk1"/>
              </a:solidFill>
              <a:latin typeface="Atkinson Hyperlegible Next"/>
              <a:ea typeface="Arial"/>
              <a:cs typeface="Arial"/>
              <a:sym typeface="Arial"/>
            </a:endParaRPr>
          </a:p>
          <a:p>
            <a:pPr marL="285750" indent="-285750">
              <a:lnSpc>
                <a:spcPct val="100000"/>
              </a:lnSpc>
              <a:spcBef>
                <a:spcPts val="0"/>
              </a:spcBef>
              <a:buSzPts val="3000"/>
            </a:pPr>
            <a:endParaRPr lang="en-US" sz="1800" dirty="0">
              <a:solidFill>
                <a:schemeClr val="dk1"/>
              </a:solidFill>
              <a:latin typeface="Atkinson Hyperlegible Next"/>
              <a:ea typeface="Arial"/>
              <a:cs typeface="Arial"/>
              <a:sym typeface="Arial"/>
            </a:endParaRPr>
          </a:p>
        </p:txBody>
      </p:sp>
      <p:pic>
        <p:nvPicPr>
          <p:cNvPr id="3074" name="Picture 2" descr="Types of Distance Sensors and How to Select One? - Latest News from Seeed  Studio">
            <a:extLst>
              <a:ext uri="{FF2B5EF4-FFF2-40B4-BE49-F238E27FC236}">
                <a16:creationId xmlns:a16="http://schemas.microsoft.com/office/drawing/2014/main" id="{011725C8-59C4-03A3-48F2-633CF75A3A1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818" t="10244" r="11918" b="11273"/>
          <a:stretch>
            <a:fillRect/>
          </a:stretch>
        </p:blipFill>
        <p:spPr bwMode="auto">
          <a:xfrm>
            <a:off x="7373543" y="2014901"/>
            <a:ext cx="4183966" cy="307044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7836389-D6B0-C54D-9A16-005B18C90995}"/>
              </a:ext>
            </a:extLst>
          </p:cNvPr>
          <p:cNvSpPr txBox="1"/>
          <p:nvPr/>
        </p:nvSpPr>
        <p:spPr>
          <a:xfrm>
            <a:off x="7373543" y="5523923"/>
            <a:ext cx="4297194" cy="338554"/>
          </a:xfrm>
          <a:prstGeom prst="rect">
            <a:avLst/>
          </a:prstGeom>
          <a:noFill/>
        </p:spPr>
        <p:txBody>
          <a:bodyPr wrap="square">
            <a:spAutoFit/>
          </a:bodyPr>
          <a:lstStyle/>
          <a:p>
            <a:pPr algn="ctr"/>
            <a:r>
              <a:rPr lang="en-US" sz="800" dirty="0">
                <a:hlinkClick r:id="rId5"/>
              </a:rPr>
              <a:t>https://www.seeedstudio.com/blog/2019/12/23/distance-sensors-types-and-selection-guide/?srsltid=AfmBOoqqTzG5IXwUkxoz5_Zqd1hbp99oPKSt_J4rwNNXKZuSm4sWI-MF</a:t>
            </a:r>
            <a:r>
              <a:rPr lang="en-US" sz="800" dirty="0"/>
              <a:t> </a:t>
            </a:r>
          </a:p>
        </p:txBody>
      </p:sp>
    </p:spTree>
    <p:extLst>
      <p:ext uri="{BB962C8B-B14F-4D97-AF65-F5344CB8AC3E}">
        <p14:creationId xmlns:p14="http://schemas.microsoft.com/office/powerpoint/2010/main" val="35622102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8F00432-D749-0287-4427-280F2EEFF708}"/>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EB87C7C3-634F-6EC1-7CE0-F6C36935B99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892B4866-12D7-3816-D2DA-964DAE3DBA1E}"/>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IR Sensor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BD1386E5-184B-69CA-EBE2-D496F46BD81E}"/>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10EBD00-6A2C-AE12-AB59-1ACE0CA5DEE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F5787AE8-F232-B9A1-2078-EFA948B6AD1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BED872F-377A-A3E4-EDBA-7B6FF3B78928}"/>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EE1E935B-F14A-2AFE-73DF-4166855BD81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BBF4C9B-73A4-D8CA-D3C3-9FF35F8D8739}"/>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mc:AlternateContent xmlns:mc="http://schemas.openxmlformats.org/markup-compatibility/2006" xmlns:a14="http://schemas.microsoft.com/office/drawing/2010/main">
        <mc:Choice Requires="a14">
          <p:sp>
            <p:nvSpPr>
              <p:cNvPr id="23" name="Google Shape;118;p29">
                <a:extLst>
                  <a:ext uri="{FF2B5EF4-FFF2-40B4-BE49-F238E27FC236}">
                    <a16:creationId xmlns:a16="http://schemas.microsoft.com/office/drawing/2014/main" id="{A10A2C47-C3AA-BE0C-0E30-875DEB6788ED}"/>
                  </a:ext>
                </a:extLst>
              </p:cNvPr>
              <p:cNvSpPr txBox="1">
                <a:spLocks noGrp="1"/>
              </p:cNvSpPr>
              <p:nvPr>
                <p:ph type="body" idx="1"/>
              </p:nvPr>
            </p:nvSpPr>
            <p:spPr>
              <a:xfrm>
                <a:off x="376810" y="1334279"/>
                <a:ext cx="11432202"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1800" dirty="0">
                    <a:solidFill>
                      <a:schemeClr val="dk1"/>
                    </a:solidFill>
                    <a:latin typeface="Atkinson Hyperlegible Next"/>
                    <a:ea typeface="Arial"/>
                    <a:cs typeface="Arial"/>
                    <a:sym typeface="Arial"/>
                  </a:rPr>
                  <a:t>Why do these light signals not do very well in long ranges? Why do we need more powerful LEDs to be able to see further?</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solidFill>
                      <a:schemeClr val="dk1"/>
                    </a:solidFill>
                    <a:latin typeface="Atkinson Hyperlegible Next"/>
                    <a:ea typeface="Arial"/>
                    <a:cs typeface="Arial"/>
                    <a:sym typeface="Arial"/>
                  </a:rPr>
                  <a:t>Signal dissipation!</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solidFill>
                      <a:schemeClr val="dk1"/>
                    </a:solidFill>
                    <a:latin typeface="Atkinson Hyperlegible Next"/>
                    <a:ea typeface="Arial"/>
                    <a:cs typeface="Arial"/>
                    <a:sym typeface="Arial"/>
                  </a:rPr>
                  <a:t>When an IR LED emits light, the energy spreads out in </a:t>
                </a:r>
                <a:r>
                  <a:rPr lang="en-US" sz="1800" b="1" dirty="0">
                    <a:solidFill>
                      <a:schemeClr val="dk1"/>
                    </a:solidFill>
                    <a:latin typeface="Atkinson Hyperlegible Next"/>
                    <a:ea typeface="Arial"/>
                    <a:cs typeface="Arial"/>
                    <a:sym typeface="Arial"/>
                  </a:rPr>
                  <a:t>all directions</a:t>
                </a:r>
                <a:r>
                  <a:rPr lang="en-US" sz="1800" dirty="0">
                    <a:solidFill>
                      <a:schemeClr val="dk1"/>
                    </a:solidFill>
                    <a:latin typeface="Atkinson Hyperlegible Next"/>
                    <a:ea typeface="Arial"/>
                    <a:cs typeface="Arial"/>
                    <a:sym typeface="Arial"/>
                  </a:rPr>
                  <a:t>!</a:t>
                </a:r>
              </a:p>
              <a:p>
                <a:pPr marL="0" indent="0">
                  <a:lnSpc>
                    <a:spcPct val="100000"/>
                  </a:lnSpc>
                  <a:spcBef>
                    <a:spcPts val="0"/>
                  </a:spcBef>
                  <a:buSzPts val="3000"/>
                  <a:buNone/>
                </a:pPr>
                <a:r>
                  <a:rPr lang="en-US" sz="1800" dirty="0">
                    <a:latin typeface="Atkinson Hyperlegible Next"/>
                    <a:ea typeface="Arial"/>
                    <a:cs typeface="Arial"/>
                    <a:sym typeface="Arial"/>
                  </a:rPr>
                  <a:t>As distance increases, the same energy covers a </a:t>
                </a:r>
                <a:r>
                  <a:rPr lang="en-US" sz="1800" b="1" dirty="0">
                    <a:latin typeface="Atkinson Hyperlegible Next"/>
                    <a:ea typeface="Arial"/>
                    <a:cs typeface="Arial"/>
                    <a:sym typeface="Arial"/>
                  </a:rPr>
                  <a:t>larger surface area</a:t>
                </a:r>
                <a:r>
                  <a:rPr lang="en-US" sz="1800" dirty="0">
                    <a:latin typeface="Atkinson Hyperlegible Next"/>
                    <a:ea typeface="Arial"/>
                    <a:cs typeface="Arial"/>
                    <a:sym typeface="Arial"/>
                  </a:rPr>
                  <a:t>!</a:t>
                </a:r>
                <a:endParaRPr lang="en-US" sz="1800" dirty="0">
                  <a:solidFill>
                    <a:schemeClr val="dk1"/>
                  </a:solidFill>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Therefore, the signal intensity </a:t>
                </a:r>
                <a:r>
                  <a:rPr lang="en-US" sz="1800" b="1" dirty="0">
                    <a:latin typeface="Atkinson Hyperlegible Next"/>
                    <a:ea typeface="Arial"/>
                    <a:cs typeface="Arial"/>
                    <a:sym typeface="Arial"/>
                  </a:rPr>
                  <a:t>decreases with distance</a:t>
                </a:r>
                <a:r>
                  <a:rPr lang="en-US" sz="1800" dirty="0">
                    <a:latin typeface="Atkinson Hyperlegible Next"/>
                    <a:ea typeface="Arial"/>
                    <a:cs typeface="Arial"/>
                    <a:sym typeface="Arial"/>
                  </a:rPr>
                  <a:t>.</a:t>
                </a:r>
              </a:p>
              <a:p>
                <a:pPr marL="0" indent="0">
                  <a:lnSpc>
                    <a:spcPct val="100000"/>
                  </a:lnSpc>
                  <a:spcBef>
                    <a:spcPts val="0"/>
                  </a:spcBef>
                  <a:buSzPts val="3000"/>
                  <a:buNone/>
                </a:pPr>
                <a:endParaRPr lang="en-US" sz="1800" dirty="0">
                  <a:solidFill>
                    <a:schemeClr val="dk1"/>
                  </a:solidFill>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This relationship is called the </a:t>
                </a:r>
                <a:r>
                  <a:rPr lang="en-US" sz="1800" b="1" dirty="0">
                    <a:latin typeface="Atkinson Hyperlegible Next"/>
                    <a:ea typeface="Arial"/>
                    <a:cs typeface="Arial"/>
                    <a:sym typeface="Arial"/>
                  </a:rPr>
                  <a:t>Inverse Square Law</a:t>
                </a:r>
              </a:p>
              <a:p>
                <a:pPr marL="0" indent="0">
                  <a:lnSpc>
                    <a:spcPct val="100000"/>
                  </a:lnSpc>
                  <a:spcBef>
                    <a:spcPts val="0"/>
                  </a:spcBef>
                  <a:buSzPts val="3000"/>
                  <a:buNone/>
                </a:pPr>
                <a:endParaRPr lang="en-US" sz="1800" b="1" dirty="0">
                  <a:solidFill>
                    <a:schemeClr val="dk1"/>
                  </a:solidFill>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m:rPr>
                          <m:sty m:val="p"/>
                        </m:rPr>
                        <a:rPr lang="en-US" sz="1800" b="0" i="1" smtClean="0">
                          <a:solidFill>
                            <a:schemeClr val="dk1"/>
                          </a:solidFill>
                          <a:latin typeface="Cambria Math" panose="02040503050406030204" pitchFamily="18" charset="0"/>
                          <a:ea typeface="Arial"/>
                          <a:cs typeface="Arial"/>
                          <a:sym typeface="Arial"/>
                        </a:rPr>
                        <m:t>I</m:t>
                      </m:r>
                      <m:r>
                        <a:rPr lang="en-US" sz="1800" b="0" i="1" smtClean="0">
                          <a:solidFill>
                            <a:schemeClr val="dk1"/>
                          </a:solidFill>
                          <a:latin typeface="Cambria Math" panose="02040503050406030204" pitchFamily="18" charset="0"/>
                          <a:ea typeface="Arial"/>
                          <a:cs typeface="Arial"/>
                          <a:sym typeface="Arial"/>
                        </a:rPr>
                        <m:t> ∝</m:t>
                      </m:r>
                      <m:f>
                        <m:fPr>
                          <m:ctrlPr>
                            <a:rPr lang="en-US" sz="1800" b="0" i="1" smtClean="0">
                              <a:solidFill>
                                <a:schemeClr val="dk1"/>
                              </a:solidFill>
                              <a:latin typeface="Cambria Math" panose="02040503050406030204" pitchFamily="18" charset="0"/>
                              <a:ea typeface="Cambria Math" panose="02040503050406030204" pitchFamily="18" charset="0"/>
                              <a:cs typeface="Arial"/>
                              <a:sym typeface="Arial"/>
                            </a:rPr>
                          </m:ctrlPr>
                        </m:fPr>
                        <m:num>
                          <m:r>
                            <a:rPr lang="en-US" sz="1800" b="0" i="1" smtClean="0">
                              <a:solidFill>
                                <a:schemeClr val="dk1"/>
                              </a:solidFill>
                              <a:latin typeface="Cambria Math" panose="02040503050406030204" pitchFamily="18" charset="0"/>
                              <a:ea typeface="Cambria Math" panose="02040503050406030204" pitchFamily="18" charset="0"/>
                              <a:cs typeface="Arial"/>
                              <a:sym typeface="Arial"/>
                            </a:rPr>
                            <m:t>1</m:t>
                          </m:r>
                        </m:num>
                        <m:den>
                          <m:sSup>
                            <m:sSupPr>
                              <m:ctrlPr>
                                <a:rPr lang="en-US" sz="1800" b="0" i="1" smtClean="0">
                                  <a:solidFill>
                                    <a:schemeClr val="dk1"/>
                                  </a:solidFill>
                                  <a:latin typeface="Cambria Math" panose="02040503050406030204" pitchFamily="18" charset="0"/>
                                  <a:ea typeface="Cambria Math" panose="02040503050406030204" pitchFamily="18" charset="0"/>
                                  <a:cs typeface="Arial"/>
                                  <a:sym typeface="Arial"/>
                                </a:rPr>
                              </m:ctrlPr>
                            </m:sSupPr>
                            <m:e>
                              <m:r>
                                <m:rPr>
                                  <m:sty m:val="p"/>
                                </m:rPr>
                                <a:rPr lang="en-US" sz="1800" b="0" i="1" smtClean="0">
                                  <a:solidFill>
                                    <a:schemeClr val="dk1"/>
                                  </a:solidFill>
                                  <a:latin typeface="Cambria Math" panose="02040503050406030204" pitchFamily="18" charset="0"/>
                                  <a:ea typeface="Cambria Math" panose="02040503050406030204" pitchFamily="18" charset="0"/>
                                  <a:cs typeface="Arial"/>
                                  <a:sym typeface="Arial"/>
                                </a:rPr>
                                <m:t>r</m:t>
                              </m:r>
                            </m:e>
                            <m:sup>
                              <m:r>
                                <a:rPr lang="en-US" sz="1800" b="0" i="1" smtClean="0">
                                  <a:solidFill>
                                    <a:schemeClr val="dk1"/>
                                  </a:solidFill>
                                  <a:latin typeface="Cambria Math" panose="02040503050406030204" pitchFamily="18" charset="0"/>
                                  <a:ea typeface="Cambria Math" panose="02040503050406030204" pitchFamily="18" charset="0"/>
                                  <a:cs typeface="Arial"/>
                                  <a:sym typeface="Arial"/>
                                </a:rPr>
                                <m:t>2</m:t>
                              </m:r>
                            </m:sup>
                          </m:sSup>
                        </m:den>
                      </m:f>
                    </m:oMath>
                  </m:oMathPara>
                </a14:m>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solidFill>
                      <a:schemeClr val="dk1"/>
                    </a:solidFill>
                    <a:latin typeface="Atkinson Hyperlegible Next"/>
                    <a:ea typeface="Arial"/>
                    <a:cs typeface="Arial"/>
                    <a:sym typeface="Arial"/>
                  </a:rPr>
                  <a:t>Where</a:t>
                </a:r>
                <a:r>
                  <a:rPr lang="en-US" sz="1800" dirty="0">
                    <a:latin typeface="Atkinson Hyperlegible Next"/>
                    <a:ea typeface="Arial"/>
                    <a:cs typeface="Arial"/>
                    <a:sym typeface="Arial"/>
                  </a:rPr>
                  <a:t>:</a:t>
                </a:r>
              </a:p>
              <a:p>
                <a:pPr marL="285750" indent="-285750">
                  <a:lnSpc>
                    <a:spcPct val="100000"/>
                  </a:lnSpc>
                  <a:spcBef>
                    <a:spcPts val="0"/>
                  </a:spcBef>
                  <a:buSzPts val="3000"/>
                </a:pPr>
                <a14:m>
                  <m:oMath xmlns:m="http://schemas.openxmlformats.org/officeDocument/2006/math">
                    <m:r>
                      <m:rPr>
                        <m:sty m:val="p"/>
                      </m:rPr>
                      <a:rPr lang="en-US" sz="1800" i="1">
                        <a:latin typeface="Cambria Math" panose="02040503050406030204" pitchFamily="18" charset="0"/>
                        <a:ea typeface="Arial"/>
                        <a:cs typeface="Arial"/>
                        <a:sym typeface="Arial"/>
                      </a:rPr>
                      <m:t>I</m:t>
                    </m:r>
                  </m:oMath>
                </a14:m>
                <a:r>
                  <a:rPr lang="en-US" sz="1800" dirty="0">
                    <a:solidFill>
                      <a:schemeClr val="dk1"/>
                    </a:solidFill>
                    <a:latin typeface="Atkinson Hyperlegible Next"/>
                    <a:ea typeface="Arial"/>
                    <a:cs typeface="Arial"/>
                    <a:sym typeface="Arial"/>
                  </a:rPr>
                  <a:t> = signal intensity</a:t>
                </a:r>
              </a:p>
              <a:p>
                <a:pPr marL="285750" indent="-285750">
                  <a:lnSpc>
                    <a:spcPct val="100000"/>
                  </a:lnSpc>
                  <a:spcBef>
                    <a:spcPts val="0"/>
                  </a:spcBef>
                  <a:buSzPts val="3000"/>
                </a:pPr>
                <a14:m>
                  <m:oMath xmlns:m="http://schemas.openxmlformats.org/officeDocument/2006/math">
                    <m:r>
                      <m:rPr>
                        <m:sty m:val="p"/>
                      </m:rPr>
                      <a:rPr lang="en-US" sz="1800" b="0" i="1" smtClean="0">
                        <a:solidFill>
                          <a:schemeClr val="dk1"/>
                        </a:solidFill>
                        <a:latin typeface="Cambria Math" panose="02040503050406030204" pitchFamily="18" charset="0"/>
                        <a:ea typeface="Arial"/>
                        <a:cs typeface="Arial"/>
                        <a:sym typeface="Arial"/>
                      </a:rPr>
                      <m:t>r</m:t>
                    </m:r>
                  </m:oMath>
                </a14:m>
                <a:r>
                  <a:rPr lang="en-US" sz="1800" dirty="0">
                    <a:solidFill>
                      <a:schemeClr val="dk1"/>
                    </a:solidFill>
                    <a:latin typeface="Atkinson Hyperlegible Next"/>
                    <a:ea typeface="Arial"/>
                    <a:cs typeface="Arial"/>
                    <a:sym typeface="Arial"/>
                  </a:rPr>
                  <a:t> = distance traveled from the source</a:t>
                </a:r>
              </a:p>
            </p:txBody>
          </p:sp>
        </mc:Choice>
        <mc:Fallback xmlns="">
          <p:sp>
            <p:nvSpPr>
              <p:cNvPr id="23" name="Google Shape;118;p29">
                <a:extLst>
                  <a:ext uri="{FF2B5EF4-FFF2-40B4-BE49-F238E27FC236}">
                    <a16:creationId xmlns:a16="http://schemas.microsoft.com/office/drawing/2014/main" id="{A10A2C47-C3AA-BE0C-0E30-875DEB6788ED}"/>
                  </a:ext>
                </a:extLst>
              </p:cNvPr>
              <p:cNvSpPr txBox="1">
                <a:spLocks noGrp="1" noRot="1" noChangeAspect="1" noMove="1" noResize="1" noEditPoints="1" noAdjustHandles="1" noChangeArrowheads="1" noChangeShapeType="1" noTextEdit="1"/>
              </p:cNvSpPr>
              <p:nvPr>
                <p:ph type="body" idx="1"/>
              </p:nvPr>
            </p:nvSpPr>
            <p:spPr>
              <a:xfrm>
                <a:off x="376810" y="1334279"/>
                <a:ext cx="11432202" cy="4821102"/>
              </a:xfrm>
              <a:prstGeom prst="rect">
                <a:avLst/>
              </a:prstGeom>
              <a:blipFill>
                <a:blip r:embed="rId4"/>
                <a:stretch>
                  <a:fillRect l="-1120" t="-759" r="-160"/>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089732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xEl>
                                              <p:pRg st="4" end="4"/>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xEl>
                                              <p:pRg st="5" end="5"/>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3">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26BD8AE-85EF-D2FE-840C-78973F45D01D}"/>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80DEBD78-7099-E062-D840-B422970384A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2089EE9-0198-3D87-4577-9D023B9D921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IR Sensor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58588C3A-C6F7-0329-CFDD-3B02ECF7DA0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33FD8C4-8A77-5A76-77B8-5693712D9A0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D2DA19D-D335-56B9-C01B-E81323ECA16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903921FC-6D9F-3E68-2936-3EA5AE5830E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C5F280E-9941-E479-9A6F-8D05BE5DF0B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A2FC93E-8AF9-0BD4-B701-E6A2E5FFD311}"/>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mc:AlternateContent xmlns:mc="http://schemas.openxmlformats.org/markup-compatibility/2006" xmlns:a14="http://schemas.microsoft.com/office/drawing/2010/main">
        <mc:Choice Requires="a14">
          <p:sp>
            <p:nvSpPr>
              <p:cNvPr id="23" name="Google Shape;118;p29">
                <a:extLst>
                  <a:ext uri="{FF2B5EF4-FFF2-40B4-BE49-F238E27FC236}">
                    <a16:creationId xmlns:a16="http://schemas.microsoft.com/office/drawing/2014/main" id="{86437BE4-C88A-1B5F-7481-5014FC3F0006}"/>
                  </a:ext>
                </a:extLst>
              </p:cNvPr>
              <p:cNvSpPr txBox="1">
                <a:spLocks noGrp="1"/>
              </p:cNvSpPr>
              <p:nvPr>
                <p:ph type="body" idx="1"/>
              </p:nvPr>
            </p:nvSpPr>
            <p:spPr>
              <a:xfrm>
                <a:off x="376809" y="1334279"/>
                <a:ext cx="4297977"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1800" dirty="0">
                    <a:solidFill>
                      <a:schemeClr val="dk1"/>
                    </a:solidFill>
                    <a:latin typeface="Atkinson Hyperlegible Next"/>
                    <a:ea typeface="Arial"/>
                    <a:cs typeface="Arial"/>
                    <a:sym typeface="Arial"/>
                  </a:rPr>
                  <a:t>However, these IR type distance sensing is worse than </a:t>
                </a:r>
                <a14:m>
                  <m:oMath xmlns:m="http://schemas.openxmlformats.org/officeDocument/2006/math">
                    <m:f>
                      <m:fPr>
                        <m:ctrlPr>
                          <a:rPr lang="en-US" sz="1800" i="1">
                            <a:latin typeface="Cambria Math" panose="02040503050406030204" pitchFamily="18" charset="0"/>
                            <a:ea typeface="Cambria Math" panose="02040503050406030204" pitchFamily="18" charset="0"/>
                            <a:cs typeface="Arial"/>
                            <a:sym typeface="Arial"/>
                          </a:rPr>
                        </m:ctrlPr>
                      </m:fPr>
                      <m:num>
                        <m:r>
                          <a:rPr lang="en-US" sz="1800" i="1">
                            <a:latin typeface="Cambria Math" panose="02040503050406030204" pitchFamily="18" charset="0"/>
                            <a:ea typeface="Cambria Math" panose="02040503050406030204" pitchFamily="18" charset="0"/>
                            <a:cs typeface="Arial"/>
                            <a:sym typeface="Arial"/>
                          </a:rPr>
                          <m:t>1</m:t>
                        </m:r>
                      </m:num>
                      <m:den>
                        <m:sSup>
                          <m:sSupPr>
                            <m:ctrlPr>
                              <a:rPr lang="en-US" sz="1800" i="1">
                                <a:latin typeface="Cambria Math" panose="02040503050406030204" pitchFamily="18" charset="0"/>
                                <a:ea typeface="Cambria Math" panose="02040503050406030204" pitchFamily="18" charset="0"/>
                                <a:cs typeface="Arial"/>
                                <a:sym typeface="Arial"/>
                              </a:rPr>
                            </m:ctrlPr>
                          </m:sSupPr>
                          <m:e>
                            <m:r>
                              <m:rPr>
                                <m:sty m:val="p"/>
                              </m:rPr>
                              <a:rPr lang="en-US" sz="1800" i="1">
                                <a:latin typeface="Cambria Math" panose="02040503050406030204" pitchFamily="18" charset="0"/>
                                <a:ea typeface="Cambria Math" panose="02040503050406030204" pitchFamily="18" charset="0"/>
                                <a:cs typeface="Arial"/>
                                <a:sym typeface="Arial"/>
                              </a:rPr>
                              <m:t>r</m:t>
                            </m:r>
                          </m:e>
                          <m:sup>
                            <m:r>
                              <a:rPr lang="en-US" sz="1800" i="1">
                                <a:latin typeface="Cambria Math" panose="02040503050406030204" pitchFamily="18" charset="0"/>
                                <a:ea typeface="Cambria Math" panose="02040503050406030204" pitchFamily="18" charset="0"/>
                                <a:cs typeface="Arial"/>
                                <a:sym typeface="Arial"/>
                              </a:rPr>
                              <m:t>2</m:t>
                            </m:r>
                          </m:sup>
                        </m:sSup>
                      </m:den>
                    </m:f>
                  </m:oMath>
                </a14:m>
                <a:r>
                  <a:rPr lang="en-US" sz="1800" dirty="0">
                    <a:solidFill>
                      <a:schemeClr val="dk1"/>
                    </a:solidFill>
                    <a:latin typeface="Atkinson Hyperlegible Next"/>
                    <a:ea typeface="Arial"/>
                    <a:cs typeface="Arial"/>
                    <a:sym typeface="Arial"/>
                  </a:rPr>
                  <a:t>!</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solidFill>
                      <a:schemeClr val="dk1"/>
                    </a:solidFill>
                    <a:latin typeface="Atkinson Hyperlegible Next"/>
                    <a:ea typeface="Arial"/>
                    <a:cs typeface="Arial"/>
                    <a:sym typeface="Arial"/>
                  </a:rPr>
                  <a:t>Because the signal travels </a:t>
                </a:r>
                <a:r>
                  <a:rPr lang="en-US" sz="1800" dirty="0">
                    <a:latin typeface="Atkinson Hyperlegible Next"/>
                    <a:ea typeface="Arial"/>
                    <a:cs typeface="Arial"/>
                    <a:sym typeface="Arial"/>
                  </a:rPr>
                  <a:t>2 paths:</a:t>
                </a:r>
              </a:p>
              <a:p>
                <a:pPr marL="285750" indent="-285750">
                  <a:lnSpc>
                    <a:spcPct val="100000"/>
                  </a:lnSpc>
                  <a:spcBef>
                    <a:spcPts val="0"/>
                  </a:spcBef>
                  <a:buSzPts val="3000"/>
                </a:pPr>
                <a:r>
                  <a:rPr lang="en-US" sz="1800" dirty="0">
                    <a:solidFill>
                      <a:schemeClr val="dk1"/>
                    </a:solidFill>
                    <a:latin typeface="Atkinson Hyperlegible Next"/>
                    <a:ea typeface="Arial"/>
                    <a:cs typeface="Arial"/>
                    <a:sym typeface="Arial"/>
                  </a:rPr>
                  <a:t>Emitter </a:t>
                </a:r>
                <a:r>
                  <a:rPr lang="en-US" sz="1800" dirty="0">
                    <a:latin typeface="Atkinson Hyperlegible Next"/>
                    <a:ea typeface="Arial"/>
                    <a:cs typeface="Arial"/>
                    <a:sym typeface="Arial"/>
                  </a:rPr>
                  <a:t>to Object</a:t>
                </a:r>
              </a:p>
              <a:p>
                <a:pPr marL="285750" indent="-285750">
                  <a:lnSpc>
                    <a:spcPct val="100000"/>
                  </a:lnSpc>
                  <a:spcBef>
                    <a:spcPts val="0"/>
                  </a:spcBef>
                  <a:buSzPts val="3000"/>
                </a:pPr>
                <a:r>
                  <a:rPr lang="en-US" sz="1800" dirty="0">
                    <a:solidFill>
                      <a:schemeClr val="dk1"/>
                    </a:solidFill>
                    <a:latin typeface="Atkinson Hyperlegible Next"/>
                    <a:ea typeface="Arial"/>
                    <a:cs typeface="Arial"/>
                    <a:sym typeface="Arial"/>
                  </a:rPr>
                  <a:t>Object to Receiver</a:t>
                </a:r>
              </a:p>
              <a:p>
                <a:pPr marL="285750" indent="-285750">
                  <a:lnSpc>
                    <a:spcPct val="100000"/>
                  </a:lnSpc>
                  <a:spcBef>
                    <a:spcPts val="0"/>
                  </a:spcBef>
                  <a:buSzPts val="3000"/>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solidFill>
                      <a:schemeClr val="dk1"/>
                    </a:solidFill>
                    <a:latin typeface="Atkinson Hyperlegible Next"/>
                    <a:ea typeface="Arial"/>
                    <a:cs typeface="Arial"/>
                    <a:sym typeface="Arial"/>
                  </a:rPr>
                  <a:t>So, the returned signal is roughly:</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m:rPr>
                          <m:sty m:val="p"/>
                        </m:rPr>
                        <a:rPr lang="en-US" sz="1800" b="0" i="1" smtClean="0">
                          <a:latin typeface="Cambria Math" panose="02040503050406030204" pitchFamily="18" charset="0"/>
                          <a:ea typeface="Cambria Math" panose="02040503050406030204" pitchFamily="18" charset="0"/>
                          <a:cs typeface="Arial"/>
                          <a:sym typeface="Arial"/>
                        </a:rPr>
                        <m:t>Received</m:t>
                      </m:r>
                      <m:r>
                        <a:rPr lang="en-US" sz="1800" b="0" i="1" smtClean="0">
                          <a:latin typeface="Cambria Math" panose="02040503050406030204" pitchFamily="18" charset="0"/>
                          <a:ea typeface="Cambria Math" panose="02040503050406030204" pitchFamily="18" charset="0"/>
                          <a:cs typeface="Arial"/>
                          <a:sym typeface="Arial"/>
                        </a:rPr>
                        <m:t> </m:t>
                      </m:r>
                      <m:r>
                        <m:rPr>
                          <m:sty m:val="p"/>
                        </m:rPr>
                        <a:rPr lang="en-US" sz="1800" b="0" i="1" smtClean="0">
                          <a:latin typeface="Cambria Math" panose="02040503050406030204" pitchFamily="18" charset="0"/>
                          <a:ea typeface="Cambria Math" panose="02040503050406030204" pitchFamily="18" charset="0"/>
                          <a:cs typeface="Arial"/>
                          <a:sym typeface="Arial"/>
                        </a:rPr>
                        <m:t>Signal</m:t>
                      </m:r>
                      <m:r>
                        <a:rPr lang="en-US" sz="1800" b="0" i="1" smtClean="0">
                          <a:latin typeface="Cambria Math" panose="02040503050406030204" pitchFamily="18" charset="0"/>
                          <a:ea typeface="Cambria Math" panose="02040503050406030204" pitchFamily="18" charset="0"/>
                          <a:cs typeface="Arial"/>
                          <a:sym typeface="Arial"/>
                        </a:rPr>
                        <m:t> ∝</m:t>
                      </m:r>
                      <m:f>
                        <m:fPr>
                          <m:ctrlPr>
                            <a:rPr lang="en-US" sz="1800" i="1">
                              <a:latin typeface="Cambria Math" panose="02040503050406030204" pitchFamily="18" charset="0"/>
                              <a:ea typeface="Cambria Math" panose="02040503050406030204" pitchFamily="18" charset="0"/>
                              <a:cs typeface="Arial"/>
                              <a:sym typeface="Arial"/>
                            </a:rPr>
                          </m:ctrlPr>
                        </m:fPr>
                        <m:num>
                          <m:r>
                            <a:rPr lang="en-US" sz="1800" i="1">
                              <a:latin typeface="Cambria Math" panose="02040503050406030204" pitchFamily="18" charset="0"/>
                              <a:ea typeface="Cambria Math" panose="02040503050406030204" pitchFamily="18" charset="0"/>
                              <a:cs typeface="Arial"/>
                              <a:sym typeface="Arial"/>
                            </a:rPr>
                            <m:t>1</m:t>
                          </m:r>
                        </m:num>
                        <m:den>
                          <m:sSup>
                            <m:sSupPr>
                              <m:ctrlPr>
                                <a:rPr lang="en-US" sz="1800" i="1">
                                  <a:latin typeface="Cambria Math" panose="02040503050406030204" pitchFamily="18" charset="0"/>
                                  <a:ea typeface="Cambria Math" panose="02040503050406030204" pitchFamily="18" charset="0"/>
                                  <a:cs typeface="Arial"/>
                                  <a:sym typeface="Arial"/>
                                </a:rPr>
                              </m:ctrlPr>
                            </m:sSupPr>
                            <m:e>
                              <m:r>
                                <m:rPr>
                                  <m:sty m:val="p"/>
                                </m:rPr>
                                <a:rPr lang="en-US" sz="1800" i="1">
                                  <a:latin typeface="Cambria Math" panose="02040503050406030204" pitchFamily="18" charset="0"/>
                                  <a:ea typeface="Cambria Math" panose="02040503050406030204" pitchFamily="18" charset="0"/>
                                  <a:cs typeface="Arial"/>
                                  <a:sym typeface="Arial"/>
                                </a:rPr>
                                <m:t>r</m:t>
                              </m:r>
                            </m:e>
                            <m:sup>
                              <m:r>
                                <a:rPr lang="en-US" sz="1800" b="0" i="1" smtClean="0">
                                  <a:latin typeface="Cambria Math" panose="02040503050406030204" pitchFamily="18" charset="0"/>
                                  <a:ea typeface="Cambria Math" panose="02040503050406030204" pitchFamily="18" charset="0"/>
                                  <a:cs typeface="Arial"/>
                                  <a:sym typeface="Arial"/>
                                </a:rPr>
                                <m:t>4</m:t>
                              </m:r>
                            </m:sup>
                          </m:sSup>
                        </m:den>
                      </m:f>
                    </m:oMath>
                  </m:oMathPara>
                </a14:m>
                <a:endParaRPr lang="en-US" sz="1800" dirty="0">
                  <a:solidFill>
                    <a:schemeClr val="dk1"/>
                  </a:solidFill>
                  <a:latin typeface="Atkinson Hyperlegible Next"/>
                  <a:ea typeface="Arial"/>
                  <a:cs typeface="Arial"/>
                  <a:sym typeface="Arial"/>
                </a:endParaRP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solidFill>
                      <a:schemeClr val="dk1"/>
                    </a:solidFill>
                    <a:latin typeface="Atkinson Hyperlegible Next"/>
                    <a:ea typeface="Arial"/>
                    <a:cs typeface="Arial"/>
                    <a:sym typeface="Arial"/>
                  </a:rPr>
                  <a:t>So, to see very far and be able to remove noise you need an extremely powerful LED!</a:t>
                </a:r>
              </a:p>
              <a:p>
                <a:pPr marL="0" indent="0">
                  <a:lnSpc>
                    <a:spcPct val="100000"/>
                  </a:lnSpc>
                  <a:spcBef>
                    <a:spcPts val="0"/>
                  </a:spcBef>
                  <a:buSzPts val="3000"/>
                  <a:buNone/>
                </a:pPr>
                <a:r>
                  <a:rPr lang="en-US" sz="1800" dirty="0">
                    <a:solidFill>
                      <a:schemeClr val="dk1"/>
                    </a:solidFill>
                    <a:latin typeface="Atkinson Hyperlegible Next"/>
                    <a:ea typeface="Arial"/>
                    <a:cs typeface="Arial"/>
                    <a:sym typeface="Arial"/>
                  </a:rPr>
                  <a:t>Same goes for most active sensors such as Radar / Sonar / LiDAR!</a:t>
                </a:r>
              </a:p>
            </p:txBody>
          </p:sp>
        </mc:Choice>
        <mc:Fallback xmlns="">
          <p:sp>
            <p:nvSpPr>
              <p:cNvPr id="23" name="Google Shape;118;p29">
                <a:extLst>
                  <a:ext uri="{FF2B5EF4-FFF2-40B4-BE49-F238E27FC236}">
                    <a16:creationId xmlns:a16="http://schemas.microsoft.com/office/drawing/2014/main" id="{86437BE4-C88A-1B5F-7481-5014FC3F0006}"/>
                  </a:ext>
                </a:extLst>
              </p:cNvPr>
              <p:cNvSpPr txBox="1">
                <a:spLocks noGrp="1" noRot="1" noChangeAspect="1" noMove="1" noResize="1" noEditPoints="1" noAdjustHandles="1" noChangeArrowheads="1" noChangeShapeType="1" noTextEdit="1"/>
              </p:cNvSpPr>
              <p:nvPr>
                <p:ph type="body" idx="1"/>
              </p:nvPr>
            </p:nvSpPr>
            <p:spPr>
              <a:xfrm>
                <a:off x="376809" y="1334279"/>
                <a:ext cx="4297977" cy="4821102"/>
              </a:xfrm>
              <a:prstGeom prst="rect">
                <a:avLst/>
              </a:prstGeom>
              <a:blipFill>
                <a:blip r:embed="rId4"/>
                <a:stretch>
                  <a:fillRect l="-2979" t="-759" r="-2411" b="-2276"/>
                </a:stretch>
              </a:blipFill>
              <a:ln>
                <a:noFill/>
              </a:ln>
            </p:spPr>
            <p:txBody>
              <a:bodyPr/>
              <a:lstStyle/>
              <a:p>
                <a:r>
                  <a:rPr lang="en-US">
                    <a:noFill/>
                  </a:rPr>
                  <a:t> </a:t>
                </a:r>
              </a:p>
            </p:txBody>
          </p:sp>
        </mc:Fallback>
      </mc:AlternateContent>
      <p:pic>
        <p:nvPicPr>
          <p:cNvPr id="4098" name="Picture 2">
            <a:extLst>
              <a:ext uri="{FF2B5EF4-FFF2-40B4-BE49-F238E27FC236}">
                <a16:creationId xmlns:a16="http://schemas.microsoft.com/office/drawing/2014/main" id="{6EE6CDDF-E069-0316-A6F0-FE9CA974864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74787" y="1196718"/>
            <a:ext cx="7134225" cy="499916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6A95439-9464-0C8F-EB1B-3F7BDB8C5A9C}"/>
              </a:ext>
            </a:extLst>
          </p:cNvPr>
          <p:cNvSpPr txBox="1"/>
          <p:nvPr/>
        </p:nvSpPr>
        <p:spPr>
          <a:xfrm>
            <a:off x="5713012" y="6170498"/>
            <a:ext cx="6096000" cy="261610"/>
          </a:xfrm>
          <a:prstGeom prst="rect">
            <a:avLst/>
          </a:prstGeom>
          <a:noFill/>
        </p:spPr>
        <p:txBody>
          <a:bodyPr wrap="square">
            <a:spAutoFit/>
          </a:bodyPr>
          <a:lstStyle/>
          <a:p>
            <a:r>
              <a:rPr lang="en-US" sz="1050" dirty="0">
                <a:hlinkClick r:id="rId6"/>
              </a:rPr>
              <a:t>https://www.jpl.nasa.gov/edu/resources/lesson-plan/collecting-light-inverse-square-law-demo/</a:t>
            </a:r>
            <a:r>
              <a:rPr lang="en-US" sz="1050" dirty="0"/>
              <a:t> </a:t>
            </a:r>
          </a:p>
        </p:txBody>
      </p:sp>
    </p:spTree>
    <p:extLst>
      <p:ext uri="{BB962C8B-B14F-4D97-AF65-F5344CB8AC3E}">
        <p14:creationId xmlns:p14="http://schemas.microsoft.com/office/powerpoint/2010/main" val="4049089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xEl>
                                              <p:pRg st="6" end="6"/>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
                                            <p:txEl>
                                              <p:pRg st="10" end="1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473D04E3-9EFB-9434-1E1B-4C9A82F80112}"/>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45D3B0D3-6DAB-53B7-EEF7-42F53C6C737B}"/>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LiDAR</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927FDBEA-E521-57C9-5AF6-BCCB9F4213FF}"/>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324BB8A2-7CB2-1DC7-0BA0-A2014EA0AE0B}"/>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905EC72B-AFBA-3BC4-22DA-1D284D88587D}"/>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FF2B5EF4-FFF2-40B4-BE49-F238E27FC236}">
                <a16:creationId xmlns:a16="http://schemas.microsoft.com/office/drawing/2014/main" id="{9613643D-A391-5DB6-7BB4-82C4F9BC77CE}"/>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8BD81D42-74A2-DD3B-ECE7-E286461B7C0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2AB84645-D709-102C-1183-715457E542DD}"/>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D51E9118-615B-DD4A-C892-86600E205472}"/>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FE2D6BDE-33CC-11BD-E0DE-C7976A50113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06489293-6A98-E11E-82AF-458B405D7D5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7773772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A56EEFB-80F4-7181-14E3-CD328D688BF1}"/>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239D8F31-2A58-FB0E-99B0-60E9486302D9}"/>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67648AC-C58E-1D68-93F0-CDB7A6081B6F}"/>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C3A9A994-BDE9-1C16-7DA4-FA9E5BE27BA3}"/>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44D9512-94F8-31D1-EB0C-84A51EA42D1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ED080E2F-5657-70B5-127C-3E12A4B9D38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1CC2660D-F2E2-EE66-81AD-B302C4D2A3EE}"/>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F19DA01-2695-ABA4-EB88-825BF84D08E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E002A8C-A9AC-8DC9-4641-36651FE6B430}"/>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23" name="Google Shape;118;p29">
            <a:extLst>
              <a:ext uri="{FF2B5EF4-FFF2-40B4-BE49-F238E27FC236}">
                <a16:creationId xmlns:a16="http://schemas.microsoft.com/office/drawing/2014/main" id="{A3AEE96E-4F4C-BBFF-8627-77910270317C}"/>
              </a:ext>
            </a:extLst>
          </p:cNvPr>
          <p:cNvSpPr txBox="1">
            <a:spLocks noGrp="1"/>
          </p:cNvSpPr>
          <p:nvPr>
            <p:ph type="body" idx="1"/>
          </p:nvPr>
        </p:nvSpPr>
        <p:spPr>
          <a:xfrm>
            <a:off x="376810" y="1334279"/>
            <a:ext cx="11432202"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1800" dirty="0">
                <a:solidFill>
                  <a:schemeClr val="dk1"/>
                </a:solidFill>
                <a:latin typeface="Atkinson Hyperlegible Next"/>
                <a:ea typeface="Arial"/>
                <a:cs typeface="Arial"/>
                <a:sym typeface="Arial"/>
              </a:rPr>
              <a:t>What if you want to see the distance of all the obstacles around you instantaneously? Would IR be enough? How would you use IR sensors to create a 360 view of the world?</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solidFill>
                  <a:schemeClr val="dk1"/>
                </a:solidFill>
                <a:latin typeface="Atkinson Hyperlegible Next"/>
                <a:ea typeface="Arial"/>
                <a:cs typeface="Arial"/>
                <a:sym typeface="Arial"/>
              </a:rPr>
              <a:t>A basic IR distance sensor only measures </a:t>
            </a:r>
            <a:r>
              <a:rPr lang="en-US" sz="1800" b="1" dirty="0">
                <a:solidFill>
                  <a:schemeClr val="dk1"/>
                </a:solidFill>
                <a:latin typeface="Atkinson Hyperlegible Next"/>
                <a:ea typeface="Arial"/>
                <a:cs typeface="Arial"/>
                <a:sym typeface="Arial"/>
              </a:rPr>
              <a:t>distance in one direction.</a:t>
            </a:r>
          </a:p>
          <a:p>
            <a:pPr marL="0" indent="0">
              <a:lnSpc>
                <a:spcPct val="100000"/>
              </a:lnSpc>
              <a:spcBef>
                <a:spcPts val="0"/>
              </a:spcBef>
              <a:buSzPts val="3000"/>
              <a:buNone/>
            </a:pPr>
            <a:endParaRPr lang="en-US" sz="1800" b="1" dirty="0">
              <a:latin typeface="Atkinson Hyperlegible Next"/>
              <a:ea typeface="Arial"/>
              <a:cs typeface="Arial"/>
              <a:sym typeface="Arial"/>
            </a:endParaRPr>
          </a:p>
          <a:p>
            <a:pPr marL="0" indent="0">
              <a:lnSpc>
                <a:spcPct val="100000"/>
              </a:lnSpc>
              <a:spcBef>
                <a:spcPts val="0"/>
              </a:spcBef>
              <a:buSzPts val="3000"/>
              <a:buNone/>
            </a:pPr>
            <a:r>
              <a:rPr lang="en-US" sz="1800" dirty="0">
                <a:solidFill>
                  <a:schemeClr val="dk1"/>
                </a:solidFill>
                <a:latin typeface="Atkinson Hyperlegible Next"/>
                <a:ea typeface="Arial"/>
                <a:cs typeface="Arial"/>
                <a:sym typeface="Arial"/>
              </a:rPr>
              <a:t>If we want a complete view of obstacles around a robot, we will need:</a:t>
            </a:r>
          </a:p>
          <a:p>
            <a:pPr marL="285750" indent="-285750">
              <a:lnSpc>
                <a:spcPct val="100000"/>
              </a:lnSpc>
              <a:spcBef>
                <a:spcPts val="0"/>
              </a:spcBef>
              <a:buSzPts val="3000"/>
            </a:pPr>
            <a:r>
              <a:rPr lang="en-US" sz="1800" dirty="0">
                <a:latin typeface="Atkinson Hyperlegible Next"/>
                <a:ea typeface="Arial"/>
                <a:cs typeface="Arial"/>
                <a:sym typeface="Arial"/>
              </a:rPr>
              <a:t>Many IR sensors</a:t>
            </a:r>
          </a:p>
          <a:p>
            <a:pPr marL="285750" indent="-285750">
              <a:lnSpc>
                <a:spcPct val="100000"/>
              </a:lnSpc>
              <a:spcBef>
                <a:spcPts val="0"/>
              </a:spcBef>
              <a:buSzPts val="3000"/>
            </a:pPr>
            <a:r>
              <a:rPr lang="en-US" sz="1800" dirty="0">
                <a:solidFill>
                  <a:schemeClr val="dk1"/>
                </a:solidFill>
                <a:latin typeface="Atkinson Hyperlegible Next"/>
                <a:ea typeface="Arial"/>
                <a:cs typeface="Arial"/>
                <a:sym typeface="Arial"/>
              </a:rPr>
              <a:t>Each pointing in a </a:t>
            </a:r>
            <a:r>
              <a:rPr lang="en-US" sz="1800" b="1" dirty="0">
                <a:solidFill>
                  <a:schemeClr val="dk1"/>
                </a:solidFill>
                <a:latin typeface="Atkinson Hyperlegible Next"/>
                <a:ea typeface="Arial"/>
                <a:cs typeface="Arial"/>
                <a:sym typeface="Arial"/>
              </a:rPr>
              <a:t>different direction</a:t>
            </a:r>
            <a:r>
              <a:rPr lang="en-US" sz="1800" dirty="0">
                <a:latin typeface="Atkinson Hyperlegible Next"/>
                <a:ea typeface="Arial"/>
                <a:cs typeface="Arial"/>
                <a:sym typeface="Arial"/>
              </a:rPr>
              <a:t> to cover the 360 degrees around the robot</a:t>
            </a:r>
          </a:p>
          <a:p>
            <a:pPr marL="285750" indent="-285750">
              <a:lnSpc>
                <a:spcPct val="100000"/>
              </a:lnSpc>
              <a:spcBef>
                <a:spcPts val="0"/>
              </a:spcBef>
              <a:buSzPts val="3000"/>
            </a:pPr>
            <a:endParaRPr lang="en-US" sz="1800" b="1" dirty="0">
              <a:solidFill>
                <a:schemeClr val="dk1"/>
              </a:solidFill>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Problems with this approach:</a:t>
            </a:r>
          </a:p>
          <a:p>
            <a:pPr marL="285750" indent="-285750">
              <a:lnSpc>
                <a:spcPct val="100000"/>
              </a:lnSpc>
              <a:spcBef>
                <a:spcPts val="0"/>
              </a:spcBef>
              <a:buSzPts val="3000"/>
            </a:pPr>
            <a:r>
              <a:rPr lang="en-US" sz="1800" dirty="0">
                <a:solidFill>
                  <a:schemeClr val="dk1"/>
                </a:solidFill>
                <a:latin typeface="Atkinson Hyperlegible Next"/>
                <a:ea typeface="Arial"/>
                <a:cs typeface="Arial"/>
                <a:sym typeface="Arial"/>
              </a:rPr>
              <a:t>Large number of sensors required</a:t>
            </a:r>
          </a:p>
          <a:p>
            <a:pPr marL="285750" indent="-285750">
              <a:lnSpc>
                <a:spcPct val="100000"/>
              </a:lnSpc>
              <a:spcBef>
                <a:spcPts val="0"/>
              </a:spcBef>
              <a:buSzPts val="3000"/>
            </a:pPr>
            <a:r>
              <a:rPr lang="en-US" sz="1800" dirty="0">
                <a:latin typeface="Atkinson Hyperlegible Next"/>
                <a:ea typeface="Arial"/>
                <a:cs typeface="Arial"/>
                <a:sym typeface="Arial"/>
              </a:rPr>
              <a:t>Limited accuracy (bleed from the other sensors)</a:t>
            </a:r>
          </a:p>
          <a:p>
            <a:pPr marL="285750" indent="-285750">
              <a:lnSpc>
                <a:spcPct val="100000"/>
              </a:lnSpc>
              <a:spcBef>
                <a:spcPts val="0"/>
              </a:spcBef>
              <a:buSzPts val="3000"/>
            </a:pPr>
            <a:r>
              <a:rPr lang="en-US" sz="1800" dirty="0">
                <a:solidFill>
                  <a:schemeClr val="dk1"/>
                </a:solidFill>
                <a:latin typeface="Atkinson Hyperlegible Next"/>
                <a:ea typeface="Arial"/>
                <a:cs typeface="Arial"/>
                <a:sym typeface="Arial"/>
              </a:rPr>
              <a:t>Slow updates if scanned sequentially</a:t>
            </a:r>
            <a:endParaRPr lang="en-US" sz="1800" dirty="0">
              <a:latin typeface="Atkinson Hyperlegible Next"/>
              <a:ea typeface="Arial"/>
              <a:cs typeface="Arial"/>
              <a:sym typeface="Arial"/>
            </a:endParaRPr>
          </a:p>
          <a:p>
            <a:pPr marL="285750" indent="-285750">
              <a:lnSpc>
                <a:spcPct val="100000"/>
              </a:lnSpc>
              <a:spcBef>
                <a:spcPts val="0"/>
              </a:spcBef>
              <a:buSzPts val="3000"/>
            </a:pPr>
            <a:r>
              <a:rPr lang="en-US" sz="1800" dirty="0">
                <a:solidFill>
                  <a:schemeClr val="dk1"/>
                </a:solidFill>
                <a:latin typeface="Atkinson Hyperlegible Next"/>
                <a:ea typeface="Arial"/>
                <a:cs typeface="Arial"/>
                <a:sym typeface="Arial"/>
              </a:rPr>
              <a:t>Difficult calibration</a:t>
            </a:r>
          </a:p>
        </p:txBody>
      </p:sp>
    </p:spTree>
    <p:extLst>
      <p:ext uri="{BB962C8B-B14F-4D97-AF65-F5344CB8AC3E}">
        <p14:creationId xmlns:p14="http://schemas.microsoft.com/office/powerpoint/2010/main" val="4246874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
                                            <p:txEl>
                                              <p:pRg st="8" end="8"/>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3">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xEl>
                                              <p:pRg st="11" end="11"/>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EC12BB9-CF96-94ED-4CEC-C1298CB6631C}"/>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3FA64434-5592-5CC8-9C6A-2F31EF4DB8D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A2FD5AB-D7CB-C16B-B01A-178C8701E26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9BF62C91-3BCC-E27E-4D15-2DD8284FA40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2D526E5-0422-77DB-BDF4-FF32F7505F7F}"/>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32421D06-83B5-0DA8-F9EC-9746F3873A3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3EC58A4-6EBE-D75B-4E4D-B4A577FCCAE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F20CA32-C3E0-FD2C-D4DD-E6F53D275F1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F658D370-4797-B687-F0AF-1908AFD1940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23" name="Google Shape;118;p29">
            <a:extLst>
              <a:ext uri="{FF2B5EF4-FFF2-40B4-BE49-F238E27FC236}">
                <a16:creationId xmlns:a16="http://schemas.microsoft.com/office/drawing/2014/main" id="{098F6028-2461-B85D-7B6E-BBAE884A995E}"/>
              </a:ext>
            </a:extLst>
          </p:cNvPr>
          <p:cNvSpPr txBox="1">
            <a:spLocks noGrp="1"/>
          </p:cNvSpPr>
          <p:nvPr>
            <p:ph type="body" idx="1"/>
          </p:nvPr>
        </p:nvSpPr>
        <p:spPr>
          <a:xfrm>
            <a:off x="376810" y="1334279"/>
            <a:ext cx="11432202"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1800" dirty="0">
                <a:latin typeface="Atkinson Hyperlegible Next"/>
                <a:ea typeface="Arial"/>
                <a:cs typeface="Arial"/>
                <a:sym typeface="Arial"/>
              </a:rPr>
              <a:t>When a single-point IR isn’t enough, we turn to Light Detection and Ranging (LiDAR)!</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LiDAR solves this by using a laser that scans the environment.</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Key idea:</a:t>
            </a:r>
          </a:p>
          <a:p>
            <a:pPr marL="285750" indent="-285750">
              <a:lnSpc>
                <a:spcPct val="100000"/>
              </a:lnSpc>
              <a:spcBef>
                <a:spcPts val="0"/>
              </a:spcBef>
              <a:buSzPts val="3000"/>
            </a:pPr>
            <a:r>
              <a:rPr lang="en-US" sz="1800" dirty="0">
                <a:latin typeface="Atkinson Hyperlegible Next"/>
                <a:ea typeface="Arial"/>
                <a:cs typeface="Arial"/>
                <a:sym typeface="Arial"/>
              </a:rPr>
              <a:t>Send a laser pulse</a:t>
            </a:r>
          </a:p>
          <a:p>
            <a:pPr marL="285750" indent="-285750">
              <a:lnSpc>
                <a:spcPct val="100000"/>
              </a:lnSpc>
              <a:spcBef>
                <a:spcPts val="0"/>
              </a:spcBef>
              <a:buSzPts val="3000"/>
            </a:pPr>
            <a:r>
              <a:rPr lang="en-US" sz="1800" dirty="0">
                <a:latin typeface="Atkinson Hyperlegible Next"/>
                <a:ea typeface="Arial"/>
                <a:cs typeface="Arial"/>
                <a:sym typeface="Arial"/>
              </a:rPr>
              <a:t>Measure how long it takes to bounce back</a:t>
            </a:r>
          </a:p>
          <a:p>
            <a:pPr marL="285750" indent="-285750">
              <a:lnSpc>
                <a:spcPct val="100000"/>
              </a:lnSpc>
              <a:spcBef>
                <a:spcPts val="0"/>
              </a:spcBef>
              <a:buSzPts val="3000"/>
            </a:pPr>
            <a:r>
              <a:rPr lang="en-US" sz="1800" dirty="0">
                <a:latin typeface="Atkinson Hyperlegible Next"/>
                <a:ea typeface="Arial"/>
                <a:cs typeface="Arial"/>
                <a:sym typeface="Arial"/>
              </a:rPr>
              <a:t>Convert that time into distance</a:t>
            </a:r>
          </a:p>
          <a:p>
            <a:pPr marL="285750" indent="-285750">
              <a:lnSpc>
                <a:spcPct val="100000"/>
              </a:lnSpc>
              <a:spcBef>
                <a:spcPts val="0"/>
              </a:spcBef>
              <a:buSzPts val="3000"/>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Main components:</a:t>
            </a:r>
          </a:p>
          <a:p>
            <a:pPr marL="285750" indent="-285750">
              <a:lnSpc>
                <a:spcPct val="100000"/>
              </a:lnSpc>
              <a:spcBef>
                <a:spcPts val="0"/>
              </a:spcBef>
              <a:buSzPts val="3000"/>
            </a:pPr>
            <a:r>
              <a:rPr lang="en-US" sz="1800" dirty="0">
                <a:latin typeface="Atkinson Hyperlegible Next"/>
                <a:ea typeface="Arial"/>
                <a:cs typeface="Arial"/>
                <a:sym typeface="Arial"/>
              </a:rPr>
              <a:t>Laser emitter</a:t>
            </a:r>
          </a:p>
          <a:p>
            <a:pPr marL="285750" indent="-285750">
              <a:lnSpc>
                <a:spcPct val="100000"/>
              </a:lnSpc>
              <a:spcBef>
                <a:spcPts val="0"/>
              </a:spcBef>
              <a:buSzPts val="3000"/>
            </a:pPr>
            <a:r>
              <a:rPr lang="en-US" sz="1800" dirty="0">
                <a:latin typeface="Atkinson Hyperlegible Next"/>
                <a:ea typeface="Arial"/>
                <a:cs typeface="Arial"/>
                <a:sym typeface="Arial"/>
              </a:rPr>
              <a:t>Photodetector</a:t>
            </a:r>
          </a:p>
          <a:p>
            <a:pPr marL="285750" indent="-285750">
              <a:lnSpc>
                <a:spcPct val="100000"/>
              </a:lnSpc>
              <a:spcBef>
                <a:spcPts val="0"/>
              </a:spcBef>
              <a:buSzPts val="3000"/>
            </a:pPr>
            <a:r>
              <a:rPr lang="en-US" sz="1800" dirty="0">
                <a:latin typeface="Atkinson Hyperlegible Next"/>
                <a:ea typeface="Arial"/>
                <a:cs typeface="Arial"/>
                <a:sym typeface="Arial"/>
              </a:rPr>
              <a:t>Precise timing electronics</a:t>
            </a:r>
          </a:p>
          <a:p>
            <a:pPr marL="285750" indent="-285750">
              <a:lnSpc>
                <a:spcPct val="100000"/>
              </a:lnSpc>
              <a:spcBef>
                <a:spcPts val="0"/>
              </a:spcBef>
              <a:buSzPts val="3000"/>
            </a:pPr>
            <a:r>
              <a:rPr lang="en-US" sz="1800" dirty="0">
                <a:latin typeface="Atkinson Hyperlegible Next"/>
                <a:ea typeface="Arial"/>
                <a:cs typeface="Arial"/>
                <a:sym typeface="Arial"/>
              </a:rPr>
              <a:t>Rotating motor / scanning system</a:t>
            </a:r>
          </a:p>
          <a:p>
            <a:pPr marL="285750" indent="-285750">
              <a:lnSpc>
                <a:spcPct val="100000"/>
              </a:lnSpc>
              <a:spcBef>
                <a:spcPts val="0"/>
              </a:spcBef>
              <a:buSzPts val="3000"/>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The system rapidly scans the environment and generates a </a:t>
            </a:r>
            <a:r>
              <a:rPr lang="en-US" sz="1800" b="1" dirty="0">
                <a:latin typeface="Atkinson Hyperlegible Next"/>
                <a:ea typeface="Arial"/>
                <a:cs typeface="Arial"/>
                <a:sym typeface="Arial"/>
              </a:rPr>
              <a:t>point cloud</a:t>
            </a:r>
            <a:r>
              <a:rPr lang="en-US" sz="1800" dirty="0">
                <a:latin typeface="Atkinson Hyperlegible Next"/>
                <a:ea typeface="Arial"/>
                <a:cs typeface="Arial"/>
                <a:sym typeface="Arial"/>
              </a:rPr>
              <a:t>, which represents the surrounding world.</a:t>
            </a:r>
          </a:p>
        </p:txBody>
      </p:sp>
    </p:spTree>
    <p:extLst>
      <p:ext uri="{BB962C8B-B14F-4D97-AF65-F5344CB8AC3E}">
        <p14:creationId xmlns:p14="http://schemas.microsoft.com/office/powerpoint/2010/main" val="41999954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151F7AC4-7A1B-B950-09E9-DFC0A3462D89}"/>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CB4E3445-8967-4B65-9EF7-06551030F42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D243A85-9CF6-89E8-9FF1-6C7792291F6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F6B1A686-9ED9-9F0D-FC79-166C01CC8011}"/>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34988D5-A032-B6F7-5752-3BF3BB9AE3F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A70CE3C-9531-FCCD-72E3-477EAD547CE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A28C00F-D639-9136-D279-93C097ACCAE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9CA1AD4-1F0A-DF58-4ABB-CE2FEBD057B7}"/>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D6DAD93-3645-6C16-D276-D3E9E6237DF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122" name="Picture 2" descr="Things you need to know about LiDAR: the more lasers, the better? | Hesai">
            <a:extLst>
              <a:ext uri="{FF2B5EF4-FFF2-40B4-BE49-F238E27FC236}">
                <a16:creationId xmlns:a16="http://schemas.microsoft.com/office/drawing/2014/main" id="{D3309F61-DBF8-ADD5-DDCC-7CAFCBCBDE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913" y="2014204"/>
            <a:ext cx="6239030" cy="35052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New Part Day: Very Cheap LIDAR | Hackaday">
            <a:extLst>
              <a:ext uri="{FF2B5EF4-FFF2-40B4-BE49-F238E27FC236}">
                <a16:creationId xmlns:a16="http://schemas.microsoft.com/office/drawing/2014/main" id="{03EB3E49-9F9E-4275-AD28-CC209C1908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94574" y="1370673"/>
            <a:ext cx="4792262" cy="479226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8B0A3C0-55E4-4EE0-BE30-A65A2EF15709}"/>
              </a:ext>
            </a:extLst>
          </p:cNvPr>
          <p:cNvSpPr txBox="1"/>
          <p:nvPr/>
        </p:nvSpPr>
        <p:spPr>
          <a:xfrm>
            <a:off x="7192562" y="6220547"/>
            <a:ext cx="3898900" cy="246221"/>
          </a:xfrm>
          <a:prstGeom prst="rect">
            <a:avLst/>
          </a:prstGeom>
          <a:noFill/>
        </p:spPr>
        <p:txBody>
          <a:bodyPr wrap="square">
            <a:spAutoFit/>
          </a:bodyPr>
          <a:lstStyle/>
          <a:p>
            <a:pPr algn="ctr"/>
            <a:r>
              <a:rPr lang="en-US" sz="1000" dirty="0">
                <a:hlinkClick r:id="rId6"/>
              </a:rPr>
              <a:t>https://hackaday.com/2017/04/20/new-part-day-very-cheap-lidar/</a:t>
            </a:r>
            <a:r>
              <a:rPr lang="en-US" sz="1000" dirty="0"/>
              <a:t> </a:t>
            </a:r>
          </a:p>
        </p:txBody>
      </p:sp>
      <p:sp>
        <p:nvSpPr>
          <p:cNvPr id="7" name="TextBox 6">
            <a:extLst>
              <a:ext uri="{FF2B5EF4-FFF2-40B4-BE49-F238E27FC236}">
                <a16:creationId xmlns:a16="http://schemas.microsoft.com/office/drawing/2014/main" id="{F1563E62-AB78-F826-C7B9-81F910EE245C}"/>
              </a:ext>
            </a:extLst>
          </p:cNvPr>
          <p:cNvSpPr txBox="1"/>
          <p:nvPr/>
        </p:nvSpPr>
        <p:spPr>
          <a:xfrm>
            <a:off x="323428" y="6220547"/>
            <a:ext cx="6096000" cy="246221"/>
          </a:xfrm>
          <a:prstGeom prst="rect">
            <a:avLst/>
          </a:prstGeom>
          <a:noFill/>
        </p:spPr>
        <p:txBody>
          <a:bodyPr wrap="square">
            <a:spAutoFit/>
          </a:bodyPr>
          <a:lstStyle/>
          <a:p>
            <a:pPr algn="ctr"/>
            <a:r>
              <a:rPr lang="en-US" sz="1000" dirty="0">
                <a:hlinkClick r:id="rId7"/>
              </a:rPr>
              <a:t>https://www.hesaitech.com/things-you-need-to-know-about-lidar-the-more-lasers-the-better/</a:t>
            </a:r>
            <a:r>
              <a:rPr lang="en-US" sz="1000" dirty="0"/>
              <a:t> </a:t>
            </a:r>
          </a:p>
        </p:txBody>
      </p:sp>
    </p:spTree>
    <p:extLst>
      <p:ext uri="{BB962C8B-B14F-4D97-AF65-F5344CB8AC3E}">
        <p14:creationId xmlns:p14="http://schemas.microsoft.com/office/powerpoint/2010/main" val="12167755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6FED6F16-8F99-6D22-9907-73D969147E0D}"/>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F7CDFD3C-3859-F24D-5743-617DE708C90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762D5A7-8419-14AE-482F-115BAE0E7068}"/>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6FFE0A5C-76E3-4144-9BAA-635D5FDE61D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D43DED04-855A-2533-8EB8-518CB2E192E0}"/>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F3F5FCF-95EB-7504-31AF-59A4CDD9D9B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563671C2-7137-841A-E421-A68A0C8432B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AFF2FB1-A9D8-C7BD-584E-051E322CCDA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FDD1026-B25A-4518-44F0-080D5E2B593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mc:AlternateContent xmlns:mc="http://schemas.openxmlformats.org/markup-compatibility/2006" xmlns:a14="http://schemas.microsoft.com/office/drawing/2010/main">
        <mc:Choice Requires="a14">
          <p:sp>
            <p:nvSpPr>
              <p:cNvPr id="23" name="Google Shape;118;p29">
                <a:extLst>
                  <a:ext uri="{FF2B5EF4-FFF2-40B4-BE49-F238E27FC236}">
                    <a16:creationId xmlns:a16="http://schemas.microsoft.com/office/drawing/2014/main" id="{7BE67D1C-96DB-A083-AB1C-DC6B8F185743}"/>
                  </a:ext>
                </a:extLst>
              </p:cNvPr>
              <p:cNvSpPr txBox="1">
                <a:spLocks noGrp="1"/>
              </p:cNvSpPr>
              <p:nvPr>
                <p:ph type="body" idx="1"/>
              </p:nvPr>
            </p:nvSpPr>
            <p:spPr>
              <a:xfrm>
                <a:off x="376810" y="1334279"/>
                <a:ext cx="11432202"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1800" dirty="0">
                    <a:latin typeface="Atkinson Hyperlegible Next"/>
                    <a:ea typeface="Arial"/>
                    <a:cs typeface="Arial"/>
                    <a:sym typeface="Arial"/>
                  </a:rPr>
                  <a:t>LiDAR determines distance using Time-of-Flight (</a:t>
                </a:r>
                <a:r>
                  <a:rPr lang="en-US" sz="1800" dirty="0" err="1">
                    <a:latin typeface="Atkinson Hyperlegible Next"/>
                    <a:ea typeface="Arial"/>
                    <a:cs typeface="Arial"/>
                    <a:sym typeface="Arial"/>
                  </a:rPr>
                  <a:t>ToF</a:t>
                </a:r>
                <a:r>
                  <a:rPr lang="en-US" sz="1800" dirty="0">
                    <a:latin typeface="Atkinson Hyperlegible Next"/>
                    <a:ea typeface="Arial"/>
                    <a:cs typeface="Arial"/>
                    <a:sym typeface="Arial"/>
                  </a:rPr>
                  <a:t>). Instead of signal intensity, since it can measure that precisely and thus is can get a more accurate distance measurement.</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285750" indent="-285750">
                  <a:lnSpc>
                    <a:spcPct val="100000"/>
                  </a:lnSpc>
                  <a:spcBef>
                    <a:spcPts val="0"/>
                  </a:spcBef>
                  <a:buSzPts val="3000"/>
                </a:pPr>
                <a:r>
                  <a:rPr lang="en-US" sz="1800" dirty="0">
                    <a:latin typeface="Atkinson Hyperlegible Next"/>
                    <a:ea typeface="Arial"/>
                    <a:cs typeface="Arial"/>
                    <a:sym typeface="Arial"/>
                  </a:rPr>
                  <a:t>A laser pulse is emitted.</a:t>
                </a:r>
              </a:p>
              <a:p>
                <a:pPr marL="285750" indent="-285750">
                  <a:lnSpc>
                    <a:spcPct val="100000"/>
                  </a:lnSpc>
                  <a:spcBef>
                    <a:spcPts val="0"/>
                  </a:spcBef>
                  <a:buSzPts val="3000"/>
                </a:pPr>
                <a:r>
                  <a:rPr lang="en-US" sz="1800" dirty="0">
                    <a:latin typeface="Atkinson Hyperlegible Next"/>
                    <a:ea typeface="Arial"/>
                    <a:cs typeface="Arial"/>
                    <a:sym typeface="Arial"/>
                  </a:rPr>
                  <a:t>The pulse travels to an object.</a:t>
                </a:r>
              </a:p>
              <a:p>
                <a:pPr marL="285750" indent="-285750">
                  <a:lnSpc>
                    <a:spcPct val="100000"/>
                  </a:lnSpc>
                  <a:spcBef>
                    <a:spcPts val="0"/>
                  </a:spcBef>
                  <a:buSzPts val="3000"/>
                </a:pPr>
                <a:r>
                  <a:rPr lang="en-US" sz="1800" dirty="0">
                    <a:latin typeface="Atkinson Hyperlegible Next"/>
                    <a:ea typeface="Arial"/>
                    <a:cs typeface="Arial"/>
                    <a:sym typeface="Arial"/>
                  </a:rPr>
                  <a:t>The object reflects the pulse back.</a:t>
                </a:r>
              </a:p>
              <a:p>
                <a:pPr marL="285750" indent="-285750">
                  <a:lnSpc>
                    <a:spcPct val="100000"/>
                  </a:lnSpc>
                  <a:spcBef>
                    <a:spcPts val="0"/>
                  </a:spcBef>
                  <a:buSzPts val="3000"/>
                </a:pPr>
                <a:r>
                  <a:rPr lang="en-US" sz="1800" dirty="0">
                    <a:latin typeface="Atkinson Hyperlegible Next"/>
                    <a:ea typeface="Arial"/>
                    <a:cs typeface="Arial"/>
                    <a:sym typeface="Arial"/>
                  </a:rPr>
                  <a:t>The sensor measures the round-trip travel time.</a:t>
                </a:r>
              </a:p>
              <a:p>
                <a:pPr marL="285750" indent="-285750">
                  <a:lnSpc>
                    <a:spcPct val="100000"/>
                  </a:lnSpc>
                  <a:spcBef>
                    <a:spcPts val="0"/>
                  </a:spcBef>
                  <a:buSzPts val="3000"/>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Distance is calculated using:</a:t>
                </a: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m:rPr>
                          <m:sty m:val="p"/>
                        </m:rPr>
                        <a:rPr lang="en-US" sz="1800" b="0" i="1" smtClean="0">
                          <a:latin typeface="Cambria Math" panose="02040503050406030204" pitchFamily="18" charset="0"/>
                          <a:ea typeface="Arial"/>
                          <a:cs typeface="Arial"/>
                          <a:sym typeface="Arial"/>
                        </a:rPr>
                        <m:t>d</m:t>
                      </m:r>
                      <m:r>
                        <a:rPr lang="en-US" sz="1800" b="0" i="1" smtClean="0">
                          <a:latin typeface="Cambria Math" panose="02040503050406030204" pitchFamily="18" charset="0"/>
                          <a:ea typeface="Arial"/>
                          <a:cs typeface="Arial"/>
                          <a:sym typeface="Arial"/>
                        </a:rPr>
                        <m:t> = </m:t>
                      </m:r>
                      <m:f>
                        <m:fPr>
                          <m:ctrlPr>
                            <a:rPr lang="en-US" sz="1800" b="0" i="1" smtClean="0">
                              <a:latin typeface="Cambria Math" panose="02040503050406030204" pitchFamily="18" charset="0"/>
                              <a:cs typeface="Arial"/>
                              <a:sym typeface="Arial"/>
                            </a:rPr>
                          </m:ctrlPr>
                        </m:fPr>
                        <m:num>
                          <m:r>
                            <m:rPr>
                              <m:sty m:val="p"/>
                            </m:rPr>
                            <a:rPr lang="en-US" sz="1800" b="0" i="1" smtClean="0">
                              <a:latin typeface="Cambria Math" panose="02040503050406030204" pitchFamily="18" charset="0"/>
                              <a:cs typeface="Arial"/>
                              <a:sym typeface="Arial"/>
                            </a:rPr>
                            <m:t>c</m:t>
                          </m:r>
                          <m:r>
                            <a:rPr lang="en-US" sz="1800" b="0" i="1" smtClean="0">
                              <a:latin typeface="Cambria Math" panose="02040503050406030204" pitchFamily="18" charset="0"/>
                              <a:ea typeface="Cambria Math" panose="02040503050406030204" pitchFamily="18" charset="0"/>
                              <a:cs typeface="Arial"/>
                              <a:sym typeface="Arial"/>
                            </a:rPr>
                            <m:t>×</m:t>
                          </m:r>
                          <m:r>
                            <m:rPr>
                              <m:sty m:val="p"/>
                            </m:rPr>
                            <a:rPr lang="en-US" sz="1800" b="0" i="1" smtClean="0">
                              <a:latin typeface="Cambria Math" panose="02040503050406030204" pitchFamily="18" charset="0"/>
                              <a:ea typeface="Cambria Math" panose="02040503050406030204" pitchFamily="18" charset="0"/>
                              <a:cs typeface="Arial"/>
                              <a:sym typeface="Arial"/>
                            </a:rPr>
                            <m:t>t</m:t>
                          </m:r>
                        </m:num>
                        <m:den>
                          <m:r>
                            <a:rPr lang="en-US" sz="1800" b="0" i="1" smtClean="0">
                              <a:latin typeface="Cambria Math" panose="02040503050406030204" pitchFamily="18" charset="0"/>
                              <a:cs typeface="Arial"/>
                              <a:sym typeface="Arial"/>
                            </a:rPr>
                            <m:t>2</m:t>
                          </m:r>
                        </m:den>
                      </m:f>
                    </m:oMath>
                  </m:oMathPara>
                </a14:m>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Where:</a:t>
                </a:r>
              </a:p>
              <a:p>
                <a:pPr marL="285750" indent="-285750">
                  <a:lnSpc>
                    <a:spcPct val="100000"/>
                  </a:lnSpc>
                  <a:spcBef>
                    <a:spcPts val="0"/>
                  </a:spcBef>
                  <a:buSzPts val="3000"/>
                </a:pPr>
                <a14:m>
                  <m:oMath xmlns:m="http://schemas.openxmlformats.org/officeDocument/2006/math">
                    <m:r>
                      <m:rPr>
                        <m:sty m:val="p"/>
                      </m:rPr>
                      <a:rPr lang="en-US" sz="1800" i="1">
                        <a:latin typeface="Cambria Math" panose="02040503050406030204" pitchFamily="18" charset="0"/>
                        <a:ea typeface="Arial"/>
                        <a:cs typeface="Arial"/>
                        <a:sym typeface="Arial"/>
                      </a:rPr>
                      <m:t>d</m:t>
                    </m:r>
                  </m:oMath>
                </a14:m>
                <a:r>
                  <a:rPr lang="en-US" sz="1800" dirty="0">
                    <a:latin typeface="Atkinson Hyperlegible Next"/>
                    <a:ea typeface="Arial"/>
                    <a:cs typeface="Arial"/>
                    <a:sym typeface="Arial"/>
                  </a:rPr>
                  <a:t> = distance to the object</a:t>
                </a:r>
              </a:p>
              <a:p>
                <a:pPr marL="285750" indent="-285750">
                  <a:lnSpc>
                    <a:spcPct val="100000"/>
                  </a:lnSpc>
                  <a:spcBef>
                    <a:spcPts val="0"/>
                  </a:spcBef>
                  <a:buSzPts val="3000"/>
                </a:pPr>
                <a14:m>
                  <m:oMath xmlns:m="http://schemas.openxmlformats.org/officeDocument/2006/math">
                    <m:r>
                      <m:rPr>
                        <m:sty m:val="p"/>
                      </m:rPr>
                      <a:rPr lang="en-US" sz="1800" b="0" i="1" smtClean="0">
                        <a:latin typeface="Cambria Math" panose="02040503050406030204" pitchFamily="18" charset="0"/>
                        <a:ea typeface="Arial"/>
                        <a:cs typeface="Arial"/>
                        <a:sym typeface="Arial"/>
                      </a:rPr>
                      <m:t>c</m:t>
                    </m:r>
                  </m:oMath>
                </a14:m>
                <a:r>
                  <a:rPr lang="en-US" sz="1800" dirty="0">
                    <a:latin typeface="Atkinson Hyperlegible Next"/>
                    <a:ea typeface="Arial"/>
                    <a:cs typeface="Arial"/>
                    <a:sym typeface="Arial"/>
                  </a:rPr>
                  <a:t> = speed of light (</a:t>
                </a:r>
                <a14:m>
                  <m:oMath xmlns:m="http://schemas.openxmlformats.org/officeDocument/2006/math">
                    <m:r>
                      <a:rPr lang="en-US" sz="1800" i="1" smtClean="0">
                        <a:latin typeface="Cambria Math" panose="02040503050406030204" pitchFamily="18" charset="0"/>
                        <a:ea typeface="Cambria Math" panose="02040503050406030204" pitchFamily="18" charset="0"/>
                        <a:cs typeface="Arial"/>
                        <a:sym typeface="Arial"/>
                      </a:rPr>
                      <m:t>≈</m:t>
                    </m:r>
                    <m:r>
                      <a:rPr lang="en-US" sz="1800" b="0" i="1" smtClean="0">
                        <a:latin typeface="Cambria Math" panose="02040503050406030204" pitchFamily="18" charset="0"/>
                        <a:ea typeface="Cambria Math" panose="02040503050406030204" pitchFamily="18" charset="0"/>
                        <a:cs typeface="Arial"/>
                        <a:sym typeface="Arial"/>
                      </a:rPr>
                      <m:t>3×</m:t>
                    </m:r>
                    <m:sSup>
                      <m:sSupPr>
                        <m:ctrlPr>
                          <a:rPr lang="en-US" sz="1800" b="0" i="1" smtClean="0">
                            <a:latin typeface="Cambria Math" panose="02040503050406030204" pitchFamily="18" charset="0"/>
                            <a:ea typeface="Cambria Math" panose="02040503050406030204" pitchFamily="18" charset="0"/>
                            <a:cs typeface="Arial"/>
                            <a:sym typeface="Arial"/>
                          </a:rPr>
                        </m:ctrlPr>
                      </m:sSupPr>
                      <m:e>
                        <m:r>
                          <a:rPr lang="en-US" sz="1800" b="0" i="1" smtClean="0">
                            <a:latin typeface="Cambria Math" panose="02040503050406030204" pitchFamily="18" charset="0"/>
                            <a:ea typeface="Cambria Math" panose="02040503050406030204" pitchFamily="18" charset="0"/>
                            <a:cs typeface="Arial"/>
                            <a:sym typeface="Arial"/>
                          </a:rPr>
                          <m:t>10</m:t>
                        </m:r>
                      </m:e>
                      <m:sup>
                        <m:r>
                          <a:rPr lang="en-US" sz="1800" b="0" i="1" smtClean="0">
                            <a:latin typeface="Cambria Math" panose="02040503050406030204" pitchFamily="18" charset="0"/>
                            <a:ea typeface="Cambria Math" panose="02040503050406030204" pitchFamily="18" charset="0"/>
                            <a:cs typeface="Arial"/>
                            <a:sym typeface="Arial"/>
                          </a:rPr>
                          <m:t>8</m:t>
                        </m:r>
                      </m:sup>
                    </m:sSup>
                  </m:oMath>
                </a14:m>
                <a:r>
                  <a:rPr lang="en-US" sz="1800" dirty="0">
                    <a:latin typeface="Atkinson Hyperlegible Next"/>
                    <a:ea typeface="Arial"/>
                    <a:cs typeface="Arial"/>
                    <a:sym typeface="Arial"/>
                  </a:rPr>
                  <a:t> m/s)</a:t>
                </a:r>
              </a:p>
              <a:p>
                <a:pPr marL="285750" indent="-285750">
                  <a:lnSpc>
                    <a:spcPct val="100000"/>
                  </a:lnSpc>
                  <a:spcBef>
                    <a:spcPts val="0"/>
                  </a:spcBef>
                  <a:buSzPts val="3000"/>
                </a:pPr>
                <a14:m>
                  <m:oMath xmlns:m="http://schemas.openxmlformats.org/officeDocument/2006/math">
                    <m:r>
                      <m:rPr>
                        <m:sty m:val="p"/>
                      </m:rPr>
                      <a:rPr lang="en-US" sz="1800" b="0" i="1" smtClean="0">
                        <a:latin typeface="Cambria Math" panose="02040503050406030204" pitchFamily="18" charset="0"/>
                        <a:ea typeface="Arial"/>
                        <a:cs typeface="Arial"/>
                        <a:sym typeface="Arial"/>
                      </a:rPr>
                      <m:t>t</m:t>
                    </m:r>
                  </m:oMath>
                </a14:m>
                <a:r>
                  <a:rPr lang="en-US" sz="1800" dirty="0">
                    <a:latin typeface="Atkinson Hyperlegible Next"/>
                    <a:ea typeface="Arial"/>
                    <a:cs typeface="Arial"/>
                    <a:sym typeface="Arial"/>
                  </a:rPr>
                  <a:t> = measured round-trip time</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Why is there a division by 2 in the equation?</a:t>
                </a:r>
              </a:p>
              <a:p>
                <a:pPr marL="285750" indent="-285750">
                  <a:lnSpc>
                    <a:spcPct val="100000"/>
                  </a:lnSpc>
                  <a:spcBef>
                    <a:spcPts val="0"/>
                  </a:spcBef>
                  <a:buSzPts val="3000"/>
                </a:pPr>
                <a:endParaRPr lang="en-US" sz="1800" dirty="0">
                  <a:latin typeface="Atkinson Hyperlegible Next"/>
                  <a:ea typeface="Arial"/>
                  <a:cs typeface="Arial"/>
                  <a:sym typeface="Arial"/>
                </a:endParaRPr>
              </a:p>
            </p:txBody>
          </p:sp>
        </mc:Choice>
        <mc:Fallback xmlns="">
          <p:sp>
            <p:nvSpPr>
              <p:cNvPr id="23" name="Google Shape;118;p29">
                <a:extLst>
                  <a:ext uri="{FF2B5EF4-FFF2-40B4-BE49-F238E27FC236}">
                    <a16:creationId xmlns:a16="http://schemas.microsoft.com/office/drawing/2014/main" id="{7BE67D1C-96DB-A083-AB1C-DC6B8F185743}"/>
                  </a:ext>
                </a:extLst>
              </p:cNvPr>
              <p:cNvSpPr txBox="1">
                <a:spLocks noGrp="1" noRot="1" noChangeAspect="1" noMove="1" noResize="1" noEditPoints="1" noAdjustHandles="1" noChangeArrowheads="1" noChangeShapeType="1" noTextEdit="1"/>
              </p:cNvSpPr>
              <p:nvPr>
                <p:ph type="body" idx="1"/>
              </p:nvPr>
            </p:nvSpPr>
            <p:spPr>
              <a:xfrm>
                <a:off x="376810" y="1334279"/>
                <a:ext cx="11432202" cy="4821102"/>
              </a:xfrm>
              <a:prstGeom prst="rect">
                <a:avLst/>
              </a:prstGeom>
              <a:blipFill>
                <a:blip r:embed="rId4"/>
                <a:stretch>
                  <a:fillRect l="-1120" t="-759"/>
                </a:stretch>
              </a:blipFill>
              <a:ln>
                <a:noFill/>
              </a:ln>
            </p:spPr>
            <p:txBody>
              <a:bodyPr/>
              <a:lstStyle/>
              <a:p>
                <a:r>
                  <a:rPr lang="en-US">
                    <a:noFill/>
                  </a:rPr>
                  <a:t> </a:t>
                </a:r>
              </a:p>
            </p:txBody>
          </p:sp>
        </mc:Fallback>
      </mc:AlternateContent>
      <p:pic>
        <p:nvPicPr>
          <p:cNvPr id="4" name="Graphic 3">
            <a:extLst>
              <a:ext uri="{FF2B5EF4-FFF2-40B4-BE49-F238E27FC236}">
                <a16:creationId xmlns:a16="http://schemas.microsoft.com/office/drawing/2014/main" id="{0C64EA01-EC69-2AB7-A454-9CA845DCA2E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763847" y="2276037"/>
            <a:ext cx="5143500" cy="3429000"/>
          </a:xfrm>
          <a:prstGeom prst="rect">
            <a:avLst/>
          </a:prstGeom>
        </p:spPr>
      </p:pic>
      <p:sp>
        <p:nvSpPr>
          <p:cNvPr id="6" name="TextBox 5">
            <a:extLst>
              <a:ext uri="{FF2B5EF4-FFF2-40B4-BE49-F238E27FC236}">
                <a16:creationId xmlns:a16="http://schemas.microsoft.com/office/drawing/2014/main" id="{96E44806-97B8-AAEA-6D4A-18A644F403FC}"/>
              </a:ext>
            </a:extLst>
          </p:cNvPr>
          <p:cNvSpPr txBox="1"/>
          <p:nvPr/>
        </p:nvSpPr>
        <p:spPr>
          <a:xfrm>
            <a:off x="7224222" y="5820603"/>
            <a:ext cx="4222750" cy="307777"/>
          </a:xfrm>
          <a:prstGeom prst="rect">
            <a:avLst/>
          </a:prstGeom>
          <a:noFill/>
        </p:spPr>
        <p:txBody>
          <a:bodyPr wrap="square">
            <a:spAutoFit/>
          </a:bodyPr>
          <a:lstStyle/>
          <a:p>
            <a:pPr algn="ctr"/>
            <a:r>
              <a:rPr lang="en-US" dirty="0">
                <a:hlinkClick r:id="rId7"/>
              </a:rPr>
              <a:t>https://en.wikipedia.org/wiki/Time-of-flight_camera</a:t>
            </a:r>
            <a:r>
              <a:rPr lang="en-US" dirty="0"/>
              <a:t> </a:t>
            </a:r>
          </a:p>
        </p:txBody>
      </p:sp>
    </p:spTree>
    <p:extLst>
      <p:ext uri="{BB962C8B-B14F-4D97-AF65-F5344CB8AC3E}">
        <p14:creationId xmlns:p14="http://schemas.microsoft.com/office/powerpoint/2010/main" val="429168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xEl>
                                              <p:pRg st="7" end="7"/>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3">
                                            <p:txEl>
                                              <p:pRg st="8" end="8"/>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3">
                                            <p:txEl>
                                              <p:pRg st="9" end="9"/>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xEl>
                                              <p:pRg st="10" end="1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
                                            <p:txEl>
                                              <p:pRg st="11" end="11"/>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
                                            <p:txEl>
                                              <p:pRg st="12" end="1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9C44437-F811-9A43-6C83-93CB96A10941}"/>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2D81D137-25FC-DCBE-6CF3-5B6F7126A23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A047505-404A-81D2-D436-30DBACA0BEF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7B650946-037E-B452-BB17-9412BBEA889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FC7AC53-099A-38DD-388A-C29527371F3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9A1195E-1F8A-144C-5F71-23992375E7B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268CBCC-CC5A-054A-BA7E-00D18A3C1A8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4CBC2103-6C72-8F82-F182-5F121FCB208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E0B3C58-8D4F-01DD-19EB-38229C07392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mc:AlternateContent xmlns:mc="http://schemas.openxmlformats.org/markup-compatibility/2006" xmlns:a14="http://schemas.microsoft.com/office/drawing/2010/main">
        <mc:Choice Requires="a14">
          <p:sp>
            <p:nvSpPr>
              <p:cNvPr id="23" name="Google Shape;118;p29">
                <a:extLst>
                  <a:ext uri="{FF2B5EF4-FFF2-40B4-BE49-F238E27FC236}">
                    <a16:creationId xmlns:a16="http://schemas.microsoft.com/office/drawing/2014/main" id="{8E81D82E-008D-4CCE-C4F8-4D255495B59E}"/>
                  </a:ext>
                </a:extLst>
              </p:cNvPr>
              <p:cNvSpPr txBox="1">
                <a:spLocks noGrp="1"/>
              </p:cNvSpPr>
              <p:nvPr>
                <p:ph type="body" idx="1"/>
              </p:nvPr>
            </p:nvSpPr>
            <p:spPr>
              <a:xfrm>
                <a:off x="376810" y="1334279"/>
                <a:ext cx="11432202"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1800" dirty="0">
                    <a:latin typeface="Atkinson Hyperlegible Next"/>
                    <a:ea typeface="Arial"/>
                    <a:cs typeface="Arial"/>
                    <a:sym typeface="Arial"/>
                  </a:rPr>
                  <a:t>Only possible to use </a:t>
                </a:r>
                <a:r>
                  <a:rPr lang="en-US" sz="1800" dirty="0" err="1">
                    <a:latin typeface="Atkinson Hyperlegible Next"/>
                    <a:ea typeface="Arial"/>
                    <a:cs typeface="Arial"/>
                    <a:sym typeface="Arial"/>
                  </a:rPr>
                  <a:t>ToF</a:t>
                </a:r>
                <a:r>
                  <a:rPr lang="en-US" sz="1800" dirty="0">
                    <a:latin typeface="Atkinson Hyperlegible Next"/>
                    <a:ea typeface="Arial"/>
                    <a:cs typeface="Arial"/>
                    <a:sym typeface="Arial"/>
                  </a:rPr>
                  <a:t> flight sensors since clocks are now extremely fast and accurate.</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Example:</a:t>
                </a:r>
              </a:p>
              <a:p>
                <a:pPr marL="0" indent="0">
                  <a:lnSpc>
                    <a:spcPct val="100000"/>
                  </a:lnSpc>
                  <a:spcBef>
                    <a:spcPts val="0"/>
                  </a:spcBef>
                  <a:buSzPts val="3000"/>
                  <a:buNone/>
                </a:pPr>
                <a:r>
                  <a:rPr lang="en-US" sz="1800" dirty="0">
                    <a:latin typeface="Atkinson Hyperlegible Next"/>
                    <a:ea typeface="Arial"/>
                    <a:cs typeface="Arial"/>
                    <a:sym typeface="Arial"/>
                  </a:rPr>
                  <a:t>If the pulse returns in </a:t>
                </a:r>
                <a:r>
                  <a:rPr lang="en-US" sz="1800" b="1" dirty="0">
                    <a:latin typeface="Atkinson Hyperlegible Next"/>
                    <a:ea typeface="Arial"/>
                    <a:cs typeface="Arial"/>
                    <a:sym typeface="Arial"/>
                  </a:rPr>
                  <a:t>20 nanoseconds</a:t>
                </a:r>
                <a:r>
                  <a:rPr lang="en-US" sz="1800" dirty="0">
                    <a:latin typeface="Atkinson Hyperlegible Next"/>
                    <a:ea typeface="Arial"/>
                    <a:cs typeface="Arial"/>
                    <a:sym typeface="Arial"/>
                  </a:rPr>
                  <a:t>:</a:t>
                </a:r>
              </a:p>
              <a:p>
                <a:pPr marL="0" indent="0">
                  <a:lnSpc>
                    <a:spcPct val="100000"/>
                  </a:lnSpc>
                  <a:spcBef>
                    <a:spcPts val="0"/>
                  </a:spcBef>
                  <a:buSzPts val="3000"/>
                  <a:buNone/>
                </a:pPr>
                <a:endParaRPr lang="en-US" sz="1800" b="1"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m:rPr>
                          <m:sty m:val="p"/>
                        </m:rPr>
                        <a:rPr lang="en-US" sz="1800" i="1">
                          <a:latin typeface="Cambria Math" panose="02040503050406030204" pitchFamily="18" charset="0"/>
                          <a:ea typeface="Arial"/>
                          <a:cs typeface="Arial"/>
                          <a:sym typeface="Arial"/>
                        </a:rPr>
                        <m:t>d</m:t>
                      </m:r>
                      <m:r>
                        <a:rPr lang="en-US" sz="1800" i="1">
                          <a:latin typeface="Cambria Math" panose="02040503050406030204" pitchFamily="18" charset="0"/>
                          <a:ea typeface="Arial"/>
                          <a:cs typeface="Arial"/>
                          <a:sym typeface="Arial"/>
                        </a:rPr>
                        <m:t> = </m:t>
                      </m:r>
                      <m:f>
                        <m:fPr>
                          <m:ctrlPr>
                            <a:rPr lang="en-US" sz="1800" i="1">
                              <a:latin typeface="Cambria Math" panose="02040503050406030204" pitchFamily="18" charset="0"/>
                              <a:cs typeface="Arial"/>
                              <a:sym typeface="Arial"/>
                            </a:rPr>
                          </m:ctrlPr>
                        </m:fPr>
                        <m:num>
                          <m:r>
                            <a:rPr lang="en-US" sz="1800" i="1">
                              <a:latin typeface="Cambria Math" panose="02040503050406030204" pitchFamily="18" charset="0"/>
                              <a:ea typeface="Cambria Math" panose="02040503050406030204" pitchFamily="18" charset="0"/>
                              <a:cs typeface="Arial"/>
                              <a:sym typeface="Arial"/>
                            </a:rPr>
                            <m:t>3×</m:t>
                          </m:r>
                          <m:sSup>
                            <m:sSupPr>
                              <m:ctrlPr>
                                <a:rPr lang="en-US" sz="1800" i="1">
                                  <a:latin typeface="Cambria Math" panose="02040503050406030204" pitchFamily="18" charset="0"/>
                                  <a:ea typeface="Cambria Math" panose="02040503050406030204" pitchFamily="18" charset="0"/>
                                  <a:cs typeface="Arial"/>
                                  <a:sym typeface="Arial"/>
                                </a:rPr>
                              </m:ctrlPr>
                            </m:sSupPr>
                            <m:e>
                              <m:r>
                                <a:rPr lang="en-US" sz="1800" i="1">
                                  <a:latin typeface="Cambria Math" panose="02040503050406030204" pitchFamily="18" charset="0"/>
                                  <a:ea typeface="Cambria Math" panose="02040503050406030204" pitchFamily="18" charset="0"/>
                                  <a:cs typeface="Arial"/>
                                  <a:sym typeface="Arial"/>
                                </a:rPr>
                                <m:t>10</m:t>
                              </m:r>
                            </m:e>
                            <m:sup>
                              <m:r>
                                <a:rPr lang="en-US" sz="1800" i="1">
                                  <a:latin typeface="Cambria Math" panose="02040503050406030204" pitchFamily="18" charset="0"/>
                                  <a:ea typeface="Cambria Math" panose="02040503050406030204" pitchFamily="18" charset="0"/>
                                  <a:cs typeface="Arial"/>
                                  <a:sym typeface="Arial"/>
                                </a:rPr>
                                <m:t>8</m:t>
                              </m:r>
                            </m:sup>
                          </m:sSup>
                          <m:r>
                            <a:rPr lang="en-US" sz="1800" i="1">
                              <a:latin typeface="Cambria Math" panose="02040503050406030204" pitchFamily="18" charset="0"/>
                              <a:ea typeface="Cambria Math" panose="02040503050406030204" pitchFamily="18" charset="0"/>
                              <a:cs typeface="Arial"/>
                              <a:sym typeface="Arial"/>
                            </a:rPr>
                            <m:t>×</m:t>
                          </m:r>
                          <m:r>
                            <a:rPr lang="en-US" sz="1800" b="0" i="1" smtClean="0">
                              <a:latin typeface="Cambria Math" panose="02040503050406030204" pitchFamily="18" charset="0"/>
                              <a:ea typeface="Cambria Math" panose="02040503050406030204" pitchFamily="18" charset="0"/>
                              <a:cs typeface="Arial"/>
                              <a:sym typeface="Arial"/>
                            </a:rPr>
                            <m:t>20</m:t>
                          </m:r>
                          <m:r>
                            <a:rPr lang="en-US" sz="1800" i="1">
                              <a:latin typeface="Cambria Math" panose="02040503050406030204" pitchFamily="18" charset="0"/>
                              <a:ea typeface="Cambria Math" panose="02040503050406030204" pitchFamily="18" charset="0"/>
                              <a:cs typeface="Arial"/>
                              <a:sym typeface="Arial"/>
                            </a:rPr>
                            <m:t>×</m:t>
                          </m:r>
                          <m:sSup>
                            <m:sSupPr>
                              <m:ctrlPr>
                                <a:rPr lang="en-US" sz="1800" i="1">
                                  <a:latin typeface="Cambria Math" panose="02040503050406030204" pitchFamily="18" charset="0"/>
                                  <a:ea typeface="Cambria Math" panose="02040503050406030204" pitchFamily="18" charset="0"/>
                                  <a:cs typeface="Arial"/>
                                  <a:sym typeface="Arial"/>
                                </a:rPr>
                              </m:ctrlPr>
                            </m:sSupPr>
                            <m:e>
                              <m:r>
                                <a:rPr lang="en-US" sz="1800" i="1">
                                  <a:latin typeface="Cambria Math" panose="02040503050406030204" pitchFamily="18" charset="0"/>
                                  <a:ea typeface="Cambria Math" panose="02040503050406030204" pitchFamily="18" charset="0"/>
                                  <a:cs typeface="Arial"/>
                                  <a:sym typeface="Arial"/>
                                </a:rPr>
                                <m:t>10</m:t>
                              </m:r>
                            </m:e>
                            <m:sup>
                              <m:r>
                                <a:rPr lang="en-US" sz="1800" b="0" i="1" smtClean="0">
                                  <a:latin typeface="Cambria Math" panose="02040503050406030204" pitchFamily="18" charset="0"/>
                                  <a:ea typeface="Cambria Math" panose="02040503050406030204" pitchFamily="18" charset="0"/>
                                  <a:cs typeface="Arial"/>
                                  <a:sym typeface="Arial"/>
                                </a:rPr>
                                <m:t>−9</m:t>
                              </m:r>
                            </m:sup>
                          </m:sSup>
                        </m:num>
                        <m:den>
                          <m:r>
                            <a:rPr lang="en-US" sz="1800" i="1">
                              <a:latin typeface="Cambria Math" panose="02040503050406030204" pitchFamily="18" charset="0"/>
                              <a:cs typeface="Arial"/>
                              <a:sym typeface="Arial"/>
                            </a:rPr>
                            <m:t>2</m:t>
                          </m:r>
                        </m:den>
                      </m:f>
                      <m:r>
                        <a:rPr lang="en-US" sz="1800" b="0" i="1" smtClean="0">
                          <a:latin typeface="Cambria Math" panose="02040503050406030204" pitchFamily="18" charset="0"/>
                          <a:cs typeface="Arial"/>
                          <a:sym typeface="Arial"/>
                        </a:rPr>
                        <m:t>=3 </m:t>
                      </m:r>
                      <m:r>
                        <m:rPr>
                          <m:sty m:val="p"/>
                        </m:rPr>
                        <a:rPr lang="en-US" sz="1800" b="0" i="1" smtClean="0">
                          <a:latin typeface="Cambria Math" panose="02040503050406030204" pitchFamily="18" charset="0"/>
                          <a:cs typeface="Arial"/>
                          <a:sym typeface="Arial"/>
                        </a:rPr>
                        <m:t>meters</m:t>
                      </m:r>
                    </m:oMath>
                  </m:oMathPara>
                </a14:m>
                <a:endParaRPr lang="en-US" sz="1800" b="1" dirty="0">
                  <a:latin typeface="Atkinson Hyperlegible Next"/>
                  <a:ea typeface="Arial"/>
                  <a:cs typeface="Arial"/>
                  <a:sym typeface="Arial"/>
                </a:endParaRPr>
              </a:p>
              <a:p>
                <a:pPr marL="0" indent="0">
                  <a:lnSpc>
                    <a:spcPct val="100000"/>
                  </a:lnSpc>
                  <a:spcBef>
                    <a:spcPts val="0"/>
                  </a:spcBef>
                  <a:buSzPts val="3000"/>
                  <a:buNone/>
                </a:pPr>
                <a:endParaRPr lang="en-US" sz="1800" b="1"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The Red Board’s clock runs at 200 MHz ( not that you would use the Red Board ). Which has a clock cycle of </a:t>
                </a:r>
                <a:r>
                  <a:rPr lang="en-US" sz="1800" b="1" dirty="0">
                    <a:latin typeface="Atkinson Hyperlegible Next"/>
                    <a:ea typeface="Arial"/>
                    <a:cs typeface="Arial"/>
                    <a:sym typeface="Arial"/>
                  </a:rPr>
                  <a:t>5 nanoseconds</a:t>
                </a:r>
                <a:r>
                  <a:rPr lang="en-US" sz="1800" dirty="0">
                    <a:latin typeface="Atkinson Hyperlegible Next"/>
                    <a:ea typeface="Arial"/>
                    <a:cs typeface="Arial"/>
                    <a:sym typeface="Arial"/>
                  </a:rPr>
                  <a:t>. </a:t>
                </a:r>
              </a:p>
            </p:txBody>
          </p:sp>
        </mc:Choice>
        <mc:Fallback xmlns="">
          <p:sp>
            <p:nvSpPr>
              <p:cNvPr id="23" name="Google Shape;118;p29">
                <a:extLst>
                  <a:ext uri="{FF2B5EF4-FFF2-40B4-BE49-F238E27FC236}">
                    <a16:creationId xmlns:a16="http://schemas.microsoft.com/office/drawing/2014/main" id="{8E81D82E-008D-4CCE-C4F8-4D255495B59E}"/>
                  </a:ext>
                </a:extLst>
              </p:cNvPr>
              <p:cNvSpPr txBox="1">
                <a:spLocks noGrp="1" noRot="1" noChangeAspect="1" noMove="1" noResize="1" noEditPoints="1" noAdjustHandles="1" noChangeArrowheads="1" noChangeShapeType="1" noTextEdit="1"/>
              </p:cNvSpPr>
              <p:nvPr>
                <p:ph type="body" idx="1"/>
              </p:nvPr>
            </p:nvSpPr>
            <p:spPr>
              <a:xfrm>
                <a:off x="376810" y="1334279"/>
                <a:ext cx="11432202" cy="4821102"/>
              </a:xfrm>
              <a:prstGeom prst="rect">
                <a:avLst/>
              </a:prstGeom>
              <a:blipFill>
                <a:blip r:embed="rId4"/>
                <a:stretch>
                  <a:fillRect l="-480" t="-759" r="-587"/>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37163693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F122B463-4E48-BF5E-862F-BA35F70F7457}"/>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D0066F92-B57B-A3DD-B408-F7B708D8CE0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2028F6D4-B4E7-1860-2FD7-FE62FEA230F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3C9C3071-9258-1080-44B1-15A3FCF7587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5A76196D-81E4-5E78-945D-864CAB3965DE}"/>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B4727FB6-73E0-EAA8-42EC-CEBA8BCBDCE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BC66D77-3979-F281-9104-ECFDCFFB7A7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217959D-34FA-17D3-DBB0-030979E993F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5C724C74-2C84-32EB-4250-8E58F663A75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mc:AlternateContent xmlns:mc="http://schemas.openxmlformats.org/markup-compatibility/2006" xmlns:a14="http://schemas.microsoft.com/office/drawing/2010/main">
        <mc:Choice Requires="a14">
          <p:sp>
            <p:nvSpPr>
              <p:cNvPr id="23" name="Google Shape;118;p29">
                <a:extLst>
                  <a:ext uri="{FF2B5EF4-FFF2-40B4-BE49-F238E27FC236}">
                    <a16:creationId xmlns:a16="http://schemas.microsoft.com/office/drawing/2014/main" id="{F1CF2F24-F533-9610-FF3E-5932CF526A0D}"/>
                  </a:ext>
                </a:extLst>
              </p:cNvPr>
              <p:cNvSpPr txBox="1">
                <a:spLocks noGrp="1"/>
              </p:cNvSpPr>
              <p:nvPr>
                <p:ph type="body" idx="1"/>
              </p:nvPr>
            </p:nvSpPr>
            <p:spPr>
              <a:xfrm>
                <a:off x="376810" y="1334279"/>
                <a:ext cx="11432202" cy="2714239"/>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1800" dirty="0">
                    <a:latin typeface="Atkinson Hyperlegible Next"/>
                    <a:ea typeface="Arial"/>
                    <a:cs typeface="Arial"/>
                    <a:sym typeface="Arial"/>
                  </a:rPr>
                  <a:t>What happens if the clock is too slow?</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285750" indent="-285750">
                  <a:lnSpc>
                    <a:spcPct val="100000"/>
                  </a:lnSpc>
                  <a:spcBef>
                    <a:spcPts val="0"/>
                  </a:spcBef>
                  <a:buSzPts val="3000"/>
                </a:pPr>
                <a:r>
                  <a:rPr lang="en-US" sz="1800" dirty="0">
                    <a:latin typeface="Atkinson Hyperlegible Next"/>
                    <a:ea typeface="Arial"/>
                    <a:cs typeface="Arial"/>
                    <a:sym typeface="Arial"/>
                  </a:rPr>
                  <a:t>You get a lower accuracy since the time is not as accurate</a:t>
                </a:r>
              </a:p>
              <a:p>
                <a:pPr marL="285750" indent="-285750">
                  <a:lnSpc>
                    <a:spcPct val="100000"/>
                  </a:lnSpc>
                  <a:spcBef>
                    <a:spcPts val="0"/>
                  </a:spcBef>
                  <a:buSzPts val="3000"/>
                </a:pPr>
                <a:r>
                  <a:rPr lang="en-US" sz="1800" dirty="0">
                    <a:latin typeface="Atkinson Hyperlegible Next"/>
                    <a:ea typeface="Arial"/>
                    <a:cs typeface="Arial"/>
                    <a:sym typeface="Arial"/>
                  </a:rPr>
                  <a:t>You cannot measure distances that are too close! (there is usually a minimum distance for </a:t>
                </a:r>
                <a:r>
                  <a:rPr lang="en-US" sz="1800" dirty="0" err="1">
                    <a:latin typeface="Atkinson Hyperlegible Next"/>
                    <a:ea typeface="Arial"/>
                    <a:cs typeface="Arial"/>
                    <a:sym typeface="Arial"/>
                  </a:rPr>
                  <a:t>LiDARs</a:t>
                </a:r>
                <a:r>
                  <a:rPr lang="en-US" sz="1800" dirty="0">
                    <a:latin typeface="Atkinson Hyperlegible Next"/>
                    <a:ea typeface="Arial"/>
                    <a:cs typeface="Arial"/>
                    <a:sym typeface="Arial"/>
                  </a:rPr>
                  <a:t> as well as the field of view)</a:t>
                </a:r>
                <a:endParaRPr lang="en-US" sz="1800" b="1"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r>
                        <m:rPr>
                          <m:sty m:val="p"/>
                        </m:rPr>
                        <a:rPr lang="en-US" sz="1800" i="1">
                          <a:latin typeface="Cambria Math" panose="02040503050406030204" pitchFamily="18" charset="0"/>
                          <a:ea typeface="Arial"/>
                          <a:cs typeface="Arial"/>
                          <a:sym typeface="Arial"/>
                        </a:rPr>
                        <m:t>minimum</m:t>
                      </m:r>
                      <m:r>
                        <a:rPr lang="en-US" sz="1800" i="1">
                          <a:latin typeface="Cambria Math" panose="02040503050406030204" pitchFamily="18" charset="0"/>
                          <a:ea typeface="Arial"/>
                          <a:cs typeface="Arial"/>
                          <a:sym typeface="Arial"/>
                        </a:rPr>
                        <m:t> </m:t>
                      </m:r>
                      <m:r>
                        <m:rPr>
                          <m:sty m:val="p"/>
                        </m:rPr>
                        <a:rPr lang="en-US" sz="1800" i="1">
                          <a:latin typeface="Cambria Math" panose="02040503050406030204" pitchFamily="18" charset="0"/>
                          <a:ea typeface="Arial"/>
                          <a:cs typeface="Arial"/>
                          <a:sym typeface="Arial"/>
                        </a:rPr>
                        <m:t>d</m:t>
                      </m:r>
                      <m:r>
                        <a:rPr lang="en-US" sz="1800" i="1">
                          <a:latin typeface="Cambria Math" panose="02040503050406030204" pitchFamily="18" charset="0"/>
                          <a:ea typeface="Arial"/>
                          <a:cs typeface="Arial"/>
                          <a:sym typeface="Arial"/>
                        </a:rPr>
                        <m:t> = </m:t>
                      </m:r>
                      <m:f>
                        <m:fPr>
                          <m:ctrlPr>
                            <a:rPr lang="en-US" sz="1800" i="1">
                              <a:latin typeface="Cambria Math" panose="02040503050406030204" pitchFamily="18" charset="0"/>
                              <a:cs typeface="Arial"/>
                              <a:sym typeface="Arial"/>
                            </a:rPr>
                          </m:ctrlPr>
                        </m:fPr>
                        <m:num>
                          <m:r>
                            <a:rPr lang="en-US" sz="1800" i="1">
                              <a:latin typeface="Cambria Math" panose="02040503050406030204" pitchFamily="18" charset="0"/>
                              <a:ea typeface="Cambria Math" panose="02040503050406030204" pitchFamily="18" charset="0"/>
                              <a:cs typeface="Arial"/>
                              <a:sym typeface="Arial"/>
                            </a:rPr>
                            <m:t>3×</m:t>
                          </m:r>
                          <m:sSup>
                            <m:sSupPr>
                              <m:ctrlPr>
                                <a:rPr lang="en-US" sz="1800" i="1">
                                  <a:latin typeface="Cambria Math" panose="02040503050406030204" pitchFamily="18" charset="0"/>
                                  <a:ea typeface="Cambria Math" panose="02040503050406030204" pitchFamily="18" charset="0"/>
                                  <a:cs typeface="Arial"/>
                                  <a:sym typeface="Arial"/>
                                </a:rPr>
                              </m:ctrlPr>
                            </m:sSupPr>
                            <m:e>
                              <m:r>
                                <a:rPr lang="en-US" sz="1800" i="1">
                                  <a:latin typeface="Cambria Math" panose="02040503050406030204" pitchFamily="18" charset="0"/>
                                  <a:ea typeface="Cambria Math" panose="02040503050406030204" pitchFamily="18" charset="0"/>
                                  <a:cs typeface="Arial"/>
                                  <a:sym typeface="Arial"/>
                                </a:rPr>
                                <m:t>10</m:t>
                              </m:r>
                            </m:e>
                            <m:sup>
                              <m:r>
                                <a:rPr lang="en-US" sz="1800" i="1">
                                  <a:latin typeface="Cambria Math" panose="02040503050406030204" pitchFamily="18" charset="0"/>
                                  <a:ea typeface="Cambria Math" panose="02040503050406030204" pitchFamily="18" charset="0"/>
                                  <a:cs typeface="Arial"/>
                                  <a:sym typeface="Arial"/>
                                </a:rPr>
                                <m:t>8</m:t>
                              </m:r>
                            </m:sup>
                          </m:sSup>
                          <m:r>
                            <a:rPr lang="en-US" sz="1800" i="1">
                              <a:latin typeface="Cambria Math" panose="02040503050406030204" pitchFamily="18" charset="0"/>
                              <a:ea typeface="Cambria Math" panose="02040503050406030204" pitchFamily="18" charset="0"/>
                              <a:cs typeface="Arial"/>
                              <a:sym typeface="Arial"/>
                            </a:rPr>
                            <m:t>×5×</m:t>
                          </m:r>
                          <m:sSup>
                            <m:sSupPr>
                              <m:ctrlPr>
                                <a:rPr lang="en-US" sz="1800" i="1">
                                  <a:latin typeface="Cambria Math" panose="02040503050406030204" pitchFamily="18" charset="0"/>
                                  <a:ea typeface="Cambria Math" panose="02040503050406030204" pitchFamily="18" charset="0"/>
                                  <a:cs typeface="Arial"/>
                                  <a:sym typeface="Arial"/>
                                </a:rPr>
                              </m:ctrlPr>
                            </m:sSupPr>
                            <m:e>
                              <m:r>
                                <a:rPr lang="en-US" sz="1800" i="1">
                                  <a:latin typeface="Cambria Math" panose="02040503050406030204" pitchFamily="18" charset="0"/>
                                  <a:ea typeface="Cambria Math" panose="02040503050406030204" pitchFamily="18" charset="0"/>
                                  <a:cs typeface="Arial"/>
                                  <a:sym typeface="Arial"/>
                                </a:rPr>
                                <m:t>10</m:t>
                              </m:r>
                            </m:e>
                            <m:sup>
                              <m:r>
                                <a:rPr lang="en-US" sz="1800" i="1">
                                  <a:latin typeface="Cambria Math" panose="02040503050406030204" pitchFamily="18" charset="0"/>
                                  <a:ea typeface="Cambria Math" panose="02040503050406030204" pitchFamily="18" charset="0"/>
                                  <a:cs typeface="Arial"/>
                                  <a:sym typeface="Arial"/>
                                </a:rPr>
                                <m:t>−9</m:t>
                              </m:r>
                            </m:sup>
                          </m:sSup>
                        </m:num>
                        <m:den>
                          <m:r>
                            <a:rPr lang="en-US" sz="1800" i="1">
                              <a:latin typeface="Cambria Math" panose="02040503050406030204" pitchFamily="18" charset="0"/>
                              <a:cs typeface="Arial"/>
                              <a:sym typeface="Arial"/>
                            </a:rPr>
                            <m:t>2</m:t>
                          </m:r>
                        </m:den>
                      </m:f>
                      <m:r>
                        <a:rPr lang="en-US" sz="1800" i="1">
                          <a:latin typeface="Cambria Math" panose="02040503050406030204" pitchFamily="18" charset="0"/>
                          <a:cs typeface="Arial"/>
                          <a:sym typeface="Arial"/>
                        </a:rPr>
                        <m:t>=0.75 </m:t>
                      </m:r>
                      <m:r>
                        <m:rPr>
                          <m:sty m:val="p"/>
                        </m:rPr>
                        <a:rPr lang="en-US" sz="1800" i="1">
                          <a:latin typeface="Cambria Math" panose="02040503050406030204" pitchFamily="18" charset="0"/>
                          <a:cs typeface="Arial"/>
                          <a:sym typeface="Arial"/>
                        </a:rPr>
                        <m:t>meters</m:t>
                      </m:r>
                    </m:oMath>
                  </m:oMathPara>
                </a14:m>
                <a:endParaRPr lang="en-US" sz="1800" dirty="0">
                  <a:latin typeface="Atkinson Hyperlegible Next"/>
                  <a:ea typeface="Arial"/>
                  <a:cs typeface="Arial"/>
                  <a:sym typeface="Arial"/>
                </a:endParaRPr>
              </a:p>
              <a:p>
                <a:pPr marL="0" indent="0">
                  <a:lnSpc>
                    <a:spcPct val="100000"/>
                  </a:lnSpc>
                  <a:spcBef>
                    <a:spcPts val="0"/>
                  </a:spcBef>
                  <a:buSzPts val="3000"/>
                  <a:buNone/>
                </a:pPr>
                <a:endParaRPr lang="en-US" sz="1800" dirty="0">
                  <a:latin typeface="Atkinson Hyperlegible Next"/>
                  <a:ea typeface="Arial"/>
                  <a:cs typeface="Arial"/>
                  <a:sym typeface="Arial"/>
                </a:endParaRPr>
              </a:p>
              <a:p>
                <a:pPr marL="285750" indent="-285750">
                  <a:lnSpc>
                    <a:spcPct val="100000"/>
                  </a:lnSpc>
                  <a:spcBef>
                    <a:spcPts val="0"/>
                  </a:spcBef>
                  <a:buSzPts val="3000"/>
                </a:pPr>
                <a:r>
                  <a:rPr lang="en-US" sz="1800" dirty="0">
                    <a:latin typeface="Atkinson Hyperlegible Next"/>
                    <a:ea typeface="Arial"/>
                    <a:cs typeface="Arial"/>
                    <a:sym typeface="Arial"/>
                  </a:rPr>
                  <a:t>In addition, if you are not far enough your receiver cannot see the signal</a:t>
                </a:r>
              </a:p>
            </p:txBody>
          </p:sp>
        </mc:Choice>
        <mc:Fallback xmlns="">
          <p:sp>
            <p:nvSpPr>
              <p:cNvPr id="23" name="Google Shape;118;p29">
                <a:extLst>
                  <a:ext uri="{FF2B5EF4-FFF2-40B4-BE49-F238E27FC236}">
                    <a16:creationId xmlns:a16="http://schemas.microsoft.com/office/drawing/2014/main" id="{F1CF2F24-F533-9610-FF3E-5932CF526A0D}"/>
                  </a:ext>
                </a:extLst>
              </p:cNvPr>
              <p:cNvSpPr txBox="1">
                <a:spLocks noGrp="1" noRot="1" noChangeAspect="1" noMove="1" noResize="1" noEditPoints="1" noAdjustHandles="1" noChangeArrowheads="1" noChangeShapeType="1" noTextEdit="1"/>
              </p:cNvSpPr>
              <p:nvPr>
                <p:ph type="body" idx="1"/>
              </p:nvPr>
            </p:nvSpPr>
            <p:spPr>
              <a:xfrm>
                <a:off x="376810" y="1334279"/>
                <a:ext cx="11432202" cy="2714239"/>
              </a:xfrm>
              <a:prstGeom prst="rect">
                <a:avLst/>
              </a:prstGeom>
              <a:blipFill>
                <a:blip r:embed="rId4"/>
                <a:stretch>
                  <a:fillRect l="-1120" t="-1348" b="-1573"/>
                </a:stretch>
              </a:blipFill>
              <a:ln>
                <a:noFill/>
              </a:ln>
            </p:spPr>
            <p:txBody>
              <a:bodyPr/>
              <a:lstStyle/>
              <a:p>
                <a:r>
                  <a:rPr lang="en-US">
                    <a:noFill/>
                  </a:rPr>
                  <a:t> </a:t>
                </a:r>
              </a:p>
            </p:txBody>
          </p:sp>
        </mc:Fallback>
      </mc:AlternateContent>
      <p:pic>
        <p:nvPicPr>
          <p:cNvPr id="3" name="Graphic 2">
            <a:extLst>
              <a:ext uri="{FF2B5EF4-FFF2-40B4-BE49-F238E27FC236}">
                <a16:creationId xmlns:a16="http://schemas.microsoft.com/office/drawing/2014/main" id="{90BDC651-87BC-7F7F-A3A5-D34A1C94641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25200" y="4047414"/>
            <a:ext cx="5535420" cy="2202871"/>
          </a:xfrm>
          <a:prstGeom prst="rect">
            <a:avLst/>
          </a:prstGeom>
        </p:spPr>
      </p:pic>
      <p:sp>
        <p:nvSpPr>
          <p:cNvPr id="5" name="TextBox 4">
            <a:extLst>
              <a:ext uri="{FF2B5EF4-FFF2-40B4-BE49-F238E27FC236}">
                <a16:creationId xmlns:a16="http://schemas.microsoft.com/office/drawing/2014/main" id="{643BEB1F-8BDB-E9A3-7F40-636528F52482}"/>
              </a:ext>
            </a:extLst>
          </p:cNvPr>
          <p:cNvSpPr txBox="1"/>
          <p:nvPr/>
        </p:nvSpPr>
        <p:spPr>
          <a:xfrm>
            <a:off x="4099010" y="6321835"/>
            <a:ext cx="3987800" cy="246221"/>
          </a:xfrm>
          <a:prstGeom prst="rect">
            <a:avLst/>
          </a:prstGeom>
          <a:noFill/>
        </p:spPr>
        <p:txBody>
          <a:bodyPr wrap="square">
            <a:spAutoFit/>
          </a:bodyPr>
          <a:lstStyle/>
          <a:p>
            <a:pPr algn="ctr"/>
            <a:r>
              <a:rPr lang="en-US" sz="1000" dirty="0">
                <a:hlinkClick r:id="rId7"/>
              </a:rPr>
              <a:t>https://www.ti.com/lit/ug/tiducm1b/tiducm1b.pdf</a:t>
            </a:r>
            <a:r>
              <a:rPr lang="en-US" sz="1000" dirty="0"/>
              <a:t> </a:t>
            </a:r>
          </a:p>
        </p:txBody>
      </p:sp>
    </p:spTree>
    <p:extLst>
      <p:ext uri="{BB962C8B-B14F-4D97-AF65-F5344CB8AC3E}">
        <p14:creationId xmlns:p14="http://schemas.microsoft.com/office/powerpoint/2010/main" val="2660855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9839703-1CAE-4C31-DA7B-966127E5C896}"/>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3DD8FA93-D0FB-80B1-8D30-9CE8F6D64E78}"/>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668B059-5E6D-6B5E-E139-18E0E032723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67E92A90-117B-09F0-3A00-FC0385FAF01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33510B8-359B-E6A4-52D5-3B87A4A873C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DD45200-83C0-DDF3-92AA-660E18E6C10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33832325-408C-0CEE-5E3B-75A0E94A437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CB213426-B125-ED2D-861C-442759B6AE7B}"/>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3284C35-53EF-9778-BB20-5B1EE9201A9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23" name="Google Shape;118;p29">
            <a:extLst>
              <a:ext uri="{FF2B5EF4-FFF2-40B4-BE49-F238E27FC236}">
                <a16:creationId xmlns:a16="http://schemas.microsoft.com/office/drawing/2014/main" id="{AD5E02C5-90EC-3D3F-DB6B-73D3F09A892C}"/>
              </a:ext>
            </a:extLst>
          </p:cNvPr>
          <p:cNvSpPr txBox="1">
            <a:spLocks noGrp="1"/>
          </p:cNvSpPr>
          <p:nvPr>
            <p:ph type="body" idx="1"/>
          </p:nvPr>
        </p:nvSpPr>
        <p:spPr>
          <a:xfrm>
            <a:off x="376810" y="1334279"/>
            <a:ext cx="11432202"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1800" dirty="0">
                <a:latin typeface="Atkinson Hyperlegible Next"/>
                <a:ea typeface="Arial"/>
                <a:cs typeface="Arial"/>
                <a:sym typeface="Arial"/>
              </a:rPr>
              <a:t>Why use lasers?</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The problem is that Inverse Square Law it is based on the surface expanding in space. What are 2 ways to improve the intensity of the signal returned?</a:t>
            </a:r>
          </a:p>
          <a:p>
            <a:pPr marL="285750" indent="-285750">
              <a:lnSpc>
                <a:spcPct val="100000"/>
              </a:lnSpc>
              <a:spcBef>
                <a:spcPts val="0"/>
              </a:spcBef>
              <a:buSzPts val="3000"/>
            </a:pPr>
            <a:r>
              <a:rPr lang="en-US" sz="1800" dirty="0">
                <a:latin typeface="Atkinson Hyperlegible Next"/>
                <a:ea typeface="Arial"/>
                <a:cs typeface="Arial"/>
                <a:sym typeface="Arial"/>
              </a:rPr>
              <a:t>Increase the power.</a:t>
            </a:r>
          </a:p>
          <a:p>
            <a:pPr marL="285750" indent="-285750">
              <a:lnSpc>
                <a:spcPct val="100000"/>
              </a:lnSpc>
              <a:spcBef>
                <a:spcPts val="0"/>
              </a:spcBef>
              <a:buSzPts val="3000"/>
            </a:pPr>
            <a:r>
              <a:rPr lang="en-US" sz="1800" dirty="0">
                <a:latin typeface="Atkinson Hyperlegible Next"/>
                <a:ea typeface="Arial"/>
                <a:cs typeface="Arial"/>
                <a:sym typeface="Arial"/>
              </a:rPr>
              <a:t>Reduce how dispersed the signal is </a:t>
            </a:r>
          </a:p>
          <a:p>
            <a:pPr marL="285750" indent="-285750">
              <a:lnSpc>
                <a:spcPct val="100000"/>
              </a:lnSpc>
              <a:spcBef>
                <a:spcPts val="0"/>
              </a:spcBef>
              <a:buSzPts val="3000"/>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IR LEDs spread light over a wide angle, which causes:</a:t>
            </a:r>
          </a:p>
          <a:p>
            <a:pPr marL="285750" indent="-285750">
              <a:lnSpc>
                <a:spcPct val="100000"/>
              </a:lnSpc>
              <a:spcBef>
                <a:spcPts val="0"/>
              </a:spcBef>
              <a:buSzPts val="3000"/>
            </a:pPr>
            <a:r>
              <a:rPr lang="en-US" sz="1800" dirty="0">
                <a:latin typeface="Atkinson Hyperlegible Next"/>
                <a:ea typeface="Arial"/>
                <a:cs typeface="Arial"/>
                <a:sym typeface="Arial"/>
              </a:rPr>
              <a:t>Rapid signal loss</a:t>
            </a:r>
          </a:p>
          <a:p>
            <a:pPr marL="285750" indent="-285750">
              <a:lnSpc>
                <a:spcPct val="100000"/>
              </a:lnSpc>
              <a:spcBef>
                <a:spcPts val="0"/>
              </a:spcBef>
              <a:buSzPts val="3000"/>
            </a:pPr>
            <a:r>
              <a:rPr lang="en-US" sz="1800" dirty="0">
                <a:latin typeface="Atkinson Hyperlegible Next"/>
                <a:ea typeface="Arial"/>
                <a:cs typeface="Arial"/>
                <a:sym typeface="Arial"/>
              </a:rPr>
              <a:t>Poor directional accuracy</a:t>
            </a:r>
          </a:p>
          <a:p>
            <a:pPr marL="285750" indent="-285750">
              <a:lnSpc>
                <a:spcPct val="100000"/>
              </a:lnSpc>
              <a:spcBef>
                <a:spcPts val="0"/>
              </a:spcBef>
              <a:buSzPts val="3000"/>
            </a:pPr>
            <a:r>
              <a:rPr lang="en-US" sz="1800" dirty="0">
                <a:latin typeface="Atkinson Hyperlegible Next"/>
                <a:ea typeface="Arial"/>
                <a:cs typeface="Arial"/>
                <a:sym typeface="Arial"/>
              </a:rPr>
              <a:t>Lower range</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endParaRPr lang="en-US" sz="1800" dirty="0">
              <a:latin typeface="Atkinson Hyperlegible Next"/>
              <a:ea typeface="Arial"/>
              <a:cs typeface="Arial"/>
              <a:sym typeface="Arial"/>
            </a:endParaRPr>
          </a:p>
        </p:txBody>
      </p:sp>
    </p:spTree>
    <p:extLst>
      <p:ext uri="{BB962C8B-B14F-4D97-AF65-F5344CB8AC3E}">
        <p14:creationId xmlns:p14="http://schemas.microsoft.com/office/powerpoint/2010/main" val="22251940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1913CC9-8E6E-F2DC-5F77-12BFD48755AE}"/>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DD4E0680-EC00-6F17-151C-8340D7473517}"/>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7652A16-982D-C0DD-F059-D78127DF6E84}"/>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259D4081-07E2-CEF1-A08E-DE393B3741E9}"/>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CF7EE9C3-4D5C-2518-4742-94E44ACA41A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FD7B6FE-5D36-5AAB-4FCD-1756ECDA272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505AE00-AD2E-E7D4-8BDD-95D0D9EF043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8B89B629-48AF-2222-BCB5-A87E7B7A947A}"/>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76ECB4D-4F48-17EA-1F88-06164A98B7C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23" name="Google Shape;118;p29">
            <a:extLst>
              <a:ext uri="{FF2B5EF4-FFF2-40B4-BE49-F238E27FC236}">
                <a16:creationId xmlns:a16="http://schemas.microsoft.com/office/drawing/2014/main" id="{C15C344A-8E0B-801D-DCE9-4348BC6918D8}"/>
              </a:ext>
            </a:extLst>
          </p:cNvPr>
          <p:cNvSpPr txBox="1">
            <a:spLocks noGrp="1"/>
          </p:cNvSpPr>
          <p:nvPr>
            <p:ph type="body" idx="1"/>
          </p:nvPr>
        </p:nvSpPr>
        <p:spPr>
          <a:xfrm>
            <a:off x="376810" y="1334279"/>
            <a:ext cx="11432202"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1800" dirty="0">
                <a:latin typeface="Atkinson Hyperlegible Next"/>
                <a:ea typeface="Arial"/>
                <a:cs typeface="Arial"/>
                <a:sym typeface="Arial"/>
              </a:rPr>
              <a:t>Lasers are preferred because they have:</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High Directionality: </a:t>
            </a:r>
          </a:p>
          <a:p>
            <a:pPr marL="285750" indent="-285750">
              <a:lnSpc>
                <a:spcPct val="100000"/>
              </a:lnSpc>
              <a:spcBef>
                <a:spcPts val="0"/>
              </a:spcBef>
              <a:buSzPts val="3000"/>
            </a:pPr>
            <a:r>
              <a:rPr lang="en-US" sz="1800" dirty="0">
                <a:latin typeface="Atkinson Hyperlegible Next"/>
                <a:ea typeface="Arial"/>
                <a:cs typeface="Arial"/>
                <a:sym typeface="Arial"/>
              </a:rPr>
              <a:t>Laser beams are very narrow, so most energy travels in one direction.</a:t>
            </a:r>
          </a:p>
          <a:p>
            <a:pPr marL="285750" indent="-285750">
              <a:lnSpc>
                <a:spcPct val="100000"/>
              </a:lnSpc>
              <a:spcBef>
                <a:spcPts val="0"/>
              </a:spcBef>
              <a:buSzPts val="3000"/>
            </a:pPr>
            <a:r>
              <a:rPr lang="en-US" sz="1800" dirty="0">
                <a:latin typeface="Atkinson Hyperlegible Next"/>
                <a:ea typeface="Arial"/>
                <a:cs typeface="Arial"/>
                <a:sym typeface="Arial"/>
              </a:rPr>
              <a:t>This allows detection of objects much farther away.</a:t>
            </a:r>
          </a:p>
          <a:p>
            <a:pPr marL="285750" indent="-285750">
              <a:lnSpc>
                <a:spcPct val="100000"/>
              </a:lnSpc>
              <a:spcBef>
                <a:spcPts val="0"/>
              </a:spcBef>
              <a:buSzPts val="3000"/>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High Optical Power Density:</a:t>
            </a:r>
          </a:p>
          <a:p>
            <a:pPr marL="285750" indent="-285750">
              <a:lnSpc>
                <a:spcPct val="100000"/>
              </a:lnSpc>
              <a:spcBef>
                <a:spcPts val="0"/>
              </a:spcBef>
              <a:buSzPts val="3000"/>
            </a:pPr>
            <a:r>
              <a:rPr lang="en-US" sz="1800" dirty="0">
                <a:latin typeface="Atkinson Hyperlegible Next"/>
                <a:ea typeface="Arial"/>
                <a:cs typeface="Arial"/>
                <a:sym typeface="Arial"/>
              </a:rPr>
              <a:t>Because the beam is concentrated, the returned signal is stronger.</a:t>
            </a:r>
          </a:p>
          <a:p>
            <a:pPr marL="285750" indent="-285750">
              <a:lnSpc>
                <a:spcPct val="100000"/>
              </a:lnSpc>
              <a:spcBef>
                <a:spcPts val="0"/>
              </a:spcBef>
              <a:buSzPts val="3000"/>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Precise Timing:</a:t>
            </a:r>
          </a:p>
          <a:p>
            <a:pPr marL="285750" indent="-285750">
              <a:lnSpc>
                <a:spcPct val="100000"/>
              </a:lnSpc>
              <a:spcBef>
                <a:spcPts val="0"/>
              </a:spcBef>
              <a:buSzPts val="3000"/>
            </a:pPr>
            <a:r>
              <a:rPr lang="en-US" sz="1800" dirty="0">
                <a:latin typeface="Atkinson Hyperlegible Next"/>
                <a:ea typeface="Arial"/>
                <a:cs typeface="Arial"/>
                <a:sym typeface="Arial"/>
              </a:rPr>
              <a:t>Laser pulses can be extremely short, enabling nanosecond-level timing accuracy.</a:t>
            </a:r>
          </a:p>
          <a:p>
            <a:pPr marL="285750" indent="-285750">
              <a:lnSpc>
                <a:spcPct val="100000"/>
              </a:lnSpc>
              <a:spcBef>
                <a:spcPts val="0"/>
              </a:spcBef>
              <a:buSzPts val="3000"/>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Better Spatial Resolution:</a:t>
            </a:r>
          </a:p>
          <a:p>
            <a:pPr marL="285750" indent="-285750">
              <a:lnSpc>
                <a:spcPct val="100000"/>
              </a:lnSpc>
              <a:spcBef>
                <a:spcPts val="0"/>
              </a:spcBef>
              <a:buSzPts val="3000"/>
            </a:pPr>
            <a:r>
              <a:rPr lang="en-US" sz="1800" dirty="0">
                <a:latin typeface="Atkinson Hyperlegible Next"/>
                <a:ea typeface="Arial"/>
                <a:cs typeface="Arial"/>
                <a:sym typeface="Arial"/>
              </a:rPr>
              <a:t>A narrow beam allows LiDAR to detect fine details and small objects.</a:t>
            </a:r>
          </a:p>
        </p:txBody>
      </p:sp>
    </p:spTree>
    <p:extLst>
      <p:ext uri="{BB962C8B-B14F-4D97-AF65-F5344CB8AC3E}">
        <p14:creationId xmlns:p14="http://schemas.microsoft.com/office/powerpoint/2010/main" val="1020660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xEl>
                                              <p:pRg st="2" end="2"/>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xEl>
                                              <p:pRg st="3" end="3"/>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3">
                                            <p:txEl>
                                              <p:pRg st="6" end="6"/>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xEl>
                                              <p:pRg st="7" end="7"/>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3">
                                            <p:txEl>
                                              <p:pRg st="9" end="9"/>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xEl>
                                              <p:pRg st="12" end="12"/>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3A55BB7-39C1-8BE4-D05E-EE20898686C5}"/>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08876AAC-E7E8-EBDF-E864-70628DDA9C3F}"/>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7485292D-3CC6-3443-B448-AD67379F4C84}"/>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87796D89-2A5D-26FC-7DF2-C0D4AB75F50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2D698D0-ED70-8992-AF46-920C9391DB0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88844DE-56C8-60BF-99E1-55AFB4AC8B37}"/>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C36546B-F14F-B986-94ED-8495F4EF8705}"/>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B960CA2-923C-5B5D-B61B-17B930B6BAC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7C54E65F-446C-58CE-E10B-9B6F8313DC94}"/>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mc:AlternateContent xmlns:mc="http://schemas.openxmlformats.org/markup-compatibility/2006" xmlns:a14="http://schemas.microsoft.com/office/drawing/2010/main">
        <mc:Choice Requires="a14">
          <p:sp>
            <p:nvSpPr>
              <p:cNvPr id="23" name="Google Shape;118;p29">
                <a:extLst>
                  <a:ext uri="{FF2B5EF4-FFF2-40B4-BE49-F238E27FC236}">
                    <a16:creationId xmlns:a16="http://schemas.microsoft.com/office/drawing/2014/main" id="{DBD5450D-10A6-79FA-5BB8-407E93CA68AD}"/>
                  </a:ext>
                </a:extLst>
              </p:cNvPr>
              <p:cNvSpPr txBox="1">
                <a:spLocks noGrp="1"/>
              </p:cNvSpPr>
              <p:nvPr>
                <p:ph type="body" idx="1"/>
              </p:nvPr>
            </p:nvSpPr>
            <p:spPr>
              <a:xfrm>
                <a:off x="376810" y="1334279"/>
                <a:ext cx="41560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1800" dirty="0">
                    <a:latin typeface="Atkinson Hyperlegible Next"/>
                    <a:ea typeface="Arial"/>
                    <a:cs typeface="Arial"/>
                    <a:sym typeface="Arial"/>
                  </a:rPr>
                  <a:t>Pulsed LiDAR, you send a small light pulse and get the time that it arrived. Allows for the precise timing. </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The LiDAR sends pulses at set intervals and waits for the return.</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The maximum distance that you measure is based on that pulse width. As otherwise it would bleed into other pulses. </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1800" i="1" smtClean="0">
                              <a:latin typeface="Cambria Math" panose="02040503050406030204" pitchFamily="18" charset="0"/>
                              <a:cs typeface="Arial"/>
                              <a:sym typeface="Arial"/>
                            </a:rPr>
                          </m:ctrlPr>
                        </m:sSubPr>
                        <m:e>
                          <m:r>
                            <m:rPr>
                              <m:sty m:val="p"/>
                            </m:rPr>
                            <a:rPr lang="en-US" sz="1800" b="0" i="1" smtClean="0">
                              <a:latin typeface="Cambria Math" panose="02040503050406030204" pitchFamily="18" charset="0"/>
                              <a:cs typeface="Arial"/>
                              <a:sym typeface="Arial"/>
                            </a:rPr>
                            <m:t>D</m:t>
                          </m:r>
                        </m:e>
                        <m:sub>
                          <m:r>
                            <m:rPr>
                              <m:sty m:val="p"/>
                            </m:rPr>
                            <a:rPr lang="en-US" sz="1800" b="0" i="1" smtClean="0">
                              <a:latin typeface="Cambria Math" panose="02040503050406030204" pitchFamily="18" charset="0"/>
                              <a:cs typeface="Arial"/>
                              <a:sym typeface="Arial"/>
                            </a:rPr>
                            <m:t>max</m:t>
                          </m:r>
                        </m:sub>
                      </m:sSub>
                      <m:r>
                        <a:rPr lang="en-US" sz="1800" b="0" i="1" smtClean="0">
                          <a:latin typeface="Cambria Math" panose="02040503050406030204" pitchFamily="18" charset="0"/>
                          <a:cs typeface="Arial"/>
                          <a:sym typeface="Arial"/>
                        </a:rPr>
                        <m:t> = </m:t>
                      </m:r>
                      <m:f>
                        <m:fPr>
                          <m:ctrlPr>
                            <a:rPr lang="en-US" sz="1800" b="0" i="1" smtClean="0">
                              <a:latin typeface="Cambria Math" panose="02040503050406030204" pitchFamily="18" charset="0"/>
                              <a:cs typeface="Arial"/>
                              <a:sym typeface="Arial"/>
                            </a:rPr>
                          </m:ctrlPr>
                        </m:fPr>
                        <m:num>
                          <m:r>
                            <m:rPr>
                              <m:sty m:val="p"/>
                            </m:rPr>
                            <a:rPr lang="en-US" sz="1800" b="0" i="1" smtClean="0">
                              <a:latin typeface="Cambria Math" panose="02040503050406030204" pitchFamily="18" charset="0"/>
                              <a:cs typeface="Arial"/>
                              <a:sym typeface="Arial"/>
                            </a:rPr>
                            <m:t>c</m:t>
                          </m:r>
                          <m:r>
                            <a:rPr lang="en-US" sz="1800" b="0" i="1" smtClean="0">
                              <a:latin typeface="Cambria Math" panose="02040503050406030204" pitchFamily="18" charset="0"/>
                              <a:cs typeface="Arial"/>
                              <a:sym typeface="Arial"/>
                            </a:rPr>
                            <m:t> </m:t>
                          </m:r>
                          <m:sSub>
                            <m:sSubPr>
                              <m:ctrlPr>
                                <a:rPr lang="en-US" sz="1800" b="0" i="1" smtClean="0">
                                  <a:latin typeface="Cambria Math" panose="02040503050406030204" pitchFamily="18" charset="0"/>
                                  <a:cs typeface="Arial"/>
                                  <a:sym typeface="Arial"/>
                                </a:rPr>
                              </m:ctrlPr>
                            </m:sSubPr>
                            <m:e>
                              <m:r>
                                <m:rPr>
                                  <m:sty m:val="p"/>
                                </m:rPr>
                                <a:rPr lang="en-US" sz="1800" b="0" i="1" smtClean="0">
                                  <a:latin typeface="Cambria Math" panose="02040503050406030204" pitchFamily="18" charset="0"/>
                                  <a:cs typeface="Arial"/>
                                  <a:sym typeface="Arial"/>
                                </a:rPr>
                                <m:t>t</m:t>
                              </m:r>
                            </m:e>
                            <m:sub>
                              <m:r>
                                <a:rPr lang="en-US" sz="1800" b="0" i="1" smtClean="0">
                                  <a:latin typeface="Cambria Math" panose="02040503050406030204" pitchFamily="18" charset="0"/>
                                  <a:cs typeface="Arial"/>
                                  <a:sym typeface="Arial"/>
                                </a:rPr>
                                <m:t>0</m:t>
                              </m:r>
                            </m:sub>
                          </m:sSub>
                        </m:num>
                        <m:den>
                          <m:r>
                            <a:rPr lang="en-US" sz="1800" b="0" i="1" smtClean="0">
                              <a:latin typeface="Cambria Math" panose="02040503050406030204" pitchFamily="18" charset="0"/>
                              <a:cs typeface="Arial"/>
                              <a:sym typeface="Arial"/>
                            </a:rPr>
                            <m:t>2</m:t>
                          </m:r>
                        </m:den>
                      </m:f>
                    </m:oMath>
                  </m:oMathPara>
                </a14:m>
                <a:endParaRPr lang="en-US" sz="1800" dirty="0">
                  <a:latin typeface="Atkinson Hyperlegible Next"/>
                  <a:ea typeface="Arial"/>
                  <a:cs typeface="Arial"/>
                  <a:sym typeface="Arial"/>
                </a:endParaRP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Where:</a:t>
                </a:r>
              </a:p>
              <a:p>
                <a:pPr marL="285750" indent="-285750">
                  <a:lnSpc>
                    <a:spcPct val="100000"/>
                  </a:lnSpc>
                  <a:spcBef>
                    <a:spcPts val="0"/>
                  </a:spcBef>
                  <a:buSzPts val="3000"/>
                </a:pPr>
                <a14:m>
                  <m:oMath xmlns:m="http://schemas.openxmlformats.org/officeDocument/2006/math">
                    <m:sSub>
                      <m:sSubPr>
                        <m:ctrlPr>
                          <a:rPr lang="en-US" sz="1800" i="1">
                            <a:latin typeface="Cambria Math" panose="02040503050406030204" pitchFamily="18" charset="0"/>
                            <a:cs typeface="Arial"/>
                            <a:sym typeface="Arial"/>
                          </a:rPr>
                        </m:ctrlPr>
                      </m:sSubPr>
                      <m:e>
                        <m:r>
                          <m:rPr>
                            <m:sty m:val="p"/>
                          </m:rPr>
                          <a:rPr lang="en-US" sz="1800" i="1">
                            <a:latin typeface="Cambria Math" panose="02040503050406030204" pitchFamily="18" charset="0"/>
                            <a:cs typeface="Arial"/>
                            <a:sym typeface="Arial"/>
                          </a:rPr>
                          <m:t>t</m:t>
                        </m:r>
                      </m:e>
                      <m:sub>
                        <m:r>
                          <a:rPr lang="en-US" sz="1800" i="1">
                            <a:latin typeface="Cambria Math" panose="02040503050406030204" pitchFamily="18" charset="0"/>
                            <a:cs typeface="Arial"/>
                            <a:sym typeface="Arial"/>
                          </a:rPr>
                          <m:t>0</m:t>
                        </m:r>
                      </m:sub>
                    </m:sSub>
                  </m:oMath>
                </a14:m>
                <a:r>
                  <a:rPr lang="en-US" sz="1800" dirty="0">
                    <a:latin typeface="Atkinson Hyperlegible Next"/>
                    <a:ea typeface="Arial"/>
                    <a:cs typeface="Arial"/>
                    <a:sym typeface="Arial"/>
                  </a:rPr>
                  <a:t> = the pulse width.</a:t>
                </a:r>
              </a:p>
            </p:txBody>
          </p:sp>
        </mc:Choice>
        <mc:Fallback xmlns="">
          <p:sp>
            <p:nvSpPr>
              <p:cNvPr id="23" name="Google Shape;118;p29">
                <a:extLst>
                  <a:ext uri="{FF2B5EF4-FFF2-40B4-BE49-F238E27FC236}">
                    <a16:creationId xmlns:a16="http://schemas.microsoft.com/office/drawing/2014/main" id="{DBD5450D-10A6-79FA-5BB8-407E93CA68AD}"/>
                  </a:ext>
                </a:extLst>
              </p:cNvPr>
              <p:cNvSpPr txBox="1">
                <a:spLocks noGrp="1" noRot="1" noChangeAspect="1" noMove="1" noResize="1" noEditPoints="1" noAdjustHandles="1" noChangeArrowheads="1" noChangeShapeType="1" noTextEdit="1"/>
              </p:cNvSpPr>
              <p:nvPr>
                <p:ph type="body" idx="1"/>
              </p:nvPr>
            </p:nvSpPr>
            <p:spPr>
              <a:xfrm>
                <a:off x="376810" y="1334279"/>
                <a:ext cx="4156001" cy="4821102"/>
              </a:xfrm>
              <a:prstGeom prst="rect">
                <a:avLst/>
              </a:prstGeom>
              <a:blipFill>
                <a:blip r:embed="rId4"/>
                <a:stretch>
                  <a:fillRect l="-3079" t="-759" b="-1517"/>
                </a:stretch>
              </a:blipFill>
              <a:ln>
                <a:noFill/>
              </a:ln>
            </p:spPr>
            <p:txBody>
              <a:bodyPr/>
              <a:lstStyle/>
              <a:p>
                <a:r>
                  <a:rPr lang="en-US">
                    <a:noFill/>
                  </a:rPr>
                  <a:t> </a:t>
                </a:r>
              </a:p>
            </p:txBody>
          </p:sp>
        </mc:Fallback>
      </mc:AlternateContent>
      <p:pic>
        <p:nvPicPr>
          <p:cNvPr id="5" name="Graphic 4">
            <a:extLst>
              <a:ext uri="{FF2B5EF4-FFF2-40B4-BE49-F238E27FC236}">
                <a16:creationId xmlns:a16="http://schemas.microsoft.com/office/drawing/2014/main" id="{22F6EAA8-D1E8-2E30-34AA-E3E04D9A1ED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99509" y="1237221"/>
            <a:ext cx="6858000" cy="4572000"/>
          </a:xfrm>
          <a:prstGeom prst="rect">
            <a:avLst/>
          </a:prstGeom>
        </p:spPr>
      </p:pic>
    </p:spTree>
    <p:extLst>
      <p:ext uri="{BB962C8B-B14F-4D97-AF65-F5344CB8AC3E}">
        <p14:creationId xmlns:p14="http://schemas.microsoft.com/office/powerpoint/2010/main" val="39994296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BF18A37-68A2-7AB0-C0AA-02A67FA678FC}"/>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B4AAA99B-A7AC-B119-E333-BEBE603941C0}"/>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E13C44BF-8CF9-FF30-A421-9B9B67A6863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F3F3D005-F0F3-9E09-F8D0-53A200B20AA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2F27F2D-A0F2-3F51-C8FC-4BA430CA097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B1666A2-BBB8-C687-C5F0-49F8FDFB87A4}"/>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4F49D67-6128-4F87-2036-5610490C594A}"/>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0E91A12-D1F5-282C-3F48-5AA7F27B912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AD0D983-4A03-8BB0-EA68-27021B309E9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23" name="Google Shape;118;p29">
            <a:extLst>
              <a:ext uri="{FF2B5EF4-FFF2-40B4-BE49-F238E27FC236}">
                <a16:creationId xmlns:a16="http://schemas.microsoft.com/office/drawing/2014/main" id="{E3F5A2DA-ECC3-A162-07CD-E6D45F8A821D}"/>
              </a:ext>
            </a:extLst>
          </p:cNvPr>
          <p:cNvSpPr txBox="1">
            <a:spLocks noGrp="1"/>
          </p:cNvSpPr>
          <p:nvPr>
            <p:ph type="body" idx="1"/>
          </p:nvPr>
        </p:nvSpPr>
        <p:spPr>
          <a:xfrm>
            <a:off x="376810" y="1334279"/>
            <a:ext cx="41560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1800" dirty="0">
                <a:latin typeface="Atkinson Hyperlegible Next"/>
                <a:ea typeface="Arial"/>
                <a:cs typeface="Arial"/>
                <a:sym typeface="Arial"/>
              </a:rPr>
              <a:t>Given a long pulse width, it is possible to receive multiple returns. </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Which can help with additional information in the environment allowing you to enter different materials.</a:t>
            </a:r>
          </a:p>
        </p:txBody>
      </p:sp>
      <p:sp>
        <p:nvSpPr>
          <p:cNvPr id="6" name="TextBox 5">
            <a:extLst>
              <a:ext uri="{FF2B5EF4-FFF2-40B4-BE49-F238E27FC236}">
                <a16:creationId xmlns:a16="http://schemas.microsoft.com/office/drawing/2014/main" id="{F1569A32-E436-B9AA-C0F0-669A865204AC}"/>
              </a:ext>
            </a:extLst>
          </p:cNvPr>
          <p:cNvSpPr txBox="1"/>
          <p:nvPr/>
        </p:nvSpPr>
        <p:spPr>
          <a:xfrm>
            <a:off x="5406753" y="6221425"/>
            <a:ext cx="6097088" cy="307777"/>
          </a:xfrm>
          <a:prstGeom prst="rect">
            <a:avLst/>
          </a:prstGeom>
          <a:noFill/>
        </p:spPr>
        <p:txBody>
          <a:bodyPr wrap="square">
            <a:spAutoFit/>
          </a:bodyPr>
          <a:lstStyle/>
          <a:p>
            <a:pPr algn="ctr"/>
            <a:r>
              <a:rPr lang="en-US" dirty="0">
                <a:hlinkClick r:id="rId4"/>
              </a:rPr>
              <a:t>https://iopscience.iop.org/article/10.1088/1361-6501/abc867</a:t>
            </a:r>
            <a:r>
              <a:rPr lang="en-US" dirty="0"/>
              <a:t> </a:t>
            </a:r>
          </a:p>
        </p:txBody>
      </p:sp>
      <p:pic>
        <p:nvPicPr>
          <p:cNvPr id="8" name="Picture 7">
            <a:extLst>
              <a:ext uri="{FF2B5EF4-FFF2-40B4-BE49-F238E27FC236}">
                <a16:creationId xmlns:a16="http://schemas.microsoft.com/office/drawing/2014/main" id="{662D4277-2399-920C-94B4-F3EE2E5790F5}"/>
              </a:ext>
            </a:extLst>
          </p:cNvPr>
          <p:cNvPicPr>
            <a:picLocks noChangeAspect="1"/>
          </p:cNvPicPr>
          <p:nvPr/>
        </p:nvPicPr>
        <p:blipFill>
          <a:blip r:embed="rId5"/>
          <a:stretch>
            <a:fillRect/>
          </a:stretch>
        </p:blipFill>
        <p:spPr>
          <a:xfrm>
            <a:off x="5715906" y="906290"/>
            <a:ext cx="5478781" cy="5361188"/>
          </a:xfrm>
          <a:prstGeom prst="rect">
            <a:avLst/>
          </a:prstGeom>
        </p:spPr>
      </p:pic>
    </p:spTree>
    <p:extLst>
      <p:ext uri="{BB962C8B-B14F-4D97-AF65-F5344CB8AC3E}">
        <p14:creationId xmlns:p14="http://schemas.microsoft.com/office/powerpoint/2010/main" val="19203769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C00A812-18A3-AD0B-DB3B-F3EBBBB569DA}"/>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B24D8B18-5735-9AA5-2F76-90C70CFDA1CA}"/>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37DD2CB6-86DE-5DF1-D7EF-D7FBEE56ED2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LiDAR</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00B7B360-3027-6A93-C8E2-C3B82BB80051}"/>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3642053-BEB7-E67E-FC66-281338FF728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F0EFF74-18F4-E453-36B8-CB11EB88A17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4B7AE07D-ECDF-D1A3-1079-2EBBB49B732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9C1E516-2676-7FB7-138D-1645E78E8B62}"/>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53CF4C5-C5A8-BBAA-38EC-8BEF8C70861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grpSp>
        <p:nvGrpSpPr>
          <p:cNvPr id="4" name="Group 3">
            <a:extLst>
              <a:ext uri="{FF2B5EF4-FFF2-40B4-BE49-F238E27FC236}">
                <a16:creationId xmlns:a16="http://schemas.microsoft.com/office/drawing/2014/main" id="{A74F562D-D9DC-FBB6-DBFA-B7CF2EBE86DE}"/>
              </a:ext>
            </a:extLst>
          </p:cNvPr>
          <p:cNvGrpSpPr/>
          <p:nvPr/>
        </p:nvGrpSpPr>
        <p:grpSpPr>
          <a:xfrm>
            <a:off x="8733211" y="1102041"/>
            <a:ext cx="2876550" cy="5136523"/>
            <a:chOff x="4344091" y="1070427"/>
            <a:chExt cx="2876550" cy="5136523"/>
          </a:xfrm>
        </p:grpSpPr>
        <p:pic>
          <p:nvPicPr>
            <p:cNvPr id="7170" name="Picture 2" descr="undefined">
              <a:extLst>
                <a:ext uri="{FF2B5EF4-FFF2-40B4-BE49-F238E27FC236}">
                  <a16:creationId xmlns:a16="http://schemas.microsoft.com/office/drawing/2014/main" id="{FE6F859E-2E0D-BE78-1AFA-2D262DE7E6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96261" y="1070427"/>
              <a:ext cx="2172209" cy="471318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8E27330-C1BE-3169-7144-D42155EFDD6F}"/>
                </a:ext>
              </a:extLst>
            </p:cNvPr>
            <p:cNvSpPr txBox="1"/>
            <p:nvPr/>
          </p:nvSpPr>
          <p:spPr>
            <a:xfrm>
              <a:off x="4344091" y="5899173"/>
              <a:ext cx="2876550" cy="307777"/>
            </a:xfrm>
            <a:prstGeom prst="rect">
              <a:avLst/>
            </a:prstGeom>
            <a:noFill/>
          </p:spPr>
          <p:txBody>
            <a:bodyPr wrap="square">
              <a:spAutoFit/>
            </a:bodyPr>
            <a:lstStyle/>
            <a:p>
              <a:r>
                <a:rPr lang="en-US" dirty="0">
                  <a:hlinkClick r:id="rId5"/>
                </a:rPr>
                <a:t>https://en.wikipedia.org/wiki/Lidar</a:t>
              </a:r>
              <a:r>
                <a:rPr lang="en-US" dirty="0"/>
                <a:t> </a:t>
              </a:r>
            </a:p>
          </p:txBody>
        </p:sp>
      </p:grpSp>
      <mc:AlternateContent xmlns:mc="http://schemas.openxmlformats.org/markup-compatibility/2006" xmlns:a14="http://schemas.microsoft.com/office/drawing/2010/main">
        <mc:Choice Requires="a14">
          <p:sp>
            <p:nvSpPr>
              <p:cNvPr id="5" name="Google Shape;118;p29">
                <a:extLst>
                  <a:ext uri="{FF2B5EF4-FFF2-40B4-BE49-F238E27FC236}">
                    <a16:creationId xmlns:a16="http://schemas.microsoft.com/office/drawing/2014/main" id="{97A935CE-46DD-A57D-3864-80B2FDF44093}"/>
                  </a:ext>
                </a:extLst>
              </p:cNvPr>
              <p:cNvSpPr txBox="1">
                <a:spLocks noGrp="1"/>
              </p:cNvSpPr>
              <p:nvPr>
                <p:ph type="body" idx="1"/>
              </p:nvPr>
            </p:nvSpPr>
            <p:spPr>
              <a:xfrm>
                <a:off x="376810" y="1334279"/>
                <a:ext cx="7937699"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1800" dirty="0">
                    <a:latin typeface="Atkinson Hyperlegible Next"/>
                    <a:ea typeface="Arial"/>
                    <a:cs typeface="Arial"/>
                    <a:sym typeface="Arial"/>
                  </a:rPr>
                  <a:t>By rapidly spinning the laser via a motor, we can generate a dense 2D or 3D map of the environment.</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Given that we know the constant rate of turn, we thus know where each pulse will be located radially and the distance returned. We can thus generate a </a:t>
                </a:r>
                <a:r>
                  <a:rPr lang="en-US" sz="1800" b="1" dirty="0">
                    <a:latin typeface="Atkinson Hyperlegible Next"/>
                    <a:ea typeface="Arial"/>
                    <a:cs typeface="Arial"/>
                    <a:sym typeface="Arial"/>
                  </a:rPr>
                  <a:t>point cloud</a:t>
                </a:r>
                <a:r>
                  <a:rPr lang="en-US" sz="1800" dirty="0">
                    <a:latin typeface="Atkinson Hyperlegible Next"/>
                    <a:ea typeface="Arial"/>
                    <a:cs typeface="Arial"/>
                    <a:sym typeface="Arial"/>
                  </a:rPr>
                  <a:t>.</a:t>
                </a: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For 2D, the location of an obstacle relative to the LiDAR would be,</a:t>
                </a:r>
              </a:p>
              <a:p>
                <a:pPr marL="0" indent="0">
                  <a:lnSpc>
                    <a:spcPct val="100000"/>
                  </a:lnSpc>
                  <a:spcBef>
                    <a:spcPts val="0"/>
                  </a:spcBef>
                  <a:buSzPts val="3000"/>
                  <a:buNone/>
                </a:pPr>
                <a:endParaRPr lang="en-US" sz="1800" b="0" i="1" dirty="0">
                  <a:latin typeface="Cambria Math" panose="02040503050406030204" pitchFamily="18" charset="0"/>
                  <a:cs typeface="Arial"/>
                  <a:sym typeface="Arial"/>
                </a:endParaRPr>
              </a:p>
              <a:p>
                <a:pPr marL="0" indent="0">
                  <a:lnSpc>
                    <a:spcPct val="100000"/>
                  </a:lnSpc>
                  <a:spcBef>
                    <a:spcPts val="0"/>
                  </a:spcBef>
                  <a:buSzPts val="3000"/>
                  <a:buNone/>
                </a:pPr>
                <a14:m>
                  <m:oMathPara xmlns:m="http://schemas.openxmlformats.org/officeDocument/2006/math">
                    <m:oMathParaPr>
                      <m:jc m:val="centerGroup"/>
                    </m:oMathParaPr>
                    <m:oMath xmlns:m="http://schemas.openxmlformats.org/officeDocument/2006/math">
                      <m:sSub>
                        <m:sSubPr>
                          <m:ctrlPr>
                            <a:rPr lang="en-US" sz="1800" b="0" i="1" smtClean="0">
                              <a:latin typeface="Cambria Math" panose="02040503050406030204" pitchFamily="18" charset="0"/>
                              <a:cs typeface="Arial"/>
                              <a:sym typeface="Arial"/>
                            </a:rPr>
                          </m:ctrlPr>
                        </m:sSubPr>
                        <m:e>
                          <m:r>
                            <m:rPr>
                              <m:sty m:val="p"/>
                            </m:rPr>
                            <a:rPr lang="en-US" sz="1800" b="0" i="1" smtClean="0">
                              <a:latin typeface="Cambria Math" panose="02040503050406030204" pitchFamily="18" charset="0"/>
                              <a:cs typeface="Arial"/>
                              <a:sym typeface="Arial"/>
                            </a:rPr>
                            <m:t>p</m:t>
                          </m:r>
                        </m:e>
                        <m:sub>
                          <m:r>
                            <m:rPr>
                              <m:sty m:val="p"/>
                            </m:rPr>
                            <a:rPr lang="en-US" sz="1800" b="0" i="1" smtClean="0">
                              <a:latin typeface="Cambria Math" panose="02040503050406030204" pitchFamily="18" charset="0"/>
                              <a:cs typeface="Arial"/>
                              <a:sym typeface="Arial"/>
                            </a:rPr>
                            <m:t>i</m:t>
                          </m:r>
                        </m:sub>
                      </m:sSub>
                      <m:r>
                        <a:rPr lang="en-US" sz="1800" b="0" i="1" smtClean="0">
                          <a:latin typeface="Cambria Math" panose="02040503050406030204" pitchFamily="18" charset="0"/>
                          <a:ea typeface="Arial"/>
                          <a:cs typeface="Arial"/>
                          <a:sym typeface="Arial"/>
                        </a:rPr>
                        <m:t> = (</m:t>
                      </m:r>
                      <m:sSub>
                        <m:sSubPr>
                          <m:ctrlPr>
                            <a:rPr lang="en-US" sz="1800" b="0" i="1" smtClean="0">
                              <a:latin typeface="Cambria Math" panose="02040503050406030204" pitchFamily="18" charset="0"/>
                              <a:cs typeface="Arial"/>
                              <a:sym typeface="Arial"/>
                            </a:rPr>
                          </m:ctrlPr>
                        </m:sSubPr>
                        <m:e>
                          <m:r>
                            <m:rPr>
                              <m:sty m:val="p"/>
                            </m:rPr>
                            <a:rPr lang="en-US" sz="1800" b="0" i="1" smtClean="0">
                              <a:latin typeface="Cambria Math" panose="02040503050406030204" pitchFamily="18" charset="0"/>
                              <a:cs typeface="Arial"/>
                              <a:sym typeface="Arial"/>
                            </a:rPr>
                            <m:t>d</m:t>
                          </m:r>
                        </m:e>
                        <m:sub>
                          <m:r>
                            <m:rPr>
                              <m:sty m:val="p"/>
                            </m:rPr>
                            <a:rPr lang="en-US" sz="1800" b="0" i="1" smtClean="0">
                              <a:latin typeface="Cambria Math" panose="02040503050406030204" pitchFamily="18" charset="0"/>
                              <a:cs typeface="Arial"/>
                              <a:sym typeface="Arial"/>
                            </a:rPr>
                            <m:t>i</m:t>
                          </m:r>
                        </m:sub>
                      </m:sSub>
                      <m:r>
                        <a:rPr lang="en-US" sz="1800" b="0" i="1" smtClean="0">
                          <a:latin typeface="Cambria Math" panose="02040503050406030204" pitchFamily="18" charset="0"/>
                          <a:ea typeface="Arial"/>
                          <a:cs typeface="Arial"/>
                          <a:sym typeface="Arial"/>
                        </a:rPr>
                        <m:t>  </m:t>
                      </m:r>
                      <m:r>
                        <m:rPr>
                          <m:sty m:val="p"/>
                        </m:rPr>
                        <a:rPr lang="en-US" sz="1800" b="0" i="1" smtClean="0">
                          <a:latin typeface="Cambria Math" panose="02040503050406030204" pitchFamily="18" charset="0"/>
                          <a:ea typeface="Arial"/>
                          <a:cs typeface="Arial"/>
                          <a:sym typeface="Arial"/>
                        </a:rPr>
                        <m:t>cos</m:t>
                      </m:r>
                      <m:r>
                        <a:rPr lang="en-US" sz="1800" b="0" i="1" smtClean="0">
                          <a:latin typeface="Cambria Math" panose="02040503050406030204" pitchFamily="18" charset="0"/>
                          <a:ea typeface="Arial"/>
                          <a:cs typeface="Arial"/>
                          <a:sym typeface="Arial"/>
                        </a:rPr>
                        <m:t>(</m:t>
                      </m:r>
                      <m:sSub>
                        <m:sSubPr>
                          <m:ctrlPr>
                            <a:rPr lang="en-US" sz="1800" b="0" i="1" smtClean="0">
                              <a:latin typeface="Cambria Math" panose="02040503050406030204" pitchFamily="18" charset="0"/>
                              <a:cs typeface="Arial"/>
                              <a:sym typeface="Arial"/>
                            </a:rPr>
                          </m:ctrlPr>
                        </m:sSubPr>
                        <m:e>
                          <m:r>
                            <a:rPr lang="en-US" sz="1800" i="1">
                              <a:latin typeface="Cambria Math" panose="02040503050406030204" pitchFamily="18" charset="0"/>
                              <a:ea typeface="Cambria Math" panose="02040503050406030204" pitchFamily="18" charset="0"/>
                              <a:cs typeface="Arial"/>
                              <a:sym typeface="Arial"/>
                            </a:rPr>
                            <m:t>𝜃</m:t>
                          </m:r>
                        </m:e>
                        <m:sub>
                          <m:r>
                            <m:rPr>
                              <m:sty m:val="p"/>
                            </m:rPr>
                            <a:rPr lang="en-US" sz="1800" b="0" i="1" smtClean="0">
                              <a:latin typeface="Cambria Math" panose="02040503050406030204" pitchFamily="18" charset="0"/>
                              <a:cs typeface="Arial"/>
                              <a:sym typeface="Arial"/>
                            </a:rPr>
                            <m:t>i</m:t>
                          </m:r>
                        </m:sub>
                      </m:sSub>
                      <m:r>
                        <a:rPr lang="en-US" sz="1800" b="0" i="1" smtClean="0">
                          <a:latin typeface="Cambria Math" panose="02040503050406030204" pitchFamily="18" charset="0"/>
                          <a:ea typeface="Cambria Math" panose="02040503050406030204" pitchFamily="18" charset="0"/>
                          <a:cs typeface="Arial"/>
                          <a:sym typeface="Arial"/>
                        </a:rPr>
                        <m:t>),</m:t>
                      </m:r>
                      <m:sSub>
                        <m:sSubPr>
                          <m:ctrlPr>
                            <a:rPr lang="en-US" sz="1800" i="1">
                              <a:latin typeface="Cambria Math" panose="02040503050406030204" pitchFamily="18" charset="0"/>
                              <a:cs typeface="Arial"/>
                              <a:sym typeface="Arial"/>
                            </a:rPr>
                          </m:ctrlPr>
                        </m:sSubPr>
                        <m:e>
                          <m:r>
                            <m:rPr>
                              <m:sty m:val="p"/>
                            </m:rPr>
                            <a:rPr lang="en-US" sz="1800" i="1">
                              <a:latin typeface="Cambria Math" panose="02040503050406030204" pitchFamily="18" charset="0"/>
                              <a:cs typeface="Arial"/>
                              <a:sym typeface="Arial"/>
                            </a:rPr>
                            <m:t>d</m:t>
                          </m:r>
                        </m:e>
                        <m:sub>
                          <m:r>
                            <m:rPr>
                              <m:sty m:val="p"/>
                            </m:rPr>
                            <a:rPr lang="en-US" sz="1800" i="1">
                              <a:latin typeface="Cambria Math" panose="02040503050406030204" pitchFamily="18" charset="0"/>
                              <a:cs typeface="Arial"/>
                              <a:sym typeface="Arial"/>
                            </a:rPr>
                            <m:t>i</m:t>
                          </m:r>
                        </m:sub>
                      </m:sSub>
                      <m:r>
                        <a:rPr lang="en-US" sz="1800" b="0" i="1" smtClean="0">
                          <a:latin typeface="Cambria Math" panose="02040503050406030204" pitchFamily="18" charset="0"/>
                          <a:cs typeface="Arial"/>
                          <a:sym typeface="Arial"/>
                        </a:rPr>
                        <m:t> </m:t>
                      </m:r>
                      <m:r>
                        <m:rPr>
                          <m:sty m:val="p"/>
                        </m:rPr>
                        <a:rPr lang="en-US" sz="1800" b="0" i="1" smtClean="0">
                          <a:latin typeface="Cambria Math" panose="02040503050406030204" pitchFamily="18" charset="0"/>
                          <a:ea typeface="Cambria Math" panose="02040503050406030204" pitchFamily="18" charset="0"/>
                          <a:cs typeface="Arial"/>
                          <a:sym typeface="Arial"/>
                        </a:rPr>
                        <m:t>sin</m:t>
                      </m:r>
                      <m:r>
                        <a:rPr lang="en-US" sz="1800" i="1">
                          <a:latin typeface="Cambria Math" panose="02040503050406030204" pitchFamily="18" charset="0"/>
                          <a:ea typeface="Arial"/>
                          <a:cs typeface="Arial"/>
                          <a:sym typeface="Arial"/>
                        </a:rPr>
                        <m:t>(</m:t>
                      </m:r>
                      <m:sSub>
                        <m:sSubPr>
                          <m:ctrlPr>
                            <a:rPr lang="en-US" sz="1800" i="1">
                              <a:latin typeface="Cambria Math" panose="02040503050406030204" pitchFamily="18" charset="0"/>
                              <a:cs typeface="Arial"/>
                              <a:sym typeface="Arial"/>
                            </a:rPr>
                          </m:ctrlPr>
                        </m:sSubPr>
                        <m:e>
                          <m:r>
                            <a:rPr lang="en-US" sz="1800" i="1">
                              <a:latin typeface="Cambria Math" panose="02040503050406030204" pitchFamily="18" charset="0"/>
                              <a:ea typeface="Cambria Math" panose="02040503050406030204" pitchFamily="18" charset="0"/>
                              <a:cs typeface="Arial"/>
                              <a:sym typeface="Arial"/>
                            </a:rPr>
                            <m:t>𝜃</m:t>
                          </m:r>
                        </m:e>
                        <m:sub>
                          <m:r>
                            <m:rPr>
                              <m:sty m:val="p"/>
                            </m:rPr>
                            <a:rPr lang="en-US" sz="1800" i="1">
                              <a:latin typeface="Cambria Math" panose="02040503050406030204" pitchFamily="18" charset="0"/>
                              <a:cs typeface="Arial"/>
                              <a:sym typeface="Arial"/>
                            </a:rPr>
                            <m:t>i</m:t>
                          </m:r>
                        </m:sub>
                      </m:sSub>
                      <m:r>
                        <a:rPr lang="en-US" sz="1800" i="1">
                          <a:latin typeface="Cambria Math" panose="02040503050406030204" pitchFamily="18" charset="0"/>
                          <a:ea typeface="Cambria Math" panose="02040503050406030204" pitchFamily="18" charset="0"/>
                          <a:cs typeface="Arial"/>
                          <a:sym typeface="Arial"/>
                        </a:rPr>
                        <m:t>)</m:t>
                      </m:r>
                      <m:r>
                        <a:rPr lang="en-US" sz="1800" b="0" i="1" smtClean="0">
                          <a:latin typeface="Cambria Math" panose="02040503050406030204" pitchFamily="18" charset="0"/>
                          <a:ea typeface="Arial"/>
                          <a:cs typeface="Arial"/>
                          <a:sym typeface="Arial"/>
                        </a:rPr>
                        <m:t>)</m:t>
                      </m:r>
                    </m:oMath>
                  </m:oMathPara>
                </a14:m>
                <a:endParaRPr lang="en-US" sz="1800" dirty="0">
                  <a:latin typeface="Atkinson Hyperlegible Next"/>
                  <a:ea typeface="Arial"/>
                  <a:cs typeface="Arial"/>
                  <a:sym typeface="Arial"/>
                </a:endParaRP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endParaRPr lang="en-US" sz="1800" dirty="0">
                  <a:latin typeface="Atkinson Hyperlegible Next"/>
                  <a:ea typeface="Arial"/>
                  <a:cs typeface="Arial"/>
                  <a:sym typeface="Arial"/>
                </a:endParaRPr>
              </a:p>
              <a:p>
                <a:pPr marL="0" indent="0">
                  <a:lnSpc>
                    <a:spcPct val="100000"/>
                  </a:lnSpc>
                  <a:spcBef>
                    <a:spcPts val="0"/>
                  </a:spcBef>
                  <a:buSzPts val="3000"/>
                  <a:buNone/>
                </a:pPr>
                <a:r>
                  <a:rPr lang="en-US" sz="1800" dirty="0">
                    <a:latin typeface="Atkinson Hyperlegible Next"/>
                    <a:ea typeface="Arial"/>
                    <a:cs typeface="Arial"/>
                    <a:sym typeface="Arial"/>
                  </a:rPr>
                  <a:t>A point cloud is a map of 2D/3D points in space where objects are located.</a:t>
                </a:r>
              </a:p>
              <a:p>
                <a:pPr marL="0" indent="0">
                  <a:lnSpc>
                    <a:spcPct val="100000"/>
                  </a:lnSpc>
                  <a:spcBef>
                    <a:spcPts val="0"/>
                  </a:spcBef>
                  <a:buSzPts val="3000"/>
                  <a:buNone/>
                </a:pPr>
                <a:endParaRPr lang="en-US" sz="1800" dirty="0">
                  <a:latin typeface="Atkinson Hyperlegible Next"/>
                  <a:ea typeface="Arial"/>
                  <a:cs typeface="Arial"/>
                  <a:sym typeface="Arial"/>
                </a:endParaRPr>
              </a:p>
            </p:txBody>
          </p:sp>
        </mc:Choice>
        <mc:Fallback xmlns="">
          <p:sp>
            <p:nvSpPr>
              <p:cNvPr id="5" name="Google Shape;118;p29">
                <a:extLst>
                  <a:ext uri="{FF2B5EF4-FFF2-40B4-BE49-F238E27FC236}">
                    <a16:creationId xmlns:a16="http://schemas.microsoft.com/office/drawing/2014/main" id="{97A935CE-46DD-A57D-3864-80B2FDF44093}"/>
                  </a:ext>
                </a:extLst>
              </p:cNvPr>
              <p:cNvSpPr txBox="1">
                <a:spLocks noGrp="1" noRot="1" noChangeAspect="1" noMove="1" noResize="1" noEditPoints="1" noAdjustHandles="1" noChangeArrowheads="1" noChangeShapeType="1" noTextEdit="1"/>
              </p:cNvSpPr>
              <p:nvPr>
                <p:ph type="body" idx="1"/>
              </p:nvPr>
            </p:nvSpPr>
            <p:spPr>
              <a:xfrm>
                <a:off x="376810" y="1334279"/>
                <a:ext cx="7937699" cy="4821102"/>
              </a:xfrm>
              <a:prstGeom prst="rect">
                <a:avLst/>
              </a:prstGeom>
              <a:blipFill>
                <a:blip r:embed="rId6"/>
                <a:stretch>
                  <a:fillRect l="-691" t="-759" r="-998"/>
                </a:stretch>
              </a:blipFill>
              <a:ln>
                <a:noFill/>
              </a:ln>
            </p:spPr>
            <p:txBody>
              <a:bodyPr/>
              <a:lstStyle/>
              <a:p>
                <a:r>
                  <a:rPr lang="en-US">
                    <a:noFill/>
                  </a:rPr>
                  <a:t> </a:t>
                </a:r>
              </a:p>
            </p:txBody>
          </p:sp>
        </mc:Fallback>
      </mc:AlternateContent>
    </p:spTree>
    <p:extLst>
      <p:ext uri="{BB962C8B-B14F-4D97-AF65-F5344CB8AC3E}">
        <p14:creationId xmlns:p14="http://schemas.microsoft.com/office/powerpoint/2010/main" val="18170449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59A47BCA-E9C1-BB23-82CF-95AA0763F333}"/>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94D4B8F8-0646-5A0B-503C-C0207D11E92E}"/>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Wall Following</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41A0AF24-EBDC-0026-07BB-3E9E6A3F5F09}"/>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885B6867-51CD-0E4A-AF13-A3B2E0FE9DA3}"/>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B2E544D8-9E30-2246-CFBC-D9607B033F0F}"/>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FF2B5EF4-FFF2-40B4-BE49-F238E27FC236}">
                <a16:creationId xmlns:a16="http://schemas.microsoft.com/office/drawing/2014/main" id="{4264C899-AF39-7AC3-9634-5F50CE689F3F}"/>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735F353D-B64D-3675-26A2-BF905DFE814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E72F3FF3-1CD8-C9DC-E0F8-75CFD5AB2D88}"/>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B4454524-342F-65DC-9763-E0FAC301F251}"/>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FC95CE5D-7BB9-28CA-79B9-6A021C649EA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E70935BF-4C0F-5AF0-53B7-829A82866FF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3567036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B95518B6-4C7B-33CE-F17B-2CF291738723}"/>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BD498F9C-6E11-E02F-9F08-9EB57A9CE5A5}"/>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solidFill>
                  <a:schemeClr val="dk1"/>
                </a:solidFill>
                <a:latin typeface="Atkinson Hyperlegible Next"/>
                <a:ea typeface="Arial"/>
                <a:cs typeface="Arial"/>
                <a:sym typeface="Arial"/>
              </a:rPr>
              <a:t>We now have sensors to figure out where obstacles are and where the robot itself is located! </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In lab we will be using the LiDAR and the IMU to perform some wall following.</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solidFill>
                  <a:schemeClr val="dk1"/>
                </a:solidFill>
                <a:latin typeface="Atkinson Hyperlegible Next"/>
                <a:ea typeface="Arial"/>
                <a:cs typeface="Arial"/>
                <a:sym typeface="Arial"/>
              </a:rPr>
              <a:t>However, raw data from a sensor does not magically steer a robot; we must map these distance readings to the wheel motor controls.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The Hokuyo URG-04LX LADAR updates every 100 </a:t>
            </a:r>
            <a:r>
              <a:rPr lang="en-US" sz="2000" dirty="0" err="1">
                <a:latin typeface="Atkinson Hyperlegible Next"/>
                <a:ea typeface="Arial"/>
                <a:cs typeface="Arial"/>
                <a:sym typeface="Arial"/>
              </a:rPr>
              <a:t>ms</a:t>
            </a:r>
            <a:r>
              <a:rPr lang="en-US" sz="2000" dirty="0">
                <a:latin typeface="Atkinson Hyperlegible Next"/>
                <a:ea typeface="Arial"/>
                <a:cs typeface="Arial"/>
                <a:sym typeface="Arial"/>
              </a:rPr>
              <a:t> (10Hz), whereas the motor controllers require new voltage commands every 1 </a:t>
            </a:r>
            <a:r>
              <a:rPr lang="en-US" sz="2000" dirty="0" err="1">
                <a:latin typeface="Atkinson Hyperlegible Next"/>
                <a:ea typeface="Arial"/>
                <a:cs typeface="Arial"/>
                <a:sym typeface="Arial"/>
              </a:rPr>
              <a:t>ms</a:t>
            </a:r>
            <a:r>
              <a:rPr lang="en-US" sz="2000" dirty="0">
                <a:latin typeface="Atkinson Hyperlegible Next"/>
                <a:ea typeface="Arial"/>
                <a:cs typeface="Arial"/>
                <a:sym typeface="Arial"/>
              </a:rPr>
              <a:t> to remain stable. (We will go through this sensor and the code specifically after Spring Break)</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To resolve this extreme timing discrepancy, we split the robot's logic into a Cascade Control architecture comprising an </a:t>
            </a:r>
            <a:r>
              <a:rPr lang="en-US" sz="2000" b="1" dirty="0">
                <a:latin typeface="Atkinson Hyperlegible Next"/>
                <a:ea typeface="Arial"/>
                <a:cs typeface="Arial"/>
                <a:sym typeface="Arial"/>
              </a:rPr>
              <a:t>Inner Loop </a:t>
            </a:r>
            <a:r>
              <a:rPr lang="en-US" sz="2000" dirty="0">
                <a:latin typeface="Atkinson Hyperlegible Next"/>
                <a:ea typeface="Arial"/>
                <a:cs typeface="Arial"/>
                <a:sym typeface="Arial"/>
              </a:rPr>
              <a:t>and an </a:t>
            </a:r>
            <a:r>
              <a:rPr lang="en-US" sz="2000" b="1" dirty="0">
                <a:latin typeface="Atkinson Hyperlegible Next"/>
                <a:ea typeface="Arial"/>
                <a:cs typeface="Arial"/>
                <a:sym typeface="Arial"/>
              </a:rPr>
              <a:t>Outer Loop</a:t>
            </a:r>
            <a:r>
              <a:rPr lang="en-US" sz="2000" dirty="0">
                <a:latin typeface="Atkinson Hyperlegible Next"/>
                <a:ea typeface="Arial"/>
                <a:cs typeface="Arial"/>
                <a:sym typeface="Arial"/>
              </a:rPr>
              <a:t>.</a:t>
            </a:r>
          </a:p>
        </p:txBody>
      </p:sp>
      <p:sp>
        <p:nvSpPr>
          <p:cNvPr id="119" name="Google Shape;119;p29">
            <a:extLst>
              <a:ext uri="{FF2B5EF4-FFF2-40B4-BE49-F238E27FC236}">
                <a16:creationId xmlns:a16="http://schemas.microsoft.com/office/drawing/2014/main" id="{40865AF1-F3D3-ECDD-8ACE-EEACCF6E3B06}"/>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9B91B10-C13A-AC69-D2EA-E78480FC007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Wall Following</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B125D1E0-06F7-5558-6DC3-8371E3A1C5C7}"/>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0465CE07-467A-B7D4-225A-FBC2E9DC6918}"/>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C6E1B63-6503-C57F-903F-28E13827B70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7C441FD-9ACD-51FE-260B-8D14E0131A2D}"/>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D087078-7DC4-3E43-FF88-DF8C2360F4BC}"/>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3FE391FE-5E07-65EF-D0A7-6FCCA784870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823755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9FFC80D-E7E2-DDC8-9076-63A96ED55C90}"/>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19341AB-D9E2-C7C9-F8DF-5288F3AAD932}"/>
              </a:ext>
            </a:extLst>
          </p:cNvPr>
          <p:cNvSpPr txBox="1">
            <a:spLocks noGrp="1"/>
          </p:cNvSpPr>
          <p:nvPr>
            <p:ph type="body" idx="1"/>
          </p:nvPr>
        </p:nvSpPr>
        <p:spPr>
          <a:xfrm>
            <a:off x="376809" y="1334279"/>
            <a:ext cx="11177401" cy="1101555"/>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solidFill>
                  <a:schemeClr val="dk1"/>
                </a:solidFill>
                <a:latin typeface="Atkinson Hyperlegible Next"/>
                <a:ea typeface="Arial"/>
                <a:cs typeface="Arial"/>
                <a:sym typeface="Arial"/>
              </a:rPr>
              <a:t>For this robot it might not be extremely critical; however, think about fighter jets, they have lots of different sensors all working at different speeds and requiring different priorities. Any delay could be catastrophic!</a:t>
            </a:r>
            <a:endParaRPr lang="en-US" sz="2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C931DAA6-0ACB-CF71-9332-0E5870EDCA3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6E1E394-BBBF-6698-511A-DB5C5EBDEB55}"/>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Wall Following</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8BA6F136-68FA-E876-9CCC-1F83B912AE5A}"/>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DEB1521-1474-072A-5A95-4726B772A4E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0792BDA-ECBA-40A6-8796-61C0D749903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C2606471-B141-B911-DDE5-EF84C7C35AA4}"/>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5F083986-75AC-4EB7-4CA5-E73D7A709A80}"/>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5C7E0D6-E9A4-0846-3F47-A9590824318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a:extLst>
              <a:ext uri="{FF2B5EF4-FFF2-40B4-BE49-F238E27FC236}">
                <a16:creationId xmlns:a16="http://schemas.microsoft.com/office/drawing/2014/main" id="{45945A97-1EC3-51F2-D867-9CB53EC098D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847056" y="2360386"/>
            <a:ext cx="6497889" cy="3994926"/>
          </a:xfrm>
          <a:prstGeom prst="rect">
            <a:avLst/>
          </a:prstGeom>
        </p:spPr>
      </p:pic>
      <p:sp>
        <p:nvSpPr>
          <p:cNvPr id="6" name="TextBox 5">
            <a:extLst>
              <a:ext uri="{FF2B5EF4-FFF2-40B4-BE49-F238E27FC236}">
                <a16:creationId xmlns:a16="http://schemas.microsoft.com/office/drawing/2014/main" id="{A70E26C0-A7C5-580B-4379-8A84280BD99D}"/>
              </a:ext>
            </a:extLst>
          </p:cNvPr>
          <p:cNvSpPr txBox="1"/>
          <p:nvPr/>
        </p:nvSpPr>
        <p:spPr>
          <a:xfrm>
            <a:off x="4014231" y="6374350"/>
            <a:ext cx="4163537" cy="246221"/>
          </a:xfrm>
          <a:prstGeom prst="rect">
            <a:avLst/>
          </a:prstGeom>
          <a:noFill/>
        </p:spPr>
        <p:txBody>
          <a:bodyPr wrap="square" rtlCol="0">
            <a:spAutoFit/>
          </a:bodyPr>
          <a:lstStyle/>
          <a:p>
            <a:pPr algn="ctr"/>
            <a:r>
              <a:rPr lang="en-US" sz="1000" dirty="0"/>
              <a:t>ME 547 Robust and Adaptive Controller – Week 1 Review 2025 slides  </a:t>
            </a:r>
          </a:p>
        </p:txBody>
      </p:sp>
    </p:spTree>
    <p:extLst>
      <p:ext uri="{BB962C8B-B14F-4D97-AF65-F5344CB8AC3E}">
        <p14:creationId xmlns:p14="http://schemas.microsoft.com/office/powerpoint/2010/main" val="7474048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4858D14F-C6C1-C21B-BBD1-D9E7F26DAB44}"/>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7FCBCC9B-5213-A27E-9607-BF0F85F53098}"/>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To manage these dual control loops on the F28379D processor, we rely on a strict hierarchy of Hardware Interrupts (HWIs) and Software Interrupts (SWIs).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The </a:t>
            </a:r>
            <a:r>
              <a:rPr lang="en-US" sz="2000" b="1" dirty="0">
                <a:latin typeface="Atkinson Hyperlegible Next"/>
                <a:ea typeface="Arial"/>
                <a:cs typeface="Arial"/>
                <a:sym typeface="Arial"/>
              </a:rPr>
              <a:t>Inner Loop </a:t>
            </a:r>
            <a:r>
              <a:rPr lang="en-US" sz="2000" dirty="0">
                <a:latin typeface="Atkinson Hyperlegible Next"/>
                <a:ea typeface="Arial"/>
                <a:cs typeface="Arial"/>
                <a:sym typeface="Arial"/>
              </a:rPr>
              <a:t>executes inside an HWI, completely pausing the main code every 1ms to ensure the motors receive perfect, uninterrupted timing.</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The </a:t>
            </a:r>
            <a:r>
              <a:rPr lang="en-US" sz="2000" b="1" dirty="0">
                <a:latin typeface="Atkinson Hyperlegible Next"/>
                <a:ea typeface="Arial"/>
                <a:cs typeface="Arial"/>
                <a:sym typeface="Arial"/>
              </a:rPr>
              <a:t>Outer Loop</a:t>
            </a:r>
            <a:r>
              <a:rPr lang="en-US" sz="2000" dirty="0">
                <a:latin typeface="Atkinson Hyperlegible Next"/>
                <a:ea typeface="Arial"/>
                <a:cs typeface="Arial"/>
                <a:sym typeface="Arial"/>
              </a:rPr>
              <a:t> (processing LADAR math) executes inside a SWI. SWIs are powerful because they allow complex math to run in the background but can be safely interrupted by the 1 </a:t>
            </a:r>
            <a:r>
              <a:rPr lang="en-US" sz="2000" dirty="0" err="1">
                <a:latin typeface="Atkinson Hyperlegible Next"/>
                <a:ea typeface="Arial"/>
                <a:cs typeface="Arial"/>
                <a:sym typeface="Arial"/>
              </a:rPr>
              <a:t>ms</a:t>
            </a:r>
            <a:r>
              <a:rPr lang="en-US" sz="2000" dirty="0">
                <a:latin typeface="Atkinson Hyperlegible Next"/>
                <a:ea typeface="Arial"/>
                <a:cs typeface="Arial"/>
                <a:sym typeface="Arial"/>
              </a:rPr>
              <a:t> HWI to prevent motor stalling.</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If the LADAR trigonometry takes 3.5 </a:t>
            </a:r>
            <a:r>
              <a:rPr lang="en-US" sz="2000" dirty="0" err="1">
                <a:latin typeface="Atkinson Hyperlegible Next"/>
                <a:ea typeface="Arial"/>
                <a:cs typeface="Arial"/>
                <a:sym typeface="Arial"/>
              </a:rPr>
              <a:t>ms</a:t>
            </a:r>
            <a:r>
              <a:rPr lang="en-US" sz="2000" dirty="0">
                <a:latin typeface="Atkinson Hyperlegible Next"/>
                <a:ea typeface="Arial"/>
                <a:cs typeface="Arial"/>
                <a:sym typeface="Arial"/>
              </a:rPr>
              <a:t> to compute in an SWI, exactly how many times will the Inner Loop HWI pause it?</a:t>
            </a:r>
          </a:p>
        </p:txBody>
      </p:sp>
      <p:sp>
        <p:nvSpPr>
          <p:cNvPr id="119" name="Google Shape;119;p29">
            <a:extLst>
              <a:ext uri="{FF2B5EF4-FFF2-40B4-BE49-F238E27FC236}">
                <a16:creationId xmlns:a16="http://schemas.microsoft.com/office/drawing/2014/main" id="{66D908D9-567D-8660-2F1C-8802B2574A85}"/>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51D19FC-413C-2BDF-EEE5-47A508D197B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Wall Following</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4FEE6042-FE02-EF83-65E5-15F119DA8D04}"/>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AD4B19B-A0F0-5787-0C09-8477170C228D}"/>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81AFAE0-6806-7592-5D4C-C2931E49BBF2}"/>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EFEE8EF-6ADC-AEEF-2E4C-6E9F340246B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E38CDAD-DB8E-716A-A302-9C7B254BB6FE}"/>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003858E9-029C-F1DC-1237-F6620784AEE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17250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7D88F94F-B835-9787-2C44-D079D4E717ED}"/>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1F7AA2D2-6DD5-8668-643F-AA95F1A1361F}"/>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The </a:t>
                </a:r>
                <a:r>
                  <a:rPr lang="en-US" sz="2000" b="1" dirty="0">
                    <a:latin typeface="Atkinson Hyperlegible Next"/>
                    <a:ea typeface="Arial"/>
                    <a:cs typeface="Arial"/>
                    <a:sym typeface="Arial"/>
                  </a:rPr>
                  <a:t>Inner Loop </a:t>
                </a:r>
                <a:r>
                  <a:rPr lang="en-US" sz="2000" dirty="0">
                    <a:latin typeface="Atkinson Hyperlegible Next"/>
                    <a:ea typeface="Arial"/>
                    <a:cs typeface="Arial"/>
                    <a:sym typeface="Arial"/>
                  </a:rPr>
                  <a:t>acts as the low-level controller, setting and calculating the wheel velocities using the PI controller used in lab.</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We also use it to calculate the robot’s spatial coordinates </a:t>
                </a:r>
                <a14:m>
                  <m:oMath xmlns:m="http://schemas.openxmlformats.org/officeDocument/2006/math">
                    <m:r>
                      <a:rPr lang="en-US" sz="2000">
                        <a:latin typeface="Cambria Math" panose="02040503050406030204" pitchFamily="18" charset="0"/>
                        <a:ea typeface="Arial"/>
                        <a:cs typeface="Arial"/>
                        <a:sym typeface="Arial"/>
                      </a:rPr>
                      <m:t>(</m:t>
                    </m:r>
                    <m:r>
                      <m:rPr>
                        <m:sty m:val="p"/>
                      </m:rPr>
                      <a:rPr lang="en-US" sz="2000" b="0" i="1" smtClean="0">
                        <a:latin typeface="Cambria Math" panose="02040503050406030204" pitchFamily="18" charset="0"/>
                        <a:ea typeface="Arial"/>
                        <a:cs typeface="Arial"/>
                        <a:sym typeface="Arial"/>
                      </a:rPr>
                      <m:t>X</m:t>
                    </m:r>
                    <m:r>
                      <a:rPr lang="en-US" sz="2000" b="0" i="1" smtClean="0">
                        <a:latin typeface="Cambria Math" panose="02040503050406030204" pitchFamily="18" charset="0"/>
                        <a:ea typeface="Arial"/>
                        <a:cs typeface="Arial"/>
                        <a:sym typeface="Arial"/>
                      </a:rPr>
                      <m:t>, </m:t>
                    </m:r>
                    <m:r>
                      <m:rPr>
                        <m:sty m:val="p"/>
                      </m:rPr>
                      <a:rPr lang="en-US" sz="2000" b="0" i="1" smtClean="0">
                        <a:latin typeface="Cambria Math" panose="02040503050406030204" pitchFamily="18" charset="0"/>
                        <a:ea typeface="Arial"/>
                        <a:cs typeface="Arial"/>
                        <a:sym typeface="Arial"/>
                      </a:rPr>
                      <m:t>Y</m:t>
                    </m:r>
                    <m:r>
                      <a:rPr lang="en-US" sz="2000" b="0" i="1" smtClean="0">
                        <a:latin typeface="Cambria Math" panose="02040503050406030204" pitchFamily="18" charset="0"/>
                        <a:ea typeface="Arial"/>
                        <a:cs typeface="Arial"/>
                        <a:sym typeface="Arial"/>
                      </a:rPr>
                      <m:t>)</m:t>
                    </m:r>
                  </m:oMath>
                </a14:m>
                <a:r>
                  <a:rPr lang="en-US" sz="2000" dirty="0">
                    <a:latin typeface="Atkinson Hyperlegible Next"/>
                    <a:ea typeface="Arial"/>
                    <a:cs typeface="Arial"/>
                    <a:sym typeface="Arial"/>
                  </a:rPr>
                  <a:t> by integrating the IMU and the left-right speed. </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We also use the MPU-9250 Z-axis rate gyro to compute the robot’s heading, </a:t>
                </a:r>
                <a14:m>
                  <m:oMath xmlns:m="http://schemas.openxmlformats.org/officeDocument/2006/math">
                    <m:r>
                      <a:rPr lang="en-US" sz="2000" i="1" smtClean="0">
                        <a:latin typeface="Cambria Math" panose="02040503050406030204" pitchFamily="18" charset="0"/>
                        <a:ea typeface="Cambria Math" panose="02040503050406030204" pitchFamily="18" charset="0"/>
                        <a:cs typeface="Arial"/>
                        <a:sym typeface="Arial"/>
                      </a:rPr>
                      <m:t>𝜃</m:t>
                    </m:r>
                  </m:oMath>
                </a14:m>
                <a:r>
                  <a:rPr lang="en-US" sz="2000" dirty="0">
                    <a:latin typeface="Atkinson Hyperlegible Next"/>
                    <a:ea typeface="Arial"/>
                    <a:cs typeface="Arial"/>
                    <a:sym typeface="Arial"/>
                  </a:rPr>
                  <a:t>.</a:t>
                </a:r>
              </a:p>
            </p:txBody>
          </p:sp>
        </mc:Choice>
        <mc:Fallback xmlns="">
          <p:sp>
            <p:nvSpPr>
              <p:cNvPr id="118" name="Google Shape;118;p29">
                <a:extLst>
                  <a:ext uri="{FF2B5EF4-FFF2-40B4-BE49-F238E27FC236}">
                    <a16:creationId xmlns:a16="http://schemas.microsoft.com/office/drawing/2014/main" id="{1F7AA2D2-6DD5-8668-643F-AA95F1A1361F}"/>
                  </a:ext>
                </a:extLst>
              </p:cNvPr>
              <p:cNvSpPr txBox="1">
                <a:spLocks noGrp="1" noRot="1" noChangeAspect="1" noMove="1" noResize="1" noEditPoints="1" noAdjustHandles="1" noChangeArrowheads="1" noChangeShapeType="1" noTextEdit="1"/>
              </p:cNvSpPr>
              <p:nvPr>
                <p:ph type="body" idx="1"/>
              </p:nvPr>
            </p:nvSpPr>
            <p:spPr>
              <a:xfrm>
                <a:off x="376809" y="1334279"/>
                <a:ext cx="11177401" cy="4821102"/>
              </a:xfrm>
              <a:prstGeom prst="rect">
                <a:avLst/>
              </a:prstGeom>
              <a:blipFill>
                <a:blip r:embed="rId3"/>
                <a:stretch>
                  <a:fillRect l="-600" t="-632" r="-327"/>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52488F70-005B-F36A-0A22-AF98D47A60FD}"/>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B726FB8-B4BE-FAFC-C633-D0E314FDEFA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Wall Following – Inner Loop</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A519F861-F78E-ECC6-1354-4208B06AABF9}"/>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3B58B36-CD3B-04C2-34F1-7ABE3A96C683}"/>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797903B-AEA3-1A54-DBE1-E8D07AC4CA2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EFEBEB8-B800-864C-AD4E-99E0ED535B06}"/>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52D6EF3-97E9-4578-9CF6-35233952BEF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89950B3E-BF3C-9DDC-3D47-C9EC2F5BFC77}"/>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83829758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E26978BB-BE26-01E4-C531-7E442F000320}"/>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3D97363B-3263-BC06-6973-09EA9450568C}"/>
              </a:ext>
            </a:extLst>
          </p:cNvPr>
          <p:cNvSpPr txBox="1">
            <a:spLocks noGrp="1"/>
          </p:cNvSpPr>
          <p:nvPr>
            <p:ph type="body" idx="1"/>
          </p:nvPr>
        </p:nvSpPr>
        <p:spPr>
          <a:xfrm>
            <a:off x="376810" y="1334279"/>
            <a:ext cx="6272184"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The </a:t>
            </a:r>
            <a:r>
              <a:rPr lang="en-US" sz="2000" b="1" dirty="0">
                <a:latin typeface="Atkinson Hyperlegible Next"/>
                <a:ea typeface="Arial"/>
                <a:cs typeface="Arial"/>
                <a:sym typeface="Arial"/>
              </a:rPr>
              <a:t>Outer Loop</a:t>
            </a:r>
            <a:r>
              <a:rPr lang="en-US" sz="2000" dirty="0">
                <a:latin typeface="Atkinson Hyperlegible Next"/>
                <a:ea typeface="Arial"/>
                <a:cs typeface="Arial"/>
                <a:sym typeface="Arial"/>
              </a:rPr>
              <a:t> does the heavy lifting.</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Every 100 </a:t>
            </a:r>
            <a:r>
              <a:rPr lang="en-US" sz="2000" dirty="0" err="1">
                <a:latin typeface="Atkinson Hyperlegible Next"/>
                <a:ea typeface="Arial"/>
                <a:cs typeface="Arial"/>
                <a:sym typeface="Arial"/>
              </a:rPr>
              <a:t>ms</a:t>
            </a:r>
            <a:r>
              <a:rPr lang="en-US" sz="2000" dirty="0">
                <a:latin typeface="Atkinson Hyperlegible Next"/>
                <a:ea typeface="Arial"/>
                <a:cs typeface="Arial"/>
                <a:sym typeface="Arial"/>
              </a:rPr>
              <a:t>, the LIDAR transmits 228 distance points to the F28379D via the UART serial port.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Processing 228 trigonometric projections (calculating sines and cosines) is computationally heavy, so we extract strategic named sub-vectors to govern navigation. </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These represent key regions of interest such as “front”, “left front”, “right front”.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Why do we extract the minimum of a 5-point cluster rather than simply trusting a single laser ray or taking the mean?</a:t>
            </a:r>
          </a:p>
        </p:txBody>
      </p:sp>
      <p:sp>
        <p:nvSpPr>
          <p:cNvPr id="119" name="Google Shape;119;p29">
            <a:extLst>
              <a:ext uri="{FF2B5EF4-FFF2-40B4-BE49-F238E27FC236}">
                <a16:creationId xmlns:a16="http://schemas.microsoft.com/office/drawing/2014/main" id="{2C12C0B0-46DB-C1A2-A0D9-8DF4A03C87D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95972B7-CF5B-63F0-5032-5EF295DD167B}"/>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Wall Following – Outer Loop</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B902A555-E13E-25D6-A682-AFE6CF00B60F}"/>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2E81A0F1-DCC1-9435-B1FD-EDBF9CBC241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0E03D259-6E26-44EF-275C-E83F72BE4FE9}"/>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8D367E4-0F05-1ADC-E460-BCE5156C687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4496562-896A-3A51-8CAF-FCA1405FC08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98A6D92A-972D-C80C-7422-432D5822413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Graphic 2">
            <a:extLst>
              <a:ext uri="{FF2B5EF4-FFF2-40B4-BE49-F238E27FC236}">
                <a16:creationId xmlns:a16="http://schemas.microsoft.com/office/drawing/2014/main" id="{D564E30D-12B0-B940-E27A-97B5A427157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48994" y="1846969"/>
            <a:ext cx="3905790" cy="3813889"/>
          </a:xfrm>
          <a:prstGeom prst="rect">
            <a:avLst/>
          </a:prstGeom>
        </p:spPr>
      </p:pic>
      <p:sp>
        <p:nvSpPr>
          <p:cNvPr id="4" name="Rectangle 3">
            <a:extLst>
              <a:ext uri="{FF2B5EF4-FFF2-40B4-BE49-F238E27FC236}">
                <a16:creationId xmlns:a16="http://schemas.microsoft.com/office/drawing/2014/main" id="{80A4950F-31F9-0F8B-3923-BDCD29D4DE10}"/>
              </a:ext>
            </a:extLst>
          </p:cNvPr>
          <p:cNvSpPr/>
          <p:nvPr/>
        </p:nvSpPr>
        <p:spPr>
          <a:xfrm>
            <a:off x="9786670" y="3105666"/>
            <a:ext cx="768114" cy="1080979"/>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 name="Straight Arrow Connector 4">
            <a:extLst>
              <a:ext uri="{FF2B5EF4-FFF2-40B4-BE49-F238E27FC236}">
                <a16:creationId xmlns:a16="http://schemas.microsoft.com/office/drawing/2014/main" id="{35C12DF3-FF83-BDB3-ABD9-1EBBDAAB4027}"/>
              </a:ext>
            </a:extLst>
          </p:cNvPr>
          <p:cNvCxnSpPr>
            <a:cxnSpLocks/>
            <a:stCxn id="6" idx="2"/>
            <a:endCxn id="4" idx="3"/>
          </p:cNvCxnSpPr>
          <p:nvPr/>
        </p:nvCxnSpPr>
        <p:spPr>
          <a:xfrm flipH="1">
            <a:off x="10554784" y="3311188"/>
            <a:ext cx="577953" cy="334968"/>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5729DDFB-F41A-176B-F639-A2CB6734ECAB}"/>
              </a:ext>
            </a:extLst>
          </p:cNvPr>
          <p:cNvSpPr txBox="1"/>
          <p:nvPr/>
        </p:nvSpPr>
        <p:spPr>
          <a:xfrm>
            <a:off x="10456462" y="3003411"/>
            <a:ext cx="1352550" cy="307777"/>
          </a:xfrm>
          <a:prstGeom prst="rect">
            <a:avLst/>
          </a:prstGeom>
          <a:noFill/>
        </p:spPr>
        <p:txBody>
          <a:bodyPr wrap="square" rtlCol="0">
            <a:spAutoFit/>
          </a:bodyPr>
          <a:lstStyle/>
          <a:p>
            <a:pPr algn="ctr"/>
            <a:r>
              <a:rPr lang="en-US" dirty="0">
                <a:solidFill>
                  <a:srgbClr val="FF0000"/>
                </a:solidFill>
              </a:rPr>
              <a:t>Front</a:t>
            </a:r>
          </a:p>
        </p:txBody>
      </p:sp>
      <p:sp>
        <p:nvSpPr>
          <p:cNvPr id="14" name="Rectangle 13">
            <a:extLst>
              <a:ext uri="{FF2B5EF4-FFF2-40B4-BE49-F238E27FC236}">
                <a16:creationId xmlns:a16="http://schemas.microsoft.com/office/drawing/2014/main" id="{FFC20AEC-3B7F-3533-AD0C-01F26801D62F}"/>
              </a:ext>
            </a:extLst>
          </p:cNvPr>
          <p:cNvSpPr/>
          <p:nvPr/>
        </p:nvSpPr>
        <p:spPr>
          <a:xfrm>
            <a:off x="8808935" y="1955647"/>
            <a:ext cx="1053324" cy="60845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8661A2B9-B528-EB15-238D-DA31BCA9B553}"/>
              </a:ext>
            </a:extLst>
          </p:cNvPr>
          <p:cNvCxnSpPr>
            <a:cxnSpLocks/>
            <a:stCxn id="16" idx="1"/>
            <a:endCxn id="14" idx="3"/>
          </p:cNvCxnSpPr>
          <p:nvPr/>
        </p:nvCxnSpPr>
        <p:spPr>
          <a:xfrm flipH="1">
            <a:off x="9862259" y="2259874"/>
            <a:ext cx="322824"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414B6B18-7FC8-FF5A-DE9F-26377C202C9C}"/>
              </a:ext>
            </a:extLst>
          </p:cNvPr>
          <p:cNvSpPr txBox="1"/>
          <p:nvPr/>
        </p:nvSpPr>
        <p:spPr>
          <a:xfrm>
            <a:off x="10185083" y="2105985"/>
            <a:ext cx="947654" cy="307777"/>
          </a:xfrm>
          <a:prstGeom prst="rect">
            <a:avLst/>
          </a:prstGeom>
          <a:noFill/>
        </p:spPr>
        <p:txBody>
          <a:bodyPr wrap="square" rtlCol="0">
            <a:spAutoFit/>
          </a:bodyPr>
          <a:lstStyle/>
          <a:p>
            <a:pPr algn="ctr"/>
            <a:r>
              <a:rPr lang="en-US" dirty="0">
                <a:solidFill>
                  <a:srgbClr val="FF0000"/>
                </a:solidFill>
              </a:rPr>
              <a:t>Left Front</a:t>
            </a:r>
          </a:p>
        </p:txBody>
      </p:sp>
      <p:sp>
        <p:nvSpPr>
          <p:cNvPr id="28" name="Rectangle 27">
            <a:extLst>
              <a:ext uri="{FF2B5EF4-FFF2-40B4-BE49-F238E27FC236}">
                <a16:creationId xmlns:a16="http://schemas.microsoft.com/office/drawing/2014/main" id="{06B1CAF8-6BA4-0F7E-1ABC-C2381AA2B16F}"/>
              </a:ext>
            </a:extLst>
          </p:cNvPr>
          <p:cNvSpPr/>
          <p:nvPr/>
        </p:nvSpPr>
        <p:spPr>
          <a:xfrm>
            <a:off x="8966673" y="4597611"/>
            <a:ext cx="1053324" cy="60845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 name="Straight Arrow Connector 28">
            <a:extLst>
              <a:ext uri="{FF2B5EF4-FFF2-40B4-BE49-F238E27FC236}">
                <a16:creationId xmlns:a16="http://schemas.microsoft.com/office/drawing/2014/main" id="{131D3519-EA62-FF70-CC0C-D54FD4216E77}"/>
              </a:ext>
            </a:extLst>
          </p:cNvPr>
          <p:cNvCxnSpPr>
            <a:cxnSpLocks/>
            <a:stCxn id="30" idx="1"/>
            <a:endCxn id="28" idx="3"/>
          </p:cNvCxnSpPr>
          <p:nvPr/>
        </p:nvCxnSpPr>
        <p:spPr>
          <a:xfrm flipH="1">
            <a:off x="10019997" y="4901838"/>
            <a:ext cx="322823" cy="0"/>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678BBF42-2AE5-0A55-5D86-19EBCB17C18F}"/>
              </a:ext>
            </a:extLst>
          </p:cNvPr>
          <p:cNvSpPr txBox="1"/>
          <p:nvPr/>
        </p:nvSpPr>
        <p:spPr>
          <a:xfrm>
            <a:off x="10342820" y="4747949"/>
            <a:ext cx="1113305" cy="307777"/>
          </a:xfrm>
          <a:prstGeom prst="rect">
            <a:avLst/>
          </a:prstGeom>
          <a:noFill/>
        </p:spPr>
        <p:txBody>
          <a:bodyPr wrap="square" rtlCol="0">
            <a:spAutoFit/>
          </a:bodyPr>
          <a:lstStyle/>
          <a:p>
            <a:pPr algn="ctr"/>
            <a:r>
              <a:rPr lang="en-US" dirty="0">
                <a:solidFill>
                  <a:srgbClr val="FF0000"/>
                </a:solidFill>
              </a:rPr>
              <a:t>Right Front</a:t>
            </a:r>
          </a:p>
        </p:txBody>
      </p:sp>
    </p:spTree>
    <p:extLst>
      <p:ext uri="{BB962C8B-B14F-4D97-AF65-F5344CB8AC3E}">
        <p14:creationId xmlns:p14="http://schemas.microsoft.com/office/powerpoint/2010/main" val="20339649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021CE8EF-DF98-7147-EB3D-07BEAC67E927}"/>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062BBFCE-2DCC-5F2C-7320-19276E256D27}"/>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State Machine</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5EF9770E-7D5E-F811-6306-4D329571C79C}"/>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B07A70A6-889C-7B72-C91F-23D3638C1E85}"/>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79F6734A-BDF5-D239-72B8-AF96A2578A4E}"/>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FF2B5EF4-FFF2-40B4-BE49-F238E27FC236}">
                <a16:creationId xmlns:a16="http://schemas.microsoft.com/office/drawing/2014/main" id="{FF6F96E0-CF0A-E64C-9DB3-8DCE566AA1BC}"/>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2E832934-D2C2-80CC-2208-2D710F510A07}"/>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0EFCB867-4767-C1A7-96A1-AB47BB08DDF2}"/>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816F1132-5482-6EA7-A3CA-C1497700FD19}"/>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6B8D3C2D-ADC6-A2FE-CCBC-4CB0F01F826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22F36A04-42BF-8783-1C38-773B10B4139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9490619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534A58A4-CB8E-83BA-2D99-C4D3A3A76EEE}"/>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213085B-7F06-EBFF-75BA-6824AA92DAC8}"/>
              </a:ext>
            </a:extLst>
          </p:cNvPr>
          <p:cNvSpPr txBox="1">
            <a:spLocks noGrp="1"/>
          </p:cNvSpPr>
          <p:nvPr>
            <p:ph type="body" idx="1"/>
          </p:nvPr>
        </p:nvSpPr>
        <p:spPr>
          <a:xfrm>
            <a:off x="376809" y="1334279"/>
            <a:ext cx="11320979"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Autonomous navigation requires rigid decision-making architectures; the most robust paradigm for maze-solving is the Finite State Machine (FSM).</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An FSM divides continuous mechatronic behavior into discrete operational modes, or "States," governed by strict conditional transitions.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For each “State” specific actions happen inside, such as going forward or turning left, do nothing, each can be completely unique. To be able to switch states we then must be able to put specific conditions to say which state we should go to.</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For continuous right-wall following, we can construct a simple 2-State FSM interface: </a:t>
            </a:r>
          </a:p>
          <a:p>
            <a:pPr marL="342900">
              <a:lnSpc>
                <a:spcPct val="100000"/>
              </a:lnSpc>
              <a:spcBef>
                <a:spcPts val="0"/>
              </a:spcBef>
              <a:buSzPts val="3000"/>
            </a:pPr>
            <a:r>
              <a:rPr lang="en-US" sz="2000" dirty="0">
                <a:latin typeface="Atkinson Hyperlegible Next"/>
                <a:ea typeface="Arial"/>
                <a:cs typeface="Arial"/>
                <a:sym typeface="Arial"/>
              </a:rPr>
              <a:t>State 1 (Wall Follow)</a:t>
            </a:r>
          </a:p>
          <a:p>
            <a:pPr marL="342900">
              <a:lnSpc>
                <a:spcPct val="100000"/>
              </a:lnSpc>
              <a:spcBef>
                <a:spcPts val="0"/>
              </a:spcBef>
              <a:buSzPts val="3000"/>
            </a:pPr>
            <a:r>
              <a:rPr lang="en-US" sz="2000" dirty="0">
                <a:latin typeface="Atkinson Hyperlegible Next"/>
                <a:ea typeface="Arial"/>
                <a:cs typeface="Arial"/>
                <a:sym typeface="Arial"/>
              </a:rPr>
              <a:t>State 2 (Left Turn).</a:t>
            </a:r>
          </a:p>
        </p:txBody>
      </p:sp>
      <p:sp>
        <p:nvSpPr>
          <p:cNvPr id="119" name="Google Shape;119;p29">
            <a:extLst>
              <a:ext uri="{FF2B5EF4-FFF2-40B4-BE49-F238E27FC236}">
                <a16:creationId xmlns:a16="http://schemas.microsoft.com/office/drawing/2014/main" id="{ECF1073B-A8D1-99F9-F165-BB2A63AFCE8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3B4E1EB-5510-12DF-299E-3E4DF0306983}"/>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Wall Following – State Machine</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86AC6C17-71FB-4B53-B016-8BB26D953E51}"/>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9A7B5B6A-0D6E-2D82-2F5D-62D3D20DB78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9696D621-ADC8-ADF4-A1D2-594D75D8CD40}"/>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7D25E46D-FA93-A7D5-34E2-C7A07DD7220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822E8F1-51A2-2282-7289-1AD136313F9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92EBD8E-3451-8158-D708-338D3B491D15}"/>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8268700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2CE972E5-DF09-E06F-017A-547FFD849CA4}"/>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1CCD1B99-0806-1343-A7A7-3E20136C93A7}"/>
              </a:ext>
            </a:extLst>
          </p:cNvPr>
          <p:cNvSpPr txBox="1">
            <a:spLocks noGrp="1"/>
          </p:cNvSpPr>
          <p:nvPr>
            <p:ph type="body" idx="1"/>
          </p:nvPr>
        </p:nvSpPr>
        <p:spPr>
          <a:xfrm>
            <a:off x="376809" y="1334278"/>
            <a:ext cx="11320979" cy="5074533"/>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Allows for separation of tasks and enables complex independent behaviors. </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This also helps with software as having states means that you can modularize (have separate files / functions) for each of your different states instead of one big function. This makes things easier to debug and extend to include additional states. </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For the right-wall following we would have 2 states: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342900">
              <a:lnSpc>
                <a:spcPct val="100000"/>
              </a:lnSpc>
              <a:spcBef>
                <a:spcPts val="0"/>
              </a:spcBef>
              <a:buSzPts val="3000"/>
            </a:pPr>
            <a:r>
              <a:rPr lang="en-US" sz="2000" dirty="0">
                <a:latin typeface="Atkinson Hyperlegible Next"/>
                <a:ea typeface="Arial"/>
                <a:cs typeface="Arial"/>
                <a:sym typeface="Arial"/>
              </a:rPr>
              <a:t>State 1, ensures that the robot maintains a specific distance from the wall based on the LiDAR values</a:t>
            </a:r>
          </a:p>
          <a:p>
            <a:pPr marL="800100" lvl="1">
              <a:lnSpc>
                <a:spcPct val="100000"/>
              </a:lnSpc>
              <a:spcBef>
                <a:spcPts val="0"/>
              </a:spcBef>
              <a:buSzPts val="3000"/>
            </a:pPr>
            <a:r>
              <a:rPr lang="en-US" sz="2000" dirty="0">
                <a:latin typeface="Atkinson Hyperlegible Next"/>
                <a:ea typeface="Arial"/>
                <a:cs typeface="Arial"/>
                <a:sym typeface="Arial"/>
              </a:rPr>
              <a:t>If we see an obstacle in front of us, another wall, we want to change state 2</a:t>
            </a:r>
          </a:p>
          <a:p>
            <a:pPr marL="342900">
              <a:lnSpc>
                <a:spcPct val="100000"/>
              </a:lnSpc>
              <a:spcBef>
                <a:spcPts val="0"/>
              </a:spcBef>
              <a:buSzPts val="3000"/>
            </a:pPr>
            <a:r>
              <a:rPr lang="en-US" sz="2000" dirty="0">
                <a:latin typeface="Atkinson Hyperlegible Next"/>
                <a:ea typeface="Arial"/>
                <a:cs typeface="Arial"/>
                <a:sym typeface="Arial"/>
              </a:rPr>
              <a:t>State 2, handles the case when there is an obstacle in front of us, to avoid collision we want to stop and turn left</a:t>
            </a:r>
          </a:p>
          <a:p>
            <a:pPr marL="800100" lvl="1">
              <a:lnSpc>
                <a:spcPct val="100000"/>
              </a:lnSpc>
              <a:spcBef>
                <a:spcPts val="0"/>
              </a:spcBef>
              <a:buSzPts val="3000"/>
            </a:pPr>
            <a:r>
              <a:rPr lang="en-US" sz="2000" dirty="0">
                <a:latin typeface="Atkinson Hyperlegible Next"/>
                <a:ea typeface="Arial"/>
                <a:cs typeface="Arial"/>
                <a:sym typeface="Arial"/>
              </a:rPr>
              <a:t>If we no longer see any obstacles, then we can continue following the wall from the right side (state 1)</a:t>
            </a:r>
          </a:p>
        </p:txBody>
      </p:sp>
      <p:sp>
        <p:nvSpPr>
          <p:cNvPr id="119" name="Google Shape;119;p29">
            <a:extLst>
              <a:ext uri="{FF2B5EF4-FFF2-40B4-BE49-F238E27FC236}">
                <a16:creationId xmlns:a16="http://schemas.microsoft.com/office/drawing/2014/main" id="{3B6866F8-65EE-2451-0DEA-28E511A2E0EE}"/>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D1635221-C015-705F-B3AB-69774EE5F229}"/>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Wall Following – State Machine</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55D18439-B714-3D59-39FC-7EE655665545}"/>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AA33DBD3-A2D4-AA47-D85C-704FE7814CA4}"/>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D8A3CA87-1C39-545E-C23E-F7FF4BD8AC81}"/>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2F03937B-F988-0D37-88D7-778320A4ABF7}"/>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31DFC0F8-9A52-7619-9C1A-2C3903439158}"/>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0FC25D8-C750-65B8-BA6C-E2966076989B}"/>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3568764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6" end="6"/>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8">
                                            <p:txEl>
                                              <p:pRg st="8" end="8"/>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AAB8372-2434-D15F-47E9-AE84E7F986AC}"/>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1092CF98-159F-2D1F-4A3D-FABB9D38F29B}"/>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A955811A-4482-3A8A-8663-0190D81E6140}"/>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Wall Following – State Machine</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25941D6B-DDAF-A2E2-FC15-7AF913A281E0}"/>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7E405FCF-1ED2-5674-36B7-7CC63DD0D465}"/>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147416E8-1F5A-671D-4DE5-3EC2BC63FFE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63EA1947-2BA2-6A86-E482-C8BD1B03E27B}"/>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B9C89DAE-F049-89BE-0AFE-A8365CEB3A29}"/>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462C03B6-D3FB-6D61-B85F-6556204AE84D}"/>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a:extLst>
              <a:ext uri="{FF2B5EF4-FFF2-40B4-BE49-F238E27FC236}">
                <a16:creationId xmlns:a16="http://schemas.microsoft.com/office/drawing/2014/main" id="{9380E33E-904F-ACBA-FB5C-400272C931B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5815" y="1776550"/>
            <a:ext cx="11780369" cy="3304900"/>
          </a:xfrm>
          <a:prstGeom prst="rect">
            <a:avLst/>
          </a:prstGeom>
        </p:spPr>
      </p:pic>
    </p:spTree>
    <p:extLst>
      <p:ext uri="{BB962C8B-B14F-4D97-AF65-F5344CB8AC3E}">
        <p14:creationId xmlns:p14="http://schemas.microsoft.com/office/powerpoint/2010/main" val="15517790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85258F69-E564-8923-E4CE-382F7208CDD5}"/>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8" name="Google Shape;118;p29">
                <a:extLst>
                  <a:ext uri="{FF2B5EF4-FFF2-40B4-BE49-F238E27FC236}">
                    <a16:creationId xmlns:a16="http://schemas.microsoft.com/office/drawing/2014/main" id="{B41902FD-6E14-D8C2-E643-402FC78A7160}"/>
                  </a:ext>
                </a:extLst>
              </p:cNvPr>
              <p:cNvSpPr txBox="1">
                <a:spLocks noGrp="1"/>
              </p:cNvSpPr>
              <p:nvPr>
                <p:ph type="body" idx="1"/>
              </p:nvPr>
            </p:nvSpPr>
            <p:spPr>
              <a:xfrm>
                <a:off x="376810" y="1334278"/>
                <a:ext cx="7127464" cy="5074533"/>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dirty="0">
                    <a:latin typeface="Atkinson Hyperlegible Next"/>
                    <a:ea typeface="Arial"/>
                    <a:cs typeface="Arial"/>
                    <a:sym typeface="Arial"/>
                  </a:rPr>
                  <a:t>A critical flaw in naive FSM design is "chattering" (Zeno behavior), where minor sensor noise causes the logic to rapidly oscillate between States 1 and State 2 infinitely fast.</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To prevent this, we ensure a robust enough “</a:t>
                </a:r>
                <a:r>
                  <a:rPr lang="en-US" sz="2000" b="1" dirty="0">
                    <a:latin typeface="Atkinson Hyperlegible Next"/>
                    <a:ea typeface="Arial"/>
                    <a:cs typeface="Arial"/>
                    <a:sym typeface="Arial"/>
                  </a:rPr>
                  <a:t>deadband / hysteresis</a:t>
                </a:r>
                <a:r>
                  <a:rPr lang="en-US" sz="2000" dirty="0">
                    <a:latin typeface="Atkinson Hyperlegible Next"/>
                    <a:ea typeface="Arial"/>
                    <a:cs typeface="Arial"/>
                    <a:sym typeface="Arial"/>
                  </a:rPr>
                  <a:t>” zone into the transition boundaries.</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A </a:t>
                </a:r>
                <a:r>
                  <a:rPr lang="en-US" sz="2000" b="1" dirty="0">
                    <a:latin typeface="Atkinson Hyperlegible Next"/>
                    <a:ea typeface="Arial"/>
                    <a:cs typeface="Arial"/>
                    <a:sym typeface="Arial"/>
                  </a:rPr>
                  <a:t>deadband</a:t>
                </a:r>
                <a:r>
                  <a:rPr lang="en-US" sz="2000" dirty="0">
                    <a:latin typeface="Atkinson Hyperlegible Next"/>
                    <a:ea typeface="Arial"/>
                    <a:cs typeface="Arial"/>
                    <a:sym typeface="Arial"/>
                  </a:rPr>
                  <a:t> zone typically represents an inactive region where no action is taken. </a:t>
                </a:r>
              </a:p>
              <a:p>
                <a:pPr marL="0" indent="0">
                  <a:lnSpc>
                    <a:spcPct val="100000"/>
                  </a:lnSpc>
                  <a:spcBef>
                    <a:spcPts val="0"/>
                  </a:spcBef>
                  <a:buSzPts val="3000"/>
                  <a:buNone/>
                </a:pPr>
                <a:endParaRPr lang="en-US" sz="2000" dirty="0">
                  <a:latin typeface="Atkinson Hyperlegible Next"/>
                  <a:ea typeface="Arial"/>
                  <a:cs typeface="Arial"/>
                  <a:sym typeface="Arial"/>
                </a:endParaRPr>
              </a:p>
              <a:p>
                <a:pPr marL="0" indent="0">
                  <a:lnSpc>
                    <a:spcPct val="100000"/>
                  </a:lnSpc>
                  <a:spcBef>
                    <a:spcPts val="0"/>
                  </a:spcBef>
                  <a:buSzPts val="3000"/>
                  <a:buNone/>
                </a:pPr>
                <a:r>
                  <a:rPr lang="en-US" sz="2000" dirty="0">
                    <a:latin typeface="Atkinson Hyperlegible Next"/>
                    <a:ea typeface="Arial"/>
                    <a:cs typeface="Arial"/>
                    <a:sym typeface="Arial"/>
                  </a:rPr>
                  <a:t>For example, instead of setting a velocity of close to zero, just set it to zero to reduce power consumption and potential small noise or backlash. When </a:t>
                </a:r>
                <a14:m>
                  <m:oMath xmlns:m="http://schemas.openxmlformats.org/officeDocument/2006/math">
                    <m:r>
                      <a:rPr lang="en-US" sz="2000" b="0" i="1" smtClean="0">
                        <a:latin typeface="Cambria Math" panose="02040503050406030204" pitchFamily="18" charset="0"/>
                        <a:ea typeface="Arial"/>
                        <a:cs typeface="Arial"/>
                        <a:sym typeface="Arial"/>
                      </a:rPr>
                      <m:t>|</m:t>
                    </m:r>
                    <m:r>
                      <m:rPr>
                        <m:sty m:val="p"/>
                      </m:rPr>
                      <a:rPr lang="en-US" sz="2000" b="0" i="1" smtClean="0">
                        <a:latin typeface="Cambria Math" panose="02040503050406030204" pitchFamily="18" charset="0"/>
                        <a:ea typeface="Arial"/>
                        <a:cs typeface="Arial"/>
                        <a:sym typeface="Arial"/>
                      </a:rPr>
                      <m:t>v</m:t>
                    </m:r>
                    <m:r>
                      <a:rPr lang="en-US" sz="2000" b="0" i="1" smtClean="0">
                        <a:latin typeface="Cambria Math" panose="02040503050406030204" pitchFamily="18" charset="0"/>
                        <a:ea typeface="Arial"/>
                        <a:cs typeface="Arial"/>
                        <a:sym typeface="Arial"/>
                      </a:rPr>
                      <m:t>| &lt;</m:t>
                    </m:r>
                    <m:r>
                      <a:rPr lang="en-US" sz="2000" i="1">
                        <a:latin typeface="Cambria Math" panose="02040503050406030204" pitchFamily="18" charset="0"/>
                        <a:ea typeface="Cambria Math" panose="02040503050406030204" pitchFamily="18" charset="0"/>
                        <a:cs typeface="Arial"/>
                        <a:sym typeface="Arial"/>
                      </a:rPr>
                      <m:t>𝜀</m:t>
                    </m:r>
                  </m:oMath>
                </a14:m>
                <a:r>
                  <a:rPr lang="en-US" sz="2000" dirty="0">
                    <a:latin typeface="Atkinson Hyperlegible Next"/>
                    <a:ea typeface="Arial"/>
                    <a:cs typeface="Arial"/>
                    <a:sym typeface="Arial"/>
                  </a:rPr>
                  <a:t>, set </a:t>
                </a:r>
                <a14:m>
                  <m:oMath xmlns:m="http://schemas.openxmlformats.org/officeDocument/2006/math">
                    <m:r>
                      <m:rPr>
                        <m:sty m:val="p"/>
                      </m:rPr>
                      <a:rPr lang="en-US" sz="2000" i="1">
                        <a:latin typeface="Cambria Math" panose="02040503050406030204" pitchFamily="18" charset="0"/>
                        <a:ea typeface="Arial"/>
                        <a:cs typeface="Arial"/>
                        <a:sym typeface="Arial"/>
                      </a:rPr>
                      <m:t>v</m:t>
                    </m:r>
                    <m:r>
                      <a:rPr lang="en-US" sz="2000" b="0" i="1" smtClean="0">
                        <a:latin typeface="Cambria Math" panose="02040503050406030204" pitchFamily="18" charset="0"/>
                        <a:ea typeface="Arial"/>
                        <a:cs typeface="Arial"/>
                        <a:sym typeface="Arial"/>
                      </a:rPr>
                      <m:t> = 0</m:t>
                    </m:r>
                  </m:oMath>
                </a14:m>
                <a:r>
                  <a:rPr lang="en-US" sz="2000" dirty="0">
                    <a:latin typeface="Atkinson Hyperlegible Next"/>
                    <a:ea typeface="Arial"/>
                    <a:cs typeface="Arial"/>
                    <a:sym typeface="Arial"/>
                  </a:rPr>
                  <a:t>.</a:t>
                </a:r>
              </a:p>
              <a:p>
                <a:pPr marL="0" indent="0">
                  <a:lnSpc>
                    <a:spcPct val="100000"/>
                  </a:lnSpc>
                  <a:spcBef>
                    <a:spcPts val="0"/>
                  </a:spcBef>
                  <a:buSzPts val="3000"/>
                  <a:buNone/>
                </a:pPr>
                <a:endParaRPr lang="en-US" sz="2000" dirty="0">
                  <a:latin typeface="Atkinson Hyperlegible Next"/>
                  <a:ea typeface="Arial"/>
                  <a:cs typeface="Arial"/>
                  <a:sym typeface="Arial"/>
                </a:endParaRPr>
              </a:p>
            </p:txBody>
          </p:sp>
        </mc:Choice>
        <mc:Fallback xmlns="">
          <p:sp>
            <p:nvSpPr>
              <p:cNvPr id="118" name="Google Shape;118;p29">
                <a:extLst>
                  <a:ext uri="{FF2B5EF4-FFF2-40B4-BE49-F238E27FC236}">
                    <a16:creationId xmlns:a16="http://schemas.microsoft.com/office/drawing/2014/main" id="{B41902FD-6E14-D8C2-E643-402FC78A7160}"/>
                  </a:ext>
                </a:extLst>
              </p:cNvPr>
              <p:cNvSpPr txBox="1">
                <a:spLocks noGrp="1" noRot="1" noChangeAspect="1" noMove="1" noResize="1" noEditPoints="1" noAdjustHandles="1" noChangeArrowheads="1" noChangeShapeType="1" noTextEdit="1"/>
              </p:cNvSpPr>
              <p:nvPr>
                <p:ph type="body" idx="1"/>
              </p:nvPr>
            </p:nvSpPr>
            <p:spPr>
              <a:xfrm>
                <a:off x="376810" y="1334278"/>
                <a:ext cx="7127464" cy="5074533"/>
              </a:xfrm>
              <a:prstGeom prst="rect">
                <a:avLst/>
              </a:prstGeom>
              <a:blipFill>
                <a:blip r:embed="rId3"/>
                <a:stretch>
                  <a:fillRect l="-941" t="-601" r="-1540"/>
                </a:stretch>
              </a:blipFill>
              <a:ln>
                <a:noFill/>
              </a:ln>
            </p:spPr>
            <p:txBody>
              <a:bodyPr/>
              <a:lstStyle/>
              <a:p>
                <a:r>
                  <a:rPr lang="en-US">
                    <a:noFill/>
                  </a:rPr>
                  <a:t> </a:t>
                </a:r>
              </a:p>
            </p:txBody>
          </p:sp>
        </mc:Fallback>
      </mc:AlternateContent>
      <p:sp>
        <p:nvSpPr>
          <p:cNvPr id="119" name="Google Shape;119;p29">
            <a:extLst>
              <a:ext uri="{FF2B5EF4-FFF2-40B4-BE49-F238E27FC236}">
                <a16:creationId xmlns:a16="http://schemas.microsoft.com/office/drawing/2014/main" id="{A12233C1-79BF-D221-2326-05F20174675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B35DC9F-D642-61F2-6111-A62D89CC16B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Wall Following – State Machine</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128D338D-2FE8-1117-401A-B30EF5C5AE72}"/>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BEFF635A-657E-302E-3056-D01D73E9928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6AC9651D-0B1E-15D0-C1F9-106D2E6D248D}"/>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B0CDD2B-F219-630C-1824-98F8871A7C2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ACE21D2B-9E82-6C6F-FE89-F05AADF3CE3D}"/>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DBB14B7D-DFAE-83C1-A20F-65615AADCFA2}"/>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10242" name="Picture 2" descr="undefined">
            <a:extLst>
              <a:ext uri="{FF2B5EF4-FFF2-40B4-BE49-F238E27FC236}">
                <a16:creationId xmlns:a16="http://schemas.microsoft.com/office/drawing/2014/main" id="{FE1FDDE6-E8C4-63CB-DC53-04F648D4BD6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04274" y="1665929"/>
            <a:ext cx="4411229" cy="4411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7502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AE634C16-EA38-DBD0-21E3-32BB05600650}"/>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9EAB2432-13A0-5638-CDAA-B743BB8F0D03}"/>
              </a:ext>
            </a:extLst>
          </p:cNvPr>
          <p:cNvSpPr txBox="1">
            <a:spLocks noGrp="1"/>
          </p:cNvSpPr>
          <p:nvPr>
            <p:ph type="body" idx="1"/>
          </p:nvPr>
        </p:nvSpPr>
        <p:spPr>
          <a:xfrm>
            <a:off x="376809" y="1334278"/>
            <a:ext cx="11538693" cy="452419"/>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000" b="1" dirty="0">
                <a:latin typeface="Atkinson Hyperlegible Next"/>
                <a:ea typeface="Arial"/>
                <a:cs typeface="Arial"/>
                <a:sym typeface="Arial"/>
              </a:rPr>
              <a:t>Hysteresis </a:t>
            </a:r>
            <a:r>
              <a:rPr lang="en-US" sz="2000" dirty="0">
                <a:latin typeface="Atkinson Hyperlegible Next"/>
                <a:ea typeface="Arial"/>
                <a:cs typeface="Arial"/>
                <a:sym typeface="Arial"/>
              </a:rPr>
              <a:t>is path-dependent, where the output relies on whether the variable is rising or falling.</a:t>
            </a:r>
          </a:p>
          <a:p>
            <a:pPr marL="0" indent="0">
              <a:lnSpc>
                <a:spcPct val="100000"/>
              </a:lnSpc>
              <a:spcBef>
                <a:spcPts val="0"/>
              </a:spcBef>
              <a:buSzPts val="3000"/>
              <a:buNone/>
            </a:pPr>
            <a:endParaRPr lang="en-US" sz="2000" dirty="0">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2C303B60-715D-7E5A-7091-FF4F97252FD2}"/>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C1FC282C-16D2-7574-18A7-45B3B9ACFD1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Wall Following – State Machine</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691C8F59-00A9-005C-E60D-8A332BC958AC}"/>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3CCCFA9E-D2E9-271C-717E-DB9BBC87162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8CCFCC84-0F52-CB1B-50CF-0125B45AEF1F}"/>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0FE867E5-2E83-C997-EF23-58A908EE247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F4AEBBAD-A12F-E65F-8A56-ED1B025C3CB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B5295C39-7431-3B9C-1769-4BECF11BC863}"/>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3" name="Picture 2">
            <a:extLst>
              <a:ext uri="{FF2B5EF4-FFF2-40B4-BE49-F238E27FC236}">
                <a16:creationId xmlns:a16="http://schemas.microsoft.com/office/drawing/2014/main" id="{52B52767-BC6A-58FF-6CBF-F32DD842F92B}"/>
              </a:ext>
            </a:extLst>
          </p:cNvPr>
          <p:cNvPicPr>
            <a:picLocks noChangeAspect="1" noChangeArrowheads="1"/>
          </p:cNvPicPr>
          <p:nvPr/>
        </p:nvPicPr>
        <p:blipFill>
          <a:blip r:embed="rId4">
            <a:extLst>
              <a:ext uri="{96DAC541-7B7A-43D3-8B79-37D633B846F1}">
                <asvg:svgBlip xmlns:asvg="http://schemas.microsoft.com/office/drawing/2016/SVG/main" r:embed="rId5"/>
              </a:ext>
            </a:extLst>
          </a:blip>
          <a:srcRect/>
          <a:stretch/>
        </p:blipFill>
        <p:spPr bwMode="auto">
          <a:xfrm>
            <a:off x="3017028" y="1823033"/>
            <a:ext cx="5629590" cy="47421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240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8C98CEB-78E8-A4C5-D703-2425A1410795}"/>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5888F524-03C3-3F19-9411-DECDD080477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F8A25BE7-C8DA-C95F-C668-CE7FC9E55BF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Wall Following – State Machine</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FAD7E60D-1D06-2588-6E62-D3565E554372}"/>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A798706-2F03-563E-3E0B-E988E4718061}"/>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543A4FE9-06B2-44D6-40BC-2CB72898CCEC}"/>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E843473B-1830-24A5-20E4-B9BB88D641BC}"/>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056BF7AF-286D-DD35-1470-84D544E914E5}"/>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1377350D-9125-F855-298C-7B661C4D371A}"/>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a:extLst>
              <a:ext uri="{FF2B5EF4-FFF2-40B4-BE49-F238E27FC236}">
                <a16:creationId xmlns:a16="http://schemas.microsoft.com/office/drawing/2014/main" id="{60760AFA-7E5F-FF84-8B45-D570D8D42F96}"/>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05815" y="3132160"/>
            <a:ext cx="11780369" cy="3304900"/>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2AE744D-70B7-676A-57D9-33C358D32010}"/>
                  </a:ext>
                </a:extLst>
              </p:cNvPr>
              <p:cNvSpPr txBox="1"/>
              <p:nvPr/>
            </p:nvSpPr>
            <p:spPr>
              <a:xfrm>
                <a:off x="205815" y="1022971"/>
                <a:ext cx="11780369" cy="1993623"/>
              </a:xfrm>
              <a:prstGeom prst="rect">
                <a:avLst/>
              </a:prstGeom>
              <a:noFill/>
            </p:spPr>
            <p:txBody>
              <a:bodyPr wrap="square">
                <a:spAutoFit/>
              </a:bodyPr>
              <a:lstStyle/>
              <a:p>
                <a:pPr marL="0" indent="0">
                  <a:lnSpc>
                    <a:spcPct val="100000"/>
                  </a:lnSpc>
                  <a:spcBef>
                    <a:spcPts val="0"/>
                  </a:spcBef>
                  <a:buSzPts val="3000"/>
                  <a:buNone/>
                </a:pPr>
                <a:r>
                  <a:rPr lang="en-US" sz="2000" dirty="0">
                    <a:cs typeface="Arial"/>
                    <a:sym typeface="Arial"/>
                  </a:rPr>
                  <a:t>In this case we do not authorize the return to State 2 until </a:t>
                </a:r>
                <a14:m>
                  <m:oMath xmlns:m="http://schemas.openxmlformats.org/officeDocument/2006/math">
                    <m:sSub>
                      <m:sSubPr>
                        <m:ctrlPr>
                          <a:rPr lang="en-US" sz="2000" i="1" smtClean="0">
                            <a:latin typeface="Cambria Math" panose="02040503050406030204" pitchFamily="18" charset="0"/>
                            <a:cs typeface="Arial"/>
                            <a:sym typeface="Arial"/>
                          </a:rPr>
                        </m:ctrlPr>
                      </m:sSubPr>
                      <m:e>
                        <m:r>
                          <m:rPr>
                            <m:sty m:val="p"/>
                          </m:rPr>
                          <a:rPr lang="en-US" sz="2000" b="0" i="1" smtClean="0">
                            <a:latin typeface="Cambria Math" panose="02040503050406030204" pitchFamily="18" charset="0"/>
                            <a:cs typeface="Arial"/>
                            <a:sym typeface="Arial"/>
                          </a:rPr>
                          <m:t>d</m:t>
                        </m:r>
                      </m:e>
                      <m:sub>
                        <m:r>
                          <m:rPr>
                            <m:sty m:val="p"/>
                          </m:rPr>
                          <a:rPr lang="en-US" sz="2000" b="0" i="1" smtClean="0">
                            <a:latin typeface="Cambria Math" panose="02040503050406030204" pitchFamily="18" charset="0"/>
                            <a:cs typeface="Arial"/>
                            <a:sym typeface="Arial"/>
                          </a:rPr>
                          <m:t>front</m:t>
                        </m:r>
                      </m:sub>
                    </m:sSub>
                    <m:r>
                      <a:rPr lang="en-US" sz="2000" b="0" i="1" smtClean="0">
                        <a:latin typeface="Cambria Math" panose="02040503050406030204" pitchFamily="18" charset="0"/>
                        <a:cs typeface="Arial"/>
                        <a:sym typeface="Arial"/>
                      </a:rPr>
                      <m:t> &gt; </m:t>
                    </m:r>
                    <m:sSub>
                      <m:sSubPr>
                        <m:ctrlPr>
                          <a:rPr lang="en-US" sz="2000" b="0" i="1" smtClean="0">
                            <a:latin typeface="Cambria Math" panose="02040503050406030204" pitchFamily="18" charset="0"/>
                            <a:cs typeface="Arial"/>
                            <a:sym typeface="Arial"/>
                          </a:rPr>
                        </m:ctrlPr>
                      </m:sSubPr>
                      <m:e>
                        <m:r>
                          <m:rPr>
                            <m:sty m:val="p"/>
                          </m:rPr>
                          <a:rPr lang="en-US" sz="2000" b="0" i="1" smtClean="0">
                            <a:latin typeface="Cambria Math" panose="02040503050406030204" pitchFamily="18" charset="0"/>
                            <a:cs typeface="Arial"/>
                            <a:sym typeface="Arial"/>
                          </a:rPr>
                          <m:t>d</m:t>
                        </m:r>
                      </m:e>
                      <m:sub>
                        <m:r>
                          <m:rPr>
                            <m:sty m:val="p"/>
                          </m:rPr>
                          <a:rPr lang="en-US" sz="2000" b="0" i="1" smtClean="0">
                            <a:latin typeface="Cambria Math" panose="02040503050406030204" pitchFamily="18" charset="0"/>
                            <a:cs typeface="Arial"/>
                            <a:sym typeface="Arial"/>
                          </a:rPr>
                          <m:t>stop</m:t>
                        </m:r>
                        <m:r>
                          <a:rPr lang="en-US" sz="2000" b="0" i="1" smtClean="0">
                            <a:latin typeface="Cambria Math" panose="02040503050406030204" pitchFamily="18" charset="0"/>
                            <a:cs typeface="Arial"/>
                            <a:sym typeface="Arial"/>
                          </a:rPr>
                          <m:t>_</m:t>
                        </m:r>
                        <m:r>
                          <m:rPr>
                            <m:sty m:val="p"/>
                          </m:rPr>
                          <a:rPr lang="en-US" sz="2000" b="0" i="1" smtClean="0">
                            <a:latin typeface="Cambria Math" panose="02040503050406030204" pitchFamily="18" charset="0"/>
                            <a:cs typeface="Arial"/>
                            <a:sym typeface="Arial"/>
                          </a:rPr>
                          <m:t>thresh</m:t>
                        </m:r>
                      </m:sub>
                    </m:sSub>
                    <m:r>
                      <a:rPr lang="en-US" sz="2000" b="0" i="1" smtClean="0">
                        <a:latin typeface="Cambria Math" panose="02040503050406030204" pitchFamily="18" charset="0"/>
                        <a:cs typeface="Arial"/>
                        <a:sym typeface="Arial"/>
                      </a:rPr>
                      <m:t> </m:t>
                    </m:r>
                  </m:oMath>
                </a14:m>
                <a:r>
                  <a:rPr lang="en-US" sz="2000" dirty="0">
                    <a:cs typeface="Arial"/>
                    <a:sym typeface="Arial"/>
                  </a:rPr>
                  <a:t>where the stop threshold is strictly greater than the start threshold, </a:t>
                </a:r>
                <a14:m>
                  <m:oMath xmlns:m="http://schemas.openxmlformats.org/officeDocument/2006/math">
                    <m:sSub>
                      <m:sSubPr>
                        <m:ctrlPr>
                          <a:rPr lang="en-US" sz="2000" i="1">
                            <a:latin typeface="Cambria Math" panose="02040503050406030204" pitchFamily="18" charset="0"/>
                            <a:cs typeface="Arial"/>
                            <a:sym typeface="Arial"/>
                          </a:rPr>
                        </m:ctrlPr>
                      </m:sSubPr>
                      <m:e>
                        <m:r>
                          <m:rPr>
                            <m:sty m:val="p"/>
                          </m:rPr>
                          <a:rPr lang="en-US" sz="2000" i="1">
                            <a:latin typeface="Cambria Math" panose="02040503050406030204" pitchFamily="18" charset="0"/>
                            <a:cs typeface="Arial"/>
                            <a:sym typeface="Arial"/>
                          </a:rPr>
                          <m:t>d</m:t>
                        </m:r>
                      </m:e>
                      <m:sub>
                        <m:r>
                          <m:rPr>
                            <m:sty m:val="p"/>
                          </m:rPr>
                          <a:rPr lang="en-US" sz="2000" i="1">
                            <a:latin typeface="Cambria Math" panose="02040503050406030204" pitchFamily="18" charset="0"/>
                            <a:cs typeface="Arial"/>
                            <a:sym typeface="Arial"/>
                          </a:rPr>
                          <m:t>stop</m:t>
                        </m:r>
                        <m:r>
                          <a:rPr lang="en-US" sz="2000" i="1">
                            <a:latin typeface="Cambria Math" panose="02040503050406030204" pitchFamily="18" charset="0"/>
                            <a:cs typeface="Arial"/>
                            <a:sym typeface="Arial"/>
                          </a:rPr>
                          <m:t>_</m:t>
                        </m:r>
                        <m:r>
                          <m:rPr>
                            <m:sty m:val="p"/>
                          </m:rPr>
                          <a:rPr lang="en-US" sz="2000" i="1">
                            <a:latin typeface="Cambria Math" panose="02040503050406030204" pitchFamily="18" charset="0"/>
                            <a:cs typeface="Arial"/>
                            <a:sym typeface="Arial"/>
                          </a:rPr>
                          <m:t>thresh</m:t>
                        </m:r>
                      </m:sub>
                    </m:sSub>
                    <m:r>
                      <a:rPr lang="en-US" sz="2000" b="0" i="1" smtClean="0">
                        <a:latin typeface="Cambria Math" panose="02040503050406030204" pitchFamily="18" charset="0"/>
                        <a:cs typeface="Arial"/>
                        <a:sym typeface="Arial"/>
                      </a:rPr>
                      <m:t> &gt;</m:t>
                    </m:r>
                    <m:sSub>
                      <m:sSubPr>
                        <m:ctrlPr>
                          <a:rPr lang="en-US" sz="2000" i="1">
                            <a:latin typeface="Cambria Math" panose="02040503050406030204" pitchFamily="18" charset="0"/>
                            <a:cs typeface="Arial"/>
                            <a:sym typeface="Arial"/>
                          </a:rPr>
                        </m:ctrlPr>
                      </m:sSubPr>
                      <m:e>
                        <m:r>
                          <m:rPr>
                            <m:sty m:val="p"/>
                          </m:rPr>
                          <a:rPr lang="en-US" sz="2000" i="1">
                            <a:latin typeface="Cambria Math" panose="02040503050406030204" pitchFamily="18" charset="0"/>
                            <a:cs typeface="Arial"/>
                            <a:sym typeface="Arial"/>
                          </a:rPr>
                          <m:t>d</m:t>
                        </m:r>
                      </m:e>
                      <m:sub>
                        <m:r>
                          <m:rPr>
                            <m:sty m:val="p"/>
                          </m:rPr>
                          <a:rPr lang="en-US" sz="2000" b="0" i="1" smtClean="0">
                            <a:latin typeface="Cambria Math" panose="02040503050406030204" pitchFamily="18" charset="0"/>
                            <a:cs typeface="Arial"/>
                            <a:sym typeface="Arial"/>
                          </a:rPr>
                          <m:t>start</m:t>
                        </m:r>
                        <m:r>
                          <a:rPr lang="en-US" sz="2000" i="1">
                            <a:latin typeface="Cambria Math" panose="02040503050406030204" pitchFamily="18" charset="0"/>
                            <a:cs typeface="Arial"/>
                            <a:sym typeface="Arial"/>
                          </a:rPr>
                          <m:t>_</m:t>
                        </m:r>
                        <m:r>
                          <m:rPr>
                            <m:sty m:val="p"/>
                          </m:rPr>
                          <a:rPr lang="en-US" sz="2000" i="1">
                            <a:latin typeface="Cambria Math" panose="02040503050406030204" pitchFamily="18" charset="0"/>
                            <a:cs typeface="Arial"/>
                            <a:sym typeface="Arial"/>
                          </a:rPr>
                          <m:t>thresh</m:t>
                        </m:r>
                      </m:sub>
                    </m:sSub>
                  </m:oMath>
                </a14:m>
                <a:r>
                  <a:rPr lang="en-US" sz="2000" dirty="0">
                    <a:cs typeface="Arial"/>
                    <a:sym typeface="Arial"/>
                  </a:rPr>
                  <a:t>. </a:t>
                </a:r>
              </a:p>
              <a:p>
                <a:pPr marL="0" indent="0">
                  <a:lnSpc>
                    <a:spcPct val="100000"/>
                  </a:lnSpc>
                  <a:spcBef>
                    <a:spcPts val="0"/>
                  </a:spcBef>
                  <a:buSzPts val="3000"/>
                  <a:buNone/>
                </a:pPr>
                <a:endParaRPr lang="en-US" sz="2000" dirty="0">
                  <a:cs typeface="Arial"/>
                  <a:sym typeface="Arial"/>
                </a:endParaRPr>
              </a:p>
              <a:p>
                <a:pPr marL="0" indent="0">
                  <a:lnSpc>
                    <a:spcPct val="100000"/>
                  </a:lnSpc>
                  <a:spcBef>
                    <a:spcPts val="0"/>
                  </a:spcBef>
                  <a:buSzPts val="3000"/>
                  <a:buNone/>
                </a:pPr>
                <a:r>
                  <a:rPr lang="en-US" sz="2000" dirty="0">
                    <a:cs typeface="Arial"/>
                    <a:sym typeface="Arial"/>
                  </a:rPr>
                  <a:t>If the start threshold is 1.0 meter and the stop threshold is 1.5 meters. What state is the robot in at 1.2 meters?</a:t>
                </a:r>
              </a:p>
              <a:p>
                <a:pPr marL="0" indent="0" algn="ctr">
                  <a:lnSpc>
                    <a:spcPct val="100000"/>
                  </a:lnSpc>
                  <a:spcBef>
                    <a:spcPts val="0"/>
                  </a:spcBef>
                  <a:buSzPts val="3000"/>
                  <a:buNone/>
                </a:pPr>
                <a:r>
                  <a:rPr lang="en-US" sz="2000" dirty="0">
                    <a:cs typeface="Arial"/>
                    <a:sym typeface="Arial"/>
                  </a:rPr>
                  <a:t>It just </a:t>
                </a:r>
                <a:r>
                  <a:rPr lang="en-US" sz="2000" b="1" dirty="0">
                    <a:cs typeface="Arial"/>
                    <a:sym typeface="Arial"/>
                  </a:rPr>
                  <a:t>stays at its current state</a:t>
                </a:r>
                <a:r>
                  <a:rPr lang="en-US" sz="2000" dirty="0">
                    <a:cs typeface="Arial"/>
                    <a:sym typeface="Arial"/>
                  </a:rPr>
                  <a:t>! It has not reached on of the transition threshold yet!</a:t>
                </a:r>
              </a:p>
            </p:txBody>
          </p:sp>
        </mc:Choice>
        <mc:Fallback xmlns="">
          <p:sp>
            <p:nvSpPr>
              <p:cNvPr id="3" name="TextBox 2">
                <a:extLst>
                  <a:ext uri="{FF2B5EF4-FFF2-40B4-BE49-F238E27FC236}">
                    <a16:creationId xmlns:a16="http://schemas.microsoft.com/office/drawing/2014/main" id="{82AE744D-70B7-676A-57D9-33C358D32010}"/>
                  </a:ext>
                </a:extLst>
              </p:cNvPr>
              <p:cNvSpPr txBox="1">
                <a:spLocks noRot="1" noChangeAspect="1" noMove="1" noResize="1" noEditPoints="1" noAdjustHandles="1" noChangeArrowheads="1" noChangeShapeType="1" noTextEdit="1"/>
              </p:cNvSpPr>
              <p:nvPr/>
            </p:nvSpPr>
            <p:spPr>
              <a:xfrm>
                <a:off x="205815" y="1022971"/>
                <a:ext cx="11780369" cy="1993623"/>
              </a:xfrm>
              <a:prstGeom prst="rect">
                <a:avLst/>
              </a:prstGeom>
              <a:blipFill>
                <a:blip r:embed="rId6"/>
                <a:stretch>
                  <a:fillRect l="-569" t="-1835" r="-776" b="-4587"/>
                </a:stretch>
              </a:blipFill>
            </p:spPr>
            <p:txBody>
              <a:bodyPr/>
              <a:lstStyle/>
              <a:p>
                <a:r>
                  <a:rPr lang="en-US">
                    <a:noFill/>
                  </a:rPr>
                  <a:t> </a:t>
                </a:r>
              </a:p>
            </p:txBody>
          </p:sp>
        </mc:Fallback>
      </mc:AlternateContent>
    </p:spTree>
    <p:extLst>
      <p:ext uri="{BB962C8B-B14F-4D97-AF65-F5344CB8AC3E}">
        <p14:creationId xmlns:p14="http://schemas.microsoft.com/office/powerpoint/2010/main" val="32647347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3">
          <a:extLst>
            <a:ext uri="{FF2B5EF4-FFF2-40B4-BE49-F238E27FC236}">
              <a16:creationId xmlns:a16="http://schemas.microsoft.com/office/drawing/2014/main" id="{A1D6FFDF-F5B2-0DC6-E3BF-2AD61472DE70}"/>
            </a:ext>
          </a:extLst>
        </p:cNvPr>
        <p:cNvGrpSpPr/>
        <p:nvPr/>
      </p:nvGrpSpPr>
      <p:grpSpPr>
        <a:xfrm>
          <a:off x="0" y="0"/>
          <a:ext cx="0" cy="0"/>
          <a:chOff x="0" y="0"/>
          <a:chExt cx="0" cy="0"/>
        </a:xfrm>
      </p:grpSpPr>
      <p:sp>
        <p:nvSpPr>
          <p:cNvPr id="104" name="Google Shape;104;p28">
            <a:extLst>
              <a:ext uri="{FF2B5EF4-FFF2-40B4-BE49-F238E27FC236}">
                <a16:creationId xmlns:a16="http://schemas.microsoft.com/office/drawing/2014/main" id="{5EAD0C55-A2B6-CE7E-9746-554536B83088}"/>
              </a:ext>
            </a:extLst>
          </p:cNvPr>
          <p:cNvSpPr/>
          <p:nvPr>
            <p:ph type="title"/>
          </p:nvPr>
        </p:nvSpPr>
        <p:spPr>
          <a:xfrm>
            <a:off x="1295400" y="3225489"/>
            <a:ext cx="9601200" cy="784790"/>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4500"/>
              <a:buFont typeface="Arial"/>
              <a:buNone/>
            </a:pPr>
            <a:r>
              <a:rPr lang="en-US" sz="4500" b="1" i="0" u="none" strike="noStrike" cap="none" dirty="0">
                <a:solidFill>
                  <a:srgbClr val="15264B"/>
                </a:solidFill>
                <a:latin typeface="Atkinson Hyperlegible Next"/>
                <a:ea typeface="Arial"/>
                <a:cs typeface="Arial"/>
                <a:sym typeface="Arial"/>
              </a:rPr>
              <a:t>Mechatronics Example</a:t>
            </a:r>
            <a:endParaRPr sz="1800" b="0" i="0" u="none" strike="noStrike" cap="none" dirty="0">
              <a:solidFill>
                <a:srgbClr val="15264B"/>
              </a:solidFill>
              <a:latin typeface="Atkinson Hyperlegible Next"/>
              <a:ea typeface="Arial"/>
              <a:cs typeface="Arial"/>
              <a:sym typeface="Arial"/>
            </a:endParaRPr>
          </a:p>
        </p:txBody>
      </p:sp>
      <p:grpSp>
        <p:nvGrpSpPr>
          <p:cNvPr id="105" name="Google Shape;105;p28">
            <a:extLst>
              <a:ext uri="{FF2B5EF4-FFF2-40B4-BE49-F238E27FC236}">
                <a16:creationId xmlns:a16="http://schemas.microsoft.com/office/drawing/2014/main" id="{617CA5C1-374D-05BB-D91B-C3A619D7AFDF}"/>
              </a:ext>
            </a:extLst>
          </p:cNvPr>
          <p:cNvGrpSpPr/>
          <p:nvPr/>
        </p:nvGrpSpPr>
        <p:grpSpPr>
          <a:xfrm>
            <a:off x="3943790" y="2676939"/>
            <a:ext cx="3861740" cy="322845"/>
            <a:chOff x="3943790" y="2676939"/>
            <a:chExt cx="3861740" cy="322845"/>
          </a:xfrm>
        </p:grpSpPr>
        <p:cxnSp>
          <p:nvCxnSpPr>
            <p:cNvPr id="106" name="Google Shape;106;p28">
              <a:extLst>
                <a:ext uri="{FF2B5EF4-FFF2-40B4-BE49-F238E27FC236}">
                  <a16:creationId xmlns:a16="http://schemas.microsoft.com/office/drawing/2014/main" id="{B645D7F7-D45B-AA81-8A07-19D7D6500BE3}"/>
                </a:ext>
              </a:extLst>
            </p:cNvPr>
            <p:cNvCxnSpPr/>
            <p:nvPr/>
          </p:nvCxnSpPr>
          <p:spPr>
            <a:xfrm>
              <a:off x="4426226" y="2676939"/>
              <a:ext cx="3379304" cy="0"/>
            </a:xfrm>
            <a:prstGeom prst="straightConnector1">
              <a:avLst/>
            </a:prstGeom>
            <a:noFill/>
            <a:ln w="19050" cap="flat" cmpd="sng">
              <a:solidFill>
                <a:schemeClr val="lt1"/>
              </a:solidFill>
              <a:prstDash val="solid"/>
              <a:round/>
              <a:headEnd type="none" w="sm" len="sm"/>
              <a:tailEnd type="none" w="sm" len="sm"/>
            </a:ln>
          </p:spPr>
        </p:cxnSp>
        <p:cxnSp>
          <p:nvCxnSpPr>
            <p:cNvPr id="107" name="Google Shape;107;p28">
              <a:extLst>
                <a:ext uri="{FF2B5EF4-FFF2-40B4-BE49-F238E27FC236}">
                  <a16:creationId xmlns:a16="http://schemas.microsoft.com/office/drawing/2014/main" id="{8735BF47-2AA0-FC82-26AD-BBF1E787AD14}"/>
                </a:ext>
              </a:extLst>
            </p:cNvPr>
            <p:cNvCxnSpPr/>
            <p:nvPr/>
          </p:nvCxnSpPr>
          <p:spPr>
            <a:xfrm rot="10800000" flipH="1">
              <a:off x="3943790" y="2676939"/>
              <a:ext cx="482436" cy="322845"/>
            </a:xfrm>
            <a:prstGeom prst="straightConnector1">
              <a:avLst/>
            </a:prstGeom>
            <a:noFill/>
            <a:ln w="19050" cap="flat" cmpd="sng">
              <a:solidFill>
                <a:schemeClr val="lt1"/>
              </a:solidFill>
              <a:prstDash val="solid"/>
              <a:round/>
              <a:headEnd type="none" w="sm" len="sm"/>
              <a:tailEnd type="none" w="sm" len="sm"/>
            </a:ln>
          </p:spPr>
        </p:cxnSp>
      </p:grpSp>
      <p:pic>
        <p:nvPicPr>
          <p:cNvPr id="108" name="Google Shape;108;p28">
            <a:extLst>
              <a:ext uri="{FF2B5EF4-FFF2-40B4-BE49-F238E27FC236}">
                <a16:creationId xmlns:a16="http://schemas.microsoft.com/office/drawing/2014/main" id="{ECBF56AC-830B-EF0D-6539-F6722B615F5C}"/>
              </a:ext>
            </a:extLst>
          </p:cNvPr>
          <p:cNvPicPr preferRelativeResize="0"/>
          <p:nvPr/>
        </p:nvPicPr>
        <p:blipFill rotWithShape="1">
          <a:blip r:embed="rId4">
            <a:alphaModFix/>
          </a:blip>
          <a:srcRect/>
          <a:stretch/>
        </p:blipFill>
        <p:spPr>
          <a:xfrm>
            <a:off x="11557509" y="233819"/>
            <a:ext cx="271308" cy="389811"/>
          </a:xfrm>
          <a:prstGeom prst="rect">
            <a:avLst/>
          </a:prstGeom>
          <a:noFill/>
          <a:ln>
            <a:noFill/>
          </a:ln>
        </p:spPr>
      </p:pic>
      <p:sp>
        <p:nvSpPr>
          <p:cNvPr id="109" name="Google Shape;109;p28">
            <a:extLst>
              <a:ext uri="{FF2B5EF4-FFF2-40B4-BE49-F238E27FC236}">
                <a16:creationId xmlns:a16="http://schemas.microsoft.com/office/drawing/2014/main" id="{9BAD72FC-7AF4-4F84-7217-8623D1CB15EC}"/>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10" name="Google Shape;110;p28">
            <a:extLst>
              <a:ext uri="{FF2B5EF4-FFF2-40B4-BE49-F238E27FC236}">
                <a16:creationId xmlns:a16="http://schemas.microsoft.com/office/drawing/2014/main" id="{BE7AD005-3CC6-493C-857E-E732A048A53E}"/>
              </a:ext>
            </a:extLst>
          </p:cNvPr>
          <p:cNvSpPr txBox="1"/>
          <p:nvPr/>
        </p:nvSpPr>
        <p:spPr>
          <a:xfrm>
            <a:off x="376807" y="6524381"/>
            <a:ext cx="7991400" cy="23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a:t>
            </a:r>
            <a:endParaRPr dirty="0"/>
          </a:p>
        </p:txBody>
      </p:sp>
      <p:grpSp>
        <p:nvGrpSpPr>
          <p:cNvPr id="111" name="Google Shape;111;p28">
            <a:extLst>
              <a:ext uri="{FF2B5EF4-FFF2-40B4-BE49-F238E27FC236}">
                <a16:creationId xmlns:a16="http://schemas.microsoft.com/office/drawing/2014/main" id="{B1A5E78B-FDB8-87CB-12CE-E89137E740A8}"/>
              </a:ext>
            </a:extLst>
          </p:cNvPr>
          <p:cNvGrpSpPr/>
          <p:nvPr/>
        </p:nvGrpSpPr>
        <p:grpSpPr>
          <a:xfrm>
            <a:off x="4066674" y="6601537"/>
            <a:ext cx="5233412" cy="70446"/>
            <a:chOff x="4033424" y="6601537"/>
            <a:chExt cx="5233412" cy="70446"/>
          </a:xfrm>
        </p:grpSpPr>
        <p:cxnSp>
          <p:nvCxnSpPr>
            <p:cNvPr id="112" name="Google Shape;112;p28">
              <a:extLst>
                <a:ext uri="{FF2B5EF4-FFF2-40B4-BE49-F238E27FC236}">
                  <a16:creationId xmlns:a16="http://schemas.microsoft.com/office/drawing/2014/main" id="{D2B45E73-87C3-87E0-E1F8-E83C1D04C61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13" name="Google Shape;113;p28">
              <a:extLst>
                <a:ext uri="{FF2B5EF4-FFF2-40B4-BE49-F238E27FC236}">
                  <a16:creationId xmlns:a16="http://schemas.microsoft.com/office/drawing/2014/main" id="{A7E6E7BD-7E15-C508-B610-627D7671C53E}"/>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Tree>
    <p:extLst>
      <p:ext uri="{BB962C8B-B14F-4D97-AF65-F5344CB8AC3E}">
        <p14:creationId xmlns:p14="http://schemas.microsoft.com/office/powerpoint/2010/main" val="26590778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D7434D2F-1ECC-7384-2675-5E068F3DBBC5}"/>
            </a:ext>
          </a:extLst>
        </p:cNvPr>
        <p:cNvGrpSpPr/>
        <p:nvPr/>
      </p:nvGrpSpPr>
      <p:grpSpPr>
        <a:xfrm>
          <a:off x="0" y="0"/>
          <a:ext cx="0" cy="0"/>
          <a:chOff x="0" y="0"/>
          <a:chExt cx="0" cy="0"/>
        </a:xfrm>
      </p:grpSpPr>
      <p:sp>
        <p:nvSpPr>
          <p:cNvPr id="118" name="Google Shape;118;p29">
            <a:extLst>
              <a:ext uri="{FF2B5EF4-FFF2-40B4-BE49-F238E27FC236}">
                <a16:creationId xmlns:a16="http://schemas.microsoft.com/office/drawing/2014/main" id="{C86DC076-B249-E6DA-DF91-465C81B50523}"/>
              </a:ext>
            </a:extLst>
          </p:cNvPr>
          <p:cNvSpPr txBox="1">
            <a:spLocks noGrp="1"/>
          </p:cNvSpPr>
          <p:nvPr>
            <p:ph type="body" idx="1"/>
          </p:nvPr>
        </p:nvSpPr>
        <p:spPr>
          <a:xfrm>
            <a:off x="376809" y="1334279"/>
            <a:ext cx="11177401" cy="4821102"/>
          </a:xfrm>
          <a:prstGeom prst="rect">
            <a:avLst/>
          </a:prstGeom>
          <a:noFill/>
          <a:ln>
            <a:noFill/>
          </a:ln>
        </p:spPr>
        <p:txBody>
          <a:bodyPr spcFirstLastPara="1" wrap="square" lIns="91425" tIns="45700" rIns="91425" bIns="45700" anchor="t" anchorCtr="0">
            <a:noAutofit/>
          </a:bodyPr>
          <a:lstStyle/>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Fantastic video of mechatronics, the tight integration of hardware, software and understanding the environment you operate it and building the robot for it!</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The forefront of micro-optimizations to just improve performance as much as possible!</a:t>
            </a:r>
          </a:p>
          <a:p>
            <a:pPr marL="0" indent="0">
              <a:lnSpc>
                <a:spcPct val="100000"/>
              </a:lnSpc>
              <a:spcBef>
                <a:spcPts val="0"/>
              </a:spcBef>
              <a:buSzPts val="3000"/>
              <a:buNone/>
            </a:pPr>
            <a:endParaRPr lang="en-US" sz="2400" dirty="0">
              <a:latin typeface="Atkinson Hyperlegible Next"/>
              <a:ea typeface="Arial"/>
              <a:cs typeface="Arial"/>
              <a:sym typeface="Arial"/>
            </a:endParaRPr>
          </a:p>
          <a:p>
            <a:pPr marL="0" indent="0">
              <a:lnSpc>
                <a:spcPct val="100000"/>
              </a:lnSpc>
              <a:spcBef>
                <a:spcPts val="0"/>
              </a:spcBef>
              <a:buSzPts val="3000"/>
              <a:buNone/>
            </a:pPr>
            <a:r>
              <a:rPr lang="en-US" sz="2400" dirty="0">
                <a:solidFill>
                  <a:schemeClr val="dk1"/>
                </a:solidFill>
                <a:latin typeface="Atkinson Hyperlegible Next"/>
                <a:ea typeface="Arial"/>
                <a:cs typeface="Arial"/>
                <a:sym typeface="Arial"/>
              </a:rPr>
              <a:t>Uses everything that we do as well!</a:t>
            </a:r>
          </a:p>
          <a:p>
            <a:pPr marL="342900">
              <a:lnSpc>
                <a:spcPct val="100000"/>
              </a:lnSpc>
              <a:spcBef>
                <a:spcPts val="0"/>
              </a:spcBef>
              <a:buSzPts val="3000"/>
            </a:pPr>
            <a:r>
              <a:rPr lang="en-US" sz="2400" dirty="0">
                <a:latin typeface="Atkinson Hyperlegible Next"/>
                <a:ea typeface="Arial"/>
                <a:cs typeface="Arial"/>
                <a:sym typeface="Arial"/>
              </a:rPr>
              <a:t>IR Sensor</a:t>
            </a:r>
          </a:p>
          <a:p>
            <a:pPr marL="342900">
              <a:lnSpc>
                <a:spcPct val="100000"/>
              </a:lnSpc>
              <a:spcBef>
                <a:spcPts val="0"/>
              </a:spcBef>
              <a:buSzPts val="3000"/>
            </a:pPr>
            <a:r>
              <a:rPr lang="en-US" sz="2400" dirty="0">
                <a:solidFill>
                  <a:schemeClr val="dk1"/>
                </a:solidFill>
                <a:latin typeface="Atkinson Hyperlegible Next"/>
                <a:ea typeface="Arial"/>
                <a:cs typeface="Arial"/>
                <a:sym typeface="Arial"/>
              </a:rPr>
              <a:t>Gyroscope</a:t>
            </a:r>
          </a:p>
          <a:p>
            <a:pPr marL="342900">
              <a:lnSpc>
                <a:spcPct val="100000"/>
              </a:lnSpc>
              <a:spcBef>
                <a:spcPts val="0"/>
              </a:spcBef>
              <a:buSzPts val="3000"/>
            </a:pPr>
            <a:r>
              <a:rPr lang="en-US" sz="2400" dirty="0">
                <a:latin typeface="Atkinson Hyperlegible Next"/>
                <a:ea typeface="Arial"/>
                <a:cs typeface="Arial"/>
                <a:sym typeface="Arial"/>
              </a:rPr>
              <a:t>Encoders</a:t>
            </a:r>
          </a:p>
          <a:p>
            <a:pPr marL="342900">
              <a:lnSpc>
                <a:spcPct val="100000"/>
              </a:lnSpc>
              <a:spcBef>
                <a:spcPts val="0"/>
              </a:spcBef>
              <a:buSzPts val="3000"/>
            </a:pPr>
            <a:r>
              <a:rPr lang="en-US" sz="2400" dirty="0">
                <a:solidFill>
                  <a:schemeClr val="dk1"/>
                </a:solidFill>
                <a:latin typeface="Atkinson Hyperlegible Next"/>
                <a:ea typeface="Arial"/>
                <a:cs typeface="Arial"/>
                <a:sym typeface="Arial"/>
              </a:rPr>
              <a:t>DC motors</a:t>
            </a:r>
          </a:p>
          <a:p>
            <a:pPr marL="342900">
              <a:lnSpc>
                <a:spcPct val="100000"/>
              </a:lnSpc>
              <a:spcBef>
                <a:spcPts val="0"/>
              </a:spcBef>
              <a:buSzPts val="3000"/>
            </a:pPr>
            <a:r>
              <a:rPr lang="en-US" sz="2400" dirty="0">
                <a:latin typeface="Atkinson Hyperlegible Next"/>
                <a:ea typeface="Arial"/>
                <a:cs typeface="Arial"/>
                <a:sym typeface="Arial"/>
              </a:rPr>
              <a:t>Micro-controllers</a:t>
            </a:r>
            <a:r>
              <a:rPr lang="en-US" sz="2400" dirty="0">
                <a:solidFill>
                  <a:schemeClr val="dk1"/>
                </a:solidFill>
                <a:latin typeface="Atkinson Hyperlegible Next"/>
                <a:ea typeface="Arial"/>
                <a:cs typeface="Arial"/>
                <a:sym typeface="Arial"/>
              </a:rPr>
              <a:t>!</a:t>
            </a:r>
          </a:p>
          <a:p>
            <a:pPr marL="0" indent="0">
              <a:lnSpc>
                <a:spcPct val="100000"/>
              </a:lnSpc>
              <a:spcBef>
                <a:spcPts val="0"/>
              </a:spcBef>
              <a:buSzPts val="3000"/>
              <a:buNone/>
            </a:pPr>
            <a:r>
              <a:rPr lang="en-US" sz="2400" dirty="0">
                <a:latin typeface="Atkinson Hyperlegible Next"/>
                <a:ea typeface="Arial"/>
                <a:cs typeface="Arial"/>
                <a:sym typeface="Arial"/>
              </a:rPr>
              <a:t>The some of the code can be found </a:t>
            </a:r>
            <a:r>
              <a:rPr lang="en-US" sz="2400" dirty="0">
                <a:latin typeface="Atkinson Hyperlegible Next"/>
                <a:ea typeface="Arial"/>
                <a:cs typeface="Arial"/>
                <a:sym typeface="Arial"/>
                <a:hlinkClick r:id="rId3"/>
              </a:rPr>
              <a:t>here</a:t>
            </a:r>
            <a:r>
              <a:rPr lang="en-US" sz="2400" dirty="0">
                <a:latin typeface="Atkinson Hyperlegible Next"/>
                <a:ea typeface="Arial"/>
                <a:cs typeface="Arial"/>
                <a:sym typeface="Arial"/>
              </a:rPr>
              <a:t>.</a:t>
            </a:r>
            <a:endParaRPr sz="2400" dirty="0">
              <a:solidFill>
                <a:schemeClr val="dk1"/>
              </a:solidFill>
              <a:latin typeface="Atkinson Hyperlegible Next"/>
              <a:ea typeface="Arial"/>
              <a:cs typeface="Arial"/>
              <a:sym typeface="Arial"/>
            </a:endParaRPr>
          </a:p>
        </p:txBody>
      </p:sp>
      <p:sp>
        <p:nvSpPr>
          <p:cNvPr id="119" name="Google Shape;119;p29">
            <a:extLst>
              <a:ext uri="{FF2B5EF4-FFF2-40B4-BE49-F238E27FC236}">
                <a16:creationId xmlns:a16="http://schemas.microsoft.com/office/drawing/2014/main" id="{94816254-124F-926F-75F9-1E2DF1187513}"/>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B73FF14F-690D-A803-DBBC-FB9B856AD78A}"/>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Mechatronics Example</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D84D88D7-57A0-06B1-53C3-3FF36EC7514B}"/>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F3884A00-0E61-6C5C-31C0-C20B6062A17B}"/>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4FE36AB6-49C4-767B-5487-DA6C20627533}"/>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830E1944-6C71-F55A-0B36-DD574AF2DED3}"/>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110904F9-EA5F-9268-F18D-873CB96D4A84}"/>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E679264B-A9A0-A8E2-2292-153EF189C2F6}"/>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sp>
        <p:nvSpPr>
          <p:cNvPr id="3" name="TextBox 2">
            <a:extLst>
              <a:ext uri="{FF2B5EF4-FFF2-40B4-BE49-F238E27FC236}">
                <a16:creationId xmlns:a16="http://schemas.microsoft.com/office/drawing/2014/main" id="{3A50481D-F71B-2CA9-3A31-F8F67EFEDE60}"/>
              </a:ext>
            </a:extLst>
          </p:cNvPr>
          <p:cNvSpPr txBox="1"/>
          <p:nvPr/>
        </p:nvSpPr>
        <p:spPr>
          <a:xfrm>
            <a:off x="7406351" y="6209076"/>
            <a:ext cx="3474720" cy="261610"/>
          </a:xfrm>
          <a:prstGeom prst="rect">
            <a:avLst/>
          </a:prstGeom>
          <a:noFill/>
        </p:spPr>
        <p:txBody>
          <a:bodyPr wrap="square">
            <a:spAutoFit/>
          </a:bodyPr>
          <a:lstStyle/>
          <a:p>
            <a:pPr algn="ctr"/>
            <a:r>
              <a:rPr lang="en-US" sz="1050" dirty="0">
                <a:hlinkClick r:id="rId5"/>
              </a:rPr>
              <a:t>https://hackaday.com/2008/11/26/vacuum-micromouse/</a:t>
            </a:r>
            <a:r>
              <a:rPr lang="en-US" sz="1050" dirty="0"/>
              <a:t> </a:t>
            </a:r>
          </a:p>
        </p:txBody>
      </p:sp>
      <p:pic>
        <p:nvPicPr>
          <p:cNvPr id="6" name="Picture 5">
            <a:extLst>
              <a:ext uri="{FF2B5EF4-FFF2-40B4-BE49-F238E27FC236}">
                <a16:creationId xmlns:a16="http://schemas.microsoft.com/office/drawing/2014/main" id="{B03BADCA-92CE-EC47-0841-616BEA662AEF}"/>
              </a:ext>
            </a:extLst>
          </p:cNvPr>
          <p:cNvPicPr>
            <a:picLocks noChangeAspect="1"/>
          </p:cNvPicPr>
          <p:nvPr/>
        </p:nvPicPr>
        <p:blipFill>
          <a:blip r:embed="rId6"/>
          <a:stretch>
            <a:fillRect/>
          </a:stretch>
        </p:blipFill>
        <p:spPr>
          <a:xfrm>
            <a:off x="7000586" y="2924201"/>
            <a:ext cx="4286250" cy="3219450"/>
          </a:xfrm>
          <a:prstGeom prst="rect">
            <a:avLst/>
          </a:prstGeom>
        </p:spPr>
      </p:pic>
    </p:spTree>
    <p:extLst>
      <p:ext uri="{BB962C8B-B14F-4D97-AF65-F5344CB8AC3E}">
        <p14:creationId xmlns:p14="http://schemas.microsoft.com/office/powerpoint/2010/main" val="2293492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8">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8">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8">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8">
                                            <p:txEl>
                                              <p:pRg st="8" end="8"/>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8">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 grpId="0" uiExpand="1"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CE37F254-9286-9E87-C698-29C0485E2794}"/>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E6117A39-D77F-0968-63B0-2D9EA0076E54}"/>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651D8F61-E41F-C670-B2BC-417B04A51DC6}"/>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Mechatronics Example</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C29A6D15-E6F8-7FB3-9ED4-A0761BC2D2CB}"/>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1A9BDEBA-350C-7DC5-AA9E-F04A54F008E9}"/>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78106443-3BB1-6CAB-9FD8-BA27664E57B5}"/>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B75B9844-D22E-FB4E-305A-E4364F766F8F}"/>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97B5FB44-6F2D-8647-7728-EECB3A09F073}"/>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A67854E5-C132-67C4-4936-6AB96F4FE668}"/>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4" name="Online Media 3" title="The Fastest Maze-Solving Competition On Earth">
            <a:hlinkClick r:id="" action="ppaction://media"/>
            <a:extLst>
              <a:ext uri="{FF2B5EF4-FFF2-40B4-BE49-F238E27FC236}">
                <a16:creationId xmlns:a16="http://schemas.microsoft.com/office/drawing/2014/main" id="{E277F7A4-DC0A-5C1E-F2F5-CFC67683FB7A}"/>
              </a:ext>
            </a:extLst>
          </p:cNvPr>
          <p:cNvPicPr>
            <a:picLocks noRot="1" noChangeAspect="1"/>
          </p:cNvPicPr>
          <p:nvPr>
            <a:videoFile r:link="rId1"/>
          </p:nvPr>
        </p:nvPicPr>
        <p:blipFill>
          <a:blip r:embed="rId5"/>
          <a:stretch>
            <a:fillRect/>
          </a:stretch>
        </p:blipFill>
        <p:spPr>
          <a:xfrm>
            <a:off x="1143000" y="917393"/>
            <a:ext cx="9906000" cy="5596903"/>
          </a:xfrm>
          <a:prstGeom prst="rect">
            <a:avLst/>
          </a:prstGeom>
        </p:spPr>
      </p:pic>
    </p:spTree>
    <p:extLst>
      <p:ext uri="{BB962C8B-B14F-4D97-AF65-F5344CB8AC3E}">
        <p14:creationId xmlns:p14="http://schemas.microsoft.com/office/powerpoint/2010/main" val="3774317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17">
          <a:extLst>
            <a:ext uri="{FF2B5EF4-FFF2-40B4-BE49-F238E27FC236}">
              <a16:creationId xmlns:a16="http://schemas.microsoft.com/office/drawing/2014/main" id="{0715C55C-ADFA-6353-3B04-BED1B14A74AE}"/>
            </a:ext>
          </a:extLst>
        </p:cNvPr>
        <p:cNvGrpSpPr/>
        <p:nvPr/>
      </p:nvGrpSpPr>
      <p:grpSpPr>
        <a:xfrm>
          <a:off x="0" y="0"/>
          <a:ext cx="0" cy="0"/>
          <a:chOff x="0" y="0"/>
          <a:chExt cx="0" cy="0"/>
        </a:xfrm>
      </p:grpSpPr>
      <p:sp>
        <p:nvSpPr>
          <p:cNvPr id="119" name="Google Shape;119;p29">
            <a:extLst>
              <a:ext uri="{FF2B5EF4-FFF2-40B4-BE49-F238E27FC236}">
                <a16:creationId xmlns:a16="http://schemas.microsoft.com/office/drawing/2014/main" id="{672EA821-E048-A79B-3E24-213549E7B36C}"/>
              </a:ext>
            </a:extLst>
          </p:cNvPr>
          <p:cNvSpPr/>
          <p:nvPr/>
        </p:nvSpPr>
        <p:spPr>
          <a:xfrm rot="10800000" flipH="1">
            <a:off x="0" y="0"/>
            <a:ext cx="12192000" cy="868220"/>
          </a:xfrm>
          <a:prstGeom prst="rect">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Calibri"/>
              <a:buNone/>
            </a:pPr>
            <a:endParaRPr sz="1800" b="0" i="0" u="none" strike="noStrike" cap="none">
              <a:solidFill>
                <a:srgbClr val="13294B"/>
              </a:solidFill>
              <a:latin typeface="Atkinson Hyperlegible Next"/>
              <a:ea typeface="Calibri"/>
              <a:cs typeface="Calibri"/>
              <a:sym typeface="Calibri"/>
            </a:endParaRPr>
          </a:p>
        </p:txBody>
      </p:sp>
      <p:sp>
        <p:nvSpPr>
          <p:cNvPr id="120" name="Google Shape;120;p29">
            <a:extLst>
              <a:ext uri="{FF2B5EF4-FFF2-40B4-BE49-F238E27FC236}">
                <a16:creationId xmlns:a16="http://schemas.microsoft.com/office/drawing/2014/main" id="{9968B41F-7182-287A-6000-4DD9207365C2}"/>
              </a:ext>
            </a:extLst>
          </p:cNvPr>
          <p:cNvSpPr/>
          <p:nvPr>
            <p:ph type="title"/>
          </p:nvPr>
        </p:nvSpPr>
        <p:spPr>
          <a:xfrm>
            <a:off x="376810" y="204051"/>
            <a:ext cx="10910026"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dirty="0">
                <a:solidFill>
                  <a:schemeClr val="lt1"/>
                </a:solidFill>
                <a:latin typeface="Atkinson Hyperlegible Next"/>
                <a:ea typeface="Arial"/>
                <a:cs typeface="Arial"/>
                <a:sym typeface="Arial"/>
              </a:rPr>
              <a:t>Wall Following – State Machine</a:t>
            </a:r>
            <a:endParaRPr sz="2400" b="0" i="0" u="none" strike="noStrike" cap="none" dirty="0">
              <a:solidFill>
                <a:schemeClr val="lt1"/>
              </a:solidFill>
              <a:latin typeface="Atkinson Hyperlegible Next"/>
              <a:ea typeface="Arial"/>
              <a:cs typeface="Arial"/>
              <a:sym typeface="Arial"/>
            </a:endParaRPr>
          </a:p>
        </p:txBody>
      </p:sp>
      <p:pic>
        <p:nvPicPr>
          <p:cNvPr id="121" name="Google Shape;121;p29">
            <a:extLst>
              <a:ext uri="{FF2B5EF4-FFF2-40B4-BE49-F238E27FC236}">
                <a16:creationId xmlns:a16="http://schemas.microsoft.com/office/drawing/2014/main" id="{C447934B-80B6-0017-BB58-0F1D51DFFD9B}"/>
              </a:ext>
            </a:extLst>
          </p:cNvPr>
          <p:cNvPicPr preferRelativeResize="0"/>
          <p:nvPr/>
        </p:nvPicPr>
        <p:blipFill rotWithShape="1">
          <a:blip r:embed="rId3">
            <a:alphaModFix/>
          </a:blip>
          <a:srcRect/>
          <a:stretch/>
        </p:blipFill>
        <p:spPr>
          <a:xfrm>
            <a:off x="11557509" y="233819"/>
            <a:ext cx="271308" cy="389810"/>
          </a:xfrm>
          <a:prstGeom prst="rect">
            <a:avLst/>
          </a:prstGeom>
          <a:noFill/>
          <a:ln>
            <a:noFill/>
          </a:ln>
        </p:spPr>
      </p:pic>
      <p:sp>
        <p:nvSpPr>
          <p:cNvPr id="122" name="Google Shape;122;p29">
            <a:extLst>
              <a:ext uri="{FF2B5EF4-FFF2-40B4-BE49-F238E27FC236}">
                <a16:creationId xmlns:a16="http://schemas.microsoft.com/office/drawing/2014/main" id="{8D8A7827-C480-D9E3-F625-C9B3600DF3BA}"/>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rgbClr val="13294B"/>
                </a:solidFill>
                <a:latin typeface="Atkinson Hyperlegible Next"/>
                <a:ea typeface="Arial"/>
                <a:cs typeface="Arial"/>
                <a:sym typeface="Arial"/>
              </a:rPr>
              <a:t>GRAINGER ENGINEERING</a:t>
            </a:r>
            <a:endParaRPr/>
          </a:p>
        </p:txBody>
      </p:sp>
      <p:sp>
        <p:nvSpPr>
          <p:cNvPr id="123" name="Google Shape;123;p29">
            <a:extLst>
              <a:ext uri="{FF2B5EF4-FFF2-40B4-BE49-F238E27FC236}">
                <a16:creationId xmlns:a16="http://schemas.microsoft.com/office/drawing/2014/main" id="{275450FA-3EF9-F53B-D785-BE9AF8F2459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rgbClr val="13294B"/>
                </a:solidFill>
              </a:rPr>
              <a:t>SYSTEMS ENGINEERING </a:t>
            </a:r>
            <a:endParaRPr dirty="0"/>
          </a:p>
        </p:txBody>
      </p:sp>
      <p:grpSp>
        <p:nvGrpSpPr>
          <p:cNvPr id="124" name="Google Shape;124;p29">
            <a:extLst>
              <a:ext uri="{FF2B5EF4-FFF2-40B4-BE49-F238E27FC236}">
                <a16:creationId xmlns:a16="http://schemas.microsoft.com/office/drawing/2014/main" id="{AACA0F4F-7F8F-ED37-0D14-622F9E730611}"/>
              </a:ext>
            </a:extLst>
          </p:cNvPr>
          <p:cNvGrpSpPr/>
          <p:nvPr/>
        </p:nvGrpSpPr>
        <p:grpSpPr>
          <a:xfrm>
            <a:off x="4066674" y="6601537"/>
            <a:ext cx="5233412" cy="70446"/>
            <a:chOff x="4033424" y="6601537"/>
            <a:chExt cx="5233412" cy="70446"/>
          </a:xfrm>
        </p:grpSpPr>
        <p:cxnSp>
          <p:nvCxnSpPr>
            <p:cNvPr id="125" name="Google Shape;125;p29">
              <a:extLst>
                <a:ext uri="{FF2B5EF4-FFF2-40B4-BE49-F238E27FC236}">
                  <a16:creationId xmlns:a16="http://schemas.microsoft.com/office/drawing/2014/main" id="{22D4644F-A5DC-B341-B663-C6D496814C31}"/>
                </a:ext>
              </a:extLst>
            </p:cNvPr>
            <p:cNvCxnSpPr/>
            <p:nvPr/>
          </p:nvCxnSpPr>
          <p:spPr>
            <a:xfrm rot="10800000">
              <a:off x="4033424" y="6639606"/>
              <a:ext cx="5164651" cy="0"/>
            </a:xfrm>
            <a:prstGeom prst="straightConnector1">
              <a:avLst/>
            </a:prstGeom>
            <a:noFill/>
            <a:ln w="9525" cap="flat" cmpd="sng">
              <a:solidFill>
                <a:srgbClr val="13294B"/>
              </a:solidFill>
              <a:prstDash val="solid"/>
              <a:round/>
              <a:headEnd type="none" w="sm" len="sm"/>
              <a:tailEnd type="none" w="sm" len="sm"/>
            </a:ln>
          </p:spPr>
        </p:cxnSp>
        <p:sp>
          <p:nvSpPr>
            <p:cNvPr id="126" name="Google Shape;126;p29">
              <a:extLst>
                <a:ext uri="{FF2B5EF4-FFF2-40B4-BE49-F238E27FC236}">
                  <a16:creationId xmlns:a16="http://schemas.microsoft.com/office/drawing/2014/main" id="{24250E7C-B4F3-D0E0-D92C-303DA14FD2DC}"/>
                </a:ext>
              </a:extLst>
            </p:cNvPr>
            <p:cNvSpPr/>
            <p:nvPr/>
          </p:nvSpPr>
          <p:spPr>
            <a:xfrm>
              <a:off x="9196390" y="6601537"/>
              <a:ext cx="70446" cy="70446"/>
            </a:xfrm>
            <a:prstGeom prst="ellipse">
              <a:avLst/>
            </a:prstGeom>
            <a:solidFill>
              <a:srgbClr val="132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13294B"/>
                </a:solidFill>
                <a:latin typeface="Atkinson Hyperlegible Next"/>
                <a:ea typeface="Arial"/>
                <a:cs typeface="Arial"/>
                <a:sym typeface="Arial"/>
              </a:endParaRPr>
            </a:p>
          </p:txBody>
        </p:sp>
      </p:grpSp>
      <p:pic>
        <p:nvPicPr>
          <p:cNvPr id="5" name="Graphic 4">
            <a:extLst>
              <a:ext uri="{FF2B5EF4-FFF2-40B4-BE49-F238E27FC236}">
                <a16:creationId xmlns:a16="http://schemas.microsoft.com/office/drawing/2014/main" id="{66048966-B200-A1D9-C88D-B7C71B5C9292}"/>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954938" y="990050"/>
            <a:ext cx="8282124" cy="5495921"/>
          </a:xfrm>
          <a:prstGeom prst="rect">
            <a:avLst/>
          </a:prstGeom>
        </p:spPr>
      </p:pic>
    </p:spTree>
    <p:extLst>
      <p:ext uri="{BB962C8B-B14F-4D97-AF65-F5344CB8AC3E}">
        <p14:creationId xmlns:p14="http://schemas.microsoft.com/office/powerpoint/2010/main" val="76221112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63">
          <a:extLst>
            <a:ext uri="{FF2B5EF4-FFF2-40B4-BE49-F238E27FC236}">
              <a16:creationId xmlns:a16="http://schemas.microsoft.com/office/drawing/2014/main" id="{FA145421-BB40-88A0-CFFD-DC4D9CAC5BB5}"/>
            </a:ext>
          </a:extLst>
        </p:cNvPr>
        <p:cNvGrpSpPr/>
        <p:nvPr/>
      </p:nvGrpSpPr>
      <p:grpSpPr>
        <a:xfrm>
          <a:off x="0" y="0"/>
          <a:ext cx="0" cy="0"/>
          <a:chOff x="0" y="0"/>
          <a:chExt cx="0" cy="0"/>
        </a:xfrm>
      </p:grpSpPr>
      <p:sp>
        <p:nvSpPr>
          <p:cNvPr id="264" name="Google Shape;264;p37">
            <a:extLst>
              <a:ext uri="{FF2B5EF4-FFF2-40B4-BE49-F238E27FC236}">
                <a16:creationId xmlns:a16="http://schemas.microsoft.com/office/drawing/2014/main" id="{B5B2745B-F5C6-8FBF-1FAE-FE621EFA88F0}"/>
              </a:ext>
            </a:extLst>
          </p:cNvPr>
          <p:cNvSpPr/>
          <p:nvPr>
            <p:ph type="title"/>
          </p:nvPr>
        </p:nvSpPr>
        <p:spPr>
          <a:xfrm>
            <a:off x="2275515" y="2823928"/>
            <a:ext cx="7640969" cy="1210143"/>
          </a:xfrm>
          <a:prstGeom prst="rect">
            <a:avLst/>
          </a:prstGeom>
          <a:noFill/>
          <a:ln>
            <a:noFill/>
          </a:ln>
        </p:spPr>
        <p:txBody>
          <a:bodyPr spcFirstLastPara="1" wrap="square" lIns="91425" tIns="45700" rIns="91425" bIns="45700" anchor="t" anchorCtr="0">
            <a:noAutofit/>
          </a:bodyPr>
          <a:lstStyle/>
          <a:p>
            <a:pPr lvl="0" algn="ctr">
              <a:lnSpc>
                <a:spcPct val="100000"/>
              </a:lnSpc>
              <a:spcBef>
                <a:spcPts val="0"/>
              </a:spcBef>
              <a:spcAft>
                <a:spcPts val="0"/>
              </a:spcAft>
            </a:pPr>
            <a:r>
              <a:rPr i="0" lang="en-US" sz="6600" b="1" dirty="0">
                <a:solidFill>
                  <a:schemeClr val="lt1"/>
                </a:solidFill>
              </a:rPr>
              <a:t>Questions</a:t>
            </a:r>
            <a:r>
              <a:rPr i="0" lang="en-US" sz="5400" b="1" dirty="0">
                <a:solidFill>
                  <a:schemeClr val="lt1"/>
                </a:solidFill>
              </a:rPr>
              <a:t>?</a:t>
            </a:r>
          </a:p>
        </p:txBody>
      </p:sp>
      <p:pic>
        <p:nvPicPr>
          <p:cNvPr id="265" name="Google Shape;265;p37">
            <a:extLst>
              <a:ext uri="{FF2B5EF4-FFF2-40B4-BE49-F238E27FC236}">
                <a16:creationId xmlns:a16="http://schemas.microsoft.com/office/drawing/2014/main" id="{EDC8C897-5AB2-076F-5135-9B30ACCBD22F}"/>
              </a:ext>
            </a:extLst>
          </p:cNvPr>
          <p:cNvPicPr preferRelativeResize="0"/>
          <p:nvPr/>
        </p:nvPicPr>
        <p:blipFill rotWithShape="1">
          <a:blip r:embed="rId4">
            <a:alphaModFix/>
          </a:blip>
          <a:srcRect/>
          <a:stretch/>
        </p:blipFill>
        <p:spPr>
          <a:xfrm>
            <a:off x="11557509" y="233819"/>
            <a:ext cx="271308" cy="389810"/>
          </a:xfrm>
          <a:prstGeom prst="rect">
            <a:avLst/>
          </a:prstGeom>
          <a:noFill/>
          <a:ln>
            <a:noFill/>
          </a:ln>
        </p:spPr>
      </p:pic>
      <p:sp>
        <p:nvSpPr>
          <p:cNvPr id="266" name="Google Shape;266;p37">
            <a:extLst>
              <a:ext uri="{FF2B5EF4-FFF2-40B4-BE49-F238E27FC236}">
                <a16:creationId xmlns:a16="http://schemas.microsoft.com/office/drawing/2014/main" id="{CF8648FC-7240-4BBB-9E09-C030BD1A8052}"/>
              </a:ext>
            </a:extLst>
          </p:cNvPr>
          <p:cNvSpPr txBox="1"/>
          <p:nvPr/>
        </p:nvSpPr>
        <p:spPr>
          <a:xfrm>
            <a:off x="9335597" y="6524381"/>
            <a:ext cx="2473415" cy="230792"/>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None/>
            </a:pPr>
            <a:r>
              <a:rPr lang="en-US" sz="900" b="0" i="0" u="none" strike="noStrike" cap="none">
                <a:solidFill>
                  <a:schemeClr val="lt1"/>
                </a:solidFill>
                <a:latin typeface="Atkinson Hyperlegible Next"/>
                <a:ea typeface="Arial"/>
                <a:cs typeface="Arial"/>
                <a:sym typeface="Arial"/>
              </a:rPr>
              <a:t>GRAINGER ENGINEERING</a:t>
            </a:r>
            <a:endParaRPr/>
          </a:p>
        </p:txBody>
      </p:sp>
      <p:sp>
        <p:nvSpPr>
          <p:cNvPr id="267" name="Google Shape;267;p37">
            <a:extLst>
              <a:ext uri="{FF2B5EF4-FFF2-40B4-BE49-F238E27FC236}">
                <a16:creationId xmlns:a16="http://schemas.microsoft.com/office/drawing/2014/main" id="{6A5B7064-0FC6-E501-D020-2C92B5A6057B}"/>
              </a:ext>
            </a:extLst>
          </p:cNvPr>
          <p:cNvSpPr txBox="1"/>
          <p:nvPr/>
        </p:nvSpPr>
        <p:spPr>
          <a:xfrm>
            <a:off x="376807" y="6524381"/>
            <a:ext cx="7991337" cy="23079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900" dirty="0">
                <a:solidFill>
                  <a:schemeClr val="lt1"/>
                </a:solidFill>
              </a:rPr>
              <a:t>SYSTEMS ENGINEERING </a:t>
            </a:r>
            <a:endParaRPr dirty="0"/>
          </a:p>
        </p:txBody>
      </p:sp>
      <p:grpSp>
        <p:nvGrpSpPr>
          <p:cNvPr id="268" name="Google Shape;268;p37">
            <a:extLst>
              <a:ext uri="{FF2B5EF4-FFF2-40B4-BE49-F238E27FC236}">
                <a16:creationId xmlns:a16="http://schemas.microsoft.com/office/drawing/2014/main" id="{69F24B96-E9CD-EB54-C22A-3DD90799A7A7}"/>
              </a:ext>
            </a:extLst>
          </p:cNvPr>
          <p:cNvGrpSpPr/>
          <p:nvPr/>
        </p:nvGrpSpPr>
        <p:grpSpPr>
          <a:xfrm>
            <a:off x="4066674" y="6601537"/>
            <a:ext cx="5233412" cy="70446"/>
            <a:chOff x="4033424" y="6601537"/>
            <a:chExt cx="5233412" cy="70446"/>
          </a:xfrm>
        </p:grpSpPr>
        <p:cxnSp>
          <p:nvCxnSpPr>
            <p:cNvPr id="269" name="Google Shape;269;p37">
              <a:extLst>
                <a:ext uri="{FF2B5EF4-FFF2-40B4-BE49-F238E27FC236}">
                  <a16:creationId xmlns:a16="http://schemas.microsoft.com/office/drawing/2014/main" id="{BDF89024-C4A2-8F3A-DA57-A772C1368044}"/>
                </a:ext>
              </a:extLst>
            </p:cNvPr>
            <p:cNvCxnSpPr/>
            <p:nvPr/>
          </p:nvCxnSpPr>
          <p:spPr>
            <a:xfrm rot="10800000">
              <a:off x="4033424" y="6639606"/>
              <a:ext cx="5164651" cy="0"/>
            </a:xfrm>
            <a:prstGeom prst="straightConnector1">
              <a:avLst/>
            </a:prstGeom>
            <a:noFill/>
            <a:ln w="9525" cap="flat" cmpd="sng">
              <a:solidFill>
                <a:schemeClr val="lt1"/>
              </a:solidFill>
              <a:prstDash val="solid"/>
              <a:round/>
              <a:headEnd type="none" w="sm" len="sm"/>
              <a:tailEnd type="none" w="sm" len="sm"/>
            </a:ln>
          </p:spPr>
        </p:cxnSp>
        <p:sp>
          <p:nvSpPr>
            <p:cNvPr id="270" name="Google Shape;270;p37">
              <a:extLst>
                <a:ext uri="{FF2B5EF4-FFF2-40B4-BE49-F238E27FC236}">
                  <a16:creationId xmlns:a16="http://schemas.microsoft.com/office/drawing/2014/main" id="{B3758997-614E-F4D9-9F4D-D716DCC856BA}"/>
                </a:ext>
              </a:extLst>
            </p:cNvPr>
            <p:cNvSpPr/>
            <p:nvPr/>
          </p:nvSpPr>
          <p:spPr>
            <a:xfrm>
              <a:off x="9196390" y="6601537"/>
              <a:ext cx="70446" cy="70446"/>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tkinson Hyperlegible Next"/>
                <a:ea typeface="Arial"/>
                <a:cs typeface="Arial"/>
                <a:sym typeface="Arial"/>
              </a:endParaRPr>
            </a:p>
          </p:txBody>
        </p:sp>
      </p:grpSp>
    </p:spTree>
    <p:extLst>
      <p:ext uri="{BB962C8B-B14F-4D97-AF65-F5344CB8AC3E}">
        <p14:creationId xmlns:p14="http://schemas.microsoft.com/office/powerpoint/2010/main" val="231598978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74"/>
        <p:cNvGrpSpPr/>
        <p:nvPr/>
      </p:nvGrpSpPr>
      <p:grpSpPr>
        <a:xfrm>
          <a:off x="0" y="0"/>
          <a:ext cx="0" cy="0"/>
          <a:chOff x="0" y="0"/>
          <a:chExt cx="0" cy="0"/>
        </a:xfrm>
      </p:grpSpPr>
      <p:sp>
        <p:nvSpPr>
          <p:cNvPr id="276" name="Title 276"/>
          <p:cNvSpPr>
            <a:spLocks noGrp="1"/>
          </p:cNvSpPr>
          <p:nvPr>
            <p:ph type="title"/>
          </p:nvPr>
        </p:nvSpPr>
        <p:spPr>
          <a:xfrm>
            <a:off x="0" y="-914400"/>
            <a:ext cx="12192000" cy="685800"/>
          </a:xfrm>
        </p:spPr>
        <p:txBody>
          <a:bodyPr/>
          <a:lstStyle/>
          <a:p>
            <a:r>
              <a:rPr lang="en-US" dirty="0"/>
              <a:t>End of Lecture 14</a:t>
            </a:r>
          </a:p>
        </p:txBody>
      </p:sp>
      <p:pic>
        <p:nvPicPr>
          <p:cNvPr id="275" name="Google Shape;275;p38"/>
          <p:cNvPicPr preferRelativeResize="0"/>
          <p:nvPr/>
        </p:nvPicPr>
        <p:blipFill rotWithShape="1">
          <a:blip r:embed="rId4">
            <a:alphaModFix/>
          </a:blip>
          <a:srcRect/>
          <a:stretch/>
        </p:blipFill>
        <p:spPr>
          <a:xfrm>
            <a:off x="2259350" y="2791508"/>
            <a:ext cx="5414193" cy="1274984"/>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tkinson Hyperlegible Nex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tkinson Hyperlegible Nex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1282</TotalTime>
  <Words>3027</Words>
  <Application>Microsoft Office PowerPoint</Application>
  <PresentationFormat>Widescreen</PresentationFormat>
  <Paragraphs>455</Paragraphs>
  <Slides>46</Slides>
  <Notes>46</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Nielsen, Joshua</dc:creator>
  <cp:lastModifiedBy>Juston, Marius F</cp:lastModifiedBy>
  <cp:revision>233</cp:revision>
  <dcterms:created xsi:type="dcterms:W3CDTF">2019-01-14T22:06:33Z</dcterms:created>
  <dcterms:modified xsi:type="dcterms:W3CDTF">2026-03-09T13:13:38Z</dcterms:modified>
</cp:coreProperties>
</file>