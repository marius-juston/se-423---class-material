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14: Sensors &amp; Maze following &amp; Localizations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Monday, March 16</a:t>
            </a:r>
            <a:r>
              <a:rPr lang="en-US" sz="1800" b="0" i="0" u="none" strike="noStrike" cap="none" baseline="30000">
                <a:solidFill>
                  <a:schemeClr val="lt1"/>
                </a:solidFill>
                <a:latin typeface="Arial"/>
                <a:ea typeface="Arial"/>
                <a:cs typeface="Arial"/>
                <a:sym typeface="Arial"/>
              </a:rPr>
              <a:t>th</a:t>
            </a:r>
            <a:r>
              <a:rPr lang="en-US" sz="180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rial"/>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rial"/>
                <a:ea typeface="Arial"/>
                <a:cs typeface="Arial"/>
                <a:sym typeface="Arial"/>
              </a:rPr>
              <a:t>If </a:t>
            </a:r>
            <a:r>
              <a:rPr lang="en-US" sz="2000" dirty="0">
                <a:latin typeface="Arial"/>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 </a:t>
            </a:r>
            <a:r>
              <a:rPr lang="en-US" sz="1800" dirty="0">
                <a:solidFill>
                  <a:srgbClr val="FF0000"/>
                </a:solidFill>
                <a:latin typeface="Arial"/>
                <a:ea typeface="Arial"/>
                <a:cs typeface="Arial"/>
                <a:sym typeface="Arial"/>
              </a:rPr>
              <a:t>NO OFFICE HOURS THIS WEEK</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Sensors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current</a:t>
            </a:r>
            <a:r>
              <a:rPr lang="en-US" sz="2400" dirty="0">
                <a:latin typeface="Arial"/>
                <a:ea typeface="Arial"/>
                <a:cs typeface="Arial"/>
                <a:sym typeface="Arial"/>
              </a:rPr>
              <a:t>ly </a:t>
            </a:r>
            <a:r>
              <a:rPr lang="en-US" sz="2400" dirty="0">
                <a:solidFill>
                  <a:schemeClr val="dk1"/>
                </a:solidFill>
                <a:latin typeface="Arial"/>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we missing?</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Sensing external objects!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some examples?</a:t>
            </a:r>
          </a:p>
          <a:p>
            <a:pPr marL="342900">
              <a:lnSpc>
                <a:spcPct val="100000"/>
              </a:lnSpc>
              <a:spcBef>
                <a:spcPts val="0"/>
              </a:spcBef>
              <a:buSzPts val="3000"/>
            </a:pPr>
            <a:r>
              <a:rPr lang="en-US" sz="2400" dirty="0">
                <a:latin typeface="Arial"/>
                <a:ea typeface="Arial"/>
                <a:cs typeface="Arial"/>
                <a:sym typeface="Arial"/>
              </a:rPr>
              <a:t>Walls</a:t>
            </a:r>
          </a:p>
          <a:p>
            <a:pPr marL="342900">
              <a:lnSpc>
                <a:spcPct val="100000"/>
              </a:lnSpc>
              <a:spcBef>
                <a:spcPts val="0"/>
              </a:spcBef>
              <a:buSzPts val="3000"/>
            </a:pPr>
            <a:r>
              <a:rPr lang="en-US" sz="2400" dirty="0">
                <a:solidFill>
                  <a:schemeClr val="dk1"/>
                </a:solidFill>
                <a:latin typeface="Arial"/>
                <a:ea typeface="Arial"/>
                <a:cs typeface="Arial"/>
                <a:sym typeface="Arial"/>
              </a:rPr>
              <a:t>People</a:t>
            </a:r>
          </a:p>
          <a:p>
            <a:pPr marL="342900">
              <a:lnSpc>
                <a:spcPct val="100000"/>
              </a:lnSpc>
              <a:spcBef>
                <a:spcPts val="0"/>
              </a:spcBef>
              <a:buSzPts val="3000"/>
            </a:pPr>
            <a:r>
              <a:rPr lang="en-US" sz="2400" dirty="0">
                <a:latin typeface="Arial"/>
                <a:ea typeface="Arial"/>
                <a:cs typeface="Arial"/>
                <a:sym typeface="Arial"/>
              </a:rPr>
              <a:t>Water</a:t>
            </a:r>
          </a:p>
          <a:p>
            <a:pPr marL="342900">
              <a:lnSpc>
                <a:spcPct val="100000"/>
              </a:lnSpc>
              <a:spcBef>
                <a:spcPts val="0"/>
              </a:spcBef>
              <a:buSzPts val="3000"/>
            </a:pPr>
            <a:r>
              <a:rPr lang="en-US" sz="2400" dirty="0">
                <a:solidFill>
                  <a:schemeClr val="dk1"/>
                </a:solidFill>
                <a:latin typeface="Arial"/>
                <a:ea typeface="Arial"/>
                <a:cs typeface="Arial"/>
                <a:sym typeface="Arial"/>
              </a:rPr>
              <a:t>Doors</a:t>
            </a:r>
          </a:p>
          <a:p>
            <a:pPr marL="342900">
              <a:lnSpc>
                <a:spcPct val="100000"/>
              </a:lnSpc>
              <a:spcBef>
                <a:spcPts val="0"/>
              </a:spcBef>
              <a:buSzPts val="3000"/>
            </a:pPr>
            <a:r>
              <a:rPr lang="en-US" sz="2400" dirty="0">
                <a:latin typeface="Arial"/>
                <a:ea typeface="Arial"/>
                <a:cs typeface="Arial"/>
                <a:sym typeface="Arial"/>
              </a:rPr>
              <a:t>Etc.</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There are 2 types of sensors,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Passive </a:t>
            </a:r>
            <a:r>
              <a:rPr lang="en-US" sz="2400" dirty="0">
                <a:latin typeface="Arial"/>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latin typeface="Arial"/>
                <a:ea typeface="Arial"/>
                <a:cs typeface="Arial"/>
                <a:sym typeface="Arial"/>
              </a:rPr>
              <a:t>Standard camera</a:t>
            </a:r>
          </a:p>
          <a:p>
            <a:pPr marL="342900">
              <a:lnSpc>
                <a:spcPct val="100000"/>
              </a:lnSpc>
              <a:spcBef>
                <a:spcPts val="0"/>
              </a:spcBef>
              <a:buSzPts val="3000"/>
            </a:pPr>
            <a:r>
              <a:rPr lang="en-US" sz="2400" dirty="0">
                <a:latin typeface="Arial"/>
                <a:ea typeface="Arial"/>
                <a:cs typeface="Arial"/>
                <a:sym typeface="Arial"/>
              </a:rPr>
              <a:t>Thermometer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Active</a:t>
            </a:r>
            <a:r>
              <a:rPr lang="en-US" sz="2400" dirty="0">
                <a:solidFill>
                  <a:schemeClr val="dk1"/>
                </a:solidFill>
                <a:latin typeface="Arial"/>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solidFill>
                  <a:schemeClr val="dk1"/>
                </a:solidFill>
                <a:latin typeface="Arial"/>
                <a:ea typeface="Arial"/>
                <a:cs typeface="Arial"/>
                <a:sym typeface="Arial"/>
              </a:rPr>
              <a:t>LiDAR</a:t>
            </a:r>
          </a:p>
          <a:p>
            <a:pPr marL="342900">
              <a:lnSpc>
                <a:spcPct val="100000"/>
              </a:lnSpc>
              <a:spcBef>
                <a:spcPts val="0"/>
              </a:spcBef>
              <a:buSzPts val="3000"/>
            </a:pPr>
            <a:r>
              <a:rPr lang="en-US" sz="2400" dirty="0">
                <a:latin typeface="Arial"/>
                <a:ea typeface="Arial"/>
                <a:cs typeface="Arial"/>
                <a:sym typeface="Arial"/>
              </a:rPr>
              <a:t>Radar</a:t>
            </a:r>
          </a:p>
          <a:p>
            <a:pPr marL="342900">
              <a:lnSpc>
                <a:spcPct val="100000"/>
              </a:lnSpc>
              <a:spcBef>
                <a:spcPts val="0"/>
              </a:spcBef>
              <a:buSzPts val="3000"/>
            </a:pPr>
            <a:r>
              <a:rPr lang="en-US" sz="2400" dirty="0">
                <a:solidFill>
                  <a:schemeClr val="dk1"/>
                </a:solidFill>
                <a:latin typeface="Arial"/>
                <a:ea typeface="Arial"/>
                <a:cs typeface="Arial"/>
                <a:sym typeface="Arial"/>
              </a:rPr>
              <a:t>Sonar</a:t>
            </a:r>
          </a:p>
          <a:p>
            <a:pPr marL="0" indent="0">
              <a:lnSpc>
                <a:spcPct val="100000"/>
              </a:lnSpc>
              <a:spcBef>
                <a:spcPts val="0"/>
              </a:spcBef>
              <a:buSzPts val="3000"/>
              <a:buNone/>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rial"/>
                <a:ea typeface="Arial"/>
                <a:cs typeface="Arial"/>
                <a:sym typeface="Arial"/>
              </a:rPr>
              <a:t>Active</a:t>
            </a:r>
            <a:r>
              <a:rPr lang="en-US" sz="2400" dirty="0">
                <a:latin typeface="Arial"/>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Active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Passive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rial"/>
                <a:ea typeface="Arial"/>
                <a:cs typeface="Arial"/>
                <a:sym typeface="Arial"/>
              </a:rPr>
              <a:t>Passive</a:t>
            </a:r>
            <a:r>
              <a:rPr lang="en-US" sz="2400" dirty="0">
                <a:latin typeface="Arial"/>
                <a:ea typeface="Arial"/>
                <a:cs typeface="Arial"/>
                <a:sym typeface="Arial"/>
              </a:rPr>
              <a:t> (this is just a camera!)</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Composed of 2 parts:</a:t>
            </a:r>
          </a:p>
          <a:p>
            <a:pPr marL="342900">
              <a:lnSpc>
                <a:spcPct val="100000"/>
              </a:lnSpc>
              <a:spcBef>
                <a:spcPts val="0"/>
              </a:spcBef>
              <a:buSzPts val="3000"/>
            </a:pPr>
            <a:r>
              <a:rPr lang="en-US" sz="2400" dirty="0">
                <a:latin typeface="Arial"/>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rial"/>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Basic operation principle:</a:t>
            </a:r>
          </a:p>
          <a:p>
            <a:pPr marL="342900">
              <a:lnSpc>
                <a:spcPct val="100000"/>
              </a:lnSpc>
              <a:spcBef>
                <a:spcPts val="0"/>
              </a:spcBef>
              <a:buSzPts val="3000"/>
            </a:pPr>
            <a:r>
              <a:rPr lang="en-US" sz="1800" dirty="0">
                <a:latin typeface="Arial"/>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rial"/>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rial"/>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rial"/>
                <a:ea typeface="Arial"/>
                <a:cs typeface="Arial"/>
                <a:sym typeface="Arial"/>
              </a:rPr>
              <a:t>The receiver detects the reflectance</a:t>
            </a:r>
            <a:r>
              <a:rPr lang="en-US" sz="1800" dirty="0">
                <a:latin typeface="Arial"/>
                <a:ea typeface="Arial"/>
                <a:cs typeface="Arial"/>
                <a:sym typeface="Arial"/>
              </a:rPr>
              <a:t> light</a:t>
            </a:r>
          </a:p>
          <a:p>
            <a:pPr marL="342900">
              <a:lnSpc>
                <a:spcPct val="100000"/>
              </a:lnSpc>
              <a:spcBef>
                <a:spcPts val="0"/>
              </a:spcBef>
              <a:buSzPts val="3000"/>
            </a:pPr>
            <a:r>
              <a:rPr lang="en-US" sz="1800" dirty="0">
                <a:solidFill>
                  <a:schemeClr val="dk1"/>
                </a:solidFill>
                <a:latin typeface="Arial"/>
                <a:ea typeface="Arial"/>
                <a:cs typeface="Arial"/>
                <a:sym typeface="Arial"/>
              </a:rPr>
              <a:t>The sensor determines the approximate distance</a:t>
            </a:r>
          </a:p>
          <a:p>
            <a:pPr marL="34290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measured from reflectance: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Closer object  = stronger reflected signal</a:t>
            </a:r>
          </a:p>
          <a:p>
            <a:pPr marL="0" indent="0">
              <a:lnSpc>
                <a:spcPct val="100000"/>
              </a:lnSpc>
              <a:spcBef>
                <a:spcPts val="0"/>
              </a:spcBef>
              <a:buSzPts val="3000"/>
              <a:buNone/>
            </a:pPr>
            <a:r>
              <a:rPr lang="en-US" sz="1800" dirty="0">
                <a:latin typeface="Arial"/>
                <a:ea typeface="Arial"/>
                <a:cs typeface="Arial"/>
                <a:sym typeface="Arial"/>
              </a:rPr>
              <a:t>Further object = weaker reflected signal</a:t>
            </a:r>
            <a:endParaRPr lang="en-US" sz="1800" dirty="0">
              <a:solidFill>
                <a:schemeClr val="dk1"/>
              </a:solidFill>
              <a:latin typeface="Arial"/>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Advantages:</a:t>
            </a:r>
          </a:p>
          <a:p>
            <a:pPr marL="285750" indent="-285750">
              <a:lnSpc>
                <a:spcPct val="100000"/>
              </a:lnSpc>
              <a:spcBef>
                <a:spcPts val="0"/>
              </a:spcBef>
              <a:buSzPts val="3000"/>
            </a:pPr>
            <a:r>
              <a:rPr lang="en-US" sz="1800" dirty="0">
                <a:latin typeface="Arial"/>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rial"/>
                <a:ea typeface="Arial"/>
                <a:cs typeface="Arial"/>
                <a:sym typeface="Arial"/>
              </a:rPr>
              <a:t>Small size and lightweight</a:t>
            </a:r>
          </a:p>
          <a:p>
            <a:pPr marL="285750" indent="-285750">
              <a:lnSpc>
                <a:spcPct val="100000"/>
              </a:lnSpc>
              <a:spcBef>
                <a:spcPts val="0"/>
              </a:spcBef>
              <a:buSzPts val="3000"/>
            </a:pPr>
            <a:r>
              <a:rPr lang="en-US" sz="1800" dirty="0">
                <a:latin typeface="Arial"/>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rial"/>
                <a:ea typeface="Arial"/>
                <a:cs typeface="Arial"/>
                <a:sym typeface="Arial"/>
              </a:rPr>
              <a:t>Low power consumption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Limitations:</a:t>
            </a:r>
          </a:p>
          <a:p>
            <a:pPr marL="285750" indent="-285750">
              <a:lnSpc>
                <a:spcPct val="100000"/>
              </a:lnSpc>
              <a:spcBef>
                <a:spcPts val="0"/>
              </a:spcBef>
              <a:buSzPts val="3000"/>
            </a:pPr>
            <a:r>
              <a:rPr lang="en-US" sz="1800" dirty="0">
                <a:latin typeface="Arial"/>
                <a:ea typeface="Arial"/>
                <a:cs typeface="Arial"/>
                <a:sym typeface="Arial"/>
              </a:rPr>
              <a:t>Performance affected by </a:t>
            </a:r>
            <a:r>
              <a:rPr lang="en-US" sz="1800" b="1" dirty="0">
                <a:latin typeface="Arial"/>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rial"/>
                <a:ea typeface="Arial"/>
                <a:cs typeface="Arial"/>
                <a:sym typeface="Arial"/>
              </a:rPr>
              <a:t>Limited detection range (signal power disperses at a rate of d</a:t>
            </a:r>
            <a:r>
              <a:rPr lang="en-US" sz="1800" baseline="30000" dirty="0">
                <a:solidFill>
                  <a:schemeClr val="dk1"/>
                </a:solidFill>
                <a:latin typeface="Arial"/>
                <a:ea typeface="Arial"/>
                <a:cs typeface="Arial"/>
                <a:sym typeface="Arial"/>
              </a:rPr>
              <a:t>2</a:t>
            </a:r>
            <a:r>
              <a:rPr lang="en-US" sz="1800" dirty="0">
                <a:solidFill>
                  <a:schemeClr val="dk1"/>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Sensitive to ambient IR light (sunlight)</a:t>
            </a:r>
          </a:p>
          <a:p>
            <a:pPr marL="285750" indent="-285750">
              <a:lnSpc>
                <a:spcPct val="100000"/>
              </a:lnSpc>
              <a:spcBef>
                <a:spcPts val="0"/>
              </a:spcBef>
              <a:buSzPts val="3000"/>
            </a:pPr>
            <a:r>
              <a:rPr lang="en-US" sz="1800" dirty="0">
                <a:latin typeface="Arial"/>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Typical Range:</a:t>
            </a:r>
          </a:p>
          <a:p>
            <a:pPr marL="0" indent="0">
              <a:lnSpc>
                <a:spcPct val="100000"/>
              </a:lnSpc>
              <a:spcBef>
                <a:spcPts val="0"/>
              </a:spcBef>
              <a:buSzPts val="3000"/>
              <a:buNone/>
            </a:pPr>
            <a:r>
              <a:rPr lang="en-US" sz="1800" dirty="0">
                <a:latin typeface="Arial"/>
                <a:ea typeface="Arial"/>
                <a:cs typeface="Arial"/>
                <a:sym typeface="Arial"/>
              </a:rPr>
              <a:t>2 to 80 cm</a:t>
            </a:r>
            <a:endParaRPr lang="en-US" sz="1800" dirty="0">
              <a:solidFill>
                <a:schemeClr val="dk1"/>
              </a:solidFill>
              <a:latin typeface="Arial"/>
              <a:ea typeface="Arial"/>
              <a:cs typeface="Arial"/>
              <a:sym typeface="Arial"/>
            </a:endParaRPr>
          </a:p>
          <a:p>
            <a:pPr marL="285750" indent="-285750">
              <a:lnSpc>
                <a:spcPct val="100000"/>
              </a:lnSpc>
              <a:spcBef>
                <a:spcPts val="0"/>
              </a:spcBef>
              <a:buSzPts val="3000"/>
            </a:pPr>
            <a:endParaRPr lang="en-US" sz="1800" dirty="0">
              <a:solidFill>
                <a:schemeClr val="dk1"/>
              </a:solidFill>
              <a:latin typeface="Arial"/>
              <a:ea typeface="Arial"/>
              <a:cs typeface="Arial"/>
              <a:sym typeface="Arial"/>
            </a:endParaRPr>
          </a:p>
        </p:txBody>
      </p:sp>
      <p:pic>
        <p:nvPicPr>
          <p:cNvPr id="3074" name="Picture 2" descr="Types of Distance Sensors and How to Select One? - Latest News from Seeed  Studio">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Signal dissipation!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When an IR LED emits light, the energy spreads out in </a:t>
                </a:r>
                <a:r>
                  <a:rPr lang="en-US" sz="1800" b="1" dirty="0">
                    <a:solidFill>
                      <a:schemeClr val="dk1"/>
                    </a:solidFill>
                    <a:latin typeface="Arial"/>
                    <a:ea typeface="Arial"/>
                    <a:cs typeface="Arial"/>
                    <a:sym typeface="Arial"/>
                  </a:rPr>
                  <a:t>all directions</a:t>
                </a:r>
                <a:r>
                  <a:rPr lang="en-US" sz="1800" dirty="0">
                    <a:solidFill>
                      <a:schemeClr val="dk1"/>
                    </a:solidFill>
                    <a:latin typeface="Arial"/>
                    <a:ea typeface="Arial"/>
                    <a:cs typeface="Arial"/>
                    <a:sym typeface="Arial"/>
                  </a:rPr>
                  <a:t>!</a:t>
                </a:r>
              </a:p>
              <a:p>
                <a:pPr marL="0" indent="0">
                  <a:lnSpc>
                    <a:spcPct val="100000"/>
                  </a:lnSpc>
                  <a:spcBef>
                    <a:spcPts val="0"/>
                  </a:spcBef>
                  <a:buSzPts val="3000"/>
                  <a:buNone/>
                </a:pPr>
                <a:r>
                  <a:rPr lang="en-US" sz="1800" dirty="0">
                    <a:latin typeface="Arial"/>
                    <a:ea typeface="Arial"/>
                    <a:cs typeface="Arial"/>
                    <a:sym typeface="Arial"/>
                  </a:rPr>
                  <a:t>As distance increases, the same energy covers a </a:t>
                </a:r>
                <a:r>
                  <a:rPr lang="en-US" sz="1800" b="1" dirty="0">
                    <a:latin typeface="Arial"/>
                    <a:ea typeface="Arial"/>
                    <a:cs typeface="Arial"/>
                    <a:sym typeface="Arial"/>
                  </a:rPr>
                  <a:t>larger surface area</a:t>
                </a:r>
                <a:r>
                  <a:rPr lang="en-US" sz="1800" dirty="0">
                    <a:latin typeface="Arial"/>
                    <a:ea typeface="Arial"/>
                    <a:cs typeface="Arial"/>
                    <a:sym typeface="Arial"/>
                  </a:rPr>
                  <a:t>!</a:t>
                </a: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Therefore, the signal intensity </a:t>
                </a:r>
                <a:r>
                  <a:rPr lang="en-US" sz="1800" b="1" dirty="0">
                    <a:latin typeface="Arial"/>
                    <a:ea typeface="Arial"/>
                    <a:cs typeface="Arial"/>
                    <a:sym typeface="Arial"/>
                  </a:rPr>
                  <a:t>decreases with distance</a:t>
                </a:r>
                <a:r>
                  <a:rPr lang="en-US" sz="1800" dirty="0">
                    <a:latin typeface="Arial"/>
                    <a:ea typeface="Arial"/>
                    <a:cs typeface="Arial"/>
                    <a:sym typeface="Arial"/>
                  </a:rPr>
                  <a:t>.</a:t>
                </a:r>
              </a:p>
              <a:p>
                <a:pPr marL="0" indent="0">
                  <a:lnSpc>
                    <a:spcPct val="100000"/>
                  </a:lnSpc>
                  <a:spcBef>
                    <a:spcPts val="0"/>
                  </a:spcBef>
                  <a:buSzPts val="3000"/>
                  <a:buNone/>
                </a:pP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relationship is called the </a:t>
                </a:r>
                <a:r>
                  <a:rPr lang="en-US" sz="1800" b="1" dirty="0">
                    <a:latin typeface="Arial"/>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Where</a:t>
                </a:r>
                <a:r>
                  <a:rPr lang="en-US" sz="1800" dirty="0">
                    <a:latin typeface="Arial"/>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rial"/>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rial"/>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Because the signal travels </a:t>
                </a:r>
                <a:r>
                  <a:rPr lang="en-US" sz="1800" dirty="0">
                    <a:latin typeface="Arial"/>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Emitter </a:t>
                </a:r>
                <a:r>
                  <a:rPr lang="en-US" sz="1800" dirty="0">
                    <a:latin typeface="Arial"/>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rial"/>
                    <a:ea typeface="Arial"/>
                    <a:cs typeface="Arial"/>
                    <a:sym typeface="Arial"/>
                  </a:rPr>
                  <a:t>Object to Receiver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the returned signal is roughly:</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rial"/>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LiDAR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A basic IR distance sensor only measures </a:t>
            </a:r>
            <a:r>
              <a:rPr lang="en-US" sz="1800" b="1" dirty="0">
                <a:solidFill>
                  <a:schemeClr val="dk1"/>
                </a:solidFill>
                <a:latin typeface="Arial"/>
                <a:ea typeface="Arial"/>
                <a:cs typeface="Arial"/>
                <a:sym typeface="Arial"/>
              </a:rPr>
              <a:t>distance in one direction.</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rial"/>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Each pointing in a </a:t>
            </a:r>
            <a:r>
              <a:rPr lang="en-US" sz="1800" b="1" dirty="0">
                <a:solidFill>
                  <a:schemeClr val="dk1"/>
                </a:solidFill>
                <a:latin typeface="Arial"/>
                <a:ea typeface="Arial"/>
                <a:cs typeface="Arial"/>
                <a:sym typeface="Arial"/>
              </a:rPr>
              <a:t>different direction</a:t>
            </a:r>
            <a:r>
              <a:rPr lang="en-US" sz="1800" dirty="0">
                <a:latin typeface="Arial"/>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rial"/>
                <a:ea typeface="Arial"/>
                <a:cs typeface="Arial"/>
                <a:sym typeface="Arial"/>
              </a:rPr>
              <a:t>Large number of sensors required</a:t>
            </a:r>
          </a:p>
          <a:p>
            <a:pPr marL="285750" indent="-285750">
              <a:lnSpc>
                <a:spcPct val="100000"/>
              </a:lnSpc>
              <a:spcBef>
                <a:spcPts val="0"/>
              </a:spcBef>
              <a:buSzPts val="3000"/>
            </a:pPr>
            <a:r>
              <a:rPr lang="en-US" sz="1800" dirty="0">
                <a:latin typeface="Arial"/>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Slow updates if scanned sequentially</a:t>
            </a: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Key idea:</a:t>
            </a:r>
          </a:p>
          <a:p>
            <a:pPr marL="285750" indent="-285750">
              <a:lnSpc>
                <a:spcPct val="100000"/>
              </a:lnSpc>
              <a:spcBef>
                <a:spcPts val="0"/>
              </a:spcBef>
              <a:buSzPts val="3000"/>
            </a:pPr>
            <a:r>
              <a:rPr lang="en-US" sz="1800" dirty="0">
                <a:latin typeface="Arial"/>
                <a:ea typeface="Arial"/>
                <a:cs typeface="Arial"/>
                <a:sym typeface="Arial"/>
              </a:rPr>
              <a:t>Send a laser pulse</a:t>
            </a:r>
          </a:p>
          <a:p>
            <a:pPr marL="285750" indent="-285750">
              <a:lnSpc>
                <a:spcPct val="100000"/>
              </a:lnSpc>
              <a:spcBef>
                <a:spcPts val="0"/>
              </a:spcBef>
              <a:buSzPts val="3000"/>
            </a:pPr>
            <a:r>
              <a:rPr lang="en-US" sz="1800" dirty="0">
                <a:latin typeface="Arial"/>
                <a:ea typeface="Arial"/>
                <a:cs typeface="Arial"/>
                <a:sym typeface="Arial"/>
              </a:rPr>
              <a:t>Measure how long it takes to bounce back</a:t>
            </a:r>
          </a:p>
          <a:p>
            <a:pPr marL="285750" indent="-285750">
              <a:lnSpc>
                <a:spcPct val="100000"/>
              </a:lnSpc>
              <a:spcBef>
                <a:spcPts val="0"/>
              </a:spcBef>
              <a:buSzPts val="3000"/>
            </a:pPr>
            <a:r>
              <a:rPr lang="en-US" sz="1800" dirty="0">
                <a:latin typeface="Arial"/>
                <a:ea typeface="Arial"/>
                <a:cs typeface="Arial"/>
                <a:sym typeface="Arial"/>
              </a:rPr>
              <a:t>Convert that time into distance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Main components:</a:t>
            </a:r>
          </a:p>
          <a:p>
            <a:pPr marL="285750" indent="-285750">
              <a:lnSpc>
                <a:spcPct val="100000"/>
              </a:lnSpc>
              <a:spcBef>
                <a:spcPts val="0"/>
              </a:spcBef>
              <a:buSzPts val="3000"/>
            </a:pPr>
            <a:r>
              <a:rPr lang="en-US" sz="1800" dirty="0">
                <a:latin typeface="Arial"/>
                <a:ea typeface="Arial"/>
                <a:cs typeface="Arial"/>
                <a:sym typeface="Arial"/>
              </a:rPr>
              <a:t>Laser emitter</a:t>
            </a:r>
          </a:p>
          <a:p>
            <a:pPr marL="285750" indent="-285750">
              <a:lnSpc>
                <a:spcPct val="100000"/>
              </a:lnSpc>
              <a:spcBef>
                <a:spcPts val="0"/>
              </a:spcBef>
              <a:buSzPts val="3000"/>
            </a:pPr>
            <a:r>
              <a:rPr lang="en-US" sz="1800" dirty="0">
                <a:latin typeface="Arial"/>
                <a:ea typeface="Arial"/>
                <a:cs typeface="Arial"/>
                <a:sym typeface="Arial"/>
              </a:rPr>
              <a:t>Photodetector</a:t>
            </a:r>
          </a:p>
          <a:p>
            <a:pPr marL="285750" indent="-285750">
              <a:lnSpc>
                <a:spcPct val="100000"/>
              </a:lnSpc>
              <a:spcBef>
                <a:spcPts val="0"/>
              </a:spcBef>
              <a:buSzPts val="3000"/>
            </a:pPr>
            <a:r>
              <a:rPr lang="en-US" sz="1800" dirty="0">
                <a:latin typeface="Arial"/>
                <a:ea typeface="Arial"/>
                <a:cs typeface="Arial"/>
                <a:sym typeface="Arial"/>
              </a:rPr>
              <a:t>Precise timing electronics</a:t>
            </a:r>
          </a:p>
          <a:p>
            <a:pPr marL="285750" indent="-285750">
              <a:lnSpc>
                <a:spcPct val="100000"/>
              </a:lnSpc>
              <a:spcBef>
                <a:spcPts val="0"/>
              </a:spcBef>
              <a:buSzPts val="3000"/>
            </a:pPr>
            <a:r>
              <a:rPr lang="en-US" sz="1800" dirty="0">
                <a:latin typeface="Arial"/>
                <a:ea typeface="Arial"/>
                <a:cs typeface="Arial"/>
                <a:sym typeface="Arial"/>
              </a:rPr>
              <a:t>Rotating motor / scanning system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system rapidly scans the environment and generates a </a:t>
            </a:r>
            <a:r>
              <a:rPr lang="en-US" sz="1800" b="1" dirty="0">
                <a:latin typeface="Arial"/>
                <a:ea typeface="Arial"/>
                <a:cs typeface="Arial"/>
                <a:sym typeface="Arial"/>
              </a:rPr>
              <a:t>point cloud</a:t>
            </a:r>
            <a:r>
              <a:rPr lang="en-US" sz="1800" dirty="0">
                <a:latin typeface="Arial"/>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122" name="Picture 2" descr="Things you need to know about LiDAR: the more lasers, the better? | Hesai">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ew Part Day: Very Cheap LIDAR | Hackaday">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LiDAR determines distance using Time-of-Flight (</a:t>
                </a:r>
                <a:r>
                  <a:rPr lang="en-US" sz="1800" dirty="0" err="1">
                    <a:latin typeface="Arial"/>
                    <a:ea typeface="Arial"/>
                    <a:cs typeface="Arial"/>
                    <a:sym typeface="Arial"/>
                  </a:rPr>
                  <a:t>ToF</a:t>
                </a:r>
                <a:r>
                  <a:rPr lang="en-US" sz="1800" dirty="0">
                    <a:latin typeface="Arial"/>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 laser pulse is emitted.</a:t>
                </a:r>
              </a:p>
              <a:p>
                <a:pPr marL="285750" indent="-285750">
                  <a:lnSpc>
                    <a:spcPct val="100000"/>
                  </a:lnSpc>
                  <a:spcBef>
                    <a:spcPts val="0"/>
                  </a:spcBef>
                  <a:buSzPts val="3000"/>
                </a:pPr>
                <a:r>
                  <a:rPr lang="en-US" sz="1800" dirty="0">
                    <a:latin typeface="Arial"/>
                    <a:ea typeface="Arial"/>
                    <a:cs typeface="Arial"/>
                    <a:sym typeface="Arial"/>
                  </a:rPr>
                  <a:t>The pulse travels to an object.</a:t>
                </a:r>
              </a:p>
              <a:p>
                <a:pPr marL="285750" indent="-285750">
                  <a:lnSpc>
                    <a:spcPct val="100000"/>
                  </a:lnSpc>
                  <a:spcBef>
                    <a:spcPts val="0"/>
                  </a:spcBef>
                  <a:buSzPts val="3000"/>
                </a:pPr>
                <a:r>
                  <a:rPr lang="en-US" sz="1800" dirty="0">
                    <a:latin typeface="Arial"/>
                    <a:ea typeface="Arial"/>
                    <a:cs typeface="Arial"/>
                    <a:sym typeface="Arial"/>
                  </a:rPr>
                  <a:t>The object reflects the pulse back.</a:t>
                </a:r>
              </a:p>
              <a:p>
                <a:pPr marL="285750" indent="-285750">
                  <a:lnSpc>
                    <a:spcPct val="100000"/>
                  </a:lnSpc>
                  <a:spcBef>
                    <a:spcPts val="0"/>
                  </a:spcBef>
                  <a:buSzPts val="3000"/>
                </a:pPr>
                <a:r>
                  <a:rPr lang="en-US" sz="1800" dirty="0">
                    <a:latin typeface="Arial"/>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rial"/>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rial"/>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rial"/>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rial"/>
                    <a:ea typeface="Arial"/>
                    <a:cs typeface="Arial"/>
                    <a:sym typeface="Arial"/>
                  </a:rPr>
                  <a:t> = measured round-trip time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rial"/>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Only possible to use </a:t>
                </a:r>
                <a:r>
                  <a:rPr lang="en-US" sz="1800" dirty="0" err="1">
                    <a:latin typeface="Arial"/>
                    <a:ea typeface="Arial"/>
                    <a:cs typeface="Arial"/>
                    <a:sym typeface="Arial"/>
                  </a:rPr>
                  <a:t>ToF</a:t>
                </a:r>
                <a:r>
                  <a:rPr lang="en-US" sz="1800" dirty="0">
                    <a:latin typeface="Arial"/>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nSpc>
                    <a:spcPct val="100000"/>
                  </a:lnSpc>
                  <a:spcBef>
                    <a:spcPts val="0"/>
                  </a:spcBef>
                  <a:buSzPts val="3000"/>
                  <a:buNone/>
                </a:pPr>
                <a:r>
                  <a:rPr lang="en-US" sz="1800" dirty="0">
                    <a:latin typeface="Arial"/>
                    <a:ea typeface="Arial"/>
                    <a:cs typeface="Arial"/>
                    <a:sym typeface="Arial"/>
                  </a:rPr>
                  <a:t>If the pulse returns in </a:t>
                </a:r>
                <a:r>
                  <a:rPr lang="en-US" sz="1800" b="1" dirty="0">
                    <a:latin typeface="Arial"/>
                    <a:ea typeface="Arial"/>
                    <a:cs typeface="Arial"/>
                    <a:sym typeface="Arial"/>
                  </a:rPr>
                  <a:t>20 nanoseconds</a:t>
                </a:r>
                <a:r>
                  <a:rPr lang="en-US" sz="1800" dirty="0">
                    <a:latin typeface="Arial"/>
                    <a:ea typeface="Arial"/>
                    <a:cs typeface="Arial"/>
                    <a:sym typeface="Arial"/>
                  </a:rPr>
                  <a:t>:</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rial"/>
                  <a:ea typeface="Arial"/>
                  <a:cs typeface="Arial"/>
                  <a:sym typeface="Arial"/>
                </a:endParaRP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Red Board’s clock runs at 200 MHz ( not that you would use the Red Board ). Which has a clock cycle of </a:t>
                </a:r>
                <a:r>
                  <a:rPr lang="en-US" sz="1800" b="1" dirty="0">
                    <a:latin typeface="Arial"/>
                    <a:ea typeface="Arial"/>
                    <a:cs typeface="Arial"/>
                    <a:sym typeface="Arial"/>
                  </a:rPr>
                  <a:t>5 nanoseconds</a:t>
                </a:r>
                <a:r>
                  <a:rPr lang="en-US" sz="1800" dirty="0">
                    <a:latin typeface="Arial"/>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What happens if the clock is too slow?</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rial"/>
                    <a:ea typeface="Arial"/>
                    <a:cs typeface="Arial"/>
                    <a:sym typeface="Arial"/>
                  </a:rPr>
                  <a:t>You cannot measure distances that are too close! (there is usually a minimum distance for </a:t>
                </a:r>
                <a:r>
                  <a:rPr lang="en-US" sz="1800" dirty="0" err="1">
                    <a:latin typeface="Arial"/>
                    <a:ea typeface="Arial"/>
                    <a:cs typeface="Arial"/>
                    <a:sym typeface="Arial"/>
                  </a:rPr>
                  <a:t>LiDARs</a:t>
                </a:r>
                <a:r>
                  <a:rPr lang="en-US" sz="1800" dirty="0">
                    <a:latin typeface="Arial"/>
                    <a:ea typeface="Arial"/>
                    <a:cs typeface="Arial"/>
                    <a:sym typeface="Arial"/>
                  </a:rPr>
                  <a:t> as well as the field of view)</a:t>
                </a: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Why use lasers?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rial"/>
                <a:ea typeface="Arial"/>
                <a:cs typeface="Arial"/>
                <a:sym typeface="Arial"/>
              </a:rPr>
              <a:t>Increase the power.</a:t>
            </a:r>
          </a:p>
          <a:p>
            <a:pPr marL="285750" indent="-285750">
              <a:lnSpc>
                <a:spcPct val="100000"/>
              </a:lnSpc>
              <a:spcBef>
                <a:spcPts val="0"/>
              </a:spcBef>
              <a:buSzPts val="3000"/>
            </a:pPr>
            <a:r>
              <a:rPr lang="en-US" sz="1800" dirty="0">
                <a:latin typeface="Arial"/>
                <a:ea typeface="Arial"/>
                <a:cs typeface="Arial"/>
                <a:sym typeface="Arial"/>
              </a:rPr>
              <a:t>Reduce how dispersed the signal is </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rial"/>
                <a:ea typeface="Arial"/>
                <a:cs typeface="Arial"/>
                <a:sym typeface="Arial"/>
              </a:rPr>
              <a:t>Rapid signal loss</a:t>
            </a:r>
          </a:p>
          <a:p>
            <a:pPr marL="285750" indent="-285750">
              <a:lnSpc>
                <a:spcPct val="100000"/>
              </a:lnSpc>
              <a:spcBef>
                <a:spcPts val="0"/>
              </a:spcBef>
              <a:buSzPts val="3000"/>
            </a:pPr>
            <a:r>
              <a:rPr lang="en-US" sz="1800" dirty="0">
                <a:latin typeface="Arial"/>
                <a:ea typeface="Arial"/>
                <a:cs typeface="Arial"/>
                <a:sym typeface="Arial"/>
              </a:rPr>
              <a:t>Poor directional accuracy</a:t>
            </a:r>
          </a:p>
          <a:p>
            <a:pPr marL="285750" indent="-285750">
              <a:lnSpc>
                <a:spcPct val="100000"/>
              </a:lnSpc>
              <a:spcBef>
                <a:spcPts val="0"/>
              </a:spcBef>
              <a:buSzPts val="3000"/>
            </a:pPr>
            <a:r>
              <a:rPr lang="en-US" sz="1800" dirty="0">
                <a:latin typeface="Arial"/>
                <a:ea typeface="Arial"/>
                <a:cs typeface="Arial"/>
                <a:sym typeface="Arial"/>
              </a:rPr>
              <a:t>Lower range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Lasers are preferred because they have: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Directionality: </a:t>
            </a:r>
          </a:p>
          <a:p>
            <a:pPr marL="285750" indent="-285750">
              <a:lnSpc>
                <a:spcPct val="100000"/>
              </a:lnSpc>
              <a:spcBef>
                <a:spcPts val="0"/>
              </a:spcBef>
              <a:buSzPts val="3000"/>
            </a:pPr>
            <a:r>
              <a:rPr lang="en-US" sz="1800" dirty="0">
                <a:latin typeface="Arial"/>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rial"/>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Optical Power Density:</a:t>
            </a:r>
          </a:p>
          <a:p>
            <a:pPr marL="285750" indent="-285750">
              <a:lnSpc>
                <a:spcPct val="100000"/>
              </a:lnSpc>
              <a:spcBef>
                <a:spcPts val="0"/>
              </a:spcBef>
              <a:buSzPts val="3000"/>
            </a:pPr>
            <a:r>
              <a:rPr lang="en-US" sz="1800" dirty="0">
                <a:latin typeface="Arial"/>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Precise Timing:</a:t>
            </a:r>
          </a:p>
          <a:p>
            <a:pPr marL="285750" indent="-285750">
              <a:lnSpc>
                <a:spcPct val="100000"/>
              </a:lnSpc>
              <a:spcBef>
                <a:spcPts val="0"/>
              </a:spcBef>
              <a:buSzPts val="3000"/>
            </a:pPr>
            <a:r>
              <a:rPr lang="en-US" sz="1800" dirty="0">
                <a:latin typeface="Arial"/>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Better Spatial Resolution:</a:t>
            </a:r>
          </a:p>
          <a:p>
            <a:pPr marL="285750" indent="-285750">
              <a:lnSpc>
                <a:spcPct val="100000"/>
              </a:lnSpc>
              <a:spcBef>
                <a:spcPts val="0"/>
              </a:spcBef>
              <a:buSzPts val="3000"/>
            </a:pPr>
            <a:r>
              <a:rPr lang="en-US" sz="1800" dirty="0">
                <a:latin typeface="Arial"/>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rial"/>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undefined">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Given that we know the constant rate of turn, we thus know where each pulse will be located radially and the distance returned. We can thus generate a </a:t>
                </a:r>
                <a:r>
                  <a:rPr lang="en-US" sz="1800" b="1" dirty="0">
                    <a:latin typeface="Arial"/>
                    <a:ea typeface="Arial"/>
                    <a:cs typeface="Arial"/>
                    <a:sym typeface="Arial"/>
                  </a:rPr>
                  <a:t>point cloud</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Wall Following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solidFill>
                  <a:schemeClr val="dk1"/>
                </a:solidFill>
                <a:latin typeface="Arial"/>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Hokuyo URG-04LX LADAR updates every 100 </a:t>
            </a:r>
            <a:r>
              <a:rPr lang="en-US" sz="2000" dirty="0" err="1">
                <a:latin typeface="Arial"/>
                <a:ea typeface="Arial"/>
                <a:cs typeface="Arial"/>
                <a:sym typeface="Arial"/>
              </a:rPr>
              <a:t>ms</a:t>
            </a:r>
            <a:r>
              <a:rPr lang="en-US" sz="2000" dirty="0">
                <a:latin typeface="Arial"/>
                <a:ea typeface="Arial"/>
                <a:cs typeface="Arial"/>
                <a:sym typeface="Arial"/>
              </a:rPr>
              <a:t> (10Hz), whereas the motor controllers require new voltage commands every 1 </a:t>
            </a:r>
            <a:r>
              <a:rPr lang="en-US" sz="2000" dirty="0" err="1">
                <a:latin typeface="Arial"/>
                <a:ea typeface="Arial"/>
                <a:cs typeface="Arial"/>
                <a:sym typeface="Arial"/>
              </a:rPr>
              <a:t>ms</a:t>
            </a:r>
            <a:r>
              <a:rPr lang="en-US" sz="2000" dirty="0">
                <a:latin typeface="Arial"/>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resolve this extreme timing discrepancy, we split the robot's logic into a Cascade Control architecture comprising an </a:t>
            </a:r>
            <a:r>
              <a:rPr lang="en-US" sz="2000" b="1" dirty="0">
                <a:latin typeface="Arial"/>
                <a:ea typeface="Arial"/>
                <a:cs typeface="Arial"/>
                <a:sym typeface="Arial"/>
              </a:rPr>
              <a:t>Inner Loop </a:t>
            </a:r>
            <a:r>
              <a:rPr lang="en-US" sz="2000" dirty="0">
                <a:latin typeface="Arial"/>
                <a:ea typeface="Arial"/>
                <a:cs typeface="Arial"/>
                <a:sym typeface="Arial"/>
              </a:rPr>
              <a:t>and an </a:t>
            </a:r>
            <a:r>
              <a:rPr lang="en-US" sz="2000" b="1" dirty="0">
                <a:latin typeface="Arial"/>
                <a:ea typeface="Arial"/>
                <a:cs typeface="Arial"/>
                <a:sym typeface="Arial"/>
              </a:rPr>
              <a:t>Outer Loop</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rial"/>
                <a:ea typeface="Arial"/>
                <a:cs typeface="Arial"/>
                <a:sym typeface="Arial"/>
              </a:rPr>
              <a:t>ms</a:t>
            </a:r>
            <a:r>
              <a:rPr lang="en-US" sz="2000" dirty="0">
                <a:latin typeface="Arial"/>
                <a:ea typeface="Arial"/>
                <a:cs typeface="Arial"/>
                <a:sym typeface="Arial"/>
              </a:rPr>
              <a:t> HWI to prevent motor stalling.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LADAR trigonometry takes 3.5 </a:t>
            </a:r>
            <a:r>
              <a:rPr lang="en-US" sz="2000" dirty="0" err="1">
                <a:latin typeface="Arial"/>
                <a:ea typeface="Arial"/>
                <a:cs typeface="Arial"/>
                <a:sym typeface="Arial"/>
              </a:rPr>
              <a:t>ms</a:t>
            </a:r>
            <a:r>
              <a:rPr lang="en-US" sz="2000" dirty="0">
                <a:latin typeface="Arial"/>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Inner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does the heavy lifting.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100 </a:t>
            </a:r>
            <a:r>
              <a:rPr lang="en-US" sz="2000" dirty="0" err="1">
                <a:latin typeface="Arial"/>
                <a:ea typeface="Arial"/>
                <a:cs typeface="Arial"/>
                <a:sym typeface="Arial"/>
              </a:rPr>
              <a:t>ms</a:t>
            </a:r>
            <a:r>
              <a:rPr lang="en-US" sz="2000" dirty="0">
                <a:latin typeface="Arial"/>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Outer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State Machine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rial"/>
                <a:ea typeface="Arial"/>
                <a:cs typeface="Arial"/>
                <a:sym typeface="Arial"/>
              </a:rPr>
              <a:t>State 1 (Wall Follow)</a:t>
            </a:r>
          </a:p>
          <a:p>
            <a:pPr marL="342900">
              <a:lnSpc>
                <a:spcPct val="100000"/>
              </a:lnSpc>
              <a:spcBef>
                <a:spcPts val="0"/>
              </a:spcBef>
              <a:buSzPts val="3000"/>
            </a:pPr>
            <a:r>
              <a:rPr lang="en-US" sz="2000" dirty="0">
                <a:latin typeface="Arial"/>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rial"/>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rial"/>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rial"/>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prevent this, we ensure a robust enough “</a:t>
                </a:r>
                <a:r>
                  <a:rPr lang="en-US" sz="2000" b="1" dirty="0">
                    <a:latin typeface="Arial"/>
                    <a:ea typeface="Arial"/>
                    <a:cs typeface="Arial"/>
                    <a:sym typeface="Arial"/>
                  </a:rPr>
                  <a:t>deadband / hysteresis</a:t>
                </a:r>
                <a:r>
                  <a:rPr lang="en-US" sz="2000" dirty="0">
                    <a:latin typeface="Arial"/>
                    <a:ea typeface="Arial"/>
                    <a:cs typeface="Arial"/>
                    <a:sym typeface="Arial"/>
                  </a:rPr>
                  <a:t>” zone into the transition boundaries.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a:t>
                </a:r>
                <a:r>
                  <a:rPr lang="en-US" sz="2000" b="1" dirty="0">
                    <a:latin typeface="Arial"/>
                    <a:ea typeface="Arial"/>
                    <a:cs typeface="Arial"/>
                    <a:sym typeface="Arial"/>
                  </a:rPr>
                  <a:t>deadband</a:t>
                </a:r>
                <a:r>
                  <a:rPr lang="en-US" sz="2000" dirty="0">
                    <a:latin typeface="Arial"/>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rial"/>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42" name="Picture 2" descr="undefin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Hysteresis </a:t>
            </a:r>
            <a:r>
              <a:rPr lang="en-US" sz="2000" dirty="0">
                <a:latin typeface="Arial"/>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Mechatronics Example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Uses everything that we do as well!</a:t>
            </a:r>
          </a:p>
          <a:p>
            <a:pPr marL="342900">
              <a:lnSpc>
                <a:spcPct val="100000"/>
              </a:lnSpc>
              <a:spcBef>
                <a:spcPts val="0"/>
              </a:spcBef>
              <a:buSzPts val="3000"/>
            </a:pPr>
            <a:r>
              <a:rPr lang="en-US" sz="2400" dirty="0">
                <a:latin typeface="Arial"/>
                <a:ea typeface="Arial"/>
                <a:cs typeface="Arial"/>
                <a:sym typeface="Arial"/>
              </a:rPr>
              <a:t>IR Sensor</a:t>
            </a:r>
          </a:p>
          <a:p>
            <a:pPr marL="342900">
              <a:lnSpc>
                <a:spcPct val="100000"/>
              </a:lnSpc>
              <a:spcBef>
                <a:spcPts val="0"/>
              </a:spcBef>
              <a:buSzPts val="3000"/>
            </a:pPr>
            <a:r>
              <a:rPr lang="en-US" sz="2400" dirty="0">
                <a:solidFill>
                  <a:schemeClr val="dk1"/>
                </a:solidFill>
                <a:latin typeface="Arial"/>
                <a:ea typeface="Arial"/>
                <a:cs typeface="Arial"/>
                <a:sym typeface="Arial"/>
              </a:rPr>
              <a:t>Gyroscope</a:t>
            </a:r>
          </a:p>
          <a:p>
            <a:pPr marL="342900">
              <a:lnSpc>
                <a:spcPct val="100000"/>
              </a:lnSpc>
              <a:spcBef>
                <a:spcPts val="0"/>
              </a:spcBef>
              <a:buSzPts val="3000"/>
            </a:pPr>
            <a:r>
              <a:rPr lang="en-US" sz="2400" dirty="0">
                <a:latin typeface="Arial"/>
                <a:ea typeface="Arial"/>
                <a:cs typeface="Arial"/>
                <a:sym typeface="Arial"/>
              </a:rPr>
              <a:t>Encoders</a:t>
            </a:r>
          </a:p>
          <a:p>
            <a:pPr marL="342900">
              <a:lnSpc>
                <a:spcPct val="100000"/>
              </a:lnSpc>
              <a:spcBef>
                <a:spcPts val="0"/>
              </a:spcBef>
              <a:buSzPts val="3000"/>
            </a:pPr>
            <a:r>
              <a:rPr lang="en-US" sz="2400" dirty="0">
                <a:solidFill>
                  <a:schemeClr val="dk1"/>
                </a:solidFill>
                <a:latin typeface="Arial"/>
                <a:ea typeface="Arial"/>
                <a:cs typeface="Arial"/>
                <a:sym typeface="Arial"/>
              </a:rPr>
              <a:t>DC motors</a:t>
            </a:r>
          </a:p>
          <a:p>
            <a:pPr marL="342900">
              <a:lnSpc>
                <a:spcPct val="100000"/>
              </a:lnSpc>
              <a:spcBef>
                <a:spcPts val="0"/>
              </a:spcBef>
              <a:buSzPts val="3000"/>
            </a:pPr>
            <a:r>
              <a:rPr lang="en-US" sz="2400" dirty="0">
                <a:latin typeface="Arial"/>
                <a:ea typeface="Arial"/>
                <a:cs typeface="Arial"/>
                <a:sym typeface="Arial"/>
              </a:rPr>
              <a:t>Micro-controllers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r>
              <a:rPr lang="en-US" sz="2400" dirty="0">
                <a:latin typeface="Arial"/>
                <a:ea typeface="Arial"/>
                <a:cs typeface="Arial"/>
                <a:sym typeface="Arial"/>
              </a:rPr>
              <a:t>The some of the code can be found </a:t>
            </a:r>
            <a:r>
              <a:rPr lang="en-US" sz="2400" dirty="0">
                <a:latin typeface="Arial"/>
                <a:ea typeface="Arial"/>
                <a:cs typeface="Arial"/>
                <a:sym typeface="Arial"/>
                <a:hlinkClick r:id="rId3"/>
              </a:rPr>
              <a:t>here</a:t>
            </a:r>
            <a:r>
              <a:rPr lang="en-US" sz="2400" dirty="0">
                <a:latin typeface="Arial"/>
                <a:ea typeface="Arial"/>
                <a:cs typeface="Arial"/>
                <a:sym typeface="Arial"/>
              </a:rPr>
              <a:t>.</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The Fastest Maze-Solving Competition On Earth">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3022</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232</cp:revision>
  <dcterms:created xsi:type="dcterms:W3CDTF">2019-01-14T22:06:33Z</dcterms:created>
  <dcterms:modified xsi:type="dcterms:W3CDTF">2026-03-09T13:10:12Z</dcterms:modified>
</cp:coreProperties>
</file>