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My name is Marius Juston, a PhD candidate in the ISE program. You can call me Marius or Professor, whichever you prefer!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class will be different from others you might have had, with a lot of learning-by-doing. In the lab and in homework,</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rial"/>
                <a:ea typeface="Arial"/>
                <a:cs typeface="Arial"/>
                <a:sym typeface="Arial"/>
              </a:rPr>
              <a:t>SE 423: Introduction to Mechatronics</a:t>
            </a:r>
            <a:endParaRPr sz="4500" b="0" i="0" u="none" strike="noStrike" cap="none" dirty="0">
              <a:solidFill>
                <a:srgbClr val="000000"/>
              </a:solidFill>
              <a:latin typeface="Arial"/>
              <a:ea typeface="Arial"/>
              <a:cs typeface="Arial"/>
              <a:sym typeface="Arial"/>
            </a:endParaRPr>
          </a:p>
          <a:p>
            <a:pPr marL="0" marR="0" lvl="0" indent="0" algn="ctr" rtl="0">
              <a:lnSpc>
                <a:spcPct val="100000"/>
              </a:lnSpc>
              <a:spcBef>
                <a:spcPts val="600"/>
              </a:spcBef>
              <a:spcAft>
                <a:spcPts val="0"/>
              </a:spcAft>
              <a:buNone/>
            </a:pPr>
            <a:r>
              <a:rPr lang="en-US" sz="2500" dirty="0">
                <a:solidFill>
                  <a:schemeClr val="lt1"/>
                </a:solidFill>
              </a:rPr>
              <a:t>Lecture 1: Introduction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a:t>
            </a:r>
            <a:r>
              <a:rPr lang="en-US" sz="1800" b="0" i="0" u="none" strike="noStrike" cap="none">
                <a:solidFill>
                  <a:schemeClr val="lt1"/>
                </a:solidFill>
                <a:latin typeface="Arial"/>
                <a:ea typeface="Arial"/>
                <a:cs typeface="Arial"/>
                <a:sym typeface="Arial"/>
              </a:rPr>
              <a:t>January 21</a:t>
            </a:r>
            <a:r>
              <a:rPr lang="en-US" sz="1800" b="0" i="0" u="none" strike="noStrike" cap="none" baseline="30000">
                <a:solidFill>
                  <a:schemeClr val="lt1"/>
                </a:solidFill>
                <a:latin typeface="Arial"/>
                <a:ea typeface="Arial"/>
                <a:cs typeface="Arial"/>
                <a:sym typeface="Arial"/>
              </a:rPr>
              <a:t>th</a:t>
            </a:r>
            <a:r>
              <a:rPr lang="en-US" sz="1800" b="0" i="0" u="none" strike="noStrike" cap="none">
                <a:solidFill>
                  <a:schemeClr val="lt1"/>
                </a:solidFill>
                <a:latin typeface="Arial"/>
                <a:ea typeface="Arial"/>
                <a:cs typeface="Arial"/>
                <a:sym typeface="Arial"/>
              </a:rPr>
              <a:t>, </a:t>
            </a:r>
            <a:r>
              <a:rPr lang="en-US" sz="1800" b="0" i="0" u="none" strike="noStrike" cap="none" dirty="0">
                <a:solidFill>
                  <a:schemeClr val="lt1"/>
                </a:solidFill>
                <a:latin typeface="Arial"/>
                <a:ea typeface="Arial"/>
                <a:cs typeface="Arial"/>
                <a:sym typeface="Arial"/>
              </a:rPr>
              <a:t>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rial"/>
                <a:ea typeface="Arial"/>
                <a:cs typeface="Arial"/>
                <a:sym typeface="Arial"/>
              </a:rPr>
              <a:t>Lectures: </a:t>
            </a:r>
            <a:r>
              <a:rPr lang="en-US" sz="2000" dirty="0">
                <a:solidFill>
                  <a:schemeClr val="tx1"/>
                </a:solidFill>
                <a:latin typeface="Arial"/>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2000" b="1" dirty="0">
                <a:latin typeface="Arial"/>
                <a:ea typeface="Arial"/>
                <a:cs typeface="Arial"/>
                <a:sym typeface="Arial"/>
              </a:rPr>
              <a:t>Locations: </a:t>
            </a:r>
          </a:p>
          <a:p>
            <a:pPr marL="285750" indent="-285750">
              <a:lnSpc>
                <a:spcPct val="100000"/>
              </a:lnSpc>
              <a:spcBef>
                <a:spcPts val="0"/>
              </a:spcBef>
              <a:buSzPts val="2000"/>
            </a:pPr>
            <a:r>
              <a:rPr lang="en-US" sz="2000" b="1" dirty="0">
                <a:latin typeface="Arial"/>
                <a:ea typeface="Arial"/>
                <a:cs typeface="Arial"/>
                <a:sym typeface="Arial"/>
              </a:rPr>
              <a:t>Lecture: </a:t>
            </a:r>
            <a:r>
              <a:rPr lang="en-US" sz="2000" dirty="0">
                <a:latin typeface="Arial"/>
                <a:ea typeface="Arial"/>
                <a:cs typeface="Arial"/>
                <a:sym typeface="Arial"/>
              </a:rPr>
              <a:t>Here!</a:t>
            </a:r>
          </a:p>
          <a:p>
            <a:pPr marL="285750" indent="-285750">
              <a:lnSpc>
                <a:spcPct val="100000"/>
              </a:lnSpc>
              <a:spcBef>
                <a:spcPts val="0"/>
              </a:spcBef>
              <a:buSzPts val="2000"/>
            </a:pPr>
            <a:r>
              <a:rPr lang="en-US" sz="2000" b="1" dirty="0">
                <a:latin typeface="Arial"/>
                <a:ea typeface="Arial"/>
                <a:cs typeface="Arial"/>
                <a:sym typeface="Arial"/>
              </a:rPr>
              <a:t>Lab: </a:t>
            </a:r>
            <a:r>
              <a:rPr lang="en-US" sz="2000" dirty="0">
                <a:latin typeface="Arial"/>
                <a:ea typeface="Arial"/>
                <a:cs typeface="Arial"/>
                <a:sym typeface="Arial"/>
              </a:rPr>
              <a:t>ECEB 3080</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The Team:</a:t>
            </a:r>
          </a:p>
          <a:p>
            <a:pPr marL="285750" indent="-285750">
              <a:lnSpc>
                <a:spcPct val="100000"/>
              </a:lnSpc>
              <a:spcBef>
                <a:spcPts val="0"/>
              </a:spcBef>
              <a:buSzPts val="2000"/>
            </a:pPr>
            <a:r>
              <a:rPr lang="en-US" sz="2000" b="1" dirty="0">
                <a:latin typeface="Arial"/>
                <a:cs typeface="Arial"/>
                <a:sym typeface="Arial"/>
              </a:rPr>
              <a:t>Marius Juston: </a:t>
            </a:r>
            <a:r>
              <a:rPr lang="en-US" sz="2000" dirty="0">
                <a:latin typeface="Arial"/>
                <a:cs typeface="Arial"/>
                <a:sym typeface="Arial"/>
              </a:rPr>
              <a:t>Instructor</a:t>
            </a:r>
          </a:p>
          <a:p>
            <a:pPr marL="285750" indent="-285750">
              <a:lnSpc>
                <a:spcPct val="100000"/>
              </a:lnSpc>
              <a:spcBef>
                <a:spcPts val="0"/>
              </a:spcBef>
              <a:buSzPts val="2000"/>
            </a:pPr>
            <a:r>
              <a:rPr lang="en-US" sz="2000" b="1" dirty="0">
                <a:latin typeface="Arial"/>
                <a:cs typeface="Arial"/>
                <a:sym typeface="Arial"/>
              </a:rPr>
              <a:t>Dan Block: </a:t>
            </a:r>
            <a:r>
              <a:rPr lang="en-US" sz="2000" dirty="0">
                <a:latin typeface="Arial"/>
                <a:cs typeface="Arial"/>
                <a:sym typeface="Arial"/>
              </a:rPr>
              <a:t>Lab Instructor</a:t>
            </a:r>
          </a:p>
          <a:p>
            <a:pPr marL="285750" indent="-285750">
              <a:lnSpc>
                <a:spcPct val="100000"/>
              </a:lnSpc>
              <a:spcBef>
                <a:spcPts val="0"/>
              </a:spcBef>
              <a:buSzPts val="2000"/>
            </a:pPr>
            <a:r>
              <a:rPr lang="en-US" sz="2000" b="1" dirty="0">
                <a:latin typeface="Arial"/>
                <a:cs typeface="Arial"/>
                <a:sym typeface="Arial"/>
              </a:rPr>
              <a:t>Lakshmi Manoj: </a:t>
            </a:r>
            <a:r>
              <a:rPr lang="en-US" sz="2000" dirty="0">
                <a:latin typeface="Arial"/>
                <a:cs typeface="Arial"/>
                <a:sym typeface="Arial"/>
              </a:rPr>
              <a:t>TA</a:t>
            </a:r>
          </a:p>
          <a:p>
            <a:pPr marL="285750" indent="-285750">
              <a:lnSpc>
                <a:spcPct val="100000"/>
              </a:lnSpc>
              <a:spcBef>
                <a:spcPts val="0"/>
              </a:spcBef>
              <a:buSzPts val="2000"/>
            </a:pPr>
            <a:r>
              <a:rPr lang="en-US" sz="2000" b="1" dirty="0">
                <a:latin typeface="Arial"/>
                <a:cs typeface="Arial"/>
                <a:sym typeface="Arial"/>
              </a:rPr>
              <a:t>Samuel Folorunsho</a:t>
            </a:r>
            <a:r>
              <a:rPr lang="en-US" sz="2000" dirty="0">
                <a:latin typeface="Arial"/>
                <a:cs typeface="Arial"/>
                <a:sym typeface="Arial"/>
              </a:rPr>
              <a:t>: TA</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Office hours: </a:t>
            </a:r>
            <a:r>
              <a:rPr lang="en-US" sz="2000" dirty="0">
                <a:latin typeface="Arial"/>
                <a:cs typeface="Arial"/>
                <a:sym typeface="Arial"/>
              </a:rPr>
              <a:t>announced and posted on Canvas when finalized.</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Recordings: </a:t>
            </a:r>
            <a:r>
              <a:rPr lang="en-US" sz="2000" dirty="0">
                <a:latin typeface="Arial"/>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Course Information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Picture 3">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rial"/>
                <a:cs typeface="Arial"/>
                <a:sym typeface="Arial"/>
              </a:rPr>
              <a:t>Canvas: </a:t>
            </a:r>
            <a:r>
              <a:rPr lang="en-US" sz="2000" dirty="0">
                <a:latin typeface="Arial"/>
                <a:cs typeface="Arial"/>
                <a:sym typeface="Arial"/>
                <a:hlinkClick r:id="rId3"/>
              </a:rPr>
              <a:t>https://canvas.illinois.edu/courses/64094</a:t>
            </a:r>
            <a:endParaRPr lang="en-US" sz="2000" dirty="0">
              <a:latin typeface="Arial"/>
              <a:cs typeface="Arial"/>
              <a:sym typeface="Arial"/>
            </a:endParaRPr>
          </a:p>
          <a:p>
            <a:pPr marL="342900">
              <a:lnSpc>
                <a:spcPct val="100000"/>
              </a:lnSpc>
              <a:spcBef>
                <a:spcPts val="0"/>
              </a:spcBef>
              <a:buSzPts val="2000"/>
            </a:pPr>
            <a:r>
              <a:rPr lang="en-US" sz="2000" dirty="0">
                <a:latin typeface="Arial"/>
                <a:cs typeface="Arial"/>
                <a:sym typeface="Arial"/>
              </a:rPr>
              <a:t>Will post the lecture slides</a:t>
            </a:r>
          </a:p>
          <a:p>
            <a:pPr marL="342900">
              <a:lnSpc>
                <a:spcPct val="100000"/>
              </a:lnSpc>
              <a:spcBef>
                <a:spcPts val="0"/>
              </a:spcBef>
              <a:buSzPts val="2000"/>
            </a:pPr>
            <a:endParaRPr lang="en-US" sz="2000" dirty="0">
              <a:latin typeface="Arial"/>
              <a:cs typeface="Arial"/>
              <a:sym typeface="Arial"/>
            </a:endParaRPr>
          </a:p>
          <a:p>
            <a:pPr marL="0" indent="0">
              <a:lnSpc>
                <a:spcPct val="100000"/>
              </a:lnSpc>
              <a:spcBef>
                <a:spcPts val="0"/>
              </a:spcBef>
              <a:buSzPts val="2000"/>
              <a:buNone/>
            </a:pPr>
            <a:r>
              <a:rPr lang="en-US" sz="2000" b="1" dirty="0" err="1">
                <a:latin typeface="Arial"/>
                <a:cs typeface="Arial"/>
                <a:sym typeface="Arial"/>
              </a:rPr>
              <a:t>Gradescope</a:t>
            </a:r>
            <a:r>
              <a:rPr lang="en-US" sz="2000" b="1" dirty="0">
                <a:latin typeface="Arial"/>
                <a:cs typeface="Arial"/>
                <a:sym typeface="Arial"/>
              </a:rPr>
              <a:t>:</a:t>
            </a:r>
            <a:r>
              <a:rPr lang="en-US" sz="2000" dirty="0">
                <a:latin typeface="Arial"/>
                <a:cs typeface="Arial"/>
                <a:sym typeface="Arial"/>
              </a:rPr>
              <a:t> </a:t>
            </a:r>
            <a:r>
              <a:rPr lang="en-US" sz="2000" dirty="0">
                <a:latin typeface="Arial"/>
                <a:cs typeface="Arial"/>
                <a:sym typeface="Arial"/>
                <a:hlinkClick r:id="rId4"/>
              </a:rPr>
              <a:t>https://www.gradescope.com/courses/1232277</a:t>
            </a:r>
            <a:r>
              <a:rPr lang="en-US" sz="2000" dirty="0">
                <a:latin typeface="Arial"/>
                <a:cs typeface="Arial"/>
                <a:sym typeface="Arial"/>
              </a:rPr>
              <a:t> </a:t>
            </a:r>
          </a:p>
          <a:p>
            <a:pPr marL="342900">
              <a:lnSpc>
                <a:spcPct val="100000"/>
              </a:lnSpc>
              <a:spcBef>
                <a:spcPts val="0"/>
              </a:spcBef>
              <a:buSzPts val="2000"/>
            </a:pPr>
            <a:r>
              <a:rPr lang="en-US" sz="2000" dirty="0">
                <a:latin typeface="Arial"/>
                <a:cs typeface="Arial"/>
                <a:sym typeface="Arial"/>
              </a:rPr>
              <a:t>Should have already been automatically enrolled.</a:t>
            </a:r>
          </a:p>
          <a:p>
            <a:pPr marL="0" indent="0">
              <a:lnSpc>
                <a:spcPct val="100000"/>
              </a:lnSpc>
              <a:spcBef>
                <a:spcPts val="0"/>
              </a:spcBef>
              <a:buSzPts val="2000"/>
              <a:buNone/>
            </a:pPr>
            <a:endParaRPr lang="en-US" sz="2000" b="1"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Recordings: </a:t>
            </a:r>
            <a:r>
              <a:rPr lang="en-US" sz="2000" dirty="0">
                <a:latin typeface="Arial"/>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Most important link: </a:t>
            </a:r>
            <a:r>
              <a:rPr lang="en-US" sz="2000" dirty="0">
                <a:latin typeface="Arial"/>
                <a:cs typeface="Arial"/>
                <a:sym typeface="Arial"/>
                <a:hlinkClick r:id="rId5"/>
              </a:rPr>
              <a:t>https://coecsl.ece.illinois.edu/se423/</a:t>
            </a:r>
            <a:endParaRPr lang="en-US" sz="2000" dirty="0">
              <a:latin typeface="Arial"/>
              <a:cs typeface="Arial"/>
              <a:sym typeface="Arial"/>
            </a:endParaRPr>
          </a:p>
          <a:p>
            <a:pPr marL="342900">
              <a:lnSpc>
                <a:spcPct val="100000"/>
              </a:lnSpc>
              <a:spcBef>
                <a:spcPts val="0"/>
              </a:spcBef>
              <a:buSzPts val="2000"/>
            </a:pPr>
            <a:r>
              <a:rPr lang="en-US" sz="2000" dirty="0">
                <a:latin typeface="Arial"/>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Converted documents in LaTeX</a:t>
            </a:r>
            <a:r>
              <a:rPr lang="en-US" sz="2000" dirty="0">
                <a:latin typeface="Arial"/>
                <a:cs typeface="Arial"/>
                <a:sym typeface="Arial"/>
              </a:rPr>
              <a:t>:</a:t>
            </a:r>
          </a:p>
          <a:p>
            <a:pPr marL="342900">
              <a:lnSpc>
                <a:spcPct val="100000"/>
              </a:lnSpc>
              <a:spcBef>
                <a:spcPts val="0"/>
              </a:spcBef>
              <a:buSzPts val="2000"/>
            </a:pPr>
            <a:r>
              <a:rPr lang="en-US" sz="2000" dirty="0">
                <a:latin typeface="Arial"/>
                <a:cs typeface="Arial"/>
                <a:sym typeface="Arial"/>
              </a:rPr>
              <a:t>Compiled PDFs: </a:t>
            </a:r>
            <a:r>
              <a:rPr lang="en-US" sz="2000" dirty="0">
                <a:latin typeface="Arial"/>
                <a:cs typeface="Arial"/>
                <a:sym typeface="Arial"/>
                <a:hlinkClick r:id="rId6"/>
              </a:rPr>
              <a:t>https://marius-juston.github.io/SE-423---Class-Material/</a:t>
            </a:r>
            <a:r>
              <a:rPr lang="en-US" sz="2000" dirty="0">
                <a:latin typeface="Arial"/>
                <a:cs typeface="Arial"/>
                <a:sym typeface="Arial"/>
              </a:rPr>
              <a:t> </a:t>
            </a:r>
          </a:p>
          <a:p>
            <a:pPr marL="342900">
              <a:lnSpc>
                <a:spcPct val="100000"/>
              </a:lnSpc>
              <a:spcBef>
                <a:spcPts val="0"/>
              </a:spcBef>
              <a:buSzPts val="2000"/>
            </a:pPr>
            <a:r>
              <a:rPr lang="en-US" sz="2000" dirty="0">
                <a:latin typeface="Arial"/>
                <a:cs typeface="Arial"/>
                <a:sym typeface="Arial"/>
              </a:rPr>
              <a:t>Raw LaTeX: </a:t>
            </a:r>
            <a:r>
              <a:rPr lang="en-US" sz="2000" dirty="0">
                <a:latin typeface="Arial"/>
                <a:cs typeface="Arial"/>
                <a:sym typeface="Arial"/>
                <a:hlinkClick r:id="rId7"/>
              </a:rPr>
              <a:t>https://github.com/Marius-Juston/SE-423---Class-Material</a:t>
            </a:r>
            <a:r>
              <a:rPr lang="en-US" sz="2000" dirty="0">
                <a:latin typeface="Arial"/>
                <a:cs typeface="Arial"/>
                <a:sym typeface="Arial"/>
              </a:rPr>
              <a:t> </a:t>
            </a:r>
          </a:p>
          <a:p>
            <a:pPr marL="342900">
              <a:lnSpc>
                <a:spcPct val="100000"/>
              </a:lnSpc>
              <a:spcBef>
                <a:spcPts val="0"/>
              </a:spcBef>
              <a:buSzPts val="2000"/>
            </a:pPr>
            <a:endParaRPr lang="en-US" sz="2000" dirty="0">
              <a:latin typeface="Arial"/>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Course Information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rial"/>
                <a:cs typeface="Arial"/>
                <a:sym typeface="Arial"/>
              </a:rPr>
              <a:t>Syllabus: </a:t>
            </a:r>
            <a:r>
              <a:rPr lang="en-US" sz="2000" dirty="0">
                <a:latin typeface="Arial"/>
                <a:cs typeface="Arial"/>
                <a:sym typeface="Arial"/>
              </a:rPr>
              <a:t>see course website</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b="1" dirty="0">
                <a:latin typeface="Arial"/>
                <a:cs typeface="Arial"/>
                <a:sym typeface="Arial"/>
              </a:rPr>
              <a:t>Course deliverables:</a:t>
            </a:r>
          </a:p>
          <a:p>
            <a:pPr marL="342900">
              <a:lnSpc>
                <a:spcPct val="100000"/>
              </a:lnSpc>
              <a:spcBef>
                <a:spcPts val="0"/>
              </a:spcBef>
              <a:buSzPts val="2000"/>
            </a:pPr>
            <a:r>
              <a:rPr lang="en-US" sz="2000" dirty="0">
                <a:latin typeface="Arial"/>
                <a:cs typeface="Arial"/>
                <a:sym typeface="Arial"/>
              </a:rPr>
              <a:t>Check-off on all labs 30%</a:t>
            </a:r>
          </a:p>
          <a:p>
            <a:pPr marL="342900">
              <a:lnSpc>
                <a:spcPct val="100000"/>
              </a:lnSpc>
              <a:spcBef>
                <a:spcPts val="0"/>
              </a:spcBef>
              <a:buSzPts val="2000"/>
            </a:pPr>
            <a:r>
              <a:rPr lang="en-US" sz="2000" dirty="0">
                <a:latin typeface="Arial"/>
                <a:cs typeface="Arial"/>
                <a:sym typeface="Arial"/>
              </a:rPr>
              <a:t>Homework 25%</a:t>
            </a:r>
          </a:p>
          <a:p>
            <a:pPr marL="342900">
              <a:lnSpc>
                <a:spcPct val="100000"/>
              </a:lnSpc>
              <a:spcBef>
                <a:spcPts val="0"/>
              </a:spcBef>
              <a:buSzPts val="2000"/>
            </a:pPr>
            <a:r>
              <a:rPr lang="en-US" sz="2000" dirty="0">
                <a:latin typeface="Arial"/>
                <a:cs typeface="Arial"/>
                <a:sym typeface="Arial"/>
              </a:rPr>
              <a:t>LabVIEW Assignments 5%</a:t>
            </a:r>
          </a:p>
          <a:p>
            <a:pPr marL="342900">
              <a:lnSpc>
                <a:spcPct val="100000"/>
              </a:lnSpc>
              <a:spcBef>
                <a:spcPts val="0"/>
              </a:spcBef>
              <a:buSzPts val="2000"/>
            </a:pPr>
            <a:r>
              <a:rPr lang="en-US" sz="2000" dirty="0">
                <a:latin typeface="Arial"/>
                <a:cs typeface="Arial"/>
                <a:sym typeface="Arial"/>
              </a:rPr>
              <a:t>Quizzes 5%</a:t>
            </a:r>
          </a:p>
          <a:p>
            <a:pPr marL="342900">
              <a:lnSpc>
                <a:spcPct val="100000"/>
              </a:lnSpc>
              <a:spcBef>
                <a:spcPts val="0"/>
              </a:spcBef>
              <a:buSzPts val="2000"/>
            </a:pPr>
            <a:r>
              <a:rPr lang="en-US" sz="2000" dirty="0">
                <a:latin typeface="Arial"/>
                <a:cs typeface="Arial"/>
                <a:sym typeface="Arial"/>
              </a:rPr>
              <a:t>Semester Project 35%</a:t>
            </a: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endParaRPr lang="en-US" sz="2000" dirty="0">
              <a:latin typeface="Arial"/>
              <a:cs typeface="Arial"/>
              <a:sym typeface="Arial"/>
            </a:endParaRPr>
          </a:p>
          <a:p>
            <a:pPr marL="0" indent="0">
              <a:lnSpc>
                <a:spcPct val="100000"/>
              </a:lnSpc>
              <a:spcBef>
                <a:spcPts val="0"/>
              </a:spcBef>
              <a:buSzPts val="2000"/>
              <a:buNone/>
            </a:pPr>
            <a:r>
              <a:rPr lang="en-US" sz="2000" dirty="0">
                <a:latin typeface="Arial"/>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Syllabus and evaluation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rial"/>
                <a:cs typeface="Arial"/>
                <a:sym typeface="Arial"/>
              </a:rPr>
              <a:t>Very different from others you might have had, learn-by-doing!</a:t>
            </a:r>
          </a:p>
          <a:p>
            <a:pPr marL="285750" indent="-285750">
              <a:lnSpc>
                <a:spcPct val="100000"/>
              </a:lnSpc>
              <a:spcBef>
                <a:spcPts val="0"/>
              </a:spcBef>
              <a:buSzPts val="2000"/>
            </a:pPr>
            <a:r>
              <a:rPr lang="en-US" sz="2000" dirty="0">
                <a:latin typeface="Arial"/>
                <a:cs typeface="Arial"/>
                <a:sym typeface="Arial"/>
              </a:rPr>
              <a:t>No “hard” theory being taught.</a:t>
            </a:r>
          </a:p>
          <a:p>
            <a:pPr marL="285750" indent="-285750">
              <a:lnSpc>
                <a:spcPct val="100000"/>
              </a:lnSpc>
              <a:spcBef>
                <a:spcPts val="0"/>
              </a:spcBef>
              <a:buSzPts val="2000"/>
            </a:pPr>
            <a:endParaRPr lang="en-US" sz="20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You will start immediately, with lab this week.</a:t>
            </a:r>
          </a:p>
          <a:p>
            <a:pPr marL="285750" indent="-285750">
              <a:lnSpc>
                <a:spcPct val="100000"/>
              </a:lnSpc>
              <a:spcBef>
                <a:spcPts val="0"/>
              </a:spcBef>
              <a:buSzPts val="2000"/>
            </a:pPr>
            <a:r>
              <a:rPr lang="en-US" sz="2000" dirty="0">
                <a:latin typeface="Arial"/>
                <a:cs typeface="Arial"/>
                <a:sym typeface="Arial"/>
              </a:rPr>
              <a:t>Working on some soldering and setting up your HW board!</a:t>
            </a:r>
          </a:p>
          <a:p>
            <a:pPr marL="0" indent="0">
              <a:lnSpc>
                <a:spcPct val="100000"/>
              </a:lnSpc>
              <a:spcBef>
                <a:spcPts val="0"/>
              </a:spcBef>
              <a:buSzPts val="2000"/>
              <a:buNone/>
            </a:pPr>
            <a:endParaRPr lang="en-US" sz="20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Intro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The “Red Board”</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rial"/>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C Programming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rial"/>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You will not be taught C, you will have to learn by yourself</a:t>
            </a:r>
          </a:p>
          <a:p>
            <a:pPr marL="0" indent="0">
              <a:lnSpc>
                <a:spcPct val="100000"/>
              </a:lnSpc>
              <a:spcBef>
                <a:spcPts val="0"/>
              </a:spcBef>
              <a:buSzPts val="2000"/>
              <a:buNone/>
            </a:pPr>
            <a:endParaRPr lang="en-US" sz="20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This week you will not be doing C programming</a:t>
            </a:r>
          </a:p>
          <a:p>
            <a:pPr marL="742950" lvl="1" indent="-285750">
              <a:lnSpc>
                <a:spcPct val="100000"/>
              </a:lnSpc>
              <a:spcBef>
                <a:spcPts val="0"/>
              </a:spcBef>
              <a:buSzPts val="2000"/>
            </a:pPr>
            <a:r>
              <a:rPr lang="en-US" sz="1600" dirty="0">
                <a:latin typeface="Arial"/>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You will not be doing anything complicated in the language</a:t>
            </a:r>
          </a:p>
          <a:p>
            <a:pPr marL="742950" lvl="1" indent="-285750">
              <a:lnSpc>
                <a:spcPct val="100000"/>
              </a:lnSpc>
              <a:spcBef>
                <a:spcPts val="0"/>
              </a:spcBef>
              <a:buSzPts val="2000"/>
            </a:pPr>
            <a:r>
              <a:rPr lang="en-US" sz="1600" dirty="0">
                <a:latin typeface="Arial"/>
                <a:cs typeface="Arial"/>
                <a:sym typeface="Arial"/>
              </a:rPr>
              <a:t>minimal pointers usage</a:t>
            </a:r>
          </a:p>
          <a:p>
            <a:pPr marL="742950" lvl="1" indent="-285750">
              <a:lnSpc>
                <a:spcPct val="100000"/>
              </a:lnSpc>
              <a:spcBef>
                <a:spcPts val="0"/>
              </a:spcBef>
              <a:buSzPts val="2000"/>
            </a:pPr>
            <a:r>
              <a:rPr lang="en-US" sz="1600" dirty="0">
                <a:latin typeface="Arial"/>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rial"/>
              <a:cs typeface="Arial"/>
              <a:sym typeface="Arial"/>
            </a:endParaRPr>
          </a:p>
          <a:p>
            <a:pPr marL="285750" indent="-285750">
              <a:lnSpc>
                <a:spcPct val="100000"/>
              </a:lnSpc>
              <a:spcBef>
                <a:spcPts val="0"/>
              </a:spcBef>
              <a:buSzPts val="2000"/>
            </a:pPr>
            <a:r>
              <a:rPr lang="en-US" sz="2000" dirty="0">
                <a:latin typeface="Arial"/>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C Programming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Goal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Goal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AI Content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The first lab</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Homework 1</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LabVIEW Assignments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Check-offs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Code Submissions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Git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124" name="Picture 4" descr="GitHub - shahzaneer/Git-and-Github-Fundamentals: All about Git Version  Controlling System and GitHub the web based git-repositories hosting  platform">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Submission Deadline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The Class – Next Steps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rial"/>
                <a:ea typeface="Arial"/>
                <a:cs typeface="Arial"/>
                <a:sym typeface="Arial"/>
              </a:rPr>
              <a:t>Questions</a:t>
            </a:r>
            <a:r>
              <a:rPr lang="en-US" sz="5400" b="1" dirty="0">
                <a:solidFill>
                  <a:schemeClr val="lt1"/>
                </a:solidFill>
              </a:rPr>
              <a:t>?</a:t>
            </a:r>
          </a:p>
          <a:p>
            <a:pPr marL="0" marR="0" lvl="0" indent="0" algn="ctr" rtl="0">
              <a:lnSpc>
                <a:spcPct val="100000"/>
              </a:lnSpc>
              <a:spcBef>
                <a:spcPts val="0"/>
              </a:spcBef>
              <a:spcAft>
                <a:spcPts val="0"/>
              </a:spcAft>
              <a:buNone/>
            </a:pPr>
            <a:endParaRPr lang="en-US" sz="1800" b="1" dirty="0">
              <a:solidFill>
                <a:schemeClr val="lt1"/>
              </a:solidFill>
            </a:endParaRPr>
          </a:p>
          <a:p>
            <a:pPr marL="0" marR="0" lvl="0" indent="0" algn="ctr" rtl="0">
              <a:lnSpc>
                <a:spcPct val="100000"/>
              </a:lnSpc>
              <a:spcBef>
                <a:spcPts val="0"/>
              </a:spcBef>
              <a:spcAft>
                <a:spcPts val="0"/>
              </a:spcAft>
              <a:buNone/>
            </a:pPr>
            <a:r>
              <a:rPr lang="en-US" sz="1800" dirty="0">
                <a:solidFill>
                  <a:schemeClr val="lt1"/>
                </a:solidFill>
              </a:rPr>
              <a:t>(Students that have been unable to register, come talk to me after class)</a:t>
            </a: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