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259" r:id="rId3"/>
    <p:sldId id="275" r:id="rId4"/>
    <p:sldId id="276" r:id="rId5"/>
    <p:sldId id="272" r:id="rId6"/>
    <p:sldId id="273" r:id="rId7"/>
    <p:sldId id="277" r:id="rId8"/>
    <p:sldId id="271" r:id="rId9"/>
    <p:sldId id="274" r:id="rId10"/>
    <p:sldId id="278" r:id="rId11"/>
    <p:sldId id="279" r:id="rId12"/>
    <p:sldId id="280" r:id="rId13"/>
    <p:sldId id="281" r:id="rId14"/>
    <p:sldId id="282" r:id="rId15"/>
    <p:sldId id="283" r:id="rId16"/>
    <p:sldId id="284" r:id="rId17"/>
    <p:sldId id="287" r:id="rId18"/>
    <p:sldId id="286" r:id="rId19"/>
    <p:sldId id="285" r:id="rId20"/>
    <p:sldId id="269" r:id="rId21"/>
    <p:sldId id="270"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811" autoAdjust="0"/>
  </p:normalViewPr>
  <p:slideViewPr>
    <p:cSldViewPr snapToGrid="0">
      <p:cViewPr varScale="1">
        <p:scale>
          <a:sx n="133" d="100"/>
          <a:sy n="133" d="100"/>
        </p:scale>
        <p:origin x="133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title slide shows the University of Illinois Urbana-Champaign logo above the course title, SE 423: Introduction to Mechatronics, Lecture 1: Introduction, by Marius Juston, dated Wednesday January 21, 2026. The dark blue background has faint chalkboard-style sketches of equations and diagrams.</a:t>
            </a:r>
          </a:p>
          <a:p>
            <a:pPr marL="0" lvl="0" indent="0" algn="l" rtl="0">
              <a:spcBef>
                <a:spcPts val="0"/>
              </a:spcBef>
              <a:spcAft>
                <a:spcPts val="600"/>
              </a:spcAft>
              <a:buNone/>
            </a:pPr>
            <a:r>
              <a:rPr lang="en-US" dirty="0"/>
              <a:t>My name is Marius Juston, a PhD candidate in the ISE program. You can call me Marius or Professor, whichever you prefer!</a:t>
            </a:r>
          </a:p>
          <a:p>
            <a:pPr marL="0" lvl="0" indent="0" algn="l" rtl="0">
              <a:spcBef>
                <a:spcPts val="0"/>
              </a:spcBef>
              <a:spcAft>
                <a:spcPts val="600"/>
              </a:spcAft>
              <a:buNone/>
            </a:pPr>
            <a:r>
              <a:rPr lang="en-US" dirty="0"/>
              <a:t>This class is different from others you might have had, with a lot of learning-by-doing in the lab and in homework. Next, we cover the course information.</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basic logistics for SE 423. Lectures meet Monday and Wednesday from 9:00 am to 9:50 am, here in this room. The lab is in ECEB 3080, in the Electrical and Computer Engineering Building.</a:t>
            </a:r>
          </a:p>
          <a:p>
            <a:pPr marL="0" lvl="0" indent="0" algn="l" rtl="0">
              <a:lnSpc>
                <a:spcPct val="100000"/>
              </a:lnSpc>
              <a:spcBef>
                <a:spcPts val="0"/>
              </a:spcBef>
              <a:spcAft>
                <a:spcPts val="600"/>
              </a:spcAft>
              <a:buSzPts val="1400"/>
              <a:buNone/>
            </a:pPr>
            <a:r>
              <a:rPr lang="en-US" dirty="0"/>
              <a:t>On the right is a photo of a hallway in ECEB, likely on the third floor given the room number, showing you how to find the lab. A row of glass-walled rooms runs down the left side of the corridor. On the right is a dark gray tiled wall, and partway down the corridor, just past that wall, red arrows and a hand-drawn red circle point to a glass door. That door is the entrance to ECEB 3080. Look for it before your first lab session so you are not searching the building on the day.</a:t>
            </a:r>
          </a:p>
          <a:p>
            <a:pPr marL="0" lvl="0" indent="0" algn="l" rtl="0">
              <a:lnSpc>
                <a:spcPct val="100000"/>
              </a:lnSpc>
              <a:spcBef>
                <a:spcPts val="0"/>
              </a:spcBef>
              <a:spcAft>
                <a:spcPts val="600"/>
              </a:spcAft>
              <a:buSzPts val="1400"/>
              <a:buNone/>
            </a:pPr>
            <a:r>
              <a:rPr lang="en-US" dirty="0"/>
              <a:t>The course team is Marius Juston, the instructor; Dan Block, the lab instructor; and two teaching assistants, Lakshmi Manoj and Samuel Folorunsho. Dan and the TAs are the people you will work with most in the lab, especially during check-offs.</a:t>
            </a:r>
          </a:p>
          <a:p>
            <a:pPr marL="0" lvl="0" indent="0" algn="l" rtl="0">
              <a:lnSpc>
                <a:spcPct val="100000"/>
              </a:lnSpc>
              <a:spcBef>
                <a:spcPts val="0"/>
              </a:spcBef>
              <a:spcAft>
                <a:spcPts val="600"/>
              </a:spcAft>
              <a:buSzPts val="1400"/>
              <a:buNone/>
            </a:pPr>
            <a:r>
              <a:rPr lang="en-US" dirty="0"/>
              <a:t>Office hours are not set yet. They will be announced and posted on Canvas once they are finalized, so check Canvas rather than relying on this slide.</a:t>
            </a:r>
          </a:p>
          <a:p>
            <a:pPr marL="0" lvl="0" indent="0" algn="l" rtl="0">
              <a:lnSpc>
                <a:spcPct val="100000"/>
              </a:lnSpc>
              <a:spcBef>
                <a:spcPts val="0"/>
              </a:spcBef>
              <a:spcAft>
                <a:spcPts val="600"/>
              </a:spcAft>
              <a:buSzPts val="1400"/>
              <a:buNone/>
            </a:pPr>
            <a:r>
              <a:rPr lang="en-US" dirty="0"/>
              <a:t>Lecture recordings are available on Illinois Media Space, and the link is on the course webpage. Recordings help you review, but the labs build directly on lecture material, so plan to attend.</a:t>
            </a:r>
          </a:p>
          <a:p>
            <a:pPr marL="0" lvl="0" indent="0" algn="l" rtl="0">
              <a:lnSpc>
                <a:spcPct val="100000"/>
              </a:lnSpc>
              <a:spcBef>
                <a:spcPts val="0"/>
              </a:spcBef>
              <a:spcAft>
                <a:spcPts val="600"/>
              </a:spcAft>
              <a:buSzPts val="1400"/>
              <a:buNone/>
            </a:pPr>
            <a:r>
              <a:rPr lang="en-US" dirty="0"/>
              <a:t>The next slide lists the links you will use all semester: Canvas, Gradescope, and the course website.</a:t>
            </a: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92E6F-2C62-8F19-5E89-ABF0498CFA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AB740C-E845-6359-BD9D-287C6D3F83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course information from the previous slide, which covered lecture times, the lab room and the teaching team. Here the focus is on where you find course material online. The slide is a list of links, each with a short note.</a:t>
            </a:r>
          </a:p>
          <a:p>
            <a:pPr marL="0" lvl="0" indent="0" algn="l" rtl="0">
              <a:lnSpc>
                <a:spcPct val="100000"/>
              </a:lnSpc>
              <a:spcBef>
                <a:spcPts val="0"/>
              </a:spcBef>
              <a:spcAft>
                <a:spcPts val="600"/>
              </a:spcAft>
              <a:buSzPts val="1400"/>
              <a:buNone/>
            </a:pPr>
            <a:r>
              <a:rPr lang="en-US" dirty="0"/>
              <a:t>Canvas is at https://canvas.illinois.edu/courses/64094, and that is where the lecture slides are posted.</a:t>
            </a:r>
          </a:p>
          <a:p>
            <a:pPr marL="0" lvl="0" indent="0" algn="l" rtl="0">
              <a:lnSpc>
                <a:spcPct val="100000"/>
              </a:lnSpc>
              <a:spcBef>
                <a:spcPts val="0"/>
              </a:spcBef>
              <a:spcAft>
                <a:spcPts val="600"/>
              </a:spcAft>
              <a:buSzPts val="1400"/>
              <a:buNone/>
            </a:pPr>
            <a:r>
              <a:rPr lang="en-US" dirty="0"/>
              <a:t>Gradescope is at https://www.gradescope.com/courses/1232277. You should already be enrolled automatically. If you are not, let the course staff know.</a:t>
            </a:r>
          </a:p>
          <a:p>
            <a:pPr marL="0" lvl="0" indent="0" algn="l" rtl="0">
              <a:lnSpc>
                <a:spcPct val="100000"/>
              </a:lnSpc>
              <a:spcBef>
                <a:spcPts val="0"/>
              </a:spcBef>
              <a:spcAft>
                <a:spcPts val="600"/>
              </a:spcAft>
              <a:buSzPts val="1400"/>
              <a:buNone/>
            </a:pPr>
            <a:r>
              <a:rPr lang="en-US" dirty="0"/>
              <a:t>Lecture recordings are on Illinois Media Space, and the link is on the course webpage.</a:t>
            </a:r>
          </a:p>
          <a:p>
            <a:pPr marL="0" lvl="0" indent="0" algn="l" rtl="0">
              <a:lnSpc>
                <a:spcPct val="100000"/>
              </a:lnSpc>
              <a:spcBef>
                <a:spcPts val="0"/>
              </a:spcBef>
              <a:spcAft>
                <a:spcPts val="600"/>
              </a:spcAft>
              <a:buSzPts val="1400"/>
              <a:buNone/>
            </a:pPr>
            <a:r>
              <a:rPr lang="en-US" dirty="0"/>
              <a:t>The slide labels the course website as the most important link: https://coecsl.ece.illinois.edu/se423/. You will use it constantly this semester, because it holds the homework assignments, the lab handouts and the final project documents. Bookmark it today. When you start a lab, the handout on this site is your primary reference.</a:t>
            </a:r>
          </a:p>
          <a:p>
            <a:pPr marL="0" lvl="0" indent="0" algn="l" rtl="0">
              <a:lnSpc>
                <a:spcPct val="100000"/>
              </a:lnSpc>
              <a:spcBef>
                <a:spcPts val="0"/>
              </a:spcBef>
              <a:spcAft>
                <a:spcPts val="600"/>
              </a:spcAft>
              <a:buSzPts val="1400"/>
              <a:buNone/>
            </a:pPr>
            <a:r>
              <a:rPr lang="en-US" dirty="0"/>
              <a:t>The course documents are also converted to LaTeX. LaTeX is a typesetting system that is widely used for technical documents. The compiled PDFs are at https://marius-juston.github.io/SE-423---Class-Material/, and the raw LaTeX source files are on GitHub at https://github.com/Marius-Juston/SE-423---Class-Material. These versions can be easier to read, search or copy equations from.</a:t>
            </a:r>
          </a:p>
          <a:p>
            <a:pPr marL="0" lvl="0" indent="0" algn="l" rtl="0">
              <a:lnSpc>
                <a:spcPct val="100000"/>
              </a:lnSpc>
              <a:spcBef>
                <a:spcPts val="0"/>
              </a:spcBef>
              <a:spcAft>
                <a:spcPts val="600"/>
              </a:spcAft>
              <a:buSzPts val="1400"/>
              <a:buNone/>
            </a:pPr>
            <a:r>
              <a:rPr lang="en-US" dirty="0"/>
              <a:t>A common mistake is to look only on Canvas for assignments. Canvas has the slides, but the labs and homework live on the course website. Next, we look at the syllabus and how the course is evaluated.</a:t>
            </a:r>
          </a:p>
        </p:txBody>
      </p:sp>
      <p:sp>
        <p:nvSpPr>
          <p:cNvPr id="116" name="Google Shape;116;p29:notes">
            <a:extLst>
              <a:ext uri="{FF2B5EF4-FFF2-40B4-BE49-F238E27FC236}">
                <a16:creationId xmlns:a16="http://schemas.microsoft.com/office/drawing/2014/main" id="{4A44C397-98D3-D5D2-41C3-3FBBA800B8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724232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5BE640-D24D-1B0C-75BF-60D8504CED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784E0-9CF4-F695-82A1-EE12CCBE44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syllabus and how your grade is built. The syllabus itself is not on the slide; it lives on the course website, the coecsl.ece.illinois.edu/se423 page from the previous slide, so read it there.</a:t>
            </a:r>
          </a:p>
          <a:p>
            <a:pPr marL="0" lvl="0" indent="0" algn="l" rtl="0">
              <a:lnSpc>
                <a:spcPct val="100000"/>
              </a:lnSpc>
              <a:spcBef>
                <a:spcPts val="0"/>
              </a:spcBef>
              <a:spcAft>
                <a:spcPts val="600"/>
              </a:spcAft>
              <a:buSzPts val="1400"/>
              <a:buNone/>
            </a:pPr>
            <a:r>
              <a:rPr lang="en-US" dirty="0"/>
              <a:t>The slide lists five course deliverables with their weights. Lab check-offs are 30 percent, homework 25 percent, LabVIEW assignments 5 percent, quizzes 5 percent, and the semester project 35 percent. Together they add up to 100 percent.</a:t>
            </a:r>
          </a:p>
          <a:p>
            <a:pPr marL="0" lvl="0" indent="0" algn="l" rtl="0">
              <a:lnSpc>
                <a:spcPct val="100000"/>
              </a:lnSpc>
              <a:spcBef>
                <a:spcPts val="0"/>
              </a:spcBef>
              <a:spcAft>
                <a:spcPts val="600"/>
              </a:spcAft>
              <a:buSzPts val="1400"/>
              <a:buNone/>
            </a:pPr>
            <a:r>
              <a:rPr lang="en-US" dirty="0"/>
              <a:t>Look at where the weight sits. Labs and the semester project together make up 65 percent of your grade, so most of your grade comes from building things that work on real hardware. Homework, at 25 percent, is the other large piece, and it often prepares the code and ideas you need in lab. The LabVIEW assignments and quizzes are small individually, but together they are still a tenth of the grade, so do not skip them.</a:t>
            </a:r>
          </a:p>
          <a:p>
            <a:pPr marL="0" lvl="0" indent="0" algn="l" rtl="0">
              <a:lnSpc>
                <a:spcPct val="100000"/>
              </a:lnSpc>
              <a:spcBef>
                <a:spcPts val="0"/>
              </a:spcBef>
              <a:spcAft>
                <a:spcPts val="600"/>
              </a:spcAft>
              <a:buSzPts val="1400"/>
              <a:buNone/>
            </a:pPr>
            <a:r>
              <a:rPr lang="en-US" dirty="0"/>
              <a:t>A lab check-off is when course staff watch your working lab and sign it off. The slide notes that check-offs are discussed later, on the Check-offs slide toward the end of this lecture.</a:t>
            </a:r>
          </a:p>
          <a:p>
            <a:pPr marL="0" lvl="0" indent="0" algn="l" rtl="0">
              <a:lnSpc>
                <a:spcPct val="100000"/>
              </a:lnSpc>
              <a:spcBef>
                <a:spcPts val="0"/>
              </a:spcBef>
              <a:spcAft>
                <a:spcPts val="600"/>
              </a:spcAft>
              <a:buSzPts val="1400"/>
              <a:buNone/>
            </a:pPr>
            <a:r>
              <a:rPr lang="en-US" dirty="0"/>
              <a:t>This weighting leads into the next slide. It explains why this class feels different from many others: you learn by doing, starting with soldering and setting up your board in lab this week.</a:t>
            </a:r>
          </a:p>
        </p:txBody>
      </p:sp>
      <p:sp>
        <p:nvSpPr>
          <p:cNvPr id="116" name="Google Shape;116;p29:notes">
            <a:extLst>
              <a:ext uri="{FF2B5EF4-FFF2-40B4-BE49-F238E27FC236}">
                <a16:creationId xmlns:a16="http://schemas.microsoft.com/office/drawing/2014/main" id="{0E5E7669-DA15-80AB-CA52-D807763F8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6477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3C7581-A593-6288-18CD-B0C0974C63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3C3F7EA-2E68-5E6F-1496-C39EC0D56D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what the class is like. On the left are five short points: the course is very different from others you might have had because it is learn-by-doing; no "hard" theory is taught; you start immediately, with lab this week; that first lab is soldering and setting up your hardware board; and you get to keep the board afterwards.</a:t>
            </a:r>
          </a:p>
          <a:p>
            <a:pPr marL="0" lvl="0" indent="0" algn="l" rtl="0">
              <a:lnSpc>
                <a:spcPct val="100000"/>
              </a:lnSpc>
              <a:spcBef>
                <a:spcPts val="0"/>
              </a:spcBef>
              <a:spcAft>
                <a:spcPts val="600"/>
              </a:spcAft>
              <a:buSzPts val="1400"/>
              <a:buNone/>
            </a:pPr>
            <a:r>
              <a:rPr lang="en-US" dirty="0"/>
              <a:t>On the right is a photo of the green SE 423 lab circuit board, Version 5.0, with "Demo" handwritten across it. It is only partly assembled, with rows of black header pins and a red jumper wire. White silkscreen labels mark where parts will mount: a TI F28379D LaunchPad, an ESP32 DevKit, an Orange Pi Lite, an MPU-9250 IMU (inertial measurement unit), and two motor-driver circuits. You can also see rows of LEDs, push buttons, a buzzer, and gold DAC and ground test points for clipping on an oscilloscope probe.</a:t>
            </a:r>
          </a:p>
          <a:p>
            <a:pPr marL="0" lvl="0" indent="0" algn="l" rtl="0">
              <a:lnSpc>
                <a:spcPct val="100000"/>
              </a:lnSpc>
              <a:spcBef>
                <a:spcPts val="0"/>
              </a:spcBef>
              <a:spcAft>
                <a:spcPts val="600"/>
              </a:spcAft>
              <a:buSzPts val="1400"/>
              <a:buNone/>
            </a:pPr>
            <a:r>
              <a:rPr lang="en-US" dirty="0"/>
              <a:t>The syllabus on the previous slide weights lab check-offs and the semester project heavily, and this slide shows why. Most of your learning happens at the bench: you write C code, run it on real hardware, and debug what you see. Theory such as filtering or feedback control comes in as you need it for a lab, not as abstract derivations.</a:t>
            </a:r>
          </a:p>
          <a:p>
            <a:pPr marL="0" lvl="0" indent="0" algn="l" rtl="0">
              <a:lnSpc>
                <a:spcPct val="100000"/>
              </a:lnSpc>
              <a:spcBef>
                <a:spcPts val="0"/>
              </a:spcBef>
              <a:spcAft>
                <a:spcPts val="600"/>
              </a:spcAft>
              <a:buSzPts val="1400"/>
              <a:buNone/>
            </a:pPr>
            <a:r>
              <a:rPr lang="en-US" dirty="0"/>
              <a:t>Soldering is a skill many of you have not practiced yet. Take your time, keep the iron clean, and check each joint, because a cold solder joint can cause confusing bugs weeks later. Since you keep the board, a careful job now pays off in future projects.</a:t>
            </a:r>
          </a:p>
          <a:p>
            <a:pPr marL="0" lvl="0" indent="0" algn="l" rtl="0">
              <a:lnSpc>
                <a:spcPct val="100000"/>
              </a:lnSpc>
              <a:spcBef>
                <a:spcPts val="0"/>
              </a:spcBef>
              <a:spcAft>
                <a:spcPts val="600"/>
              </a:spcAft>
              <a:buSzPts val="1400"/>
              <a:buNone/>
            </a:pPr>
            <a:r>
              <a:rPr lang="en-US" dirty="0"/>
              <a:t>Next, we look at what this board becomes once the red LaunchPad is attached: the "Red Board."</a:t>
            </a:r>
          </a:p>
        </p:txBody>
      </p:sp>
      <p:sp>
        <p:nvSpPr>
          <p:cNvPr id="116" name="Google Shape;116;p29:notes">
            <a:extLst>
              <a:ext uri="{FF2B5EF4-FFF2-40B4-BE49-F238E27FC236}">
                <a16:creationId xmlns:a16="http://schemas.microsoft.com/office/drawing/2014/main" id="{F0F9F414-2034-7D4A-52BC-FA4938711C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51282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07C8D4-03F3-5F19-F6E0-27D8E09C5B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93BB7-7F38-7872-12DC-8E8DF92FF0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Red Board, the hardware you use all semester. The photo on the right shows a red Texas Instruments C2000 LaunchPad, the TMS320F28379D, plugged into the larger green custom breakout board from the previous slide, version 5.0. The green board carries a grid of 16 small LEDs, four push buttons, a buzzer, a photoresistor light sensor, DRV8874 motor driver circuits, trimpots, and DAC and ADC test points for the oscilloscope. It also has header areas labeled for an ESP32 DevKit, an Orange Pi Lite, SPI devices and a W5500 Ethernet module.</a:t>
            </a:r>
          </a:p>
          <a:p>
            <a:pPr marL="0" lvl="0" indent="0" algn="l" rtl="0">
              <a:lnSpc>
                <a:spcPct val="100000"/>
              </a:lnSpc>
              <a:spcBef>
                <a:spcPts val="0"/>
              </a:spcBef>
              <a:spcAft>
                <a:spcPts val="600"/>
              </a:spcAft>
              <a:buSzPts val="1400"/>
              <a:buNone/>
            </a:pPr>
            <a:r>
              <a:rPr lang="en-US" dirty="0"/>
              <a:t>The bullets list what you do with it: LEDs, push buttons, light sensors, an RC servo, a microphone and an IMU, which is an inertial measurement unit that measures acceleration and rotation rate. Each one is a small lab that teaches a peripheral, such as GPIO, PWM, ADC or SPI.</a:t>
            </a:r>
          </a:p>
          <a:p>
            <a:pPr marL="0" lvl="0" indent="0" algn="l" rtl="0">
              <a:lnSpc>
                <a:spcPct val="100000"/>
              </a:lnSpc>
              <a:spcBef>
                <a:spcPts val="0"/>
              </a:spcBef>
              <a:spcAft>
                <a:spcPts val="600"/>
              </a:spcAft>
              <a:buSzPts val="1400"/>
              <a:buNone/>
            </a:pPr>
            <a:r>
              <a:rPr lang="en-US" dirty="0"/>
              <a:t>The processor is a TI Digital Signal Processor running at 150 MHz, compared with roughly 20 to 40 MHz for a typical Arduino. That speed lets you run filters and feedback control loops at high sample rates.</a:t>
            </a:r>
          </a:p>
          <a:p>
            <a:pPr marL="0" lvl="0" indent="0" algn="l" rtl="0">
              <a:lnSpc>
                <a:spcPct val="100000"/>
              </a:lnSpc>
              <a:spcBef>
                <a:spcPts val="0"/>
              </a:spcBef>
              <a:spcAft>
                <a:spcPts val="600"/>
              </a:spcAft>
              <a:buSzPts val="1400"/>
              <a:buNone/>
            </a:pPr>
            <a:r>
              <a:rPr lang="en-US" dirty="0"/>
              <a:t>"16-bit and 32-bit integers, only" means the chip has no 8-bit data type. On this family even a char is 16 bits wide. This catches students who copy Arduino code that assumes 8-bit bytes. The chip also has hardware floating-point support, so you can write control math with floats without a large speed penalty.</a:t>
            </a:r>
          </a:p>
          <a:p>
            <a:pPr marL="0" lvl="0" indent="0" algn="l" rtl="0">
              <a:lnSpc>
                <a:spcPct val="100000"/>
              </a:lnSpc>
              <a:spcBef>
                <a:spcPts val="0"/>
              </a:spcBef>
              <a:spcAft>
                <a:spcPts val="600"/>
              </a:spcAft>
              <a:buSzPts val="1400"/>
              <a:buNone/>
            </a:pPr>
            <a:r>
              <a:rPr lang="en-US" dirty="0"/>
              <a:t>You keep the board after the course for your own mechatronics projects. You program all of this in C, which is the topic of the next slides.</a:t>
            </a:r>
          </a:p>
        </p:txBody>
      </p:sp>
      <p:sp>
        <p:nvSpPr>
          <p:cNvPr id="116" name="Google Shape;116;p29:notes">
            <a:extLst>
              <a:ext uri="{FF2B5EF4-FFF2-40B4-BE49-F238E27FC236}">
                <a16:creationId xmlns:a16="http://schemas.microsoft.com/office/drawing/2014/main" id="{54A24BC7-C930-864F-043F-B6935C097E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1578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8383E8-C522-DDAC-3034-3A90049478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2699ED-DC2C-2B2D-779D-20DC33B637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C Programming," asks one large centered question: "Who here knows how to program in C?" A blue hexagonal C language logo with a white letter C sits in the upper right corner.</a:t>
            </a:r>
          </a:p>
          <a:p>
            <a:pPr marL="0" lvl="0" indent="0" algn="l" rtl="0">
              <a:lnSpc>
                <a:spcPct val="100000"/>
              </a:lnSpc>
              <a:spcBef>
                <a:spcPts val="0"/>
              </a:spcBef>
              <a:spcAft>
                <a:spcPts val="600"/>
              </a:spcAft>
              <a:buSzPts val="1400"/>
              <a:buNone/>
            </a:pPr>
            <a:r>
              <a:rPr lang="en-US" dirty="0"/>
              <a:t>This is a quick show of hands. Having just seen the Red Board, you now need to know how you will program it: in C. Be honest about your experience. The next slide explains what level of C you need and how to get there.</a:t>
            </a:r>
          </a:p>
        </p:txBody>
      </p:sp>
      <p:sp>
        <p:nvSpPr>
          <p:cNvPr id="116" name="Google Shape;116;p29:notes">
            <a:extLst>
              <a:ext uri="{FF2B5EF4-FFF2-40B4-BE49-F238E27FC236}">
                <a16:creationId xmlns:a16="http://schemas.microsoft.com/office/drawing/2014/main" id="{34573AC0-6203-F2C4-604A-398A34C97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15045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0237C-D763-6333-B5BF-07E1069F7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00A391-B805-9956-6C17-0FDA03C498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follows up on the show of hands from the previous slide, "Who here knows how to program in C?", and lays out what the course expects from you in C. The title is "The Class – C Programming," and a blue hexagonal C language logo sits in the top right corner.</a:t>
            </a:r>
          </a:p>
          <a:p>
            <a:pPr marL="0" lvl="0" indent="0" algn="l" rtl="0">
              <a:lnSpc>
                <a:spcPct val="100000"/>
              </a:lnSpc>
              <a:spcBef>
                <a:spcPts val="0"/>
              </a:spcBef>
              <a:spcAft>
                <a:spcPts val="600"/>
              </a:spcAft>
              <a:buSzPts val="1400"/>
              <a:buNone/>
            </a:pPr>
            <a:r>
              <a:rPr lang="en-US" dirty="0"/>
              <a:t>The main points: you program the embedded system, the Red Board, in the C programming language. C is not taught in this course, so you learn it on your own. That sounds intimidating, but plenty of students have arrived with near zero programming experience and done fine, as long as they did the work.</a:t>
            </a:r>
          </a:p>
          <a:p>
            <a:pPr marL="0" lvl="0" indent="0" algn="l" rtl="0">
              <a:lnSpc>
                <a:spcPct val="100000"/>
              </a:lnSpc>
              <a:spcBef>
                <a:spcPts val="0"/>
              </a:spcBef>
              <a:spcAft>
                <a:spcPts val="600"/>
              </a:spcAft>
              <a:buSzPts val="1400"/>
              <a:buNone/>
            </a:pPr>
            <a:r>
              <a:rPr lang="en-US" dirty="0"/>
              <a:t>This week has no C programming. Next week does, so use this week to brush up or start learning.</a:t>
            </a:r>
          </a:p>
          <a:p>
            <a:pPr marL="0" lvl="0" indent="0" algn="l" rtl="0">
              <a:lnSpc>
                <a:spcPct val="100000"/>
              </a:lnSpc>
              <a:spcBef>
                <a:spcPts val="0"/>
              </a:spcBef>
              <a:spcAft>
                <a:spcPts val="600"/>
              </a:spcAft>
              <a:buSzPts val="1400"/>
              <a:buNone/>
            </a:pPr>
            <a:r>
              <a:rPr lang="en-US" dirty="0"/>
              <a:t>The C you need is not complicated. Pointers appear only minimally, and you will not build data structures such as graphs, trees or linked lists. Most embedded code here is variables, if statements, loops, functions, arrays and reading and writing hardware registers.</a:t>
            </a:r>
          </a:p>
          <a:p>
            <a:pPr marL="0" lvl="0" indent="0" algn="l" rtl="0">
              <a:lnSpc>
                <a:spcPct val="100000"/>
              </a:lnSpc>
              <a:spcBef>
                <a:spcPts val="0"/>
              </a:spcBef>
              <a:spcAft>
                <a:spcPts val="600"/>
              </a:spcAft>
              <a:buSzPts val="1400"/>
              <a:buNone/>
            </a:pPr>
            <a:r>
              <a:rPr lang="en-US" dirty="0"/>
              <a:t>The slide singles out printf. Learn how its format specifiers work: %d prints an integer, %f a floating-point number, and \n starts a new line. Printing a variable's value is often the fastest way to find out why your code is not doing what you expect. Remember from the previous slide that the processor uses 16-bit and 32-bit integers, so make sure your format specifier matches the variable's type.</a:t>
            </a:r>
          </a:p>
          <a:p>
            <a:pPr marL="0" lvl="0" indent="0" algn="l" rtl="0">
              <a:lnSpc>
                <a:spcPct val="100000"/>
              </a:lnSpc>
              <a:spcBef>
                <a:spcPts val="0"/>
              </a:spcBef>
              <a:spcAft>
                <a:spcPts val="600"/>
              </a:spcAft>
              <a:buSzPts val="1400"/>
              <a:buNone/>
            </a:pPr>
            <a:r>
              <a:rPr lang="en-US" dirty="0"/>
              <a:t>Next, we look at what all this C programming builds toward: the goals of the class.</a:t>
            </a:r>
          </a:p>
        </p:txBody>
      </p:sp>
      <p:sp>
        <p:nvSpPr>
          <p:cNvPr id="116" name="Google Shape;116;p29:notes">
            <a:extLst>
              <a:ext uri="{FF2B5EF4-FFF2-40B4-BE49-F238E27FC236}">
                <a16:creationId xmlns:a16="http://schemas.microsoft.com/office/drawing/2014/main" id="{2FAB05C0-20A3-F944-431F-33DFFA900F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8335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0EF419-7A92-7CD9-BC6E-2B5AAB3E1FF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E453F8-A7EE-B2A6-ABE0-091DFB34B2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Goal," is a text-only list that lays out how the semester is structured and what you will be able to do by the end. Having just covered the C you need, we now look at where that C will take you.</a:t>
            </a:r>
          </a:p>
          <a:p>
            <a:pPr marL="0" lvl="0" indent="0" algn="l" rtl="0">
              <a:lnSpc>
                <a:spcPct val="100000"/>
              </a:lnSpc>
              <a:spcBef>
                <a:spcPts val="0"/>
              </a:spcBef>
              <a:spcAft>
                <a:spcPts val="600"/>
              </a:spcAft>
              <a:buSzPts val="1400"/>
              <a:buNone/>
            </a:pPr>
            <a:r>
              <a:rPr lang="en-US" dirty="0"/>
              <a:t>The first two points describe the homework track. The homework is done on the green board, not the Red Board, and by about two-thirds of the way through the semester you are finished with it. The homework load is heaviest at the beginning of the semester, so that is when you build your foundation. Meanwhile, the lab gradually teaches you the robot car.</a:t>
            </a:r>
          </a:p>
          <a:p>
            <a:pPr marL="0" lvl="0" indent="0" algn="l" rtl="0">
              <a:lnSpc>
                <a:spcPct val="100000"/>
              </a:lnSpc>
              <a:spcBef>
                <a:spcPts val="0"/>
              </a:spcBef>
              <a:spcAft>
                <a:spcPts val="600"/>
              </a:spcAft>
              <a:buSzPts val="1400"/>
              <a:buNone/>
            </a:pPr>
            <a:r>
              <a:rPr lang="en-US" dirty="0"/>
              <a:t>The main bullet, with "autonomously" in bold, is the end goal: you will program the robot car to act on its own. That has three parts. Path planning means getting from point A to point B, with or without a map. Sensing and perception means using the LiDAR and the camera to make decisions in real time. Control systems means implementing feedback loops, specifically PID, which stands for proportional-integral-derivative control. You do this work in groups of 3 to 5 people. Participation is graded, so make sure you can contribute.</a:t>
            </a:r>
          </a:p>
          <a:p>
            <a:pPr marL="0" lvl="0" indent="0" algn="l" rtl="0">
              <a:lnSpc>
                <a:spcPct val="100000"/>
              </a:lnSpc>
              <a:spcBef>
                <a:spcPts val="0"/>
              </a:spcBef>
              <a:spcAft>
                <a:spcPts val="600"/>
              </a:spcAft>
              <a:buSzPts val="1400"/>
              <a:buNone/>
            </a:pPr>
            <a:r>
              <a:rPr lang="en-US" dirty="0"/>
              <a:t>The final bold point is the real skill this course builds: learning how to learn to program a microcontroller. In practice that means reading the documentation and then applying it. When you meet a new peripheral, the datasheet or reference manual is where the answer is.</a:t>
            </a:r>
          </a:p>
          <a:p>
            <a:pPr marL="0" lvl="0" indent="0" algn="l" rtl="0">
              <a:lnSpc>
                <a:spcPct val="100000"/>
              </a:lnSpc>
              <a:spcBef>
                <a:spcPts val="0"/>
              </a:spcBef>
              <a:spcAft>
                <a:spcPts val="600"/>
              </a:spcAft>
              <a:buSzPts val="1400"/>
              <a:buNone/>
            </a:pPr>
            <a:r>
              <a:rPr lang="en-US" dirty="0"/>
              <a:t>The next slide admits that this is a long way to go and explains how the course emphasizes implementation over theory.</a:t>
            </a:r>
          </a:p>
        </p:txBody>
      </p:sp>
      <p:sp>
        <p:nvSpPr>
          <p:cNvPr id="116" name="Google Shape;116;p29:notes">
            <a:extLst>
              <a:ext uri="{FF2B5EF4-FFF2-40B4-BE49-F238E27FC236}">
                <a16:creationId xmlns:a16="http://schemas.microsoft.com/office/drawing/2014/main" id="{DE786305-71D1-007B-AF11-3E5C69A72B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09472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3AD63FB-C2F5-1128-4019-78FB32C653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504539-9583-DE67-2EFB-6460FFBF44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course goals from the previous slide and has no figures, only bullet text. It opens with "We have a long way to go!" and then asks whether all these things scare you a bit. If so, that is good, because you will learn a lot of material by the end of the semester.</a:t>
            </a:r>
          </a:p>
          <a:p>
            <a:pPr marL="0" lvl="0" indent="0" algn="l" rtl="0">
              <a:lnSpc>
                <a:spcPct val="100000"/>
              </a:lnSpc>
              <a:spcBef>
                <a:spcPts val="0"/>
              </a:spcBef>
              <a:spcAft>
                <a:spcPts val="600"/>
              </a:spcAft>
              <a:buSzPts val="1400"/>
              <a:buNone/>
            </a:pPr>
            <a:r>
              <a:rPr lang="en-US" dirty="0"/>
              <a:t>The main point is the style of the course: it does not sit and teach theory. The slide gives two examples of what is not covered. The first is why a PI controller is stable. A PI controller is a proportional-integral controller, a feedback law that combines the current error with the accumulated error over time. The second is why the A* (A-star) algorithm is optimal; A* is a graph search method for finding shortest paths, which you will use for path planning. Those proofs belong to control and algorithms courses. Here the message is "let us implement this algorithm."</a:t>
            </a:r>
          </a:p>
          <a:p>
            <a:pPr marL="0" lvl="0" indent="0" algn="l" rtl="0">
              <a:lnSpc>
                <a:spcPct val="100000"/>
              </a:lnSpc>
              <a:spcBef>
                <a:spcPts val="0"/>
              </a:spcBef>
              <a:spcAft>
                <a:spcPts val="600"/>
              </a:spcAft>
              <a:buSzPts val="1400"/>
              <a:buNone/>
            </a:pPr>
            <a:r>
              <a:rPr lang="en-US" dirty="0"/>
              <a:t>The emphasis is on implementation. The slide asks how you make sure an algorithm actually works on the circuit board, meaning real hardware with real timing, sensors and limits. Most of your code runs on the small processor on the board, which the slide says runs at 150 MHz, fast for an embedded system. That speed is generous, but every control loop still has to finish within its time slot, so how you write the code matters.</a:t>
            </a:r>
          </a:p>
          <a:p>
            <a:pPr marL="0" lvl="0" indent="0" algn="l" rtl="0">
              <a:lnSpc>
                <a:spcPct val="100000"/>
              </a:lnSpc>
              <a:spcBef>
                <a:spcPts val="0"/>
              </a:spcBef>
              <a:spcAft>
                <a:spcPts val="600"/>
              </a:spcAft>
              <a:buSzPts val="1400"/>
              <a:buNone/>
            </a:pPr>
            <a:r>
              <a:rPr lang="en-US" dirty="0"/>
              <a:t>A common mistake is assuming that if the math is right, the robot will behave. Most of your debugging time goes into the gap between the equation and the hardware.</a:t>
            </a:r>
          </a:p>
          <a:p>
            <a:pPr marL="0" lvl="0" indent="0" algn="l" rtl="0">
              <a:lnSpc>
                <a:spcPct val="100000"/>
              </a:lnSpc>
              <a:spcBef>
                <a:spcPts val="0"/>
              </a:spcBef>
              <a:spcAft>
                <a:spcPts val="600"/>
              </a:spcAft>
              <a:buSzPts val="1400"/>
              <a:buNone/>
            </a:pPr>
            <a:r>
              <a:rPr lang="en-US" dirty="0"/>
              <a:t>Next you see how AI tools and starter code fit into this hands-on approach.</a:t>
            </a:r>
          </a:p>
        </p:txBody>
      </p:sp>
      <p:sp>
        <p:nvSpPr>
          <p:cNvPr id="116" name="Google Shape;116;p29:notes">
            <a:extLst>
              <a:ext uri="{FF2B5EF4-FFF2-40B4-BE49-F238E27FC236}">
                <a16:creationId xmlns:a16="http://schemas.microsoft.com/office/drawing/2014/main" id="{51655C6E-454C-9687-9683-689D7106D8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6702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A4CD13-A395-6B6C-4E30-A0A0C47A419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C12494-DF94-1B6A-BAC2-A85153F793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AI Content," has five text points about starter code and the course policy on AI tools. There are no figures.</a:t>
            </a:r>
          </a:p>
          <a:p>
            <a:pPr marL="0" lvl="0" indent="0" algn="l" rtl="0">
              <a:lnSpc>
                <a:spcPct val="100000"/>
              </a:lnSpc>
              <a:spcBef>
                <a:spcPts val="0"/>
              </a:spcBef>
              <a:spcAft>
                <a:spcPts val="600"/>
              </a:spcAft>
              <a:buSzPts val="1400"/>
              <a:buNone/>
            </a:pPr>
            <a:r>
              <a:rPr lang="en-US" dirty="0"/>
              <a:t>First, you never start from a blank C file. Every homework comes with its own starter code file, which is added to the course project and already contains the C code you need to build on. Your job is to fill in and extend that code, not to write everything from scratch.</a:t>
            </a:r>
          </a:p>
          <a:p>
            <a:pPr marL="0" lvl="0" indent="0" algn="l" rtl="0">
              <a:lnSpc>
                <a:spcPct val="100000"/>
              </a:lnSpc>
              <a:spcBef>
                <a:spcPts val="0"/>
              </a:spcBef>
              <a:spcAft>
                <a:spcPts val="600"/>
              </a:spcAft>
              <a:buSzPts val="1400"/>
              <a:buNone/>
            </a:pPr>
            <a:r>
              <a:rPr lang="en-US" dirty="0"/>
              <a:t>Second, you may use AI tools, mainly for brainstorming, debugging, and conceptual help, such as asking why a peripheral register is not behaving as you expect. The slide asks you to avoid using AI to generate whole programs, especially if you are new to software, because the goal is to learn by doing.</a:t>
            </a:r>
          </a:p>
          <a:p>
            <a:pPr marL="0" lvl="0" indent="0" algn="l" rtl="0">
              <a:lnSpc>
                <a:spcPct val="100000"/>
              </a:lnSpc>
              <a:spcBef>
                <a:spcPts val="0"/>
              </a:spcBef>
              <a:spcAft>
                <a:spcPts val="600"/>
              </a:spcAft>
              <a:buSzPts val="1400"/>
              <a:buNone/>
            </a:pPr>
            <a:r>
              <a:rPr lang="en-US" dirty="0"/>
              <a:t>Third, if you do use AI, you must understand the result well enough to explain it in detail and to write it again yourself without AI. You are here to learn, not to copy and paste.</a:t>
            </a:r>
          </a:p>
          <a:p>
            <a:pPr marL="0" lvl="0" indent="0" algn="l" rtl="0">
              <a:lnSpc>
                <a:spcPct val="100000"/>
              </a:lnSpc>
              <a:spcBef>
                <a:spcPts val="0"/>
              </a:spcBef>
              <a:spcAft>
                <a:spcPts val="600"/>
              </a:spcAft>
              <a:buSzPts val="1400"/>
              <a:buNone/>
            </a:pPr>
            <a:r>
              <a:rPr lang="en-US" dirty="0"/>
              <a:t>Fourth, any lines you copy from an AI tool must be marked with a code comment that names the AI model you used, placed at those lines. For example, a comment such as // generated with [model name] next to the pasted lines.</a:t>
            </a:r>
          </a:p>
          <a:p>
            <a:pPr marL="0" lvl="0" indent="0" algn="l" rtl="0">
              <a:lnSpc>
                <a:spcPct val="100000"/>
              </a:lnSpc>
              <a:spcBef>
                <a:spcPts val="0"/>
              </a:spcBef>
              <a:spcAft>
                <a:spcPts val="600"/>
              </a:spcAft>
              <a:buSzPts val="1400"/>
              <a:buNone/>
            </a:pPr>
            <a:r>
              <a:rPr lang="en-US" dirty="0"/>
              <a:t>This connects to the previous slide: the course focuses on implementation, so the skill that matters is writing and debugging real code on the 150 MHz processor. A common mistake is pasting AI code that uses register names or functions that do not exist on the F28379D. Always check against the documentation.</a:t>
            </a:r>
          </a:p>
          <a:p>
            <a:pPr marL="0" lvl="0" indent="0" algn="l" rtl="0">
              <a:lnSpc>
                <a:spcPct val="100000"/>
              </a:lnSpc>
              <a:spcBef>
                <a:spcPts val="0"/>
              </a:spcBef>
              <a:spcAft>
                <a:spcPts val="600"/>
              </a:spcAft>
              <a:buSzPts val="1400"/>
              <a:buNone/>
            </a:pPr>
            <a:r>
              <a:rPr lang="en-US" dirty="0"/>
              <a:t>Next, we look at the first lab.</a:t>
            </a:r>
          </a:p>
        </p:txBody>
      </p:sp>
      <p:sp>
        <p:nvSpPr>
          <p:cNvPr id="116" name="Google Shape;116;p29:notes">
            <a:extLst>
              <a:ext uri="{FF2B5EF4-FFF2-40B4-BE49-F238E27FC236}">
                <a16:creationId xmlns:a16="http://schemas.microsoft.com/office/drawing/2014/main" id="{A70D2F94-4193-9C5D-98BB-A37AE9C0DE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582900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3C3D80-17B4-E8F4-D489-8C7AD9C0F1B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B5230F-84E1-00CA-7B29-86E5F5209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practical details for your first lab session. It is a text slide with a short bulleted list, a bold centered warning, and a closing reminder.</a:t>
            </a:r>
          </a:p>
          <a:p>
            <a:pPr marL="0" lvl="0" indent="0" algn="l" rtl="0">
              <a:lnSpc>
                <a:spcPct val="100000"/>
              </a:lnSpc>
              <a:spcBef>
                <a:spcPts val="0"/>
              </a:spcBef>
              <a:spcAft>
                <a:spcPts val="600"/>
              </a:spcAft>
              <a:buSzPts val="1400"/>
              <a:buNone/>
            </a:pPr>
            <a:r>
              <a:rPr lang="en-US" dirty="0"/>
              <a:t>First, bring your laptop to lab so you can install the software used all semester: Code Composer Studio, version 12. On the slide, the name CodeComposer is underlined as a link to the download. Code Composer Studio is Texas Instruments' development environment. You use it to write, compile, flash, and debug the C code that runs on the TMS320F28379D Red Board. Install version 12 and not the newer version 20, because version 20 is still being tested for this course. A common mistake is grabbing the latest version from the TI website, so check the version number before you install.</a:t>
            </a:r>
          </a:p>
          <a:p>
            <a:pPr marL="0" lvl="0" indent="0" algn="l" rtl="0">
              <a:lnSpc>
                <a:spcPct val="100000"/>
              </a:lnSpc>
              <a:spcBef>
                <a:spcPts val="0"/>
              </a:spcBef>
              <a:spcAft>
                <a:spcPts val="600"/>
              </a:spcAft>
              <a:buSzPts val="1400"/>
              <a:buNone/>
            </a:pPr>
            <a:r>
              <a:rPr lang="en-US" dirty="0"/>
              <a:t>Second, bring your I-Card to the lab this week to get lab access. Once you have access, you can use the lab 24 hours a day, and you can take your board home to keep working.</a:t>
            </a:r>
          </a:p>
          <a:p>
            <a:pPr marL="0" lvl="0" indent="0" algn="l" rtl="0">
              <a:lnSpc>
                <a:spcPct val="100000"/>
              </a:lnSpc>
              <a:spcBef>
                <a:spcPts val="0"/>
              </a:spcBef>
              <a:spcAft>
                <a:spcPts val="600"/>
              </a:spcAft>
              <a:buSzPts val="1400"/>
              <a:buNone/>
            </a:pPr>
            <a:r>
              <a:rPr lang="en-US" dirty="0"/>
              <a:t>Third, you work in groups of two. That is why the next point matters: in bold, the slide says do not come late to labs. Being late slows down your partner, and the course would rather not have to start taking off points for attendance.</a:t>
            </a:r>
          </a:p>
          <a:p>
            <a:pPr marL="0" lvl="0" indent="0" algn="l" rtl="0">
              <a:lnSpc>
                <a:spcPct val="100000"/>
              </a:lnSpc>
              <a:spcBef>
                <a:spcPts val="0"/>
              </a:spcBef>
              <a:spcAft>
                <a:spcPts val="600"/>
              </a:spcAft>
              <a:buSzPts val="1400"/>
              <a:buNone/>
            </a:pPr>
            <a:r>
              <a:rPr lang="en-US" dirty="0"/>
              <a:t>Finally, read the lab instructions before you arrive. You and your partner then spend lab time building and debugging instead of reading.</a:t>
            </a:r>
          </a:p>
          <a:p>
            <a:pPr marL="0" lvl="0" indent="0" algn="l" rtl="0">
              <a:lnSpc>
                <a:spcPct val="100000"/>
              </a:lnSpc>
              <a:spcBef>
                <a:spcPts val="0"/>
              </a:spcBef>
              <a:spcAft>
                <a:spcPts val="600"/>
              </a:spcAft>
              <a:buSzPts val="1400"/>
              <a:buNone/>
            </a:pPr>
            <a:r>
              <a:rPr lang="en-US" dirty="0"/>
              <a:t>This connects to the last slide: the starter code you receive opens in Code Composer Studio. Next, we look at Homework 1.</a:t>
            </a:r>
          </a:p>
        </p:txBody>
      </p:sp>
      <p:sp>
        <p:nvSpPr>
          <p:cNvPr id="116" name="Google Shape;116;p29:notes">
            <a:extLst>
              <a:ext uri="{FF2B5EF4-FFF2-40B4-BE49-F238E27FC236}">
                <a16:creationId xmlns:a16="http://schemas.microsoft.com/office/drawing/2014/main" id="{64117CBB-74D5-22BE-D047-356B6AA3C0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06660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CB7772-1A40-4A87-09B4-79F90EC6EC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8C71F5-83CA-2E04-53E5-651EE14397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Homework 1," is a text-only list of five points about the first homework and about homework in general. There are no figures.</a:t>
            </a:r>
          </a:p>
          <a:p>
            <a:pPr marL="0" lvl="0" indent="0" algn="l" rtl="0">
              <a:lnSpc>
                <a:spcPct val="100000"/>
              </a:lnSpc>
              <a:spcBef>
                <a:spcPts val="0"/>
              </a:spcBef>
              <a:spcAft>
                <a:spcPts val="600"/>
              </a:spcAft>
              <a:buSzPts val="1400"/>
              <a:buNone/>
            </a:pPr>
            <a:r>
              <a:rPr lang="en-US" dirty="0"/>
              <a:t>The first point is an honest warning: this class has a high level of frustration. Working with hardware and software together takes a lot of time, especially if you are completely new to it. A bug can come from your C code, your wiring, a peripheral setting, or the board itself, and tracking it down takes patience.</a:t>
            </a:r>
          </a:p>
          <a:p>
            <a:pPr marL="0" lvl="0" indent="0" algn="l" rtl="0">
              <a:lnSpc>
                <a:spcPct val="100000"/>
              </a:lnSpc>
              <a:spcBef>
                <a:spcPts val="0"/>
              </a:spcBef>
              <a:spcAft>
                <a:spcPts val="600"/>
              </a:spcAft>
              <a:buSzPts val="1400"/>
              <a:buNone/>
            </a:pPr>
            <a:r>
              <a:rPr lang="en-US" dirty="0"/>
              <a:t>Homework 1 asks C programming questions. It includes a link to a LinkedIn course that teaches you more or less all the C you need for this class. If you have little C experience, work through that course now, because every later lab and homework on the Red Board builds on it.</a:t>
            </a:r>
          </a:p>
          <a:p>
            <a:pPr marL="0" lvl="0" indent="0" algn="l" rtl="0">
              <a:lnSpc>
                <a:spcPct val="100000"/>
              </a:lnSpc>
              <a:spcBef>
                <a:spcPts val="0"/>
              </a:spcBef>
              <a:spcAft>
                <a:spcPts val="600"/>
              </a:spcAft>
              <a:buSzPts val="1400"/>
              <a:buNone/>
            </a:pPr>
            <a:r>
              <a:rPr lang="en-US" dirty="0"/>
              <a:t>That is why the slide says to get started early. Problems that seem small often take hours.</a:t>
            </a:r>
          </a:p>
          <a:p>
            <a:pPr marL="0" lvl="0" indent="0" algn="l" rtl="0">
              <a:lnSpc>
                <a:spcPct val="100000"/>
              </a:lnSpc>
              <a:spcBef>
                <a:spcPts val="0"/>
              </a:spcBef>
              <a:spcAft>
                <a:spcPts val="600"/>
              </a:spcAft>
              <a:buSzPts val="1400"/>
              <a:buNone/>
            </a:pPr>
            <a:r>
              <a:rPr lang="en-US" dirty="0"/>
              <a:t>On collaboration, you are welcome to work on the homeworks together. What the course staff do not want to see is identical C code. Discuss ideas, but write your own code. In your code, add individual comments that explain what you just did, and put your initials at the beginning of each comment line. For example: // AB: set the timer period so the interrupt runs every 1 ms. These comments show your own understanding, much like the AI-attribution comments from the earlier slide.</a:t>
            </a:r>
          </a:p>
          <a:p>
            <a:pPr marL="0" lvl="0" indent="0" algn="l" rtl="0">
              <a:lnSpc>
                <a:spcPct val="100000"/>
              </a:lnSpc>
              <a:spcBef>
                <a:spcPts val="0"/>
              </a:spcBef>
              <a:spcAft>
                <a:spcPts val="600"/>
              </a:spcAft>
              <a:buSzPts val="1400"/>
              <a:buNone/>
            </a:pPr>
            <a:r>
              <a:rPr lang="en-US" dirty="0"/>
              <a:t>Quick check: if you and a friend solve a problem together, what makes your submissions acceptable? Your code must be your own, with comments in your words carrying your initials.</a:t>
            </a:r>
          </a:p>
          <a:p>
            <a:pPr marL="0" lvl="0" indent="0" algn="l" rtl="0">
              <a:lnSpc>
                <a:spcPct val="100000"/>
              </a:lnSpc>
              <a:spcBef>
                <a:spcPts val="0"/>
              </a:spcBef>
              <a:spcAft>
                <a:spcPts val="600"/>
              </a:spcAft>
              <a:buSzPts val="1400"/>
              <a:buNone/>
            </a:pPr>
            <a:r>
              <a:rPr lang="en-US" dirty="0"/>
              <a:t>Next, we look at the LabVIEW assignments, which you can also start right away.</a:t>
            </a:r>
          </a:p>
        </p:txBody>
      </p:sp>
      <p:sp>
        <p:nvSpPr>
          <p:cNvPr id="116" name="Google Shape;116;p29:notes">
            <a:extLst>
              <a:ext uri="{FF2B5EF4-FFF2-40B4-BE49-F238E27FC236}">
                <a16:creationId xmlns:a16="http://schemas.microsoft.com/office/drawing/2014/main" id="{B6560BBD-463E-839F-F1F8-3F9C829BB7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12233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0CC6AF-5061-9F26-0EB3-8BEA76CFD4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DA424E-36AD-72F4-896A-F83BC4E5B2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LabVIEW assignments, the third type of work in the course after the labs and the C programming homework. It is a text-only slide with a list of points. One of them, "Install it in WebStore," contains a link to the university WebStore, and the words "Get started" are underlined for emphasis.</a:t>
            </a:r>
          </a:p>
          <a:p>
            <a:pPr marL="0" lvl="0" indent="0" algn="l" rtl="0">
              <a:lnSpc>
                <a:spcPct val="100000"/>
              </a:lnSpc>
              <a:spcBef>
                <a:spcPts val="0"/>
              </a:spcBef>
              <a:spcAft>
                <a:spcPts val="600"/>
              </a:spcAft>
              <a:buSzPts val="1400"/>
              <a:buNone/>
            </a:pPr>
            <a:r>
              <a:rPr lang="en-US" dirty="0"/>
              <a:t>LabVIEW is a graphical programming environment from National Instruments. In this course you use it for visualization: a real-time graphical user interface, or GUI, that shows the robot's coordinates as it moves. That lets you watch the position your Red Board code is computing. The course is working on converting these tools to Python, but for now LabVIEW is what you use.</a:t>
            </a:r>
          </a:p>
          <a:p>
            <a:pPr marL="0" lvl="0" indent="0" algn="l" rtl="0">
              <a:lnSpc>
                <a:spcPct val="100000"/>
              </a:lnSpc>
              <a:spcBef>
                <a:spcPts val="0"/>
              </a:spcBef>
              <a:spcAft>
                <a:spcPts val="600"/>
              </a:spcAft>
              <a:buSzPts val="1400"/>
              <a:buNone/>
            </a:pPr>
            <a:r>
              <a:rPr lang="en-US" dirty="0"/>
              <a:t>You can start right away in one of two ways. You can install LabVIEW from the WebStore, but be careful: the installation can take up to 4 hours, so do not start it the night before you need it. Alternatively, you can run it through Citrix Workspace on the EWS workstations.</a:t>
            </a:r>
          </a:p>
          <a:p>
            <a:pPr marL="0" lvl="0" indent="0" algn="l" rtl="0">
              <a:lnSpc>
                <a:spcPct val="100000"/>
              </a:lnSpc>
              <a:spcBef>
                <a:spcPts val="0"/>
              </a:spcBef>
              <a:spcAft>
                <a:spcPts val="600"/>
              </a:spcAft>
              <a:buSzPts val="1400"/>
              <a:buNone/>
            </a:pPr>
            <a:r>
              <a:rPr lang="en-US" dirty="0"/>
              <a:t>Start these assignments early too, because LabVIEW is already used in Lab 2. The assignments themselves are straightforward. You follow the provided videos and paste an image of your result into the assignment document. They are checked only for completion, and LabVIEW 3 and 4 are optional.</a:t>
            </a:r>
          </a:p>
          <a:p>
            <a:pPr marL="0" lvl="0" indent="0" algn="l" rtl="0">
              <a:lnSpc>
                <a:spcPct val="100000"/>
              </a:lnSpc>
              <a:spcBef>
                <a:spcPts val="0"/>
              </a:spcBef>
              <a:spcAft>
                <a:spcPts val="600"/>
              </a:spcAft>
              <a:buSzPts val="1400"/>
              <a:buNone/>
            </a:pPr>
            <a:r>
              <a:rPr lang="en-US" dirty="0"/>
              <a:t>A common mistake is assuming the install will be quick. Plan for the full 4 hours, or use Citrix as your fallback.</a:t>
            </a:r>
          </a:p>
          <a:p>
            <a:pPr marL="0" lvl="0" indent="0" algn="l" rtl="0">
              <a:lnSpc>
                <a:spcPct val="100000"/>
              </a:lnSpc>
              <a:spcBef>
                <a:spcPts val="0"/>
              </a:spcBef>
              <a:spcAft>
                <a:spcPts val="600"/>
              </a:spcAft>
              <a:buSzPts val="1400"/>
              <a:buNone/>
            </a:pPr>
            <a:r>
              <a:rPr lang="en-US" dirty="0"/>
              <a:t>As with the labs and homework, some of these assignments involve showing your work to a TA, which brings us to check-offs on the next slide.</a:t>
            </a:r>
          </a:p>
        </p:txBody>
      </p:sp>
      <p:sp>
        <p:nvSpPr>
          <p:cNvPr id="116" name="Google Shape;116;p29:notes">
            <a:extLst>
              <a:ext uri="{FF2B5EF4-FFF2-40B4-BE49-F238E27FC236}">
                <a16:creationId xmlns:a16="http://schemas.microsoft.com/office/drawing/2014/main" id="{EB50A763-8516-480E-32F9-6B00370E5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576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88A1F4-D056-C0FA-E0F1-B527A88AC0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5E1765-AD46-3CC5-047F-C1FF55768B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Check-offs," explains how your work is verified in person. The text says that throughout the assignments (labs, homeworks, and LabVIEW) you are asked to show checkpoints to the TAs. A check-off takes one of two forms: you show something working, or you answer a question. Both you and your teammate must be present for these checks; otherwise you are asked to do the check at another time. If you need a different time, contact the instructors or TAs to schedule it.</a:t>
            </a:r>
          </a:p>
          <a:p>
            <a:pPr marL="0" lvl="0" indent="0" algn="l" rtl="0">
              <a:lnSpc>
                <a:spcPct val="100000"/>
              </a:lnSpc>
              <a:spcBef>
                <a:spcPts val="0"/>
              </a:spcBef>
              <a:spcAft>
                <a:spcPts val="600"/>
              </a:spcAft>
              <a:buSzPts val="1400"/>
              <a:buNone/>
            </a:pPr>
            <a:r>
              <a:rPr lang="en-US" dirty="0"/>
              <a:t>We just covered the LabVIEW assignments. Check-offs apply to those, to the labs, and to the homeworks.</a:t>
            </a:r>
          </a:p>
          <a:p>
            <a:pPr marL="0" lvl="0" indent="0" algn="l" rtl="0">
              <a:lnSpc>
                <a:spcPct val="100000"/>
              </a:lnSpc>
              <a:spcBef>
                <a:spcPts val="0"/>
              </a:spcBef>
              <a:spcAft>
                <a:spcPts val="600"/>
              </a:spcAft>
              <a:buSzPts val="1400"/>
              <a:buNone/>
            </a:pPr>
            <a:r>
              <a:rPr lang="en-US" dirty="0"/>
              <a:t>A check-off confirms that you understand what you built. "Showing something working" might mean your Red Board blinking LEDs, or your robot's coordinates updating in the LabVIEW display. The question part matters just as much. A TA might ask why your code behaves a certain way, or what a specific line does. That is why both teammates need to be there: each of you should be able to explain the work, not just the person who typed it.</a:t>
            </a:r>
          </a:p>
          <a:p>
            <a:pPr marL="0" lvl="0" indent="0" algn="l" rtl="0">
              <a:lnSpc>
                <a:spcPct val="100000"/>
              </a:lnSpc>
              <a:spcBef>
                <a:spcPts val="0"/>
              </a:spcBef>
              <a:spcAft>
                <a:spcPts val="600"/>
              </a:spcAft>
              <a:buSzPts val="1400"/>
              <a:buNone/>
            </a:pPr>
            <a:r>
              <a:rPr lang="en-US" dirty="0"/>
              <a:t>A common mistake is to get a checkpoint working and then wait until your partner shows up, losing lab time. Coordinate with your teammate so you are both present when you are ready. If that is not possible, reach out early to schedule another time.</a:t>
            </a:r>
          </a:p>
          <a:p>
            <a:pPr marL="0" lvl="0" indent="0" algn="l" rtl="0">
              <a:lnSpc>
                <a:spcPct val="100000"/>
              </a:lnSpc>
              <a:spcBef>
                <a:spcPts val="0"/>
              </a:spcBef>
              <a:spcAft>
                <a:spcPts val="600"/>
              </a:spcAft>
              <a:buSzPts val="1400"/>
              <a:buNone/>
            </a:pPr>
            <a:r>
              <a:rPr lang="en-US" dirty="0"/>
              <a:t>Next, we look at how you submit the code behind these checkpoints through Gradescope.</a:t>
            </a:r>
          </a:p>
        </p:txBody>
      </p:sp>
      <p:sp>
        <p:nvSpPr>
          <p:cNvPr id="116" name="Google Shape;116;p29:notes">
            <a:extLst>
              <a:ext uri="{FF2B5EF4-FFF2-40B4-BE49-F238E27FC236}">
                <a16:creationId xmlns:a16="http://schemas.microsoft.com/office/drawing/2014/main" id="{8C4CB106-30E6-6C88-387E-D781D7CD23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11252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BCE40-BD64-AF39-A989-06CC33028A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1FFABA-1185-BE31-5F65-5848C8EFD0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how you turn in code. You submit your commented code in Gradescope, and if your code is not commented, points are taken off. You compile the whole assignment into a single PDF, and you answer any other questions inside that same assignment document rather than separately.</a:t>
            </a:r>
          </a:p>
          <a:p>
            <a:pPr marL="0" lvl="0" indent="0" algn="l" rtl="0">
              <a:lnSpc>
                <a:spcPct val="100000"/>
              </a:lnSpc>
              <a:spcBef>
                <a:spcPts val="0"/>
              </a:spcBef>
              <a:spcAft>
                <a:spcPts val="600"/>
              </a:spcAft>
              <a:buSzPts val="1400"/>
              <a:buNone/>
            </a:pPr>
            <a:r>
              <a:rPr lang="en-US" dirty="0"/>
              <a:t>The bottom half of the slide is an example of a properly commented function, shown in code formatting. A first comment line reads: cpu_timer1_isr, CPU Timer1 ISR. Next is the declaration: __interrupt void cpu_timer1_isr(void). The body has one statement, CpuTimer1.InterruptCount++; with the trailing comment "MJ: Increments the timer's internal interrupt counter."</a:t>
            </a:r>
          </a:p>
          <a:p>
            <a:pPr marL="0" lvl="0" indent="0" algn="l" rtl="0">
              <a:lnSpc>
                <a:spcPct val="100000"/>
              </a:lnSpc>
              <a:spcBef>
                <a:spcPts val="0"/>
              </a:spcBef>
              <a:spcAft>
                <a:spcPts val="600"/>
              </a:spcAft>
              <a:buSzPts val="1400"/>
              <a:buNone/>
            </a:pPr>
            <a:r>
              <a:rPr lang="en-US" dirty="0"/>
              <a:t>ISR stands for interrupt service routine: a function the processor runs automatically when a hardware event occurs, here CPU Timer 1 expiring. The __interrupt keyword tells the TI compiler to treat the function as an ISR, so it saves and restores the processor state correctly. The single line just counts how many times the timer has fired. You write many of these timer ISRs on the Red Board.</a:t>
            </a:r>
          </a:p>
          <a:p>
            <a:pPr marL="0" lvl="0" indent="0" algn="l" rtl="0">
              <a:lnSpc>
                <a:spcPct val="100000"/>
              </a:lnSpc>
              <a:spcBef>
                <a:spcPts val="0"/>
              </a:spcBef>
              <a:spcAft>
                <a:spcPts val="600"/>
              </a:spcAft>
              <a:buSzPts val="1400"/>
              <a:buNone/>
            </a:pPr>
            <a:r>
              <a:rPr lang="en-US" dirty="0"/>
              <a:t>Notice that the added comment begins with the initials MJ. That shows how to mark your own comments so the grader can tell them apart from comments that came with the starter code. Good comments explain what a line does and why, not just restate the code.</a:t>
            </a:r>
          </a:p>
          <a:p>
            <a:pPr marL="0" lvl="0" indent="0" algn="l" rtl="0">
              <a:lnSpc>
                <a:spcPct val="100000"/>
              </a:lnSpc>
              <a:spcBef>
                <a:spcPts val="0"/>
              </a:spcBef>
              <a:spcAft>
                <a:spcPts val="600"/>
              </a:spcAft>
              <a:buSzPts val="1400"/>
              <a:buNone/>
            </a:pPr>
            <a:r>
              <a:rPr lang="en-US" dirty="0"/>
              <a:t>A quick check: if this timer fires every millisecond, what does InterruptCount equal after two seconds? The answer is 2000.</a:t>
            </a:r>
          </a:p>
          <a:p>
            <a:pPr marL="0" lvl="0" indent="0" algn="l" rtl="0">
              <a:lnSpc>
                <a:spcPct val="100000"/>
              </a:lnSpc>
              <a:spcBef>
                <a:spcPts val="0"/>
              </a:spcBef>
              <a:spcAft>
                <a:spcPts val="600"/>
              </a:spcAft>
              <a:buSzPts val="1400"/>
              <a:buNone/>
            </a:pPr>
            <a:r>
              <a:rPr lang="en-US" dirty="0"/>
              <a:t>Your code only counts if it still exists at submission time, so next we look at git, which you use to back it up.</a:t>
            </a:r>
          </a:p>
        </p:txBody>
      </p:sp>
      <p:sp>
        <p:nvSpPr>
          <p:cNvPr id="116" name="Google Shape;116;p29:notes">
            <a:extLst>
              <a:ext uri="{FF2B5EF4-FFF2-40B4-BE49-F238E27FC236}">
                <a16:creationId xmlns:a16="http://schemas.microsoft.com/office/drawing/2014/main" id="{F9B257F2-2665-4F4C-A1EB-9CB2B00919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4774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6C5458-3ACF-44FA-15E4-EFE9DBA79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129537-9ADB-ECF0-E75E-6A88D778C7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Git," has four bullet points and, below them, the Git logo (an orange diamond with a branching line) beside the GitHub logo (the black octocat silhouette above the word GitHub). Together they show that you use git for version control, with GitHub hosting your repositories.</a:t>
            </a:r>
          </a:p>
          <a:p>
            <a:pPr marL="0" lvl="0" indent="0" algn="l" rtl="0">
              <a:lnSpc>
                <a:spcPct val="100000"/>
              </a:lnSpc>
              <a:spcBef>
                <a:spcPts val="0"/>
              </a:spcBef>
              <a:spcAft>
                <a:spcPts val="600"/>
              </a:spcAft>
              <a:buSzPts val="1400"/>
              <a:buNone/>
            </a:pPr>
            <a:r>
              <a:rPr lang="en-US" dirty="0"/>
              <a:t>Version control is software that records the history of your files, so you can see what changed, when, and go back to an earlier working version. The slide calls it a backup system, which is a good starting picture. Two terms matter. A commit is a saved snapshot of your changes, stored on the machine you are working on. A push copies those commits up to the remote repository on GitHub. A commit that is never pushed exists only on that lab computer, so if the computer's copy is changed or wiped, your work is gone. That is why the slide says to commit and push often.</a:t>
            </a:r>
          </a:p>
          <a:p>
            <a:pPr marL="0" lvl="0" indent="0" algn="l" rtl="0">
              <a:lnSpc>
                <a:spcPct val="100000"/>
              </a:lnSpc>
              <a:spcBef>
                <a:spcPts val="0"/>
              </a:spcBef>
              <a:spcAft>
                <a:spcPts val="600"/>
              </a:spcAft>
              <a:buSzPts val="1400"/>
              <a:buNone/>
            </a:pPr>
            <a:r>
              <a:rPr lang="en-US" dirty="0"/>
              <a:t>The third point explains why this matters so much here: you share the lab machines with every other section. It is highly probable that someone will accidentally edit or overwrite your project, and it happens very often. A good habit is to commit and push every time something works, and always before you leave the lab. When you sit down again, pull first so you start from your own latest code.</a:t>
            </a:r>
          </a:p>
          <a:p>
            <a:pPr marL="0" lvl="0" indent="0" algn="l" rtl="0">
              <a:lnSpc>
                <a:spcPct val="100000"/>
              </a:lnSpc>
              <a:spcBef>
                <a:spcPts val="0"/>
              </a:spcBef>
              <a:spcAft>
                <a:spcPts val="600"/>
              </a:spcAft>
              <a:buSzPts val="1400"/>
              <a:buNone/>
            </a:pPr>
            <a:r>
              <a:rPr lang="en-US" dirty="0"/>
              <a:t>Finally, nearly every software-related job uses git, so building the habit now pays off well beyond this course. Your commented code from the previous slide lives in git, and the next slide covers when those submissions are due.</a:t>
            </a:r>
          </a:p>
        </p:txBody>
      </p:sp>
      <p:sp>
        <p:nvSpPr>
          <p:cNvPr id="116" name="Google Shape;116;p29:notes">
            <a:extLst>
              <a:ext uri="{FF2B5EF4-FFF2-40B4-BE49-F238E27FC236}">
                <a16:creationId xmlns:a16="http://schemas.microsoft.com/office/drawing/2014/main" id="{7E30D006-F244-B2A5-2C44-E1D54350E1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000390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9CD1A23-0C49-2E22-A8AB-D666B012F2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E1BD8C-FC8F-38FC-2886-D053DE5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Submission Deadline," lists three text items and has no figures. Checkoffs are always due Tuesdays at 5 PM. Code submissions and questions are always due Wednesdays at 9 AM. Lab submission deadlines fall on the Tuesday of the week when the next lab starts.</a:t>
            </a:r>
          </a:p>
          <a:p>
            <a:pPr marL="0" lvl="0" indent="0" algn="l" rtl="0">
              <a:lnSpc>
                <a:spcPct val="100000"/>
              </a:lnSpc>
              <a:spcBef>
                <a:spcPts val="0"/>
              </a:spcBef>
              <a:spcAft>
                <a:spcPts val="600"/>
              </a:spcAft>
              <a:buSzPts val="1400"/>
              <a:buNone/>
            </a:pPr>
            <a:r>
              <a:rPr lang="en-US" dirty="0"/>
              <a:t>The previous slides covered the pieces of each lab: the checkoff, where you demonstrate your working code on the Red Board; the commented code you compile as a PDF and upload to Gradescope; and git, which keeps your work safe. This slide tells you when each piece is due. The days are fixed for the whole semester. The checkoff comes first, on Tuesday afternoon. Your code and written answers follow the next morning, on Wednesday. Use that gap to clean up your comments and finish the questions. Each lab ends on the Tuesday of the week the next lab begins, so the lab you are working on is wrapped up by the time the next one starts.</a:t>
            </a:r>
          </a:p>
          <a:p>
            <a:pPr marL="0" lvl="0" indent="0" algn="l" rtl="0">
              <a:lnSpc>
                <a:spcPct val="100000"/>
              </a:lnSpc>
              <a:spcBef>
                <a:spcPts val="0"/>
              </a:spcBef>
              <a:spcAft>
                <a:spcPts val="600"/>
              </a:spcAft>
              <a:buSzPts val="1400"/>
              <a:buNone/>
            </a:pPr>
            <a:r>
              <a:rPr lang="en-US" dirty="0"/>
              <a:t>A common mistake is treating the Wednesday code deadline as the end of the lab. The checkoff has to be done by Tuesday at 5 PM, and it requires working hardware on a shared lab bench. Plan your time on the bench early, and commit and push your code often so it is ready when you demo.</a:t>
            </a:r>
          </a:p>
          <a:p>
            <a:pPr marL="0" lvl="0" indent="0" algn="l" rtl="0">
              <a:lnSpc>
                <a:spcPct val="100000"/>
              </a:lnSpc>
              <a:spcBef>
                <a:spcPts val="0"/>
              </a:spcBef>
              <a:spcAft>
                <a:spcPts val="600"/>
              </a:spcAft>
              <a:buSzPts val="1400"/>
              <a:buNone/>
            </a:pPr>
            <a:r>
              <a:rPr lang="en-US" dirty="0"/>
              <a:t>Next, we look at what you should do before the next class.</a:t>
            </a:r>
          </a:p>
        </p:txBody>
      </p:sp>
      <p:sp>
        <p:nvSpPr>
          <p:cNvPr id="116" name="Google Shape;116;p29:notes">
            <a:extLst>
              <a:ext uri="{FF2B5EF4-FFF2-40B4-BE49-F238E27FC236}">
                <a16:creationId xmlns:a16="http://schemas.microsoft.com/office/drawing/2014/main" id="{38395A55-E0B5-FE75-8ED4-2891E6A73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64742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05765B-49B2-BBA3-6C7E-95B3EC8CA0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B972CF-A6FF-BF5B-B1DB-3AE208A4FA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Next Steps," lists three things to do before the next lecture: Homework 1 Question 1 and Reading Question 4, LabVIEW Assignment 1, and reading Lab 1 before next week.</a:t>
            </a:r>
          </a:p>
          <a:p>
            <a:pPr marL="0" lvl="0" indent="0" algn="l" rtl="0">
              <a:lnSpc>
                <a:spcPct val="100000"/>
              </a:lnSpc>
              <a:spcBef>
                <a:spcPts val="0"/>
              </a:spcBef>
              <a:spcAft>
                <a:spcPts val="600"/>
              </a:spcAft>
              <a:buSzPts val="1400"/>
              <a:buNone/>
            </a:pPr>
            <a:r>
              <a:rPr lang="en-US" dirty="0"/>
              <a:t>Reading Lab 1 ahead of time matters most. Lab time goes much further when you arrive knowing what the Red Board exercises ask. Keep the deadline pattern from the previous slide in mind, and remember to commit and push your work to git.</a:t>
            </a:r>
          </a:p>
          <a:p>
            <a:pPr marL="0" lvl="0" indent="0" algn="l" rtl="0">
              <a:lnSpc>
                <a:spcPct val="100000"/>
              </a:lnSpc>
              <a:spcBef>
                <a:spcPts val="0"/>
              </a:spcBef>
              <a:spcAft>
                <a:spcPts val="600"/>
              </a:spcAft>
              <a:buSzPts val="1400"/>
              <a:buNone/>
            </a:pPr>
            <a:r>
              <a:rPr lang="en-US" dirty="0"/>
              <a:t>Next, we take questions.</a:t>
            </a:r>
          </a:p>
        </p:txBody>
      </p:sp>
      <p:sp>
        <p:nvSpPr>
          <p:cNvPr id="116" name="Google Shape;116;p29:notes">
            <a:extLst>
              <a:ext uri="{FF2B5EF4-FFF2-40B4-BE49-F238E27FC236}">
                <a16:creationId xmlns:a16="http://schemas.microsoft.com/office/drawing/2014/main" id="{B9E70C8A-799F-9D6F-3056-22A74D92D6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80824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has a dark navy background with faint hand-drawn engineering sketches: a cube with flux arrows, partial derivative equations, molecular structures, and a commutative diagram. Centered in large white text is "Questions?", and below it: "Students that have been unable to register, come talk to me after class."</a:t>
            </a:r>
          </a:p>
          <a:p>
            <a:pPr marL="0" lvl="0" indent="0" algn="l" rtl="0">
              <a:spcBef>
                <a:spcPts val="0"/>
              </a:spcBef>
              <a:spcAft>
                <a:spcPts val="600"/>
              </a:spcAft>
              <a:buNone/>
            </a:pPr>
            <a:r>
              <a:rPr lang="en-US" dirty="0"/>
              <a:t>This is your chance to ask about anything from today: the Red Board, check-offs, code submissions, Git, or the deadlines and next steps on the last two slides. If you have not been able to register yet, see me after class.</a:t>
            </a: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 It is the Grainger College of Engineering branding slide: an orange background with the block I logo, the words "The Grainger College of Engineering, University of Illinois Urbana-Champaign," and faint hand-drawn sketches of equations, a cube, a sphere, chemical structures and a diagram as decoration.</a:t>
            </a:r>
          </a:p>
          <a:p>
            <a:pPr marL="0" lvl="0" indent="0" algn="l" rtl="0">
              <a:spcBef>
                <a:spcPts val="0"/>
              </a:spcBef>
              <a:spcAft>
                <a:spcPts val="600"/>
              </a:spcAft>
              <a:buNone/>
            </a:pPr>
            <a:r>
              <a:rPr lang="en-US" dirty="0"/>
              <a:t>Before next week, work on HW1 Question 1 and Reading Question 4, start LabVIEW Assignment 1, and read Lab 1 so you arrive ready to use the Red Board.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canvas.illinois.edu/courses/64094" TargetMode="External"/><Relationship Id="rId7" Type="http://schemas.openxmlformats.org/officeDocument/2006/relationships/hyperlink" Target="https://github.com/Marius-Juston/SE-423---Class-Materia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hyperlink" Target="https://marius-juston.github.io/SE-423---Class-Material/" TargetMode="External"/><Relationship Id="rId5" Type="http://schemas.openxmlformats.org/officeDocument/2006/relationships/hyperlink" Target="https://coecsl.ece.illinois.edu/se423/" TargetMode="External"/><Relationship Id="rId4" Type="http://schemas.openxmlformats.org/officeDocument/2006/relationships/hyperlink" Target="https://www.gradescope.com/courses/1232277"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ti.com/tool/CCSTUDIO"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webstore.illinois.edu/shop/product.aspx?zpid=1254"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1.pdf"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tkinson Hyperlegible Next"/>
                <a:ea typeface="Arial"/>
                <a:cs typeface="Arial"/>
                <a:sym typeface="Arial"/>
              </a:rPr>
              <a:t>SE 423: Introduction to Mechatronics</a:t>
            </a:r>
            <a:endParaRPr sz="4500" b="0" i="0" u="none" strike="noStrike" cap="none" dirty="0">
              <a:solidFill>
                <a:srgbClr val="000000"/>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2500" dirty="0">
                <a:solidFill>
                  <a:schemeClr val="lt1"/>
                </a:solidFill>
              </a:rPr>
              <a:t>Lecture 1: Introduction</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January 21</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solidFill>
                  <a:schemeClr val="tx1"/>
                </a:solidFill>
                <a:latin typeface="Atkinson Hyperlegible Next"/>
                <a:ea typeface="Arial"/>
                <a:cs typeface="Arial"/>
                <a:sym typeface="Arial"/>
              </a:rPr>
              <a:t>Lectures: </a:t>
            </a:r>
            <a:r>
              <a:rPr lang="en-US" sz="2000" dirty="0">
                <a:solidFill>
                  <a:schemeClr val="tx1"/>
                </a:solidFill>
                <a:latin typeface="Atkinson Hyperlegible Next"/>
                <a:ea typeface="Arial"/>
                <a:cs typeface="Arial"/>
                <a:sym typeface="Arial"/>
              </a:rPr>
              <a:t>Monday and Wednesday 9:00am-9:50am</a:t>
            </a:r>
          </a:p>
          <a:p>
            <a:pPr marL="0" lvl="0" indent="0" algn="l" rtl="0">
              <a:lnSpc>
                <a:spcPct val="100000"/>
              </a:lnSpc>
              <a:spcBef>
                <a:spcPts val="0"/>
              </a:spcBef>
              <a:spcAft>
                <a:spcPts val="0"/>
              </a:spcAft>
              <a:buSzPts val="2000"/>
              <a:buNone/>
            </a:pPr>
            <a:endParaRPr lang="en-US" sz="20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2000"/>
              <a:buNone/>
            </a:pPr>
            <a:r>
              <a:rPr lang="en-US" sz="2000" b="1" dirty="0">
                <a:latin typeface="Atkinson Hyperlegible Next"/>
                <a:ea typeface="Arial"/>
                <a:cs typeface="Arial"/>
                <a:sym typeface="Arial"/>
              </a:rPr>
              <a:t>Locations: </a:t>
            </a:r>
          </a:p>
          <a:p>
            <a:pPr marL="285750" indent="-285750">
              <a:lnSpc>
                <a:spcPct val="100000"/>
              </a:lnSpc>
              <a:spcBef>
                <a:spcPts val="0"/>
              </a:spcBef>
              <a:buSzPts val="2000"/>
            </a:pPr>
            <a:r>
              <a:rPr lang="en-US" sz="2000" b="1" dirty="0">
                <a:latin typeface="Atkinson Hyperlegible Next"/>
                <a:ea typeface="Arial"/>
                <a:cs typeface="Arial"/>
                <a:sym typeface="Arial"/>
              </a:rPr>
              <a:t>Lecture: </a:t>
            </a:r>
            <a:r>
              <a:rPr lang="en-US" sz="2000" dirty="0">
                <a:latin typeface="Atkinson Hyperlegible Next"/>
                <a:ea typeface="Arial"/>
                <a:cs typeface="Arial"/>
                <a:sym typeface="Arial"/>
              </a:rPr>
              <a:t>Here!</a:t>
            </a:r>
          </a:p>
          <a:p>
            <a:pPr marL="285750" indent="-285750">
              <a:lnSpc>
                <a:spcPct val="100000"/>
              </a:lnSpc>
              <a:spcBef>
                <a:spcPts val="0"/>
              </a:spcBef>
              <a:buSzPts val="2000"/>
            </a:pPr>
            <a:r>
              <a:rPr lang="en-US" sz="2000" b="1" dirty="0">
                <a:latin typeface="Atkinson Hyperlegible Next"/>
                <a:ea typeface="Arial"/>
                <a:cs typeface="Arial"/>
                <a:sym typeface="Arial"/>
              </a:rPr>
              <a:t>Lab: </a:t>
            </a:r>
            <a:r>
              <a:rPr lang="en-US" sz="2000" dirty="0">
                <a:latin typeface="Atkinson Hyperlegible Next"/>
                <a:ea typeface="Arial"/>
                <a:cs typeface="Arial"/>
                <a:sym typeface="Arial"/>
              </a:rPr>
              <a:t>ECEB 3080</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The Team:</a:t>
            </a:r>
          </a:p>
          <a:p>
            <a:pPr marL="285750" indent="-285750">
              <a:lnSpc>
                <a:spcPct val="100000"/>
              </a:lnSpc>
              <a:spcBef>
                <a:spcPts val="0"/>
              </a:spcBef>
              <a:buSzPts val="2000"/>
            </a:pPr>
            <a:r>
              <a:rPr lang="en-US" sz="2000" b="1" dirty="0">
                <a:latin typeface="Atkinson Hyperlegible Next"/>
                <a:cs typeface="Arial"/>
                <a:sym typeface="Arial"/>
              </a:rPr>
              <a:t>Marius Juston: </a:t>
            </a:r>
            <a:r>
              <a:rPr lang="en-US" sz="2000" dirty="0">
                <a:latin typeface="Atkinson Hyperlegible Next"/>
                <a:cs typeface="Arial"/>
                <a:sym typeface="Arial"/>
              </a:rPr>
              <a:t>Instructor</a:t>
            </a:r>
          </a:p>
          <a:p>
            <a:pPr marL="285750" indent="-285750">
              <a:lnSpc>
                <a:spcPct val="100000"/>
              </a:lnSpc>
              <a:spcBef>
                <a:spcPts val="0"/>
              </a:spcBef>
              <a:buSzPts val="2000"/>
            </a:pPr>
            <a:r>
              <a:rPr lang="en-US" sz="2000" b="1" dirty="0">
                <a:latin typeface="Atkinson Hyperlegible Next"/>
                <a:cs typeface="Arial"/>
                <a:sym typeface="Arial"/>
              </a:rPr>
              <a:t>Dan Block: </a:t>
            </a:r>
            <a:r>
              <a:rPr lang="en-US" sz="2000" dirty="0">
                <a:latin typeface="Atkinson Hyperlegible Next"/>
                <a:cs typeface="Arial"/>
                <a:sym typeface="Arial"/>
              </a:rPr>
              <a:t>Lab Instructor</a:t>
            </a:r>
          </a:p>
          <a:p>
            <a:pPr marL="285750" indent="-285750">
              <a:lnSpc>
                <a:spcPct val="100000"/>
              </a:lnSpc>
              <a:spcBef>
                <a:spcPts val="0"/>
              </a:spcBef>
              <a:buSzPts val="2000"/>
            </a:pPr>
            <a:r>
              <a:rPr lang="en-US" sz="2000" b="1" dirty="0">
                <a:latin typeface="Atkinson Hyperlegible Next"/>
                <a:cs typeface="Arial"/>
                <a:sym typeface="Arial"/>
              </a:rPr>
              <a:t>Lakshmi Manoj: </a:t>
            </a:r>
            <a:r>
              <a:rPr lang="en-US" sz="2000" dirty="0">
                <a:latin typeface="Atkinson Hyperlegible Next"/>
                <a:cs typeface="Arial"/>
                <a:sym typeface="Arial"/>
              </a:rPr>
              <a:t>TA</a:t>
            </a:r>
          </a:p>
          <a:p>
            <a:pPr marL="285750" indent="-285750">
              <a:lnSpc>
                <a:spcPct val="100000"/>
              </a:lnSpc>
              <a:spcBef>
                <a:spcPts val="0"/>
              </a:spcBef>
              <a:buSzPts val="2000"/>
            </a:pPr>
            <a:r>
              <a:rPr lang="en-US" sz="2000" b="1" dirty="0">
                <a:latin typeface="Atkinson Hyperlegible Next"/>
                <a:cs typeface="Arial"/>
                <a:sym typeface="Arial"/>
              </a:rPr>
              <a:t>Samuel Folorunsho</a:t>
            </a:r>
            <a:r>
              <a:rPr lang="en-US" sz="2000" dirty="0">
                <a:latin typeface="Atkinson Hyperlegible Next"/>
                <a:cs typeface="Arial"/>
                <a:sym typeface="Arial"/>
              </a:rPr>
              <a:t>: TA</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Office hours: </a:t>
            </a:r>
            <a:r>
              <a:rPr lang="en-US" sz="2000" dirty="0">
                <a:latin typeface="Atkinson Hyperlegible Next"/>
                <a:cs typeface="Arial"/>
                <a:sym typeface="Arial"/>
              </a:rPr>
              <a:t>announced and posted on Canvas when finalized.</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Picture 3" descr="Photo: Hallway in ECEB, presumably on the third floor, showing where to find the lab, ECEB 3080. Red arrows and a circle highlight a glass door partway down the corridor on the right, just past a dark gray tiled wall with a fire extinguisher cabinet. Elevators and a recycling bin are in the foreground to the right, and a row of glass-walled rooms lines the left side.">
            <a:extLst>
              <a:ext uri="{FF2B5EF4-FFF2-40B4-BE49-F238E27FC236}">
                <a16:creationId xmlns:a16="http://schemas.microsoft.com/office/drawing/2014/main" id="{F08F1229-F74C-C806-9243-DFA99F70E43C}"/>
              </a:ext>
            </a:extLst>
          </p:cNvPr>
          <p:cNvPicPr>
            <a:picLocks noChangeAspect="1"/>
          </p:cNvPicPr>
          <p:nvPr/>
        </p:nvPicPr>
        <p:blipFill>
          <a:blip r:embed="rId4"/>
          <a:stretch>
            <a:fillRect/>
          </a:stretch>
        </p:blipFill>
        <p:spPr>
          <a:xfrm>
            <a:off x="6374934" y="1684801"/>
            <a:ext cx="5179276" cy="291321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77F721-23E4-D353-5757-E80B5CDF0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0E5985-EDC1-AADE-711E-6B1E0D2314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Canvas: </a:t>
            </a:r>
            <a:r>
              <a:rPr lang="en-US" sz="2000" dirty="0">
                <a:latin typeface="Atkinson Hyperlegible Next"/>
                <a:cs typeface="Arial"/>
                <a:sym typeface="Arial"/>
                <a:hlinkClick r:id="rId3"/>
              </a:rPr>
              <a:t>https://canvas.illinois.edu/courses/64094</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Will post the lecture slides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err="1">
                <a:latin typeface="Atkinson Hyperlegible Next"/>
                <a:cs typeface="Arial"/>
                <a:sym typeface="Arial"/>
              </a:rPr>
              <a:t>Gradescope</a:t>
            </a:r>
            <a:r>
              <a:rPr lang="en-US" sz="2000" b="1" dirty="0">
                <a:latin typeface="Atkinson Hyperlegible Next"/>
                <a:cs typeface="Arial"/>
                <a:sym typeface="Arial"/>
              </a:rPr>
              <a:t>:</a:t>
            </a:r>
            <a:r>
              <a:rPr lang="en-US" sz="2000" dirty="0">
                <a:latin typeface="Atkinson Hyperlegible Next"/>
                <a:cs typeface="Arial"/>
                <a:sym typeface="Arial"/>
              </a:rPr>
              <a:t> </a:t>
            </a:r>
            <a:r>
              <a:rPr lang="en-US" sz="2000" dirty="0">
                <a:latin typeface="Atkinson Hyperlegible Next"/>
                <a:cs typeface="Arial"/>
                <a:sym typeface="Arial"/>
                <a:hlinkClick r:id="rId4"/>
              </a:rPr>
              <a:t>https://www.gradescope.com/courses/1232277</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Should have already been automatically enrolled.</a:t>
            </a:r>
          </a:p>
          <a:p>
            <a:pPr marL="0" indent="0">
              <a:lnSpc>
                <a:spcPct val="100000"/>
              </a:lnSpc>
              <a:spcBef>
                <a:spcPts val="0"/>
              </a:spcBef>
              <a:buSzPts val="2000"/>
              <a:buNone/>
            </a:pPr>
            <a:endParaRPr lang="en-US" sz="2000" b="1"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Most important link: </a:t>
            </a:r>
            <a:r>
              <a:rPr lang="en-US" sz="2000" dirty="0">
                <a:latin typeface="Atkinson Hyperlegible Next"/>
                <a:cs typeface="Arial"/>
                <a:sym typeface="Arial"/>
                <a:hlinkClick r:id="rId5"/>
              </a:rPr>
              <a:t>https://coecsl.ece.illinois.edu/se423/</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You will be using it very often this class, has the HWs, labs and final project documents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Converted documents in LaTeX</a:t>
            </a:r>
            <a:r>
              <a:rPr lang="en-US" sz="2000" dirty="0">
                <a:latin typeface="Atkinson Hyperlegible Next"/>
                <a:cs typeface="Arial"/>
                <a:sym typeface="Arial"/>
              </a:rPr>
              <a:t>:</a:t>
            </a:r>
          </a:p>
          <a:p>
            <a:pPr marL="342900">
              <a:lnSpc>
                <a:spcPct val="100000"/>
              </a:lnSpc>
              <a:spcBef>
                <a:spcPts val="0"/>
              </a:spcBef>
              <a:buSzPts val="2000"/>
            </a:pPr>
            <a:r>
              <a:rPr lang="en-US" sz="2000" dirty="0">
                <a:latin typeface="Atkinson Hyperlegible Next"/>
                <a:cs typeface="Arial"/>
                <a:sym typeface="Arial"/>
              </a:rPr>
              <a:t>Compiled PDFs: </a:t>
            </a:r>
            <a:r>
              <a:rPr lang="en-US" sz="2000" dirty="0">
                <a:latin typeface="Atkinson Hyperlegible Next"/>
                <a:cs typeface="Arial"/>
                <a:sym typeface="Arial"/>
                <a:hlinkClick r:id="rId6"/>
              </a:rPr>
              <a:t>https://marius-juston.github.io/SE-423---Class-Material/</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Raw LaTeX: </a:t>
            </a:r>
            <a:r>
              <a:rPr lang="en-US" sz="2000" dirty="0">
                <a:latin typeface="Atkinson Hyperlegible Next"/>
                <a:cs typeface="Arial"/>
                <a:sym typeface="Arial"/>
                <a:hlinkClick r:id="rId7"/>
              </a:rPr>
              <a:t>https://github.com/Marius-Juston/SE-423---Class-Material</a:t>
            </a:r>
            <a:r>
              <a:rPr lang="en-US" sz="2000" dirty="0">
                <a:latin typeface="Atkinson Hyperlegible Next"/>
                <a:cs typeface="Arial"/>
                <a:sym typeface="Arial"/>
              </a:rPr>
              <a:t> </a:t>
            </a:r>
          </a:p>
          <a:p>
            <a:pPr marL="342900">
              <a:lnSpc>
                <a:spcPct val="100000"/>
              </a:lnSpc>
              <a:spcBef>
                <a:spcPts val="0"/>
              </a:spcBef>
              <a:buSzPts val="2000"/>
            </a:pPr>
            <a:endParaRPr lang="en-US" sz="2000" dirty="0">
              <a:latin typeface="Atkinson Hyperlegible Next"/>
              <a:cs typeface="Arial"/>
              <a:sym typeface="Arial"/>
            </a:endParaRPr>
          </a:p>
        </p:txBody>
      </p:sp>
      <p:sp>
        <p:nvSpPr>
          <p:cNvPr id="119" name="Google Shape;119;p29">
            <a:extLst>
              <a:ext uri="{FF2B5EF4-FFF2-40B4-BE49-F238E27FC236}">
                <a16:creationId xmlns:a16="http://schemas.microsoft.com/office/drawing/2014/main" id="{518613D9-0997-8A4C-08E6-68DF92CE7E1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EEB73-3BCF-111E-F879-40A48F280A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09FC90-AF50-31CF-8A57-20B019C49DAF}"/>
              </a:ext>
            </a:extLst>
          </p:cNvPr>
          <p:cNvPicPr preferRelativeResize="0"/>
          <p:nvPr/>
        </p:nvPicPr>
        <p:blipFill rotWithShape="1">
          <a:blip r:embed="rId8">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3A7AD1-5AC9-0411-C52E-21701B6C53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41FCF0-674E-1D6F-61A7-93CCFF4FC2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76D79-5384-DA2A-365C-F0AD91EAD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ACCB11-85D4-F2E2-B46B-83C55066E3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583576-2FA0-5BA6-697A-96BF4516D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5320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20D0C3-0CCB-8AA6-CB9D-E026EFC202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99C0D90-B09C-DA96-8901-0EF32AD4A03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Syllabus: </a:t>
            </a:r>
            <a:r>
              <a:rPr lang="en-US" sz="2000" dirty="0">
                <a:latin typeface="Atkinson Hyperlegible Next"/>
                <a:cs typeface="Arial"/>
                <a:sym typeface="Arial"/>
              </a:rPr>
              <a:t>see course website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Course deliverables:</a:t>
            </a:r>
          </a:p>
          <a:p>
            <a:pPr marL="342900">
              <a:lnSpc>
                <a:spcPct val="100000"/>
              </a:lnSpc>
              <a:spcBef>
                <a:spcPts val="0"/>
              </a:spcBef>
              <a:buSzPts val="2000"/>
            </a:pPr>
            <a:r>
              <a:rPr lang="en-US" sz="2000" dirty="0">
                <a:latin typeface="Atkinson Hyperlegible Next"/>
                <a:cs typeface="Arial"/>
                <a:sym typeface="Arial"/>
              </a:rPr>
              <a:t>Check-off on all labs 30%</a:t>
            </a:r>
          </a:p>
          <a:p>
            <a:pPr marL="342900">
              <a:lnSpc>
                <a:spcPct val="100000"/>
              </a:lnSpc>
              <a:spcBef>
                <a:spcPts val="0"/>
              </a:spcBef>
              <a:buSzPts val="2000"/>
            </a:pPr>
            <a:r>
              <a:rPr lang="en-US" sz="2000" dirty="0">
                <a:latin typeface="Atkinson Hyperlegible Next"/>
                <a:cs typeface="Arial"/>
                <a:sym typeface="Arial"/>
              </a:rPr>
              <a:t>Homework 25%</a:t>
            </a:r>
          </a:p>
          <a:p>
            <a:pPr marL="342900">
              <a:lnSpc>
                <a:spcPct val="100000"/>
              </a:lnSpc>
              <a:spcBef>
                <a:spcPts val="0"/>
              </a:spcBef>
              <a:buSzPts val="2000"/>
            </a:pPr>
            <a:r>
              <a:rPr lang="en-US" sz="2000" dirty="0">
                <a:latin typeface="Atkinson Hyperlegible Next"/>
                <a:cs typeface="Arial"/>
                <a:sym typeface="Arial"/>
              </a:rPr>
              <a:t>LabVIEW Assignments 5%</a:t>
            </a:r>
          </a:p>
          <a:p>
            <a:pPr marL="342900">
              <a:lnSpc>
                <a:spcPct val="100000"/>
              </a:lnSpc>
              <a:spcBef>
                <a:spcPts val="0"/>
              </a:spcBef>
              <a:buSzPts val="2000"/>
            </a:pPr>
            <a:r>
              <a:rPr lang="en-US" sz="2000" dirty="0">
                <a:latin typeface="Atkinson Hyperlegible Next"/>
                <a:cs typeface="Arial"/>
                <a:sym typeface="Arial"/>
              </a:rPr>
              <a:t>Quizzes 5%</a:t>
            </a:r>
          </a:p>
          <a:p>
            <a:pPr marL="342900">
              <a:lnSpc>
                <a:spcPct val="100000"/>
              </a:lnSpc>
              <a:spcBef>
                <a:spcPts val="0"/>
              </a:spcBef>
              <a:buSzPts val="2000"/>
            </a:pPr>
            <a:r>
              <a:rPr lang="en-US" sz="2000" dirty="0">
                <a:latin typeface="Atkinson Hyperlegible Next"/>
                <a:cs typeface="Arial"/>
                <a:sym typeface="Arial"/>
              </a:rPr>
              <a:t>Semester Project 35%</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dirty="0">
                <a:latin typeface="Atkinson Hyperlegible Next"/>
                <a:cs typeface="Arial"/>
                <a:sym typeface="Arial"/>
              </a:rPr>
              <a:t>Check-offs will be discussed later.</a:t>
            </a:r>
          </a:p>
        </p:txBody>
      </p:sp>
      <p:sp>
        <p:nvSpPr>
          <p:cNvPr id="119" name="Google Shape;119;p29">
            <a:extLst>
              <a:ext uri="{FF2B5EF4-FFF2-40B4-BE49-F238E27FC236}">
                <a16:creationId xmlns:a16="http://schemas.microsoft.com/office/drawing/2014/main" id="{E7398AA7-56DA-F499-F681-B93A23D0D0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7E8C2E-6E4F-8D4B-9924-EE86DEA37A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Syllabus and evaluation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C4591A-C182-7742-2C81-CEDFB0603A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B17B25-52D1-32B3-FE54-FEA871624E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9C8E04-E256-5668-A47E-72EE9B5B87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FF0639-9818-F45D-C53A-00695BA649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28B8DC-CEFA-EB7B-A2F8-FDD99CF8EE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A0B5C2-9FBF-3A65-2AD9-9282BAC215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888091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08DE6D-0396-ACD3-5033-B0802D6D2C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51FC8E7-C28B-2673-0BAD-6679DEE3DF73}"/>
              </a:ext>
            </a:extLst>
          </p:cNvPr>
          <p:cNvSpPr txBox="1">
            <a:spLocks noGrp="1"/>
          </p:cNvSpPr>
          <p:nvPr>
            <p:ph type="body" idx="1"/>
          </p:nvPr>
        </p:nvSpPr>
        <p:spPr>
          <a:xfrm>
            <a:off x="376809" y="1334279"/>
            <a:ext cx="70175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Very different from others you might have had, learn-by-doing!</a:t>
            </a:r>
          </a:p>
          <a:p>
            <a:pPr marL="285750" indent="-285750">
              <a:lnSpc>
                <a:spcPct val="100000"/>
              </a:lnSpc>
              <a:spcBef>
                <a:spcPts val="0"/>
              </a:spcBef>
              <a:buSzPts val="2000"/>
            </a:pPr>
            <a:r>
              <a:rPr lang="en-US" sz="2000" dirty="0">
                <a:latin typeface="Atkinson Hyperlegible Next"/>
                <a:cs typeface="Arial"/>
                <a:sym typeface="Arial"/>
              </a:rPr>
              <a:t>No “hard” theory being taught.</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start immediately, with lab this week.</a:t>
            </a:r>
          </a:p>
          <a:p>
            <a:pPr marL="285750" indent="-285750">
              <a:lnSpc>
                <a:spcPct val="100000"/>
              </a:lnSpc>
              <a:spcBef>
                <a:spcPts val="0"/>
              </a:spcBef>
              <a:buSzPts val="2000"/>
            </a:pPr>
            <a:r>
              <a:rPr lang="en-US" sz="2000" dirty="0">
                <a:latin typeface="Atkinson Hyperlegible Next"/>
                <a:cs typeface="Arial"/>
                <a:sym typeface="Arial"/>
              </a:rPr>
              <a:t>Working on some soldering and setting up your HW board!</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get to keep the board afterwards.</a:t>
            </a:r>
            <a:endParaRPr lang="en-US" sz="2000" dirty="0"/>
          </a:p>
        </p:txBody>
      </p:sp>
      <p:sp>
        <p:nvSpPr>
          <p:cNvPr id="119" name="Google Shape;119;p29">
            <a:extLst>
              <a:ext uri="{FF2B5EF4-FFF2-40B4-BE49-F238E27FC236}">
                <a16:creationId xmlns:a16="http://schemas.microsoft.com/office/drawing/2014/main" id="{C4DD6950-BECD-B161-EA51-3661E9138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D6C8A1-B019-5BC9-7356-CC4BA1009C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Intro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27859C-2C82-D33C-870F-F994984DA3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9F87C2-2BB2-73B1-B2D9-DD514F720D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3B3D42A-19D3-4183-7B13-5D05AAD3A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00339FF-C1A4-E39D-0563-9E02DA5C7F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E09E10-0FA9-DF85-03D1-74BAA4C4C7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D19477-9A31-1F52-3218-EF365C2530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hoto: The green SE 423 lab circuit board, Version 5.0, marked &quot;Demo&quot;, that students solder and keep. It is partly populated with black header pins and a red jumper wire. Silkscreened footprints mark where parts mount: a TI F28379D LaunchPad, an ESP32 DevKit, an Orange Pi Lite, an MPU-9250 IMU, and two motor-driver circuits. It also has rows of LEDs, push buttons, a buzzer, and gold DAC and ground scope test points.">
            <a:extLst>
              <a:ext uri="{FF2B5EF4-FFF2-40B4-BE49-F238E27FC236}">
                <a16:creationId xmlns:a16="http://schemas.microsoft.com/office/drawing/2014/main" id="{8754EDC0-99B7-CBA6-37EB-E90E9A22774B}"/>
              </a:ext>
            </a:extLst>
          </p:cNvPr>
          <p:cNvPicPr>
            <a:picLocks noChangeAspect="1"/>
          </p:cNvPicPr>
          <p:nvPr/>
        </p:nvPicPr>
        <p:blipFill>
          <a:blip r:embed="rId4"/>
          <a:stretch>
            <a:fillRect/>
          </a:stretch>
        </p:blipFill>
        <p:spPr>
          <a:xfrm>
            <a:off x="7545600" y="1089686"/>
            <a:ext cx="4147563" cy="5381957"/>
          </a:xfrm>
          <a:prstGeom prst="rect">
            <a:avLst/>
          </a:prstGeom>
        </p:spPr>
      </p:pic>
    </p:spTree>
    <p:extLst>
      <p:ext uri="{BB962C8B-B14F-4D97-AF65-F5344CB8AC3E}">
        <p14:creationId xmlns:p14="http://schemas.microsoft.com/office/powerpoint/2010/main" val="18125033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51EE5A-343C-65D8-C788-5F26FC27EF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3358DF-06A3-813C-80CC-A776B8864F81}"/>
              </a:ext>
            </a:extLst>
          </p:cNvPr>
          <p:cNvSpPr txBox="1">
            <a:spLocks noGrp="1"/>
          </p:cNvSpPr>
          <p:nvPr>
            <p:ph type="body" idx="1"/>
          </p:nvPr>
        </p:nvSpPr>
        <p:spPr>
          <a:xfrm>
            <a:off x="376809" y="1334279"/>
            <a:ext cx="72191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What are you going to be doing with the Red Board?</a:t>
            </a:r>
          </a:p>
          <a:p>
            <a:pPr marL="285750" indent="-285750">
              <a:lnSpc>
                <a:spcPct val="100000"/>
              </a:lnSpc>
              <a:spcBef>
                <a:spcPts val="0"/>
              </a:spcBef>
              <a:buSzPts val="2000"/>
            </a:pPr>
            <a:r>
              <a:rPr lang="en-US" sz="2000" dirty="0">
                <a:latin typeface="+mj-lt"/>
                <a:cs typeface="Arial"/>
                <a:sym typeface="Arial"/>
              </a:rPr>
              <a:t>Playing with LEDs, push buttons, light sensors, RC servo, microphone, IMU</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rPr>
              <a:t>Texas Instruments Digital Signal Processor (DSP) running at </a:t>
            </a:r>
            <a:r>
              <a:rPr lang="en-US" sz="2000" b="1" dirty="0">
                <a:latin typeface="+mj-lt"/>
              </a:rPr>
              <a:t>150 MHz</a:t>
            </a:r>
          </a:p>
          <a:p>
            <a:pPr marL="742950" lvl="1" indent="-285750">
              <a:lnSpc>
                <a:spcPct val="100000"/>
              </a:lnSpc>
              <a:spcBef>
                <a:spcPts val="0"/>
              </a:spcBef>
              <a:buSzPts val="2000"/>
            </a:pPr>
            <a:r>
              <a:rPr lang="en-US" sz="1800" dirty="0">
                <a:latin typeface="+mj-lt"/>
              </a:rPr>
              <a:t>Arduino at 20–40 MHz</a:t>
            </a:r>
          </a:p>
          <a:p>
            <a:pPr marL="742950" lvl="1" indent="-285750">
              <a:lnSpc>
                <a:spcPct val="100000"/>
              </a:lnSpc>
              <a:spcBef>
                <a:spcPts val="0"/>
              </a:spcBef>
              <a:buSzPts val="2000"/>
            </a:pPr>
            <a:endParaRPr lang="en-US"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16-bit and 32-bit integers, only</a:t>
            </a:r>
          </a:p>
          <a:p>
            <a:pPr marL="285750" indent="-285750">
              <a:lnSpc>
                <a:spcPct val="100000"/>
              </a:lnSpc>
              <a:spcBef>
                <a:spcPts val="0"/>
              </a:spcBef>
              <a:buSzPts val="2000"/>
            </a:pPr>
            <a:r>
              <a:rPr lang="en-US" sz="2000" dirty="0">
                <a:latin typeface="+mj-lt"/>
                <a:cs typeface="Arial"/>
                <a:sym typeface="Arial"/>
              </a:rPr>
              <a:t>Floating-point capabilities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get to keep it for future mechatronic projects!</a:t>
            </a:r>
          </a:p>
        </p:txBody>
      </p:sp>
      <p:sp>
        <p:nvSpPr>
          <p:cNvPr id="119" name="Google Shape;119;p29">
            <a:extLst>
              <a:ext uri="{FF2B5EF4-FFF2-40B4-BE49-F238E27FC236}">
                <a16:creationId xmlns:a16="http://schemas.microsoft.com/office/drawing/2014/main" id="{142AF35B-1486-537F-60E3-419B78755B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CA98D8-4F12-42AB-0FE0-6CF3829196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“Red Board”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07A2D6-4174-76BB-C0E6-519EC0D1D4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F6D717-A400-A263-CDE1-643137B66B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652366-B69F-66A9-1E42-FC211859BB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B8CC3A-6E12-B1C3-2831-D9476FF368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D7BD584-8AE8-82A2-3666-0690FA24A1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95F24-1A25-7D62-F3D5-4FB31C1988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Photo: The Red Board, a red Texas Instruments C2000 LaunchPad XL (TMS320F28379D) mounted on a larger green custom breakout board, version 5.0. The green board holds a grid of 16 small LEDs, four push buttons, a buzzer, and a photoresistor light sensor wired to the LaunchPad. It also has DRV8874 motor driver circuits, trimpots, DAC and ADC scope test points, and header areas labeled for an ESP32 DevKit, Orange Pi Lite, SPI devices, and a W5500 Ethernet module.">
            <a:extLst>
              <a:ext uri="{FF2B5EF4-FFF2-40B4-BE49-F238E27FC236}">
                <a16:creationId xmlns:a16="http://schemas.microsoft.com/office/drawing/2014/main" id="{146F05D5-34A6-365B-F1DA-44E97F5A3DA1}"/>
              </a:ext>
            </a:extLst>
          </p:cNvPr>
          <p:cNvPicPr>
            <a:picLocks noChangeAspect="1"/>
          </p:cNvPicPr>
          <p:nvPr/>
        </p:nvPicPr>
        <p:blipFill>
          <a:blip r:embed="rId4"/>
          <a:stretch>
            <a:fillRect/>
          </a:stretch>
        </p:blipFill>
        <p:spPr>
          <a:xfrm rot="5400000">
            <a:off x="7012104" y="1797612"/>
            <a:ext cx="5189817" cy="3894393"/>
          </a:xfrm>
          <a:prstGeom prst="rect">
            <a:avLst/>
          </a:prstGeom>
        </p:spPr>
      </p:pic>
    </p:spTree>
    <p:extLst>
      <p:ext uri="{BB962C8B-B14F-4D97-AF65-F5344CB8AC3E}">
        <p14:creationId xmlns:p14="http://schemas.microsoft.com/office/powerpoint/2010/main" val="3927571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D234BB-7A01-7A4B-4AF0-E2635A98107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FD7DE6-216E-B22B-9E42-87B40198CE76}"/>
              </a:ext>
            </a:extLst>
          </p:cNvPr>
          <p:cNvSpPr txBox="1">
            <a:spLocks noGrp="1"/>
          </p:cNvSpPr>
          <p:nvPr>
            <p:ph type="body" idx="1"/>
          </p:nvPr>
        </p:nvSpPr>
        <p:spPr>
          <a:xfrm>
            <a:off x="707695" y="3237996"/>
            <a:ext cx="10776610" cy="868222"/>
          </a:xfrm>
          <a:prstGeom prst="rect">
            <a:avLst/>
          </a:prstGeom>
          <a:noFill/>
          <a:ln>
            <a:noFill/>
          </a:ln>
        </p:spPr>
        <p:txBody>
          <a:bodyPr spcFirstLastPara="1" wrap="square" lIns="91425" tIns="45700" rIns="91425" bIns="45700" anchor="t" anchorCtr="0">
            <a:noAutofit/>
          </a:bodyPr>
          <a:lstStyle/>
          <a:p>
            <a:pPr marL="0" indent="0" algn="ctr">
              <a:lnSpc>
                <a:spcPct val="100000"/>
              </a:lnSpc>
              <a:spcBef>
                <a:spcPts val="0"/>
              </a:spcBef>
              <a:buSzPts val="2000"/>
              <a:buNone/>
            </a:pPr>
            <a:r>
              <a:rPr lang="en-US" sz="4800" dirty="0">
                <a:latin typeface="Atkinson Hyperlegible Next"/>
                <a:cs typeface="Arial"/>
                <a:sym typeface="Arial"/>
              </a:rPr>
              <a:t>Who here knows how to program in C?</a:t>
            </a:r>
          </a:p>
        </p:txBody>
      </p:sp>
      <p:sp>
        <p:nvSpPr>
          <p:cNvPr id="119" name="Google Shape;119;p29">
            <a:extLst>
              <a:ext uri="{FF2B5EF4-FFF2-40B4-BE49-F238E27FC236}">
                <a16:creationId xmlns:a16="http://schemas.microsoft.com/office/drawing/2014/main" id="{55C7A5D2-786D-2D86-4C32-1604768610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1424E3-39F7-6B72-CA4A-0BA8702C21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A67FA4-FB32-EA4C-8D2A-249C0047D2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041FB-CB03-5FF2-43A2-3185A3EE4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4A6D3C-BBBB-CC1F-60AC-AB395218CD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144C32-2B21-5145-4A97-0EB0D7F7B6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B79825-1EB1-84D3-2424-8FA7E4B0A6F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E7E35B-3E58-21F3-D34C-B9B36593D7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A bold, white uppercase letter C on a blue or dark background representing the C programming language icon.">
            <a:extLst>
              <a:ext uri="{FF2B5EF4-FFF2-40B4-BE49-F238E27FC236}">
                <a16:creationId xmlns:a16="http://schemas.microsoft.com/office/drawing/2014/main" id="{251A081B-19F6-1928-3E2F-F4E659BFC5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2243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85424-E616-90AE-DB6C-218737EB47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558226-F14C-6A5F-C272-EA9ECF56512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This class will be using the C programming language to code the embedded system</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taught C, you will have to learn by yourself</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Plenty of people have come in this class and have had near zero programming experience and have done fine, if you do the work.</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This week you will not be doing C programming</a:t>
            </a:r>
          </a:p>
          <a:p>
            <a:pPr marL="742950" lvl="1" indent="-285750">
              <a:lnSpc>
                <a:spcPct val="100000"/>
              </a:lnSpc>
              <a:spcBef>
                <a:spcPts val="0"/>
              </a:spcBef>
              <a:buSzPts val="2000"/>
            </a:pPr>
            <a:r>
              <a:rPr lang="en-US" sz="1600" dirty="0">
                <a:latin typeface="Atkinson Hyperlegible Next"/>
                <a:cs typeface="Arial"/>
                <a:sym typeface="Arial"/>
              </a:rPr>
              <a:t>Next week you will, so be sure to brush up / start learning it!</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doing anything complicated in the language</a:t>
            </a:r>
          </a:p>
          <a:p>
            <a:pPr marL="742950" lvl="1" indent="-285750">
              <a:lnSpc>
                <a:spcPct val="100000"/>
              </a:lnSpc>
              <a:spcBef>
                <a:spcPts val="0"/>
              </a:spcBef>
              <a:buSzPts val="2000"/>
            </a:pPr>
            <a:r>
              <a:rPr lang="en-US" sz="1600" dirty="0">
                <a:latin typeface="Atkinson Hyperlegible Next"/>
                <a:cs typeface="Arial"/>
                <a:sym typeface="Arial"/>
              </a:rPr>
              <a:t>minimal pointers usage</a:t>
            </a:r>
          </a:p>
          <a:p>
            <a:pPr marL="742950" lvl="1" indent="-285750">
              <a:lnSpc>
                <a:spcPct val="100000"/>
              </a:lnSpc>
              <a:spcBef>
                <a:spcPts val="0"/>
              </a:spcBef>
              <a:buSzPts val="2000"/>
            </a:pPr>
            <a:r>
              <a:rPr lang="en-US" sz="1600" dirty="0">
                <a:latin typeface="Atkinson Hyperlegible Next"/>
                <a:cs typeface="Arial"/>
                <a:sym typeface="Arial"/>
              </a:rPr>
              <a:t>No special structures such as graphs, trees, linked-lists, etc.</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Be especially familiar with the </a:t>
            </a:r>
            <a:r>
              <a:rPr lang="en-US" sz="2000" dirty="0" err="1">
                <a:latin typeface="Lucida Sans Typewriter" panose="020B0509030504030204" pitchFamily="49" charset="0"/>
                <a:cs typeface="Courier New" panose="02070309020205020404" pitchFamily="49" charset="0"/>
                <a:sym typeface="Arial"/>
              </a:rPr>
              <a:t>printf</a:t>
            </a:r>
            <a:r>
              <a:rPr lang="en-US" sz="2000" dirty="0">
                <a:latin typeface="+mj-lt"/>
                <a:cs typeface="Courier New" panose="02070309020205020404" pitchFamily="49" charset="0"/>
                <a:sym typeface="Arial"/>
              </a:rPr>
              <a:t>, especially useful in troubleshooting!</a:t>
            </a:r>
          </a:p>
        </p:txBody>
      </p:sp>
      <p:sp>
        <p:nvSpPr>
          <p:cNvPr id="119" name="Google Shape;119;p29">
            <a:extLst>
              <a:ext uri="{FF2B5EF4-FFF2-40B4-BE49-F238E27FC236}">
                <a16:creationId xmlns:a16="http://schemas.microsoft.com/office/drawing/2014/main" id="{5F6364FC-7720-F185-989A-E082CD16D3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94509A-DA2E-9BB8-90D2-B58EACB3CA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3F97B5-F912-6376-2A45-D8021AE8AE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5AB13D-2D59-F772-5ACC-7FB8671026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F3214A-F729-6A9B-48D1-9E0253B121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214F4B-F871-A200-223A-A8DDFA3834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0D40D-CC3E-7262-0469-F7B8B52099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17F22E-7AFE-9DBC-DDE5-783751A5C5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A bold, white uppercase letter C on a blue or dark background representing the C programming language icon.">
            <a:extLst>
              <a:ext uri="{FF2B5EF4-FFF2-40B4-BE49-F238E27FC236}">
                <a16:creationId xmlns:a16="http://schemas.microsoft.com/office/drawing/2014/main" id="{F5188C12-6FFC-D65F-054A-721D1BA272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3868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35D73-DEED-7EFC-7587-9F5E8079A8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68BD01-F4D1-6740-BD0E-2B9C6CABBDE0}"/>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By 2/3</a:t>
            </a:r>
            <a:r>
              <a:rPr lang="en-US" sz="2000" baseline="30000" dirty="0">
                <a:latin typeface="+mj-lt"/>
                <a:cs typeface="Arial"/>
                <a:sym typeface="Arial"/>
              </a:rPr>
              <a:t>rd</a:t>
            </a:r>
            <a:r>
              <a:rPr lang="en-US" sz="2000" dirty="0">
                <a:latin typeface="+mj-lt"/>
                <a:cs typeface="Arial"/>
                <a:sym typeface="Arial"/>
              </a:rPr>
              <a:t> through the semester you are done with the HW green board ( not the Red Board )</a:t>
            </a:r>
          </a:p>
          <a:p>
            <a:pPr marL="285750" indent="-285750">
              <a:lnSpc>
                <a:spcPct val="100000"/>
              </a:lnSpc>
              <a:spcBef>
                <a:spcPts val="0"/>
              </a:spcBef>
              <a:buSzPts val="2000"/>
            </a:pPr>
            <a:r>
              <a:rPr lang="en-US" sz="2000" dirty="0">
                <a:latin typeface="+mj-lt"/>
                <a:cs typeface="Arial"/>
                <a:sym typeface="Arial"/>
              </a:rPr>
              <a:t>Really going into HWs at the beginning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Gradually teaching you the robot car in Lab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By the end of the semester, you are going to be programming robot car to </a:t>
            </a:r>
            <a:r>
              <a:rPr lang="en-US" sz="2000" b="1" dirty="0">
                <a:latin typeface="+mj-lt"/>
                <a:cs typeface="Arial"/>
                <a:sym typeface="Arial"/>
              </a:rPr>
              <a:t>autonomously:</a:t>
            </a:r>
          </a:p>
          <a:p>
            <a:pPr marL="742950" lvl="1" indent="-285750">
              <a:lnSpc>
                <a:spcPct val="100000"/>
              </a:lnSpc>
              <a:spcBef>
                <a:spcPts val="0"/>
              </a:spcBef>
              <a:buSzPts val="2000"/>
            </a:pPr>
            <a:r>
              <a:rPr lang="en-US" sz="1600" b="1" dirty="0">
                <a:latin typeface="+mj-lt"/>
                <a:cs typeface="Arial"/>
                <a:sym typeface="Arial"/>
              </a:rPr>
              <a:t>Path Planning:</a:t>
            </a:r>
            <a:r>
              <a:rPr lang="en-US" sz="1600" dirty="0">
                <a:latin typeface="+mj-lt"/>
                <a:cs typeface="Arial"/>
                <a:sym typeface="Arial"/>
              </a:rPr>
              <a:t> Go from A to B, with or without a map</a:t>
            </a:r>
            <a:endParaRPr lang="en-US" sz="1600" b="1" dirty="0">
              <a:latin typeface="+mj-lt"/>
              <a:cs typeface="Arial"/>
              <a:sym typeface="Arial"/>
            </a:endParaRPr>
          </a:p>
          <a:p>
            <a:pPr marL="742950" lvl="1" indent="-285750">
              <a:lnSpc>
                <a:spcPct val="100000"/>
              </a:lnSpc>
              <a:spcBef>
                <a:spcPts val="0"/>
              </a:spcBef>
              <a:buSzPts val="2000"/>
            </a:pPr>
            <a:r>
              <a:rPr lang="en-US" sz="1600" b="1" dirty="0">
                <a:latin typeface="+mj-lt"/>
                <a:cs typeface="Arial"/>
                <a:sym typeface="Arial"/>
              </a:rPr>
              <a:t>Sensing and Perception: </a:t>
            </a:r>
            <a:r>
              <a:rPr lang="en-US" sz="1600" dirty="0">
                <a:latin typeface="+mj-lt"/>
                <a:cs typeface="Arial"/>
                <a:sym typeface="Arial"/>
              </a:rPr>
              <a:t>Use LiDAR, camera to make real-time decisions</a:t>
            </a:r>
          </a:p>
          <a:p>
            <a:pPr marL="742950" lvl="1" indent="-285750">
              <a:lnSpc>
                <a:spcPct val="100000"/>
              </a:lnSpc>
              <a:spcBef>
                <a:spcPts val="0"/>
              </a:spcBef>
              <a:buSzPts val="2000"/>
            </a:pPr>
            <a:r>
              <a:rPr lang="en-US" sz="1600" b="1" dirty="0">
                <a:latin typeface="+mj-lt"/>
                <a:cs typeface="Arial"/>
                <a:sym typeface="Arial"/>
              </a:rPr>
              <a:t>Control Systems: </a:t>
            </a:r>
            <a:r>
              <a:rPr lang="en-US" sz="1600" dirty="0">
                <a:latin typeface="+mj-lt"/>
                <a:cs typeface="Arial"/>
                <a:sym typeface="Arial"/>
              </a:rPr>
              <a:t>Implement control loops (PID)</a:t>
            </a:r>
          </a:p>
          <a:p>
            <a:pPr marL="742950" lvl="1" indent="-285750">
              <a:lnSpc>
                <a:spcPct val="100000"/>
              </a:lnSpc>
              <a:spcBef>
                <a:spcPts val="0"/>
              </a:spcBef>
              <a:buSzPts val="2000"/>
            </a:pPr>
            <a:r>
              <a:rPr lang="en-US" sz="1600" dirty="0">
                <a:latin typeface="+mj-lt"/>
                <a:cs typeface="Arial"/>
                <a:sym typeface="Arial"/>
              </a:rPr>
              <a:t>Groups of 3-5 people.</a:t>
            </a:r>
          </a:p>
          <a:p>
            <a:pPr marL="742950" lvl="1" indent="-285750">
              <a:lnSpc>
                <a:spcPct val="100000"/>
              </a:lnSpc>
              <a:spcBef>
                <a:spcPts val="0"/>
              </a:spcBef>
              <a:buSzPts val="2000"/>
            </a:pPr>
            <a:r>
              <a:rPr lang="en-US" sz="1600" dirty="0">
                <a:latin typeface="+mj-lt"/>
                <a:cs typeface="Arial"/>
                <a:sym typeface="Arial"/>
              </a:rPr>
              <a:t>Participation is graded, so be sure to be able to contribute!</a:t>
            </a:r>
          </a:p>
          <a:p>
            <a:pPr marL="742950" lvl="1" indent="-285750">
              <a:lnSpc>
                <a:spcPct val="100000"/>
              </a:lnSpc>
              <a:spcBef>
                <a:spcPts val="0"/>
              </a:spcBef>
              <a:buSzPts val="2000"/>
            </a:pPr>
            <a:endParaRPr lang="en-US" sz="1600" b="1" dirty="0">
              <a:latin typeface="+mj-lt"/>
              <a:cs typeface="Arial"/>
              <a:sym typeface="Arial"/>
            </a:endParaRPr>
          </a:p>
          <a:p>
            <a:pPr marL="742950" lvl="1" indent="-285750">
              <a:lnSpc>
                <a:spcPct val="100000"/>
              </a:lnSpc>
              <a:spcBef>
                <a:spcPts val="0"/>
              </a:spcBef>
              <a:buSzPts val="2000"/>
            </a:pPr>
            <a:endParaRPr lang="en-US" sz="1600" b="1" dirty="0">
              <a:latin typeface="+mj-lt"/>
              <a:cs typeface="Arial"/>
              <a:sym typeface="Arial"/>
            </a:endParaRPr>
          </a:p>
          <a:p>
            <a:pPr marL="285750" indent="-285750">
              <a:lnSpc>
                <a:spcPct val="100000"/>
              </a:lnSpc>
              <a:spcBef>
                <a:spcPts val="0"/>
              </a:spcBef>
              <a:buSzPts val="2000"/>
            </a:pPr>
            <a:r>
              <a:rPr lang="en-US" sz="2000" b="1" dirty="0">
                <a:latin typeface="+mj-lt"/>
                <a:cs typeface="Arial"/>
                <a:sym typeface="Arial"/>
              </a:rPr>
              <a:t>Learn how to learn to program a microcontroller!</a:t>
            </a:r>
          </a:p>
          <a:p>
            <a:pPr marL="742950" lvl="1" indent="-285750">
              <a:lnSpc>
                <a:spcPct val="100000"/>
              </a:lnSpc>
              <a:spcBef>
                <a:spcPts val="0"/>
              </a:spcBef>
              <a:buSzPts val="2000"/>
            </a:pPr>
            <a:r>
              <a:rPr lang="en-US" sz="1600" dirty="0">
                <a:latin typeface="+mj-lt"/>
                <a:cs typeface="Arial"/>
                <a:sym typeface="Arial"/>
              </a:rPr>
              <a:t>Be able to read documentation and apply the documentation</a:t>
            </a:r>
          </a:p>
        </p:txBody>
      </p:sp>
      <p:sp>
        <p:nvSpPr>
          <p:cNvPr id="119" name="Google Shape;119;p29">
            <a:extLst>
              <a:ext uri="{FF2B5EF4-FFF2-40B4-BE49-F238E27FC236}">
                <a16:creationId xmlns:a16="http://schemas.microsoft.com/office/drawing/2014/main" id="{5398E7B0-2B24-DF3C-EFBB-8E5470800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4F9E1E-8874-6C6B-75DB-1DBB5250C4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38C27F-2807-F539-761D-31A5427186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7C4F11-E1D1-9327-9466-D9A8E96B3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FF3C8-B689-4804-A8C8-D77A642DEB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AF3FA5B-04F2-4716-5996-FD7EB444AD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A56D72-F656-A784-7B03-9CCB71A8B2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3B1B8C-CCDF-9879-2E6D-B75CFB4F60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2171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8A6607-0D3D-A976-A375-CF3DDA953B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A313850-D9BB-B3E1-0E1B-B21F7A90634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We have a long way to go!</a:t>
            </a:r>
          </a:p>
          <a:p>
            <a:pPr marL="285750" indent="-285750">
              <a:lnSpc>
                <a:spcPct val="100000"/>
              </a:lnSpc>
              <a:spcBef>
                <a:spcPts val="0"/>
              </a:spcBef>
              <a:buSzPts val="2000"/>
            </a:pPr>
            <a:endParaRPr lang="en-US" sz="2000" b="1"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Do all these things scare you a bit? That is good, we will teach you a lot of material by the end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sit here and teach theory; </a:t>
            </a:r>
          </a:p>
          <a:p>
            <a:pPr marL="742950" lvl="1" indent="-285750">
              <a:lnSpc>
                <a:spcPct val="100000"/>
              </a:lnSpc>
              <a:spcBef>
                <a:spcPts val="0"/>
              </a:spcBef>
              <a:buSzPts val="2000"/>
            </a:pPr>
            <a:r>
              <a:rPr lang="en-US" sz="1600" dirty="0">
                <a:latin typeface="+mj-lt"/>
                <a:cs typeface="Arial"/>
                <a:sym typeface="Arial"/>
              </a:rPr>
              <a:t>We are not going to teach you why a PI controller is stable, </a:t>
            </a:r>
          </a:p>
          <a:p>
            <a:pPr marL="742950" lvl="1" indent="-285750">
              <a:lnSpc>
                <a:spcPct val="100000"/>
              </a:lnSpc>
              <a:spcBef>
                <a:spcPts val="0"/>
              </a:spcBef>
              <a:buSzPts val="2000"/>
            </a:pPr>
            <a:r>
              <a:rPr lang="en-US" sz="1600" dirty="0">
                <a:latin typeface="+mj-lt"/>
                <a:cs typeface="Arial"/>
                <a:sym typeface="Arial"/>
              </a:rPr>
              <a:t>Why the A* star algorithm is optimal</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are going to tell you: “let us implement this algorithm”. </a:t>
            </a:r>
          </a:p>
          <a:p>
            <a:pPr marL="285750" indent="-285750">
              <a:lnSpc>
                <a:spcPct val="100000"/>
              </a:lnSpc>
              <a:spcBef>
                <a:spcPts val="0"/>
              </a:spcBef>
              <a:buSzPts val="2000"/>
            </a:pPr>
            <a:r>
              <a:rPr lang="en-US" sz="2000" dirty="0">
                <a:latin typeface="+mj-lt"/>
                <a:cs typeface="Arial"/>
                <a:sym typeface="Arial"/>
              </a:rPr>
              <a:t>We are going to talk a lot about implementation. </a:t>
            </a:r>
          </a:p>
          <a:p>
            <a:pPr marL="742950" lvl="1" indent="-285750">
              <a:lnSpc>
                <a:spcPct val="100000"/>
              </a:lnSpc>
              <a:spcBef>
                <a:spcPts val="0"/>
              </a:spcBef>
              <a:buSzPts val="2000"/>
            </a:pPr>
            <a:r>
              <a:rPr lang="en-US" sz="1600" dirty="0">
                <a:latin typeface="+mj-lt"/>
                <a:cs typeface="Arial"/>
                <a:sym typeface="Arial"/>
              </a:rPr>
              <a:t>How do we make sure that this is the circuit board? </a:t>
            </a:r>
          </a:p>
          <a:p>
            <a:pPr marL="742950" lvl="1" indent="-285750">
              <a:lnSpc>
                <a:spcPct val="100000"/>
              </a:lnSpc>
              <a:spcBef>
                <a:spcPts val="0"/>
              </a:spcBef>
              <a:buSzPts val="2000"/>
            </a:pPr>
            <a:r>
              <a:rPr lang="en-US" sz="1600" dirty="0">
                <a:latin typeface="+mj-lt"/>
                <a:cs typeface="Arial"/>
                <a:sym typeface="Arial"/>
              </a:rPr>
              <a:t>Most of the code will be running on the little processor. It runs at 150 MHz, which is fast for an embedded system. </a:t>
            </a:r>
          </a:p>
        </p:txBody>
      </p:sp>
      <p:sp>
        <p:nvSpPr>
          <p:cNvPr id="119" name="Google Shape;119;p29">
            <a:extLst>
              <a:ext uri="{FF2B5EF4-FFF2-40B4-BE49-F238E27FC236}">
                <a16:creationId xmlns:a16="http://schemas.microsoft.com/office/drawing/2014/main" id="{8D38130B-9F0B-060B-30F1-3C53348EDC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FBCAE94-3E9F-833C-1E01-EAB6C54654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67D7B9-7B9F-9D92-3FDB-C1B42A9856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8B0EE3-DF5D-09E9-ABFD-E7C1F560446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AE1DF9-C032-8C22-C517-FFC1E64DF4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0C642E-06E3-1C3B-3B0D-1DCAE84D27E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E6092F-6D7E-FA00-98DD-24F5CBDEBD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5A85E5-0C72-60EF-E429-255348F00C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7432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0182FD-F40C-EC2E-ABE2-BD531997A8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BFB437-991D-F141-3A6D-F4D93A60FEE1}"/>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never start with a blank C code file; you will always have a starter code.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all your HWs, you will always have a starter code file for each HW, which will be added to this project with the C code you need.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Students are allowed to use AI tools to help with their work, primarily for brainstorming, debugging, and conceptual support; </a:t>
            </a:r>
          </a:p>
          <a:p>
            <a:pPr marL="742950" lvl="1" indent="-285750">
              <a:lnSpc>
                <a:spcPct val="100000"/>
              </a:lnSpc>
              <a:spcBef>
                <a:spcPts val="0"/>
              </a:spcBef>
              <a:buSzPts val="2000"/>
            </a:pPr>
            <a:r>
              <a:rPr lang="en-US" sz="1600" dirty="0">
                <a:solidFill>
                  <a:schemeClr val="tx1"/>
                </a:solidFill>
                <a:latin typeface="+mj-lt"/>
                <a:cs typeface="Arial"/>
                <a:sym typeface="Arial"/>
              </a:rPr>
              <a:t>avoid for whole-code generation, especially if you are a beginner software engineer</a:t>
            </a:r>
          </a:p>
          <a:p>
            <a:pPr marL="742950" lvl="1" indent="-285750">
              <a:lnSpc>
                <a:spcPct val="100000"/>
              </a:lnSpc>
              <a:spcBef>
                <a:spcPts val="0"/>
              </a:spcBef>
              <a:buSzPts val="2000"/>
            </a:pPr>
            <a:r>
              <a:rPr lang="en-US" sz="1600" dirty="0">
                <a:solidFill>
                  <a:schemeClr val="tx1"/>
                </a:solidFill>
                <a:latin typeface="+mj-lt"/>
                <a:cs typeface="Arial"/>
                <a:sym typeface="Arial"/>
              </a:rPr>
              <a:t>Learn by doing! </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If you use AI tools, you should understand it, be able to explain it in detail, and be able to re-implement it without using AI. You are here to learn, not just copy and paste! </a:t>
            </a: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You are expected to comment the lines that have been copied and pasted from AI with code comments stating the AI model used at the lines that have been copied and pasted.</a:t>
            </a:r>
          </a:p>
        </p:txBody>
      </p:sp>
      <p:sp>
        <p:nvSpPr>
          <p:cNvPr id="119" name="Google Shape;119;p29">
            <a:extLst>
              <a:ext uri="{FF2B5EF4-FFF2-40B4-BE49-F238E27FC236}">
                <a16:creationId xmlns:a16="http://schemas.microsoft.com/office/drawing/2014/main" id="{74D75FF9-FA10-E44D-7850-83D5CC92D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F88647-DDF0-CBE9-2F5B-EF52A3C6BC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AI Content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587DA2-7A30-5502-48A2-126C4CD278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61EF5C-8355-5617-ECD4-F07C1A5ECF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B0F6CD-0D2E-0B83-848E-A1ADF20C1B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89BA09-E6C3-22F1-EBC6-128E458CD9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B5CD6B-586A-9C11-4CCF-E6134335F7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049CA7-2408-DF1C-4AC1-1FE4E36A97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736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F33D77-5BED-20BF-8E84-09A0926B6F2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688832-3781-179B-95B7-81D7B342DCA8}"/>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Recommend you bring your laptop to lab so that you can install the software we will be using:</a:t>
            </a:r>
          </a:p>
          <a:p>
            <a:pPr marL="742950" lvl="1" indent="-285750">
              <a:lnSpc>
                <a:spcPct val="100000"/>
              </a:lnSpc>
              <a:spcBef>
                <a:spcPts val="0"/>
              </a:spcBef>
              <a:buSzPts val="2000"/>
            </a:pPr>
            <a:r>
              <a:rPr lang="en-US" sz="1400" dirty="0" err="1">
                <a:solidFill>
                  <a:schemeClr val="tx1"/>
                </a:solidFill>
                <a:latin typeface="+mj-lt"/>
                <a:cs typeface="Arial"/>
                <a:sym typeface="Arial"/>
                <a:hlinkClick r:id="rId3"/>
              </a:rPr>
              <a:t>CodeComposer</a:t>
            </a:r>
            <a:r>
              <a:rPr lang="en-US" sz="1400" dirty="0">
                <a:solidFill>
                  <a:schemeClr val="tx1"/>
                </a:solidFill>
                <a:latin typeface="+mj-lt"/>
                <a:cs typeface="Arial"/>
                <a:sym typeface="Arial"/>
              </a:rPr>
              <a:t> v12x (the testing of the v20x is still under process)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Bring your I-Card to the lab this week to obtain lab access.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have 24-hour access to the lab, and you can take your board home.</a:t>
            </a:r>
          </a:p>
          <a:p>
            <a:pPr marL="0" indent="0">
              <a:lnSpc>
                <a:spcPct val="100000"/>
              </a:lnSpc>
              <a:spcBef>
                <a:spcPts val="0"/>
              </a:spcBef>
              <a:buSzPts val="2000"/>
              <a:buNone/>
            </a:pPr>
            <a:endParaRPr lang="en-US" sz="18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be in groups of 2 working together.</a:t>
            </a:r>
          </a:p>
          <a:p>
            <a:pPr marL="285750" indent="-285750">
              <a:lnSpc>
                <a:spcPct val="100000"/>
              </a:lnSpc>
              <a:spcBef>
                <a:spcPts val="0"/>
              </a:spcBef>
              <a:buSzPts val="2000"/>
            </a:pPr>
            <a:endParaRPr lang="en-US" sz="18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a:p>
            <a:pPr marL="0" indent="0" algn="ctr">
              <a:lnSpc>
                <a:spcPct val="100000"/>
              </a:lnSpc>
              <a:spcBef>
                <a:spcPts val="0"/>
              </a:spcBef>
              <a:buSzPts val="2000"/>
              <a:buNone/>
            </a:pPr>
            <a:r>
              <a:rPr lang="en-US" sz="2000" b="1" dirty="0">
                <a:solidFill>
                  <a:schemeClr val="tx1"/>
                </a:solidFill>
                <a:cs typeface="Arial"/>
                <a:sym typeface="Arial"/>
              </a:rPr>
              <a:t>Do not come late to labs</a:t>
            </a:r>
            <a:r>
              <a:rPr lang="en-US" sz="2000" dirty="0">
                <a:solidFill>
                  <a:schemeClr val="tx1"/>
                </a:solidFill>
                <a:cs typeface="Arial"/>
                <a:sym typeface="Arial"/>
              </a:rPr>
              <a:t>!!! </a:t>
            </a:r>
          </a:p>
          <a:p>
            <a:pPr marL="0" indent="0" algn="ctr">
              <a:lnSpc>
                <a:spcPct val="100000"/>
              </a:lnSpc>
              <a:spcBef>
                <a:spcPts val="0"/>
              </a:spcBef>
              <a:buSzPts val="2000"/>
              <a:buNone/>
            </a:pPr>
            <a:endParaRPr lang="en-US" sz="2000" dirty="0">
              <a:solidFill>
                <a:schemeClr val="tx1"/>
              </a:solidFill>
              <a:latin typeface="+mj-lt"/>
              <a:cs typeface="Arial"/>
              <a:sym typeface="Arial"/>
            </a:endParaRPr>
          </a:p>
          <a:p>
            <a:pPr marL="0" indent="0">
              <a:lnSpc>
                <a:spcPct val="100000"/>
              </a:lnSpc>
              <a:spcBef>
                <a:spcPts val="0"/>
              </a:spcBef>
              <a:buSzPts val="2000"/>
              <a:buNone/>
            </a:pPr>
            <a:r>
              <a:rPr lang="en-US" sz="1800" dirty="0">
                <a:solidFill>
                  <a:schemeClr val="tx1"/>
                </a:solidFill>
                <a:cs typeface="Arial"/>
                <a:sym typeface="Arial"/>
              </a:rPr>
              <a:t>We do not want to have to start docking points for attendance!</a:t>
            </a:r>
          </a:p>
          <a:p>
            <a:pPr marL="0" indent="0">
              <a:lnSpc>
                <a:spcPct val="100000"/>
              </a:lnSpc>
              <a:spcBef>
                <a:spcPts val="0"/>
              </a:spcBef>
              <a:buSzPts val="2000"/>
              <a:buNone/>
            </a:pPr>
            <a:endParaRPr lang="en-US" sz="1800" dirty="0">
              <a:solidFill>
                <a:schemeClr val="tx1"/>
              </a:solidFill>
              <a:cs typeface="Arial"/>
              <a:sym typeface="Arial"/>
            </a:endParaRPr>
          </a:p>
          <a:p>
            <a:pPr marL="285750" indent="-285750">
              <a:lnSpc>
                <a:spcPct val="100000"/>
              </a:lnSpc>
              <a:spcBef>
                <a:spcPts val="0"/>
              </a:spcBef>
              <a:buSzPts val="2000"/>
            </a:pPr>
            <a:r>
              <a:rPr lang="en-US" sz="1800" dirty="0">
                <a:solidFill>
                  <a:schemeClr val="tx1"/>
                </a:solidFill>
                <a:cs typeface="Arial"/>
                <a:sym typeface="Arial"/>
              </a:rPr>
              <a:t>Please try to read them beforehand. It will make things easier for you and speed things up, making things much quicker between you and your lab partner.</a:t>
            </a:r>
          </a:p>
        </p:txBody>
      </p:sp>
      <p:sp>
        <p:nvSpPr>
          <p:cNvPr id="119" name="Google Shape;119;p29">
            <a:extLst>
              <a:ext uri="{FF2B5EF4-FFF2-40B4-BE49-F238E27FC236}">
                <a16:creationId xmlns:a16="http://schemas.microsoft.com/office/drawing/2014/main" id="{552D14B2-A890-6BA8-C9F3-6C4B9B9FE6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E36966-658D-5E2B-4B19-CFF42CE628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first lab</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5681D2D-1918-A7EE-0545-94A83DDE8CF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CE2851-AFAE-0BE6-B332-8C519AEDCD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1F9BE9-1BA0-16EB-7993-13D6E6A121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DAA997-C75A-F25C-C891-E4AF8778C7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13E96E-ADFF-8D77-992F-BD039E0169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6C99-8823-0F4C-DD13-BD17CF843A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724562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383A66-55AA-D1C3-8A0C-68B5D210D2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06D264-9164-3515-A8C3-C1E47F6247AF}"/>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There is a high-level frustration in this class. Working with hardware and software takes a lot of time, especially if you are completely new to this.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Asks C programming questions, with a link to a Linked-In class to teach you more-or-less all you need for this class.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Get started early!</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mind you working on the HWs together. </a:t>
            </a:r>
          </a:p>
          <a:p>
            <a:pPr marL="285750" indent="-285750">
              <a:lnSpc>
                <a:spcPct val="100000"/>
              </a:lnSpc>
              <a:spcBef>
                <a:spcPts val="0"/>
              </a:spcBef>
              <a:buSzPts val="2000"/>
            </a:pPr>
            <a:r>
              <a:rPr lang="en-US" sz="2000" dirty="0">
                <a:latin typeface="+mj-lt"/>
                <a:cs typeface="Arial"/>
                <a:sym typeface="Arial"/>
              </a:rPr>
              <a:t>We do not want to see is identical C code. </a:t>
            </a:r>
          </a:p>
          <a:p>
            <a:pPr marL="742950" lvl="1" indent="-285750">
              <a:lnSpc>
                <a:spcPct val="100000"/>
              </a:lnSpc>
              <a:spcBef>
                <a:spcPts val="0"/>
              </a:spcBef>
              <a:buSzPts val="2000"/>
            </a:pPr>
            <a:r>
              <a:rPr lang="en-US" sz="1600" dirty="0">
                <a:latin typeface="+mj-lt"/>
                <a:cs typeface="Arial"/>
                <a:sym typeface="Arial"/>
              </a:rPr>
              <a:t>Individual comments in your code to explain what you just did, put your initials at the beginning of the line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0C2AAA01-19CD-3AFE-46CE-12A5CD3DC9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256DA0-6437-0CA6-E6F0-CCA3F05CDF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Homework 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CD9522-1373-34F9-9421-0617E33B008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084B2F-B2BB-29C4-2122-DA01536083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6C6B5C-6B0D-F64B-1175-4C6718A2ED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231592-7EAB-450D-470B-15D443CE9C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EA5152-AD2E-8FFE-380B-69921B56FB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CDFE83-D18B-E544-A0C1-DBDE6D26E9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10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7D8CBF-54F1-4F72-7313-7AAEF33B8C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9AF44BA-ECED-3B64-E3B3-0D7A125364B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Used for visualization, real-time GUI to visualize the robot’s coordinates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Trying to convert to Python instead,</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can get started right now:</a:t>
            </a:r>
          </a:p>
          <a:p>
            <a:pPr marL="742950" lvl="1" indent="-285750">
              <a:lnSpc>
                <a:spcPct val="100000"/>
              </a:lnSpc>
              <a:spcBef>
                <a:spcPts val="0"/>
              </a:spcBef>
              <a:buSzPts val="2000"/>
            </a:pPr>
            <a:r>
              <a:rPr lang="en-US" sz="1600" dirty="0">
                <a:latin typeface="+mj-lt"/>
                <a:cs typeface="Arial"/>
                <a:sym typeface="Arial"/>
              </a:rPr>
              <a:t>Install it in </a:t>
            </a:r>
            <a:r>
              <a:rPr lang="en-US" sz="1600" dirty="0" err="1">
                <a:latin typeface="+mj-lt"/>
                <a:cs typeface="Arial"/>
                <a:sym typeface="Arial"/>
                <a:hlinkClick r:id="rId3"/>
              </a:rPr>
              <a:t>WebStore</a:t>
            </a:r>
            <a:r>
              <a:rPr lang="en-US" sz="1600" dirty="0">
                <a:latin typeface="+mj-lt"/>
                <a:cs typeface="Arial"/>
                <a:sym typeface="Arial"/>
              </a:rPr>
              <a:t> ( can take up to 4 hours to install so be </a:t>
            </a:r>
            <a:r>
              <a:rPr lang="en-US" sz="1600" dirty="0" err="1">
                <a:latin typeface="+mj-lt"/>
                <a:cs typeface="Arial"/>
                <a:sym typeface="Arial"/>
              </a:rPr>
              <a:t>carefull</a:t>
            </a:r>
            <a:r>
              <a:rPr lang="en-US" sz="1600" dirty="0">
                <a:latin typeface="+mj-lt"/>
                <a:cs typeface="Arial"/>
                <a:sym typeface="Arial"/>
              </a:rPr>
              <a:t> )</a:t>
            </a:r>
          </a:p>
          <a:p>
            <a:pPr marL="742950" lvl="1" indent="-285750">
              <a:lnSpc>
                <a:spcPct val="100000"/>
              </a:lnSpc>
              <a:spcBef>
                <a:spcPts val="0"/>
              </a:spcBef>
              <a:buSzPts val="2000"/>
            </a:pPr>
            <a:r>
              <a:rPr lang="en-US" sz="1600" dirty="0">
                <a:latin typeface="+mj-lt"/>
                <a:cs typeface="Arial"/>
                <a:sym typeface="Arial"/>
              </a:rPr>
              <a:t>Use </a:t>
            </a:r>
            <a:r>
              <a:rPr lang="en-US" sz="1600" dirty="0" err="1">
                <a:latin typeface="+mj-lt"/>
                <a:cs typeface="Arial"/>
                <a:sym typeface="Arial"/>
              </a:rPr>
              <a:t>CitrixWorkspace</a:t>
            </a:r>
            <a:r>
              <a:rPr lang="en-US" sz="1600" dirty="0">
                <a:latin typeface="+mj-lt"/>
                <a:cs typeface="Arial"/>
                <a:sym typeface="Arial"/>
              </a:rPr>
              <a:t> (EWS workstations)</a:t>
            </a:r>
          </a:p>
          <a:p>
            <a:pPr marL="0" indent="0">
              <a:lnSpc>
                <a:spcPct val="100000"/>
              </a:lnSpc>
              <a:spcBef>
                <a:spcPts val="0"/>
              </a:spcBef>
              <a:buSzPts val="2000"/>
              <a:buNone/>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hlinkClick r:id="rId4"/>
              </a:rPr>
              <a:t>Get started </a:t>
            </a:r>
            <a:r>
              <a:rPr lang="en-US" sz="2000" dirty="0">
                <a:latin typeface="+mj-lt"/>
                <a:cs typeface="Arial"/>
                <a:sym typeface="Arial"/>
              </a:rPr>
              <a:t>early on it as well, already used in Lab 2</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All straightforward, just follow the videos and copy the image inside the assignment document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Only checked for completion.</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LabVIEW 3 and 4 are optional</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429C9215-1C1D-3331-477D-E1D7575524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2AFAB4-E5DA-69E1-35F0-707892855A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LabVIEW Assignments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CE816E-6BFD-5B97-BDF3-D950D77AFFFD}"/>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6F2A2-9568-CAA1-6442-2155567E6E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0DC00B-9357-85F4-D633-275AF5065F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4D36D1-467E-EDBC-E923-4735AD1C82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459377-EB0B-72CE-46BF-F28D957AAD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01E051-C038-D59F-A942-A01D62A776A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29655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90C2DB-D490-99AD-B0ED-BCDE6642CF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0152F-D8D2-06EC-8AB2-D73A10901FD9}"/>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Throughout the assignments (labs, HWs, LabVIEW) you will be asked to show checkpoints to the TAs</a:t>
            </a:r>
          </a:p>
          <a:p>
            <a:pPr marL="742950" lvl="1" indent="-285750">
              <a:lnSpc>
                <a:spcPct val="100000"/>
              </a:lnSpc>
              <a:spcBef>
                <a:spcPts val="0"/>
              </a:spcBef>
              <a:buSzPts val="2000"/>
            </a:pPr>
            <a:r>
              <a:rPr lang="en-US" sz="1600" dirty="0">
                <a:latin typeface="+mj-lt"/>
                <a:cs typeface="Arial"/>
                <a:sym typeface="Arial"/>
              </a:rPr>
              <a:t>Show something working</a:t>
            </a:r>
          </a:p>
          <a:p>
            <a:pPr marL="742950" lvl="1" indent="-285750">
              <a:lnSpc>
                <a:spcPct val="100000"/>
              </a:lnSpc>
              <a:spcBef>
                <a:spcPts val="0"/>
              </a:spcBef>
              <a:buSzPts val="2000"/>
            </a:pPr>
            <a:r>
              <a:rPr lang="en-US" sz="1600" dirty="0">
                <a:latin typeface="+mj-lt"/>
                <a:cs typeface="Arial"/>
                <a:sym typeface="Arial"/>
              </a:rPr>
              <a:t>Answering a question</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Both you and your teammate MUST be present for these checks. You will be asked to do the checks at another time otherwise.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Contact instructors, TAs to schedule another time.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73A93F6-6EC5-0B82-AC33-E338401C6E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F13CA4-795A-2950-AD73-DBE433DBB3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Check-offs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0A9E35-0795-DACF-2478-B735977CA5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5FD96A-F2AA-29F5-E1B2-D81C136E63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3FE792-BB3E-FBA0-0CF0-C1D3CE86E9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F814DA-86C8-725C-61EC-CAAA49B481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3D3798-DBB8-E29C-0778-788E3C8C2F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92DE-BA80-BD31-DC7E-98E35611E9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73125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9DC05E-EB9A-0AFC-041F-2BA71A5A0CB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7F868F5-4FCF-7EBE-4D73-28FB97BDE9E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submit your commented code in </a:t>
            </a:r>
            <a:r>
              <a:rPr lang="en-US" sz="2000" dirty="0" err="1">
                <a:latin typeface="+mj-lt"/>
                <a:cs typeface="Arial"/>
                <a:sym typeface="Arial"/>
              </a:rPr>
              <a:t>Gradescope</a:t>
            </a:r>
            <a:endParaRPr lang="en-US" sz="2000" dirty="0">
              <a:latin typeface="+mj-lt"/>
              <a:cs typeface="Arial"/>
              <a:sym typeface="Arial"/>
            </a:endParaRPr>
          </a:p>
          <a:p>
            <a:pPr marL="742950" lvl="1" indent="-285750">
              <a:lnSpc>
                <a:spcPct val="100000"/>
              </a:lnSpc>
              <a:spcBef>
                <a:spcPts val="0"/>
              </a:spcBef>
              <a:buSzPts val="2000"/>
            </a:pPr>
            <a:r>
              <a:rPr lang="en-US" sz="1600" dirty="0">
                <a:latin typeface="+mj-lt"/>
                <a:cs typeface="Arial"/>
                <a:sym typeface="Arial"/>
              </a:rPr>
              <a:t>If you do not you will have points taken off</a:t>
            </a:r>
          </a:p>
          <a:p>
            <a:pPr marL="742950" lvl="1" indent="-285750">
              <a:lnSpc>
                <a:spcPct val="100000"/>
              </a:lnSpc>
              <a:spcBef>
                <a:spcPts val="0"/>
              </a:spcBef>
              <a:buSzPts val="2000"/>
            </a:pPr>
            <a:r>
              <a:rPr lang="en-US" sz="1600" dirty="0">
                <a:latin typeface="+mj-lt"/>
                <a:cs typeface="Arial"/>
                <a:sym typeface="Arial"/>
              </a:rPr>
              <a:t>Compile assignment as PDF</a:t>
            </a:r>
          </a:p>
          <a:p>
            <a:pPr marL="457200" lvl="1" indent="0">
              <a:lnSpc>
                <a:spcPct val="100000"/>
              </a:lnSpc>
              <a:spcBef>
                <a:spcPts val="0"/>
              </a:spcBef>
              <a:buSzPts val="2000"/>
              <a:buNone/>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Answer any other questions inside the assignment</a:t>
            </a:r>
          </a:p>
          <a:p>
            <a:pPr marL="0" indent="0">
              <a:lnSpc>
                <a:spcPct val="100000"/>
              </a:lnSpc>
              <a:spcBef>
                <a:spcPts val="0"/>
              </a:spcBef>
              <a:buSzPts val="2000"/>
              <a:buNone/>
            </a:pPr>
            <a:endParaRPr lang="en-US" sz="2000" dirty="0">
              <a:latin typeface="+mj-lt"/>
              <a:cs typeface="Arial"/>
              <a:sym typeface="Arial"/>
            </a:endParaRPr>
          </a:p>
          <a:p>
            <a:pPr marL="0" indent="0">
              <a:lnSpc>
                <a:spcPct val="100000"/>
              </a:lnSpc>
              <a:spcBef>
                <a:spcPts val="0"/>
              </a:spcBef>
              <a:buSzPts val="2000"/>
              <a:buNone/>
            </a:pPr>
            <a:endParaRPr lang="en-US" sz="2000" dirty="0">
              <a:solidFill>
                <a:schemeClr val="tx1"/>
              </a:solidFill>
              <a:latin typeface="+mj-lt"/>
              <a:cs typeface="Arial"/>
              <a:sym typeface="Arial"/>
            </a:endParaRPr>
          </a:p>
          <a:p>
            <a:pPr marL="114300" indent="0" algn="l">
              <a:buNone/>
            </a:pPr>
            <a:r>
              <a:rPr lang="en-US" sz="2000" dirty="0">
                <a:solidFill>
                  <a:srgbClr val="3F7F5F"/>
                </a:solidFill>
                <a:latin typeface="Consolas" panose="020B0609020204030204" pitchFamily="49" charset="0"/>
              </a:rPr>
              <a:t>// cpu_timer1_isr - CPU Timer1 ISR</a:t>
            </a:r>
          </a:p>
          <a:p>
            <a:pPr marL="114300" indent="0" algn="l">
              <a:buNone/>
            </a:pPr>
            <a:r>
              <a:rPr lang="en-US" sz="2000" dirty="0">
                <a:solidFill>
                  <a:srgbClr val="000000"/>
                </a:solidFill>
                <a:latin typeface="Consolas" panose="020B0609020204030204" pitchFamily="49" charset="0"/>
              </a:rPr>
              <a:t>__interrupt </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 cpu_timer1_isr(</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a:t>
            </a:r>
          </a:p>
          <a:p>
            <a:pPr marL="114300" indent="0" algn="l">
              <a:buNone/>
            </a:pPr>
            <a:r>
              <a:rPr lang="en-US" sz="2000" dirty="0">
                <a:solidFill>
                  <a:srgbClr val="000000"/>
                </a:solidFill>
                <a:latin typeface="Consolas" panose="020B0609020204030204" pitchFamily="49" charset="0"/>
              </a:rPr>
              <a:t>{</a:t>
            </a:r>
            <a:endParaRPr lang="en-US" sz="2000" dirty="0">
              <a:latin typeface="Consolas" panose="020B0609020204030204" pitchFamily="49" charset="0"/>
            </a:endParaRPr>
          </a:p>
          <a:p>
            <a:pPr marL="114300" indent="0" algn="l">
              <a:buNone/>
            </a:pPr>
            <a:r>
              <a:rPr lang="en-US" sz="2000" dirty="0">
                <a:solidFill>
                  <a:srgbClr val="000000"/>
                </a:solidFill>
                <a:latin typeface="Consolas" panose="020B0609020204030204" pitchFamily="49" charset="0"/>
              </a:rPr>
              <a:t>    CpuTimer1.InterruptCount++; </a:t>
            </a:r>
            <a:r>
              <a:rPr lang="en-US" sz="2000" dirty="0">
                <a:solidFill>
                  <a:srgbClr val="3F7F5F"/>
                </a:solidFill>
                <a:latin typeface="Consolas" panose="020B0609020204030204" pitchFamily="49" charset="0"/>
              </a:rPr>
              <a:t>// MJ: Increments the timer's internal interrupt counter</a:t>
            </a:r>
          </a:p>
          <a:p>
            <a:pPr marL="114300" indent="0" algn="l">
              <a:buNone/>
            </a:pPr>
            <a:r>
              <a:rPr lang="en-US" sz="2000" dirty="0">
                <a:solidFill>
                  <a:srgbClr val="000000"/>
                </a:solidFill>
                <a:latin typeface="Consolas" panose="020B0609020204030204" pitchFamily="49" charset="0"/>
              </a:rPr>
              <a:t>}</a:t>
            </a: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CDD4296E-D720-A79E-6DB2-384B361671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E1B038A-A376-ED88-57CA-73FCB4635D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Code Submissions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682BF2-E24D-B3F1-7687-29C3961045C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843C40-D43C-8785-E563-24B78186B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500124-16F2-32A8-F70D-E806282DA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F6810E-5146-1799-9E4D-B540B5AACD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A5A0E-361F-1ADF-9F73-354A2F70CE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3ADE7D-1D71-B192-DFE6-D8DF3E0C6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8387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09F4C5-9090-C5AC-2487-420CA78A2C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B9EF04-BD98-6DFE-8895-EA972860C5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be using a version control (think of it as a backup system) called “git”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it to be effective, be sure that you are “committing” and “pushing often! If you do not, then you will most likely lose your data</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are sharing the machines with all the sections; it is HIGHLY probably someone will accidentally change your code. ( yes, it happens very often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Any software related job uses it, so best to get started on good practices now!</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DBDFAB70-850C-F4EE-FB93-3DA7BEB057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5F3869-9DEB-0A7F-1353-317AE34952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5B20354-AC4C-7CD8-EB7A-68662BA3A2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7FFC10-A53B-FCE1-9123-7919F350EDC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613D00-D32B-1441-BCFC-CF0CE9F31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BA3F28-2873-50BC-C4F2-FCF00D478D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6B887-3C56-A844-4F67-BC3DC23A4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F6B98F-A736-ACAE-C596-A5146D975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4" name="Picture 4" descr="Git and GitHub logos side by side, indicating that GitHub is used to host the class's git repositories.">
            <a:extLst>
              <a:ext uri="{FF2B5EF4-FFF2-40B4-BE49-F238E27FC236}">
                <a16:creationId xmlns:a16="http://schemas.microsoft.com/office/drawing/2014/main" id="{7C7351D6-EBBC-1027-7660-0184F9A6A06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961" b="19979"/>
          <a:stretch>
            <a:fillRect/>
          </a:stretch>
        </p:blipFill>
        <p:spPr bwMode="auto">
          <a:xfrm>
            <a:off x="3699423" y="4436956"/>
            <a:ext cx="4264800" cy="158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047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B991DE-424D-D08A-4F15-32FA6879C6A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A07A29-0CA3-C6F2-E8EA-1B7B73DDE4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Checkoffs will always be due Tuesdays at 5PM</a:t>
            </a:r>
          </a:p>
          <a:p>
            <a:pPr marL="285750" indent="-285750">
              <a:lnSpc>
                <a:spcPct val="100000"/>
              </a:lnSpc>
              <a:spcBef>
                <a:spcPts val="0"/>
              </a:spcBef>
              <a:buSzPts val="2000"/>
            </a:pPr>
            <a:r>
              <a:rPr lang="en-US" sz="2000" dirty="0">
                <a:latin typeface="+mj-lt"/>
                <a:cs typeface="Arial"/>
                <a:sym typeface="Arial"/>
              </a:rPr>
              <a:t>Code submission / Questions will always be due Wednesdays at 9AM</a:t>
            </a:r>
          </a:p>
          <a:p>
            <a:pPr marL="285750" indent="-285750">
              <a:lnSpc>
                <a:spcPct val="100000"/>
              </a:lnSpc>
              <a:spcBef>
                <a:spcPts val="0"/>
              </a:spcBef>
              <a:buSzPts val="2000"/>
            </a:pPr>
            <a:r>
              <a:rPr lang="en-US" sz="2000" dirty="0">
                <a:latin typeface="+mj-lt"/>
                <a:cs typeface="Arial"/>
                <a:sym typeface="Arial"/>
              </a:rPr>
              <a:t>Lab submission deadlines, Tuesday of the week when the next </a:t>
            </a:r>
            <a:r>
              <a:rPr lang="en-US" sz="2000">
                <a:latin typeface="+mj-lt"/>
                <a:cs typeface="Arial"/>
                <a:sym typeface="Arial"/>
              </a:rPr>
              <a:t>lab starts lab</a:t>
            </a: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E2BF515B-83FC-6BB7-7930-CA56758104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3BF77B-4F7C-D39C-A049-97E8698C00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Submission Deadline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419B03-BF28-6A32-CDE3-14EE03C3D7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9D27AA-9408-7411-7FF1-5D920C3546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67199D-4542-9EA2-6FE1-5BAC22F83D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2CD4BC-55A8-7F0F-6C66-ADBA528712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56CD6E-6A32-798C-19E4-BA42C68B330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D0BBDD-3B2D-536B-DABD-1902E31EF6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053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67C6BF-4E1D-E3BC-9478-65CAF3CAD9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DE649-72B7-332F-6A2F-DEFFF88DCE6C}"/>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HW1 Question 1 and Reading Question 4</a:t>
            </a:r>
          </a:p>
          <a:p>
            <a:pPr marL="285750" indent="-285750">
              <a:lnSpc>
                <a:spcPct val="100000"/>
              </a:lnSpc>
              <a:spcBef>
                <a:spcPts val="0"/>
              </a:spcBef>
              <a:buSzPts val="2000"/>
            </a:pPr>
            <a:r>
              <a:rPr lang="en-US" sz="2000" dirty="0">
                <a:latin typeface="+mj-lt"/>
                <a:cs typeface="Arial"/>
                <a:sym typeface="Arial"/>
              </a:rPr>
              <a:t>LabVIEW Assignment 1</a:t>
            </a:r>
          </a:p>
          <a:p>
            <a:pPr marL="285750" indent="-285750">
              <a:lnSpc>
                <a:spcPct val="100000"/>
              </a:lnSpc>
              <a:spcBef>
                <a:spcPts val="0"/>
              </a:spcBef>
              <a:buSzPts val="2000"/>
            </a:pPr>
            <a:r>
              <a:rPr lang="en-US" sz="2000" dirty="0">
                <a:latin typeface="+mj-lt"/>
                <a:cs typeface="Arial"/>
                <a:sym typeface="Arial"/>
              </a:rPr>
              <a:t>Reading Lab 1 before next week</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4CFC905-0184-0866-926D-E8D863982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AB77CE-B54B-7E06-5F51-5D6C8B19F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Next Steps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0EA8C6-8CB2-590C-F8F3-32A0A89D11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708645-D7E1-1E8F-89F0-06B2D99D96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14CBFA-0E5A-4822-6E20-0196B76E84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38925-2E60-A654-FD0F-4D3B7EEC5B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0C7826-55F8-C2C2-8C31-7402E63F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692B85-A55C-C5C1-513B-CF8FA90DC4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7610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p:nvPr>
            <p:ph type="title"/>
          </p:nvPr>
        </p:nvSpPr>
        <p:spPr>
          <a:xfrm>
            <a:off x="2275515" y="2492289"/>
            <a:ext cx="7640969" cy="1873422"/>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6600" b="1" i="0" u="none" strike="noStrike" cap="none" dirty="0">
                <a:solidFill>
                  <a:schemeClr val="lt1"/>
                </a:solidFill>
                <a:latin typeface="Atkinson Hyperlegible Next"/>
                <a:ea typeface="Arial"/>
                <a:cs typeface="Arial"/>
                <a:sym typeface="Arial"/>
              </a:rPr>
              <a:t>Questions</a:t>
            </a:r>
            <a:r>
              <a:rPr i="0" lang="en-US" sz="5400" b="1" dirty="0">
                <a:solidFill>
                  <a:schemeClr val="lt1"/>
                </a:solidFill>
              </a:rPr>
              <a:t>?</a:t>
            </a:r>
          </a:p>
          <a:p>
            <a:pPr marL="0" marR="0" lvl="0" indent="0" algn="ctr" rtl="0">
              <a:lnSpc>
                <a:spcPct val="100000"/>
              </a:lnSpc>
              <a:spcBef>
                <a:spcPts val="0"/>
              </a:spcBef>
              <a:spcAft>
                <a:spcPts val="0"/>
              </a:spcAft>
              <a:buNone/>
            </a:pPr>
            <a:endParaRPr i="0" lang="en-US" sz="1800" b="1" dirty="0">
              <a:solidFill>
                <a:schemeClr val="lt1"/>
              </a:solidFill>
            </a:endParaRPr>
          </a:p>
          <a:p>
            <a:pPr marL="0" marR="0" lvl="0" indent="0" algn="ctr" rtl="0">
              <a:lnSpc>
                <a:spcPct val="100000"/>
              </a:lnSpc>
              <a:spcBef>
                <a:spcPts val="0"/>
              </a:spcBef>
              <a:spcAft>
                <a:spcPts val="0"/>
              </a:spcAft>
              <a:buNone/>
            </a:pPr>
            <a:r>
              <a:rPr i="0" b="0" lang="en-US" sz="1800" dirty="0">
                <a:solidFill>
                  <a:schemeClr val="lt1"/>
                </a:solidFill>
              </a:rPr>
              <a:t>(Students that have been unable to register, come talk to me after class)</a:t>
            </a:r>
          </a:p>
        </p:txBody>
      </p:sp>
      <p:pic>
        <p:nvPicPr>
          <p:cNvPr id="265" name="Google Shape;265;p3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TotalTime>
  <Words>1693</Words>
  <Application>Microsoft Office PowerPoint</Application>
  <PresentationFormat>Widescreen</PresentationFormat>
  <Paragraphs>263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Consolas</vt:lpstr>
      <vt:lpstr>Lucida Sans Typewriter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83</cp:revision>
  <dcterms:created xsi:type="dcterms:W3CDTF">2019-01-14T22:06:33Z</dcterms:created>
  <dcterms:modified xsi:type="dcterms:W3CDTF">2026-02-08T02:47:42Z</dcterms:modified>
</cp:coreProperties>
</file>