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45"/>
  </p:notesMasterIdLst>
  <p:sldIdLst>
    <p:sldId id="256" r:id="rId2"/>
    <p:sldId id="417" r:id="rId3"/>
    <p:sldId id="413" r:id="rId4"/>
    <p:sldId id="414" r:id="rId5"/>
    <p:sldId id="416" r:id="rId6"/>
    <p:sldId id="418" r:id="rId7"/>
    <p:sldId id="419" r:id="rId8"/>
    <p:sldId id="420" r:id="rId9"/>
    <p:sldId id="422" r:id="rId10"/>
    <p:sldId id="423" r:id="rId11"/>
    <p:sldId id="421" r:id="rId12"/>
    <p:sldId id="424" r:id="rId13"/>
    <p:sldId id="432" r:id="rId14"/>
    <p:sldId id="425" r:id="rId15"/>
    <p:sldId id="426" r:id="rId16"/>
    <p:sldId id="427" r:id="rId17"/>
    <p:sldId id="428" r:id="rId18"/>
    <p:sldId id="431" r:id="rId19"/>
    <p:sldId id="429" r:id="rId20"/>
    <p:sldId id="451" r:id="rId21"/>
    <p:sldId id="430" r:id="rId22"/>
    <p:sldId id="435" r:id="rId23"/>
    <p:sldId id="433" r:id="rId24"/>
    <p:sldId id="434" r:id="rId25"/>
    <p:sldId id="436" r:id="rId26"/>
    <p:sldId id="452" r:id="rId27"/>
    <p:sldId id="437" r:id="rId28"/>
    <p:sldId id="438" r:id="rId29"/>
    <p:sldId id="439" r:id="rId30"/>
    <p:sldId id="440" r:id="rId31"/>
    <p:sldId id="441" r:id="rId32"/>
    <p:sldId id="442" r:id="rId33"/>
    <p:sldId id="443" r:id="rId34"/>
    <p:sldId id="444" r:id="rId35"/>
    <p:sldId id="446" r:id="rId36"/>
    <p:sldId id="445" r:id="rId37"/>
    <p:sldId id="447" r:id="rId38"/>
    <p:sldId id="448" r:id="rId39"/>
    <p:sldId id="450" r:id="rId40"/>
    <p:sldId id="387" r:id="rId41"/>
    <p:sldId id="449" r:id="rId42"/>
    <p:sldId id="271" r:id="rId43"/>
    <p:sldId id="270" r:id="rId44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46" roundtripDataSignature="AMtx7mjKkk5wOoQj6sDPPETbbKgHU96Dz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65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customschemas.google.com/relationships/presentationmetadata" Target="meta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CE7E3B5-49B9-1887-BB3D-532FE9FF8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5B324B9-F340-1116-1318-88A50BDE8B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0993868-158A-56AF-D3A1-6FFF7658AE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2540543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F004519-0EAD-FA0D-DE7A-BBED69225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9E58F23-9AF7-DB67-E863-18BBB13641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C79A737-144F-41FB-6FD9-A9EBE11C95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077191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F295066F-FB1C-80A1-757F-8B89EF9D7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13333E14-AC8A-C269-3D97-1B09126B7D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E8899983-963B-49D1-E36B-808914F1D4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075665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>
          <a:extLst>
            <a:ext uri="{FF2B5EF4-FFF2-40B4-BE49-F238E27FC236}">
              <a16:creationId xmlns:a16="http://schemas.microsoft.com/office/drawing/2014/main" id="{0F423E58-8AB1-742F-8A08-2FCAAA14C0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7:notes">
            <a:extLst>
              <a:ext uri="{FF2B5EF4-FFF2-40B4-BE49-F238E27FC236}">
                <a16:creationId xmlns:a16="http://schemas.microsoft.com/office/drawing/2014/main" id="{76F1C2F3-6CF3-8DC9-21FF-EB1B90F401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37:notes">
            <a:extLst>
              <a:ext uri="{FF2B5EF4-FFF2-40B4-BE49-F238E27FC236}">
                <a16:creationId xmlns:a16="http://schemas.microsoft.com/office/drawing/2014/main" id="{BED7D72D-A17E-F7AD-88BE-28A930801A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314474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CF8E12A4-B693-9338-53ED-687BFF0575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6B2B0279-CD66-34CD-1F7E-DC73D683CD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D5534A18-0892-0B3C-2E1B-18466AA2CBA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970324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FC5F8B3-5108-7798-0B1E-010C6EA975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DA60CBB-FFDF-460D-773C-1091F1502B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5D4EBE6-BD76-424B-656F-907D87EB08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7478423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172A4E4-B0BF-29C8-FC37-325C9EF2B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3D2FB53-82E8-5035-69CF-28B3E9A63F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FA4B1DA-47CE-99BB-8ED9-6B6529A0144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02300927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D09C7AD-4048-060C-616B-37C16CF558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B797B2C-C076-DBDC-7DB5-FEACDFD6F78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8FC8BF9-692B-68FA-33B3-619330E54D8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0389776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30B08EE-5F39-EA7B-14AC-3ABC5065E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6D8FE51D-3894-DDF8-0529-4CE30DD9EF5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0A8D9BE-6539-4700-A9C1-3878B5E978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42314693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5E72DFF-B2D6-B66D-6896-850639DAE2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FAF8C5E-D708-9D31-2167-FB31C824CD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392BDAF-D2E5-AE34-C763-080F1A84648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5739252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784D6A8-AB87-7D4A-B688-864BDCF29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9E72BE5-028E-43B3-5E76-3F60E7D05F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9B5D120-191A-74F7-7DED-C0490A6327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51965711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D7BF1E0-71A3-16BE-C547-F7D562CDE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F5458EC9-26EA-D548-7DB9-86832078CAD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6573B3C-77B9-DF0D-DC21-894E4DD1207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00434431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EA1FBDFF-E70F-98D4-DE4F-3DB7EB6A83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11F0E9D3-C562-0241-BB3A-4C90B84C1D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E9355A5B-CA00-04DC-B817-69072F06CFA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6021051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AC590F2-B258-715D-9080-AE5757C70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5E47F7A-09BF-E31B-8546-46F0A8AFF9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B28784B-D536-F82D-FC12-89FA462B62E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01981920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7902CF2-ABDB-6B29-E474-6BCD0862D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1C7CCFE-B633-CA72-2565-33417506740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B5DCA7B-24DA-1865-8DB2-4EF5433148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21183625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894A3C2-93BF-1109-2ED3-A5BDA184B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E15805B-AFE4-F856-8F57-9084A9671A3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1423ED7F-2311-4EF3-C4A6-B7C88D6DDB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32568922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A5DB8C2-BAAD-DA4F-6921-3FE04044E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F5D015E-C790-7160-0345-1FC16BBCA0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25C5706-3EF1-51F9-D70F-3343F95588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07043677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08230A9-0DFD-2D6B-BA94-B592887B2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6B4853A-6D96-6325-B9D6-2E041811F5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FF97B58-C5D6-6C16-7C10-F2579DFA954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5471559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5A4D1C5-EF0B-B2E7-FBC4-4FB2C366E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9A77F504-9EF4-F120-14B7-667A7474F93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744F409-F089-0215-1A61-7ABDA59D8F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2540255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F60BC67-708F-8F0B-016D-10D19EE31C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42936F1-98A7-AF0A-2145-EC92FDB5745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70F224B-7833-5BAC-49DA-7C5CDB54A6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18362703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3C15359C-AC0F-95F7-D0EA-7406F53B95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8C2C965-67E3-C5CF-BF34-FB0E6F09F5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D4ED9AE6-FF20-325E-C4D9-CC5F9B396EC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7781302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198FAE4D-3A67-CB16-2E93-71103EF90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4BE89B0D-BB57-6243-E3F2-93E5FB8E94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BC8A51E0-6CFA-09E5-7C00-A03F637EDED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7228475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B9287F1D-B6F4-1C21-FA21-CF8085C90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ADBE9C8-7874-DE58-7900-48B8A6A459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43655ED-2C03-56C5-2439-9237CB62C1D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69745948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3F670ED-EF7A-815B-6A39-E7367749A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A7B08C2-07EE-5681-956B-03CC44C1DEA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D9B5980-3C57-4D4C-68B7-82BA2AA8CB7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29621798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ECF8AEE-C094-2B27-4A5B-A1288BB8A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8C5912FC-8B9E-FC1F-41C1-28748928FC3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CA2FE7E-A57F-361C-1674-C5DF0B0CDB4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15255726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B73FB2E0-B497-6061-887F-7DC3B045FA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89B06B91-332B-90F4-137C-69985AA88E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F7C9273E-2FFB-91DC-F7A5-21600420F42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7390132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FA39B54-308F-DF66-946E-F84CA6BBE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67D80470-3DEA-B82B-D57F-7826F61BC5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5308E08-A823-53B5-4BA0-7588212824C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00743260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CDD2B17-2824-48FA-5CDF-5F093E5DEB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D6C8406-167A-3E97-367E-46B691DE696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95EA0B3-6AB5-3768-DC11-46CC83BC87B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69014140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471A8F3-0F1F-08B1-234E-027DCE0A37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9E2FF20-01CE-6AEF-FEC6-1D03CF594D0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7B79E36-1776-AE76-0C56-2E49B8C13B8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13798104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B66087BA-1051-3A8A-E6BA-94765D6F31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47CC7E0-07DA-CC40-BD34-957F6276576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24B0D62-186C-2340-841D-025D6AB468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29393576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DAD6738-0AD3-4884-C503-98A39ACE42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2620A71-F8C0-1932-0F7F-304845554D5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D735636-8756-2CE7-2E1E-B0EAA7C8D37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09328417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3177F7D0-F662-9DD2-7224-854B5E4B5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3314445-B01F-D2C7-1C90-1BB3A300E89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4DFF48A-B13B-A32D-B2AD-AA927B52F5C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22833757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3A06394A-7D06-15F5-3453-6D11480626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16EA3C2-D5C0-FA1F-263E-7C49FD05DCD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4477D19-7C0F-A4E8-676B-AAEC8D089E6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55431014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50410F3-6293-470E-4C3A-761A13A15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4960BA9-7913-9CCA-40E2-CAF2C8AF7B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140872E-0F2B-307A-FAD0-E0FEE0416FC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09346840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B61B474C-4DB8-19C2-D160-13C06FFCA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8D8EB87-714E-E02D-FB06-7744C6B625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A8DF058-3A32-68EF-7A47-46DDCE57C09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24642523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813F271-4978-188A-2CA0-1CD7FB0AF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5A57194-4696-1D49-81C2-98379AD8F4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5CDA626-FD12-E4F2-AC99-128201811F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00410454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6EE30C5-3C42-7C5E-1185-1B5A21B284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6A8F1F0-CFBA-334D-DA15-F9177B8091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80CD49D-7B2C-8009-82FB-FA8382EBEEC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55345051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1D2290F-1A36-AA33-7A71-751FF1FC1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8B76C916-C1BA-63B7-1120-8E512A80F0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B9A6C8F-BD2C-0C89-2A44-4EC392DEDA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02788736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607BC8B-0C1E-EE84-6829-3C6DED334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DC2D3CB-8011-65E0-3143-933CED90E4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AD7B16D-3D7C-FB11-ADC3-3D31200867F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78009140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BA6FFB7-531E-AFB6-E8D5-3B10D2A7BB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F50E33C-2C83-DE3D-4475-892E192263E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4F623A1-023E-25C1-B7C7-94B3B6840E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0557018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>
          <a:extLst>
            <a:ext uri="{FF2B5EF4-FFF2-40B4-BE49-F238E27FC236}">
              <a16:creationId xmlns:a16="http://schemas.microsoft.com/office/drawing/2014/main" id="{ED6D95D0-49C4-BE65-6DB0-A8408AD9A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7:notes">
            <a:extLst>
              <a:ext uri="{FF2B5EF4-FFF2-40B4-BE49-F238E27FC236}">
                <a16:creationId xmlns:a16="http://schemas.microsoft.com/office/drawing/2014/main" id="{D5BF9D20-A937-E031-5ACD-4B566F245A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37:notes">
            <a:extLst>
              <a:ext uri="{FF2B5EF4-FFF2-40B4-BE49-F238E27FC236}">
                <a16:creationId xmlns:a16="http://schemas.microsoft.com/office/drawing/2014/main" id="{1666A96F-D523-1F0C-00D5-14D5F35E2C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8882365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3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" name="Google Shape;22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4" name="Google Shape;34;p1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1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1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5" name="Google Shape;55;p2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6" name="Google Shape;56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2" name="Google Shape;62;p2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3" name="Google Shape;63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9" name="Google Shape;69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marius-juston.github.io/SE-423---Class-Material/Homeworks/HW3.pdf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hyperlink" Target="https://www.analog.com/cn/resources/technical-articles/accelerometer-and-gyroscopes-sensors-operation-sensing-and-applications.html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3.png"/><Relationship Id="rId7" Type="http://schemas.openxmlformats.org/officeDocument/2006/relationships/hyperlink" Target="https://www.sciencedirect.com/science/article/pii/S0924424716300267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jpeg"/><Relationship Id="rId5" Type="http://schemas.openxmlformats.org/officeDocument/2006/relationships/hyperlink" Target="https://physicstoday.aip.org/features/the-little-machines-that-are-making-it-big" TargetMode="External"/><Relationship Id="rId4" Type="http://schemas.openxmlformats.org/officeDocument/2006/relationships/image" Target="../media/image8.jpeg"/><Relationship Id="rId9" Type="http://schemas.openxmlformats.org/officeDocument/2006/relationships/hyperlink" Target="https://www.analog.com/cn/resources/technical-articles/accelerometer-and-gyroscopes-sensors-operation-sensing-and-applications.html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mdpi.com/2504-3900/1/4/337" TargetMode="Externa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KuekQ-m9xpw?feature=oembed" TargetMode="External"/><Relationship Id="rId5" Type="http://schemas.openxmlformats.org/officeDocument/2006/relationships/image" Target="../media/image12.jpe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reddit.com/r/3Dprinting/comments/103v6ef/1001_3d_printed_mems_gyroscope/" TargetMode="External"/><Relationship Id="rId4" Type="http://schemas.openxmlformats.org/officeDocument/2006/relationships/image" Target="../media/image15.gif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reddit.com/r/3Dprinting/comments/103v6ef/1001_3d_printed_mems_gyroscope/" TargetMode="External"/><Relationship Id="rId5" Type="http://schemas.openxmlformats.org/officeDocument/2006/relationships/image" Target="../media/image15.gif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hyperlink" Target="https://www.reddit.com/r/3Dprinting/comments/103v6ef/1001_3d_printed_mems_gyroscope/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gif"/><Relationship Id="rId5" Type="http://schemas.openxmlformats.org/officeDocument/2006/relationships/hyperlink" Target="https://www.semanticscholar.org/paper/Modeling-and-simulation-of-the-MEMS-vibratory-Patel-McCluskey/8dec6605fc5b603df07d74f7b9eb6875b2c17c3a" TargetMode="External"/><Relationship Id="rId4" Type="http://schemas.openxmlformats.org/officeDocument/2006/relationships/image" Target="../media/image1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hyperlink" Target="https://quanscient.com/blog/enhancing-mems-gyroscope-design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gif"/><Relationship Id="rId5" Type="http://schemas.openxmlformats.org/officeDocument/2006/relationships/hyperlink" Target="https://forum.arduino.cc/t/getting-started-with-the-mpu6050-beginner-friendly-guide-with-visual-explanations/1364064" TargetMode="External"/><Relationship Id="rId4" Type="http://schemas.openxmlformats.org/officeDocument/2006/relationships/image" Target="../media/image17.gif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printables.com/model/413667-mems-model-six-axis-imu-device" TargetMode="External"/><Relationship Id="rId4" Type="http://schemas.openxmlformats.org/officeDocument/2006/relationships/image" Target="../media/image2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researchgate.net/figure/llustration-of-a-ferromagnetic-MEMS-magnetometer-design_fig18_255663586" TargetMode="External"/><Relationship Id="rId4" Type="http://schemas.openxmlformats.org/officeDocument/2006/relationships/image" Target="../media/image2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hyperlink" Target="https://www.mdpi.com/1424-8220/9/9/6951" TargetMode="Externa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svg"/><Relationship Id="rId4" Type="http://schemas.openxmlformats.org/officeDocument/2006/relationships/image" Target="../media/image25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svg"/><Relationship Id="rId4" Type="http://schemas.openxmlformats.org/officeDocument/2006/relationships/image" Target="../media/image27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svg"/><Relationship Id="rId4" Type="http://schemas.openxmlformats.org/officeDocument/2006/relationships/image" Target="../media/image27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svg"/><Relationship Id="rId4" Type="http://schemas.openxmlformats.org/officeDocument/2006/relationships/image" Target="../media/image27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svg"/><Relationship Id="rId4" Type="http://schemas.openxmlformats.org/officeDocument/2006/relationships/image" Target="../media/image29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svg"/><Relationship Id="rId4" Type="http://schemas.openxmlformats.org/officeDocument/2006/relationships/image" Target="../media/image31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6"/>
          <p:cNvSpPr/>
          <p:nvPr>
            <p:ph type="title"/>
          </p:nvPr>
        </p:nvSpPr>
        <p:spPr>
          <a:xfrm>
            <a:off x="1134035" y="2553964"/>
            <a:ext cx="9924000" cy="27237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4500"/>
            </a:pPr>
            <a:r>
              <a:rPr i="0" lang="en-US" sz="4500" b="1" dirty="0">
                <a:solidFill>
                  <a:schemeClr val="lt1"/>
                </a:solidFill>
              </a:rPr>
              <a:t>SE 423: Introduction to Mechatronics</a:t>
            </a:r>
            <a:endParaRPr i="0" b="0" lang="en-US" sz="4500" dirty="0">
              <a:solidFill>
                <a:srgbClr val="000000"/>
              </a:solidFill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i="0" b="0" lang="en-US" sz="2500" dirty="0">
                <a:solidFill>
                  <a:schemeClr val="lt1"/>
                </a:solidFill>
              </a:rPr>
              <a:t>Lecture 12</a:t>
            </a:r>
            <a:r>
              <a:rPr i="0" b="0" lang="en-US" sz="2500">
                <a:solidFill>
                  <a:schemeClr val="lt1"/>
                </a:solidFill>
              </a:rPr>
              <a:t>: IMU</a:t>
            </a:r>
            <a:endParaRPr i="0" b="0" sz="1400" dirty="0">
              <a:solidFill>
                <a:srgbClr val="000000"/>
              </a:solidFill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Marius Juston</a:t>
            </a:r>
            <a:endParaRPr sz="1800" b="0" i="0" u="none" strike="noStrike" cap="none" dirty="0">
              <a:solidFill>
                <a:srgbClr val="000000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26"/>
          <p:cNvSpPr txBox="1"/>
          <p:nvPr/>
        </p:nvSpPr>
        <p:spPr>
          <a:xfrm>
            <a:off x="3922059" y="5413888"/>
            <a:ext cx="4347882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Monday, February 2</a:t>
            </a:r>
            <a:r>
              <a:rPr lang="en-US" sz="1800" b="0" i="0" u="none" strike="noStrike" cap="none" baseline="30000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nd</a:t>
            </a:r>
            <a:r>
              <a:rPr lang="en-US" sz="18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, 2026</a:t>
            </a:r>
            <a:endParaRPr sz="18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84" name="Google Shape;84;p2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41007" y="1004743"/>
            <a:ext cx="2909982" cy="75466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787707C-0AB4-57C3-5639-B4BEF4389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E7EA1A55-2BAC-C6A5-ABC3-168138F62B6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Talk to the person next to you and answer these review questions.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To receive data, you must also ____ data.</a:t>
            </a: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What is FIFO? Why is it used?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What is the maximum size for the buffer’s data in bits?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What does SPICHAR = 0xF mean?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What do absolute / incremental encoders measure? When do they fail at measuring </a:t>
            </a:r>
            <a:r>
              <a:rPr lang="en-US" sz="2400">
                <a:latin typeface="Atkinson Hyperlegible Next"/>
                <a:ea typeface="Arial"/>
                <a:cs typeface="Arial"/>
                <a:sym typeface="Arial"/>
              </a:rPr>
              <a:t>travel distance?</a:t>
            </a: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2400" dirty="0">
              <a:solidFill>
                <a:schemeClr val="dk1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sz="2400" dirty="0">
              <a:solidFill>
                <a:schemeClr val="dk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ADDCC56-907C-FD39-6E34-87042D08FA2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941C760-8B23-A46D-5C4A-981290CB9EBC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Review – 5-minute partner discussion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C1984774-B7FA-53FC-ECBE-3FFBD377F55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52648EA-0120-942E-FA7D-98B9C25F4F3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187DBB9-03BE-10E2-9B63-400A9675CEA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3B542CF-2028-95AA-CCEF-91A8D02AD17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3141631-F3ED-2759-4D92-932A85BC40E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4D9BF8E-CB10-CAD2-7648-4939A5B564E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020808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75841FD-D14E-77AC-760B-C98E4D88C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A3B12240-FBE7-C432-98A9-C2883C24C7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Office Hours:</a:t>
            </a:r>
            <a:endParaRPr lang="en-US" sz="2600" b="1" dirty="0">
              <a:solidFill>
                <a:srgbClr val="E84B36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Monday: </a:t>
            </a: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4-6 PM</a:t>
            </a: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Neel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11-1 PM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Lakshmi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1-3 PM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Samuel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2-5 PM</a:t>
            </a: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Dan &amp; Marius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Lab: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Starting Lab 4 this week. This a 2-week lab!</a:t>
            </a:r>
            <a:endParaRPr lang="en-US" sz="1800" dirty="0">
              <a:solidFill>
                <a:srgbClr val="E84B36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 err="1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Homeworks</a:t>
            </a:r>
            <a:r>
              <a:rPr lang="en-US" sz="1800" b="1" dirty="0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Check-offs for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  <a:hlinkClick r:id="rId3"/>
              </a:rPr>
              <a:t>homework 3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Ex 1, 2, 3 &amp; 4 are due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March 10, 5PM (The end of office hours)</a:t>
            </a: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Check-offs for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  <a:hlinkClick r:id="rId3"/>
              </a:rPr>
              <a:t>homework 3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Ex 5 are due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March 24, 5PM (The end of office hours)</a:t>
            </a: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Answers and code submissions for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  <a:hlinkClick r:id="rId3"/>
              </a:rPr>
              <a:t>homework 3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are due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March 25, 9AM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28F4DC60-5615-4235-EF8F-749635053A2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7341C0B-3353-6FAC-59B6-1BC184B1DEE7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Reminders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5A7A3C5-2C94-DFDE-B6CE-1AA71BB909D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31F53DB-DB9B-6876-2739-ED5A2DD2AF6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656C000-32C7-7004-5110-9F4CDD9B502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CD0378D-0FED-2133-BE9C-D95394C460C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1170382-A03B-CBAF-126E-BC0414D20EC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38B4CC3-ADE6-376F-FF48-9094A8F0ECD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328129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1448E8BE-1421-3003-DC40-4A73B38059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7A288B50-BF90-793A-EAB2-BC440F4B4DEB}"/>
              </a:ext>
            </a:extLst>
          </p:cNvPr>
          <p:cNvGrpSpPr/>
          <p:nvPr/>
        </p:nvGrpSpPr>
        <p:grpSpPr>
          <a:xfrm>
            <a:off x="1441528" y="2296815"/>
            <a:ext cx="9308941" cy="2264370"/>
            <a:chOff x="1441528" y="1491040"/>
            <a:chExt cx="9308941" cy="2264370"/>
          </a:xfrm>
        </p:grpSpPr>
        <p:sp>
          <p:nvSpPr>
            <p:cNvPr id="89" name="Google Shape;89;p27">
              <a:extLst>
                <a:ext uri="{FF2B5EF4-FFF2-40B4-BE49-F238E27FC236}">
                  <a16:creationId xmlns:a16="http://schemas.microsoft.com/office/drawing/2014/main" id="{CF4B6496-0DE4-A9D0-729E-962D1CBA2A0D}"/>
                </a:ext>
              </a:extLst>
            </p:cNvPr>
            <p:cNvSpPr/>
            <p:nvPr>
              <p:ph type="title"/>
            </p:nvPr>
          </p:nvSpPr>
          <p:spPr>
            <a:xfrm>
              <a:off x="2206906" y="1491040"/>
              <a:ext cx="7778187" cy="101566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0"/>
                <a:buFont typeface="Arial"/>
                <a:buNone/>
              </a:pPr>
              <a:r>
                <a:rPr lang="en-US" sz="6000" b="1" i="0" u="none" strike="noStrike" cap="none" dirty="0">
                  <a:solidFill>
                    <a:schemeClr val="lt1"/>
                  </a:solidFill>
                  <a:latin typeface="Atkinson Hyperlegible Next"/>
                  <a:ea typeface="Arial"/>
                  <a:cs typeface="Arial"/>
                  <a:sym typeface="Arial"/>
                </a:rPr>
                <a:t>Questions?</a:t>
              </a:r>
              <a:endParaRPr sz="1400" b="0" i="0" u="none" strike="noStrike" cap="none" dirty="0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  <p:sp>
          <p:nvSpPr>
            <p:cNvPr id="90" name="Google Shape;90;p27">
              <a:extLst>
                <a:ext uri="{FF2B5EF4-FFF2-40B4-BE49-F238E27FC236}">
                  <a16:creationId xmlns:a16="http://schemas.microsoft.com/office/drawing/2014/main" id="{840123DA-9D44-1ACD-A55D-78BB3F9D06C6}"/>
                </a:ext>
              </a:extLst>
            </p:cNvPr>
            <p:cNvSpPr txBox="1"/>
            <p:nvPr/>
          </p:nvSpPr>
          <p:spPr>
            <a:xfrm>
              <a:off x="1441528" y="3232230"/>
              <a:ext cx="9308941" cy="5231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r>
                <a:rPr lang="en-US" sz="2800" b="0" i="0" u="none" strike="noStrike" cap="none" dirty="0">
                  <a:solidFill>
                    <a:schemeClr val="lt1"/>
                  </a:solidFill>
                  <a:latin typeface="Atkinson Hyperlegible Next"/>
                  <a:ea typeface="Arial"/>
                  <a:cs typeface="Arial"/>
                  <a:sym typeface="Arial"/>
                </a:rPr>
                <a:t>Homework, Lab, LabVIEW?</a:t>
              </a:r>
              <a:endParaRPr sz="18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91" name="Google Shape;91;p27">
              <a:extLst>
                <a:ext uri="{FF2B5EF4-FFF2-40B4-BE49-F238E27FC236}">
                  <a16:creationId xmlns:a16="http://schemas.microsoft.com/office/drawing/2014/main" id="{86ACF669-55BA-EB1A-7E38-21DD778BACED}"/>
                </a:ext>
              </a:extLst>
            </p:cNvPr>
            <p:cNvGrpSpPr/>
            <p:nvPr/>
          </p:nvGrpSpPr>
          <p:grpSpPr>
            <a:xfrm>
              <a:off x="3943790" y="2676939"/>
              <a:ext cx="3861740" cy="322845"/>
              <a:chOff x="3943790" y="2676939"/>
              <a:chExt cx="3861740" cy="322845"/>
            </a:xfrm>
          </p:grpSpPr>
          <p:cxnSp>
            <p:nvCxnSpPr>
              <p:cNvPr id="92" name="Google Shape;92;p27">
                <a:extLst>
                  <a:ext uri="{FF2B5EF4-FFF2-40B4-BE49-F238E27FC236}">
                    <a16:creationId xmlns:a16="http://schemas.microsoft.com/office/drawing/2014/main" id="{15DFBE2C-AFB1-035D-E847-94D2D88C7217}"/>
                  </a:ext>
                </a:extLst>
              </p:cNvPr>
              <p:cNvCxnSpPr/>
              <p:nvPr/>
            </p:nvCxnSpPr>
            <p:spPr>
              <a:xfrm>
                <a:off x="4426226" y="2676939"/>
                <a:ext cx="3379304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E84B36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93" name="Google Shape;93;p27">
                <a:extLst>
                  <a:ext uri="{FF2B5EF4-FFF2-40B4-BE49-F238E27FC236}">
                    <a16:creationId xmlns:a16="http://schemas.microsoft.com/office/drawing/2014/main" id="{2313F2C7-EE76-5CFC-A7EB-505010E43907}"/>
                  </a:ext>
                </a:extLst>
              </p:cNvPr>
              <p:cNvCxnSpPr/>
              <p:nvPr/>
            </p:nvCxnSpPr>
            <p:spPr>
              <a:xfrm rot="10800000" flipH="1">
                <a:off x="3943790" y="2676939"/>
                <a:ext cx="482436" cy="322845"/>
              </a:xfrm>
              <a:prstGeom prst="straightConnector1">
                <a:avLst/>
              </a:prstGeom>
              <a:noFill/>
              <a:ln w="19050" cap="flat" cmpd="sng">
                <a:solidFill>
                  <a:srgbClr val="E84B36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</p:grpSp>
      <p:pic>
        <p:nvPicPr>
          <p:cNvPr id="94" name="Google Shape;94;p27">
            <a:extLst>
              <a:ext uri="{FF2B5EF4-FFF2-40B4-BE49-F238E27FC236}">
                <a16:creationId xmlns:a16="http://schemas.microsoft.com/office/drawing/2014/main" id="{838E56FD-9334-4D84-59F5-4D7D1C5E6CB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07429593-3799-B6B3-8644-8A1FE632907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2CB24684-AABE-CF5E-3C60-25D47F0D6514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692B3D65-762C-D884-3FAF-9F50AAD9C21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1EC2A09D-C821-29AD-705F-48CDF3C3A0F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D4478689-4693-CBAF-DD7D-01221660520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992067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63">
          <a:extLst>
            <a:ext uri="{FF2B5EF4-FFF2-40B4-BE49-F238E27FC236}">
              <a16:creationId xmlns:a16="http://schemas.microsoft.com/office/drawing/2014/main" id="{87F64F0A-7D43-49C1-3910-CD0D9EDC7F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37">
            <a:extLst>
              <a:ext uri="{FF2B5EF4-FFF2-40B4-BE49-F238E27FC236}">
                <a16:creationId xmlns:a16="http://schemas.microsoft.com/office/drawing/2014/main" id="{7FC753A9-03ED-8601-09EA-32C164B9BB75}"/>
              </a:ext>
            </a:extLst>
          </p:cNvPr>
          <p:cNvSpPr/>
          <p:nvPr>
            <p:ph type="title"/>
          </p:nvPr>
        </p:nvSpPr>
        <p:spPr>
          <a:xfrm>
            <a:off x="990601" y="1943698"/>
            <a:ext cx="10210799" cy="29706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i="0" lang="en-US" sz="4800" b="1" dirty="0">
                <a:solidFill>
                  <a:schemeClr val="lt1"/>
                </a:solidFill>
              </a:rPr>
              <a:t>Thank you to everyone that responded to my feedback form!</a:t>
            </a:r>
          </a:p>
          <a:p>
            <a: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i="0" lang="en-US" sz="4800" b="1" dirty="0">
                <a:solidFill>
                  <a:schemeClr val="lt1"/>
                </a:solidFill>
              </a:rPr>
              <a:t>There was a lot of great feedback that I will try to incorporate!</a:t>
            </a:r>
            <a:endParaRPr i="0" lang="en-US" sz="4000" b="1" dirty="0">
              <a:solidFill>
                <a:schemeClr val="lt1"/>
              </a:solidFill>
            </a:endParaRPr>
          </a:p>
        </p:txBody>
      </p:sp>
      <p:pic>
        <p:nvPicPr>
          <p:cNvPr id="265" name="Google Shape;265;p37">
            <a:extLst>
              <a:ext uri="{FF2B5EF4-FFF2-40B4-BE49-F238E27FC236}">
                <a16:creationId xmlns:a16="http://schemas.microsoft.com/office/drawing/2014/main" id="{4F8AA0FB-9834-A354-B11D-A96E11BB5C9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37">
            <a:extLst>
              <a:ext uri="{FF2B5EF4-FFF2-40B4-BE49-F238E27FC236}">
                <a16:creationId xmlns:a16="http://schemas.microsoft.com/office/drawing/2014/main" id="{00450529-8015-E545-3E6A-E5BF886A192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267" name="Google Shape;267;p37">
            <a:extLst>
              <a:ext uri="{FF2B5EF4-FFF2-40B4-BE49-F238E27FC236}">
                <a16:creationId xmlns:a16="http://schemas.microsoft.com/office/drawing/2014/main" id="{57DD4F82-C0A6-F9E0-3E19-AAF1AFD216A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268" name="Google Shape;268;p37">
            <a:extLst>
              <a:ext uri="{FF2B5EF4-FFF2-40B4-BE49-F238E27FC236}">
                <a16:creationId xmlns:a16="http://schemas.microsoft.com/office/drawing/2014/main" id="{0B1BBCC4-F073-A8F3-80B5-D8B3085BC7C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269" name="Google Shape;269;p37">
              <a:extLst>
                <a:ext uri="{FF2B5EF4-FFF2-40B4-BE49-F238E27FC236}">
                  <a16:creationId xmlns:a16="http://schemas.microsoft.com/office/drawing/2014/main" id="{7C572CD7-118C-2923-F9C4-E167E9DF687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70" name="Google Shape;270;p37">
              <a:extLst>
                <a:ext uri="{FF2B5EF4-FFF2-40B4-BE49-F238E27FC236}">
                  <a16:creationId xmlns:a16="http://schemas.microsoft.com/office/drawing/2014/main" id="{6974B672-2806-2FCB-EC23-9CD1CE640A1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820723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D23ABB86-DC26-E2E7-289C-6B7F5AE1F6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B84470C3-9559-ABA2-4789-174B4DCA8887}"/>
              </a:ext>
            </a:extLst>
          </p:cNvPr>
          <p:cNvSpPr/>
          <p:nvPr>
            <p:ph type="title"/>
          </p:nvPr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Accelerometer</a:t>
            </a:r>
            <a:endParaRPr sz="1800" b="0" i="0" u="none" strike="noStrike" cap="none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1EE837E3-1C56-7551-D387-050E637B2FDC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FD00368B-C65A-6DCF-2975-35E2DFEBAC9D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2506EB16-E94A-E949-0385-5B4461292028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DFFE0CB8-4FCD-6178-0DBD-6E1057AB908C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E10A0B64-AAF9-63FF-8636-4010A9C1234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47B3ADB9-4EB5-6BD0-9B49-04137C3193F0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A3CAA285-CAAD-D4CB-0062-0B2C9CDFC222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1B8001D8-A9DE-85E5-3051-81B9D57652B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6C18ADED-2004-87F0-ABCD-320C49B506E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098685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5FCD8DA-1D95-2F3A-C28A-F8A123EDC3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A6174105-033F-4573-5F7B-AFA71B51703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We cannot and should not rely on a single sensor source (sensor fusion will be covered later), and sometimes we cannot attach encoders.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solidFill>
                <a:schemeClr val="dk1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So, what can we do?</a:t>
            </a:r>
            <a:endParaRPr lang="en-US" sz="2400" dirty="0">
              <a:solidFill>
                <a:schemeClr val="dk1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The goal is to measure direction and rotation. What is the most basic component that we can measure?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Forces!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How do calculate velocity and position from forces?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sz="2400" dirty="0">
              <a:solidFill>
                <a:schemeClr val="dk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9B4027A-0581-1617-68E9-B3EC09EB40B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F0AD76B-7692-8039-C8A5-DBC7442755BB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Accelerometer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901107B-7ACF-DF8E-675E-CC6E87C2172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CA2D60F-5115-D35B-D514-4248D3DBD47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3A3BDEAA-3CC7-A31D-BDCF-3251D5EFAB9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984A9B3-97F7-02EC-59E4-CAC63343432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4E65854D-473D-077F-578A-5EB7E9D902B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007742A-E8BA-3528-F0F8-A8F2968D321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34570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56100568-B510-5830-8294-3F782AC48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0EB62CF8-AF82-A6B6-7E70-E6B386116CCD}"/>
              </a:ext>
            </a:extLst>
          </p:cNvPr>
          <p:cNvGrpSpPr/>
          <p:nvPr/>
        </p:nvGrpSpPr>
        <p:grpSpPr>
          <a:xfrm>
            <a:off x="7365711" y="2491388"/>
            <a:ext cx="4581525" cy="3002022"/>
            <a:chOff x="7365711" y="2491388"/>
            <a:chExt cx="4581525" cy="3002022"/>
          </a:xfrm>
        </p:grpSpPr>
        <p:pic>
          <p:nvPicPr>
            <p:cNvPr id="1026" name="Picture 2" descr="Figure 3. Acceleration associated with a single moving mass.">
              <a:extLst>
                <a:ext uri="{FF2B5EF4-FFF2-40B4-BE49-F238E27FC236}">
                  <a16:creationId xmlns:a16="http://schemas.microsoft.com/office/drawing/2014/main" id="{C0099A63-1F74-2E2F-FA77-FE4FC1DFDFF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365711" y="2491388"/>
              <a:ext cx="4581525" cy="24098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C010A3C-74AC-F186-CF43-C6B661E689C6}"/>
                </a:ext>
              </a:extLst>
            </p:cNvPr>
            <p:cNvSpPr txBox="1"/>
            <p:nvPr/>
          </p:nvSpPr>
          <p:spPr>
            <a:xfrm>
              <a:off x="7729248" y="4939412"/>
              <a:ext cx="3854450" cy="5539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000" dirty="0">
                  <a:hlinkClick r:id="rId4"/>
                </a:rPr>
                <a:t>https://www.analog.com/cn/resources/technical-articles/accelerometer-and-gyroscopes-sensors-operation-sensing-and-applications.html</a:t>
              </a:r>
              <a:r>
                <a:rPr lang="en-US" sz="1000" dirty="0"/>
                <a:t> </a:t>
              </a:r>
            </a:p>
          </p:txBody>
        </p:sp>
      </p:grpSp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3F31382D-6C05-C0CC-6C4B-BFFAF87BF7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6988902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200" dirty="0">
                <a:latin typeface="Atkinson Hyperlegible Next"/>
                <a:ea typeface="Arial"/>
                <a:cs typeface="Arial"/>
                <a:sym typeface="Arial"/>
              </a:rPr>
              <a:t>A MEMS (Micro-Electro-Mechanical Systems) accelerometer measure linear acceleration.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2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200" dirty="0">
                <a:latin typeface="Atkinson Hyperlegible Next"/>
                <a:ea typeface="Arial"/>
                <a:cs typeface="Arial"/>
                <a:sym typeface="Arial"/>
              </a:rPr>
              <a:t>Accelerometers work like a weight suspended by springs. When the mass is moved you measure the displacement, the springs bring it back to the center.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2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200" dirty="0">
                <a:latin typeface="Atkinson Hyperlegible Next"/>
                <a:ea typeface="Arial"/>
                <a:cs typeface="Arial"/>
                <a:sym typeface="Arial"/>
              </a:rPr>
              <a:t>In chips, we use the change of capacitors. The capacitance is based on the distance between the 2 materials. So, the smaller the distance, the larger the returned capacitance.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2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200" dirty="0">
                <a:latin typeface="Atkinson Hyperlegible Next"/>
                <a:ea typeface="Arial"/>
                <a:cs typeface="Arial"/>
                <a:sym typeface="Arial"/>
              </a:rPr>
              <a:t>You then measure this capacitance. </a:t>
            </a:r>
            <a:endParaRPr sz="2200" dirty="0">
              <a:solidFill>
                <a:schemeClr val="dk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0AFAA63-8F58-EF60-91BF-81873E85B18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FFEAA0D-6F41-FE5E-0AFD-D76594141242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</a:pPr>
            <a:r>
              <a:rPr i="0" b="0" lang="en-US" sz="2400" dirty="0">
                <a:solidFill>
                  <a:schemeClr val="lt1"/>
                </a:solidFill>
              </a:rPr>
              <a:t>Accelerometer</a:t>
            </a: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D9AFF74-DC4C-BE05-F952-7307244FB819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21A02F0-D190-5682-8E0E-122161AE548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54D9D490-396B-C0AF-4C11-B1BC85459A8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648E8C0-F8FE-9124-A218-9620B290196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B4BA59E-FF7A-3082-AC7A-DA2463EA353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1D054AF-6DE3-633B-FB0B-119A8631465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968C2B57-7B23-E0F2-BA75-D6D44A1690BE}"/>
              </a:ext>
            </a:extLst>
          </p:cNvPr>
          <p:cNvCxnSpPr>
            <a:cxnSpLocks/>
          </p:cNvCxnSpPr>
          <p:nvPr/>
        </p:nvCxnSpPr>
        <p:spPr>
          <a:xfrm flipV="1">
            <a:off x="6673850" y="4298950"/>
            <a:ext cx="2762250" cy="60226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94294FA-1DBC-B314-2164-0B7EB39D33F5}"/>
              </a:ext>
            </a:extLst>
          </p:cNvPr>
          <p:cNvCxnSpPr>
            <a:cxnSpLocks/>
          </p:cNvCxnSpPr>
          <p:nvPr/>
        </p:nvCxnSpPr>
        <p:spPr>
          <a:xfrm flipV="1">
            <a:off x="6673850" y="4451352"/>
            <a:ext cx="2736850" cy="44986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3064546-C747-54C9-ED36-48A65C668E71}"/>
              </a:ext>
            </a:extLst>
          </p:cNvPr>
          <p:cNvCxnSpPr>
            <a:cxnSpLocks/>
          </p:cNvCxnSpPr>
          <p:nvPr/>
        </p:nvCxnSpPr>
        <p:spPr>
          <a:xfrm flipV="1">
            <a:off x="6673850" y="4670421"/>
            <a:ext cx="2711450" cy="230792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22181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C66A12E-7CB7-D83B-8BFE-9DCE7F520C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D1E6309B-980C-CF8D-5D8D-933BEEBF27A8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8" y="1334279"/>
                <a:ext cx="1135164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Force causes a displacement of the mass which, in turn, causes a capacitance change.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Placing multiple electrodes in parallel allows for a larger capacitance, which will be more easily detected.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By calculating the difference between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 b="0" i="1" dirty="0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C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 i="1" dirty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C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, we can derive the displacement of the mass and its direction. 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D1E6309B-980C-CF8D-5D8D-933BEEBF27A8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8" y="1334279"/>
                <a:ext cx="11351641" cy="4821102"/>
              </a:xfrm>
              <a:prstGeom prst="rect">
                <a:avLst/>
              </a:prstGeom>
              <a:blipFill>
                <a:blip r:embed="rId3"/>
                <a:stretch>
                  <a:fillRect l="-859" t="-885" r="-102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A910397-B140-127F-D4BE-BFD2C343AA17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94402D7D-2C94-3317-CF8C-932668F0A78D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</a:pPr>
            <a:r>
              <a:rPr i="0" b="0" lang="en-US" sz="2400" dirty="0">
                <a:solidFill>
                  <a:schemeClr val="lt1"/>
                </a:solidFill>
              </a:rPr>
              <a:t>Accelerometer</a:t>
            </a: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CF768C6-626D-B1BB-CEE8-862C33C50CD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D4FA256-DE82-A0DA-7B4E-7B1BB1AD737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C6725D9-FF50-6AA8-9B7D-6F080B285DA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233E115-E643-56C7-1052-771585BCB4F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A6796F6-D091-E264-1B99-901E81EDE14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45E6768-3C7B-01F9-0BBA-66217F10023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425927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CC5DA62-BC0B-6A89-9C62-C152349E3A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DBFC2976-A4C8-D7F4-8E4F-33CC386D07A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8" y="1334279"/>
                <a:ext cx="1135164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Since we can measure the displacement and the system acts as a string we can do the following. We start with: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F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= 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ma</m:t>
                      </m:r>
                    </m:oMath>
                  </m:oMathPara>
                </a14:m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The force from a spring is: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F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= 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k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∆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x</m:t>
                      </m:r>
                    </m:oMath>
                  </m:oMathPara>
                </a14:m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Given that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m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m:rPr>
                        <m:sty m:val="p"/>
                      </m:rPr>
                      <a:rPr lang="en-US" sz="24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k</m:t>
                    </m:r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 are known (design choices), and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/>
                        <a:sym typeface="Arial"/>
                      </a:rPr>
                      <m:t>∆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/>
                        <a:sym typeface="Arial"/>
                      </a:rPr>
                      <m:t>x</m:t>
                    </m:r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 is measured from the capacitors, we get that: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F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 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ma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k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∆</m:t>
                      </m:r>
                      <m:r>
                        <m:rPr>
                          <m:sty m:val="p"/>
                        </m:rP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x</m:t>
                      </m:r>
                    </m:oMath>
                  </m:oMathPara>
                </a14:m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a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= 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k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m</m:t>
                          </m:r>
                        </m:den>
                      </m:f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∆</m:t>
                      </m:r>
                      <m:r>
                        <m:rPr>
                          <m:sty m:val="p"/>
                        </m:rP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x</m:t>
                      </m:r>
                    </m:oMath>
                  </m:oMathPara>
                </a14:m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DBFC2976-A4C8-D7F4-8E4F-33CC386D07A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8" y="1334279"/>
                <a:ext cx="11351641" cy="4821102"/>
              </a:xfrm>
              <a:prstGeom prst="rect">
                <a:avLst/>
              </a:prstGeom>
              <a:blipFill>
                <a:blip r:embed="rId3"/>
                <a:stretch>
                  <a:fillRect l="-859" t="-8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87125F3A-A90B-6BDF-A76F-68EF076211E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929595E0-8716-0A59-7715-D6C272A3AB10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</a:pPr>
            <a:r>
              <a:rPr i="0" b="0" lang="en-US" sz="2400" dirty="0">
                <a:solidFill>
                  <a:schemeClr val="lt1"/>
                </a:solidFill>
              </a:rPr>
              <a:t>Accelerometer</a:t>
            </a: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7E3135A-01AA-59C8-2AA0-AEE0BBF7581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CEA9229-4314-D7A6-21C9-5F59DA45B74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9CF4711-6BE1-2C22-D259-86106480E88C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86CD93B2-FF10-6DFD-FBD5-CDEBF0F7432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FFEF29C2-8CD2-5B84-7F9E-F1430CF19A8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18A38FE-DA45-33E1-F96B-DE644D0A290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079726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30DF339-BECE-0B30-309A-75D4AB1FC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1669D43B-297E-BBE7-7D87-43BAA0F00D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452008" cy="13464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000" dirty="0">
                <a:latin typeface="Atkinson Hyperlegible Next"/>
                <a:ea typeface="Arial"/>
                <a:cs typeface="Arial"/>
                <a:sym typeface="Arial"/>
              </a:rPr>
              <a:t>You keep stacking these to remove the noise to get more accurate readings. In turn we get the following internal system. It is incredible how small these are!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0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000" dirty="0">
                <a:latin typeface="Atkinson Hyperlegible Next"/>
                <a:ea typeface="Arial"/>
                <a:cs typeface="Arial"/>
                <a:sym typeface="Arial"/>
              </a:rPr>
              <a:t>How many axis can the following accelerometers measure?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897250A0-BE36-81F5-5B93-811CA984EF1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9E3A581-7EAB-B40A-905D-1080267128E8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</a:pPr>
            <a:r>
              <a:rPr i="0" b="0" lang="en-US" sz="2400" dirty="0">
                <a:solidFill>
                  <a:schemeClr val="lt1"/>
                </a:solidFill>
              </a:rPr>
              <a:t>Accelerometer</a:t>
            </a: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BC14CEF3-618A-F447-8470-8B80B0BD1D4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80930E9C-8BA5-4685-F5E0-29AAF5B58EA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6CC39B7-0450-84A4-05A9-0CAFE70A3574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786D7A5-7566-46F5-5CAB-6F2CB7E4132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94CB4F4-29EF-B07E-16E9-1F527D6B318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C30A6E9-097D-6AF2-2495-E9B2296A611E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282228A-7F9B-1E1B-97B9-A5FC4F7E62E1}"/>
              </a:ext>
            </a:extLst>
          </p:cNvPr>
          <p:cNvGrpSpPr/>
          <p:nvPr/>
        </p:nvGrpSpPr>
        <p:grpSpPr>
          <a:xfrm>
            <a:off x="8146727" y="3032124"/>
            <a:ext cx="3752011" cy="3439238"/>
            <a:chOff x="8146727" y="3032124"/>
            <a:chExt cx="3752011" cy="3439238"/>
          </a:xfrm>
        </p:grpSpPr>
        <p:pic>
          <p:nvPicPr>
            <p:cNvPr id="2056" name="Picture 8" descr="The Little Machines That are Making it Big - Physics Today">
              <a:extLst>
                <a:ext uri="{FF2B5EF4-FFF2-40B4-BE49-F238E27FC236}">
                  <a16:creationId xmlns:a16="http://schemas.microsoft.com/office/drawing/2014/main" id="{6041F7B9-5E30-C48D-9CF0-8BD0E9279BC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46727" y="3032124"/>
              <a:ext cx="3752011" cy="27241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FCF44E14-B388-0148-7E1C-157A9C3FDB8F}"/>
                </a:ext>
              </a:extLst>
            </p:cNvPr>
            <p:cNvSpPr txBox="1"/>
            <p:nvPr/>
          </p:nvSpPr>
          <p:spPr>
            <a:xfrm>
              <a:off x="8601877" y="6071252"/>
              <a:ext cx="284171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000" dirty="0">
                  <a:hlinkClick r:id="rId5"/>
                </a:rPr>
                <a:t>https://physicstoday.aip.org/features/the-little-machines-that-are-making-it-big</a:t>
              </a:r>
              <a:r>
                <a:rPr lang="en-US" sz="1000" dirty="0"/>
                <a:t> 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A3E9B34-809C-B884-B26F-72D58D1064FC}"/>
              </a:ext>
            </a:extLst>
          </p:cNvPr>
          <p:cNvGrpSpPr/>
          <p:nvPr/>
        </p:nvGrpSpPr>
        <p:grpSpPr>
          <a:xfrm>
            <a:off x="4411535" y="2796903"/>
            <a:ext cx="3696131" cy="3674459"/>
            <a:chOff x="4411535" y="2796903"/>
            <a:chExt cx="3696131" cy="3674459"/>
          </a:xfrm>
        </p:grpSpPr>
        <p:pic>
          <p:nvPicPr>
            <p:cNvPr id="2052" name="Picture 4" descr="Analytical study and compensation for temperature drifts of a bulk silicon  MEMS capacitive accelerometer - ScienceDirect">
              <a:extLst>
                <a:ext uri="{FF2B5EF4-FFF2-40B4-BE49-F238E27FC236}">
                  <a16:creationId xmlns:a16="http://schemas.microsoft.com/office/drawing/2014/main" id="{E430249B-F567-6199-F617-19C666074DD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11535" y="2796903"/>
              <a:ext cx="3696131" cy="31945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EE84E31-02FE-EF96-34F5-1329D2124C83}"/>
                </a:ext>
              </a:extLst>
            </p:cNvPr>
            <p:cNvSpPr txBox="1"/>
            <p:nvPr/>
          </p:nvSpPr>
          <p:spPr>
            <a:xfrm>
              <a:off x="4915497" y="6071252"/>
              <a:ext cx="3002139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000" dirty="0">
                  <a:hlinkClick r:id="rId7"/>
                </a:rPr>
                <a:t>https://www.sciencedirect.com/science/article/pii/S0924424716300267</a:t>
              </a:r>
              <a:r>
                <a:rPr lang="en-US" sz="1000" dirty="0"/>
                <a:t> 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B373C202-2046-B73F-21F8-A630E2BDCEC5}"/>
              </a:ext>
            </a:extLst>
          </p:cNvPr>
          <p:cNvGrpSpPr/>
          <p:nvPr/>
        </p:nvGrpSpPr>
        <p:grpSpPr>
          <a:xfrm>
            <a:off x="306888" y="2840884"/>
            <a:ext cx="4065587" cy="3707422"/>
            <a:chOff x="306888" y="2840884"/>
            <a:chExt cx="4065587" cy="3707422"/>
          </a:xfrm>
        </p:grpSpPr>
        <p:pic>
          <p:nvPicPr>
            <p:cNvPr id="2050" name="Picture 2" descr="Figure 6. A mechanical model of an actual accelerometer.">
              <a:extLst>
                <a:ext uri="{FF2B5EF4-FFF2-40B4-BE49-F238E27FC236}">
                  <a16:creationId xmlns:a16="http://schemas.microsoft.com/office/drawing/2014/main" id="{A3E81219-B5A3-D25A-A450-7ED9CF3F8F9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6888" y="2840884"/>
              <a:ext cx="4065587" cy="310662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DA254D9-91DE-03A6-26E7-935706FB2FE6}"/>
                </a:ext>
              </a:extLst>
            </p:cNvPr>
            <p:cNvSpPr txBox="1"/>
            <p:nvPr/>
          </p:nvSpPr>
          <p:spPr>
            <a:xfrm>
              <a:off x="376807" y="5994308"/>
              <a:ext cx="3854450" cy="5539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000" dirty="0">
                  <a:hlinkClick r:id="rId9"/>
                </a:rPr>
                <a:t>https://www.analog.com/cn/resources/technical-articles/accelerometer-and-gyroscopes-sensors-operation-sensing-and-applications.html</a:t>
              </a:r>
              <a:r>
                <a:rPr lang="en-US" sz="1000" dirty="0"/>
                <a:t>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072020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BE96A34-9AA0-A0B8-6CA1-3016174280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2A52E2B5-951A-5CF0-7480-482267EC05D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20F12A5C-A8B4-D40F-39DC-CA6A2CABCEC3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</a:pPr>
            <a:r>
              <a:rPr i="0" b="0" lang="en-US" sz="2400" dirty="0">
                <a:solidFill>
                  <a:schemeClr val="lt1"/>
                </a:solidFill>
              </a:rPr>
              <a:t>Accelerometer</a:t>
            </a: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DF2E7A90-0B8C-8F9C-A335-68C3E20739A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6F1F78E-0944-9C3F-046B-62AB0238630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0846ABD-A4AC-E03D-BE93-3EAE52A5F90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4584477-D86A-F2AE-631C-DF158392A03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17F37E4-9F67-F338-BCB1-1BE86A0C4BC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75BDECC-95DB-1BB6-7B03-48B6F84FDCF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074" name="Picture 2" descr="A Monolithic Three-Axis Accelerometer with Wafer-Level Package by CMOS MEMS  Process">
            <a:extLst>
              <a:ext uri="{FF2B5EF4-FFF2-40B4-BE49-F238E27FC236}">
                <a16:creationId xmlns:a16="http://schemas.microsoft.com/office/drawing/2014/main" id="{D3FF78EE-AC3F-93DB-9FC6-122F1A402E2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1998"/>
          <a:stretch>
            <a:fillRect/>
          </a:stretch>
        </p:blipFill>
        <p:spPr bwMode="auto">
          <a:xfrm>
            <a:off x="411565" y="3219449"/>
            <a:ext cx="11145944" cy="29706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118;p29">
            <a:extLst>
              <a:ext uri="{FF2B5EF4-FFF2-40B4-BE49-F238E27FC236}">
                <a16:creationId xmlns:a16="http://schemas.microsoft.com/office/drawing/2014/main" id="{1137E0F5-E386-0F93-BB0A-90D072D484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8"/>
            <a:ext cx="11452008" cy="18851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000" dirty="0">
                <a:latin typeface="Atkinson Hyperlegible Next"/>
                <a:ea typeface="Arial"/>
                <a:cs typeface="Arial"/>
                <a:sym typeface="Arial"/>
              </a:rPr>
              <a:t>Think of the z-axis as a trampoline!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0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000" dirty="0">
                <a:latin typeface="Atkinson Hyperlegible Next"/>
                <a:ea typeface="Arial"/>
                <a:cs typeface="Arial"/>
                <a:sym typeface="Arial"/>
              </a:rPr>
              <a:t>What happens if you have too large of an acceleration (think of the combs)?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0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000" dirty="0">
                <a:latin typeface="Atkinson Hyperlegible Next"/>
                <a:ea typeface="Arial"/>
                <a:cs typeface="Arial"/>
                <a:sym typeface="Arial"/>
              </a:rPr>
              <a:t>An accelerometer that is sitting still on a desk reads _g pointing upwards.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000" dirty="0">
                <a:latin typeface="Atkinson Hyperlegible Next"/>
                <a:ea typeface="Arial"/>
                <a:cs typeface="Arial"/>
                <a:sym typeface="Arial"/>
              </a:rPr>
              <a:t>What if it gets dropped out of the window in a perfect vacuum?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3ECC25A-72F6-A0EA-4E81-A046BFBA518B}"/>
              </a:ext>
            </a:extLst>
          </p:cNvPr>
          <p:cNvSpPr txBox="1"/>
          <p:nvPr/>
        </p:nvSpPr>
        <p:spPr>
          <a:xfrm>
            <a:off x="4552572" y="6212662"/>
            <a:ext cx="255850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hlinkClick r:id="rId5"/>
              </a:rPr>
              <a:t>https://www.mdpi.com/2504-3900/1/4/337</a:t>
            </a:r>
            <a:r>
              <a:rPr lang="en-US" sz="1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296438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A2CBC5D3-F67B-9CF2-05C2-582713967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9B4CF29-6F21-C08C-5BB5-6F3E1318906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1EE0E0A-4994-CC87-C735-D3F277F70903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</a:pPr>
            <a:r>
              <a:rPr i="0" b="0" lang="en-US" sz="2400" dirty="0">
                <a:solidFill>
                  <a:schemeClr val="lt1"/>
                </a:solidFill>
              </a:rPr>
              <a:t>Accelerometer</a:t>
            </a: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FC193F53-2960-4D90-E134-844FCF5D710C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893BFC07-4E4F-D437-CF32-3A63376B52F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CA7C746-F545-1E4D-8C45-6F4C2EDCF1C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D2CE139-719B-E858-D5C3-9C370F1C0DA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01ECCDA-D474-53F1-0FE7-638638D4E72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30D02644-CA90-F199-72C4-819D813157EE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" name="Online Media 4" title="How does an Accelerometer work? | 3D Animation">
            <a:hlinkClick r:id="" action="ppaction://media"/>
            <a:extLst>
              <a:ext uri="{FF2B5EF4-FFF2-40B4-BE49-F238E27FC236}">
                <a16:creationId xmlns:a16="http://schemas.microsoft.com/office/drawing/2014/main" id="{324C272E-4056-2D46-0466-467E8004EC02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5"/>
          <a:stretch>
            <a:fillRect/>
          </a:stretch>
        </p:blipFill>
        <p:spPr>
          <a:xfrm>
            <a:off x="1295206" y="1012151"/>
            <a:ext cx="9601588" cy="5424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6530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D36353EB-5A4F-063F-BDD7-6098729A5A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4C5CBE4E-D534-4D34-0A8F-88D3B6C6EBBE}"/>
              </a:ext>
            </a:extLst>
          </p:cNvPr>
          <p:cNvSpPr/>
          <p:nvPr>
            <p:ph type="title"/>
          </p:nvPr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Gyroscope</a:t>
            </a:r>
            <a:endParaRPr sz="1800" b="0" i="0" u="none" strike="noStrike" cap="none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C54758AB-EE7D-BACB-9D70-7F7DD0C3CD0D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EC2B9E75-F9C3-AD76-23C2-E2D218D97C33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C05092BD-A2D7-D47D-63B3-E336A44749FE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6C832EFA-1EAF-FD86-2A03-1C74118FEF6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D7739D50-10A2-9445-21B8-BFFE8B6BAF4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09A3CF1E-AF07-DDAC-471B-035485D94A40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B55EA4AF-BF4E-346E-AC4D-B70EA0648B32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31E8BBB6-CD27-AF6C-45AE-93CFC6F23F7F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183F7F7B-26B2-2673-7BDF-775F804482A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474242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16E3B972-42E6-1E5F-7763-1B03D4559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2377218-DA81-CC61-8492-211B54A22DE1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The accelerometer measures linear acceleration, which allows us to measure acceleration, velocity and displacement.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How many degrees of freedom are there in 3D?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x</m:t>
                      </m:r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y</m:t>
                      </m:r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z</m:t>
                      </m:r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,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b="0" i="1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x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,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y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,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z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)</m:t>
                      </m:r>
                    </m:oMath>
                  </m:oMathPara>
                </a14:m>
                <a:endParaRPr lang="en-US" sz="2400" dirty="0">
                  <a:solidFill>
                    <a:schemeClr val="dk1"/>
                  </a:solidFill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How many does the accelerometer handle?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 3: 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(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x</m:t>
                    </m:r>
                    <m: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y</m:t>
                    </m:r>
                    <m: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z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)</m:t>
                    </m:r>
                  </m:oMath>
                </a14:m>
                <a:endParaRPr lang="en-US" sz="2400" dirty="0">
                  <a:solidFill>
                    <a:schemeClr val="dk1"/>
                  </a:solidFill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We are missing the angular DOF!</a:t>
                </a:r>
                <a:endParaRPr sz="2400" dirty="0">
                  <a:solidFill>
                    <a:schemeClr val="dk1"/>
                  </a:solidFill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2377218-DA81-CC61-8492-211B54A22DE1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7696F78-D3C9-73F7-E2BD-C3A0E6E19998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5B59E9A-07FD-0ED7-CA71-FF3D6BCC0FD2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Gyroscope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297DAF3-EA9D-3335-B9BE-3616C1DBC30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D5FA45B-E33D-55A9-324A-031BFDF6575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5E5301B-4D7A-F724-2C97-1BEAD3B687A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0741A05-268C-9BF4-40FA-7A36EB18348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CF8C33A-4646-562B-33B3-961EC46FEA4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A6F078D-3429-1831-734E-3C17BE6D151E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9AE8F741-9312-721E-B0DC-B9D63AB5C94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10861" y="2039542"/>
            <a:ext cx="3943349" cy="41320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30357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6E0C988-A352-BD5D-5AAB-44918F7ED5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CF3E9F1A-1485-B8EE-CDFB-62DAA1CF9E7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A </a:t>
            </a: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MEMS Gyroscope does not use a spinning wheel like classical mechanical gyroscopes. Similarly, you have a tiny mass that is moving when rotating. If the device start rotating, the moving mass experiences a sideways force.</a:t>
            </a:r>
            <a:endParaRPr sz="2400" dirty="0">
              <a:solidFill>
                <a:schemeClr val="dk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CF68B513-141A-064E-504D-9703219D32A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93A1258D-81B1-4EE5-A944-C9B7D542E8B8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</a:pPr>
            <a:r>
              <a:rPr i="0" b="0" lang="en-US" sz="2400" dirty="0">
                <a:solidFill>
                  <a:schemeClr val="lt1"/>
                </a:solidFill>
              </a:rPr>
              <a:t>Gyroscope</a:t>
            </a: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51AD05D-0426-73B2-235A-964A9384ACF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3AB5FE1-2E19-E748-9055-362275BAC64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ABBAE05-8685-B3C3-84CB-7A90F06C29C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75F74BB-22AB-E7DD-B83A-D0ADA853570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C70D25B-49D7-7FDC-2927-2C07B298745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3ABD2CD-F94E-76EC-C20E-6AC0949FE8F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8DEDBDDF-BB3D-DBAF-394F-F799EFA94E2D}"/>
              </a:ext>
            </a:extLst>
          </p:cNvPr>
          <p:cNvGrpSpPr/>
          <p:nvPr/>
        </p:nvGrpSpPr>
        <p:grpSpPr>
          <a:xfrm>
            <a:off x="3238500" y="2767312"/>
            <a:ext cx="5715000" cy="3554523"/>
            <a:chOff x="3238500" y="3051156"/>
            <a:chExt cx="5715000" cy="3554523"/>
          </a:xfrm>
        </p:grpSpPr>
        <p:pic>
          <p:nvPicPr>
            <p:cNvPr id="4098" name="Picture 2" descr="100:1 3D printed MEMS Gyroscope : r/3Dprinting">
              <a:extLst>
                <a:ext uri="{FF2B5EF4-FFF2-40B4-BE49-F238E27FC236}">
                  <a16:creationId xmlns:a16="http://schemas.microsoft.com/office/drawing/2014/main" id="{CB05BAB7-0766-30F5-0865-E7B4123DF48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238500" y="3051156"/>
              <a:ext cx="5715000" cy="32194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2D5D5AC-8977-3C31-3A35-64A5BFD4A2BB}"/>
                </a:ext>
              </a:extLst>
            </p:cNvPr>
            <p:cNvSpPr txBox="1"/>
            <p:nvPr/>
          </p:nvSpPr>
          <p:spPr>
            <a:xfrm>
              <a:off x="3238500" y="6351763"/>
              <a:ext cx="5646943" cy="2539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000" dirty="0">
                  <a:hlinkClick r:id="rId5"/>
                </a:rPr>
                <a:t>https://www.reddit.com/r/3Dprinting/comments/103v6ef/1001_3d_printed_mems_gyroscope/</a:t>
              </a:r>
              <a:r>
                <a:rPr lang="en-US" sz="1000" dirty="0"/>
                <a:t>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740469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380ABB9-8576-B423-6408-62B02ABB52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513049CB-49ED-CFF8-CCF8-255F5E41FC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Very similar to accelerometers,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The mass sits between capacitors plates.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When the it moves sideways, capacitance changes</a:t>
            </a: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This returns a displacement from which we can compute angular velocity.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8FE000B5-1DF8-0471-C0F4-CD0F9224A77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CF42AB5-AAC9-1C71-DA7B-7C4A4EF8327D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</a:pPr>
            <a:r>
              <a:rPr i="0" b="0" lang="en-US" sz="2400" dirty="0">
                <a:solidFill>
                  <a:schemeClr val="lt1"/>
                </a:solidFill>
              </a:rPr>
              <a:t>Gyroscope</a:t>
            </a: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53BD088-B282-E8E5-989D-BC238501CB0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974BA00-7DD6-CE62-D9D3-F25228703F4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76F0DFB-B30E-2EF7-E980-22C4C3E1DBE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03AD608-5A66-223E-A269-C2692B3931F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B53D79B-600A-3194-D27D-76049344E4A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D35C187-CC3B-754E-9D04-D1BF691C85F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947671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CDD757D-BE1E-BC17-C5AF-EEAFBBA48F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8962E3DB-9FC5-36DB-1422-D77A685115E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10" y="1334279"/>
                <a:ext cx="6957574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The device shown has 2 axis, the </a:t>
                </a:r>
                <a:r>
                  <a:rPr lang="en-US" sz="2400" b="1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Drive Axis </a:t>
                </a: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(x) and the </a:t>
                </a:r>
                <a:r>
                  <a:rPr lang="en-US" sz="2400" b="1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Sense Axis </a:t>
                </a: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(y).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The inner mass is electrically forced to vibrate continuously back and force along the x-axis at a resonant frequency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/>
                            <a:sym typeface="Arial"/>
                          </a:rPr>
                          <m:t>𝜔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r</m:t>
                        </m:r>
                      </m:sub>
                    </m:sSub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. The instantaneous velocity is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/>
                        <a:sym typeface="Arial"/>
                      </a:rPr>
                      <m:t>𝜈</m:t>
                    </m:r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When an angular velocity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l-G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/>
                            <a:sym typeface="Arial"/>
                          </a:rPr>
                          <m:t>Ω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/>
                            <a:sym typeface="Arial"/>
                          </a:rPr>
                          <m:t>z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, along the z-axis, is applied, the Coriolis force acting along the y-axis is generated.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F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C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=− 2</m:t>
                      </m:r>
                      <m:r>
                        <m:rPr>
                          <m:sty m:val="p"/>
                        </m:rP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m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(</m:t>
                      </m:r>
                      <m:sSub>
                        <m:sSubPr>
                          <m:ctrl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Ω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z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× </m:t>
                      </m:r>
                      <m:r>
                        <m:rPr>
                          <m:sty m:val="p"/>
                        </m:rP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v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)</m:t>
                      </m:r>
                    </m:oMath>
                  </m:oMathPara>
                </a14:m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8962E3DB-9FC5-36DB-1422-D77A685115E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10" y="1334279"/>
                <a:ext cx="6957574" cy="4821102"/>
              </a:xfrm>
              <a:prstGeom prst="rect">
                <a:avLst/>
              </a:prstGeom>
              <a:blipFill>
                <a:blip r:embed="rId3"/>
                <a:stretch>
                  <a:fillRect l="-1402" t="-885" b="-252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251B99CF-4CE2-1FB8-3647-08404690543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3CF6032-F6A3-D172-98AC-85BB645B4523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</a:pPr>
            <a:r>
              <a:rPr i="0" b="0" lang="en-US" sz="2400" dirty="0">
                <a:solidFill>
                  <a:schemeClr val="lt1"/>
                </a:solidFill>
              </a:rPr>
              <a:t>Gyroscope</a:t>
            </a: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70CCCC0-AD8E-121E-8D18-B92CD1CDF38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CCA26F7F-E347-4B12-7794-198DA649BF9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43CDB9E-1B80-949B-35A0-0BD5F140AEE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5FD9405-159F-802F-328E-553AD5CF9B1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5A2DB67-F6D8-4AA7-AC76-BBA8B9E7EA8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7F015CB-C47B-434C-3437-D5DB26F30D5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2E8AEA93-9899-118C-BA18-52BE4298728F}"/>
              </a:ext>
            </a:extLst>
          </p:cNvPr>
          <p:cNvGrpSpPr/>
          <p:nvPr/>
        </p:nvGrpSpPr>
        <p:grpSpPr>
          <a:xfrm>
            <a:off x="7463756" y="2281242"/>
            <a:ext cx="4418382" cy="2993413"/>
            <a:chOff x="4535118" y="3781584"/>
            <a:chExt cx="4418382" cy="2993413"/>
          </a:xfrm>
        </p:grpSpPr>
        <p:pic>
          <p:nvPicPr>
            <p:cNvPr id="3" name="Picture 2" descr="100:1 3D printed MEMS Gyroscope : r/3Dprinting">
              <a:extLst>
                <a:ext uri="{FF2B5EF4-FFF2-40B4-BE49-F238E27FC236}">
                  <a16:creationId xmlns:a16="http://schemas.microsoft.com/office/drawing/2014/main" id="{40184BF8-5A89-92BE-2236-599732502E1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535118" y="3781584"/>
              <a:ext cx="4418382" cy="248902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4D54706D-8E0C-D57D-1AF5-0C11B8B8565F}"/>
                </a:ext>
              </a:extLst>
            </p:cNvPr>
            <p:cNvSpPr txBox="1"/>
            <p:nvPr/>
          </p:nvSpPr>
          <p:spPr>
            <a:xfrm>
              <a:off x="4535118" y="6374887"/>
              <a:ext cx="4350325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000" dirty="0">
                  <a:hlinkClick r:id="rId6"/>
                </a:rPr>
                <a:t>https://www.reddit.com/r/3Dprinting/comments/103v6ef/1001_3d_printed_mems_gyroscope/</a:t>
              </a:r>
              <a:r>
                <a:rPr lang="en-US" sz="1000" dirty="0"/>
                <a:t>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992506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BE366D2-8443-24FB-B4FA-FC142B113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0CA7966-FEF4-9327-85EB-B8143E2B978B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The Coriolis force pushes the mass along the y-axis.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Thus, to solve for angular velocity we again derive that: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F</m:t>
                      </m:r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=</m:t>
                      </m:r>
                      <m:r>
                        <m:rPr>
                          <m:sty m:val="p"/>
                        </m:rP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k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∆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y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 =− 2</m:t>
                      </m:r>
                      <m:r>
                        <m:rPr>
                          <m:sty m:val="p"/>
                        </m:rP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m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(</m:t>
                      </m:r>
                      <m:sSub>
                        <m:sSubPr>
                          <m:ctrl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Ω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z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× </m:t>
                      </m:r>
                      <m:r>
                        <m:rPr>
                          <m:sty m:val="p"/>
                        </m:rP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v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)</m:t>
                      </m:r>
                    </m:oMath>
                  </m:oMathPara>
                </a14:m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Ω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z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 </m:t>
                      </m:r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k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∆</m:t>
                          </m:r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y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n-US" sz="2400" i="1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m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v</m:t>
                          </m:r>
                        </m:den>
                      </m:f>
                    </m:oMath>
                  </m:oMathPara>
                </a14:m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We know the mass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m</m:t>
                    </m:r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, spring stiffness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cs typeface="Arial"/>
                        <a:sym typeface="Arial"/>
                      </a:rPr>
                      <m:t>k</m:t>
                    </m:r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, drive velocity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v</m:t>
                    </m:r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, so we just compute the displacement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/>
                        <a:sym typeface="Arial"/>
                      </a:rPr>
                      <m:t>∆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/>
                        <a:sym typeface="Arial"/>
                      </a:rPr>
                      <m:t>y</m:t>
                    </m:r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 to measure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/>
                            <a:sym typeface="Arial"/>
                          </a:rPr>
                          <m:t>Ω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/>
                            <a:sym typeface="Arial"/>
                          </a:rPr>
                          <m:t>z</m:t>
                        </m:r>
                      </m:sub>
                    </m:sSub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Very similar to the accelerometer!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0CA7966-FEF4-9327-85EB-B8143E2B978B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b="-265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EFE829C-149E-6144-8519-D4B8FFCB272A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674F11F-4608-CF42-BA3F-84F51CF3C7C7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</a:pPr>
            <a:r>
              <a:rPr i="0" b="0" lang="en-US" sz="2400" dirty="0">
                <a:solidFill>
                  <a:schemeClr val="lt1"/>
                </a:solidFill>
              </a:rPr>
              <a:t>Gyroscope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70966E0-11DA-41DC-5096-2F1041D28CDB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C35D941D-58C0-1DE8-FC54-94931F4F641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E1FBF1E-3258-BBD8-56B4-730B6608A09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03806BA1-0E6C-2FD8-C2E1-126A0162513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7C083D0-0F26-6A00-7D50-93DA798F0D8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BC1D6ECD-56BC-8C3D-3281-2C11BC8BFE2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053115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E8D8052-A223-7041-4751-E4596AD6B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9013877-932D-3675-2F81-D0A166BCC8C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CA20A66-72FC-DD0B-308D-95FF69C48516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</a:pPr>
            <a:r>
              <a:rPr i="0" b="0" lang="en-US" sz="2400" dirty="0">
                <a:solidFill>
                  <a:schemeClr val="lt1"/>
                </a:solidFill>
              </a:rPr>
              <a:t>Gyroscope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386B217-1600-876C-6357-18FE44C3690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36D7C9C-9BCC-AD50-F293-481610F5EA0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7010FBB9-1A3B-D764-E184-17FE67DBD74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F81F5DB-7942-A2B7-72DA-E9AD23AF189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90319E6-4A7B-A9AA-6FD0-5074198A058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E094615-FEC9-9A37-29B7-7F10351458B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A2725359-120A-D50A-ED90-1425B7D9D3DD}"/>
              </a:ext>
            </a:extLst>
          </p:cNvPr>
          <p:cNvGrpSpPr/>
          <p:nvPr/>
        </p:nvGrpSpPr>
        <p:grpSpPr>
          <a:xfrm>
            <a:off x="488949" y="977100"/>
            <a:ext cx="5168900" cy="5404839"/>
            <a:chOff x="488949" y="977100"/>
            <a:chExt cx="5168900" cy="5404839"/>
          </a:xfrm>
        </p:grpSpPr>
        <p:pic>
          <p:nvPicPr>
            <p:cNvPr id="1026" name="Picture 2" descr="Schematic Illustration of MEMS Vibratory Gyroscope | Download Scientific  Diagram">
              <a:extLst>
                <a:ext uri="{FF2B5EF4-FFF2-40B4-BE49-F238E27FC236}">
                  <a16:creationId xmlns:a16="http://schemas.microsoft.com/office/drawing/2014/main" id="{F18ED1C7-D745-C13F-7369-BC61283C12F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82687" y="977100"/>
              <a:ext cx="3781425" cy="48958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01D21B6-2EAF-B619-2D8F-3C61A656070B}"/>
                </a:ext>
              </a:extLst>
            </p:cNvPr>
            <p:cNvSpPr txBox="1"/>
            <p:nvPr/>
          </p:nvSpPr>
          <p:spPr>
            <a:xfrm>
              <a:off x="488949" y="5981829"/>
              <a:ext cx="516890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000" dirty="0">
                  <a:hlinkClick r:id="rId5"/>
                </a:rPr>
                <a:t>https://www.semanticscholar.org/paper/Modeling-and-simulation-of-the-MEMS-vibratory-Patel-McCluskey/8dec6605fc5b603df07d74f7b9eb6875b2c17c3a</a:t>
              </a:r>
              <a:r>
                <a:rPr lang="en-US" sz="1000" dirty="0"/>
                <a:t> 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C55EBABE-18A4-158A-A0F7-BB3F9A477938}"/>
              </a:ext>
            </a:extLst>
          </p:cNvPr>
          <p:cNvGrpSpPr/>
          <p:nvPr/>
        </p:nvGrpSpPr>
        <p:grpSpPr>
          <a:xfrm>
            <a:off x="5831823" y="1858477"/>
            <a:ext cx="5561709" cy="4523462"/>
            <a:chOff x="4535117" y="2220798"/>
            <a:chExt cx="5561709" cy="4523462"/>
          </a:xfrm>
        </p:grpSpPr>
        <p:pic>
          <p:nvPicPr>
            <p:cNvPr id="8" name="Picture 7" descr="100:1 3D printed MEMS Gyroscope : r/3Dprinting">
              <a:extLst>
                <a:ext uri="{FF2B5EF4-FFF2-40B4-BE49-F238E27FC236}">
                  <a16:creationId xmlns:a16="http://schemas.microsoft.com/office/drawing/2014/main" id="{957B35E0-A86B-C109-1016-CB738AD590B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535117" y="2220798"/>
              <a:ext cx="5561709" cy="31330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DAAB4A4-3797-8439-1CC5-BBAACC6E7D12}"/>
                </a:ext>
              </a:extLst>
            </p:cNvPr>
            <p:cNvSpPr txBox="1"/>
            <p:nvPr/>
          </p:nvSpPr>
          <p:spPr>
            <a:xfrm>
              <a:off x="4896276" y="6344150"/>
              <a:ext cx="4350325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000" dirty="0">
                  <a:hlinkClick r:id="rId7"/>
                </a:rPr>
                <a:t>https://www.reddit.com/r/3Dprinting/comments/103v6ef/1001_3d_printed_mems_gyroscope/</a:t>
              </a:r>
              <a:r>
                <a:rPr lang="en-US" sz="1000" dirty="0"/>
                <a:t>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032744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8B5F7DA-0C7E-3679-3288-BC91EC468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0BC690D-4FD0-1E51-AEF5-4DF13670359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C7A8606-0BA0-3E59-1F89-528734054E9E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</a:pPr>
            <a:r>
              <a:rPr i="0" b="0" lang="en-US" sz="2400" dirty="0">
                <a:solidFill>
                  <a:schemeClr val="lt1"/>
                </a:solidFill>
              </a:rPr>
              <a:t>Gyroscope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0072169-0DB3-9F4A-7495-4F6BAB90588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D40508D-6345-A8F8-563E-2E77313FB4E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975FCF0-AA47-CD50-8615-5745145C54B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512E730-0C4F-849F-2AF2-7EFD576D8ED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0798EA2-D88E-2467-4E1D-77781EDD036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C572AED-5E1A-9656-4D94-5D43506E73D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122" name="Picture 2" descr="Getting Started with the MPU6050: Beginner-Friendly Guide with Visual  Explanations - Sensors - Arduino Forum">
            <a:extLst>
              <a:ext uri="{FF2B5EF4-FFF2-40B4-BE49-F238E27FC236}">
                <a16:creationId xmlns:a16="http://schemas.microsoft.com/office/drawing/2014/main" id="{BE5D9B58-09FD-B5F7-D59A-CD58A4C8DF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2894" y="1277252"/>
            <a:ext cx="4570269" cy="45702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14FDE1E-D6ED-3D79-F060-A94D68A3C659}"/>
              </a:ext>
            </a:extLst>
          </p:cNvPr>
          <p:cNvSpPr txBox="1"/>
          <p:nvPr/>
        </p:nvSpPr>
        <p:spPr>
          <a:xfrm>
            <a:off x="7466181" y="5939771"/>
            <a:ext cx="392776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hlinkClick r:id="rId5"/>
              </a:rPr>
              <a:t>https://forum.arduino.cc/t/getting-started-with-the-mpu6050-beginner-friendly-guide-with-visual-explanations/1364064</a:t>
            </a:r>
            <a:r>
              <a:rPr lang="en-US" sz="1000" dirty="0"/>
              <a:t> </a:t>
            </a:r>
          </a:p>
        </p:txBody>
      </p:sp>
      <p:pic>
        <p:nvPicPr>
          <p:cNvPr id="5124" name="Picture 4" descr="How cloud-based multiphysics simulations improve MEMS gyroscope design">
            <a:extLst>
              <a:ext uri="{FF2B5EF4-FFF2-40B4-BE49-F238E27FC236}">
                <a16:creationId xmlns:a16="http://schemas.microsoft.com/office/drawing/2014/main" id="{0D78ADC0-A2AC-BB77-CD8D-CC9F37AD82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4992" y="1825625"/>
            <a:ext cx="5772017" cy="3182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14E00E3-77BD-0A63-2D42-61610F4FF1E5}"/>
              </a:ext>
            </a:extLst>
          </p:cNvPr>
          <p:cNvSpPr txBox="1"/>
          <p:nvPr/>
        </p:nvSpPr>
        <p:spPr>
          <a:xfrm>
            <a:off x="1338962" y="5192250"/>
            <a:ext cx="412825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hlinkClick r:id="rId7"/>
              </a:rPr>
              <a:t>https://quanscient.com/blog/enhancing-mems-gyroscope-design</a:t>
            </a:r>
            <a:r>
              <a:rPr lang="en-US" sz="1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1803559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EE23822-3420-4FD6-7998-8A0F65B83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122CFD8-43B0-96A4-93F1-52E03AA4770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5BF0DBB-86D4-9787-7EEA-894A2BE88FC7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</a:pPr>
            <a:r>
              <a:rPr i="0" b="0" lang="en-US" sz="2400" dirty="0">
                <a:solidFill>
                  <a:schemeClr val="lt1"/>
                </a:solidFill>
              </a:rPr>
              <a:t>Gyroscope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21B1DC7-AD62-F99E-9F99-79875E90D2B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4E2822A-F28C-7B15-274D-CC5F15C2C01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2784001-6524-98C2-FD9F-4BFA4A22F752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8BD542D-ACD9-3EBA-1AC3-FD10FA24F94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724016D-4315-FA81-2A42-30F50026AF3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3962797C-4163-0460-F95E-4AE2D1B174D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F6074030-B8F1-B0AD-1A65-72A80DAE01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3628" y="983446"/>
            <a:ext cx="5056389" cy="536170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103D3C7-7360-C71B-006F-660773A9D58E}"/>
              </a:ext>
            </a:extLst>
          </p:cNvPr>
          <p:cNvSpPr txBox="1"/>
          <p:nvPr/>
        </p:nvSpPr>
        <p:spPr>
          <a:xfrm>
            <a:off x="3498864" y="6363581"/>
            <a:ext cx="449520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hlinkClick r:id="rId5"/>
              </a:rPr>
              <a:t>https://www.printables.com/model/413667-mems-model-six-axis-imu-device</a:t>
            </a:r>
            <a:r>
              <a:rPr lang="en-US" sz="1000" dirty="0"/>
              <a:t> 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2F506D08-0362-DE26-53C7-C2498EF59097}"/>
              </a:ext>
            </a:extLst>
          </p:cNvPr>
          <p:cNvGrpSpPr/>
          <p:nvPr/>
        </p:nvGrpSpPr>
        <p:grpSpPr>
          <a:xfrm>
            <a:off x="676830" y="1701800"/>
            <a:ext cx="7565470" cy="1174750"/>
            <a:chOff x="676830" y="1701800"/>
            <a:chExt cx="7565470" cy="117475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BF549F2-3D5B-1916-E751-771F169C4809}"/>
                </a:ext>
              </a:extLst>
            </p:cNvPr>
            <p:cNvSpPr/>
            <p:nvPr/>
          </p:nvSpPr>
          <p:spPr>
            <a:xfrm>
              <a:off x="3429000" y="1701800"/>
              <a:ext cx="4813300" cy="117475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B25CB9B4-0CB1-F77A-D6CD-FC81C7C81FEB}"/>
                </a:ext>
              </a:extLst>
            </p:cNvPr>
            <p:cNvCxnSpPr>
              <a:cxnSpLocks/>
              <a:stCxn id="14" idx="3"/>
              <a:endCxn id="9" idx="1"/>
            </p:cNvCxnSpPr>
            <p:nvPr/>
          </p:nvCxnSpPr>
          <p:spPr>
            <a:xfrm flipV="1">
              <a:off x="2315130" y="2289175"/>
              <a:ext cx="1113870" cy="1264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0FC9A06-2D10-3FEE-96D9-794DA1E4F458}"/>
                </a:ext>
              </a:extLst>
            </p:cNvPr>
            <p:cNvSpPr txBox="1"/>
            <p:nvPr/>
          </p:nvSpPr>
          <p:spPr>
            <a:xfrm>
              <a:off x="676830" y="1932483"/>
              <a:ext cx="1638300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What is this? The gyros or accelerometers?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DBF31A5E-1CD8-37F2-B56C-2E7898EB38DD}"/>
              </a:ext>
            </a:extLst>
          </p:cNvPr>
          <p:cNvGrpSpPr/>
          <p:nvPr/>
        </p:nvGrpSpPr>
        <p:grpSpPr>
          <a:xfrm>
            <a:off x="3425172" y="2876550"/>
            <a:ext cx="7265565" cy="2456384"/>
            <a:chOff x="3425172" y="2876550"/>
            <a:chExt cx="7265565" cy="2456384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4BFF985D-4746-4663-93D4-EBC9162B7F65}"/>
                </a:ext>
              </a:extLst>
            </p:cNvPr>
            <p:cNvSpPr txBox="1"/>
            <p:nvPr/>
          </p:nvSpPr>
          <p:spPr>
            <a:xfrm>
              <a:off x="9052437" y="3735410"/>
              <a:ext cx="1638300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What is this? The gyros or accelerometers?</a:t>
              </a: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6211C778-E521-F3E7-2750-2BCDECE60BA6}"/>
                </a:ext>
              </a:extLst>
            </p:cNvPr>
            <p:cNvSpPr/>
            <p:nvPr/>
          </p:nvSpPr>
          <p:spPr>
            <a:xfrm>
              <a:off x="3425172" y="2876550"/>
              <a:ext cx="4813300" cy="245638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23486BA1-1A63-0DA7-ADE0-F36FF93ADA29}"/>
                </a:ext>
              </a:extLst>
            </p:cNvPr>
            <p:cNvCxnSpPr>
              <a:cxnSpLocks/>
              <a:stCxn id="18" idx="1"/>
              <a:endCxn id="19" idx="3"/>
            </p:cNvCxnSpPr>
            <p:nvPr/>
          </p:nvCxnSpPr>
          <p:spPr>
            <a:xfrm flipH="1">
              <a:off x="8238472" y="4104742"/>
              <a:ext cx="813965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585051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AE4694AB-09B6-EFAE-27FC-749DC90E80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2BD61FCC-994E-8263-5C65-174486D1CD1C}"/>
              </a:ext>
            </a:extLst>
          </p:cNvPr>
          <p:cNvSpPr/>
          <p:nvPr>
            <p:ph type="title"/>
          </p:nvPr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Magnetometer</a:t>
            </a:r>
            <a:endParaRPr sz="1800" b="0" i="0" u="none" strike="noStrike" cap="none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75D565E4-1895-5287-DADE-BD9B1EE5C35C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251120E1-6984-86D8-4CBF-C121BF8739DD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062BAC9E-D10D-9C07-4903-BBB8533E8CFB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9EC23E4D-CA61-5020-88C0-EDE95B717391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9226FDEE-15F2-9620-5596-490CF2EDBB5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5D08997C-2901-338D-F452-27D03A679871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E60BFED8-535C-AF32-61D5-96B8D02170A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D1E17F22-E592-A5C3-6551-CDC19D77A59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CA430DB1-1829-EBDE-8614-1CBFFA9485D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7987923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534BDEC-C3D3-4105-1226-E383A5459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6A65D211-E65F-E12B-08EF-4EF110451E3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What is a device that has been used for traveling for a very long time? That has helped sailors travel?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The compass!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The magnetometer acts as an absolute reference. It measures the strength and direction of the Earth’s magnetic field, allowing the system to establish a global “North”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The more popular method uses the Hall Effect sensor to measure the magnetic field; however, next slide is a slightly different, method, and was chosen since it is more like the previous accelerometer and gyroscope sensors. Although they measure the same thing in the end!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9FBB176-724C-BF96-5EED-694105C8EAE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F64281D-E840-61BC-E029-E9AFDB8E0B02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Magnetometer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626F091-C092-CAB5-8765-BD5169FFB3B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389FD456-9A04-8D67-CEF9-E07A44856C9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CDCE253-4B69-D942-9A71-BB74B629A6E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08D98AA-C53F-8C79-2B72-17A719BAE53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8FB84272-470C-54F2-45AB-D9BC77CA154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BCB3F62-5864-F22C-3E84-4E20013C200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29966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AF764615-C0FD-3187-3605-517B5DFC0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46ED9A79-415E-98C7-5E73-144C5C1300F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525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The magnetic field acts like a counterbalance and you measure the torque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2667BE13-E914-2930-656E-B448F63D188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2C932C7-3EDE-C708-A43C-E880AA187574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</a:pPr>
            <a:r>
              <a:rPr i="0" b="0" lang="en-US" sz="2400" dirty="0">
                <a:solidFill>
                  <a:schemeClr val="lt1"/>
                </a:solidFill>
              </a:rPr>
              <a:t>Magnetometer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AAFBDFE-C6FC-FBD1-AABC-269E05B9CD6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86902C9-F5FD-6778-0330-D48A05AACF5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810A1FC-4A81-640D-CCF5-9223616E513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6A251D2-32F7-3230-4788-B2C144643BC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E70667B-E112-CC97-30ED-C03E88949B1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CB18E91-C3E0-6FF7-20A5-A2015E05E19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9218" name="Picture 2" descr="Illustration of a ferromagnetic MEMS magnetometer design. | Download  Scientific Diagram">
            <a:extLst>
              <a:ext uri="{FF2B5EF4-FFF2-40B4-BE49-F238E27FC236}">
                <a16:creationId xmlns:a16="http://schemas.microsoft.com/office/drawing/2014/main" id="{1BF9D921-52E2-F515-06E7-EBE2FE1968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4600" y="1860239"/>
            <a:ext cx="7162800" cy="4352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FE09112-952E-AD25-295E-ECA3FD8EED5B}"/>
              </a:ext>
            </a:extLst>
          </p:cNvPr>
          <p:cNvSpPr txBox="1"/>
          <p:nvPr/>
        </p:nvSpPr>
        <p:spPr>
          <a:xfrm>
            <a:off x="2548429" y="6303274"/>
            <a:ext cx="6566787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hlinkClick r:id="rId5"/>
              </a:rPr>
              <a:t>https://www.researchgate.net/figure/llustration-of-a-ferromagnetic-MEMS-magnetometer-design_fig18_255663586</a:t>
            </a:r>
            <a:r>
              <a:rPr lang="en-US" sz="1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369902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1A761CB6-183F-045F-26E5-933C64E0F0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92B2E9A-B089-D01F-F731-C6ECEC11CFB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9495725-9F89-18FB-7382-4F03575E8C4B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</a:pPr>
            <a:r>
              <a:rPr i="0" b="0" lang="en-US" sz="2400" dirty="0">
                <a:solidFill>
                  <a:schemeClr val="lt1"/>
                </a:solidFill>
              </a:rPr>
              <a:t>Magnetometer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918FC4C-54F6-D004-A07B-F42CB32ADA8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4D0C9F6-133F-73FD-C72B-EBF6244F04D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6AA3187-FFEB-3DC5-A577-1CD2F59FC0EC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03A7831D-E7F7-322B-D119-95A11D8F4B4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F85458FE-08D7-CC0D-07E3-237F21497A4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58E2C82-0890-BF30-5881-2A6E97AC06F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8A5C91A8-05EC-9ED9-AB5B-EDEA939A1821}"/>
              </a:ext>
            </a:extLst>
          </p:cNvPr>
          <p:cNvSpPr txBox="1"/>
          <p:nvPr/>
        </p:nvSpPr>
        <p:spPr>
          <a:xfrm>
            <a:off x="2548429" y="6303274"/>
            <a:ext cx="6566787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hlinkClick r:id="rId4"/>
              </a:rPr>
              <a:t>https://www.mdpi.com/1424-8220/9/9/6951</a:t>
            </a:r>
            <a:r>
              <a:rPr lang="en-US" sz="1000" dirty="0"/>
              <a:t> </a:t>
            </a:r>
          </a:p>
        </p:txBody>
      </p:sp>
      <p:pic>
        <p:nvPicPr>
          <p:cNvPr id="1026" name="Picture 2" descr="Sensors 09 06951f1">
            <a:extLst>
              <a:ext uri="{FF2B5EF4-FFF2-40B4-BE49-F238E27FC236}">
                <a16:creationId xmlns:a16="http://schemas.microsoft.com/office/drawing/2014/main" id="{349791BD-0831-E515-610E-3099F565FC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971" y="1981869"/>
            <a:ext cx="6022028" cy="37095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Sensors 09 06951f4">
            <a:extLst>
              <a:ext uri="{FF2B5EF4-FFF2-40B4-BE49-F238E27FC236}">
                <a16:creationId xmlns:a16="http://schemas.microsoft.com/office/drawing/2014/main" id="{6147A6F7-68D6-F85D-5E95-D5CD2F6F69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00720" y="1986766"/>
            <a:ext cx="4069754" cy="36997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442503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38EB0C31-492F-B0AD-B4B5-50FE37454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5626E268-47B1-B3A4-9174-09BB261B8304}"/>
              </a:ext>
            </a:extLst>
          </p:cNvPr>
          <p:cNvSpPr/>
          <p:nvPr>
            <p:ph type="title"/>
          </p:nvPr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IMU</a:t>
            </a:r>
            <a:endParaRPr sz="1800" b="0" i="0" u="none" strike="noStrike" cap="none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06830B29-FCD0-FA0E-9033-78462219D34A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785F9FE9-6931-FF81-6B9A-26AC7B0A37EF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408A4027-3523-54B2-6E0B-C2454BBB4F3B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B57F0F34-31B9-9FD2-824F-1169F29F383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88625D36-B126-8FA2-F740-65708A473B6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681F1625-F337-CE43-F25C-B45B3FA2217A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3DA14FCF-6965-A50D-0365-D274CC47C87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21FC6488-7F22-58A4-D20E-23B151E8A36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D6396909-9677-99A2-03B1-A5DAA4290B0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3306188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6F36881-542F-2612-5397-EFD060863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02370BD5-E1D8-4C83-94CB-51D834C2EB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IMU – stands for Inertial Measurement Unit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Which is just a single chip that packages 3-axis accelerometers, 3-axis gyroscopes and a 3-axis magnetometer (sometimes).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Sometimes includes additional noise filtering, sensor fusion.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Allows to collect all the information about the robot’s inertial state.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DD88350-F1F3-FCB3-EDE7-936CEA7F1BB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CE63ED3-8219-B319-B722-68EA9CA18189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E3276A6-11AC-F7C9-3FE9-C99EDB1DBD3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BEF267C-A085-3DF4-2EDF-B92C06DE089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C8FF08E-1F01-BF70-A4B5-6B7D7E6D9E73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F02A1A3-245A-A8B2-C91D-560D305BDC0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2AA6264-1633-0B06-79A2-30F0185686B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0242F4F-05E5-F9F0-BC14-68376583572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9460180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83BEADA-2F15-D577-A5CF-70F67495D2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34FCD6E8-023E-E912-280A-CE121600D8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We will specially be using the MPU-9250. This specifically contains a 3-axis accelerometer, 3-axis gyroscope and a 3-axis magnetometer.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There are multiple sensitivity levels that you can set the sensors: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Gyroscope: ±250, ±500, ±1000, and ±2000 </a:t>
            </a:r>
            <a:r>
              <a:rPr lang="en-US" sz="2400" dirty="0" err="1">
                <a:latin typeface="Atkinson Hyperlegible Next"/>
                <a:ea typeface="Arial"/>
                <a:cs typeface="Arial"/>
                <a:sym typeface="Arial"/>
              </a:rPr>
              <a:t>dps</a:t>
            </a: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 (degrees per second)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Accelerometer: ±2g, ±4g, ±8g, and ±16g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Magnetometer: ±4800µT (Tesla)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We can communicate to it through I2C at 400kHz or SPI at 1MHz (up to 20MHz).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These sensors are meant to be read extremely fast, why is that the case?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We need to integrate to get velocity and position so the smaller the dt the more accurate!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68D2C80A-D069-68E9-DFE6-6C4C5B97973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0B94FBA-9831-4085-2E9B-EE84E1C30434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81ACCA2-F3B1-B22A-F0AB-1B7ABF2287C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54E3974-9A08-955A-4003-9A2368D2C1D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50AFBB08-4CDA-2B76-0DD5-58683A3D342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3A2654AD-464C-8557-8698-078BA2BCF91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1E3A03E-5F2D-D98E-7174-EE259CC19A1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4AAF608-985A-BCF0-A482-CBEDCA5C9EF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21161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DA43AC7-2E29-E5A8-0C9E-48328EAE8E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9F6CF6BE-7E85-4EDA-B13F-1E7CA5F995B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We will be communicating through SPI.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Each the returned results will be 16-bit signed integers. As such: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Acceleration X, Y, Z: [-32768, 32767] = [-4g, 4g]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Gyro X, Y, Z: [-32768, 32767] = [-250 </a:t>
            </a:r>
            <a:r>
              <a:rPr lang="en-US" sz="2400" dirty="0" err="1">
                <a:latin typeface="Atkinson Hyperlegible Next"/>
                <a:ea typeface="Arial"/>
                <a:cs typeface="Arial"/>
                <a:sym typeface="Arial"/>
              </a:rPr>
              <a:t>dps</a:t>
            </a:r>
            <a:r>
              <a:rPr lang="en-US" sz="2400">
                <a:latin typeface="Atkinson Hyperlegible Next"/>
                <a:ea typeface="Arial"/>
                <a:cs typeface="Arial"/>
                <a:sym typeface="Arial"/>
              </a:rPr>
              <a:t>, 250 </a:t>
            </a: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dsp]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5B59907-556D-8537-06CA-BE11958B4A0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821E23E4-623E-B1E0-10E8-838F14CE3AC7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DA80FA31-C46A-452D-36BF-5F8A7774625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07C9DDB-583C-E523-0EA0-32790D67D3F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E35C792-B355-5F07-02C8-AD81FF3A9BB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CFCA2D2-5DB1-DDC6-1F9B-9FE62619CB6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953429F-F1F5-3BEC-1A9E-746E5105933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F87E8236-CB24-5BB6-446E-3CFAC8E884C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256714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101AB3B9-E396-6787-787B-1E98BFFC6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C7C0E7E3-9D2C-6EBC-6B9F-05C86ED0A8E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19738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100" dirty="0">
                <a:latin typeface="Atkinson Hyperlegible Next"/>
                <a:ea typeface="Arial"/>
                <a:cs typeface="Arial"/>
                <a:sym typeface="Arial"/>
              </a:rPr>
              <a:t>There are 2 components for this sensor, writing configurations vs reading data. This is encoded inside the SPI data. We separate the message into 2 8-bit parts.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1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100" dirty="0">
                <a:latin typeface="Atkinson Hyperlegible Next"/>
                <a:ea typeface="Arial"/>
                <a:cs typeface="Arial"/>
                <a:sym typeface="Arial"/>
              </a:rPr>
              <a:t>The </a:t>
            </a:r>
            <a:r>
              <a:rPr lang="en-US" sz="2100" b="1" dirty="0">
                <a:latin typeface="Atkinson Hyperlegible Next"/>
                <a:ea typeface="Arial"/>
                <a:cs typeface="Arial"/>
                <a:sym typeface="Arial"/>
              </a:rPr>
              <a:t>address (top 8-bits)</a:t>
            </a:r>
            <a:r>
              <a:rPr lang="en-US" sz="2100" dirty="0">
                <a:latin typeface="Atkinson Hyperlegible Next"/>
                <a:ea typeface="Arial"/>
                <a:cs typeface="Arial"/>
                <a:sym typeface="Arial"/>
              </a:rPr>
              <a:t>: Says if we are trying to read/write and from where (accel vs gyro)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100" dirty="0">
                <a:latin typeface="Atkinson Hyperlegible Next"/>
                <a:ea typeface="Arial"/>
                <a:cs typeface="Arial"/>
                <a:sym typeface="Arial"/>
              </a:rPr>
              <a:t>The </a:t>
            </a:r>
            <a:r>
              <a:rPr lang="en-US" sz="2100" b="1" dirty="0">
                <a:latin typeface="Atkinson Hyperlegible Next"/>
                <a:ea typeface="Arial"/>
                <a:cs typeface="Arial"/>
                <a:sym typeface="Arial"/>
              </a:rPr>
              <a:t>data (bottom 8-bits)</a:t>
            </a:r>
            <a:r>
              <a:rPr lang="en-US" sz="2100" dirty="0">
                <a:latin typeface="Atkinson Hyperlegible Next"/>
                <a:ea typeface="Arial"/>
                <a:cs typeface="Arial"/>
                <a:sym typeface="Arial"/>
              </a:rPr>
              <a:t>: what we are trying to send to write to that address (ignored if reading)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6B583B3-9CAA-7EDB-9A6C-481EDD989F0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EE26B0A-E9DB-3848-A90A-9AB9D2CCB2A0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4882FDDE-7B14-89A0-B2A4-A47DD72EEF9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24E8232-5EB3-2980-FC78-86892D00AE3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B32AEDB-A439-4BDF-36EB-CC90DF1B330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0B29639B-E25E-68B0-022B-0D2A95523AC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3D0E22C-54EB-4277-2CE4-A6CD6C13A8B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FA2A705E-34C8-F53A-EAC5-9B1B756975C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" name="Graphic 4">
            <a:extLst>
              <a:ext uri="{FF2B5EF4-FFF2-40B4-BE49-F238E27FC236}">
                <a16:creationId xmlns:a16="http://schemas.microsoft.com/office/drawing/2014/main" id="{6DAB086C-55CF-1A28-68CB-954CFF4AFBF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65302" y="3478662"/>
            <a:ext cx="6193031" cy="2843165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1A6B5D62-C508-0CB4-DE8B-699A33F77385}"/>
              </a:ext>
            </a:extLst>
          </p:cNvPr>
          <p:cNvGrpSpPr/>
          <p:nvPr/>
        </p:nvGrpSpPr>
        <p:grpSpPr>
          <a:xfrm>
            <a:off x="613863" y="3478662"/>
            <a:ext cx="8444470" cy="2843165"/>
            <a:chOff x="613863" y="3478662"/>
            <a:chExt cx="8444470" cy="2843165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C6357E2-B058-8663-ED2F-833BB2687DE3}"/>
                </a:ext>
              </a:extLst>
            </p:cNvPr>
            <p:cNvSpPr/>
            <p:nvPr/>
          </p:nvSpPr>
          <p:spPr>
            <a:xfrm>
              <a:off x="2865302" y="3478662"/>
              <a:ext cx="6193031" cy="284316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B78A1352-F06C-6DC9-6335-CB68B05833D7}"/>
                </a:ext>
              </a:extLst>
            </p:cNvPr>
            <p:cNvCxnSpPr>
              <a:cxnSpLocks/>
              <a:stCxn id="12" idx="3"/>
              <a:endCxn id="8" idx="1"/>
            </p:cNvCxnSpPr>
            <p:nvPr/>
          </p:nvCxnSpPr>
          <p:spPr>
            <a:xfrm>
              <a:off x="2033421" y="4900244"/>
              <a:ext cx="831881" cy="1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D900E6C-00E0-93B9-C7B2-CE7B8538FB8F}"/>
                </a:ext>
              </a:extLst>
            </p:cNvPr>
            <p:cNvSpPr txBox="1"/>
            <p:nvPr/>
          </p:nvSpPr>
          <p:spPr>
            <a:xfrm>
              <a:off x="613863" y="4746355"/>
              <a:ext cx="141955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16-bit message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C73112CD-BFCE-4602-4D6D-411BA5C681A3}"/>
              </a:ext>
            </a:extLst>
          </p:cNvPr>
          <p:cNvGrpSpPr/>
          <p:nvPr/>
        </p:nvGrpSpPr>
        <p:grpSpPr>
          <a:xfrm>
            <a:off x="613863" y="3478661"/>
            <a:ext cx="8444470" cy="1368298"/>
            <a:chOff x="613863" y="3478662"/>
            <a:chExt cx="8444470" cy="2843165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06628C78-71C6-85E1-216B-F4649AF4409C}"/>
                </a:ext>
              </a:extLst>
            </p:cNvPr>
            <p:cNvSpPr/>
            <p:nvPr/>
          </p:nvSpPr>
          <p:spPr>
            <a:xfrm>
              <a:off x="2865302" y="3478662"/>
              <a:ext cx="6193031" cy="284316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6EB3947A-1EE6-9DC6-A4D3-FBC9486CE6B8}"/>
                </a:ext>
              </a:extLst>
            </p:cNvPr>
            <p:cNvCxnSpPr>
              <a:cxnSpLocks/>
              <a:stCxn id="21" idx="3"/>
              <a:endCxn id="19" idx="1"/>
            </p:cNvCxnSpPr>
            <p:nvPr/>
          </p:nvCxnSpPr>
          <p:spPr>
            <a:xfrm>
              <a:off x="2033421" y="4900244"/>
              <a:ext cx="831881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03E02A7E-EC63-4D2B-18D4-385AE21D1CB4}"/>
                </a:ext>
              </a:extLst>
            </p:cNvPr>
            <p:cNvSpPr txBox="1"/>
            <p:nvPr/>
          </p:nvSpPr>
          <p:spPr>
            <a:xfrm>
              <a:off x="613863" y="4580481"/>
              <a:ext cx="1419558" cy="639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The address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325D974-0E20-9A4B-051C-C854CED6EDA7}"/>
              </a:ext>
            </a:extLst>
          </p:cNvPr>
          <p:cNvGrpSpPr/>
          <p:nvPr/>
        </p:nvGrpSpPr>
        <p:grpSpPr>
          <a:xfrm>
            <a:off x="613863" y="4974878"/>
            <a:ext cx="8444470" cy="1368298"/>
            <a:chOff x="613863" y="3478662"/>
            <a:chExt cx="8444470" cy="284316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83D89D5C-B503-D3EB-B8BF-484E579C24AE}"/>
                </a:ext>
              </a:extLst>
            </p:cNvPr>
            <p:cNvSpPr/>
            <p:nvPr/>
          </p:nvSpPr>
          <p:spPr>
            <a:xfrm>
              <a:off x="2865302" y="3478662"/>
              <a:ext cx="6193031" cy="284316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FD7B1CDB-961E-FB85-5E6E-B02577A254B8}"/>
                </a:ext>
              </a:extLst>
            </p:cNvPr>
            <p:cNvCxnSpPr>
              <a:cxnSpLocks/>
              <a:stCxn id="26" idx="3"/>
              <a:endCxn id="24" idx="1"/>
            </p:cNvCxnSpPr>
            <p:nvPr/>
          </p:nvCxnSpPr>
          <p:spPr>
            <a:xfrm>
              <a:off x="2033421" y="4900244"/>
              <a:ext cx="831881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FCFBB121-BFD9-808A-B134-3381C15A04EC}"/>
                </a:ext>
              </a:extLst>
            </p:cNvPr>
            <p:cNvSpPr txBox="1"/>
            <p:nvPr/>
          </p:nvSpPr>
          <p:spPr>
            <a:xfrm>
              <a:off x="613863" y="4580481"/>
              <a:ext cx="1419558" cy="639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The data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E11A7375-0514-5C67-A39C-9ED4C08F99AF}"/>
              </a:ext>
            </a:extLst>
          </p:cNvPr>
          <p:cNvGrpSpPr/>
          <p:nvPr/>
        </p:nvGrpSpPr>
        <p:grpSpPr>
          <a:xfrm>
            <a:off x="826752" y="3992270"/>
            <a:ext cx="3173748" cy="777744"/>
            <a:chOff x="279179" y="3478662"/>
            <a:chExt cx="8879788" cy="2812943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5543DA51-770A-7F88-24BC-95254831013C}"/>
                </a:ext>
              </a:extLst>
            </p:cNvPr>
            <p:cNvSpPr/>
            <p:nvPr/>
          </p:nvSpPr>
          <p:spPr>
            <a:xfrm>
              <a:off x="6446270" y="3478662"/>
              <a:ext cx="2712697" cy="2727362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7195E562-16B6-D821-DD0F-8CBC49EB5DA2}"/>
                </a:ext>
              </a:extLst>
            </p:cNvPr>
            <p:cNvCxnSpPr>
              <a:cxnSpLocks/>
              <a:stCxn id="30" idx="3"/>
              <a:endCxn id="28" idx="1"/>
            </p:cNvCxnSpPr>
            <p:nvPr/>
          </p:nvCxnSpPr>
          <p:spPr>
            <a:xfrm flipV="1">
              <a:off x="5123480" y="4842343"/>
              <a:ext cx="1322791" cy="503071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B49E8AEA-051C-55FE-D644-143829364575}"/>
                </a:ext>
              </a:extLst>
            </p:cNvPr>
            <p:cNvSpPr txBox="1"/>
            <p:nvPr/>
          </p:nvSpPr>
          <p:spPr>
            <a:xfrm>
              <a:off x="279179" y="4399224"/>
              <a:ext cx="4844301" cy="189238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The read/write bit</a:t>
              </a:r>
            </a:p>
            <a:p>
              <a:r>
                <a:rPr lang="en-US" dirty="0">
                  <a:solidFill>
                    <a:srgbClr val="FF0000"/>
                  </a:solidFill>
                </a:rPr>
                <a:t>(1 = read, 0 = write)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95F67D3-E7E2-557F-B2DF-79EB8AC6F10B}"/>
              </a:ext>
            </a:extLst>
          </p:cNvPr>
          <p:cNvGrpSpPr/>
          <p:nvPr/>
        </p:nvGrpSpPr>
        <p:grpSpPr>
          <a:xfrm>
            <a:off x="4000500" y="3992270"/>
            <a:ext cx="7350060" cy="754085"/>
            <a:chOff x="6679388" y="3478662"/>
            <a:chExt cx="20564638" cy="2727373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9AFEF021-C70E-9404-5DE4-C2E39982485D}"/>
                </a:ext>
              </a:extLst>
            </p:cNvPr>
            <p:cNvSpPr/>
            <p:nvPr/>
          </p:nvSpPr>
          <p:spPr>
            <a:xfrm>
              <a:off x="6679388" y="3478662"/>
              <a:ext cx="13680266" cy="272737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CCCC609F-344B-1A8F-0A52-8D5D7BB151CD}"/>
                </a:ext>
              </a:extLst>
            </p:cNvPr>
            <p:cNvCxnSpPr>
              <a:cxnSpLocks/>
              <a:stCxn id="42" idx="1"/>
              <a:endCxn id="40" idx="3"/>
            </p:cNvCxnSpPr>
            <p:nvPr/>
          </p:nvCxnSpPr>
          <p:spPr>
            <a:xfrm flipH="1">
              <a:off x="20359654" y="4842339"/>
              <a:ext cx="2189643" cy="11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E1C8C03D-46A3-76B8-A95B-DC18DF5C3169}"/>
                </a:ext>
              </a:extLst>
            </p:cNvPr>
            <p:cNvSpPr txBox="1"/>
            <p:nvPr/>
          </p:nvSpPr>
          <p:spPr>
            <a:xfrm>
              <a:off x="22549297" y="3506540"/>
              <a:ext cx="4694729" cy="26715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The 7-bit reference address 0x00 to 0x74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966625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A816780-8DF5-3689-0895-BFBBCDAEE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878E35C-2059-63A9-E87E-E30B4E7BCD3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57758A9-CDF8-6769-5302-2BF3D4D32DE5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E9B5C48-3409-8063-FC8E-CA8EC773CB1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033544F-1DAC-8351-D074-AAF14B6EEA6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3F7BFC5-458F-02FF-19F4-A79CCC07B1B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5F03965-4F16-9343-CB3E-A8D24EABA7A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F36B9DD8-F635-E2F6-0A20-8475853C469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604C2DF-4316-22D8-2E3B-253D418DC62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4B287157-1149-6EFD-6641-BD017E01441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937506" y="1072273"/>
            <a:ext cx="8194830" cy="5352953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8474A08C-1C3A-1488-E46B-B01CE1474721}"/>
              </a:ext>
            </a:extLst>
          </p:cNvPr>
          <p:cNvSpPr/>
          <p:nvPr/>
        </p:nvSpPr>
        <p:spPr>
          <a:xfrm>
            <a:off x="2059665" y="1174750"/>
            <a:ext cx="378736" cy="525047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481A6B-9D41-E778-F24C-C2785382C78D}"/>
              </a:ext>
            </a:extLst>
          </p:cNvPr>
          <p:cNvSpPr/>
          <p:nvPr/>
        </p:nvSpPr>
        <p:spPr>
          <a:xfrm>
            <a:off x="4183107" y="1158339"/>
            <a:ext cx="378736" cy="525047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014FDB2-6E30-479D-5D6C-B149E3563830}"/>
              </a:ext>
            </a:extLst>
          </p:cNvPr>
          <p:cNvCxnSpPr>
            <a:cxnSpLocks/>
            <a:stCxn id="7" idx="3"/>
            <a:endCxn id="3" idx="1"/>
          </p:cNvCxnSpPr>
          <p:nvPr/>
        </p:nvCxnSpPr>
        <p:spPr>
          <a:xfrm>
            <a:off x="1454150" y="3743710"/>
            <a:ext cx="483356" cy="504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41EA0F1F-4D86-F656-5413-FB80E1E3B97D}"/>
              </a:ext>
            </a:extLst>
          </p:cNvPr>
          <p:cNvSpPr txBox="1"/>
          <p:nvPr/>
        </p:nvSpPr>
        <p:spPr>
          <a:xfrm>
            <a:off x="256300" y="3589821"/>
            <a:ext cx="11978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The address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35E2DFA-64BF-ECEB-121E-039E503FBE6C}"/>
              </a:ext>
            </a:extLst>
          </p:cNvPr>
          <p:cNvSpPr txBox="1"/>
          <p:nvPr/>
        </p:nvSpPr>
        <p:spPr>
          <a:xfrm>
            <a:off x="5095406" y="3589821"/>
            <a:ext cx="155359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If you can read / write to this address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C57A7F3-3AAC-54F5-7B93-9C8F602BC439}"/>
              </a:ext>
            </a:extLst>
          </p:cNvPr>
          <p:cNvCxnSpPr>
            <a:cxnSpLocks/>
            <a:stCxn id="12" idx="1"/>
            <a:endCxn id="5" idx="3"/>
          </p:cNvCxnSpPr>
          <p:nvPr/>
        </p:nvCxnSpPr>
        <p:spPr>
          <a:xfrm flipH="1" flipV="1">
            <a:off x="4561843" y="3783577"/>
            <a:ext cx="533563" cy="17557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E23775A3-AD90-84C7-E7BC-E121D82CC9BC}"/>
              </a:ext>
            </a:extLst>
          </p:cNvPr>
          <p:cNvSpPr/>
          <p:nvPr/>
        </p:nvSpPr>
        <p:spPr>
          <a:xfrm flipH="1">
            <a:off x="4597352" y="3028956"/>
            <a:ext cx="5448345" cy="38529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341AC36-0642-E3A5-1E45-DCB8740CEDAA}"/>
              </a:ext>
            </a:extLst>
          </p:cNvPr>
          <p:cNvSpPr txBox="1"/>
          <p:nvPr/>
        </p:nvSpPr>
        <p:spPr>
          <a:xfrm>
            <a:off x="10382107" y="2957637"/>
            <a:ext cx="155359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Data is split into 8-bit high and low bits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DD2607D-0421-88FB-980B-BD7C2EB9BB1D}"/>
              </a:ext>
            </a:extLst>
          </p:cNvPr>
          <p:cNvCxnSpPr>
            <a:cxnSpLocks/>
            <a:stCxn id="29" idx="1"/>
            <a:endCxn id="27" idx="1"/>
          </p:cNvCxnSpPr>
          <p:nvPr/>
        </p:nvCxnSpPr>
        <p:spPr>
          <a:xfrm flipH="1" flipV="1">
            <a:off x="10045697" y="3221601"/>
            <a:ext cx="336410" cy="10536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9389540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575A4A7D-6E03-7EB8-84FE-FF9DE2AE7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F7FE4E31-1978-D46E-29FD-9DE0D8BBDA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As you previously saw we want to write 16-bits of data and potentially read 16-bits at a time to reduce the complexity of having to bit shift the high and low bits into the same variable.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To do this what would we need to set SPICHAR to?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0xA      0x11      0xF      0x8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52A5320-B848-4E71-D3EC-5748AACFF74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2EE0171-1850-095A-DB6C-1A4957EE2075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337A6701-5197-1CAC-7FA1-7EB73736E73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11BD17F-4F5B-CAD1-C513-0D23C6F47EB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9F43451-C1C2-3919-80B7-A350907E763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529174E-9EF1-AED3-2EAC-098C9A265BE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9DB2222-6E3F-763B-76F3-4F0B3341AF6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91E1007-0933-A946-AD67-0FC452FC986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7E5956FC-AD36-2851-3C67-DA67984610BF}"/>
              </a:ext>
            </a:extLst>
          </p:cNvPr>
          <p:cNvSpPr/>
          <p:nvPr/>
        </p:nvSpPr>
        <p:spPr>
          <a:xfrm>
            <a:off x="6248400" y="3503530"/>
            <a:ext cx="647700" cy="4826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5349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57C6B0C-CBDF-CA3A-196B-5412AB9F21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199B149F-4F10-B273-1FFB-85B687A6E8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00" dirty="0">
                <a:latin typeface="Atkinson Hyperlegible Next"/>
                <a:ea typeface="Arial"/>
                <a:cs typeface="Arial"/>
                <a:sym typeface="Arial"/>
              </a:rPr>
              <a:t>When writing configuration to the MPU board, such as the accelerometer X offset (initial bias)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2300" dirty="0">
                <a:solidFill>
                  <a:srgbClr val="0000C0"/>
                </a:solidFill>
                <a:latin typeface="Consolas" panose="020B0609020204030204" pitchFamily="49" charset="0"/>
              </a:rPr>
              <a:t>GPCCLEAR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3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300" dirty="0">
                <a:solidFill>
                  <a:srgbClr val="0000C0"/>
                </a:solidFill>
                <a:latin typeface="Consolas" panose="020B0609020204030204" pitchFamily="49" charset="0"/>
              </a:rPr>
              <a:t>GPIO66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= 1;   </a:t>
            </a:r>
            <a:r>
              <a:rPr lang="en-US" sz="2300" dirty="0">
                <a:solidFill>
                  <a:srgbClr val="3F7F5F"/>
                </a:solidFill>
                <a:latin typeface="Consolas" panose="020B0609020204030204" pitchFamily="49" charset="0"/>
              </a:rPr>
              <a:t>// Start SPI</a:t>
            </a:r>
          </a:p>
          <a:p>
            <a:pPr marL="114300" indent="0">
              <a:buNone/>
            </a:pPr>
            <a:r>
              <a:rPr lang="en-US" sz="2300" dirty="0">
                <a:solidFill>
                  <a:srgbClr val="3F7F5F"/>
                </a:solidFill>
                <a:latin typeface="Consolas" panose="020B0609020204030204" pitchFamily="49" charset="0"/>
              </a:rPr>
              <a:t>// 0x77 = 0111 0111 is this read or writing?</a:t>
            </a:r>
          </a:p>
          <a:p>
            <a:pPr marL="114300" indent="0" algn="l">
              <a:buNone/>
            </a:pPr>
            <a:r>
              <a:rPr lang="en-US" sz="23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2300" dirty="0" err="1">
                <a:solidFill>
                  <a:srgbClr val="0000C0"/>
                </a:solidFill>
                <a:latin typeface="Consolas" panose="020B0609020204030204" pitchFamily="49" charset="0"/>
              </a:rPr>
              <a:t>SPITXBUF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= (0x7700 | 0x00EB);  </a:t>
            </a:r>
            <a:r>
              <a:rPr lang="en-US" sz="2300" dirty="0">
                <a:solidFill>
                  <a:srgbClr val="3F7F5F"/>
                </a:solidFill>
                <a:latin typeface="Consolas" panose="020B0609020204030204" pitchFamily="49" charset="0"/>
              </a:rPr>
              <a:t>// Address + data</a:t>
            </a:r>
          </a:p>
          <a:p>
            <a:pPr marL="114300" indent="0" algn="l">
              <a:buNone/>
            </a:pPr>
            <a:r>
              <a:rPr lang="en-US" sz="2300" dirty="0">
                <a:solidFill>
                  <a:srgbClr val="7F0055"/>
                </a:solidFill>
                <a:latin typeface="Consolas" panose="020B0609020204030204" pitchFamily="49" charset="0"/>
              </a:rPr>
              <a:t>while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3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2300" dirty="0" err="1">
                <a:solidFill>
                  <a:srgbClr val="0000C0"/>
                </a:solidFill>
                <a:latin typeface="Consolas" panose="020B0609020204030204" pitchFamily="49" charset="0"/>
              </a:rPr>
              <a:t>SPIFFRX</a:t>
            </a:r>
            <a:r>
              <a:rPr lang="en-US" sz="23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300" dirty="0" err="1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23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300" dirty="0" err="1">
                <a:solidFill>
                  <a:srgbClr val="0000C0"/>
                </a:solidFill>
                <a:latin typeface="Consolas" panose="020B0609020204030204" pitchFamily="49" charset="0"/>
              </a:rPr>
              <a:t>RXFFST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!=1); </a:t>
            </a:r>
            <a:r>
              <a:rPr lang="en-US" sz="2300" dirty="0">
                <a:solidFill>
                  <a:srgbClr val="3F7F5F"/>
                </a:solidFill>
                <a:latin typeface="Consolas" panose="020B0609020204030204" pitchFamily="49" charset="0"/>
              </a:rPr>
              <a:t>// Waiting for response</a:t>
            </a:r>
          </a:p>
          <a:p>
            <a:pPr marL="114300" indent="0" algn="l">
              <a:buNone/>
            </a:pP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2300" dirty="0">
                <a:solidFill>
                  <a:srgbClr val="0000C0"/>
                </a:solidFill>
                <a:latin typeface="Consolas" panose="020B0609020204030204" pitchFamily="49" charset="0"/>
              </a:rPr>
              <a:t>GPCSET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3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300" dirty="0">
                <a:solidFill>
                  <a:srgbClr val="0000C0"/>
                </a:solidFill>
                <a:latin typeface="Consolas" panose="020B0609020204030204" pitchFamily="49" charset="0"/>
              </a:rPr>
              <a:t>GPIO66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= 1;     </a:t>
            </a:r>
            <a:r>
              <a:rPr lang="en-US" sz="2300" dirty="0">
                <a:solidFill>
                  <a:srgbClr val="3F7F5F"/>
                </a:solidFill>
                <a:latin typeface="Consolas" panose="020B0609020204030204" pitchFamily="49" charset="0"/>
              </a:rPr>
              <a:t>// Disable SPI</a:t>
            </a:r>
          </a:p>
          <a:p>
            <a:pPr marL="114300" indent="0" algn="l">
              <a:buNone/>
            </a:pP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US" sz="23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2300" dirty="0" err="1">
                <a:solidFill>
                  <a:srgbClr val="0000C0"/>
                </a:solidFill>
                <a:latin typeface="Consolas" panose="020B0609020204030204" pitchFamily="49" charset="0"/>
              </a:rPr>
              <a:t>SPIRXBUF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;               </a:t>
            </a:r>
            <a:r>
              <a:rPr lang="en-US" sz="2300" dirty="0">
                <a:solidFill>
                  <a:srgbClr val="3F7F5F"/>
                </a:solidFill>
                <a:latin typeface="Consolas" panose="020B0609020204030204" pitchFamily="49" charset="0"/>
              </a:rPr>
              <a:t>// Read value even though not needed</a:t>
            </a:r>
          </a:p>
          <a:p>
            <a:pPr marL="114300" indent="0" algn="l">
              <a:buNone/>
            </a:pP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DELAY_US(10);  </a:t>
            </a:r>
            <a:r>
              <a:rPr lang="en-US" sz="2300" dirty="0">
                <a:solidFill>
                  <a:srgbClr val="3F7F5F"/>
                </a:solidFill>
                <a:latin typeface="Consolas" panose="020B0609020204030204" pitchFamily="49" charset="0"/>
              </a:rPr>
              <a:t>// Delay a bit before issuing another MPU-9250 SPI transfer</a:t>
            </a:r>
            <a:endParaRPr lang="en-US" sz="2300" dirty="0"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9BF71FA-3C9F-7965-42C9-992F69BD38B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E40F38C-ED3F-9F1C-1DEC-EDE6804A90C1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D8DBF2A8-5AD7-9E10-A07A-F221CDD5F7D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D328CFE-FD55-350A-FB9E-3BE7D8B4984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0B18F44-717A-95EF-38FF-B30D5FE389EC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C9208C9-56F1-C655-B948-947124D64F7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ABE0996-E262-3797-60AE-5C0D789065F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800B7A4-EC04-BB64-A627-4ACAF5E344E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54425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079E9F9-6945-DC00-9B06-2E5388276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CE05A08C-87D8-E1A6-4AFD-A9C60CA52E6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4300" indent="0">
              <a:buNone/>
            </a:pPr>
            <a:r>
              <a:rPr lang="en-US" sz="1750" dirty="0">
                <a:latin typeface="Atkinson Hyperlegible Next"/>
                <a:cs typeface="Arial"/>
                <a:sym typeface="Arial"/>
              </a:rPr>
              <a:t>What if we want to write multiple pieces of data at once?</a:t>
            </a:r>
          </a:p>
          <a:p>
            <a:pPr marL="114300" indent="0">
              <a:buNone/>
            </a:pPr>
            <a:endParaRPr lang="en-US" sz="17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 algn="l">
              <a:buNone/>
            </a:pP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1750" dirty="0">
                <a:solidFill>
                  <a:srgbClr val="0000C0"/>
                </a:solidFill>
                <a:latin typeface="Consolas" panose="020B0609020204030204" pitchFamily="49" charset="0"/>
              </a:rPr>
              <a:t>GPCCLEAR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75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750" dirty="0">
                <a:solidFill>
                  <a:srgbClr val="0000C0"/>
                </a:solidFill>
                <a:latin typeface="Consolas" panose="020B0609020204030204" pitchFamily="49" charset="0"/>
              </a:rPr>
              <a:t>GPIO66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 = 1;</a:t>
            </a:r>
          </a:p>
          <a:p>
            <a:pPr marL="114300" indent="0" algn="l">
              <a:buNone/>
            </a:pPr>
            <a:r>
              <a:rPr lang="en-US" sz="175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750" dirty="0" err="1">
                <a:solidFill>
                  <a:srgbClr val="0000C0"/>
                </a:solidFill>
                <a:latin typeface="Consolas" panose="020B0609020204030204" pitchFamily="49" charset="0"/>
              </a:rPr>
              <a:t>SPITXBUF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 = (0x1900 | 0x0013);  </a:t>
            </a:r>
            <a:r>
              <a:rPr lang="en-US" sz="1750" dirty="0">
                <a:solidFill>
                  <a:srgbClr val="3F7F5F"/>
                </a:solidFill>
                <a:latin typeface="Consolas" panose="020B0609020204030204" pitchFamily="49" charset="0"/>
              </a:rPr>
              <a:t>// One write</a:t>
            </a:r>
          </a:p>
          <a:p>
            <a:pPr marL="114300" indent="0" algn="l">
              <a:buNone/>
            </a:pPr>
            <a:r>
              <a:rPr lang="en-US" sz="175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750" dirty="0" err="1">
                <a:solidFill>
                  <a:srgbClr val="0000C0"/>
                </a:solidFill>
                <a:latin typeface="Consolas" panose="020B0609020204030204" pitchFamily="49" charset="0"/>
              </a:rPr>
              <a:t>SPITXBUF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 = (0x0200 | 0x0000);  </a:t>
            </a:r>
            <a:r>
              <a:rPr lang="en-US" sz="1750" dirty="0">
                <a:solidFill>
                  <a:srgbClr val="3F7F5F"/>
                </a:solidFill>
                <a:latin typeface="Consolas" panose="020B0609020204030204" pitchFamily="49" charset="0"/>
              </a:rPr>
              <a:t>// Second write</a:t>
            </a:r>
          </a:p>
          <a:p>
            <a:pPr marL="114300" indent="0" algn="l">
              <a:buNone/>
            </a:pPr>
            <a:r>
              <a:rPr lang="en-US" sz="1750" dirty="0">
                <a:solidFill>
                  <a:srgbClr val="7F0055"/>
                </a:solidFill>
                <a:latin typeface="Consolas" panose="020B0609020204030204" pitchFamily="49" charset="0"/>
              </a:rPr>
              <a:t>while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75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750" dirty="0" err="1">
                <a:solidFill>
                  <a:srgbClr val="0000C0"/>
                </a:solidFill>
                <a:latin typeface="Consolas" panose="020B0609020204030204" pitchFamily="49" charset="0"/>
              </a:rPr>
              <a:t>SPIFFRX</a:t>
            </a:r>
            <a:r>
              <a:rPr lang="en-US" sz="175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750" dirty="0" err="1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75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750" dirty="0" err="1">
                <a:solidFill>
                  <a:srgbClr val="0000C0"/>
                </a:solidFill>
                <a:latin typeface="Consolas" panose="020B0609020204030204" pitchFamily="49" charset="0"/>
              </a:rPr>
              <a:t>RXFFST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 !=2); </a:t>
            </a:r>
            <a:r>
              <a:rPr lang="en-US" sz="1750" dirty="0">
                <a:solidFill>
                  <a:srgbClr val="3F7F5F"/>
                </a:solidFill>
                <a:latin typeface="Consolas" panose="020B0609020204030204" pitchFamily="49" charset="0"/>
              </a:rPr>
              <a:t>// Wait that both have been sent</a:t>
            </a:r>
          </a:p>
          <a:p>
            <a:pPr marL="114300" indent="0" algn="l">
              <a:buNone/>
            </a:pP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1750" dirty="0">
                <a:solidFill>
                  <a:srgbClr val="0000C0"/>
                </a:solidFill>
                <a:latin typeface="Consolas" panose="020B0609020204030204" pitchFamily="49" charset="0"/>
              </a:rPr>
              <a:t>GPCSET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75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750" dirty="0">
                <a:solidFill>
                  <a:srgbClr val="0000C0"/>
                </a:solidFill>
                <a:latin typeface="Consolas" panose="020B0609020204030204" pitchFamily="49" charset="0"/>
              </a:rPr>
              <a:t>GPIO66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 = 1;</a:t>
            </a:r>
          </a:p>
          <a:p>
            <a:pPr marL="114300" indent="0" algn="l">
              <a:buNone/>
            </a:pP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US" sz="175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750" dirty="0" err="1">
                <a:solidFill>
                  <a:srgbClr val="0000C0"/>
                </a:solidFill>
                <a:latin typeface="Consolas" panose="020B0609020204030204" pitchFamily="49" charset="0"/>
              </a:rPr>
              <a:t>SPIRXBUF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;  </a:t>
            </a:r>
            <a:r>
              <a:rPr lang="en-US" sz="1750" dirty="0">
                <a:solidFill>
                  <a:srgbClr val="3F7F5F"/>
                </a:solidFill>
                <a:latin typeface="Consolas" panose="020B0609020204030204" pitchFamily="49" charset="0"/>
              </a:rPr>
              <a:t>// Read value even though not needed</a:t>
            </a:r>
          </a:p>
          <a:p>
            <a:pPr marL="114300" indent="0" algn="l">
              <a:buNone/>
            </a:pP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US" sz="175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750" dirty="0" err="1">
                <a:solidFill>
                  <a:srgbClr val="0000C0"/>
                </a:solidFill>
                <a:latin typeface="Consolas" panose="020B0609020204030204" pitchFamily="49" charset="0"/>
              </a:rPr>
              <a:t>SPIRXBUF</a:t>
            </a: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;  </a:t>
            </a:r>
            <a:r>
              <a:rPr lang="en-US" sz="1750" dirty="0">
                <a:solidFill>
                  <a:srgbClr val="3F7F5F"/>
                </a:solidFill>
                <a:latin typeface="Consolas" panose="020B0609020204030204" pitchFamily="49" charset="0"/>
              </a:rPr>
              <a:t>// Read second value even though not needed</a:t>
            </a:r>
          </a:p>
          <a:p>
            <a:pPr marL="114300" indent="0" algn="l">
              <a:buNone/>
            </a:pPr>
            <a:r>
              <a:rPr lang="en-US" sz="1750" dirty="0">
                <a:solidFill>
                  <a:srgbClr val="000000"/>
                </a:solidFill>
                <a:latin typeface="Consolas" panose="020B0609020204030204" pitchFamily="49" charset="0"/>
              </a:rPr>
              <a:t>DELAY_US(10);  </a:t>
            </a:r>
            <a:r>
              <a:rPr lang="en-US" sz="1750" dirty="0">
                <a:solidFill>
                  <a:srgbClr val="3F7F5F"/>
                </a:solidFill>
                <a:latin typeface="Consolas" panose="020B0609020204030204" pitchFamily="49" charset="0"/>
              </a:rPr>
              <a:t>// Delay a bit before issuing another MPU-9250 SPI transfer</a:t>
            </a:r>
          </a:p>
          <a:p>
            <a:pPr marL="114300" indent="0" algn="l">
              <a:buNone/>
            </a:pPr>
            <a:endParaRPr lang="en-US" sz="1750" dirty="0">
              <a:solidFill>
                <a:srgbClr val="3F7F5F"/>
              </a:solidFill>
              <a:latin typeface="Consolas" panose="020B0609020204030204" pitchFamily="49" charset="0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1750" dirty="0">
                <a:solidFill>
                  <a:schemeClr val="tx1"/>
                </a:solidFill>
                <a:latin typeface="Atkinson Hyperlegible Next"/>
                <a:ea typeface="Arial"/>
                <a:cs typeface="Arial"/>
                <a:sym typeface="Arial"/>
              </a:rPr>
              <a:t>What is the maximum number of writes at a time?</a:t>
            </a:r>
          </a:p>
          <a:p>
            <a:pPr marL="114300" indent="0" algn="l">
              <a:buNone/>
            </a:pPr>
            <a:r>
              <a:rPr lang="en-US" sz="1750" dirty="0">
                <a:solidFill>
                  <a:schemeClr val="tx1"/>
                </a:solidFill>
                <a:latin typeface="Atkinson Hyperlegible Next"/>
                <a:ea typeface="Arial"/>
                <a:cs typeface="Arial"/>
                <a:sym typeface="Arial"/>
              </a:rPr>
              <a:t>The maximum size of the TX/RX FIFO is 16!</a:t>
            </a:r>
            <a:endParaRPr lang="en-US" sz="1750" dirty="0">
              <a:solidFill>
                <a:schemeClr val="tx1"/>
              </a:solidFill>
              <a:latin typeface="Consolas" panose="020B0609020204030204" pitchFamily="49" charset="0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67C78F7-1093-E54A-220A-34C0A5E3C81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AE7AF23-963D-8385-82FE-E7073B455F0C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75CCE3A-0E70-C631-D873-0C6A3966BA9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52AE1E6-B424-BA46-7272-FDAF6C5D565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5E3841A-0A2C-C0B2-4026-F9BAD7D037F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21DA705-73F4-3922-9D96-42118639D68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D195374B-F4A8-CFDA-56D9-25EB2110DDD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26A7F0E-0852-0B74-1F80-3F631ABE91C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40788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065DBB14-7F07-3A1A-3D32-3555AF8D82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35A185A0-7A44-7FB2-4AE4-1B94ECD625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When explicitly wanting to read the data, especially if there is a lot we want to read, accel X, Y, Z, gyro X, Y, Z, each of them having a high and low address. Is there a smart way of doing this?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Yes!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This MPU you send an address that you want to </a:t>
            </a:r>
            <a:r>
              <a:rPr lang="en-US" sz="2400" b="1" dirty="0">
                <a:latin typeface="Atkinson Hyperlegible Next"/>
                <a:ea typeface="Arial"/>
                <a:cs typeface="Arial"/>
                <a:sym typeface="Arial"/>
              </a:rPr>
              <a:t>start </a:t>
            </a: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reading from. If you continue to give it clock cycles it will just </a:t>
            </a:r>
            <a:r>
              <a:rPr lang="en-US" sz="2400" b="1" dirty="0">
                <a:latin typeface="Atkinson Hyperlegible Next"/>
                <a:ea typeface="Arial"/>
                <a:cs typeface="Arial"/>
                <a:sym typeface="Arial"/>
              </a:rPr>
              <a:t>continue down to the next address </a:t>
            </a: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and read down!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b="1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Allows us to read the 16-bit data into a single 16-bit read!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7D83485-462B-2686-016C-83AE070D6D5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6EE39FE-6965-7905-48BF-68B7CEB63A43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4D6E130D-9C80-8624-A955-CFCF5E9B95C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9DCA779-D028-1A75-9804-8CCB06E96F2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898127AD-E8E3-10E7-63A7-A52CDEF46332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9FFE1A1E-AB13-8AD1-A84E-701AA350A28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715D0D7-036E-4108-2B97-8BCE089D209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0846927-E86D-7705-2E28-8CC5B008D84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33704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A40AFE5-2638-6C3B-43FE-7CE66CDC9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A3B2D1D-ABA6-ED4D-ABF9-9EEB7D1BFB1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5687A65-4CF0-897F-C55A-07C6984E3341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F85C4AC3-B9BA-77D7-37F9-144BDA8E05B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DBEB4CA-1DB0-10AF-8A94-787FC794B90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E6B5EA2-D031-6D58-0CF9-6E0CCCC3A77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8A925C1B-C4D4-8973-6860-B109411C752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6D62745-1CB0-FF81-465F-ABE02B915C0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DAD196D-0BAE-A8FA-E542-54503F0579C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CAB8B104-0853-0562-290B-5A74B3804C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937506" y="1072273"/>
            <a:ext cx="8194830" cy="5352953"/>
          </a:xfrm>
          <a:prstGeom prst="rect">
            <a:avLst/>
          </a:prstGeom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2DF172F9-B886-93FB-3802-0838DA5EC197}"/>
              </a:ext>
            </a:extLst>
          </p:cNvPr>
          <p:cNvGrpSpPr/>
          <p:nvPr/>
        </p:nvGrpSpPr>
        <p:grpSpPr>
          <a:xfrm>
            <a:off x="2008863" y="2493041"/>
            <a:ext cx="9858563" cy="738664"/>
            <a:chOff x="2008863" y="2493041"/>
            <a:chExt cx="9858563" cy="738664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37E90C00-3C11-C50F-C6DC-5410E13B05C7}"/>
                </a:ext>
              </a:extLst>
            </p:cNvPr>
            <p:cNvSpPr/>
            <p:nvPr/>
          </p:nvSpPr>
          <p:spPr>
            <a:xfrm flipH="1">
              <a:off x="2008863" y="2669728"/>
              <a:ext cx="8011436" cy="38529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7AA7A96-7B92-0050-2813-B9275A34260A}"/>
                </a:ext>
              </a:extLst>
            </p:cNvPr>
            <p:cNvSpPr txBox="1"/>
            <p:nvPr/>
          </p:nvSpPr>
          <p:spPr>
            <a:xfrm>
              <a:off x="10313833" y="2493041"/>
              <a:ext cx="1553593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Start reading (sent 8-bit start address)</a:t>
              </a: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1BBA691D-E06C-192B-04BA-CDC9459CC890}"/>
                </a:ext>
              </a:extLst>
            </p:cNvPr>
            <p:cNvCxnSpPr>
              <a:cxnSpLocks/>
              <a:stCxn id="29" idx="1"/>
              <a:endCxn id="27" idx="1"/>
            </p:cNvCxnSpPr>
            <p:nvPr/>
          </p:nvCxnSpPr>
          <p:spPr>
            <a:xfrm flipH="1">
              <a:off x="10020299" y="2862373"/>
              <a:ext cx="29353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F40CE8-D347-98F8-A084-E5EE2ACA6B70}"/>
              </a:ext>
            </a:extLst>
          </p:cNvPr>
          <p:cNvGrpSpPr/>
          <p:nvPr/>
        </p:nvGrpSpPr>
        <p:grpSpPr>
          <a:xfrm>
            <a:off x="2008863" y="3012556"/>
            <a:ext cx="9858563" cy="673404"/>
            <a:chOff x="2008863" y="3012556"/>
            <a:chExt cx="9858563" cy="673404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728AEE2E-BF87-DF1F-9897-C3C606AEAC4B}"/>
                </a:ext>
              </a:extLst>
            </p:cNvPr>
            <p:cNvSpPr/>
            <p:nvPr/>
          </p:nvSpPr>
          <p:spPr>
            <a:xfrm flipH="1">
              <a:off x="2008863" y="3012556"/>
              <a:ext cx="8011436" cy="38529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363EAD1-B6AB-FC51-329C-6C01A369D5E7}"/>
                </a:ext>
              </a:extLst>
            </p:cNvPr>
            <p:cNvSpPr txBox="1"/>
            <p:nvPr/>
          </p:nvSpPr>
          <p:spPr>
            <a:xfrm>
              <a:off x="10313833" y="3162740"/>
              <a:ext cx="155359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Continue reading 16-bits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FB9E2725-A816-73CA-F2A9-CF1ACDC2BAC6}"/>
                </a:ext>
              </a:extLst>
            </p:cNvPr>
            <p:cNvCxnSpPr>
              <a:cxnSpLocks/>
              <a:stCxn id="16" idx="1"/>
              <a:endCxn id="15" idx="1"/>
            </p:cNvCxnSpPr>
            <p:nvPr/>
          </p:nvCxnSpPr>
          <p:spPr>
            <a:xfrm flipH="1" flipV="1">
              <a:off x="10020299" y="3205201"/>
              <a:ext cx="293534" cy="219149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D77D325-BB9D-30DD-EC32-C8161AE104CF}"/>
              </a:ext>
            </a:extLst>
          </p:cNvPr>
          <p:cNvGrpSpPr/>
          <p:nvPr/>
        </p:nvGrpSpPr>
        <p:grpSpPr>
          <a:xfrm>
            <a:off x="2008863" y="3381887"/>
            <a:ext cx="9858563" cy="673404"/>
            <a:chOff x="2008863" y="3012556"/>
            <a:chExt cx="9858563" cy="673404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14FAFC6E-9F05-E003-0A4B-B630B81DC577}"/>
                </a:ext>
              </a:extLst>
            </p:cNvPr>
            <p:cNvSpPr/>
            <p:nvPr/>
          </p:nvSpPr>
          <p:spPr>
            <a:xfrm flipH="1">
              <a:off x="2008863" y="3012556"/>
              <a:ext cx="8011436" cy="38529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718F447-806C-6E26-592A-36841B14F255}"/>
                </a:ext>
              </a:extLst>
            </p:cNvPr>
            <p:cNvSpPr txBox="1"/>
            <p:nvPr/>
          </p:nvSpPr>
          <p:spPr>
            <a:xfrm>
              <a:off x="10313833" y="3162740"/>
              <a:ext cx="155359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Continue reading 16-bits</a:t>
              </a: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0E35685C-163E-D1F9-2081-8EE1A5A43C15}"/>
                </a:ext>
              </a:extLst>
            </p:cNvPr>
            <p:cNvCxnSpPr>
              <a:cxnSpLocks/>
              <a:stCxn id="31" idx="1"/>
              <a:endCxn id="28" idx="1"/>
            </p:cNvCxnSpPr>
            <p:nvPr/>
          </p:nvCxnSpPr>
          <p:spPr>
            <a:xfrm flipH="1" flipV="1">
              <a:off x="10020299" y="3205201"/>
              <a:ext cx="293534" cy="219149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4E2EA6A-A7F7-A6EE-1D83-4B8677DB2221}"/>
              </a:ext>
            </a:extLst>
          </p:cNvPr>
          <p:cNvGrpSpPr/>
          <p:nvPr/>
        </p:nvGrpSpPr>
        <p:grpSpPr>
          <a:xfrm>
            <a:off x="2008863" y="3734777"/>
            <a:ext cx="9858563" cy="673404"/>
            <a:chOff x="2008863" y="3012556"/>
            <a:chExt cx="9858563" cy="673404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B8ACC8B2-A669-6B85-FB47-EB0C26091E72}"/>
                </a:ext>
              </a:extLst>
            </p:cNvPr>
            <p:cNvSpPr/>
            <p:nvPr/>
          </p:nvSpPr>
          <p:spPr>
            <a:xfrm flipH="1">
              <a:off x="2008863" y="3012556"/>
              <a:ext cx="8011436" cy="38529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41CDF9A3-7A13-E2D1-1D57-0878B4C4BD10}"/>
                </a:ext>
              </a:extLst>
            </p:cNvPr>
            <p:cNvSpPr txBox="1"/>
            <p:nvPr/>
          </p:nvSpPr>
          <p:spPr>
            <a:xfrm>
              <a:off x="10313833" y="3162740"/>
              <a:ext cx="155359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Continue reading 16-bits</a:t>
              </a:r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7547C04B-1671-EE47-124D-0CA395935450}"/>
                </a:ext>
              </a:extLst>
            </p:cNvPr>
            <p:cNvCxnSpPr>
              <a:cxnSpLocks/>
              <a:stCxn id="35" idx="1"/>
              <a:endCxn id="34" idx="1"/>
            </p:cNvCxnSpPr>
            <p:nvPr/>
          </p:nvCxnSpPr>
          <p:spPr>
            <a:xfrm flipH="1" flipV="1">
              <a:off x="10020299" y="3205201"/>
              <a:ext cx="293534" cy="219149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65861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CDC25AB-2F68-898C-6D15-845B0D557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F2719097-BC9C-4A2C-482D-3F0D923FBAB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4981703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4300" indent="0">
              <a:buNone/>
            </a:pPr>
            <a:r>
              <a:rPr lang="en-US" sz="1600" dirty="0">
                <a:solidFill>
                  <a:srgbClr val="3F7F5F"/>
                </a:solidFill>
                <a:latin typeface="Consolas" panose="020B0609020204030204" pitchFamily="49" charset="0"/>
              </a:rPr>
              <a:t>// Code inside CPU Timer 0</a:t>
            </a:r>
          </a:p>
          <a:p>
            <a:pPr marL="114300" indent="0"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1600" dirty="0">
                <a:solidFill>
                  <a:srgbClr val="0000C0"/>
                </a:solidFill>
                <a:latin typeface="Consolas" panose="020B0609020204030204" pitchFamily="49" charset="0"/>
              </a:rPr>
              <a:t>GPCCLEAR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>
                <a:solidFill>
                  <a:srgbClr val="0000C0"/>
                </a:solidFill>
                <a:latin typeface="Consolas" panose="020B0609020204030204" pitchFamily="49" charset="0"/>
              </a:rPr>
              <a:t>GPIO66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1;</a:t>
            </a:r>
          </a:p>
          <a:p>
            <a:pPr marL="114300" indent="0">
              <a:buNone/>
            </a:pP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600" dirty="0" err="1">
                <a:solidFill>
                  <a:srgbClr val="0000C0"/>
                </a:solidFill>
                <a:latin typeface="Consolas" panose="020B0609020204030204" pitchFamily="49" charset="0"/>
              </a:rPr>
              <a:t>SPIFFRX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rgbClr val="0000C0"/>
                </a:solidFill>
                <a:latin typeface="Consolas" panose="020B0609020204030204" pitchFamily="49" charset="0"/>
              </a:rPr>
              <a:t>RXFFIL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3;</a:t>
            </a:r>
          </a:p>
          <a:p>
            <a:pPr marL="114300" indent="0">
              <a:buNone/>
            </a:pPr>
            <a:r>
              <a:rPr lang="en-US" sz="1600" dirty="0">
                <a:solidFill>
                  <a:srgbClr val="3F7F5F"/>
                </a:solidFill>
                <a:latin typeface="Consolas" panose="020B0609020204030204" pitchFamily="49" charset="0"/>
              </a:rPr>
              <a:t>// 0x8 = 1000 = read</a:t>
            </a:r>
          </a:p>
          <a:p>
            <a:pPr marL="114300" indent="0">
              <a:buNone/>
            </a:pPr>
            <a:r>
              <a:rPr lang="en-US" sz="1600" dirty="0">
                <a:solidFill>
                  <a:srgbClr val="3F7F5F"/>
                </a:solidFill>
                <a:latin typeface="Consolas" panose="020B0609020204030204" pitchFamily="49" charset="0"/>
              </a:rPr>
              <a:t>// 0x3C = address to read from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>
              <a:buNone/>
            </a:pP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600" dirty="0" err="1">
                <a:solidFill>
                  <a:srgbClr val="0000C0"/>
                </a:solidFill>
                <a:latin typeface="Consolas" panose="020B0609020204030204" pitchFamily="49" charset="0"/>
              </a:rPr>
              <a:t>SPITXBUF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((0x8000) | (0x3C00));</a:t>
            </a:r>
          </a:p>
          <a:p>
            <a:pPr marL="114300" indent="0">
              <a:buNone/>
            </a:pP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600" dirty="0" err="1">
                <a:solidFill>
                  <a:srgbClr val="0000C0"/>
                </a:solidFill>
                <a:latin typeface="Consolas" panose="020B0609020204030204" pitchFamily="49" charset="0"/>
              </a:rPr>
              <a:t>SPITXBUF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0; </a:t>
            </a:r>
            <a:r>
              <a:rPr lang="en-US" sz="1600" dirty="0">
                <a:solidFill>
                  <a:srgbClr val="3F7F5F"/>
                </a:solidFill>
                <a:latin typeface="Consolas" panose="020B0609020204030204" pitchFamily="49" charset="0"/>
              </a:rPr>
              <a:t>// 0x0000 continue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>
              <a:buNone/>
            </a:pP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600" dirty="0" err="1">
                <a:solidFill>
                  <a:srgbClr val="0000C0"/>
                </a:solidFill>
                <a:latin typeface="Consolas" panose="020B0609020204030204" pitchFamily="49" charset="0"/>
              </a:rPr>
              <a:t>SPITXBUF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0; </a:t>
            </a:r>
            <a:r>
              <a:rPr lang="en-US" sz="1600" dirty="0">
                <a:solidFill>
                  <a:srgbClr val="3F7F5F"/>
                </a:solidFill>
                <a:latin typeface="Consolas" panose="020B0609020204030204" pitchFamily="49" charset="0"/>
              </a:rPr>
              <a:t>// 0x0000 continue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18B8360-C964-1E55-8831-EA47CD157AC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1549A8E-8933-BAF0-3154-335AC37C4D21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494956D7-F857-141F-EE5B-F66A7F8E88A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3B7DEFEA-77A3-3C6B-C935-56DE42F0577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395FBA9C-CE8E-8645-8FCE-2F909656647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FAE0B61-09A4-FD7F-8BAE-F161F64487B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8BE6B3A3-CED4-EAC7-3624-3C15DD62603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8317847-3179-4A78-CE01-3A5618CAE31E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" name="Google Shape;118;p29">
            <a:extLst>
              <a:ext uri="{FF2B5EF4-FFF2-40B4-BE49-F238E27FC236}">
                <a16:creationId xmlns:a16="http://schemas.microsoft.com/office/drawing/2014/main" id="{D793C31B-3A6A-8070-36A4-D9AFC38C1318}"/>
              </a:ext>
            </a:extLst>
          </p:cNvPr>
          <p:cNvSpPr txBox="1">
            <a:spLocks/>
          </p:cNvSpPr>
          <p:nvPr/>
        </p:nvSpPr>
        <p:spPr>
          <a:xfrm>
            <a:off x="5358512" y="1334279"/>
            <a:ext cx="6470305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114300" indent="0" algn="l">
              <a:buNone/>
            </a:pPr>
            <a:r>
              <a:rPr lang="en-US" sz="1200" dirty="0">
                <a:solidFill>
                  <a:srgbClr val="005032"/>
                </a:solidFill>
                <a:latin typeface="Consolas" panose="020B0609020204030204" pitchFamily="49" charset="0"/>
              </a:rPr>
              <a:t>int16_t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dummy= 0;</a:t>
            </a:r>
          </a:p>
          <a:p>
            <a:pPr marL="114300" indent="0" algn="l">
              <a:buNone/>
            </a:pPr>
            <a:r>
              <a:rPr lang="en-US" sz="1200" dirty="0">
                <a:solidFill>
                  <a:srgbClr val="005032"/>
                </a:solidFill>
                <a:latin typeface="Consolas" panose="020B0609020204030204" pitchFamily="49" charset="0"/>
              </a:rPr>
              <a:t>int16_t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accelYraw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0;</a:t>
            </a:r>
          </a:p>
          <a:p>
            <a:pPr marL="114300" indent="0" algn="l">
              <a:buNone/>
            </a:pPr>
            <a:r>
              <a:rPr lang="en-US" sz="1200" dirty="0">
                <a:solidFill>
                  <a:srgbClr val="005032"/>
                </a:solidFill>
                <a:latin typeface="Consolas" panose="020B0609020204030204" pitchFamily="49" charset="0"/>
              </a:rPr>
              <a:t>int16_t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accelZraw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0;</a:t>
            </a:r>
          </a:p>
          <a:p>
            <a:pPr marL="114300" indent="0" algn="l">
              <a:buNone/>
            </a:pPr>
            <a:r>
              <a:rPr lang="en-US" sz="1200" dirty="0">
                <a:solidFill>
                  <a:srgbClr val="7F0055"/>
                </a:solidFill>
                <a:latin typeface="Consolas" panose="020B0609020204030204" pitchFamily="49" charset="0"/>
              </a:rPr>
              <a:t>float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accelYreading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0;</a:t>
            </a:r>
          </a:p>
          <a:p>
            <a:pPr marL="114300" indent="0" algn="l">
              <a:buNone/>
            </a:pPr>
            <a:r>
              <a:rPr lang="en-US" sz="1200" dirty="0">
                <a:solidFill>
                  <a:srgbClr val="7F0055"/>
                </a:solidFill>
                <a:latin typeface="Consolas" panose="020B0609020204030204" pitchFamily="49" charset="0"/>
              </a:rPr>
              <a:t>float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accelZreading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0;</a:t>
            </a:r>
          </a:p>
          <a:p>
            <a:pPr marL="11430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__interrupt </a:t>
            </a:r>
            <a:r>
              <a:rPr lang="en-US" sz="1200" dirty="0">
                <a:solidFill>
                  <a:srgbClr val="7F0055"/>
                </a:solidFill>
                <a:latin typeface="Consolas" panose="020B0609020204030204" pitchFamily="49" charset="0"/>
              </a:rPr>
              <a:t>void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SPIB_isr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200" dirty="0">
                <a:solidFill>
                  <a:srgbClr val="7F0055"/>
                </a:solidFill>
                <a:latin typeface="Consolas" panose="020B0609020204030204" pitchFamily="49" charset="0"/>
              </a:rPr>
              <a:t>void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){</a:t>
            </a:r>
          </a:p>
          <a:p>
            <a:pPr marL="114300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GpioDataRegs.</a:t>
            </a:r>
            <a:r>
              <a:rPr lang="en-US" sz="1200" dirty="0">
                <a:solidFill>
                  <a:srgbClr val="0000C0"/>
                </a:solidFill>
                <a:latin typeface="Consolas" panose="020B0609020204030204" pitchFamily="49" charset="0"/>
              </a:rPr>
              <a:t>GPCSET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2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200" dirty="0">
                <a:solidFill>
                  <a:srgbClr val="0000C0"/>
                </a:solidFill>
                <a:latin typeface="Consolas" panose="020B0609020204030204" pitchFamily="49" charset="0"/>
              </a:rPr>
              <a:t>GPIO66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1; </a:t>
            </a:r>
            <a:r>
              <a:rPr lang="en-US" sz="1200" dirty="0">
                <a:solidFill>
                  <a:srgbClr val="3F7F5F"/>
                </a:solidFill>
                <a:latin typeface="Consolas" panose="020B0609020204030204" pitchFamily="49" charset="0"/>
              </a:rPr>
              <a:t>// Stop SPI transmit</a:t>
            </a:r>
            <a:endParaRPr lang="en-US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dummy =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200" dirty="0" err="1">
                <a:solidFill>
                  <a:srgbClr val="0000C0"/>
                </a:solidFill>
                <a:latin typeface="Consolas" panose="020B0609020204030204" pitchFamily="49" charset="0"/>
              </a:rPr>
              <a:t>SPIRXBUF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r>
              <a:rPr lang="en-US" sz="1200" dirty="0">
                <a:solidFill>
                  <a:srgbClr val="3F7F5F"/>
                </a:solidFill>
                <a:latin typeface="Consolas" panose="020B0609020204030204" pitchFamily="49" charset="0"/>
              </a:rPr>
              <a:t>// reads from 0x3C Accel x low only</a:t>
            </a:r>
            <a:endParaRPr lang="en-US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accelYraw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200" dirty="0" err="1">
                <a:solidFill>
                  <a:srgbClr val="0000C0"/>
                </a:solidFill>
                <a:latin typeface="Consolas" panose="020B0609020204030204" pitchFamily="49" charset="0"/>
              </a:rPr>
              <a:t>SPIRXBUF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r>
              <a:rPr lang="en-US" sz="1200" dirty="0">
                <a:solidFill>
                  <a:srgbClr val="3F7F5F"/>
                </a:solidFill>
                <a:latin typeface="Consolas" panose="020B0609020204030204" pitchFamily="49" charset="0"/>
              </a:rPr>
              <a:t>// reads 0x3D | 0x3E = Accel y out</a:t>
            </a:r>
            <a:endParaRPr lang="en-US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accelZraw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200" dirty="0" err="1">
                <a:solidFill>
                  <a:srgbClr val="0000C0"/>
                </a:solidFill>
                <a:latin typeface="Consolas" panose="020B0609020204030204" pitchFamily="49" charset="0"/>
              </a:rPr>
              <a:t>SPIRXBUF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r>
              <a:rPr lang="en-US" sz="1200" dirty="0">
                <a:solidFill>
                  <a:srgbClr val="3F7F5F"/>
                </a:solidFill>
                <a:latin typeface="Consolas" panose="020B0609020204030204" pitchFamily="49" charset="0"/>
              </a:rPr>
              <a:t>// reads 0x3F | 0x40 = Accel z out</a:t>
            </a:r>
            <a:endParaRPr lang="en-US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accelYreading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accelYraw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*4.0/32767.0;</a:t>
            </a:r>
          </a:p>
          <a:p>
            <a:pPr marL="11430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accelZreading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accelZraw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*4.0/32767.0;</a:t>
            </a:r>
          </a:p>
          <a:p>
            <a:pPr marL="11430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200" dirty="0" err="1">
                <a:solidFill>
                  <a:srgbClr val="0000C0"/>
                </a:solidFill>
                <a:latin typeface="Consolas" panose="020B0609020204030204" pitchFamily="49" charset="0"/>
              </a:rPr>
              <a:t>SPIFFRX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200" dirty="0" err="1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200" dirty="0" err="1">
                <a:solidFill>
                  <a:srgbClr val="0000C0"/>
                </a:solidFill>
                <a:latin typeface="Consolas" panose="020B0609020204030204" pitchFamily="49" charset="0"/>
              </a:rPr>
              <a:t>RXFFOVFCLR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=1;  </a:t>
            </a:r>
            <a:r>
              <a:rPr lang="en-US" sz="1200" dirty="0">
                <a:solidFill>
                  <a:srgbClr val="3F7F5F"/>
                </a:solidFill>
                <a:latin typeface="Consolas" panose="020B0609020204030204" pitchFamily="49" charset="0"/>
              </a:rPr>
              <a:t>// Clear Overflow flag</a:t>
            </a:r>
          </a:p>
          <a:p>
            <a:pPr marL="11430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200" dirty="0" err="1">
                <a:solidFill>
                  <a:srgbClr val="0000C0"/>
                </a:solidFill>
                <a:latin typeface="Consolas" panose="020B0609020204030204" pitchFamily="49" charset="0"/>
              </a:rPr>
              <a:t>SPIFFRX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200" dirty="0" err="1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200" dirty="0" err="1">
                <a:solidFill>
                  <a:srgbClr val="0000C0"/>
                </a:solidFill>
                <a:latin typeface="Consolas" panose="020B0609020204030204" pitchFamily="49" charset="0"/>
              </a:rPr>
              <a:t>RXFFINTCLR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=1;  </a:t>
            </a:r>
            <a:r>
              <a:rPr lang="en-US" sz="1200" dirty="0">
                <a:solidFill>
                  <a:srgbClr val="3F7F5F"/>
                </a:solidFill>
                <a:latin typeface="Consolas" panose="020B0609020204030204" pitchFamily="49" charset="0"/>
              </a:rPr>
              <a:t>// Clear Interrupt flag</a:t>
            </a:r>
          </a:p>
          <a:p>
            <a:pPr marL="11430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PieCtrlRegs.</a:t>
            </a:r>
            <a:r>
              <a:rPr lang="en-US" sz="1200" dirty="0" err="1">
                <a:solidFill>
                  <a:srgbClr val="0000C0"/>
                </a:solidFill>
                <a:latin typeface="Consolas" panose="020B0609020204030204" pitchFamily="49" charset="0"/>
              </a:rPr>
              <a:t>PIEACK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200" dirty="0" err="1">
                <a:solidFill>
                  <a:srgbClr val="0000C0"/>
                </a:solidFill>
                <a:latin typeface="Consolas" panose="020B0609020204030204" pitchFamily="49" charset="0"/>
              </a:rPr>
              <a:t>all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= PIEACK_GROUP6;</a:t>
            </a:r>
          </a:p>
          <a:p>
            <a:pPr marL="11430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en-US" sz="1100" dirty="0">
              <a:latin typeface="Atkinson Hyperlegible Next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9569476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BCBD59D-1DBD-7276-C25D-64964E321C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66B9714-6CE7-D0CC-79F2-1AF2B3F4AAA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8B222705-22B5-88C7-B91D-173DC3F16442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F8F04402-0F0B-8965-258A-86EEE8FA5CE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F908650-5FA6-08EB-2BD2-E1F4959DC38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D16D78B-E8E4-B07F-5898-7006C9D77FA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8AFD982-85DC-80A8-DD70-084274F379F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49104A69-DD44-F33B-67EE-19E69156157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D9BD9BA1-4292-CFEF-B138-C6FF7341FC9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4C8589C5-0B8C-BDAF-E74E-A8BBBB20F6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1176065"/>
            <a:ext cx="7715347" cy="5039750"/>
          </a:xfrm>
          <a:prstGeom prst="rect">
            <a:avLst/>
          </a:prstGeom>
        </p:spPr>
      </p:pic>
      <p:grpSp>
        <p:nvGrpSpPr>
          <p:cNvPr id="25" name="Group 24">
            <a:extLst>
              <a:ext uri="{FF2B5EF4-FFF2-40B4-BE49-F238E27FC236}">
                <a16:creationId xmlns:a16="http://schemas.microsoft.com/office/drawing/2014/main" id="{904F9AEB-1F05-55D3-4122-9075EDA692C2}"/>
              </a:ext>
            </a:extLst>
          </p:cNvPr>
          <p:cNvGrpSpPr/>
          <p:nvPr/>
        </p:nvGrpSpPr>
        <p:grpSpPr>
          <a:xfrm>
            <a:off x="71357" y="3695940"/>
            <a:ext cx="9578434" cy="1030606"/>
            <a:chOff x="2008863" y="3012556"/>
            <a:chExt cx="10209338" cy="1232087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C4EA846A-6B8A-4432-1976-3F7FC3D52D61}"/>
                </a:ext>
              </a:extLst>
            </p:cNvPr>
            <p:cNvSpPr/>
            <p:nvPr/>
          </p:nvSpPr>
          <p:spPr>
            <a:xfrm flipH="1">
              <a:off x="2008863" y="3012556"/>
              <a:ext cx="8011436" cy="38529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F3D03858-8C05-F543-65E3-40318CF8861A}"/>
                </a:ext>
              </a:extLst>
            </p:cNvPr>
            <p:cNvCxnSpPr>
              <a:cxnSpLocks/>
              <a:endCxn id="15" idx="1"/>
            </p:cNvCxnSpPr>
            <p:nvPr/>
          </p:nvCxnSpPr>
          <p:spPr>
            <a:xfrm flipH="1" flipV="1">
              <a:off x="10020299" y="3205201"/>
              <a:ext cx="2197902" cy="1039442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0D4C8E7-4E9E-BD49-C2CB-546475BD950F}"/>
              </a:ext>
            </a:extLst>
          </p:cNvPr>
          <p:cNvGrpSpPr/>
          <p:nvPr/>
        </p:nvGrpSpPr>
        <p:grpSpPr>
          <a:xfrm>
            <a:off x="71356" y="3158971"/>
            <a:ext cx="11365083" cy="1110552"/>
            <a:chOff x="2008862" y="3201722"/>
            <a:chExt cx="12064674" cy="1110552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C15286D0-1D69-E224-66DB-ACA33A42BEF4}"/>
                </a:ext>
              </a:extLst>
            </p:cNvPr>
            <p:cNvSpPr/>
            <p:nvPr/>
          </p:nvSpPr>
          <p:spPr>
            <a:xfrm flipH="1">
              <a:off x="2008862" y="3201722"/>
              <a:ext cx="7979031" cy="19612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1ECEE7F9-3F69-3190-006C-B73D51D9803B}"/>
                </a:ext>
              </a:extLst>
            </p:cNvPr>
            <p:cNvCxnSpPr>
              <a:cxnSpLocks/>
              <a:endCxn id="28" idx="1"/>
            </p:cNvCxnSpPr>
            <p:nvPr/>
          </p:nvCxnSpPr>
          <p:spPr>
            <a:xfrm flipH="1" flipV="1">
              <a:off x="9987893" y="3299784"/>
              <a:ext cx="4085643" cy="101249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5DEA35B-F9F2-3840-F7D6-088B4CD914A0}"/>
              </a:ext>
            </a:extLst>
          </p:cNvPr>
          <p:cNvGrpSpPr/>
          <p:nvPr/>
        </p:nvGrpSpPr>
        <p:grpSpPr>
          <a:xfrm>
            <a:off x="71357" y="3350288"/>
            <a:ext cx="9578434" cy="1187087"/>
            <a:chOff x="2008863" y="3012556"/>
            <a:chExt cx="10142999" cy="1309792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CD256E86-F26F-F764-3159-B5985656191A}"/>
                </a:ext>
              </a:extLst>
            </p:cNvPr>
            <p:cNvSpPr/>
            <p:nvPr/>
          </p:nvSpPr>
          <p:spPr>
            <a:xfrm flipH="1">
              <a:off x="2008863" y="3012556"/>
              <a:ext cx="7959377" cy="38529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DAC270FA-CE64-3A92-640B-F7EFBB2C78AA}"/>
                </a:ext>
              </a:extLst>
            </p:cNvPr>
            <p:cNvCxnSpPr>
              <a:cxnSpLocks/>
              <a:endCxn id="34" idx="1"/>
            </p:cNvCxnSpPr>
            <p:nvPr/>
          </p:nvCxnSpPr>
          <p:spPr>
            <a:xfrm flipH="1" flipV="1">
              <a:off x="9968240" y="3205202"/>
              <a:ext cx="2183622" cy="1117146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CA9C417A-F43A-BB60-DE9B-AAD18E8A7452}"/>
              </a:ext>
            </a:extLst>
          </p:cNvPr>
          <p:cNvSpPr txBox="1"/>
          <p:nvPr/>
        </p:nvSpPr>
        <p:spPr>
          <a:xfrm>
            <a:off x="7489112" y="4210185"/>
            <a:ext cx="4501886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14300" indent="0">
              <a:buNone/>
            </a:pP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400" dirty="0" err="1">
                <a:solidFill>
                  <a:srgbClr val="0000C0"/>
                </a:solidFill>
                <a:latin typeface="Consolas" panose="020B0609020204030204" pitchFamily="49" charset="0"/>
              </a:rPr>
              <a:t>SPITXBUF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((0x8000) | (0x3C00));</a:t>
            </a:r>
          </a:p>
          <a:p>
            <a:pPr marL="114300" indent="0">
              <a:buNone/>
            </a:pP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400" dirty="0" err="1">
                <a:solidFill>
                  <a:srgbClr val="0000C0"/>
                </a:solidFill>
                <a:latin typeface="Consolas" panose="020B0609020204030204" pitchFamily="49" charset="0"/>
              </a:rPr>
              <a:t>SPITXBUF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0; 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 0x0000 continue</a:t>
            </a: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>
              <a:buNone/>
            </a:pP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SpibRegs.</a:t>
            </a:r>
            <a:r>
              <a:rPr lang="en-US" sz="1400" dirty="0" err="1">
                <a:solidFill>
                  <a:srgbClr val="0000C0"/>
                </a:solidFill>
                <a:latin typeface="Consolas" panose="020B0609020204030204" pitchFamily="49" charset="0"/>
              </a:rPr>
              <a:t>SPITXBUF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0; 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 0x0000 continue</a:t>
            </a: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606756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F4481CE-9E3D-FCD5-84B8-BF89B7AC12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821E877-0319-C596-2C2C-4303B31DC0B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74EE54B-1F1D-8250-4A09-B4AD03290757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i="0" b="0" lang="en-US" sz="2400" dirty="0">
                <a:solidFill>
                  <a:schemeClr val="lt1"/>
                </a:solidFill>
              </a:rPr>
              <a:t>SPI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79A91297-B33E-FFC9-DCC4-F620390A977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A09F547-F404-6386-E268-500D5E1E35C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3CFD2EE8-1927-47CB-767D-760CEB4EC35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7ACF77D-6109-E666-9335-B0C379FBF64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21831EC6-1511-0248-5425-B94CC2F3843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F65C4A2-4203-9BF1-6296-B83966E3DAE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9260AE3A-C439-4AAE-1D54-D8DA2A1046C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60714" y="935653"/>
            <a:ext cx="8070573" cy="5471885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6E144E7D-15DC-6E6F-5CFB-5C9F4BBC3A17}"/>
              </a:ext>
            </a:extLst>
          </p:cNvPr>
          <p:cNvGraphicFramePr>
            <a:graphicFrameLocks noGrp="1"/>
          </p:cNvGraphicFramePr>
          <p:nvPr/>
        </p:nvGraphicFramePr>
        <p:xfrm>
          <a:off x="117061" y="1139735"/>
          <a:ext cx="1943652" cy="31804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71826">
                  <a:extLst>
                    <a:ext uri="{9D8B030D-6E8A-4147-A177-3AD203B41FA5}">
                      <a16:colId xmlns:a16="http://schemas.microsoft.com/office/drawing/2014/main" val="92026252"/>
                    </a:ext>
                  </a:extLst>
                </a:gridCol>
                <a:gridCol w="971826">
                  <a:extLst>
                    <a:ext uri="{9D8B030D-6E8A-4147-A177-3AD203B41FA5}">
                      <a16:colId xmlns:a16="http://schemas.microsoft.com/office/drawing/2014/main" val="3319111987"/>
                    </a:ext>
                  </a:extLst>
                </a:gridCol>
              </a:tblGrid>
              <a:tr h="63609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Polarity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Phase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45624164"/>
                  </a:ext>
                </a:extLst>
              </a:tr>
              <a:tr h="63609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9835093"/>
                  </a:ext>
                </a:extLst>
              </a:tr>
              <a:tr h="63609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30236753"/>
                  </a:ext>
                </a:extLst>
              </a:tr>
              <a:tr h="63609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77358395"/>
                  </a:ext>
                </a:extLst>
              </a:tr>
              <a:tr h="63609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9066989"/>
                  </a:ext>
                </a:extLst>
              </a:tr>
            </a:tbl>
          </a:graphicData>
        </a:graphic>
      </p:graphicFrame>
      <p:sp>
        <p:nvSpPr>
          <p:cNvPr id="2" name="Rectangle 1">
            <a:extLst>
              <a:ext uri="{FF2B5EF4-FFF2-40B4-BE49-F238E27FC236}">
                <a16:creationId xmlns:a16="http://schemas.microsoft.com/office/drawing/2014/main" id="{B1A5094C-4BB6-A5B3-E9BE-0D1B1C0ACFC7}"/>
              </a:ext>
            </a:extLst>
          </p:cNvPr>
          <p:cNvSpPr/>
          <p:nvPr/>
        </p:nvSpPr>
        <p:spPr>
          <a:xfrm>
            <a:off x="3846067" y="1796828"/>
            <a:ext cx="441214" cy="421391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457851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172E8C28-C0FE-1016-75B2-A7B6AACAB1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A438B23-FD66-1FE4-29C7-A2A4BF4EFEB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970F8C2-5EE0-0F4D-4675-3D04D6756E7D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IMU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138FFE93-BD01-44DA-DA0D-EE13AA7A3E8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753FB69-1D8F-2C79-685A-B3E9FEAFD11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1636CF3-4F07-C322-78CC-C6E6EB5064F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F8DD2B4-419A-F0D0-E9FF-D8DB1A054EF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41992A3-7D8E-108C-2252-69E9BF18634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BCD6A716-C7F8-750A-FEFD-3A187EDC07B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" name="Graphic 5">
            <a:extLst>
              <a:ext uri="{FF2B5EF4-FFF2-40B4-BE49-F238E27FC236}">
                <a16:creationId xmlns:a16="http://schemas.microsoft.com/office/drawing/2014/main" id="{359598AE-F55A-9B86-D5BE-1F5C7A0AAC5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7934" r="9524" b="12840"/>
          <a:stretch>
            <a:fillRect/>
          </a:stretch>
        </p:blipFill>
        <p:spPr>
          <a:xfrm>
            <a:off x="768877" y="1025750"/>
            <a:ext cx="10654243" cy="5418257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163E376E-4DB8-C947-3DD3-76811DB857F7}"/>
              </a:ext>
            </a:extLst>
          </p:cNvPr>
          <p:cNvGrpSpPr/>
          <p:nvPr/>
        </p:nvGrpSpPr>
        <p:grpSpPr>
          <a:xfrm>
            <a:off x="292494" y="2818504"/>
            <a:ext cx="1600250" cy="1983695"/>
            <a:chOff x="292494" y="2818504"/>
            <a:chExt cx="1600250" cy="1983695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60EDF8C-FFE6-353B-CF02-18AAB0784DAE}"/>
                </a:ext>
              </a:extLst>
            </p:cNvPr>
            <p:cNvSpPr/>
            <p:nvPr/>
          </p:nvSpPr>
          <p:spPr>
            <a:xfrm>
              <a:off x="1055077" y="3830249"/>
              <a:ext cx="837667" cy="97195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220BD6F9-F6EF-30DC-FC44-D9F0BA0E2D9F}"/>
                </a:ext>
              </a:extLst>
            </p:cNvPr>
            <p:cNvCxnSpPr>
              <a:cxnSpLocks/>
              <a:stCxn id="12" idx="2"/>
              <a:endCxn id="7" idx="0"/>
            </p:cNvCxnSpPr>
            <p:nvPr/>
          </p:nvCxnSpPr>
          <p:spPr>
            <a:xfrm>
              <a:off x="768878" y="3557168"/>
              <a:ext cx="705033" cy="273081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94E7258-1009-646B-D306-CC08E9F015B5}"/>
                </a:ext>
              </a:extLst>
            </p:cNvPr>
            <p:cNvSpPr txBox="1"/>
            <p:nvPr/>
          </p:nvSpPr>
          <p:spPr>
            <a:xfrm>
              <a:off x="292494" y="2818504"/>
              <a:ext cx="952767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What is the clock polarity?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4B21A70-C02D-018E-87A4-67A7D73DF0B4}"/>
              </a:ext>
            </a:extLst>
          </p:cNvPr>
          <p:cNvGrpSpPr/>
          <p:nvPr/>
        </p:nvGrpSpPr>
        <p:grpSpPr>
          <a:xfrm>
            <a:off x="6642720" y="1072273"/>
            <a:ext cx="952767" cy="4655159"/>
            <a:chOff x="997526" y="1147747"/>
            <a:chExt cx="952767" cy="4724449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82F4E5B8-342E-F61D-3B3F-640B162FA326}"/>
                </a:ext>
              </a:extLst>
            </p:cNvPr>
            <p:cNvSpPr/>
            <p:nvPr/>
          </p:nvSpPr>
          <p:spPr>
            <a:xfrm>
              <a:off x="1055077" y="1147747"/>
              <a:ext cx="837667" cy="3654452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BCEC1410-67EA-4154-0E34-461BBD8F6362}"/>
                </a:ext>
              </a:extLst>
            </p:cNvPr>
            <p:cNvCxnSpPr>
              <a:cxnSpLocks/>
              <a:stCxn id="20" idx="0"/>
              <a:endCxn id="18" idx="2"/>
            </p:cNvCxnSpPr>
            <p:nvPr/>
          </p:nvCxnSpPr>
          <p:spPr>
            <a:xfrm flipV="1">
              <a:off x="1473910" y="4802199"/>
              <a:ext cx="1" cy="32033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B8782B6-8A8D-265A-06EF-7282D0A73EB5}"/>
                </a:ext>
              </a:extLst>
            </p:cNvPr>
            <p:cNvSpPr txBox="1"/>
            <p:nvPr/>
          </p:nvSpPr>
          <p:spPr>
            <a:xfrm>
              <a:off x="997526" y="5122537"/>
              <a:ext cx="952767" cy="7496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What is the clock phase?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3132979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63">
          <a:extLst>
            <a:ext uri="{FF2B5EF4-FFF2-40B4-BE49-F238E27FC236}">
              <a16:creationId xmlns:a16="http://schemas.microsoft.com/office/drawing/2014/main" id="{FA145421-BB40-88A0-CFFD-DC4D9CAC5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37">
            <a:extLst>
              <a:ext uri="{FF2B5EF4-FFF2-40B4-BE49-F238E27FC236}">
                <a16:creationId xmlns:a16="http://schemas.microsoft.com/office/drawing/2014/main" id="{B5B2745B-F5C6-8FBF-1FAE-FE621EFA88F0}"/>
              </a:ext>
            </a:extLst>
          </p:cNvPr>
          <p:cNvSpPr/>
          <p:nvPr>
            <p:ph type="title"/>
          </p:nvPr>
        </p:nvSpPr>
        <p:spPr>
          <a:xfrm>
            <a:off x="2275515" y="2823928"/>
            <a:ext cx="7640969" cy="12101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i="0" lang="en-US" sz="6600" b="1" dirty="0">
                <a:solidFill>
                  <a:schemeClr val="lt1"/>
                </a:solidFill>
              </a:rPr>
              <a:t>Questions</a:t>
            </a:r>
            <a:r>
              <a:rPr i="0" lang="en-US" sz="5400" b="1" dirty="0">
                <a:solidFill>
                  <a:schemeClr val="lt1"/>
                </a:solidFill>
              </a:rPr>
              <a:t>?</a:t>
            </a:r>
          </a:p>
        </p:txBody>
      </p:sp>
      <p:pic>
        <p:nvPicPr>
          <p:cNvPr id="265" name="Google Shape;265;p37">
            <a:extLst>
              <a:ext uri="{FF2B5EF4-FFF2-40B4-BE49-F238E27FC236}">
                <a16:creationId xmlns:a16="http://schemas.microsoft.com/office/drawing/2014/main" id="{EDC8C897-5AB2-076F-5135-9B30ACCBD22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37">
            <a:extLst>
              <a:ext uri="{FF2B5EF4-FFF2-40B4-BE49-F238E27FC236}">
                <a16:creationId xmlns:a16="http://schemas.microsoft.com/office/drawing/2014/main" id="{CF8648FC-7240-4BBB-9E09-C030BD1A805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267" name="Google Shape;267;p37">
            <a:extLst>
              <a:ext uri="{FF2B5EF4-FFF2-40B4-BE49-F238E27FC236}">
                <a16:creationId xmlns:a16="http://schemas.microsoft.com/office/drawing/2014/main" id="{6A5B7064-0FC6-E501-D020-2C92B5A6057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268" name="Google Shape;268;p37">
            <a:extLst>
              <a:ext uri="{FF2B5EF4-FFF2-40B4-BE49-F238E27FC236}">
                <a16:creationId xmlns:a16="http://schemas.microsoft.com/office/drawing/2014/main" id="{69F24B96-E9CD-EB54-C22A-3DD90799A7A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269" name="Google Shape;269;p37">
              <a:extLst>
                <a:ext uri="{FF2B5EF4-FFF2-40B4-BE49-F238E27FC236}">
                  <a16:creationId xmlns:a16="http://schemas.microsoft.com/office/drawing/2014/main" id="{BDF89024-C4A2-8F3A-DA57-A772C136804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70" name="Google Shape;270;p37">
              <a:extLst>
                <a:ext uri="{FF2B5EF4-FFF2-40B4-BE49-F238E27FC236}">
                  <a16:creationId xmlns:a16="http://schemas.microsoft.com/office/drawing/2014/main" id="{B3758997-614E-F4D9-9F4D-D716DCC856B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1598978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Title 276"/>
          <p:cNvSpPr>
            <a:spLocks noGrp="1"/>
          </p:cNvSpPr>
          <p:nvPr>
            <p:ph type="title"/>
          </p:nvPr>
        </p:nvSpPr>
        <p:spPr>
          <a:xfrm>
            <a:off x="0" y="-914400"/>
            <a:ext cx="12192000" cy="685800"/>
          </a:xfrm>
        </p:spPr>
        <p:txBody>
          <a:bodyPr/>
          <a:lstStyle/>
          <a:p>
            <a:r>
              <a:rPr lang="en-US" dirty="0"/>
              <a:t>End of Lecture 12</a:t>
            </a:r>
          </a:p>
        </p:txBody>
      </p:sp>
      <p:pic>
        <p:nvPicPr>
          <p:cNvPr id="275" name="Google Shape;275;p3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59350" y="2791508"/>
            <a:ext cx="5414193" cy="12749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tkinson Hyperlegible Nex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tkinson Hyperlegible Nex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tkinson Hyperlegible Nex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tkinson Hyperlegible Nex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580</TotalTime>
  <Words>2487</Words>
  <Application>Microsoft Office PowerPoint</Application>
  <PresentationFormat>Widescreen</PresentationFormat>
  <Paragraphs>364</Paragraphs>
  <Slides>43</Slides>
  <Notes>43</Notes>
  <HiddenSlides>0</HiddenSlides>
  <MMClips>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8" baseType="lpstr">
      <vt:lpstr>Arial</vt:lpstr>
      <vt:lpstr>Calibri</vt:lpstr>
      <vt:lpstr>Cambria Math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Nielsen, Joshua</dc:creator>
  <cp:lastModifiedBy>Juston, Marius F</cp:lastModifiedBy>
  <cp:revision>253</cp:revision>
  <dcterms:created xsi:type="dcterms:W3CDTF">2019-01-14T22:06:33Z</dcterms:created>
  <dcterms:modified xsi:type="dcterms:W3CDTF">2026-03-08T08:04:59Z</dcterms:modified>
</cp:coreProperties>
</file>