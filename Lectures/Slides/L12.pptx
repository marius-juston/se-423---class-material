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417" r:id="rId3"/>
    <p:sldId id="413" r:id="rId4"/>
    <p:sldId id="414" r:id="rId5"/>
    <p:sldId id="416" r:id="rId6"/>
    <p:sldId id="418" r:id="rId7"/>
    <p:sldId id="419" r:id="rId8"/>
    <p:sldId id="420" r:id="rId9"/>
    <p:sldId id="422" r:id="rId10"/>
    <p:sldId id="423" r:id="rId11"/>
    <p:sldId id="421" r:id="rId12"/>
    <p:sldId id="424" r:id="rId13"/>
    <p:sldId id="432" r:id="rId14"/>
    <p:sldId id="425" r:id="rId15"/>
    <p:sldId id="426" r:id="rId16"/>
    <p:sldId id="427" r:id="rId17"/>
    <p:sldId id="428" r:id="rId18"/>
    <p:sldId id="431" r:id="rId19"/>
    <p:sldId id="429" r:id="rId20"/>
    <p:sldId id="451" r:id="rId21"/>
    <p:sldId id="430" r:id="rId22"/>
    <p:sldId id="435" r:id="rId23"/>
    <p:sldId id="433" r:id="rId24"/>
    <p:sldId id="434" r:id="rId25"/>
    <p:sldId id="436" r:id="rId26"/>
    <p:sldId id="452" r:id="rId27"/>
    <p:sldId id="437" r:id="rId28"/>
    <p:sldId id="438" r:id="rId29"/>
    <p:sldId id="439" r:id="rId30"/>
    <p:sldId id="440" r:id="rId31"/>
    <p:sldId id="441" r:id="rId32"/>
    <p:sldId id="442" r:id="rId33"/>
    <p:sldId id="443" r:id="rId34"/>
    <p:sldId id="444" r:id="rId35"/>
    <p:sldId id="446" r:id="rId36"/>
    <p:sldId id="445" r:id="rId37"/>
    <p:sldId id="447" r:id="rId38"/>
    <p:sldId id="448" r:id="rId39"/>
    <p:sldId id="450" r:id="rId40"/>
    <p:sldId id="387" r:id="rId41"/>
    <p:sldId id="449" r:id="rId42"/>
    <p:sldId id="271" r:id="rId43"/>
    <p:sldId id="270" r:id="rId4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6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295066F-FB1C-80A1-757F-8B89EF9D7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3333E14-AC8A-C269-3D97-1B09126B7D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8899983-963B-49D1-E36B-808914F1D4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075665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0F423E58-8AB1-742F-8A08-2FCAAA14C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76F1C2F3-6CF3-8DC9-21FF-EB1B90F401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BED7D72D-A17E-F7AD-88BE-28A930801A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314474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8E12A4-B693-9338-53ED-687BFF057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6B2B0279-CD66-34CD-1F7E-DC73D683C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D5534A18-0892-0B3C-2E1B-18466AA2C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7032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C5F8B3-5108-7798-0B1E-010C6EA9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A60CBB-FFDF-460D-773C-1091F1502B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5D4EBE6-BD76-424B-656F-907D87EB08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478423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172A4E4-B0BF-29C8-FC37-325C9EF2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3D2FB53-82E8-5035-69CF-28B3E9A63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FA4B1DA-47CE-99BB-8ED9-6B6529A014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230092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D09C7AD-4048-060C-616B-37C16CF5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B797B2C-C076-DBDC-7DB5-FEACDFD6F7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8FC8BF9-692B-68FA-33B3-619330E54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389776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30B08EE-5F39-EA7B-14AC-3ABC5065E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D8FE51D-3894-DDF8-0529-4CE30DD9E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A8D9BE-6539-4700-A9C1-3878B5E978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231469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E72DFF-B2D6-B66D-6896-850639DAE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FAF8C5E-D708-9D31-2167-FB31C824CD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392BDAF-D2E5-AE34-C763-080F1A8464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739252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784D6A8-AB87-7D4A-B688-864BDCF29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9E72BE5-028E-43B3-5E76-3F60E7D05F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B5D120-191A-74F7-7DED-C0490A632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19657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D7BF1E0-71A3-16BE-C547-F7D562CDE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5458EC9-26EA-D548-7DB9-86832078CA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573B3C-77B9-DF0D-DC21-894E4DD120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043443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A1FBDFF-E70F-98D4-DE4F-3DB7EB6A8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11F0E9D3-C562-0241-BB3A-4C90B84C1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E9355A5B-CA00-04DC-B817-69072F06C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02105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AC590F2-B258-715D-9080-AE5757C70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5E47F7A-09BF-E31B-8546-46F0A8AFF9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28784B-D536-F82D-FC12-89FA462B62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98192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902CF2-ABDB-6B29-E474-6BCD0862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C7CCFE-B633-CA72-2565-334175067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B5DCA7B-24DA-1865-8DB2-4EF5433148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118362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94A3C2-93BF-1109-2ED3-A5BDA184B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E15805B-AFE4-F856-8F57-9084A9671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423ED7F-2311-4EF3-C4A6-B7C88D6DDB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256892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5DB8C2-BAAD-DA4F-6921-3FE04044E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D015E-C790-7160-0345-1FC16BBCA0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25C5706-3EF1-51F9-D70F-3343F95588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704367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08230A9-0DFD-2D6B-BA94-B592887B2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6B4853A-6D96-6325-B9D6-2E041811F5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FF97B58-C5D6-6C16-7C10-F2579DFA95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7155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5A4D1C5-EF0B-B2E7-FBC4-4FB2C366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A77F504-9EF4-F120-14B7-667A7474F9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744F409-F089-0215-1A61-7ABDA59D8F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54025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F60BC67-708F-8F0B-016D-10D19EE31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42936F1-98A7-AF0A-2145-EC92FDB574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0F224B-7833-5BAC-49DA-7C5CDB54A6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36270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C15359C-AC0F-95F7-D0EA-7406F53B9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8C2C965-67E3-C5CF-BF34-FB0E6F09F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4ED9AE6-FF20-325E-C4D9-CC5F9B396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78130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98FAE4D-3A67-CB16-2E93-71103EF90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4BE89B0D-BB57-6243-E3F2-93E5FB8E94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BC8A51E0-6CFA-09E5-7C00-A03F637EDE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22847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9287F1D-B6F4-1C21-FA21-CF8085C9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ADBE9C8-7874-DE58-7900-48B8A6A459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43655ED-2C03-56C5-2439-9237CB62C1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974594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3F670ED-EF7A-815B-6A39-E7367749A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7B08C2-07EE-5681-956B-03CC44C1DE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D9B5980-3C57-4D4C-68B7-82BA2AA8CB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962179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CF8AEE-C094-2B27-4A5B-A1288BB8A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C5912FC-8B9E-FC1F-41C1-28748928FC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A2FE7E-A57F-361C-1674-C5DF0B0CDB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525572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73FB2E0-B497-6061-887F-7DC3B045F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9B06B91-332B-90F4-137C-69985AA88E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F7C9273E-2FFB-91DC-F7A5-21600420F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7390132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A39B54-308F-DF66-946E-F84CA6BBE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D80470-3DEA-B82B-D57F-7826F61BC5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5308E08-A823-53B5-4BA0-7588212824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74326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CDD2B17-2824-48FA-5CDF-5F093E5DE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6C8406-167A-3E97-367E-46B691DE69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5EA0B3-6AB5-3768-DC11-46CC83BC87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9014140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471A8F3-0F1F-08B1-234E-027DCE0A3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9E2FF20-01CE-6AEF-FEC6-1D03CF594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7B79E36-1776-AE76-0C56-2E49B8C13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3798104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6087BA-1051-3A8A-E6BA-94765D6F3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47CC7E0-07DA-CC40-BD34-957F627657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24B0D62-186C-2340-841D-025D6AB46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939357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AD6738-0AD3-4884-C503-98A39ACE4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620A71-F8C0-1932-0F7F-30484555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D735636-8756-2CE7-2E1E-B0EAA7C8D3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28417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177F7D0-F662-9DD2-7224-854B5E4B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3314445-B01F-D2C7-1C90-1BB3A300E8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4DFF48A-B13B-A32D-B2AD-AA927B52F5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2833757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A06394A-7D06-15F5-3453-6D1148062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6EA3C2-D5C0-FA1F-263E-7C49FD05DC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4477D19-7C0F-A4E8-676B-AAEC8D089E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543101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50410F3-6293-470E-4C3A-761A13A15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960BA9-7913-9CCA-40E2-CAF2C8AF7B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140872E-0F2B-307A-FAD0-E0FEE0416F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46840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1B474C-4DB8-19C2-D160-13C06FFCA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D8EB87-714E-E02D-FB06-7744C6B625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A8DF058-3A32-68EF-7A47-46DDCE57C0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4642523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813F271-4978-188A-2CA0-1CD7FB0AF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5A57194-4696-1D49-81C2-98379AD8F4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5CDA626-FD12-E4F2-AC99-128201811F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4104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6EE30C5-3C42-7C5E-1185-1B5A21B28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6A8F1F0-CFBA-334D-DA15-F9177B8091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80CD49D-7B2C-8009-82FB-FA8382EBEE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345051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1D2290F-1A36-AA33-7A71-751FF1FC1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76C916-C1BA-63B7-1120-8E512A80F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B9A6C8F-BD2C-0C89-2A44-4EC392DEDA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2788736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607BC8B-0C1E-EE84-6829-3C6DED334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DC2D3CB-8011-65E0-3143-933CED90E4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D7B16D-3D7C-FB11-ADC3-3D31200867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8009140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A6FFB7-531E-AFB6-E8D5-3B10D2A7B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0E33C-2C83-DE3D-4475-892E192263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4F623A1-023E-25C1-B7C7-94B3B6840E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57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3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hyperlink" Target="https://www.sciencedirect.com/science/article/pii/S0924424716300267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hyperlink" Target="https://physicstoday.aip.org/features/the-little-machines-that-are-making-it-big" TargetMode="External"/><Relationship Id="rId4" Type="http://schemas.openxmlformats.org/officeDocument/2006/relationships/image" Target="../media/image8.jpeg"/><Relationship Id="rId9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mdpi.com/2504-3900/1/4/337" TargetMode="Externa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KuekQ-m9xpw?feature=oembed" TargetMode="External"/><Relationship Id="rId5" Type="http://schemas.openxmlformats.org/officeDocument/2006/relationships/image" Target="../media/image12.jpe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ddit.com/r/3Dprinting/comments/103v6ef/1001_3d_printed_mems_gyroscope/" TargetMode="External"/><Relationship Id="rId4" Type="http://schemas.openxmlformats.org/officeDocument/2006/relationships/image" Target="../media/image15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eddit.com/r/3Dprinting/comments/103v6ef/1001_3d_printed_mems_gyroscope/" TargetMode="External"/><Relationship Id="rId5" Type="http://schemas.openxmlformats.org/officeDocument/2006/relationships/image" Target="../media/image15.gif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www.reddit.com/r/3Dprinting/comments/103v6ef/1001_3d_printed_mems_gyroscope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gif"/><Relationship Id="rId5" Type="http://schemas.openxmlformats.org/officeDocument/2006/relationships/hyperlink" Target="https://www.semanticscholar.org/paper/Modeling-and-simulation-of-the-MEMS-vibratory-Patel-McCluskey/8dec6605fc5b603df07d74f7b9eb6875b2c17c3a" TargetMode="Externa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quanscient.com/blog/enhancing-mems-gyroscope-design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gif"/><Relationship Id="rId5" Type="http://schemas.openxmlformats.org/officeDocument/2006/relationships/hyperlink" Target="https://forum.arduino.cc/t/getting-started-with-the-mpu6050-beginner-friendly-guide-with-visual-explanations/1364064" TargetMode="External"/><Relationship Id="rId4" Type="http://schemas.openxmlformats.org/officeDocument/2006/relationships/image" Target="../media/image17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rintables.com/model/413667-mems-model-six-axis-imu-device" TargetMode="External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searchgate.net/figure/llustration-of-a-ferromagnetic-MEMS-magnetometer-design_fig18_255663586" TargetMode="Externa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hyperlink" Target="https://www.mdpi.com/1424-8220/9/9/6951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12</a:t>
            </a:r>
            <a:r>
              <a:rPr lang="en-US" sz="2500">
                <a:solidFill>
                  <a:schemeClr val="lt1"/>
                </a:solidFill>
              </a:rPr>
              <a:t>: IMU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Monday, February 2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nd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Talk to the person next to you and answer these review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To receive data, you must also ____ data.</a:t>
            </a: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is FIFO? Why is it used?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is the maximum size for the buffer’s data in bits?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What does SPICHAR = 0xF mean?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do absolute / incremental encoders measure? When do they fail at measuring </a:t>
            </a:r>
            <a:r>
              <a:rPr lang="en-US" sz="2400">
                <a:latin typeface="Atkinson Hyperlegible Next"/>
                <a:ea typeface="Arial"/>
                <a:cs typeface="Arial"/>
                <a:sym typeface="Arial"/>
              </a:rPr>
              <a:t>travel distance?</a:t>
            </a: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Starting Lab 4 this week. This a 2-week lab!</a:t>
            </a:r>
            <a:endParaRPr lang="en-US" sz="1800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Ex 1, 2, 3 &amp; 4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March 10, 5PM (The end of office hours)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Ex 5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March 24, 5PM (The end of office hours)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Answers and code submissions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3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March 25, 9AM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448E8BE-1421-3003-DC40-4A73B3805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A288B50-BF90-793A-EAB2-BC440F4B4DEB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CF4B6496-0DE4-A9D0-729E-962D1CBA2A0D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840123DA-9D44-1ACD-A55D-78BB3F9D06C6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1" name="Google Shape;91;p27">
              <a:extLst>
                <a:ext uri="{FF2B5EF4-FFF2-40B4-BE49-F238E27FC236}">
                  <a16:creationId xmlns:a16="http://schemas.microsoft.com/office/drawing/2014/main" id="{86ACF669-55BA-EB1A-7E38-21DD778BACED}"/>
                </a:ext>
              </a:extLst>
            </p:cNvPr>
            <p:cNvGrpSpPr/>
            <p:nvPr/>
          </p:nvGrpSpPr>
          <p:grpSpPr>
            <a:xfrm>
              <a:off x="3943790" y="2676939"/>
              <a:ext cx="3861740" cy="322845"/>
              <a:chOff x="3943790" y="2676939"/>
              <a:chExt cx="3861740" cy="322845"/>
            </a:xfrm>
          </p:grpSpPr>
          <p:cxnSp>
            <p:nvCxnSpPr>
              <p:cNvPr id="92" name="Google Shape;92;p27">
                <a:extLst>
                  <a:ext uri="{FF2B5EF4-FFF2-40B4-BE49-F238E27FC236}">
                    <a16:creationId xmlns:a16="http://schemas.microsoft.com/office/drawing/2014/main" id="{15DFBE2C-AFB1-035D-E847-94D2D88C7217}"/>
                  </a:ext>
                </a:extLst>
              </p:cNvPr>
              <p:cNvCxnSpPr/>
              <p:nvPr/>
            </p:nvCxnSpPr>
            <p:spPr>
              <a:xfrm>
                <a:off x="4426226" y="2676939"/>
                <a:ext cx="3379304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27">
                <a:extLst>
                  <a:ext uri="{FF2B5EF4-FFF2-40B4-BE49-F238E27FC236}">
                    <a16:creationId xmlns:a16="http://schemas.microsoft.com/office/drawing/2014/main" id="{2313F2C7-EE76-5CFC-A7EB-505010E43907}"/>
                  </a:ext>
                </a:extLst>
              </p:cNvPr>
              <p:cNvCxnSpPr/>
              <p:nvPr/>
            </p:nvCxnSpPr>
            <p:spPr>
              <a:xfrm rot="10800000" flipH="1">
                <a:off x="3943790" y="2676939"/>
                <a:ext cx="482436" cy="322845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838E56FD-9334-4D84-59F5-4D7D1C5E6C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07429593-3799-B6B3-8644-8A1FE632907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2CB24684-AABE-CF5E-3C60-25D47F0D651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692B3D65-762C-D884-3FAF-9F50AAD9C2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EC2A09D-C821-29AD-705F-48CDF3C3A0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4478689-4693-CBAF-DD7D-0122166052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9206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87F64F0A-7D43-49C1-3910-CD0D9EDC7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7FC753A9-03ED-8601-09EA-32C164B9BB75}"/>
              </a:ext>
            </a:extLst>
          </p:cNvPr>
          <p:cNvSpPr txBox="1"/>
          <p:nvPr/>
        </p:nvSpPr>
        <p:spPr>
          <a:xfrm>
            <a:off x="990601" y="1943698"/>
            <a:ext cx="10210799" cy="2970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4800" b="1" dirty="0">
                <a:solidFill>
                  <a:schemeClr val="lt1"/>
                </a:solidFill>
              </a:rPr>
              <a:t>Thank you to everyone that responded to my feedback form!</a:t>
            </a:r>
          </a:p>
          <a:p>
            <a:pPr lvl="0" algn="ctr"/>
            <a:r>
              <a:rPr lang="en-US" sz="4800" b="1" dirty="0">
                <a:solidFill>
                  <a:schemeClr val="lt1"/>
                </a:solidFill>
              </a:rPr>
              <a:t>There was a lot of great feedback that I will try to incorporate!</a:t>
            </a:r>
            <a:endParaRPr lang="en-US" sz="4000" b="1" dirty="0">
              <a:solidFill>
                <a:schemeClr val="lt1"/>
              </a:solidFill>
            </a:endParaRP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4F8AA0FB-9834-A354-B11D-A96E11BB5C9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00450529-8015-E545-3E6A-E5BF886A192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57DD4F82-C0A6-F9E0-3E19-AAF1AFD216A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0B1BBCC4-F073-A8F3-80B5-D8B3085BC7C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7C572CD7-118C-2923-F9C4-E167E9DF687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6974B672-2806-2FCB-EC23-9CD1CE640A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2072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23ABB86-DC26-E2E7-289C-6B7F5AE1F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B84470C3-9559-ABA2-4789-174B4DCA8887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Accelerometer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EE837E3-1C56-7551-D387-050E637B2FD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FD00368B-C65A-6DCF-2975-35E2DFEBAC9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2506EB16-E94A-E949-0385-5B4461292028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DFFE0CB8-4FCD-6178-0DBD-6E1057AB908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E10A0B64-AAF9-63FF-8636-4010A9C123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47B3ADB9-4EB5-6BD0-9B49-04137C3193F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A3CAA285-CAAD-D4CB-0062-0B2C9CDFC22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1B8001D8-A9DE-85E5-3051-81B9D57652B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6C18ADED-2004-87F0-ABCD-320C49B506E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9868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5FCD8DA-1D95-2F3A-C28A-F8A123EDC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6174105-033F-4573-5F7B-AFA71B5170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cannot and should not rely on a single sensor source (sensor fusion will be covered later), and sometimes we cannot attach encoders.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So, what can we do?</a:t>
            </a: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goal is to measure direction and rotation. What is the most basic component that we can measure?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Forces!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How do calculate velocity and position from forces?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4027A-0581-1617-68E9-B3EC09EB40B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F0AD76B-7692-8039-C8A5-DBC7442755B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Accelerometer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01107B-7ACF-DF8E-675E-CC6E87C217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CA2D60F-5115-D35B-D514-4248D3DBD47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A3BDEAA-3CC7-A31D-BDCF-3251D5EFAB9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984A9B3-97F7-02EC-59E4-CAC6334343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E65854D-473D-077F-578A-5EB7E9D902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007742A-E8BA-3528-F0F8-A8F2968D32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4570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6100568-B510-5830-8294-3F782AC4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0EB62CF8-AF82-A6B6-7E70-E6B386116CCD}"/>
              </a:ext>
            </a:extLst>
          </p:cNvPr>
          <p:cNvGrpSpPr/>
          <p:nvPr/>
        </p:nvGrpSpPr>
        <p:grpSpPr>
          <a:xfrm>
            <a:off x="7365711" y="2491388"/>
            <a:ext cx="4581525" cy="3002022"/>
            <a:chOff x="7365711" y="2491388"/>
            <a:chExt cx="4581525" cy="3002022"/>
          </a:xfrm>
        </p:grpSpPr>
        <p:pic>
          <p:nvPicPr>
            <p:cNvPr id="1026" name="Picture 2" descr="Figure 3. Acceleration associated with a single moving mass.">
              <a:extLst>
                <a:ext uri="{FF2B5EF4-FFF2-40B4-BE49-F238E27FC236}">
                  <a16:creationId xmlns:a16="http://schemas.microsoft.com/office/drawing/2014/main" id="{C0099A63-1F74-2E2F-FA77-FE4FC1DFDF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65711" y="2491388"/>
              <a:ext cx="4581525" cy="24098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C010A3C-74AC-F186-CF43-C6B661E689C6}"/>
                </a:ext>
              </a:extLst>
            </p:cNvPr>
            <p:cNvSpPr txBox="1"/>
            <p:nvPr/>
          </p:nvSpPr>
          <p:spPr>
            <a:xfrm>
              <a:off x="7729248" y="4939412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4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F31382D-6C05-C0CC-6C4B-BFFAF87B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6988902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tkinson Hyperlegible Next"/>
                <a:ea typeface="Arial"/>
                <a:cs typeface="Arial"/>
                <a:sym typeface="Arial"/>
              </a:rPr>
              <a:t>A MEMS (Micro-Electro-Mechanical Systems) accelerometer measure linear acceleration.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tkinson Hyperlegible Next"/>
                <a:ea typeface="Arial"/>
                <a:cs typeface="Arial"/>
                <a:sym typeface="Arial"/>
              </a:rPr>
              <a:t>Accelerometers work like a weight suspended by springs. When the mass is moved you measure the displacement, the springs bring it back to the center.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tkinson Hyperlegible Next"/>
                <a:ea typeface="Arial"/>
                <a:cs typeface="Arial"/>
                <a:sym typeface="Arial"/>
              </a:rPr>
              <a:t>In chips, we use the change of capacitors. The capacitance is based on the distance between the 2 materials. So, the smaller the distance, the larger the returned capacitance.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tkinson Hyperlegible Next"/>
                <a:ea typeface="Arial"/>
                <a:cs typeface="Arial"/>
                <a:sym typeface="Arial"/>
              </a:rPr>
              <a:t>You then measure this capacitance. </a:t>
            </a:r>
            <a:endParaRPr sz="22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0AFAA63-8F58-EF60-91BF-81873E85B18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FEAA0D-6F41-FE5E-0AFD-D7659414124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D9AFF74-DC4C-BE05-F952-7307244FB81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1A02F0-D190-5682-8E0E-122161AE54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D9D490-396B-C0AF-4C11-B1BC85459A8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648E8C0-F8FE-9124-A218-9620B290196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4BA59E-FF7A-3082-AC7A-DA2463EA353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1D054AF-6DE3-633B-FB0B-119A8631465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68C2B57-7B23-E0F2-BA75-D6D44A1690BE}"/>
              </a:ext>
            </a:extLst>
          </p:cNvPr>
          <p:cNvCxnSpPr>
            <a:cxnSpLocks/>
          </p:cNvCxnSpPr>
          <p:nvPr/>
        </p:nvCxnSpPr>
        <p:spPr>
          <a:xfrm flipV="1">
            <a:off x="6673850" y="4298950"/>
            <a:ext cx="2762250" cy="60226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94294FA-1DBC-B314-2164-0B7EB39D33F5}"/>
              </a:ext>
            </a:extLst>
          </p:cNvPr>
          <p:cNvCxnSpPr>
            <a:cxnSpLocks/>
          </p:cNvCxnSpPr>
          <p:nvPr/>
        </p:nvCxnSpPr>
        <p:spPr>
          <a:xfrm flipV="1">
            <a:off x="6673850" y="4451352"/>
            <a:ext cx="2736850" cy="44986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3064546-C747-54C9-ED36-48A65C668E71}"/>
              </a:ext>
            </a:extLst>
          </p:cNvPr>
          <p:cNvCxnSpPr>
            <a:cxnSpLocks/>
          </p:cNvCxnSpPr>
          <p:nvPr/>
        </p:nvCxnSpPr>
        <p:spPr>
          <a:xfrm flipV="1">
            <a:off x="6673850" y="4670421"/>
            <a:ext cx="2711450" cy="23079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221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C66A12E-7CB7-D83B-8BFE-9DCE7F520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Force causes a displacement of the mass which, in turn, causes a capacitance change.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Placing multiple electrodes in parallel allows for a larger capacitance, which will be more easily detected.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By calculating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we can derive the displacement of the mass and its direction. 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 r="-102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A910397-B140-127F-D4BE-BFD2C343AA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4402D7D-2C94-3317-CF8C-932668F0A78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768C6-626D-B1BB-CEE8-862C33C50C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D4FA256-DE82-A0DA-7B4E-7B1BB1AD73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C6725D9-FF50-6AA8-9B7D-6F080B285D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233E115-E643-56C7-1052-771585BCB4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A6796F6-D091-E264-1B99-901E81EDE1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45E6768-3C7B-01F9-0BBA-66217F10023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42592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CC5DA62-BC0B-6A89-9C62-C152349E3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Since we can measure the displacement and the system acts as a string we can do the following. We start with: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force from a spring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Given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are known (design choices),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x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is measured from the capacitors, we get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m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7125F3A-A90B-6BDF-A76F-68EF076211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29595E0-8716-0A59-7715-D6C272A3AB1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E3135A-01AA-59C8-2AA0-AEE0BBF7581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EA9229-4314-D7A6-21C9-5F59DA45B74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CF4711-6BE1-2C22-D259-86106480E88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6CD93B2-FF10-6DFD-FBD5-CDEBF0F74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FEF29C2-8CD2-5B84-7F9E-F1430CF19A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18A38FE-DA45-33E1-F96B-DE644D0A290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797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30DF339-BECE-0B30-309A-75D4AB1FC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9D43B-297E-BBE7-7D87-43BAA0F00D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452008" cy="1346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You keep stacking these to remove the noise to get more accurate readings. In turn we get the following internal system. It is incredible how small these are!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How many axis can the following accelerometers measure?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7250A0-BE36-81F5-5B93-811CA984EF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E3A581-7EAB-B40A-905D-1080267128E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C14CEF3-618A-F447-8470-8B80B0BD1D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0930E9C-8BA5-4685-F5E0-29AAF5B58EA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CC39B7-0450-84A4-05A9-0CAFE70A357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86D7A5-7566-46F5-5CAB-6F2CB7E413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94CB4F4-29EF-B07E-16E9-1F527D6B31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30A6E9-097D-6AF2-2495-E9B2296A61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82228A-7F9B-1E1B-97B9-A5FC4F7E62E1}"/>
              </a:ext>
            </a:extLst>
          </p:cNvPr>
          <p:cNvGrpSpPr/>
          <p:nvPr/>
        </p:nvGrpSpPr>
        <p:grpSpPr>
          <a:xfrm>
            <a:off x="8146727" y="3032124"/>
            <a:ext cx="3752011" cy="3439238"/>
            <a:chOff x="8146727" y="3032124"/>
            <a:chExt cx="3752011" cy="3439238"/>
          </a:xfrm>
        </p:grpSpPr>
        <p:pic>
          <p:nvPicPr>
            <p:cNvPr id="2056" name="Picture 8" descr="The Little Machines That are Making it Big - Physics Today">
              <a:extLst>
                <a:ext uri="{FF2B5EF4-FFF2-40B4-BE49-F238E27FC236}">
                  <a16:creationId xmlns:a16="http://schemas.microsoft.com/office/drawing/2014/main" id="{6041F7B9-5E30-C48D-9CF0-8BD0E9279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46727" y="3032124"/>
              <a:ext cx="3752011" cy="27241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CF44E14-B388-0148-7E1C-157A9C3FDB8F}"/>
                </a:ext>
              </a:extLst>
            </p:cNvPr>
            <p:cNvSpPr txBox="1"/>
            <p:nvPr/>
          </p:nvSpPr>
          <p:spPr>
            <a:xfrm>
              <a:off x="8601877" y="6071252"/>
              <a:ext cx="284171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https://physicstoday.aip.org/features/the-little-machines-that-are-making-it-big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A3E9B34-809C-B884-B26F-72D58D1064FC}"/>
              </a:ext>
            </a:extLst>
          </p:cNvPr>
          <p:cNvGrpSpPr/>
          <p:nvPr/>
        </p:nvGrpSpPr>
        <p:grpSpPr>
          <a:xfrm>
            <a:off x="4411535" y="2796903"/>
            <a:ext cx="3696131" cy="3674459"/>
            <a:chOff x="4411535" y="2796903"/>
            <a:chExt cx="3696131" cy="3674459"/>
          </a:xfrm>
        </p:grpSpPr>
        <p:pic>
          <p:nvPicPr>
            <p:cNvPr id="2052" name="Picture 4" descr="Analytical study and compensation for temperature drifts of a bulk silicon  MEMS capacitive accelerometer - ScienceDirect">
              <a:extLst>
                <a:ext uri="{FF2B5EF4-FFF2-40B4-BE49-F238E27FC236}">
                  <a16:creationId xmlns:a16="http://schemas.microsoft.com/office/drawing/2014/main" id="{E430249B-F567-6199-F617-19C666074D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1535" y="2796903"/>
              <a:ext cx="3696131" cy="31945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EE84E31-02FE-EF96-34F5-1329D2124C83}"/>
                </a:ext>
              </a:extLst>
            </p:cNvPr>
            <p:cNvSpPr txBox="1"/>
            <p:nvPr/>
          </p:nvSpPr>
          <p:spPr>
            <a:xfrm>
              <a:off x="4915497" y="6071252"/>
              <a:ext cx="300213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7"/>
                </a:rPr>
                <a:t>https://www.sciencedirect.com/science/article/pii/S0924424716300267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373C202-2046-B73F-21F8-A630E2BDCEC5}"/>
              </a:ext>
            </a:extLst>
          </p:cNvPr>
          <p:cNvGrpSpPr/>
          <p:nvPr/>
        </p:nvGrpSpPr>
        <p:grpSpPr>
          <a:xfrm>
            <a:off x="306888" y="2840884"/>
            <a:ext cx="4065587" cy="3707422"/>
            <a:chOff x="306888" y="2840884"/>
            <a:chExt cx="4065587" cy="3707422"/>
          </a:xfrm>
        </p:grpSpPr>
        <p:pic>
          <p:nvPicPr>
            <p:cNvPr id="2050" name="Picture 2" descr="Figure 6. A mechanical model of an actual accelerometer.">
              <a:extLst>
                <a:ext uri="{FF2B5EF4-FFF2-40B4-BE49-F238E27FC236}">
                  <a16:creationId xmlns:a16="http://schemas.microsoft.com/office/drawing/2014/main" id="{A3E81219-B5A3-D25A-A450-7ED9CF3F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6888" y="2840884"/>
              <a:ext cx="4065587" cy="3106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DA254D9-91DE-03A6-26E7-935706FB2FE6}"/>
                </a:ext>
              </a:extLst>
            </p:cNvPr>
            <p:cNvSpPr txBox="1"/>
            <p:nvPr/>
          </p:nvSpPr>
          <p:spPr>
            <a:xfrm>
              <a:off x="376807" y="5994308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9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7202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96A34-9AA0-A0B8-6CA1-301617428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A52E2B5-951A-5CF0-7480-482267EC05D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0F12A5C-A8B4-D40F-39DC-CA6A2CABCEC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F2E7A90-0B8C-8F9C-A335-68C3E20739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6F1F78E-0944-9C3F-046B-62AB0238630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0846ABD-A4AC-E03D-BE93-3EAE52A5F90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4584477-D86A-F2AE-631C-DF158392A0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17F37E4-9F67-F338-BCB1-1BE86A0C4B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75BDECC-95DB-1BB6-7B03-48B6F84FDCF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4" name="Picture 2" descr="A Monolithic Three-Axis Accelerometer with Wafer-Level Package by CMOS MEMS  Process">
            <a:extLst>
              <a:ext uri="{FF2B5EF4-FFF2-40B4-BE49-F238E27FC236}">
                <a16:creationId xmlns:a16="http://schemas.microsoft.com/office/drawing/2014/main" id="{D3FF78EE-AC3F-93DB-9FC6-122F1A402E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998"/>
          <a:stretch>
            <a:fillRect/>
          </a:stretch>
        </p:blipFill>
        <p:spPr bwMode="auto">
          <a:xfrm>
            <a:off x="411565" y="3219449"/>
            <a:ext cx="11145944" cy="2970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18;p29">
            <a:extLst>
              <a:ext uri="{FF2B5EF4-FFF2-40B4-BE49-F238E27FC236}">
                <a16:creationId xmlns:a16="http://schemas.microsoft.com/office/drawing/2014/main" id="{1137E0F5-E386-0F93-BB0A-90D072D48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8"/>
            <a:ext cx="11452008" cy="1885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Think of the z-axis as a trampoline!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What happens if you have too large of an acceleration (think of the combs)?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An accelerometer that is sitting still on a desk reads _g pointing upwards.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What if it gets dropped out of the window in a perfect vacuum?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ECC25A-72F6-A0EA-4E81-A046BFBA518B}"/>
              </a:ext>
            </a:extLst>
          </p:cNvPr>
          <p:cNvSpPr txBox="1"/>
          <p:nvPr/>
        </p:nvSpPr>
        <p:spPr>
          <a:xfrm>
            <a:off x="4552572" y="6212662"/>
            <a:ext cx="25585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https://www.mdpi.com/2504-3900/1/4/337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29643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CBC5D3-F67B-9CF2-05C2-58271396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9B4CF29-6F21-C08C-5BB5-6F3E1318906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EE0E0A-4994-CC87-C735-D3F277F7090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C193F53-2960-4D90-E134-844FCF5D710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93BFC07-4E4F-D437-CF32-3A63376B52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CA7C746-F545-1E4D-8C45-6F4C2EDCF1C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D2CE139-719B-E858-D5C3-9C370F1C0D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1ECCDA-D474-53F1-0FE7-638638D4E72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0D02644-CA90-F199-72C4-819D813157E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Online Media 4" title="How does an Accelerometer work? | 3D Animation">
            <a:hlinkClick r:id="" action="ppaction://media"/>
            <a:extLst>
              <a:ext uri="{FF2B5EF4-FFF2-40B4-BE49-F238E27FC236}">
                <a16:creationId xmlns:a16="http://schemas.microsoft.com/office/drawing/2014/main" id="{324C272E-4056-2D46-0466-467E8004EC02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295206" y="1012151"/>
            <a:ext cx="9601588" cy="542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530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36353EB-5A4F-063F-BDD7-6098729A5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C5CBE4E-D534-4D34-0A8F-88D3B6C6EBBE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Gyroscope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C54758AB-EE7D-BACB-9D70-7F7DD0C3CD0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EC2B9E75-F9C3-AD76-23C2-E2D218D97C3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C05092BD-A2D7-D47D-63B3-E336A44749FE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6C832EFA-1EAF-FD86-2A03-1C74118FEF6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D7739D50-10A2-9445-21B8-BFFE8B6BA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09A3CF1E-AF07-DDAC-471B-035485D94A4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55EA4AF-BF4E-346E-AC4D-B70EA0648B3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1E8BBB6-CD27-AF6C-45AE-93CFC6F23F7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183F7F7B-26B2-2673-7BDF-775F804482A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7424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E3B972-42E6-1E5F-7763-1B03D4559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accelerometer measures linear acceleration, which allows us to measure acceleration, velocity and displacement.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How many degrees of freedom are there in 3D?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x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x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How many does the accelerometer handle?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3: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z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We are missing the angular DOF!</a:t>
                </a:r>
                <a:endParaRPr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7696F78-D3C9-73F7-E2BD-C3A0E6E1999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5B59E9A-07FD-0ED7-CA71-FF3D6BCC0FD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297DAF3-EA9D-3335-B9BE-3616C1DBC3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5FA45B-E33D-55A9-324A-031BFDF657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5E5301B-4D7A-F724-2C97-1BEAD3B687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0741A05-268C-9BF4-40FA-7A36EB1834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F8C33A-4646-562B-33B3-961EC46FEA4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A6F078D-3429-1831-734E-3C17BE6D15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9AE8F741-9312-721E-B0DC-B9D63AB5C9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0861" y="2039542"/>
            <a:ext cx="3943349" cy="4132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035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6E0C988-A352-BD5D-5AAB-44918F7E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F3E9F1A-1485-B8EE-CDFB-62DAA1CF9E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MEMS Gyroscope does not use a spinning wheel like classical mechanical gyroscopes. Similarly, you have a tiny mass that is moving when rotating. If the device start rotating, the moving mass experiences a sideways force.</a:t>
            </a:r>
            <a:endParaRPr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F68B513-141A-064E-504D-9703219D32A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3A1258D-81B1-4EE5-A944-C9B7D542E8B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1AD05D-0426-73B2-235A-964A9384AC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3AB5FE1-2E19-E748-9055-362275BAC6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BBAE05-8685-B3C3-84CB-7A90F06C29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5F74BB-22AB-E7DD-B83A-D0ADA85357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C70D25B-49D7-7FDC-2927-2C07B298745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3ABD2CD-F94E-76EC-C20E-6AC0949FE8F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DEDBDDF-BB3D-DBAF-394F-F799EFA94E2D}"/>
              </a:ext>
            </a:extLst>
          </p:cNvPr>
          <p:cNvGrpSpPr/>
          <p:nvPr/>
        </p:nvGrpSpPr>
        <p:grpSpPr>
          <a:xfrm>
            <a:off x="3238500" y="2767312"/>
            <a:ext cx="5715000" cy="3554523"/>
            <a:chOff x="3238500" y="3051156"/>
            <a:chExt cx="5715000" cy="3554523"/>
          </a:xfrm>
        </p:grpSpPr>
        <p:pic>
          <p:nvPicPr>
            <p:cNvPr id="4098" name="Picture 2" descr="100:1 3D printed MEMS Gyroscope : r/3Dprinting">
              <a:extLst>
                <a:ext uri="{FF2B5EF4-FFF2-40B4-BE49-F238E27FC236}">
                  <a16:creationId xmlns:a16="http://schemas.microsoft.com/office/drawing/2014/main" id="{CB05BAB7-0766-30F5-0865-E7B4123DF4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0" y="3051156"/>
              <a:ext cx="5715000" cy="3219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D5D5AC-8977-3C31-3A35-64A5BFD4A2BB}"/>
                </a:ext>
              </a:extLst>
            </p:cNvPr>
            <p:cNvSpPr txBox="1"/>
            <p:nvPr/>
          </p:nvSpPr>
          <p:spPr>
            <a:xfrm>
              <a:off x="3238500" y="6351763"/>
              <a:ext cx="5646943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4046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380ABB9-8576-B423-6408-62B02ABB5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13049CB-49ED-CFF8-CCF8-255F5E41FC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Very similar to accelerometers,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 mass sits between capacitors plates.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When the it moves sideways, capacitance changes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This returns a displacement from which we can compute angular velocity.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FE000B5-1DF8-0471-C0F4-CD0F9224A7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CF42AB5-AAC9-1C71-DA7B-7C4A4EF832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53BD088-B282-E8E5-989D-BC238501CB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74BA00-7DD6-CE62-D9D3-F25228703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76F0DFB-B30E-2EF7-E980-22C4C3E1DBE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3AD608-5A66-223E-A269-C2692B3931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B53D79B-600A-3194-D27D-76049344E4A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D35C187-CC3B-754E-9D04-D1BF691C85F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4767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CDD757D-BE1E-BC17-C5AF-EEAFBBA48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device shown has 2 axis, the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Drive Axis 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(x) and the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Sense Axis 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(y).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inner mass is electrically forced to vibrate continuously back and force along the x-axis at a resonant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r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 The instantaneous velocity is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𝜈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When an angular velocity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, along the z-axis, is applied, the Coriolis force acting along the y-axis is generated.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C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blipFill>
                <a:blip r:embed="rId3"/>
                <a:stretch>
                  <a:fillRect l="-1402" t="-885" b="-25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51B99CF-4CE2-1FB8-3647-0840469054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3CF6032-F6A3-D172-98AC-85BB645B45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0CCCC0-AD8E-121E-8D18-B92CD1CDF38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CA26F7F-E347-4B12-7794-198DA649BF9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43CDB9E-1B80-949B-35A0-0BD5F140AE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5FD9405-159F-802F-328E-553AD5CF9B1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5A2DB67-F6D8-4AA7-AC76-BBA8B9E7EA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7F015CB-C47B-434C-3437-D5DB26F30D5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E8AEA93-9899-118C-BA18-52BE4298728F}"/>
              </a:ext>
            </a:extLst>
          </p:cNvPr>
          <p:cNvGrpSpPr/>
          <p:nvPr/>
        </p:nvGrpSpPr>
        <p:grpSpPr>
          <a:xfrm>
            <a:off x="7463756" y="2281242"/>
            <a:ext cx="4418382" cy="2993413"/>
            <a:chOff x="4535118" y="3781584"/>
            <a:chExt cx="4418382" cy="2993413"/>
          </a:xfrm>
        </p:grpSpPr>
        <p:pic>
          <p:nvPicPr>
            <p:cNvPr id="3" name="Picture 2" descr="100:1 3D printed MEMS Gyroscope : r/3Dprinting">
              <a:extLst>
                <a:ext uri="{FF2B5EF4-FFF2-40B4-BE49-F238E27FC236}">
                  <a16:creationId xmlns:a16="http://schemas.microsoft.com/office/drawing/2014/main" id="{40184BF8-5A89-92BE-2236-599732502E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35118" y="3781584"/>
              <a:ext cx="4418382" cy="24890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D54706D-8E0C-D57D-1AF5-0C11B8B8565F}"/>
                </a:ext>
              </a:extLst>
            </p:cNvPr>
            <p:cNvSpPr txBox="1"/>
            <p:nvPr/>
          </p:nvSpPr>
          <p:spPr>
            <a:xfrm>
              <a:off x="4535118" y="6374887"/>
              <a:ext cx="43503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6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9250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366D2-8443-24FB-B4FA-FC142B113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Coriolis force pushes the mass along the y-axis.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Thus, to solve for angular velocity we again derive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 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m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v</m:t>
                          </m:r>
                        </m:den>
                      </m:f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know the mass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spring stiffness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drive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v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so we just compute the displacement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to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Very similar to the accelerometer!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b="-26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EFE829C-149E-6144-8519-D4B8FFCB272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74F11F-4608-CF42-BA3F-84F51CF3C7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0966E0-11DA-41DC-5096-2F1041D28CD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35D941D-58C0-1DE8-FC54-94931F4F641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1FBF1E-3258-BBD8-56B4-730B6608A09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806BA1-0E6C-2FD8-C2E1-126A016251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C083D0-0F26-6A00-7D50-93DA798F0D8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1D6ECD-56BC-8C3D-3281-2C11BC8BFE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5311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8D8052-A223-7041-4751-E4596AD6B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9013877-932D-3675-2F81-D0A166BCC8C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A20A66-72FC-DD0B-308D-95FF69C4851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386B217-1600-876C-6357-18FE44C3690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36D7C9C-9BCC-AD50-F293-481610F5EA0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010FBB9-1A3B-D764-E184-17FE67DBD74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F81F5DB-7942-A2B7-72DA-E9AD23AF189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90319E6-4A7B-A9AA-6FD0-5074198A058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E094615-FEC9-9A37-29B7-7F10351458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A2725359-120A-D50A-ED90-1425B7D9D3DD}"/>
              </a:ext>
            </a:extLst>
          </p:cNvPr>
          <p:cNvGrpSpPr/>
          <p:nvPr/>
        </p:nvGrpSpPr>
        <p:grpSpPr>
          <a:xfrm>
            <a:off x="488949" y="977100"/>
            <a:ext cx="5168900" cy="5404839"/>
            <a:chOff x="488949" y="977100"/>
            <a:chExt cx="5168900" cy="5404839"/>
          </a:xfrm>
        </p:grpSpPr>
        <p:pic>
          <p:nvPicPr>
            <p:cNvPr id="1026" name="Picture 2" descr="Schematic Illustration of MEMS Vibratory Gyroscope | Download Scientific  Diagram">
              <a:extLst>
                <a:ext uri="{FF2B5EF4-FFF2-40B4-BE49-F238E27FC236}">
                  <a16:creationId xmlns:a16="http://schemas.microsoft.com/office/drawing/2014/main" id="{F18ED1C7-D745-C13F-7369-BC61283C12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82687" y="977100"/>
              <a:ext cx="3781425" cy="48958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01D21B6-2EAF-B619-2D8F-3C61A656070B}"/>
                </a:ext>
              </a:extLst>
            </p:cNvPr>
            <p:cNvSpPr txBox="1"/>
            <p:nvPr/>
          </p:nvSpPr>
          <p:spPr>
            <a:xfrm>
              <a:off x="488949" y="5981829"/>
              <a:ext cx="51689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https://www.semanticscholar.org/paper/Modeling-and-simulation-of-the-MEMS-vibratory-Patel-McCluskey/8dec6605fc5b603df07d74f7b9eb6875b2c17c3a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55EBABE-18A4-158A-A0F7-BB3F9A477938}"/>
              </a:ext>
            </a:extLst>
          </p:cNvPr>
          <p:cNvGrpSpPr/>
          <p:nvPr/>
        </p:nvGrpSpPr>
        <p:grpSpPr>
          <a:xfrm>
            <a:off x="5831823" y="1858477"/>
            <a:ext cx="5561709" cy="4523462"/>
            <a:chOff x="4535117" y="2220798"/>
            <a:chExt cx="5561709" cy="4523462"/>
          </a:xfrm>
        </p:grpSpPr>
        <p:pic>
          <p:nvPicPr>
            <p:cNvPr id="8" name="Picture 7" descr="100:1 3D printed MEMS Gyroscope : r/3Dprinting">
              <a:extLst>
                <a:ext uri="{FF2B5EF4-FFF2-40B4-BE49-F238E27FC236}">
                  <a16:creationId xmlns:a16="http://schemas.microsoft.com/office/drawing/2014/main" id="{957B35E0-A86B-C109-1016-CB738AD590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35117" y="2220798"/>
              <a:ext cx="5561709" cy="3133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DAAB4A4-3797-8439-1CC5-BBAACC6E7D12}"/>
                </a:ext>
              </a:extLst>
            </p:cNvPr>
            <p:cNvSpPr txBox="1"/>
            <p:nvPr/>
          </p:nvSpPr>
          <p:spPr>
            <a:xfrm>
              <a:off x="4896276" y="6344150"/>
              <a:ext cx="43503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7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3274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8B5F7DA-0C7E-3679-3288-BC91EC468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BC690D-4FD0-1E51-AEF5-4DF13670359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7A8606-0BA0-3E59-1F89-528734054E9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0072169-0DB3-9F4A-7495-4F6BAB90588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40508D-6345-A8F8-563E-2E77313FB4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975FCF0-AA47-CD50-8615-5745145C54B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512E730-0C4F-849F-2AF2-7EFD576D8ED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0798EA2-D88E-2467-4E1D-77781EDD03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572AED-5E1A-9656-4D94-5D43506E73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122" name="Picture 2" descr="Getting Started with the MPU6050: Beginner-Friendly Guide with Visual  Explanations - Sensors - Arduino Forum">
            <a:extLst>
              <a:ext uri="{FF2B5EF4-FFF2-40B4-BE49-F238E27FC236}">
                <a16:creationId xmlns:a16="http://schemas.microsoft.com/office/drawing/2014/main" id="{BE5D9B58-09FD-B5F7-D59A-CD58A4C8DF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2894" y="1277252"/>
            <a:ext cx="4570269" cy="457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4FDE1E-D6ED-3D79-F060-A94D68A3C659}"/>
              </a:ext>
            </a:extLst>
          </p:cNvPr>
          <p:cNvSpPr txBox="1"/>
          <p:nvPr/>
        </p:nvSpPr>
        <p:spPr>
          <a:xfrm>
            <a:off x="7466181" y="5939771"/>
            <a:ext cx="39277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https://forum.arduino.cc/t/getting-started-with-the-mpu6050-beginner-friendly-guide-with-visual-explanations/1364064</a:t>
            </a:r>
            <a:r>
              <a:rPr lang="en-US" sz="1000" dirty="0"/>
              <a:t> </a:t>
            </a:r>
          </a:p>
        </p:txBody>
      </p:sp>
      <p:pic>
        <p:nvPicPr>
          <p:cNvPr id="5124" name="Picture 4" descr="How cloud-based multiphysics simulations improve MEMS gyroscope design">
            <a:extLst>
              <a:ext uri="{FF2B5EF4-FFF2-40B4-BE49-F238E27FC236}">
                <a16:creationId xmlns:a16="http://schemas.microsoft.com/office/drawing/2014/main" id="{0D78ADC0-A2AC-BB77-CD8D-CC9F37AD8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992" y="1825625"/>
            <a:ext cx="5772017" cy="318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4E00E3-77BD-0A63-2D42-61610F4FF1E5}"/>
              </a:ext>
            </a:extLst>
          </p:cNvPr>
          <p:cNvSpPr txBox="1"/>
          <p:nvPr/>
        </p:nvSpPr>
        <p:spPr>
          <a:xfrm>
            <a:off x="1338962" y="5192250"/>
            <a:ext cx="412825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7"/>
              </a:rPr>
              <a:t>https://quanscient.com/blog/enhancing-mems-gyroscope-design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80355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EE23822-3420-4FD6-7998-8A0F65B83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122CFD8-43B0-96A4-93F1-52E03AA4770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5BF0DBB-86D4-9787-7EEA-894A2BE88F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1B1DC7-AD62-F99E-9F99-79875E90D2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4E2822A-F28C-7B15-274D-CC5F15C2C0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2784001-6524-98C2-FD9F-4BFA4A22F75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8BD542D-ACD9-3EBA-1AC3-FD10FA24F94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724016D-4315-FA81-2A42-30F50026AF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962797C-4163-0460-F95E-4AE2D1B174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6074030-B8F1-B0AD-1A65-72A80DAE0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628" y="983446"/>
            <a:ext cx="5056389" cy="53617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03D3C7-7360-C71B-006F-660773A9D58E}"/>
              </a:ext>
            </a:extLst>
          </p:cNvPr>
          <p:cNvSpPr txBox="1"/>
          <p:nvPr/>
        </p:nvSpPr>
        <p:spPr>
          <a:xfrm>
            <a:off x="3498864" y="6363581"/>
            <a:ext cx="44952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https://www.printables.com/model/413667-mems-model-six-axis-imu-device</a:t>
            </a:r>
            <a:r>
              <a:rPr lang="en-US" sz="1000" dirty="0"/>
              <a:t> 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F506D08-0362-DE26-53C7-C2498EF59097}"/>
              </a:ext>
            </a:extLst>
          </p:cNvPr>
          <p:cNvGrpSpPr/>
          <p:nvPr/>
        </p:nvGrpSpPr>
        <p:grpSpPr>
          <a:xfrm>
            <a:off x="676830" y="1701800"/>
            <a:ext cx="7565470" cy="1174750"/>
            <a:chOff x="676830" y="1701800"/>
            <a:chExt cx="7565470" cy="11747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BF549F2-3D5B-1916-E751-771F169C4809}"/>
                </a:ext>
              </a:extLst>
            </p:cNvPr>
            <p:cNvSpPr/>
            <p:nvPr/>
          </p:nvSpPr>
          <p:spPr>
            <a:xfrm>
              <a:off x="3429000" y="1701800"/>
              <a:ext cx="4813300" cy="11747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25CB9B4-0CB1-F77A-D6CD-FC81C7C81FEB}"/>
                </a:ext>
              </a:extLst>
            </p:cNvPr>
            <p:cNvCxnSpPr>
              <a:cxnSpLocks/>
              <a:stCxn id="14" idx="3"/>
              <a:endCxn id="9" idx="1"/>
            </p:cNvCxnSpPr>
            <p:nvPr/>
          </p:nvCxnSpPr>
          <p:spPr>
            <a:xfrm flipV="1">
              <a:off x="2315130" y="2289175"/>
              <a:ext cx="1113870" cy="1264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FC9A06-2D10-3FEE-96D9-794DA1E4F458}"/>
                </a:ext>
              </a:extLst>
            </p:cNvPr>
            <p:cNvSpPr txBox="1"/>
            <p:nvPr/>
          </p:nvSpPr>
          <p:spPr>
            <a:xfrm>
              <a:off x="676830" y="1932483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BF31A5E-1CD8-37F2-B56C-2E7898EB38DD}"/>
              </a:ext>
            </a:extLst>
          </p:cNvPr>
          <p:cNvGrpSpPr/>
          <p:nvPr/>
        </p:nvGrpSpPr>
        <p:grpSpPr>
          <a:xfrm>
            <a:off x="3425172" y="2876550"/>
            <a:ext cx="7265565" cy="2456384"/>
            <a:chOff x="3425172" y="2876550"/>
            <a:chExt cx="7265565" cy="245638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BFF985D-4746-4663-93D4-EBC9162B7F65}"/>
                </a:ext>
              </a:extLst>
            </p:cNvPr>
            <p:cNvSpPr txBox="1"/>
            <p:nvPr/>
          </p:nvSpPr>
          <p:spPr>
            <a:xfrm>
              <a:off x="9052437" y="3735410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211C778-E521-F3E7-2750-2BCDECE60BA6}"/>
                </a:ext>
              </a:extLst>
            </p:cNvPr>
            <p:cNvSpPr/>
            <p:nvPr/>
          </p:nvSpPr>
          <p:spPr>
            <a:xfrm>
              <a:off x="3425172" y="2876550"/>
              <a:ext cx="4813300" cy="245638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3486BA1-1A63-0DA7-ADE0-F36FF93ADA29}"/>
                </a:ext>
              </a:extLst>
            </p:cNvPr>
            <p:cNvCxnSpPr>
              <a:cxnSpLocks/>
              <a:stCxn id="18" idx="1"/>
              <a:endCxn id="19" idx="3"/>
            </p:cNvCxnSpPr>
            <p:nvPr/>
          </p:nvCxnSpPr>
          <p:spPr>
            <a:xfrm flipH="1">
              <a:off x="8238472" y="4104742"/>
              <a:ext cx="81396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585051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AE4694AB-09B6-EFAE-27FC-749DC90E8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2BD61FCC-994E-8263-5C65-174486D1CD1C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Magnetometer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75D565E4-1895-5287-DADE-BD9B1EE5C35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51120E1-6984-86D8-4CBF-C121BF8739D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062BAC9E-D10D-9C07-4903-BBB8533E8CF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EC23E4D-CA61-5020-88C0-EDE95B71739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226FDEE-15F2-9620-5596-490CF2EDBB5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5D08997C-2901-338D-F452-27D03A679871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E60BFED8-535C-AF32-61D5-96B8D02170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D1E17F22-E592-A5C3-6551-CDC19D77A59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CA430DB1-1829-EBDE-8614-1CBFFA9485D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98792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534BDEC-C3D3-4105-1226-E383A5459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A65D211-E65F-E12B-08EF-4EF110451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What is a device that has been used for traveling for a very long time? That has helped sailors travel?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compass!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 magnetometer acts as an absolute reference. It measures the strength and direction of the Earth’s magnetic field, allowing the system to establish a global “North”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 more popular method uses the Hall Effect sensor to measure the magnetic field; however, next slide is a slightly different, method, and was chosen since it is more like the previous accelerometer and gyroscope sensors. Although they measure the same thing in the end!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FBB176-724C-BF96-5EED-694105C8EAE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64281D-E840-61BC-E029-E9AFDB8E0B0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626F091-C092-CAB5-8765-BD5169FFB3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89FD456-9A04-8D67-CEF9-E07A44856C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CDCE253-4B69-D942-9A71-BB74B629A6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08D98AA-C53F-8C79-2B72-17A719BAE5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FB84272-470C-54F2-45AB-D9BC77CA15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BCB3F62-5864-F22C-3E84-4E20013C200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9966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F764615-C0FD-3187-3605-517B5DFC0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6ED9A79-415E-98C7-5E73-144C5C1300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25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magnetic field acts like a counterbalance and you measure the torque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667BE13-E914-2930-656E-B448F63D188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2C932C7-3EDE-C708-A43C-E880AA18757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AAFBDFE-C6FC-FBD1-AABC-269E05B9CD6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6902C9-F5FD-6778-0330-D48A05AACF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10A1FC-4A81-640D-CCF5-9223616E51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A251D2-32F7-3230-4788-B2C144643BC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E70667B-E112-CC97-30ED-C03E88949B1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B18E91-C3E0-6FF7-20A5-A2015E05E19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9218" name="Picture 2" descr="Illustration of a ferromagnetic MEMS magnetometer design. | Download  Scientific Diagram">
            <a:extLst>
              <a:ext uri="{FF2B5EF4-FFF2-40B4-BE49-F238E27FC236}">
                <a16:creationId xmlns:a16="http://schemas.microsoft.com/office/drawing/2014/main" id="{1BF9D921-52E2-F515-06E7-EBE2FE196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860239"/>
            <a:ext cx="7162800" cy="435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E09112-952E-AD25-295E-ECA3FD8EED5B}"/>
              </a:ext>
            </a:extLst>
          </p:cNvPr>
          <p:cNvSpPr txBox="1"/>
          <p:nvPr/>
        </p:nvSpPr>
        <p:spPr>
          <a:xfrm>
            <a:off x="2548429" y="6303274"/>
            <a:ext cx="656678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https://www.researchgate.net/figure/llustration-of-a-ferromagnetic-MEMS-magnetometer-design_fig18_255663586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990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A761CB6-183F-045F-26E5-933C64E0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2B2E9A-B089-D01F-F731-C6ECEC11CFB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95725-9F89-18FB-7382-4F03575E8C4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918FC4C-54F6-D004-A07B-F42CB32ADA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4D0C9F6-133F-73FD-C72B-EBF6244F04D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6AA3187-FFEB-3DC5-A577-1CD2F59FC0E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A7831D-E7F7-322B-D119-95A11D8F4B4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85458FE-08D7-CC0D-07E3-237F21497A4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58E2C82-0890-BF30-5881-2A6E97AC06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A5C91A8-05EC-9ED9-AB5B-EDEA939A1821}"/>
              </a:ext>
            </a:extLst>
          </p:cNvPr>
          <p:cNvSpPr txBox="1"/>
          <p:nvPr/>
        </p:nvSpPr>
        <p:spPr>
          <a:xfrm>
            <a:off x="2548429" y="6303274"/>
            <a:ext cx="656678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4"/>
              </a:rPr>
              <a:t>https://www.mdpi.com/1424-8220/9/9/6951</a:t>
            </a:r>
            <a:r>
              <a:rPr lang="en-US" sz="1000" dirty="0"/>
              <a:t> </a:t>
            </a:r>
          </a:p>
        </p:txBody>
      </p:sp>
      <p:pic>
        <p:nvPicPr>
          <p:cNvPr id="1026" name="Picture 2" descr="Sensors 09 06951f1">
            <a:extLst>
              <a:ext uri="{FF2B5EF4-FFF2-40B4-BE49-F238E27FC236}">
                <a16:creationId xmlns:a16="http://schemas.microsoft.com/office/drawing/2014/main" id="{349791BD-0831-E515-610E-3099F565F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971" y="1981869"/>
            <a:ext cx="6022028" cy="370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ensors 09 06951f4">
            <a:extLst>
              <a:ext uri="{FF2B5EF4-FFF2-40B4-BE49-F238E27FC236}">
                <a16:creationId xmlns:a16="http://schemas.microsoft.com/office/drawing/2014/main" id="{6147A6F7-68D6-F85D-5E95-D5CD2F6F6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0720" y="1986766"/>
            <a:ext cx="4069754" cy="3699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4250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8EB0C31-492F-B0AD-B4B5-50FE37454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5626E268-47B1-B3A4-9174-09BB261B8304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06830B29-FCD0-FA0E-9033-78462219D34A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785F9FE9-6931-FF81-6B9A-26AC7B0A37E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408A4027-3523-54B2-6E0B-C2454BBB4F3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B57F0F34-31B9-9FD2-824F-1169F29F383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88625D36-B126-8FA2-F740-65708A473B6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81F1625-F337-CE43-F25C-B45B3FA2217A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3DA14FCF-6965-A50D-0365-D274CC47C87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21FC6488-7F22-58A4-D20E-23B151E8A36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6396909-9677-99A2-03B1-A5DAA4290B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30618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6F36881-542F-2612-5397-EFD060863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2370BD5-E1D8-4C83-94CB-51D834C2EB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IMU – stands for Inertial Measurement Unit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Which is just a single chip that packages 3-axis accelerometers, 3-axis gyroscopes and a 3-axis magnetometer (sometimes).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Sometimes includes additional noise filtering, sensor fusion.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Allows to collect all the information about the robot’s inertial state.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D88350-F1F3-FCB3-EDE7-936CEA7F1BB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CE63ED3-8219-B319-B722-68EA9CA1818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E3276A6-11AC-F7C9-3FE9-C99EDB1DBD3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BEF267C-A085-3DF4-2EDF-B92C06DE08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C8FF08E-1F01-BF70-A4B5-6B7D7E6D9E7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F02A1A3-245A-A8B2-C91D-560D305BDC0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AA6264-1633-0B06-79A2-30F0185686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0242F4F-05E5-F9F0-BC14-6837658357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6018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3BEADA-2F15-D577-A5CF-70F67495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4FCD6E8-023E-E912-280A-CE121600D8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will specially be using the MPU-9250. This specifically contains a 3-axis accelerometer, 3-axis gyroscope and a 3-axis magnetometer.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There are multiple sensitivity levels that you can set the sensors: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Gyroscope: ±250, ±500, ±1000, and ±2000 </a:t>
            </a:r>
            <a:r>
              <a:rPr lang="en-US" sz="2400" dirty="0" err="1">
                <a:latin typeface="Atkinson Hyperlegible Next"/>
                <a:ea typeface="Arial"/>
                <a:cs typeface="Arial"/>
                <a:sym typeface="Arial"/>
              </a:rPr>
              <a:t>dps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 (degrees per second)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Accelerometer: ±2g, ±4g, ±8g, and ±16g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Magnetometer: ±4800µT (Tesla)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can communicate to it through I2C at 400kHz or SPI at 1MHz (up to 20MHz).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These sensors are meant to be read extremely fast, why is that the case?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need to integrate to get velocity and position so the smaller the dt the more accurate!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8D2C80A-D069-68E9-DFE6-6C4C5B97973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0B94FBA-9831-4085-2E9B-EE84E1C3043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1ACCA2-F3B1-B22A-F0AB-1B7ABF2287C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54E3974-9A08-955A-4003-9A2368D2C1D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0AFBB08-4CDA-2B76-0DD5-58683A3D342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A2654AD-464C-8557-8698-078BA2BCF91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1E3A03E-5F2D-D98E-7174-EE259CC19A1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4AAF608-985A-BCF0-A482-CBEDCA5C9E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1161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A43AC7-2E29-E5A8-0C9E-48328EAE8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F6CF6BE-7E85-4EDA-B13F-1E7CA5F995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will be communicating through SPI.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Each the returned results will be 16-bit signed integers. As such: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Acceleration X, Y, Z: [-32768, 32767] = [-4g, 4g]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Gyro X, Y, Z: [-32768, 32767] = [-250 </a:t>
            </a:r>
            <a:r>
              <a:rPr lang="en-US" sz="2400" dirty="0" err="1">
                <a:latin typeface="Atkinson Hyperlegible Next"/>
                <a:ea typeface="Arial"/>
                <a:cs typeface="Arial"/>
                <a:sym typeface="Arial"/>
              </a:rPr>
              <a:t>dps</a:t>
            </a:r>
            <a:r>
              <a:rPr lang="en-US" sz="2400">
                <a:latin typeface="Atkinson Hyperlegible Next"/>
                <a:ea typeface="Arial"/>
                <a:cs typeface="Arial"/>
                <a:sym typeface="Arial"/>
              </a:rPr>
              <a:t>, 250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dsp]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B59907-556D-8537-06CA-BE11958B4A0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21E23E4-623E-B1E0-10E8-838F14CE3A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A80FA31-C46A-452D-36BF-5F8A7774625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07C9DDB-583C-E523-0EA0-32790D67D3F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35C792-B355-5F07-02C8-AD81FF3A9B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CFCA2D2-5DB1-DDC6-1F9B-9FE62619CB6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953429F-F1F5-3BEC-1A9E-746E5105933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7E8236-CB24-5BB6-446E-3CFAC8E884C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2567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01AB3B9-E396-6787-787B-1E98BFFC6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7C0E7E3-9D2C-6EBC-6B9F-05C86ED0A8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973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tkinson Hyperlegible Next"/>
                <a:ea typeface="Arial"/>
                <a:cs typeface="Arial"/>
                <a:sym typeface="Arial"/>
              </a:rPr>
              <a:t>There are 2 components for this sensor, writing configurations vs reading data. This is encoded inside the SPI data. We separate the message into 2 8-bit parts.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1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tkinson Hyperlegible Next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tkinson Hyperlegible Next"/>
                <a:ea typeface="Arial"/>
                <a:cs typeface="Arial"/>
                <a:sym typeface="Arial"/>
              </a:rPr>
              <a:t>address (top 8-bits)</a:t>
            </a:r>
            <a:r>
              <a:rPr lang="en-US" sz="2100" dirty="0">
                <a:latin typeface="Atkinson Hyperlegible Next"/>
                <a:ea typeface="Arial"/>
                <a:cs typeface="Arial"/>
                <a:sym typeface="Arial"/>
              </a:rPr>
              <a:t>: Says if we are trying to read/write and from where (accel vs gyro)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tkinson Hyperlegible Next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tkinson Hyperlegible Next"/>
                <a:ea typeface="Arial"/>
                <a:cs typeface="Arial"/>
                <a:sym typeface="Arial"/>
              </a:rPr>
              <a:t>data (bottom 8-bits)</a:t>
            </a:r>
            <a:r>
              <a:rPr lang="en-US" sz="2100" dirty="0">
                <a:latin typeface="Atkinson Hyperlegible Next"/>
                <a:ea typeface="Arial"/>
                <a:cs typeface="Arial"/>
                <a:sym typeface="Arial"/>
              </a:rPr>
              <a:t>: what we are trying to send to write to that address (ignored if reading)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6B583B3-9CAA-7EDB-9A6C-481EDD989F0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E26B0A-E9DB-3848-A90A-9AB9D2CCB2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882FDDE-7B14-89A0-B2A4-A47DD72EEF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4E8232-5EB3-2980-FC78-86892D00AE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B32AEDB-A439-4BDF-36EB-CC90DF1B330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B29639B-E25E-68B0-022B-0D2A95523AC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3D0E22C-54EB-4277-2CE4-A6CD6C13A8B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A2A705E-34C8-F53A-EAC5-9B1B756975C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6DAB086C-55CF-1A28-68CB-954CFF4AFB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5302" y="3478662"/>
            <a:ext cx="6193031" cy="284316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1A6B5D62-C508-0CB4-DE8B-699A33F77385}"/>
              </a:ext>
            </a:extLst>
          </p:cNvPr>
          <p:cNvGrpSpPr/>
          <p:nvPr/>
        </p:nvGrpSpPr>
        <p:grpSpPr>
          <a:xfrm>
            <a:off x="613863" y="3478662"/>
            <a:ext cx="8444470" cy="2843165"/>
            <a:chOff x="613863" y="3478662"/>
            <a:chExt cx="8444470" cy="284316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C6357E2-B058-8663-ED2F-833BB2687DE3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78A1352-F06C-6DC9-6335-CB68B05833D7}"/>
                </a:ext>
              </a:extLst>
            </p:cNvPr>
            <p:cNvCxnSpPr>
              <a:cxnSpLocks/>
              <a:stCxn id="12" idx="3"/>
              <a:endCxn id="8" idx="1"/>
            </p:cNvCxnSpPr>
            <p:nvPr/>
          </p:nvCxnSpPr>
          <p:spPr>
            <a:xfrm>
              <a:off x="2033421" y="4900244"/>
              <a:ext cx="831881" cy="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900E6C-00E0-93B9-C7B2-CE7B8538FB8F}"/>
                </a:ext>
              </a:extLst>
            </p:cNvPr>
            <p:cNvSpPr txBox="1"/>
            <p:nvPr/>
          </p:nvSpPr>
          <p:spPr>
            <a:xfrm>
              <a:off x="613863" y="4746355"/>
              <a:ext cx="14195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16-bit message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3112CD-BFCE-4602-4D6D-411BA5C681A3}"/>
              </a:ext>
            </a:extLst>
          </p:cNvPr>
          <p:cNvGrpSpPr/>
          <p:nvPr/>
        </p:nvGrpSpPr>
        <p:grpSpPr>
          <a:xfrm>
            <a:off x="613863" y="3478661"/>
            <a:ext cx="8444470" cy="1368298"/>
            <a:chOff x="613863" y="3478662"/>
            <a:chExt cx="8444470" cy="28431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6628C78-71C6-85E1-216B-F4649AF4409C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EB3947A-1EE6-9DC6-A4D3-FBC9486CE6B8}"/>
                </a:ext>
              </a:extLst>
            </p:cNvPr>
            <p:cNvCxnSpPr>
              <a:cxnSpLocks/>
              <a:stCxn id="21" idx="3"/>
              <a:endCxn id="19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3E02A7E-EC63-4D2B-18D4-385AE21D1CB4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address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325D974-0E20-9A4B-051C-C854CED6EDA7}"/>
              </a:ext>
            </a:extLst>
          </p:cNvPr>
          <p:cNvGrpSpPr/>
          <p:nvPr/>
        </p:nvGrpSpPr>
        <p:grpSpPr>
          <a:xfrm>
            <a:off x="613863" y="4974878"/>
            <a:ext cx="8444470" cy="1368298"/>
            <a:chOff x="613863" y="3478662"/>
            <a:chExt cx="8444470" cy="284316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D89D5C-B503-D3EB-B8BF-484E579C24AE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D7B1CDB-961E-FB85-5E6E-B02577A254B8}"/>
                </a:ext>
              </a:extLst>
            </p:cNvPr>
            <p:cNvCxnSpPr>
              <a:cxnSpLocks/>
              <a:stCxn id="26" idx="3"/>
              <a:endCxn id="24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CFBB121-BFD9-808A-B134-3381C15A04EC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data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11A7375-0514-5C67-A39C-9ED4C08F99AF}"/>
              </a:ext>
            </a:extLst>
          </p:cNvPr>
          <p:cNvGrpSpPr/>
          <p:nvPr/>
        </p:nvGrpSpPr>
        <p:grpSpPr>
          <a:xfrm>
            <a:off x="826752" y="3992270"/>
            <a:ext cx="3173748" cy="777744"/>
            <a:chOff x="279179" y="3478662"/>
            <a:chExt cx="8879788" cy="2812943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543DA51-770A-7F88-24BC-95254831013C}"/>
                </a:ext>
              </a:extLst>
            </p:cNvPr>
            <p:cNvSpPr/>
            <p:nvPr/>
          </p:nvSpPr>
          <p:spPr>
            <a:xfrm>
              <a:off x="6446270" y="3478662"/>
              <a:ext cx="2712697" cy="272736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195E562-16B6-D821-DD0F-8CBC49EB5DA2}"/>
                </a:ext>
              </a:extLst>
            </p:cNvPr>
            <p:cNvCxnSpPr>
              <a:cxnSpLocks/>
              <a:stCxn id="30" idx="3"/>
              <a:endCxn id="28" idx="1"/>
            </p:cNvCxnSpPr>
            <p:nvPr/>
          </p:nvCxnSpPr>
          <p:spPr>
            <a:xfrm flipV="1">
              <a:off x="5123480" y="4842343"/>
              <a:ext cx="1322791" cy="50307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49E8AEA-051C-55FE-D644-143829364575}"/>
                </a:ext>
              </a:extLst>
            </p:cNvPr>
            <p:cNvSpPr txBox="1"/>
            <p:nvPr/>
          </p:nvSpPr>
          <p:spPr>
            <a:xfrm>
              <a:off x="279179" y="4399224"/>
              <a:ext cx="4844301" cy="18923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read/write bit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(1 = read, 0 = write)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95F67D3-E7E2-557F-B2DF-79EB8AC6F10B}"/>
              </a:ext>
            </a:extLst>
          </p:cNvPr>
          <p:cNvGrpSpPr/>
          <p:nvPr/>
        </p:nvGrpSpPr>
        <p:grpSpPr>
          <a:xfrm>
            <a:off x="4000500" y="3992270"/>
            <a:ext cx="7350060" cy="754085"/>
            <a:chOff x="6679388" y="3478662"/>
            <a:chExt cx="20564638" cy="272737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AFEF021-C70E-9404-5DE4-C2E39982485D}"/>
                </a:ext>
              </a:extLst>
            </p:cNvPr>
            <p:cNvSpPr/>
            <p:nvPr/>
          </p:nvSpPr>
          <p:spPr>
            <a:xfrm>
              <a:off x="6679388" y="3478662"/>
              <a:ext cx="13680266" cy="27273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CCCC609F-344B-1A8F-0A52-8D5D7BB151CD}"/>
                </a:ext>
              </a:extLst>
            </p:cNvPr>
            <p:cNvCxnSpPr>
              <a:cxnSpLocks/>
              <a:stCxn id="42" idx="1"/>
              <a:endCxn id="40" idx="3"/>
            </p:cNvCxnSpPr>
            <p:nvPr/>
          </p:nvCxnSpPr>
          <p:spPr>
            <a:xfrm flipH="1">
              <a:off x="20359654" y="4842339"/>
              <a:ext cx="2189643" cy="1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1C8C03D-46A3-76B8-A95B-DC18DF5C3169}"/>
                </a:ext>
              </a:extLst>
            </p:cNvPr>
            <p:cNvSpPr txBox="1"/>
            <p:nvPr/>
          </p:nvSpPr>
          <p:spPr>
            <a:xfrm>
              <a:off x="22549297" y="3506540"/>
              <a:ext cx="4694729" cy="26715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7-bit reference address 0x00 to 0x74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662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816780-8DF5-3689-0895-BFBBCDAEE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78E35C-2059-63A9-E87E-E30B4E7BCD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57758A9-CDF8-6769-5302-2BF3D4D32DE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E9B5C48-3409-8063-FC8E-CA8EC773CB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033544F-1DAC-8351-D074-AAF14B6EEA6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F7BFC5-458F-02FF-19F4-A79CCC07B1B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F03965-4F16-9343-CB3E-A8D24EABA7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36B9DD8-F635-E2F6-0A20-8475853C46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04C2DF-4316-22D8-2E3B-253D418DC6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B287157-1149-6EFD-6641-BD017E0144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474A08C-1C3A-1488-E46B-B01CE1474721}"/>
              </a:ext>
            </a:extLst>
          </p:cNvPr>
          <p:cNvSpPr/>
          <p:nvPr/>
        </p:nvSpPr>
        <p:spPr>
          <a:xfrm>
            <a:off x="2059665" y="1174750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481A6B-9D41-E778-F24C-C2785382C78D}"/>
              </a:ext>
            </a:extLst>
          </p:cNvPr>
          <p:cNvSpPr/>
          <p:nvPr/>
        </p:nvSpPr>
        <p:spPr>
          <a:xfrm>
            <a:off x="4183107" y="1158339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14FDB2-6E30-479D-5D6C-B149E3563830}"/>
              </a:ext>
            </a:extLst>
          </p:cNvPr>
          <p:cNvCxnSpPr>
            <a:cxnSpLocks/>
            <a:stCxn id="7" idx="3"/>
            <a:endCxn id="3" idx="1"/>
          </p:cNvCxnSpPr>
          <p:nvPr/>
        </p:nvCxnSpPr>
        <p:spPr>
          <a:xfrm>
            <a:off x="1454150" y="3743710"/>
            <a:ext cx="483356" cy="504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1EA0F1F-4D86-F656-5413-FB80E1E3B97D}"/>
              </a:ext>
            </a:extLst>
          </p:cNvPr>
          <p:cNvSpPr txBox="1"/>
          <p:nvPr/>
        </p:nvSpPr>
        <p:spPr>
          <a:xfrm>
            <a:off x="256300" y="3589821"/>
            <a:ext cx="11978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address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5E2DFA-64BF-ECEB-121E-039E503FBE6C}"/>
              </a:ext>
            </a:extLst>
          </p:cNvPr>
          <p:cNvSpPr txBox="1"/>
          <p:nvPr/>
        </p:nvSpPr>
        <p:spPr>
          <a:xfrm>
            <a:off x="5095406" y="3589821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If you can read / write to this address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C57A7F3-3AAC-54F5-7B93-9C8F602BC439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flipH="1" flipV="1">
            <a:off x="4561843" y="3783577"/>
            <a:ext cx="533563" cy="1755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23775A3-AD90-84C7-E7BC-E121D82CC9BC}"/>
              </a:ext>
            </a:extLst>
          </p:cNvPr>
          <p:cNvSpPr/>
          <p:nvPr/>
        </p:nvSpPr>
        <p:spPr>
          <a:xfrm flipH="1">
            <a:off x="4597352" y="3028956"/>
            <a:ext cx="5448345" cy="385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341AC36-0642-E3A5-1E45-DCB8740CEDAA}"/>
              </a:ext>
            </a:extLst>
          </p:cNvPr>
          <p:cNvSpPr txBox="1"/>
          <p:nvPr/>
        </p:nvSpPr>
        <p:spPr>
          <a:xfrm>
            <a:off x="10382107" y="2957637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Data is split into 8-bit high and low bits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DD2607D-0421-88FB-980B-BD7C2EB9BB1D}"/>
              </a:ext>
            </a:extLst>
          </p:cNvPr>
          <p:cNvCxnSpPr>
            <a:cxnSpLocks/>
            <a:stCxn id="29" idx="1"/>
            <a:endCxn id="27" idx="1"/>
          </p:cNvCxnSpPr>
          <p:nvPr/>
        </p:nvCxnSpPr>
        <p:spPr>
          <a:xfrm flipH="1" flipV="1">
            <a:off x="10045697" y="3221601"/>
            <a:ext cx="336410" cy="10536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38954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5A4A7D-6E03-7EB8-84FE-FF9DE2AE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7FE4E31-1978-D46E-29FD-9DE0D8BBDA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As you previously saw we want to write 16-bits of data and potentially read 16-bits at a time to reduce the complexity of having to bit shift the high and low bits into the same variable.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To do this what would we need to set SPICHAR to?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0xA      0x11      0xF      0x8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52A5320-B848-4E71-D3EC-5748AACFF74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2EE0171-1850-095A-DB6C-1A4957EE20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37A6701-5197-1CAC-7FA1-7EB73736E73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11BD17F-4F5B-CAD1-C513-0D23C6F47E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F43451-C1C2-3919-80B7-A350907E763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29174E-9EF1-AED3-2EAC-098C9A265B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9DB2222-6E3F-763B-76F3-4F0B3341AF6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91E1007-0933-A946-AD67-0FC452FC986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E5956FC-AD36-2851-3C67-DA67984610BF}"/>
              </a:ext>
            </a:extLst>
          </p:cNvPr>
          <p:cNvSpPr/>
          <p:nvPr/>
        </p:nvSpPr>
        <p:spPr>
          <a:xfrm>
            <a:off x="6248400" y="3503530"/>
            <a:ext cx="647700" cy="482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534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7C6B0C-CBDF-CA3A-196B-5412AB9F2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99B149F-4F10-B273-1FFB-85B687A6E8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When writing configuration to the MPU board, such as the accelerometer X offset (initial bias)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Start SPI</a:t>
            </a:r>
          </a:p>
          <a:p>
            <a:pPr marL="114300" indent="0">
              <a:buNone/>
            </a:pP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0x77 = 0111 0111 is this read or writing?</a:t>
            </a:r>
          </a:p>
          <a:p>
            <a:pPr marL="114300" indent="0" algn="l">
              <a:buNone/>
            </a:pP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(0x7700 | 0x00EB);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Address + data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!=1);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Waiting for response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Disable SPI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;          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F71FA-3C9F-7965-42C9-992F69BD38B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40F38C-ED3F-9F1C-1DEC-EDE6804A90C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8DBF2A8-5AD7-9E10-A07A-F221CDD5F7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D328CFE-FD55-350A-FB9E-3BE7D8B498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0B18F44-717A-95EF-38FF-B30D5FE389E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9208C9-56F1-C655-B948-947124D64F7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ABE0996-E262-3797-60AE-5C0D789065F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800B7A4-EC04-BB64-A627-4ACAF5E344E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442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79E9F9-6945-DC00-9B06-2E5388276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E05A08C-87D8-E1A6-4AFD-A9C60CA52E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750" dirty="0">
                <a:latin typeface="Atkinson Hyperlegible Next"/>
                <a:cs typeface="Arial"/>
                <a:sym typeface="Arial"/>
              </a:rPr>
              <a:t>What if we want to write multiple pieces of data at once?</a:t>
            </a:r>
          </a:p>
          <a:p>
            <a:pPr marL="114300" indent="0">
              <a:buNone/>
            </a:pPr>
            <a:endParaRPr lang="en-US" sz="17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(0x1900 | 0x0013);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One write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(0x0200 | 0x0000);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Second write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!=2);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Wait that both have been sent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second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</a:p>
          <a:p>
            <a:pPr marL="114300" indent="0" algn="l">
              <a:buNone/>
            </a:pPr>
            <a:endParaRPr lang="en-US" sz="1750" dirty="0">
              <a:solidFill>
                <a:srgbClr val="3F7F5F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tkinson Hyperlegible Next"/>
                <a:ea typeface="Arial"/>
                <a:cs typeface="Arial"/>
                <a:sym typeface="Arial"/>
              </a:rPr>
              <a:t>What is the maximum number of writes at a time?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tkinson Hyperlegible Next"/>
                <a:ea typeface="Arial"/>
                <a:cs typeface="Arial"/>
                <a:sym typeface="Arial"/>
              </a:rPr>
              <a:t>The maximum size of the TX/RX FIFO is 16!</a:t>
            </a:r>
            <a:endParaRPr lang="en-US" sz="1750" dirty="0">
              <a:solidFill>
                <a:schemeClr val="tx1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67C78F7-1093-E54A-220A-34C0A5E3C81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AE7AF23-963D-8385-82FE-E7073B455F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75CCE3A-0E70-C631-D873-0C6A3966BA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52AE1E6-B424-BA46-7272-FDAF6C5D565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5E3841A-0A2C-C0B2-4026-F9BAD7D037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21DA705-73F4-3922-9D96-42118639D68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95374B-F4A8-CFDA-56D9-25EB2110DDD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26A7F0E-0852-0B74-1F80-3F631ABE91C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78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65DBB14-7F07-3A1A-3D32-3555AF8D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5A185A0-7A44-7FB2-4AE4-1B94ECD625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When explicitly wanting to read the data, especially if there is a lot we want to read, accel X, Y, Z, gyro X, Y, Z, each of them having a high and low address. Is there a smart way of doing this?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Yes!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This MPU you send an address that you want to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start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reading from. If you continue to give it clock cycles it will just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continue down to the next address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and read down!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Allows us to read the 16-bit data into a single 16-bit read!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D83485-462B-2686-016C-83AE070D6D5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6EE39FE-6965-7905-48BF-68B7CEB63A4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D6E130D-9C80-8624-A955-CFCF5E9B95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9DCA779-D028-1A75-9804-8CCB06E96F2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8127AD-E8E3-10E7-63A7-A52CDEF4633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FFE1A1E-AB13-8AD1-A84E-701AA350A28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715D0D7-036E-4108-2B97-8BCE089D209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846927-E86D-7705-2E28-8CC5B008D84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3704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0AFE5-2638-6C3B-43FE-7CE66CDC9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A3B2D1D-ABA6-ED4D-ABF9-9EEB7D1BFB1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87A65-4CF0-897F-C55A-07C6984E334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5C4AC3-B9BA-77D7-37F9-144BDA8E05B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DBEB4CA-1DB0-10AF-8A94-787FC794B9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6B5EA2-D031-6D58-0CF9-6E0CCCC3A7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925C1B-C4D4-8973-6860-B109411C75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D62745-1CB0-FF81-465F-ABE02B915C0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AD196D-0BAE-A8FA-E542-54503F0579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CAB8B104-0853-0562-290B-5A74B380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2DF172F9-B886-93FB-3802-0838DA5EC197}"/>
              </a:ext>
            </a:extLst>
          </p:cNvPr>
          <p:cNvGrpSpPr/>
          <p:nvPr/>
        </p:nvGrpSpPr>
        <p:grpSpPr>
          <a:xfrm>
            <a:off x="2008863" y="2493041"/>
            <a:ext cx="9858563" cy="738664"/>
            <a:chOff x="2008863" y="2493041"/>
            <a:chExt cx="9858563" cy="738664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7E90C00-3C11-C50F-C6DC-5410E13B05C7}"/>
                </a:ext>
              </a:extLst>
            </p:cNvPr>
            <p:cNvSpPr/>
            <p:nvPr/>
          </p:nvSpPr>
          <p:spPr>
            <a:xfrm flipH="1">
              <a:off x="2008863" y="2669728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7AA7A96-7B92-0050-2813-B9275A34260A}"/>
                </a:ext>
              </a:extLst>
            </p:cNvPr>
            <p:cNvSpPr txBox="1"/>
            <p:nvPr/>
          </p:nvSpPr>
          <p:spPr>
            <a:xfrm>
              <a:off x="10313833" y="2493041"/>
              <a:ext cx="155359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Start reading (sent 8-bit start address)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BBA691D-E06C-192B-04BA-CDC9459CC890}"/>
                </a:ext>
              </a:extLst>
            </p:cNvPr>
            <p:cNvCxnSpPr>
              <a:cxnSpLocks/>
              <a:stCxn id="29" idx="1"/>
              <a:endCxn id="27" idx="1"/>
            </p:cNvCxnSpPr>
            <p:nvPr/>
          </p:nvCxnSpPr>
          <p:spPr>
            <a:xfrm flipH="1">
              <a:off x="10020299" y="2862373"/>
              <a:ext cx="29353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F40CE8-D347-98F8-A084-E5EE2ACA6B70}"/>
              </a:ext>
            </a:extLst>
          </p:cNvPr>
          <p:cNvGrpSpPr/>
          <p:nvPr/>
        </p:nvGrpSpPr>
        <p:grpSpPr>
          <a:xfrm>
            <a:off x="2008863" y="3012556"/>
            <a:ext cx="9858563" cy="673404"/>
            <a:chOff x="2008863" y="3012556"/>
            <a:chExt cx="9858563" cy="67340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28AEE2E-BF87-DF1F-9897-C3C606AEAC4B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363EAD1-B6AB-FC51-329C-6C01A369D5E7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B9E2725-A816-73CA-F2A9-CF1ACDC2BAC6}"/>
                </a:ext>
              </a:extLst>
            </p:cNvPr>
            <p:cNvCxnSpPr>
              <a:cxnSpLocks/>
              <a:stCxn id="16" idx="1"/>
              <a:endCxn id="15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D77D325-BB9D-30DD-EC32-C8161AE104CF}"/>
              </a:ext>
            </a:extLst>
          </p:cNvPr>
          <p:cNvGrpSpPr/>
          <p:nvPr/>
        </p:nvGrpSpPr>
        <p:grpSpPr>
          <a:xfrm>
            <a:off x="2008863" y="3381887"/>
            <a:ext cx="9858563" cy="673404"/>
            <a:chOff x="2008863" y="3012556"/>
            <a:chExt cx="9858563" cy="67340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4FAFC6E-9F05-E003-0A4B-B630B81DC577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718F447-806C-6E26-592A-36841B14F255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E35685C-163E-D1F9-2081-8EE1A5A43C15}"/>
                </a:ext>
              </a:extLst>
            </p:cNvPr>
            <p:cNvCxnSpPr>
              <a:cxnSpLocks/>
              <a:stCxn id="31" idx="1"/>
              <a:endCxn id="28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4E2EA6A-A7F7-A6EE-1D83-4B8677DB2221}"/>
              </a:ext>
            </a:extLst>
          </p:cNvPr>
          <p:cNvGrpSpPr/>
          <p:nvPr/>
        </p:nvGrpSpPr>
        <p:grpSpPr>
          <a:xfrm>
            <a:off x="2008863" y="3734777"/>
            <a:ext cx="9858563" cy="673404"/>
            <a:chOff x="2008863" y="3012556"/>
            <a:chExt cx="9858563" cy="673404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8ACC8B2-A669-6B85-FB47-EB0C26091E72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1CDF9A3-7A13-E2D1-1D57-0878B4C4BD10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7547C04B-1671-EE47-124D-0CA395935450}"/>
                </a:ext>
              </a:extLst>
            </p:cNvPr>
            <p:cNvCxnSpPr>
              <a:cxnSpLocks/>
              <a:stCxn id="35" idx="1"/>
              <a:endCxn id="34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586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CDC25AB-2F68-898C-6D15-845B0D55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719097-BC9C-4A2C-482D-3F0D923FB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4981703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Code inside CPU Timer 0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3;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0x8 = 1000 = read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0x3C = address to read from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18B8360-C964-1E55-8831-EA47CD157AC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1549A8E-8933-BAF0-3154-335AC37C4D2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4956D7-F857-141F-EE5B-F66A7F8E88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B7DEFEA-77A3-3C6B-C935-56DE42F0577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95FBA9C-CE8E-8645-8FCE-2F909656647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FAE0B61-09A4-FD7F-8BAE-F161F64487B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BE6B3A3-CED4-EAC7-3624-3C15DD62603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8317847-3179-4A78-CE01-3A5618CAE3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D793C31B-3A6A-8070-36A4-D9AFC38C1318}"/>
              </a:ext>
            </a:extLst>
          </p:cNvPr>
          <p:cNvSpPr txBox="1">
            <a:spLocks/>
          </p:cNvSpPr>
          <p:nvPr/>
        </p:nvSpPr>
        <p:spPr>
          <a:xfrm>
            <a:off x="5358512" y="1334279"/>
            <a:ext cx="6470305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dummy=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__interrupt 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SPIB_isr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GpioDataRegs.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Stop SPI transmit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dummy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from 0x3C Accel x low only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0x3D | 0x3E = Accel y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0x3F | 0x40 = Accel z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RXFFOVFCLR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Overflow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RXFFINTCLR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Interrupt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PieCtrlRegs.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PIEACK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PIEACK_GROUP6;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100" dirty="0">
              <a:latin typeface="Atkinson Hyperlegible Nex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56947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BCBD59D-1DBD-7276-C25D-64964E321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66B9714-6CE7-D0CC-79F2-1AF2B3F4AAA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B222705-22B5-88C7-B91D-173DC3F1644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F04402-0F0B-8965-258A-86EEE8FA5C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F908650-5FA6-08EB-2BD2-E1F4959DC38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D16D78B-E8E4-B07F-5898-7006C9D77FA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8AFD982-85DC-80A8-DD70-084274F379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9104A69-DD44-F33B-67EE-19E69156157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9BD9BA1-4292-CFEF-B138-C6FF7341FC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C8589C5-0B8C-BDAF-E74E-A8BBBB20F6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1176065"/>
            <a:ext cx="7715347" cy="5039750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904F9AEB-1F05-55D3-4122-9075EDA692C2}"/>
              </a:ext>
            </a:extLst>
          </p:cNvPr>
          <p:cNvGrpSpPr/>
          <p:nvPr/>
        </p:nvGrpSpPr>
        <p:grpSpPr>
          <a:xfrm>
            <a:off x="71357" y="3695940"/>
            <a:ext cx="9578434" cy="1030606"/>
            <a:chOff x="2008863" y="3012556"/>
            <a:chExt cx="10209338" cy="1232087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4EA846A-6B8A-4432-1976-3F7FC3D52D61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3D03858-8C05-F543-65E3-40318CF8861A}"/>
                </a:ext>
              </a:extLst>
            </p:cNvPr>
            <p:cNvCxnSpPr>
              <a:cxnSpLocks/>
              <a:endCxn id="15" idx="1"/>
            </p:cNvCxnSpPr>
            <p:nvPr/>
          </p:nvCxnSpPr>
          <p:spPr>
            <a:xfrm flipH="1" flipV="1">
              <a:off x="10020299" y="3205201"/>
              <a:ext cx="2197902" cy="103944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0D4C8E7-4E9E-BD49-C2CB-546475BD950F}"/>
              </a:ext>
            </a:extLst>
          </p:cNvPr>
          <p:cNvGrpSpPr/>
          <p:nvPr/>
        </p:nvGrpSpPr>
        <p:grpSpPr>
          <a:xfrm>
            <a:off x="71356" y="3158971"/>
            <a:ext cx="11365083" cy="1110552"/>
            <a:chOff x="2008862" y="3201722"/>
            <a:chExt cx="12064674" cy="1110552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15286D0-1D69-E224-66DB-ACA33A42BEF4}"/>
                </a:ext>
              </a:extLst>
            </p:cNvPr>
            <p:cNvSpPr/>
            <p:nvPr/>
          </p:nvSpPr>
          <p:spPr>
            <a:xfrm flipH="1">
              <a:off x="2008862" y="3201722"/>
              <a:ext cx="7979031" cy="19612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ECEE7F9-3F69-3190-006C-B73D51D9803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H="1" flipV="1">
              <a:off x="9987893" y="3299784"/>
              <a:ext cx="4085643" cy="101249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5DEA35B-F9F2-3840-F7D6-088B4CD914A0}"/>
              </a:ext>
            </a:extLst>
          </p:cNvPr>
          <p:cNvGrpSpPr/>
          <p:nvPr/>
        </p:nvGrpSpPr>
        <p:grpSpPr>
          <a:xfrm>
            <a:off x="71357" y="3350288"/>
            <a:ext cx="9578434" cy="1187087"/>
            <a:chOff x="2008863" y="3012556"/>
            <a:chExt cx="10142999" cy="130979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256E86-F26F-F764-3159-B5985656191A}"/>
                </a:ext>
              </a:extLst>
            </p:cNvPr>
            <p:cNvSpPr/>
            <p:nvPr/>
          </p:nvSpPr>
          <p:spPr>
            <a:xfrm flipH="1">
              <a:off x="2008863" y="3012556"/>
              <a:ext cx="7959377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AC270FA-CE64-3A92-640B-F7EFBB2C78AA}"/>
                </a:ext>
              </a:extLst>
            </p:cNvPr>
            <p:cNvCxnSpPr>
              <a:cxnSpLocks/>
              <a:endCxn id="34" idx="1"/>
            </p:cNvCxnSpPr>
            <p:nvPr/>
          </p:nvCxnSpPr>
          <p:spPr>
            <a:xfrm flipH="1" flipV="1">
              <a:off x="9968240" y="3205202"/>
              <a:ext cx="2183622" cy="111714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A9C417A-F43A-BB60-DE9B-AAD18E8A7452}"/>
              </a:ext>
            </a:extLst>
          </p:cNvPr>
          <p:cNvSpPr txBox="1"/>
          <p:nvPr/>
        </p:nvSpPr>
        <p:spPr>
          <a:xfrm>
            <a:off x="7489112" y="4210185"/>
            <a:ext cx="45018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675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F4481CE-9E3D-FCD5-84B8-BF89B7AC1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21E877-0319-C596-2C2C-4303B31DC0B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74EE54B-1F1D-8250-4A09-B4AD0329075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SPI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9A91297-B33E-FFC9-DCC4-F620390A977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9F547-F404-6386-E268-500D5E1E35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CFD2EE8-1927-47CB-767D-760CEB4EC35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7ACF77D-6109-E666-9335-B0C379FBF64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1831EC6-1511-0248-5425-B94CC2F3843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F65C4A2-4203-9BF1-6296-B83966E3DA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9260AE3A-C439-4AAE-1D54-D8DA2A1046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60714" y="935653"/>
            <a:ext cx="8070573" cy="547188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E144E7D-15DC-6E6F-5CFB-5C9F4BBC3A17}"/>
              </a:ext>
            </a:extLst>
          </p:cNvPr>
          <p:cNvGraphicFramePr>
            <a:graphicFrameLocks noGrp="1"/>
          </p:cNvGraphicFramePr>
          <p:nvPr/>
        </p:nvGraphicFramePr>
        <p:xfrm>
          <a:off x="117061" y="1139735"/>
          <a:ext cx="1943652" cy="3180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826">
                  <a:extLst>
                    <a:ext uri="{9D8B030D-6E8A-4147-A177-3AD203B41FA5}">
                      <a16:colId xmlns:a16="http://schemas.microsoft.com/office/drawing/2014/main" val="92026252"/>
                    </a:ext>
                  </a:extLst>
                </a:gridCol>
                <a:gridCol w="971826">
                  <a:extLst>
                    <a:ext uri="{9D8B030D-6E8A-4147-A177-3AD203B41FA5}">
                      <a16:colId xmlns:a16="http://schemas.microsoft.com/office/drawing/2014/main" val="3319111987"/>
                    </a:ext>
                  </a:extLst>
                </a:gridCol>
              </a:tblGrid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Polarity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Phase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5624164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83509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023675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7358395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066989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B1A5094C-4BB6-A5B3-E9BE-0D1B1C0ACFC7}"/>
              </a:ext>
            </a:extLst>
          </p:cNvPr>
          <p:cNvSpPr/>
          <p:nvPr/>
        </p:nvSpPr>
        <p:spPr>
          <a:xfrm>
            <a:off x="3846067" y="1796828"/>
            <a:ext cx="441214" cy="42139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5785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72E8C28-C0FE-1016-75B2-A7B6AACAB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A438B23-FD66-1FE4-29C7-A2A4BF4EFEB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970F8C2-5EE0-0F4D-4675-3D04D6756E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38FFE93-BD01-44DA-DA0D-EE13AA7A3E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753FB69-1D8F-2C79-685A-B3E9FEAFD11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1636CF3-4F07-C322-78CC-C6E6EB5064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F8DD2B4-419A-F0D0-E9FF-D8DB1A054E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1992A3-7D8E-108C-2252-69E9BF1863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D6A716-C7F8-750A-FEFD-3A187EDC07B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359598AE-F55A-9B86-D5BE-1F5C7A0AAC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7934" r="9524" b="12840"/>
          <a:stretch>
            <a:fillRect/>
          </a:stretch>
        </p:blipFill>
        <p:spPr>
          <a:xfrm>
            <a:off x="768877" y="1025750"/>
            <a:ext cx="10654243" cy="5418257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163E376E-4DB8-C947-3DD3-76811DB857F7}"/>
              </a:ext>
            </a:extLst>
          </p:cNvPr>
          <p:cNvGrpSpPr/>
          <p:nvPr/>
        </p:nvGrpSpPr>
        <p:grpSpPr>
          <a:xfrm>
            <a:off x="292494" y="2818504"/>
            <a:ext cx="1600250" cy="1983695"/>
            <a:chOff x="292494" y="2818504"/>
            <a:chExt cx="1600250" cy="198369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60EDF8C-FFE6-353B-CF02-18AAB0784DAE}"/>
                </a:ext>
              </a:extLst>
            </p:cNvPr>
            <p:cNvSpPr/>
            <p:nvPr/>
          </p:nvSpPr>
          <p:spPr>
            <a:xfrm>
              <a:off x="1055077" y="3830249"/>
              <a:ext cx="837667" cy="9719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20BD6F9-F6EF-30DC-FC44-D9F0BA0E2D9F}"/>
                </a:ext>
              </a:extLst>
            </p:cNvPr>
            <p:cNvCxnSpPr>
              <a:cxnSpLocks/>
              <a:stCxn id="12" idx="2"/>
              <a:endCxn id="7" idx="0"/>
            </p:cNvCxnSpPr>
            <p:nvPr/>
          </p:nvCxnSpPr>
          <p:spPr>
            <a:xfrm>
              <a:off x="768878" y="3557168"/>
              <a:ext cx="705033" cy="27308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94E7258-1009-646B-D306-CC08E9F015B5}"/>
                </a:ext>
              </a:extLst>
            </p:cNvPr>
            <p:cNvSpPr txBox="1"/>
            <p:nvPr/>
          </p:nvSpPr>
          <p:spPr>
            <a:xfrm>
              <a:off x="292494" y="2818504"/>
              <a:ext cx="9527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polarity?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4B21A70-C02D-018E-87A4-67A7D73DF0B4}"/>
              </a:ext>
            </a:extLst>
          </p:cNvPr>
          <p:cNvGrpSpPr/>
          <p:nvPr/>
        </p:nvGrpSpPr>
        <p:grpSpPr>
          <a:xfrm>
            <a:off x="6642720" y="1072273"/>
            <a:ext cx="952767" cy="4655159"/>
            <a:chOff x="997526" y="1147747"/>
            <a:chExt cx="952767" cy="4724449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2F4E5B8-342E-F61D-3B3F-640B162FA326}"/>
                </a:ext>
              </a:extLst>
            </p:cNvPr>
            <p:cNvSpPr/>
            <p:nvPr/>
          </p:nvSpPr>
          <p:spPr>
            <a:xfrm>
              <a:off x="1055077" y="1147747"/>
              <a:ext cx="837667" cy="36544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CEC1410-67EA-4154-0E34-461BBD8F6362}"/>
                </a:ext>
              </a:extLst>
            </p:cNvPr>
            <p:cNvCxnSpPr>
              <a:cxnSpLocks/>
              <a:stCxn id="20" idx="0"/>
              <a:endCxn id="18" idx="2"/>
            </p:cNvCxnSpPr>
            <p:nvPr/>
          </p:nvCxnSpPr>
          <p:spPr>
            <a:xfrm flipV="1">
              <a:off x="1473910" y="4802199"/>
              <a:ext cx="1" cy="32033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B8782B6-8A8D-265A-06EF-7282D0A73EB5}"/>
                </a:ext>
              </a:extLst>
            </p:cNvPr>
            <p:cNvSpPr txBox="1"/>
            <p:nvPr/>
          </p:nvSpPr>
          <p:spPr>
            <a:xfrm>
              <a:off x="997526" y="5122537"/>
              <a:ext cx="952767" cy="7496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phase?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13297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</TotalTime>
  <Words>2487</Words>
  <Application>Microsoft Office PowerPoint</Application>
  <PresentationFormat>Widescreen</PresentationFormat>
  <Paragraphs>364</Paragraphs>
  <Slides>43</Slides>
  <Notes>43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253</cp:revision>
  <dcterms:created xsi:type="dcterms:W3CDTF">2019-01-14T22:06:33Z</dcterms:created>
  <dcterms:modified xsi:type="dcterms:W3CDTF">2026-03-08T08:04:59Z</dcterms:modified>
</cp:coreProperties>
</file>