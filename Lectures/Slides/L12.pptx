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417" r:id="rId3"/>
    <p:sldId id="413" r:id="rId4"/>
    <p:sldId id="414" r:id="rId5"/>
    <p:sldId id="416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51" r:id="rId21"/>
    <p:sldId id="430" r:id="rId22"/>
    <p:sldId id="435" r:id="rId23"/>
    <p:sldId id="433" r:id="rId24"/>
    <p:sldId id="434" r:id="rId25"/>
    <p:sldId id="436" r:id="rId26"/>
    <p:sldId id="452" r:id="rId27"/>
    <p:sldId id="437" r:id="rId28"/>
    <p:sldId id="438" r:id="rId29"/>
    <p:sldId id="439" r:id="rId30"/>
    <p:sldId id="440" r:id="rId31"/>
    <p:sldId id="441" r:id="rId32"/>
    <p:sldId id="442" r:id="rId33"/>
    <p:sldId id="443" r:id="rId34"/>
    <p:sldId id="444" r:id="rId35"/>
    <p:sldId id="446" r:id="rId36"/>
    <p:sldId id="445" r:id="rId37"/>
    <p:sldId id="447" r:id="rId38"/>
    <p:sldId id="448" r:id="rId39"/>
    <p:sldId id="450" r:id="rId40"/>
    <p:sldId id="387" r:id="rId41"/>
    <p:sldId id="449" r:id="rId42"/>
    <p:sldId id="271" r:id="rId43"/>
    <p:sldId id="270" r:id="rId4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5A4D1C5-EF0B-B2E7-FBC4-4FB2C366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A77F504-9EF4-F120-14B7-667A7474F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44F409-F089-0215-1A61-7ABDA59D8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402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CF8AEE-C094-2B27-4A5B-A1288BB8A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5912FC-8B9E-FC1F-41C1-28748928F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A2FE7E-A57F-361C-1674-C5DF0B0CD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525572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reddit.com/r/3Dprinting/comments/103v6ef/1001_3d_printed_mems_gyroscope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gif"/><Relationship Id="rId5" Type="http://schemas.openxmlformats.org/officeDocument/2006/relationships/hyperlink" Target="https://www.semanticscholar.org/paper/Modeling-and-simulation-of-the-MEMS-vibratory-Patel-McCluskey/8dec6605fc5b603df07d74f7b9eb6875b2c17c3a" TargetMode="Externa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mdpi.com/1424-8220/9/9/6951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12</a:t>
            </a:r>
            <a:r>
              <a:rPr i="0" b="0" lang="en-US" sz="2500">
                <a:solidFill>
                  <a:schemeClr val="lt1"/>
                </a:solidFill>
              </a:rPr>
              <a:t>: IMU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review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do absolute / incremental encoders measure? When do they fail at measuring </a:t>
            </a:r>
            <a:r>
              <a:rPr lang="en-US" sz="2400">
                <a:latin typeface="Atkinson Hyperlegible Next"/>
                <a:ea typeface="Arial"/>
                <a:cs typeface="Arial"/>
                <a:sym typeface="Arial"/>
              </a:rPr>
              <a:t>travel distance?</a:t>
            </a: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/>
          <p:nvPr>
            <p:ph type="title"/>
          </p:nvPr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i="0"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 descr="YouTube video: How does an Accelerometer work? | 3D Animation (CircuitBread)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8D8052-A223-7041-4751-E4596AD6B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013877-932D-3675-2F81-D0A166BCC8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A20A66-72FC-DD0B-308D-95FF69C4851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386B217-1600-876C-6357-18FE44C369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6D7C9C-9BCC-AD50-F293-481610F5EA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010FBB9-1A3B-D764-E184-17FE67DBD7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81F5DB-7942-A2B7-72DA-E9AD23AF18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90319E6-4A7B-A9AA-6FD0-5074198A058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94615-FEC9-9A37-29B7-7F1035145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2725359-120A-D50A-ED90-1425B7D9D3DD}"/>
              </a:ext>
            </a:extLst>
          </p:cNvPr>
          <p:cNvGrpSpPr/>
          <p:nvPr/>
        </p:nvGrpSpPr>
        <p:grpSpPr>
          <a:xfrm>
            <a:off x="488949" y="977100"/>
            <a:ext cx="5168900" cy="5404839"/>
            <a:chOff x="488949" y="977100"/>
            <a:chExt cx="5168900" cy="5404839"/>
          </a:xfrm>
        </p:grpSpPr>
        <p:pic>
          <p:nvPicPr>
            <p:cNvPr id="1026" name="Picture 2" descr="Schematic Illustration of MEMS Vibratory Gyroscope | Download Scientific  Diagram">
              <a:extLst>
                <a:ext uri="{FF2B5EF4-FFF2-40B4-BE49-F238E27FC236}">
                  <a16:creationId xmlns:a16="http://schemas.microsoft.com/office/drawing/2014/main" id="{F18ED1C7-D745-C13F-7369-BC61283C12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2687" y="977100"/>
              <a:ext cx="3781425" cy="48958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01D21B6-2EAF-B619-2D8F-3C61A656070B}"/>
                </a:ext>
              </a:extLst>
            </p:cNvPr>
            <p:cNvSpPr txBox="1"/>
            <p:nvPr/>
          </p:nvSpPr>
          <p:spPr>
            <a:xfrm>
              <a:off x="488949" y="5981829"/>
              <a:ext cx="51689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https://www.semanticscholar.org/paper/Modeling-and-simulation-of-the-MEMS-vibratory-Patel-McCluskey/8dec6605fc5b603df07d74f7b9eb6875b2c17c3a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55EBABE-18A4-158A-A0F7-BB3F9A477938}"/>
              </a:ext>
            </a:extLst>
          </p:cNvPr>
          <p:cNvGrpSpPr/>
          <p:nvPr/>
        </p:nvGrpSpPr>
        <p:grpSpPr>
          <a:xfrm>
            <a:off x="5831823" y="1858477"/>
            <a:ext cx="5561709" cy="4523462"/>
            <a:chOff x="4535117" y="2220798"/>
            <a:chExt cx="5561709" cy="4523462"/>
          </a:xfrm>
        </p:grpSpPr>
        <p:pic>
          <p:nvPicPr>
            <p:cNvPr id="8" name="Picture 7" descr="100:1 3D printed MEMS Gyroscope : r/3Dprinting">
              <a:extLst>
                <a:ext uri="{FF2B5EF4-FFF2-40B4-BE49-F238E27FC236}">
                  <a16:creationId xmlns:a16="http://schemas.microsoft.com/office/drawing/2014/main" id="{957B35E0-A86B-C109-1016-CB738AD590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7" y="2220798"/>
              <a:ext cx="5561709" cy="3133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AAB4A4-3797-8439-1CC5-BBAACC6E7D12}"/>
                </a:ext>
              </a:extLst>
            </p:cNvPr>
            <p:cNvSpPr txBox="1"/>
            <p:nvPr/>
          </p:nvSpPr>
          <p:spPr>
            <a:xfrm>
              <a:off x="4896276" y="6344150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3274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more popular method uses the Hall Effect sensor to measure the magnetic field; however, next slide is a slightly different, method, and was chosen since it is more like the previous accelerometer and gyroscope sensors. Although they measure the same thing in the end!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A761CB6-183F-045F-26E5-933C64E0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2B2E9A-B089-D01F-F731-C6ECEC11CFB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95725-9F89-18FB-7382-4F03575E8C4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918FC4C-54F6-D004-A07B-F42CB32ADA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D0C9F6-133F-73FD-C72B-EBF6244F04D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AA3187-FFEB-3DC5-A577-1CD2F59FC0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A7831D-E7F7-322B-D119-95A11D8F4B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85458FE-08D7-CC0D-07E3-237F21497A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8E2C82-0890-BF30-5881-2A6E97AC06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A5C91A8-05EC-9ED9-AB5B-EDEA939A1821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4"/>
              </a:rPr>
              <a:t>https://www.mdpi.com/1424-8220/9/9/6951</a:t>
            </a:r>
            <a:r>
              <a:rPr lang="en-US" sz="1000" dirty="0"/>
              <a:t> </a:t>
            </a:r>
          </a:p>
        </p:txBody>
      </p:sp>
      <p:pic>
        <p:nvPicPr>
          <p:cNvPr id="1026" name="Picture 2" descr="Sensors 09 06951f1">
            <a:extLst>
              <a:ext uri="{FF2B5EF4-FFF2-40B4-BE49-F238E27FC236}">
                <a16:creationId xmlns:a16="http://schemas.microsoft.com/office/drawing/2014/main" id="{349791BD-0831-E515-610E-3099F565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71" y="1981869"/>
            <a:ext cx="6022028" cy="370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ensors 09 06951f4">
            <a:extLst>
              <a:ext uri="{FF2B5EF4-FFF2-40B4-BE49-F238E27FC236}">
                <a16:creationId xmlns:a16="http://schemas.microsoft.com/office/drawing/2014/main" id="{6147A6F7-68D6-F85D-5E95-D5CD2F6F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720" y="1986766"/>
            <a:ext cx="4069754" cy="3699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42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Gyro X, Y, Z: [-32768, 32767] = [-250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dps</a:t>
            </a:r>
            <a:r>
              <a:rPr lang="en-US" sz="2400">
                <a:latin typeface="Atkinson Hyperlegible Next"/>
                <a:ea typeface="Arial"/>
                <a:cs typeface="Arial"/>
                <a:sym typeface="Arial"/>
              </a:rPr>
              <a:t>, 250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dsp]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tkinson Hyperlegible Next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tkinson Hyperlegible Next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tkinson Hyperlegible Next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tkinson Hyperlegible Nex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12</a:t>
            </a:r>
          </a:p>
        </p:txBody>
      </p:sp>
      <p:pic>
        <p:nvPicPr>
          <p:cNvPr id="275" name="Google Shape;275;p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2487</Words>
  <Application>Microsoft Office PowerPoint</Application>
  <PresentationFormat>Widescreen</PresentationFormat>
  <Paragraphs>364</Paragraphs>
  <Slides>43</Slides>
  <Notes>43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253</cp:revision>
  <dcterms:created xsi:type="dcterms:W3CDTF">2019-01-14T22:06:33Z</dcterms:created>
  <dcterms:modified xsi:type="dcterms:W3CDTF">2026-03-08T08:04:59Z</dcterms:modified>
</cp:coreProperties>
</file>