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414" r:id="rId5"/>
    <p:sldId id="416" r:id="rId6"/>
    <p:sldId id="418" r:id="rId7"/>
    <p:sldId id="419" r:id="rId8"/>
    <p:sldId id="420" r:id="rId9"/>
    <p:sldId id="422" r:id="rId10"/>
    <p:sldId id="423" r:id="rId11"/>
    <p:sldId id="421" r:id="rId12"/>
    <p:sldId id="424" r:id="rId13"/>
    <p:sldId id="432" r:id="rId14"/>
    <p:sldId id="425" r:id="rId15"/>
    <p:sldId id="426" r:id="rId16"/>
    <p:sldId id="427" r:id="rId17"/>
    <p:sldId id="428" r:id="rId18"/>
    <p:sldId id="431" r:id="rId19"/>
    <p:sldId id="429" r:id="rId20"/>
    <p:sldId id="451" r:id="rId21"/>
    <p:sldId id="430" r:id="rId22"/>
    <p:sldId id="435" r:id="rId23"/>
    <p:sldId id="433" r:id="rId24"/>
    <p:sldId id="434" r:id="rId25"/>
    <p:sldId id="436" r:id="rId26"/>
    <p:sldId id="452" r:id="rId27"/>
    <p:sldId id="437" r:id="rId28"/>
    <p:sldId id="438" r:id="rId29"/>
    <p:sldId id="439" r:id="rId30"/>
    <p:sldId id="440" r:id="rId31"/>
    <p:sldId id="441" r:id="rId32"/>
    <p:sldId id="442" r:id="rId33"/>
    <p:sldId id="443" r:id="rId34"/>
    <p:sldId id="444" r:id="rId35"/>
    <p:sldId id="446" r:id="rId36"/>
    <p:sldId id="445" r:id="rId37"/>
    <p:sldId id="447" r:id="rId38"/>
    <p:sldId id="448" r:id="rId39"/>
    <p:sldId id="450" r:id="rId40"/>
    <p:sldId id="387" r:id="rId41"/>
    <p:sldId id="449"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95066F-FB1C-80A1-757F-8B89EF9D7A0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3333E14-AC8A-C269-3D97-1B09126B7D3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8899983-963B-49D1-E36B-808914F1D4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75665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0F423E58-8AB1-742F-8A08-2FCAAA14C08A}"/>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76F1C2F3-6CF3-8DC9-21FF-EB1B90F401F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BED7D72D-A17E-F7AD-88BE-28A930801A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3144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8E12A4-B693-9338-53ED-687BFF05753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B2B0279-CD66-34CD-1F7E-DC73D683CDA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5534A18-0892-0B3C-2E1B-18466AA2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7032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C5F8B3-5108-7798-0B1E-010C6EA975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60CBB-FFDF-460D-773C-1091F1502B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5D4EBE6-BD76-424B-656F-907D87EB08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78423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72A4E4-B0BF-29C8-FC37-325C9EF2B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D2FB53-82E8-5035-69CF-28B3E9A63F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A4B1DA-47CE-99BB-8ED9-6B6529A014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30092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09C7AD-4048-060C-616B-37C16CF558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797B2C-C076-DBDC-7DB5-FEACDFD6F7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FC8BF9-692B-68FA-33B3-619330E54D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8977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0B08EE-5F39-EA7B-14AC-3ABC5065E3F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8FE51D-3894-DDF8-0529-4CE30DD9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A8D9BE-6539-4700-A9C1-3878B5E978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23146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E72DFF-B2D6-B66D-6896-850639DAE2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AF8C5E-D708-9D31-2167-FB31C824CD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92BDAF-D2E5-AE34-C763-080F1A8464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739252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84D6A8-AB87-7D4A-B688-864BDCF290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72BE5-028E-43B3-5E76-3F60E7D05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B5D120-191A-74F7-7DED-C0490A632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965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7BF1E0-71A3-16BE-C547-F7D562CDE8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458EC9-26EA-D548-7DB9-86832078CA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573B3C-77B9-DF0D-DC21-894E4DD120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43443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A1FBDFF-E70F-98D4-DE4F-3DB7EB6A83A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1F0E9D3-C562-0241-BB3A-4C90B84C1D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9355A5B-CA00-04DC-B817-69072F06C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02105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C590F2-B258-715D-9080-AE5757C709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E47F7A-09BF-E31B-8546-46F0A8AFF9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28784B-D536-F82D-FC12-89FA462B62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98192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902CF2-ABDB-6B29-E474-6BCD0862D9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C7CCFE-B633-CA72-2565-3341750674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B5DCA7B-24DA-1865-8DB2-4EF5433148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18362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94A3C2-93BF-1109-2ED3-A5BDA184B4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15805B-AFE4-F856-8F57-9084A9671A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23ED7F-2311-4EF3-C4A6-B7C88D6DDB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56892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5DB8C2-BAAD-DA4F-6921-3FE04044EC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D015E-C790-7160-0345-1FC16BBCA0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C5706-3EF1-51F9-D70F-3343F95588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04367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8230A9-0DFD-2D6B-BA94-B592887B2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B4853A-6D96-6325-B9D6-2E041811F5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F97B58-C5D6-6C16-7C10-F2579DFA95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55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A4D1C5-EF0B-B2E7-FBC4-4FB2C366E5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A77F504-9EF4-F120-14B7-667A7474F9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44F409-F089-0215-1A61-7ABDA59D8F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4025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0BC67-708F-8F0B-016D-10D19EE31C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2936F1-98A7-AF0A-2145-EC92FDB5745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F224B-7833-5BAC-49DA-7C5CDB54A6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270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15359C-AC0F-95F7-D0EA-7406F53B95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C2C965-67E3-C5CF-BF34-FB0E6F09F5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ED9AE6-FF20-325E-C4D9-CC5F9B396E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8130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98FAE4D-3A67-CB16-2E93-71103EF90FA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4BE89B0D-BB57-6243-E3F2-93E5FB8E94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C8A51E0-6CFA-09E5-7C00-A03F637EDE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22847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87F1D-B6F4-1C21-FA21-CF8085C901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BE9C8-7874-DE58-7900-48B8A6A459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43655ED-2C03-56C5-2439-9237CB62C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974594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F670ED-EF7A-815B-6A39-E7367749A5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7B08C2-07EE-5681-956B-03CC44C1DE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9B5980-3C57-4D4C-68B7-82BA2AA8CB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62179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CF8AEE-C094-2B27-4A5B-A1288BB8A7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912FC-8B9E-FC1F-41C1-28748928FC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A2FE7E-A57F-361C-1674-C5DF0B0CDB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525572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3FB2E0-B497-6061-887F-7DC3B045FA4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9B06B91-332B-90F4-137C-69985AA88ED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7C9273E-2FFB-91DC-F7A5-21600420F4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39013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A39B54-308F-DF66-946E-F84CA6BBE3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D80470-3DEA-B82B-D57F-7826F61BC5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308E08-A823-53B5-4BA0-7588212824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74326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DD2B17-2824-48FA-5CDF-5F093E5DEB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6C8406-167A-3E97-367E-46B691DE696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5EA0B3-6AB5-3768-DC11-46CC83BC87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01414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471A8F3-0F1F-08B1-234E-027DCE0A37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E2FF20-01CE-6AEF-FEC6-1D03CF594D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B79E36-1776-AE76-0C56-2E49B8C1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79810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6087BA-1051-3A8A-E6BA-94765D6F3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7CC7E0-07DA-CC40-BD34-957F627657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B0D62-186C-2340-841D-025D6AB468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39357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AD6738-0AD3-4884-C503-98A39ACE42F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620A71-F8C0-1932-0F7F-304845554D5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35636-8756-2CE7-2E1E-B0EAA7C8D3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32841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77F7D0-F662-9DD2-7224-854B5E4B5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314445-B01F-D2C7-1C90-1BB3A300E8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DFF48A-B13B-A32D-B2AD-AA927B52F5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83375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6394A-7D06-15F5-3453-6D11480626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6EA3C2-D5C0-FA1F-263E-7C49FD05DC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4477D19-7C0F-A4E8-676B-AAEC8D089E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3101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0410F3-6293-470E-4C3A-761A13A155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960BA9-7913-9CCA-40E2-CAF2C8AF7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140872E-0F2B-307A-FAD0-E0FEE0416F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34684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1B474C-4DB8-19C2-D160-13C06FFCA1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8EB87-714E-E02D-FB06-7744C6B625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8DF058-3A32-68EF-7A47-46DDCE57C0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64252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13F271-4978-188A-2CA0-1CD7FB0AFE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A57194-4696-1D49-81C2-98379AD8F4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5CDA626-FD12-E4F2-AC99-128201811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41045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EE30C5-3C42-7C5E-1185-1B5A21B2841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A8F1F0-CFBA-334D-DA15-F9177B8091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0CD49D-7B2C-8009-82FB-FA8382EBE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534505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D2290F-1A36-AA33-7A71-751FF1FC12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76C916-C1BA-63B7-1120-8E512A80F0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9A6C8F-BD2C-0C89-2A44-4EC392DEDA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78873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A6FFB7-531E-AFB6-E8D5-3B10D2A7BB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0E33C-2C83-DE3D-4475-892E192263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F623A1-023E-25C1-B7C7-94B3B6840E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570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analog.com/cn/resources/technical-articles/accelerometer-and-gyroscopes-sensors-operation-sensing-and-applications.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hyperlink" Target="https://www.sciencedirect.com/science/article/pii/S0924424716300267"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hyperlink" Target="https://physicstoday.aip.org/features/the-little-machines-that-are-making-it-big" TargetMode="External"/><Relationship Id="rId4" Type="http://schemas.openxmlformats.org/officeDocument/2006/relationships/image" Target="../media/image8.jpeg"/><Relationship Id="rId9" Type="http://schemas.openxmlformats.org/officeDocument/2006/relationships/hyperlink" Target="https://www.analog.com/cn/resources/technical-articles/accelerometer-and-gyroscopes-sensors-operation-sensing-and-applications.html"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mdpi.com/2504-3900/1/4/337" TargetMode="Externa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video" Target="https://www.youtube.com/embed/KuekQ-m9xpw?feature=oembed" TargetMode="External"/><Relationship Id="rId5" Type="http://schemas.openxmlformats.org/officeDocument/2006/relationships/image" Target="../media/image12.jpe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reddit.com/r/3Dprinting/comments/103v6ef/1001_3d_printed_mems_gyroscope/" TargetMode="External"/><Relationship Id="rId4" Type="http://schemas.openxmlformats.org/officeDocument/2006/relationships/image" Target="../media/image15.gif"/></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reddit.com/r/3Dprinting/comments/103v6ef/1001_3d_printed_mems_gyroscope/" TargetMode="External"/><Relationship Id="rId5" Type="http://schemas.openxmlformats.org/officeDocument/2006/relationships/image" Target="../media/image15.gif"/><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eddit.com/r/3Dprinting/comments/103v6ef/1001_3d_printed_mems_gyroscope/"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5.gif"/><Relationship Id="rId5" Type="http://schemas.openxmlformats.org/officeDocument/2006/relationships/hyperlink" Target="https://www.semanticscholar.org/paper/Modeling-and-simulation-of-the-MEMS-vibratory-Patel-McCluskey/8dec6605fc5b603df07d74f7b9eb6875b2c17c3a" TargetMode="Externa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quanscient.com/blog/enhancing-mems-gyroscope-desig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8.gif"/><Relationship Id="rId5" Type="http://schemas.openxmlformats.org/officeDocument/2006/relationships/hyperlink" Target="https://forum.arduino.cc/t/getting-started-with-the-mpu6050-beginner-friendly-guide-with-visual-explanations/1364064" TargetMode="External"/><Relationship Id="rId4" Type="http://schemas.openxmlformats.org/officeDocument/2006/relationships/image" Target="../media/image17.gif"/></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hyperlink" Target="https://www.printables.com/model/413667-mems-model-six-axis-imu-device"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www.researchgate.net/figure/llustration-of-a-ferromagnetic-MEMS-magnetometer-design_fig18_255663586" TargetMode="Externa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hyperlink" Target="https://www.mdpi.com/1424-8220/9/9/6951"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12</a:t>
            </a:r>
            <a:r>
              <a:rPr i="0" b="0" lang="en-US" sz="2500">
                <a:solidFill>
                  <a:schemeClr val="lt1"/>
                </a:solidFill>
              </a:rPr>
              <a:t>: IMU</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a:t>
            </a:r>
            <a:r>
              <a:rPr lang="en-US" sz="1800" b="0" i="0" u="none" strike="noStrike" cap="none" baseline="30000" dirty="0">
                <a:solidFill>
                  <a:schemeClr val="lt1"/>
                </a:solidFill>
                <a:latin typeface="Atkinson Hyperlegible Next"/>
                <a:ea typeface="Arial"/>
                <a:cs typeface="Arial"/>
                <a:sym typeface="Arial"/>
              </a:rPr>
              <a:t>nd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review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To receive data, you must also ____ data.</a:t>
            </a: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is FIFO? Why is it used?</a:t>
            </a:r>
          </a:p>
          <a:p>
            <a:pPr marL="285750" indent="-285750">
              <a:lnSpc>
                <a:spcPct val="100000"/>
              </a:lnSpc>
              <a:spcBef>
                <a:spcPts val="0"/>
              </a:spcBef>
              <a:buSzPts val="3000"/>
            </a:pPr>
            <a:r>
              <a:rPr lang="en-US" sz="2400" dirty="0">
                <a:latin typeface="Atkinson Hyperlegible Next"/>
                <a:ea typeface="Arial"/>
                <a:cs typeface="Arial"/>
                <a:sym typeface="Arial"/>
              </a:rPr>
              <a:t>What is the maximum size for the buffer’s data in bits?</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SPICHAR = 0xF mean?</a:t>
            </a:r>
          </a:p>
          <a:p>
            <a:pPr marL="285750" indent="-285750">
              <a:lnSpc>
                <a:spcPct val="100000"/>
              </a:lnSpc>
              <a:spcBef>
                <a:spcPts val="0"/>
              </a:spcBef>
              <a:buSzPts val="3000"/>
            </a:pPr>
            <a:r>
              <a:rPr lang="en-US" sz="2400" dirty="0">
                <a:latin typeface="Atkinson Hyperlegible Next"/>
                <a:ea typeface="Arial"/>
                <a:cs typeface="Arial"/>
                <a:sym typeface="Arial"/>
              </a:rPr>
              <a:t>What do absolute / incremental encoders measure? When do they fail at measuring </a:t>
            </a:r>
            <a:r>
              <a:rPr lang="en-US" sz="2400">
                <a:latin typeface="Atkinson Hyperlegible Next"/>
                <a:ea typeface="Arial"/>
                <a:cs typeface="Arial"/>
                <a:sym typeface="Arial"/>
              </a:rPr>
              <a:t>travel distance?</a:t>
            </a: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448E8BE-1421-3003-DC40-4A73B38059B7}"/>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A288B50-BF90-793A-EAB2-BC440F4B4DEB}"/>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CF4B6496-0DE4-A9D0-729E-962D1CBA2A0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840123DA-9D44-1ACD-A55D-78BB3F9D06C6}"/>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86ACF669-55BA-EB1A-7E38-21DD778BACED}"/>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15DFBE2C-AFB1-035D-E847-94D2D88C72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3F2C7-EE76-5CFC-A7EB-505010E4390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838E56FD-9334-4D84-59F5-4D7D1C5E6CB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7429593-3799-B6B3-8644-8A1FE63290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CB24684-AABE-CF5E-3C60-25D47F0D65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92B3D65-762C-D884-3FAF-9F50AAD9C21F}"/>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EC2A09D-C821-29AD-705F-48CDF3C3A0F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4478689-4693-CBAF-DD7D-01221660520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799206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87F64F0A-7D43-49C1-3910-CD0D9EDC7F37}"/>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7FC753A9-03ED-8601-09EA-32C164B9BB75}"/>
              </a:ext>
            </a:extLst>
          </p:cNvPr>
          <p:cNvSpPr/>
          <p:nvPr>
            <p:ph type="title"/>
          </p:nvPr>
        </p:nvSpPr>
        <p:spPr>
          <a:xfrm>
            <a:off x="990601" y="1943698"/>
            <a:ext cx="10210799" cy="2970604"/>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4800" b="1" dirty="0">
                <a:solidFill>
                  <a:schemeClr val="lt1"/>
                </a:solidFill>
              </a:rPr>
              <a:t>Thank you to everyone that responded to my feedback form!</a:t>
            </a:r>
          </a:p>
          <a:p>
            <a:pPr lvl="0" algn="ctr">
              <a:lnSpc>
                <a:spcPct val="100000"/>
              </a:lnSpc>
              <a:spcBef>
                <a:spcPts val="0"/>
              </a:spcBef>
              <a:spcAft>
                <a:spcPts val="0"/>
              </a:spcAft>
            </a:pPr>
            <a:r>
              <a:rPr i="0" lang="en-US" sz="4800" b="1" dirty="0">
                <a:solidFill>
                  <a:schemeClr val="lt1"/>
                </a:solidFill>
              </a:rPr>
              <a:t>There was a lot of great feedback that I will try to incorporate!</a:t>
            </a:r>
            <a:endParaRPr i="0" lang="en-US" sz="40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4F8AA0FB-9834-A354-B11D-A96E11BB5C9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00450529-8015-E545-3E6A-E5BF886A19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57DD4F82-C0A6-F9E0-3E19-AAF1AFD216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0B1BBCC4-F073-A8F3-80B5-D8B3085BC7C1}"/>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7C572CD7-118C-2923-F9C4-E167E9DF687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6974B672-2806-2FCB-EC23-9CD1CE640A1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820723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23ABB86-DC26-E2E7-289C-6B7F5AE1F6E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84470C3-9559-ABA2-4789-174B4DCA888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Accelerometer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EE837E3-1C56-7551-D387-050E637B2FD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D00368B-C65A-6DCF-2975-35E2DFEBAC9D}"/>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506EB16-E94A-E949-0385-5B446129202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FFE0CB8-4FCD-6178-0DBD-6E1057AB908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10A0B64-AAF9-63FF-8636-4010A9C123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7B3ADB9-4EB5-6BD0-9B49-04137C3193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3CAA285-CAAD-D4CB-0062-0B2C9CDFC22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B8001D8-A9DE-85E5-3051-81B9D57652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C18ADED-2004-87F0-ABCD-320C49B506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9868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FCD8DA-1D95-2F3A-C28A-F8A123EDC3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174105-033F-4573-5F7B-AFA71B5170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cannot and should not rely on a single sensor source (sensor fusion will be covered later), and sometimes we cannot attach encoders.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So, what can we do?</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goal is to measure direction and rotation. What is the most basic component that we can measure?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Forces!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calculate velocity and position from forces?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B4027A-0581-1617-68E9-B3EC09EB40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0AD76B-7692-8039-C8A5-DBC7442755B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Accelerometer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1107B-7ACF-DF8E-675E-CC6E87C217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A2D60F-5115-D35B-D514-4248D3DBD4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3BDEAA-3CC7-A31D-BDCF-3251D5EFAB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4A9B3-97F7-02EC-59E4-CAC6334343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65854D-473D-077F-578A-5EB7E9D902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07742A-E8BA-3528-F0F8-A8F2968D3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4570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6100568-B510-5830-8294-3F782AC48F54}"/>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EB62CF8-AF82-A6B6-7E70-E6B386116CCD}"/>
              </a:ext>
            </a:extLst>
          </p:cNvPr>
          <p:cNvGrpSpPr/>
          <p:nvPr/>
        </p:nvGrpSpPr>
        <p:grpSpPr>
          <a:xfrm>
            <a:off x="7365711" y="2491388"/>
            <a:ext cx="4581525" cy="3002022"/>
            <a:chOff x="7365711" y="2491388"/>
            <a:chExt cx="4581525" cy="3002022"/>
          </a:xfrm>
        </p:grpSpPr>
        <p:pic>
          <p:nvPicPr>
            <p:cNvPr id="1026" name="Picture 2" descr="Diagram: a movable mass sits between upper and lower fixed electrodes and moves along X, held by springs to the silicon substrate above and below. The gaps d1 (upper) and d2 (lower) form two variable capacitors, C1 and C2 (both labeled C2 in the figure). Table: d1 greater than d2 means motion down and C1 less than C2; d1 less than d2 means motion up and C1 greater than C2; d1 equal to d2 means no motion and C1 equals C2.">
              <a:extLst>
                <a:ext uri="{FF2B5EF4-FFF2-40B4-BE49-F238E27FC236}">
                  <a16:creationId xmlns:a16="http://schemas.microsoft.com/office/drawing/2014/main" id="{C0099A63-1F74-2E2F-FA77-FE4FC1DFDF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65711" y="2491388"/>
              <a:ext cx="4581525" cy="240982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CC010A3C-74AC-F186-CF43-C6B661E689C6}"/>
                </a:ext>
              </a:extLst>
            </p:cNvPr>
            <p:cNvSpPr txBox="1"/>
            <p:nvPr/>
          </p:nvSpPr>
          <p:spPr>
            <a:xfrm>
              <a:off x="7729248" y="4939412"/>
              <a:ext cx="3854450" cy="553998"/>
            </a:xfrm>
            <a:prstGeom prst="rect">
              <a:avLst/>
            </a:prstGeom>
            <a:noFill/>
          </p:spPr>
          <p:txBody>
            <a:bodyPr wrap="square">
              <a:spAutoFit/>
            </a:bodyPr>
            <a:lstStyle/>
            <a:p>
              <a:pPr algn="ctr"/>
              <a:r>
                <a:rPr lang="en-US" sz="1000" dirty="0">
                  <a:hlinkClick r:id="rId4"/>
                </a:rPr>
                <a:t>https://www.analog.com/cn/resources/technical-articles/accelerometer-and-gyroscopes-sensors-operation-sensing-and-applications.html</a:t>
              </a:r>
              <a:r>
                <a:rPr lang="en-US" sz="1000" dirty="0"/>
                <a:t> </a:t>
              </a:r>
            </a:p>
          </p:txBody>
        </p:sp>
      </p:grpSp>
      <p:sp>
        <p:nvSpPr>
          <p:cNvPr id="118" name="Google Shape;118;p29">
            <a:extLst>
              <a:ext uri="{FF2B5EF4-FFF2-40B4-BE49-F238E27FC236}">
                <a16:creationId xmlns:a16="http://schemas.microsoft.com/office/drawing/2014/main" id="{3F31382D-6C05-C0CC-6C4B-BFFAF87BF73D}"/>
              </a:ext>
            </a:extLst>
          </p:cNvPr>
          <p:cNvSpPr txBox="1">
            <a:spLocks noGrp="1"/>
          </p:cNvSpPr>
          <p:nvPr>
            <p:ph type="body" idx="1"/>
          </p:nvPr>
        </p:nvSpPr>
        <p:spPr>
          <a:xfrm>
            <a:off x="376809" y="1334279"/>
            <a:ext cx="69889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MEMS (Micro-Electro-Mechanical Systems) accelerometer measure linear acceleration.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Accelerometers work like a weight suspended by springs. When the mass is moved you measure the displacement, the springs bring it back to the center.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chips, we use the change of capacitors. The capacitance is based on the distance between the 2 materials. So, the smaller the distance, the larger the returned capacitance.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You then measure this capacitance. </a:t>
            </a:r>
            <a:endParaRPr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AFAA63-8F58-EF60-91BF-81873E85B1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FEAA0D-6F41-FE5E-0AFD-D765941412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AFF74-DC4C-BE05-F952-7307244FB81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1A02F0-D190-5682-8E0E-122161AE5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D9D490-396B-C0AF-4C11-B1BC85459A8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48E8C0-F8FE-9124-A218-9620B29019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4BA59E-FF7A-3082-AC7A-DA2463EA3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D054AF-6DE3-633B-FB0B-119A863146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968C2B57-7B23-E0F2-BA75-D6D44A1690BE}"/>
              </a:ext>
            </a:extLst>
          </p:cNvPr>
          <p:cNvCxnSpPr>
            <a:cxnSpLocks/>
          </p:cNvCxnSpPr>
          <p:nvPr/>
        </p:nvCxnSpPr>
        <p:spPr>
          <a:xfrm flipV="1">
            <a:off x="6673850" y="4298950"/>
            <a:ext cx="2762250" cy="60226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94294FA-1DBC-B314-2164-0B7EB39D33F5}"/>
              </a:ext>
            </a:extLst>
          </p:cNvPr>
          <p:cNvCxnSpPr>
            <a:cxnSpLocks/>
          </p:cNvCxnSpPr>
          <p:nvPr/>
        </p:nvCxnSpPr>
        <p:spPr>
          <a:xfrm flipV="1">
            <a:off x="6673850" y="4451352"/>
            <a:ext cx="2736850" cy="4498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3064546-C747-54C9-ED36-48A65C668E71}"/>
              </a:ext>
            </a:extLst>
          </p:cNvPr>
          <p:cNvCxnSpPr>
            <a:cxnSpLocks/>
          </p:cNvCxnSpPr>
          <p:nvPr/>
        </p:nvCxnSpPr>
        <p:spPr>
          <a:xfrm flipV="1">
            <a:off x="6673850" y="4670421"/>
            <a:ext cx="2711450" cy="2307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2218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66A12E-7CB7-D83B-8BFE-9DCE7F520C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E6309B-980C-CF8D-5D8D-933BEEBF27A8}"/>
                  </a:ext>
                </a:extLst>
              </p:cNvPr>
              <p:cNvSpPr txBox="1">
                <a:spLocks noGrp="1"/>
              </p:cNvSpPr>
              <p:nvPr>
                <p:ph type="body" idx="1"/>
              </p:nvPr>
            </p:nvSpPr>
            <p:spPr>
              <a:xfrm>
                <a:off x="376808" y="1334279"/>
                <a:ext cx="1135164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Force causes a displacement of the mass which, in turn, causes a capacitance change.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Placing multiple electrodes in parallel allows for a larger capacitance, which will be more easily detected.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calculating the difference between </a:t>
                </a:r>
                <a14:m>
                  <m:oMath xmlns:m="http://schemas.openxmlformats.org/officeDocument/2006/math">
                    <m:sSub>
                      <m:sSubPr>
                        <m:ctrlPr>
                          <a:rPr lang="en-US" sz="2400" i="1" dirty="0" smtClean="0">
                            <a:latin typeface="Cambria Math" panose="02040503050406030204" pitchFamily="18" charset="0"/>
                            <a:cs typeface="Arial"/>
                            <a:sym typeface="Arial"/>
                          </a:rPr>
                        </m:ctrlPr>
                      </m:sSubPr>
                      <m:e>
                        <m:r>
                          <m:rPr>
                            <m:sty m:val="p"/>
                          </m:rPr>
                          <a:rPr lang="en-US" sz="2400" b="0" i="1" dirty="0" smtClean="0">
                            <a:latin typeface="Cambria Math" panose="02040503050406030204" pitchFamily="18" charset="0"/>
                            <a:cs typeface="Arial"/>
                            <a:sym typeface="Arial"/>
                          </a:rPr>
                          <m:t>C</m:t>
                        </m:r>
                      </m:e>
                      <m:sub>
                        <m:r>
                          <a:rPr lang="en-US" sz="2400" b="0" i="1" dirty="0" smtClean="0">
                            <a:latin typeface="Cambria Math" panose="02040503050406030204" pitchFamily="18" charset="0"/>
                            <a:cs typeface="Arial"/>
                            <a:sym typeface="Arial"/>
                          </a:rPr>
                          <m:t>1</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cs typeface="Arial"/>
                            <a:sym typeface="Arial"/>
                          </a:rPr>
                        </m:ctrlPr>
                      </m:sSubPr>
                      <m:e>
                        <m:r>
                          <m:rPr>
                            <m:sty m:val="p"/>
                          </m:rPr>
                          <a:rPr lang="en-US" sz="2400" i="1" dirty="0">
                            <a:latin typeface="Cambria Math" panose="02040503050406030204" pitchFamily="18" charset="0"/>
                            <a:cs typeface="Arial"/>
                            <a:sym typeface="Arial"/>
                          </a:rPr>
                          <m:t>C</m:t>
                        </m:r>
                      </m:e>
                      <m:sub>
                        <m:r>
                          <a:rPr lang="en-US" sz="2400" b="0" i="1" dirty="0" smtClean="0">
                            <a:latin typeface="Cambria Math" panose="02040503050406030204" pitchFamily="18" charset="0"/>
                            <a:cs typeface="Arial"/>
                            <a:sym typeface="Arial"/>
                          </a:rPr>
                          <m:t>2</m:t>
                        </m:r>
                      </m:sub>
                    </m:sSub>
                  </m:oMath>
                </a14:m>
                <a:r>
                  <a:rPr lang="en-US" sz="2400" dirty="0">
                    <a:latin typeface="Atkinson Hyperlegible Next"/>
                    <a:ea typeface="Arial"/>
                    <a:cs typeface="Arial"/>
                    <a:sym typeface="Arial"/>
                  </a:rPr>
                  <a:t>, we can derive the displacement of the mass and its direction. </a:t>
                </a:r>
              </a:p>
            </p:txBody>
          </p:sp>
        </mc:Choice>
        <mc:Fallback xmlns="">
          <p:sp>
            <p:nvSpPr>
              <p:cNvPr id="118" name="Google Shape;118;p29">
                <a:extLst>
                  <a:ext uri="{FF2B5EF4-FFF2-40B4-BE49-F238E27FC236}">
                    <a16:creationId xmlns:a16="http://schemas.microsoft.com/office/drawing/2014/main" id="{D1E6309B-980C-CF8D-5D8D-933BEEBF27A8}"/>
                  </a:ext>
                </a:extLst>
              </p:cNvPr>
              <p:cNvSpPr txBox="1">
                <a:spLocks noGrp="1" noRot="1" noChangeAspect="1" noMove="1" noResize="1" noEditPoints="1" noAdjustHandles="1" noChangeArrowheads="1" noChangeShapeType="1" noTextEdit="1"/>
              </p:cNvSpPr>
              <p:nvPr>
                <p:ph type="body" idx="1"/>
              </p:nvPr>
            </p:nvSpPr>
            <p:spPr>
              <a:xfrm>
                <a:off x="376808" y="1334279"/>
                <a:ext cx="11351641" cy="4821102"/>
              </a:xfrm>
              <a:prstGeom prst="rect">
                <a:avLst/>
              </a:prstGeom>
              <a:blipFill>
                <a:blip r:embed="rId3"/>
                <a:stretch>
                  <a:fillRect l="-859" t="-885" r="-102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910397-B140-127F-D4BE-BFD2C343A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02D7D-2C94-3317-CF8C-932668F0A7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768C6-626D-B1BB-CEE8-862C33C50CD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D4FA256-DE82-A0DA-7B4E-7B1BB1AD73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6725D9-FF50-6AA8-9B7D-6F080B285D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33E115-E643-56C7-1052-771585BCB4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6796F6-D091-E264-1B99-901E81EDE1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5E6768-3C7B-01F9-0BBA-66217F100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42592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C5DA62-BC0B-6A89-9C62-C152349E3A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BFC2976-A4C8-D7F4-8E4F-33CC386D07A9}"/>
                  </a:ext>
                </a:extLst>
              </p:cNvPr>
              <p:cNvSpPr txBox="1">
                <a:spLocks noGrp="1"/>
              </p:cNvSpPr>
              <p:nvPr>
                <p:ph type="body" idx="1"/>
              </p:nvPr>
            </p:nvSpPr>
            <p:spPr>
              <a:xfrm>
                <a:off x="376808" y="1334279"/>
                <a:ext cx="1135164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Since we can measure the displacement and the system acts as a string we can do the following. We start with: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ma</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force from a spring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k</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a:t>
                </a:r>
                <a14:m>
                  <m:oMath xmlns:m="http://schemas.openxmlformats.org/officeDocument/2006/math">
                    <m:r>
                      <m:rPr>
                        <m:sty m:val="p"/>
                      </m:rPr>
                      <a:rPr lang="en-US" sz="2400" b="0" i="1" smtClean="0">
                        <a:latin typeface="Cambria Math" panose="02040503050406030204" pitchFamily="18" charset="0"/>
                        <a:ea typeface="Arial"/>
                        <a:cs typeface="Arial"/>
                        <a:sym typeface="Arial"/>
                      </a:rPr>
                      <m:t>m</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k</m:t>
                    </m:r>
                  </m:oMath>
                </a14:m>
                <a:r>
                  <a:rPr lang="en-US" sz="2400" dirty="0">
                    <a:latin typeface="Atkinson Hyperlegible Next"/>
                    <a:ea typeface="Arial"/>
                    <a:cs typeface="Arial"/>
                    <a:sym typeface="Arial"/>
                  </a:rPr>
                  <a:t> are known (design choices), and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a14:m>
                <a:r>
                  <a:rPr lang="en-US" sz="2400" dirty="0">
                    <a:latin typeface="Atkinson Hyperlegible Next"/>
                    <a:ea typeface="Arial"/>
                    <a:cs typeface="Arial"/>
                    <a:sym typeface="Arial"/>
                  </a:rPr>
                  <a:t> is measured from the capacitors, we get that: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ma</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a</m:t>
                      </m:r>
                      <m:r>
                        <a:rPr lang="en-US" sz="2400" b="0" i="1" smtClean="0">
                          <a:latin typeface="Cambria Math" panose="02040503050406030204" pitchFamily="18" charset="0"/>
                          <a:ea typeface="Arial"/>
                          <a:cs typeface="Arial"/>
                          <a:sym typeface="Arial"/>
                        </a:rPr>
                        <m:t> = </m:t>
                      </m:r>
                      <m:f>
                        <m:fPr>
                          <m:ctrlPr>
                            <a:rPr lang="en-US" sz="2400" b="0" i="1" smtClean="0">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k</m:t>
                          </m:r>
                        </m:num>
                        <m:den>
                          <m:r>
                            <m:rPr>
                              <m:sty m:val="p"/>
                            </m:rPr>
                            <a:rPr lang="en-US" sz="2400" b="0" i="1" smtClean="0">
                              <a:latin typeface="Cambria Math" panose="02040503050406030204" pitchFamily="18" charset="0"/>
                              <a:cs typeface="Arial"/>
                              <a:sym typeface="Arial"/>
                            </a:rPr>
                            <m:t>m</m:t>
                          </m:r>
                        </m:den>
                      </m:f>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BFC2976-A4C8-D7F4-8E4F-33CC386D07A9}"/>
                  </a:ext>
                </a:extLst>
              </p:cNvPr>
              <p:cNvSpPr txBox="1">
                <a:spLocks noGrp="1" noRot="1" noChangeAspect="1" noMove="1" noResize="1" noEditPoints="1" noAdjustHandles="1" noChangeArrowheads="1" noChangeShapeType="1" noTextEdit="1"/>
              </p:cNvSpPr>
              <p:nvPr>
                <p:ph type="body" idx="1"/>
              </p:nvPr>
            </p:nvSpPr>
            <p:spPr>
              <a:xfrm>
                <a:off x="376808" y="1334279"/>
                <a:ext cx="11351641" cy="4821102"/>
              </a:xfrm>
              <a:prstGeom prst="rect">
                <a:avLst/>
              </a:prstGeom>
              <a:blipFill>
                <a:blip r:embed="rId3"/>
                <a:stretch>
                  <a:fillRect l="-85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125F3A-A90B-6BDF-A76F-68EF07621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9595E0-8716-0A59-7715-D6C272A3AB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3135A-01AA-59C8-2AA0-AEE0BBF758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A9229-4314-D7A6-21C9-5F59DA45B7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CF4711-6BE1-2C22-D259-86106480E8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CD93B2-FF10-6DFD-FBD5-CDEBF0F743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EF29C2-8CD2-5B84-7F9E-F1430CF19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8A38FE-DA45-33E1-F96B-DE644D0A29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07972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0DF339-BECE-0B30-309A-75D4AB1FC9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9D43B-297E-BBE7-7D87-43BAA0F00DB5}"/>
              </a:ext>
            </a:extLst>
          </p:cNvPr>
          <p:cNvSpPr txBox="1">
            <a:spLocks noGrp="1"/>
          </p:cNvSpPr>
          <p:nvPr>
            <p:ph type="body" idx="1"/>
          </p:nvPr>
        </p:nvSpPr>
        <p:spPr>
          <a:xfrm>
            <a:off x="376809" y="1334279"/>
            <a:ext cx="11452008" cy="134641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You keep stacking these to remove the noise to get more accurate readings. In turn we get the following internal system. It is incredible how small these are!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axis can the following accelerometers measure?</a:t>
            </a:r>
          </a:p>
        </p:txBody>
      </p:sp>
      <p:sp>
        <p:nvSpPr>
          <p:cNvPr id="119" name="Google Shape;119;p29">
            <a:extLst>
              <a:ext uri="{FF2B5EF4-FFF2-40B4-BE49-F238E27FC236}">
                <a16:creationId xmlns:a16="http://schemas.microsoft.com/office/drawing/2014/main" id="{897250A0-BE36-81F5-5B93-811CA984EF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E3A581-7EAB-B40A-905D-108026712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14CEF3-618A-F447-8470-8B80B0BD1D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930E9C-8BA5-4685-F5E0-29AAF5B58E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CC39B7-0450-84A4-05A9-0CAFE70A35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86D7A5-7566-46F5-5CAB-6F2CB7E413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4CB4F4-29EF-B07E-16E9-1F527D6B3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0A6E9-097D-6AF2-2495-E9B2296A61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3" name="Group 12">
            <a:extLst>
              <a:ext uri="{FF2B5EF4-FFF2-40B4-BE49-F238E27FC236}">
                <a16:creationId xmlns:a16="http://schemas.microsoft.com/office/drawing/2014/main" id="{D282228A-7F9B-1E1B-97B9-A5FC4F7E62E1}"/>
              </a:ext>
            </a:extLst>
          </p:cNvPr>
          <p:cNvGrpSpPr/>
          <p:nvPr/>
        </p:nvGrpSpPr>
        <p:grpSpPr>
          <a:xfrm>
            <a:off x="8146727" y="3032124"/>
            <a:ext cx="3752011" cy="3439238"/>
            <a:chOff x="8146727" y="3032124"/>
            <a:chExt cx="3752011" cy="3439238"/>
          </a:xfrm>
        </p:grpSpPr>
        <p:pic>
          <p:nvPicPr>
            <p:cNvPr id="2056" name="Picture 8" descr="Photo: Scanning electron micrograph of a MEMS capacitive accelerometer etched into a silicon chip, with a 100 micrometer scale bar; the whole structure is roughly 350 micrometers wide. A central rectangular proof mass, perforated with a grid of small holes, is suspended by folded springs anchored at its left and right ends. Rows of interdigitated comb fingers line its top and bottom edges, all oriented the same way, suggesting sensing along a single in-plane axis.">
              <a:extLst>
                <a:ext uri="{FF2B5EF4-FFF2-40B4-BE49-F238E27FC236}">
                  <a16:creationId xmlns:a16="http://schemas.microsoft.com/office/drawing/2014/main" id="{6041F7B9-5E30-C48D-9CF0-8BD0E9279B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46727" y="3032124"/>
              <a:ext cx="3752011" cy="272414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CF44E14-B388-0148-7E1C-157A9C3FDB8F}"/>
                </a:ext>
              </a:extLst>
            </p:cNvPr>
            <p:cNvSpPr txBox="1"/>
            <p:nvPr/>
          </p:nvSpPr>
          <p:spPr>
            <a:xfrm>
              <a:off x="8601877" y="6071252"/>
              <a:ext cx="2841710" cy="400110"/>
            </a:xfrm>
            <a:prstGeom prst="rect">
              <a:avLst/>
            </a:prstGeom>
            <a:noFill/>
          </p:spPr>
          <p:txBody>
            <a:bodyPr wrap="square">
              <a:spAutoFit/>
            </a:bodyPr>
            <a:lstStyle/>
            <a:p>
              <a:pPr algn="ctr"/>
              <a:r>
                <a:rPr lang="en-US" sz="1000" dirty="0">
                  <a:hlinkClick r:id="rId5"/>
                </a:rPr>
                <a:t>https://physicstoday.aip.org/features/the-little-machines-that-are-making-it-big</a:t>
              </a:r>
              <a:r>
                <a:rPr lang="en-US" sz="1000" dirty="0"/>
                <a:t> </a:t>
              </a:r>
            </a:p>
          </p:txBody>
        </p:sp>
      </p:grpSp>
      <p:grpSp>
        <p:nvGrpSpPr>
          <p:cNvPr id="12" name="Group 11">
            <a:extLst>
              <a:ext uri="{FF2B5EF4-FFF2-40B4-BE49-F238E27FC236}">
                <a16:creationId xmlns:a16="http://schemas.microsoft.com/office/drawing/2014/main" id="{AA3E9B34-809C-B884-B26F-72D58D1064FC}"/>
              </a:ext>
            </a:extLst>
          </p:cNvPr>
          <p:cNvGrpSpPr/>
          <p:nvPr/>
        </p:nvGrpSpPr>
        <p:grpSpPr>
          <a:xfrm>
            <a:off x="4411535" y="2796903"/>
            <a:ext cx="3696131" cy="3674459"/>
            <a:chOff x="4411535" y="2796903"/>
            <a:chExt cx="3696131" cy="3674459"/>
          </a:xfrm>
        </p:grpSpPr>
        <p:pic>
          <p:nvPicPr>
            <p:cNvPr id="2052" name="Picture 4" descr="Electron micrograph of a bulk-silicon MEMS capacitive accelerometer on a glass substrate. A long perforated proof mass runs down the center, held at each end by folded beams attached to an anchor. Along both sides, its interdigitated comb fingers mesh with fingers on fixed side anchors, forming comb capacitors. When the proof mass moves, finger overlap and gap change, changing capacitance. All the fingers run in the same direction.">
              <a:extLst>
                <a:ext uri="{FF2B5EF4-FFF2-40B4-BE49-F238E27FC236}">
                  <a16:creationId xmlns:a16="http://schemas.microsoft.com/office/drawing/2014/main" id="{E430249B-F567-6199-F617-19C666074D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11535" y="2796903"/>
              <a:ext cx="3696131" cy="319459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EE84E31-02FE-EF96-34F5-1329D2124C83}"/>
                </a:ext>
              </a:extLst>
            </p:cNvPr>
            <p:cNvSpPr txBox="1"/>
            <p:nvPr/>
          </p:nvSpPr>
          <p:spPr>
            <a:xfrm>
              <a:off x="4915497" y="6071252"/>
              <a:ext cx="3002139" cy="400110"/>
            </a:xfrm>
            <a:prstGeom prst="rect">
              <a:avLst/>
            </a:prstGeom>
            <a:noFill/>
          </p:spPr>
          <p:txBody>
            <a:bodyPr wrap="square">
              <a:spAutoFit/>
            </a:bodyPr>
            <a:lstStyle/>
            <a:p>
              <a:pPr algn="ctr"/>
              <a:r>
                <a:rPr lang="en-US" sz="1000" dirty="0">
                  <a:hlinkClick r:id="rId7"/>
                </a:rPr>
                <a:t>https://www.sciencedirect.com/science/article/pii/S0924424716300267</a:t>
              </a:r>
              <a:r>
                <a:rPr lang="en-US" sz="1000" dirty="0"/>
                <a:t> </a:t>
              </a:r>
            </a:p>
          </p:txBody>
        </p:sp>
      </p:grpSp>
      <p:grpSp>
        <p:nvGrpSpPr>
          <p:cNvPr id="11" name="Group 10">
            <a:extLst>
              <a:ext uri="{FF2B5EF4-FFF2-40B4-BE49-F238E27FC236}">
                <a16:creationId xmlns:a16="http://schemas.microsoft.com/office/drawing/2014/main" id="{B373C202-2046-B73F-21F8-A630E2BDCEC5}"/>
              </a:ext>
            </a:extLst>
          </p:cNvPr>
          <p:cNvGrpSpPr/>
          <p:nvPr/>
        </p:nvGrpSpPr>
        <p:grpSpPr>
          <a:xfrm>
            <a:off x="306888" y="2840884"/>
            <a:ext cx="4065587" cy="3707422"/>
            <a:chOff x="306888" y="2840884"/>
            <a:chExt cx="4065587" cy="3707422"/>
          </a:xfrm>
        </p:grpSpPr>
        <p:pic>
          <p:nvPicPr>
            <p:cNvPr id="2050" name="Picture 2" descr="Diagram: MEMS capacitive accelerometer on a silicon substrate. A central movable mass hangs from suspension beams attached to four corner anchors. Comb-like moving electrodes extend from both sides of the mass and interleave with fixed electrodes connected to capacitance-sensing blocks on the left and right. When acceleration shifts the mass sideways, the gaps between moving and fixed electrodes change, changing the measured capacitance. The electrodes are arranged to sense motion along the left-right axis.">
              <a:extLst>
                <a:ext uri="{FF2B5EF4-FFF2-40B4-BE49-F238E27FC236}">
                  <a16:creationId xmlns:a16="http://schemas.microsoft.com/office/drawing/2014/main" id="{A3E81219-B5A3-D25A-A450-7ED9CF3F8F9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6888" y="2840884"/>
              <a:ext cx="4065587" cy="310662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DA254D9-91DE-03A6-26E7-935706FB2FE6}"/>
                </a:ext>
              </a:extLst>
            </p:cNvPr>
            <p:cNvSpPr txBox="1"/>
            <p:nvPr/>
          </p:nvSpPr>
          <p:spPr>
            <a:xfrm>
              <a:off x="376807" y="5994308"/>
              <a:ext cx="3854450" cy="553998"/>
            </a:xfrm>
            <a:prstGeom prst="rect">
              <a:avLst/>
            </a:prstGeom>
            <a:noFill/>
          </p:spPr>
          <p:txBody>
            <a:bodyPr wrap="square">
              <a:spAutoFit/>
            </a:bodyPr>
            <a:lstStyle/>
            <a:p>
              <a:pPr algn="ctr"/>
              <a:r>
                <a:rPr lang="en-US" sz="1000" dirty="0">
                  <a:hlinkClick r:id="rId9"/>
                </a:rPr>
                <a:t>https://www.analog.com/cn/resources/technical-articles/accelerometer-and-gyroscopes-sensors-operation-sensing-and-applications.html</a:t>
              </a:r>
              <a:r>
                <a:rPr lang="en-US" sz="1000" dirty="0"/>
                <a:t> </a:t>
              </a:r>
            </a:p>
          </p:txBody>
        </p:sp>
      </p:grpSp>
    </p:spTree>
    <p:extLst>
      <p:ext uri="{BB962C8B-B14F-4D97-AF65-F5344CB8AC3E}">
        <p14:creationId xmlns:p14="http://schemas.microsoft.com/office/powerpoint/2010/main" val="3072020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96A34-9AA0-A0B8-6CA1-3016174280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52E2B5-951A-5CF0-7480-482267EC05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12A5C-A8B4-D40F-39DC-CA6A2CABC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2E7A90-0B8C-8F9C-A335-68C3E20739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F1F78E-0944-9C3F-046B-62AB023863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0846ABD-A4AC-E03D-BE93-3EAE52A5F9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584477-D86A-F2AE-631C-DF158392A0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7F37E4-9F67-F338-BCB1-1BE86A0C4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BDECC-95DB-1BB6-7B03-48B6F84FDC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Electron micrographs of a single-chip three-axis MEMS accelerometer. (a) The whole chip, about 1 millimeter scale, holding separate z-, x- and y-axis sensors beside on-chip sensing circuits. (b) Close-up of an in-plane sensor, 300 micrometer scale: a perforated proof mass suspended by springs and surrounded by interleaved comb fingers, with a shock-stop beam that limits travel under excessive acceleration and self-test comb fingers. (c) The z-axis sensor, 500 micrometer scale: a perforated suspended plate with two solid square masses that moves out of plane.">
            <a:extLst>
              <a:ext uri="{FF2B5EF4-FFF2-40B4-BE49-F238E27FC236}">
                <a16:creationId xmlns:a16="http://schemas.microsoft.com/office/drawing/2014/main" id="{D3FF78EE-AC3F-93DB-9FC6-122F1A402E2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1998"/>
          <a:stretch>
            <a:fillRect/>
          </a:stretch>
        </p:blipFill>
        <p:spPr bwMode="auto">
          <a:xfrm>
            <a:off x="411565" y="3219449"/>
            <a:ext cx="11145944" cy="2970678"/>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1137E0F5-E386-0F93-BB0A-90D072D48482}"/>
              </a:ext>
            </a:extLst>
          </p:cNvPr>
          <p:cNvSpPr txBox="1">
            <a:spLocks noGrp="1"/>
          </p:cNvSpPr>
          <p:nvPr>
            <p:ph type="body" idx="1"/>
          </p:nvPr>
        </p:nvSpPr>
        <p:spPr>
          <a:xfrm>
            <a:off x="376809" y="1334278"/>
            <a:ext cx="11452008" cy="18851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Think of the z-axis as a trampoline!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if you have too large of an acceleration (think of the combs)?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accelerometer that is sitting still on a desk reads _g pointing upwards.</a:t>
            </a:r>
          </a:p>
          <a:p>
            <a:pPr marL="0" indent="0">
              <a:lnSpc>
                <a:spcPct val="100000"/>
              </a:lnSpc>
              <a:spcBef>
                <a:spcPts val="0"/>
              </a:spcBef>
              <a:buSzPts val="3000"/>
              <a:buNone/>
            </a:pPr>
            <a:r>
              <a:rPr lang="en-US" sz="2000" dirty="0">
                <a:latin typeface="Atkinson Hyperlegible Next"/>
                <a:ea typeface="Arial"/>
                <a:cs typeface="Arial"/>
                <a:sym typeface="Arial"/>
              </a:rPr>
              <a:t>What if it gets dropped out of the window in a perfect vacuum?</a:t>
            </a:r>
          </a:p>
        </p:txBody>
      </p:sp>
      <p:sp>
        <p:nvSpPr>
          <p:cNvPr id="6" name="TextBox 5">
            <a:extLst>
              <a:ext uri="{FF2B5EF4-FFF2-40B4-BE49-F238E27FC236}">
                <a16:creationId xmlns:a16="http://schemas.microsoft.com/office/drawing/2014/main" id="{53ECC25A-72F6-A0EA-4E81-A046BFBA518B}"/>
              </a:ext>
            </a:extLst>
          </p:cNvPr>
          <p:cNvSpPr txBox="1"/>
          <p:nvPr/>
        </p:nvSpPr>
        <p:spPr>
          <a:xfrm>
            <a:off x="4552572" y="6212662"/>
            <a:ext cx="2558501" cy="246221"/>
          </a:xfrm>
          <a:prstGeom prst="rect">
            <a:avLst/>
          </a:prstGeom>
          <a:noFill/>
        </p:spPr>
        <p:txBody>
          <a:bodyPr wrap="square">
            <a:spAutoFit/>
          </a:bodyPr>
          <a:lstStyle/>
          <a:p>
            <a:pPr algn="ctr"/>
            <a:r>
              <a:rPr lang="en-US" sz="1000" dirty="0">
                <a:hlinkClick r:id="rId5"/>
              </a:rPr>
              <a:t>https://www.mdpi.com/2504-3900/1/4/337</a:t>
            </a:r>
            <a:r>
              <a:rPr lang="en-US" sz="1000" dirty="0"/>
              <a:t> </a:t>
            </a:r>
          </a:p>
        </p:txBody>
      </p:sp>
    </p:spTree>
    <p:extLst>
      <p:ext uri="{BB962C8B-B14F-4D97-AF65-F5344CB8AC3E}">
        <p14:creationId xmlns:p14="http://schemas.microsoft.com/office/powerpoint/2010/main" val="2229643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CBC5D3-F67B-9CF2-05C2-5827139673C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B4CF29-6F21-C08C-5BB5-6F3E131890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EE0E0A-4994-CC87-C735-D3F277F709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193F53-2960-4D90-E134-844FCF5D710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BFC07-4E4F-D437-CF32-3A63376B52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A7C746-F545-1E4D-8C45-6F4C2EDCF1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2CE139-719B-E858-D5C3-9C370F1C0DA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1ECCDA-D474-53F1-0FE7-638638D4E7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D02644-CA90-F199-72C4-819D813157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How does an Accelerometer work? | 3D Animation" descr="YouTube video: How does an Accelerometer work? | 3D Animation (CircuitBread)">
            <a:hlinkClick r:id="" action="ppaction://media"/>
            <a:extLst>
              <a:ext uri="{FF2B5EF4-FFF2-40B4-BE49-F238E27FC236}">
                <a16:creationId xmlns:a16="http://schemas.microsoft.com/office/drawing/2014/main" id="{324C272E-4056-2D46-0466-467E8004EC02}"/>
              </a:ext>
            </a:extLst>
          </p:cNvPr>
          <p:cNvPicPr>
            <a:picLocks noRot="1" noChangeAspect="1"/>
          </p:cNvPicPr>
          <p:nvPr>
            <a:videoFile r:link="rId1"/>
          </p:nvPr>
        </p:nvPicPr>
        <p:blipFill>
          <a:blip r:embed="rId5"/>
          <a:stretch>
            <a:fillRect/>
          </a:stretch>
        </p:blipFill>
        <p:spPr>
          <a:xfrm>
            <a:off x="1295206" y="1012151"/>
            <a:ext cx="9601588" cy="5424909"/>
          </a:xfrm>
          <a:prstGeom prst="rect">
            <a:avLst/>
          </a:prstGeom>
        </p:spPr>
      </p:pic>
    </p:spTree>
    <p:extLst>
      <p:ext uri="{BB962C8B-B14F-4D97-AF65-F5344CB8AC3E}">
        <p14:creationId xmlns:p14="http://schemas.microsoft.com/office/powerpoint/2010/main" val="986530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36353EB-5A4F-063F-BDD7-6098729A5A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C5CBE4E-D534-4D34-0A8F-88D3B6C6EBB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Gyroscope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54758AB-EE7D-BACB-9D70-7F7DD0C3CD0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C2B9E75-F9C3-AD76-23C2-E2D218D97C3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05092BD-A2D7-D47D-63B3-E336A44749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6C832EFA-1EAF-FD86-2A03-1C74118FEF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739D50-10A2-9445-21B8-BFFE8B6BAF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9A3CF1E-AF07-DDAC-471B-035485D94A4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55EA4AF-BF4E-346E-AC4D-B70EA0648B3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1E8BBB6-CD27-AF6C-45AE-93CFC6F23F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83F7F7B-26B2-2673-7BDF-775F804482A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4242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E3B972-42E6-1E5F-7763-1B03D45599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2377218-DA81-CC61-8492-211B54A22D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accelerometer measures linear acceleration, which allows us to measure acceleration, velocity and displacement.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many degrees of freedom are there in 3D?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m:t>
                      </m:r>
                      <m:sSub>
                        <m:sSubPr>
                          <m:ctrlPr>
                            <a:rPr lang="en-US" sz="2400" b="0" i="1" smtClean="0">
                              <a:solidFill>
                                <a:schemeClr val="dk1"/>
                              </a:solidFill>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solidFill>
                                <a:schemeClr val="dk1"/>
                              </a:solidFill>
                              <a:latin typeface="Cambria Math" panose="02040503050406030204" pitchFamily="18" charset="0"/>
                              <a:cs typeface="Arial"/>
                              <a:sym typeface="Arial"/>
                            </a:rPr>
                            <m:t>x</m:t>
                          </m:r>
                        </m:sub>
                      </m:sSub>
                      <m:r>
                        <a:rPr lang="en-US" sz="2400" i="1">
                          <a:latin typeface="Cambria Math" panose="02040503050406030204" pitchFamily="18" charset="0"/>
                          <a:ea typeface="Arial"/>
                          <a:cs typeface="Arial"/>
                          <a:sym typeface="Arial"/>
                        </a:rPr>
                        <m:t>,</m:t>
                      </m:r>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latin typeface="Cambria Math" panose="02040503050406030204" pitchFamily="18" charset="0"/>
                              <a:ea typeface="Cambria Math" panose="02040503050406030204" pitchFamily="18" charset="0"/>
                              <a:cs typeface="Arial"/>
                              <a:sym typeface="Arial"/>
                            </a:rPr>
                            <m:t>y</m:t>
                          </m:r>
                        </m:sub>
                      </m:sSub>
                      <m:r>
                        <a:rPr lang="en-US" sz="2400" i="1">
                          <a:latin typeface="Cambria Math" panose="02040503050406030204" pitchFamily="18" charset="0"/>
                          <a:ea typeface="Arial"/>
                          <a:cs typeface="Arial"/>
                          <a:sym typeface="Arial"/>
                        </a:rPr>
                        <m:t>,</m:t>
                      </m:r>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latin typeface="Cambria Math" panose="02040503050406030204" pitchFamily="18" charset="0"/>
                              <a:ea typeface="Cambria Math" panose="02040503050406030204" pitchFamily="18" charset="0"/>
                              <a:cs typeface="Arial"/>
                              <a:sym typeface="Arial"/>
                            </a:rPr>
                            <m:t>z</m:t>
                          </m:r>
                        </m:sub>
                      </m:sSub>
                      <m:r>
                        <a:rPr lang="en-US" sz="2400" b="0" i="1" smtClean="0">
                          <a:solidFill>
                            <a:schemeClr val="dk1"/>
                          </a:solidFill>
                          <a:latin typeface="Cambria Math" panose="02040503050406030204" pitchFamily="18" charset="0"/>
                          <a:ea typeface="Arial"/>
                          <a:cs typeface="Arial"/>
                          <a:sym typeface="Arial"/>
                        </a:rPr>
                        <m:t>)</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many does the accelerometer handle?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 3: </a:t>
                </a:r>
                <a14:m>
                  <m:oMath xmlns:m="http://schemas.openxmlformats.org/officeDocument/2006/math">
                    <m:r>
                      <a:rPr lang="en-US" sz="2400" b="0" i="0" smtClean="0">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z</m:t>
                    </m:r>
                    <m:r>
                      <a:rPr lang="en-US" sz="2400" b="0" i="1" smtClean="0">
                        <a:latin typeface="Cambria Math" panose="02040503050406030204" pitchFamily="18" charset="0"/>
                        <a:ea typeface="Arial"/>
                        <a:cs typeface="Arial"/>
                        <a:sym typeface="Arial"/>
                      </a:rPr>
                      <m:t>)</m:t>
                    </m:r>
                  </m:oMath>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are missing the angular DOF!</a:t>
                </a:r>
                <a:endParaRPr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2377218-DA81-CC61-8492-211B54A22DE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7696F78-D3C9-73F7-E2BD-C3A0E6E199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5B59E9A-07FD-0ED7-CA71-FF3D6BCC0F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97DAF3-EA9D-3335-B9BE-3616C1DBC3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5FA45B-E33D-55A9-324A-031BFDF657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5E5301B-4D7A-F724-2C97-1BEAD3B68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741A05-268C-9BF4-40FA-7A36EB1834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F8C33A-4646-562B-33B3-961EC46FEA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6F078D-3429-1831-734E-3C17BE6D15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oordinate frame: X points right, Y points up, and Z points out toward the viewer. A curved arrow around each axis marks a rotation: theta sub x about X, theta sub y about Y, and theta sub z about Z, each following the right-hand rule. These three rotations are the angular degrees of freedom that an accelerometer does not measure and a gyroscope does, completing the six degrees of freedom in 3D.">
            <a:extLst>
              <a:ext uri="{FF2B5EF4-FFF2-40B4-BE49-F238E27FC236}">
                <a16:creationId xmlns:a16="http://schemas.microsoft.com/office/drawing/2014/main" id="{9AE8F741-9312-721E-B0DC-B9D63AB5C94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10861" y="2039542"/>
            <a:ext cx="3943349" cy="4132027"/>
          </a:xfrm>
          <a:prstGeom prst="rect">
            <a:avLst/>
          </a:prstGeom>
        </p:spPr>
      </p:pic>
    </p:spTree>
    <p:extLst>
      <p:ext uri="{BB962C8B-B14F-4D97-AF65-F5344CB8AC3E}">
        <p14:creationId xmlns:p14="http://schemas.microsoft.com/office/powerpoint/2010/main" val="2563035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E0C988-A352-BD5D-5AAB-44918F7ED5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E9F1A-1485-B8EE-CDFB-62DAA1CF9E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dirty="0">
                <a:latin typeface="Atkinson Hyperlegible Next"/>
                <a:ea typeface="Arial"/>
                <a:cs typeface="Arial"/>
                <a:sym typeface="Arial"/>
              </a:rPr>
              <a:t>MEMS Gyroscope does not use a spinning wheel like classical mechanical gyroscopes. Similarly, you have a tiny mass that is moving when rotating. If the device start rotating, the moving mass experiences a sideways force.</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F68B513-141A-064E-504D-9703219D32A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A1258D-81B1-4EE5-A944-C9B7D542E8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AD05D-0426-73B2-235A-964A9384AC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AB5FE1-2E19-E748-9055-362275BAC6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BBAE05-8685-B3C3-84CB-7A90F06C29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5F74BB-22AB-E7DD-B83A-D0ADA8535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70D25B-49D7-7FDC-2927-2C07B29874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3ABD2CD-F94E-76EC-C20E-6AC0949FE8F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5" name="Group 4">
            <a:extLst>
              <a:ext uri="{FF2B5EF4-FFF2-40B4-BE49-F238E27FC236}">
                <a16:creationId xmlns:a16="http://schemas.microsoft.com/office/drawing/2014/main" id="{8DEDBDDF-BB3D-DBAF-394F-F799EFA94E2D}"/>
              </a:ext>
            </a:extLst>
          </p:cNvPr>
          <p:cNvGrpSpPr/>
          <p:nvPr/>
        </p:nvGrpSpPr>
        <p:grpSpPr>
          <a:xfrm>
            <a:off x="3238500" y="2767312"/>
            <a:ext cx="5715000" cy="3554523"/>
            <a:chOff x="3238500" y="3051156"/>
            <a:chExt cx="5715000" cy="3554523"/>
          </a:xfrm>
        </p:grpSpPr>
        <p:pic>
          <p:nvPicPr>
            <p:cNvPr id="4098" name="Picture 2"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CB05BAB7-0766-30F5-0865-E7B4123DF48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8500" y="3051156"/>
              <a:ext cx="5715000" cy="32194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2D5D5AC-8977-3C31-3A35-64A5BFD4A2BB}"/>
                </a:ext>
              </a:extLst>
            </p:cNvPr>
            <p:cNvSpPr txBox="1"/>
            <p:nvPr/>
          </p:nvSpPr>
          <p:spPr>
            <a:xfrm>
              <a:off x="3238500" y="6351763"/>
              <a:ext cx="5646943" cy="253916"/>
            </a:xfrm>
            <a:prstGeom prst="rect">
              <a:avLst/>
            </a:prstGeom>
            <a:noFill/>
          </p:spPr>
          <p:txBody>
            <a:bodyPr wrap="square">
              <a:spAutoFit/>
            </a:bodyPr>
            <a:lstStyle/>
            <a:p>
              <a:pPr algn="ctr"/>
              <a:r>
                <a:rPr lang="en-US" sz="1000" dirty="0">
                  <a:hlinkClick r:id="rId5"/>
                </a:rPr>
                <a:t>https://www.reddit.com/r/3Dprinting/comments/103v6ef/1001_3d_printed_mems_gyroscope/</a:t>
              </a:r>
              <a:r>
                <a:rPr lang="en-US" sz="1000" dirty="0"/>
                <a:t> </a:t>
              </a:r>
            </a:p>
          </p:txBody>
        </p:sp>
      </p:grpSp>
    </p:spTree>
    <p:extLst>
      <p:ext uri="{BB962C8B-B14F-4D97-AF65-F5344CB8AC3E}">
        <p14:creationId xmlns:p14="http://schemas.microsoft.com/office/powerpoint/2010/main" val="474046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80ABB9-8576-B423-6408-62B02ABB52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3049CB-49ED-CFF8-CCF8-255F5E41FC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Very similar to accelerometers,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mass sits between capacitors plates.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the it moves sideways, capacitance changes</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returns a displacement from which we can compute angular velocity.</a:t>
            </a:r>
          </a:p>
        </p:txBody>
      </p:sp>
      <p:sp>
        <p:nvSpPr>
          <p:cNvPr id="119" name="Google Shape;119;p29">
            <a:extLst>
              <a:ext uri="{FF2B5EF4-FFF2-40B4-BE49-F238E27FC236}">
                <a16:creationId xmlns:a16="http://schemas.microsoft.com/office/drawing/2014/main" id="{8FE000B5-1DF8-0471-C0F4-CD0F9224A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CF42AB5-AAC9-1C71-DA7B-7C4A4EF832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BD088-B282-E8E5-989D-BC238501CB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74BA00-7DD6-CE62-D9D3-F25228703F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6F0DFB-B30E-2EF7-E980-22C4C3E1DB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D608-5A66-223E-A269-C2692B393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53D79B-600A-3194-D27D-76049344E4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5C187-CC3B-754E-9D04-D1BF691C8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4767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DD757D-BE1E-BC17-C5AF-EEAFBBA48F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962E3DB-9FC5-36DB-1422-D77A685115E9}"/>
                  </a:ext>
                </a:extLst>
              </p:cNvPr>
              <p:cNvSpPr txBox="1">
                <a:spLocks noGrp="1"/>
              </p:cNvSpPr>
              <p:nvPr>
                <p:ph type="body" idx="1"/>
              </p:nvPr>
            </p:nvSpPr>
            <p:spPr>
              <a:xfrm>
                <a:off x="376810" y="1334279"/>
                <a:ext cx="695757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device shown has 2 axis, the </a:t>
                </a:r>
                <a:r>
                  <a:rPr lang="en-US" sz="2400" b="1" dirty="0">
                    <a:solidFill>
                      <a:schemeClr val="dk1"/>
                    </a:solidFill>
                    <a:latin typeface="Atkinson Hyperlegible Next"/>
                    <a:ea typeface="Arial"/>
                    <a:cs typeface="Arial"/>
                    <a:sym typeface="Arial"/>
                  </a:rPr>
                  <a:t>Drive Axis </a:t>
                </a:r>
                <a:r>
                  <a:rPr lang="en-US" sz="2400" dirty="0">
                    <a:solidFill>
                      <a:schemeClr val="dk1"/>
                    </a:solidFill>
                    <a:latin typeface="Atkinson Hyperlegible Next"/>
                    <a:ea typeface="Arial"/>
                    <a:cs typeface="Arial"/>
                    <a:sym typeface="Arial"/>
                  </a:rPr>
                  <a:t>(x) and the </a:t>
                </a:r>
                <a:r>
                  <a:rPr lang="en-US" sz="2400" b="1" dirty="0">
                    <a:solidFill>
                      <a:schemeClr val="dk1"/>
                    </a:solidFill>
                    <a:latin typeface="Atkinson Hyperlegible Next"/>
                    <a:ea typeface="Arial"/>
                    <a:cs typeface="Arial"/>
                    <a:sym typeface="Arial"/>
                  </a:rPr>
                  <a:t>Sense Axis </a:t>
                </a:r>
                <a:r>
                  <a:rPr lang="en-US" sz="2400" dirty="0">
                    <a:solidFill>
                      <a:schemeClr val="dk1"/>
                    </a:solidFill>
                    <a:latin typeface="Atkinson Hyperlegible Next"/>
                    <a:ea typeface="Arial"/>
                    <a:cs typeface="Arial"/>
                    <a:sym typeface="Arial"/>
                  </a:rPr>
                  <a:t>(y).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inner mass is electrically forced to vibrate continuously back and force along the x-axis at a resonant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a:rPr lang="en-US" sz="240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oMath>
                </a14:m>
                <a:r>
                  <a:rPr lang="en-US" sz="2400" dirty="0">
                    <a:latin typeface="Atkinson Hyperlegible Next"/>
                    <a:ea typeface="Arial"/>
                    <a:cs typeface="Arial"/>
                    <a:sym typeface="Arial"/>
                  </a:rPr>
                  <a:t>. The instantaneous velocity is </a:t>
                </a:r>
                <a14:m>
                  <m:oMath xmlns:m="http://schemas.openxmlformats.org/officeDocument/2006/math">
                    <m:r>
                      <a:rPr lang="en-US" sz="2400" i="1" smtClean="0">
                        <a:latin typeface="Cambria Math" panose="02040503050406030204" pitchFamily="18" charset="0"/>
                        <a:ea typeface="Cambria Math" panose="02040503050406030204" pitchFamily="18" charset="0"/>
                        <a:cs typeface="Arial"/>
                        <a:sym typeface="Arial"/>
                      </a:rPr>
                      <m:t>𝜈</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an angular velocity </a:t>
                </a:r>
                <a14:m>
                  <m:oMath xmlns:m="http://schemas.openxmlformats.org/officeDocument/2006/math">
                    <m:sSub>
                      <m:sSubPr>
                        <m:ctrlPr>
                          <a:rPr lang="el-GR" sz="2400" i="1" smtClean="0">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b="0" i="1" smtClean="0">
                            <a:latin typeface="Cambria Math" panose="02040503050406030204" pitchFamily="18" charset="0"/>
                            <a:ea typeface="Cambria Math" panose="02040503050406030204" pitchFamily="18" charset="0"/>
                            <a:cs typeface="Arial"/>
                            <a:sym typeface="Arial"/>
                          </a:rPr>
                          <m:t>z</m:t>
                        </m:r>
                      </m:sub>
                    </m:sSub>
                  </m:oMath>
                </a14:m>
                <a:r>
                  <a:rPr lang="en-US" sz="2400" dirty="0">
                    <a:solidFill>
                      <a:schemeClr val="dk1"/>
                    </a:solidFill>
                    <a:latin typeface="Atkinson Hyperlegible Next"/>
                    <a:ea typeface="Arial"/>
                    <a:cs typeface="Arial"/>
                    <a:sym typeface="Arial"/>
                  </a:rPr>
                  <a:t>, along the z-axis, is applied, the Coriolis force acting along the y-axis is generated.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F</m:t>
                          </m:r>
                        </m:e>
                        <m:sub>
                          <m:r>
                            <m:rPr>
                              <m:sty m:val="p"/>
                            </m:rPr>
                            <a:rPr lang="en-US" sz="2400" b="0" i="1" smtClean="0">
                              <a:latin typeface="Cambria Math" panose="02040503050406030204" pitchFamily="18" charset="0"/>
                              <a:cs typeface="Arial"/>
                              <a:sym typeface="Arial"/>
                            </a:rPr>
                            <m:t>C</m:t>
                          </m:r>
                        </m:sub>
                      </m:sSub>
                      <m:r>
                        <a:rPr lang="en-US" sz="2400" i="1">
                          <a:latin typeface="Cambria Math" panose="02040503050406030204" pitchFamily="18" charset="0"/>
                          <a:ea typeface="Arial"/>
                          <a:cs typeface="Arial"/>
                          <a:sym typeface="Arial"/>
                        </a:rPr>
                        <m:t> =− 2</m:t>
                      </m:r>
                      <m:r>
                        <m:rPr>
                          <m:sty m:val="p"/>
                        </m:rPr>
                        <a:rPr lang="en-US" sz="2400" i="1">
                          <a:latin typeface="Cambria Math" panose="02040503050406030204" pitchFamily="18" charset="0"/>
                          <a:ea typeface="Arial"/>
                          <a:cs typeface="Arial"/>
                          <a:sym typeface="Arial"/>
                        </a:rPr>
                        <m:t>m</m:t>
                      </m:r>
                      <m:r>
                        <a:rPr lang="en-US" sz="2400" i="1">
                          <a:latin typeface="Cambria Math" panose="02040503050406030204" pitchFamily="18" charset="0"/>
                          <a:ea typeface="Arial"/>
                          <a:cs typeface="Arial"/>
                          <a:sym typeface="Arial"/>
                        </a:rPr>
                        <m:t>(</m:t>
                      </m:r>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i="1">
                          <a:latin typeface="Cambria Math" panose="02040503050406030204" pitchFamily="18" charset="0"/>
                          <a:ea typeface="Cambria Math" panose="02040503050406030204" pitchFamily="18" charset="0"/>
                          <a:cs typeface="Arial"/>
                          <a:sym typeface="Arial"/>
                        </a:rPr>
                        <m:t>× </m:t>
                      </m:r>
                      <m:r>
                        <m:rPr>
                          <m:sty m:val="p"/>
                        </m:rPr>
                        <a:rPr lang="en-US" sz="2400" i="1">
                          <a:latin typeface="Cambria Math" panose="02040503050406030204" pitchFamily="18" charset="0"/>
                          <a:ea typeface="Cambria Math" panose="02040503050406030204" pitchFamily="18" charset="0"/>
                          <a:cs typeface="Arial"/>
                          <a:sym typeface="Arial"/>
                        </a:rPr>
                        <m:t>v</m:t>
                      </m:r>
                      <m:r>
                        <a:rPr lang="en-US" sz="2400" i="1">
                          <a:latin typeface="Cambria Math" panose="02040503050406030204" pitchFamily="18" charset="0"/>
                          <a:ea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962E3DB-9FC5-36DB-1422-D77A685115E9}"/>
                  </a:ext>
                </a:extLst>
              </p:cNvPr>
              <p:cNvSpPr txBox="1">
                <a:spLocks noGrp="1" noRot="1" noChangeAspect="1" noMove="1" noResize="1" noEditPoints="1" noAdjustHandles="1" noChangeArrowheads="1" noChangeShapeType="1" noTextEdit="1"/>
              </p:cNvSpPr>
              <p:nvPr>
                <p:ph type="body" idx="1"/>
              </p:nvPr>
            </p:nvSpPr>
            <p:spPr>
              <a:xfrm>
                <a:off x="376810" y="1334279"/>
                <a:ext cx="6957574" cy="4821102"/>
              </a:xfrm>
              <a:prstGeom prst="rect">
                <a:avLst/>
              </a:prstGeom>
              <a:blipFill>
                <a:blip r:embed="rId3"/>
                <a:stretch>
                  <a:fillRect l="-1402" t="-885" b="-252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51B99CF-4CE2-1FB8-3647-0840469054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CF6032-F6A3-D172-98AC-85BB645B45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0CCCC0-AD8E-121E-8D18-B92CD1CDF38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A26F7F-E347-4B12-7794-198DA649BF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3CDB9E-1B80-949B-35A0-0BD5F140A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FD9405-159F-802F-328E-553AD5CF9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5A2DB67-F6D8-4AA7-AC76-BBA8B9E7EA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F015CB-C47B-434C-3437-D5DB26F30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 name="Group 1">
            <a:extLst>
              <a:ext uri="{FF2B5EF4-FFF2-40B4-BE49-F238E27FC236}">
                <a16:creationId xmlns:a16="http://schemas.microsoft.com/office/drawing/2014/main" id="{2E8AEA93-9899-118C-BA18-52BE4298728F}"/>
              </a:ext>
            </a:extLst>
          </p:cNvPr>
          <p:cNvGrpSpPr/>
          <p:nvPr/>
        </p:nvGrpSpPr>
        <p:grpSpPr>
          <a:xfrm>
            <a:off x="7463756" y="2281242"/>
            <a:ext cx="4418382" cy="2993413"/>
            <a:chOff x="4535118" y="3781584"/>
            <a:chExt cx="4418382" cy="2993413"/>
          </a:xfrm>
        </p:grpSpPr>
        <p:pic>
          <p:nvPicPr>
            <p:cNvPr id="3" name="Picture 2"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40184BF8-5A89-92BE-2236-599732502E1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35118" y="3781584"/>
              <a:ext cx="4418382" cy="248902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D54706D-8E0C-D57D-1AF5-0C11B8B8565F}"/>
                </a:ext>
              </a:extLst>
            </p:cNvPr>
            <p:cNvSpPr txBox="1"/>
            <p:nvPr/>
          </p:nvSpPr>
          <p:spPr>
            <a:xfrm>
              <a:off x="4535118" y="6374887"/>
              <a:ext cx="4350325" cy="400110"/>
            </a:xfrm>
            <a:prstGeom prst="rect">
              <a:avLst/>
            </a:prstGeom>
            <a:noFill/>
          </p:spPr>
          <p:txBody>
            <a:bodyPr wrap="square">
              <a:spAutoFit/>
            </a:bodyPr>
            <a:lstStyle/>
            <a:p>
              <a:pPr algn="ctr"/>
              <a:r>
                <a:rPr lang="en-US" sz="1000" dirty="0">
                  <a:hlinkClick r:id="rId6"/>
                </a:rPr>
                <a:t>https://www.reddit.com/r/3Dprinting/comments/103v6ef/1001_3d_printed_mems_gyroscope/</a:t>
              </a:r>
              <a:r>
                <a:rPr lang="en-US" sz="1000" dirty="0"/>
                <a:t> </a:t>
              </a:r>
            </a:p>
          </p:txBody>
        </p:sp>
      </p:grpSp>
    </p:spTree>
    <p:extLst>
      <p:ext uri="{BB962C8B-B14F-4D97-AF65-F5344CB8AC3E}">
        <p14:creationId xmlns:p14="http://schemas.microsoft.com/office/powerpoint/2010/main" val="26992506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366D2-8443-24FB-B4FA-FC142B113C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CA7966-FEF4-9327-85EB-B8143E2B978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Coriolis force pushes the mass along the y-axis.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Thus, to solve for angular velocity we again derive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F</m:t>
                      </m:r>
                      <m:r>
                        <a:rPr lang="en-US" sz="2400" b="0" i="1" smtClean="0">
                          <a:solidFill>
                            <a:schemeClr val="dk1"/>
                          </a:solidFill>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b="0" i="1" smtClean="0">
                          <a:latin typeface="Cambria Math" panose="02040503050406030204" pitchFamily="18" charset="0"/>
                          <a:ea typeface="Cambria Math" panose="02040503050406030204" pitchFamily="18" charset="0"/>
                          <a:cs typeface="Arial"/>
                          <a:sym typeface="Arial"/>
                        </a:rPr>
                        <m:t>y</m:t>
                      </m:r>
                      <m:r>
                        <a:rPr lang="en-US" sz="2400" b="0" i="1" smtClean="0">
                          <a:latin typeface="Cambria Math" panose="02040503050406030204" pitchFamily="18" charset="0"/>
                          <a:ea typeface="Cambria Math" panose="02040503050406030204" pitchFamily="18" charset="0"/>
                          <a:cs typeface="Arial"/>
                          <a:sym typeface="Arial"/>
                        </a:rPr>
                        <m:t> =− 2</m:t>
                      </m:r>
                      <m:r>
                        <m:rPr>
                          <m:sty m:val="p"/>
                        </m:rPr>
                        <a:rPr lang="en-US" sz="2400" i="1">
                          <a:latin typeface="Cambria Math" panose="02040503050406030204" pitchFamily="18" charset="0"/>
                          <a:ea typeface="Arial"/>
                          <a:cs typeface="Arial"/>
                          <a:sym typeface="Arial"/>
                        </a:rPr>
                        <m:t>m</m:t>
                      </m:r>
                      <m:r>
                        <a:rPr lang="en-US" sz="2400" i="1">
                          <a:latin typeface="Cambria Math" panose="02040503050406030204" pitchFamily="18" charset="0"/>
                          <a:ea typeface="Arial"/>
                          <a:cs typeface="Arial"/>
                          <a:sym typeface="Arial"/>
                        </a:rPr>
                        <m:t>(</m:t>
                      </m:r>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i="1">
                          <a:latin typeface="Cambria Math" panose="02040503050406030204" pitchFamily="18" charset="0"/>
                          <a:ea typeface="Cambria Math" panose="02040503050406030204" pitchFamily="18" charset="0"/>
                          <a:cs typeface="Arial"/>
                          <a:sym typeface="Arial"/>
                        </a:rPr>
                        <m:t>× </m:t>
                      </m:r>
                      <m:r>
                        <m:rPr>
                          <m:sty m:val="p"/>
                        </m:rPr>
                        <a:rPr lang="en-US" sz="2400" i="1">
                          <a:latin typeface="Cambria Math" panose="02040503050406030204" pitchFamily="18" charset="0"/>
                          <a:ea typeface="Cambria Math" panose="02040503050406030204" pitchFamily="18" charset="0"/>
                          <a:cs typeface="Arial"/>
                          <a:sym typeface="Arial"/>
                        </a:rPr>
                        <m:t>v</m:t>
                      </m:r>
                      <m:r>
                        <a:rPr lang="en-US" sz="2400" i="1">
                          <a:latin typeface="Cambria Math" panose="02040503050406030204" pitchFamily="18" charset="0"/>
                          <a:ea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b="0" i="1" smtClean="0">
                          <a:latin typeface="Cambria Math" panose="02040503050406030204" pitchFamily="18" charset="0"/>
                          <a:cs typeface="Arial"/>
                          <a:sym typeface="Arial"/>
                        </a:rPr>
                        <m:t>= </m:t>
                      </m:r>
                      <m:f>
                        <m:fPr>
                          <m:ctrlPr>
                            <a:rPr lang="en-US" sz="2400" i="1" smtClean="0">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b="0" i="1" smtClean="0">
                              <a:latin typeface="Cambria Math" panose="02040503050406030204" pitchFamily="18" charset="0"/>
                              <a:ea typeface="Cambria Math" panose="02040503050406030204" pitchFamily="18" charset="0"/>
                              <a:cs typeface="Arial"/>
                              <a:sym typeface="Arial"/>
                            </a:rPr>
                            <m:t>y</m:t>
                          </m:r>
                        </m:num>
                        <m:den>
                          <m:r>
                            <a:rPr lang="en-US" sz="2400" i="1">
                              <a:latin typeface="Cambria Math" panose="02040503050406030204" pitchFamily="18" charset="0"/>
                              <a:ea typeface="Arial"/>
                              <a:cs typeface="Arial"/>
                              <a:sym typeface="Arial"/>
                            </a:rPr>
                            <m:t>2</m:t>
                          </m:r>
                          <m:r>
                            <m:rPr>
                              <m:sty m:val="p"/>
                            </m:rPr>
                            <a:rPr lang="en-US" sz="2400" i="1">
                              <a:latin typeface="Cambria Math" panose="02040503050406030204" pitchFamily="18" charset="0"/>
                              <a:ea typeface="Arial"/>
                              <a:cs typeface="Arial"/>
                              <a:sym typeface="Arial"/>
                            </a:rPr>
                            <m:t>m</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v</m:t>
                          </m:r>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know the mass </a:t>
                </a:r>
                <a14:m>
                  <m:oMath xmlns:m="http://schemas.openxmlformats.org/officeDocument/2006/math">
                    <m:r>
                      <m:rPr>
                        <m:sty m:val="p"/>
                      </m:rPr>
                      <a:rPr lang="en-US" sz="2400" i="1">
                        <a:latin typeface="Cambria Math" panose="02040503050406030204" pitchFamily="18" charset="0"/>
                        <a:ea typeface="Arial"/>
                        <a:cs typeface="Arial"/>
                        <a:sym typeface="Arial"/>
                      </a:rPr>
                      <m:t>m</m:t>
                    </m:r>
                  </m:oMath>
                </a14:m>
                <a:r>
                  <a:rPr lang="en-US" sz="2400" dirty="0">
                    <a:latin typeface="Atkinson Hyperlegible Next"/>
                    <a:ea typeface="Arial"/>
                    <a:cs typeface="Arial"/>
                    <a:sym typeface="Arial"/>
                  </a:rPr>
                  <a:t>, spring stiffness </a:t>
                </a:r>
                <a14:m>
                  <m:oMath xmlns:m="http://schemas.openxmlformats.org/officeDocument/2006/math">
                    <m:r>
                      <m:rPr>
                        <m:sty m:val="p"/>
                      </m:rPr>
                      <a:rPr lang="en-US" sz="2400" i="1">
                        <a:latin typeface="Cambria Math" panose="02040503050406030204" pitchFamily="18" charset="0"/>
                        <a:cs typeface="Arial"/>
                        <a:sym typeface="Arial"/>
                      </a:rPr>
                      <m:t>k</m:t>
                    </m:r>
                  </m:oMath>
                </a14:m>
                <a:r>
                  <a:rPr lang="en-US" sz="2400" dirty="0">
                    <a:latin typeface="Atkinson Hyperlegible Next"/>
                    <a:ea typeface="Arial"/>
                    <a:cs typeface="Arial"/>
                    <a:sym typeface="Arial"/>
                  </a:rPr>
                  <a:t>, drive velocity </a:t>
                </a:r>
                <a14:m>
                  <m:oMath xmlns:m="http://schemas.openxmlformats.org/officeDocument/2006/math">
                    <m:r>
                      <m:rPr>
                        <m:sty m:val="p"/>
                      </m:rPr>
                      <a:rPr lang="en-US" sz="2400" i="1">
                        <a:latin typeface="Cambria Math" panose="02040503050406030204" pitchFamily="18" charset="0"/>
                        <a:ea typeface="Arial"/>
                        <a:cs typeface="Arial"/>
                        <a:sym typeface="Arial"/>
                      </a:rPr>
                      <m:t>v</m:t>
                    </m:r>
                  </m:oMath>
                </a14:m>
                <a:r>
                  <a:rPr lang="en-US" sz="2400" dirty="0">
                    <a:latin typeface="Atkinson Hyperlegible Next"/>
                    <a:ea typeface="Arial"/>
                    <a:cs typeface="Arial"/>
                    <a:sym typeface="Arial"/>
                  </a:rPr>
                  <a:t>, so we just compute the displacement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y</m:t>
                    </m:r>
                  </m:oMath>
                </a14:m>
                <a:r>
                  <a:rPr lang="en-US" sz="2400" dirty="0">
                    <a:latin typeface="Atkinson Hyperlegible Next"/>
                    <a:ea typeface="Arial"/>
                    <a:cs typeface="Arial"/>
                    <a:sym typeface="Arial"/>
                  </a:rPr>
                  <a:t> to measure </a:t>
                </a:r>
                <a14:m>
                  <m:oMath xmlns:m="http://schemas.openxmlformats.org/officeDocument/2006/math">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Very similar to the accelerometer!</a:t>
                </a:r>
              </a:p>
            </p:txBody>
          </p:sp>
        </mc:Choice>
        <mc:Fallback xmlns="">
          <p:sp>
            <p:nvSpPr>
              <p:cNvPr id="118" name="Google Shape;118;p29">
                <a:extLst>
                  <a:ext uri="{FF2B5EF4-FFF2-40B4-BE49-F238E27FC236}">
                    <a16:creationId xmlns:a16="http://schemas.microsoft.com/office/drawing/2014/main" id="{00CA7966-FEF4-9327-85EB-B8143E2B978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b="-2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FE829C-149E-6144-8519-D4B8FFCB27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74F11F-4608-CF42-BA3F-84F51CF3C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0966E0-11DA-41DC-5096-2F1041D28CD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5D941D-58C0-1DE8-FC54-94931F4F64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1FBF1E-3258-BBD8-56B4-730B6608A0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806BA1-0E6C-2FD8-C2E1-126A016251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C083D0-0F26-6A00-7D50-93DA798F0D8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1D6ECD-56BC-8C3D-3281-2C11BC8BFE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11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D8052-A223-7041-4751-E4596AD6BFA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013877-932D-3675-2F81-D0A166BCC8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A20A66-72FC-DD0B-308D-95FF69C485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6B217-1600-876C-6357-18FE44C369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6D7C9C-9BCC-AD50-F293-481610F5E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10FBB9-1A3B-D764-E184-17FE67DBD7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81F5DB-7942-A2B7-72DA-E9AD23AF18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319E6-4A7B-A9AA-6FD0-5074198A05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94615-FEC9-9A37-29B7-7F1035145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A2725359-120A-D50A-ED90-1425B7D9D3DD}"/>
              </a:ext>
            </a:extLst>
          </p:cNvPr>
          <p:cNvGrpSpPr/>
          <p:nvPr/>
        </p:nvGrpSpPr>
        <p:grpSpPr>
          <a:xfrm>
            <a:off x="488949" y="977100"/>
            <a:ext cx="5168900" cy="5404839"/>
            <a:chOff x="488949" y="977100"/>
            <a:chExt cx="5168900" cy="5404839"/>
          </a:xfrm>
        </p:grpSpPr>
        <p:pic>
          <p:nvPicPr>
            <p:cNvPr id="1026" name="Picture 2" descr="Schematic of a MEMS vibratory gyroscope with two nested frames. A green inner frame, suspended inside a red outer frame by four blue drive springs, is vibrated along the horizontal drive axis by interdigitated drive combs. The outer frame is anchored by sense springs at its corners and carries sense combs at the top and bottom. Rotation about the axis normal to the chip produces Coriolis motion along the vertical sense axis, which the sense combs detect as a capacitance change.">
              <a:extLst>
                <a:ext uri="{FF2B5EF4-FFF2-40B4-BE49-F238E27FC236}">
                  <a16:creationId xmlns:a16="http://schemas.microsoft.com/office/drawing/2014/main" id="{F18ED1C7-D745-C13F-7369-BC61283C12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2687" y="977100"/>
              <a:ext cx="3781425" cy="48958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1D21B6-2EAF-B619-2D8F-3C61A656070B}"/>
                </a:ext>
              </a:extLst>
            </p:cNvPr>
            <p:cNvSpPr txBox="1"/>
            <p:nvPr/>
          </p:nvSpPr>
          <p:spPr>
            <a:xfrm>
              <a:off x="488949" y="5981829"/>
              <a:ext cx="5168900" cy="400110"/>
            </a:xfrm>
            <a:prstGeom prst="rect">
              <a:avLst/>
            </a:prstGeom>
            <a:noFill/>
          </p:spPr>
          <p:txBody>
            <a:bodyPr wrap="square">
              <a:spAutoFit/>
            </a:bodyPr>
            <a:lstStyle/>
            <a:p>
              <a:pPr algn="ctr"/>
              <a:r>
                <a:rPr lang="en-US" sz="1000" dirty="0">
                  <a:hlinkClick r:id="rId5"/>
                </a:rPr>
                <a:t>https://www.semanticscholar.org/paper/Modeling-and-simulation-of-the-MEMS-vibratory-Patel-McCluskey/8dec6605fc5b603df07d74f7b9eb6875b2c17c3a</a:t>
              </a:r>
              <a:r>
                <a:rPr lang="en-US" sz="1000" dirty="0"/>
                <a:t> </a:t>
              </a:r>
            </a:p>
          </p:txBody>
        </p:sp>
      </p:grpSp>
      <p:grpSp>
        <p:nvGrpSpPr>
          <p:cNvPr id="7" name="Group 6">
            <a:extLst>
              <a:ext uri="{FF2B5EF4-FFF2-40B4-BE49-F238E27FC236}">
                <a16:creationId xmlns:a16="http://schemas.microsoft.com/office/drawing/2014/main" id="{C55EBABE-18A4-158A-A0F7-BB3F9A477938}"/>
              </a:ext>
            </a:extLst>
          </p:cNvPr>
          <p:cNvGrpSpPr/>
          <p:nvPr/>
        </p:nvGrpSpPr>
        <p:grpSpPr>
          <a:xfrm>
            <a:off x="5831823" y="1858477"/>
            <a:ext cx="5561709" cy="4523462"/>
            <a:chOff x="4535117" y="2220798"/>
            <a:chExt cx="5561709" cy="4523462"/>
          </a:xfrm>
        </p:grpSpPr>
        <p:pic>
          <p:nvPicPr>
            <p:cNvPr id="8" name="Picture 7"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957B35E0-A86B-C109-1016-CB738AD590B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35117" y="2220798"/>
              <a:ext cx="5561709" cy="313309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DAAB4A4-3797-8439-1CC5-BBAACC6E7D12}"/>
                </a:ext>
              </a:extLst>
            </p:cNvPr>
            <p:cNvSpPr txBox="1"/>
            <p:nvPr/>
          </p:nvSpPr>
          <p:spPr>
            <a:xfrm>
              <a:off x="4896276" y="6344150"/>
              <a:ext cx="4350325" cy="400110"/>
            </a:xfrm>
            <a:prstGeom prst="rect">
              <a:avLst/>
            </a:prstGeom>
            <a:noFill/>
          </p:spPr>
          <p:txBody>
            <a:bodyPr wrap="square">
              <a:spAutoFit/>
            </a:bodyPr>
            <a:lstStyle/>
            <a:p>
              <a:pPr algn="ctr"/>
              <a:r>
                <a:rPr lang="en-US" sz="1000" dirty="0">
                  <a:hlinkClick r:id="rId7"/>
                </a:rPr>
                <a:t>https://www.reddit.com/r/3Dprinting/comments/103v6ef/1001_3d_printed_mems_gyroscope/</a:t>
              </a:r>
              <a:r>
                <a:rPr lang="en-US" sz="1000" dirty="0"/>
                <a:t> </a:t>
              </a:r>
            </a:p>
          </p:txBody>
        </p:sp>
      </p:grpSp>
    </p:spTree>
    <p:extLst>
      <p:ext uri="{BB962C8B-B14F-4D97-AF65-F5344CB8AC3E}">
        <p14:creationId xmlns:p14="http://schemas.microsoft.com/office/powerpoint/2010/main" val="9032744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B5F7DA-0C7E-3679-3288-BC91EC4686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0BC690D-4FD0-1E51-AEF5-4DF1367035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7A8606-0BA0-3E59-1F89-528734054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072169-0DB3-9F4A-7495-4F6BAB9058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40508D-6345-A8F8-563E-2E77313FB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5FCF0-AA47-CD50-8615-5745145C54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12E730-0C4F-849F-2AF2-7EFD576D8E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798EA2-D88E-2467-4E1D-77781EDD03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572AED-5E1A-9656-4D94-5D43506E73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Four-panel MEMS illustration from the MPU6050 sensor. Figures 1 to 3 show the gyroscope: four proof masses, M1 to M4, arranged around a central anchor, sensing rotation about the Y axis (pitch, Fig. 1), the X axis (roll, Fig. 2) and the Z axis (yaw, Fig. 3); each rotation tilts or deflects a different pair of masses. Fig. 4 shows the accelerometer: a central proof mass on spring suspensions, with comb fingers interleaved with fixed electrodes to measure displacement capacitively.">
            <a:extLst>
              <a:ext uri="{FF2B5EF4-FFF2-40B4-BE49-F238E27FC236}">
                <a16:creationId xmlns:a16="http://schemas.microsoft.com/office/drawing/2014/main" id="{BE5D9B58-09FD-B5F7-D59A-CD58A4C8DF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2894" y="1277252"/>
            <a:ext cx="4570269" cy="457026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14FDE1E-D6ED-3D79-F060-A94D68A3C659}"/>
              </a:ext>
            </a:extLst>
          </p:cNvPr>
          <p:cNvSpPr txBox="1"/>
          <p:nvPr/>
        </p:nvSpPr>
        <p:spPr>
          <a:xfrm>
            <a:off x="7466181" y="5939771"/>
            <a:ext cx="3927762" cy="400110"/>
          </a:xfrm>
          <a:prstGeom prst="rect">
            <a:avLst/>
          </a:prstGeom>
          <a:noFill/>
        </p:spPr>
        <p:txBody>
          <a:bodyPr wrap="square">
            <a:spAutoFit/>
          </a:bodyPr>
          <a:lstStyle/>
          <a:p>
            <a:pPr algn="ctr"/>
            <a:r>
              <a:rPr lang="en-US" sz="1000" dirty="0">
                <a:hlinkClick r:id="rId5"/>
              </a:rPr>
              <a:t>https://forum.arduino.cc/t/getting-started-with-the-mpu6050-beginner-friendly-guide-with-visual-explanations/1364064</a:t>
            </a:r>
            <a:r>
              <a:rPr lang="en-US" sz="1000" dirty="0"/>
              <a:t> </a:t>
            </a:r>
          </a:p>
        </p:txBody>
      </p:sp>
      <p:pic>
        <p:nvPicPr>
          <p:cNvPr id="5124" name="Picture 4" descr="Simulation of a MEMS gyroscope structure: two perforated proof masses, colored red and blue to show displacement in opposite directions, move in antiphase. Each mass has comb fingers interleaved with fixed comb electrodes for electrostatic drive and capacitive sensing. A thin suspension frame anchored to the substrate links them. When the chip rotates, the Coriolis force deflects the vibrating masses, and the capacitance change reveals the angular rate.">
            <a:extLst>
              <a:ext uri="{FF2B5EF4-FFF2-40B4-BE49-F238E27FC236}">
                <a16:creationId xmlns:a16="http://schemas.microsoft.com/office/drawing/2014/main" id="{0D78ADC0-A2AC-BB77-CD8D-CC9F37AD820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992" y="1825625"/>
            <a:ext cx="5772017" cy="31821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514E00E3-77BD-0A63-2D42-61610F4FF1E5}"/>
              </a:ext>
            </a:extLst>
          </p:cNvPr>
          <p:cNvSpPr txBox="1"/>
          <p:nvPr/>
        </p:nvSpPr>
        <p:spPr>
          <a:xfrm>
            <a:off x="1338962" y="5192250"/>
            <a:ext cx="4128255" cy="246221"/>
          </a:xfrm>
          <a:prstGeom prst="rect">
            <a:avLst/>
          </a:prstGeom>
          <a:noFill/>
        </p:spPr>
        <p:txBody>
          <a:bodyPr wrap="square">
            <a:spAutoFit/>
          </a:bodyPr>
          <a:lstStyle/>
          <a:p>
            <a:pPr algn="ctr"/>
            <a:r>
              <a:rPr lang="en-US" sz="1000" dirty="0">
                <a:hlinkClick r:id="rId7"/>
              </a:rPr>
              <a:t>https://quanscient.com/blog/enhancing-mems-gyroscope-design</a:t>
            </a:r>
            <a:r>
              <a:rPr lang="en-US" sz="1000" dirty="0"/>
              <a:t> </a:t>
            </a:r>
          </a:p>
        </p:txBody>
      </p:sp>
    </p:spTree>
    <p:extLst>
      <p:ext uri="{BB962C8B-B14F-4D97-AF65-F5344CB8AC3E}">
        <p14:creationId xmlns:p14="http://schemas.microsoft.com/office/powerpoint/2010/main" val="29180355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E23822-3420-4FD6-7998-8A0F65B839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122CFD8-43B0-96A4-93F1-52E03AA477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BF0DBB-86D4-9787-7EEA-894A2BE88F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1B1DC7-AD62-F99E-9F99-79875E90D2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E2822A-F28C-7B15-274D-CC5F15C2C0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784001-6524-98C2-FD9F-4BFA4A22F7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BD542D-ACD9-3EBA-1AC3-FD10FA24F9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24016D-4315-FA81-2A42-30F50026A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62797C-4163-0460-F95E-4AE2D1B17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Photo: scanning electron micrograph of an uncapped six-axis IMU MEMS die, 2.85 millimeters across at 115 times magnification, labeled &quot;MEMS_Accel_Bottom.&quot; Along the top are two small square structures with central masses on folded springs, plus a damaged region at upper right. Below are three large rectangular structures: two with nested, symmetric frames and suspended masses, and one with a large dark proof mass flanked above and below by dense arrays of comb-finger electrodes.">
            <a:extLst>
              <a:ext uri="{FF2B5EF4-FFF2-40B4-BE49-F238E27FC236}">
                <a16:creationId xmlns:a16="http://schemas.microsoft.com/office/drawing/2014/main" id="{F6074030-B8F1-B0AD-1A65-72A80DAE0131}"/>
              </a:ext>
            </a:extLst>
          </p:cNvPr>
          <p:cNvPicPr>
            <a:picLocks noChangeAspect="1"/>
          </p:cNvPicPr>
          <p:nvPr/>
        </p:nvPicPr>
        <p:blipFill>
          <a:blip r:embed="rId4"/>
          <a:stretch>
            <a:fillRect/>
          </a:stretch>
        </p:blipFill>
        <p:spPr>
          <a:xfrm>
            <a:off x="3303628" y="983446"/>
            <a:ext cx="5056389" cy="5361709"/>
          </a:xfrm>
          <a:prstGeom prst="rect">
            <a:avLst/>
          </a:prstGeom>
        </p:spPr>
      </p:pic>
      <p:sp>
        <p:nvSpPr>
          <p:cNvPr id="8" name="TextBox 7">
            <a:extLst>
              <a:ext uri="{FF2B5EF4-FFF2-40B4-BE49-F238E27FC236}">
                <a16:creationId xmlns:a16="http://schemas.microsoft.com/office/drawing/2014/main" id="{B103D3C7-7360-C71B-006F-660773A9D58E}"/>
              </a:ext>
            </a:extLst>
          </p:cNvPr>
          <p:cNvSpPr txBox="1"/>
          <p:nvPr/>
        </p:nvSpPr>
        <p:spPr>
          <a:xfrm>
            <a:off x="3498864" y="6363581"/>
            <a:ext cx="4495202" cy="246221"/>
          </a:xfrm>
          <a:prstGeom prst="rect">
            <a:avLst/>
          </a:prstGeom>
          <a:noFill/>
        </p:spPr>
        <p:txBody>
          <a:bodyPr wrap="square">
            <a:spAutoFit/>
          </a:bodyPr>
          <a:lstStyle/>
          <a:p>
            <a:pPr algn="ctr"/>
            <a:r>
              <a:rPr lang="en-US" sz="1000" dirty="0">
                <a:hlinkClick r:id="rId5"/>
              </a:rPr>
              <a:t>https://www.printables.com/model/413667-mems-model-six-axis-imu-device</a:t>
            </a:r>
            <a:r>
              <a:rPr lang="en-US" sz="1000" dirty="0"/>
              <a:t> </a:t>
            </a:r>
          </a:p>
        </p:txBody>
      </p:sp>
      <p:grpSp>
        <p:nvGrpSpPr>
          <p:cNvPr id="25" name="Group 24">
            <a:extLst>
              <a:ext uri="{FF2B5EF4-FFF2-40B4-BE49-F238E27FC236}">
                <a16:creationId xmlns:a16="http://schemas.microsoft.com/office/drawing/2014/main" id="{2F506D08-0362-DE26-53C7-C2498EF59097}"/>
              </a:ext>
            </a:extLst>
          </p:cNvPr>
          <p:cNvGrpSpPr/>
          <p:nvPr/>
        </p:nvGrpSpPr>
        <p:grpSpPr>
          <a:xfrm>
            <a:off x="676830" y="1701800"/>
            <a:ext cx="7565470" cy="1174750"/>
            <a:chOff x="676830" y="1701800"/>
            <a:chExt cx="7565470" cy="1174750"/>
          </a:xfrm>
        </p:grpSpPr>
        <p:sp>
          <p:nvSpPr>
            <p:cNvPr id="9" name="Rectangle 8">
              <a:extLst>
                <a:ext uri="{FF2B5EF4-FFF2-40B4-BE49-F238E27FC236}">
                  <a16:creationId xmlns:a16="http://schemas.microsoft.com/office/drawing/2014/main" id="{3BF549F2-3D5B-1916-E751-771F169C4809}"/>
                </a:ext>
              </a:extLst>
            </p:cNvPr>
            <p:cNvSpPr/>
            <p:nvPr/>
          </p:nvSpPr>
          <p:spPr>
            <a:xfrm>
              <a:off x="3429000" y="1701800"/>
              <a:ext cx="4813300" cy="1174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B25CB9B4-0CB1-F77A-D6CD-FC81C7C81FEB}"/>
                </a:ext>
              </a:extLst>
            </p:cNvPr>
            <p:cNvCxnSpPr>
              <a:cxnSpLocks/>
              <a:stCxn id="14" idx="3"/>
              <a:endCxn id="9" idx="1"/>
            </p:cNvCxnSpPr>
            <p:nvPr/>
          </p:nvCxnSpPr>
          <p:spPr>
            <a:xfrm flipV="1">
              <a:off x="2315130" y="2289175"/>
              <a:ext cx="1113870" cy="126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0FC9A06-2D10-3FEE-96D9-794DA1E4F458}"/>
                </a:ext>
              </a:extLst>
            </p:cNvPr>
            <p:cNvSpPr txBox="1"/>
            <p:nvPr/>
          </p:nvSpPr>
          <p:spPr>
            <a:xfrm>
              <a:off x="676830" y="1932483"/>
              <a:ext cx="1638300" cy="738664"/>
            </a:xfrm>
            <a:prstGeom prst="rect">
              <a:avLst/>
            </a:prstGeom>
            <a:noFill/>
          </p:spPr>
          <p:txBody>
            <a:bodyPr wrap="square" rtlCol="0">
              <a:spAutoFit/>
            </a:bodyPr>
            <a:lstStyle/>
            <a:p>
              <a:pPr algn="ctr"/>
              <a:r>
                <a:rPr lang="en-US" dirty="0">
                  <a:solidFill>
                    <a:srgbClr val="EA0000"/>
                  </a:solidFill>
                </a:rPr>
                <a:t>What is this? The gyros or accelerometers?</a:t>
              </a:r>
            </a:p>
          </p:txBody>
        </p:sp>
      </p:grpSp>
      <p:grpSp>
        <p:nvGrpSpPr>
          <p:cNvPr id="26" name="Group 25">
            <a:extLst>
              <a:ext uri="{FF2B5EF4-FFF2-40B4-BE49-F238E27FC236}">
                <a16:creationId xmlns:a16="http://schemas.microsoft.com/office/drawing/2014/main" id="{DBF31A5E-1CD8-37F2-B56C-2E7898EB38DD}"/>
              </a:ext>
            </a:extLst>
          </p:cNvPr>
          <p:cNvGrpSpPr/>
          <p:nvPr/>
        </p:nvGrpSpPr>
        <p:grpSpPr>
          <a:xfrm>
            <a:off x="3425172" y="2876550"/>
            <a:ext cx="7265565" cy="2456384"/>
            <a:chOff x="3425172" y="2876550"/>
            <a:chExt cx="7265565" cy="2456384"/>
          </a:xfrm>
        </p:grpSpPr>
        <p:sp>
          <p:nvSpPr>
            <p:cNvPr id="18" name="TextBox 17">
              <a:extLst>
                <a:ext uri="{FF2B5EF4-FFF2-40B4-BE49-F238E27FC236}">
                  <a16:creationId xmlns:a16="http://schemas.microsoft.com/office/drawing/2014/main" id="{4BFF985D-4746-4663-93D4-EBC9162B7F65}"/>
                </a:ext>
              </a:extLst>
            </p:cNvPr>
            <p:cNvSpPr txBox="1"/>
            <p:nvPr/>
          </p:nvSpPr>
          <p:spPr>
            <a:xfrm>
              <a:off x="9052437" y="3735410"/>
              <a:ext cx="1638300" cy="738664"/>
            </a:xfrm>
            <a:prstGeom prst="rect">
              <a:avLst/>
            </a:prstGeom>
            <a:noFill/>
          </p:spPr>
          <p:txBody>
            <a:bodyPr wrap="square" rtlCol="0">
              <a:spAutoFit/>
            </a:bodyPr>
            <a:lstStyle/>
            <a:p>
              <a:pPr algn="ctr"/>
              <a:r>
                <a:rPr lang="en-US" dirty="0">
                  <a:solidFill>
                    <a:srgbClr val="EA0000"/>
                  </a:solidFill>
                </a:rPr>
                <a:t>What is this? The gyros or accelerometers?</a:t>
              </a:r>
            </a:p>
          </p:txBody>
        </p:sp>
        <p:sp>
          <p:nvSpPr>
            <p:cNvPr id="19" name="Rectangle 18">
              <a:extLst>
                <a:ext uri="{FF2B5EF4-FFF2-40B4-BE49-F238E27FC236}">
                  <a16:creationId xmlns:a16="http://schemas.microsoft.com/office/drawing/2014/main" id="{6211C778-E521-F3E7-2750-2BCDECE60BA6}"/>
                </a:ext>
              </a:extLst>
            </p:cNvPr>
            <p:cNvSpPr/>
            <p:nvPr/>
          </p:nvSpPr>
          <p:spPr>
            <a:xfrm>
              <a:off x="3425172" y="2876550"/>
              <a:ext cx="4813300" cy="245638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23486BA1-1A63-0DA7-ADE0-F36FF93ADA29}"/>
                </a:ext>
              </a:extLst>
            </p:cNvPr>
            <p:cNvCxnSpPr>
              <a:cxnSpLocks/>
              <a:stCxn id="18" idx="1"/>
              <a:endCxn id="19" idx="3"/>
            </p:cNvCxnSpPr>
            <p:nvPr/>
          </p:nvCxnSpPr>
          <p:spPr>
            <a:xfrm flipH="1">
              <a:off x="8238472" y="4104742"/>
              <a:ext cx="81396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58505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E4694AB-09B6-EFAE-27FC-749DC90E803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BD61FCC-994E-8263-5C65-174486D1CD1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Magnetometer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5D565E4-1895-5287-DADE-BD9B1EE5C35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51120E1-6984-86D8-4CBF-C121BF8739DD}"/>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2BAC9E-D10D-9C07-4903-BBB8533E8CF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C23E4D-CA61-5020-88C0-EDE95B71739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226FDEE-15F2-9620-5596-490CF2EDBB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5D08997C-2901-338D-F452-27D03A67987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60BFED8-535C-AF32-61D5-96B8D0217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1E17F22-E592-A5C3-6551-CDC19D77A5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A430DB1-1829-EBDE-8614-1CBFFA9485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98792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34BDEC-C3D3-4105-1226-E383A54595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5D211-E65F-E12B-08EF-4EF110451E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 device that has been used for traveling for a very long time? That has helped sailors travel?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The compass!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magnetometer acts as an absolute reference. It measures the strength and direction of the Earth’s magnetic field, allowing the system to establish a global “North”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more popular method uses the Hall Effect sensor to measure the magnetic field; however, next slide is a slightly different, method, and was chosen since it is more like the previous accelerometer and gyroscope sensors. Although they measure the same thing in the end!</a:t>
            </a:r>
          </a:p>
        </p:txBody>
      </p:sp>
      <p:sp>
        <p:nvSpPr>
          <p:cNvPr id="119" name="Google Shape;119;p29">
            <a:extLst>
              <a:ext uri="{FF2B5EF4-FFF2-40B4-BE49-F238E27FC236}">
                <a16:creationId xmlns:a16="http://schemas.microsoft.com/office/drawing/2014/main" id="{59FBB176-724C-BF96-5EED-694105C8EA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64281D-E840-61BC-E029-E9AFDB8E0B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26F091-C092-CAB5-8765-BD5169FFB3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FD456-9A04-8D67-CEF9-E07A44856C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DCE253-4B69-D942-9A71-BB74B629A6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8D98AA-C53F-8C79-2B72-17A719BAE5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FB84272-470C-54F2-45AB-D9BC77CA15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CB3F62-5864-F22C-3E84-4E20013C20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9966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4615-C0FD-3187-3605-517B5DFC08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ED9A79-415E-98C7-5E73-144C5C1300F6}"/>
              </a:ext>
            </a:extLst>
          </p:cNvPr>
          <p:cNvSpPr txBox="1">
            <a:spLocks noGrp="1"/>
          </p:cNvSpPr>
          <p:nvPr>
            <p:ph type="body" idx="1"/>
          </p:nvPr>
        </p:nvSpPr>
        <p:spPr>
          <a:xfrm>
            <a:off x="376809" y="1334279"/>
            <a:ext cx="11177401" cy="52596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magnetic field acts like a counterbalance and you measure the torque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667BE13-E914-2930-656E-B448F63D18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C932C7-3EDE-C708-A43C-E880AA18757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AFBDFE-C6FC-FBD1-AABC-269E05B9CD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6902C9-F5FD-6778-0330-D48A05AACF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10A1FC-4A81-640D-CCF5-9223616E51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A251D2-32F7-3230-4788-B2C144643B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70667B-E112-CC97-30ED-C03E88949B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18E91-C3E0-6FF7-20A5-A2015E05E1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Ferromagnetic MEMS magnetometer: a bar magnet, south pole on the left and north on the right, sits on a plate suspended by a torsion beam running perpendicular to the magnet's length. An upward external magnetic field exerts a magnetic torque that tips the north end up and the south end down to align with the field. The twisted torsion beam produces an opposing mechanical torque, so measuring the beam's twist gives the field strength.">
            <a:extLst>
              <a:ext uri="{FF2B5EF4-FFF2-40B4-BE49-F238E27FC236}">
                <a16:creationId xmlns:a16="http://schemas.microsoft.com/office/drawing/2014/main" id="{1BF9D921-52E2-F515-06E7-EBE2FE1968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4600" y="1860239"/>
            <a:ext cx="7162800" cy="43529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FE09112-952E-AD25-295E-ECA3FD8EED5B}"/>
              </a:ext>
            </a:extLst>
          </p:cNvPr>
          <p:cNvSpPr txBox="1"/>
          <p:nvPr/>
        </p:nvSpPr>
        <p:spPr>
          <a:xfrm>
            <a:off x="2548429" y="6303274"/>
            <a:ext cx="6566787" cy="246221"/>
          </a:xfrm>
          <a:prstGeom prst="rect">
            <a:avLst/>
          </a:prstGeom>
          <a:noFill/>
        </p:spPr>
        <p:txBody>
          <a:bodyPr wrap="square">
            <a:spAutoFit/>
          </a:bodyPr>
          <a:lstStyle/>
          <a:p>
            <a:pPr algn="ctr"/>
            <a:r>
              <a:rPr lang="en-US" sz="1000" dirty="0">
                <a:hlinkClick r:id="rId5"/>
              </a:rPr>
              <a:t>https://www.researchgate.net/figure/llustration-of-a-ferromagnetic-MEMS-magnetometer-design_fig18_255663586</a:t>
            </a:r>
            <a:r>
              <a:rPr lang="en-US" sz="1000" dirty="0"/>
              <a:t> </a:t>
            </a:r>
          </a:p>
        </p:txBody>
      </p:sp>
    </p:spTree>
    <p:extLst>
      <p:ext uri="{BB962C8B-B14F-4D97-AF65-F5344CB8AC3E}">
        <p14:creationId xmlns:p14="http://schemas.microsoft.com/office/powerpoint/2010/main" val="32369902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761CB6-183F-045F-26E5-933C64E0F0D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2B2E9A-B089-D01F-F731-C6ECEC11CF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95725-9F89-18FB-7382-4F03575E8C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8FC4C-54F6-D004-A07B-F42CB32ADA8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0C9F6-133F-73FD-C72B-EBF6244F04D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AA3187-FFEB-3DC5-A577-1CD2F59FC0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A7831D-E7F7-322B-D119-95A11D8F4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5458FE-08D7-CC0D-07E3-237F21497A4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8E2C82-0890-BF30-5881-2A6E97AC06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8A5C91A8-05EC-9ED9-AB5B-EDEA939A1821}"/>
              </a:ext>
            </a:extLst>
          </p:cNvPr>
          <p:cNvSpPr txBox="1"/>
          <p:nvPr/>
        </p:nvSpPr>
        <p:spPr>
          <a:xfrm>
            <a:off x="2548429" y="6303274"/>
            <a:ext cx="6566787" cy="246221"/>
          </a:xfrm>
          <a:prstGeom prst="rect">
            <a:avLst/>
          </a:prstGeom>
          <a:noFill/>
        </p:spPr>
        <p:txBody>
          <a:bodyPr wrap="square">
            <a:spAutoFit/>
          </a:bodyPr>
          <a:lstStyle/>
          <a:p>
            <a:pPr algn="ctr"/>
            <a:r>
              <a:rPr lang="en-US" sz="1000" dirty="0">
                <a:hlinkClick r:id="rId4"/>
              </a:rPr>
              <a:t>https://www.mdpi.com/1424-8220/9/9/6951</a:t>
            </a:r>
            <a:r>
              <a:rPr lang="en-US" sz="1000" dirty="0"/>
              <a:t> </a:t>
            </a:r>
          </a:p>
        </p:txBody>
      </p:sp>
      <p:pic>
        <p:nvPicPr>
          <p:cNvPr id="1026" name="Picture 2" descr="3D model of a MEMS resonant magnetometer: a rectangular low-resistivity silicon resonator plate carries a planar spiral coil on its top surface. Two torsional beams on opposite sides suspend the plate above a capacitance plate on a glass substrate, with X, Y, Z axes marked. Current in the coil interacts with the magnetic field to produce a Lorentz-force torque that twists the plate about the beams, and the resulting change in gap is sensed capacitively.">
            <a:extLst>
              <a:ext uri="{FF2B5EF4-FFF2-40B4-BE49-F238E27FC236}">
                <a16:creationId xmlns:a16="http://schemas.microsoft.com/office/drawing/2014/main" id="{349791BD-0831-E515-610E-3099F565FCB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6971" y="1981869"/>
            <a:ext cx="6022028" cy="370957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canning electron micrograph of a MEMS magnetometer chip, about 2 millimeters across (scale bar 1 millimeter, 60x magnification). A central perforated rectangular plate carries a planar spiral coil of about ten turns. The plate is suspended at its left and right edges by short beams anchored to the frame, with rectangular structures on each side and gold wire bonds at the corners carrying current and signals. Current in the coil interacts with an external magnetic field, producing a force that deflects the plate.">
            <a:extLst>
              <a:ext uri="{FF2B5EF4-FFF2-40B4-BE49-F238E27FC236}">
                <a16:creationId xmlns:a16="http://schemas.microsoft.com/office/drawing/2014/main" id="{6147A6F7-68D6-F85D-5E95-D5CD2F6F698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300720" y="1986766"/>
            <a:ext cx="4069754" cy="36997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4250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8EB0C31-492F-B0AD-B4B5-50FE374540C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626E268-47B1-B3A4-9174-09BB261B830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IMU</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06830B29-FCD0-FA0E-9033-78462219D3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85F9FE9-6931-FF81-6B9A-26AC7B0A37E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08A4027-3523-54B2-6E0B-C2454BBB4F3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57F0F34-31B9-9FD2-824F-1169F29F38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8625D36-B126-8FA2-F740-65708A473B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81F1625-F337-CE43-F25C-B45B3FA2217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DA14FCF-6965-A50D-0365-D274CC47C87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1FC6488-7F22-58A4-D20E-23B151E8A3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6396909-9677-99A2-03B1-A5DAA4290B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330618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F36881-542F-2612-5397-EFD060863D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2370BD5-E1D8-4C83-94CB-51D834C2EB6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IMU – stands for Inertial Measurement Unit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Which is just a single chip that packages 3-axis accelerometers, 3-axis gyroscopes and a 3-axis magnetometer (sometimes).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Sometimes includes additional noise filtering, sensor fusion.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Allows to collect all the information about the robot’s inertial state.</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DD88350-F1F3-FCB3-EDE7-936CEA7F1B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E63ED3-8219-B319-B722-68EA9CA181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3276A6-11AC-F7C9-3FE9-C99EDB1DBD3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F267C-A085-3DF4-2EDF-B92C06DE08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8FF08E-1F01-BF70-A4B5-6B7D7E6D9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A1A3-245A-A8B2-C91D-560D305BDC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A6264-1633-0B06-79A2-30F018568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242F4F-05E5-F9F0-BC14-683765835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6018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3BEADA-2F15-D577-A5CF-70F67495D2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FCD6E8-023E-E912-280A-CE121600D8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will specially be using the MPU-9250. This specifically contains a 3-axis accelerometer, 3-axis gyroscope and a 3-axis magnetometer.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multiple sensitivity levels that you can set the sensors:</a:t>
            </a:r>
          </a:p>
          <a:p>
            <a:pPr marL="342900">
              <a:lnSpc>
                <a:spcPct val="100000"/>
              </a:lnSpc>
              <a:spcBef>
                <a:spcPts val="0"/>
              </a:spcBef>
              <a:buSzPts val="3000"/>
            </a:pPr>
            <a:r>
              <a:rPr lang="en-US" sz="2400" dirty="0">
                <a:latin typeface="Atkinson Hyperlegible Next"/>
                <a:ea typeface="Arial"/>
                <a:cs typeface="Arial"/>
                <a:sym typeface="Arial"/>
              </a:rPr>
              <a:t>Gyroscope: ±250, ±500, ±1000, and ±2000 </a:t>
            </a:r>
            <a:r>
              <a:rPr lang="en-US" sz="2400" dirty="0" err="1">
                <a:latin typeface="Atkinson Hyperlegible Next"/>
                <a:ea typeface="Arial"/>
                <a:cs typeface="Arial"/>
                <a:sym typeface="Arial"/>
              </a:rPr>
              <a:t>dps</a:t>
            </a:r>
            <a:r>
              <a:rPr lang="en-US" sz="2400" dirty="0">
                <a:latin typeface="Atkinson Hyperlegible Next"/>
                <a:ea typeface="Arial"/>
                <a:cs typeface="Arial"/>
                <a:sym typeface="Arial"/>
              </a:rPr>
              <a:t> (degrees per second)</a:t>
            </a:r>
          </a:p>
          <a:p>
            <a:pPr marL="342900">
              <a:lnSpc>
                <a:spcPct val="100000"/>
              </a:lnSpc>
              <a:spcBef>
                <a:spcPts val="0"/>
              </a:spcBef>
              <a:buSzPts val="3000"/>
            </a:pPr>
            <a:r>
              <a:rPr lang="en-US" sz="2400" dirty="0">
                <a:latin typeface="Atkinson Hyperlegible Next"/>
                <a:ea typeface="Arial"/>
                <a:cs typeface="Arial"/>
                <a:sym typeface="Arial"/>
              </a:rPr>
              <a:t>Accelerometer: ±2g, ±4g, ±8g, and ±16g</a:t>
            </a:r>
          </a:p>
          <a:p>
            <a:pPr marL="342900">
              <a:lnSpc>
                <a:spcPct val="100000"/>
              </a:lnSpc>
              <a:spcBef>
                <a:spcPts val="0"/>
              </a:spcBef>
              <a:buSzPts val="3000"/>
            </a:pPr>
            <a:r>
              <a:rPr lang="en-US" sz="2400" dirty="0">
                <a:latin typeface="Atkinson Hyperlegible Next"/>
                <a:ea typeface="Arial"/>
                <a:cs typeface="Arial"/>
                <a:sym typeface="Arial"/>
              </a:rPr>
              <a:t>Magnetometer: ±4800µT (Tesla)</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can communicate to it through I2C at 400kHz or SPI at 1MHz (up to 20MHz).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sensors are meant to be read extremely fast, why is that the case?</a:t>
            </a:r>
          </a:p>
          <a:p>
            <a:pPr marL="0" indent="0">
              <a:lnSpc>
                <a:spcPct val="100000"/>
              </a:lnSpc>
              <a:spcBef>
                <a:spcPts val="0"/>
              </a:spcBef>
              <a:buSzPts val="3000"/>
              <a:buNone/>
            </a:pPr>
            <a:r>
              <a:rPr lang="en-US" sz="2400" dirty="0">
                <a:latin typeface="Atkinson Hyperlegible Next"/>
                <a:ea typeface="Arial"/>
                <a:cs typeface="Arial"/>
                <a:sym typeface="Arial"/>
              </a:rPr>
              <a:t>We need to integrate to get velocity and position so the smaller the dt the more accurate!</a:t>
            </a:r>
          </a:p>
        </p:txBody>
      </p:sp>
      <p:sp>
        <p:nvSpPr>
          <p:cNvPr id="119" name="Google Shape;119;p29">
            <a:extLst>
              <a:ext uri="{FF2B5EF4-FFF2-40B4-BE49-F238E27FC236}">
                <a16:creationId xmlns:a16="http://schemas.microsoft.com/office/drawing/2014/main" id="{68D2C80A-D069-68E9-DFE6-6C4C5B97973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B94FBA-9831-4085-2E9B-EE84E1C304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1ACCA2-F3B1-B22A-F0AB-1B7ABF2287C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4E3974-9A08-955A-4003-9A2368D2C1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AFBB08-4CDA-2B76-0DD5-58683A3D34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2654AD-464C-8557-8698-078BA2BCF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E3A03E-5F2D-D98E-7174-EE259CC19A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AAF608-985A-BCF0-A482-CBEDCA5C9E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1161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A43AC7-2E29-E5A8-0C9E-48328EAE8E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F6CF6BE-7E85-4EDA-B13F-1E7CA5F995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will be communicating through SPI.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Each the returned results will be 16-bit signed integers. As such: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Acceleration X, Y, Z: [-32768, 32767] = [-4g, 4g]</a:t>
            </a:r>
          </a:p>
          <a:p>
            <a:pPr marL="0" indent="0">
              <a:lnSpc>
                <a:spcPct val="100000"/>
              </a:lnSpc>
              <a:spcBef>
                <a:spcPts val="0"/>
              </a:spcBef>
              <a:buSzPts val="3000"/>
              <a:buNone/>
            </a:pPr>
            <a:r>
              <a:rPr lang="en-US" sz="2400" dirty="0">
                <a:latin typeface="Atkinson Hyperlegible Next"/>
                <a:ea typeface="Arial"/>
                <a:cs typeface="Arial"/>
                <a:sym typeface="Arial"/>
              </a:rPr>
              <a:t>Gyro X, Y, Z: [-32768, 32767] = [-250 </a:t>
            </a:r>
            <a:r>
              <a:rPr lang="en-US" sz="2400" dirty="0" err="1">
                <a:latin typeface="Atkinson Hyperlegible Next"/>
                <a:ea typeface="Arial"/>
                <a:cs typeface="Arial"/>
                <a:sym typeface="Arial"/>
              </a:rPr>
              <a:t>dps</a:t>
            </a:r>
            <a:r>
              <a:rPr lang="en-US" sz="2400">
                <a:latin typeface="Atkinson Hyperlegible Next"/>
                <a:ea typeface="Arial"/>
                <a:cs typeface="Arial"/>
                <a:sym typeface="Arial"/>
              </a:rPr>
              <a:t>, 250 </a:t>
            </a:r>
            <a:r>
              <a:rPr lang="en-US" sz="2400" dirty="0">
                <a:latin typeface="Atkinson Hyperlegible Next"/>
                <a:ea typeface="Arial"/>
                <a:cs typeface="Arial"/>
                <a:sym typeface="Arial"/>
              </a:rPr>
              <a:t>dsp]</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B59907-556D-8537-06CA-BE11958B4A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1E23E4-623E-B1E0-10E8-838F14CE3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80FA31-C46A-452D-36BF-5F8A777462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7C9DDB-583C-E523-0EA0-32790D67D3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35C792-B355-5F07-02C8-AD81FF3A9B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CFCA2D2-5DB1-DDC6-1F9B-9FE62619CB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53429F-F1F5-3BEC-1A9E-746E510593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7E8236-CB24-5BB6-446E-3CFAC8E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5671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1AB3B9-E396-6787-787B-1E98BFFC6AE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7C0E7E3-9D2C-6EBC-6B9F-05C86ED0A8EC}"/>
              </a:ext>
            </a:extLst>
          </p:cNvPr>
          <p:cNvSpPr txBox="1">
            <a:spLocks noGrp="1"/>
          </p:cNvSpPr>
          <p:nvPr>
            <p:ph type="body" idx="1"/>
          </p:nvPr>
        </p:nvSpPr>
        <p:spPr>
          <a:xfrm>
            <a:off x="376809" y="1334279"/>
            <a:ext cx="11177401" cy="197384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00" dirty="0">
                <a:latin typeface="Atkinson Hyperlegible Next"/>
                <a:ea typeface="Arial"/>
                <a:cs typeface="Arial"/>
                <a:sym typeface="Arial"/>
              </a:rPr>
              <a:t>There are 2 components for this sensor, writing configurations vs reading data. This is encoded inside the SPI data. We separate the message into 2 8-bit parts. </a:t>
            </a:r>
          </a:p>
          <a:p>
            <a:pPr marL="0" indent="0">
              <a:lnSpc>
                <a:spcPct val="100000"/>
              </a:lnSpc>
              <a:spcBef>
                <a:spcPts val="0"/>
              </a:spcBef>
              <a:buSzPts val="3000"/>
              <a:buNone/>
            </a:pPr>
            <a:endParaRPr lang="en-US" sz="2100" dirty="0">
              <a:latin typeface="Atkinson Hyperlegible Next"/>
              <a:ea typeface="Arial"/>
              <a:cs typeface="Arial"/>
              <a:sym typeface="Arial"/>
            </a:endParaRPr>
          </a:p>
          <a:p>
            <a:pPr marL="0" indent="0">
              <a:lnSpc>
                <a:spcPct val="100000"/>
              </a:lnSpc>
              <a:spcBef>
                <a:spcPts val="0"/>
              </a:spcBef>
              <a:buSzPts val="3000"/>
              <a:buNone/>
            </a:pPr>
            <a:r>
              <a:rPr lang="en-US" sz="2100" dirty="0">
                <a:latin typeface="Atkinson Hyperlegible Next"/>
                <a:ea typeface="Arial"/>
                <a:cs typeface="Arial"/>
                <a:sym typeface="Arial"/>
              </a:rPr>
              <a:t>The </a:t>
            </a:r>
            <a:r>
              <a:rPr lang="en-US" sz="2100" b="1" dirty="0">
                <a:latin typeface="Atkinson Hyperlegible Next"/>
                <a:ea typeface="Arial"/>
                <a:cs typeface="Arial"/>
                <a:sym typeface="Arial"/>
              </a:rPr>
              <a:t>address (top 8-bits)</a:t>
            </a:r>
            <a:r>
              <a:rPr lang="en-US" sz="2100" dirty="0">
                <a:latin typeface="Atkinson Hyperlegible Next"/>
                <a:ea typeface="Arial"/>
                <a:cs typeface="Arial"/>
                <a:sym typeface="Arial"/>
              </a:rPr>
              <a:t>: Says if we are trying to read/write and from where (accel vs gyro)</a:t>
            </a:r>
          </a:p>
          <a:p>
            <a:pPr marL="0" indent="0">
              <a:lnSpc>
                <a:spcPct val="100000"/>
              </a:lnSpc>
              <a:spcBef>
                <a:spcPts val="0"/>
              </a:spcBef>
              <a:buSzPts val="3000"/>
              <a:buNone/>
            </a:pPr>
            <a:r>
              <a:rPr lang="en-US" sz="2100" dirty="0">
                <a:latin typeface="Atkinson Hyperlegible Next"/>
                <a:ea typeface="Arial"/>
                <a:cs typeface="Arial"/>
                <a:sym typeface="Arial"/>
              </a:rPr>
              <a:t>The </a:t>
            </a:r>
            <a:r>
              <a:rPr lang="en-US" sz="2100" b="1" dirty="0">
                <a:latin typeface="Atkinson Hyperlegible Next"/>
                <a:ea typeface="Arial"/>
                <a:cs typeface="Arial"/>
                <a:sym typeface="Arial"/>
              </a:rPr>
              <a:t>data (bottom 8-bits)</a:t>
            </a:r>
            <a:r>
              <a:rPr lang="en-US" sz="2100" dirty="0">
                <a:latin typeface="Atkinson Hyperlegible Next"/>
                <a:ea typeface="Arial"/>
                <a:cs typeface="Arial"/>
                <a:sym typeface="Arial"/>
              </a:rPr>
              <a:t>: what we are trying to send to write to that address (ignored if reading)</a:t>
            </a:r>
          </a:p>
        </p:txBody>
      </p:sp>
      <p:sp>
        <p:nvSpPr>
          <p:cNvPr id="119" name="Google Shape;119;p29">
            <a:extLst>
              <a:ext uri="{FF2B5EF4-FFF2-40B4-BE49-F238E27FC236}">
                <a16:creationId xmlns:a16="http://schemas.microsoft.com/office/drawing/2014/main" id="{36B583B3-9CAA-7EDB-9A6C-481EDD989F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E26B0A-E9DB-3848-A90A-9AB9D2CCB2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2FDDE-7B14-89A0-B2A4-A47DD72EEF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4E8232-5EB3-2980-FC78-86892D00AE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32AEDB-A439-4BDF-36EB-CC90DF1B330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29639B-E25E-68B0-022B-0D2A95523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D0E22C-54EB-4277-2CE4-A6CD6C13A8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A705E-34C8-F53A-EAC5-9B1B756975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it-layout tables for the two bytes of the SPI message. Address byte, MSB to LSB: the read/write bit, then address bits A6 down to A0. Data byte, MSB to LSB: data bits D7 down to D0.">
            <a:extLst>
              <a:ext uri="{FF2B5EF4-FFF2-40B4-BE49-F238E27FC236}">
                <a16:creationId xmlns:a16="http://schemas.microsoft.com/office/drawing/2014/main" id="{6DAB086C-55CF-1A28-68CB-954CFF4AFB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5302" y="3478662"/>
            <a:ext cx="6193031" cy="2843165"/>
          </a:xfrm>
          <a:prstGeom prst="rect">
            <a:avLst/>
          </a:prstGeom>
        </p:spPr>
      </p:pic>
      <p:grpSp>
        <p:nvGrpSpPr>
          <p:cNvPr id="17" name="Group 16">
            <a:extLst>
              <a:ext uri="{FF2B5EF4-FFF2-40B4-BE49-F238E27FC236}">
                <a16:creationId xmlns:a16="http://schemas.microsoft.com/office/drawing/2014/main" id="{1A6B5D62-C508-0CB4-DE8B-699A33F77385}"/>
              </a:ext>
            </a:extLst>
          </p:cNvPr>
          <p:cNvGrpSpPr/>
          <p:nvPr/>
        </p:nvGrpSpPr>
        <p:grpSpPr>
          <a:xfrm>
            <a:off x="613863" y="3478662"/>
            <a:ext cx="8444470" cy="2843165"/>
            <a:chOff x="613863" y="3478662"/>
            <a:chExt cx="8444470" cy="2843165"/>
          </a:xfrm>
        </p:grpSpPr>
        <p:sp>
          <p:nvSpPr>
            <p:cNvPr id="8" name="Rectangle 7">
              <a:extLst>
                <a:ext uri="{FF2B5EF4-FFF2-40B4-BE49-F238E27FC236}">
                  <a16:creationId xmlns:a16="http://schemas.microsoft.com/office/drawing/2014/main" id="{DC6357E2-B058-8663-ED2F-833BB2687DE3}"/>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B78A1352-F06C-6DC9-6335-CB68B05833D7}"/>
                </a:ext>
              </a:extLst>
            </p:cNvPr>
            <p:cNvCxnSpPr>
              <a:cxnSpLocks/>
              <a:stCxn id="12" idx="3"/>
              <a:endCxn id="8" idx="1"/>
            </p:cNvCxnSpPr>
            <p:nvPr/>
          </p:nvCxnSpPr>
          <p:spPr>
            <a:xfrm>
              <a:off x="2033421" y="4900244"/>
              <a:ext cx="831881" cy="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D900E6C-00E0-93B9-C7B2-CE7B8538FB8F}"/>
                </a:ext>
              </a:extLst>
            </p:cNvPr>
            <p:cNvSpPr txBox="1"/>
            <p:nvPr/>
          </p:nvSpPr>
          <p:spPr>
            <a:xfrm>
              <a:off x="613863" y="4746355"/>
              <a:ext cx="1419558" cy="307777"/>
            </a:xfrm>
            <a:prstGeom prst="rect">
              <a:avLst/>
            </a:prstGeom>
            <a:noFill/>
          </p:spPr>
          <p:txBody>
            <a:bodyPr wrap="square" rtlCol="0">
              <a:spAutoFit/>
            </a:bodyPr>
            <a:lstStyle/>
            <a:p>
              <a:r>
                <a:rPr lang="en-US" dirty="0">
                  <a:solidFill>
                    <a:srgbClr val="EA0000"/>
                  </a:solidFill>
                </a:rPr>
                <a:t>16-bit message</a:t>
              </a:r>
            </a:p>
          </p:txBody>
        </p:sp>
      </p:grpSp>
      <p:grpSp>
        <p:nvGrpSpPr>
          <p:cNvPr id="18" name="Group 17">
            <a:extLst>
              <a:ext uri="{FF2B5EF4-FFF2-40B4-BE49-F238E27FC236}">
                <a16:creationId xmlns:a16="http://schemas.microsoft.com/office/drawing/2014/main" id="{C73112CD-BFCE-4602-4D6D-411BA5C681A3}"/>
              </a:ext>
            </a:extLst>
          </p:cNvPr>
          <p:cNvGrpSpPr/>
          <p:nvPr/>
        </p:nvGrpSpPr>
        <p:grpSpPr>
          <a:xfrm>
            <a:off x="613863" y="3478661"/>
            <a:ext cx="8444470" cy="1368298"/>
            <a:chOff x="613863" y="3478662"/>
            <a:chExt cx="8444470" cy="2843165"/>
          </a:xfrm>
        </p:grpSpPr>
        <p:sp>
          <p:nvSpPr>
            <p:cNvPr id="19" name="Rectangle 18">
              <a:extLst>
                <a:ext uri="{FF2B5EF4-FFF2-40B4-BE49-F238E27FC236}">
                  <a16:creationId xmlns:a16="http://schemas.microsoft.com/office/drawing/2014/main" id="{06628C78-71C6-85E1-216B-F4649AF4409C}"/>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EB3947A-1EE6-9DC6-A4D3-FBC9486CE6B8}"/>
                </a:ext>
              </a:extLst>
            </p:cNvPr>
            <p:cNvCxnSpPr>
              <a:cxnSpLocks/>
              <a:stCxn id="21" idx="3"/>
              <a:endCxn id="19" idx="1"/>
            </p:cNvCxnSpPr>
            <p:nvPr/>
          </p:nvCxnSpPr>
          <p:spPr>
            <a:xfrm>
              <a:off x="2033421" y="4900244"/>
              <a:ext cx="83188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03E02A7E-EC63-4D2B-18D4-385AE21D1CB4}"/>
                </a:ext>
              </a:extLst>
            </p:cNvPr>
            <p:cNvSpPr txBox="1"/>
            <p:nvPr/>
          </p:nvSpPr>
          <p:spPr>
            <a:xfrm>
              <a:off x="613863" y="4580481"/>
              <a:ext cx="1419558" cy="639525"/>
            </a:xfrm>
            <a:prstGeom prst="rect">
              <a:avLst/>
            </a:prstGeom>
            <a:noFill/>
          </p:spPr>
          <p:txBody>
            <a:bodyPr wrap="square" rtlCol="0">
              <a:spAutoFit/>
            </a:bodyPr>
            <a:lstStyle/>
            <a:p>
              <a:r>
                <a:rPr lang="en-US" dirty="0">
                  <a:solidFill>
                    <a:srgbClr val="EA0000"/>
                  </a:solidFill>
                </a:rPr>
                <a:t>The address</a:t>
              </a:r>
            </a:p>
          </p:txBody>
        </p:sp>
      </p:grpSp>
      <p:grpSp>
        <p:nvGrpSpPr>
          <p:cNvPr id="23" name="Group 22">
            <a:extLst>
              <a:ext uri="{FF2B5EF4-FFF2-40B4-BE49-F238E27FC236}">
                <a16:creationId xmlns:a16="http://schemas.microsoft.com/office/drawing/2014/main" id="{E325D974-0E20-9A4B-051C-C854CED6EDA7}"/>
              </a:ext>
            </a:extLst>
          </p:cNvPr>
          <p:cNvGrpSpPr/>
          <p:nvPr/>
        </p:nvGrpSpPr>
        <p:grpSpPr>
          <a:xfrm>
            <a:off x="613863" y="4974878"/>
            <a:ext cx="8444470" cy="1368298"/>
            <a:chOff x="613863" y="3478662"/>
            <a:chExt cx="8444470" cy="2843165"/>
          </a:xfrm>
        </p:grpSpPr>
        <p:sp>
          <p:nvSpPr>
            <p:cNvPr id="24" name="Rectangle 23">
              <a:extLst>
                <a:ext uri="{FF2B5EF4-FFF2-40B4-BE49-F238E27FC236}">
                  <a16:creationId xmlns:a16="http://schemas.microsoft.com/office/drawing/2014/main" id="{83D89D5C-B503-D3EB-B8BF-484E579C24AE}"/>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FD7B1CDB-961E-FB85-5E6E-B02577A254B8}"/>
                </a:ext>
              </a:extLst>
            </p:cNvPr>
            <p:cNvCxnSpPr>
              <a:cxnSpLocks/>
              <a:stCxn id="26" idx="3"/>
              <a:endCxn id="24" idx="1"/>
            </p:cNvCxnSpPr>
            <p:nvPr/>
          </p:nvCxnSpPr>
          <p:spPr>
            <a:xfrm>
              <a:off x="2033421" y="4900244"/>
              <a:ext cx="83188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CFBB121-BFD9-808A-B134-3381C15A04EC}"/>
                </a:ext>
              </a:extLst>
            </p:cNvPr>
            <p:cNvSpPr txBox="1"/>
            <p:nvPr/>
          </p:nvSpPr>
          <p:spPr>
            <a:xfrm>
              <a:off x="613863" y="4580481"/>
              <a:ext cx="1419558" cy="639525"/>
            </a:xfrm>
            <a:prstGeom prst="rect">
              <a:avLst/>
            </a:prstGeom>
            <a:noFill/>
          </p:spPr>
          <p:txBody>
            <a:bodyPr wrap="square" rtlCol="0">
              <a:spAutoFit/>
            </a:bodyPr>
            <a:lstStyle/>
            <a:p>
              <a:r>
                <a:rPr lang="en-US" dirty="0">
                  <a:solidFill>
                    <a:srgbClr val="EA0000"/>
                  </a:solidFill>
                </a:rPr>
                <a:t>The data</a:t>
              </a:r>
            </a:p>
          </p:txBody>
        </p:sp>
      </p:grpSp>
      <p:grpSp>
        <p:nvGrpSpPr>
          <p:cNvPr id="27" name="Group 26">
            <a:extLst>
              <a:ext uri="{FF2B5EF4-FFF2-40B4-BE49-F238E27FC236}">
                <a16:creationId xmlns:a16="http://schemas.microsoft.com/office/drawing/2014/main" id="{E11A7375-0514-5C67-A39C-9ED4C08F99AF}"/>
              </a:ext>
            </a:extLst>
          </p:cNvPr>
          <p:cNvGrpSpPr/>
          <p:nvPr/>
        </p:nvGrpSpPr>
        <p:grpSpPr>
          <a:xfrm>
            <a:off x="826752" y="3992270"/>
            <a:ext cx="3173748" cy="777744"/>
            <a:chOff x="279179" y="3478662"/>
            <a:chExt cx="8879788" cy="2812943"/>
          </a:xfrm>
        </p:grpSpPr>
        <p:sp>
          <p:nvSpPr>
            <p:cNvPr id="28" name="Rectangle 27">
              <a:extLst>
                <a:ext uri="{FF2B5EF4-FFF2-40B4-BE49-F238E27FC236}">
                  <a16:creationId xmlns:a16="http://schemas.microsoft.com/office/drawing/2014/main" id="{5543DA51-770A-7F88-24BC-95254831013C}"/>
                </a:ext>
              </a:extLst>
            </p:cNvPr>
            <p:cNvSpPr/>
            <p:nvPr/>
          </p:nvSpPr>
          <p:spPr>
            <a:xfrm>
              <a:off x="6446270" y="3478662"/>
              <a:ext cx="2712697" cy="2727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7195E562-16B6-D821-DD0F-8CBC49EB5DA2}"/>
                </a:ext>
              </a:extLst>
            </p:cNvPr>
            <p:cNvCxnSpPr>
              <a:cxnSpLocks/>
              <a:stCxn id="30" idx="3"/>
              <a:endCxn id="28" idx="1"/>
            </p:cNvCxnSpPr>
            <p:nvPr/>
          </p:nvCxnSpPr>
          <p:spPr>
            <a:xfrm flipV="1">
              <a:off x="5123480" y="4842343"/>
              <a:ext cx="1322791" cy="50307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49E8AEA-051C-55FE-D644-143829364575}"/>
                </a:ext>
              </a:extLst>
            </p:cNvPr>
            <p:cNvSpPr txBox="1"/>
            <p:nvPr/>
          </p:nvSpPr>
          <p:spPr>
            <a:xfrm>
              <a:off x="279179" y="4399224"/>
              <a:ext cx="4844301" cy="1892381"/>
            </a:xfrm>
            <a:prstGeom prst="rect">
              <a:avLst/>
            </a:prstGeom>
            <a:noFill/>
          </p:spPr>
          <p:txBody>
            <a:bodyPr wrap="square" rtlCol="0">
              <a:spAutoFit/>
            </a:bodyPr>
            <a:lstStyle/>
            <a:p>
              <a:r>
                <a:rPr lang="en-US" dirty="0">
                  <a:solidFill>
                    <a:srgbClr val="EA0000"/>
                  </a:solidFill>
                </a:rPr>
                <a:t>The read/write bit</a:t>
              </a:r>
            </a:p>
            <a:p>
              <a:r>
                <a:rPr lang="en-US" dirty="0">
                  <a:solidFill>
                    <a:srgbClr val="EA0000"/>
                  </a:solidFill>
                </a:rPr>
                <a:t>(1 = read, 0 = write)</a:t>
              </a:r>
            </a:p>
          </p:txBody>
        </p:sp>
      </p:grpSp>
      <p:grpSp>
        <p:nvGrpSpPr>
          <p:cNvPr id="39" name="Group 38">
            <a:extLst>
              <a:ext uri="{FF2B5EF4-FFF2-40B4-BE49-F238E27FC236}">
                <a16:creationId xmlns:a16="http://schemas.microsoft.com/office/drawing/2014/main" id="{F95F67D3-E7E2-557F-B2DF-79EB8AC6F10B}"/>
              </a:ext>
            </a:extLst>
          </p:cNvPr>
          <p:cNvGrpSpPr/>
          <p:nvPr/>
        </p:nvGrpSpPr>
        <p:grpSpPr>
          <a:xfrm>
            <a:off x="4000500" y="3992270"/>
            <a:ext cx="7350060" cy="754085"/>
            <a:chOff x="6679388" y="3478662"/>
            <a:chExt cx="20564638" cy="2727373"/>
          </a:xfrm>
        </p:grpSpPr>
        <p:sp>
          <p:nvSpPr>
            <p:cNvPr id="40" name="Rectangle 39">
              <a:extLst>
                <a:ext uri="{FF2B5EF4-FFF2-40B4-BE49-F238E27FC236}">
                  <a16:creationId xmlns:a16="http://schemas.microsoft.com/office/drawing/2014/main" id="{9AFEF021-C70E-9404-5DE4-C2E39982485D}"/>
                </a:ext>
              </a:extLst>
            </p:cNvPr>
            <p:cNvSpPr/>
            <p:nvPr/>
          </p:nvSpPr>
          <p:spPr>
            <a:xfrm>
              <a:off x="6679388" y="3478662"/>
              <a:ext cx="13680266" cy="272737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CCCC609F-344B-1A8F-0A52-8D5D7BB151CD}"/>
                </a:ext>
              </a:extLst>
            </p:cNvPr>
            <p:cNvCxnSpPr>
              <a:cxnSpLocks/>
              <a:stCxn id="42" idx="1"/>
              <a:endCxn id="40" idx="3"/>
            </p:cNvCxnSpPr>
            <p:nvPr/>
          </p:nvCxnSpPr>
          <p:spPr>
            <a:xfrm flipH="1">
              <a:off x="20359654" y="4842339"/>
              <a:ext cx="2189643" cy="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E1C8C03D-46A3-76B8-A95B-DC18DF5C3169}"/>
                </a:ext>
              </a:extLst>
            </p:cNvPr>
            <p:cNvSpPr txBox="1"/>
            <p:nvPr/>
          </p:nvSpPr>
          <p:spPr>
            <a:xfrm>
              <a:off x="22549297" y="3506540"/>
              <a:ext cx="4694729" cy="2671598"/>
            </a:xfrm>
            <a:prstGeom prst="rect">
              <a:avLst/>
            </a:prstGeom>
            <a:noFill/>
          </p:spPr>
          <p:txBody>
            <a:bodyPr wrap="square" rtlCol="0">
              <a:spAutoFit/>
            </a:bodyPr>
            <a:lstStyle/>
            <a:p>
              <a:r>
                <a:rPr lang="en-US" dirty="0">
                  <a:solidFill>
                    <a:srgbClr val="EA0000"/>
                  </a:solidFill>
                </a:rPr>
                <a:t>The 7-bit reference address 0x00 to 0x74</a:t>
              </a:r>
            </a:p>
          </p:txBody>
        </p:sp>
      </p:grpSp>
    </p:spTree>
    <p:extLst>
      <p:ext uri="{BB962C8B-B14F-4D97-AF65-F5344CB8AC3E}">
        <p14:creationId xmlns:p14="http://schemas.microsoft.com/office/powerpoint/2010/main" val="1196662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7"/>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0"/>
                                          </p:stCondLst>
                                        </p:cTn>
                                        <p:tgtEl>
                                          <p:spTgt spid="18"/>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816780-8DF5-3689-0895-BFBBCDAEE4C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78E35C-2059-63A9-E87E-E30B4E7BCD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7758A9-CDF8-6769-5302-2BF3D4D32D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9B5C48-3409-8063-FC8E-CA8EC773CB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33544F-1DAC-8351-D074-AAF14B6EEA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F7BFC5-458F-02FF-19F4-A79CCC07B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F03965-4F16-9343-CB3E-A8D24EABA7A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6B9DD8-F635-E2F6-0A20-8475853C4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04C2DF-4316-22D8-2E3B-253D418DC6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4B287157-1149-6EFD-6641-BD017E0144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37506" y="1072273"/>
            <a:ext cx="8194830" cy="5352953"/>
          </a:xfrm>
          <a:prstGeom prst="rect">
            <a:avLst/>
          </a:prstGeom>
        </p:spPr>
      </p:pic>
      <p:sp>
        <p:nvSpPr>
          <p:cNvPr id="4" name="Rectangle 3">
            <a:extLst>
              <a:ext uri="{FF2B5EF4-FFF2-40B4-BE49-F238E27FC236}">
                <a16:creationId xmlns:a16="http://schemas.microsoft.com/office/drawing/2014/main" id="{8474A08C-1C3A-1488-E46B-B01CE1474721}"/>
              </a:ext>
            </a:extLst>
          </p:cNvPr>
          <p:cNvSpPr/>
          <p:nvPr/>
        </p:nvSpPr>
        <p:spPr>
          <a:xfrm>
            <a:off x="2059665" y="1174750"/>
            <a:ext cx="378736" cy="52504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5481A6B-9D41-E778-F24C-C2785382C78D}"/>
              </a:ext>
            </a:extLst>
          </p:cNvPr>
          <p:cNvSpPr/>
          <p:nvPr/>
        </p:nvSpPr>
        <p:spPr>
          <a:xfrm>
            <a:off x="4183107" y="1158339"/>
            <a:ext cx="378736" cy="52504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D014FDB2-6E30-479D-5D6C-B149E3563830}"/>
              </a:ext>
            </a:extLst>
          </p:cNvPr>
          <p:cNvCxnSpPr>
            <a:cxnSpLocks/>
            <a:stCxn id="7" idx="3"/>
            <a:endCxn id="3" idx="1"/>
          </p:cNvCxnSpPr>
          <p:nvPr/>
        </p:nvCxnSpPr>
        <p:spPr>
          <a:xfrm>
            <a:off x="1454150" y="3743710"/>
            <a:ext cx="483356" cy="50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41EA0F1F-4D86-F656-5413-FB80E1E3B97D}"/>
              </a:ext>
            </a:extLst>
          </p:cNvPr>
          <p:cNvSpPr txBox="1"/>
          <p:nvPr/>
        </p:nvSpPr>
        <p:spPr>
          <a:xfrm>
            <a:off x="256300" y="3589821"/>
            <a:ext cx="1197850" cy="307777"/>
          </a:xfrm>
          <a:prstGeom prst="rect">
            <a:avLst/>
          </a:prstGeom>
          <a:noFill/>
        </p:spPr>
        <p:txBody>
          <a:bodyPr wrap="square" rtlCol="0">
            <a:spAutoFit/>
          </a:bodyPr>
          <a:lstStyle/>
          <a:p>
            <a:r>
              <a:rPr lang="en-US" dirty="0">
                <a:solidFill>
                  <a:srgbClr val="EA0000"/>
                </a:solidFill>
              </a:rPr>
              <a:t>The address</a:t>
            </a:r>
          </a:p>
        </p:txBody>
      </p:sp>
      <p:sp>
        <p:nvSpPr>
          <p:cNvPr id="12" name="TextBox 11">
            <a:extLst>
              <a:ext uri="{FF2B5EF4-FFF2-40B4-BE49-F238E27FC236}">
                <a16:creationId xmlns:a16="http://schemas.microsoft.com/office/drawing/2014/main" id="{E35E2DFA-64BF-ECEB-121E-039E503FBE6C}"/>
              </a:ext>
            </a:extLst>
          </p:cNvPr>
          <p:cNvSpPr txBox="1"/>
          <p:nvPr/>
        </p:nvSpPr>
        <p:spPr>
          <a:xfrm>
            <a:off x="5095406" y="3589821"/>
            <a:ext cx="1553593" cy="738664"/>
          </a:xfrm>
          <a:prstGeom prst="rect">
            <a:avLst/>
          </a:prstGeom>
          <a:noFill/>
        </p:spPr>
        <p:txBody>
          <a:bodyPr wrap="square" rtlCol="0">
            <a:spAutoFit/>
          </a:bodyPr>
          <a:lstStyle/>
          <a:p>
            <a:pPr algn="ctr"/>
            <a:r>
              <a:rPr lang="en-US" dirty="0">
                <a:solidFill>
                  <a:srgbClr val="FF0000"/>
                </a:solidFill>
              </a:rPr>
              <a:t>If you can read / write to this address</a:t>
            </a:r>
          </a:p>
        </p:txBody>
      </p:sp>
      <p:cxnSp>
        <p:nvCxnSpPr>
          <p:cNvPr id="13" name="Straight Arrow Connector 12">
            <a:extLst>
              <a:ext uri="{FF2B5EF4-FFF2-40B4-BE49-F238E27FC236}">
                <a16:creationId xmlns:a16="http://schemas.microsoft.com/office/drawing/2014/main" id="{2C57A7F3-3AAC-54F5-7B93-9C8F602BC439}"/>
              </a:ext>
            </a:extLst>
          </p:cNvPr>
          <p:cNvCxnSpPr>
            <a:cxnSpLocks/>
            <a:stCxn id="12" idx="1"/>
            <a:endCxn id="5" idx="3"/>
          </p:cNvCxnSpPr>
          <p:nvPr/>
        </p:nvCxnSpPr>
        <p:spPr>
          <a:xfrm flipH="1" flipV="1">
            <a:off x="4561843" y="3783577"/>
            <a:ext cx="533563" cy="17557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E23775A3-AD90-84C7-E7BC-E121D82CC9BC}"/>
              </a:ext>
            </a:extLst>
          </p:cNvPr>
          <p:cNvSpPr/>
          <p:nvPr/>
        </p:nvSpPr>
        <p:spPr>
          <a:xfrm flipH="1">
            <a:off x="4597352" y="3028956"/>
            <a:ext cx="5448345"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C341AC36-0642-E3A5-1E45-DCB8740CEDAA}"/>
              </a:ext>
            </a:extLst>
          </p:cNvPr>
          <p:cNvSpPr txBox="1"/>
          <p:nvPr/>
        </p:nvSpPr>
        <p:spPr>
          <a:xfrm>
            <a:off x="10382107" y="2957637"/>
            <a:ext cx="1553593" cy="738664"/>
          </a:xfrm>
          <a:prstGeom prst="rect">
            <a:avLst/>
          </a:prstGeom>
          <a:noFill/>
        </p:spPr>
        <p:txBody>
          <a:bodyPr wrap="square" rtlCol="0">
            <a:spAutoFit/>
          </a:bodyPr>
          <a:lstStyle/>
          <a:p>
            <a:pPr algn="ctr"/>
            <a:r>
              <a:rPr lang="en-US" dirty="0">
                <a:solidFill>
                  <a:srgbClr val="EA0000"/>
                </a:solidFill>
              </a:rPr>
              <a:t>Data is split into 8-bit high and low bits</a:t>
            </a:r>
          </a:p>
        </p:txBody>
      </p:sp>
      <p:cxnSp>
        <p:nvCxnSpPr>
          <p:cNvPr id="30" name="Straight Arrow Connector 29">
            <a:extLst>
              <a:ext uri="{FF2B5EF4-FFF2-40B4-BE49-F238E27FC236}">
                <a16:creationId xmlns:a16="http://schemas.microsoft.com/office/drawing/2014/main" id="{7DD2607D-0421-88FB-980B-BD7C2EB9BB1D}"/>
              </a:ext>
            </a:extLst>
          </p:cNvPr>
          <p:cNvCxnSpPr>
            <a:cxnSpLocks/>
            <a:stCxn id="29" idx="1"/>
            <a:endCxn id="27" idx="1"/>
          </p:cNvCxnSpPr>
          <p:nvPr/>
        </p:nvCxnSpPr>
        <p:spPr>
          <a:xfrm flipH="1" flipV="1">
            <a:off x="10045697" y="3221601"/>
            <a:ext cx="336410" cy="105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38954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5A4A7D-6E03-7EB8-84FE-FF9DE2AE704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7FE4E31-1978-D46E-29FD-9DE0D8BBDA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 you previously saw we want to write 16-bits of data and potentially read 16-bits at a time to reduce the complexity of having to bit shift the high and low bits into the same variable.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do this what would we need to set SPICHAR to?</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0xA      0x11      0xF      0x8</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52A5320-B848-4E71-D3EC-5748AACFF74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EE0171-1850-095A-DB6C-1A4957EE20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7A6701-5197-1CAC-7FA1-7EB73736E7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1BD17F-4F5B-CAD1-C513-0D23C6F47E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F43451-C1C2-3919-80B7-A350907E76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29174E-9EF1-AED3-2EAC-098C9A265B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DB2222-6E3F-763B-76F3-4F0B3341AF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1E1007-0933-A946-AD67-0FC452FC98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7E5956FC-AD36-2851-3C67-DA67984610BF}"/>
              </a:ext>
            </a:extLst>
          </p:cNvPr>
          <p:cNvSpPr/>
          <p:nvPr/>
        </p:nvSpPr>
        <p:spPr>
          <a:xfrm>
            <a:off x="6248400" y="3503530"/>
            <a:ext cx="647700" cy="482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4534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7C6B0C-CBDF-CA3A-196B-5412AB9F21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99B149F-4F10-B273-1FFB-85B687A6E8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When writing configuration to the MPU board, such as the accelerometer X offset (initial bias)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114300" indent="0" algn="l">
              <a:buNone/>
            </a:pPr>
            <a:r>
              <a:rPr lang="en-US" sz="2300" dirty="0">
                <a:solidFill>
                  <a:srgbClr val="000000"/>
                </a:solidFill>
                <a:latin typeface="Consolas" panose="020B0609020204030204" pitchFamily="49" charset="0"/>
              </a:rPr>
              <a:t>GpioDataRegs.</a:t>
            </a:r>
            <a:r>
              <a:rPr lang="en-US" sz="2300" dirty="0">
                <a:solidFill>
                  <a:srgbClr val="0000C0"/>
                </a:solidFill>
                <a:latin typeface="Consolas" panose="020B0609020204030204" pitchFamily="49" charset="0"/>
              </a:rPr>
              <a:t>GPCCLEAR</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bit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GPIO66</a:t>
            </a:r>
            <a:r>
              <a:rPr lang="en-US" sz="2300" dirty="0">
                <a:solidFill>
                  <a:srgbClr val="000000"/>
                </a:solidFill>
                <a:latin typeface="Consolas" panose="020B0609020204030204" pitchFamily="49" charset="0"/>
              </a:rPr>
              <a:t> = 1;   </a:t>
            </a:r>
            <a:r>
              <a:rPr lang="en-US" sz="2300" dirty="0">
                <a:solidFill>
                  <a:srgbClr val="3F7F5F"/>
                </a:solidFill>
                <a:latin typeface="Consolas" panose="020B0609020204030204" pitchFamily="49" charset="0"/>
              </a:rPr>
              <a:t>// Start SPI</a:t>
            </a:r>
          </a:p>
          <a:p>
            <a:pPr marL="114300" indent="0">
              <a:buNone/>
            </a:pPr>
            <a:r>
              <a:rPr lang="en-US" sz="2300" dirty="0">
                <a:solidFill>
                  <a:srgbClr val="3F7F5F"/>
                </a:solidFill>
                <a:latin typeface="Consolas" panose="020B0609020204030204" pitchFamily="49" charset="0"/>
              </a:rPr>
              <a:t>// 0x77 = 0111 0111 is this read or writing?</a:t>
            </a:r>
          </a:p>
          <a:p>
            <a:pPr marL="114300" indent="0" algn="l">
              <a:buNone/>
            </a:pP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SPITXBUF</a:t>
            </a:r>
            <a:r>
              <a:rPr lang="en-US" sz="2300" dirty="0">
                <a:solidFill>
                  <a:srgbClr val="000000"/>
                </a:solidFill>
                <a:latin typeface="Consolas" panose="020B0609020204030204" pitchFamily="49" charset="0"/>
              </a:rPr>
              <a:t> = (0x7700 | 0x00EB);  </a:t>
            </a:r>
            <a:r>
              <a:rPr lang="en-US" sz="2300" dirty="0">
                <a:solidFill>
                  <a:srgbClr val="3F7F5F"/>
                </a:solidFill>
                <a:latin typeface="Consolas" panose="020B0609020204030204" pitchFamily="49" charset="0"/>
              </a:rPr>
              <a:t>// Address + data</a:t>
            </a:r>
          </a:p>
          <a:p>
            <a:pPr marL="114300" indent="0" algn="l">
              <a:buNone/>
            </a:pPr>
            <a:r>
              <a:rPr lang="en-US" sz="2300" dirty="0">
                <a:solidFill>
                  <a:srgbClr val="7F0055"/>
                </a:solidFill>
                <a:latin typeface="Consolas" panose="020B0609020204030204" pitchFamily="49" charset="0"/>
              </a:rPr>
              <a:t>while</a:t>
            </a:r>
            <a:r>
              <a:rPr lang="en-US" sz="2300" dirty="0">
                <a:solidFill>
                  <a:srgbClr val="000000"/>
                </a:solidFill>
                <a:latin typeface="Consolas" panose="020B0609020204030204" pitchFamily="49" charset="0"/>
              </a:rPr>
              <a:t>(</a:t>
            </a: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SPIFFRX</a:t>
            </a:r>
            <a:r>
              <a:rPr lang="en-US" sz="2300" dirty="0" err="1">
                <a:solidFill>
                  <a:srgbClr val="000000"/>
                </a:solidFill>
                <a:latin typeface="Consolas" panose="020B0609020204030204" pitchFamily="49" charset="0"/>
              </a:rPr>
              <a:t>.</a:t>
            </a:r>
            <a:r>
              <a:rPr lang="en-US" sz="2300" dirty="0" err="1">
                <a:solidFill>
                  <a:srgbClr val="0000C0"/>
                </a:solidFill>
                <a:latin typeface="Consolas" panose="020B0609020204030204" pitchFamily="49" charset="0"/>
              </a:rPr>
              <a:t>bit</a:t>
            </a:r>
            <a:r>
              <a:rPr lang="en-US" sz="2300" dirty="0" err="1">
                <a:solidFill>
                  <a:srgbClr val="000000"/>
                </a:solidFill>
                <a:latin typeface="Consolas" panose="020B0609020204030204" pitchFamily="49" charset="0"/>
              </a:rPr>
              <a:t>.</a:t>
            </a:r>
            <a:r>
              <a:rPr lang="en-US" sz="2300" dirty="0" err="1">
                <a:solidFill>
                  <a:srgbClr val="0000C0"/>
                </a:solidFill>
                <a:latin typeface="Consolas" panose="020B0609020204030204" pitchFamily="49" charset="0"/>
              </a:rPr>
              <a:t>RXFFST</a:t>
            </a:r>
            <a:r>
              <a:rPr lang="en-US" sz="2300" dirty="0">
                <a:solidFill>
                  <a:srgbClr val="000000"/>
                </a:solidFill>
                <a:latin typeface="Consolas" panose="020B0609020204030204" pitchFamily="49" charset="0"/>
              </a:rPr>
              <a:t> !=1); </a:t>
            </a:r>
            <a:r>
              <a:rPr lang="en-US" sz="2300" dirty="0">
                <a:solidFill>
                  <a:srgbClr val="3F7F5F"/>
                </a:solidFill>
                <a:latin typeface="Consolas" panose="020B0609020204030204" pitchFamily="49" charset="0"/>
              </a:rPr>
              <a:t>// Waiting for response</a:t>
            </a:r>
          </a:p>
          <a:p>
            <a:pPr marL="114300" indent="0" algn="l">
              <a:buNone/>
            </a:pPr>
            <a:r>
              <a:rPr lang="en-US" sz="2300" dirty="0">
                <a:solidFill>
                  <a:srgbClr val="000000"/>
                </a:solidFill>
                <a:latin typeface="Consolas" panose="020B0609020204030204" pitchFamily="49" charset="0"/>
              </a:rPr>
              <a:t>GpioDataRegs.</a:t>
            </a:r>
            <a:r>
              <a:rPr lang="en-US" sz="2300" dirty="0">
                <a:solidFill>
                  <a:srgbClr val="0000C0"/>
                </a:solidFill>
                <a:latin typeface="Consolas" panose="020B0609020204030204" pitchFamily="49" charset="0"/>
              </a:rPr>
              <a:t>GPCSET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bit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GPIO66</a:t>
            </a:r>
            <a:r>
              <a:rPr lang="en-US" sz="2300" dirty="0">
                <a:solidFill>
                  <a:srgbClr val="000000"/>
                </a:solidFill>
                <a:latin typeface="Consolas" panose="020B0609020204030204" pitchFamily="49" charset="0"/>
              </a:rPr>
              <a:t> = 1;     </a:t>
            </a:r>
            <a:r>
              <a:rPr lang="en-US" sz="2300" dirty="0">
                <a:solidFill>
                  <a:srgbClr val="3F7F5F"/>
                </a:solidFill>
                <a:latin typeface="Consolas" panose="020B0609020204030204" pitchFamily="49" charset="0"/>
              </a:rPr>
              <a:t>// Disable SPI</a:t>
            </a:r>
          </a:p>
          <a:p>
            <a:pPr marL="114300" indent="0" algn="l">
              <a:buNone/>
            </a:pPr>
            <a:r>
              <a:rPr lang="en-US" sz="2300" dirty="0">
                <a:solidFill>
                  <a:srgbClr val="000000"/>
                </a:solidFill>
                <a:latin typeface="Consolas" panose="020B0609020204030204" pitchFamily="49" charset="0"/>
              </a:rPr>
              <a:t>temp = </a:t>
            </a: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SPIRXBUF</a:t>
            </a:r>
            <a:r>
              <a:rPr lang="en-US" sz="2300" dirty="0">
                <a:solidFill>
                  <a:srgbClr val="000000"/>
                </a:solidFill>
                <a:latin typeface="Consolas" panose="020B0609020204030204" pitchFamily="49" charset="0"/>
              </a:rPr>
              <a:t>;               </a:t>
            </a:r>
            <a:r>
              <a:rPr lang="en-US" sz="2300" dirty="0">
                <a:solidFill>
                  <a:srgbClr val="3F7F5F"/>
                </a:solidFill>
                <a:latin typeface="Consolas" panose="020B0609020204030204" pitchFamily="49" charset="0"/>
              </a:rPr>
              <a:t>// Read value even though not needed</a:t>
            </a:r>
          </a:p>
          <a:p>
            <a:pPr marL="114300" indent="0" algn="l">
              <a:buNone/>
            </a:pPr>
            <a:r>
              <a:rPr lang="en-US" sz="2300" dirty="0">
                <a:solidFill>
                  <a:srgbClr val="000000"/>
                </a:solidFill>
                <a:latin typeface="Consolas" panose="020B0609020204030204" pitchFamily="49" charset="0"/>
              </a:rPr>
              <a:t>DELAY_US(10);  </a:t>
            </a:r>
            <a:r>
              <a:rPr lang="en-US" sz="2300" dirty="0">
                <a:solidFill>
                  <a:srgbClr val="3F7F5F"/>
                </a:solidFill>
                <a:latin typeface="Consolas" panose="020B0609020204030204" pitchFamily="49" charset="0"/>
              </a:rPr>
              <a:t>// Delay a bit before issuing another MPU-9250 SPI transfer</a:t>
            </a:r>
            <a:endParaRPr lang="en-US" sz="2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BF71FA-3C9F-7965-42C9-992F69BD38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40F38C-ED3F-9F1C-1DEC-EDE6804A90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DBF2A8-5AD7-9E10-A07A-F221CDD5F7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328CFE-FD55-350A-FB9E-3BE7D8B498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18F44-717A-95EF-38FF-B30D5FE389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9208C9-56F1-C655-B948-947124D64F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BE0996-E262-3797-60AE-5C0D789065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B7A4-EC04-BB64-A627-4ACAF5E344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4425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79E9F9-6945-DC00-9B06-2E53882763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E05A08C-87D8-E1A6-4AFD-A9C60CA52E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750" dirty="0">
                <a:latin typeface="Atkinson Hyperlegible Next"/>
                <a:cs typeface="Arial"/>
                <a:sym typeface="Arial"/>
              </a:rPr>
              <a:t>What if we want to write multiple pieces of data at once?</a:t>
            </a:r>
          </a:p>
          <a:p>
            <a:pPr marL="114300" indent="0">
              <a:buNone/>
            </a:pPr>
            <a:endParaRPr lang="en-US" sz="1750" dirty="0">
              <a:solidFill>
                <a:srgbClr val="000000"/>
              </a:solidFill>
              <a:latin typeface="Consolas" panose="020B0609020204030204" pitchFamily="49" charset="0"/>
            </a:endParaRPr>
          </a:p>
          <a:p>
            <a:pPr marL="114300" indent="0" algn="l">
              <a:buNone/>
            </a:pPr>
            <a:r>
              <a:rPr lang="en-US" sz="1750" dirty="0">
                <a:solidFill>
                  <a:srgbClr val="000000"/>
                </a:solidFill>
                <a:latin typeface="Consolas" panose="020B0609020204030204" pitchFamily="49" charset="0"/>
              </a:rPr>
              <a:t>GpioDataRegs.</a:t>
            </a:r>
            <a:r>
              <a:rPr lang="en-US" sz="1750" dirty="0">
                <a:solidFill>
                  <a:srgbClr val="0000C0"/>
                </a:solidFill>
                <a:latin typeface="Consolas" panose="020B0609020204030204" pitchFamily="49" charset="0"/>
              </a:rPr>
              <a:t>GPCCLEAR</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bit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GPIO66</a:t>
            </a:r>
            <a:r>
              <a:rPr lang="en-US" sz="1750" dirty="0">
                <a:solidFill>
                  <a:srgbClr val="000000"/>
                </a:solidFill>
                <a:latin typeface="Consolas" panose="020B0609020204030204" pitchFamily="49" charset="0"/>
              </a:rPr>
              <a:t> = 1;</a:t>
            </a:r>
          </a:p>
          <a:p>
            <a:pPr marL="114300" indent="0" algn="l">
              <a:buNone/>
            </a:pP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SPITXBUF</a:t>
            </a:r>
            <a:r>
              <a:rPr lang="en-US" sz="1750" dirty="0">
                <a:solidFill>
                  <a:srgbClr val="000000"/>
                </a:solidFill>
                <a:latin typeface="Consolas" panose="020B0609020204030204" pitchFamily="49" charset="0"/>
              </a:rPr>
              <a:t> = (0x1900 | 0x0013);  </a:t>
            </a:r>
            <a:r>
              <a:rPr lang="en-US" sz="1750" dirty="0">
                <a:solidFill>
                  <a:srgbClr val="3F7F5F"/>
                </a:solidFill>
                <a:latin typeface="Consolas" panose="020B0609020204030204" pitchFamily="49" charset="0"/>
              </a:rPr>
              <a:t>// One write</a:t>
            </a:r>
          </a:p>
          <a:p>
            <a:pPr marL="114300" indent="0" algn="l">
              <a:buNone/>
            </a:pP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SPITXBUF</a:t>
            </a:r>
            <a:r>
              <a:rPr lang="en-US" sz="1750" dirty="0">
                <a:solidFill>
                  <a:srgbClr val="000000"/>
                </a:solidFill>
                <a:latin typeface="Consolas" panose="020B0609020204030204" pitchFamily="49" charset="0"/>
              </a:rPr>
              <a:t> = (0x0200 | 0x0000);  </a:t>
            </a:r>
            <a:r>
              <a:rPr lang="en-US" sz="1750" dirty="0">
                <a:solidFill>
                  <a:srgbClr val="3F7F5F"/>
                </a:solidFill>
                <a:latin typeface="Consolas" panose="020B0609020204030204" pitchFamily="49" charset="0"/>
              </a:rPr>
              <a:t>// Second write</a:t>
            </a:r>
          </a:p>
          <a:p>
            <a:pPr marL="114300" indent="0" algn="l">
              <a:buNone/>
            </a:pPr>
            <a:r>
              <a:rPr lang="en-US" sz="1750" dirty="0">
                <a:solidFill>
                  <a:srgbClr val="7F0055"/>
                </a:solidFill>
                <a:latin typeface="Consolas" panose="020B0609020204030204" pitchFamily="49" charset="0"/>
              </a:rPr>
              <a:t>while</a:t>
            </a:r>
            <a:r>
              <a:rPr lang="en-US" sz="1750" dirty="0">
                <a:solidFill>
                  <a:srgbClr val="000000"/>
                </a:solidFill>
                <a:latin typeface="Consolas" panose="020B0609020204030204" pitchFamily="49" charset="0"/>
              </a:rPr>
              <a:t>(</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SPIFFRX</a:t>
            </a:r>
            <a:r>
              <a:rPr lang="en-US" sz="1750" dirty="0" err="1">
                <a:solidFill>
                  <a:srgbClr val="000000"/>
                </a:solidFill>
                <a:latin typeface="Consolas" panose="020B0609020204030204" pitchFamily="49" charset="0"/>
              </a:rPr>
              <a:t>.</a:t>
            </a:r>
            <a:r>
              <a:rPr lang="en-US" sz="1750" dirty="0" err="1">
                <a:solidFill>
                  <a:srgbClr val="0000C0"/>
                </a:solidFill>
                <a:latin typeface="Consolas" panose="020B0609020204030204" pitchFamily="49" charset="0"/>
              </a:rPr>
              <a:t>bit</a:t>
            </a:r>
            <a:r>
              <a:rPr lang="en-US" sz="1750" dirty="0" err="1">
                <a:solidFill>
                  <a:srgbClr val="000000"/>
                </a:solidFill>
                <a:latin typeface="Consolas" panose="020B0609020204030204" pitchFamily="49" charset="0"/>
              </a:rPr>
              <a:t>.</a:t>
            </a:r>
            <a:r>
              <a:rPr lang="en-US" sz="1750" dirty="0" err="1">
                <a:solidFill>
                  <a:srgbClr val="0000C0"/>
                </a:solidFill>
                <a:latin typeface="Consolas" panose="020B0609020204030204" pitchFamily="49" charset="0"/>
              </a:rPr>
              <a:t>RXFFST</a:t>
            </a:r>
            <a:r>
              <a:rPr lang="en-US" sz="1750" dirty="0">
                <a:solidFill>
                  <a:srgbClr val="000000"/>
                </a:solidFill>
                <a:latin typeface="Consolas" panose="020B0609020204030204" pitchFamily="49" charset="0"/>
              </a:rPr>
              <a:t> !=2); </a:t>
            </a:r>
            <a:r>
              <a:rPr lang="en-US" sz="1750" dirty="0">
                <a:solidFill>
                  <a:srgbClr val="3F7F5F"/>
                </a:solidFill>
                <a:latin typeface="Consolas" panose="020B0609020204030204" pitchFamily="49" charset="0"/>
              </a:rPr>
              <a:t>// Wait that both have been sent</a:t>
            </a:r>
          </a:p>
          <a:p>
            <a:pPr marL="114300" indent="0" algn="l">
              <a:buNone/>
            </a:pPr>
            <a:r>
              <a:rPr lang="en-US" sz="1750" dirty="0">
                <a:solidFill>
                  <a:srgbClr val="000000"/>
                </a:solidFill>
                <a:latin typeface="Consolas" panose="020B0609020204030204" pitchFamily="49" charset="0"/>
              </a:rPr>
              <a:t>GpioDataRegs.</a:t>
            </a:r>
            <a:r>
              <a:rPr lang="en-US" sz="1750" dirty="0">
                <a:solidFill>
                  <a:srgbClr val="0000C0"/>
                </a:solidFill>
                <a:latin typeface="Consolas" panose="020B0609020204030204" pitchFamily="49" charset="0"/>
              </a:rPr>
              <a:t>GPCSET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bit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GPIO66</a:t>
            </a:r>
            <a:r>
              <a:rPr lang="en-US" sz="1750" dirty="0">
                <a:solidFill>
                  <a:srgbClr val="000000"/>
                </a:solidFill>
                <a:latin typeface="Consolas" panose="020B0609020204030204" pitchFamily="49" charset="0"/>
              </a:rPr>
              <a:t> = 1;</a:t>
            </a:r>
          </a:p>
          <a:p>
            <a:pPr marL="114300" indent="0" algn="l">
              <a:buNone/>
            </a:pPr>
            <a:r>
              <a:rPr lang="en-US" sz="1750" dirty="0">
                <a:solidFill>
                  <a:srgbClr val="000000"/>
                </a:solidFill>
                <a:latin typeface="Consolas" panose="020B0609020204030204" pitchFamily="49" charset="0"/>
              </a:rPr>
              <a:t>temp = </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SPIRXBUF</a:t>
            </a:r>
            <a:r>
              <a:rPr lang="en-US" sz="1750" dirty="0">
                <a:solidFill>
                  <a:srgbClr val="000000"/>
                </a:solidFill>
                <a:latin typeface="Consolas" panose="020B0609020204030204" pitchFamily="49" charset="0"/>
              </a:rPr>
              <a:t>;  </a:t>
            </a:r>
            <a:r>
              <a:rPr lang="en-US" sz="1750" dirty="0">
                <a:solidFill>
                  <a:srgbClr val="3F7F5F"/>
                </a:solidFill>
                <a:latin typeface="Consolas" panose="020B0609020204030204" pitchFamily="49" charset="0"/>
              </a:rPr>
              <a:t>// Read value even though not needed</a:t>
            </a:r>
          </a:p>
          <a:p>
            <a:pPr marL="114300" indent="0" algn="l">
              <a:buNone/>
            </a:pPr>
            <a:r>
              <a:rPr lang="en-US" sz="1750" dirty="0">
                <a:solidFill>
                  <a:srgbClr val="000000"/>
                </a:solidFill>
                <a:latin typeface="Consolas" panose="020B0609020204030204" pitchFamily="49" charset="0"/>
              </a:rPr>
              <a:t>temp = </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SPIRXBUF</a:t>
            </a:r>
            <a:r>
              <a:rPr lang="en-US" sz="1750" dirty="0">
                <a:solidFill>
                  <a:srgbClr val="000000"/>
                </a:solidFill>
                <a:latin typeface="Consolas" panose="020B0609020204030204" pitchFamily="49" charset="0"/>
              </a:rPr>
              <a:t>;  </a:t>
            </a:r>
            <a:r>
              <a:rPr lang="en-US" sz="1750" dirty="0">
                <a:solidFill>
                  <a:srgbClr val="3F7F5F"/>
                </a:solidFill>
                <a:latin typeface="Consolas" panose="020B0609020204030204" pitchFamily="49" charset="0"/>
              </a:rPr>
              <a:t>// Read second value even though not needed</a:t>
            </a:r>
          </a:p>
          <a:p>
            <a:pPr marL="114300" indent="0" algn="l">
              <a:buNone/>
            </a:pPr>
            <a:r>
              <a:rPr lang="en-US" sz="1750" dirty="0">
                <a:solidFill>
                  <a:srgbClr val="000000"/>
                </a:solidFill>
                <a:latin typeface="Consolas" panose="020B0609020204030204" pitchFamily="49" charset="0"/>
              </a:rPr>
              <a:t>DELAY_US(10);  </a:t>
            </a:r>
            <a:r>
              <a:rPr lang="en-US" sz="1750" dirty="0">
                <a:solidFill>
                  <a:srgbClr val="3F7F5F"/>
                </a:solidFill>
                <a:latin typeface="Consolas" panose="020B0609020204030204" pitchFamily="49" charset="0"/>
              </a:rPr>
              <a:t>// Delay a bit before issuing another MPU-9250 SPI transfer</a:t>
            </a:r>
          </a:p>
          <a:p>
            <a:pPr marL="114300" indent="0" algn="l">
              <a:buNone/>
            </a:pPr>
            <a:endParaRPr lang="en-US" sz="1750" dirty="0">
              <a:solidFill>
                <a:srgbClr val="3F7F5F"/>
              </a:solidFill>
              <a:latin typeface="Consolas" panose="020B0609020204030204" pitchFamily="49" charset="0"/>
              <a:ea typeface="Arial"/>
              <a:cs typeface="Arial"/>
              <a:sym typeface="Arial"/>
            </a:endParaRPr>
          </a:p>
          <a:p>
            <a:pPr marL="114300" indent="0" algn="l">
              <a:buNone/>
            </a:pPr>
            <a:r>
              <a:rPr lang="en-US" sz="1750" dirty="0">
                <a:solidFill>
                  <a:schemeClr val="tx1"/>
                </a:solidFill>
                <a:latin typeface="Atkinson Hyperlegible Next"/>
                <a:ea typeface="Arial"/>
                <a:cs typeface="Arial"/>
                <a:sym typeface="Arial"/>
              </a:rPr>
              <a:t>What is the maximum number of writes at a time?</a:t>
            </a:r>
          </a:p>
          <a:p>
            <a:pPr marL="114300" indent="0" algn="l">
              <a:buNone/>
            </a:pPr>
            <a:r>
              <a:rPr lang="en-US" sz="1750" dirty="0">
                <a:solidFill>
                  <a:schemeClr val="tx1"/>
                </a:solidFill>
                <a:latin typeface="Atkinson Hyperlegible Next"/>
                <a:ea typeface="Arial"/>
                <a:cs typeface="Arial"/>
                <a:sym typeface="Arial"/>
              </a:rPr>
              <a:t>The maximum size of the TX/RX FIFO is 16!</a:t>
            </a:r>
            <a:endParaRPr lang="en-US" sz="1750" dirty="0">
              <a:solidFill>
                <a:schemeClr val="tx1"/>
              </a:solidFill>
              <a:latin typeface="Consolas" panose="020B0609020204030204" pitchFamily="49" charset="0"/>
              <a:ea typeface="Arial"/>
              <a:cs typeface="Arial"/>
              <a:sym typeface="Arial"/>
            </a:endParaRPr>
          </a:p>
        </p:txBody>
      </p:sp>
      <p:sp>
        <p:nvSpPr>
          <p:cNvPr id="119" name="Google Shape;119;p29">
            <a:extLst>
              <a:ext uri="{FF2B5EF4-FFF2-40B4-BE49-F238E27FC236}">
                <a16:creationId xmlns:a16="http://schemas.microsoft.com/office/drawing/2014/main" id="{767C78F7-1093-E54A-220A-34C0A5E3C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7AF23-963D-8385-82FE-E7073B455F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5CCE3A-0E70-C631-D873-0C6A3966BA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52AE1E6-B424-BA46-7272-FDAF6C5D56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3841A-0A2C-C0B2-4026-F9BAD7D037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1DA705-73F4-3922-9D96-42118639D6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95374B-F4A8-CFDA-56D9-25EB2110DD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6A7F0E-0852-0B74-1F80-3F631ABE91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0788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5DBB14-7F07-3A1A-3D32-3555AF8D8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5A185A0-7A44-7FB2-4AE4-1B94ECD6252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When explicitly wanting to read the data, especially if there is a lot we want to read, accel X, Y, Z, gyro X, Y, Z, each of them having a high and low address. Is there a smart way of doing this?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MPU you send an address that you want to </a:t>
            </a:r>
            <a:r>
              <a:rPr lang="en-US" sz="2400" b="1" dirty="0">
                <a:latin typeface="Atkinson Hyperlegible Next"/>
                <a:ea typeface="Arial"/>
                <a:cs typeface="Arial"/>
                <a:sym typeface="Arial"/>
              </a:rPr>
              <a:t>start </a:t>
            </a:r>
            <a:r>
              <a:rPr lang="en-US" sz="2400" dirty="0">
                <a:latin typeface="Atkinson Hyperlegible Next"/>
                <a:ea typeface="Arial"/>
                <a:cs typeface="Arial"/>
                <a:sym typeface="Arial"/>
              </a:rPr>
              <a:t>reading from. If you continue to give it clock cycles it will just </a:t>
            </a:r>
            <a:r>
              <a:rPr lang="en-US" sz="2400" b="1" dirty="0">
                <a:latin typeface="Atkinson Hyperlegible Next"/>
                <a:ea typeface="Arial"/>
                <a:cs typeface="Arial"/>
                <a:sym typeface="Arial"/>
              </a:rPr>
              <a:t>continue down to the next address </a:t>
            </a:r>
            <a:r>
              <a:rPr lang="en-US" sz="2400" dirty="0">
                <a:latin typeface="Atkinson Hyperlegible Next"/>
                <a:ea typeface="Arial"/>
                <a:cs typeface="Arial"/>
                <a:sym typeface="Arial"/>
              </a:rPr>
              <a:t>and read down!</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Allows us to read the 16-bit data into a single 16-bit read!</a:t>
            </a:r>
          </a:p>
        </p:txBody>
      </p:sp>
      <p:sp>
        <p:nvSpPr>
          <p:cNvPr id="119" name="Google Shape;119;p29">
            <a:extLst>
              <a:ext uri="{FF2B5EF4-FFF2-40B4-BE49-F238E27FC236}">
                <a16:creationId xmlns:a16="http://schemas.microsoft.com/office/drawing/2014/main" id="{57D83485-462B-2686-016C-83AE070D6D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EE39FE-6965-7905-48BF-68B7CEB63A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E130D-9C80-8624-A955-CFCF5E9B95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CA779-D028-1A75-9804-8CCB06E96F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8127AD-E8E3-10E7-63A7-A52CDEF463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E1A1E-AB13-8AD1-A84E-701AA350A2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15D0D7-036E-4108-2B97-8BCE089D20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846927-E86D-7705-2E28-8CC5B008D8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3704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0AFE5-2638-6C3B-43FE-7CE66CDC975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A3B2D1D-ABA6-ED4D-ABF9-9EEB7D1BFB1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87A65-4CF0-897F-C55A-07C6984E3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5C4AC3-B9BA-77D7-37F9-144BDA8E05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BEB4CA-1DB0-10AF-8A94-787FC794B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B5EA2-D031-6D58-0CF9-6E0CCCC3A7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925C1B-C4D4-8973-6860-B109411C75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D62745-1CB0-FF81-465F-ABE02B915C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AD196D-0BAE-A8FA-E542-54503F0579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CAB8B104-0853-0562-290B-5A74B3804C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37506" y="1072273"/>
            <a:ext cx="8194830" cy="5352953"/>
          </a:xfrm>
          <a:prstGeom prst="rect">
            <a:avLst/>
          </a:prstGeom>
        </p:spPr>
      </p:pic>
      <p:grpSp>
        <p:nvGrpSpPr>
          <p:cNvPr id="24" name="Group 23">
            <a:extLst>
              <a:ext uri="{FF2B5EF4-FFF2-40B4-BE49-F238E27FC236}">
                <a16:creationId xmlns:a16="http://schemas.microsoft.com/office/drawing/2014/main" id="{2DF172F9-B886-93FB-3802-0838DA5EC197}"/>
              </a:ext>
            </a:extLst>
          </p:cNvPr>
          <p:cNvGrpSpPr/>
          <p:nvPr/>
        </p:nvGrpSpPr>
        <p:grpSpPr>
          <a:xfrm>
            <a:off x="2008863" y="2493041"/>
            <a:ext cx="9858563" cy="738664"/>
            <a:chOff x="2008863" y="2493041"/>
            <a:chExt cx="9858563" cy="738664"/>
          </a:xfrm>
        </p:grpSpPr>
        <p:sp>
          <p:nvSpPr>
            <p:cNvPr id="27" name="Rectangle 26">
              <a:extLst>
                <a:ext uri="{FF2B5EF4-FFF2-40B4-BE49-F238E27FC236}">
                  <a16:creationId xmlns:a16="http://schemas.microsoft.com/office/drawing/2014/main" id="{37E90C00-3C11-C50F-C6DC-5410E13B05C7}"/>
                </a:ext>
              </a:extLst>
            </p:cNvPr>
            <p:cNvSpPr/>
            <p:nvPr/>
          </p:nvSpPr>
          <p:spPr>
            <a:xfrm flipH="1">
              <a:off x="2008863" y="2669728"/>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7AA7A96-7B92-0050-2813-B9275A34260A}"/>
                </a:ext>
              </a:extLst>
            </p:cNvPr>
            <p:cNvSpPr txBox="1"/>
            <p:nvPr/>
          </p:nvSpPr>
          <p:spPr>
            <a:xfrm>
              <a:off x="10313833" y="2493041"/>
              <a:ext cx="1553593" cy="738664"/>
            </a:xfrm>
            <a:prstGeom prst="rect">
              <a:avLst/>
            </a:prstGeom>
            <a:noFill/>
          </p:spPr>
          <p:txBody>
            <a:bodyPr wrap="square" rtlCol="0">
              <a:spAutoFit/>
            </a:bodyPr>
            <a:lstStyle/>
            <a:p>
              <a:pPr algn="ctr"/>
              <a:r>
                <a:rPr lang="en-US" dirty="0">
                  <a:solidFill>
                    <a:srgbClr val="EA0000"/>
                  </a:solidFill>
                </a:rPr>
                <a:t>Start reading (sent 8-bit start address)</a:t>
              </a:r>
            </a:p>
          </p:txBody>
        </p:sp>
        <p:cxnSp>
          <p:nvCxnSpPr>
            <p:cNvPr id="30" name="Straight Arrow Connector 29">
              <a:extLst>
                <a:ext uri="{FF2B5EF4-FFF2-40B4-BE49-F238E27FC236}">
                  <a16:creationId xmlns:a16="http://schemas.microsoft.com/office/drawing/2014/main" id="{1BBA691D-E06C-192B-04BA-CDC9459CC890}"/>
                </a:ext>
              </a:extLst>
            </p:cNvPr>
            <p:cNvCxnSpPr>
              <a:cxnSpLocks/>
              <a:stCxn id="29" idx="1"/>
              <a:endCxn id="27" idx="1"/>
            </p:cNvCxnSpPr>
            <p:nvPr/>
          </p:nvCxnSpPr>
          <p:spPr>
            <a:xfrm flipH="1">
              <a:off x="10020299" y="2862373"/>
              <a:ext cx="29353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D2F40CE8-D347-98F8-A084-E5EE2ACA6B70}"/>
              </a:ext>
            </a:extLst>
          </p:cNvPr>
          <p:cNvGrpSpPr/>
          <p:nvPr/>
        </p:nvGrpSpPr>
        <p:grpSpPr>
          <a:xfrm>
            <a:off x="2008863" y="3012556"/>
            <a:ext cx="9858563" cy="673404"/>
            <a:chOff x="2008863" y="3012556"/>
            <a:chExt cx="9858563" cy="673404"/>
          </a:xfrm>
        </p:grpSpPr>
        <p:sp>
          <p:nvSpPr>
            <p:cNvPr id="15" name="Rectangle 14">
              <a:extLst>
                <a:ext uri="{FF2B5EF4-FFF2-40B4-BE49-F238E27FC236}">
                  <a16:creationId xmlns:a16="http://schemas.microsoft.com/office/drawing/2014/main" id="{728AEE2E-BF87-DF1F-9897-C3C606AEAC4B}"/>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363EAD1-B6AB-FC51-329C-6C01A369D5E7}"/>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17" name="Straight Arrow Connector 16">
              <a:extLst>
                <a:ext uri="{FF2B5EF4-FFF2-40B4-BE49-F238E27FC236}">
                  <a16:creationId xmlns:a16="http://schemas.microsoft.com/office/drawing/2014/main" id="{FB9E2725-A816-73CA-F2A9-CF1ACDC2BAC6}"/>
                </a:ext>
              </a:extLst>
            </p:cNvPr>
            <p:cNvCxnSpPr>
              <a:cxnSpLocks/>
              <a:stCxn id="16" idx="1"/>
              <a:endCxn id="15"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4D77D325-BB9D-30DD-EC32-C8161AE104CF}"/>
              </a:ext>
            </a:extLst>
          </p:cNvPr>
          <p:cNvGrpSpPr/>
          <p:nvPr/>
        </p:nvGrpSpPr>
        <p:grpSpPr>
          <a:xfrm>
            <a:off x="2008863" y="3381887"/>
            <a:ext cx="9858563" cy="673404"/>
            <a:chOff x="2008863" y="3012556"/>
            <a:chExt cx="9858563" cy="673404"/>
          </a:xfrm>
        </p:grpSpPr>
        <p:sp>
          <p:nvSpPr>
            <p:cNvPr id="28" name="Rectangle 27">
              <a:extLst>
                <a:ext uri="{FF2B5EF4-FFF2-40B4-BE49-F238E27FC236}">
                  <a16:creationId xmlns:a16="http://schemas.microsoft.com/office/drawing/2014/main" id="{14FAFC6E-9F05-E003-0A4B-B630B81DC577}"/>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C718F447-806C-6E26-592A-36841B14F255}"/>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32" name="Straight Arrow Connector 31">
              <a:extLst>
                <a:ext uri="{FF2B5EF4-FFF2-40B4-BE49-F238E27FC236}">
                  <a16:creationId xmlns:a16="http://schemas.microsoft.com/office/drawing/2014/main" id="{0E35685C-163E-D1F9-2081-8EE1A5A43C15}"/>
                </a:ext>
              </a:extLst>
            </p:cNvPr>
            <p:cNvCxnSpPr>
              <a:cxnSpLocks/>
              <a:stCxn id="31" idx="1"/>
              <a:endCxn id="28"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D4E2EA6A-A7F7-A6EE-1D83-4B8677DB2221}"/>
              </a:ext>
            </a:extLst>
          </p:cNvPr>
          <p:cNvGrpSpPr/>
          <p:nvPr/>
        </p:nvGrpSpPr>
        <p:grpSpPr>
          <a:xfrm>
            <a:off x="2008863" y="3734777"/>
            <a:ext cx="9858563" cy="673404"/>
            <a:chOff x="2008863" y="3012556"/>
            <a:chExt cx="9858563" cy="673404"/>
          </a:xfrm>
        </p:grpSpPr>
        <p:sp>
          <p:nvSpPr>
            <p:cNvPr id="34" name="Rectangle 33">
              <a:extLst>
                <a:ext uri="{FF2B5EF4-FFF2-40B4-BE49-F238E27FC236}">
                  <a16:creationId xmlns:a16="http://schemas.microsoft.com/office/drawing/2014/main" id="{B8ACC8B2-A669-6B85-FB47-EB0C26091E72}"/>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41CDF9A3-7A13-E2D1-1D57-0878B4C4BD10}"/>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36" name="Straight Arrow Connector 35">
              <a:extLst>
                <a:ext uri="{FF2B5EF4-FFF2-40B4-BE49-F238E27FC236}">
                  <a16:creationId xmlns:a16="http://schemas.microsoft.com/office/drawing/2014/main" id="{7547C04B-1671-EE47-124D-0CA395935450}"/>
                </a:ext>
              </a:extLst>
            </p:cNvPr>
            <p:cNvCxnSpPr>
              <a:cxnSpLocks/>
              <a:stCxn id="35" idx="1"/>
              <a:endCxn id="34"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65861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25"/>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26"/>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DC25AB-2F68-898C-6D15-845B0D55749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719097-BC9C-4A2C-482D-3F0D923FBABC}"/>
              </a:ext>
            </a:extLst>
          </p:cNvPr>
          <p:cNvSpPr txBox="1">
            <a:spLocks noGrp="1"/>
          </p:cNvSpPr>
          <p:nvPr>
            <p:ph type="body" idx="1"/>
          </p:nvPr>
        </p:nvSpPr>
        <p:spPr>
          <a:xfrm>
            <a:off x="376809" y="1334279"/>
            <a:ext cx="4981703"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solidFill>
                  <a:srgbClr val="3F7F5F"/>
                </a:solidFill>
                <a:latin typeface="Consolas" panose="020B0609020204030204" pitchFamily="49" charset="0"/>
              </a:rPr>
              <a:t>// Code inside CPU Timer 0</a:t>
            </a:r>
          </a:p>
          <a:p>
            <a:pPr marL="114300" indent="0">
              <a:buNone/>
            </a:pPr>
            <a:r>
              <a:rPr lang="en-US" sz="1600" dirty="0">
                <a:solidFill>
                  <a:srgbClr val="000000"/>
                </a:solidFill>
                <a:latin typeface="Consolas" panose="020B0609020204030204" pitchFamily="49" charset="0"/>
              </a:rPr>
              <a:t>GpioDataRegs.</a:t>
            </a:r>
            <a:r>
              <a:rPr lang="en-US" sz="1600" dirty="0">
                <a:solidFill>
                  <a:srgbClr val="0000C0"/>
                </a:solidFill>
                <a:latin typeface="Consolas" panose="020B0609020204030204" pitchFamily="49" charset="0"/>
              </a:rPr>
              <a:t>GPCCLEAR</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GPIO66</a:t>
            </a:r>
            <a:r>
              <a:rPr lang="en-US" sz="1600" dirty="0">
                <a:solidFill>
                  <a:srgbClr val="000000"/>
                </a:solidFill>
                <a:latin typeface="Consolas" panose="020B0609020204030204" pitchFamily="49" charset="0"/>
              </a:rPr>
              <a:t> = 1;</a:t>
            </a: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SPIFFRX</a:t>
            </a:r>
            <a:r>
              <a:rPr lang="en-US" sz="1600" dirty="0" err="1">
                <a:solidFill>
                  <a:srgbClr val="000000"/>
                </a:solidFill>
                <a:latin typeface="Consolas" panose="020B0609020204030204" pitchFamily="49" charset="0"/>
              </a:rPr>
              <a:t>.</a:t>
            </a:r>
            <a:r>
              <a:rPr lang="en-US" sz="1600" dirty="0" err="1">
                <a:solidFill>
                  <a:srgbClr val="0000C0"/>
                </a:solidFill>
                <a:latin typeface="Consolas" panose="020B0609020204030204" pitchFamily="49" charset="0"/>
              </a:rPr>
              <a:t>bit</a:t>
            </a:r>
            <a:r>
              <a:rPr lang="en-US" sz="1600" dirty="0" err="1">
                <a:solidFill>
                  <a:srgbClr val="000000"/>
                </a:solidFill>
                <a:latin typeface="Consolas" panose="020B0609020204030204" pitchFamily="49" charset="0"/>
              </a:rPr>
              <a:t>.</a:t>
            </a:r>
            <a:r>
              <a:rPr lang="en-US" sz="1600" dirty="0" err="1">
                <a:solidFill>
                  <a:srgbClr val="0000C0"/>
                </a:solidFill>
                <a:latin typeface="Consolas" panose="020B0609020204030204" pitchFamily="49" charset="0"/>
              </a:rPr>
              <a:t>RXFFIL</a:t>
            </a:r>
            <a:r>
              <a:rPr lang="en-US" sz="1600" dirty="0">
                <a:solidFill>
                  <a:srgbClr val="000000"/>
                </a:solidFill>
                <a:latin typeface="Consolas" panose="020B0609020204030204" pitchFamily="49" charset="0"/>
              </a:rPr>
              <a:t> = 3;</a:t>
            </a:r>
          </a:p>
          <a:p>
            <a:pPr marL="114300" indent="0">
              <a:buNone/>
            </a:pPr>
            <a:r>
              <a:rPr lang="en-US" sz="1600" dirty="0">
                <a:solidFill>
                  <a:srgbClr val="3F7F5F"/>
                </a:solidFill>
                <a:latin typeface="Consolas" panose="020B0609020204030204" pitchFamily="49" charset="0"/>
              </a:rPr>
              <a:t>// 0x8 = 1000 = read</a:t>
            </a:r>
          </a:p>
          <a:p>
            <a:pPr marL="114300" indent="0">
              <a:buNone/>
            </a:pPr>
            <a:r>
              <a:rPr lang="en-US" sz="1600" dirty="0">
                <a:solidFill>
                  <a:srgbClr val="3F7F5F"/>
                </a:solidFill>
                <a:latin typeface="Consolas" panose="020B0609020204030204" pitchFamily="49" charset="0"/>
              </a:rPr>
              <a:t>// 0x3C = address to read from</a:t>
            </a:r>
            <a:endParaRPr lang="en-US" sz="1600" dirty="0">
              <a:solidFill>
                <a:srgbClr val="000000"/>
              </a:solidFill>
              <a:latin typeface="Consolas" panose="020B0609020204030204" pitchFamily="49" charset="0"/>
            </a:endParaRP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((0x8000) | (0x3C00));</a:t>
            </a: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0x0000 continue</a:t>
            </a:r>
            <a:endParaRPr lang="en-US" sz="1600" dirty="0">
              <a:solidFill>
                <a:srgbClr val="000000"/>
              </a:solidFill>
              <a:latin typeface="Consolas" panose="020B0609020204030204" pitchFamily="49" charset="0"/>
            </a:endParaRP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0x0000 continue</a:t>
            </a:r>
            <a:endParaRPr lang="en-US" sz="1600" dirty="0">
              <a:solidFill>
                <a:srgbClr val="000000"/>
              </a:solidFill>
              <a:latin typeface="Consolas" panose="020B0609020204030204" pitchFamily="49" charset="0"/>
            </a:endParaRPr>
          </a:p>
        </p:txBody>
      </p:sp>
      <p:sp>
        <p:nvSpPr>
          <p:cNvPr id="119" name="Google Shape;119;p29">
            <a:extLst>
              <a:ext uri="{FF2B5EF4-FFF2-40B4-BE49-F238E27FC236}">
                <a16:creationId xmlns:a16="http://schemas.microsoft.com/office/drawing/2014/main" id="{D18B8360-C964-1E55-8831-EA47CD157A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549A8E-8933-BAF0-3154-335AC37C4D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4956D7-F857-141F-EE5B-F66A7F8E8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7DEFEA-77A3-3C6B-C935-56DE42F057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5FBA9C-CE8E-8645-8FCE-2F90965664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AE0B61-09A4-FD7F-8BAE-F161F64487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E6B3A3-CED4-EAC7-3624-3C15DD6260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317847-3179-4A78-CE01-3A5618CAE3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D793C31B-3A6A-8070-36A4-D9AFC38C1318}"/>
              </a:ext>
            </a:extLst>
          </p:cNvPr>
          <p:cNvSpPr txBox="1">
            <a:spLocks/>
          </p:cNvSpPr>
          <p:nvPr/>
        </p:nvSpPr>
        <p:spPr>
          <a:xfrm>
            <a:off x="5358512" y="1334279"/>
            <a:ext cx="6470305"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dummy= 0;</a:t>
            </a:r>
          </a:p>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 = 0;</a:t>
            </a:r>
          </a:p>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 = 0;</a:t>
            </a:r>
          </a:p>
          <a:p>
            <a:pPr marL="114300" indent="0" algn="l">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accelYreading</a:t>
            </a:r>
            <a:r>
              <a:rPr lang="en-US" sz="1200" dirty="0">
                <a:solidFill>
                  <a:srgbClr val="000000"/>
                </a:solidFill>
                <a:latin typeface="Consolas" panose="020B0609020204030204" pitchFamily="49" charset="0"/>
              </a:rPr>
              <a:t> = 0;</a:t>
            </a:r>
          </a:p>
          <a:p>
            <a:pPr marL="114300" indent="0" algn="l">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accelZreading</a:t>
            </a:r>
            <a:r>
              <a:rPr lang="en-US" sz="1200" dirty="0">
                <a:solidFill>
                  <a:srgbClr val="000000"/>
                </a:solidFill>
                <a:latin typeface="Consolas" panose="020B0609020204030204" pitchFamily="49" charset="0"/>
              </a:rPr>
              <a:t> = 0;</a:t>
            </a:r>
          </a:p>
          <a:p>
            <a:pPr marL="114300" indent="0" algn="l">
              <a:buNone/>
            </a:pPr>
            <a:r>
              <a:rPr lang="en-US" sz="1200" dirty="0">
                <a:solidFill>
                  <a:srgbClr val="000000"/>
                </a:solidFill>
                <a:latin typeface="Consolas" panose="020B0609020204030204" pitchFamily="49" charset="0"/>
              </a:rPr>
              <a:t>__interrupt </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SPIB_isr</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GPCSET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GPIO66</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Stop SPI transmit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dummy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from 0x3C Accel x low only</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0x3D | 0x3E = Accel y out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0x3F | 0x40 = Accel z out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accelYreading</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*4.0/32767.0;</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accelZreading</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*4.0/32767.0;</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RXFFOVFCLR</a:t>
            </a:r>
            <a:r>
              <a:rPr lang="en-US" sz="1200" dirty="0">
                <a:solidFill>
                  <a:srgbClr val="000000"/>
                </a:solidFill>
                <a:latin typeface="Consolas" panose="020B0609020204030204" pitchFamily="49" charset="0"/>
              </a:rPr>
              <a:t>=1;  </a:t>
            </a:r>
            <a:r>
              <a:rPr lang="en-US" sz="1200" dirty="0">
                <a:solidFill>
                  <a:srgbClr val="3F7F5F"/>
                </a:solidFill>
                <a:latin typeface="Consolas" panose="020B0609020204030204" pitchFamily="49" charset="0"/>
              </a:rPr>
              <a:t>// Clear Overflow flag</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RXFFINTCLR</a:t>
            </a:r>
            <a:r>
              <a:rPr lang="en-US" sz="1200" dirty="0">
                <a:solidFill>
                  <a:srgbClr val="000000"/>
                </a:solidFill>
                <a:latin typeface="Consolas" panose="020B0609020204030204" pitchFamily="49" charset="0"/>
              </a:rPr>
              <a:t>=1;  </a:t>
            </a:r>
            <a:r>
              <a:rPr lang="en-US" sz="1200" dirty="0">
                <a:solidFill>
                  <a:srgbClr val="3F7F5F"/>
                </a:solidFill>
                <a:latin typeface="Consolas" panose="020B0609020204030204" pitchFamily="49" charset="0"/>
              </a:rPr>
              <a:t>// Clear Interrupt flag</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PieCtrlRegs.</a:t>
            </a:r>
            <a:r>
              <a:rPr lang="en-US" sz="1200" dirty="0" err="1">
                <a:solidFill>
                  <a:srgbClr val="0000C0"/>
                </a:solidFill>
                <a:latin typeface="Consolas" panose="020B0609020204030204" pitchFamily="49" charset="0"/>
              </a:rPr>
              <a:t>PIEACK</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all</a:t>
            </a:r>
            <a:r>
              <a:rPr lang="en-US" sz="1200" dirty="0">
                <a:solidFill>
                  <a:srgbClr val="000000"/>
                </a:solidFill>
                <a:latin typeface="Consolas" panose="020B0609020204030204" pitchFamily="49" charset="0"/>
              </a:rPr>
              <a:t> = PIEACK_GROUP6;</a:t>
            </a:r>
          </a:p>
          <a:p>
            <a:pPr marL="114300" indent="0" algn="l">
              <a:buNone/>
            </a:pPr>
            <a:r>
              <a:rPr lang="en-US" sz="12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Tree>
    <p:extLst>
      <p:ext uri="{BB962C8B-B14F-4D97-AF65-F5344CB8AC3E}">
        <p14:creationId xmlns:p14="http://schemas.microsoft.com/office/powerpoint/2010/main" val="10956947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BD59D-1DBD-7276-C25D-64964E321C9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66B9714-6CE7-D0CC-79F2-1AF2B3F4AA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222705-22B5-88C7-B91D-173DC3F16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F04402-0F0B-8965-258A-86EEE8FA5C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908650-5FA6-08EB-2BD2-E1F4959DC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6D78B-E8E4-B07F-5898-7006C9D77FA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8AFD982-85DC-80A8-DD70-084274F379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104A69-DD44-F33B-67EE-19E6915615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BD9BA1-4292-CFEF-B138-C6FF7341FC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4C8589C5-0B8C-BDAF-E74E-A8BBBB20F6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176065"/>
            <a:ext cx="7715347" cy="5039750"/>
          </a:xfrm>
          <a:prstGeom prst="rect">
            <a:avLst/>
          </a:prstGeom>
        </p:spPr>
      </p:pic>
      <p:grpSp>
        <p:nvGrpSpPr>
          <p:cNvPr id="25" name="Group 24">
            <a:extLst>
              <a:ext uri="{FF2B5EF4-FFF2-40B4-BE49-F238E27FC236}">
                <a16:creationId xmlns:a16="http://schemas.microsoft.com/office/drawing/2014/main" id="{904F9AEB-1F05-55D3-4122-9075EDA692C2}"/>
              </a:ext>
            </a:extLst>
          </p:cNvPr>
          <p:cNvGrpSpPr/>
          <p:nvPr/>
        </p:nvGrpSpPr>
        <p:grpSpPr>
          <a:xfrm>
            <a:off x="71357" y="3695940"/>
            <a:ext cx="9578434" cy="1030606"/>
            <a:chOff x="2008863" y="3012556"/>
            <a:chExt cx="10209338" cy="1232087"/>
          </a:xfrm>
        </p:grpSpPr>
        <p:sp>
          <p:nvSpPr>
            <p:cNvPr id="15" name="Rectangle 14">
              <a:extLst>
                <a:ext uri="{FF2B5EF4-FFF2-40B4-BE49-F238E27FC236}">
                  <a16:creationId xmlns:a16="http://schemas.microsoft.com/office/drawing/2014/main" id="{C4EA846A-6B8A-4432-1976-3F7FC3D52D61}"/>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F3D03858-8C05-F543-65E3-40318CF8861A}"/>
                </a:ext>
              </a:extLst>
            </p:cNvPr>
            <p:cNvCxnSpPr>
              <a:cxnSpLocks/>
              <a:endCxn id="15" idx="1"/>
            </p:cNvCxnSpPr>
            <p:nvPr/>
          </p:nvCxnSpPr>
          <p:spPr>
            <a:xfrm flipH="1" flipV="1">
              <a:off x="10020299" y="3205201"/>
              <a:ext cx="2197902" cy="103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30D4C8E7-4E9E-BD49-C2CB-546475BD950F}"/>
              </a:ext>
            </a:extLst>
          </p:cNvPr>
          <p:cNvGrpSpPr/>
          <p:nvPr/>
        </p:nvGrpSpPr>
        <p:grpSpPr>
          <a:xfrm>
            <a:off x="71356" y="3158971"/>
            <a:ext cx="11365083" cy="1110552"/>
            <a:chOff x="2008862" y="3201722"/>
            <a:chExt cx="12064674" cy="1110552"/>
          </a:xfrm>
        </p:grpSpPr>
        <p:sp>
          <p:nvSpPr>
            <p:cNvPr id="28" name="Rectangle 27">
              <a:extLst>
                <a:ext uri="{FF2B5EF4-FFF2-40B4-BE49-F238E27FC236}">
                  <a16:creationId xmlns:a16="http://schemas.microsoft.com/office/drawing/2014/main" id="{C15286D0-1D69-E224-66DB-ACA33A42BEF4}"/>
                </a:ext>
              </a:extLst>
            </p:cNvPr>
            <p:cNvSpPr/>
            <p:nvPr/>
          </p:nvSpPr>
          <p:spPr>
            <a:xfrm flipH="1">
              <a:off x="2008862" y="3201722"/>
              <a:ext cx="7979031" cy="19612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1ECEE7F9-3F69-3190-006C-B73D51D9803B}"/>
                </a:ext>
              </a:extLst>
            </p:cNvPr>
            <p:cNvCxnSpPr>
              <a:cxnSpLocks/>
              <a:endCxn id="28" idx="1"/>
            </p:cNvCxnSpPr>
            <p:nvPr/>
          </p:nvCxnSpPr>
          <p:spPr>
            <a:xfrm flipH="1" flipV="1">
              <a:off x="9987893" y="3299784"/>
              <a:ext cx="4085643" cy="10124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55DEA35B-F9F2-3840-F7D6-088B4CD914A0}"/>
              </a:ext>
            </a:extLst>
          </p:cNvPr>
          <p:cNvGrpSpPr/>
          <p:nvPr/>
        </p:nvGrpSpPr>
        <p:grpSpPr>
          <a:xfrm>
            <a:off x="71357" y="3350288"/>
            <a:ext cx="9578434" cy="1187087"/>
            <a:chOff x="2008863" y="3012556"/>
            <a:chExt cx="10142999" cy="1309792"/>
          </a:xfrm>
        </p:grpSpPr>
        <p:sp>
          <p:nvSpPr>
            <p:cNvPr id="34" name="Rectangle 33">
              <a:extLst>
                <a:ext uri="{FF2B5EF4-FFF2-40B4-BE49-F238E27FC236}">
                  <a16:creationId xmlns:a16="http://schemas.microsoft.com/office/drawing/2014/main" id="{CD256E86-F26F-F764-3159-B5985656191A}"/>
                </a:ext>
              </a:extLst>
            </p:cNvPr>
            <p:cNvSpPr/>
            <p:nvPr/>
          </p:nvSpPr>
          <p:spPr>
            <a:xfrm flipH="1">
              <a:off x="2008863" y="3012556"/>
              <a:ext cx="7959377"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6" name="Straight Arrow Connector 35">
              <a:extLst>
                <a:ext uri="{FF2B5EF4-FFF2-40B4-BE49-F238E27FC236}">
                  <a16:creationId xmlns:a16="http://schemas.microsoft.com/office/drawing/2014/main" id="{DAC270FA-CE64-3A92-640B-F7EFBB2C78AA}"/>
                </a:ext>
              </a:extLst>
            </p:cNvPr>
            <p:cNvCxnSpPr>
              <a:cxnSpLocks/>
              <a:endCxn id="34" idx="1"/>
            </p:cNvCxnSpPr>
            <p:nvPr/>
          </p:nvCxnSpPr>
          <p:spPr>
            <a:xfrm flipH="1" flipV="1">
              <a:off x="9968240" y="3205202"/>
              <a:ext cx="2183622" cy="111714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CA9C417A-F43A-BB60-DE9B-AAD18E8A7452}"/>
              </a:ext>
            </a:extLst>
          </p:cNvPr>
          <p:cNvSpPr txBox="1"/>
          <p:nvPr/>
        </p:nvSpPr>
        <p:spPr>
          <a:xfrm>
            <a:off x="7489112" y="4210185"/>
            <a:ext cx="4501886" cy="738664"/>
          </a:xfrm>
          <a:prstGeom prst="rect">
            <a:avLst/>
          </a:prstGeom>
          <a:noFill/>
        </p:spPr>
        <p:txBody>
          <a:bodyPr wrap="square">
            <a:spAutoFit/>
          </a:bodyPr>
          <a:lstStyle/>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((0x8000) | (0x3C00));</a:t>
            </a:r>
          </a:p>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 0x0000 continue</a:t>
            </a:r>
            <a:endParaRPr lang="en-US" sz="1400" dirty="0">
              <a:solidFill>
                <a:srgbClr val="000000"/>
              </a:solidFill>
              <a:latin typeface="Consolas" panose="020B0609020204030204" pitchFamily="49" charset="0"/>
            </a:endParaRPr>
          </a:p>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 0x0000 continue</a:t>
            </a:r>
            <a:endParaRPr lang="en-US" sz="14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66067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6"/>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3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
        <p:nvSpPr>
          <p:cNvPr id="2" name="Rectangle 1">
            <a:extLst>
              <a:ext uri="{FF2B5EF4-FFF2-40B4-BE49-F238E27FC236}">
                <a16:creationId xmlns:a16="http://schemas.microsoft.com/office/drawing/2014/main" id="{B1A5094C-4BB6-A5B3-E9BE-0D1B1C0ACFC7}"/>
              </a:ext>
            </a:extLst>
          </p:cNvPr>
          <p:cNvSpPr/>
          <p:nvPr/>
        </p:nvSpPr>
        <p:spPr>
          <a:xfrm>
            <a:off x="3846067" y="1796828"/>
            <a:ext cx="441214" cy="421391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45785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2E8C28-C0FE-1016-75B2-A7B6AACAB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438B23-FD66-1FE4-29C7-A2A4BF4EFEB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70F8C2-5EE0-0F4D-4675-3D04D6756E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8FFE93-BD01-44DA-DA0D-EE13AA7A3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53FB69-1D8F-2C79-685A-B3E9FEAFD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636CF3-4F07-C322-78CC-C6E6EB5064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8DD2B4-419A-F0D0-E9FF-D8DB1A054E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1992A3-7D8E-108C-2252-69E9BF1863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D6A716-C7F8-750A-FEFD-3A187EDC07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iming diagram: MPU9250 SPI read of accelerometer Y and Z as three 16-bit transfers, MSB first, labeled clock polarity 0 and phase 1. Slave select goes low for the whole read, about 54 microseconds. The clock idles low, with 16 pulses per transfer; dashed lines mark sampling on each falling edge. MOSI sends 0xBC00 (start address with read bit), then 0x0000 twice. MISO returns nothing plus ACCEL_XOUT_L (discarded), then ACCEL_YOUT_H and L, then ACCEL_ZOUT_H and L.">
            <a:extLst>
              <a:ext uri="{FF2B5EF4-FFF2-40B4-BE49-F238E27FC236}">
                <a16:creationId xmlns:a16="http://schemas.microsoft.com/office/drawing/2014/main" id="{359598AE-F55A-9B86-D5BE-1F5C7A0AAC5D}"/>
              </a:ext>
            </a:extLst>
          </p:cNvPr>
          <p:cNvPicPr>
            <a:picLocks noChangeAspect="1"/>
          </p:cNvPicPr>
          <p:nvPr/>
        </p:nvPicPr>
        <p:blipFill>
          <a:blip r:embed="rId4">
            <a:extLst>
              <a:ext uri="{96DAC541-7B7A-43D3-8B79-37D633B846F1}">
                <asvg:svgBlip xmlns:asvg="http://schemas.microsoft.com/office/drawing/2016/SVG/main" r:embed="rId5"/>
              </a:ext>
            </a:extLst>
          </a:blip>
          <a:srcRect l="7934" r="9524" b="12840"/>
          <a:stretch>
            <a:fillRect/>
          </a:stretch>
        </p:blipFill>
        <p:spPr>
          <a:xfrm>
            <a:off x="768877" y="1025750"/>
            <a:ext cx="10654243" cy="5418257"/>
          </a:xfrm>
          <a:prstGeom prst="rect">
            <a:avLst/>
          </a:prstGeom>
        </p:spPr>
      </p:pic>
      <p:grpSp>
        <p:nvGrpSpPr>
          <p:cNvPr id="16" name="Group 15">
            <a:extLst>
              <a:ext uri="{FF2B5EF4-FFF2-40B4-BE49-F238E27FC236}">
                <a16:creationId xmlns:a16="http://schemas.microsoft.com/office/drawing/2014/main" id="{163E376E-4DB8-C947-3DD3-76811DB857F7}"/>
              </a:ext>
            </a:extLst>
          </p:cNvPr>
          <p:cNvGrpSpPr/>
          <p:nvPr/>
        </p:nvGrpSpPr>
        <p:grpSpPr>
          <a:xfrm>
            <a:off x="292494" y="2818504"/>
            <a:ext cx="1600250" cy="1983695"/>
            <a:chOff x="292494" y="2818504"/>
            <a:chExt cx="1600250" cy="1983695"/>
          </a:xfrm>
        </p:grpSpPr>
        <p:sp>
          <p:nvSpPr>
            <p:cNvPr id="7" name="Rectangle 6">
              <a:extLst>
                <a:ext uri="{FF2B5EF4-FFF2-40B4-BE49-F238E27FC236}">
                  <a16:creationId xmlns:a16="http://schemas.microsoft.com/office/drawing/2014/main" id="{160EDF8C-FFE6-353B-CF02-18AAB0784DAE}"/>
                </a:ext>
              </a:extLst>
            </p:cNvPr>
            <p:cNvSpPr/>
            <p:nvPr/>
          </p:nvSpPr>
          <p:spPr>
            <a:xfrm>
              <a:off x="1055077" y="3830249"/>
              <a:ext cx="837667" cy="9719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220BD6F9-F6EF-30DC-FC44-D9F0BA0E2D9F}"/>
                </a:ext>
              </a:extLst>
            </p:cNvPr>
            <p:cNvCxnSpPr>
              <a:cxnSpLocks/>
              <a:stCxn id="12" idx="2"/>
              <a:endCxn id="7" idx="0"/>
            </p:cNvCxnSpPr>
            <p:nvPr/>
          </p:nvCxnSpPr>
          <p:spPr>
            <a:xfrm>
              <a:off x="768878" y="3557168"/>
              <a:ext cx="705033" cy="2730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94E7258-1009-646B-D306-CC08E9F015B5}"/>
                </a:ext>
              </a:extLst>
            </p:cNvPr>
            <p:cNvSpPr txBox="1"/>
            <p:nvPr/>
          </p:nvSpPr>
          <p:spPr>
            <a:xfrm>
              <a:off x="292494" y="2818504"/>
              <a:ext cx="952767" cy="738664"/>
            </a:xfrm>
            <a:prstGeom prst="rect">
              <a:avLst/>
            </a:prstGeom>
            <a:noFill/>
          </p:spPr>
          <p:txBody>
            <a:bodyPr wrap="square" rtlCol="0">
              <a:spAutoFit/>
            </a:bodyPr>
            <a:lstStyle/>
            <a:p>
              <a:pPr algn="ctr"/>
              <a:r>
                <a:rPr lang="en-US" dirty="0">
                  <a:solidFill>
                    <a:srgbClr val="FF0000"/>
                  </a:solidFill>
                </a:rPr>
                <a:t>What is the clock polarity?</a:t>
              </a:r>
            </a:p>
          </p:txBody>
        </p:sp>
      </p:grpSp>
      <p:grpSp>
        <p:nvGrpSpPr>
          <p:cNvPr id="17" name="Group 16">
            <a:extLst>
              <a:ext uri="{FF2B5EF4-FFF2-40B4-BE49-F238E27FC236}">
                <a16:creationId xmlns:a16="http://schemas.microsoft.com/office/drawing/2014/main" id="{B4B21A70-C02D-018E-87A4-67A7D73DF0B4}"/>
              </a:ext>
            </a:extLst>
          </p:cNvPr>
          <p:cNvGrpSpPr/>
          <p:nvPr/>
        </p:nvGrpSpPr>
        <p:grpSpPr>
          <a:xfrm>
            <a:off x="6642720" y="1072273"/>
            <a:ext cx="952767" cy="4655159"/>
            <a:chOff x="997526" y="1147747"/>
            <a:chExt cx="952767" cy="4724449"/>
          </a:xfrm>
        </p:grpSpPr>
        <p:sp>
          <p:nvSpPr>
            <p:cNvPr id="18" name="Rectangle 17">
              <a:extLst>
                <a:ext uri="{FF2B5EF4-FFF2-40B4-BE49-F238E27FC236}">
                  <a16:creationId xmlns:a16="http://schemas.microsoft.com/office/drawing/2014/main" id="{82F4E5B8-342E-F61D-3B3F-640B162FA326}"/>
                </a:ext>
              </a:extLst>
            </p:cNvPr>
            <p:cNvSpPr/>
            <p:nvPr/>
          </p:nvSpPr>
          <p:spPr>
            <a:xfrm>
              <a:off x="1055077" y="1147747"/>
              <a:ext cx="837667" cy="36544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BCEC1410-67EA-4154-0E34-461BBD8F6362}"/>
                </a:ext>
              </a:extLst>
            </p:cNvPr>
            <p:cNvCxnSpPr>
              <a:cxnSpLocks/>
              <a:stCxn id="20" idx="0"/>
              <a:endCxn id="18" idx="2"/>
            </p:cNvCxnSpPr>
            <p:nvPr/>
          </p:nvCxnSpPr>
          <p:spPr>
            <a:xfrm flipV="1">
              <a:off x="1473910" y="4802199"/>
              <a:ext cx="1" cy="3203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3B8782B6-8A8D-265A-06EF-7282D0A73EB5}"/>
                </a:ext>
              </a:extLst>
            </p:cNvPr>
            <p:cNvSpPr txBox="1"/>
            <p:nvPr/>
          </p:nvSpPr>
          <p:spPr>
            <a:xfrm>
              <a:off x="997526" y="5122537"/>
              <a:ext cx="952767" cy="749659"/>
            </a:xfrm>
            <a:prstGeom prst="rect">
              <a:avLst/>
            </a:prstGeom>
            <a:noFill/>
          </p:spPr>
          <p:txBody>
            <a:bodyPr wrap="square" rtlCol="0">
              <a:spAutoFit/>
            </a:bodyPr>
            <a:lstStyle/>
            <a:p>
              <a:pPr algn="ctr"/>
              <a:r>
                <a:rPr lang="en-US" dirty="0">
                  <a:solidFill>
                    <a:srgbClr val="FF0000"/>
                  </a:solidFill>
                </a:rPr>
                <a:t>What is the clock phase?</a:t>
              </a:r>
            </a:p>
          </p:txBody>
        </p:sp>
      </p:grpSp>
    </p:spTree>
    <p:extLst>
      <p:ext uri="{BB962C8B-B14F-4D97-AF65-F5344CB8AC3E}">
        <p14:creationId xmlns:p14="http://schemas.microsoft.com/office/powerpoint/2010/main" val="29313297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580</TotalTime>
  <Words>2487</Words>
  <Application>Microsoft Office PowerPoint</Application>
  <PresentationFormat>Widescreen</PresentationFormat>
  <Paragraphs>364</Paragraphs>
  <Slides>43</Slides>
  <Notes>43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253</cp:revision>
  <dcterms:created xsi:type="dcterms:W3CDTF">2019-01-14T22:06:33Z</dcterms:created>
  <dcterms:modified xsi:type="dcterms:W3CDTF">2026-03-08T08:04:59Z</dcterms:modified>
</cp:coreProperties>
</file>