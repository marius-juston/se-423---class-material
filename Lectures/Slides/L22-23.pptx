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6"/>
  </p:notesMasterIdLst>
  <p:sldIdLst>
    <p:sldId id="256" r:id="rId2"/>
    <p:sldId id="417" r:id="rId3"/>
    <p:sldId id="413" r:id="rId4"/>
    <p:sldId id="419" r:id="rId5"/>
    <p:sldId id="272" r:id="rId6"/>
    <p:sldId id="420" r:id="rId7"/>
    <p:sldId id="258" r:id="rId8"/>
    <p:sldId id="418" r:id="rId9"/>
    <p:sldId id="422" r:id="rId10"/>
    <p:sldId id="425" r:id="rId11"/>
    <p:sldId id="427" r:id="rId12"/>
    <p:sldId id="428" r:id="rId13"/>
    <p:sldId id="429" r:id="rId14"/>
    <p:sldId id="423" r:id="rId15"/>
    <p:sldId id="421" r:id="rId16"/>
    <p:sldId id="424" r:id="rId17"/>
    <p:sldId id="431" r:id="rId18"/>
    <p:sldId id="432" r:id="rId19"/>
    <p:sldId id="433" r:id="rId20"/>
    <p:sldId id="434" r:id="rId21"/>
    <p:sldId id="448" r:id="rId22"/>
    <p:sldId id="435" r:id="rId23"/>
    <p:sldId id="436" r:id="rId24"/>
    <p:sldId id="437" r:id="rId25"/>
    <p:sldId id="439" r:id="rId26"/>
    <p:sldId id="440" r:id="rId27"/>
    <p:sldId id="441" r:id="rId28"/>
    <p:sldId id="449" r:id="rId29"/>
    <p:sldId id="442" r:id="rId30"/>
    <p:sldId id="443" r:id="rId31"/>
    <p:sldId id="444" r:id="rId32"/>
    <p:sldId id="445" r:id="rId33"/>
    <p:sldId id="446" r:id="rId34"/>
    <p:sldId id="447" r:id="rId35"/>
    <p:sldId id="451" r:id="rId36"/>
    <p:sldId id="450" r:id="rId37"/>
    <p:sldId id="453" r:id="rId38"/>
    <p:sldId id="454" r:id="rId39"/>
    <p:sldId id="455" r:id="rId40"/>
    <p:sldId id="456" r:id="rId41"/>
    <p:sldId id="458" r:id="rId42"/>
    <p:sldId id="459" r:id="rId43"/>
    <p:sldId id="460" r:id="rId44"/>
    <p:sldId id="461" r:id="rId45"/>
    <p:sldId id="452" r:id="rId46"/>
    <p:sldId id="462" r:id="rId47"/>
    <p:sldId id="463" r:id="rId48"/>
    <p:sldId id="464" r:id="rId49"/>
    <p:sldId id="466" r:id="rId50"/>
    <p:sldId id="465" r:id="rId51"/>
    <p:sldId id="259" r:id="rId52"/>
    <p:sldId id="260" r:id="rId53"/>
    <p:sldId id="261" r:id="rId54"/>
    <p:sldId id="262" r:id="rId55"/>
    <p:sldId id="263" r:id="rId56"/>
    <p:sldId id="264" r:id="rId57"/>
    <p:sldId id="265" r:id="rId58"/>
    <p:sldId id="266" r:id="rId59"/>
    <p:sldId id="267" r:id="rId60"/>
    <p:sldId id="268" r:id="rId61"/>
    <p:sldId id="269" r:id="rId62"/>
    <p:sldId id="257" r:id="rId63"/>
    <p:sldId id="271" r:id="rId64"/>
    <p:sldId id="270"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144599E-3138-9507-B75F-FA5D0813AA20}"/>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7029E625-7E3E-A148-9D7F-5EA1EA6836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F1BC7F73-C3C7-A787-8B8C-026199E081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7254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583FF02-754A-D68A-C9F1-847F74F801D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B136CAD-35A4-8E35-5B6F-19596B307E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02DEA30-9F36-4334-9C6A-144C1DF348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398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6FE9A4-D2F8-BDDE-9487-5865BB6A5C8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A8D41D1-A6F3-7558-0FD6-010F0A5FF0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2781547-9AD4-3523-FC75-1704129E9F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9705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F71050E-C39F-582E-728C-6871A0760A2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F39C8F-E3FB-5E48-EA6E-15010B5AC3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08BF6C0-901C-2C6B-CA81-D8CF72ED8B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1910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1E834E-CBD5-7205-E45D-C4D8708AECF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E65A66E-C1EB-2575-645A-86D51BE011E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F7F52C2-9EAE-F4CD-0E03-83D4F68577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3437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637F24-9E25-CAF1-D1D8-6565DD3CBEF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71A056D-2946-B74C-A8E3-B6211B69DF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C4D5CED-1814-7324-BA7E-28484E19C0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4890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FC3AC09-9C95-A399-8801-9E7935AE92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A5DEE66-3D0A-7CF0-211E-077C05E286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FE2B35F-8261-421E-2BC1-B525FF4335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1709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CBC5DC8-7D98-96CC-5E68-11CB6CA49F4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69E4750-FFBF-AC46-1EB7-4D729D64C1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64A9273-4672-F97D-B240-4E159278BB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4141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A4680C2-5627-D482-8CE0-EAD80F3E5A9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065B258-E998-7FA5-AF2C-EE2AB275E0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EB800A2-2D02-73AC-DB40-A83E79A32C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9045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4489958-2210-6F9F-7818-33765AF88B6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29AB74A-BC4C-50D7-5BF8-2B12957CB6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A577852-E51A-5127-B374-4CD4BE8AE4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9009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75563C-408D-9518-BA37-BE2A86E92BD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7399EE6-CF8A-1A53-A924-F7BC14C0E4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0C336FF-3487-C419-ED46-04553C0CAE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8192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94C49E-250B-D803-D955-042B13BE3A0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200A565-B49C-1EF5-3F3F-884E2128195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C462536-D46A-3D73-1572-955328DF1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7287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8166FF0-86AE-2886-2F6B-08CE2B7E303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393729F-1DC5-4794-44D8-7B9B25D2C8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44FC765-A37B-2E63-2C7E-A52CD10B7D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3081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2387BB5-959C-E478-3DAD-4D83499245BE}"/>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2600C003-0471-BBF4-154A-4FFB21E8B6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1B1C2EF8-7E9F-D5BE-130C-783EC11C60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99285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AFE45BE-42A7-0D16-CC39-124E54F2D8E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CB2CEAC-5AAA-8506-CA1B-F3322F80CF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E498D42-4267-220E-4625-708A35403C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6903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3A3FBC1-FABB-2620-99CF-913DA1ADDB2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960DA54-F888-113B-8426-6B0695F739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907B258-2A92-5582-6DAD-CEBFD14671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3107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A08FC1-84DE-953E-3014-679FD7DAF41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52FA5D-705C-8F8C-5B72-804F974F2E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808714E-160E-F7FC-57D1-A5E6DF9971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5170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0E045A-7CF9-40EE-A346-4B6C783A476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0608C2-C9F0-6D55-2101-96CAA4E44D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5BC32FA-832E-32AD-D47F-DBD480904D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8488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030357F-4C45-09CD-06A2-4ABEE7125E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512894-EF09-C34D-1359-56C827F1D9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A8013D5-9754-E251-E277-3F1A0F4C2D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2959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3090142-4A3F-0DAE-7AF5-FF6E70E643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FB0118-6E2A-E1F1-9DCF-926EF81B99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73286CF-C4C6-D077-8394-9247492AEE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4587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46B479B-264E-6F19-E7D3-D7B3942AC5D5}"/>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D1BAAE67-80C4-6078-A395-11A8B33C46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A0CD8A1D-B3AE-822B-1CF5-FF474E563D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104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8F1D5C1-DE80-52EF-D9C4-CCDF711540B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D0FB167-B508-D017-1B13-87AB913CA6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68F8677-1EBA-A3A6-7461-852DC30F8F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4571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C84CEF2-55B4-E197-D880-FF6B5DD9CCF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3BD141F-732C-1915-2204-1CB54B8721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E3577AA-D6E2-55C9-E23C-2E6A1B75B1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1278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7F5CDE5-2F16-2609-911E-B73A90A375F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3CBC42-1A06-8FAC-0E98-9BB59F04B3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DE20E00-233A-C084-7B1F-0569003F49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2655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02A1716-2B1F-8AB5-41E7-44CE766432C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8A5F184-F903-FA3F-A783-5EC7D4249D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F7BEE51-1AAB-FD64-D015-15F960AE25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2129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FBC0EE6-B58E-4B6F-E43B-74EA61FDA8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E74AF34-F09A-0D33-810E-53EE5C2817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7EB5F1F-907B-8103-9338-673C8C9FCA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9540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923FEE-384E-9A06-DB68-E11B8BB4FB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593A67-73A5-75D1-6FB6-5C5334E31A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F9B01FD-A216-634A-1A91-B787E43A31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97925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6AA30F-92BB-84F2-9DFF-6B16AF9CFA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4F095B-7896-7C1A-B0F8-296A8DB29D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A983E18-F5C3-6A09-888D-12735CAA3B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68387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50E4CB-2692-41B6-2E82-77724FBB80C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C7BC85-AA2E-1C7F-8922-00CAA7C4CA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9E360FF-A891-059B-7740-CCF6D0774C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04134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814ECAD-171D-BEFA-E215-E6722477BCC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37E9E450-EDA7-C9C2-4A21-3E59F4F4B0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3B9F40CB-5CE3-6FD5-F654-19DCEBD0FF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0950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2FE63F-FB22-2E59-A795-9F9C5B0D9EF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C8DAB0B-66A6-2389-06CE-E0D310254E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ECEC235-6E98-F8D5-2376-C1C857CC2F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8639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F14CDBA-23ED-45F4-DD1B-130BC637673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C1B5EA0-84D0-0FE9-6B8B-22A4965E4B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B87127E-15A9-1203-C1F2-9E7406BDAE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345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87B5FAD-7FC5-7B81-52F1-B8F692758A5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E052B90-87B6-B1D2-DC11-C742D72C5F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82648DC-B23A-6711-2F1C-3FA563C867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4153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5FEAAF-48CF-3950-B2EF-C81A84B327B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2300D8-ED87-86D5-BA67-2B5DF65B85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8C70414-3690-2713-3D19-D0B867479C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84603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6B99A08-1F33-1E55-0614-10DB5C442F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767C712-D314-6B92-306F-1B7A6C4A81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292D01C-918F-F110-25A4-D0C8919DF2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71103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3D8FE06-F3A0-139B-8C2D-B1CA2D7907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9132716-C7A6-66DA-1976-DDFB07DA21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AD5E86B-4924-E0F5-0981-B7269B0ABF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7067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A4F5B2-3BDB-016A-21CB-F2ABF84FB7E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BCE1596-68D7-CE65-4405-85CD182EDE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01DC1BD-744F-EAAD-D8CD-7CB2B06728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667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D33AAA2-8430-5ECF-DF84-F3AED54C627F}"/>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73B14034-A839-C113-226F-780D52CAB1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4FED320C-D6BB-7620-CEA4-2AF06D4B8F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58086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072E124-0C1A-788E-ADE6-24550A0FAB5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E7F7FF-50D8-3DC7-90C3-F36349DA41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B711589-9B94-FA83-FCBA-EB83872AAC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21407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9DEC00C-B0BB-2DB7-E47E-842920D0E2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F7831AC-C3AB-1A41-8EB3-9398AE743F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5C0B8C5-AB91-B626-1852-4CB3D1AB80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81172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19D136-8594-26C8-988A-70DC8E77CD5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A3EF3A-1779-0E94-D3C8-5AC8502593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C35F483-08D1-61A1-DB80-E438181C68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3079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8F60C60-1866-3FA5-12DE-5DC9BBBBED81}"/>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055FEB-943F-32FB-FFB2-2960859394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531C25C7-2931-BC86-9462-4482EF6443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01761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47A927B-8382-B1B4-C7AC-749ED029465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9966CF7-8A6B-97B5-F708-55E814E675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B31F0E1-EC55-3750-F03A-49D28B49DA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00750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color_spaces.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lh2lSsxLq3i58cWuxZ1K7XvA4rPz2CyiUasCmF61Gnc/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HW5.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visionbook.mit.e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visionbook.mit.edu/imaging.html#fig-orthographics" TargetMode="Externa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visionbook.mit.edu/imaging.html#fig-orthographic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visionbook.mit.edu/imaging.html#fig-orthographic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visionbook.mit.edu/imaging.html#fig-orthographic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visionbook.mit.edu/imaging.html#fig-orthographics" TargetMode="External"/><Relationship Id="rId5" Type="http://schemas.openxmlformats.org/officeDocument/2006/relationships/image" Target="../media/image14.sv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png"/><Relationship Id="rId7" Type="http://schemas.openxmlformats.org/officeDocument/2006/relationships/image" Target="../media/image38.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6.sv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spcBef>
                <a:spcPts val="600"/>
              </a:spcBef>
              <a:buSzPts val="4500"/>
            </a:pPr>
            <a:r>
              <a:rPr lang="en-US" sz="4500" b="1" dirty="0">
                <a:solidFill>
                  <a:schemeClr val="lt1"/>
                </a:solidFill>
              </a:rPr>
              <a:t>SE 423: Introduction to Mechatronics</a:t>
            </a:r>
            <a:endParaRPr lang="en-US" sz="4500" dirty="0"/>
          </a:p>
          <a:p>
            <a:pPr marL="0" marR="0" lvl="0" indent="0" algn="ctr" rtl="0">
              <a:lnSpc>
                <a:spcPct val="100000"/>
              </a:lnSpc>
              <a:spcBef>
                <a:spcPts val="600"/>
              </a:spcBef>
              <a:spcAft>
                <a:spcPts val="0"/>
              </a:spcAft>
              <a:buNone/>
            </a:pPr>
            <a:r>
              <a:rPr lang="en-US" sz="2500">
                <a:solidFill>
                  <a:schemeClr val="lt1"/>
                </a:solidFill>
              </a:rPr>
              <a:t>Lecture 22-23: </a:t>
            </a:r>
            <a:r>
              <a:rPr lang="en-US" sz="2500" dirty="0">
                <a:solidFill>
                  <a:schemeClr val="lt1"/>
                </a:solidFill>
              </a:rPr>
              <a:t>3D Vision, Structure from Motion, and Deep Depth</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rial"/>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rial"/>
                <a:ea typeface="Arial"/>
                <a:cs typeface="Arial"/>
                <a:sym typeface="Arial"/>
              </a:rPr>
              <a:t>Marius Juston</a:t>
            </a:r>
            <a:endParaRPr sz="1800" b="0" i="0" u="none" strike="noStrike" cap="none" dirty="0">
              <a:solidFill>
                <a:srgbClr val="000000"/>
              </a:solidFill>
              <a:latin typeface="Arial"/>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rial"/>
                <a:ea typeface="Arial"/>
                <a:cs typeface="Arial"/>
                <a:sym typeface="Arial"/>
              </a:rPr>
              <a:t>Monday, April 13</a:t>
            </a:r>
            <a:r>
              <a:rPr lang="en-US" sz="1800" b="0" i="0" u="none" strike="noStrike" cap="none" baseline="30000" dirty="0">
                <a:solidFill>
                  <a:schemeClr val="lt1"/>
                </a:solidFill>
                <a:latin typeface="Arial"/>
                <a:ea typeface="Arial"/>
                <a:cs typeface="Arial"/>
                <a:sym typeface="Arial"/>
              </a:rPr>
              <a:t>th</a:t>
            </a:r>
            <a:r>
              <a:rPr lang="en-US" sz="1800" b="0" i="0" u="none" strike="noStrike" cap="none" dirty="0">
                <a:solidFill>
                  <a:schemeClr val="lt1"/>
                </a:solidFill>
                <a:latin typeface="Arial"/>
                <a:ea typeface="Arial"/>
                <a:cs typeface="Arial"/>
                <a:sym typeface="Arial"/>
              </a:rPr>
              <a:t>, 2026</a:t>
            </a:r>
            <a:endParaRPr sz="1800" b="0" i="0" u="none" strike="noStrike" cap="none" dirty="0">
              <a:solidFill>
                <a:schemeClr val="lt1"/>
              </a:solidFill>
              <a:latin typeface="Arial"/>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rial"/>
              <a:ea typeface="Arial"/>
              <a:cs typeface="Arial"/>
              <a:sym typeface="Arial"/>
            </a:endParaRPr>
          </a:p>
          <a:p>
            <a:pPr marL="285750" indent="-285750">
              <a:lnSpc>
                <a:spcPct val="100000"/>
              </a:lnSpc>
              <a:spcBef>
                <a:spcPts val="0"/>
              </a:spcBef>
              <a:buSzPts val="3000"/>
            </a:pPr>
            <a:r>
              <a:rPr lang="en-US" sz="2400" dirty="0">
                <a:solidFill>
                  <a:schemeClr val="dk1"/>
                </a:solidFill>
                <a:latin typeface="Arial"/>
                <a:ea typeface="Arial"/>
                <a:cs typeface="Arial"/>
                <a:sym typeface="Arial"/>
              </a:rPr>
              <a:t>Why do we use CIE Lab color space instead of RGB for object tracking?</a:t>
            </a:r>
          </a:p>
          <a:p>
            <a:pPr marL="285750" indent="-285750">
              <a:lnSpc>
                <a:spcPct val="100000"/>
              </a:lnSpc>
              <a:spcBef>
                <a:spcPts val="0"/>
              </a:spcBef>
              <a:buSzPts val="3000"/>
            </a:pPr>
            <a:r>
              <a:rPr lang="en-US" sz="2400" dirty="0">
                <a:latin typeface="Arial"/>
                <a:ea typeface="Arial"/>
                <a:cs typeface="Arial"/>
                <a:sym typeface="Arial"/>
              </a:rPr>
              <a:t>How do we calculate the centroid of a binary blob using Image Moments?</a:t>
            </a:r>
          </a:p>
          <a:p>
            <a:pPr marL="285750" indent="-285750">
              <a:lnSpc>
                <a:spcPct val="100000"/>
              </a:lnSpc>
              <a:spcBef>
                <a:spcPts val="0"/>
              </a:spcBef>
              <a:buSzPts val="3000"/>
            </a:pPr>
            <a:r>
              <a:rPr lang="en-US" sz="2400" dirty="0">
                <a:solidFill>
                  <a:schemeClr val="dk1"/>
                </a:solidFill>
                <a:latin typeface="Arial"/>
                <a:ea typeface="Arial"/>
                <a:cs typeface="Arial"/>
                <a:sym typeface="Arial"/>
              </a:rPr>
              <a:t>If a red ball enters a dark shadow, which CIE Lab parameter drops? Which ones remain constant to help us track it? (You can look at the website </a:t>
            </a:r>
            <a:r>
              <a:rPr lang="en-US" sz="2400" dirty="0">
                <a:solidFill>
                  <a:schemeClr val="dk1"/>
                </a:solidFill>
                <a:latin typeface="Arial"/>
                <a:ea typeface="Arial"/>
                <a:cs typeface="Arial"/>
                <a:sym typeface="Arial"/>
                <a:hlinkClick r:id="rId3"/>
              </a:rPr>
              <a:t>https://marius-juston.github.io/SE-423---Class-Material/color_spaces.html</a:t>
            </a:r>
            <a:r>
              <a:rPr lang="en-US" sz="2400" dirty="0">
                <a:solidFill>
                  <a:schemeClr val="dk1"/>
                </a:solidFill>
                <a:latin typeface="Arial"/>
                <a:ea typeface="Arial"/>
                <a:cs typeface="Arial"/>
                <a:sym typeface="Arial"/>
              </a:rPr>
              <a:t> ) for a reminder.</a:t>
            </a:r>
          </a:p>
          <a:p>
            <a:pPr marL="285750" indent="-285750">
              <a:lnSpc>
                <a:spcPct val="100000"/>
              </a:lnSpc>
              <a:spcBef>
                <a:spcPts val="0"/>
              </a:spcBef>
              <a:buSzPts val="3000"/>
            </a:pPr>
            <a:r>
              <a:rPr lang="en-US" sz="2400" dirty="0">
                <a:latin typeface="Arial"/>
                <a:ea typeface="Arial"/>
                <a:cs typeface="Arial"/>
                <a:sym typeface="Arial"/>
              </a:rPr>
              <a:t>Put an object in front of yourself, grab it with both eyes open, now close one eye and try to grab it again. Did you feel like it was a different distance than expected?</a:t>
            </a:r>
            <a:endParaRPr lang="en-US" sz="2400" dirty="0">
              <a:solidFill>
                <a:schemeClr val="dk1"/>
              </a:solidFill>
              <a:latin typeface="Arial"/>
              <a:ea typeface="Arial"/>
              <a:cs typeface="Arial"/>
              <a:sym typeface="Arial"/>
            </a:endParaRPr>
          </a:p>
          <a:p>
            <a:pPr marL="285750" indent="-285750">
              <a:lnSpc>
                <a:spcPct val="100000"/>
              </a:lnSpc>
              <a:spcBef>
                <a:spcPts val="0"/>
              </a:spcBef>
              <a:buSzPts val="3000"/>
            </a:pPr>
            <a:endParaRPr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Review – 5-minute partner discussion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rial"/>
                <a:ea typeface="Arial"/>
                <a:cs typeface="Arial"/>
                <a:sym typeface="Arial"/>
              </a:rPr>
              <a:t>Office Hours:</a:t>
            </a:r>
            <a:endParaRPr lang="en-US" sz="2600" b="1" dirty="0">
              <a:solidFill>
                <a:srgbClr val="E84B36"/>
              </a:solidFill>
              <a:latin typeface="Arial"/>
              <a:ea typeface="Arial"/>
              <a:cs typeface="Arial"/>
              <a:sym typeface="Arial"/>
            </a:endParaRPr>
          </a:p>
          <a:p>
            <a:pPr marL="285750" indent="-285750">
              <a:lnSpc>
                <a:spcPct val="100000"/>
              </a:lnSpc>
              <a:spcBef>
                <a:spcPts val="0"/>
              </a:spcBef>
              <a:buSzPts val="3000"/>
            </a:pPr>
            <a:r>
              <a:rPr lang="en-US" sz="1800" b="1" dirty="0">
                <a:solidFill>
                  <a:schemeClr val="dk1"/>
                </a:solidFill>
                <a:latin typeface="Arial"/>
                <a:ea typeface="Arial"/>
                <a:cs typeface="Arial"/>
                <a:sym typeface="Arial"/>
              </a:rPr>
              <a:t>Monday: </a:t>
            </a:r>
            <a:r>
              <a:rPr lang="en-US" sz="1800" dirty="0">
                <a:solidFill>
                  <a:schemeClr val="dk1"/>
                </a:solidFill>
                <a:latin typeface="Arial"/>
                <a:ea typeface="Arial"/>
                <a:cs typeface="Arial"/>
                <a:sym typeface="Arial"/>
              </a:rPr>
              <a:t>4-6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Neel</a:t>
            </a:r>
          </a:p>
          <a:p>
            <a:pPr marL="285750" indent="-285750">
              <a:lnSpc>
                <a:spcPct val="100000"/>
              </a:lnSpc>
              <a:spcBef>
                <a:spcPts val="0"/>
              </a:spcBef>
              <a:buSzPts val="3000"/>
            </a:pPr>
            <a:r>
              <a:rPr lang="en-US" sz="1800" b="1" dirty="0">
                <a:latin typeface="Arial"/>
                <a:ea typeface="Arial"/>
                <a:cs typeface="Arial"/>
                <a:sym typeface="Arial"/>
              </a:rPr>
              <a:t>Tuesday: </a:t>
            </a:r>
            <a:r>
              <a:rPr lang="en-US" sz="1800" dirty="0">
                <a:latin typeface="Arial"/>
                <a:ea typeface="Arial"/>
                <a:cs typeface="Arial"/>
                <a:sym typeface="Arial"/>
              </a:rPr>
              <a:t>11-1 PM</a:t>
            </a:r>
            <a:r>
              <a:rPr lang="en-US" sz="1800" b="1" dirty="0">
                <a:latin typeface="Arial"/>
                <a:ea typeface="Arial"/>
                <a:cs typeface="Arial"/>
                <a:sym typeface="Arial"/>
              </a:rPr>
              <a:t>, </a:t>
            </a:r>
            <a:r>
              <a:rPr lang="en-US" sz="1800" dirty="0">
                <a:latin typeface="Arial"/>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latin typeface="Arial"/>
                <a:ea typeface="Arial"/>
                <a:cs typeface="Arial"/>
                <a:sym typeface="Arial"/>
              </a:rPr>
              <a:t>1-3 PM</a:t>
            </a:r>
            <a:r>
              <a:rPr lang="en-US" sz="1800" b="1" dirty="0">
                <a:latin typeface="Arial"/>
                <a:ea typeface="Arial"/>
                <a:cs typeface="Arial"/>
                <a:sym typeface="Arial"/>
              </a:rPr>
              <a:t>, </a:t>
            </a:r>
            <a:r>
              <a:rPr lang="en-US" sz="1800" dirty="0">
                <a:latin typeface="Arial"/>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rial"/>
                <a:ea typeface="Arial"/>
                <a:cs typeface="Arial"/>
                <a:sym typeface="Arial"/>
              </a:rPr>
              <a:t>Tuesday: </a:t>
            </a:r>
            <a:r>
              <a:rPr lang="en-US" sz="1800" dirty="0">
                <a:solidFill>
                  <a:schemeClr val="dk1"/>
                </a:solidFill>
                <a:latin typeface="Arial"/>
                <a:ea typeface="Arial"/>
                <a:cs typeface="Arial"/>
                <a:sym typeface="Arial"/>
              </a:rPr>
              <a:t>2-5 PM</a:t>
            </a:r>
            <a:r>
              <a:rPr lang="en-US" sz="1800" b="1" dirty="0">
                <a:solidFill>
                  <a:schemeClr val="dk1"/>
                </a:solidFill>
                <a:latin typeface="Arial"/>
                <a:ea typeface="Arial"/>
                <a:cs typeface="Arial"/>
                <a:sym typeface="Arial"/>
              </a:rPr>
              <a:t>, </a:t>
            </a:r>
            <a:r>
              <a:rPr lang="en-US" sz="1800" dirty="0">
                <a:solidFill>
                  <a:schemeClr val="dk1"/>
                </a:solidFill>
                <a:latin typeface="Arial"/>
                <a:ea typeface="Arial"/>
                <a:cs typeface="Arial"/>
                <a:sym typeface="Arial"/>
              </a:rPr>
              <a:t>Dan &amp; Marius</a:t>
            </a:r>
          </a:p>
          <a:p>
            <a:pPr marL="285750" indent="-285750">
              <a:lnSpc>
                <a:spcPct val="100000"/>
              </a:lnSpc>
              <a:spcBef>
                <a:spcPts val="0"/>
              </a:spcBef>
              <a:buSzPts val="3000"/>
            </a:pPr>
            <a:endParaRPr lang="en-US" sz="1800" b="1" dirty="0">
              <a:latin typeface="Arial"/>
              <a:ea typeface="Arial"/>
              <a:cs typeface="Arial"/>
              <a:sym typeface="Arial"/>
            </a:endParaRPr>
          </a:p>
          <a:p>
            <a:pPr marL="0" indent="0">
              <a:lnSpc>
                <a:spcPct val="100000"/>
              </a:lnSpc>
              <a:spcBef>
                <a:spcPts val="0"/>
              </a:spcBef>
              <a:buSzPts val="3000"/>
              <a:buNone/>
            </a:pPr>
            <a:r>
              <a:rPr lang="en-US" sz="1800" b="1" dirty="0">
                <a:solidFill>
                  <a:srgbClr val="E84B36"/>
                </a:solidFill>
                <a:latin typeface="Arial"/>
                <a:ea typeface="Arial"/>
                <a:cs typeface="Arial"/>
                <a:sym typeface="Arial"/>
              </a:rPr>
              <a:t>Lab: </a:t>
            </a:r>
            <a:r>
              <a:rPr lang="en-US" sz="1800" dirty="0">
                <a:latin typeface="Arial"/>
                <a:ea typeface="Arial"/>
                <a:cs typeface="Arial"/>
                <a:sym typeface="Arial"/>
              </a:rPr>
              <a:t>Starting Lab 7 this week. This a 2-week lab! This is the final lab! Afterwards you will just be working on your final project in your teams.</a:t>
            </a:r>
          </a:p>
          <a:p>
            <a:pPr marL="0" indent="0">
              <a:lnSpc>
                <a:spcPct val="100000"/>
              </a:lnSpc>
              <a:spcBef>
                <a:spcPts val="0"/>
              </a:spcBef>
              <a:buSzPts val="3000"/>
              <a:buNone/>
            </a:pPr>
            <a:r>
              <a:rPr lang="en-US" sz="1800" dirty="0">
                <a:solidFill>
                  <a:schemeClr val="tx1"/>
                </a:solidFill>
                <a:latin typeface="Arial"/>
                <a:ea typeface="Arial"/>
                <a:cs typeface="Arial"/>
                <a:sym typeface="Arial"/>
              </a:rPr>
              <a:t>Make sure that you fill in the Google Sheet from the Announcement: </a:t>
            </a:r>
            <a:r>
              <a:rPr lang="en-US" sz="1800" dirty="0">
                <a:solidFill>
                  <a:schemeClr val="tx1"/>
                </a:solidFill>
                <a:latin typeface="Arial"/>
                <a:ea typeface="Arial"/>
                <a:cs typeface="Arial"/>
                <a:sym typeface="Arial"/>
                <a:hlinkClick r:id="rId3"/>
              </a:rPr>
              <a:t>https://docs.google.com/spreadsheets/d/1lh2lSsxLq3i58cWuxZ1K7XvA4rPz2CyiUasCmF61Gnc/edit?usp=sharing</a:t>
            </a:r>
            <a:r>
              <a:rPr lang="en-US" sz="1800" dirty="0">
                <a:solidFill>
                  <a:schemeClr val="tx1"/>
                </a:solidFill>
                <a:latin typeface="Arial"/>
                <a:ea typeface="Arial"/>
                <a:cs typeface="Arial"/>
                <a:sym typeface="Arial"/>
              </a:rPr>
              <a:t> </a:t>
            </a:r>
          </a:p>
          <a:p>
            <a:pPr marL="0" indent="0">
              <a:lnSpc>
                <a:spcPct val="100000"/>
              </a:lnSpc>
              <a:spcBef>
                <a:spcPts val="0"/>
              </a:spcBef>
              <a:buSzPts val="3000"/>
              <a:buNone/>
            </a:pPr>
            <a:endParaRPr lang="en-US" sz="1800" b="1" dirty="0">
              <a:solidFill>
                <a:srgbClr val="E84B36"/>
              </a:solidFill>
              <a:latin typeface="Arial"/>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rial"/>
                <a:ea typeface="Arial"/>
                <a:cs typeface="Arial"/>
                <a:sym typeface="Arial"/>
              </a:rPr>
              <a:t>Homeworks</a:t>
            </a:r>
            <a:r>
              <a:rPr lang="en-US" sz="1800" b="1" dirty="0">
                <a:solidFill>
                  <a:srgbClr val="E84B36"/>
                </a:solidFill>
                <a:latin typeface="Arial"/>
                <a:ea typeface="Arial"/>
                <a:cs typeface="Arial"/>
                <a:sym typeface="Arial"/>
              </a:rPr>
              <a:t>:</a:t>
            </a:r>
          </a:p>
          <a:p>
            <a:pPr marL="285750" indent="-285750">
              <a:lnSpc>
                <a:spcPct val="100000"/>
              </a:lnSpc>
              <a:spcBef>
                <a:spcPts val="0"/>
              </a:spcBef>
              <a:buClr>
                <a:srgbClr val="000000"/>
              </a:buClr>
              <a:buSzPts val="3000"/>
              <a:defRPr/>
            </a:pPr>
            <a:r>
              <a:rPr lang="en-US" sz="1800" dirty="0">
                <a:latin typeface="Arial"/>
                <a:ea typeface="Arial"/>
                <a:cs typeface="Arial"/>
                <a:sym typeface="Arial"/>
              </a:rPr>
              <a:t>Remainder of </a:t>
            </a:r>
            <a:r>
              <a:rPr lang="en-US" sz="1800" dirty="0">
                <a:latin typeface="Arial"/>
                <a:ea typeface="Arial"/>
                <a:cs typeface="Arial"/>
                <a:sym typeface="Arial"/>
                <a:hlinkClick r:id="rId4"/>
              </a:rPr>
              <a:t>homework 5</a:t>
            </a:r>
            <a:r>
              <a:rPr lang="en-US" sz="1800" dirty="0">
                <a:latin typeface="Arial"/>
                <a:ea typeface="Arial"/>
                <a:cs typeface="Arial"/>
                <a:sym typeface="Arial"/>
              </a:rPr>
              <a:t> due on </a:t>
            </a:r>
            <a:r>
              <a:rPr lang="en-US" sz="1800" dirty="0" err="1">
                <a:latin typeface="Arial"/>
                <a:ea typeface="Arial"/>
                <a:cs typeface="Arial"/>
                <a:sym typeface="Arial"/>
              </a:rPr>
              <a:t>Gradescope</a:t>
            </a:r>
            <a:r>
              <a:rPr lang="en-US" sz="1800" dirty="0">
                <a:latin typeface="Arial"/>
                <a:ea typeface="Arial"/>
                <a:cs typeface="Arial"/>
                <a:sym typeface="Arial"/>
              </a:rPr>
              <a:t> on </a:t>
            </a:r>
            <a:r>
              <a:rPr lang="en-US" sz="1800" b="1" dirty="0">
                <a:latin typeface="Arial"/>
                <a:ea typeface="Arial"/>
                <a:cs typeface="Arial"/>
                <a:sym typeface="Arial"/>
              </a:rPr>
              <a:t>April 21, 5PM</a:t>
            </a:r>
            <a:endParaRPr kumimoji="0" lang="en-US" sz="1800" b="0" i="0" u="none" strike="noStrike" kern="0" cap="none" spc="0" normalizeH="0" baseline="0" noProof="0" dirty="0">
              <a:ln>
                <a:noFill/>
              </a:ln>
              <a:solidFill>
                <a:srgbClr val="000000"/>
              </a:solidFill>
              <a:effectLst/>
              <a:uLnTx/>
              <a:uFillTx/>
              <a:latin typeface="Arial"/>
              <a:ea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3000"/>
              <a:buFont typeface="Arial"/>
              <a:buChar char="•"/>
              <a:tabLst/>
              <a:defRPr/>
            </a:pPr>
            <a:r>
              <a:rPr kumimoji="0" lang="en-US" sz="1800" b="0" i="0" u="none" strike="noStrike" kern="0" cap="none" spc="0" normalizeH="0" baseline="0" noProof="0" dirty="0">
                <a:ln>
                  <a:noFill/>
                </a:ln>
                <a:solidFill>
                  <a:srgbClr val="000000"/>
                </a:solidFill>
                <a:effectLst/>
                <a:uLnTx/>
                <a:uFillTx/>
                <a:latin typeface="Arial"/>
                <a:ea typeface="Arial"/>
                <a:cs typeface="Arial"/>
                <a:sym typeface="Arial"/>
              </a:rPr>
              <a:t>Next homework is primarily the </a:t>
            </a:r>
            <a:r>
              <a:rPr kumimoji="0" lang="en-US" sz="1800" b="1" i="0" u="none" strike="noStrike" kern="0" cap="none" spc="0" normalizeH="0" baseline="0" noProof="0" dirty="0">
                <a:ln>
                  <a:noFill/>
                </a:ln>
                <a:solidFill>
                  <a:srgbClr val="000000"/>
                </a:solidFill>
                <a:effectLst/>
                <a:uLnTx/>
                <a:uFillTx/>
                <a:latin typeface="Arial"/>
                <a:ea typeface="Arial"/>
                <a:cs typeface="Arial"/>
                <a:sym typeface="Arial"/>
              </a:rPr>
              <a:t>personal project </a:t>
            </a:r>
            <a:r>
              <a:rPr kumimoji="0" lang="en-US" sz="1800" b="0" i="0" u="none" strike="noStrike" kern="0" cap="none" spc="0" normalizeH="0" baseline="0" noProof="0" dirty="0">
                <a:ln>
                  <a:noFill/>
                </a:ln>
                <a:solidFill>
                  <a:srgbClr val="000000"/>
                </a:solidFill>
                <a:effectLst/>
                <a:uLnTx/>
                <a:uFillTx/>
                <a:latin typeface="Arial"/>
                <a:ea typeface="Arial"/>
                <a:cs typeface="Arial"/>
                <a:sym typeface="Arial"/>
              </a:rPr>
              <a:t>due on </a:t>
            </a:r>
            <a:r>
              <a:rPr kumimoji="0" lang="en-US" sz="1800" b="1" i="0" u="none" strike="noStrike" kern="0" cap="none" spc="0" normalizeH="0" baseline="0" noProof="0" dirty="0">
                <a:ln>
                  <a:noFill/>
                </a:ln>
                <a:solidFill>
                  <a:srgbClr val="000000"/>
                </a:solidFill>
                <a:effectLst/>
                <a:uLnTx/>
                <a:uFillTx/>
                <a:latin typeface="Arial"/>
                <a:ea typeface="Arial"/>
                <a:cs typeface="Arial"/>
                <a:sym typeface="Arial"/>
              </a:rPr>
              <a:t>April 22, 9AM</a:t>
            </a:r>
            <a:r>
              <a:rPr kumimoji="0" lang="en-US" sz="1800" b="0" i="0" u="none" strike="noStrike" kern="0" cap="none" spc="0" normalizeH="0" baseline="0" noProof="0" dirty="0">
                <a:ln>
                  <a:noFill/>
                </a:ln>
                <a:solidFill>
                  <a:srgbClr val="000000"/>
                </a:solidFill>
                <a:effectLst/>
                <a:uLnTx/>
                <a:uFillTx/>
                <a:latin typeface="Arial"/>
                <a:ea typeface="Arial"/>
                <a:cs typeface="Arial"/>
                <a:sym typeface="Arial"/>
              </a:rPr>
              <a:t>.</a:t>
            </a:r>
          </a:p>
          <a:p>
            <a:pPr marL="742950" marR="0" lvl="1" indent="-285750" algn="l" defTabSz="914400" rtl="0" eaLnBrk="1" fontAlgn="auto" latinLnBrk="0" hangingPunct="1">
              <a:lnSpc>
                <a:spcPct val="100000"/>
              </a:lnSpc>
              <a:spcBef>
                <a:spcPts val="0"/>
              </a:spcBef>
              <a:spcAft>
                <a:spcPts val="0"/>
              </a:spcAft>
              <a:buClr>
                <a:srgbClr val="000000"/>
              </a:buClr>
              <a:buSzPts val="3000"/>
              <a:buFont typeface="Arial"/>
              <a:buChar char="•"/>
              <a:tabLst/>
              <a:defRPr/>
            </a:pPr>
            <a:r>
              <a:rPr kumimoji="0" lang="en-US" sz="1800" b="0" i="0" u="none" strike="noStrike" kern="0" cap="none" spc="0" normalizeH="0" baseline="0" noProof="0" dirty="0">
                <a:ln>
                  <a:noFill/>
                </a:ln>
                <a:solidFill>
                  <a:srgbClr val="000000"/>
                </a:solidFill>
                <a:effectLst/>
                <a:uLnTx/>
                <a:uFillTx/>
                <a:latin typeface="Arial"/>
                <a:ea typeface="Arial"/>
                <a:cs typeface="Arial"/>
                <a:sym typeface="Arial"/>
              </a:rPr>
              <a:t>I would highly recommend you thinking now and maybe even starting it now if you have a good idea already!</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Reminders</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F6BC218A-CD3D-93BD-1091-76B4B89C7B8A}"/>
            </a:ext>
          </a:extLst>
        </p:cNvPr>
        <p:cNvGrpSpPr/>
        <p:nvPr/>
      </p:nvGrpSpPr>
      <p:grpSpPr>
        <a:xfrm>
          <a:off x="0" y="0"/>
          <a:ext cx="0" cy="0"/>
          <a:chOff x="0" y="0"/>
          <a:chExt cx="0" cy="0"/>
        </a:xfrm>
      </p:grpSpPr>
      <p:sp>
        <p:nvSpPr>
          <p:cNvPr id="90" name="Google Shape;90;p27">
            <a:extLst>
              <a:ext uri="{FF2B5EF4-FFF2-40B4-BE49-F238E27FC236}">
                <a16:creationId xmlns:a16="http://schemas.microsoft.com/office/drawing/2014/main" id="{EDEC39B9-9F93-9B45-D449-1E2DAB48B8ED}"/>
              </a:ext>
            </a:extLst>
          </p:cNvPr>
          <p:cNvSpPr txBox="1"/>
          <p:nvPr/>
        </p:nvSpPr>
        <p:spPr>
          <a:xfrm>
            <a:off x="1441529" y="2090192"/>
            <a:ext cx="9308941" cy="26776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rial"/>
                <a:ea typeface="Arial"/>
                <a:cs typeface="Arial"/>
                <a:sym typeface="Arial"/>
              </a:rPr>
              <a:t>In the class material questionnaire, a lot of you did not specify if there was a specific application of AI / Computer Vision / Algorithms that you were interested in. </a:t>
            </a:r>
          </a:p>
          <a:p>
            <a:pPr marL="0" marR="0" lvl="0" indent="0" algn="ctr" rtl="0">
              <a:lnSpc>
                <a:spcPct val="100000"/>
              </a:lnSpc>
              <a:spcBef>
                <a:spcPts val="0"/>
              </a:spcBef>
              <a:spcAft>
                <a:spcPts val="0"/>
              </a:spcAft>
              <a:buClr>
                <a:srgbClr val="000000"/>
              </a:buClr>
              <a:buSzPts val="2800"/>
              <a:buFont typeface="Arial"/>
              <a:buNone/>
            </a:pPr>
            <a:endParaRPr lang="en-US" sz="2800" dirty="0">
              <a:solidFill>
                <a:schemeClr val="lt1"/>
              </a:solidFil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rial"/>
                <a:ea typeface="Arial"/>
                <a:cs typeface="Arial"/>
                <a:sym typeface="Arial"/>
              </a:rPr>
              <a:t>For the people that come to class what would you find useful for the final project?</a:t>
            </a:r>
            <a:endParaRPr sz="1800" b="0" i="0" u="none" strike="noStrike" cap="none" dirty="0">
              <a:solidFill>
                <a:schemeClr val="lt1"/>
              </a:solidFill>
              <a:latin typeface="Arial"/>
              <a:ea typeface="Arial"/>
              <a:cs typeface="Arial"/>
              <a:sym typeface="Arial"/>
            </a:endParaRPr>
          </a:p>
        </p:txBody>
      </p:sp>
      <p:pic>
        <p:nvPicPr>
          <p:cNvPr id="94" name="Google Shape;94;p27">
            <a:extLst>
              <a:ext uri="{FF2B5EF4-FFF2-40B4-BE49-F238E27FC236}">
                <a16:creationId xmlns:a16="http://schemas.microsoft.com/office/drawing/2014/main" id="{85ACA6EB-2034-3D6B-E33B-0DED69B7B27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D77A3DF7-7B04-0E6E-0E15-6C58615436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76448342-1FCA-7AAA-1FCF-F7CAF366107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FB6D2FA-B9D7-0E15-8C04-8F2A7D9B3252}"/>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451BD16A-111F-6D36-9912-2177E872220D}"/>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8180B96B-A0A0-242A-CCB0-2338028D509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81778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rial"/>
                  <a:ea typeface="Arial"/>
                  <a:cs typeface="Arial"/>
                  <a:sym typeface="Arial"/>
                </a:rPr>
                <a:t>Questions?</a:t>
              </a:r>
              <a:endParaRPr sz="1400" b="0" i="0" u="none" strike="noStrike" cap="none" dirty="0">
                <a:solidFill>
                  <a:srgbClr val="000000"/>
                </a:solidFill>
                <a:latin typeface="Arial"/>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rial"/>
                  <a:ea typeface="Arial"/>
                  <a:cs typeface="Arial"/>
                  <a:sym typeface="Arial"/>
                </a:rPr>
                <a:t>Homework, Lab, LabVIEW?</a:t>
              </a:r>
              <a:endParaRPr sz="1800" b="0" i="0" u="none" strike="noStrike" cap="none" dirty="0">
                <a:solidFill>
                  <a:schemeClr val="lt1"/>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72812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Again I would </a:t>
            </a:r>
            <a:r>
              <a:rPr lang="en-US" sz="2200" b="1" dirty="0">
                <a:latin typeface="Arial"/>
                <a:ea typeface="Arial"/>
                <a:cs typeface="Arial"/>
                <a:sym typeface="Arial"/>
              </a:rPr>
              <a:t>HIGHLY</a:t>
            </a:r>
            <a:r>
              <a:rPr lang="en-US" sz="2200" dirty="0">
                <a:latin typeface="Arial"/>
                <a:ea typeface="Arial"/>
                <a:cs typeface="Arial"/>
                <a:sym typeface="Arial"/>
              </a:rPr>
              <a:t> recommend you looking at:</a:t>
            </a:r>
          </a:p>
          <a:p>
            <a:pPr marL="0" indent="0">
              <a:lnSpc>
                <a:spcPct val="100000"/>
              </a:lnSpc>
              <a:spcBef>
                <a:spcPts val="0"/>
              </a:spcBef>
              <a:buSzPts val="3000"/>
              <a:buNone/>
            </a:pPr>
            <a:endParaRPr lang="en-US" sz="2200" dirty="0">
              <a:solidFill>
                <a:schemeClr val="dk1"/>
              </a:solidFill>
              <a:latin typeface="Arial"/>
              <a:ea typeface="Arial"/>
              <a:cs typeface="Arial"/>
              <a:sym typeface="Arial"/>
            </a:endParaRPr>
          </a:p>
          <a:p>
            <a:pPr marL="342900">
              <a:lnSpc>
                <a:spcPct val="100000"/>
              </a:lnSpc>
              <a:spcBef>
                <a:spcPts val="0"/>
              </a:spcBef>
              <a:buSzPts val="3000"/>
            </a:pPr>
            <a:r>
              <a:rPr lang="en-US" sz="2200" dirty="0">
                <a:latin typeface="Arial"/>
                <a:ea typeface="Arial"/>
                <a:cs typeface="Arial"/>
                <a:sym typeface="Arial"/>
                <a:hlinkClick r:id="rId3"/>
              </a:rPr>
              <a:t>https://visionbook.mit.edu/</a:t>
            </a:r>
            <a:r>
              <a:rPr lang="en-US" sz="2200" dirty="0">
                <a:latin typeface="Arial"/>
                <a:ea typeface="Arial"/>
                <a:cs typeface="Arial"/>
                <a:sym typeface="Arial"/>
              </a:rPr>
              <a:t> </a:t>
            </a:r>
          </a:p>
          <a:p>
            <a:pPr marL="342900">
              <a:lnSpc>
                <a:spcPct val="100000"/>
              </a:lnSpc>
              <a:spcBef>
                <a:spcPts val="0"/>
              </a:spcBef>
              <a:buSzPts val="3000"/>
            </a:pPr>
            <a:endParaRPr lang="en-US" sz="2200" dirty="0">
              <a:solidFill>
                <a:schemeClr val="dk1"/>
              </a:solidFill>
              <a:latin typeface="Arial"/>
              <a:ea typeface="Arial"/>
              <a:cs typeface="Arial"/>
              <a:sym typeface="Arial"/>
            </a:endParaRPr>
          </a:p>
          <a:p>
            <a:pPr marL="342900">
              <a:lnSpc>
                <a:spcPct val="100000"/>
              </a:lnSpc>
              <a:spcBef>
                <a:spcPts val="0"/>
              </a:spcBef>
              <a:buSzPts val="3000"/>
            </a:pPr>
            <a:r>
              <a:rPr lang="en-US" sz="2200" dirty="0">
                <a:latin typeface="Arial"/>
                <a:ea typeface="Arial"/>
                <a:cs typeface="Arial"/>
                <a:sym typeface="Arial"/>
              </a:rPr>
              <a:t>The webpage is a textbook with all the math, background and information for computer vision. </a:t>
            </a:r>
          </a:p>
          <a:p>
            <a:pPr marL="342900">
              <a:lnSpc>
                <a:spcPct val="100000"/>
              </a:lnSpc>
              <a:spcBef>
                <a:spcPts val="0"/>
              </a:spcBef>
              <a:buSzPts val="3000"/>
            </a:pPr>
            <a:r>
              <a:rPr lang="en-US" sz="2200" dirty="0">
                <a:latin typeface="Arial"/>
                <a:ea typeface="Arial"/>
                <a:cs typeface="Arial"/>
                <a:sym typeface="Arial"/>
              </a:rPr>
              <a:t>We will only be doing a tiny portion of this in this lecture (there are whole grad classes for computer vision).</a:t>
            </a:r>
          </a:p>
          <a:p>
            <a:pPr marL="342900">
              <a:lnSpc>
                <a:spcPct val="100000"/>
              </a:lnSpc>
              <a:spcBef>
                <a:spcPts val="0"/>
              </a:spcBef>
              <a:buSzPts val="3000"/>
            </a:pPr>
            <a:r>
              <a:rPr lang="en-US" sz="2200" dirty="0">
                <a:latin typeface="Arial"/>
                <a:ea typeface="Arial"/>
                <a:cs typeface="Arial"/>
                <a:sym typeface="Arial"/>
              </a:rPr>
              <a:t>It is containerized very nicely, has lots of pictures, diagrams. Each section takes 5 minutes to read.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b="1" dirty="0">
                <a:latin typeface="Arial"/>
                <a:ea typeface="Arial"/>
                <a:cs typeface="Arial"/>
                <a:sym typeface="Arial"/>
              </a:rPr>
              <a:t>All the material and pictures were taken there today</a:t>
            </a:r>
          </a:p>
          <a:p>
            <a:pPr marL="342900">
              <a:lnSpc>
                <a:spcPct val="100000"/>
              </a:lnSpc>
              <a:spcBef>
                <a:spcPts val="0"/>
              </a:spcBef>
              <a:buSzPts val="3000"/>
            </a:pPr>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Preface</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330AC21-503A-97DC-BCF1-95DD8206162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2050" name="Picture 2" descr="Book Cover">
            <a:extLst>
              <a:ext uri="{FF2B5EF4-FFF2-40B4-BE49-F238E27FC236}">
                <a16:creationId xmlns:a16="http://schemas.microsoft.com/office/drawing/2014/main" id="{16494730-091D-C1B6-F5BD-6F81EF76AD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7703" y="1711534"/>
            <a:ext cx="3704685" cy="4155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65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Camera Geometry</a:t>
            </a:r>
            <a:endParaRPr sz="1800" b="0" i="0" u="none" strike="noStrike" cap="none" dirty="0">
              <a:solidFill>
                <a:srgbClr val="15264B"/>
              </a:solidFill>
              <a:latin typeface="Arial"/>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Cameras map the 3D world into a 2D image plane.</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Is this a lossy or lossless transformation? If lossy give an example.</a:t>
            </a:r>
          </a:p>
          <a:p>
            <a:pPr marL="0" indent="0">
              <a:lnSpc>
                <a:spcPct val="100000"/>
              </a:lnSpc>
              <a:spcBef>
                <a:spcPts val="0"/>
              </a:spcBef>
              <a:buSzPts val="3000"/>
              <a:buNone/>
            </a:pPr>
            <a:endParaRPr lang="en-US" sz="2400" dirty="0">
              <a:latin typeface="Arial"/>
              <a:ea typeface="Arial"/>
              <a:cs typeface="Arial"/>
              <a:sym typeface="Arial"/>
            </a:endParaRPr>
          </a:p>
          <a:p>
            <a:pPr marL="0" indent="0" algn="ctr">
              <a:lnSpc>
                <a:spcPct val="100000"/>
              </a:lnSpc>
              <a:spcBef>
                <a:spcPts val="0"/>
              </a:spcBef>
              <a:buSzPts val="3000"/>
              <a:buNone/>
            </a:pPr>
            <a:r>
              <a:rPr lang="en-US" sz="2400" dirty="0">
                <a:latin typeface="Arial"/>
                <a:ea typeface="Arial"/>
                <a:cs typeface="Arial"/>
                <a:sym typeface="Arial"/>
              </a:rPr>
              <a:t>Infinite points on a single ray maps to the exact same pixel.</a:t>
            </a:r>
          </a:p>
          <a:p>
            <a:pPr marL="0" indent="0" algn="ctr">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However, </a:t>
            </a:r>
            <a:r>
              <a:rPr lang="en-US" sz="2400" dirty="0">
                <a:latin typeface="Arial"/>
                <a:ea typeface="Arial"/>
                <a:cs typeface="Arial"/>
                <a:sym typeface="Arial"/>
              </a:rPr>
              <a:t>we would like to control robots in 3D space, as such we must invert the projection.</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The first step is representing the model of the camera.</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If infinite 3D points map to one pixel, is the inverse function mathematically solvable with a single image?</a:t>
            </a: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3D to 2D project</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330AC21-503A-97DC-BCF1-95DD820616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5007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589E49D-183D-7B64-8570-6C8BFD6AD98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4D2EFA8-832B-D338-8509-736AA4B4A6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59F114B-6C2C-9DE8-B1FA-C4FBB1DD8F5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3D to 2D project</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CC417E1-974E-3AF6-262B-87AB97646AF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F245576-51B9-2A84-3D38-87965EAE97C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BF95337-001C-5560-BFE1-78E05CAFFC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86BCA20-3CCE-6B19-E996-BB616704C45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31A33D0-8B27-8E34-1AFF-33C53335348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FFDC716-CFA3-8D6C-E5FF-AF3CEFC79D2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EF13CDBB-0C94-B08F-4050-E913015CB7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79575" y="983144"/>
            <a:ext cx="8832850" cy="5408880"/>
          </a:xfrm>
          <a:prstGeom prst="rect">
            <a:avLst/>
          </a:prstGeom>
        </p:spPr>
      </p:pic>
      <p:sp>
        <p:nvSpPr>
          <p:cNvPr id="6" name="TextBox 5">
            <a:extLst>
              <a:ext uri="{FF2B5EF4-FFF2-40B4-BE49-F238E27FC236}">
                <a16:creationId xmlns:a16="http://schemas.microsoft.com/office/drawing/2014/main" id="{154E4750-EC3C-1F64-8621-0A613FB55990}"/>
              </a:ext>
            </a:extLst>
          </p:cNvPr>
          <p:cNvSpPr txBox="1"/>
          <p:nvPr/>
        </p:nvSpPr>
        <p:spPr>
          <a:xfrm>
            <a:off x="3048000" y="6254113"/>
            <a:ext cx="6096000" cy="307777"/>
          </a:xfrm>
          <a:prstGeom prst="rect">
            <a:avLst/>
          </a:prstGeom>
          <a:noFill/>
        </p:spPr>
        <p:txBody>
          <a:bodyPr wrap="square">
            <a:spAutoFit/>
          </a:bodyPr>
          <a:lstStyle/>
          <a:p>
            <a:pPr algn="ctr"/>
            <a:r>
              <a:rPr lang="en-US" dirty="0">
                <a:hlinkClick r:id="rId6"/>
              </a:rPr>
              <a:t>https://visionbook.mit.edu/imaging.html#fig-orthographics</a:t>
            </a:r>
            <a:r>
              <a:rPr lang="en-US" dirty="0"/>
              <a:t> </a:t>
            </a:r>
          </a:p>
        </p:txBody>
      </p:sp>
    </p:spTree>
    <p:extLst>
      <p:ext uri="{BB962C8B-B14F-4D97-AF65-F5344CB8AC3E}">
        <p14:creationId xmlns:p14="http://schemas.microsoft.com/office/powerpoint/2010/main" val="377010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B11DC7D-BEC6-B559-EC83-070B445C4F1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2960A3E-DDE2-720C-7808-9A98A813514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A pinhole camera projects 3D coordinates in the world to 2D positions on the projection plane of the camera through the straight-line path of each light ray through the pinhole.</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There are 3 coordinate systems that we will use.</a:t>
            </a:r>
          </a:p>
          <a:p>
            <a:pPr marL="342900">
              <a:lnSpc>
                <a:spcPct val="100000"/>
              </a:lnSpc>
              <a:spcBef>
                <a:spcPts val="0"/>
              </a:spcBef>
              <a:buSzPts val="3000"/>
            </a:pP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198A8584-C27E-D367-B92C-79497FC64E4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4FE046FD-9D9D-AFB8-4828-4B64AA636C2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E96661E-CE88-C893-C839-1EB2265C26B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894805-55AB-AF73-D7C2-67F4E72B68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ED0F5D1-F014-CEC5-A969-4DAD7563B69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F91FE1A-8FBC-ADD3-84B9-DF7F248BEE9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CD8D080-CE71-1D76-199D-107B5FC1B3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56C07A-F368-2A57-22D1-CAA16C4130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66099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6277D8-CB32-18CE-80BB-355BB0F1E40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7887A58-CE57-C00D-8B09-06190F655274}"/>
                  </a:ext>
                </a:extLst>
              </p:cNvPr>
              <p:cNvSpPr txBox="1">
                <a:spLocks noGrp="1"/>
              </p:cNvSpPr>
              <p:nvPr>
                <p:ph type="body" idx="1"/>
              </p:nvPr>
            </p:nvSpPr>
            <p:spPr>
              <a:xfrm>
                <a:off x="376809" y="1334279"/>
                <a:ext cx="54778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latin typeface="Arial"/>
                    <a:ea typeface="Arial"/>
                    <a:cs typeface="Arial"/>
                    <a:sym typeface="Arial"/>
                  </a:rPr>
                  <a:t>World coordinates</a:t>
                </a:r>
                <a:r>
                  <a:rPr lang="en-US" sz="2400" dirty="0">
                    <a:latin typeface="Arial"/>
                    <a:ea typeface="Arial"/>
                    <a:cs typeface="Arial"/>
                    <a:sym typeface="Arial"/>
                  </a:rPr>
                  <a:t>: Let the origin of a World Cartesian coordinate system be the camera’s pinhole.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The coordinates of 3D position of a point, </a:t>
                </a:r>
                <a14:m>
                  <m:oMath xmlns:m="http://schemas.openxmlformats.org/officeDocument/2006/math">
                    <m:r>
                      <m:rPr>
                        <m:sty m:val="p"/>
                      </m:rPr>
                      <a:rPr lang="en-US" sz="2400" i="1">
                        <a:latin typeface="Cambria Math" panose="02040503050406030204" pitchFamily="18" charset="0"/>
                        <a:ea typeface="Arial"/>
                        <a:cs typeface="Arial"/>
                        <a:sym typeface="Arial"/>
                      </a:rPr>
                      <m:t>P</m:t>
                    </m:r>
                  </m:oMath>
                </a14:m>
                <a:r>
                  <a:rPr lang="en-US" sz="2400" dirty="0">
                    <a:latin typeface="Arial"/>
                    <a:ea typeface="Arial"/>
                    <a:cs typeface="Arial"/>
                    <a:sym typeface="Arial"/>
                  </a:rPr>
                  <a:t>, in the world will be </a:t>
                </a:r>
                <a14:m>
                  <m:oMath xmlns:m="http://schemas.openxmlformats.org/officeDocument/2006/math">
                    <m:r>
                      <m:rPr>
                        <m:sty m:val="p"/>
                      </m:rPr>
                      <a:rPr lang="en-US" sz="2400" i="1">
                        <a:latin typeface="Cambria Math" panose="02040503050406030204" pitchFamily="18" charset="0"/>
                        <a:ea typeface="Arial"/>
                        <a:cs typeface="Arial"/>
                        <a:sym typeface="Arial"/>
                      </a:rPr>
                      <m:t>P</m:t>
                    </m:r>
                    <m:r>
                      <a:rPr lang="en-US" sz="2400" i="1">
                        <a:latin typeface="Cambria Math" panose="02040503050406030204" pitchFamily="18" charset="0"/>
                        <a:ea typeface="Arial"/>
                        <a:cs typeface="Arial"/>
                        <a:sym typeface="Arial"/>
                      </a:rPr>
                      <m:t> = (</m:t>
                    </m:r>
                    <m:r>
                      <m:rPr>
                        <m:sty m:val="p"/>
                      </m:rPr>
                      <a:rPr lang="en-US" sz="2400" i="1">
                        <a:latin typeface="Cambria Math" panose="02040503050406030204" pitchFamily="18" charset="0"/>
                        <a:ea typeface="Arial"/>
                        <a:cs typeface="Arial"/>
                        <a:sym typeface="Arial"/>
                      </a:rPr>
                      <m:t>X</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Z</m:t>
                    </m:r>
                    <m:r>
                      <a:rPr lang="en-US" sz="2400" i="1">
                        <a:latin typeface="Cambria Math" panose="02040503050406030204" pitchFamily="18" charset="0"/>
                        <a:ea typeface="Arial"/>
                        <a:cs typeface="Arial"/>
                        <a:sym typeface="Arial"/>
                      </a:rPr>
                      <m:t>)</m:t>
                    </m:r>
                  </m:oMath>
                </a14:m>
                <a:r>
                  <a:rPr lang="en-US" sz="2400" dirty="0">
                    <a:latin typeface="Arial"/>
                    <a:ea typeface="Arial"/>
                    <a:cs typeface="Arial"/>
                    <a:sym typeface="Arial"/>
                  </a:rPr>
                  <a:t>, where the </a:t>
                </a:r>
                <a14:m>
                  <m:oMath xmlns:m="http://schemas.openxmlformats.org/officeDocument/2006/math">
                    <m:r>
                      <a:rPr lang="en-US" sz="2400" i="1" dirty="0">
                        <a:latin typeface="Cambria Math" panose="02040503050406030204" pitchFamily="18" charset="0"/>
                        <a:ea typeface="Arial"/>
                        <a:cs typeface="Arial"/>
                        <a:sym typeface="Arial"/>
                      </a:rPr>
                      <m:t>𝑍</m:t>
                    </m:r>
                  </m:oMath>
                </a14:m>
                <a:r>
                  <a:rPr lang="en-US" sz="2400" dirty="0">
                    <a:latin typeface="Arial"/>
                    <a:ea typeface="Arial"/>
                    <a:cs typeface="Arial"/>
                    <a:sym typeface="Arial"/>
                  </a:rPr>
                  <a:t> axis is perpendicular to the camera’s sensing plane (projection plane).</a:t>
                </a:r>
              </a:p>
              <a:p>
                <a:pPr marL="342900">
                  <a:lnSpc>
                    <a:spcPct val="100000"/>
                  </a:lnSpc>
                  <a:spcBef>
                    <a:spcPts val="0"/>
                  </a:spcBef>
                  <a:buSzPts val="3000"/>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77887A58-CE57-C00D-8B09-06190F655274}"/>
                  </a:ext>
                </a:extLst>
              </p:cNvPr>
              <p:cNvSpPr txBox="1">
                <a:spLocks noGrp="1" noRot="1" noChangeAspect="1" noMove="1" noResize="1" noEditPoints="1" noAdjustHandles="1" noChangeArrowheads="1" noChangeShapeType="1" noTextEdit="1"/>
              </p:cNvSpPr>
              <p:nvPr>
                <p:ph type="body" idx="1"/>
              </p:nvPr>
            </p:nvSpPr>
            <p:spPr>
              <a:xfrm>
                <a:off x="376809" y="1334279"/>
                <a:ext cx="5477891" cy="4821102"/>
              </a:xfrm>
              <a:prstGeom prst="rect">
                <a:avLst/>
              </a:prstGeom>
              <a:blipFill>
                <a:blip r:embed="rId3"/>
                <a:stretch>
                  <a:fillRect l="-1782" t="-885" r="-144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7E0A0C2-1917-2714-92FA-576DECBDBD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36E69BC-FE03-DF15-BE38-F87028405D9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0379539-D650-E3E0-2DB0-67C4853E9DE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FF63D5C-932F-878D-D567-E07313B9A3C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866E9B7-E17B-06F6-E714-7D6125F7BC5F}"/>
              </a:ext>
            </a:extLst>
          </p:cNvPr>
          <p:cNvSpPr txBox="1"/>
          <p:nvPr/>
        </p:nvSpPr>
        <p:spPr>
          <a:xfrm>
            <a:off x="376809"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0355633-1861-0B87-8F53-79DA56FC8C6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9DED6D-0851-9B6F-9E3A-C248EE83056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9577BCB-D3F3-6CA5-8474-15992D6B447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D68E115A-821F-04D8-CA91-EF8D68A2EB5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831823" y="1797035"/>
            <a:ext cx="6343004" cy="3798532"/>
          </a:xfrm>
          <a:prstGeom prst="rect">
            <a:avLst/>
          </a:prstGeom>
        </p:spPr>
      </p:pic>
      <p:sp>
        <p:nvSpPr>
          <p:cNvPr id="6" name="TextBox 5">
            <a:extLst>
              <a:ext uri="{FF2B5EF4-FFF2-40B4-BE49-F238E27FC236}">
                <a16:creationId xmlns:a16="http://schemas.microsoft.com/office/drawing/2014/main" id="{0C549B55-F4BA-7B2F-9FEE-BE660C44A60A}"/>
              </a:ext>
            </a:extLst>
          </p:cNvPr>
          <p:cNvSpPr txBox="1"/>
          <p:nvPr/>
        </p:nvSpPr>
        <p:spPr>
          <a:xfrm>
            <a:off x="6579932" y="5710792"/>
            <a:ext cx="4846786" cy="307777"/>
          </a:xfrm>
          <a:prstGeom prst="rect">
            <a:avLst/>
          </a:prstGeom>
          <a:noFill/>
        </p:spPr>
        <p:txBody>
          <a:bodyPr wrap="square">
            <a:spAutoFit/>
          </a:bodyPr>
          <a:lstStyle/>
          <a:p>
            <a:pPr algn="ctr"/>
            <a:r>
              <a:rPr lang="en-US" dirty="0">
                <a:hlinkClick r:id="rId7"/>
              </a:rPr>
              <a:t>https://visionbook.mit.edu/imaging.html#fig-orthographics</a:t>
            </a:r>
            <a:r>
              <a:rPr lang="en-US" dirty="0"/>
              <a:t> </a:t>
            </a:r>
          </a:p>
        </p:txBody>
      </p:sp>
      <p:cxnSp>
        <p:nvCxnSpPr>
          <p:cNvPr id="3" name="Straight Arrow Connector 2">
            <a:extLst>
              <a:ext uri="{FF2B5EF4-FFF2-40B4-BE49-F238E27FC236}">
                <a16:creationId xmlns:a16="http://schemas.microsoft.com/office/drawing/2014/main" id="{19826DDA-3299-3972-5CD4-9B7BCA60C310}"/>
              </a:ext>
            </a:extLst>
          </p:cNvPr>
          <p:cNvCxnSpPr/>
          <p:nvPr/>
        </p:nvCxnSpPr>
        <p:spPr>
          <a:xfrm>
            <a:off x="5702300" y="2095500"/>
            <a:ext cx="3200400" cy="17907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991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D29E0F-51DF-9A41-A490-2757FB3625E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B66B361-F695-3002-951D-2D8EBE574287}"/>
                  </a:ext>
                </a:extLst>
              </p:cNvPr>
              <p:cNvSpPr txBox="1">
                <a:spLocks noGrp="1"/>
              </p:cNvSpPr>
              <p:nvPr>
                <p:ph type="body" idx="1"/>
              </p:nvPr>
            </p:nvSpPr>
            <p:spPr>
              <a:xfrm>
                <a:off x="376809" y="1334279"/>
                <a:ext cx="54778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solidFill>
                      <a:schemeClr val="dk1"/>
                    </a:solidFill>
                    <a:latin typeface="Arial"/>
                    <a:ea typeface="Arial"/>
                    <a:cs typeface="Arial"/>
                    <a:sym typeface="Arial"/>
                  </a:rPr>
                  <a:t>Camera coordinates </a:t>
                </a:r>
                <a:r>
                  <a:rPr lang="en-US" sz="2400" dirty="0">
                    <a:solidFill>
                      <a:schemeClr val="dk1"/>
                    </a:solidFill>
                    <a:latin typeface="Arial"/>
                    <a:ea typeface="Arial"/>
                    <a:cs typeface="Arial"/>
                    <a:sym typeface="Arial"/>
                  </a:rPr>
                  <a:t>in the </a:t>
                </a:r>
                <a:r>
                  <a:rPr lang="en-US" sz="2400" b="1" dirty="0">
                    <a:solidFill>
                      <a:schemeClr val="dk1"/>
                    </a:solidFill>
                    <a:latin typeface="Arial"/>
                    <a:ea typeface="Arial"/>
                    <a:cs typeface="Arial"/>
                    <a:sym typeface="Arial"/>
                  </a:rPr>
                  <a:t>virtual camera plane.</a:t>
                </a:r>
              </a:p>
              <a:p>
                <a:pPr marL="0" indent="0">
                  <a:lnSpc>
                    <a:spcPct val="100000"/>
                  </a:lnSpc>
                  <a:spcBef>
                    <a:spcPts val="0"/>
                  </a:spcBef>
                  <a:buSzPts val="3000"/>
                  <a:buNone/>
                </a:pPr>
                <a:endParaRPr lang="en-US" sz="2400" b="1"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 camera projection plane is behind the pinhole and at a distance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f</m:t>
                    </m:r>
                  </m:oMath>
                </a14:m>
                <a:r>
                  <a:rPr lang="en-US" sz="2400" dirty="0">
                    <a:solidFill>
                      <a:schemeClr val="dk1"/>
                    </a:solidFill>
                    <a:latin typeface="Arial"/>
                    <a:ea typeface="Arial"/>
                    <a:cs typeface="Arial"/>
                    <a:sym typeface="Arial"/>
                  </a:rPr>
                  <a:t> of the origin.</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latin typeface="Arial"/>
                    <a:ea typeface="Arial"/>
                    <a:cs typeface="Arial"/>
                    <a:sym typeface="Arial"/>
                  </a:rPr>
                  <a:t>Because the rays get inverted through the pinhole, it is useful to reflect the project plane so that the coordinates are easier to understand</a:t>
                </a: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9B66B361-F695-3002-951D-2D8EBE574287}"/>
                  </a:ext>
                </a:extLst>
              </p:cNvPr>
              <p:cNvSpPr txBox="1">
                <a:spLocks noGrp="1" noRot="1" noChangeAspect="1" noMove="1" noResize="1" noEditPoints="1" noAdjustHandles="1" noChangeArrowheads="1" noChangeShapeType="1" noTextEdit="1"/>
              </p:cNvSpPr>
              <p:nvPr>
                <p:ph type="body" idx="1"/>
              </p:nvPr>
            </p:nvSpPr>
            <p:spPr>
              <a:xfrm>
                <a:off x="376809" y="1334279"/>
                <a:ext cx="5477891" cy="4821102"/>
              </a:xfrm>
              <a:prstGeom prst="rect">
                <a:avLst/>
              </a:prstGeom>
              <a:blipFill>
                <a:blip r:embed="rId3"/>
                <a:stretch>
                  <a:fillRect l="-1782" t="-885" r="-100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F3252C4-235B-AD70-7A66-20788EC76DC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A484575-9BD0-F778-2F74-18BFA99AADE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75C7808-90D4-A11A-DD6A-2C9722E06314}"/>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A7E4A0-3969-0A58-426A-791604D8E2B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ACBA40-1DEC-2035-4ED1-61C122A05E89}"/>
              </a:ext>
            </a:extLst>
          </p:cNvPr>
          <p:cNvSpPr txBox="1"/>
          <p:nvPr/>
        </p:nvSpPr>
        <p:spPr>
          <a:xfrm>
            <a:off x="376809"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34634B-1B8B-6EC0-F3CB-917F1C2492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F2D6D56-4376-0C23-BA6D-B79B7C3DF18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154D770-26EE-D02A-1D4A-784058B50BD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FBC98894-E41E-C45E-7AED-4A3D24D1AC6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831823" y="1797035"/>
            <a:ext cx="6343004" cy="3798532"/>
          </a:xfrm>
          <a:prstGeom prst="rect">
            <a:avLst/>
          </a:prstGeom>
        </p:spPr>
      </p:pic>
      <p:sp>
        <p:nvSpPr>
          <p:cNvPr id="6" name="TextBox 5">
            <a:extLst>
              <a:ext uri="{FF2B5EF4-FFF2-40B4-BE49-F238E27FC236}">
                <a16:creationId xmlns:a16="http://schemas.microsoft.com/office/drawing/2014/main" id="{040D688D-6554-7534-DF18-0E0F274CFC8D}"/>
              </a:ext>
            </a:extLst>
          </p:cNvPr>
          <p:cNvSpPr txBox="1"/>
          <p:nvPr/>
        </p:nvSpPr>
        <p:spPr>
          <a:xfrm>
            <a:off x="6579932" y="5710792"/>
            <a:ext cx="4846786" cy="307777"/>
          </a:xfrm>
          <a:prstGeom prst="rect">
            <a:avLst/>
          </a:prstGeom>
          <a:noFill/>
        </p:spPr>
        <p:txBody>
          <a:bodyPr wrap="square">
            <a:spAutoFit/>
          </a:bodyPr>
          <a:lstStyle/>
          <a:p>
            <a:pPr algn="ctr"/>
            <a:r>
              <a:rPr lang="en-US" dirty="0">
                <a:hlinkClick r:id="rId7"/>
              </a:rPr>
              <a:t>https://visionbook.mit.edu/imaging.html#fig-orthographics</a:t>
            </a:r>
            <a:r>
              <a:rPr lang="en-US" dirty="0"/>
              <a:t> </a:t>
            </a:r>
          </a:p>
        </p:txBody>
      </p:sp>
      <p:cxnSp>
        <p:nvCxnSpPr>
          <p:cNvPr id="2" name="Straight Arrow Connector 1">
            <a:extLst>
              <a:ext uri="{FF2B5EF4-FFF2-40B4-BE49-F238E27FC236}">
                <a16:creationId xmlns:a16="http://schemas.microsoft.com/office/drawing/2014/main" id="{7465CC56-A49D-C7AF-E988-581A98AB83C3}"/>
              </a:ext>
            </a:extLst>
          </p:cNvPr>
          <p:cNvCxnSpPr>
            <a:cxnSpLocks/>
          </p:cNvCxnSpPr>
          <p:nvPr/>
        </p:nvCxnSpPr>
        <p:spPr>
          <a:xfrm>
            <a:off x="5702300" y="2095500"/>
            <a:ext cx="1955800" cy="1168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449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AEAF4B1-B2C4-C91E-F5E2-DAF27EDF2BB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C705ABB-3703-430B-4B2C-241738962AA1}"/>
                  </a:ext>
                </a:extLst>
              </p:cNvPr>
              <p:cNvSpPr txBox="1">
                <a:spLocks noGrp="1"/>
              </p:cNvSpPr>
              <p:nvPr>
                <p:ph type="body" idx="1"/>
              </p:nvPr>
            </p:nvSpPr>
            <p:spPr>
              <a:xfrm>
                <a:off x="376809" y="1334279"/>
                <a:ext cx="54778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solidFill>
                      <a:schemeClr val="dk1"/>
                    </a:solidFill>
                    <a:latin typeface="Arial"/>
                    <a:ea typeface="Arial"/>
                    <a:cs typeface="Arial"/>
                    <a:sym typeface="Arial"/>
                  </a:rPr>
                  <a:t>Image coordinates</a:t>
                </a:r>
                <a:r>
                  <a:rPr lang="en-US" sz="2400" dirty="0">
                    <a:solidFill>
                      <a:schemeClr val="dk1"/>
                    </a:solidFill>
                    <a:latin typeface="Arial"/>
                    <a:ea typeface="Arial"/>
                    <a:cs typeface="Arial"/>
                    <a:sym typeface="Arial"/>
                  </a:rPr>
                  <a:t>, are typically measured in pixels.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Both the camera coordinate system </a:t>
                </a:r>
                <a14:m>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y</m:t>
                    </m:r>
                    <m:r>
                      <a:rPr lang="en-US" sz="2400" b="0" i="1"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rial"/>
                    <a:ea typeface="Arial"/>
                    <a:cs typeface="Arial"/>
                    <a:sym typeface="Arial"/>
                  </a:rPr>
                  <a:t> and the image coordinate system </a:t>
                </a:r>
                <a14:m>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n</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m</m:t>
                    </m:r>
                    <m:r>
                      <a:rPr lang="en-US" sz="2400" b="0" i="1"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rial"/>
                    <a:ea typeface="Arial"/>
                    <a:cs typeface="Arial"/>
                    <a:sym typeface="Arial"/>
                  </a:rPr>
                  <a:t>  are related by an affine transform as we will discuss later.</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1C705ABB-3703-430B-4B2C-241738962AA1}"/>
                  </a:ext>
                </a:extLst>
              </p:cNvPr>
              <p:cNvSpPr txBox="1">
                <a:spLocks noGrp="1" noRot="1" noChangeAspect="1" noMove="1" noResize="1" noEditPoints="1" noAdjustHandles="1" noChangeArrowheads="1" noChangeShapeType="1" noTextEdit="1"/>
              </p:cNvSpPr>
              <p:nvPr>
                <p:ph type="body" idx="1"/>
              </p:nvPr>
            </p:nvSpPr>
            <p:spPr>
              <a:xfrm>
                <a:off x="376809" y="1334279"/>
                <a:ext cx="5477891" cy="4821102"/>
              </a:xfrm>
              <a:prstGeom prst="rect">
                <a:avLst/>
              </a:prstGeom>
              <a:blipFill>
                <a:blip r:embed="rId3"/>
                <a:stretch>
                  <a:fillRect l="-1782" t="-885" r="-245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0BEFA58-2D7E-9DCC-43D2-E37D9903424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931A5FB-320E-0A47-9FB5-EF50E56CFEE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EAB64E2-4C89-B08E-2E5F-BF27F0F85D0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9DCC501-7487-76EB-C7BF-1DEB2E6BC9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5BC4FF9-582C-1EB5-713E-486B0D8372BD}"/>
              </a:ext>
            </a:extLst>
          </p:cNvPr>
          <p:cNvSpPr txBox="1"/>
          <p:nvPr/>
        </p:nvSpPr>
        <p:spPr>
          <a:xfrm>
            <a:off x="376809"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83CB3DB-1915-42B3-3DB7-5F98D654921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1EA0E43-7194-BFAB-13DB-DBA870D71F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8B6CEEC-8D6F-B603-65F8-53C742EF1A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D5A5294C-26E8-DEAD-39F0-2D1D2AD71F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831823" y="1797035"/>
            <a:ext cx="6343004" cy="3798532"/>
          </a:xfrm>
          <a:prstGeom prst="rect">
            <a:avLst/>
          </a:prstGeom>
        </p:spPr>
      </p:pic>
      <p:sp>
        <p:nvSpPr>
          <p:cNvPr id="6" name="TextBox 5">
            <a:extLst>
              <a:ext uri="{FF2B5EF4-FFF2-40B4-BE49-F238E27FC236}">
                <a16:creationId xmlns:a16="http://schemas.microsoft.com/office/drawing/2014/main" id="{7E5F1FCE-F21A-E43E-000A-C9134AE56A22}"/>
              </a:ext>
            </a:extLst>
          </p:cNvPr>
          <p:cNvSpPr txBox="1"/>
          <p:nvPr/>
        </p:nvSpPr>
        <p:spPr>
          <a:xfrm>
            <a:off x="6579932" y="5710792"/>
            <a:ext cx="4846786" cy="307777"/>
          </a:xfrm>
          <a:prstGeom prst="rect">
            <a:avLst/>
          </a:prstGeom>
          <a:noFill/>
        </p:spPr>
        <p:txBody>
          <a:bodyPr wrap="square">
            <a:spAutoFit/>
          </a:bodyPr>
          <a:lstStyle/>
          <a:p>
            <a:pPr algn="ctr"/>
            <a:r>
              <a:rPr lang="en-US" dirty="0">
                <a:hlinkClick r:id="rId7"/>
              </a:rPr>
              <a:t>https://visionbook.mit.edu/imaging.html#fig-orthographics</a:t>
            </a:r>
            <a:r>
              <a:rPr lang="en-US" dirty="0"/>
              <a:t> </a:t>
            </a:r>
          </a:p>
        </p:txBody>
      </p:sp>
    </p:spTree>
    <p:extLst>
      <p:ext uri="{BB962C8B-B14F-4D97-AF65-F5344CB8AC3E}">
        <p14:creationId xmlns:p14="http://schemas.microsoft.com/office/powerpoint/2010/main" val="1098446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97AC78A-B1DB-A49D-A1D2-6EA5E188A68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F156CB9-F012-438C-4910-DE247A82B7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4D7C4A2-5B83-DD1F-4D58-08AF74D369E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3D to 2D project</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FF8AF4E-F29D-048A-535A-5BD725A3E46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C4D6E3B-14EB-3543-5E0B-990F5F6629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783F738-6F6E-F970-D265-69364B65CF7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8D964E-C83B-3D35-5B10-0C8CFE5EA83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BF78E89-E5B4-7543-F555-81F1F066AF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6855051-2D48-196E-DF3F-0ABD5CB84E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16007D7B-1A09-7A7F-FAB3-B2CD1D02268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83728" y="1260099"/>
            <a:ext cx="11817176" cy="4800727"/>
          </a:xfrm>
          <a:prstGeom prst="rect">
            <a:avLst/>
          </a:prstGeom>
        </p:spPr>
      </p:pic>
      <p:sp>
        <p:nvSpPr>
          <p:cNvPr id="6" name="TextBox 5">
            <a:extLst>
              <a:ext uri="{FF2B5EF4-FFF2-40B4-BE49-F238E27FC236}">
                <a16:creationId xmlns:a16="http://schemas.microsoft.com/office/drawing/2014/main" id="{74D13974-31F0-C9C6-5071-2E6DD95B2873}"/>
              </a:ext>
            </a:extLst>
          </p:cNvPr>
          <p:cNvSpPr txBox="1"/>
          <p:nvPr/>
        </p:nvSpPr>
        <p:spPr>
          <a:xfrm>
            <a:off x="3048000" y="6254113"/>
            <a:ext cx="6096000" cy="307777"/>
          </a:xfrm>
          <a:prstGeom prst="rect">
            <a:avLst/>
          </a:prstGeom>
          <a:noFill/>
        </p:spPr>
        <p:txBody>
          <a:bodyPr wrap="square">
            <a:spAutoFit/>
          </a:bodyPr>
          <a:lstStyle/>
          <a:p>
            <a:pPr algn="ctr"/>
            <a:r>
              <a:rPr lang="en-US" dirty="0">
                <a:hlinkClick r:id="rId6"/>
              </a:rPr>
              <a:t>https://visionbook.mit.edu/imaging.html#fig-orthographics</a:t>
            </a:r>
            <a:r>
              <a:rPr lang="en-US" dirty="0"/>
              <a:t> </a:t>
            </a:r>
          </a:p>
        </p:txBody>
      </p:sp>
    </p:spTree>
    <p:extLst>
      <p:ext uri="{BB962C8B-B14F-4D97-AF65-F5344CB8AC3E}">
        <p14:creationId xmlns:p14="http://schemas.microsoft.com/office/powerpoint/2010/main" val="1894601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EBC371E-CF7B-2A94-8B9C-8E959717BC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F09B74E-28E7-538D-AA12-B4241A953F4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The pinhole model assumes the light passes through a single infinitively small aperture.</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By similar triangles</a:t>
                </a:r>
                <a:r>
                  <a:rPr lang="en-US" sz="2400" dirty="0">
                    <a:latin typeface="Arial"/>
                    <a:ea typeface="Arial"/>
                    <a:cs typeface="Arial"/>
                    <a:sym typeface="Arial"/>
                  </a:rPr>
                  <a:t>, a 3D point </a:t>
                </a:r>
                <a14:m>
                  <m:oMath xmlns:m="http://schemas.openxmlformats.org/officeDocument/2006/math">
                    <m:d>
                      <m:dPr>
                        <m:ctrlPr>
                          <a:rPr lang="en-US" sz="2400" i="1" smtClean="0">
                            <a:solidFill>
                              <a:schemeClr val="dk1"/>
                            </a:solidFill>
                            <a:latin typeface="Cambria Math" panose="02040503050406030204" pitchFamily="18" charset="0"/>
                            <a:cs typeface="Arial"/>
                            <a:sym typeface="Arial"/>
                          </a:rPr>
                        </m:ctrlPr>
                      </m:dPr>
                      <m:e>
                        <m:r>
                          <a:rPr lang="en-US" sz="2400" i="1">
                            <a:solidFill>
                              <a:schemeClr val="dk1"/>
                            </a:solidFill>
                            <a:latin typeface="Cambria Math" panose="02040503050406030204" pitchFamily="18" charset="0"/>
                            <a:cs typeface="Arial"/>
                            <a:sym typeface="Arial"/>
                          </a:rPr>
                          <m:t>𝑋</m:t>
                        </m:r>
                        <m:r>
                          <a:rPr lang="en-US" sz="2400" i="1">
                            <a:solidFill>
                              <a:schemeClr val="dk1"/>
                            </a:solidFill>
                            <a:latin typeface="Cambria Math" panose="02040503050406030204" pitchFamily="18" charset="0"/>
                            <a:cs typeface="Arial"/>
                            <a:sym typeface="Arial"/>
                          </a:rPr>
                          <m:t>,</m:t>
                        </m:r>
                        <m:r>
                          <a:rPr lang="en-US" sz="2400" i="1">
                            <a:solidFill>
                              <a:schemeClr val="dk1"/>
                            </a:solidFill>
                            <a:latin typeface="Cambria Math" panose="02040503050406030204" pitchFamily="18" charset="0"/>
                            <a:cs typeface="Arial"/>
                            <a:sym typeface="Arial"/>
                          </a:rPr>
                          <m:t>𝑌</m:t>
                        </m:r>
                        <m:r>
                          <a:rPr lang="en-US" sz="2400" i="1">
                            <a:solidFill>
                              <a:schemeClr val="dk1"/>
                            </a:solidFill>
                            <a:latin typeface="Cambria Math" panose="02040503050406030204" pitchFamily="18" charset="0"/>
                            <a:cs typeface="Arial"/>
                            <a:sym typeface="Arial"/>
                          </a:rPr>
                          <m:t>,</m:t>
                        </m:r>
                        <m:r>
                          <a:rPr lang="en-US" sz="2400" i="1">
                            <a:solidFill>
                              <a:schemeClr val="dk1"/>
                            </a:solidFill>
                            <a:latin typeface="Cambria Math" panose="02040503050406030204" pitchFamily="18" charset="0"/>
                            <a:cs typeface="Arial"/>
                            <a:sym typeface="Arial"/>
                          </a:rPr>
                          <m:t>𝑍</m:t>
                        </m:r>
                      </m:e>
                    </m:d>
                  </m:oMath>
                </a14:m>
                <a:r>
                  <a:rPr lang="en-US" sz="2400" dirty="0">
                    <a:solidFill>
                      <a:schemeClr val="dk1"/>
                    </a:solidFill>
                    <a:latin typeface="Arial"/>
                    <a:ea typeface="Arial"/>
                    <a:cs typeface="Arial"/>
                    <a:sym typeface="Arial"/>
                  </a:rPr>
                  <a:t>, projects to the image plane at </a:t>
                </a:r>
                <a14:m>
                  <m:oMath xmlns:m="http://schemas.openxmlformats.org/officeDocument/2006/math">
                    <m:d>
                      <m:dPr>
                        <m:ctrlPr>
                          <a:rPr lang="en-US" sz="2400" i="1" smtClean="0">
                            <a:solidFill>
                              <a:schemeClr val="dk1"/>
                            </a:solidFill>
                            <a:latin typeface="Cambria Math" panose="02040503050406030204" pitchFamily="18" charset="0"/>
                            <a:cs typeface="Arial"/>
                            <a:sym typeface="Arial"/>
                          </a:rPr>
                        </m:ctrlPr>
                      </m:dPr>
                      <m:e>
                        <m:r>
                          <a:rPr lang="en-US" sz="2400" i="1">
                            <a:solidFill>
                              <a:schemeClr val="dk1"/>
                            </a:solidFill>
                            <a:latin typeface="Cambria Math" panose="02040503050406030204" pitchFamily="18" charset="0"/>
                            <a:cs typeface="Arial"/>
                            <a:sym typeface="Arial"/>
                          </a:rPr>
                          <m:t>𝑥</m:t>
                        </m:r>
                        <m:r>
                          <a:rPr lang="en-US" sz="2400" i="1">
                            <a:solidFill>
                              <a:schemeClr val="dk1"/>
                            </a:solidFill>
                            <a:latin typeface="Cambria Math" panose="02040503050406030204" pitchFamily="18" charset="0"/>
                            <a:cs typeface="Arial"/>
                            <a:sym typeface="Arial"/>
                          </a:rPr>
                          <m:t>,</m:t>
                        </m:r>
                        <m:r>
                          <a:rPr lang="en-US" sz="2400" i="1">
                            <a:solidFill>
                              <a:schemeClr val="dk1"/>
                            </a:solidFill>
                            <a:latin typeface="Cambria Math" panose="02040503050406030204" pitchFamily="18" charset="0"/>
                            <a:cs typeface="Arial"/>
                            <a:sym typeface="Arial"/>
                          </a:rPr>
                          <m:t>𝑦</m:t>
                        </m:r>
                      </m:e>
                    </m:d>
                  </m:oMath>
                </a14:m>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 ideal projection equations are:</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smtClean="0">
                          <a:solidFill>
                            <a:schemeClr val="dk1"/>
                          </a:solidFill>
                          <a:latin typeface="Cambria Math" panose="02040503050406030204" pitchFamily="18" charset="0"/>
                          <a:cs typeface="Arial"/>
                          <a:sym typeface="Arial"/>
                        </a:rPr>
                        <m:t>𝑥</m:t>
                      </m:r>
                      <m:r>
                        <a:rPr lang="en-US" sz="2400" i="1" smtClean="0">
                          <a:solidFill>
                            <a:schemeClr val="dk1"/>
                          </a:solidFill>
                          <a:latin typeface="Cambria Math" panose="02040503050406030204" pitchFamily="18" charset="0"/>
                          <a:cs typeface="Arial"/>
                          <a:sym typeface="Arial"/>
                        </a:rPr>
                        <m:t>=</m:t>
                      </m:r>
                      <m:r>
                        <a:rPr lang="en-US" sz="2400" i="1" smtClean="0">
                          <a:solidFill>
                            <a:schemeClr val="dk1"/>
                          </a:solidFill>
                          <a:latin typeface="Cambria Math" panose="02040503050406030204" pitchFamily="18" charset="0"/>
                          <a:cs typeface="Arial"/>
                          <a:sym typeface="Arial"/>
                        </a:rPr>
                        <m:t>𝑓</m:t>
                      </m:r>
                      <m:f>
                        <m:fPr>
                          <m:ctrlPr>
                            <a:rPr lang="en-US" sz="2400" i="1">
                              <a:solidFill>
                                <a:schemeClr val="dk1"/>
                              </a:solidFill>
                              <a:latin typeface="Cambria Math" panose="02040503050406030204" pitchFamily="18" charset="0"/>
                              <a:cs typeface="Arial"/>
                              <a:sym typeface="Arial"/>
                            </a:rPr>
                          </m:ctrlPr>
                        </m:fPr>
                        <m:num>
                          <m:r>
                            <a:rPr lang="en-US" sz="2400" i="1">
                              <a:solidFill>
                                <a:schemeClr val="dk1"/>
                              </a:solidFill>
                              <a:latin typeface="Cambria Math" panose="02040503050406030204" pitchFamily="18" charset="0"/>
                              <a:cs typeface="Arial"/>
                              <a:sym typeface="Arial"/>
                            </a:rPr>
                            <m:t>𝑋</m:t>
                          </m:r>
                        </m:num>
                        <m:den>
                          <m:r>
                            <a:rPr lang="en-US" sz="2400" i="1">
                              <a:solidFill>
                                <a:schemeClr val="dk1"/>
                              </a:solidFill>
                              <a:latin typeface="Cambria Math" panose="02040503050406030204" pitchFamily="18" charset="0"/>
                              <a:cs typeface="Arial"/>
                              <a:sym typeface="Arial"/>
                            </a:rPr>
                            <m:t>𝑍</m:t>
                          </m:r>
                        </m:den>
                      </m:f>
                      <m:r>
                        <a:rPr lang="en-US" sz="2400" b="0" i="1" smtClean="0">
                          <a:solidFill>
                            <a:schemeClr val="dk1"/>
                          </a:solidFill>
                          <a:latin typeface="Cambria Math" panose="02040503050406030204" pitchFamily="18" charset="0"/>
                          <a:cs typeface="Arial"/>
                          <a:sym typeface="Arial"/>
                        </a:rPr>
                        <m:t>,  </m:t>
                      </m:r>
                      <m:r>
                        <a:rPr lang="en-US" sz="2400" b="0" i="1" smtClean="0">
                          <a:solidFill>
                            <a:schemeClr val="dk1"/>
                          </a:solidFill>
                          <a:latin typeface="Cambria Math" panose="02040503050406030204" pitchFamily="18" charset="0"/>
                          <a:cs typeface="Arial"/>
                          <a:sym typeface="Arial"/>
                        </a:rPr>
                        <m:t>𝑦</m:t>
                      </m:r>
                      <m:r>
                        <a:rPr lang="en-US" sz="2400" b="0" i="1" smtClean="0">
                          <a:solidFill>
                            <a:schemeClr val="dk1"/>
                          </a:solidFill>
                          <a:latin typeface="Cambria Math" panose="02040503050406030204" pitchFamily="18" charset="0"/>
                          <a:cs typeface="Arial"/>
                          <a:sym typeface="Arial"/>
                        </a:rPr>
                        <m:t>=</m:t>
                      </m:r>
                      <m:r>
                        <a:rPr lang="en-US" sz="2400" b="0" i="1" smtClean="0">
                          <a:solidFill>
                            <a:schemeClr val="dk1"/>
                          </a:solidFill>
                          <a:latin typeface="Cambria Math" panose="02040503050406030204" pitchFamily="18" charset="0"/>
                          <a:cs typeface="Arial"/>
                          <a:sym typeface="Arial"/>
                        </a:rPr>
                        <m:t>𝑓</m:t>
                      </m:r>
                      <m:f>
                        <m:fPr>
                          <m:ctrlPr>
                            <a:rPr lang="en-US" sz="2400" b="0" i="1" smtClean="0">
                              <a:solidFill>
                                <a:schemeClr val="dk1"/>
                              </a:solidFill>
                              <a:latin typeface="Cambria Math" panose="02040503050406030204" pitchFamily="18" charset="0"/>
                              <a:cs typeface="Arial"/>
                              <a:sym typeface="Arial"/>
                            </a:rPr>
                          </m:ctrlPr>
                        </m:fPr>
                        <m:num>
                          <m:r>
                            <a:rPr lang="en-US" sz="2400" b="0" i="1" smtClean="0">
                              <a:solidFill>
                                <a:schemeClr val="dk1"/>
                              </a:solidFill>
                              <a:latin typeface="Cambria Math" panose="02040503050406030204" pitchFamily="18" charset="0"/>
                              <a:cs typeface="Arial"/>
                              <a:sym typeface="Arial"/>
                            </a:rPr>
                            <m:t>𝑌</m:t>
                          </m:r>
                        </m:num>
                        <m:den>
                          <m:r>
                            <a:rPr lang="en-US" sz="2400" b="0" i="1" smtClean="0">
                              <a:solidFill>
                                <a:schemeClr val="dk1"/>
                              </a:solidFill>
                              <a:latin typeface="Cambria Math" panose="02040503050406030204" pitchFamily="18" charset="0"/>
                              <a:cs typeface="Arial"/>
                              <a:sym typeface="Arial"/>
                            </a:rPr>
                            <m:t>𝑍</m:t>
                          </m:r>
                        </m:den>
                      </m:f>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Where </a:t>
                </a:r>
                <a14:m>
                  <m:oMath xmlns:m="http://schemas.openxmlformats.org/officeDocument/2006/math">
                    <m:r>
                      <a:rPr lang="en-US" sz="2400" i="1">
                        <a:latin typeface="Cambria Math" panose="02040503050406030204" pitchFamily="18" charset="0"/>
                        <a:cs typeface="Arial"/>
                        <a:sym typeface="Arial"/>
                      </a:rPr>
                      <m:t>𝑓</m:t>
                    </m:r>
                  </m:oMath>
                </a14:m>
                <a:r>
                  <a:rPr lang="en-US" sz="2400" dirty="0">
                    <a:solidFill>
                      <a:schemeClr val="dk1"/>
                    </a:solidFill>
                    <a:latin typeface="Arial"/>
                    <a:ea typeface="Arial"/>
                    <a:cs typeface="Arial"/>
                    <a:sym typeface="Arial"/>
                  </a:rPr>
                  <a:t>, represents the focal length.</a:t>
                </a:r>
              </a:p>
              <a:p>
                <a:pPr marL="0" indent="0">
                  <a:lnSpc>
                    <a:spcPct val="100000"/>
                  </a:lnSpc>
                  <a:spcBef>
                    <a:spcPts val="0"/>
                  </a:spcBef>
                  <a:buSzPts val="3000"/>
                  <a:buNone/>
                </a:pPr>
                <a:r>
                  <a:rPr lang="en-US" sz="2400" dirty="0">
                    <a:latin typeface="Arial"/>
                    <a:ea typeface="Arial"/>
                    <a:cs typeface="Arial"/>
                    <a:sym typeface="Arial"/>
                  </a:rPr>
                  <a:t>These equations are called the </a:t>
                </a:r>
                <a:r>
                  <a:rPr lang="en-US" sz="2400" b="1" dirty="0">
                    <a:latin typeface="Arial"/>
                    <a:ea typeface="Arial"/>
                    <a:cs typeface="Arial"/>
                    <a:sym typeface="Arial"/>
                  </a:rPr>
                  <a:t>perspective projection equations</a:t>
                </a:r>
                <a:r>
                  <a:rPr lang="en-US" sz="2400" dirty="0">
                    <a:latin typeface="Arial"/>
                    <a:ea typeface="Arial"/>
                    <a:cs typeface="Arial"/>
                    <a:sym typeface="Arial"/>
                  </a:rPr>
                  <a:t>.</a:t>
                </a:r>
                <a:endParaRPr lang="en-US" sz="2400" b="1"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0F09B74E-28E7-538D-AA12-B4241A953F4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D427CF4-E648-E8C1-DA7E-CC37D6A4102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FD82837-F1F4-8CC3-78DA-28EC9DA05DC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CFD5C4B3-A89F-A5E8-0528-0A117449352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885B390-75F1-E445-ECF4-9D170A890F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2742297-CD0E-1975-B5C2-28D65E2E6F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DC750AD-D885-CA0E-AF2B-7C53CA792DB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BC7B7C-56D9-79B1-332E-89F2B9DE47B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8237C4-BBE1-5FF1-EDF2-3DEFFF55671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41163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53358A6-A344-06EC-557C-DBC25B38A88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68354B4-FA7D-4B4A-7E13-A9560F813E1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Under perspective projection, distant objects become smaller, through the inverse scaling by </a:t>
                </a:r>
                <a14:m>
                  <m:oMath xmlns:m="http://schemas.openxmlformats.org/officeDocument/2006/math">
                    <m:r>
                      <a:rPr lang="en-US" sz="2400" i="1">
                        <a:latin typeface="Cambria Math" panose="02040503050406030204" pitchFamily="18" charset="0"/>
                        <a:cs typeface="Arial"/>
                        <a:sym typeface="Arial"/>
                      </a:rPr>
                      <m:t>𝑍</m:t>
                    </m:r>
                  </m:oMath>
                </a14:m>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The perspective projection equations apply not just to pinhole cameras but to most lens-based cameras, and human vision as well. The pixel coordinated can be computed as,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Arial"/>
                          <a:cs typeface="Arial"/>
                          <a:sym typeface="Arial"/>
                        </a:rPr>
                        <m:t>𝑛</m:t>
                      </m:r>
                      <m:r>
                        <a:rPr lang="en-US" sz="2400" b="0" i="1" smtClean="0">
                          <a:latin typeface="Cambria Math" panose="02040503050406030204" pitchFamily="18" charset="0"/>
                          <a:ea typeface="Arial"/>
                          <a:cs typeface="Arial"/>
                          <a:sym typeface="Arial"/>
                        </a:rPr>
                        <m:t>=−</m:t>
                      </m:r>
                      <m:r>
                        <a:rPr lang="en-US" sz="2400" b="0" i="1" smtClean="0">
                          <a:latin typeface="Cambria Math" panose="02040503050406030204" pitchFamily="18" charset="0"/>
                          <a:ea typeface="Arial"/>
                          <a:cs typeface="Arial"/>
                          <a:sym typeface="Arial"/>
                        </a:rPr>
                        <m:t>𝑎𝑥</m:t>
                      </m:r>
                      <m:r>
                        <a:rPr lang="en-US" sz="2400" b="0" i="1" smtClean="0">
                          <a:latin typeface="Cambria Math" panose="02040503050406030204" pitchFamily="18" charset="0"/>
                          <a:ea typeface="Arial"/>
                          <a:cs typeface="Arial"/>
                          <a:sym typeface="Arial"/>
                        </a:rPr>
                        <m:t>+</m:t>
                      </m:r>
                      <m:sSub>
                        <m:sSubPr>
                          <m:ctrlPr>
                            <a:rPr lang="en-US" sz="2400" b="0" i="1" smtClean="0">
                              <a:latin typeface="Cambria Math" panose="02040503050406030204" pitchFamily="18" charset="0"/>
                              <a:ea typeface="Arial"/>
                              <a:cs typeface="Arial"/>
                              <a:sym typeface="Arial"/>
                            </a:rPr>
                          </m:ctrlPr>
                        </m:sSubPr>
                        <m:e>
                          <m:r>
                            <a:rPr lang="en-US" sz="2400" b="0" i="1" smtClean="0">
                              <a:latin typeface="Cambria Math" panose="02040503050406030204" pitchFamily="18" charset="0"/>
                              <a:ea typeface="Arial"/>
                              <a:cs typeface="Arial"/>
                              <a:sym typeface="Arial"/>
                            </a:rPr>
                            <m:t>𝑛</m:t>
                          </m:r>
                        </m:e>
                        <m:sub>
                          <m:r>
                            <a:rPr lang="en-US" sz="2400" b="0" i="1" smtClean="0">
                              <a:latin typeface="Cambria Math" panose="02040503050406030204" pitchFamily="18" charset="0"/>
                              <a:ea typeface="Arial"/>
                              <a:cs typeface="Arial"/>
                              <a:sym typeface="Arial"/>
                            </a:rPr>
                            <m:t>0</m:t>
                          </m:r>
                        </m:sub>
                      </m:sSub>
                      <m:r>
                        <a:rPr lang="en-US" sz="2400" b="0" i="1" smtClean="0">
                          <a:latin typeface="Cambria Math" panose="02040503050406030204" pitchFamily="18" charset="0"/>
                          <a:ea typeface="Arial"/>
                          <a:cs typeface="Arial"/>
                          <a:sym typeface="Arial"/>
                        </a:rPr>
                        <m:t>,  </m:t>
                      </m:r>
                      <m:r>
                        <a:rPr lang="en-US" sz="2400" b="0" i="1" smtClean="0">
                          <a:latin typeface="Cambria Math" panose="02040503050406030204" pitchFamily="18" charset="0"/>
                          <a:ea typeface="Arial"/>
                          <a:cs typeface="Arial"/>
                          <a:sym typeface="Arial"/>
                        </a:rPr>
                        <m:t>𝑚</m:t>
                      </m:r>
                      <m:r>
                        <a:rPr lang="en-US" sz="2400" b="0" i="1" smtClean="0">
                          <a:latin typeface="Cambria Math" panose="02040503050406030204" pitchFamily="18" charset="0"/>
                          <a:ea typeface="Arial"/>
                          <a:cs typeface="Arial"/>
                          <a:sym typeface="Arial"/>
                        </a:rPr>
                        <m:t>=</m:t>
                      </m:r>
                      <m:r>
                        <a:rPr lang="en-US" sz="2400" b="0" i="1" smtClean="0">
                          <a:latin typeface="Cambria Math" panose="02040503050406030204" pitchFamily="18" charset="0"/>
                          <a:ea typeface="Arial"/>
                          <a:cs typeface="Arial"/>
                          <a:sym typeface="Arial"/>
                        </a:rPr>
                        <m:t>𝑎𝑦</m:t>
                      </m:r>
                      <m:r>
                        <a:rPr lang="en-US" sz="2400" b="0" i="1" smtClean="0">
                          <a:latin typeface="Cambria Math" panose="02040503050406030204" pitchFamily="18" charset="0"/>
                          <a:ea typeface="Arial"/>
                          <a:cs typeface="Arial"/>
                          <a:sym typeface="Arial"/>
                        </a:rPr>
                        <m:t>+</m:t>
                      </m:r>
                      <m:sSub>
                        <m:sSubPr>
                          <m:ctrlPr>
                            <a:rPr lang="en-US" sz="2400" b="0" i="1" smtClean="0">
                              <a:latin typeface="Cambria Math" panose="02040503050406030204" pitchFamily="18" charset="0"/>
                              <a:ea typeface="Arial"/>
                              <a:cs typeface="Arial"/>
                              <a:sym typeface="Arial"/>
                            </a:rPr>
                          </m:ctrlPr>
                        </m:sSubPr>
                        <m:e>
                          <m:r>
                            <a:rPr lang="en-US" sz="2400" b="0" i="1" smtClean="0">
                              <a:latin typeface="Cambria Math" panose="02040503050406030204" pitchFamily="18" charset="0"/>
                              <a:ea typeface="Arial"/>
                              <a:cs typeface="Arial"/>
                              <a:sym typeface="Arial"/>
                            </a:rPr>
                            <m:t>𝑚</m:t>
                          </m:r>
                        </m:e>
                        <m:sub>
                          <m:r>
                            <a:rPr lang="en-US" sz="2400" b="0" i="1" smtClean="0">
                              <a:latin typeface="Cambria Math" panose="02040503050406030204" pitchFamily="18" charset="0"/>
                              <a:ea typeface="Arial"/>
                              <a:cs typeface="Arial"/>
                              <a:sym typeface="Arial"/>
                            </a:rPr>
                            <m:t>0</m:t>
                          </m:r>
                        </m:sub>
                      </m:sSub>
                    </m:oMath>
                  </m:oMathPara>
                </a14:m>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 </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D68354B4-FA7D-4B4A-7E13-A9560F813E1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b="-177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8DF4D4F-EC62-4DE5-DF72-0F36382E0FC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970AEE1-E821-BBA7-D88C-81C53FE9B9E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7769684-157C-895E-583F-D15B56778F5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B03EC02-0A2F-D3C3-04F5-F59BCC4EDC6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CB94AB-C211-DA59-A2D6-7196717E3E8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90FB56C-9688-B2BA-772B-5F2A52D47B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0A35F0B-472E-B01B-A64F-0B7006C64A4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ABCCBB3-7EE1-1269-AF25-6C751E1B3D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6B973CFB-5AC6-A79D-91D5-46E485F4B2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37502" y="1739425"/>
            <a:ext cx="5116995" cy="2954763"/>
          </a:xfrm>
          <a:prstGeom prst="rect">
            <a:avLst/>
          </a:prstGeom>
        </p:spPr>
      </p:pic>
    </p:spTree>
    <p:extLst>
      <p:ext uri="{BB962C8B-B14F-4D97-AF65-F5344CB8AC3E}">
        <p14:creationId xmlns:p14="http://schemas.microsoft.com/office/powerpoint/2010/main" val="323601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A20934-B042-5B71-C367-C02D8B7120F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BF37B4B-FC49-F62B-0BD7-B3057EC5B47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solidFill>
                      <a:schemeClr val="dk1"/>
                    </a:solidFill>
                    <a:latin typeface="Arial"/>
                    <a:ea typeface="Arial"/>
                    <a:cs typeface="Arial"/>
                    <a:sym typeface="Arial"/>
                  </a:rPr>
                  <a:t>Homogeneous</a:t>
                </a:r>
                <a:r>
                  <a:rPr lang="en-US" sz="2400" dirty="0">
                    <a:solidFill>
                      <a:schemeClr val="dk1"/>
                    </a:solidFill>
                    <a:latin typeface="Arial"/>
                    <a:ea typeface="Arial"/>
                    <a:cs typeface="Arial"/>
                    <a:sym typeface="Arial"/>
                  </a:rPr>
                  <a:t> coordinates represent a vector of length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𝑁</m:t>
                    </m:r>
                  </m:oMath>
                </a14:m>
                <a:r>
                  <a:rPr lang="en-US" sz="2400" dirty="0">
                    <a:solidFill>
                      <a:schemeClr val="dk1"/>
                    </a:solidFill>
                    <a:latin typeface="Arial"/>
                    <a:ea typeface="Arial"/>
                    <a:cs typeface="Arial"/>
                    <a:sym typeface="Arial"/>
                  </a:rPr>
                  <a:t> by a vector of length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𝑁</m:t>
                    </m:r>
                    <m:r>
                      <a:rPr lang="en-US" sz="2400" i="1" dirty="0" smtClean="0">
                        <a:solidFill>
                          <a:schemeClr val="dk1"/>
                        </a:solidFill>
                        <a:latin typeface="Cambria Math" panose="02040503050406030204" pitchFamily="18" charset="0"/>
                        <a:ea typeface="Arial"/>
                        <a:cs typeface="Arial"/>
                        <a:sym typeface="Arial"/>
                      </a:rPr>
                      <m:t> + 1</m:t>
                    </m:r>
                  </m:oMath>
                </a14:m>
                <a:r>
                  <a:rPr lang="en-US" sz="2400" dirty="0">
                    <a:solidFill>
                      <a:schemeClr val="dk1"/>
                    </a:solidFill>
                    <a:latin typeface="Arial"/>
                    <a:ea typeface="Arial"/>
                    <a:cs typeface="Arial"/>
                    <a:sym typeface="Arial"/>
                  </a:rPr>
                  <a:t>. The transformation rule from </a:t>
                </a:r>
                <a:r>
                  <a:rPr lang="en-US" sz="2400" b="1" dirty="0">
                    <a:solidFill>
                      <a:schemeClr val="dk1"/>
                    </a:solidFill>
                    <a:latin typeface="Arial"/>
                    <a:ea typeface="Arial"/>
                    <a:cs typeface="Arial"/>
                    <a:sym typeface="Arial"/>
                  </a:rPr>
                  <a:t>heterogeneous</a:t>
                </a:r>
                <a:r>
                  <a:rPr lang="en-US" sz="2400" dirty="0">
                    <a:solidFill>
                      <a:schemeClr val="dk1"/>
                    </a:solidFill>
                    <a:latin typeface="Arial"/>
                    <a:ea typeface="Arial"/>
                    <a:cs typeface="Arial"/>
                    <a:sym typeface="Arial"/>
                  </a:rPr>
                  <a:t> to </a:t>
                </a:r>
                <a:r>
                  <a:rPr lang="en-US" sz="2400" b="1" dirty="0">
                    <a:solidFill>
                      <a:schemeClr val="dk1"/>
                    </a:solidFill>
                    <a:latin typeface="Arial"/>
                    <a:ea typeface="Arial"/>
                    <a:cs typeface="Arial"/>
                    <a:sym typeface="Arial"/>
                  </a:rPr>
                  <a:t>homogeneous</a:t>
                </a:r>
                <a:r>
                  <a:rPr lang="en-US" sz="2400" dirty="0">
                    <a:solidFill>
                      <a:schemeClr val="dk1"/>
                    </a:solidFill>
                    <a:latin typeface="Arial"/>
                    <a:ea typeface="Arial"/>
                    <a:cs typeface="Arial"/>
                    <a:sym typeface="Arial"/>
                  </a:rPr>
                  <a:t> coordinates is simply to add an additional coordinate, 1, to the heterogeneous coordinates as shown here:</a:t>
                </a:r>
                <a:endParaRPr lang="en-US" sz="24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ctrlPr>
                            <a:rPr lang="en-US" sz="2400" i="1" smtClean="0">
                              <a:solidFill>
                                <a:schemeClr val="dk1"/>
                              </a:solidFill>
                              <a:latin typeface="Cambria Math" panose="02040503050406030204" pitchFamily="18" charset="0"/>
                              <a:sym typeface="Arial"/>
                            </a:rPr>
                          </m:ctrlPr>
                        </m:dPr>
                        <m:e>
                          <m:m>
                            <m:mPr>
                              <m:plcHide m:val="on"/>
                              <m:mcs>
                                <m:mc>
                                  <m:mcPr>
                                    <m:count m:val="1"/>
                                    <m:mcJc m:val="center"/>
                                  </m:mcPr>
                                </m:mc>
                              </m:mcs>
                              <m:ctrlPr>
                                <a:rPr lang="en-US" sz="2400" i="1" smtClean="0">
                                  <a:solidFill>
                                    <a:schemeClr val="dk1"/>
                                  </a:solidFill>
                                  <a:latin typeface="Cambria Math" panose="02040503050406030204" pitchFamily="18" charset="0"/>
                                  <a:sym typeface="Arial"/>
                                </a:rPr>
                              </m:ctrlPr>
                            </m:mPr>
                            <m:mr>
                              <m:e>
                                <m:r>
                                  <a:rPr lang="en-US" sz="2400" i="1" smtClean="0">
                                    <a:solidFill>
                                      <a:schemeClr val="dk1"/>
                                    </a:solidFill>
                                    <a:latin typeface="Cambria Math" panose="02040503050406030204" pitchFamily="18" charset="0"/>
                                    <a:sym typeface="Arial"/>
                                  </a:rPr>
                                  <m:t>𝑥</m:t>
                                </m:r>
                              </m:e>
                            </m:mr>
                            <m:mr>
                              <m:e>
                                <m:r>
                                  <a:rPr lang="en-US" sz="2400" i="1" smtClean="0">
                                    <a:solidFill>
                                      <a:schemeClr val="dk1"/>
                                    </a:solidFill>
                                    <a:latin typeface="Cambria Math" panose="02040503050406030204" pitchFamily="18" charset="0"/>
                                    <a:sym typeface="Arial"/>
                                  </a:rPr>
                                  <m:t>𝑦</m:t>
                                </m:r>
                              </m:e>
                            </m:mr>
                          </m:m>
                        </m:e>
                      </m:d>
                      <m:r>
                        <a:rPr lang="en-US" sz="2400" b="0" i="1" smtClean="0">
                          <a:solidFill>
                            <a:schemeClr val="dk1"/>
                          </a:solidFill>
                          <a:latin typeface="Cambria Math" panose="02040503050406030204" pitchFamily="18" charset="0"/>
                          <a:sym typeface="Arial"/>
                        </a:rPr>
                        <m:t>→</m:t>
                      </m:r>
                      <m:d>
                        <m:dPr>
                          <m:begChr m:val="["/>
                          <m:endChr m:val="]"/>
                          <m:ctrlPr>
                            <a:rPr lang="en-US" sz="2400" i="1" smtClean="0">
                              <a:solidFill>
                                <a:schemeClr val="dk1"/>
                              </a:solidFill>
                              <a:latin typeface="Cambria Math" panose="02040503050406030204" pitchFamily="18" charset="0"/>
                              <a:sym typeface="Arial"/>
                            </a:rPr>
                          </m:ctrlPr>
                        </m:dPr>
                        <m:e>
                          <m:m>
                            <m:mPr>
                              <m:plcHide m:val="on"/>
                              <m:mcs>
                                <m:mc>
                                  <m:mcPr>
                                    <m:count m:val="1"/>
                                    <m:mcJc m:val="center"/>
                                  </m:mcPr>
                                </m:mc>
                              </m:mcs>
                              <m:ctrlPr>
                                <a:rPr lang="en-US" sz="2400" i="1" smtClean="0">
                                  <a:solidFill>
                                    <a:schemeClr val="dk1"/>
                                  </a:solidFill>
                                  <a:latin typeface="Cambria Math" panose="02040503050406030204" pitchFamily="18" charset="0"/>
                                  <a:sym typeface="Arial"/>
                                </a:rPr>
                              </m:ctrlPr>
                            </m:mPr>
                            <m:mr>
                              <m:e>
                                <m:r>
                                  <a:rPr lang="en-US" sz="2400" i="1" smtClean="0">
                                    <a:solidFill>
                                      <a:schemeClr val="dk1"/>
                                    </a:solidFill>
                                    <a:latin typeface="Cambria Math" panose="02040503050406030204" pitchFamily="18" charset="0"/>
                                    <a:sym typeface="Arial"/>
                                  </a:rPr>
                                  <m:t>𝑥</m:t>
                                </m:r>
                              </m:e>
                            </m:mr>
                            <m:mr>
                              <m:e>
                                <m:r>
                                  <a:rPr lang="en-US" sz="2400" i="1" smtClean="0">
                                    <a:solidFill>
                                      <a:schemeClr val="dk1"/>
                                    </a:solidFill>
                                    <a:latin typeface="Cambria Math" panose="02040503050406030204" pitchFamily="18" charset="0"/>
                                    <a:sym typeface="Arial"/>
                                  </a:rPr>
                                  <m:t>𝑦</m:t>
                                </m:r>
                              </m:e>
                            </m:mr>
                            <m:mr>
                              <m:e>
                                <m:r>
                                  <a:rPr lang="en-US" sz="2400" i="1" smtClean="0">
                                    <a:solidFill>
                                      <a:schemeClr val="dk1"/>
                                    </a:solidFill>
                                    <a:latin typeface="Cambria Math" panose="02040503050406030204" pitchFamily="18" charset="0"/>
                                    <a:sym typeface="Arial"/>
                                  </a:rPr>
                                  <m:t>1</m:t>
                                </m:r>
                              </m:e>
                            </m:mr>
                          </m:m>
                        </m:e>
                      </m:d>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To go from homogeneous coordinates back to the </a:t>
                </a:r>
                <a:r>
                  <a:rPr lang="en-US" sz="2400" b="1" dirty="0">
                    <a:solidFill>
                      <a:schemeClr val="dk1"/>
                    </a:solidFill>
                    <a:latin typeface="Arial"/>
                    <a:ea typeface="Arial"/>
                    <a:cs typeface="Arial"/>
                    <a:sym typeface="Arial"/>
                  </a:rPr>
                  <a:t>heterogeneous</a:t>
                </a:r>
                <a:r>
                  <a:rPr lang="en-US" sz="2400" dirty="0">
                    <a:solidFill>
                      <a:schemeClr val="dk1"/>
                    </a:solidFill>
                    <a:latin typeface="Arial"/>
                    <a:ea typeface="Arial"/>
                    <a:cs typeface="Arial"/>
                    <a:sym typeface="Arial"/>
                  </a:rPr>
                  <a:t> representation of the point, we divide all the entries of the homogeneous coordinate vector by their last dimension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sym typeface="Arial"/>
                            </a:rPr>
                          </m:ctrlPr>
                        </m:dPr>
                        <m:e>
                          <m:m>
                            <m:mPr>
                              <m:plcHide m:val="on"/>
                              <m:mcs>
                                <m:mc>
                                  <m:mcPr>
                                    <m:count m:val="1"/>
                                    <m:mcJc m:val="center"/>
                                  </m:mcPr>
                                </m:mc>
                              </m:mcs>
                              <m:ctrlPr>
                                <a:rPr lang="en-US" sz="2400" i="1">
                                  <a:latin typeface="Cambria Math" panose="02040503050406030204" pitchFamily="18" charset="0"/>
                                  <a:sym typeface="Arial"/>
                                </a:rPr>
                              </m:ctrlPr>
                            </m:mPr>
                            <m:mr>
                              <m:e>
                                <m:r>
                                  <a:rPr lang="en-US" sz="2400" i="1">
                                    <a:latin typeface="Cambria Math" panose="02040503050406030204" pitchFamily="18" charset="0"/>
                                    <a:sym typeface="Arial"/>
                                  </a:rPr>
                                  <m:t>𝑥</m:t>
                                </m:r>
                              </m:e>
                            </m:mr>
                            <m:mr>
                              <m:e>
                                <m:r>
                                  <a:rPr lang="en-US" sz="2400" i="1">
                                    <a:latin typeface="Cambria Math" panose="02040503050406030204" pitchFamily="18" charset="0"/>
                                    <a:sym typeface="Arial"/>
                                  </a:rPr>
                                  <m:t>𝑦</m:t>
                                </m:r>
                              </m:e>
                            </m:mr>
                            <m:mr>
                              <m:e>
                                <m:r>
                                  <m:rPr>
                                    <m:sty m:val="p"/>
                                  </m:rPr>
                                  <a:rPr lang="en-US" sz="2400" b="0" i="1" smtClean="0">
                                    <a:latin typeface="Cambria Math" panose="02040503050406030204" pitchFamily="18" charset="0"/>
                                    <a:sym typeface="Arial"/>
                                  </a:rPr>
                                  <m:t>w</m:t>
                                </m:r>
                              </m:e>
                            </m:mr>
                          </m:m>
                        </m:e>
                      </m:d>
                      <m:r>
                        <a:rPr lang="en-US" sz="2400" b="0" i="1" smtClean="0">
                          <a:latin typeface="Cambria Math" panose="02040503050406030204" pitchFamily="18" charset="0"/>
                          <a:sym typeface="Arial"/>
                        </a:rPr>
                        <m:t>→</m:t>
                      </m:r>
                      <m:d>
                        <m:dPr>
                          <m:ctrlPr>
                            <a:rPr lang="en-US" sz="2400" i="1">
                              <a:latin typeface="Cambria Math" panose="02040503050406030204" pitchFamily="18" charset="0"/>
                              <a:sym typeface="Arial"/>
                            </a:rPr>
                          </m:ctrlPr>
                        </m:dPr>
                        <m:e>
                          <m:m>
                            <m:mPr>
                              <m:plcHide m:val="on"/>
                              <m:mcs>
                                <m:mc>
                                  <m:mcPr>
                                    <m:count m:val="1"/>
                                    <m:mcJc m:val="center"/>
                                  </m:mcPr>
                                </m:mc>
                              </m:mcs>
                              <m:ctrlPr>
                                <a:rPr lang="en-US" sz="2400" i="1">
                                  <a:latin typeface="Cambria Math" panose="02040503050406030204" pitchFamily="18" charset="0"/>
                                  <a:sym typeface="Arial"/>
                                </a:rPr>
                              </m:ctrlPr>
                            </m:mPr>
                            <m:mr>
                              <m:e>
                                <m:r>
                                  <a:rPr lang="en-US" sz="2400" i="1" smtClean="0">
                                    <a:latin typeface="Cambria Math" panose="02040503050406030204" pitchFamily="18" charset="0"/>
                                    <a:sym typeface="Arial"/>
                                  </a:rPr>
                                  <m:t>𝑥</m:t>
                                </m:r>
                                <m:r>
                                  <a:rPr lang="en-US" sz="2400" b="0" i="1" smtClean="0">
                                    <a:latin typeface="Cambria Math" panose="02040503050406030204" pitchFamily="18" charset="0"/>
                                    <a:sym typeface="Arial"/>
                                  </a:rPr>
                                  <m:t>/</m:t>
                                </m:r>
                                <m:r>
                                  <m:rPr>
                                    <m:sty m:val="p"/>
                                  </m:rPr>
                                  <a:rPr lang="en-US" sz="2400" b="0" i="1" smtClean="0">
                                    <a:latin typeface="Cambria Math" panose="02040503050406030204" pitchFamily="18" charset="0"/>
                                    <a:sym typeface="Arial"/>
                                  </a:rPr>
                                  <m:t>w</m:t>
                                </m:r>
                              </m:e>
                            </m:mr>
                            <m:mr>
                              <m:e>
                                <m:r>
                                  <a:rPr lang="en-US" sz="2400" i="1" smtClean="0">
                                    <a:latin typeface="Cambria Math" panose="02040503050406030204" pitchFamily="18" charset="0"/>
                                    <a:sym typeface="Arial"/>
                                  </a:rPr>
                                  <m:t>𝑦</m:t>
                                </m:r>
                                <m:r>
                                  <a:rPr lang="en-US" sz="2400" b="0" i="1" smtClean="0">
                                    <a:latin typeface="Cambria Math" panose="02040503050406030204" pitchFamily="18" charset="0"/>
                                    <a:sym typeface="Arial"/>
                                  </a:rPr>
                                  <m:t>/</m:t>
                                </m:r>
                                <m:r>
                                  <m:rPr>
                                    <m:sty m:val="p"/>
                                  </m:rPr>
                                  <a:rPr lang="en-US" sz="2400" b="0" i="1" smtClean="0">
                                    <a:latin typeface="Cambria Math" panose="02040503050406030204" pitchFamily="18" charset="0"/>
                                    <a:sym typeface="Arial"/>
                                  </a:rPr>
                                  <m:t>w</m:t>
                                </m:r>
                              </m:e>
                            </m:mr>
                          </m:m>
                        </m:e>
                      </m:d>
                    </m:oMath>
                  </m:oMathPara>
                </a14:m>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6BF37B4B-FC49-F62B-0BD7-B3057EC5B47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b="-12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5628DDC-4A4F-3F6F-935F-D59541974C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44E09CD-3800-7866-75FF-462D3D4A028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643795F-F09B-CAC0-385B-573954244DB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12F5716-E661-C030-7D77-5896C95C32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E517E19-262E-2968-83C2-10577DBEB4C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ED76D93-B2EB-820C-4A09-C01F7FE608A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FEA3729-F7BC-D889-C0C1-CBEB73C3D4A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5F18826-F588-4D6D-5ECD-44C1E3A4AB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17601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48B1219-EFE9-8130-2645-E8D3A78ECCF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38BA7D8-0999-CD69-34B8-3256F23720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As we have already discussed, the perspective projection equations are nonlinear and involve a division by the point’s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𝑍</m:t>
                    </m:r>
                  </m:oMath>
                </a14:m>
                <a:r>
                  <a:rPr lang="en-US" sz="2400" dirty="0">
                    <a:solidFill>
                      <a:schemeClr val="dk1"/>
                    </a:solidFill>
                    <a:latin typeface="Arial"/>
                    <a:ea typeface="Arial"/>
                    <a:cs typeface="Arial"/>
                    <a:sym typeface="Arial"/>
                  </a:rPr>
                  <a:t>-location.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That is, a 3D point with coordinates </a:t>
                </a:r>
                <a14:m>
                  <m:oMath xmlns:m="http://schemas.openxmlformats.org/officeDocument/2006/math">
                    <m:r>
                      <a:rPr lang="en-US" sz="2400" i="1" dirty="0" smtClean="0">
                        <a:solidFill>
                          <a:schemeClr val="dk1"/>
                        </a:solidFill>
                        <a:latin typeface="Cambria Math" panose="02040503050406030204" pitchFamily="18" charset="0"/>
                        <a:ea typeface="Arial"/>
                        <a:cs typeface="Arial"/>
                        <a:sym typeface="Arial"/>
                      </a:rPr>
                      <m:t>(</m:t>
                    </m:r>
                    <m:r>
                      <m:rPr>
                        <m:sty m:val="p"/>
                      </m:rPr>
                      <a:rPr lang="en-US" sz="2400" b="0" i="1" dirty="0" smtClean="0">
                        <a:solidFill>
                          <a:schemeClr val="dk1"/>
                        </a:solidFill>
                        <a:latin typeface="Cambria Math" panose="02040503050406030204" pitchFamily="18" charset="0"/>
                        <a:ea typeface="Arial"/>
                        <a:cs typeface="Arial"/>
                        <a:sym typeface="Arial"/>
                      </a:rPr>
                      <m:t>X</m:t>
                    </m:r>
                    <m:r>
                      <a:rPr lang="en-US" sz="2400" b="0" i="1" dirty="0" smtClean="0">
                        <a:solidFill>
                          <a:schemeClr val="dk1"/>
                        </a:solidFill>
                        <a:latin typeface="Cambria Math" panose="02040503050406030204" pitchFamily="18" charset="0"/>
                        <a:ea typeface="Arial"/>
                        <a:cs typeface="Arial"/>
                        <a:sym typeface="Arial"/>
                      </a:rPr>
                      <m:t>, </m:t>
                    </m:r>
                    <m:r>
                      <m:rPr>
                        <m:sty m:val="p"/>
                      </m:rPr>
                      <a:rPr lang="en-US" sz="2400" b="0" i="1" dirty="0" smtClean="0">
                        <a:solidFill>
                          <a:schemeClr val="dk1"/>
                        </a:solidFill>
                        <a:latin typeface="Cambria Math" panose="02040503050406030204" pitchFamily="18" charset="0"/>
                        <a:ea typeface="Arial"/>
                        <a:cs typeface="Arial"/>
                        <a:sym typeface="Arial"/>
                      </a:rPr>
                      <m:t>Y</m:t>
                    </m:r>
                    <m:r>
                      <a:rPr lang="en-US" sz="2400" i="1" dirty="0"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rial"/>
                    <a:ea typeface="Arial"/>
                    <a:cs typeface="Arial"/>
                    <a:sym typeface="Arial"/>
                  </a:rPr>
                  <a:t> appears in the image at coordinates </a:t>
                </a:r>
                <a:endParaRPr lang="en-US" sz="2400" b="0" i="1" dirty="0">
                  <a:solidFill>
                    <a:schemeClr val="dk1"/>
                  </a:solidFill>
                  <a:latin typeface="Cambria Math" panose="02040503050406030204" pitchFamily="18" charset="0"/>
                  <a:ea typeface="Arial"/>
                  <a:cs typeface="Arial"/>
                  <a:sym typeface="Arial"/>
                </a:endParaRPr>
              </a:p>
              <a:p>
                <a:pPr marL="0" indent="0">
                  <a:lnSpc>
                    <a:spcPct val="100000"/>
                  </a:lnSpc>
                  <a:spcBef>
                    <a:spcPts val="0"/>
                  </a:spcBef>
                  <a:buSzPts val="3000"/>
                  <a:buNone/>
                </a:pPr>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 </m:t>
                      </m:r>
                      <m:r>
                        <m:rPr>
                          <m:sty m:val="p"/>
                        </m:rPr>
                        <a:rPr lang="en-US" sz="2400" b="0" i="1" smtClean="0">
                          <a:solidFill>
                            <a:schemeClr val="dk1"/>
                          </a:solidFill>
                          <a:latin typeface="Cambria Math" panose="02040503050406030204" pitchFamily="18" charset="0"/>
                          <a:ea typeface="Arial"/>
                          <a:cs typeface="Arial"/>
                          <a:sym typeface="Arial"/>
                        </a:rPr>
                        <m:t>f</m:t>
                      </m:r>
                      <m:r>
                        <a:rPr lang="en-US" sz="2400" b="0" i="1" smtClean="0">
                          <a:solidFill>
                            <a:schemeClr val="dk1"/>
                          </a:solidFill>
                          <a:latin typeface="Cambria Math" panose="02040503050406030204" pitchFamily="18" charset="0"/>
                          <a:ea typeface="Arial"/>
                          <a:cs typeface="Arial"/>
                          <a:sym typeface="Arial"/>
                        </a:rPr>
                        <m:t> </m:t>
                      </m:r>
                      <m:f>
                        <m:fPr>
                          <m:ctrlPr>
                            <a:rPr lang="en-US" sz="2400" b="0" i="1" smtClean="0">
                              <a:solidFill>
                                <a:schemeClr val="dk1"/>
                              </a:solidFill>
                              <a:latin typeface="Cambria Math" panose="02040503050406030204" pitchFamily="18" charset="0"/>
                              <a:cs typeface="Arial"/>
                              <a:sym typeface="Arial"/>
                            </a:rPr>
                          </m:ctrlPr>
                        </m:fPr>
                        <m:num>
                          <m:r>
                            <m:rPr>
                              <m:sty m:val="p"/>
                            </m:rPr>
                            <a:rPr lang="en-US" sz="2400" b="0" i="1" smtClean="0">
                              <a:solidFill>
                                <a:schemeClr val="dk1"/>
                              </a:solidFill>
                              <a:latin typeface="Cambria Math" panose="02040503050406030204" pitchFamily="18" charset="0"/>
                              <a:cs typeface="Arial"/>
                              <a:sym typeface="Arial"/>
                            </a:rPr>
                            <m:t>X</m:t>
                          </m:r>
                        </m:num>
                        <m:den>
                          <m:r>
                            <m:rPr>
                              <m:sty m:val="p"/>
                            </m:rPr>
                            <a:rPr lang="en-US" sz="2400" b="0" i="1" smtClean="0">
                              <a:solidFill>
                                <a:schemeClr val="dk1"/>
                              </a:solidFill>
                              <a:latin typeface="Cambria Math" panose="02040503050406030204" pitchFamily="18" charset="0"/>
                              <a:cs typeface="Arial"/>
                              <a:sym typeface="Arial"/>
                            </a:rPr>
                            <m:t>Z</m:t>
                          </m:r>
                        </m:den>
                      </m:f>
                      <m:r>
                        <a:rPr lang="en-US" sz="2400" b="0" i="0" smtClean="0">
                          <a:solidFill>
                            <a:schemeClr val="dk1"/>
                          </a:solidFill>
                          <a:latin typeface="Cambria Math" panose="02040503050406030204" pitchFamily="18" charset="0"/>
                          <a:cs typeface="Arial"/>
                          <a:sym typeface="Arial"/>
                        </a:rPr>
                        <m:t>,  </m:t>
                      </m:r>
                      <m:r>
                        <m:rPr>
                          <m:sty m:val="p"/>
                        </m:rPr>
                        <a:rPr lang="en-US" sz="2400" i="1" dirty="0" smtClean="0">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 = </m:t>
                      </m:r>
                      <m:r>
                        <m:rPr>
                          <m:sty m:val="p"/>
                        </m:rPr>
                        <a:rPr lang="en-US" sz="2400" i="1">
                          <a:latin typeface="Cambria Math" panose="02040503050406030204" pitchFamily="18" charset="0"/>
                          <a:ea typeface="Arial"/>
                          <a:cs typeface="Arial"/>
                          <a:sym typeface="Arial"/>
                        </a:rPr>
                        <m:t>f</m:t>
                      </m:r>
                      <m:r>
                        <a:rPr lang="en-US" sz="2400" i="1">
                          <a:latin typeface="Cambria Math" panose="02040503050406030204" pitchFamily="18" charset="0"/>
                          <a:ea typeface="Arial"/>
                          <a:cs typeface="Arial"/>
                          <a:sym typeface="Arial"/>
                        </a:rPr>
                        <m:t> </m:t>
                      </m:r>
                      <m:f>
                        <m:fPr>
                          <m:ctrlPr>
                            <a:rPr lang="en-US" sz="2400" i="1">
                              <a:latin typeface="Cambria Math" panose="02040503050406030204" pitchFamily="18" charset="0"/>
                              <a:cs typeface="Arial"/>
                              <a:sym typeface="Arial"/>
                            </a:rPr>
                          </m:ctrlPr>
                        </m:fPr>
                        <m:num>
                          <m:r>
                            <m:rPr>
                              <m:sty m:val="p"/>
                            </m:rPr>
                            <a:rPr lang="en-US" sz="2400" b="0" i="1" smtClean="0">
                              <a:latin typeface="Cambria Math" panose="02040503050406030204" pitchFamily="18" charset="0"/>
                              <a:cs typeface="Arial"/>
                              <a:sym typeface="Arial"/>
                            </a:rPr>
                            <m:t>Y</m:t>
                          </m:r>
                        </m:num>
                        <m:den>
                          <m:r>
                            <m:rPr>
                              <m:sty m:val="p"/>
                            </m:rPr>
                            <a:rPr lang="en-US" sz="2400" i="1">
                              <a:latin typeface="Cambria Math" panose="02040503050406030204" pitchFamily="18" charset="0"/>
                              <a:cs typeface="Arial"/>
                              <a:sym typeface="Arial"/>
                            </a:rPr>
                            <m:t>Z</m:t>
                          </m:r>
                        </m:den>
                      </m:f>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This division complicates algebraic relations.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Projective geometry and homogeneous coordinates help that simplify those algebraic relations and thus simplify many of the equations that involve geometric transformations.</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C38BA7D8-0999-CD69-34B8-3256F237202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1364" b="-252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32BA493-CEF4-38EC-2DF0-A48C6CB549B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69D08255-1746-4D34-BD7F-AF04CF12A1C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C3F7E84-30C9-2072-08AB-339B29CD881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6172292-0786-C9EC-4EC1-8BC6B0C2D5B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0E16225-D852-B2D9-75E2-4A77062CAD9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FF01B9D-04A6-53C3-667F-0979EFC84E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74A625A-B90F-F5DA-E3FE-3B65E4EC01E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EC8720-4AAE-8E64-3601-207E9F20060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66481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2AFCBEA-0227-2569-5835-89BB1D6EFF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8572E46-1529-D8C5-D237-D084A180EFE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Consider a coordinate system with the origin fixed at the center of projection of the camera and the 3D point in homogeneous coordinates,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P</m:t>
                      </m:r>
                      <m:r>
                        <a:rPr lang="en-US" sz="2400" b="0" i="1" smtClean="0">
                          <a:solidFill>
                            <a:schemeClr val="dk1"/>
                          </a:solidFill>
                          <a:latin typeface="Cambria Math" panose="02040503050406030204" pitchFamily="18" charset="0"/>
                          <a:ea typeface="Arial"/>
                          <a:cs typeface="Arial"/>
                          <a:sym typeface="Arial"/>
                        </a:rPr>
                        <m:t> = </m:t>
                      </m:r>
                      <m:d>
                        <m:dPr>
                          <m:begChr m:val="["/>
                          <m:endChr m:val="]"/>
                          <m:ctrlPr>
                            <a:rPr lang="en-US" sz="2400" i="1" dirty="0" smtClean="0">
                              <a:solidFill>
                                <a:schemeClr val="dk1"/>
                              </a:solidFill>
                              <a:latin typeface="Cambria Math" panose="02040503050406030204" pitchFamily="18" charset="0"/>
                              <a:sym typeface="Arial"/>
                            </a:rPr>
                          </m:ctrlPr>
                        </m:dPr>
                        <m:e>
                          <m:m>
                            <m:mPr>
                              <m:plcHide m:val="on"/>
                              <m:mcs>
                                <m:mc>
                                  <m:mcPr>
                                    <m:count m:val="1"/>
                                    <m:mcJc m:val="center"/>
                                  </m:mcPr>
                                </m:mc>
                              </m:mcs>
                              <m:ctrlPr>
                                <a:rPr lang="en-US" sz="2400" i="1" dirty="0" smtClean="0">
                                  <a:solidFill>
                                    <a:schemeClr val="dk1"/>
                                  </a:solidFill>
                                  <a:latin typeface="Cambria Math" panose="02040503050406030204" pitchFamily="18" charset="0"/>
                                  <a:sym typeface="Arial"/>
                                </a:rPr>
                              </m:ctrlPr>
                            </m:mPr>
                            <m:mr>
                              <m:e>
                                <m:r>
                                  <a:rPr lang="en-US" sz="2400" i="1" dirty="0" smtClean="0">
                                    <a:solidFill>
                                      <a:schemeClr val="dk1"/>
                                    </a:solidFill>
                                    <a:latin typeface="Cambria Math" panose="02040503050406030204" pitchFamily="18" charset="0"/>
                                    <a:sym typeface="Arial"/>
                                  </a:rPr>
                                  <m:t>𝑋</m:t>
                                </m:r>
                              </m:e>
                            </m:mr>
                            <m:mr>
                              <m:e>
                                <m:r>
                                  <a:rPr lang="en-US" sz="2400" i="1" dirty="0" smtClean="0">
                                    <a:solidFill>
                                      <a:schemeClr val="dk1"/>
                                    </a:solidFill>
                                    <a:latin typeface="Cambria Math" panose="02040503050406030204" pitchFamily="18" charset="0"/>
                                    <a:sym typeface="Arial"/>
                                  </a:rPr>
                                  <m:t>𝑌</m:t>
                                </m:r>
                              </m:e>
                            </m:mr>
                            <m:mr>
                              <m:e>
                                <m:r>
                                  <m:rPr>
                                    <m:sty m:val="p"/>
                                  </m:rPr>
                                  <a:rPr lang="en-US" sz="2400" b="0" i="1" dirty="0" smtClean="0">
                                    <a:solidFill>
                                      <a:schemeClr val="dk1"/>
                                    </a:solidFill>
                                    <a:latin typeface="Cambria Math" panose="02040503050406030204" pitchFamily="18" charset="0"/>
                                    <a:sym typeface="Arial"/>
                                  </a:rPr>
                                  <m:t>Z</m:t>
                                </m:r>
                              </m:e>
                            </m:mr>
                            <m:mr>
                              <m:e>
                                <m:r>
                                  <a:rPr lang="en-US" sz="2400" i="0" dirty="0" smtClean="0">
                                    <a:solidFill>
                                      <a:schemeClr val="dk1"/>
                                    </a:solidFill>
                                    <a:latin typeface="Cambria Math" panose="02040503050406030204" pitchFamily="18" charset="0"/>
                                    <a:sym typeface="Arial"/>
                                  </a:rPr>
                                  <m:t>1</m:t>
                                </m:r>
                              </m:e>
                            </m:mr>
                          </m:m>
                        </m:e>
                      </m:d>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We can verify that the that matrix,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K</m:t>
                    </m:r>
                  </m:oMath>
                </a14:m>
                <a:r>
                  <a:rPr lang="en-US" sz="2400" dirty="0">
                    <a:solidFill>
                      <a:schemeClr val="dk1"/>
                    </a:solidFill>
                    <a:latin typeface="Arial"/>
                    <a:ea typeface="Arial"/>
                    <a:cs typeface="Arial"/>
                    <a:sym typeface="Arial"/>
                  </a:rPr>
                  <a:t>, multiplies, by the vector describing the 3D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P</m:t>
                    </m:r>
                  </m:oMath>
                </a14:m>
                <a:r>
                  <a:rPr lang="en-US" sz="2400" dirty="0">
                    <a:solidFill>
                      <a:schemeClr val="dk1"/>
                    </a:solidFill>
                    <a:latin typeface="Arial"/>
                    <a:ea typeface="Arial"/>
                    <a:cs typeface="Arial"/>
                    <a:sym typeface="Arial"/>
                  </a:rPr>
                  <a:t>, returns the position of its </a:t>
                </a:r>
                <a:r>
                  <a:rPr lang="en-US" sz="2400" b="1" dirty="0">
                    <a:solidFill>
                      <a:schemeClr val="dk1"/>
                    </a:solidFill>
                    <a:latin typeface="Arial"/>
                    <a:ea typeface="Arial"/>
                    <a:cs typeface="Arial"/>
                    <a:sym typeface="Arial"/>
                  </a:rPr>
                  <a:t>perspective projection</a:t>
                </a:r>
                <a:r>
                  <a:rPr lang="en-US" sz="2400" dirty="0">
                    <a:solidFill>
                      <a:schemeClr val="dk1"/>
                    </a:solidFill>
                    <a:latin typeface="Arial"/>
                    <a:ea typeface="Arial"/>
                    <a:cs typeface="Arial"/>
                    <a:sym typeface="Arial"/>
                  </a:rPr>
                  <a:t>!</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18572E46-1529-D8C5-D237-D084A180EFE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13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9F4CD25-290C-09EF-1EED-A9B3B128645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A443CC1-CDAA-EB79-A2FB-1B6DCB1B2E0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15A62ED-DE63-583D-AA55-39EC6A6B477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62BBE19-AC75-CF5E-4660-D6C3E14671B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0885640-8E43-AE0F-4F08-06B7813378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012908-6F05-F9E7-2D33-BA475F13B50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DA0891-717C-FDE2-FB81-815B32E8E4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98A8C99-EBFE-97FA-6B6E-C0267BDEA77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83131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8A5936-1B0E-7EEB-4ED2-42BBAC9563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EDBC7FB-8DB9-6B33-7D40-BBAFD476D04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rial"/>
                    <a:ea typeface="Arial"/>
                    <a:cs typeface="Arial"/>
                    <a:sym typeface="Arial"/>
                  </a:rPr>
                  <a:t>We thus can convert the 3D coordinate </a:t>
                </a:r>
                <a14:m>
                  <m:oMath xmlns:m="http://schemas.openxmlformats.org/officeDocument/2006/math">
                    <m:r>
                      <m:rPr>
                        <m:sty m:val="p"/>
                      </m:rPr>
                      <a:rPr lang="en-US" sz="2400" b="0" i="1" smtClean="0">
                        <a:latin typeface="Cambria Math" panose="02040503050406030204" pitchFamily="18" charset="0"/>
                        <a:ea typeface="Arial"/>
                        <a:cs typeface="Arial"/>
                        <a:sym typeface="Arial"/>
                      </a:rPr>
                      <m:t>P</m:t>
                    </m:r>
                    <m:r>
                      <a:rPr lang="en-US" sz="2400" b="0" i="0" smtClean="0">
                        <a:latin typeface="Cambria Math" panose="02040503050406030204" pitchFamily="18" charset="0"/>
                        <a:ea typeface="Arial"/>
                        <a:cs typeface="Arial"/>
                        <a:sym typeface="Arial"/>
                      </a:rPr>
                      <m:t>,</m:t>
                    </m:r>
                  </m:oMath>
                </a14:m>
                <a:r>
                  <a:rPr lang="en-US" sz="2400" dirty="0">
                    <a:latin typeface="Arial"/>
                    <a:ea typeface="Arial"/>
                    <a:cs typeface="Arial"/>
                    <a:sym typeface="Arial"/>
                  </a:rPr>
                  <a:t> to it’s projected 2D position </a:t>
                </a:r>
                <a14:m>
                  <m:oMath xmlns:m="http://schemas.openxmlformats.org/officeDocument/2006/math">
                    <m:r>
                      <m:rPr>
                        <m:sty m:val="p"/>
                      </m:rPr>
                      <a:rPr lang="en-US" sz="2400" b="0" i="1" smtClean="0">
                        <a:latin typeface="Cambria Math" panose="02040503050406030204" pitchFamily="18" charset="0"/>
                        <a:ea typeface="Arial"/>
                        <a:cs typeface="Arial"/>
                        <a:sym typeface="Arial"/>
                      </a:rPr>
                      <m:t>p</m:t>
                    </m:r>
                  </m:oMath>
                </a14:m>
                <a:r>
                  <a:rPr lang="en-US" sz="2400" dirty="0">
                    <a:latin typeface="Arial"/>
                    <a:ea typeface="Arial"/>
                    <a:cs typeface="Arial"/>
                    <a:sym typeface="Arial"/>
                  </a:rPr>
                  <a:t>!</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KP</m:t>
                      </m:r>
                      <m:r>
                        <a:rPr lang="en-US" sz="2400" b="0" i="1" smtClean="0">
                          <a:solidFill>
                            <a:schemeClr val="dk1"/>
                          </a:solidFill>
                          <a:latin typeface="Cambria Math" panose="02040503050406030204" pitchFamily="18" charset="0"/>
                          <a:ea typeface="Arial"/>
                          <a:cs typeface="Arial"/>
                          <a:sym typeface="Arial"/>
                        </a:rPr>
                        <m:t> = </m:t>
                      </m:r>
                      <m:d>
                        <m:dPr>
                          <m:begChr m:val="["/>
                          <m:endChr m:val="]"/>
                          <m:ctrlPr>
                            <a:rPr lang="en-US" sz="2400" i="1" dirty="0" smtClean="0">
                              <a:solidFill>
                                <a:schemeClr val="dk1"/>
                              </a:solidFill>
                              <a:latin typeface="Cambria Math" panose="02040503050406030204" pitchFamily="18" charset="0"/>
                              <a:sym typeface="Arial"/>
                            </a:rPr>
                          </m:ctrlPr>
                        </m:dPr>
                        <m:e>
                          <m:m>
                            <m:mPr>
                              <m:plcHide m:val="on"/>
                              <m:mcs>
                                <m:mc>
                                  <m:mcPr>
                                    <m:count m:val="4"/>
                                    <m:mcJc m:val="center"/>
                                  </m:mcPr>
                                </m:mc>
                              </m:mcs>
                              <m:ctrlPr>
                                <a:rPr lang="en-US" sz="2400" i="1" dirty="0">
                                  <a:solidFill>
                                    <a:schemeClr val="dk1"/>
                                  </a:solidFill>
                                  <a:latin typeface="Cambria Math" panose="02040503050406030204" pitchFamily="18" charset="0"/>
                                  <a:sym typeface="Arial"/>
                                </a:rPr>
                              </m:ctrlPr>
                            </m:mPr>
                            <m:mr>
                              <m:e>
                                <m:r>
                                  <m:rPr>
                                    <m:sty m:val="p"/>
                                  </m:rPr>
                                  <a:rPr lang="en-US" sz="2400" b="0" i="1" dirty="0" smtClean="0">
                                    <a:solidFill>
                                      <a:schemeClr val="dk1"/>
                                    </a:solidFill>
                                    <a:latin typeface="Cambria Math" panose="02040503050406030204" pitchFamily="18" charset="0"/>
                                    <a:sym typeface="Arial"/>
                                  </a:rPr>
                                  <m:t>f</m:t>
                                </m:r>
                              </m:e>
                              <m:e>
                                <m:r>
                                  <a:rPr lang="en-US" sz="2400" i="0" dirty="0">
                                    <a:solidFill>
                                      <a:schemeClr val="dk1"/>
                                    </a:solidFill>
                                    <a:latin typeface="Cambria Math" panose="02040503050406030204" pitchFamily="18" charset="0"/>
                                    <a:sym typeface="Arial"/>
                                  </a:rPr>
                                  <m:t>0</m:t>
                                </m:r>
                              </m:e>
                              <m:e>
                                <m:r>
                                  <a:rPr lang="en-US" sz="2400" i="0" dirty="0">
                                    <a:solidFill>
                                      <a:schemeClr val="dk1"/>
                                    </a:solidFill>
                                    <a:latin typeface="Cambria Math" panose="02040503050406030204" pitchFamily="18" charset="0"/>
                                    <a:sym typeface="Arial"/>
                                  </a:rPr>
                                  <m:t>0</m:t>
                                </m:r>
                              </m:e>
                              <m:e>
                                <m:r>
                                  <a:rPr lang="en-US" sz="2400" i="0" dirty="0">
                                    <a:solidFill>
                                      <a:schemeClr val="dk1"/>
                                    </a:solidFill>
                                    <a:latin typeface="Cambria Math" panose="02040503050406030204" pitchFamily="18" charset="0"/>
                                    <a:sym typeface="Arial"/>
                                  </a:rPr>
                                  <m:t>0</m:t>
                                </m:r>
                              </m:e>
                            </m:mr>
                            <m:mr>
                              <m:e>
                                <m:r>
                                  <a:rPr lang="en-US" sz="2400" i="0" dirty="0">
                                    <a:solidFill>
                                      <a:schemeClr val="dk1"/>
                                    </a:solidFill>
                                    <a:latin typeface="Cambria Math" panose="02040503050406030204" pitchFamily="18" charset="0"/>
                                    <a:sym typeface="Arial"/>
                                  </a:rPr>
                                  <m:t>0</m:t>
                                </m:r>
                              </m:e>
                              <m:e>
                                <m:r>
                                  <m:rPr>
                                    <m:sty m:val="p"/>
                                  </m:rPr>
                                  <a:rPr lang="en-US" sz="2400" b="0" i="1" dirty="0" smtClean="0">
                                    <a:solidFill>
                                      <a:schemeClr val="dk1"/>
                                    </a:solidFill>
                                    <a:latin typeface="Cambria Math" panose="02040503050406030204" pitchFamily="18" charset="0"/>
                                    <a:sym typeface="Arial"/>
                                  </a:rPr>
                                  <m:t>f</m:t>
                                </m:r>
                              </m:e>
                              <m:e>
                                <m:r>
                                  <a:rPr lang="en-US" sz="2400" i="0" dirty="0">
                                    <a:solidFill>
                                      <a:schemeClr val="dk1"/>
                                    </a:solidFill>
                                    <a:latin typeface="Cambria Math" panose="02040503050406030204" pitchFamily="18" charset="0"/>
                                    <a:sym typeface="Arial"/>
                                  </a:rPr>
                                  <m:t>0</m:t>
                                </m:r>
                              </m:e>
                              <m:e>
                                <m:r>
                                  <a:rPr lang="en-US" sz="2400" i="0" dirty="0">
                                    <a:solidFill>
                                      <a:schemeClr val="dk1"/>
                                    </a:solidFill>
                                    <a:latin typeface="Cambria Math" panose="02040503050406030204" pitchFamily="18" charset="0"/>
                                    <a:sym typeface="Arial"/>
                                  </a:rPr>
                                  <m:t>0</m:t>
                                </m:r>
                              </m:e>
                            </m:mr>
                            <m:mr>
                              <m:e>
                                <m:r>
                                  <a:rPr lang="en-US" sz="2400" i="0" dirty="0">
                                    <a:solidFill>
                                      <a:schemeClr val="dk1"/>
                                    </a:solidFill>
                                    <a:latin typeface="Cambria Math" panose="02040503050406030204" pitchFamily="18" charset="0"/>
                                    <a:sym typeface="Arial"/>
                                  </a:rPr>
                                  <m:t>0</m:t>
                                </m:r>
                              </m:e>
                              <m:e>
                                <m:r>
                                  <a:rPr lang="en-US" sz="2400" i="0" dirty="0">
                                    <a:solidFill>
                                      <a:schemeClr val="dk1"/>
                                    </a:solidFill>
                                    <a:latin typeface="Cambria Math" panose="02040503050406030204" pitchFamily="18" charset="0"/>
                                    <a:sym typeface="Arial"/>
                                  </a:rPr>
                                  <m:t>0</m:t>
                                </m:r>
                              </m:e>
                              <m:e>
                                <m:r>
                                  <a:rPr lang="en-US" sz="2400" i="0" dirty="0">
                                    <a:solidFill>
                                      <a:schemeClr val="dk1"/>
                                    </a:solidFill>
                                    <a:latin typeface="Cambria Math" panose="02040503050406030204" pitchFamily="18" charset="0"/>
                                    <a:sym typeface="Arial"/>
                                  </a:rPr>
                                  <m:t>1</m:t>
                                </m:r>
                              </m:e>
                              <m:e>
                                <m:r>
                                  <a:rPr lang="en-US" sz="2400" i="0" dirty="0">
                                    <a:solidFill>
                                      <a:schemeClr val="dk1"/>
                                    </a:solidFill>
                                    <a:latin typeface="Cambria Math" panose="02040503050406030204" pitchFamily="18" charset="0"/>
                                    <a:sym typeface="Arial"/>
                                  </a:rPr>
                                  <m:t>0</m:t>
                                </m:r>
                              </m:e>
                            </m:mr>
                          </m:m>
                        </m:e>
                      </m:d>
                      <m:d>
                        <m:dPr>
                          <m:begChr m:val="["/>
                          <m:endChr m:val="]"/>
                          <m:ctrlPr>
                            <a:rPr lang="en-US" sz="2400" i="1" dirty="0">
                              <a:solidFill>
                                <a:schemeClr val="dk1"/>
                              </a:solidFill>
                              <a:latin typeface="Cambria Math" panose="02040503050406030204" pitchFamily="18" charset="0"/>
                              <a:sym typeface="Arial"/>
                            </a:rPr>
                          </m:ctrlPr>
                        </m:dPr>
                        <m:e>
                          <m:m>
                            <m:mPr>
                              <m:plcHide m:val="on"/>
                              <m:mcs>
                                <m:mc>
                                  <m:mcPr>
                                    <m:count m:val="1"/>
                                    <m:mcJc m:val="center"/>
                                  </m:mcPr>
                                </m:mc>
                              </m:mcs>
                              <m:ctrlPr>
                                <a:rPr lang="en-US" sz="2400" i="1" dirty="0">
                                  <a:solidFill>
                                    <a:schemeClr val="dk1"/>
                                  </a:solidFill>
                                  <a:latin typeface="Cambria Math" panose="02040503050406030204" pitchFamily="18" charset="0"/>
                                  <a:sym typeface="Arial"/>
                                </a:rPr>
                              </m:ctrlPr>
                            </m:mPr>
                            <m:mr>
                              <m:e>
                                <m:r>
                                  <a:rPr lang="en-US" sz="2400" i="1" dirty="0">
                                    <a:solidFill>
                                      <a:schemeClr val="dk1"/>
                                    </a:solidFill>
                                    <a:latin typeface="Cambria Math" panose="02040503050406030204" pitchFamily="18" charset="0"/>
                                    <a:sym typeface="Arial"/>
                                  </a:rPr>
                                  <m:t>𝑋</m:t>
                                </m:r>
                              </m:e>
                            </m:mr>
                            <m:mr>
                              <m:e>
                                <m:r>
                                  <a:rPr lang="en-US" sz="2400" i="1" dirty="0">
                                    <a:solidFill>
                                      <a:schemeClr val="dk1"/>
                                    </a:solidFill>
                                    <a:latin typeface="Cambria Math" panose="02040503050406030204" pitchFamily="18" charset="0"/>
                                    <a:sym typeface="Arial"/>
                                  </a:rPr>
                                  <m:t>𝑌</m:t>
                                </m:r>
                              </m:e>
                            </m:mr>
                            <m:mr>
                              <m:e>
                                <m:r>
                                  <a:rPr lang="en-US" sz="2400" i="1" dirty="0">
                                    <a:solidFill>
                                      <a:schemeClr val="dk1"/>
                                    </a:solidFill>
                                    <a:latin typeface="Cambria Math" panose="02040503050406030204" pitchFamily="18" charset="0"/>
                                    <a:sym typeface="Arial"/>
                                  </a:rPr>
                                  <m:t>𝑧</m:t>
                                </m:r>
                              </m:e>
                            </m:mr>
                            <m:mr>
                              <m:e>
                                <m:r>
                                  <a:rPr lang="en-US" sz="2400" i="0" dirty="0">
                                    <a:solidFill>
                                      <a:schemeClr val="dk1"/>
                                    </a:solidFill>
                                    <a:latin typeface="Cambria Math" panose="02040503050406030204" pitchFamily="18" charset="0"/>
                                    <a:sym typeface="Arial"/>
                                  </a:rPr>
                                  <m:t>1</m:t>
                                </m:r>
                              </m:e>
                            </m:mr>
                          </m:m>
                        </m:e>
                      </m:d>
                      <m:r>
                        <a:rPr lang="en-US" sz="2400" i="0" dirty="0">
                          <a:solidFill>
                            <a:schemeClr val="dk1"/>
                          </a:solidFill>
                          <a:latin typeface="Cambria Math" panose="02040503050406030204" pitchFamily="18" charset="0"/>
                          <a:sym typeface="Arial"/>
                        </a:rPr>
                        <m:t>=</m:t>
                      </m:r>
                      <m:d>
                        <m:dPr>
                          <m:begChr m:val="["/>
                          <m:endChr m:val="]"/>
                          <m:ctrlPr>
                            <a:rPr lang="en-US" sz="2400" i="1" dirty="0">
                              <a:solidFill>
                                <a:schemeClr val="dk1"/>
                              </a:solidFill>
                              <a:latin typeface="Cambria Math" panose="02040503050406030204" pitchFamily="18" charset="0"/>
                              <a:sym typeface="Arial"/>
                            </a:rPr>
                          </m:ctrlPr>
                        </m:dPr>
                        <m:e>
                          <m:m>
                            <m:mPr>
                              <m:plcHide m:val="on"/>
                              <m:mcs>
                                <m:mc>
                                  <m:mcPr>
                                    <m:count m:val="1"/>
                                    <m:mcJc m:val="center"/>
                                  </m:mcPr>
                                </m:mc>
                              </m:mcs>
                              <m:ctrlPr>
                                <a:rPr lang="en-US" sz="2400" i="1" dirty="0">
                                  <a:solidFill>
                                    <a:schemeClr val="dk1"/>
                                  </a:solidFill>
                                  <a:latin typeface="Cambria Math" panose="02040503050406030204" pitchFamily="18" charset="0"/>
                                  <a:sym typeface="Arial"/>
                                </a:rPr>
                              </m:ctrlPr>
                            </m:mPr>
                            <m:mr>
                              <m:e>
                                <m:r>
                                  <m:rPr>
                                    <m:sty m:val="p"/>
                                  </m:rPr>
                                  <a:rPr lang="en-US" sz="2400" b="0" i="1" dirty="0" smtClean="0">
                                    <a:solidFill>
                                      <a:schemeClr val="dk1"/>
                                    </a:solidFill>
                                    <a:latin typeface="Cambria Math" panose="02040503050406030204" pitchFamily="18" charset="0"/>
                                    <a:sym typeface="Arial"/>
                                  </a:rPr>
                                  <m:t>f</m:t>
                                </m:r>
                                <m:r>
                                  <a:rPr lang="en-US" sz="2400" i="1" dirty="0">
                                    <a:solidFill>
                                      <a:schemeClr val="dk1"/>
                                    </a:solidFill>
                                    <a:latin typeface="Cambria Math" panose="02040503050406030204" pitchFamily="18" charset="0"/>
                                    <a:sym typeface="Arial"/>
                                  </a:rPr>
                                  <m:t>𝑋</m:t>
                                </m:r>
                              </m:e>
                            </m:mr>
                            <m:mr>
                              <m:e>
                                <m:r>
                                  <m:rPr>
                                    <m:sty m:val="p"/>
                                  </m:rPr>
                                  <a:rPr lang="en-US" sz="2400" b="0" i="1" dirty="0" smtClean="0">
                                    <a:solidFill>
                                      <a:schemeClr val="dk1"/>
                                    </a:solidFill>
                                    <a:latin typeface="Cambria Math" panose="02040503050406030204" pitchFamily="18" charset="0"/>
                                    <a:sym typeface="Arial"/>
                                  </a:rPr>
                                  <m:t>f</m:t>
                                </m:r>
                                <m:r>
                                  <a:rPr lang="en-US" sz="2400" i="1" dirty="0">
                                    <a:solidFill>
                                      <a:schemeClr val="dk1"/>
                                    </a:solidFill>
                                    <a:latin typeface="Cambria Math" panose="02040503050406030204" pitchFamily="18" charset="0"/>
                                    <a:sym typeface="Arial"/>
                                  </a:rPr>
                                  <m:t>𝑌</m:t>
                                </m:r>
                              </m:e>
                            </m:mr>
                            <m:mr>
                              <m:e>
                                <m:r>
                                  <m:rPr>
                                    <m:sty m:val="p"/>
                                  </m:rPr>
                                  <a:rPr lang="en-US" sz="2400" b="0" i="1" dirty="0" smtClean="0">
                                    <a:solidFill>
                                      <a:schemeClr val="dk1"/>
                                    </a:solidFill>
                                    <a:latin typeface="Cambria Math" panose="02040503050406030204" pitchFamily="18" charset="0"/>
                                    <a:sym typeface="Arial"/>
                                  </a:rPr>
                                  <m:t>Z</m:t>
                                </m:r>
                              </m:e>
                            </m:mr>
                          </m:m>
                        </m:e>
                      </m:d>
                      <m:r>
                        <a:rPr lang="en-US" sz="2400" i="0" dirty="0">
                          <a:solidFill>
                            <a:schemeClr val="dk1"/>
                          </a:solidFill>
                          <a:latin typeface="Cambria Math" panose="02040503050406030204" pitchFamily="18" charset="0"/>
                          <a:sym typeface="Arial"/>
                        </a:rPr>
                        <m:t>=</m:t>
                      </m:r>
                      <m:r>
                        <a:rPr lang="en-US" sz="2400" i="1" dirty="0">
                          <a:solidFill>
                            <a:schemeClr val="dk1"/>
                          </a:solidFill>
                          <a:latin typeface="Cambria Math" panose="02040503050406030204" pitchFamily="18" charset="0"/>
                          <a:sym typeface="Arial"/>
                        </a:rPr>
                        <m:t>𝜆</m:t>
                      </m:r>
                      <m:d>
                        <m:dPr>
                          <m:begChr m:val="["/>
                          <m:endChr m:val="]"/>
                          <m:ctrlPr>
                            <a:rPr lang="en-US" sz="2400" i="1" dirty="0">
                              <a:solidFill>
                                <a:schemeClr val="dk1"/>
                              </a:solidFill>
                              <a:latin typeface="Cambria Math" panose="02040503050406030204" pitchFamily="18" charset="0"/>
                              <a:sym typeface="Arial"/>
                            </a:rPr>
                          </m:ctrlPr>
                        </m:dPr>
                        <m:e>
                          <m:m>
                            <m:mPr>
                              <m:plcHide m:val="on"/>
                              <m:mcs>
                                <m:mc>
                                  <m:mcPr>
                                    <m:count m:val="1"/>
                                    <m:mcJc m:val="center"/>
                                  </m:mcPr>
                                </m:mc>
                              </m:mcs>
                              <m:ctrlPr>
                                <a:rPr lang="en-US" sz="2400" i="1" dirty="0">
                                  <a:solidFill>
                                    <a:schemeClr val="dk1"/>
                                  </a:solidFill>
                                  <a:latin typeface="Cambria Math" panose="02040503050406030204" pitchFamily="18" charset="0"/>
                                  <a:sym typeface="Arial"/>
                                </a:rPr>
                              </m:ctrlPr>
                            </m:mPr>
                            <m:mr>
                              <m:e>
                                <m:r>
                                  <m:rPr>
                                    <m:sty m:val="p"/>
                                  </m:rPr>
                                  <a:rPr lang="en-US" sz="2400" b="0" i="1" dirty="0" smtClean="0">
                                    <a:solidFill>
                                      <a:schemeClr val="dk1"/>
                                    </a:solidFill>
                                    <a:latin typeface="Cambria Math" panose="02040503050406030204" pitchFamily="18" charset="0"/>
                                    <a:sym typeface="Arial"/>
                                  </a:rPr>
                                  <m:t>x</m:t>
                                </m:r>
                              </m:e>
                            </m:mr>
                            <m:mr>
                              <m:e>
                                <m:r>
                                  <a:rPr lang="en-US" sz="2400" i="1" dirty="0">
                                    <a:solidFill>
                                      <a:schemeClr val="dk1"/>
                                    </a:solidFill>
                                    <a:latin typeface="Cambria Math" panose="02040503050406030204" pitchFamily="18" charset="0"/>
                                    <a:sym typeface="Arial"/>
                                  </a:rPr>
                                  <m:t>𝑦</m:t>
                                </m:r>
                              </m:e>
                            </m:mr>
                            <m:mr>
                              <m:e>
                                <m:r>
                                  <a:rPr lang="en-US" sz="2400" i="0" dirty="0">
                                    <a:solidFill>
                                      <a:schemeClr val="dk1"/>
                                    </a:solidFill>
                                    <a:latin typeface="Cambria Math" panose="02040503050406030204" pitchFamily="18" charset="0"/>
                                    <a:sym typeface="Arial"/>
                                  </a:rPr>
                                  <m:t>1</m:t>
                                </m:r>
                              </m:e>
                            </m:mr>
                          </m:m>
                        </m:e>
                      </m:d>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Transforming the product vector from homogeneous coordinates to heterogeneous coordinates yields</a:t>
                </a:r>
              </a:p>
              <a:p>
                <a:pPr marL="0" indent="0">
                  <a:lnSpc>
                    <a:spcPct val="100000"/>
                  </a:lnSpc>
                  <a:spcBef>
                    <a:spcPts val="0"/>
                  </a:spcBef>
                  <a:buSzPts val="3000"/>
                  <a:buNone/>
                </a:pPr>
                <a:r>
                  <a:rPr lang="en-US" sz="2400" dirty="0">
                    <a:solidFill>
                      <a:schemeClr val="dk1"/>
                    </a:solidFill>
                    <a:latin typeface="Arial"/>
                    <a:ea typeface="Arial"/>
                    <a:cs typeface="Arial"/>
                    <a:sym typeface="Arial"/>
                  </a:rPr>
                  <a:t>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400" i="1" dirty="0">
                              <a:latin typeface="Cambria Math" panose="02040503050406030204" pitchFamily="18" charset="0"/>
                              <a:sym typeface="Arial"/>
                            </a:rPr>
                          </m:ctrlPr>
                        </m:dPr>
                        <m:e>
                          <m:m>
                            <m:mPr>
                              <m:plcHide m:val="on"/>
                              <m:mcs>
                                <m:mc>
                                  <m:mcPr>
                                    <m:count m:val="1"/>
                                    <m:mcJc m:val="center"/>
                                  </m:mcPr>
                                </m:mc>
                              </m:mcs>
                              <m:ctrlPr>
                                <a:rPr lang="en-US" sz="2400" i="1" dirty="0">
                                  <a:latin typeface="Cambria Math" panose="02040503050406030204" pitchFamily="18" charset="0"/>
                                  <a:sym typeface="Arial"/>
                                </a:rPr>
                              </m:ctrlPr>
                            </m:mPr>
                            <m:mr>
                              <m:e>
                                <m:r>
                                  <m:rPr>
                                    <m:sty m:val="p"/>
                                  </m:rPr>
                                  <a:rPr lang="en-US" sz="2400" i="1" dirty="0">
                                    <a:latin typeface="Cambria Math" panose="02040503050406030204" pitchFamily="18" charset="0"/>
                                    <a:sym typeface="Arial"/>
                                  </a:rPr>
                                  <m:t>f</m:t>
                                </m:r>
                                <m:r>
                                  <a:rPr lang="en-US" sz="2400" i="1" dirty="0">
                                    <a:latin typeface="Cambria Math" panose="02040503050406030204" pitchFamily="18" charset="0"/>
                                    <a:sym typeface="Arial"/>
                                  </a:rPr>
                                  <m:t>𝑋</m:t>
                                </m:r>
                              </m:e>
                            </m:mr>
                            <m:mr>
                              <m:e>
                                <m:r>
                                  <m:rPr>
                                    <m:sty m:val="p"/>
                                  </m:rPr>
                                  <a:rPr lang="en-US" sz="2400" i="1" dirty="0">
                                    <a:latin typeface="Cambria Math" panose="02040503050406030204" pitchFamily="18" charset="0"/>
                                    <a:sym typeface="Arial"/>
                                  </a:rPr>
                                  <m:t>f</m:t>
                                </m:r>
                                <m:r>
                                  <a:rPr lang="en-US" sz="2400" i="1" dirty="0">
                                    <a:latin typeface="Cambria Math" panose="02040503050406030204" pitchFamily="18" charset="0"/>
                                    <a:sym typeface="Arial"/>
                                  </a:rPr>
                                  <m:t>𝑌</m:t>
                                </m:r>
                              </m:e>
                            </m:mr>
                            <m:mr>
                              <m:e>
                                <m:r>
                                  <m:rPr>
                                    <m:sty m:val="p"/>
                                  </m:rPr>
                                  <a:rPr lang="en-US" sz="2400" i="1" dirty="0">
                                    <a:latin typeface="Cambria Math" panose="02040503050406030204" pitchFamily="18" charset="0"/>
                                    <a:sym typeface="Arial"/>
                                  </a:rPr>
                                  <m:t>Z</m:t>
                                </m:r>
                              </m:e>
                            </m:mr>
                          </m:m>
                        </m:e>
                      </m:d>
                      <m:r>
                        <a:rPr lang="en-US" sz="2400" b="0" i="1" dirty="0" smtClean="0">
                          <a:latin typeface="Cambria Math" panose="02040503050406030204" pitchFamily="18" charset="0"/>
                          <a:sym typeface="Arial"/>
                        </a:rPr>
                        <m:t>→</m:t>
                      </m:r>
                      <m:d>
                        <m:dPr>
                          <m:ctrlPr>
                            <a:rPr lang="en-US" sz="2400" i="1">
                              <a:latin typeface="Cambria Math" panose="02040503050406030204" pitchFamily="18" charset="0"/>
                              <a:sym typeface="Arial"/>
                            </a:rPr>
                          </m:ctrlPr>
                        </m:dPr>
                        <m:e>
                          <m:m>
                            <m:mPr>
                              <m:plcHide m:val="on"/>
                              <m:mcs>
                                <m:mc>
                                  <m:mcPr>
                                    <m:count m:val="1"/>
                                    <m:mcJc m:val="center"/>
                                  </m:mcPr>
                                </m:mc>
                              </m:mcs>
                              <m:ctrlPr>
                                <a:rPr lang="en-US" sz="2400" i="1">
                                  <a:latin typeface="Cambria Math" panose="02040503050406030204" pitchFamily="18" charset="0"/>
                                  <a:sym typeface="Arial"/>
                                </a:rPr>
                              </m:ctrlPr>
                            </m:mPr>
                            <m:mr>
                              <m:e>
                                <m:r>
                                  <m:rPr>
                                    <m:sty m:val="p"/>
                                  </m:rPr>
                                  <a:rPr lang="en-US" sz="2400" b="0" i="1" smtClean="0">
                                    <a:latin typeface="Cambria Math" panose="02040503050406030204" pitchFamily="18" charset="0"/>
                                    <a:sym typeface="Arial"/>
                                  </a:rPr>
                                  <m:t>fX</m:t>
                                </m:r>
                                <m:r>
                                  <a:rPr lang="en-US" sz="2400" i="1">
                                    <a:latin typeface="Cambria Math" panose="02040503050406030204" pitchFamily="18" charset="0"/>
                                    <a:sym typeface="Arial"/>
                                  </a:rPr>
                                  <m:t>/</m:t>
                                </m:r>
                                <m:r>
                                  <m:rPr>
                                    <m:sty m:val="p"/>
                                  </m:rPr>
                                  <a:rPr lang="en-US" sz="2400" b="0" i="1" smtClean="0">
                                    <a:latin typeface="Cambria Math" panose="02040503050406030204" pitchFamily="18" charset="0"/>
                                    <a:sym typeface="Arial"/>
                                  </a:rPr>
                                  <m:t>Z</m:t>
                                </m:r>
                              </m:e>
                            </m:mr>
                            <m:mr>
                              <m:e>
                                <m:r>
                                  <m:rPr>
                                    <m:sty m:val="p"/>
                                  </m:rPr>
                                  <a:rPr lang="en-US" sz="2400" b="0" i="1" smtClean="0">
                                    <a:latin typeface="Cambria Math" panose="02040503050406030204" pitchFamily="18" charset="0"/>
                                    <a:sym typeface="Arial"/>
                                  </a:rPr>
                                  <m:t>fY</m:t>
                                </m:r>
                                <m:r>
                                  <a:rPr lang="en-US" sz="2400" i="1" smtClean="0">
                                    <a:latin typeface="Cambria Math" panose="02040503050406030204" pitchFamily="18" charset="0"/>
                                    <a:sym typeface="Arial"/>
                                  </a:rPr>
                                  <m:t>/</m:t>
                                </m:r>
                                <m:r>
                                  <m:rPr>
                                    <m:sty m:val="p"/>
                                  </m:rPr>
                                  <a:rPr lang="en-US" sz="2400" b="0" i="1" smtClean="0">
                                    <a:latin typeface="Cambria Math" panose="02040503050406030204" pitchFamily="18" charset="0"/>
                                    <a:sym typeface="Arial"/>
                                  </a:rPr>
                                  <m:t>Z</m:t>
                                </m:r>
                              </m:e>
                            </m:mr>
                          </m:m>
                        </m:e>
                      </m:d>
                      <m:r>
                        <a:rPr lang="en-US" sz="2400" b="0" i="1" smtClean="0">
                          <a:latin typeface="Cambria Math" panose="02040503050406030204" pitchFamily="18" charset="0"/>
                          <a:sym typeface="Arial"/>
                        </a:rPr>
                        <m:t>=</m:t>
                      </m:r>
                      <m:d>
                        <m:dPr>
                          <m:ctrlPr>
                            <a:rPr lang="en-US" sz="2400" i="1">
                              <a:latin typeface="Cambria Math" panose="02040503050406030204" pitchFamily="18" charset="0"/>
                              <a:sym typeface="Arial"/>
                            </a:rPr>
                          </m:ctrlPr>
                        </m:dPr>
                        <m:e>
                          <m:m>
                            <m:mPr>
                              <m:plcHide m:val="on"/>
                              <m:mcs>
                                <m:mc>
                                  <m:mcPr>
                                    <m:count m:val="1"/>
                                    <m:mcJc m:val="center"/>
                                  </m:mcPr>
                                </m:mc>
                              </m:mcs>
                              <m:ctrlPr>
                                <a:rPr lang="en-US" sz="2400" i="1">
                                  <a:latin typeface="Cambria Math" panose="02040503050406030204" pitchFamily="18" charset="0"/>
                                  <a:sym typeface="Arial"/>
                                </a:rPr>
                              </m:ctrlPr>
                            </m:mPr>
                            <m:mr>
                              <m:e>
                                <m:r>
                                  <m:rPr>
                                    <m:sty m:val="p"/>
                                  </m:rPr>
                                  <a:rPr lang="en-US" sz="2400" b="0" i="1" smtClean="0">
                                    <a:latin typeface="Cambria Math" panose="02040503050406030204" pitchFamily="18" charset="0"/>
                                    <a:sym typeface="Arial"/>
                                  </a:rPr>
                                  <m:t>cx</m:t>
                                </m:r>
                              </m:e>
                            </m:mr>
                            <m:mr>
                              <m:e>
                                <m:r>
                                  <m:rPr>
                                    <m:sty m:val="p"/>
                                  </m:rPr>
                                  <a:rPr lang="en-US" sz="2400" b="0" i="1" smtClean="0">
                                    <a:latin typeface="Cambria Math" panose="02040503050406030204" pitchFamily="18" charset="0"/>
                                    <a:sym typeface="Arial"/>
                                  </a:rPr>
                                  <m:t>y</m:t>
                                </m:r>
                              </m:e>
                            </m:mr>
                          </m:m>
                        </m:e>
                      </m:d>
                      <m:r>
                        <a:rPr lang="en-US" sz="2400" b="0" i="1" smtClean="0">
                          <a:latin typeface="Cambria Math" panose="02040503050406030204" pitchFamily="18" charset="0"/>
                          <a:sym typeface="Arial"/>
                        </a:rPr>
                        <m:t>=</m:t>
                      </m:r>
                      <m:r>
                        <m:rPr>
                          <m:sty m:val="p"/>
                        </m:rPr>
                        <a:rPr lang="en-US" sz="2400" b="0" i="1" smtClean="0">
                          <a:latin typeface="Cambria Math" panose="02040503050406030204" pitchFamily="18" charset="0"/>
                          <a:sym typeface="Arial"/>
                        </a:rPr>
                        <m:t>p</m:t>
                      </m:r>
                    </m:oMath>
                  </m:oMathPara>
                </a14:m>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BEDBC7FB-8DB9-6B33-7D40-BBAFD476D04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EB6B277-6E12-09EC-03C2-8F7D7AEE09F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C4CBD7F-15DE-D21E-7A21-22C04DD18D1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3510B56-B017-0C6A-0159-822A32352CC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20CECF0-ADCA-C5F0-8B36-F324715605A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CF099B-162C-B402-EA48-F8F7B7F9831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01FE05C-CFFF-DC3D-6C1E-A353B932A94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D881A66-B370-4009-A6C6-3F326FDD6E8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4AFBE05-7157-0101-85BD-B40A692DB71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25303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321ED334-FF21-478F-D09E-FB9CA0A98E2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9AC788F-B7FB-D965-3755-B2DA54A315FD}"/>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79552A76-BEE5-25E6-ACC6-12B208CF3C8B}"/>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buSzPts val="6000"/>
              </a:pPr>
              <a:r>
                <a:rPr lang="en-US" sz="6000" b="1" dirty="0">
                  <a:solidFill>
                    <a:schemeClr val="lt1"/>
                  </a:solidFill>
                </a:rPr>
                <a:t>Camera Intrinsics</a:t>
              </a:r>
              <a:endParaRPr sz="1400" b="0" i="0" u="none" strike="noStrike" cap="none" dirty="0">
                <a:solidFill>
                  <a:srgbClr val="000000"/>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595490FA-E6A2-2B57-F286-ED8138915D0D}"/>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46651B4F-CD5D-D1B1-1DD1-FF86B8CBA82E}"/>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09DD9FC0-817A-B7D0-D7CD-40F7C1EED3E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106C3CBD-7B4B-0C98-6CB6-8A454881CC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621A2233-4732-38CC-8301-08C5A7D1E2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6F0321B-EE4C-6D91-1382-2A0776427416}"/>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9DC17562-3A51-9A89-CC29-CEA69CE00F92}"/>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E3DA8651-E506-D950-F466-23ECA51888AE}"/>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910166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4DD323-FDDB-3B5B-70AB-267BE53D3EE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6A858DA-8CF1-8D8B-C4E3-DBAC128EA80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This formulation is one of the biggest benefits of using homogeneous coordinates. It allows writing perspective projection as a </a:t>
            </a:r>
            <a:r>
              <a:rPr lang="en-US" sz="2400" b="1" dirty="0">
                <a:solidFill>
                  <a:schemeClr val="dk1"/>
                </a:solidFill>
                <a:latin typeface="Arial"/>
                <a:ea typeface="Arial"/>
                <a:cs typeface="Arial"/>
                <a:sym typeface="Arial"/>
              </a:rPr>
              <a:t>linear operator </a:t>
            </a:r>
            <a:r>
              <a:rPr lang="en-US" sz="2400" dirty="0">
                <a:solidFill>
                  <a:schemeClr val="dk1"/>
                </a:solidFill>
                <a:latin typeface="Arial"/>
                <a:ea typeface="Arial"/>
                <a:cs typeface="Arial"/>
                <a:sym typeface="Arial"/>
              </a:rPr>
              <a:t>in homogeneous coordinates.</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We have the world in pixels but that is not very useful! We want to use an actual measurement system such as metric or feet.</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To do this we need to find the </a:t>
            </a:r>
            <a:r>
              <a:rPr lang="en-US" sz="2400" b="1" dirty="0">
                <a:solidFill>
                  <a:schemeClr val="dk1"/>
                </a:solidFill>
                <a:latin typeface="Arial"/>
                <a:ea typeface="Arial"/>
                <a:cs typeface="Arial"/>
                <a:sym typeface="Arial"/>
              </a:rPr>
              <a:t>pixel to measurement unit </a:t>
            </a:r>
            <a:r>
              <a:rPr lang="en-US" sz="2400" dirty="0">
                <a:solidFill>
                  <a:schemeClr val="dk1"/>
                </a:solidFill>
                <a:latin typeface="Arial"/>
                <a:ea typeface="Arial"/>
                <a:cs typeface="Arial"/>
                <a:sym typeface="Arial"/>
              </a:rPr>
              <a:t>relationship!</a:t>
            </a: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2B3560AA-80FC-6702-C431-A270D92FDA8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0810BA7-9C5E-2479-EA87-8B2D8B84ED4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B823C96A-3227-5DA2-7C9C-06C012E8A74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FB46949-FB82-3F19-076B-E4A69AC8A3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4B4BAF8-892D-956D-FB09-234DB274E9B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E8A28BF-DFBE-82AE-3A46-3E4928BA9C7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CE98F98-4889-C694-600E-48566EF4F25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3E40D3C-E4E5-28DA-BC2E-38882D80912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26338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D3D222-90CC-99F7-9D5D-41393D3BC17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9D6E73F-EADE-41F6-0A10-BA1A7119AAC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Cameras translate the world into pixels, but the relationship between the 3D scene and the 2D image captured by the camera is not always straightforward.</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To start with, the world is measured in units of meters while points in images are measured in pixels. </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r>
              <a:rPr lang="en-US" sz="2400" dirty="0">
                <a:solidFill>
                  <a:schemeClr val="dk1"/>
                </a:solidFill>
                <a:latin typeface="Arial"/>
                <a:ea typeface="Arial"/>
                <a:cs typeface="Arial"/>
                <a:sym typeface="Arial"/>
              </a:rPr>
              <a:t>Factors such as geometric distortions can influence this relationship, and we need to account for these elements in our camera model.</a:t>
            </a:r>
          </a:p>
          <a:p>
            <a:pPr marL="0" indent="0">
              <a:lnSpc>
                <a:spcPct val="100000"/>
              </a:lnSpc>
              <a:spcBef>
                <a:spcPts val="0"/>
              </a:spcBef>
              <a:buSzPts val="3000"/>
              <a:buNone/>
            </a:pPr>
            <a:endParaRPr lang="en-US" sz="2400" dirty="0">
              <a:latin typeface="Arial"/>
              <a:ea typeface="Arial"/>
              <a:cs typeface="Arial"/>
              <a:sym typeface="Arial"/>
            </a:endParaRPr>
          </a:p>
          <a:p>
            <a:pPr marL="0" indent="0">
              <a:lnSpc>
                <a:spcPct val="100000"/>
              </a:lnSpc>
              <a:spcBef>
                <a:spcPts val="0"/>
              </a:spcBef>
              <a:buSzPts val="3000"/>
              <a:buNone/>
            </a:pPr>
            <a:endParaRPr lang="en-US" sz="2400" dirty="0">
              <a:solidFill>
                <a:schemeClr val="dk1"/>
              </a:solidFill>
              <a:latin typeface="Arial"/>
              <a:ea typeface="Arial"/>
              <a:cs typeface="Arial"/>
              <a:sym typeface="Arial"/>
            </a:endParaRPr>
          </a:p>
        </p:txBody>
      </p:sp>
      <p:sp>
        <p:nvSpPr>
          <p:cNvPr id="119" name="Google Shape;119;p29">
            <a:extLst>
              <a:ext uri="{FF2B5EF4-FFF2-40B4-BE49-F238E27FC236}">
                <a16:creationId xmlns:a16="http://schemas.microsoft.com/office/drawing/2014/main" id="{1E800C48-CFF9-10AC-C2D9-E8651693B7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A682DD2-2BF9-37CC-2489-D9489F693A8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69CAB2F-6B3E-D029-19AF-A1304C76B7F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763987-8CD3-FDB6-F5DC-9E0E5CFE61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02B05B-2810-7CE7-A852-75814A4BC33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02958A3-B106-4BF6-1CB8-9EE9151ABA3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4612796-BBAD-1131-34A8-EFB5971D1BA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3D18822-2BEF-5965-106E-EE6942918D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387857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849A9DA-D594-45B7-1AF9-BB06CBE202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0247D81-727B-88ED-C027-A827BC42CF4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rial"/>
                    <a:ea typeface="Arial"/>
                    <a:cs typeface="Arial"/>
                    <a:sym typeface="Arial"/>
                  </a:rPr>
                  <a:t>We need to account for the perspective projection of the point,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P</m:t>
                    </m:r>
                  </m:oMath>
                </a14:m>
                <a:r>
                  <a:rPr lang="en-US" sz="2400" dirty="0">
                    <a:solidFill>
                      <a:schemeClr val="dk1"/>
                    </a:solidFill>
                    <a:latin typeface="Arial"/>
                    <a:ea typeface="Arial"/>
                    <a:cs typeface="Arial"/>
                    <a:sym typeface="Arial"/>
                  </a:rPr>
                  <a:t>, described in camera coordinates, to pixel coordinates in the sensor plane of the camera.</a:t>
                </a:r>
              </a:p>
            </p:txBody>
          </p:sp>
        </mc:Choice>
        <mc:Fallback xmlns="">
          <p:sp>
            <p:nvSpPr>
              <p:cNvPr id="118" name="Google Shape;118;p29">
                <a:extLst>
                  <a:ext uri="{FF2B5EF4-FFF2-40B4-BE49-F238E27FC236}">
                    <a16:creationId xmlns:a16="http://schemas.microsoft.com/office/drawing/2014/main" id="{10247D81-727B-88ED-C027-A827BC42CF4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ADBAB3F-6B26-CCDA-62FA-0442CC1E7F1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B09220D-130D-E563-576C-BF5D8AF88BD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9CD4BFE-D134-53BE-3C19-F1CF30B0C6C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FDE29A4-3B8D-B1C7-0856-F419947103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CE58673-7C88-C838-E33A-EFEAEF3EBCB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1AF95B-CAD9-BB90-A9C0-BC7AC480F05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F901F93-A6E6-58DF-D507-E30E3D77E5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DC0739D-B7C5-8348-BAFA-9B9ACAB54A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87C70462-9099-5DE3-41F4-016C8AA150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28031" y="2251724"/>
            <a:ext cx="8135938" cy="4126736"/>
          </a:xfrm>
          <a:prstGeom prst="rect">
            <a:avLst/>
          </a:prstGeom>
        </p:spPr>
      </p:pic>
    </p:spTree>
    <p:extLst>
      <p:ext uri="{BB962C8B-B14F-4D97-AF65-F5344CB8AC3E}">
        <p14:creationId xmlns:p14="http://schemas.microsoft.com/office/powerpoint/2010/main" val="3700275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8C6877-A2EA-3048-7B90-51D853D515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10D16AC-4620-88FB-B279-43A63906D95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The units of the position in pixel space may be different than those of the world coordinates, which scales the focal length,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f</m:t>
                    </m:r>
                  </m:oMath>
                </a14:m>
                <a:r>
                  <a:rPr lang="en-US" sz="2200" dirty="0">
                    <a:solidFill>
                      <a:schemeClr val="dk1"/>
                    </a:solidFill>
                    <a:latin typeface="Arial"/>
                    <a:ea typeface="Arial"/>
                    <a:cs typeface="Arial"/>
                    <a:sym typeface="Arial"/>
                  </a:rPr>
                  <a:t>, to some other value. Let’s call that value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a</m:t>
                    </m:r>
                  </m:oMath>
                </a14:m>
                <a:r>
                  <a:rPr lang="en-US" sz="2200" dirty="0">
                    <a:solidFill>
                      <a:schemeClr val="dk1"/>
                    </a:solidFill>
                    <a:latin typeface="Arial"/>
                    <a:ea typeface="Arial"/>
                    <a:cs typeface="Arial"/>
                    <a:sym typeface="Arial"/>
                  </a:rPr>
                  <a:t>.</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200" b="0" i="1" dirty="0" smtClean="0">
                          <a:latin typeface="Cambria Math" panose="02040503050406030204" pitchFamily="18" charset="0"/>
                          <a:sym typeface="Arial"/>
                        </a:rPr>
                        <m:t>K</m:t>
                      </m:r>
                      <m:r>
                        <a:rPr lang="en-US" sz="2200" b="0" i="1" dirty="0" smtClean="0">
                          <a:latin typeface="Cambria Math" panose="02040503050406030204" pitchFamily="18" charset="0"/>
                          <a:sym typeface="Arial"/>
                        </a:rPr>
                        <m:t>=</m:t>
                      </m:r>
                      <m:d>
                        <m:dPr>
                          <m:begChr m:val="["/>
                          <m:endChr m:val="]"/>
                          <m:ctrlPr>
                            <a:rPr lang="en-US" sz="2200" i="1" dirty="0">
                              <a:latin typeface="Cambria Math" panose="02040503050406030204" pitchFamily="18" charset="0"/>
                              <a:sym typeface="Arial"/>
                            </a:rPr>
                          </m:ctrlPr>
                        </m:dPr>
                        <m:e>
                          <m:m>
                            <m:mPr>
                              <m:plcHide m:val="on"/>
                              <m:mcs>
                                <m:mc>
                                  <m:mcPr>
                                    <m:count m:val="4"/>
                                    <m:mcJc m:val="center"/>
                                  </m:mcPr>
                                </m:mc>
                              </m:mcs>
                              <m:ctrlPr>
                                <a:rPr lang="en-US" sz="2200" i="1" dirty="0">
                                  <a:latin typeface="Cambria Math" panose="02040503050406030204" pitchFamily="18" charset="0"/>
                                  <a:sym typeface="Arial"/>
                                </a:rPr>
                              </m:ctrlPr>
                            </m:mPr>
                            <m:mr>
                              <m:e>
                                <m:r>
                                  <m:rPr>
                                    <m:sty m:val="p"/>
                                  </m:rPr>
                                  <a:rPr lang="en-US" sz="2200" b="0" i="1" dirty="0" smtClean="0">
                                    <a:latin typeface="Cambria Math" panose="02040503050406030204" pitchFamily="18" charset="0"/>
                                    <a:sym typeface="Arial"/>
                                  </a:rPr>
                                  <m:t>a</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m:rPr>
                                    <m:sty m:val="p"/>
                                  </m:rPr>
                                  <a:rPr lang="en-US" sz="2200" b="0" i="1" dirty="0" smtClean="0">
                                    <a:latin typeface="Cambria Math" panose="02040503050406030204" pitchFamily="18" charset="0"/>
                                    <a:sym typeface="Arial"/>
                                  </a:rPr>
                                  <m:t>a</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1</m:t>
                                </m:r>
                              </m:e>
                              <m:e>
                                <m:r>
                                  <a:rPr lang="en-US" sz="2200" dirty="0">
                                    <a:latin typeface="Cambria Math" panose="02040503050406030204" pitchFamily="18" charset="0"/>
                                    <a:sym typeface="Arial"/>
                                  </a:rPr>
                                  <m:t>0</m:t>
                                </m:r>
                              </m:e>
                            </m:mr>
                          </m:m>
                        </m:e>
                      </m:d>
                    </m:oMath>
                  </m:oMathPara>
                </a14:m>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Where the constant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a</m:t>
                    </m:r>
                  </m:oMath>
                </a14:m>
                <a:r>
                  <a:rPr lang="en-US" sz="2200" dirty="0">
                    <a:solidFill>
                      <a:schemeClr val="dk1"/>
                    </a:solidFill>
                    <a:latin typeface="Arial"/>
                    <a:ea typeface="Arial"/>
                    <a:cs typeface="Arial"/>
                    <a:sym typeface="Arial"/>
                  </a:rPr>
                  <a:t>, is related to the physical camera parameters: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a</m:t>
                      </m:r>
                      <m:r>
                        <a:rPr lang="en-US" sz="2200" b="0" i="1" smtClean="0">
                          <a:solidFill>
                            <a:schemeClr val="dk1"/>
                          </a:solidFill>
                          <a:latin typeface="Cambria Math" panose="02040503050406030204" pitchFamily="18" charset="0"/>
                          <a:ea typeface="Arial"/>
                          <a:cs typeface="Arial"/>
                          <a:sym typeface="Arial"/>
                        </a:rPr>
                        <m:t> = </m:t>
                      </m:r>
                      <m:r>
                        <m:rPr>
                          <m:sty m:val="p"/>
                        </m:rPr>
                        <a:rPr lang="en-US" sz="2200" b="0" i="1" smtClean="0">
                          <a:solidFill>
                            <a:schemeClr val="dk1"/>
                          </a:solidFill>
                          <a:latin typeface="Cambria Math" panose="02040503050406030204" pitchFamily="18" charset="0"/>
                          <a:ea typeface="Arial"/>
                          <a:cs typeface="Arial"/>
                          <a:sym typeface="Arial"/>
                        </a:rPr>
                        <m:t>f</m:t>
                      </m:r>
                      <m:r>
                        <a:rPr lang="en-US" sz="2200" b="0" i="1" smtClean="0">
                          <a:solidFill>
                            <a:schemeClr val="dk1"/>
                          </a:solidFill>
                          <a:latin typeface="Cambria Math" panose="02040503050406030204" pitchFamily="18" charset="0"/>
                          <a:ea typeface="Arial"/>
                          <a:cs typeface="Arial"/>
                          <a:sym typeface="Arial"/>
                        </a:rPr>
                        <m:t> </m:t>
                      </m:r>
                      <m:r>
                        <m:rPr>
                          <m:sty m:val="p"/>
                        </m:rPr>
                        <a:rPr lang="en-US" sz="2200" b="0" i="1" smtClean="0">
                          <a:solidFill>
                            <a:schemeClr val="dk1"/>
                          </a:solidFill>
                          <a:latin typeface="Cambria Math" panose="02040503050406030204" pitchFamily="18" charset="0"/>
                          <a:ea typeface="Arial"/>
                          <a:cs typeface="Arial"/>
                          <a:sym typeface="Arial"/>
                        </a:rPr>
                        <m:t>N</m:t>
                      </m:r>
                      <m:r>
                        <a:rPr lang="en-US" sz="2200" b="0" i="1" smtClean="0">
                          <a:solidFill>
                            <a:schemeClr val="dk1"/>
                          </a:solidFill>
                          <a:latin typeface="Cambria Math" panose="02040503050406030204" pitchFamily="18" charset="0"/>
                          <a:ea typeface="Arial"/>
                          <a:cs typeface="Arial"/>
                          <a:sym typeface="Arial"/>
                        </a:rPr>
                        <m:t> / </m:t>
                      </m:r>
                      <m:r>
                        <m:rPr>
                          <m:sty m:val="p"/>
                        </m:rPr>
                        <a:rPr lang="en-US" sz="2200" b="0" i="1" smtClean="0">
                          <a:solidFill>
                            <a:schemeClr val="dk1"/>
                          </a:solidFill>
                          <a:latin typeface="Cambria Math" panose="02040503050406030204" pitchFamily="18" charset="0"/>
                          <a:ea typeface="Arial"/>
                          <a:cs typeface="Arial"/>
                          <a:sym typeface="Arial"/>
                        </a:rPr>
                        <m:t>w</m:t>
                      </m:r>
                    </m:oMath>
                  </m:oMathPara>
                </a14:m>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Where </a:t>
                </a:r>
                <a14:m>
                  <m:oMath xmlns:m="http://schemas.openxmlformats.org/officeDocument/2006/math">
                    <m:r>
                      <m:rPr>
                        <m:sty m:val="p"/>
                      </m:rPr>
                      <a:rPr lang="en-US" sz="2200" b="0" i="1" smtClean="0">
                        <a:latin typeface="Cambria Math" panose="02040503050406030204" pitchFamily="18" charset="0"/>
                        <a:ea typeface="Arial"/>
                        <a:cs typeface="Arial"/>
                        <a:sym typeface="Arial"/>
                      </a:rPr>
                      <m:t>f</m:t>
                    </m:r>
                  </m:oMath>
                </a14:m>
                <a:r>
                  <a:rPr lang="en-US" sz="2200" dirty="0">
                    <a:solidFill>
                      <a:schemeClr val="dk1"/>
                    </a:solidFill>
                    <a:latin typeface="Arial"/>
                    <a:ea typeface="Arial"/>
                    <a:cs typeface="Arial"/>
                    <a:sym typeface="Arial"/>
                  </a:rPr>
                  <a:t> is the focal length (in meters),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w</m:t>
                    </m:r>
                  </m:oMath>
                </a14:m>
                <a:r>
                  <a:rPr lang="en-US" sz="2200" dirty="0">
                    <a:solidFill>
                      <a:schemeClr val="dk1"/>
                    </a:solidFill>
                    <a:latin typeface="Arial"/>
                    <a:ea typeface="Arial"/>
                    <a:cs typeface="Arial"/>
                    <a:sym typeface="Arial"/>
                  </a:rPr>
                  <a:t> is the width of the senor in meters, and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N</m:t>
                    </m:r>
                  </m:oMath>
                </a14:m>
                <a:r>
                  <a:rPr lang="en-US" sz="2200" dirty="0">
                    <a:solidFill>
                      <a:schemeClr val="dk1"/>
                    </a:solidFill>
                    <a:latin typeface="Arial"/>
                    <a:ea typeface="Arial"/>
                    <a:cs typeface="Arial"/>
                    <a:sym typeface="Arial"/>
                  </a:rPr>
                  <a:t> is the image width in pixels. The ratio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N</m:t>
                    </m:r>
                    <m:r>
                      <a:rPr lang="en-US" sz="2200" b="0" i="1" smtClean="0">
                        <a:solidFill>
                          <a:schemeClr val="dk1"/>
                        </a:solidFill>
                        <a:latin typeface="Cambria Math" panose="02040503050406030204" pitchFamily="18" charset="0"/>
                        <a:ea typeface="Arial"/>
                        <a:cs typeface="Arial"/>
                        <a:sym typeface="Arial"/>
                      </a:rPr>
                      <m:t>/ </m:t>
                    </m:r>
                    <m:r>
                      <m:rPr>
                        <m:sty m:val="p"/>
                      </m:rPr>
                      <a:rPr lang="en-US" sz="2200" b="0" i="1" smtClean="0">
                        <a:solidFill>
                          <a:schemeClr val="dk1"/>
                        </a:solidFill>
                        <a:latin typeface="Cambria Math" panose="02040503050406030204" pitchFamily="18" charset="0"/>
                        <a:ea typeface="Arial"/>
                        <a:cs typeface="Arial"/>
                        <a:sym typeface="Arial"/>
                      </a:rPr>
                      <m:t>w</m:t>
                    </m:r>
                  </m:oMath>
                </a14:m>
                <a:r>
                  <a:rPr lang="en-US" sz="2200" dirty="0">
                    <a:solidFill>
                      <a:schemeClr val="dk1"/>
                    </a:solidFill>
                    <a:latin typeface="Arial"/>
                    <a:ea typeface="Arial"/>
                    <a:cs typeface="Arial"/>
                    <a:sym typeface="Arial"/>
                  </a:rPr>
                  <a:t> is the number of pixels per meter in the sensor</a:t>
                </a:r>
              </a:p>
            </p:txBody>
          </p:sp>
        </mc:Choice>
        <mc:Fallback xmlns="">
          <p:sp>
            <p:nvSpPr>
              <p:cNvPr id="118" name="Google Shape;118;p29">
                <a:extLst>
                  <a:ext uri="{FF2B5EF4-FFF2-40B4-BE49-F238E27FC236}">
                    <a16:creationId xmlns:a16="http://schemas.microsoft.com/office/drawing/2014/main" id="{A10D16AC-4620-88FB-B279-43A63906D95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7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2B09468-2C1E-A6D0-8627-8448C87A28C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6797692-5F59-1606-4155-CB8831F3647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0425415-3A86-C160-B93D-3601F909ED3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F0FD559-E1D0-8B76-3451-0B8287048D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7E23C32-3E74-E548-2587-861CE21DD7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0D6F3D-6150-3F1E-6643-07B4BD95846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2AEEF9-1254-6355-CDE0-50FB1EB9755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47F64D-F57B-9F3D-1DB5-B16324785F5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698648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366F02A-3221-0220-1992-0CE296F681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F533278-FE76-AA17-BD9D-E468D001EF7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Also, the image center might not be the pixel </a:t>
                </a:r>
                <a14:m>
                  <m:oMath xmlns:m="http://schemas.openxmlformats.org/officeDocument/2006/math">
                    <m:sSup>
                      <m:sSupPr>
                        <m:ctrlPr>
                          <a:rPr lang="en-US" sz="2200" b="0" i="1" smtClean="0">
                            <a:solidFill>
                              <a:schemeClr val="dk1"/>
                            </a:solidFill>
                            <a:latin typeface="Cambria Math" panose="02040503050406030204" pitchFamily="18" charset="0"/>
                            <a:ea typeface="Arial"/>
                            <a:cs typeface="Arial"/>
                            <a:sym typeface="Arial"/>
                          </a:rPr>
                        </m:ctrlPr>
                      </m:sSupPr>
                      <m:e>
                        <m:d>
                          <m:dPr>
                            <m:begChr m:val="["/>
                            <m:endChr m:val="]"/>
                            <m:ctrlPr>
                              <a:rPr lang="en-US" sz="2200" b="0" i="1" smtClean="0">
                                <a:solidFill>
                                  <a:schemeClr val="dk1"/>
                                </a:solidFill>
                                <a:latin typeface="Cambria Math" panose="02040503050406030204" pitchFamily="18" charset="0"/>
                                <a:ea typeface="Arial"/>
                                <a:cs typeface="Arial"/>
                                <a:sym typeface="Arial"/>
                              </a:rPr>
                            </m:ctrlPr>
                          </m:dPr>
                          <m:e>
                            <m:r>
                              <a:rPr lang="en-US" sz="2200" b="0" i="1" smtClean="0">
                                <a:solidFill>
                                  <a:schemeClr val="dk1"/>
                                </a:solidFill>
                                <a:latin typeface="Cambria Math" panose="02040503050406030204" pitchFamily="18" charset="0"/>
                                <a:ea typeface="Arial"/>
                                <a:cs typeface="Arial"/>
                                <a:sym typeface="Arial"/>
                              </a:rPr>
                              <m:t>0,0</m:t>
                            </m:r>
                          </m:e>
                        </m:d>
                      </m:e>
                      <m:sup>
                        <m:r>
                          <a:rPr lang="en-US" sz="2200" b="0" i="1" smtClean="0">
                            <a:solidFill>
                              <a:schemeClr val="dk1"/>
                            </a:solidFill>
                            <a:latin typeface="Cambria Math" panose="02040503050406030204" pitchFamily="18" charset="0"/>
                            <a:ea typeface="Arial"/>
                            <a:cs typeface="Arial"/>
                            <a:sym typeface="Arial"/>
                          </a:rPr>
                          <m:t>𝑇</m:t>
                        </m:r>
                      </m:sup>
                    </m:sSup>
                  </m:oMath>
                </a14:m>
                <a:r>
                  <a:rPr lang="en-US" sz="2200" dirty="0">
                    <a:solidFill>
                      <a:schemeClr val="dk1"/>
                    </a:solidFill>
                    <a:latin typeface="Arial"/>
                    <a:ea typeface="Arial"/>
                    <a:cs typeface="Arial"/>
                    <a:sym typeface="Arial"/>
                  </a:rPr>
                  <a:t>. If the optical axis coincides with the image center, we need to apply a translation so that a 3D point on the optical axis (the location of the pinhole,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X</m:t>
                    </m:r>
                    <m:r>
                      <a:rPr lang="en-US" sz="2200" b="0" i="1" smtClean="0">
                        <a:solidFill>
                          <a:schemeClr val="dk1"/>
                        </a:solidFill>
                        <a:latin typeface="Cambria Math" panose="02040503050406030204" pitchFamily="18" charset="0"/>
                        <a:ea typeface="Arial"/>
                        <a:cs typeface="Arial"/>
                        <a:sym typeface="Arial"/>
                      </a:rPr>
                      <m:t>=</m:t>
                    </m:r>
                    <m:r>
                      <m:rPr>
                        <m:sty m:val="p"/>
                      </m:rPr>
                      <a:rPr lang="en-US" sz="2200" b="0" i="1" smtClean="0">
                        <a:solidFill>
                          <a:schemeClr val="dk1"/>
                        </a:solidFill>
                        <a:latin typeface="Cambria Math" panose="02040503050406030204" pitchFamily="18" charset="0"/>
                        <a:ea typeface="Arial"/>
                        <a:cs typeface="Arial"/>
                        <a:sym typeface="Arial"/>
                      </a:rPr>
                      <m:t>Y</m:t>
                    </m:r>
                    <m:r>
                      <a:rPr lang="en-US" sz="2200" b="0" i="1" smtClean="0">
                        <a:solidFill>
                          <a:schemeClr val="dk1"/>
                        </a:solidFill>
                        <a:latin typeface="Cambria Math" panose="02040503050406030204" pitchFamily="18" charset="0"/>
                        <a:ea typeface="Arial"/>
                        <a:cs typeface="Arial"/>
                        <a:sym typeface="Arial"/>
                      </a:rPr>
                      <m:t>=0</m:t>
                    </m:r>
                  </m:oMath>
                </a14:m>
                <a:r>
                  <a:rPr lang="en-US" sz="2200" dirty="0">
                    <a:solidFill>
                      <a:schemeClr val="dk1"/>
                    </a:solidFill>
                    <a:latin typeface="Arial"/>
                    <a:ea typeface="Arial"/>
                    <a:cs typeface="Arial"/>
                    <a:sym typeface="Arial"/>
                  </a:rPr>
                  <a:t>) projects to </a:t>
                </a:r>
                <a14:m>
                  <m:oMath xmlns:m="http://schemas.openxmlformats.org/officeDocument/2006/math">
                    <m:sSup>
                      <m:sSupPr>
                        <m:ctrlPr>
                          <a:rPr lang="en-US" sz="2200" b="0" i="1" smtClean="0">
                            <a:solidFill>
                              <a:schemeClr val="dk1"/>
                            </a:solidFill>
                            <a:latin typeface="Cambria Math" panose="02040503050406030204" pitchFamily="18" charset="0"/>
                            <a:ea typeface="Arial"/>
                            <a:cs typeface="Arial"/>
                            <a:sym typeface="Arial"/>
                          </a:rPr>
                        </m:ctrlPr>
                      </m:sSupPr>
                      <m:e>
                        <m:d>
                          <m:dPr>
                            <m:begChr m:val="["/>
                            <m:endChr m:val="]"/>
                            <m:ctrlPr>
                              <a:rPr lang="en-US" sz="2200" b="0" i="1" smtClean="0">
                                <a:solidFill>
                                  <a:schemeClr val="dk1"/>
                                </a:solidFill>
                                <a:latin typeface="Cambria Math" panose="02040503050406030204" pitchFamily="18" charset="0"/>
                                <a:ea typeface="Arial"/>
                                <a:cs typeface="Arial"/>
                                <a:sym typeface="Arial"/>
                              </a:rPr>
                            </m:ctrlPr>
                          </m:dPr>
                          <m:e>
                            <m:sSub>
                              <m:sSubPr>
                                <m:ctrlPr>
                                  <a:rPr lang="en-US" sz="2200" b="0" i="1" smtClean="0">
                                    <a:solidFill>
                                      <a:schemeClr val="dk1"/>
                                    </a:solidFill>
                                    <a:latin typeface="Cambria Math" panose="02040503050406030204" pitchFamily="18" charset="0"/>
                                    <a:ea typeface="Arial"/>
                                    <a:cs typeface="Arial"/>
                                    <a:sym typeface="Arial"/>
                                  </a:rPr>
                                </m:ctrlPr>
                              </m:sSubPr>
                              <m:e>
                                <m:r>
                                  <a:rPr lang="en-US" sz="2200" b="0" i="1" smtClean="0">
                                    <a:solidFill>
                                      <a:schemeClr val="dk1"/>
                                    </a:solidFill>
                                    <a:latin typeface="Cambria Math" panose="02040503050406030204" pitchFamily="18" charset="0"/>
                                    <a:ea typeface="Arial"/>
                                    <a:cs typeface="Arial"/>
                                    <a:sym typeface="Arial"/>
                                  </a:rPr>
                                  <m:t>𝑐</m:t>
                                </m:r>
                              </m:e>
                              <m:sub>
                                <m:r>
                                  <a:rPr lang="en-US" sz="2200" b="0" i="1" smtClean="0">
                                    <a:solidFill>
                                      <a:schemeClr val="dk1"/>
                                    </a:solidFill>
                                    <a:latin typeface="Cambria Math" panose="02040503050406030204" pitchFamily="18" charset="0"/>
                                    <a:ea typeface="Arial"/>
                                    <a:cs typeface="Arial"/>
                                    <a:sym typeface="Arial"/>
                                  </a:rPr>
                                  <m:t>𝑥</m:t>
                                </m:r>
                              </m:sub>
                            </m:sSub>
                            <m:r>
                              <a:rPr lang="en-US" sz="2200" b="0" i="1" smtClean="0">
                                <a:solidFill>
                                  <a:schemeClr val="dk1"/>
                                </a:solidFill>
                                <a:latin typeface="Cambria Math" panose="02040503050406030204" pitchFamily="18" charset="0"/>
                                <a:ea typeface="Arial"/>
                                <a:cs typeface="Arial"/>
                                <a:sym typeface="Arial"/>
                              </a:rPr>
                              <m:t>,</m:t>
                            </m:r>
                            <m:sSub>
                              <m:sSubPr>
                                <m:ctrlPr>
                                  <a:rPr lang="en-US" sz="2200" b="0" i="1" smtClean="0">
                                    <a:solidFill>
                                      <a:schemeClr val="dk1"/>
                                    </a:solidFill>
                                    <a:latin typeface="Cambria Math" panose="02040503050406030204" pitchFamily="18" charset="0"/>
                                    <a:ea typeface="Arial"/>
                                    <a:cs typeface="Arial"/>
                                    <a:sym typeface="Arial"/>
                                  </a:rPr>
                                </m:ctrlPr>
                              </m:sSubPr>
                              <m:e>
                                <m:r>
                                  <a:rPr lang="en-US" sz="2200" b="0" i="1" smtClean="0">
                                    <a:solidFill>
                                      <a:schemeClr val="dk1"/>
                                    </a:solidFill>
                                    <a:latin typeface="Cambria Math" panose="02040503050406030204" pitchFamily="18" charset="0"/>
                                    <a:ea typeface="Arial"/>
                                    <a:cs typeface="Arial"/>
                                    <a:sym typeface="Arial"/>
                                  </a:rPr>
                                  <m:t>𝑐</m:t>
                                </m:r>
                              </m:e>
                              <m:sub>
                                <m:r>
                                  <a:rPr lang="en-US" sz="2200" b="0" i="1" smtClean="0">
                                    <a:solidFill>
                                      <a:schemeClr val="dk1"/>
                                    </a:solidFill>
                                    <a:latin typeface="Cambria Math" panose="02040503050406030204" pitchFamily="18" charset="0"/>
                                    <a:ea typeface="Arial"/>
                                    <a:cs typeface="Arial"/>
                                    <a:sym typeface="Arial"/>
                                  </a:rPr>
                                  <m:t>𝑦</m:t>
                                </m:r>
                              </m:sub>
                            </m:sSub>
                          </m:e>
                        </m:d>
                      </m:e>
                      <m:sup>
                        <m:r>
                          <a:rPr lang="en-US" sz="2200" b="0" i="1" smtClean="0">
                            <a:solidFill>
                              <a:schemeClr val="dk1"/>
                            </a:solidFill>
                            <a:latin typeface="Cambria Math" panose="02040503050406030204" pitchFamily="18" charset="0"/>
                            <a:ea typeface="Arial"/>
                            <a:cs typeface="Arial"/>
                            <a:sym typeface="Arial"/>
                          </a:rPr>
                          <m:t>𝑇</m:t>
                        </m:r>
                      </m:sup>
                    </m:sSup>
                  </m:oMath>
                </a14:m>
                <a:r>
                  <a:rPr lang="en-US" sz="2200" dirty="0">
                    <a:solidFill>
                      <a:schemeClr val="dk1"/>
                    </a:solidFill>
                    <a:latin typeface="Arial"/>
                    <a:ea typeface="Arial"/>
                    <a:cs typeface="Arial"/>
                    <a:sym typeface="Arial"/>
                  </a:rPr>
                  <a:t>.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For example, for an image of size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N</m:t>
                    </m:r>
                    <m:r>
                      <a:rPr lang="en-US" sz="2200" b="0" i="1" smtClean="0">
                        <a:solidFill>
                          <a:schemeClr val="dk1"/>
                        </a:solidFill>
                        <a:latin typeface="Cambria Math" panose="02040503050406030204" pitchFamily="18" charset="0"/>
                        <a:ea typeface="Arial"/>
                        <a:cs typeface="Arial"/>
                        <a:sym typeface="Arial"/>
                      </a:rPr>
                      <m:t> ×</m:t>
                    </m:r>
                    <m:r>
                      <m:rPr>
                        <m:sty m:val="p"/>
                      </m:rPr>
                      <a:rPr lang="en-US" sz="2200" b="0" i="1" smtClean="0">
                        <a:solidFill>
                          <a:schemeClr val="dk1"/>
                        </a:solidFill>
                        <a:latin typeface="Cambria Math" panose="02040503050406030204" pitchFamily="18" charset="0"/>
                        <a:ea typeface="Arial"/>
                        <a:cs typeface="Arial"/>
                        <a:sym typeface="Arial"/>
                      </a:rPr>
                      <m:t>M</m:t>
                    </m:r>
                  </m:oMath>
                </a14:m>
                <a:r>
                  <a:rPr lang="en-US" sz="2200" dirty="0">
                    <a:solidFill>
                      <a:schemeClr val="dk1"/>
                    </a:solidFill>
                    <a:latin typeface="Arial"/>
                    <a:ea typeface="Arial"/>
                    <a:cs typeface="Arial"/>
                    <a:sym typeface="Arial"/>
                  </a:rPr>
                  <a:t>, we will have </a:t>
                </a:r>
                <a14:m>
                  <m:oMath xmlns:m="http://schemas.openxmlformats.org/officeDocument/2006/math">
                    <m:sSub>
                      <m:sSubPr>
                        <m:ctrlPr>
                          <a:rPr lang="en-US" sz="2200" b="0" i="1" smtClean="0">
                            <a:solidFill>
                              <a:schemeClr val="dk1"/>
                            </a:solidFill>
                            <a:latin typeface="Cambria Math" panose="02040503050406030204" pitchFamily="18" charset="0"/>
                            <a:ea typeface="Arial"/>
                            <a:cs typeface="Arial"/>
                            <a:sym typeface="Arial"/>
                          </a:rPr>
                        </m:ctrlPr>
                      </m:sSubPr>
                      <m:e>
                        <m:r>
                          <a:rPr lang="en-US" sz="2200" b="0" i="1" smtClean="0">
                            <a:solidFill>
                              <a:schemeClr val="dk1"/>
                            </a:solidFill>
                            <a:latin typeface="Cambria Math" panose="02040503050406030204" pitchFamily="18" charset="0"/>
                            <a:ea typeface="Arial"/>
                            <a:cs typeface="Arial"/>
                            <a:sym typeface="Arial"/>
                          </a:rPr>
                          <m:t>𝑐</m:t>
                        </m:r>
                      </m:e>
                      <m:sub>
                        <m:r>
                          <a:rPr lang="en-US" sz="2200" b="0" i="1" smtClean="0">
                            <a:solidFill>
                              <a:schemeClr val="dk1"/>
                            </a:solidFill>
                            <a:latin typeface="Cambria Math" panose="02040503050406030204" pitchFamily="18" charset="0"/>
                            <a:ea typeface="Arial"/>
                            <a:cs typeface="Arial"/>
                            <a:sym typeface="Arial"/>
                          </a:rPr>
                          <m:t>𝑥</m:t>
                        </m:r>
                      </m:sub>
                    </m:sSub>
                    <m:r>
                      <a:rPr lang="en-US" sz="2200" b="0" i="1" smtClean="0">
                        <a:solidFill>
                          <a:schemeClr val="dk1"/>
                        </a:solidFill>
                        <a:latin typeface="Cambria Math" panose="02040503050406030204" pitchFamily="18" charset="0"/>
                        <a:ea typeface="Arial"/>
                        <a:cs typeface="Arial"/>
                        <a:sym typeface="Arial"/>
                      </a:rPr>
                      <m:t>=</m:t>
                    </m:r>
                    <m:r>
                      <a:rPr lang="en-US" sz="2200" b="0" i="1" smtClean="0">
                        <a:solidFill>
                          <a:schemeClr val="dk1"/>
                        </a:solidFill>
                        <a:latin typeface="Cambria Math" panose="02040503050406030204" pitchFamily="18" charset="0"/>
                        <a:ea typeface="Arial"/>
                        <a:cs typeface="Arial"/>
                        <a:sym typeface="Arial"/>
                      </a:rPr>
                      <m:t>𝑁</m:t>
                    </m:r>
                    <m:r>
                      <m:rPr>
                        <m:lit/>
                      </m:rPr>
                      <a:rPr lang="en-US" sz="2200" b="0" i="1" smtClean="0">
                        <a:solidFill>
                          <a:schemeClr val="dk1"/>
                        </a:solidFill>
                        <a:latin typeface="Cambria Math" panose="02040503050406030204" pitchFamily="18" charset="0"/>
                        <a:ea typeface="Arial"/>
                        <a:cs typeface="Arial"/>
                        <a:sym typeface="Arial"/>
                      </a:rPr>
                      <m:t>/</m:t>
                    </m:r>
                    <m:r>
                      <a:rPr lang="en-US" sz="2200" b="0" i="1" smtClean="0">
                        <a:solidFill>
                          <a:schemeClr val="dk1"/>
                        </a:solidFill>
                        <a:latin typeface="Cambria Math" panose="02040503050406030204" pitchFamily="18" charset="0"/>
                        <a:ea typeface="Arial"/>
                        <a:cs typeface="Arial"/>
                        <a:sym typeface="Arial"/>
                      </a:rPr>
                      <m:t>2</m:t>
                    </m:r>
                  </m:oMath>
                </a14:m>
                <a:r>
                  <a:rPr lang="en-US" sz="2200" dirty="0">
                    <a:solidFill>
                      <a:schemeClr val="dk1"/>
                    </a:solidFill>
                    <a:latin typeface="Arial"/>
                    <a:ea typeface="Arial"/>
                    <a:cs typeface="Arial"/>
                    <a:sym typeface="Arial"/>
                  </a:rPr>
                  <a:t> and </a:t>
                </a:r>
                <a14:m>
                  <m:oMath xmlns:m="http://schemas.openxmlformats.org/officeDocument/2006/math">
                    <m:sSub>
                      <m:sSubPr>
                        <m:ctrlPr>
                          <a:rPr lang="en-US" sz="2200" b="0" i="1" smtClean="0">
                            <a:solidFill>
                              <a:schemeClr val="dk1"/>
                            </a:solidFill>
                            <a:latin typeface="Cambria Math" panose="02040503050406030204" pitchFamily="18" charset="0"/>
                            <a:ea typeface="Arial"/>
                            <a:cs typeface="Arial"/>
                            <a:sym typeface="Arial"/>
                          </a:rPr>
                        </m:ctrlPr>
                      </m:sSubPr>
                      <m:e>
                        <m:r>
                          <a:rPr lang="en-US" sz="2200" b="0" i="1" smtClean="0">
                            <a:solidFill>
                              <a:schemeClr val="dk1"/>
                            </a:solidFill>
                            <a:latin typeface="Cambria Math" panose="02040503050406030204" pitchFamily="18" charset="0"/>
                            <a:ea typeface="Arial"/>
                            <a:cs typeface="Arial"/>
                            <a:sym typeface="Arial"/>
                          </a:rPr>
                          <m:t>𝑐</m:t>
                        </m:r>
                      </m:e>
                      <m:sub>
                        <m:r>
                          <a:rPr lang="en-US" sz="2200" b="0" i="1" smtClean="0">
                            <a:solidFill>
                              <a:schemeClr val="dk1"/>
                            </a:solidFill>
                            <a:latin typeface="Cambria Math" panose="02040503050406030204" pitchFamily="18" charset="0"/>
                            <a:ea typeface="Arial"/>
                            <a:cs typeface="Arial"/>
                            <a:sym typeface="Arial"/>
                          </a:rPr>
                          <m:t>𝑦</m:t>
                        </m:r>
                      </m:sub>
                    </m:sSub>
                    <m:r>
                      <a:rPr lang="en-US" sz="2200" b="0" i="1" smtClean="0">
                        <a:solidFill>
                          <a:schemeClr val="dk1"/>
                        </a:solidFill>
                        <a:latin typeface="Cambria Math" panose="02040503050406030204" pitchFamily="18" charset="0"/>
                        <a:ea typeface="Arial"/>
                        <a:cs typeface="Arial"/>
                        <a:sym typeface="Arial"/>
                      </a:rPr>
                      <m:t>=</m:t>
                    </m:r>
                    <m:r>
                      <a:rPr lang="en-US" sz="2200" b="0" i="1" smtClean="0">
                        <a:solidFill>
                          <a:schemeClr val="dk1"/>
                        </a:solidFill>
                        <a:latin typeface="Cambria Math" panose="02040503050406030204" pitchFamily="18" charset="0"/>
                        <a:ea typeface="Arial"/>
                        <a:cs typeface="Arial"/>
                        <a:sym typeface="Arial"/>
                      </a:rPr>
                      <m:t>𝑀</m:t>
                    </m:r>
                    <m:r>
                      <m:rPr>
                        <m:lit/>
                      </m:rPr>
                      <a:rPr lang="en-US" sz="2200" b="0" i="1" smtClean="0">
                        <a:solidFill>
                          <a:schemeClr val="dk1"/>
                        </a:solidFill>
                        <a:latin typeface="Cambria Math" panose="02040503050406030204" pitchFamily="18" charset="0"/>
                        <a:ea typeface="Arial"/>
                        <a:cs typeface="Arial"/>
                        <a:sym typeface="Arial"/>
                      </a:rPr>
                      <m:t>/</m:t>
                    </m:r>
                    <m:r>
                      <a:rPr lang="en-US" sz="2200" b="0" i="1" smtClean="0">
                        <a:solidFill>
                          <a:schemeClr val="dk1"/>
                        </a:solidFill>
                        <a:latin typeface="Cambria Math" panose="02040503050406030204" pitchFamily="18" charset="0"/>
                        <a:ea typeface="Arial"/>
                        <a:cs typeface="Arial"/>
                        <a:sym typeface="Arial"/>
                      </a:rPr>
                      <m:t>2</m:t>
                    </m:r>
                  </m:oMath>
                </a14:m>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sym typeface="Arial"/>
                        </a:rPr>
                        <m:t>𝐾</m:t>
                      </m:r>
                      <m:r>
                        <a:rPr lang="en-US" sz="2200" i="1" dirty="0" smtClean="0">
                          <a:latin typeface="Cambria Math" panose="02040503050406030204" pitchFamily="18" charset="0"/>
                          <a:sym typeface="Arial"/>
                        </a:rPr>
                        <m:t>=</m:t>
                      </m:r>
                      <m:d>
                        <m:dPr>
                          <m:begChr m:val="["/>
                          <m:endChr m:val="]"/>
                          <m:ctrlPr>
                            <a:rPr lang="en-US" sz="2200" i="1" dirty="0">
                              <a:latin typeface="Cambria Math" panose="02040503050406030204" pitchFamily="18" charset="0"/>
                              <a:sym typeface="Arial"/>
                            </a:rPr>
                          </m:ctrlPr>
                        </m:dPr>
                        <m:e>
                          <m:m>
                            <m:mPr>
                              <m:plcHide m:val="on"/>
                              <m:mcs>
                                <m:mc>
                                  <m:mcPr>
                                    <m:count m:val="4"/>
                                    <m:mcJc m:val="center"/>
                                  </m:mcPr>
                                </m:mc>
                              </m:mcs>
                              <m:ctrlPr>
                                <a:rPr lang="en-US" sz="2200" i="1" dirty="0">
                                  <a:latin typeface="Cambria Math" panose="02040503050406030204" pitchFamily="18" charset="0"/>
                                  <a:sym typeface="Arial"/>
                                </a:rPr>
                              </m:ctrlPr>
                            </m:mPr>
                            <m:mr>
                              <m:e>
                                <m:r>
                                  <m:rPr>
                                    <m:sty m:val="p"/>
                                  </m:rPr>
                                  <a:rPr lang="en-US" sz="2200" i="1" dirty="0">
                                    <a:latin typeface="Cambria Math" panose="02040503050406030204" pitchFamily="18" charset="0"/>
                                    <a:sym typeface="Arial"/>
                                  </a:rPr>
                                  <m:t>a</m:t>
                                </m:r>
                              </m:e>
                              <m:e>
                                <m:r>
                                  <a:rPr lang="en-US" sz="2200" dirty="0">
                                    <a:latin typeface="Cambria Math" panose="02040503050406030204" pitchFamily="18" charset="0"/>
                                    <a:sym typeface="Arial"/>
                                  </a:rPr>
                                  <m:t>0</m:t>
                                </m:r>
                              </m:e>
                              <m:e>
                                <m:sSub>
                                  <m:sSubPr>
                                    <m:ctrlPr>
                                      <a:rPr lang="en-US" sz="2200" b="0" i="1" dirty="0" smtClean="0">
                                        <a:latin typeface="Cambria Math" panose="02040503050406030204" pitchFamily="18" charset="0"/>
                                        <a:sym typeface="Arial"/>
                                      </a:rPr>
                                    </m:ctrlPr>
                                  </m:sSubPr>
                                  <m:e>
                                    <m:r>
                                      <a:rPr lang="en-US" sz="2200" b="0" i="0" dirty="0" smtClean="0">
                                        <a:latin typeface="Cambria Math" panose="02040503050406030204" pitchFamily="18" charset="0"/>
                                        <a:sym typeface="Arial"/>
                                      </a:rPr>
                                      <m:t>𝑐</m:t>
                                    </m:r>
                                  </m:e>
                                  <m:sub>
                                    <m:r>
                                      <a:rPr lang="en-US" sz="2200" b="0" i="0" dirty="0" smtClean="0">
                                        <a:latin typeface="Cambria Math" panose="02040503050406030204" pitchFamily="18" charset="0"/>
                                        <a:sym typeface="Arial"/>
                                      </a:rPr>
                                      <m:t>𝑥</m:t>
                                    </m:r>
                                  </m:sub>
                                </m:sSub>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m:rPr>
                                    <m:sty m:val="p"/>
                                  </m:rPr>
                                  <a:rPr lang="en-US" sz="2200" i="1" dirty="0">
                                    <a:latin typeface="Cambria Math" panose="02040503050406030204" pitchFamily="18" charset="0"/>
                                    <a:sym typeface="Arial"/>
                                  </a:rPr>
                                  <m:t>a</m:t>
                                </m:r>
                              </m:e>
                              <m:e>
                                <m:sSub>
                                  <m:sSubPr>
                                    <m:ctrlPr>
                                      <a:rPr lang="en-US" sz="2200" b="0" i="1" dirty="0" smtClean="0">
                                        <a:latin typeface="Cambria Math" panose="02040503050406030204" pitchFamily="18" charset="0"/>
                                        <a:sym typeface="Arial"/>
                                      </a:rPr>
                                    </m:ctrlPr>
                                  </m:sSubPr>
                                  <m:e>
                                    <m:r>
                                      <a:rPr lang="en-US" sz="2200" b="0" i="0" dirty="0" smtClean="0">
                                        <a:latin typeface="Cambria Math" panose="02040503050406030204" pitchFamily="18" charset="0"/>
                                        <a:sym typeface="Arial"/>
                                      </a:rPr>
                                      <m:t>𝑐</m:t>
                                    </m:r>
                                  </m:e>
                                  <m:sub>
                                    <m:r>
                                      <a:rPr lang="en-US" sz="2200" b="0" i="0" dirty="0" smtClean="0">
                                        <a:latin typeface="Cambria Math" panose="02040503050406030204" pitchFamily="18" charset="0"/>
                                        <a:sym typeface="Arial"/>
                                      </a:rPr>
                                      <m:t>𝑦</m:t>
                                    </m:r>
                                  </m:sub>
                                </m:sSub>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1</m:t>
                                </m:r>
                              </m:e>
                              <m:e>
                                <m:r>
                                  <a:rPr lang="en-US" sz="2200" dirty="0">
                                    <a:latin typeface="Cambria Math" panose="02040503050406030204" pitchFamily="18" charset="0"/>
                                    <a:sym typeface="Arial"/>
                                  </a:rPr>
                                  <m:t>0</m:t>
                                </m:r>
                              </m:e>
                            </m:mr>
                          </m:m>
                        </m:e>
                      </m:d>
                    </m:oMath>
                  </m:oMathPara>
                </a14:m>
                <a:endParaRPr lang="en-US" sz="2200" dirty="0">
                  <a:solidFill>
                    <a:schemeClr val="dk1"/>
                  </a:solidFill>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EF533278-FE76-AA17-BD9D-E468D001EF7D}"/>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01316A9-227D-7196-C2E9-963AAD2C764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AE8167A7-035E-0354-471F-629C425E313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AB50F82-5385-DF4E-5411-C4BAC2FFB50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C807157-80B0-6093-D6C7-0E75E9BCCB2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4E72AE9-9320-A274-3E05-65AB391ECB4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4941EB6-EA98-CA22-3D72-50221F63A61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5FDD93A-9032-1F61-D14D-30FAF67288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845CAF0-C58D-4C9E-885C-D8993EEC64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924939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F5E3C6-C0B6-5B3E-7668-F41D6CF7B80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0F8071D-A812-E517-6592-4E6886CF729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It is also possible that the pixels are not square, in which case we must account for different scaling along both axis: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sym typeface="Arial"/>
                        </a:rPr>
                        <m:t>𝐾</m:t>
                      </m:r>
                      <m:r>
                        <a:rPr lang="en-US" sz="2200" i="1" dirty="0" smtClean="0">
                          <a:latin typeface="Cambria Math" panose="02040503050406030204" pitchFamily="18" charset="0"/>
                          <a:sym typeface="Arial"/>
                        </a:rPr>
                        <m:t>=</m:t>
                      </m:r>
                      <m:d>
                        <m:dPr>
                          <m:begChr m:val="["/>
                          <m:endChr m:val="]"/>
                          <m:ctrlPr>
                            <a:rPr lang="en-US" sz="2200" i="1" dirty="0">
                              <a:latin typeface="Cambria Math" panose="02040503050406030204" pitchFamily="18" charset="0"/>
                              <a:sym typeface="Arial"/>
                            </a:rPr>
                          </m:ctrlPr>
                        </m:dPr>
                        <m:e>
                          <m:m>
                            <m:mPr>
                              <m:plcHide m:val="on"/>
                              <m:mcs>
                                <m:mc>
                                  <m:mcPr>
                                    <m:count m:val="4"/>
                                    <m:mcJc m:val="center"/>
                                  </m:mcPr>
                                </m:mc>
                              </m:mcs>
                              <m:ctrlPr>
                                <a:rPr lang="en-US" sz="2200" i="1" dirty="0">
                                  <a:latin typeface="Cambria Math" panose="02040503050406030204" pitchFamily="18" charset="0"/>
                                  <a:sym typeface="Arial"/>
                                </a:rPr>
                              </m:ctrlPr>
                            </m:mPr>
                            <m:mr>
                              <m:e>
                                <m:r>
                                  <m:rPr>
                                    <m:sty m:val="p"/>
                                  </m:rPr>
                                  <a:rPr lang="en-US" sz="2200" i="1" dirty="0">
                                    <a:latin typeface="Cambria Math" panose="02040503050406030204" pitchFamily="18" charset="0"/>
                                    <a:sym typeface="Arial"/>
                                  </a:rPr>
                                  <m:t>a</m:t>
                                </m:r>
                              </m:e>
                              <m:e>
                                <m:r>
                                  <a:rPr lang="en-US" sz="2200" dirty="0">
                                    <a:latin typeface="Cambria Math" panose="02040503050406030204" pitchFamily="18" charset="0"/>
                                    <a:sym typeface="Arial"/>
                                  </a:rPr>
                                  <m:t>0</m:t>
                                </m:r>
                              </m:e>
                              <m:e>
                                <m:sSub>
                                  <m:sSubPr>
                                    <m:ctrlPr>
                                      <a:rPr lang="en-US" sz="2200" b="0" i="1" dirty="0" smtClean="0">
                                        <a:latin typeface="Cambria Math" panose="02040503050406030204" pitchFamily="18" charset="0"/>
                                        <a:sym typeface="Arial"/>
                                      </a:rPr>
                                    </m:ctrlPr>
                                  </m:sSubPr>
                                  <m:e>
                                    <m:r>
                                      <a:rPr lang="en-US" sz="2200" b="0" i="0" dirty="0" smtClean="0">
                                        <a:latin typeface="Cambria Math" panose="02040503050406030204" pitchFamily="18" charset="0"/>
                                        <a:sym typeface="Arial"/>
                                      </a:rPr>
                                      <m:t>𝑐</m:t>
                                    </m:r>
                                  </m:e>
                                  <m:sub>
                                    <m:r>
                                      <a:rPr lang="en-US" sz="2200" b="0" i="0" dirty="0" smtClean="0">
                                        <a:latin typeface="Cambria Math" panose="02040503050406030204" pitchFamily="18" charset="0"/>
                                        <a:sym typeface="Arial"/>
                                      </a:rPr>
                                      <m:t>𝑥</m:t>
                                    </m:r>
                                  </m:sub>
                                </m:sSub>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m:rPr>
                                    <m:sty m:val="p"/>
                                  </m:rPr>
                                  <a:rPr lang="en-US" sz="2200" b="0" i="1" dirty="0" smtClean="0">
                                    <a:latin typeface="Cambria Math" panose="02040503050406030204" pitchFamily="18" charset="0"/>
                                    <a:sym typeface="Arial"/>
                                  </a:rPr>
                                  <m:t>b</m:t>
                                </m:r>
                              </m:e>
                              <m:e>
                                <m:sSub>
                                  <m:sSubPr>
                                    <m:ctrlPr>
                                      <a:rPr lang="en-US" sz="2200" b="0" i="1" dirty="0" smtClean="0">
                                        <a:latin typeface="Cambria Math" panose="02040503050406030204" pitchFamily="18" charset="0"/>
                                        <a:sym typeface="Arial"/>
                                      </a:rPr>
                                    </m:ctrlPr>
                                  </m:sSubPr>
                                  <m:e>
                                    <m:r>
                                      <a:rPr lang="en-US" sz="2200" b="0" i="0" dirty="0" smtClean="0">
                                        <a:latin typeface="Cambria Math" panose="02040503050406030204" pitchFamily="18" charset="0"/>
                                        <a:sym typeface="Arial"/>
                                      </a:rPr>
                                      <m:t>𝑐</m:t>
                                    </m:r>
                                  </m:e>
                                  <m:sub>
                                    <m:r>
                                      <a:rPr lang="en-US" sz="2200" b="0" i="0" dirty="0" smtClean="0">
                                        <a:latin typeface="Cambria Math" panose="02040503050406030204" pitchFamily="18" charset="0"/>
                                        <a:sym typeface="Arial"/>
                                      </a:rPr>
                                      <m:t>𝑦</m:t>
                                    </m:r>
                                  </m:sub>
                                </m:sSub>
                              </m:e>
                              <m:e>
                                <m:r>
                                  <a:rPr lang="en-US" sz="2200" dirty="0">
                                    <a:latin typeface="Cambria Math" panose="02040503050406030204" pitchFamily="18" charset="0"/>
                                    <a:sym typeface="Arial"/>
                                  </a:rPr>
                                  <m:t>0</m:t>
                                </m:r>
                              </m:e>
                            </m:mr>
                            <m:mr>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0</m:t>
                                </m:r>
                              </m:e>
                              <m:e>
                                <m:r>
                                  <a:rPr lang="en-US" sz="2200" dirty="0">
                                    <a:latin typeface="Cambria Math" panose="02040503050406030204" pitchFamily="18" charset="0"/>
                                    <a:sym typeface="Arial"/>
                                  </a:rPr>
                                  <m:t>1</m:t>
                                </m:r>
                              </m:e>
                              <m:e>
                                <m:r>
                                  <a:rPr lang="en-US" sz="2200" dirty="0">
                                    <a:latin typeface="Cambria Math" panose="02040503050406030204" pitchFamily="18" charset="0"/>
                                    <a:sym typeface="Arial"/>
                                  </a:rPr>
                                  <m:t>0</m:t>
                                </m:r>
                              </m:e>
                            </m:mr>
                          </m:m>
                        </m:e>
                      </m:d>
                    </m:oMath>
                  </m:oMathPara>
                </a14:m>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Why might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a</m:t>
                    </m:r>
                  </m:oMath>
                </a14:m>
                <a:r>
                  <a:rPr lang="en-US" sz="2200" dirty="0">
                    <a:solidFill>
                      <a:schemeClr val="dk1"/>
                    </a:solidFill>
                    <a:latin typeface="Arial"/>
                    <a:ea typeface="Arial"/>
                    <a:cs typeface="Arial"/>
                    <a:sym typeface="Arial"/>
                  </a:rPr>
                  <a:t> and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b</m:t>
                    </m:r>
                  </m:oMath>
                </a14:m>
                <a:r>
                  <a:rPr lang="en-US" sz="2200" dirty="0">
                    <a:solidFill>
                      <a:schemeClr val="dk1"/>
                    </a:solidFill>
                    <a:latin typeface="Arial"/>
                    <a:ea typeface="Arial"/>
                    <a:cs typeface="Arial"/>
                    <a:sym typeface="Arial"/>
                  </a:rPr>
                  <a:t>, be slightly different on cheap CMOS sensors?</a:t>
                </a:r>
              </a:p>
            </p:txBody>
          </p:sp>
        </mc:Choice>
        <mc:Fallback xmlns="">
          <p:sp>
            <p:nvSpPr>
              <p:cNvPr id="118" name="Google Shape;118;p29">
                <a:extLst>
                  <a:ext uri="{FF2B5EF4-FFF2-40B4-BE49-F238E27FC236}">
                    <a16:creationId xmlns:a16="http://schemas.microsoft.com/office/drawing/2014/main" id="{60F8071D-A812-E517-6592-4E6886CF729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103A9D5-882D-2C34-5C36-105FF59DD24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C7C6114-AB2C-4276-66A9-6738AD2C91C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0A34F69-A325-1743-B60C-D46D0E5C820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3A5B549-DDFA-DC16-48BF-C66EF00297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1CFC6B-E9B6-9387-9652-813D637E4B1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E2C972-0A97-613C-2463-AA82B14E373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992C7C-24A4-C714-B0B5-246AC3EE249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F4D2AD8-5E80-22D3-2F43-A28727D0C0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546411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CC76E770-87DE-00CF-7022-16F21D72BDA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17899E2-97D3-159D-C15A-A3BC7D359E42}"/>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F567CA88-B7DE-BE6A-982C-85F651B8452C}"/>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buSzPts val="6000"/>
              </a:pPr>
              <a:r>
                <a:rPr lang="en-US" sz="6000" b="1" dirty="0">
                  <a:solidFill>
                    <a:schemeClr val="lt1"/>
                  </a:solidFill>
                </a:rPr>
                <a:t>Camera </a:t>
              </a:r>
              <a:r>
                <a:rPr lang="en-US" sz="6000" b="1" dirty="0" err="1">
                  <a:solidFill>
                    <a:schemeClr val="lt1"/>
                  </a:solidFill>
                </a:rPr>
                <a:t>Extrinsics</a:t>
              </a:r>
              <a:endParaRPr sz="1400" b="0" i="0" u="none" strike="noStrike" cap="none" dirty="0">
                <a:solidFill>
                  <a:srgbClr val="000000"/>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960F744D-15EF-C4F0-8EE3-D275C0B8965D}"/>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4CA537CE-886F-B1CB-96DF-77A62EACA75D}"/>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03347F6-C5BA-1F5E-C18B-C4738633C47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8710AAD9-E1CB-D01D-4E3E-36BC6BCF7F5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078EF89C-82F6-7233-43B2-C5EF7FA814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5689298C-9FAA-9026-C6A6-D67CA5C452CA}"/>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62C8EAC3-52C6-F035-45E1-FD34C88FA7D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BA48F448-45D3-4F09-3DFB-B9B2326A4325}"/>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60560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9855EE5-1FA9-2DA2-4BF9-FCF760338D4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57D57A2-6BB0-78AB-E7EB-636848B3127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In all our previous examples, we have been assuming that the camera origin was located at the origin of the world coordinate system with the optical axis aligned with the world </a:t>
                </a:r>
              </a:p>
              <a:p>
                <a:pPr marL="0" indent="0">
                  <a:lnSpc>
                    <a:spcPct val="100000"/>
                  </a:lnSpc>
                  <a:spcBef>
                    <a:spcPts val="0"/>
                  </a:spcBef>
                  <a:buSzPts val="3000"/>
                  <a:buNone/>
                </a:pP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Z</m:t>
                    </m:r>
                  </m:oMath>
                </a14:m>
                <a:r>
                  <a:rPr lang="en-US" sz="2200" dirty="0">
                    <a:solidFill>
                      <a:schemeClr val="dk1"/>
                    </a:solidFill>
                    <a:latin typeface="Arial"/>
                    <a:ea typeface="Arial"/>
                    <a:cs typeface="Arial"/>
                    <a:sym typeface="Arial"/>
                  </a:rPr>
                  <a:t>-axis.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In practice, there will be many situations where placing the camera at a special position will be more convenient. </a:t>
                </a:r>
              </a:p>
            </p:txBody>
          </p:sp>
        </mc:Choice>
        <mc:Fallback xmlns="">
          <p:sp>
            <p:nvSpPr>
              <p:cNvPr id="118" name="Google Shape;118;p29">
                <a:extLst>
                  <a:ext uri="{FF2B5EF4-FFF2-40B4-BE49-F238E27FC236}">
                    <a16:creationId xmlns:a16="http://schemas.microsoft.com/office/drawing/2014/main" id="{557D57A2-6BB0-78AB-E7EB-636848B3127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13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58C4825-56F6-9109-1199-A09334E4F59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3CCBDB03-3E04-14CF-6757-506CF49918C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071BFF60-EE6B-DD5B-9DCC-DB088E955CB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041B82A-6B71-2198-C8BD-FE1A56DEDCB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675C3AC-8A2D-E498-34A1-0937C08D1F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A5C7792-9820-B43F-968A-3BD20D3C96A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0BD903E-D3A4-1EAE-81CB-0C5EBBBF5B0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46D3CA7-4BE4-3DF2-5B33-E298A92A7ED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480721DF-6236-5C04-ED77-787CD3EF10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69385" y="3390315"/>
            <a:ext cx="8524875" cy="3133725"/>
          </a:xfrm>
          <a:prstGeom prst="rect">
            <a:avLst/>
          </a:prstGeom>
        </p:spPr>
      </p:pic>
    </p:spTree>
    <p:extLst>
      <p:ext uri="{BB962C8B-B14F-4D97-AF65-F5344CB8AC3E}">
        <p14:creationId xmlns:p14="http://schemas.microsoft.com/office/powerpoint/2010/main" val="151097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54B89A-6D46-091C-B95F-0C7574394F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9AA89A0-8174-6596-13D7-27B66007E3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Let’s say that our camera has its camera center displaced by vector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T</m:t>
                    </m:r>
                  </m:oMath>
                </a14:m>
                <a:r>
                  <a:rPr lang="en-US" sz="2200" dirty="0">
                    <a:solidFill>
                      <a:schemeClr val="dk1"/>
                    </a:solidFill>
                    <a:latin typeface="Arial"/>
                    <a:ea typeface="Arial"/>
                    <a:cs typeface="Arial"/>
                    <a:sym typeface="Arial"/>
                  </a:rPr>
                  <a:t> and the axes are rotated by </a:t>
                </a:r>
                <a14:m>
                  <m:oMath xmlns:m="http://schemas.openxmlformats.org/officeDocument/2006/math">
                    <m:sSup>
                      <m:sSupPr>
                        <m:ctrlPr>
                          <a:rPr lang="en-US" sz="2200" b="0" i="1" smtClean="0">
                            <a:solidFill>
                              <a:schemeClr val="dk1"/>
                            </a:solidFill>
                            <a:latin typeface="Cambria Math" panose="02040503050406030204" pitchFamily="18" charset="0"/>
                            <a:ea typeface="Arial"/>
                            <a:cs typeface="Arial"/>
                            <a:sym typeface="Arial"/>
                          </a:rPr>
                        </m:ctrlPr>
                      </m:sSupPr>
                      <m:e>
                        <m:r>
                          <a:rPr lang="en-US" sz="2200" b="0" i="1" smtClean="0">
                            <a:solidFill>
                              <a:schemeClr val="dk1"/>
                            </a:solidFill>
                            <a:latin typeface="Cambria Math" panose="02040503050406030204" pitchFamily="18" charset="0"/>
                            <a:ea typeface="Arial"/>
                            <a:cs typeface="Arial"/>
                            <a:sym typeface="Arial"/>
                          </a:rPr>
                          <m:t>𝑅</m:t>
                        </m:r>
                      </m:e>
                      <m:sup>
                        <m:r>
                          <a:rPr lang="en-US" sz="2200" b="0" i="1" smtClean="0">
                            <a:solidFill>
                              <a:schemeClr val="dk1"/>
                            </a:solidFill>
                            <a:latin typeface="Cambria Math" panose="02040503050406030204" pitchFamily="18" charset="0"/>
                            <a:ea typeface="Arial"/>
                            <a:cs typeface="Arial"/>
                            <a:sym typeface="Arial"/>
                          </a:rPr>
                          <m:t>⊤</m:t>
                        </m:r>
                      </m:sup>
                    </m:sSup>
                  </m:oMath>
                </a14:m>
                <a:r>
                  <a:rPr lang="en-US" sz="2200" dirty="0">
                    <a:solidFill>
                      <a:schemeClr val="dk1"/>
                    </a:solidFill>
                    <a:latin typeface="Arial"/>
                    <a:ea typeface="Arial"/>
                    <a:cs typeface="Arial"/>
                    <a:sym typeface="Arial"/>
                  </a:rPr>
                  <a:t> with respect to the world-coordinates system.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We are now given a point in the world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𝑃</m:t>
                        </m:r>
                      </m:e>
                      <m:sub>
                        <m:r>
                          <a:rPr lang="en-US" sz="2200" b="0" i="1" smtClean="0">
                            <a:latin typeface="Cambria Math" panose="02040503050406030204" pitchFamily="18" charset="0"/>
                            <a:ea typeface="Arial"/>
                            <a:cs typeface="Arial"/>
                            <a:sym typeface="Arial"/>
                          </a:rPr>
                          <m:t>𝑤</m:t>
                        </m:r>
                      </m:sub>
                    </m:sSub>
                  </m:oMath>
                </a14:m>
                <a:r>
                  <a:rPr lang="en-US" sz="2200" dirty="0">
                    <a:latin typeface="Arial"/>
                    <a:ea typeface="Arial"/>
                    <a:cs typeface="Arial"/>
                    <a:sym typeface="Arial"/>
                  </a:rPr>
                  <a:t>, with its coordinates are described in terms of the world-coordinate system. Our goal is to find how that point projects into the image captured by the camera.</a:t>
                </a:r>
              </a:p>
            </p:txBody>
          </p:sp>
        </mc:Choice>
        <mc:Fallback xmlns="">
          <p:sp>
            <p:nvSpPr>
              <p:cNvPr id="118" name="Google Shape;118;p29">
                <a:extLst>
                  <a:ext uri="{FF2B5EF4-FFF2-40B4-BE49-F238E27FC236}">
                    <a16:creationId xmlns:a16="http://schemas.microsoft.com/office/drawing/2014/main" id="{A9AA89A0-8174-6596-13D7-27B66007E3A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2B025F0-D113-9A5C-6A61-5D7C994B8C2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A14BF55F-9883-9DA5-5588-86EC586B625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54ADD5F-51B2-E440-0D15-EABE700347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47E9C24-846C-D04E-69F6-BF42701DEE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BA4C7B6-556C-7804-0282-29EECFD4AB7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4F84F1A-9BE6-6558-C6FD-8CE8B72C5A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2F5644F-884A-6B23-3C3A-E2EFC037375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3AC5700-92D1-A056-43A9-91352F6350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D3ED5833-CD34-2A44-D59C-C4F1E4C567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3127" y="3333016"/>
            <a:ext cx="5084763" cy="3191024"/>
          </a:xfrm>
          <a:prstGeom prst="rect">
            <a:avLst/>
          </a:prstGeom>
        </p:spPr>
      </p:pic>
    </p:spTree>
    <p:extLst>
      <p:ext uri="{BB962C8B-B14F-4D97-AF65-F5344CB8AC3E}">
        <p14:creationId xmlns:p14="http://schemas.microsoft.com/office/powerpoint/2010/main" val="210702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90371F-6F01-F2C0-8EFC-60D6630EE40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256D4C2-3DFA-6AAD-932F-3E447362C10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Based on coordinate transformations of the camera, we can describe the transformation as,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𝑃</m:t>
                          </m:r>
                        </m:e>
                        <m:sub>
                          <m:r>
                            <a:rPr lang="en-US" sz="2200" b="0" i="1" smtClean="0">
                              <a:latin typeface="Cambria Math" panose="02040503050406030204" pitchFamily="18" charset="0"/>
                              <a:ea typeface="Arial"/>
                              <a:cs typeface="Arial"/>
                              <a:sym typeface="Arial"/>
                            </a:rPr>
                            <m:t>𝑐</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𝑅</m:t>
                      </m:r>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𝑃</m:t>
                              </m:r>
                            </m:e>
                            <m:sub>
                              <m:r>
                                <a:rPr lang="en-US" sz="2200" b="0" i="1" smtClean="0">
                                  <a:latin typeface="Cambria Math" panose="02040503050406030204" pitchFamily="18" charset="0"/>
                                  <a:ea typeface="Arial"/>
                                  <a:cs typeface="Arial"/>
                                  <a:sym typeface="Arial"/>
                                </a:rPr>
                                <m:t>𝑊</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𝑇</m:t>
                          </m:r>
                        </m:e>
                      </m:d>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𝑅</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𝑃</m:t>
                          </m:r>
                        </m:e>
                        <m:sub>
                          <m:r>
                            <m:rPr>
                              <m:sty m:val="p"/>
                            </m:rPr>
                            <a:rPr lang="en-US" sz="2200" b="0" i="1" smtClean="0">
                              <a:latin typeface="Cambria Math" panose="02040503050406030204" pitchFamily="18" charset="0"/>
                              <a:ea typeface="Arial"/>
                              <a:cs typeface="Arial"/>
                              <a:sym typeface="Arial"/>
                            </a:rPr>
                            <m:t>W</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𝑅𝑇</m:t>
                      </m:r>
                    </m:oMath>
                  </m:oMathPara>
                </a14:m>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B256D4C2-3DFA-6AAD-932F-3E447362C10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327"/>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E8A053C-9A98-D83F-FF5F-82C96CBB2B6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7E23261C-81E1-4279-AC1E-B925B260040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9C8C076-D455-A440-56A3-44F62C1775E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DF02707-4AFE-49D6-1B92-A533F22D19A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DF6C6ED-AF43-B95C-DD24-5411BCD457E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6827350-BD7F-A15B-9A72-212E187C30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173A6CA-8D29-CB27-BFC4-8696500D081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DD681C4-3AA0-051D-B218-3E5E2E9B69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CD4F6074-2342-44E4-603D-7BBEB0ABC08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3127" y="3333016"/>
            <a:ext cx="5084763" cy="3191024"/>
          </a:xfrm>
          <a:prstGeom prst="rect">
            <a:avLst/>
          </a:prstGeom>
        </p:spPr>
      </p:pic>
      <p:sp>
        <p:nvSpPr>
          <p:cNvPr id="2" name="Rectangle 1">
            <a:extLst>
              <a:ext uri="{FF2B5EF4-FFF2-40B4-BE49-F238E27FC236}">
                <a16:creationId xmlns:a16="http://schemas.microsoft.com/office/drawing/2014/main" id="{650F272F-3663-4B34-7752-BD0EE2E11A8A}"/>
              </a:ext>
            </a:extLst>
          </p:cNvPr>
          <p:cNvSpPr/>
          <p:nvPr/>
        </p:nvSpPr>
        <p:spPr>
          <a:xfrm>
            <a:off x="4152900" y="3300640"/>
            <a:ext cx="654050" cy="487948"/>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B8096645-1C8B-687B-E96C-F37E63A05F3D}"/>
              </a:ext>
            </a:extLst>
          </p:cNvPr>
          <p:cNvCxnSpPr>
            <a:cxnSpLocks/>
          </p:cNvCxnSpPr>
          <p:nvPr/>
        </p:nvCxnSpPr>
        <p:spPr>
          <a:xfrm>
            <a:off x="4210050" y="4616450"/>
            <a:ext cx="3854450" cy="144780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EF11E65-163A-5584-6977-38BB4AA67034}"/>
              </a:ext>
            </a:extLst>
          </p:cNvPr>
          <p:cNvCxnSpPr>
            <a:cxnSpLocks/>
          </p:cNvCxnSpPr>
          <p:nvPr/>
        </p:nvCxnSpPr>
        <p:spPr>
          <a:xfrm flipH="1" flipV="1">
            <a:off x="7181850" y="4616450"/>
            <a:ext cx="882650" cy="144780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04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4C9BF6-93BD-F657-A919-216234724DF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9486C9A-A1F8-50CE-4487-A799C20290B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solidFill>
                      <a:schemeClr val="dk1"/>
                    </a:solidFill>
                    <a:latin typeface="Arial"/>
                    <a:ea typeface="Arial"/>
                    <a:cs typeface="Arial"/>
                    <a:sym typeface="Arial"/>
                  </a:rPr>
                  <a:t>Using homogeneous coordinates, to describe the transformation from world coordinates to coordinates, the result is,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𝑃</m:t>
                          </m:r>
                        </m:e>
                        <m:sub>
                          <m:r>
                            <a:rPr lang="en-US" sz="2200" b="0" i="1" smtClean="0">
                              <a:latin typeface="Cambria Math" panose="02040503050406030204" pitchFamily="18" charset="0"/>
                              <a:ea typeface="Arial"/>
                              <a:cs typeface="Arial"/>
                              <a:sym typeface="Arial"/>
                            </a:rPr>
                            <m:t>𝐶</m:t>
                          </m:r>
                        </m:sub>
                      </m:sSub>
                      <m:r>
                        <a:rPr lang="en-US" sz="2200" b="0" i="1" smtClean="0">
                          <a:latin typeface="Cambria Math" panose="02040503050406030204" pitchFamily="18" charset="0"/>
                          <a:ea typeface="Arial"/>
                          <a:cs typeface="Arial"/>
                          <a:sym typeface="Arial"/>
                        </a:rPr>
                        <m:t>=</m:t>
                      </m:r>
                      <m:d>
                        <m:dPr>
                          <m:begChr m:val="["/>
                          <m:endChr m:val="]"/>
                          <m:ctrlPr>
                            <a:rPr lang="en-US" sz="2200" b="0" i="1" smtClean="0">
                              <a:latin typeface="Cambria Math" panose="02040503050406030204" pitchFamily="18" charset="0"/>
                              <a:cs typeface="Arial"/>
                              <a:sym typeface="Arial"/>
                            </a:rPr>
                          </m:ctrlPr>
                        </m:dPr>
                        <m:e>
                          <m:m>
                            <m:mPr>
                              <m:mcs>
                                <m:mc>
                                  <m:mcPr>
                                    <m:count m:val="2"/>
                                    <m:mcJc m:val="center"/>
                                  </m:mcPr>
                                </m:mc>
                              </m:mcs>
                              <m:ctrlPr>
                                <a:rPr lang="en-US" sz="2200" b="0" i="1" smtClean="0">
                                  <a:latin typeface="Cambria Math" panose="02040503050406030204" pitchFamily="18" charset="0"/>
                                  <a:cs typeface="Arial"/>
                                  <a:sym typeface="Arial"/>
                                </a:rPr>
                              </m:ctrlPr>
                            </m:mPr>
                            <m:mr>
                              <m:e>
                                <m:r>
                                  <m:rPr>
                                    <m:sty m:val="p"/>
                                    <m:brk m:alnAt="7"/>
                                  </m:rPr>
                                  <a:rPr lang="en-US" sz="2200" b="0" i="1" smtClean="0">
                                    <a:latin typeface="Cambria Math" panose="02040503050406030204" pitchFamily="18" charset="0"/>
                                    <a:cs typeface="Arial"/>
                                    <a:sym typeface="Arial"/>
                                  </a:rPr>
                                  <m:t>R</m:t>
                                </m:r>
                              </m:e>
                              <m:e>
                                <m:r>
                                  <a:rPr lang="en-US" sz="2200" b="0" i="1" smtClean="0">
                                    <a:latin typeface="Cambria Math" panose="02040503050406030204" pitchFamily="18" charset="0"/>
                                    <a:cs typeface="Arial"/>
                                    <a:sym typeface="Arial"/>
                                  </a:rPr>
                                  <m:t>−</m:t>
                                </m:r>
                                <m:r>
                                  <m:rPr>
                                    <m:sty m:val="p"/>
                                  </m:rPr>
                                  <a:rPr lang="en-US" sz="2200" b="0" i="1" smtClean="0">
                                    <a:latin typeface="Cambria Math" panose="02040503050406030204" pitchFamily="18" charset="0"/>
                                    <a:cs typeface="Arial"/>
                                    <a:sym typeface="Arial"/>
                                  </a:rPr>
                                  <m:t>RT</m:t>
                                </m:r>
                              </m:e>
                            </m:mr>
                            <m:mr>
                              <m:e>
                                <m:sSup>
                                  <m:sSupPr>
                                    <m:ctrlPr>
                                      <a:rPr lang="en-US" sz="2200" b="0" i="1" smtClean="0">
                                        <a:latin typeface="Cambria Math" panose="02040503050406030204" pitchFamily="18" charset="0"/>
                                        <a:cs typeface="Arial"/>
                                        <a:sym typeface="Arial"/>
                                      </a:rPr>
                                    </m:ctrlPr>
                                  </m:sSupPr>
                                  <m:e>
                                    <m:r>
                                      <a:rPr lang="en-US" sz="2200" b="0" i="1" smtClean="0">
                                        <a:latin typeface="Cambria Math" panose="02040503050406030204" pitchFamily="18" charset="0"/>
                                        <a:cs typeface="Arial"/>
                                        <a:sym typeface="Arial"/>
                                      </a:rPr>
                                      <m:t>0</m:t>
                                    </m:r>
                                  </m:e>
                                  <m:sup>
                                    <m:r>
                                      <a:rPr lang="en-US" sz="2200" b="0" i="1" smtClean="0">
                                        <a:latin typeface="Cambria Math" panose="02040503050406030204" pitchFamily="18" charset="0"/>
                                        <a:cs typeface="Arial"/>
                                        <a:sym typeface="Arial"/>
                                      </a:rPr>
                                      <m:t>⊤</m:t>
                                    </m:r>
                                  </m:sup>
                                </m:sSup>
                              </m:e>
                              <m:e>
                                <m:r>
                                  <a:rPr lang="en-US" sz="2200" b="0" i="1" smtClean="0">
                                    <a:latin typeface="Cambria Math" panose="02040503050406030204" pitchFamily="18" charset="0"/>
                                    <a:cs typeface="Arial"/>
                                    <a:sym typeface="Arial"/>
                                  </a:rPr>
                                  <m:t>1</m:t>
                                </m:r>
                              </m:e>
                            </m:mr>
                          </m:m>
                        </m:e>
                      </m:d>
                      <m:sSub>
                        <m:sSubPr>
                          <m:ctrlPr>
                            <a:rPr lang="en-US" sz="2200" b="0" i="1" smtClean="0">
                              <a:latin typeface="Cambria Math" panose="02040503050406030204" pitchFamily="18" charset="0"/>
                              <a:cs typeface="Arial"/>
                              <a:sym typeface="Arial"/>
                            </a:rPr>
                          </m:ctrlPr>
                        </m:sSubPr>
                        <m:e>
                          <m:r>
                            <a:rPr lang="en-US" sz="2200" b="0" i="1" smtClean="0">
                              <a:latin typeface="Cambria Math" panose="02040503050406030204" pitchFamily="18" charset="0"/>
                              <a:cs typeface="Arial"/>
                              <a:sym typeface="Arial"/>
                            </a:rPr>
                            <m:t>𝑃</m:t>
                          </m:r>
                        </m:e>
                        <m:sub>
                          <m:r>
                            <a:rPr lang="en-US" sz="2200" b="0" i="1" smtClean="0">
                              <a:latin typeface="Cambria Math" panose="02040503050406030204" pitchFamily="18" charset="0"/>
                              <a:cs typeface="Arial"/>
                              <a:sym typeface="Arial"/>
                            </a:rPr>
                            <m:t>𝑊</m:t>
                          </m:r>
                        </m:sub>
                      </m:sSub>
                    </m:oMath>
                  </m:oMathPara>
                </a14:m>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The camera parameters,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R</m:t>
                    </m:r>
                  </m:oMath>
                </a14:m>
                <a:r>
                  <a:rPr lang="en-US" sz="2200" dirty="0">
                    <a:solidFill>
                      <a:schemeClr val="dk1"/>
                    </a:solidFill>
                    <a:latin typeface="Arial"/>
                    <a:ea typeface="Arial"/>
                    <a:cs typeface="Arial"/>
                    <a:sym typeface="Arial"/>
                  </a:rPr>
                  <a:t> and </a:t>
                </a:r>
                <a14:m>
                  <m:oMath xmlns:m="http://schemas.openxmlformats.org/officeDocument/2006/math">
                    <m:r>
                      <m:rPr>
                        <m:sty m:val="p"/>
                      </m:rPr>
                      <a:rPr lang="en-US" sz="2200" b="0" i="1" smtClean="0">
                        <a:solidFill>
                          <a:schemeClr val="dk1"/>
                        </a:solidFill>
                        <a:latin typeface="Cambria Math" panose="02040503050406030204" pitchFamily="18" charset="0"/>
                        <a:ea typeface="Arial"/>
                        <a:cs typeface="Arial"/>
                        <a:sym typeface="Arial"/>
                      </a:rPr>
                      <m:t>T</m:t>
                    </m:r>
                  </m:oMath>
                </a14:m>
                <a:r>
                  <a:rPr lang="en-US" sz="2200" dirty="0">
                    <a:solidFill>
                      <a:schemeClr val="dk1"/>
                    </a:solidFill>
                    <a:latin typeface="Arial"/>
                    <a:ea typeface="Arial"/>
                    <a:cs typeface="Arial"/>
                    <a:sym typeface="Arial"/>
                  </a:rPr>
                  <a:t>, that relate the camera to the world are called the </a:t>
                </a:r>
                <a:r>
                  <a:rPr lang="en-US" sz="2200" b="1" dirty="0">
                    <a:solidFill>
                      <a:schemeClr val="dk1"/>
                    </a:solidFill>
                    <a:latin typeface="Arial"/>
                    <a:ea typeface="Arial"/>
                    <a:cs typeface="Arial"/>
                    <a:sym typeface="Arial"/>
                  </a:rPr>
                  <a:t>extrinsic camera </a:t>
                </a:r>
                <a:r>
                  <a:rPr lang="en-US" sz="2200" dirty="0">
                    <a:solidFill>
                      <a:schemeClr val="dk1"/>
                    </a:solidFill>
                    <a:latin typeface="Arial"/>
                    <a:ea typeface="Arial"/>
                    <a:cs typeface="Arial"/>
                    <a:sym typeface="Arial"/>
                  </a:rPr>
                  <a:t>parameters. These parameters are external to the camera.</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solidFill>
                      <a:schemeClr val="dk1"/>
                    </a:solidFill>
                    <a:latin typeface="Arial"/>
                    <a:ea typeface="Arial"/>
                    <a:cs typeface="Arial"/>
                    <a:sym typeface="Arial"/>
                  </a:rPr>
                  <a:t>We have seen now how to transform a point described in the </a:t>
                </a:r>
                <a:r>
                  <a:rPr lang="en-US" sz="2200" b="1" dirty="0">
                    <a:solidFill>
                      <a:schemeClr val="dk1"/>
                    </a:solidFill>
                    <a:latin typeface="Arial"/>
                    <a:ea typeface="Arial"/>
                    <a:cs typeface="Arial"/>
                    <a:sym typeface="Arial"/>
                  </a:rPr>
                  <a:t>world-coordinate</a:t>
                </a:r>
                <a:r>
                  <a:rPr lang="en-US" sz="2200" dirty="0">
                    <a:solidFill>
                      <a:schemeClr val="dk1"/>
                    </a:solidFill>
                    <a:latin typeface="Arial"/>
                    <a:ea typeface="Arial"/>
                    <a:cs typeface="Arial"/>
                    <a:sym typeface="Arial"/>
                  </a:rPr>
                  <a:t> system into the </a:t>
                </a:r>
                <a:r>
                  <a:rPr lang="en-US" sz="2200" b="1" dirty="0">
                    <a:solidFill>
                      <a:schemeClr val="dk1"/>
                    </a:solidFill>
                    <a:latin typeface="Arial"/>
                    <a:ea typeface="Arial"/>
                    <a:cs typeface="Arial"/>
                    <a:sym typeface="Arial"/>
                  </a:rPr>
                  <a:t>camera-coordinates</a:t>
                </a:r>
                <a:r>
                  <a:rPr lang="en-US" sz="2200" dirty="0">
                    <a:solidFill>
                      <a:schemeClr val="dk1"/>
                    </a:solidFill>
                    <a:latin typeface="Arial"/>
                    <a:ea typeface="Arial"/>
                    <a:cs typeface="Arial"/>
                    <a:sym typeface="Arial"/>
                  </a:rPr>
                  <a:t> system. We can now use the intrinsic camera parameters to project the </a:t>
                </a:r>
                <a:r>
                  <a:rPr lang="en-US" sz="2200" b="1" dirty="0">
                    <a:solidFill>
                      <a:schemeClr val="dk1"/>
                    </a:solidFill>
                    <a:latin typeface="Arial"/>
                    <a:ea typeface="Arial"/>
                    <a:cs typeface="Arial"/>
                    <a:sym typeface="Arial"/>
                  </a:rPr>
                  <a:t>point</a:t>
                </a:r>
                <a:r>
                  <a:rPr lang="en-US" sz="2200" dirty="0">
                    <a:solidFill>
                      <a:schemeClr val="dk1"/>
                    </a:solidFill>
                    <a:latin typeface="Arial"/>
                    <a:ea typeface="Arial"/>
                    <a:cs typeface="Arial"/>
                    <a:sym typeface="Arial"/>
                  </a:rPr>
                  <a:t> into the </a:t>
                </a:r>
                <a:r>
                  <a:rPr lang="en-US" sz="2200" b="1" dirty="0">
                    <a:solidFill>
                      <a:schemeClr val="dk1"/>
                    </a:solidFill>
                    <a:latin typeface="Arial"/>
                    <a:ea typeface="Arial"/>
                    <a:cs typeface="Arial"/>
                    <a:sym typeface="Arial"/>
                  </a:rPr>
                  <a:t>image plane</a:t>
                </a:r>
                <a:r>
                  <a:rPr lang="en-US" sz="2200" dirty="0">
                    <a:solidFill>
                      <a:schemeClr val="dk1"/>
                    </a:solidFill>
                    <a:latin typeface="Arial"/>
                    <a:ea typeface="Arial"/>
                    <a:cs typeface="Arial"/>
                    <a:sym typeface="Arial"/>
                  </a:rPr>
                  <a:t>.</a:t>
                </a:r>
              </a:p>
              <a:p>
                <a:pPr marL="0" indent="0">
                  <a:lnSpc>
                    <a:spcPct val="100000"/>
                  </a:lnSpc>
                  <a:spcBef>
                    <a:spcPts val="0"/>
                  </a:spcBef>
                  <a:buSzPts val="3000"/>
                  <a:buNone/>
                </a:pPr>
                <a:endParaRPr lang="en-US" sz="2200" dirty="0">
                  <a:solidFill>
                    <a:schemeClr val="dk1"/>
                  </a:solidFill>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79486C9A-A1F8-50CE-4487-A799C20290B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1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899BD0C-ACE7-2B85-2B7A-615436A8183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91086791-BF6F-F309-5B17-55CBE71A413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04730A3-F418-E53C-B91F-7AD76757896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222E83-0140-BCA5-EFFC-ECC53BFF007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5F2992F-B2B7-BF5F-0523-14019467BAE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6C476AA-B056-051F-8DEF-40302C2D63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B71624E-6C03-280F-8D20-A86C7A06D3A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339705-7510-4AA9-0CA2-A2779204B6C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05506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8556543-DC56-288A-F607-D065AF57D0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D0BC120-6897-CAE6-D865-6D6F5F4C2F0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The concatenation of the </a:t>
                </a:r>
                <a:r>
                  <a:rPr lang="en-US" sz="2200" b="1" dirty="0">
                    <a:latin typeface="Arial"/>
                    <a:ea typeface="Arial"/>
                    <a:cs typeface="Arial"/>
                    <a:sym typeface="Arial"/>
                  </a:rPr>
                  <a:t>extrinsic</a:t>
                </a:r>
                <a:r>
                  <a:rPr lang="en-US" sz="2200" dirty="0">
                    <a:latin typeface="Arial"/>
                    <a:ea typeface="Arial"/>
                    <a:cs typeface="Arial"/>
                    <a:sym typeface="Arial"/>
                  </a:rPr>
                  <a:t> and </a:t>
                </a:r>
                <a:r>
                  <a:rPr lang="en-US" sz="2200" b="1" dirty="0">
                    <a:latin typeface="Arial"/>
                    <a:ea typeface="Arial"/>
                    <a:cs typeface="Arial"/>
                    <a:sym typeface="Arial"/>
                  </a:rPr>
                  <a:t>intrinsic</a:t>
                </a:r>
                <a:r>
                  <a:rPr lang="en-US" sz="2200" dirty="0">
                    <a:latin typeface="Arial"/>
                    <a:ea typeface="Arial"/>
                    <a:cs typeface="Arial"/>
                    <a:sym typeface="Arial"/>
                  </a:rPr>
                  <a:t> transformation matrices yields the desired </a:t>
                </a:r>
                <a:r>
                  <a:rPr lang="en-US" sz="2200" b="1" dirty="0">
                    <a:latin typeface="Arial"/>
                    <a:ea typeface="Arial"/>
                    <a:cs typeface="Arial"/>
                    <a:sym typeface="Arial"/>
                  </a:rPr>
                  <a:t>transformation matrix</a:t>
                </a:r>
                <a:r>
                  <a:rPr lang="en-US" sz="2200" dirty="0">
                    <a:latin typeface="Arial"/>
                    <a:ea typeface="Arial"/>
                    <a:cs typeface="Arial"/>
                    <a:sym typeface="Arial"/>
                  </a:rPr>
                  <a:t>, which will transform world coordinates to rendered pixel coordinates: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𝑃</m:t>
                          </m:r>
                        </m:e>
                        <m:sub>
                          <m:r>
                            <a:rPr lang="en-US" sz="2200" i="1">
                              <a:latin typeface="Cambria Math" panose="02040503050406030204" pitchFamily="18" charset="0"/>
                              <a:ea typeface="Arial"/>
                              <a:cs typeface="Arial"/>
                              <a:sym typeface="Arial"/>
                            </a:rPr>
                            <m:t>𝐶</m:t>
                          </m:r>
                        </m:sub>
                      </m:sSub>
                      <m:r>
                        <a:rPr lang="en-US" sz="2200" i="1">
                          <a:latin typeface="Cambria Math" panose="02040503050406030204" pitchFamily="18" charset="0"/>
                          <a:ea typeface="Arial"/>
                          <a:cs typeface="Arial"/>
                          <a:sym typeface="Arial"/>
                        </a:rPr>
                        <m:t>=</m:t>
                      </m:r>
                      <m:r>
                        <m:rPr>
                          <m:sty m:val="p"/>
                        </m:rPr>
                        <a:rPr lang="en-US" sz="2200" b="0" i="1" smtClean="0">
                          <a:latin typeface="Cambria Math" panose="02040503050406030204" pitchFamily="18" charset="0"/>
                          <a:ea typeface="Arial"/>
                          <a:cs typeface="Arial"/>
                          <a:sym typeface="Arial"/>
                        </a:rPr>
                        <m:t>K</m:t>
                      </m:r>
                      <m:d>
                        <m:dPr>
                          <m:begChr m:val="["/>
                          <m:endChr m:val="]"/>
                          <m:ctrlPr>
                            <a:rPr lang="en-US" sz="2200" i="1">
                              <a:latin typeface="Cambria Math" panose="02040503050406030204" pitchFamily="18" charset="0"/>
                              <a:cs typeface="Arial"/>
                              <a:sym typeface="Arial"/>
                            </a:rPr>
                          </m:ctrlPr>
                        </m:dPr>
                        <m:e>
                          <m:m>
                            <m:mPr>
                              <m:mcs>
                                <m:mc>
                                  <m:mcPr>
                                    <m:count m:val="2"/>
                                    <m:mcJc m:val="center"/>
                                  </m:mcPr>
                                </m:mc>
                              </m:mcs>
                              <m:ctrlPr>
                                <a:rPr lang="en-US" sz="2200" i="1">
                                  <a:latin typeface="Cambria Math" panose="02040503050406030204" pitchFamily="18" charset="0"/>
                                  <a:cs typeface="Arial"/>
                                  <a:sym typeface="Arial"/>
                                </a:rPr>
                              </m:ctrlPr>
                            </m:mPr>
                            <m:mr>
                              <m:e>
                                <m:r>
                                  <m:rPr>
                                    <m:sty m:val="p"/>
                                    <m:brk m:alnAt="7"/>
                                  </m:rPr>
                                  <a:rPr lang="en-US" sz="2200" i="1">
                                    <a:latin typeface="Cambria Math" panose="02040503050406030204" pitchFamily="18" charset="0"/>
                                    <a:cs typeface="Arial"/>
                                    <a:sym typeface="Arial"/>
                                  </a:rPr>
                                  <m:t>R</m:t>
                                </m:r>
                              </m:e>
                              <m:e>
                                <m:r>
                                  <a:rPr lang="en-US" sz="2200" i="1">
                                    <a:latin typeface="Cambria Math" panose="02040503050406030204" pitchFamily="18" charset="0"/>
                                    <a:cs typeface="Arial"/>
                                    <a:sym typeface="Arial"/>
                                  </a:rPr>
                                  <m:t>−</m:t>
                                </m:r>
                                <m:r>
                                  <m:rPr>
                                    <m:sty m:val="p"/>
                                  </m:rPr>
                                  <a:rPr lang="en-US" sz="2200" i="1">
                                    <a:latin typeface="Cambria Math" panose="02040503050406030204" pitchFamily="18" charset="0"/>
                                    <a:cs typeface="Arial"/>
                                    <a:sym typeface="Arial"/>
                                  </a:rPr>
                                  <m:t>RT</m:t>
                                </m:r>
                              </m:e>
                            </m:mr>
                            <m:mr>
                              <m:e>
                                <m:sSup>
                                  <m:sSupPr>
                                    <m:ctrlPr>
                                      <a:rPr lang="en-US" sz="2200" i="1">
                                        <a:latin typeface="Cambria Math" panose="02040503050406030204" pitchFamily="18" charset="0"/>
                                        <a:cs typeface="Arial"/>
                                        <a:sym typeface="Arial"/>
                                      </a:rPr>
                                    </m:ctrlPr>
                                  </m:sSupPr>
                                  <m:e>
                                    <m:r>
                                      <a:rPr lang="en-US" sz="2200" i="1">
                                        <a:latin typeface="Cambria Math" panose="02040503050406030204" pitchFamily="18" charset="0"/>
                                        <a:cs typeface="Arial"/>
                                        <a:sym typeface="Arial"/>
                                      </a:rPr>
                                      <m:t>0</m:t>
                                    </m:r>
                                  </m:e>
                                  <m:sup>
                                    <m:r>
                                      <a:rPr lang="en-US" sz="2200" i="1">
                                        <a:latin typeface="Cambria Math" panose="02040503050406030204" pitchFamily="18" charset="0"/>
                                        <a:cs typeface="Arial"/>
                                        <a:sym typeface="Arial"/>
                                      </a:rPr>
                                      <m:t>⊤</m:t>
                                    </m:r>
                                  </m:sup>
                                </m:sSup>
                              </m:e>
                              <m:e>
                                <m:r>
                                  <a:rPr lang="en-US" sz="2200" i="1">
                                    <a:latin typeface="Cambria Math" panose="02040503050406030204" pitchFamily="18" charset="0"/>
                                    <a:cs typeface="Arial"/>
                                    <a:sym typeface="Arial"/>
                                  </a:rPr>
                                  <m:t>1</m:t>
                                </m:r>
                              </m:e>
                            </m:mr>
                          </m:m>
                        </m:e>
                      </m:d>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𝑃</m:t>
                          </m:r>
                        </m:e>
                        <m:sub>
                          <m:r>
                            <a:rPr lang="en-US" sz="2200" i="1">
                              <a:latin typeface="Cambria Math" panose="02040503050406030204" pitchFamily="18" charset="0"/>
                              <a:cs typeface="Arial"/>
                              <a:sym typeface="Arial"/>
                            </a:rPr>
                            <m:t>𝑊</m:t>
                          </m:r>
                        </m:sub>
                      </m:sSub>
                    </m:oMath>
                  </m:oMathPara>
                </a14:m>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How many degrees of freedom does the extrinsic matrix have?</a:t>
                </a:r>
              </a:p>
              <a:p>
                <a:pPr marL="0" indent="0">
                  <a:lnSpc>
                    <a:spcPct val="100000"/>
                  </a:lnSpc>
                  <a:spcBef>
                    <a:spcPts val="0"/>
                  </a:spcBef>
                  <a:buSzPts val="3000"/>
                  <a:buNone/>
                </a:pPr>
                <a:endParaRPr lang="en-US" sz="2200" dirty="0">
                  <a:latin typeface="Arial"/>
                  <a:ea typeface="Arial"/>
                  <a:cs typeface="Arial"/>
                  <a:sym typeface="Arial"/>
                </a:endParaRPr>
              </a:p>
              <a:p>
                <a:pPr marL="0" indent="0" algn="ctr">
                  <a:lnSpc>
                    <a:spcPct val="100000"/>
                  </a:lnSpc>
                  <a:spcBef>
                    <a:spcPts val="0"/>
                  </a:spcBef>
                  <a:buSzPts val="3000"/>
                  <a:buNone/>
                </a:pPr>
                <a:r>
                  <a:rPr lang="en-US" sz="2200" dirty="0">
                    <a:latin typeface="Arial"/>
                    <a:ea typeface="Arial"/>
                    <a:cs typeface="Arial"/>
                    <a:sym typeface="Arial"/>
                  </a:rPr>
                  <a:t>The full 6! Translation + Rotation in 3D</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4D0BC120-6897-CAE6-D865-6D6F5F4C2F0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7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074F563-D5C6-73B2-99C0-0CCCAC16682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9FA5B6FB-331D-3AAF-DF0A-BB483C8BE1D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ED9598BC-1AB4-37DB-E1FD-40B2FFF02E7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847CD10-DC04-404C-F135-4FEA73E32E3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07F1775-B366-7735-13E8-AFC363DD756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BA5EA93-2E91-AD10-FFFE-E537658E184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551182C-0337-1168-57BD-0E9A3AA9D25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6E5D991-5969-1DF2-DD84-948014006AF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78083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D21578E-830C-0C45-473D-ABD85BAB572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17B302E-28BE-4833-DF7F-770D6B4BD4A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DC609CC-1502-054F-1B1E-577D37AD479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F701EB25-C058-9600-11AF-34E367FFD53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F6AE3A-A2EC-B5D9-2462-014DC8934C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DCFB0E5-1C69-FBA0-99FF-416280B7BCD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16B1EAB-8C16-54D2-6629-6D5341A61BF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12DFF2-9EDC-8F8A-500B-572E1FDDAC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70402B7-9E0B-684C-1C28-3EDAE457B25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7" name="Graphic 6">
            <a:extLst>
              <a:ext uri="{FF2B5EF4-FFF2-40B4-BE49-F238E27FC236}">
                <a16:creationId xmlns:a16="http://schemas.microsoft.com/office/drawing/2014/main" id="{6B3BD2D8-5782-690F-7D47-71A54CBFDD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9175" y="913476"/>
            <a:ext cx="10153650" cy="5523585"/>
          </a:xfrm>
          <a:prstGeom prst="rect">
            <a:avLst/>
          </a:prstGeom>
        </p:spPr>
      </p:pic>
    </p:spTree>
    <p:extLst>
      <p:ext uri="{BB962C8B-B14F-4D97-AF65-F5344CB8AC3E}">
        <p14:creationId xmlns:p14="http://schemas.microsoft.com/office/powerpoint/2010/main" val="2830064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3D9B97A-83AD-1BB7-6203-798F696BAB2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6CFD20C-2806-9705-118D-D93D06D86F4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Real lenses are not perfect pinholes; they bend light, causing distortion.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Radial distortion (barrel/pincushion) occurs due to spherical lens shapes.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Tangential distortion occurs if the lens is not perfectly parallel to the CMOS sensor.</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Why do we need to undistort an image before doing 3D geometry calculations?</a:t>
            </a:r>
          </a:p>
          <a:p>
            <a:pPr marL="0" indent="0">
              <a:lnSpc>
                <a:spcPct val="100000"/>
              </a:lnSpc>
              <a:spcBef>
                <a:spcPts val="0"/>
              </a:spcBef>
              <a:buSzPts val="3000"/>
              <a:buNone/>
            </a:pPr>
            <a:endParaRPr lang="en-US" sz="2200" dirty="0">
              <a:latin typeface="Arial"/>
              <a:ea typeface="Arial"/>
              <a:cs typeface="Arial"/>
              <a:sym typeface="Arial"/>
            </a:endParaRPr>
          </a:p>
          <a:p>
            <a:pPr marL="0" indent="0" algn="ctr">
              <a:lnSpc>
                <a:spcPct val="100000"/>
              </a:lnSpc>
              <a:spcBef>
                <a:spcPts val="0"/>
              </a:spcBef>
              <a:buSzPts val="3000"/>
              <a:buNone/>
            </a:pPr>
            <a:r>
              <a:rPr lang="en-US" sz="2200" dirty="0">
                <a:latin typeface="Arial"/>
                <a:ea typeface="Arial"/>
                <a:cs typeface="Arial"/>
                <a:sym typeface="Arial"/>
              </a:rPr>
              <a:t>We assume that all our math is planar and linear. If we have the distortions, we have non-linear systems and thus our math no longer works!</a:t>
            </a:r>
          </a:p>
          <a:p>
            <a:pPr marL="0" indent="0">
              <a:lnSpc>
                <a:spcPct val="100000"/>
              </a:lnSpc>
              <a:spcBef>
                <a:spcPts val="0"/>
              </a:spcBef>
              <a:buSzPts val="3000"/>
              <a:buNone/>
            </a:pPr>
            <a:endParaRPr lang="en-US" sz="2200" dirty="0">
              <a:latin typeface="Arial"/>
              <a:ea typeface="Arial"/>
              <a:cs typeface="Arial"/>
              <a:sym typeface="Arial"/>
            </a:endParaRPr>
          </a:p>
        </p:txBody>
      </p:sp>
      <p:sp>
        <p:nvSpPr>
          <p:cNvPr id="119" name="Google Shape;119;p29">
            <a:extLst>
              <a:ext uri="{FF2B5EF4-FFF2-40B4-BE49-F238E27FC236}">
                <a16:creationId xmlns:a16="http://schemas.microsoft.com/office/drawing/2014/main" id="{08D6C2BC-718F-3418-D737-6104C9FB74A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5FE31D4-53CC-386F-702E-82163E0CFA5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BF111C4-0669-1A47-028A-521CC318DB2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EE722E4-4E95-E4A6-8D9A-E809B50209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2BA7C5A-955E-1934-7BDC-FE951F60909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11EC1A3-9C79-501B-6CB8-7B8EF81EFA3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501156D-3C3E-4338-B596-53B7D6E10D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092F515-F190-B747-EE08-3E9E7A2B18A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25836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8A6CD19-2A8E-3851-467F-CB2AD3F0EF4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1D47043-F60E-48EF-38C2-14A91C8B40E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C3F0F186-E2D8-9023-AC11-36FBDD70E40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The Pinhole Camera Model</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8EFB32A-0C48-315E-3127-0D03C0ECFD5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CEAC59-51AF-9807-0139-6C588C93FA1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26A433F-62CF-0DC6-3251-EBB1565A14A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ED7A446-DF07-1F6C-62A3-016655E6BA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D67BC1-DBD5-4D97-DAFF-3CD289FEFA8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36DFFD-4079-8C0F-2818-E2F942890E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9" name="Graphic 8">
            <a:extLst>
              <a:ext uri="{FF2B5EF4-FFF2-40B4-BE49-F238E27FC236}">
                <a16:creationId xmlns:a16="http://schemas.microsoft.com/office/drawing/2014/main" id="{B12402E6-85AA-1660-3B56-41AB6EA5FC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6807" y="1673352"/>
            <a:ext cx="3511550" cy="3511550"/>
          </a:xfrm>
          <a:prstGeom prst="rect">
            <a:avLst/>
          </a:prstGeom>
        </p:spPr>
      </p:pic>
      <p:pic>
        <p:nvPicPr>
          <p:cNvPr id="11" name="Graphic 10">
            <a:extLst>
              <a:ext uri="{FF2B5EF4-FFF2-40B4-BE49-F238E27FC236}">
                <a16:creationId xmlns:a16="http://schemas.microsoft.com/office/drawing/2014/main" id="{80E7BA96-8E1C-A49D-1A90-DE537FC7A7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9987" y="1673352"/>
            <a:ext cx="3511296" cy="3511296"/>
          </a:xfrm>
          <a:prstGeom prst="rect">
            <a:avLst/>
          </a:prstGeom>
        </p:spPr>
      </p:pic>
      <p:pic>
        <p:nvPicPr>
          <p:cNvPr id="13" name="Graphic 12">
            <a:extLst>
              <a:ext uri="{FF2B5EF4-FFF2-40B4-BE49-F238E27FC236}">
                <a16:creationId xmlns:a16="http://schemas.microsoft.com/office/drawing/2014/main" id="{A21A4FF7-BE46-DD16-A84E-B833F0366E2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42913" y="1673352"/>
            <a:ext cx="3511296" cy="3511296"/>
          </a:xfrm>
          <a:prstGeom prst="rect">
            <a:avLst/>
          </a:prstGeom>
        </p:spPr>
      </p:pic>
      <p:sp>
        <p:nvSpPr>
          <p:cNvPr id="14" name="TextBox 13">
            <a:extLst>
              <a:ext uri="{FF2B5EF4-FFF2-40B4-BE49-F238E27FC236}">
                <a16:creationId xmlns:a16="http://schemas.microsoft.com/office/drawing/2014/main" id="{B66A68A5-B339-E15E-24B1-309E9B8E2EBB}"/>
              </a:ext>
            </a:extLst>
          </p:cNvPr>
          <p:cNvSpPr txBox="1"/>
          <p:nvPr/>
        </p:nvSpPr>
        <p:spPr>
          <a:xfrm>
            <a:off x="1049907" y="5512017"/>
            <a:ext cx="2165350" cy="400110"/>
          </a:xfrm>
          <a:prstGeom prst="rect">
            <a:avLst/>
          </a:prstGeom>
          <a:noFill/>
        </p:spPr>
        <p:txBody>
          <a:bodyPr wrap="square" rtlCol="0">
            <a:spAutoFit/>
          </a:bodyPr>
          <a:lstStyle/>
          <a:p>
            <a:pPr algn="ctr"/>
            <a:r>
              <a:rPr lang="en-US" sz="2000" dirty="0"/>
              <a:t>Barrel</a:t>
            </a:r>
          </a:p>
        </p:txBody>
      </p:sp>
      <p:sp>
        <p:nvSpPr>
          <p:cNvPr id="15" name="TextBox 14">
            <a:extLst>
              <a:ext uri="{FF2B5EF4-FFF2-40B4-BE49-F238E27FC236}">
                <a16:creationId xmlns:a16="http://schemas.microsoft.com/office/drawing/2014/main" id="{29E60726-8711-CC69-EA5F-3BC5942C6285}"/>
              </a:ext>
            </a:extLst>
          </p:cNvPr>
          <p:cNvSpPr txBox="1"/>
          <p:nvPr/>
        </p:nvSpPr>
        <p:spPr>
          <a:xfrm>
            <a:off x="4882960" y="5512017"/>
            <a:ext cx="2165350" cy="400110"/>
          </a:xfrm>
          <a:prstGeom prst="rect">
            <a:avLst/>
          </a:prstGeom>
          <a:noFill/>
        </p:spPr>
        <p:txBody>
          <a:bodyPr wrap="square" rtlCol="0">
            <a:spAutoFit/>
          </a:bodyPr>
          <a:lstStyle/>
          <a:p>
            <a:pPr algn="ctr"/>
            <a:r>
              <a:rPr lang="en-US" sz="2000" dirty="0"/>
              <a:t>Pincushion</a:t>
            </a:r>
          </a:p>
        </p:txBody>
      </p:sp>
      <p:sp>
        <p:nvSpPr>
          <p:cNvPr id="16" name="TextBox 15">
            <a:extLst>
              <a:ext uri="{FF2B5EF4-FFF2-40B4-BE49-F238E27FC236}">
                <a16:creationId xmlns:a16="http://schemas.microsoft.com/office/drawing/2014/main" id="{9C32D7CB-B4A0-A3BC-EAAE-FC73A3F490A4}"/>
              </a:ext>
            </a:extLst>
          </p:cNvPr>
          <p:cNvSpPr txBox="1"/>
          <p:nvPr/>
        </p:nvSpPr>
        <p:spPr>
          <a:xfrm>
            <a:off x="8715886" y="5473948"/>
            <a:ext cx="2165350" cy="400110"/>
          </a:xfrm>
          <a:prstGeom prst="rect">
            <a:avLst/>
          </a:prstGeom>
          <a:noFill/>
        </p:spPr>
        <p:txBody>
          <a:bodyPr wrap="square" rtlCol="0">
            <a:spAutoFit/>
          </a:bodyPr>
          <a:lstStyle/>
          <a:p>
            <a:pPr algn="ctr"/>
            <a:r>
              <a:rPr lang="en-US" sz="2000" dirty="0"/>
              <a:t>Mustache</a:t>
            </a:r>
          </a:p>
        </p:txBody>
      </p:sp>
    </p:spTree>
    <p:extLst>
      <p:ext uri="{BB962C8B-B14F-4D97-AF65-F5344CB8AC3E}">
        <p14:creationId xmlns:p14="http://schemas.microsoft.com/office/powerpoint/2010/main" val="2309173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4AA0907-E5C4-3098-1F15-7B5B9F9BF3D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C5F804A-4016-DEF0-F4AF-9999A8A25D54}"/>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rial"/>
                <a:ea typeface="Arial"/>
                <a:cs typeface="Arial"/>
                <a:sym typeface="Arial"/>
              </a:rPr>
              <a:t>Stereo Vision</a:t>
            </a:r>
            <a:endParaRPr sz="1800" b="0" i="0" u="none" strike="noStrike" cap="none" dirty="0">
              <a:solidFill>
                <a:srgbClr val="15264B"/>
              </a:solidFill>
              <a:latin typeface="Arial"/>
              <a:ea typeface="Arial"/>
              <a:cs typeface="Arial"/>
              <a:sym typeface="Arial"/>
            </a:endParaRPr>
          </a:p>
        </p:txBody>
      </p:sp>
      <p:grpSp>
        <p:nvGrpSpPr>
          <p:cNvPr id="105" name="Google Shape;105;p28">
            <a:extLst>
              <a:ext uri="{FF2B5EF4-FFF2-40B4-BE49-F238E27FC236}">
                <a16:creationId xmlns:a16="http://schemas.microsoft.com/office/drawing/2014/main" id="{CE8A2B54-B445-ECC1-9C55-0E26A4160EA2}"/>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A8B897CD-EBFB-247D-EC70-73096DB6BAAC}"/>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2043AEB1-3230-947F-915D-80E5685C4AB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F08EA503-C770-04E8-A0C0-E4218F8CD01D}"/>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63D91835-6A3A-E0AE-8E12-4789CA95C1C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D6062A37-7601-B736-597E-C48E252E3E99}"/>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0029DBB0-B1BC-DD77-295C-9489677F6130}"/>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EF6C72D-027A-5F84-009C-F258E18DED6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270DE74F-8D21-B7E3-B688-C5F5454EE8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4147992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494C50C-1FC2-BBFB-F1F1-D01FAD7C810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BE5B90-81EE-1D22-84BC-4EDA96A0250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How do we figure out how far an object is?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Keep both of your eyes open and then try to grab an object.</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Now close one of your eyes and try picking it up. Does it feel different? Harder to judge the distance?</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Now alternate closing the left and right eyes, do they both see the same thing? No? This is exactly what stereo vision exploits!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endParaRPr lang="en-US" sz="2200" dirty="0">
              <a:latin typeface="Arial"/>
              <a:ea typeface="Arial"/>
              <a:cs typeface="Arial"/>
              <a:sym typeface="Arial"/>
            </a:endParaRPr>
          </a:p>
        </p:txBody>
      </p:sp>
      <p:sp>
        <p:nvSpPr>
          <p:cNvPr id="119" name="Google Shape;119;p29">
            <a:extLst>
              <a:ext uri="{FF2B5EF4-FFF2-40B4-BE49-F238E27FC236}">
                <a16:creationId xmlns:a16="http://schemas.microsoft.com/office/drawing/2014/main" id="{187EBAC4-C8D5-6B67-397E-A035620A988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57B7F07C-39FC-C241-4997-7465C6AD1B9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383EA936-5979-BE92-7420-298FA332B44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7E648DB-BDB7-5729-E216-9B679ADF7F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3257E79-A009-C4A1-0CEC-322423F42F2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B240319-E740-2603-ACBB-9D0E702CC5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958EBBA-2E89-558F-6E7A-9179DC3427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E8A3136-8002-BB65-464D-F23E692ECBB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79674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D3FE94-1761-D7FF-802D-F9058A73841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2314C43-CD59-DAD1-A239-AC1FEB3A31A7}"/>
                  </a:ext>
                </a:extLst>
              </p:cNvPr>
              <p:cNvSpPr txBox="1">
                <a:spLocks noGrp="1"/>
              </p:cNvSpPr>
              <p:nvPr>
                <p:ph type="body" idx="1"/>
              </p:nvPr>
            </p:nvSpPr>
            <p:spPr>
              <a:xfrm>
                <a:off x="376809" y="1334279"/>
                <a:ext cx="6747303"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rial"/>
                    <a:ea typeface="Arial"/>
                    <a:cs typeface="Arial"/>
                    <a:sym typeface="Arial"/>
                  </a:rPr>
                  <a:t>There are two typical methods to check for distance:</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The first method measures the location of the boat relative to the horizon line. An observer is standing on top of an elevated point at a known height </a:t>
                </a:r>
                <a14:m>
                  <m:oMath xmlns:m="http://schemas.openxmlformats.org/officeDocument/2006/math">
                    <m:r>
                      <m:rPr>
                        <m:sty m:val="p"/>
                      </m:rPr>
                      <a:rPr lang="en-US" sz="2000" b="0" i="1" smtClean="0">
                        <a:latin typeface="Cambria Math" panose="02040503050406030204" pitchFamily="18" charset="0"/>
                        <a:ea typeface="Arial"/>
                        <a:cs typeface="Arial"/>
                        <a:sym typeface="Arial"/>
                      </a:rPr>
                      <m:t>h</m:t>
                    </m:r>
                  </m:oMath>
                </a14:m>
                <a:r>
                  <a:rPr lang="en-US" sz="2000" dirty="0">
                    <a:latin typeface="Arial"/>
                    <a:ea typeface="Arial"/>
                    <a:cs typeface="Arial"/>
                    <a:sym typeface="Arial"/>
                  </a:rPr>
                  <a:t>. </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The observer measures the angle </a:t>
                </a:r>
                <a14:m>
                  <m:oMath xmlns:m="http://schemas.openxmlformats.org/officeDocument/2006/math">
                    <m:r>
                      <a:rPr lang="en-US" sz="2000" b="0" i="1" smtClean="0">
                        <a:latin typeface="Cambria Math" panose="02040503050406030204" pitchFamily="18" charset="0"/>
                        <a:ea typeface="Arial"/>
                        <a:cs typeface="Arial"/>
                        <a:sym typeface="Arial"/>
                      </a:rPr>
                      <m:t>𝛼</m:t>
                    </m:r>
                    <m:r>
                      <a:rPr lang="en-US" sz="2000" b="0" i="1" smtClean="0">
                        <a:latin typeface="Cambria Math" panose="02040503050406030204" pitchFamily="18" charset="0"/>
                        <a:ea typeface="Arial"/>
                        <a:cs typeface="Arial"/>
                        <a:sym typeface="Arial"/>
                      </a:rPr>
                      <m:t>.</m:t>
                    </m:r>
                  </m:oMath>
                </a14:m>
                <a:r>
                  <a:rPr lang="en-US" sz="2000" dirty="0">
                    <a:latin typeface="Arial"/>
                    <a:ea typeface="Arial"/>
                    <a:cs typeface="Arial"/>
                    <a:sym typeface="Arial"/>
                  </a:rPr>
                  <a:t> You can derive the distance using simple trigonometric relation.</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𝑑</m:t>
                      </m:r>
                      <m:r>
                        <a:rPr lang="en-US" sz="2000" b="0" i="1" smtClean="0">
                          <a:latin typeface="Cambria Math" panose="02040503050406030204" pitchFamily="18" charset="0"/>
                          <a:ea typeface="Arial"/>
                          <a:cs typeface="Arial"/>
                          <a:sym typeface="Arial"/>
                        </a:rPr>
                        <m:t>=</m:t>
                      </m:r>
                      <m:f>
                        <m:fPr>
                          <m:ctrlPr>
                            <a:rPr lang="en-US" sz="2000" b="0" i="1" smtClean="0">
                              <a:latin typeface="Cambria Math" panose="02040503050406030204" pitchFamily="18" charset="0"/>
                              <a:ea typeface="Arial"/>
                              <a:cs typeface="Arial"/>
                              <a:sym typeface="Arial"/>
                            </a:rPr>
                          </m:ctrlPr>
                        </m:fPr>
                        <m:num>
                          <m:r>
                            <a:rPr lang="en-US" sz="2000" b="0" i="1" smtClean="0">
                              <a:latin typeface="Cambria Math" panose="02040503050406030204" pitchFamily="18" charset="0"/>
                              <a:ea typeface="Arial"/>
                              <a:cs typeface="Arial"/>
                              <a:sym typeface="Arial"/>
                            </a:rPr>
                            <m:t>h</m:t>
                          </m:r>
                        </m:num>
                        <m:den>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tan</m:t>
                              </m:r>
                            </m:fName>
                            <m:e>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𝛼</m:t>
                                  </m:r>
                                </m:e>
                              </m:d>
                            </m:e>
                          </m:func>
                        </m:den>
                      </m:f>
                    </m:oMath>
                  </m:oMathPara>
                </a14:m>
                <a:endParaRPr lang="en-US" sz="2000" dirty="0">
                  <a:latin typeface="Arial"/>
                  <a:ea typeface="Arial"/>
                  <a:cs typeface="Arial"/>
                  <a:sym typeface="Arial"/>
                </a:endParaRP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This method is not very accurate and might require high observation points, which might not be available, but it allows as to estimate with a single observation point.</a:t>
                </a:r>
              </a:p>
            </p:txBody>
          </p:sp>
        </mc:Choice>
        <mc:Fallback xmlns="">
          <p:sp>
            <p:nvSpPr>
              <p:cNvPr id="118" name="Google Shape;118;p29">
                <a:extLst>
                  <a:ext uri="{FF2B5EF4-FFF2-40B4-BE49-F238E27FC236}">
                    <a16:creationId xmlns:a16="http://schemas.microsoft.com/office/drawing/2014/main" id="{E2314C43-CD59-DAD1-A239-AC1FEB3A31A7}"/>
                  </a:ext>
                </a:extLst>
              </p:cNvPr>
              <p:cNvSpPr txBox="1">
                <a:spLocks noGrp="1" noRot="1" noChangeAspect="1" noMove="1" noResize="1" noEditPoints="1" noAdjustHandles="1" noChangeArrowheads="1" noChangeShapeType="1" noTextEdit="1"/>
              </p:cNvSpPr>
              <p:nvPr>
                <p:ph type="body" idx="1"/>
              </p:nvPr>
            </p:nvSpPr>
            <p:spPr>
              <a:xfrm>
                <a:off x="376809" y="1334279"/>
                <a:ext cx="6747303" cy="4821102"/>
              </a:xfrm>
              <a:prstGeom prst="rect">
                <a:avLst/>
              </a:prstGeom>
              <a:blipFill>
                <a:blip r:embed="rId3"/>
                <a:stretch>
                  <a:fillRect l="-994" t="-632" r="-153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3E23207-7E21-4029-28D5-7AF06E12EE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1B231E7-7F47-C7AC-1E66-60A65456CCB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9F4D654-3E46-2456-98C1-0D48177A1F9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C2DD960-D135-D3FC-C486-5CF6419BA6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DCDEB25-79BC-6655-C622-E11521E8F6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3C6E64B-2718-E4D2-3314-587EDBC4576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63EE4F2-D412-83A4-382D-9CE08F753F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E825D24-CDAE-880A-3132-24C23645BDB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FE2A42B3-A304-A058-8773-52AE6753F2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4112" y="2145968"/>
            <a:ext cx="4839797" cy="3197723"/>
          </a:xfrm>
          <a:prstGeom prst="rect">
            <a:avLst/>
          </a:prstGeom>
        </p:spPr>
      </p:pic>
    </p:spTree>
    <p:extLst>
      <p:ext uri="{BB962C8B-B14F-4D97-AF65-F5344CB8AC3E}">
        <p14:creationId xmlns:p14="http://schemas.microsoft.com/office/powerpoint/2010/main" val="244097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4E7FD8-4FA8-D41A-95E4-AAE05E7229D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86DEB24-9CB2-1C0C-085F-93313452CE48}"/>
                  </a:ext>
                </a:extLst>
              </p:cNvPr>
              <p:cNvSpPr txBox="1">
                <a:spLocks noGrp="1"/>
              </p:cNvSpPr>
              <p:nvPr>
                <p:ph type="body" idx="1"/>
              </p:nvPr>
            </p:nvSpPr>
            <p:spPr>
              <a:xfrm>
                <a:off x="376809" y="1334279"/>
                <a:ext cx="6747303"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rial"/>
                    <a:ea typeface="Arial"/>
                    <a:cs typeface="Arial"/>
                    <a:sym typeface="Arial"/>
                  </a:rPr>
                  <a:t>The second method requires two different observation points along the coast separated by a distance </a:t>
                </a:r>
                <a14:m>
                  <m:oMath xmlns:m="http://schemas.openxmlformats.org/officeDocument/2006/math">
                    <m:r>
                      <m:rPr>
                        <m:sty m:val="p"/>
                      </m:rPr>
                      <a:rPr lang="en-US" sz="2000" b="0" i="1" smtClean="0">
                        <a:latin typeface="Cambria Math" panose="02040503050406030204" pitchFamily="18" charset="0"/>
                        <a:ea typeface="Arial"/>
                        <a:cs typeface="Arial"/>
                        <a:sym typeface="Arial"/>
                      </a:rPr>
                      <m:t>t</m:t>
                    </m:r>
                  </m:oMath>
                </a14:m>
                <a:r>
                  <a:rPr lang="en-US" sz="2000" dirty="0">
                    <a:latin typeface="Arial"/>
                    <a:ea typeface="Arial"/>
                    <a:cs typeface="Arial"/>
                    <a:sym typeface="Arial"/>
                  </a:rPr>
                  <a:t>. </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At each point, we measure the angles, </a:t>
                </a:r>
                <a14:m>
                  <m:oMath xmlns:m="http://schemas.openxmlformats.org/officeDocument/2006/math">
                    <m:r>
                      <a:rPr lang="en-US" sz="2000" b="0" i="1" smtClean="0">
                        <a:latin typeface="Cambria Math" panose="02040503050406030204" pitchFamily="18" charset="0"/>
                        <a:ea typeface="Arial"/>
                        <a:cs typeface="Arial"/>
                        <a:sym typeface="Arial"/>
                      </a:rPr>
                      <m:t>𝛼</m:t>
                    </m:r>
                  </m:oMath>
                </a14:m>
                <a:r>
                  <a:rPr lang="en-US" sz="2000" dirty="0">
                    <a:latin typeface="Arial"/>
                    <a:ea typeface="Arial"/>
                    <a:cs typeface="Arial"/>
                    <a:sym typeface="Arial"/>
                  </a:rPr>
                  <a:t> and </a:t>
                </a:r>
                <a14:m>
                  <m:oMath xmlns:m="http://schemas.openxmlformats.org/officeDocument/2006/math">
                    <m:r>
                      <a:rPr lang="en-US" sz="2000" b="0" i="1" smtClean="0">
                        <a:latin typeface="Cambria Math" panose="02040503050406030204" pitchFamily="18" charset="0"/>
                        <a:ea typeface="Arial"/>
                        <a:cs typeface="Arial"/>
                        <a:sym typeface="Arial"/>
                      </a:rPr>
                      <m:t>𝛽</m:t>
                    </m:r>
                  </m:oMath>
                </a14:m>
                <a:r>
                  <a:rPr lang="en-US" sz="2000" dirty="0">
                    <a:latin typeface="Arial"/>
                    <a:ea typeface="Arial"/>
                    <a:cs typeface="Arial"/>
                    <a:sym typeface="Arial"/>
                  </a:rPr>
                  <a:t>, between the direction of the boat and the line connecting the two observation points. </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Then we can apply the following relation:</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Arial"/>
                          <a:cs typeface="Arial"/>
                          <a:sym typeface="Arial"/>
                        </a:rPr>
                        <m:t>𝑑</m:t>
                      </m:r>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𝑡</m:t>
                      </m:r>
                      <m:f>
                        <m:fPr>
                          <m:ctrlPr>
                            <a:rPr lang="en-US" sz="2000" b="0" i="1" smtClean="0">
                              <a:latin typeface="Cambria Math" panose="02040503050406030204" pitchFamily="18" charset="0"/>
                              <a:ea typeface="Arial"/>
                              <a:cs typeface="Arial"/>
                              <a:sym typeface="Arial"/>
                            </a:rPr>
                          </m:ctrlPr>
                        </m:fPr>
                        <m:num>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sin</m:t>
                              </m:r>
                            </m:fName>
                            <m:e>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𝛼</m:t>
                                  </m:r>
                                </m:e>
                              </m:d>
                            </m:e>
                          </m:func>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sin</m:t>
                              </m:r>
                            </m:fName>
                            <m:e>
                              <m:d>
                                <m:dPr>
                                  <m:ctrlPr>
                                    <a:rPr lang="en-US" sz="2000" b="0" i="1" smtClean="0">
                                      <a:latin typeface="Cambria Math" panose="02040503050406030204" pitchFamily="18" charset="0"/>
                                      <a:ea typeface="Arial"/>
                                      <a:cs typeface="Arial"/>
                                      <a:sym typeface="Arial"/>
                                    </a:rPr>
                                  </m:ctrlPr>
                                </m:dPr>
                                <m:e>
                                  <m:r>
                                    <a:rPr lang="en-US" sz="2000" b="0" i="1" smtClean="0">
                                      <a:latin typeface="Cambria Math" panose="02040503050406030204" pitchFamily="18" charset="0"/>
                                      <a:ea typeface="Arial"/>
                                      <a:cs typeface="Arial"/>
                                      <a:sym typeface="Arial"/>
                                    </a:rPr>
                                    <m:t>𝛽</m:t>
                                  </m:r>
                                </m:e>
                              </m:d>
                            </m:e>
                          </m:func>
                        </m:num>
                        <m:den>
                          <m:func>
                            <m:funcPr>
                              <m:ctrlPr>
                                <a:rPr lang="en-US" sz="2000" b="0" i="1" smtClean="0">
                                  <a:latin typeface="Cambria Math" panose="02040503050406030204" pitchFamily="18" charset="0"/>
                                  <a:ea typeface="Arial"/>
                                  <a:cs typeface="Arial"/>
                                  <a:sym typeface="Arial"/>
                                </a:rPr>
                              </m:ctrlPr>
                            </m:funcPr>
                            <m:fName>
                              <m:r>
                                <m:rPr>
                                  <m:sty m:val="p"/>
                                </m:rPr>
                                <a:rPr lang="en-US" sz="2000" b="0" i="0" smtClean="0">
                                  <a:latin typeface="Cambria Math" panose="02040503050406030204" pitchFamily="18" charset="0"/>
                                  <a:ea typeface="Arial"/>
                                  <a:cs typeface="Arial"/>
                                  <a:sym typeface="Arial"/>
                                </a:rPr>
                                <m:t>sin</m:t>
                              </m:r>
                            </m:fName>
                            <m:e>
                              <m:r>
                                <a:rPr lang="en-US" sz="2000" b="0" i="1" smtClean="0">
                                  <a:latin typeface="Cambria Math" panose="02040503050406030204" pitchFamily="18" charset="0"/>
                                  <a:ea typeface="Arial"/>
                                  <a:cs typeface="Arial"/>
                                  <a:sym typeface="Arial"/>
                                </a:rPr>
                                <m:t>𝛼</m:t>
                              </m:r>
                              <m:r>
                                <a:rPr lang="en-US" sz="2000" b="0" i="1" smtClean="0">
                                  <a:latin typeface="Cambria Math" panose="02040503050406030204" pitchFamily="18" charset="0"/>
                                  <a:ea typeface="Arial"/>
                                  <a:cs typeface="Arial"/>
                                  <a:sym typeface="Arial"/>
                                </a:rPr>
                                <m:t>+</m:t>
                              </m:r>
                              <m:r>
                                <a:rPr lang="en-US" sz="2000" b="0" i="1" smtClean="0">
                                  <a:latin typeface="Cambria Math" panose="02040503050406030204" pitchFamily="18" charset="0"/>
                                  <a:ea typeface="Arial"/>
                                  <a:cs typeface="Arial"/>
                                  <a:sym typeface="Arial"/>
                                </a:rPr>
                                <m:t>𝛽</m:t>
                              </m:r>
                            </m:e>
                          </m:func>
                        </m:den>
                      </m:f>
                    </m:oMath>
                  </m:oMathPara>
                </a14:m>
                <a:endParaRPr lang="en-US" sz="2000" dirty="0">
                  <a:latin typeface="Arial"/>
                  <a:ea typeface="Arial"/>
                  <a:cs typeface="Arial"/>
                  <a:sym typeface="Arial"/>
                </a:endParaRP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r>
                  <a:rPr lang="en-US" sz="2000" dirty="0">
                    <a:latin typeface="Arial"/>
                    <a:ea typeface="Arial"/>
                    <a:cs typeface="Arial"/>
                    <a:sym typeface="Arial"/>
                  </a:rPr>
                  <a:t>This method is called </a:t>
                </a:r>
                <a:r>
                  <a:rPr lang="en-US" sz="2000" b="1" dirty="0">
                    <a:latin typeface="Arial"/>
                    <a:ea typeface="Arial"/>
                    <a:cs typeface="Arial"/>
                    <a:sym typeface="Arial"/>
                  </a:rPr>
                  <a:t>triangulation</a:t>
                </a:r>
                <a:r>
                  <a:rPr lang="en-US" sz="2000" dirty="0">
                    <a:latin typeface="Arial"/>
                    <a:ea typeface="Arial"/>
                    <a:cs typeface="Arial"/>
                    <a:sym typeface="Arial"/>
                  </a:rPr>
                  <a:t>. For it to work we need a large distance </a:t>
                </a:r>
                <a14:m>
                  <m:oMath xmlns:m="http://schemas.openxmlformats.org/officeDocument/2006/math">
                    <m:r>
                      <m:rPr>
                        <m:sty m:val="p"/>
                      </m:rPr>
                      <a:rPr lang="en-US" sz="2000" b="0" i="1" smtClean="0">
                        <a:latin typeface="Cambria Math" panose="02040503050406030204" pitchFamily="18" charset="0"/>
                        <a:ea typeface="Arial"/>
                        <a:cs typeface="Arial"/>
                        <a:sym typeface="Arial"/>
                      </a:rPr>
                      <m:t>t</m:t>
                    </m:r>
                  </m:oMath>
                </a14:m>
                <a:r>
                  <a:rPr lang="en-US" sz="2000" dirty="0">
                    <a:latin typeface="Arial"/>
                    <a:ea typeface="Arial"/>
                    <a:cs typeface="Arial"/>
                    <a:sym typeface="Arial"/>
                  </a:rPr>
                  <a:t> so that the angles are significantly different from 90 degrees.</a:t>
                </a:r>
              </a:p>
              <a:p>
                <a:pPr marL="0" indent="0">
                  <a:lnSpc>
                    <a:spcPct val="100000"/>
                  </a:lnSpc>
                  <a:spcBef>
                    <a:spcPts val="0"/>
                  </a:spcBef>
                  <a:buSzPts val="3000"/>
                  <a:buNone/>
                </a:pPr>
                <a:endParaRPr lang="en-US" sz="2000" dirty="0">
                  <a:latin typeface="Arial"/>
                  <a:ea typeface="Arial"/>
                  <a:cs typeface="Arial"/>
                  <a:sym typeface="Arial"/>
                </a:endParaRPr>
              </a:p>
              <a:p>
                <a:pPr marL="0" indent="0">
                  <a:lnSpc>
                    <a:spcPct val="100000"/>
                  </a:lnSpc>
                  <a:spcBef>
                    <a:spcPts val="0"/>
                  </a:spcBef>
                  <a:buSzPts val="3000"/>
                  <a:buNone/>
                </a:pPr>
                <a:endParaRPr lang="en-US" sz="20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286DEB24-9CB2-1C0C-085F-93313452CE48}"/>
                  </a:ext>
                </a:extLst>
              </p:cNvPr>
              <p:cNvSpPr txBox="1">
                <a:spLocks noGrp="1" noRot="1" noChangeAspect="1" noMove="1" noResize="1" noEditPoints="1" noAdjustHandles="1" noChangeArrowheads="1" noChangeShapeType="1" noTextEdit="1"/>
              </p:cNvSpPr>
              <p:nvPr>
                <p:ph type="body" idx="1"/>
              </p:nvPr>
            </p:nvSpPr>
            <p:spPr>
              <a:xfrm>
                <a:off x="376809" y="1334279"/>
                <a:ext cx="6747303" cy="4821102"/>
              </a:xfrm>
              <a:prstGeom prst="rect">
                <a:avLst/>
              </a:prstGeom>
              <a:blipFill>
                <a:blip r:embed="rId3"/>
                <a:stretch>
                  <a:fillRect l="-994" t="-632" r="-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DC07654-665D-C684-7B4F-D71976B1BA7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0627464F-0345-D3DE-F38B-43891AA07A9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A9EE5CB7-DB0F-05C1-3166-A5A6A95133B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73A4D1-E6C5-C6B2-8236-86BD214FDF6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8DE795B-516C-0C98-2B26-568B12BEE1E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1799E1B-1394-9655-79CB-0D307387C99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E6EB5D1-BDE7-6A16-FCA3-B532895D311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BC99201-FCDF-D4C5-4DE6-6CF85EA8CA4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4" name="Graphic 3">
            <a:extLst>
              <a:ext uri="{FF2B5EF4-FFF2-40B4-BE49-F238E27FC236}">
                <a16:creationId xmlns:a16="http://schemas.microsoft.com/office/drawing/2014/main" id="{4D7160FC-FC11-EB66-C767-47B837C0D46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7124112" y="2145968"/>
            <a:ext cx="4839796" cy="3197723"/>
          </a:xfrm>
          <a:prstGeom prst="rect">
            <a:avLst/>
          </a:prstGeom>
        </p:spPr>
      </p:pic>
    </p:spTree>
    <p:extLst>
      <p:ext uri="{BB962C8B-B14F-4D97-AF65-F5344CB8AC3E}">
        <p14:creationId xmlns:p14="http://schemas.microsoft.com/office/powerpoint/2010/main" val="212956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62E1251-E002-1F63-1DBC-A2E89C2EEF7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CFAA44D-2851-3933-8433-1C1C57AB887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Stereo vision uses two cameras separated by a known baseline distance. By observing the same 3D point from two different views, we can triangulate its position.</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When observing the world with two eyes we get two different views of the world. The relative displacement of features across the two images (</a:t>
            </a:r>
            <a:r>
              <a:rPr lang="en-US" sz="2200" b="1" dirty="0">
                <a:latin typeface="Arial"/>
                <a:ea typeface="Arial"/>
                <a:cs typeface="Arial"/>
                <a:sym typeface="Arial"/>
              </a:rPr>
              <a:t>parallax effect</a:t>
            </a:r>
            <a:r>
              <a:rPr lang="en-US" sz="2200" dirty="0">
                <a:latin typeface="Arial"/>
                <a:ea typeface="Arial"/>
                <a:cs typeface="Arial"/>
                <a:sym typeface="Arial"/>
              </a:rPr>
              <a:t>) is related to the distance between the observer and the observed scene. </a:t>
            </a:r>
          </a:p>
        </p:txBody>
      </p:sp>
      <p:sp>
        <p:nvSpPr>
          <p:cNvPr id="119" name="Google Shape;119;p29">
            <a:extLst>
              <a:ext uri="{FF2B5EF4-FFF2-40B4-BE49-F238E27FC236}">
                <a16:creationId xmlns:a16="http://schemas.microsoft.com/office/drawing/2014/main" id="{D419857D-25F1-D6EA-312F-7203A525E00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125B338A-D909-567B-16AF-2052194EDD6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615ACA25-7C5F-A94B-A929-74CDCFD02D6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BED1F4B-87EF-A68C-695B-453A0B0CD47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4C9A76A-BBD0-B7F9-F89D-F41B1C625E4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787D051-4F37-168D-6FF5-4745F84EC9B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7098785-7DF5-3082-9795-175719018C9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D198244-7BA6-7DFD-AEB7-D25826BBCB5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B757FF99-5C78-5DC7-2AA1-7FE02C1014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7727" y="3429000"/>
            <a:ext cx="6273219" cy="3044943"/>
          </a:xfrm>
          <a:prstGeom prst="rect">
            <a:avLst/>
          </a:prstGeom>
        </p:spPr>
      </p:pic>
    </p:spTree>
    <p:extLst>
      <p:ext uri="{BB962C8B-B14F-4D97-AF65-F5344CB8AC3E}">
        <p14:creationId xmlns:p14="http://schemas.microsoft.com/office/powerpoint/2010/main" val="236732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D622B7A-B4CC-3547-0766-E74C992DD37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08FCEF1-5DCD-0094-4159-58727B712D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A simple way to triangulate the depth, </a:t>
                </a:r>
                <a14:m>
                  <m:oMath xmlns:m="http://schemas.openxmlformats.org/officeDocument/2006/math">
                    <m:r>
                      <m:rPr>
                        <m:sty m:val="p"/>
                      </m:rPr>
                      <a:rPr lang="en-US" sz="2200" b="0" i="1" smtClean="0">
                        <a:latin typeface="Cambria Math" panose="02040503050406030204" pitchFamily="18" charset="0"/>
                        <a:ea typeface="Arial"/>
                        <a:cs typeface="Arial"/>
                        <a:sym typeface="Arial"/>
                      </a:rPr>
                      <m:t>Z</m:t>
                    </m:r>
                  </m:oMath>
                </a14:m>
                <a:r>
                  <a:rPr lang="en-US" sz="2200" dirty="0">
                    <a:latin typeface="Arial"/>
                    <a:ea typeface="Arial"/>
                    <a:cs typeface="Arial"/>
                    <a:sym typeface="Arial"/>
                  </a:rPr>
                  <a:t>, of a point visible in both images is through similar triangles. The two triangles shown in are similar (same angles), and so the ratios of their height to base must be the same. Thus we have: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
                        <m:fPr>
                          <m:ctrlPr>
                            <a:rPr lang="en-US" sz="2200" b="0" i="1" smtClean="0">
                              <a:latin typeface="Cambria Math" panose="02040503050406030204" pitchFamily="18" charset="0"/>
                              <a:ea typeface="Arial"/>
                              <a:cs typeface="Arial"/>
                              <a:sym typeface="Arial"/>
                            </a:rPr>
                          </m:ctrlPr>
                        </m:fPr>
                        <m:num>
                          <m:r>
                            <a:rPr lang="en-US" sz="2200" b="0" i="1" smtClean="0">
                              <a:latin typeface="Cambria Math" panose="02040503050406030204" pitchFamily="18" charset="0"/>
                              <a:ea typeface="Arial"/>
                              <a:cs typeface="Arial"/>
                              <a:sym typeface="Arial"/>
                            </a:rPr>
                            <m:t>𝑇</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𝑟</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𝐿</m:t>
                              </m:r>
                            </m:sub>
                          </m:sSub>
                        </m:num>
                        <m:den>
                          <m:r>
                            <a:rPr lang="en-US" sz="2200" b="0" i="1" smtClean="0">
                              <a:latin typeface="Cambria Math" panose="02040503050406030204" pitchFamily="18" charset="0"/>
                              <a:ea typeface="Arial"/>
                              <a:cs typeface="Arial"/>
                              <a:sym typeface="Arial"/>
                            </a:rPr>
                            <m:t>𝑍</m:t>
                          </m:r>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𝑓</m:t>
                          </m:r>
                        </m:den>
                      </m:f>
                      <m:r>
                        <a:rPr lang="en-US" sz="2200" b="0" i="1" smtClean="0">
                          <a:latin typeface="Cambria Math" panose="02040503050406030204" pitchFamily="18" charset="0"/>
                          <a:ea typeface="Arial"/>
                          <a:cs typeface="Arial"/>
                          <a:sym typeface="Arial"/>
                        </a:rPr>
                        <m:t>=</m:t>
                      </m:r>
                      <m:f>
                        <m:fPr>
                          <m:ctrlPr>
                            <a:rPr lang="en-US" sz="2200" b="0" i="1" smtClean="0">
                              <a:latin typeface="Cambria Math" panose="02040503050406030204" pitchFamily="18" charset="0"/>
                              <a:ea typeface="Arial"/>
                              <a:cs typeface="Arial"/>
                              <a:sym typeface="Arial"/>
                            </a:rPr>
                          </m:ctrlPr>
                        </m:fPr>
                        <m:num>
                          <m:r>
                            <a:rPr lang="en-US" sz="2200" b="0" i="1" smtClean="0">
                              <a:latin typeface="Cambria Math" panose="02040503050406030204" pitchFamily="18" charset="0"/>
                              <a:ea typeface="Arial"/>
                              <a:cs typeface="Arial"/>
                              <a:sym typeface="Arial"/>
                            </a:rPr>
                            <m:t>𝑇</m:t>
                          </m:r>
                        </m:num>
                        <m:den>
                          <m:r>
                            <a:rPr lang="en-US" sz="2200" b="0" i="1" smtClean="0">
                              <a:latin typeface="Cambria Math" panose="02040503050406030204" pitchFamily="18" charset="0"/>
                              <a:ea typeface="Arial"/>
                              <a:cs typeface="Arial"/>
                              <a:sym typeface="Arial"/>
                            </a:rPr>
                            <m:t>𝑍</m:t>
                          </m:r>
                        </m:den>
                      </m:f>
                    </m:oMath>
                  </m:oMathPara>
                </a14:m>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208FCEF1-5DCD-0094-4159-58727B712D3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1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6560B6C-5D27-25C1-FB6B-B5FE8C1BFE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B574C69E-9848-8FE1-92B6-CA416F77403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1A1DAC59-574C-3776-BD78-B9821898C9C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04F6D6E-73F7-5895-6AB8-4567F492CBA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496D280-EDEE-CB02-368A-C76FE2F1EB9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9897EB3-3842-A886-A651-C314929645D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84C543F-F68B-62BF-51E6-8788557EED6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4ADB25B-6274-7EBD-6DDA-33BD2AD2FC2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246AB825-4C5D-06E1-4787-A67A362193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97727" y="3429000"/>
            <a:ext cx="6273219" cy="3044943"/>
          </a:xfrm>
          <a:prstGeom prst="rect">
            <a:avLst/>
          </a:prstGeom>
        </p:spPr>
      </p:pic>
    </p:spTree>
    <p:extLst>
      <p:ext uri="{BB962C8B-B14F-4D97-AF65-F5344CB8AC3E}">
        <p14:creationId xmlns:p14="http://schemas.microsoft.com/office/powerpoint/2010/main" val="668387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4A98F01-1431-C9B1-469E-6D8FDD0D9DD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9D89C12-4B2B-4CDC-C582-B36C96C955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Solving for </a:t>
                </a:r>
                <a14:m>
                  <m:oMath xmlns:m="http://schemas.openxmlformats.org/officeDocument/2006/math">
                    <m:r>
                      <m:rPr>
                        <m:sty m:val="p"/>
                      </m:rPr>
                      <a:rPr lang="en-US" sz="2200" b="0" i="1" smtClean="0">
                        <a:latin typeface="Cambria Math" panose="02040503050406030204" pitchFamily="18" charset="0"/>
                        <a:ea typeface="Arial"/>
                        <a:cs typeface="Arial"/>
                        <a:sym typeface="Arial"/>
                      </a:rPr>
                      <m:t>Z</m:t>
                    </m:r>
                  </m:oMath>
                </a14:m>
                <a:r>
                  <a:rPr lang="en-US" sz="2200" dirty="0">
                    <a:latin typeface="Arial"/>
                    <a:ea typeface="Arial"/>
                    <a:cs typeface="Arial"/>
                    <a:sym typeface="Arial"/>
                  </a:rPr>
                  <a:t> we get that:</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ea typeface="Arial"/>
                          <a:cs typeface="Arial"/>
                          <a:sym typeface="Arial"/>
                        </a:rPr>
                        <m:t>𝑍</m:t>
                      </m:r>
                      <m:r>
                        <a:rPr lang="en-US" sz="2200" b="0" i="1" smtClean="0">
                          <a:latin typeface="Cambria Math" panose="02040503050406030204" pitchFamily="18" charset="0"/>
                          <a:ea typeface="Arial"/>
                          <a:cs typeface="Arial"/>
                          <a:sym typeface="Arial"/>
                        </a:rPr>
                        <m:t>=</m:t>
                      </m:r>
                      <m:f>
                        <m:fPr>
                          <m:ctrlPr>
                            <a:rPr lang="en-US" sz="2200" b="0" i="1" smtClean="0">
                              <a:latin typeface="Cambria Math" panose="02040503050406030204" pitchFamily="18" charset="0"/>
                              <a:ea typeface="Arial"/>
                              <a:cs typeface="Arial"/>
                              <a:sym typeface="Arial"/>
                            </a:rPr>
                          </m:ctrlPr>
                        </m:fPr>
                        <m:num>
                          <m:r>
                            <a:rPr lang="en-US" sz="2200" b="0" i="1" smtClean="0">
                              <a:latin typeface="Cambria Math" panose="02040503050406030204" pitchFamily="18" charset="0"/>
                              <a:ea typeface="Arial"/>
                              <a:cs typeface="Arial"/>
                              <a:sym typeface="Arial"/>
                            </a:rPr>
                            <m:t>𝑓𝑇</m:t>
                          </m:r>
                        </m:num>
                        <m:den>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𝐿</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𝑅</m:t>
                              </m:r>
                            </m:sub>
                          </m:sSub>
                        </m:den>
                      </m:f>
                    </m:oMath>
                  </m:oMathPara>
                </a14:m>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D9D89C12-4B2B-4CDC-C582-B36C96C9552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950DA32-147F-03FB-160B-0D5B4A887AC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2DE47863-8B1C-37B8-4265-1F4F62FFC9E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97E5CEA-99F2-322F-DCBF-D303906E2F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5D35FF9-62AD-6BEC-7A2B-75FEE1767A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B429CB1-C81D-F7EF-1126-6AE33A9E3C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A8A028E-7742-58C3-535E-A606BD7CA0B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7630F64-BC21-9E26-C167-4BA44FCAA9F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4A4EFE1-B347-9FE4-E271-8DF7ECE334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pic>
        <p:nvPicPr>
          <p:cNvPr id="3" name="Graphic 2">
            <a:extLst>
              <a:ext uri="{FF2B5EF4-FFF2-40B4-BE49-F238E27FC236}">
                <a16:creationId xmlns:a16="http://schemas.microsoft.com/office/drawing/2014/main" id="{67E5AC74-4151-6881-6E40-4C9B5D988C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97727" y="3429000"/>
            <a:ext cx="6273219" cy="3044943"/>
          </a:xfrm>
          <a:prstGeom prst="rect">
            <a:avLst/>
          </a:prstGeom>
        </p:spPr>
      </p:pic>
    </p:spTree>
    <p:extLst>
      <p:ext uri="{BB962C8B-B14F-4D97-AF65-F5344CB8AC3E}">
        <p14:creationId xmlns:p14="http://schemas.microsoft.com/office/powerpoint/2010/main" val="1829171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C56FD6C-ABC6-B8CA-EE41-3EE46698F16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371EFBD-F795-C04C-23CE-AF14F882339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The difference in horizontal position of any given world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rial"/>
                    <a:ea typeface="Arial"/>
                    <a:cs typeface="Arial"/>
                    <a:sym typeface="Arial"/>
                  </a:rPr>
                  <a:t>, as seen in the left and right camera images,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𝐿</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𝑅</m:t>
                        </m:r>
                      </m:sub>
                    </m:sSub>
                  </m:oMath>
                </a14:m>
                <a:r>
                  <a:rPr lang="en-US" sz="2200" dirty="0">
                    <a:latin typeface="Arial"/>
                    <a:ea typeface="Arial"/>
                    <a:cs typeface="Arial"/>
                    <a:sym typeface="Arial"/>
                  </a:rPr>
                  <a:t> , is called the </a:t>
                </a:r>
                <a:r>
                  <a:rPr lang="en-US" sz="2200" b="1" dirty="0">
                    <a:latin typeface="Arial"/>
                    <a:ea typeface="Arial"/>
                    <a:cs typeface="Arial"/>
                    <a:sym typeface="Arial"/>
                  </a:rPr>
                  <a:t>disparity</a:t>
                </a:r>
                <a:r>
                  <a:rPr lang="en-US" sz="2200" dirty="0">
                    <a:latin typeface="Arial"/>
                    <a:ea typeface="Arial"/>
                    <a:cs typeface="Arial"/>
                    <a:sym typeface="Arial"/>
                  </a:rPr>
                  <a:t>, and is </a:t>
                </a:r>
                <a:r>
                  <a:rPr lang="en-US" sz="2200" i="1" dirty="0">
                    <a:latin typeface="Arial"/>
                    <a:ea typeface="Arial"/>
                    <a:cs typeface="Arial"/>
                    <a:sym typeface="Arial"/>
                  </a:rPr>
                  <a:t>inversely proportional</a:t>
                </a:r>
                <a:r>
                  <a:rPr lang="en-US" sz="2200" dirty="0">
                    <a:latin typeface="Arial"/>
                    <a:ea typeface="Arial"/>
                    <a:cs typeface="Arial"/>
                    <a:sym typeface="Arial"/>
                  </a:rPr>
                  <a:t> to the depth </a:t>
                </a:r>
                <a14:m>
                  <m:oMath xmlns:m="http://schemas.openxmlformats.org/officeDocument/2006/math">
                    <m:r>
                      <m:rPr>
                        <m:sty m:val="p"/>
                      </m:rPr>
                      <a:rPr lang="en-US" sz="2200" b="0" i="1" smtClean="0">
                        <a:latin typeface="Cambria Math" panose="02040503050406030204" pitchFamily="18" charset="0"/>
                        <a:ea typeface="Arial"/>
                        <a:cs typeface="Arial"/>
                        <a:sym typeface="Arial"/>
                      </a:rPr>
                      <m:t>Z</m:t>
                    </m:r>
                  </m:oMath>
                </a14:m>
                <a:r>
                  <a:rPr lang="en-US" sz="2200" dirty="0">
                    <a:latin typeface="Arial"/>
                    <a:ea typeface="Arial"/>
                    <a:cs typeface="Arial"/>
                    <a:sym typeface="Arial"/>
                  </a:rPr>
                  <a:t> of the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rial"/>
                    <a:ea typeface="Arial"/>
                    <a:cs typeface="Arial"/>
                    <a:sym typeface="Arial"/>
                  </a:rPr>
                  <a:t> for this configuration of the two cameras–parallel orientation. </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The task of inferring depth of any point in either image of a stereo pair thus reduces to measuring the disparity everywhere.</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What is a problem in this situation in the real world?</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One important assumption we have made is that we </a:t>
                </a:r>
                <a:r>
                  <a:rPr lang="en-US" sz="2200" b="1" dirty="0">
                    <a:latin typeface="Arial"/>
                    <a:ea typeface="Arial"/>
                    <a:cs typeface="Arial"/>
                    <a:sym typeface="Arial"/>
                  </a:rPr>
                  <a:t>know</a:t>
                </a:r>
                <a:r>
                  <a:rPr lang="en-US" sz="2200" dirty="0">
                    <a:latin typeface="Arial"/>
                    <a:ea typeface="Arial"/>
                    <a:cs typeface="Arial"/>
                    <a:sym typeface="Arial"/>
                  </a:rPr>
                  <a:t> the two corresponding projections of the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rial"/>
                    <a:ea typeface="Arial"/>
                    <a:cs typeface="Arial"/>
                    <a:sym typeface="Arial"/>
                  </a:rPr>
                  <a:t>; however, in the real world the two images will be complex, and we will not know which points in one camera correspond to the same 3D point on the other camera.</a:t>
                </a:r>
              </a:p>
              <a:p>
                <a:pPr marL="0" indent="0">
                  <a:lnSpc>
                    <a:spcPct val="100000"/>
                  </a:lnSpc>
                  <a:spcBef>
                    <a:spcPts val="0"/>
                  </a:spcBef>
                  <a:buSzPts val="3000"/>
                  <a:buNone/>
                </a:pPr>
                <a:r>
                  <a:rPr lang="en-US" sz="2200" dirty="0">
                    <a:latin typeface="Arial"/>
                    <a:ea typeface="Arial"/>
                    <a:cs typeface="Arial"/>
                    <a:sym typeface="Arial"/>
                  </a:rPr>
                  <a:t>This is what the problem of </a:t>
                </a:r>
                <a:r>
                  <a:rPr lang="en-US" sz="2200" b="1" dirty="0">
                    <a:latin typeface="Arial"/>
                    <a:ea typeface="Arial"/>
                    <a:cs typeface="Arial"/>
                    <a:sym typeface="Arial"/>
                  </a:rPr>
                  <a:t>stereo matching </a:t>
                </a:r>
                <a:r>
                  <a:rPr lang="en-US" sz="2200" dirty="0">
                    <a:latin typeface="Arial"/>
                    <a:ea typeface="Arial"/>
                    <a:cs typeface="Arial"/>
                    <a:sym typeface="Arial"/>
                  </a:rPr>
                  <a:t>solves!</a:t>
                </a:r>
              </a:p>
              <a:p>
                <a:pPr marL="0" indent="0">
                  <a:lnSpc>
                    <a:spcPct val="100000"/>
                  </a:lnSpc>
                  <a:spcBef>
                    <a:spcPts val="0"/>
                  </a:spcBef>
                  <a:buSzPts val="3000"/>
                  <a:buNone/>
                </a:pPr>
                <a:endParaRPr lang="en-US" sz="2200" dirty="0">
                  <a:latin typeface="Arial"/>
                  <a:ea typeface="Arial"/>
                  <a:cs typeface="Arial"/>
                  <a:sym typeface="Arial"/>
                </a:endParaRPr>
              </a:p>
            </p:txBody>
          </p:sp>
        </mc:Choice>
        <mc:Fallback xmlns="">
          <p:sp>
            <p:nvSpPr>
              <p:cNvPr id="118" name="Google Shape;118;p29">
                <a:extLst>
                  <a:ext uri="{FF2B5EF4-FFF2-40B4-BE49-F238E27FC236}">
                    <a16:creationId xmlns:a16="http://schemas.microsoft.com/office/drawing/2014/main" id="{1371EFBD-F795-C04C-23CE-AF14F882339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1146" b="-189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45E22E0-7E40-D15D-7E0A-FD40462E231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5259282-8708-13C6-3138-8D4EB2896DE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80FEBAA5-D925-F869-BC23-38574F5F6CE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7FFAB9-24F7-6A55-F1EE-A9FD3A07FB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01E2C05-B174-8CA9-308F-C7436147D30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770DE5-266B-0926-9465-CB19C62E2BF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4D046F3-4B14-292E-68AB-6FBE820CE75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7D2CCD-67F7-0791-2622-C6DC8C063EA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216022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52E5E682-4737-430D-AA48-F32944E2A90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7210706-1E3A-B272-C23D-9F925D3482D6}"/>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A52B4DE5-7B46-BBBF-B228-DBEA229538EF}"/>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lvl="0" algn="ctr">
                <a:buSzPts val="6000"/>
              </a:pPr>
              <a:r>
                <a:rPr lang="en-US" sz="6000" b="1" dirty="0">
                  <a:solidFill>
                    <a:schemeClr val="lt1"/>
                  </a:solidFill>
                </a:rPr>
                <a:t>Stereo Matching</a:t>
              </a:r>
              <a:endParaRPr sz="1400" b="0" i="0" u="none" strike="noStrike" cap="none" dirty="0">
                <a:solidFill>
                  <a:srgbClr val="000000"/>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6FFB0CDE-5457-9BC7-3DA1-0AE1522175D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17363C50-7FBA-A88D-C82D-E02C2ECE4649}"/>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3E40F3F3-40B6-8D99-59A4-01C876A9748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74614AFA-A377-F34D-C3D1-F5661AE501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F83B52EE-AD4D-03AE-6F01-8B8486A7BCF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8FB441F-CDDD-A8C9-CDC7-9E4A3B45D803}"/>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EAAAB3A6-58E9-A3F9-78CA-49CDC6FCADAB}"/>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EA61DF3-EE84-C073-D920-CA0BD114E40C}"/>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582085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E8774E-A120-0DA5-AA8C-414E393AFBC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DF22331-BB33-1319-A6A8-E26A9BB8837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b="1" dirty="0">
                    <a:latin typeface="Arial"/>
                    <a:ea typeface="Arial"/>
                    <a:cs typeface="Arial"/>
                    <a:sym typeface="Arial"/>
                  </a:rPr>
                  <a:t>Stereo matching </a:t>
                </a:r>
                <a:r>
                  <a:rPr lang="en-US" sz="2200" dirty="0">
                    <a:latin typeface="Arial"/>
                    <a:ea typeface="Arial"/>
                    <a:cs typeface="Arial"/>
                    <a:sym typeface="Arial"/>
                  </a:rPr>
                  <a:t>is the process of finding key points inside the images and finding the displacement between the two images.</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Like your eyes, you don’t necessarily notice individual pixels change but you can see key points (corners, objects). That have are different positions from one eye to another.</a:t>
                </a:r>
              </a:p>
              <a:p>
                <a:pPr marL="0" indent="0">
                  <a:lnSpc>
                    <a:spcPct val="100000"/>
                  </a:lnSpc>
                  <a:spcBef>
                    <a:spcPts val="0"/>
                  </a:spcBef>
                  <a:buSzPts val="3000"/>
                  <a:buNone/>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You then match the difference between the 2 images to match the points and retrieve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rial"/>
                    <a:ea typeface="Arial"/>
                    <a:cs typeface="Arial"/>
                    <a:sym typeface="Arial"/>
                  </a:rPr>
                  <a:t>.</a:t>
                </a:r>
              </a:p>
            </p:txBody>
          </p:sp>
        </mc:Choice>
        <mc:Fallback xmlns="">
          <p:sp>
            <p:nvSpPr>
              <p:cNvPr id="118" name="Google Shape;118;p29">
                <a:extLst>
                  <a:ext uri="{FF2B5EF4-FFF2-40B4-BE49-F238E27FC236}">
                    <a16:creationId xmlns:a16="http://schemas.microsoft.com/office/drawing/2014/main" id="{2DF22331-BB33-1319-A6A8-E26A9BB88377}"/>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r="-13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1A2B51C-6359-1832-30C5-7B39C4C1F83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F95CBEA2-0492-B9CD-8838-A41F661997F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212BD055-38A1-3F90-7137-2ACD737086A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7A0EC5F-5078-D3CC-1404-90A57FDD113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C7EB38F-F917-F2FC-73F2-7FC4081C808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FF1EE1C-88A0-C9A5-F432-3EE2B6A46D3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B8F0D3E-1F90-4FD7-E800-E15E1622525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435FC5-2BCB-28A7-E26B-7967836B885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091129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15AA9DB-6001-169A-9FD5-AF6A5A8DF0C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40E29B6-4A46-3A30-87A1-ED1AE6EBBF4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DFB41052-7ADD-9F68-6108-15E48538254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59CB354B-464F-83AF-CDB5-C4494D4F0FD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7F1778-EBB5-6484-272E-F6A493AA56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DB4B89E-D006-B06D-10D2-D037655D2A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8BF0964-F37E-D2C2-134B-5A96030FF08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428FF4B-21A2-E6DB-48CC-E33902E998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9056437-C4CE-02E0-5D36-1C82394C94B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grpSp>
        <p:nvGrpSpPr>
          <p:cNvPr id="2" name="Group 1">
            <a:extLst>
              <a:ext uri="{FF2B5EF4-FFF2-40B4-BE49-F238E27FC236}">
                <a16:creationId xmlns:a16="http://schemas.microsoft.com/office/drawing/2014/main" id="{57E9F13C-6BA1-9775-6D6C-6F442332E5C1}"/>
              </a:ext>
            </a:extLst>
          </p:cNvPr>
          <p:cNvGrpSpPr/>
          <p:nvPr/>
        </p:nvGrpSpPr>
        <p:grpSpPr>
          <a:xfrm>
            <a:off x="116344" y="2176673"/>
            <a:ext cx="11959312" cy="3017520"/>
            <a:chOff x="63344" y="2176673"/>
            <a:chExt cx="11959312" cy="3017520"/>
          </a:xfrm>
        </p:grpSpPr>
        <p:pic>
          <p:nvPicPr>
            <p:cNvPr id="1028" name="Picture 4">
              <a:extLst>
                <a:ext uri="{FF2B5EF4-FFF2-40B4-BE49-F238E27FC236}">
                  <a16:creationId xmlns:a16="http://schemas.microsoft.com/office/drawing/2014/main" id="{5DA4C708-EFC9-844E-77CB-83F1D9D90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44" y="2176673"/>
              <a:ext cx="3968878"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9435647-6AAD-7469-1ABF-3ABF4721B3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6674" y="2176673"/>
              <a:ext cx="3903917"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75CE45C-B50C-4C0E-DACF-C83F205D8C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5043" y="2176673"/>
              <a:ext cx="4017613" cy="30175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74229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0AF332-064F-1B6E-CE6D-E2FB7DF6F61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BE0F4B-C10B-8EAA-8E2C-F31D74D588C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The task of finding disparity at each point is often broken into two parts: </a:t>
            </a:r>
          </a:p>
          <a:p>
            <a:pPr marL="0" indent="0">
              <a:lnSpc>
                <a:spcPct val="100000"/>
              </a:lnSpc>
              <a:spcBef>
                <a:spcPts val="0"/>
              </a:spcBef>
              <a:buSzPts val="3000"/>
              <a:buNone/>
            </a:pPr>
            <a:endParaRPr lang="en-US" sz="2200" dirty="0">
              <a:latin typeface="Arial"/>
              <a:ea typeface="Arial"/>
              <a:cs typeface="Arial"/>
              <a:sym typeface="Arial"/>
            </a:endParaRPr>
          </a:p>
          <a:p>
            <a:pPr indent="-457200">
              <a:lnSpc>
                <a:spcPct val="100000"/>
              </a:lnSpc>
              <a:spcBef>
                <a:spcPts val="0"/>
              </a:spcBef>
              <a:buSzPts val="3000"/>
              <a:buAutoNum type="arabicPeriod"/>
            </a:pPr>
            <a:r>
              <a:rPr lang="en-US" sz="2200" b="1" dirty="0">
                <a:latin typeface="Arial"/>
                <a:ea typeface="Arial"/>
                <a:cs typeface="Arial"/>
                <a:sym typeface="Arial"/>
              </a:rPr>
              <a:t>finding </a:t>
            </a:r>
            <a:r>
              <a:rPr lang="en-US" sz="2200" dirty="0">
                <a:latin typeface="Arial"/>
                <a:ea typeface="Arial"/>
                <a:cs typeface="Arial"/>
                <a:sym typeface="Arial"/>
              </a:rPr>
              <a:t>features,</a:t>
            </a:r>
            <a:r>
              <a:rPr lang="en-US" sz="2200" b="1" dirty="0">
                <a:latin typeface="Arial"/>
                <a:ea typeface="Arial"/>
                <a:cs typeface="Arial"/>
                <a:sym typeface="Arial"/>
              </a:rPr>
              <a:t> </a:t>
            </a:r>
            <a:r>
              <a:rPr lang="en-US" sz="2200" dirty="0">
                <a:latin typeface="Arial"/>
                <a:ea typeface="Arial"/>
                <a:cs typeface="Arial"/>
                <a:sym typeface="Arial"/>
              </a:rPr>
              <a:t>and</a:t>
            </a:r>
            <a:r>
              <a:rPr lang="en-US" sz="2200" b="1" dirty="0">
                <a:latin typeface="Arial"/>
                <a:ea typeface="Arial"/>
                <a:cs typeface="Arial"/>
                <a:sym typeface="Arial"/>
              </a:rPr>
              <a:t> matching </a:t>
            </a:r>
            <a:r>
              <a:rPr lang="en-US" sz="2200" dirty="0">
                <a:latin typeface="Arial"/>
                <a:ea typeface="Arial"/>
                <a:cs typeface="Arial"/>
                <a:sym typeface="Arial"/>
              </a:rPr>
              <a:t>the</a:t>
            </a:r>
            <a:r>
              <a:rPr lang="en-US" sz="2200" b="1" dirty="0">
                <a:latin typeface="Arial"/>
                <a:ea typeface="Arial"/>
                <a:cs typeface="Arial"/>
                <a:sym typeface="Arial"/>
              </a:rPr>
              <a:t> </a:t>
            </a:r>
            <a:r>
              <a:rPr lang="en-US" sz="2200" dirty="0">
                <a:latin typeface="Arial"/>
                <a:ea typeface="Arial"/>
                <a:cs typeface="Arial"/>
                <a:sym typeface="Arial"/>
              </a:rPr>
              <a:t>features across images</a:t>
            </a:r>
          </a:p>
          <a:p>
            <a:pPr indent="-457200">
              <a:lnSpc>
                <a:spcPct val="100000"/>
              </a:lnSpc>
              <a:spcBef>
                <a:spcPts val="0"/>
              </a:spcBef>
              <a:buSzPts val="3000"/>
              <a:buAutoNum type="arabicPeriod"/>
            </a:pPr>
            <a:r>
              <a:rPr lang="en-US" sz="2200" b="1" dirty="0">
                <a:latin typeface="Arial"/>
                <a:ea typeface="Arial"/>
                <a:cs typeface="Arial"/>
                <a:sym typeface="Arial"/>
              </a:rPr>
              <a:t>interpolating</a:t>
            </a:r>
            <a:r>
              <a:rPr lang="en-US" sz="2200" dirty="0">
                <a:latin typeface="Arial"/>
                <a:ea typeface="Arial"/>
                <a:cs typeface="Arial"/>
                <a:sym typeface="Arial"/>
              </a:rPr>
              <a:t> between, or adjusting, the feature matches to obtain a reliable disparity estimate everywhere. </a:t>
            </a:r>
          </a:p>
          <a:p>
            <a:pPr indent="-457200">
              <a:lnSpc>
                <a:spcPct val="100000"/>
              </a:lnSpc>
              <a:spcBef>
                <a:spcPts val="0"/>
              </a:spcBef>
              <a:buSzPts val="3000"/>
              <a:buAutoNum type="arabicPeriod"/>
            </a:pPr>
            <a:endParaRPr lang="en-US" sz="2200" dirty="0">
              <a:latin typeface="Arial"/>
              <a:ea typeface="Arial"/>
              <a:cs typeface="Arial"/>
              <a:sym typeface="Arial"/>
            </a:endParaRPr>
          </a:p>
          <a:p>
            <a:pPr indent="-457200">
              <a:lnSpc>
                <a:spcPct val="100000"/>
              </a:lnSpc>
              <a:spcBef>
                <a:spcPts val="0"/>
              </a:spcBef>
              <a:buSzPts val="3000"/>
              <a:buAutoNum type="arabicPeriod"/>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These two steps are often called matching and filtering, because the interpolation can be performed using filtering methods.</a:t>
            </a:r>
          </a:p>
        </p:txBody>
      </p:sp>
      <p:sp>
        <p:nvSpPr>
          <p:cNvPr id="119" name="Google Shape;119;p29">
            <a:extLst>
              <a:ext uri="{FF2B5EF4-FFF2-40B4-BE49-F238E27FC236}">
                <a16:creationId xmlns:a16="http://schemas.microsoft.com/office/drawing/2014/main" id="{69C1198C-BA9C-A9E1-9273-F309745E435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EBD2AB1C-4220-38EA-557F-87DA09A0B46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77B7B04C-999C-115C-32F8-BED4378E4C3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5CA620-877C-FEB2-1824-9177001626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DAB6558-6E4D-3AE3-3A15-7B1F6AAFF44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D003517-2B90-63DC-6A0B-F8470D0B55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9ADD78A-1CD6-5F3C-9362-3029426F6AB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ADE324F-CE9B-F505-8F0C-3BDFD960520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3348656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0BFA7F93-0E44-A137-05F1-5475B1DE148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453F67B-BB98-2362-A9D4-BDCE4B8212A2}"/>
              </a:ext>
            </a:extLst>
          </p:cNvPr>
          <p:cNvGrpSpPr/>
          <p:nvPr/>
        </p:nvGrpSpPr>
        <p:grpSpPr>
          <a:xfrm>
            <a:off x="730846" y="1921574"/>
            <a:ext cx="10730308" cy="2261798"/>
            <a:chOff x="730846" y="737986"/>
            <a:chExt cx="10730308" cy="2261798"/>
          </a:xfrm>
        </p:grpSpPr>
        <p:sp>
          <p:nvSpPr>
            <p:cNvPr id="89" name="Google Shape;89;p27">
              <a:extLst>
                <a:ext uri="{FF2B5EF4-FFF2-40B4-BE49-F238E27FC236}">
                  <a16:creationId xmlns:a16="http://schemas.microsoft.com/office/drawing/2014/main" id="{5793302A-0E06-84B9-7D60-064D4B92C2A4}"/>
                </a:ext>
              </a:extLst>
            </p:cNvPr>
            <p:cNvSpPr txBox="1"/>
            <p:nvPr/>
          </p:nvSpPr>
          <p:spPr>
            <a:xfrm>
              <a:off x="730846" y="737986"/>
              <a:ext cx="10730308" cy="1938952"/>
            </a:xfrm>
            <a:prstGeom prst="rect">
              <a:avLst/>
            </a:prstGeom>
            <a:noFill/>
            <a:ln>
              <a:noFill/>
            </a:ln>
          </p:spPr>
          <p:txBody>
            <a:bodyPr spcFirstLastPara="1" wrap="square" lIns="91425" tIns="45700" rIns="91425" bIns="45700" anchor="t" anchorCtr="0">
              <a:spAutoFit/>
            </a:bodyPr>
            <a:lstStyle/>
            <a:p>
              <a:pPr lvl="0" algn="ctr">
                <a:buSzPts val="6000"/>
              </a:pPr>
              <a:r>
                <a:rPr lang="en-US" sz="6000" b="1" dirty="0">
                  <a:solidFill>
                    <a:schemeClr val="lt1"/>
                  </a:solidFill>
                </a:rPr>
                <a:t>The Essential and Fundamental Matrices</a:t>
              </a:r>
              <a:endParaRPr lang="en-US" sz="1400" b="0" i="0" u="none" strike="noStrike" cap="none" dirty="0">
                <a:solidFill>
                  <a:srgbClr val="000000"/>
                </a:solidFill>
                <a:latin typeface="Arial"/>
                <a:ea typeface="Arial"/>
                <a:cs typeface="Arial"/>
                <a:sym typeface="Arial"/>
              </a:endParaRPr>
            </a:p>
          </p:txBody>
        </p:sp>
        <p:cxnSp>
          <p:nvCxnSpPr>
            <p:cNvPr id="92" name="Google Shape;92;p27">
              <a:extLst>
                <a:ext uri="{FF2B5EF4-FFF2-40B4-BE49-F238E27FC236}">
                  <a16:creationId xmlns:a16="http://schemas.microsoft.com/office/drawing/2014/main" id="{B30B6BED-19D1-B241-07DB-3680641B8DB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BADFCE7-7FC5-D6B3-CF5C-2F19E786A5F5}"/>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297BB72B-2BDB-154A-5BFC-D46B1277729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391A6851-9441-8122-7A71-8F67F2B6E55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3948FB87-0741-3A82-B063-33324589AA2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4BA628B7-2C1D-57B3-1F00-B6DD86222D7D}"/>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7CE670E5-1456-95DA-873A-FCE39E729D4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6334256-E2B8-3215-60C6-10C032506C52}"/>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9543266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E655E04-6A44-7A5E-CC98-488F8B3896F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CB62885-2C84-CDBA-B029-08BCB63F852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rial"/>
                <a:ea typeface="Arial"/>
                <a:cs typeface="Arial"/>
                <a:sym typeface="Arial"/>
              </a:rPr>
              <a:t>The task of finding disparity at each point is often broken into two parts: </a:t>
            </a:r>
          </a:p>
          <a:p>
            <a:pPr marL="0" indent="0">
              <a:lnSpc>
                <a:spcPct val="100000"/>
              </a:lnSpc>
              <a:spcBef>
                <a:spcPts val="0"/>
              </a:spcBef>
              <a:buSzPts val="3000"/>
              <a:buNone/>
            </a:pPr>
            <a:endParaRPr lang="en-US" sz="2200" dirty="0">
              <a:latin typeface="Arial"/>
              <a:ea typeface="Arial"/>
              <a:cs typeface="Arial"/>
              <a:sym typeface="Arial"/>
            </a:endParaRPr>
          </a:p>
          <a:p>
            <a:pPr indent="-457200">
              <a:lnSpc>
                <a:spcPct val="100000"/>
              </a:lnSpc>
              <a:spcBef>
                <a:spcPts val="0"/>
              </a:spcBef>
              <a:buSzPts val="3000"/>
              <a:buAutoNum type="arabicPeriod"/>
            </a:pPr>
            <a:r>
              <a:rPr lang="en-US" sz="2200" b="1" dirty="0">
                <a:latin typeface="Arial"/>
                <a:ea typeface="Arial"/>
                <a:cs typeface="Arial"/>
                <a:sym typeface="Arial"/>
              </a:rPr>
              <a:t>finding </a:t>
            </a:r>
            <a:r>
              <a:rPr lang="en-US" sz="2200" dirty="0">
                <a:latin typeface="Arial"/>
                <a:ea typeface="Arial"/>
                <a:cs typeface="Arial"/>
                <a:sym typeface="Arial"/>
              </a:rPr>
              <a:t>features,</a:t>
            </a:r>
            <a:r>
              <a:rPr lang="en-US" sz="2200" b="1" dirty="0">
                <a:latin typeface="Arial"/>
                <a:ea typeface="Arial"/>
                <a:cs typeface="Arial"/>
                <a:sym typeface="Arial"/>
              </a:rPr>
              <a:t> </a:t>
            </a:r>
            <a:r>
              <a:rPr lang="en-US" sz="2200" dirty="0">
                <a:latin typeface="Arial"/>
                <a:ea typeface="Arial"/>
                <a:cs typeface="Arial"/>
                <a:sym typeface="Arial"/>
              </a:rPr>
              <a:t>and</a:t>
            </a:r>
            <a:r>
              <a:rPr lang="en-US" sz="2200" b="1" dirty="0">
                <a:latin typeface="Arial"/>
                <a:ea typeface="Arial"/>
                <a:cs typeface="Arial"/>
                <a:sym typeface="Arial"/>
              </a:rPr>
              <a:t> matching </a:t>
            </a:r>
            <a:r>
              <a:rPr lang="en-US" sz="2200" dirty="0">
                <a:latin typeface="Arial"/>
                <a:ea typeface="Arial"/>
                <a:cs typeface="Arial"/>
                <a:sym typeface="Arial"/>
              </a:rPr>
              <a:t>the</a:t>
            </a:r>
            <a:r>
              <a:rPr lang="en-US" sz="2200" b="1" dirty="0">
                <a:latin typeface="Arial"/>
                <a:ea typeface="Arial"/>
                <a:cs typeface="Arial"/>
                <a:sym typeface="Arial"/>
              </a:rPr>
              <a:t> </a:t>
            </a:r>
            <a:r>
              <a:rPr lang="en-US" sz="2200" dirty="0">
                <a:latin typeface="Arial"/>
                <a:ea typeface="Arial"/>
                <a:cs typeface="Arial"/>
                <a:sym typeface="Arial"/>
              </a:rPr>
              <a:t>features across images</a:t>
            </a:r>
          </a:p>
          <a:p>
            <a:pPr indent="-457200">
              <a:lnSpc>
                <a:spcPct val="100000"/>
              </a:lnSpc>
              <a:spcBef>
                <a:spcPts val="0"/>
              </a:spcBef>
              <a:buSzPts val="3000"/>
              <a:buAutoNum type="arabicPeriod"/>
            </a:pPr>
            <a:r>
              <a:rPr lang="en-US" sz="2200" b="1" dirty="0">
                <a:latin typeface="Arial"/>
                <a:ea typeface="Arial"/>
                <a:cs typeface="Arial"/>
                <a:sym typeface="Arial"/>
              </a:rPr>
              <a:t>interpolating</a:t>
            </a:r>
            <a:r>
              <a:rPr lang="en-US" sz="2200" dirty="0">
                <a:latin typeface="Arial"/>
                <a:ea typeface="Arial"/>
                <a:cs typeface="Arial"/>
                <a:sym typeface="Arial"/>
              </a:rPr>
              <a:t> between, or adjusting, the feature matches to obtain a reliable disparity estimate everywhere. </a:t>
            </a:r>
          </a:p>
          <a:p>
            <a:pPr indent="-457200">
              <a:lnSpc>
                <a:spcPct val="100000"/>
              </a:lnSpc>
              <a:spcBef>
                <a:spcPts val="0"/>
              </a:spcBef>
              <a:buSzPts val="3000"/>
              <a:buAutoNum type="arabicPeriod"/>
            </a:pPr>
            <a:endParaRPr lang="en-US" sz="2200" dirty="0">
              <a:latin typeface="Arial"/>
              <a:ea typeface="Arial"/>
              <a:cs typeface="Arial"/>
              <a:sym typeface="Arial"/>
            </a:endParaRPr>
          </a:p>
          <a:p>
            <a:pPr indent="-457200">
              <a:lnSpc>
                <a:spcPct val="100000"/>
              </a:lnSpc>
              <a:spcBef>
                <a:spcPts val="0"/>
              </a:spcBef>
              <a:buSzPts val="3000"/>
              <a:buAutoNum type="arabicPeriod"/>
            </a:pPr>
            <a:endParaRPr lang="en-US" sz="2200" dirty="0">
              <a:latin typeface="Arial"/>
              <a:ea typeface="Arial"/>
              <a:cs typeface="Arial"/>
              <a:sym typeface="Arial"/>
            </a:endParaRPr>
          </a:p>
          <a:p>
            <a:pPr marL="0" indent="0">
              <a:lnSpc>
                <a:spcPct val="100000"/>
              </a:lnSpc>
              <a:spcBef>
                <a:spcPts val="0"/>
              </a:spcBef>
              <a:buSzPts val="3000"/>
              <a:buNone/>
            </a:pPr>
            <a:r>
              <a:rPr lang="en-US" sz="2200" dirty="0">
                <a:latin typeface="Arial"/>
                <a:ea typeface="Arial"/>
                <a:cs typeface="Arial"/>
                <a:sym typeface="Arial"/>
              </a:rPr>
              <a:t>These two steps are often called matching and filtering, because the interpolation can be performed using filtering methods.</a:t>
            </a:r>
          </a:p>
        </p:txBody>
      </p:sp>
      <p:sp>
        <p:nvSpPr>
          <p:cNvPr id="119" name="Google Shape;119;p29">
            <a:extLst>
              <a:ext uri="{FF2B5EF4-FFF2-40B4-BE49-F238E27FC236}">
                <a16:creationId xmlns:a16="http://schemas.microsoft.com/office/drawing/2014/main" id="{14755A46-00C3-48E4-A025-DA04F68C3F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a:extLst>
              <a:ext uri="{FF2B5EF4-FFF2-40B4-BE49-F238E27FC236}">
                <a16:creationId xmlns:a16="http://schemas.microsoft.com/office/drawing/2014/main" id="{AE4BD833-E818-7233-0C57-6387A212852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rPr>
              <a:t>Stereo Vision</a:t>
            </a:r>
            <a:endParaRPr sz="2400" b="0" i="0" u="none" strike="noStrike" cap="none" dirty="0">
              <a:solidFill>
                <a:schemeClr val="lt1"/>
              </a:solidFill>
              <a:latin typeface="Arial"/>
              <a:ea typeface="Arial"/>
              <a:cs typeface="Arial"/>
              <a:sym typeface="Arial"/>
            </a:endParaRPr>
          </a:p>
        </p:txBody>
      </p:sp>
      <p:pic>
        <p:nvPicPr>
          <p:cNvPr id="121" name="Google Shape;121;p29">
            <a:extLst>
              <a:ext uri="{FF2B5EF4-FFF2-40B4-BE49-F238E27FC236}">
                <a16:creationId xmlns:a16="http://schemas.microsoft.com/office/drawing/2014/main" id="{D89120F2-E107-321A-3F4F-31F2D929711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4B41E6-CAAD-255A-0D51-0747A4F79A5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7759AFA-B006-53E7-AF8C-25D94B2FC50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7F70B1B-39DC-21D5-5153-AA2AC0C30EC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3A6E587-FA29-45F9-D751-2638D5E2B96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D35A8D2-78D0-4C8B-A932-1F510AFC9FF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extLst>
      <p:ext uri="{BB962C8B-B14F-4D97-AF65-F5344CB8AC3E}">
        <p14:creationId xmlns:p14="http://schemas.microsoft.com/office/powerpoint/2010/main" val="1057956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latin typeface="Arial"/>
              <a:ea typeface="Arial"/>
              <a:cs typeface="Arial"/>
              <a:sym typeface="Aria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0" name="Google Shape;120;p29"/>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21" name="Google Shape;121;p29"/>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32" name="Google Shape;132;p30"/>
          <p:cNvSpPr txBox="1"/>
          <p:nvPr/>
        </p:nvSpPr>
        <p:spPr>
          <a:xfrm>
            <a:off x="376810"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3" name="Google Shape;133;p30"/>
          <p:cNvSpPr txBox="1"/>
          <p:nvPr/>
        </p:nvSpPr>
        <p:spPr>
          <a:xfrm>
            <a:off x="6158774" y="1334279"/>
            <a:ext cx="5442100"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800" b="1" i="0" u="none" strike="noStrike" cap="none">
              <a:solidFill>
                <a:schemeClr val="dk1"/>
              </a:solidFill>
              <a:latin typeface="Arial"/>
              <a:ea typeface="Arial"/>
              <a:cs typeface="Arial"/>
              <a:sym typeface="Arial"/>
            </a:endParaRPr>
          </a:p>
        </p:txBody>
      </p:sp>
      <p:sp>
        <p:nvSpPr>
          <p:cNvPr id="134" name="Google Shape;134;p30"/>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35" name="Google Shape;135;p30"/>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36" name="Google Shape;136;p30"/>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37" name="Google Shape;137;p30"/>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38" name="Google Shape;138;p30"/>
          <p:cNvGrpSpPr/>
          <p:nvPr/>
        </p:nvGrpSpPr>
        <p:grpSpPr>
          <a:xfrm>
            <a:off x="4066674" y="6601537"/>
            <a:ext cx="5233412" cy="70446"/>
            <a:chOff x="4033424" y="6601537"/>
            <a:chExt cx="5233412" cy="70446"/>
          </a:xfrm>
        </p:grpSpPr>
        <p:cxnSp>
          <p:nvCxnSpPr>
            <p:cNvPr id="139" name="Google Shape;139;p30"/>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40" name="Google Shape;140;p30"/>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1"/>
          <p:cNvSpPr/>
          <p:nvPr/>
        </p:nvSpPr>
        <p:spPr>
          <a:xfrm>
            <a:off x="47556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 name="Google Shape;146;p31"/>
          <p:cNvSpPr txBox="1"/>
          <p:nvPr/>
        </p:nvSpPr>
        <p:spPr>
          <a:xfrm>
            <a:off x="149411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7" name="Google Shape;147;p31"/>
          <p:cNvSpPr/>
          <p:nvPr/>
        </p:nvSpPr>
        <p:spPr>
          <a:xfrm>
            <a:off x="47556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8" name="Google Shape;148;p31"/>
          <p:cNvSpPr txBox="1"/>
          <p:nvPr/>
        </p:nvSpPr>
        <p:spPr>
          <a:xfrm>
            <a:off x="149411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49" name="Google Shape;149;p31"/>
          <p:cNvSpPr txBox="1"/>
          <p:nvPr/>
        </p:nvSpPr>
        <p:spPr>
          <a:xfrm>
            <a:off x="5122548" y="1334279"/>
            <a:ext cx="6686464"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50" name="Google Shape;150;p31"/>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51" name="Google Shape;151;p31"/>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52" name="Google Shape;152;p31"/>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53" name="Google Shape;153;p31"/>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54" name="Google Shape;154;p31"/>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55" name="Google Shape;155;p31"/>
          <p:cNvGrpSpPr/>
          <p:nvPr/>
        </p:nvGrpSpPr>
        <p:grpSpPr>
          <a:xfrm>
            <a:off x="4066674" y="6601537"/>
            <a:ext cx="5233412" cy="70446"/>
            <a:chOff x="4033424" y="6601537"/>
            <a:chExt cx="5233412" cy="70446"/>
          </a:xfrm>
        </p:grpSpPr>
        <p:cxnSp>
          <p:nvCxnSpPr>
            <p:cNvPr id="156" name="Google Shape;156;p31"/>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57" name="Google Shape;157;p31"/>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7"/>
          <p:cNvSpPr/>
          <p:nvPr/>
        </p:nvSpPr>
        <p:spPr>
          <a:xfrm>
            <a:off x="7475456" y="1263717"/>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3" name="Google Shape;163;p7"/>
          <p:cNvSpPr txBox="1"/>
          <p:nvPr/>
        </p:nvSpPr>
        <p:spPr>
          <a:xfrm>
            <a:off x="8494005" y="2239572"/>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4" name="Google Shape;164;p7"/>
          <p:cNvSpPr/>
          <p:nvPr/>
        </p:nvSpPr>
        <p:spPr>
          <a:xfrm>
            <a:off x="7475456" y="3774068"/>
            <a:ext cx="4356660" cy="231564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7"/>
          <p:cNvSpPr txBox="1"/>
          <p:nvPr/>
        </p:nvSpPr>
        <p:spPr>
          <a:xfrm>
            <a:off x="8494005" y="474722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66" name="Google Shape;166;p7"/>
          <p:cNvSpPr txBox="1">
            <a:spLocks noGrp="1"/>
          </p:cNvSpPr>
          <p:nvPr>
            <p:ph type="body" idx="1"/>
          </p:nvPr>
        </p:nvSpPr>
        <p:spPr>
          <a:xfrm>
            <a:off x="376810" y="1334279"/>
            <a:ext cx="6686464"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600" b="1">
                <a:solidFill>
                  <a:srgbClr val="E84B36"/>
                </a:solidFill>
                <a:latin typeface="Arial"/>
                <a:ea typeface="Arial"/>
                <a:cs typeface="Arial"/>
                <a:sym typeface="Arial"/>
              </a:rPr>
              <a:t>Lorem Ipsum Dolor Sit Amet Consectetur Adipiscing</a:t>
            </a:r>
            <a:endParaRPr sz="2600" b="1">
              <a:solidFill>
                <a:srgbClr val="E84B36"/>
              </a:solidFill>
              <a:latin typeface="Arial"/>
              <a:ea typeface="Arial"/>
              <a:cs typeface="Arial"/>
              <a:sym typeface="Arial"/>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2000"/>
              <a:buNone/>
            </a:pPr>
            <a:r>
              <a:rPr lang="en-US" sz="1800">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lvl="0" indent="0" algn="l" rtl="0">
              <a:lnSpc>
                <a:spcPct val="100000"/>
              </a:lnSpc>
              <a:spcBef>
                <a:spcPts val="0"/>
              </a:spcBef>
              <a:spcAft>
                <a:spcPts val="0"/>
              </a:spcAft>
              <a:buSzPts val="2000"/>
              <a:buNone/>
            </a:pPr>
            <a:endParaRPr sz="1800">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2000" b="1">
                <a:solidFill>
                  <a:srgbClr val="15264B"/>
                </a:solidFill>
                <a:latin typeface="Arial"/>
                <a:ea typeface="Arial"/>
                <a:cs typeface="Arial"/>
                <a:sym typeface="Arial"/>
              </a:rPr>
              <a:t>Lorem Ipsum Dolor Sit Amet Consectetur Adipiscing</a:t>
            </a:r>
            <a:endParaRPr sz="2000" b="1">
              <a:solidFill>
                <a:srgbClr val="15264B"/>
              </a:solidFill>
            </a:endParaRPr>
          </a:p>
          <a:p>
            <a:pPr marL="0" lvl="0" indent="0" algn="l" rtl="0">
              <a:lnSpc>
                <a:spcPct val="100000"/>
              </a:lnSpc>
              <a:spcBef>
                <a:spcPts val="0"/>
              </a:spcBef>
              <a:spcAft>
                <a:spcPts val="0"/>
              </a:spcAft>
              <a:buSzPts val="3000"/>
              <a:buNone/>
            </a:pPr>
            <a:endParaRPr sz="1800" b="1">
              <a:solidFill>
                <a:schemeClr val="dk1"/>
              </a:solidFill>
              <a:latin typeface="Arial"/>
              <a:ea typeface="Arial"/>
              <a:cs typeface="Arial"/>
              <a:sym typeface="Arial"/>
            </a:endParaRPr>
          </a:p>
          <a:p>
            <a:pPr marL="0" lvl="0" indent="0" algn="l" rtl="0">
              <a:lnSpc>
                <a:spcPct val="100000"/>
              </a:lnSpc>
              <a:spcBef>
                <a:spcPts val="0"/>
              </a:spcBef>
              <a:spcAft>
                <a:spcPts val="0"/>
              </a:spcAft>
              <a:buSzPts val="3000"/>
              <a:buNone/>
            </a:pPr>
            <a:r>
              <a:rPr lang="en-US" sz="1800">
                <a:latin typeface="Arial"/>
                <a:ea typeface="Arial"/>
                <a:cs typeface="Arial"/>
                <a:sym typeface="Arial"/>
              </a:rPr>
              <a:t>Lorem ipsum dolor sit amet, consectetur adipiscing elit, sed do eiusmod tempor incididunt ut labore et dolore magna aliqua.</a:t>
            </a:r>
            <a:endParaRPr sz="1800" b="1">
              <a:solidFill>
                <a:schemeClr val="dk1"/>
              </a:solidFill>
              <a:latin typeface="Arial"/>
              <a:ea typeface="Arial"/>
              <a:cs typeface="Arial"/>
              <a:sym typeface="Arial"/>
            </a:endParaRPr>
          </a:p>
        </p:txBody>
      </p:sp>
      <p:sp>
        <p:nvSpPr>
          <p:cNvPr id="167" name="Google Shape;167;p7"/>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68" name="Google Shape;168;p7"/>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69" name="Google Shape;169;p7"/>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70" name="Google Shape;170;p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71" name="Google Shape;171;p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72" name="Google Shape;172;p7"/>
          <p:cNvGrpSpPr/>
          <p:nvPr/>
        </p:nvGrpSpPr>
        <p:grpSpPr>
          <a:xfrm>
            <a:off x="4066674" y="6601537"/>
            <a:ext cx="5233412" cy="70446"/>
            <a:chOff x="4033424" y="6601537"/>
            <a:chExt cx="5233412" cy="70446"/>
          </a:xfrm>
        </p:grpSpPr>
        <p:cxnSp>
          <p:nvCxnSpPr>
            <p:cNvPr id="173" name="Google Shape;173;p7"/>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74" name="Google Shape;174;p7"/>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p:nvPr/>
        </p:nvSpPr>
        <p:spPr>
          <a:xfrm>
            <a:off x="43119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0" name="Google Shape;180;p32"/>
          <p:cNvSpPr txBox="1"/>
          <p:nvPr/>
        </p:nvSpPr>
        <p:spPr>
          <a:xfrm>
            <a:off x="146927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81" name="Google Shape;181;p32"/>
          <p:cNvSpPr txBox="1"/>
          <p:nvPr/>
        </p:nvSpPr>
        <p:spPr>
          <a:xfrm>
            <a:off x="5131837"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82" name="Google Shape;182;p32"/>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83" name="Google Shape;183;p32"/>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84" name="Google Shape;184;p32"/>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85" name="Google Shape;185;p32"/>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186" name="Google Shape;186;p32"/>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87" name="Google Shape;187;p32"/>
          <p:cNvGrpSpPr/>
          <p:nvPr/>
        </p:nvGrpSpPr>
        <p:grpSpPr>
          <a:xfrm>
            <a:off x="4066674" y="6601537"/>
            <a:ext cx="5233412" cy="70446"/>
            <a:chOff x="4033424" y="6601537"/>
            <a:chExt cx="5233412" cy="70446"/>
          </a:xfrm>
        </p:grpSpPr>
        <p:cxnSp>
          <p:nvCxnSpPr>
            <p:cNvPr id="188" name="Google Shape;188;p32"/>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89" name="Google Shape;189;p32"/>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p:nvPr/>
        </p:nvSpPr>
        <p:spPr>
          <a:xfrm>
            <a:off x="7452352" y="1263718"/>
            <a:ext cx="4356660" cy="48259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 name="Google Shape;195;p33"/>
          <p:cNvSpPr txBox="1"/>
          <p:nvPr/>
        </p:nvSpPr>
        <p:spPr>
          <a:xfrm>
            <a:off x="8490436" y="3493224"/>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 GRAPHIC</a:t>
            </a:r>
            <a:endParaRPr sz="1400" b="0" i="0" u="none" strike="noStrike" cap="none">
              <a:solidFill>
                <a:srgbClr val="000000"/>
              </a:solidFill>
              <a:latin typeface="Arial"/>
              <a:ea typeface="Arial"/>
              <a:cs typeface="Arial"/>
              <a:sym typeface="Arial"/>
            </a:endParaRPr>
          </a:p>
        </p:txBody>
      </p:sp>
      <p:sp>
        <p:nvSpPr>
          <p:cNvPr id="196" name="Google Shape;196;p33"/>
          <p:cNvSpPr txBox="1"/>
          <p:nvPr/>
        </p:nvSpPr>
        <p:spPr>
          <a:xfrm>
            <a:off x="376808" y="1334279"/>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rgbClr val="E84B36"/>
                </a:solidFill>
                <a:latin typeface="Arial"/>
                <a:ea typeface="Arial"/>
                <a:cs typeface="Arial"/>
                <a:sym typeface="Arial"/>
              </a:rPr>
              <a:t>Lorem Ipsum Dolor Sit Amet Consectetur Adipiscing</a:t>
            </a:r>
            <a:endParaRPr sz="2600" b="1" i="0" u="none" strike="noStrike" cap="none">
              <a:solidFill>
                <a:srgbClr val="E84B36"/>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rgbClr val="15264B"/>
                </a:solidFill>
                <a:latin typeface="Arial"/>
                <a:ea typeface="Arial"/>
                <a:cs typeface="Arial"/>
                <a:sym typeface="Arial"/>
              </a:rPr>
              <a:t>Lorem Ipsum Dolor Sit Amet Consectetur Adipiscing</a:t>
            </a:r>
            <a:endParaRPr sz="2000" b="1" i="0" u="none" strike="noStrike" cap="none">
              <a:solidFill>
                <a:srgbClr val="15264B"/>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dk1"/>
              </a:solidFill>
              <a:latin typeface="Arial"/>
              <a:ea typeface="Arial"/>
              <a:cs typeface="Arial"/>
              <a:sym typeface="Arial"/>
            </a:endParaRPr>
          </a:p>
        </p:txBody>
      </p:sp>
      <p:sp>
        <p:nvSpPr>
          <p:cNvPr id="197" name="Google Shape;197;p33"/>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8" name="Google Shape;198;p33"/>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199" name="Google Shape;199;p33"/>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00" name="Google Shape;200;p33"/>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01" name="Google Shape;201;p33"/>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02" name="Google Shape;202;p33"/>
          <p:cNvGrpSpPr/>
          <p:nvPr/>
        </p:nvGrpSpPr>
        <p:grpSpPr>
          <a:xfrm>
            <a:off x="4066674" y="6601537"/>
            <a:ext cx="5233412" cy="70446"/>
            <a:chOff x="4033424" y="6601537"/>
            <a:chExt cx="5233412" cy="70446"/>
          </a:xfrm>
        </p:grpSpPr>
        <p:cxnSp>
          <p:nvCxnSpPr>
            <p:cNvPr id="203" name="Google Shape;203;p33"/>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04" name="Google Shape;204;p33"/>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2266934" y="1458134"/>
            <a:ext cx="7658130" cy="368842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p8"/>
          <p:cNvSpPr txBox="1"/>
          <p:nvPr/>
        </p:nvSpPr>
        <p:spPr>
          <a:xfrm>
            <a:off x="4548417" y="3123892"/>
            <a:ext cx="309516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CHART / GRAPH</a:t>
            </a:r>
            <a:endParaRPr sz="1400" b="0" i="0" u="none" strike="noStrike" cap="none">
              <a:solidFill>
                <a:srgbClr val="000000"/>
              </a:solidFill>
              <a:latin typeface="Arial"/>
              <a:ea typeface="Arial"/>
              <a:cs typeface="Arial"/>
              <a:sym typeface="Arial"/>
            </a:endParaRPr>
          </a:p>
        </p:txBody>
      </p:sp>
      <p:sp>
        <p:nvSpPr>
          <p:cNvPr id="211" name="Google Shape;211;p8"/>
          <p:cNvSpPr txBox="1"/>
          <p:nvPr/>
        </p:nvSpPr>
        <p:spPr>
          <a:xfrm>
            <a:off x="583914" y="5464730"/>
            <a:ext cx="11024170" cy="6541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1600" b="0" i="0" u="none" strike="noStrike" cap="none">
                <a:solidFill>
                  <a:schemeClr val="dk1"/>
                </a:solidFill>
                <a:latin typeface="Arial"/>
                <a:ea typeface="Arial"/>
                <a:cs typeface="Arial"/>
                <a:sym typeface="Arial"/>
              </a:rPr>
              <a:t>(Short commentary or relevant information about the contents of the chart/graph.)</a:t>
            </a:r>
            <a:endParaRPr sz="1600" b="0" i="0" u="none" strike="noStrike" cap="none">
              <a:solidFill>
                <a:srgbClr val="000000"/>
              </a:solidFill>
              <a:latin typeface="Arial"/>
              <a:ea typeface="Arial"/>
              <a:cs typeface="Arial"/>
              <a:sym typeface="Arial"/>
            </a:endParaRPr>
          </a:p>
        </p:txBody>
      </p:sp>
      <p:sp>
        <p:nvSpPr>
          <p:cNvPr id="212" name="Google Shape;212;p8"/>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13" name="Google Shape;213;p8"/>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Slide Title</a:t>
            </a:r>
            <a:endParaRPr sz="2400" b="0" i="0" u="none" strike="noStrike" cap="none">
              <a:solidFill>
                <a:schemeClr val="lt1"/>
              </a:solidFill>
              <a:latin typeface="Arial"/>
              <a:ea typeface="Arial"/>
              <a:cs typeface="Arial"/>
              <a:sym typeface="Arial"/>
            </a:endParaRPr>
          </a:p>
        </p:txBody>
      </p:sp>
      <p:pic>
        <p:nvPicPr>
          <p:cNvPr id="214" name="Google Shape;214;p8"/>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15" name="Google Shape;215;p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16" name="Google Shape;216;p8"/>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17" name="Google Shape;217;p8"/>
          <p:cNvGrpSpPr/>
          <p:nvPr/>
        </p:nvGrpSpPr>
        <p:grpSpPr>
          <a:xfrm>
            <a:off x="4066674" y="6601537"/>
            <a:ext cx="5233412" cy="70446"/>
            <a:chOff x="4033424" y="6601537"/>
            <a:chExt cx="5233412" cy="70446"/>
          </a:xfrm>
        </p:grpSpPr>
        <p:cxnSp>
          <p:nvCxnSpPr>
            <p:cNvPr id="218" name="Google Shape;218;p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1" y="0"/>
            <a:ext cx="12191998" cy="4617387"/>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5" name="Google Shape;225;p34"/>
          <p:cNvSpPr txBox="1"/>
          <p:nvPr/>
        </p:nvSpPr>
        <p:spPr>
          <a:xfrm>
            <a:off x="3513296" y="2308693"/>
            <a:ext cx="5140526"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 (Send to back so Block I is not covered.)</a:t>
            </a:r>
            <a:endParaRPr sz="1400" b="0" i="0" u="none" strike="noStrike" cap="none">
              <a:solidFill>
                <a:srgbClr val="000000"/>
              </a:solidFill>
              <a:latin typeface="Arial"/>
              <a:ea typeface="Arial"/>
              <a:cs typeface="Arial"/>
              <a:sym typeface="Arial"/>
            </a:endParaRPr>
          </a:p>
        </p:txBody>
      </p:sp>
      <p:sp>
        <p:nvSpPr>
          <p:cNvPr id="226" name="Google Shape;226;p34"/>
          <p:cNvSpPr txBox="1"/>
          <p:nvPr/>
        </p:nvSpPr>
        <p:spPr>
          <a:xfrm>
            <a:off x="376810" y="5050453"/>
            <a:ext cx="11177400" cy="9534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(Text here relevant to the photo for a larger call out on a given idea or message.) </a:t>
            </a:r>
            <a:endParaRPr/>
          </a:p>
          <a:p>
            <a:pPr marL="0" marR="0" lvl="0" indent="0" algn="ctr" rtl="0">
              <a:lnSpc>
                <a:spcPct val="100000"/>
              </a:lnSpc>
              <a:spcBef>
                <a:spcPts val="0"/>
              </a:spcBef>
              <a:spcAft>
                <a:spcPts val="0"/>
              </a:spcAft>
              <a:buClr>
                <a:schemeClr val="dk1"/>
              </a:buClr>
              <a:buSzPts val="2000"/>
              <a:buFont typeface="Helvetica Neue Light"/>
              <a:buNone/>
            </a:pPr>
            <a:r>
              <a:rPr lang="en-US" sz="2200" b="0" i="0" u="none" strike="noStrike" cap="none">
                <a:solidFill>
                  <a:schemeClr val="dk1"/>
                </a:solidFill>
                <a:latin typeface="Arial"/>
                <a:ea typeface="Arial"/>
                <a:cs typeface="Arial"/>
                <a:sym typeface="Arial"/>
              </a:rPr>
              <a:t>(Keep this text simple and short on one or two lines.)</a:t>
            </a:r>
            <a:endParaRPr sz="2200" b="0" i="0" u="none" strike="noStrike" cap="none">
              <a:solidFill>
                <a:srgbClr val="000000"/>
              </a:solidFill>
              <a:latin typeface="Arial"/>
              <a:ea typeface="Arial"/>
              <a:cs typeface="Arial"/>
              <a:sym typeface="Arial"/>
            </a:endParaRPr>
          </a:p>
        </p:txBody>
      </p:sp>
      <p:pic>
        <p:nvPicPr>
          <p:cNvPr id="227" name="Google Shape;227;p34"/>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28" name="Google Shape;228;p34"/>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rial"/>
                <a:ea typeface="Arial"/>
                <a:cs typeface="Arial"/>
                <a:sym typeface="Arial"/>
              </a:rPr>
              <a:t>GRAINGER ENGINEERING</a:t>
            </a:r>
            <a:endParaRPr/>
          </a:p>
        </p:txBody>
      </p:sp>
      <p:sp>
        <p:nvSpPr>
          <p:cNvPr id="229" name="Google Shape;229;p34"/>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230" name="Google Shape;230;p34"/>
          <p:cNvGrpSpPr/>
          <p:nvPr/>
        </p:nvGrpSpPr>
        <p:grpSpPr>
          <a:xfrm>
            <a:off x="4066674" y="6601537"/>
            <a:ext cx="5233412" cy="70446"/>
            <a:chOff x="4033424" y="6601537"/>
            <a:chExt cx="5233412" cy="70446"/>
          </a:xfrm>
        </p:grpSpPr>
        <p:cxnSp>
          <p:nvCxnSpPr>
            <p:cNvPr id="231" name="Google Shape;231;p34"/>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232" name="Google Shape;232;p34"/>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236"/>
        <p:cNvGrpSpPr/>
        <p:nvPr/>
      </p:nvGrpSpPr>
      <p:grpSpPr>
        <a:xfrm>
          <a:off x="0" y="0"/>
          <a:ext cx="0" cy="0"/>
          <a:chOff x="0" y="0"/>
          <a:chExt cx="0" cy="0"/>
        </a:xfrm>
      </p:grpSpPr>
      <p:sp>
        <p:nvSpPr>
          <p:cNvPr id="237" name="Google Shape;237;p35"/>
          <p:cNvSpPr txBox="1"/>
          <p:nvPr/>
        </p:nvSpPr>
        <p:spPr>
          <a:xfrm>
            <a:off x="5131837" y="1010620"/>
            <a:ext cx="6422373" cy="482110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Lorem ipsum dolor sit amet consectetur adipiscing elit</a:t>
            </a: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 Ut enim ad minim veniam, quis nostrud exercitation ullamco laboris nisi ut aliquip ex ea commodo consequat. </a:t>
            </a:r>
            <a:endParaRPr/>
          </a:p>
          <a:p>
            <a:pPr marL="0" marR="0" lvl="0" indent="0" algn="l" rtl="0">
              <a:lnSpc>
                <a:spcPct val="100000"/>
              </a:lnSpc>
              <a:spcBef>
                <a:spcPts val="0"/>
              </a:spcBef>
              <a:spcAft>
                <a:spcPts val="0"/>
              </a:spcAft>
              <a:buNone/>
            </a:pP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a:solidFill>
                  <a:schemeClr val="lt1"/>
                </a:solidFill>
                <a:latin typeface="Arial"/>
                <a:ea typeface="Arial"/>
                <a:cs typeface="Arial"/>
                <a:sym typeface="Arial"/>
              </a:rPr>
              <a:t>Lorem ipsum dolor sit amet consectetur adipiscing</a:t>
            </a:r>
            <a:endParaRPr sz="20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sp>
        <p:nvSpPr>
          <p:cNvPr id="238" name="Google Shape;238;p35"/>
          <p:cNvSpPr/>
          <p:nvPr/>
        </p:nvSpPr>
        <p:spPr>
          <a:xfrm>
            <a:off x="420782" y="344953"/>
            <a:ext cx="4109890" cy="595424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p35"/>
          <p:cNvSpPr txBox="1"/>
          <p:nvPr/>
        </p:nvSpPr>
        <p:spPr>
          <a:xfrm>
            <a:off x="1335481" y="3236505"/>
            <a:ext cx="228049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5A5A5"/>
                </a:solidFill>
                <a:latin typeface="Arial"/>
                <a:ea typeface="Arial"/>
                <a:cs typeface="Arial"/>
                <a:sym typeface="Arial"/>
              </a:rPr>
              <a:t>IMAGE</a:t>
            </a:r>
            <a:endParaRPr sz="1400" b="0" i="0" u="none" strike="noStrike" cap="none">
              <a:solidFill>
                <a:srgbClr val="000000"/>
              </a:solidFill>
              <a:latin typeface="Arial"/>
              <a:ea typeface="Arial"/>
              <a:cs typeface="Arial"/>
              <a:sym typeface="Arial"/>
            </a:endParaRPr>
          </a:p>
        </p:txBody>
      </p:sp>
      <p:pic>
        <p:nvPicPr>
          <p:cNvPr id="240" name="Google Shape;240;p35"/>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241" name="Google Shape;241;p35"/>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42" name="Google Shape;242;p35"/>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43" name="Google Shape;243;p35"/>
          <p:cNvGrpSpPr/>
          <p:nvPr/>
        </p:nvGrpSpPr>
        <p:grpSpPr>
          <a:xfrm>
            <a:off x="4066674" y="6601537"/>
            <a:ext cx="5233412" cy="70446"/>
            <a:chOff x="4033424" y="6601537"/>
            <a:chExt cx="5233412" cy="70446"/>
          </a:xfrm>
        </p:grpSpPr>
        <p:cxnSp>
          <p:nvCxnSpPr>
            <p:cNvPr id="244" name="Google Shape;244;p35"/>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45" name="Google Shape;245;p35"/>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descr="Text, letter, whiteboard&#10;&#10;Description automatically generated"/>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1" name="Google Shape;251;p36"/>
          <p:cNvSpPr/>
          <p:nvPr/>
        </p:nvSpPr>
        <p:spPr>
          <a:xfrm>
            <a:off x="0" y="0"/>
            <a:ext cx="6096000" cy="68580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2" name="Google Shape;252;p36"/>
          <p:cNvSpPr txBox="1"/>
          <p:nvPr/>
        </p:nvSpPr>
        <p:spPr>
          <a:xfrm>
            <a:off x="591671" y="3581984"/>
            <a:ext cx="4867835" cy="19389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(Slide the blue box and the text left or right to fit over your background image. Use this text box for a call out or caption to the image.)</a:t>
            </a:r>
            <a:endParaRPr sz="2400" b="1" i="0" u="none" strike="noStrike" cap="none">
              <a:solidFill>
                <a:schemeClr val="lt1"/>
              </a:solidFill>
              <a:latin typeface="Arial"/>
              <a:ea typeface="Arial"/>
              <a:cs typeface="Arial"/>
              <a:sym typeface="Arial"/>
            </a:endParaRPr>
          </a:p>
        </p:txBody>
      </p:sp>
      <p:sp>
        <p:nvSpPr>
          <p:cNvPr id="253" name="Google Shape;253;p36"/>
          <p:cNvSpPr txBox="1"/>
          <p:nvPr/>
        </p:nvSpPr>
        <p:spPr>
          <a:xfrm>
            <a:off x="701965" y="1422585"/>
            <a:ext cx="4608944"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IMAGE</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(Use a photo for the entire slide like the example shown here. Send the photo to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the back so the Block I and footer text </a:t>
            </a:r>
            <a:endParaRPr/>
          </a:p>
          <a:p>
            <a:pPr marL="0" marR="0" lvl="0" indent="0" algn="ctr"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is not covered.)</a:t>
            </a:r>
            <a:endParaRPr sz="1400" b="0" i="0" u="none" strike="noStrike" cap="none">
              <a:solidFill>
                <a:schemeClr val="lt1"/>
              </a:solidFill>
              <a:latin typeface="Arial"/>
              <a:ea typeface="Arial"/>
              <a:cs typeface="Arial"/>
              <a:sym typeface="Arial"/>
            </a:endParaRPr>
          </a:p>
        </p:txBody>
      </p:sp>
      <p:pic>
        <p:nvPicPr>
          <p:cNvPr id="254" name="Google Shape;254;p36"/>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55" name="Google Shape;255;p36"/>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56" name="Google Shape;256;p36"/>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57" name="Google Shape;257;p36"/>
          <p:cNvGrpSpPr/>
          <p:nvPr/>
        </p:nvGrpSpPr>
        <p:grpSpPr>
          <a:xfrm>
            <a:off x="4066674" y="6601537"/>
            <a:ext cx="5233412" cy="70446"/>
            <a:chOff x="4033424" y="6601537"/>
            <a:chExt cx="5233412" cy="70446"/>
          </a:xfrm>
        </p:grpSpPr>
        <p:cxnSp>
          <p:nvCxnSpPr>
            <p:cNvPr id="258" name="Google Shape;258;p36"/>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59" name="Google Shape;259;p36"/>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37"/>
          <p:cNvSpPr txBox="1"/>
          <p:nvPr/>
        </p:nvSpPr>
        <p:spPr>
          <a:xfrm>
            <a:off x="2275515" y="1778140"/>
            <a:ext cx="7640969" cy="433420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(Closing slide option. Suggestions for last slide)</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26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Summary</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Thank You</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Questions</a:t>
            </a:r>
            <a:endParaRPr/>
          </a:p>
          <a:p>
            <a:pPr marL="0" marR="0" lvl="0" indent="0" algn="l" rtl="0">
              <a:lnSpc>
                <a:spcPct val="100000"/>
              </a:lnSpc>
              <a:spcBef>
                <a:spcPts val="0"/>
              </a:spcBef>
              <a:spcAft>
                <a:spcPts val="0"/>
              </a:spcAft>
              <a:buNone/>
            </a:pPr>
            <a:r>
              <a:rPr lang="en-US" sz="2600" b="1" i="0" u="none" strike="noStrike" cap="none">
                <a:solidFill>
                  <a:schemeClr val="lt1"/>
                </a:solidFill>
                <a:latin typeface="Arial"/>
                <a:ea typeface="Arial"/>
                <a:cs typeface="Arial"/>
                <a:sym typeface="Arial"/>
              </a:rPr>
              <a:t>Contact Information</a:t>
            </a:r>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8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chemeClr val="lt1"/>
                </a:solidFill>
                <a:latin typeface="Arial"/>
                <a:ea typeface="Arial"/>
                <a:cs typeface="Arial"/>
                <a:sym typeface="Arial"/>
              </a:rPr>
              <a:t>Lorem ipsum dolor sit amet, consectetur adipiscing elit, sed do eiusmod tempor incididunt ut labore et dolore magna aliqua.</a:t>
            </a:r>
            <a:endParaRPr sz="1800" b="1" i="0" u="none" strike="noStrike" cap="none">
              <a:solidFill>
                <a:schemeClr val="lt1"/>
              </a:solidFill>
              <a:latin typeface="Arial"/>
              <a:ea typeface="Arial"/>
              <a:cs typeface="Arial"/>
              <a:sym typeface="Arial"/>
            </a:endParaRPr>
          </a:p>
        </p:txBody>
      </p:sp>
      <p:pic>
        <p:nvPicPr>
          <p:cNvPr id="265" name="Google Shape;265;p3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p:cNvGrpSpPr/>
          <p:nvPr/>
        </p:nvGrpSpPr>
        <p:grpSpPr>
          <a:xfrm>
            <a:off x="4066674" y="6601537"/>
            <a:ext cx="5233412" cy="70446"/>
            <a:chOff x="4033424" y="6601537"/>
            <a:chExt cx="5233412" cy="70446"/>
          </a:xfrm>
        </p:grpSpPr>
        <p:cxnSp>
          <p:nvCxnSpPr>
            <p:cNvPr id="269" name="Google Shape;269;p3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27"/>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a:solidFill>
                  <a:schemeClr val="lt1"/>
                </a:solidFill>
                <a:latin typeface="Arial"/>
                <a:ea typeface="Arial"/>
                <a:cs typeface="Arial"/>
                <a:sym typeface="Arial"/>
              </a:rPr>
              <a:t>HEADING</a:t>
            </a:r>
            <a:endParaRPr sz="1400" b="0" i="0" u="none" strike="noStrike" cap="none">
              <a:solidFill>
                <a:srgbClr val="000000"/>
              </a:solidFill>
              <a:latin typeface="Arial"/>
              <a:ea typeface="Arial"/>
              <a:cs typeface="Arial"/>
              <a:sym typeface="Arial"/>
            </a:endParaRPr>
          </a:p>
        </p:txBody>
      </p:sp>
      <p:sp>
        <p:nvSpPr>
          <p:cNvPr id="90" name="Google Shape;90;p27"/>
          <p:cNvSpPr txBox="1"/>
          <p:nvPr/>
        </p:nvSpPr>
        <p:spPr>
          <a:xfrm>
            <a:off x="1441528" y="3232230"/>
            <a:ext cx="9308941" cy="20928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Lorem ipsum dolor sit amet, consectetur adipiscing elit. Nullam ut orci condimentum, commodo dui quis, faucibus mauris. Praesent nec sapien sed nunc sollicitudin.</a:t>
            </a:r>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Arial"/>
                <a:ea typeface="Arial"/>
                <a:cs typeface="Arial"/>
                <a:sym typeface="Arial"/>
              </a:rPr>
              <a:t> </a:t>
            </a:r>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(Main section divider slide option one.)</a:t>
            </a:r>
            <a:endParaRPr sz="1800" b="0" i="0" u="none" strike="noStrike" cap="none">
              <a:solidFill>
                <a:schemeClr val="lt1"/>
              </a:solidFill>
              <a:latin typeface="Arial"/>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txBox="1"/>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r>
              <a:rPr lang="en-US" sz="6600" b="1" dirty="0">
                <a:solidFill>
                  <a:schemeClr val="lt1"/>
                </a:solidFill>
              </a:rPr>
              <a:t>Questions</a:t>
            </a:r>
            <a:r>
              <a:rPr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rial"/>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3977</Words>
  <Application>Microsoft Office PowerPoint</Application>
  <PresentationFormat>Widescreen</PresentationFormat>
  <Paragraphs>517</Paragraphs>
  <Slides>64</Slides>
  <Notes>64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Cambria Math</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163</cp:revision>
  <dcterms:created xsi:type="dcterms:W3CDTF">2019-01-14T22:06:33Z</dcterms:created>
  <dcterms:modified xsi:type="dcterms:W3CDTF">2026-04-13T13:49:31Z</dcterms:modified>
</cp:coreProperties>
</file>