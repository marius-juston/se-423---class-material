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413" r:id="rId3"/>
    <p:sldId id="414" r:id="rId4"/>
    <p:sldId id="415" r:id="rId5"/>
    <p:sldId id="419" r:id="rId6"/>
    <p:sldId id="416" r:id="rId7"/>
    <p:sldId id="417" r:id="rId8"/>
    <p:sldId id="420" r:id="rId9"/>
    <p:sldId id="418" r:id="rId10"/>
    <p:sldId id="423" r:id="rId11"/>
    <p:sldId id="424" r:id="rId12"/>
    <p:sldId id="422" r:id="rId13"/>
    <p:sldId id="429" r:id="rId14"/>
    <p:sldId id="430" r:id="rId15"/>
    <p:sldId id="426" r:id="rId16"/>
    <p:sldId id="421" r:id="rId17"/>
    <p:sldId id="427" r:id="rId18"/>
    <p:sldId id="428" r:id="rId19"/>
    <p:sldId id="432" r:id="rId20"/>
    <p:sldId id="433" r:id="rId21"/>
    <p:sldId id="434" r:id="rId22"/>
    <p:sldId id="435" r:id="rId23"/>
    <p:sldId id="436" r:id="rId24"/>
    <p:sldId id="271" r:id="rId25"/>
    <p:sldId id="27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174" autoAdjust="0"/>
  </p:normalViewPr>
  <p:slideViewPr>
    <p:cSldViewPr snapToGrid="0">
      <p:cViewPr varScale="1">
        <p:scale>
          <a:sx n="126" d="100"/>
          <a:sy n="126" d="100"/>
        </p:scale>
        <p:origin x="10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B19DB81-4729-98FC-E458-7F9DB51A8F3F}"/>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CC19618D-92C6-51BB-0B16-2ABB508B12B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18BDADDE-BF1C-F448-5EA5-45E2EFA424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2837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58E1CA8-DC30-69EC-773E-79655D687C10}"/>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9E90EB6F-6444-3508-7976-83BD840402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B0AE006-73F2-3778-1B2C-77FE9F95E1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2350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4005F0A-711D-5397-46EE-8D8187ECE29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B15BF99-949F-1A05-76C5-7979998031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latin typeface="Atkinson Hyperlegible Next"/>
                <a:ea typeface="Arial"/>
                <a:cs typeface="Arial"/>
                <a:sym typeface="Arial"/>
              </a:rPr>
              <a:t>This is like if I told you to walk blind folded across the room, you might make it </a:t>
            </a:r>
          </a:p>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48E1E57D-932C-F332-5FCE-4CA06538F1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2201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F606F4-F12B-AA1A-4AE5-C14FB67EF41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1E52C23-3BCA-AC62-A051-F669687A6E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3C302E5-F1CE-6256-4AC1-44BEF4E967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6440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19E1271-C81B-0CF2-152B-F7E956C86B7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094480E-B5CF-7531-9A89-008F5558F6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09A53FC-57A6-128B-4C06-B9DAF6A946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4303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ACA15C-67A8-E991-DC0E-4BFA5C7DBA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6CD006-C9C4-E8CF-D7D7-519D6F06BD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F7EE57D-DFE3-9619-2EED-E794A605A4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805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FDF30A-724B-7DBA-DC34-952316D0FCB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9F40B68-C1CD-A686-A789-C9762C6E14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0F1E883-2E5E-7A51-1AC5-DCA1980070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4223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BA92B6C-755D-453F-7A3A-40F07326977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19F2368-94BD-2433-ACAD-D2004B7F7C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9365F62-8F6B-7ACF-8348-2F531071B4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27649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936368-8B9B-62FD-4EB3-D3693B5021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6E65680-A898-9039-C5CF-8828A20427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7F49F49-F475-A461-A975-F8B39D5463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4601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87EA024-8A0C-E8DC-FAB5-AF1737B618A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C198969-A9E3-C698-F728-5107A27626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8CB46DA-1040-D7AB-D70F-6373F60551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2762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7FFE1A4-DC13-2090-0906-D378B33258C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187E37-BDE5-D0FC-F130-9C46D00F03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6C5CBEF-6FEF-5CDE-039B-88287A5C4E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5687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71855E-B7C9-E37C-A39E-C9B09AD4C08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B35525-53B1-E84E-646C-BB4C2DC2BE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FB5DB5A-7AC3-318B-6876-ABA0E351E5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6413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78D5716-6D15-F7BE-3AA8-774E53C7DE2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99B901BF-E9C7-6D11-12BA-822EF325F5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49E76DAA-4221-3752-6A67-BCBBF4F30F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6438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974BFD-8321-21A0-5BBD-8C5E85ECC77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D76C27E-2653-0EC9-4445-ECC08EF1D1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4312651-DB47-E185-54C9-CBE27DC48B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9883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9DB72CA-3B16-E9BF-467A-0CA29287051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4C3EAE-8BF1-F92E-F202-4817497323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2EE69BD-15B8-AB0D-67DA-198AAC82B4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0561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D25509-1268-D613-9B93-B099C308CAB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C0FE4D2-070C-7A63-C56C-38FE763982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BA1C6D9-EE9E-C93B-7332-90FC9A19B9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5415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F49C181-3F6C-9B19-AC81-7F7499FA68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1B97933-D067-94AB-C69C-C741D88EA8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16AB8F3-4B80-13B0-1740-723111DCAE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6168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2C69064-7A8C-F8B2-5F84-6AD20BA42F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440315A-6A03-30F6-9D5F-60BA0C3009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C38FDF1-C159-49AF-6F8D-2B66C0E37D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7974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A156972-0005-EA5F-960B-985E8819B9C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C6D156D-877B-6831-7D2A-876C919523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5C8D806-54CC-5060-D047-4DBC1B7EF1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1483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488B42-DC5C-2E91-7704-03B7C2DCAD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E35649-FF02-40CB-F399-A2726950C7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8D60CE8-23DD-2BE5-F688-E7FC525E28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0225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06C1A01-C170-EDD4-3492-AD2582CAC0D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5ECA017-3FA8-80A4-FF2C-ADC82A2A52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0D6F8DC-7B0E-5619-E71D-C4AFE1B5D0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924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marius-juston.github.io/SE-423---Class-Material/Homeworks/LabVIEW2.pdf" TargetMode="External"/><Relationship Id="rId4" Type="http://schemas.openxmlformats.org/officeDocument/2006/relationships/hyperlink" Target="https://marius-juston.github.io/SE-423---Class-Material/Homeworks/HW3.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en.wikipedia.org/wiki/Proportional%E2%80%93integral%E2%80%93derivative_controller"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www.mathworks.com/discovery/pid-control.html" TargetMode="External"/><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mathworks.com/videos/understanding-pid-control-part-3-expanding-beyond-a-simple-derivative-1531120808026.html" TargetMode="External"/><Relationship Id="rId5" Type="http://schemas.openxmlformats.org/officeDocument/2006/relationships/hyperlink" Target="https://www.mathworks.com/videos/understanding-pid-control-part-2-expanding-beyond-a-simple-integral-1528310418260.html" TargetMode="External"/><Relationship Id="rId4" Type="http://schemas.openxmlformats.org/officeDocument/2006/relationships/hyperlink" Target="https://www.mathworks.com/videos/understanding-pid-control-part-1-what-is-pid-control--1527089264373.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www.mathworks.com/videos/understanding-pid-control-part-2-expanding-beyond-a-simple-integral-1528310418260.html"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www.mathworks.com/videos/understanding-pid-control-part-4-a-pid-tuning-guide-1531124725727.html" TargetMode="Externa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hyperlink" Target="https://en.wikipedia.org/wiki/Proportional%E2%80%93integral%E2%80%93derivative_controller#Manual_tuning"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8.gif"/><Relationship Id="rId5" Type="http://schemas.openxmlformats.org/officeDocument/2006/relationships/image" Target="../media/image17.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hyperlink" Target="https://www.luisllamas.es/en/pid-controller-simulator/"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11: PID Control</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February 25</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4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26, 9AM</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4"/>
              </a:rPr>
              <a:t>homework 3 </a:t>
            </a:r>
            <a:r>
              <a:rPr lang="en-US" sz="1800" dirty="0">
                <a:latin typeface="Atkinson Hyperlegible Next"/>
                <a:ea typeface="Arial"/>
                <a:cs typeface="Arial"/>
                <a:sym typeface="Arial"/>
              </a:rPr>
              <a:t>Ex 1, 2, 3 &amp; 4 are due </a:t>
            </a:r>
            <a:r>
              <a:rPr lang="en-US" sz="1800" b="1" dirty="0">
                <a:latin typeface="Atkinson Hyperlegible Next"/>
                <a:ea typeface="Arial"/>
                <a:cs typeface="Arial"/>
                <a:sym typeface="Arial"/>
              </a:rPr>
              <a:t>March 10,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4"/>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4"/>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LabVIEW:</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5"/>
              </a:rPr>
              <a:t>LabVIEW 2</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26, 5PM</a:t>
            </a: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6">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4B667AEC-47C7-8F8F-65BF-CECA1157D71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123F9AA-E2AC-D17C-4C54-331AEAEC9B78}"/>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92C9DDC-991A-6832-EF33-FBC87E37BD3B}"/>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57166BFD-1C4E-3599-89E6-8E3AEA547CF8}"/>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 questions?</a:t>
              </a:r>
              <a:endParaRPr sz="1800" b="0" i="0" u="none" strike="noStrike" cap="none" dirty="0">
                <a:solidFill>
                  <a:schemeClr val="lt1"/>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96DF54E6-784E-64BC-7DC6-25319381403F}"/>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832AD2A6-D4ED-0F91-E70D-36D565E2A2C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4750D2F9-8B53-A1CC-1604-8D8421E0F8E3}"/>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38D87247-9792-F519-72B6-DEECEE26153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D5973BE6-A103-F3D1-2B70-3FAB31B103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D0BDE8C2-4D12-75B0-5A0B-EB178A1EF66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90A406C3-C5CA-6DA4-4E7F-6642548A81A4}"/>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3F57968C-4DA0-2550-0B92-73DBE8F055E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C8C39FF9-17A5-14E2-53C8-55B0E5098276}"/>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943786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09E514A9-3C3C-09C6-E5E8-8D3276292161}"/>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9681138-CA23-CFD8-EC55-97EA10C7FF20}"/>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i="0" lang="en-US" sz="4500" b="1" dirty="0">
                <a:solidFill>
                  <a:srgbClr val="15264B"/>
                </a:solidFill>
              </a:rPr>
              <a:t>PID </a:t>
            </a:r>
            <a:r>
              <a:rPr lang="en-US" sz="4500" b="1" i="0" u="none" strike="noStrike" cap="none" dirty="0">
                <a:solidFill>
                  <a:srgbClr val="15264B"/>
                </a:solidFill>
                <a:latin typeface="Atkinson Hyperlegible Next"/>
                <a:ea typeface="Arial"/>
                <a:cs typeface="Arial"/>
                <a:sym typeface="Arial"/>
              </a:rPr>
              <a:t>Controller</a:t>
            </a:r>
            <a:endParaRPr i="0" b="0" sz="1400" lang="en-US" dirty="0">
              <a:solidFill>
                <a:srgbClr val="000000"/>
              </a:solidFill>
            </a:endParaRPr>
          </a:p>
        </p:txBody>
      </p:sp>
      <p:grpSp>
        <p:nvGrpSpPr>
          <p:cNvPr id="105" name="Google Shape;105;p28">
            <a:extLst>
              <a:ext uri="{FF2B5EF4-FFF2-40B4-BE49-F238E27FC236}">
                <a16:creationId xmlns:a16="http://schemas.microsoft.com/office/drawing/2014/main" id="{A1C5EB5E-4781-9A30-84AC-16B465F11E04}"/>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AAF129D5-D7F1-4008-166E-3ADA96E0D322}"/>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A22164CC-C094-FA9A-2375-65B5ACAA95F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7815F2B1-22DC-627B-D713-B4AC6A62C08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6CCF5F19-6347-DDF3-4432-DA1422B99B5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2B460FAA-3E29-6215-A566-785C3D6C5F2D}"/>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39757870-5D2F-FCB6-B2ED-F916BAC76705}"/>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72B0E049-B20A-6E61-600B-8ED9FB23E4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32E0C7D2-8A76-1586-EECB-0D180B200A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38695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41BD6B5-8573-BDD5-7183-95E5615C588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7DE27B1-837D-3DCD-0724-4155E296980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There are 2 types of controllers:</a:t>
            </a: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a:p>
            <a:pPr indent="-457200">
              <a:lnSpc>
                <a:spcPct val="100000"/>
              </a:lnSpc>
              <a:spcBef>
                <a:spcPts val="0"/>
              </a:spcBef>
              <a:buSzPts val="3000"/>
            </a:pPr>
            <a:r>
              <a:rPr lang="en-US" b="1" dirty="0">
                <a:latin typeface="Atkinson Hyperlegible Next"/>
                <a:ea typeface="Arial"/>
                <a:cs typeface="Arial"/>
                <a:sym typeface="Arial"/>
              </a:rPr>
              <a:t>Open-Loop </a:t>
            </a:r>
            <a:r>
              <a:rPr lang="en-US" dirty="0">
                <a:latin typeface="Atkinson Hyperlegible Next"/>
                <a:ea typeface="Arial"/>
                <a:cs typeface="Arial"/>
                <a:sym typeface="Arial"/>
              </a:rPr>
              <a:t>systems: Directly dictates the output. </a:t>
            </a:r>
          </a:p>
          <a:p>
            <a:pPr indent="-457200">
              <a:lnSpc>
                <a:spcPct val="100000"/>
              </a:lnSpc>
              <a:spcBef>
                <a:spcPts val="0"/>
              </a:spcBef>
              <a:buSzPts val="3000"/>
            </a:pPr>
            <a:endParaRPr lang="en-US" dirty="0">
              <a:latin typeface="Atkinson Hyperlegible Next"/>
              <a:ea typeface="Arial"/>
              <a:cs typeface="Arial"/>
              <a:sym typeface="Arial"/>
            </a:endParaRPr>
          </a:p>
          <a:p>
            <a:pPr marL="0" indent="0">
              <a:lnSpc>
                <a:spcPct val="100000"/>
              </a:lnSpc>
              <a:spcBef>
                <a:spcPts val="0"/>
              </a:spcBef>
              <a:buSzPts val="3000"/>
              <a:buNone/>
            </a:pPr>
            <a:r>
              <a:rPr lang="en-US" b="1" dirty="0">
                <a:latin typeface="Atkinson Hyperlegible Next"/>
                <a:ea typeface="Arial"/>
                <a:cs typeface="Arial"/>
                <a:sym typeface="Arial"/>
              </a:rPr>
              <a:t>Problems?</a:t>
            </a:r>
          </a:p>
          <a:p>
            <a:pPr marL="0" indent="0">
              <a:lnSpc>
                <a:spcPct val="100000"/>
              </a:lnSpc>
              <a:spcBef>
                <a:spcPts val="0"/>
              </a:spcBef>
              <a:buSzPts val="3000"/>
              <a:buNone/>
            </a:pPr>
            <a:r>
              <a:rPr lang="en-US" dirty="0">
                <a:latin typeface="Atkinson Hyperlegible Next"/>
                <a:ea typeface="Arial"/>
                <a:cs typeface="Arial"/>
                <a:sym typeface="Arial"/>
              </a:rPr>
              <a:t>Any deviation / noise will cause you to not reach your target.</a:t>
            </a:r>
          </a:p>
          <a:p>
            <a:pPr indent="-457200">
              <a:lnSpc>
                <a:spcPct val="100000"/>
              </a:lnSpc>
              <a:spcBef>
                <a:spcPts val="0"/>
              </a:spcBef>
              <a:buSzPts val="3000"/>
            </a:pPr>
            <a:endParaRPr lang="en-US" dirty="0">
              <a:latin typeface="Atkinson Hyperlegible Next"/>
              <a:ea typeface="Arial"/>
              <a:cs typeface="Arial"/>
              <a:sym typeface="Arial"/>
            </a:endParaRPr>
          </a:p>
          <a:p>
            <a:pPr indent="-457200">
              <a:lnSpc>
                <a:spcPct val="100000"/>
              </a:lnSpc>
              <a:spcBef>
                <a:spcPts val="0"/>
              </a:spcBef>
              <a:buSzPts val="3000"/>
            </a:pPr>
            <a:r>
              <a:rPr lang="en-US" b="1" dirty="0">
                <a:latin typeface="Atkinson Hyperlegible Next"/>
                <a:ea typeface="Arial"/>
                <a:cs typeface="Arial"/>
                <a:sym typeface="Arial"/>
              </a:rPr>
              <a:t>Closed-Loop </a:t>
            </a:r>
            <a:r>
              <a:rPr lang="en-US" dirty="0">
                <a:latin typeface="Atkinson Hyperlegible Next"/>
                <a:ea typeface="Arial"/>
                <a:cs typeface="Arial"/>
                <a:sym typeface="Arial"/>
              </a:rPr>
              <a:t>systems: Utilizes feedback to compute an error metric, dynamically correcting the control effort</a:t>
            </a:r>
          </a:p>
          <a:p>
            <a:pPr indent="-457200">
              <a:lnSpc>
                <a:spcPct val="100000"/>
              </a:lnSpc>
              <a:spcBef>
                <a:spcPts val="0"/>
              </a:spcBef>
              <a:buSzPts val="3000"/>
            </a:pPr>
            <a:endParaRPr lang="en-US"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E0A5ECB-2CC2-C8AF-0FDB-0F4DE71C47D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9868ED7-F654-3EFD-34E3-52B86EDC89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6F90B96-3863-482B-C10C-77679060CF0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6C6F392-97C2-11F7-00F3-FFA8B4707A9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A24A701-AA79-EC9F-5472-ED3F4A37BD1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5E3A6D0-D767-FE6D-E3D4-11D02E30D5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C8AB4B-75DB-54A0-C155-B4DEB44619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794ABC-5959-0BB2-D719-CC8855537C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91914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367E73-A319-1FF6-113B-DFED8598B20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7BDFBB9-85A7-ED21-E9B2-233CFFD2FB5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We know it, we love it, it’s the classic PID Controller!</a:t>
            </a:r>
          </a:p>
          <a:p>
            <a:pPr marL="0" lvl="0" indent="0" algn="l" rtl="0">
              <a:lnSpc>
                <a:spcPct val="100000"/>
              </a:lnSpc>
              <a:spcBef>
                <a:spcPts val="0"/>
              </a:spcBef>
              <a:spcAft>
                <a:spcPts val="0"/>
              </a:spcAft>
              <a:buSzPts val="3000"/>
              <a:buNone/>
            </a:pPr>
            <a:endParaRPr lang="en-US" dirty="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The proportional–integral–derivative (PID) controller  is a closed-loop controller.</a:t>
            </a: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It is extremely common due to its simplicity, both in the tuning and in the implementation ( you will see how simple it is when you implement it in the code)</a:t>
            </a:r>
          </a:p>
        </p:txBody>
      </p:sp>
      <p:sp>
        <p:nvSpPr>
          <p:cNvPr id="119" name="Google Shape;119;p29">
            <a:extLst>
              <a:ext uri="{FF2B5EF4-FFF2-40B4-BE49-F238E27FC236}">
                <a16:creationId xmlns:a16="http://schemas.microsoft.com/office/drawing/2014/main" id="{1474906B-3921-7214-671B-824084E0D9D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C9AD7F0-CE35-3DF3-3786-864C301B1C3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943AB06-3A56-F461-6080-9C361B3D642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3E52058-DE47-B7E7-3DD3-75BD362912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68666A-021B-030A-A2F6-6A96EB923E2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0FC0193-D1A2-526B-0843-42C384CD3DC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40398F-5080-A657-1047-0045F7D76A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99FFF8D-7BBE-9ACA-9DB5-48276DE596B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24880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76BE620-0B6D-A41A-34C6-8BE42927179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E79BD9A5-5D02-C723-CBE2-049392F3CC1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The PID controller is split into 3 parts, as its name states. While each of the terms contribute to improving the output, it is not necessary to use all of them at once. </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As the PID controller is a closed-loop controller the input is an error signal </a:t>
                </a:r>
                <a14:m>
                  <m:oMath xmlns:m="http://schemas.openxmlformats.org/officeDocument/2006/math">
                    <m:r>
                      <m:rPr>
                        <m:sty m:val="p"/>
                      </m:rPr>
                      <a:rPr lang="en-US" sz="2000" b="0" i="1" smtClean="0">
                        <a:latin typeface="Cambria Math" panose="02040503050406030204" pitchFamily="18" charset="0"/>
                        <a:ea typeface="Arial"/>
                        <a:cs typeface="Arial"/>
                        <a:sym typeface="Arial"/>
                      </a:rPr>
                      <m:t>e</m:t>
                    </m:r>
                    <m:r>
                      <a:rPr lang="en-US" sz="2000" b="0" i="1" smtClean="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t</m:t>
                    </m:r>
                    <m:r>
                      <a:rPr lang="en-US" sz="2000" b="0" i="1" smtClean="0">
                        <a:latin typeface="Cambria Math" panose="02040503050406030204" pitchFamily="18" charset="0"/>
                        <a:ea typeface="Arial"/>
                        <a:cs typeface="Arial"/>
                        <a:sym typeface="Arial"/>
                      </a:rPr>
                      <m:t>) = </m:t>
                    </m:r>
                    <m:r>
                      <m:rPr>
                        <m:sty m:val="p"/>
                      </m:rPr>
                      <a:rPr lang="en-US" sz="2000" b="0" i="1" smtClean="0">
                        <a:latin typeface="Cambria Math" panose="02040503050406030204" pitchFamily="18" charset="0"/>
                        <a:ea typeface="Arial"/>
                        <a:cs typeface="Arial"/>
                        <a:sym typeface="Arial"/>
                      </a:rPr>
                      <m:t>r</m:t>
                    </m:r>
                    <m:r>
                      <a:rPr lang="en-US" sz="2000" b="0" i="1" smtClean="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t</m:t>
                    </m:r>
                    <m:r>
                      <a:rPr lang="en-US" sz="2000" b="0" i="1" smtClean="0">
                        <a:latin typeface="Cambria Math" panose="02040503050406030204" pitchFamily="18" charset="0"/>
                        <a:ea typeface="Arial"/>
                        <a:cs typeface="Arial"/>
                        <a:sym typeface="Arial"/>
                      </a:rPr>
                      <m:t>) - </m:t>
                    </m:r>
                    <m:r>
                      <m:rPr>
                        <m:sty m:val="p"/>
                      </m:rPr>
                      <a:rPr lang="en-US" sz="2000" b="0" i="1" smtClean="0">
                        <a:latin typeface="Cambria Math" panose="02040503050406030204" pitchFamily="18" charset="0"/>
                        <a:ea typeface="Arial"/>
                        <a:cs typeface="Arial"/>
                        <a:sym typeface="Arial"/>
                      </a:rPr>
                      <m:t>y</m:t>
                    </m:r>
                    <m:r>
                      <a:rPr lang="en-US" sz="2000" b="0" i="1" smtClean="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t</m:t>
                    </m:r>
                    <m:r>
                      <a:rPr lang="en-US" sz="2000" b="0" i="1" smtClean="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which represents the reference “what you want to be doing” </a:t>
                </a:r>
                <a14:m>
                  <m:oMath xmlns:m="http://schemas.openxmlformats.org/officeDocument/2006/math">
                    <m:r>
                      <m:rPr>
                        <m:sty m:val="p"/>
                      </m:rPr>
                      <a:rPr lang="en-US" sz="2000" i="1">
                        <a:latin typeface="Cambria Math" panose="02040503050406030204" pitchFamily="18" charset="0"/>
                        <a:ea typeface="Arial"/>
                        <a:cs typeface="Arial"/>
                        <a:sym typeface="Arial"/>
                      </a:rPr>
                      <m:t>r</m:t>
                    </m:r>
                    <m:r>
                      <a:rPr lang="en-US" sz="2000" i="1">
                        <a:latin typeface="Cambria Math" panose="02040503050406030204" pitchFamily="18" charset="0"/>
                        <a:ea typeface="Arial"/>
                        <a:cs typeface="Arial"/>
                        <a:sym typeface="Arial"/>
                      </a:rPr>
                      <m:t>(</m:t>
                    </m:r>
                    <m:r>
                      <m:rPr>
                        <m:sty m:val="p"/>
                      </m:rPr>
                      <a:rPr lang="en-US" sz="2000" i="1">
                        <a:latin typeface="Cambria Math" panose="02040503050406030204" pitchFamily="18" charset="0"/>
                        <a:ea typeface="Arial"/>
                        <a:cs typeface="Arial"/>
                        <a:sym typeface="Arial"/>
                      </a:rPr>
                      <m:t>t</m:t>
                    </m:r>
                    <m:r>
                      <a:rPr lang="en-US" sz="2000" i="1">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and the currently measured input “what you are doing now” </a:t>
                </a:r>
                <a14:m>
                  <m:oMath xmlns:m="http://schemas.openxmlformats.org/officeDocument/2006/math">
                    <m:r>
                      <m:rPr>
                        <m:sty m:val="p"/>
                      </m:rPr>
                      <a:rPr lang="en-US" sz="2000" i="1">
                        <a:latin typeface="Cambria Math" panose="02040503050406030204" pitchFamily="18" charset="0"/>
                        <a:ea typeface="Arial"/>
                        <a:cs typeface="Arial"/>
                        <a:sym typeface="Arial"/>
                      </a:rPr>
                      <m:t>y</m:t>
                    </m:r>
                    <m:r>
                      <a:rPr lang="en-US" sz="2000" i="1">
                        <a:latin typeface="Cambria Math" panose="02040503050406030204" pitchFamily="18" charset="0"/>
                        <a:ea typeface="Arial"/>
                        <a:cs typeface="Arial"/>
                        <a:sym typeface="Arial"/>
                      </a:rPr>
                      <m:t>(</m:t>
                    </m:r>
                    <m:r>
                      <m:rPr>
                        <m:sty m:val="p"/>
                      </m:rPr>
                      <a:rPr lang="en-US" sz="2000" i="1">
                        <a:latin typeface="Cambria Math" panose="02040503050406030204" pitchFamily="18" charset="0"/>
                        <a:ea typeface="Arial"/>
                        <a:cs typeface="Arial"/>
                        <a:sym typeface="Arial"/>
                      </a:rPr>
                      <m:t>t</m:t>
                    </m:r>
                    <m:r>
                      <a:rPr lang="en-US" sz="2000" i="1">
                        <a:latin typeface="Cambria Math" panose="02040503050406030204" pitchFamily="18" charset="0"/>
                        <a:ea typeface="Arial"/>
                        <a:cs typeface="Arial"/>
                        <a:sym typeface="Arial"/>
                      </a:rPr>
                      <m:t>)</m:t>
                    </m:r>
                  </m:oMath>
                </a14:m>
                <a:endParaRPr lang="en-US" sz="2000" dirty="0">
                  <a:latin typeface="Atkinson Hyperlegible Next"/>
                  <a:ea typeface="Arial"/>
                  <a:cs typeface="Arial"/>
                  <a:sym typeface="Arial"/>
                </a:endParaRPr>
              </a:p>
            </p:txBody>
          </p:sp>
        </mc:Choice>
        <mc:Fallback>
          <p:sp>
            <p:nvSpPr>
              <p:cNvPr id="118" name="Google Shape;118;p29">
                <a:extLst>
                  <a:ext uri="{FF2B5EF4-FFF2-40B4-BE49-F238E27FC236}">
                    <a16:creationId xmlns:a16="http://schemas.microsoft.com/office/drawing/2014/main" id="{E79BD9A5-5D02-C723-CBE2-049392F3CC1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r="-5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70EBD3D-08FF-FF42-A964-440586DC0E9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8E7C368-FBA8-DFA8-18D1-3425439018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B0D2713-1161-8461-918E-E91EDDE319D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6F8A4F3-B5E4-64AB-9C00-50D3E3C7E51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0B2822F-45DA-6332-D95E-40951B4A0B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C7153E5-EFB0-A38F-126B-E22875E43A3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873EF47-680E-A96C-A12C-A1ACBFC7DDC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FA8CC90-0DA6-2190-4AC0-A71D7C42292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80FC701E-794E-5C2C-E1F5-4739C0BC82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9382" y="3218884"/>
            <a:ext cx="8733233" cy="3102951"/>
          </a:xfrm>
          <a:prstGeom prst="rect">
            <a:avLst/>
          </a:prstGeom>
        </p:spPr>
      </p:pic>
      <p:sp>
        <p:nvSpPr>
          <p:cNvPr id="4" name="TextBox 3">
            <a:extLst>
              <a:ext uri="{FF2B5EF4-FFF2-40B4-BE49-F238E27FC236}">
                <a16:creationId xmlns:a16="http://schemas.microsoft.com/office/drawing/2014/main" id="{B4A11C64-128D-7F46-BAA8-D2204362922D}"/>
              </a:ext>
            </a:extLst>
          </p:cNvPr>
          <p:cNvSpPr txBox="1"/>
          <p:nvPr/>
        </p:nvSpPr>
        <p:spPr>
          <a:xfrm>
            <a:off x="2838448" y="6346194"/>
            <a:ext cx="6515100" cy="253916"/>
          </a:xfrm>
          <a:prstGeom prst="rect">
            <a:avLst/>
          </a:prstGeom>
          <a:noFill/>
        </p:spPr>
        <p:txBody>
          <a:bodyPr wrap="square" rtlCol="0">
            <a:spAutoFit/>
          </a:bodyPr>
          <a:lstStyle/>
          <a:p>
            <a:pPr algn="ctr"/>
            <a:r>
              <a:rPr lang="en-US" sz="1050" dirty="0">
                <a:hlinkClick r:id="rId7"/>
              </a:rPr>
              <a:t>https://en.wikipedia.org/wiki/Proportional%E2%80%93integral%E2%80%93derivative_controller</a:t>
            </a:r>
            <a:r>
              <a:rPr lang="en-US" sz="1050" dirty="0"/>
              <a:t> </a:t>
            </a:r>
          </a:p>
        </p:txBody>
      </p:sp>
    </p:spTree>
    <p:extLst>
      <p:ext uri="{BB962C8B-B14F-4D97-AF65-F5344CB8AC3E}">
        <p14:creationId xmlns:p14="http://schemas.microsoft.com/office/powerpoint/2010/main" val="212335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04362C2-94B8-C817-015D-E363508F7B4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CB9D148-97A0-290F-A9A7-375A613250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We are going to watch </a:t>
            </a:r>
            <a:r>
              <a:rPr lang="en-US" sz="2000" dirty="0">
                <a:latin typeface="Atkinson Hyperlegible Next"/>
                <a:ea typeface="Arial"/>
                <a:cs typeface="Arial"/>
                <a:sym typeface="Arial"/>
                <a:hlinkClick r:id="rId3"/>
              </a:rPr>
              <a:t>some really good MATLAB videos </a:t>
            </a:r>
            <a:r>
              <a:rPr lang="en-US" sz="2000" dirty="0">
                <a:latin typeface="Atkinson Hyperlegible Next"/>
                <a:ea typeface="Arial"/>
                <a:cs typeface="Arial"/>
                <a:sym typeface="Arial"/>
              </a:rPr>
              <a:t>(I highly recommend looking at them some more!)</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hlinkClick r:id="rId4"/>
              </a:rPr>
              <a:t>What is a PID Controller?</a:t>
            </a: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There are 2 main problems with the basic implementation of the PID loop in a real-world example. Any ideas?</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hlinkClick r:id="rId5"/>
              </a:rPr>
              <a:t>Integrator Windup</a:t>
            </a: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hlinkClick r:id="rId6"/>
              </a:rPr>
              <a:t>Derivative noise</a:t>
            </a: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For the derivative term we decide that it is not worth using and the robot will follow the path well enough. It is usually more recommended to use if you have a sensor the derivative directly!</a:t>
            </a:r>
          </a:p>
        </p:txBody>
      </p:sp>
      <p:sp>
        <p:nvSpPr>
          <p:cNvPr id="119" name="Google Shape;119;p29">
            <a:extLst>
              <a:ext uri="{FF2B5EF4-FFF2-40B4-BE49-F238E27FC236}">
                <a16:creationId xmlns:a16="http://schemas.microsoft.com/office/drawing/2014/main" id="{257EDDAC-02DE-4A37-81E9-87E1F273704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CA1D0B3-2F84-A76E-8716-2AAE9152678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EF85876-3CC1-140D-9299-08C918B9F2AA}"/>
              </a:ext>
            </a:extLst>
          </p:cNvPr>
          <p:cNvPicPr preferRelativeResize="0"/>
          <p:nvPr/>
        </p:nvPicPr>
        <p:blipFill rotWithShape="1">
          <a:blip r:embed="rId7">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EFDE0D6-063F-5BA5-F4CF-33089EFB82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C89B2FD-DB67-BC97-28B5-377436FEC4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4B3EA23-BF5B-08EC-11CB-E63EDAC678D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1AC9B43-ECD7-6707-DDCF-732A61525C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AFB995-8332-CC72-BED0-8DBE1FC2BF5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046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7C9963-579D-875D-8D46-DD76DB32195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AF0B0CF2-B0C5-FD01-9DEF-32A13CF62DF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Term </a:t>
                </a:r>
                <a:r>
                  <a:rPr lang="en-US" sz="2300" b="1" dirty="0">
                    <a:latin typeface="Atkinson Hyperlegible Next"/>
                    <a:ea typeface="Arial"/>
                    <a:cs typeface="Arial"/>
                    <a:sym typeface="Arial"/>
                  </a:rPr>
                  <a:t>P</a:t>
                </a:r>
                <a:r>
                  <a:rPr lang="en-US" sz="2300" dirty="0">
                    <a:latin typeface="Atkinson Hyperlegible Next"/>
                    <a:ea typeface="Arial"/>
                    <a:cs typeface="Arial"/>
                    <a:sym typeface="Arial"/>
                  </a:rPr>
                  <a:t> is the proportional term. It is simplify defined as, </a:t>
                </a:r>
              </a:p>
              <a:p>
                <a:pPr marL="0" indent="0">
                  <a:lnSpc>
                    <a:spcPct val="100000"/>
                  </a:lnSpc>
                  <a:spcBef>
                    <a:spcPts val="0"/>
                  </a:spcBef>
                  <a:buSzPts val="3000"/>
                  <a:buNone/>
                </a:pPr>
                <a:endParaRPr lang="en-US" sz="2300" i="1" dirty="0">
                  <a:latin typeface="Atkinson Hyperlegible Next"/>
                  <a:cs typeface="Arial"/>
                  <a:sym typeface="Arial"/>
                </a:endParaRPr>
              </a:p>
              <a:p>
                <a:pPr marL="0" indent="0" algn="ctr">
                  <a:lnSpc>
                    <a:spcPct val="100000"/>
                  </a:lnSpc>
                  <a:spcBef>
                    <a:spcPts val="0"/>
                  </a:spcBef>
                  <a:buSzPts val="3000"/>
                  <a:buNone/>
                </a:pPr>
                <a14:m>
                  <m:oMath xmlns:m="http://schemas.openxmlformats.org/officeDocument/2006/math">
                    <m:r>
                      <m:rPr>
                        <m:sty m:val="p"/>
                      </m:rPr>
                      <a:rPr lang="en-US" sz="2300" b="0" i="1" smtClean="0">
                        <a:latin typeface="Cambria Math" panose="02040503050406030204" pitchFamily="18" charset="0"/>
                        <a:cs typeface="Arial"/>
                        <a:sym typeface="Arial"/>
                      </a:rPr>
                      <m:t>u</m:t>
                    </m:r>
                    <m:r>
                      <a:rPr lang="en-US" sz="2300" b="0" i="1" smtClean="0">
                        <a:latin typeface="Cambria Math" panose="02040503050406030204" pitchFamily="18" charset="0"/>
                        <a:cs typeface="Arial"/>
                        <a:sym typeface="Arial"/>
                      </a:rPr>
                      <m:t>(</m:t>
                    </m:r>
                    <m:r>
                      <m:rPr>
                        <m:sty m:val="p"/>
                      </m:rPr>
                      <a:rPr lang="en-US" sz="2300" b="0" i="1" smtClean="0">
                        <a:latin typeface="Cambria Math" panose="02040503050406030204" pitchFamily="18" charset="0"/>
                        <a:cs typeface="Arial"/>
                        <a:sym typeface="Arial"/>
                      </a:rPr>
                      <m:t>t</m:t>
                    </m:r>
                    <m:r>
                      <a:rPr lang="en-US" sz="2300" b="0" i="1" smtClean="0">
                        <a:latin typeface="Cambria Math" panose="02040503050406030204" pitchFamily="18" charset="0"/>
                        <a:cs typeface="Arial"/>
                        <a:sym typeface="Arial"/>
                      </a:rPr>
                      <m:t>) =</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b="0" i="1" smtClean="0">
                            <a:latin typeface="Cambria Math" panose="02040503050406030204" pitchFamily="18" charset="0"/>
                            <a:cs typeface="Arial"/>
                            <a:sym typeface="Arial"/>
                          </a:rPr>
                          <m:t>P</m:t>
                        </m:r>
                      </m:sub>
                    </m:sSub>
                    <m:r>
                      <m:rPr>
                        <m:sty m:val="p"/>
                      </m:rPr>
                      <a:rPr lang="en-US" sz="2300" i="1">
                        <a:latin typeface="Cambria Math" panose="02040503050406030204" pitchFamily="18" charset="0"/>
                        <a:cs typeface="Arial"/>
                        <a:sym typeface="Arial"/>
                      </a:rPr>
                      <m:t>e</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m:t>
                    </m:r>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for example, if the error is large, the output control effort </a:t>
                </a:r>
                <a14:m>
                  <m:oMath xmlns:m="http://schemas.openxmlformats.org/officeDocument/2006/math">
                    <m:r>
                      <m:rPr>
                        <m:sty m:val="p"/>
                      </m:rPr>
                      <a:rPr lang="en-US" sz="2300" b="0" i="1" smtClean="0">
                        <a:latin typeface="Cambria Math" panose="02040503050406030204" pitchFamily="18" charset="0"/>
                        <a:ea typeface="Arial"/>
                        <a:cs typeface="Arial"/>
                        <a:sym typeface="Arial"/>
                      </a:rPr>
                      <m:t>u</m:t>
                    </m:r>
                    <m:r>
                      <a:rPr lang="en-US" sz="2300" b="0" i="1" smtClean="0">
                        <a:latin typeface="Cambria Math" panose="02040503050406030204" pitchFamily="18" charset="0"/>
                        <a:ea typeface="Arial"/>
                        <a:cs typeface="Arial"/>
                        <a:sym typeface="Arial"/>
                      </a:rPr>
                      <m:t>(</m:t>
                    </m:r>
                    <m:r>
                      <m:rPr>
                        <m:sty m:val="p"/>
                      </m:rPr>
                      <a:rPr lang="en-US" sz="2300" b="0" i="1" smtClean="0">
                        <a:latin typeface="Cambria Math" panose="02040503050406030204" pitchFamily="18" charset="0"/>
                        <a:ea typeface="Arial"/>
                        <a:cs typeface="Arial"/>
                        <a:sym typeface="Arial"/>
                      </a:rPr>
                      <m:t>t</m:t>
                    </m:r>
                    <m:r>
                      <a:rPr lang="en-US" sz="2300" b="0" i="1" smtClean="0">
                        <a:latin typeface="Cambria Math" panose="02040503050406030204" pitchFamily="18" charset="0"/>
                        <a:ea typeface="Arial"/>
                        <a:cs typeface="Arial"/>
                        <a:sym typeface="Arial"/>
                      </a:rPr>
                      <m:t>)</m:t>
                    </m:r>
                  </m:oMath>
                </a14:m>
                <a:r>
                  <a:rPr lang="en-US" sz="2300" dirty="0">
                    <a:latin typeface="Atkinson Hyperlegible Next"/>
                    <a:ea typeface="Arial"/>
                    <a:cs typeface="Arial"/>
                    <a:sym typeface="Arial"/>
                  </a:rPr>
                  <a:t> will be large and vice-versa.</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This is the most fundamental part of the PID loop, you should at least always use this term.</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p:txBody>
          </p:sp>
        </mc:Choice>
        <mc:Fallback>
          <p:sp>
            <p:nvSpPr>
              <p:cNvPr id="118" name="Google Shape;118;p29">
                <a:extLst>
                  <a:ext uri="{FF2B5EF4-FFF2-40B4-BE49-F238E27FC236}">
                    <a16:creationId xmlns:a16="http://schemas.microsoft.com/office/drawing/2014/main" id="{AF0B0CF2-B0C5-FD01-9DEF-32A13CF62DF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3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CE643E9-5C12-EA23-B9BE-05E431F8BB3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34C24F3-26AE-00CC-B3D1-EE817F0DFC7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D5B4D82-57D3-D2C6-DCC3-90D1F0FBAFF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E86CE66-E652-2147-B319-6FD3ABBBD07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3B9D78F-03BC-8719-B2BE-8177BC80232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F5E8207-A66F-493A-D0B7-22A29AFCEA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6E4652-C16D-5E31-1B2A-9F51904396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B5C2AFE-F1EE-B863-E635-6375856B31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83295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1280DF3-4B10-49E9-091E-4B28628191D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ACA34920-4CA8-B75A-C609-78913B786C4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t>Term </a:t>
                </a:r>
                <a:r>
                  <a:rPr lang="en-US" sz="2300" b="1" dirty="0"/>
                  <a:t>I</a:t>
                </a:r>
                <a:r>
                  <a:rPr lang="en-US" sz="2300" dirty="0"/>
                  <a:t> accounts for past values of the error and integrates them over time to produce the </a:t>
                </a:r>
                <a:r>
                  <a:rPr lang="en-US" sz="2300" b="1" dirty="0"/>
                  <a:t>I</a:t>
                </a:r>
                <a:r>
                  <a:rPr lang="en-US" sz="2300" dirty="0"/>
                  <a:t> term</a:t>
                </a:r>
              </a:p>
              <a:p>
                <a:pPr marL="0" indent="0">
                  <a:lnSpc>
                    <a:spcPct val="100000"/>
                  </a:lnSpc>
                  <a:spcBef>
                    <a:spcPts val="0"/>
                  </a:spcBef>
                  <a:buSzPts val="3000"/>
                  <a:buNone/>
                </a:pPr>
                <a:endParaRPr lang="en-US" sz="2300" i="1" dirty="0">
                  <a:latin typeface="Cambria Math" panose="02040503050406030204" pitchFamily="18" charset="0"/>
                  <a:cs typeface="Arial"/>
                  <a:sym typeface="Arial"/>
                </a:endParaRPr>
              </a:p>
              <a:p>
                <a:pPr marL="0" indent="0" algn="ctr">
                  <a:lnSpc>
                    <a:spcPct val="100000"/>
                  </a:lnSpc>
                  <a:spcBef>
                    <a:spcPts val="0"/>
                  </a:spcBef>
                  <a:buSzPts val="3000"/>
                  <a:buNone/>
                </a:pPr>
                <a14:m>
                  <m:oMath xmlns:m="http://schemas.openxmlformats.org/officeDocument/2006/math">
                    <m:r>
                      <m:rPr>
                        <m:sty m:val="p"/>
                      </m:rPr>
                      <a:rPr lang="en-US" sz="2300" i="1">
                        <a:latin typeface="Cambria Math" panose="02040503050406030204" pitchFamily="18" charset="0"/>
                        <a:cs typeface="Arial"/>
                        <a:sym typeface="Arial"/>
                      </a:rPr>
                      <m:t>u</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 =</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b="0" i="1" smtClean="0">
                            <a:latin typeface="Cambria Math" panose="02040503050406030204" pitchFamily="18" charset="0"/>
                            <a:cs typeface="Arial"/>
                            <a:sym typeface="Arial"/>
                          </a:rPr>
                          <m:t>I</m:t>
                        </m:r>
                      </m:sub>
                    </m:sSub>
                    <m:nary>
                      <m:naryPr>
                        <m:ctrlPr>
                          <a:rPr lang="en-US" sz="2300" i="1" smtClean="0">
                            <a:latin typeface="Cambria Math" panose="02040503050406030204" pitchFamily="18" charset="0"/>
                            <a:cs typeface="Arial"/>
                            <a:sym typeface="Arial"/>
                          </a:rPr>
                        </m:ctrlPr>
                      </m:naryPr>
                      <m:sub>
                        <m:r>
                          <m:rPr>
                            <m:brk m:alnAt="23"/>
                          </m:rPr>
                          <a:rPr lang="en-US" sz="2300" b="0" i="1" smtClean="0">
                            <a:latin typeface="Cambria Math" panose="02040503050406030204" pitchFamily="18" charset="0"/>
                            <a:cs typeface="Arial"/>
                            <a:sym typeface="Arial"/>
                          </a:rPr>
                          <m:t>0</m:t>
                        </m:r>
                      </m:sub>
                      <m:sup>
                        <m:r>
                          <m:rPr>
                            <m:sty m:val="p"/>
                          </m:rPr>
                          <a:rPr lang="en-US" sz="2300" b="0" i="1" smtClean="0">
                            <a:latin typeface="Cambria Math" panose="02040503050406030204" pitchFamily="18" charset="0"/>
                            <a:cs typeface="Arial"/>
                            <a:sym typeface="Arial"/>
                          </a:rPr>
                          <m:t>t</m:t>
                        </m:r>
                      </m:sup>
                      <m:e>
                        <m:r>
                          <m:rPr>
                            <m:sty m:val="p"/>
                          </m:rPr>
                          <a:rPr lang="en-US" sz="2300" i="1">
                            <a:latin typeface="Cambria Math" panose="02040503050406030204" pitchFamily="18" charset="0"/>
                            <a:cs typeface="Arial"/>
                            <a:sym typeface="Arial"/>
                          </a:rPr>
                          <m:t>e</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m:t>
                        </m:r>
                      </m:e>
                    </m:nary>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For example, if there is a residual error after the application of proportional control, the integral terms eliminates the residual error by adding some additional control effort.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When the error is eliminated, the integral term will cease to grow.</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It is important to bound this component such that it does not explode and make it difficult to control the system. I.e. integrator windup.</a:t>
                </a:r>
              </a:p>
            </p:txBody>
          </p:sp>
        </mc:Choice>
        <mc:Fallback>
          <p:sp>
            <p:nvSpPr>
              <p:cNvPr id="118" name="Google Shape;118;p29">
                <a:extLst>
                  <a:ext uri="{FF2B5EF4-FFF2-40B4-BE49-F238E27FC236}">
                    <a16:creationId xmlns:a16="http://schemas.microsoft.com/office/drawing/2014/main" id="{ACA34920-4CA8-B75A-C609-78913B786C4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177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99A71D1-DA56-A4DD-4DA1-494D216F07F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6E90F44-30E8-70B2-6BC6-A023B54B5A8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AA8E04-3375-4067-06F9-E0DE5159F41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6623FD-F287-5912-F779-5D812B348F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81BC2BA-3A9E-784C-26DC-CFE448EF05B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B73E3B0-E640-5198-E05A-50183DBF3A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BCB1871-6B78-E51E-6C66-E2F663588D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66C0D2-DB95-BB8D-320A-263879BF49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4048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178CA79-3EA2-E6F8-F50A-BD1C549E98E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1888DB60-6528-F99B-3139-9068F298646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t>Term </a:t>
                </a:r>
                <a:r>
                  <a:rPr lang="en-US" sz="2300" b="1" dirty="0"/>
                  <a:t>D</a:t>
                </a:r>
                <a:r>
                  <a:rPr lang="en-US" sz="2300" dirty="0"/>
                  <a:t> accounts for future values of the error based on the current rate of change of the error.</a:t>
                </a:r>
              </a:p>
              <a:p>
                <a:pPr marL="0" indent="0">
                  <a:lnSpc>
                    <a:spcPct val="100000"/>
                  </a:lnSpc>
                  <a:spcBef>
                    <a:spcPts val="0"/>
                  </a:spcBef>
                  <a:buSzPts val="3000"/>
                  <a:buNone/>
                </a:pPr>
                <a:endParaRPr lang="en-US" sz="2300" i="1" dirty="0">
                  <a:latin typeface="Cambria Math" panose="02040503050406030204" pitchFamily="18" charset="0"/>
                  <a:cs typeface="Arial"/>
                  <a:sym typeface="Arial"/>
                </a:endParaRPr>
              </a:p>
              <a:p>
                <a:pPr marL="0" indent="0" algn="ctr">
                  <a:lnSpc>
                    <a:spcPct val="100000"/>
                  </a:lnSpc>
                  <a:spcBef>
                    <a:spcPts val="0"/>
                  </a:spcBef>
                  <a:buSzPts val="3000"/>
                  <a:buNone/>
                </a:pPr>
                <a14:m>
                  <m:oMath xmlns:m="http://schemas.openxmlformats.org/officeDocument/2006/math">
                    <m:r>
                      <m:rPr>
                        <m:sty m:val="p"/>
                      </m:rPr>
                      <a:rPr lang="en-US" sz="2300" i="1">
                        <a:latin typeface="Cambria Math" panose="02040503050406030204" pitchFamily="18" charset="0"/>
                        <a:cs typeface="Arial"/>
                        <a:sym typeface="Arial"/>
                      </a:rPr>
                      <m:t>u</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 =</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b="0" i="1" smtClean="0">
                            <a:latin typeface="Cambria Math" panose="02040503050406030204" pitchFamily="18" charset="0"/>
                            <a:cs typeface="Arial"/>
                            <a:sym typeface="Arial"/>
                          </a:rPr>
                          <m:t>D</m:t>
                        </m:r>
                      </m:sub>
                    </m:sSub>
                    <m:f>
                      <m:fPr>
                        <m:ctrlPr>
                          <a:rPr lang="en-US" sz="2300" b="0" i="1" smtClean="0">
                            <a:latin typeface="Cambria Math" panose="02040503050406030204" pitchFamily="18" charset="0"/>
                            <a:cs typeface="Arial"/>
                            <a:sym typeface="Arial"/>
                          </a:rPr>
                        </m:ctrlPr>
                      </m:fPr>
                      <m:num>
                        <m:r>
                          <m:rPr>
                            <m:sty m:val="p"/>
                          </m:rPr>
                          <a:rPr lang="en-US" sz="2300" b="0" i="1" smtClean="0">
                            <a:latin typeface="Cambria Math" panose="02040503050406030204" pitchFamily="18" charset="0"/>
                            <a:cs typeface="Arial"/>
                            <a:sym typeface="Arial"/>
                          </a:rPr>
                          <m:t>de</m:t>
                        </m:r>
                        <m:r>
                          <a:rPr lang="en-US" sz="2300" b="0" i="1" smtClean="0">
                            <a:latin typeface="Cambria Math" panose="02040503050406030204" pitchFamily="18" charset="0"/>
                            <a:cs typeface="Arial"/>
                            <a:sym typeface="Arial"/>
                          </a:rPr>
                          <m:t>(</m:t>
                        </m:r>
                        <m:r>
                          <m:rPr>
                            <m:sty m:val="p"/>
                          </m:rPr>
                          <a:rPr lang="en-US" sz="2300" b="0" i="1" smtClean="0">
                            <a:latin typeface="Cambria Math" panose="02040503050406030204" pitchFamily="18" charset="0"/>
                            <a:cs typeface="Arial"/>
                            <a:sym typeface="Arial"/>
                          </a:rPr>
                          <m:t>t</m:t>
                        </m:r>
                        <m:r>
                          <a:rPr lang="en-US" sz="2300" b="0" i="1" smtClean="0">
                            <a:latin typeface="Cambria Math" panose="02040503050406030204" pitchFamily="18" charset="0"/>
                            <a:cs typeface="Arial"/>
                            <a:sym typeface="Arial"/>
                          </a:rPr>
                          <m:t>)</m:t>
                        </m:r>
                      </m:num>
                      <m:den>
                        <m:r>
                          <m:rPr>
                            <m:sty m:val="p"/>
                          </m:rPr>
                          <a:rPr lang="en-US" sz="2300" b="0" i="1" smtClean="0">
                            <a:latin typeface="Cambria Math" panose="02040503050406030204" pitchFamily="18" charset="0"/>
                            <a:cs typeface="Arial"/>
                            <a:sym typeface="Arial"/>
                          </a:rPr>
                          <m:t>dt</m:t>
                        </m:r>
                      </m:den>
                    </m:f>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In the real world, sensors are noisy and so collecting the derivative term can be difficult without an additional filter to it.</a:t>
                </a:r>
              </a:p>
            </p:txBody>
          </p:sp>
        </mc:Choice>
        <mc:Fallback>
          <p:sp>
            <p:nvSpPr>
              <p:cNvPr id="118" name="Google Shape;118;p29">
                <a:extLst>
                  <a:ext uri="{FF2B5EF4-FFF2-40B4-BE49-F238E27FC236}">
                    <a16:creationId xmlns:a16="http://schemas.microsoft.com/office/drawing/2014/main" id="{1888DB60-6528-F99B-3139-9068F298646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2FA907F-278D-F16A-3A59-8DA3C35571D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390CBB-9174-0064-5167-61F881469D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0563487-3977-8710-C4B2-94686EC922F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AA24D5F-E3A5-C936-9FBE-BC97899865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DE900ED-0175-EFAF-84D4-14074885834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F843816-F4D6-D409-16D5-4CAD7D9A31A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8259F3-AC7F-086B-269B-F468C08E35B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0A90606-BCBF-211D-3331-8FCB9203586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1054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933473-C7C3-92C1-64DA-448F2EC79EB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3DA616B4-9278-0966-B5DA-EE9A8473994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The full form is thus,</a:t>
                </a:r>
              </a:p>
              <a:p>
                <a:pPr marL="0" indent="0">
                  <a:lnSpc>
                    <a:spcPct val="100000"/>
                  </a:lnSpc>
                  <a:spcBef>
                    <a:spcPts val="0"/>
                  </a:spcBef>
                  <a:buSzPts val="3000"/>
                  <a:buNone/>
                </a:pPr>
                <a:endParaRPr lang="en-US" sz="2300" i="1" dirty="0">
                  <a:latin typeface="Atkinson Hyperlegible Next"/>
                  <a:cs typeface="Arial"/>
                  <a:sym typeface="Arial"/>
                </a:endParaRPr>
              </a:p>
              <a:p>
                <a:pPr marL="0" indent="0">
                  <a:lnSpc>
                    <a:spcPct val="100000"/>
                  </a:lnSpc>
                  <a:spcBef>
                    <a:spcPts val="0"/>
                  </a:spcBef>
                  <a:buSzPts val="3000"/>
                  <a:buNone/>
                </a:pPr>
                <a:endParaRPr lang="en-US" sz="2300" i="1" dirty="0">
                  <a:latin typeface="Atkinson Hyperlegible Next"/>
                  <a:cs typeface="Arial"/>
                  <a:sym typeface="Arial"/>
                </a:endParaRPr>
              </a:p>
              <a:p>
                <a:pPr marL="0" indent="0" algn="ctr">
                  <a:lnSpc>
                    <a:spcPct val="100000"/>
                  </a:lnSpc>
                  <a:spcBef>
                    <a:spcPts val="0"/>
                  </a:spcBef>
                  <a:buSzPts val="3000"/>
                  <a:buNone/>
                </a:pPr>
                <a14:m>
                  <m:oMath xmlns:m="http://schemas.openxmlformats.org/officeDocument/2006/math">
                    <m:r>
                      <m:rPr>
                        <m:sty m:val="p"/>
                      </m:rPr>
                      <a:rPr lang="en-US" sz="2300" b="0" i="1" smtClean="0">
                        <a:latin typeface="Cambria Math" panose="02040503050406030204" pitchFamily="18" charset="0"/>
                        <a:cs typeface="Arial"/>
                        <a:sym typeface="Arial"/>
                      </a:rPr>
                      <m:t>u</m:t>
                    </m:r>
                    <m:r>
                      <a:rPr lang="en-US" sz="2300" b="0" i="1" smtClean="0">
                        <a:latin typeface="Cambria Math" panose="02040503050406030204" pitchFamily="18" charset="0"/>
                        <a:cs typeface="Arial"/>
                        <a:sym typeface="Arial"/>
                      </a:rPr>
                      <m:t>(</m:t>
                    </m:r>
                    <m:r>
                      <m:rPr>
                        <m:sty m:val="p"/>
                      </m:rPr>
                      <a:rPr lang="en-US" sz="2300" b="0" i="1" smtClean="0">
                        <a:latin typeface="Cambria Math" panose="02040503050406030204" pitchFamily="18" charset="0"/>
                        <a:cs typeface="Arial"/>
                        <a:sym typeface="Arial"/>
                      </a:rPr>
                      <m:t>t</m:t>
                    </m:r>
                    <m:r>
                      <a:rPr lang="en-US" sz="2300" b="0" i="1" smtClean="0">
                        <a:latin typeface="Cambria Math" panose="02040503050406030204" pitchFamily="18" charset="0"/>
                        <a:cs typeface="Arial"/>
                        <a:sym typeface="Arial"/>
                      </a:rPr>
                      <m:t>) =</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i="1">
                            <a:latin typeface="Cambria Math" panose="02040503050406030204" pitchFamily="18" charset="0"/>
                            <a:cs typeface="Arial"/>
                            <a:sym typeface="Arial"/>
                          </a:rPr>
                          <m:t>p</m:t>
                        </m:r>
                      </m:sub>
                    </m:sSub>
                    <m:r>
                      <m:rPr>
                        <m:sty m:val="p"/>
                      </m:rPr>
                      <a:rPr lang="en-US" sz="2300" i="1">
                        <a:latin typeface="Cambria Math" panose="02040503050406030204" pitchFamily="18" charset="0"/>
                        <a:cs typeface="Arial"/>
                        <a:sym typeface="Arial"/>
                      </a:rPr>
                      <m:t>e</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 +</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i="1">
                            <a:latin typeface="Cambria Math" panose="02040503050406030204" pitchFamily="18" charset="0"/>
                            <a:cs typeface="Arial"/>
                            <a:sym typeface="Arial"/>
                          </a:rPr>
                          <m:t>I</m:t>
                        </m:r>
                      </m:sub>
                    </m:sSub>
                    <m:nary>
                      <m:naryPr>
                        <m:ctrlPr>
                          <a:rPr lang="en-US" sz="2300" i="1">
                            <a:latin typeface="Cambria Math" panose="02040503050406030204" pitchFamily="18" charset="0"/>
                            <a:cs typeface="Arial"/>
                            <a:sym typeface="Arial"/>
                          </a:rPr>
                        </m:ctrlPr>
                      </m:naryPr>
                      <m:sub>
                        <m:r>
                          <m:rPr>
                            <m:brk m:alnAt="23"/>
                          </m:rPr>
                          <a:rPr lang="en-US" sz="2300" i="1">
                            <a:latin typeface="Cambria Math" panose="02040503050406030204" pitchFamily="18" charset="0"/>
                            <a:cs typeface="Arial"/>
                            <a:sym typeface="Arial"/>
                          </a:rPr>
                          <m:t>0</m:t>
                        </m:r>
                      </m:sub>
                      <m:sup>
                        <m:r>
                          <m:rPr>
                            <m:sty m:val="p"/>
                          </m:rPr>
                          <a:rPr lang="en-US" sz="2300" i="1">
                            <a:latin typeface="Cambria Math" panose="02040503050406030204" pitchFamily="18" charset="0"/>
                            <a:cs typeface="Arial"/>
                            <a:sym typeface="Arial"/>
                          </a:rPr>
                          <m:t>t</m:t>
                        </m:r>
                      </m:sup>
                      <m:e>
                        <m:r>
                          <m:rPr>
                            <m:sty m:val="p"/>
                          </m:rPr>
                          <a:rPr lang="en-US" sz="2300" i="1">
                            <a:latin typeface="Cambria Math" panose="02040503050406030204" pitchFamily="18" charset="0"/>
                            <a:cs typeface="Arial"/>
                            <a:sym typeface="Arial"/>
                          </a:rPr>
                          <m:t>e</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m:t>
                        </m:r>
                      </m:e>
                    </m:nary>
                    <m:r>
                      <a:rPr lang="en-US" sz="2300" b="0" i="1" smtClean="0">
                        <a:latin typeface="Cambria Math" panose="02040503050406030204" pitchFamily="18" charset="0"/>
                        <a:cs typeface="Arial"/>
                        <a:sym typeface="Arial"/>
                      </a:rPr>
                      <m:t>+</m:t>
                    </m:r>
                    <m:sSub>
                      <m:sSubPr>
                        <m:ctrlPr>
                          <a:rPr lang="en-US" sz="2300" i="1">
                            <a:latin typeface="Cambria Math" panose="02040503050406030204" pitchFamily="18" charset="0"/>
                            <a:cs typeface="Arial"/>
                            <a:sym typeface="Arial"/>
                          </a:rPr>
                        </m:ctrlPr>
                      </m:sSubPr>
                      <m:e>
                        <m:r>
                          <m:rPr>
                            <m:sty m:val="p"/>
                          </m:rPr>
                          <a:rPr lang="en-US" sz="2300" i="1">
                            <a:latin typeface="Cambria Math" panose="02040503050406030204" pitchFamily="18" charset="0"/>
                            <a:cs typeface="Arial"/>
                            <a:sym typeface="Arial"/>
                          </a:rPr>
                          <m:t>K</m:t>
                        </m:r>
                      </m:e>
                      <m:sub>
                        <m:r>
                          <m:rPr>
                            <m:sty m:val="p"/>
                          </m:rPr>
                          <a:rPr lang="en-US" sz="2300" i="1">
                            <a:latin typeface="Cambria Math" panose="02040503050406030204" pitchFamily="18" charset="0"/>
                            <a:cs typeface="Arial"/>
                            <a:sym typeface="Arial"/>
                          </a:rPr>
                          <m:t>D</m:t>
                        </m:r>
                      </m:sub>
                    </m:sSub>
                    <m:f>
                      <m:fPr>
                        <m:ctrlPr>
                          <a:rPr lang="en-US" sz="2300" i="1">
                            <a:latin typeface="Cambria Math" panose="02040503050406030204" pitchFamily="18" charset="0"/>
                            <a:cs typeface="Arial"/>
                            <a:sym typeface="Arial"/>
                          </a:rPr>
                        </m:ctrlPr>
                      </m:fPr>
                      <m:num>
                        <m:r>
                          <m:rPr>
                            <m:sty m:val="p"/>
                          </m:rPr>
                          <a:rPr lang="en-US" sz="2300" i="1">
                            <a:latin typeface="Cambria Math" panose="02040503050406030204" pitchFamily="18" charset="0"/>
                            <a:cs typeface="Arial"/>
                            <a:sym typeface="Arial"/>
                          </a:rPr>
                          <m:t>de</m:t>
                        </m:r>
                        <m:r>
                          <a:rPr lang="en-US" sz="2300" i="1">
                            <a:latin typeface="Cambria Math" panose="02040503050406030204" pitchFamily="18" charset="0"/>
                            <a:cs typeface="Arial"/>
                            <a:sym typeface="Arial"/>
                          </a:rPr>
                          <m:t>(</m:t>
                        </m:r>
                        <m:r>
                          <m:rPr>
                            <m:sty m:val="p"/>
                          </m:rPr>
                          <a:rPr lang="en-US" sz="2300" i="1">
                            <a:latin typeface="Cambria Math" panose="02040503050406030204" pitchFamily="18" charset="0"/>
                            <a:cs typeface="Arial"/>
                            <a:sym typeface="Arial"/>
                          </a:rPr>
                          <m:t>t</m:t>
                        </m:r>
                        <m:r>
                          <a:rPr lang="en-US" sz="2300" i="1">
                            <a:latin typeface="Cambria Math" panose="02040503050406030204" pitchFamily="18" charset="0"/>
                            <a:cs typeface="Arial"/>
                            <a:sym typeface="Arial"/>
                          </a:rPr>
                          <m:t>)</m:t>
                        </m:r>
                      </m:num>
                      <m:den>
                        <m:r>
                          <m:rPr>
                            <m:sty m:val="p"/>
                          </m:rPr>
                          <a:rPr lang="en-US" sz="2300" i="1">
                            <a:latin typeface="Cambria Math" panose="02040503050406030204" pitchFamily="18" charset="0"/>
                            <a:cs typeface="Arial"/>
                            <a:sym typeface="Arial"/>
                          </a:rPr>
                          <m:t>dt</m:t>
                        </m:r>
                      </m:den>
                    </m:f>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Simple as that!</a:t>
                </a:r>
              </a:p>
            </p:txBody>
          </p:sp>
        </mc:Choice>
        <mc:Fallback>
          <p:sp>
            <p:nvSpPr>
              <p:cNvPr id="118" name="Google Shape;118;p29">
                <a:extLst>
                  <a:ext uri="{FF2B5EF4-FFF2-40B4-BE49-F238E27FC236}">
                    <a16:creationId xmlns:a16="http://schemas.microsoft.com/office/drawing/2014/main" id="{3DA616B4-9278-0966-B5DA-EE9A8473994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9DB25D9-9612-FACA-1FCD-AAE6973E002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250A7B3-F65D-72E0-A835-FDFBB877E60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A0A9B41-BDE3-9D36-A721-E0A79DE9FE6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2C02BD0-B383-3699-D3AC-1390C84E04B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F500BF6-3A2B-C243-00A6-387AE924245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C92F1F6-8253-69E2-748B-20A463D8CE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18BCC9-0BF6-5763-A911-29BD4080157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17239B-5E02-7547-7855-E75DF699A20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49632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2045E0F-2F66-E392-A2FA-6ADE1A7604C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8586C46-8443-0F4B-2CB8-7CC06F72D95C}"/>
              </a:ext>
            </a:extLst>
          </p:cNvPr>
          <p:cNvSpPr txBox="1">
            <a:spLocks noGrp="1"/>
          </p:cNvSpPr>
          <p:nvPr>
            <p:ph type="body" idx="1"/>
          </p:nvPr>
        </p:nvSpPr>
        <p:spPr>
          <a:xfrm>
            <a:off x="61983" y="1334279"/>
            <a:ext cx="4319517"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1200" dirty="0">
                <a:solidFill>
                  <a:srgbClr val="7F0055"/>
                </a:solidFill>
                <a:latin typeface="Consolas" panose="020B0609020204030204" pitchFamily="49" charset="0"/>
              </a:rPr>
              <a:t>#define</a:t>
            </a:r>
            <a:r>
              <a:rPr lang="en-US" sz="1200" dirty="0">
                <a:solidFill>
                  <a:srgbClr val="000000"/>
                </a:solidFill>
                <a:latin typeface="Consolas" panose="020B0609020204030204" pitchFamily="49" charset="0"/>
              </a:rPr>
              <a:t> MAX_EFFORT 10.0f</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7F0055"/>
                </a:solidFill>
                <a:latin typeface="Consolas" panose="020B0609020204030204" pitchFamily="49" charset="0"/>
              </a:rPr>
              <a:t>struct</a:t>
            </a:r>
            <a:r>
              <a:rPr lang="en-US" sz="1200" dirty="0">
                <a:solidFill>
                  <a:srgbClr val="000000"/>
                </a:solidFill>
                <a:latin typeface="Consolas" panose="020B0609020204030204" pitchFamily="49" charset="0"/>
              </a:rPr>
              <a:t> </a:t>
            </a:r>
            <a:r>
              <a:rPr lang="en-US" sz="1200" dirty="0">
                <a:solidFill>
                  <a:srgbClr val="005032"/>
                </a:solidFill>
                <a:latin typeface="Consolas" panose="020B0609020204030204" pitchFamily="49" charset="0"/>
              </a:rPr>
              <a:t>PID</a:t>
            </a:r>
            <a:r>
              <a:rPr lang="en-US" sz="1200" dirty="0">
                <a:solidFill>
                  <a:srgbClr val="000000"/>
                </a:solidFill>
                <a:latin typeface="Consolas" panose="020B0609020204030204" pitchFamily="49" charset="0"/>
              </a:rPr>
              <a:t> {</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C0"/>
                </a:solidFill>
                <a:latin typeface="Consolas" panose="020B0609020204030204" pitchFamily="49" charset="0"/>
              </a:rPr>
              <a:t>Kp</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Ki</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integral</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saturate(</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input,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satVal</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    input = (input &gt; </a:t>
            </a:r>
            <a:r>
              <a:rPr lang="en-US" sz="1200" dirty="0" err="1">
                <a:solidFill>
                  <a:srgbClr val="000000"/>
                </a:solidFill>
                <a:latin typeface="Consolas" panose="020B0609020204030204" pitchFamily="49" charset="0"/>
              </a:rPr>
              <a:t>satVal</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satVal</a:t>
            </a:r>
            <a:r>
              <a:rPr lang="en-US" sz="1200" dirty="0">
                <a:solidFill>
                  <a:srgbClr val="000000"/>
                </a:solidFill>
                <a:latin typeface="Consolas" panose="020B0609020204030204" pitchFamily="49" charset="0"/>
              </a:rPr>
              <a:t> : input;</a:t>
            </a:r>
          </a:p>
          <a:p>
            <a:pPr marL="114300" indent="0" algn="l">
              <a:spcBef>
                <a:spcPts val="0"/>
              </a:spcBef>
              <a:buNone/>
            </a:pPr>
            <a:r>
              <a:rPr lang="en-US" sz="1200" dirty="0">
                <a:solidFill>
                  <a:srgbClr val="000000"/>
                </a:solidFill>
                <a:latin typeface="Consolas" panose="020B0609020204030204" pitchFamily="49" charset="0"/>
              </a:rPr>
              <a:t>    input = (input &lt; -</a:t>
            </a:r>
            <a:r>
              <a:rPr lang="en-US" sz="1200" dirty="0" err="1">
                <a:solidFill>
                  <a:srgbClr val="000000"/>
                </a:solidFill>
                <a:latin typeface="Consolas" panose="020B0609020204030204" pitchFamily="49" charset="0"/>
              </a:rPr>
              <a:t>satVal</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satVal</a:t>
            </a:r>
            <a:r>
              <a:rPr lang="en-US" sz="1200" dirty="0">
                <a:solidFill>
                  <a:srgbClr val="000000"/>
                </a:solidFill>
                <a:latin typeface="Consolas" panose="020B0609020204030204" pitchFamily="49" charset="0"/>
              </a:rPr>
              <a:t> : input;</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input;</a:t>
            </a:r>
          </a:p>
          <a:p>
            <a:pPr marL="114300" indent="0" algn="l">
              <a:spcBef>
                <a:spcPts val="0"/>
              </a:spcBef>
              <a:buNone/>
            </a:pPr>
            <a:r>
              <a:rPr lang="en-US" sz="1200" dirty="0">
                <a:solidFill>
                  <a:srgbClr val="000000"/>
                </a:solidFill>
                <a:latin typeface="Consolas" panose="020B0609020204030204" pitchFamily="49" charset="0"/>
              </a:rPr>
              <a:t>}</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sign(</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x){</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if</a:t>
            </a:r>
            <a:r>
              <a:rPr lang="en-US" sz="1200" dirty="0">
                <a:solidFill>
                  <a:srgbClr val="000000"/>
                </a:solidFill>
                <a:latin typeface="Consolas" panose="020B0609020204030204" pitchFamily="49" charset="0"/>
              </a:rPr>
              <a:t> (x &gt; 0.0f)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1;</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if</a:t>
            </a:r>
            <a:r>
              <a:rPr lang="en-US" sz="1200" dirty="0">
                <a:solidFill>
                  <a:srgbClr val="000000"/>
                </a:solidFill>
                <a:latin typeface="Consolas" panose="020B0609020204030204" pitchFamily="49" charset="0"/>
              </a:rPr>
              <a:t> (x &lt; 0.0f)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-1;</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0;</a:t>
            </a:r>
          </a:p>
          <a:p>
            <a:pPr marL="114300" indent="0" algn="l">
              <a:spcBef>
                <a:spcPts val="0"/>
              </a:spcBef>
              <a:buNone/>
            </a:pPr>
            <a:r>
              <a:rPr lang="en-US" sz="1200" dirty="0">
                <a:solidFill>
                  <a:srgbClr val="000000"/>
                </a:solidFill>
                <a:latin typeface="Consolas" panose="020B0609020204030204" pitchFamily="49" charset="0"/>
              </a:rPr>
              <a:t>}</a:t>
            </a:r>
            <a:endParaRPr lang="en-US" sz="1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371A8D4-7C0C-53F0-A984-6A43AF9C08B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45286FA-C3D3-653C-1B74-CC65ED7EAC1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0AC0DE0-D856-6C5A-FEAE-5580223C795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7DFE86E-7545-2029-B8A6-C28AEF57D9A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18A1246-94CC-7FA1-8D46-6825B5F6B7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267D424-DC5A-59C8-7BC0-127EC4E5AA0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B675FB-E979-1284-B8A7-78400226670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9BD2E46-7457-784E-37D0-842F4C26EE5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4" name="Google Shape;118;p29">
            <a:extLst>
              <a:ext uri="{FF2B5EF4-FFF2-40B4-BE49-F238E27FC236}">
                <a16:creationId xmlns:a16="http://schemas.microsoft.com/office/drawing/2014/main" id="{D26156EE-88FB-A4C0-25FE-E0CA9C511D71}"/>
              </a:ext>
            </a:extLst>
          </p:cNvPr>
          <p:cNvSpPr txBox="1">
            <a:spLocks/>
          </p:cNvSpPr>
          <p:nvPr/>
        </p:nvSpPr>
        <p:spPr>
          <a:xfrm>
            <a:off x="4381500" y="1334279"/>
            <a:ext cx="7678071" cy="50647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lgn="l">
              <a:spcBef>
                <a:spcPts val="0"/>
              </a:spcBef>
              <a:buNone/>
            </a:pP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PIControl</a:t>
            </a:r>
            <a:r>
              <a:rPr lang="en-US" sz="1200" dirty="0">
                <a:solidFill>
                  <a:srgbClr val="000000"/>
                </a:solidFill>
                <a:latin typeface="Consolas" panose="020B0609020204030204" pitchFamily="49" charset="0"/>
              </a:rPr>
              <a:t>(</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reference,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target,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dt, </a:t>
            </a:r>
            <a:r>
              <a:rPr lang="en-US" sz="1200" dirty="0">
                <a:solidFill>
                  <a:srgbClr val="7F0055"/>
                </a:solidFill>
                <a:latin typeface="Consolas" panose="020B0609020204030204" pitchFamily="49" charset="0"/>
              </a:rPr>
              <a:t>struct</a:t>
            </a:r>
            <a:r>
              <a:rPr lang="en-US" sz="1200" dirty="0">
                <a:solidFill>
                  <a:srgbClr val="000000"/>
                </a:solidFill>
                <a:latin typeface="Consolas" panose="020B0609020204030204" pitchFamily="49" charset="0"/>
              </a:rPr>
              <a:t> </a:t>
            </a:r>
            <a:r>
              <a:rPr lang="en-US" sz="1200" dirty="0">
                <a:solidFill>
                  <a:srgbClr val="005032"/>
                </a:solidFill>
                <a:latin typeface="Consolas" panose="020B0609020204030204" pitchFamily="49" charset="0"/>
              </a:rPr>
              <a:t>PID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pidState</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if</a:t>
            </a:r>
            <a:r>
              <a:rPr lang="en-US" sz="1200" dirty="0">
                <a:solidFill>
                  <a:srgbClr val="000000"/>
                </a:solidFill>
                <a:latin typeface="Consolas" panose="020B0609020204030204" pitchFamily="49" charset="0"/>
              </a:rPr>
              <a:t> (dt &lt;= 0.0f)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0.0f;</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error = reference - target;</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Compute integral</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integral = </a:t>
            </a:r>
            <a:r>
              <a:rPr lang="en-US" sz="1200" dirty="0" err="1">
                <a:solidFill>
                  <a:srgbClr val="000000"/>
                </a:solidFill>
                <a:latin typeface="Consolas" panose="020B0609020204030204" pitchFamily="49" charset="0"/>
              </a:rPr>
              <a:t>pidState</a:t>
            </a:r>
            <a:r>
              <a:rPr lang="en-US" sz="1200" dirty="0">
                <a:solidFill>
                  <a:srgbClr val="000000"/>
                </a:solidFill>
                <a:latin typeface="Consolas" panose="020B0609020204030204" pitchFamily="49" charset="0"/>
              </a:rPr>
              <a:t>-&gt;</a:t>
            </a:r>
            <a:r>
              <a:rPr lang="en-US" sz="1200" dirty="0">
                <a:solidFill>
                  <a:srgbClr val="0000C0"/>
                </a:solidFill>
                <a:latin typeface="Consolas" panose="020B0609020204030204" pitchFamily="49" charset="0"/>
              </a:rPr>
              <a:t>integral</a:t>
            </a:r>
            <a:r>
              <a:rPr lang="en-US" sz="1200" dirty="0">
                <a:solidFill>
                  <a:srgbClr val="000000"/>
                </a:solidFill>
                <a:latin typeface="Consolas" panose="020B0609020204030204" pitchFamily="49" charset="0"/>
              </a:rPr>
              <a:t> + error * dt;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Compute PI using tentative integral</a:t>
            </a:r>
          </a:p>
          <a:p>
            <a:pPr marL="114300" indent="0" algn="l">
              <a:spcBef>
                <a:spcPts val="0"/>
              </a:spcBef>
              <a:buNone/>
            </a:pPr>
            <a:r>
              <a:rPr lang="da-DK" sz="1200" dirty="0">
                <a:solidFill>
                  <a:srgbClr val="000000"/>
                </a:solidFill>
                <a:latin typeface="Consolas" panose="020B0609020204030204" pitchFamily="49" charset="0"/>
              </a:rPr>
              <a:t>    </a:t>
            </a:r>
            <a:r>
              <a:rPr lang="da-DK" sz="1200" dirty="0">
                <a:solidFill>
                  <a:srgbClr val="7F0055"/>
                </a:solidFill>
                <a:latin typeface="Consolas" panose="020B0609020204030204" pitchFamily="49" charset="0"/>
              </a:rPr>
              <a:t>float</a:t>
            </a:r>
            <a:r>
              <a:rPr lang="da-DK" sz="1200" dirty="0">
                <a:solidFill>
                  <a:srgbClr val="000000"/>
                </a:solidFill>
                <a:latin typeface="Consolas" panose="020B0609020204030204" pitchFamily="49" charset="0"/>
              </a:rPr>
              <a:t> effort = pidState-&gt;</a:t>
            </a:r>
            <a:r>
              <a:rPr lang="da-DK" sz="1200" dirty="0">
                <a:solidFill>
                  <a:srgbClr val="0000C0"/>
                </a:solidFill>
                <a:latin typeface="Consolas" panose="020B0609020204030204" pitchFamily="49" charset="0"/>
              </a:rPr>
              <a:t>Kp</a:t>
            </a:r>
            <a:r>
              <a:rPr lang="da-DK" sz="1200" dirty="0">
                <a:solidFill>
                  <a:srgbClr val="000000"/>
                </a:solidFill>
                <a:latin typeface="Consolas" panose="020B0609020204030204" pitchFamily="49" charset="0"/>
              </a:rPr>
              <a:t> * error + </a:t>
            </a:r>
          </a:p>
          <a:p>
            <a:pPr marL="114300" indent="0" algn="l">
              <a:spcBef>
                <a:spcPts val="0"/>
              </a:spcBef>
              <a:buNone/>
            </a:pPr>
            <a:r>
              <a:rPr lang="da-DK" sz="1200" dirty="0">
                <a:solidFill>
                  <a:srgbClr val="000000"/>
                </a:solidFill>
                <a:latin typeface="Consolas" panose="020B0609020204030204" pitchFamily="49" charset="0"/>
              </a:rPr>
              <a:t>                   pidState-&gt;</a:t>
            </a:r>
            <a:r>
              <a:rPr lang="da-DK" sz="1200" dirty="0">
                <a:solidFill>
                  <a:srgbClr val="0000C0"/>
                </a:solidFill>
                <a:latin typeface="Consolas" panose="020B0609020204030204" pitchFamily="49" charset="0"/>
              </a:rPr>
              <a:t>Ki</a:t>
            </a:r>
            <a:r>
              <a:rPr lang="da-DK" sz="1200" dirty="0">
                <a:solidFill>
                  <a:srgbClr val="000000"/>
                </a:solidFill>
                <a:latin typeface="Consolas" panose="020B0609020204030204" pitchFamily="49" charset="0"/>
              </a:rPr>
              <a:t> * integral;</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Saturate control input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effortSat</a:t>
            </a:r>
            <a:r>
              <a:rPr lang="en-US" sz="1200" dirty="0">
                <a:solidFill>
                  <a:srgbClr val="000000"/>
                </a:solidFill>
                <a:latin typeface="Consolas" panose="020B0609020204030204" pitchFamily="49" charset="0"/>
              </a:rPr>
              <a:t> = saturate(effort, MAX_EFFORT);</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Anti-windup condition</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The output is saturating</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The error is the same sign as the controller output</a:t>
            </a: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if</a:t>
            </a:r>
            <a:r>
              <a:rPr lang="en-US" sz="1200" dirty="0">
                <a:solidFill>
                  <a:srgbClr val="000000"/>
                </a:solidFill>
                <a:latin typeface="Consolas" panose="020B0609020204030204" pitchFamily="49" charset="0"/>
              </a:rPr>
              <a:t>(!(effort != </a:t>
            </a:r>
            <a:r>
              <a:rPr lang="en-US" sz="1200" dirty="0" err="1">
                <a:solidFill>
                  <a:srgbClr val="000000"/>
                </a:solidFill>
                <a:latin typeface="Consolas" panose="020B0609020204030204" pitchFamily="49" charset="0"/>
              </a:rPr>
              <a:t>effortSat</a:t>
            </a:r>
            <a:r>
              <a:rPr lang="en-US" sz="1200" dirty="0">
                <a:solidFill>
                  <a:srgbClr val="000000"/>
                </a:solidFill>
                <a:latin typeface="Consolas" panose="020B0609020204030204" pitchFamily="49" charset="0"/>
              </a:rPr>
              <a:t> &amp;&amp; sign(effort) == sign(error))){</a:t>
            </a:r>
          </a:p>
          <a:p>
            <a:pPr marL="114300" indent="0" algn="l">
              <a:spcBef>
                <a:spcPts val="0"/>
              </a:spcBef>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pidState</a:t>
            </a:r>
            <a:r>
              <a:rPr lang="en-US" sz="1200" dirty="0">
                <a:solidFill>
                  <a:srgbClr val="000000"/>
                </a:solidFill>
                <a:latin typeface="Consolas" panose="020B0609020204030204" pitchFamily="49" charset="0"/>
              </a:rPr>
              <a:t>-&gt;</a:t>
            </a:r>
            <a:r>
              <a:rPr lang="en-US" sz="1200" dirty="0">
                <a:solidFill>
                  <a:srgbClr val="0000C0"/>
                </a:solidFill>
                <a:latin typeface="Consolas" panose="020B0609020204030204" pitchFamily="49" charset="0"/>
              </a:rPr>
              <a:t>integral</a:t>
            </a:r>
            <a:r>
              <a:rPr lang="en-US" sz="1200" dirty="0">
                <a:solidFill>
                  <a:srgbClr val="000000"/>
                </a:solidFill>
                <a:latin typeface="Consolas" panose="020B0609020204030204" pitchFamily="49" charset="0"/>
              </a:rPr>
              <a:t> = integral;</a:t>
            </a:r>
          </a:p>
          <a:p>
            <a:pPr marL="114300" indent="0" algn="l">
              <a:spcBef>
                <a:spcPts val="0"/>
              </a:spcBef>
              <a:buNone/>
            </a:pPr>
            <a:r>
              <a:rPr lang="en-US" sz="1200" dirty="0">
                <a:solidFill>
                  <a:srgbClr val="000000"/>
                </a:solidFill>
                <a:latin typeface="Consolas" panose="020B0609020204030204" pitchFamily="49" charset="0"/>
              </a:rPr>
              <a:t>    }</a:t>
            </a:r>
          </a:p>
          <a:p>
            <a:pPr marL="114300" indent="0" algn="l">
              <a:spcBef>
                <a:spcPts val="0"/>
              </a:spcBef>
              <a:buNone/>
            </a:pPr>
            <a:endParaRPr lang="en-US" sz="1200" dirty="0">
              <a:latin typeface="Consolas" panose="020B0609020204030204" pitchFamily="49" charset="0"/>
            </a:endParaRPr>
          </a:p>
          <a:p>
            <a:pPr marL="114300" indent="0" algn="l">
              <a:spcBef>
                <a:spcPts val="0"/>
              </a:spcBef>
              <a:buNone/>
            </a:pP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effortSat</a:t>
            </a:r>
            <a:r>
              <a:rPr lang="en-US" sz="1200" dirty="0">
                <a:solidFill>
                  <a:srgbClr val="000000"/>
                </a:solidFill>
                <a:latin typeface="Consolas" panose="020B0609020204030204" pitchFamily="49" charset="0"/>
              </a:rPr>
              <a:t>;</a:t>
            </a:r>
          </a:p>
          <a:p>
            <a:pPr marL="114300" indent="0" algn="l">
              <a:spcBef>
                <a:spcPts val="0"/>
              </a:spcBef>
              <a:buNone/>
            </a:pPr>
            <a:r>
              <a:rPr lang="en-US" sz="12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626605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D363795-DE55-A94F-FD90-EC42B8D87FD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BFC1466-9BBF-4139-F030-AE67F2461EC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AE0945C-96F6-CF56-062F-1C9DE4165B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22615E3-A724-0778-D7D6-E87C8380332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39925AD-8FFF-7702-1A0D-9CFBAF9834E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850D1A-F8ED-BDE2-BEAC-6644A785EF4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E84E3BD-0402-AEE3-C758-36D3702AB42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AAEC778-17D5-9B55-208F-B616DF0021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00372F8-2E41-1EEA-2EF9-6F32AEC05DD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3584541B-4232-5505-0887-C6A2D876293E}"/>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869FDA0-4CF7-481C-A8DF-0846B8BF8F79}"/>
              </a:ext>
            </a:extLst>
          </p:cNvPr>
          <p:cNvPicPr>
            <a:picLocks noChangeAspect="1"/>
          </p:cNvPicPr>
          <p:nvPr/>
        </p:nvPicPr>
        <p:blipFill>
          <a:blip r:embed="rId4"/>
          <a:srcRect/>
          <a:stretch/>
        </p:blipFill>
        <p:spPr>
          <a:xfrm>
            <a:off x="1035965" y="988053"/>
            <a:ext cx="9591714" cy="5297515"/>
          </a:xfrm>
          <a:prstGeom prst="rect">
            <a:avLst/>
          </a:prstGeom>
        </p:spPr>
      </p:pic>
      <p:sp>
        <p:nvSpPr>
          <p:cNvPr id="6" name="TextBox 5">
            <a:extLst>
              <a:ext uri="{FF2B5EF4-FFF2-40B4-BE49-F238E27FC236}">
                <a16:creationId xmlns:a16="http://schemas.microsoft.com/office/drawing/2014/main" id="{059E5D66-2DEE-E176-C7C1-94C178693A97}"/>
              </a:ext>
            </a:extLst>
          </p:cNvPr>
          <p:cNvSpPr txBox="1"/>
          <p:nvPr/>
        </p:nvSpPr>
        <p:spPr>
          <a:xfrm>
            <a:off x="1903909" y="6290009"/>
            <a:ext cx="7855827" cy="253916"/>
          </a:xfrm>
          <a:prstGeom prst="rect">
            <a:avLst/>
          </a:prstGeom>
          <a:noFill/>
        </p:spPr>
        <p:txBody>
          <a:bodyPr wrap="square" rtlCol="0">
            <a:spAutoFit/>
          </a:bodyPr>
          <a:lstStyle/>
          <a:p>
            <a:pPr algn="ctr"/>
            <a:r>
              <a:rPr lang="en-US" sz="1050" dirty="0">
                <a:hlinkClick r:id="rId5"/>
              </a:rPr>
              <a:t>https://www.mathworks.com/videos/understanding-pid-control-part-2-expanding-beyond-a-simple-integral-1528310418260.html</a:t>
            </a:r>
            <a:r>
              <a:rPr lang="en-US" sz="1050" dirty="0"/>
              <a:t> </a:t>
            </a:r>
          </a:p>
        </p:txBody>
      </p:sp>
    </p:spTree>
    <p:extLst>
      <p:ext uri="{BB962C8B-B14F-4D97-AF65-F5344CB8AC3E}">
        <p14:creationId xmlns:p14="http://schemas.microsoft.com/office/powerpoint/2010/main" val="2637038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BC322D8-93FC-2CFE-5BE4-AA6851391FA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0B480B7-51FB-19CD-55F8-7CBBADF298AC}"/>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9EF4E0D2-6882-A3A2-5A81-28CFA29BAEAA}"/>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Tuning</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917159B2-3AC6-E395-9D00-3B872C57013C}"/>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417AA023-A2E1-8FFB-EC11-8977B964C1DB}"/>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6E8B5E93-4309-4BCE-A083-48322A2CC213}"/>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B7776EBD-F381-18AB-AF18-DBA02542784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FDAB1023-BF74-BCAA-4648-9477ABCDAE7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F4FB2F5-4144-AC63-CE68-A87420003C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65EFD59-5BEF-A6A7-6BA7-28F094DB2178}"/>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701D3C78-8261-0F06-D803-613AE57A8C0F}"/>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7A2246AD-F16B-BB01-AAB2-98B452645146}"/>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688697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0E9C9D-053D-DF32-F6CE-1D99270AF62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7D43EFB-CB66-ACB1-EFCC-33AEF227727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AC0E6B7-D4DC-BB8E-3F3A-D5690BABEB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625986B-9103-AD6D-F571-81D008FE8C9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271EEF-38E2-DF1D-DF58-1A21E1C6DBC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E6DBDB-C072-3B4D-8221-C89D57243F9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AD39ED1-7491-ECDF-AA49-1583826FD57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94FC946-C476-E24F-69E1-A5355C7B7AD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A4EC189-2DE4-0A7E-DBB6-2F4A0712EE0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Picture 4">
            <a:extLst>
              <a:ext uri="{FF2B5EF4-FFF2-40B4-BE49-F238E27FC236}">
                <a16:creationId xmlns:a16="http://schemas.microsoft.com/office/drawing/2014/main" id="{F019B837-225D-A578-169B-D851C7A2C1D3}"/>
              </a:ext>
            </a:extLst>
          </p:cNvPr>
          <p:cNvPicPr>
            <a:picLocks noChangeAspect="1"/>
          </p:cNvPicPr>
          <p:nvPr/>
        </p:nvPicPr>
        <p:blipFill>
          <a:blip r:embed="rId4"/>
          <a:stretch>
            <a:fillRect/>
          </a:stretch>
        </p:blipFill>
        <p:spPr>
          <a:xfrm>
            <a:off x="1438937" y="950461"/>
            <a:ext cx="9314126" cy="5330674"/>
          </a:xfrm>
          <a:prstGeom prst="rect">
            <a:avLst/>
          </a:prstGeom>
        </p:spPr>
      </p:pic>
      <p:sp>
        <p:nvSpPr>
          <p:cNvPr id="6" name="TextBox 5">
            <a:extLst>
              <a:ext uri="{FF2B5EF4-FFF2-40B4-BE49-F238E27FC236}">
                <a16:creationId xmlns:a16="http://schemas.microsoft.com/office/drawing/2014/main" id="{84C799C4-5D39-F880-E60E-5D8654B23F5A}"/>
              </a:ext>
            </a:extLst>
          </p:cNvPr>
          <p:cNvSpPr txBox="1"/>
          <p:nvPr/>
        </p:nvSpPr>
        <p:spPr>
          <a:xfrm>
            <a:off x="2728354" y="6295756"/>
            <a:ext cx="6735293" cy="261610"/>
          </a:xfrm>
          <a:prstGeom prst="rect">
            <a:avLst/>
          </a:prstGeom>
          <a:noFill/>
        </p:spPr>
        <p:txBody>
          <a:bodyPr wrap="square" rtlCol="0">
            <a:spAutoFit/>
          </a:bodyPr>
          <a:lstStyle/>
          <a:p>
            <a:pPr algn="ctr"/>
            <a:r>
              <a:rPr lang="en-US" sz="1050" dirty="0">
                <a:hlinkClick r:id="rId5"/>
              </a:rPr>
              <a:t>https://www.mathworks.com/videos/understanding-pid-control-part-4-a-pid-tuning-guide-1531124725727.html</a:t>
            </a:r>
            <a:r>
              <a:rPr lang="en-US" sz="1050" dirty="0"/>
              <a:t> </a:t>
            </a:r>
          </a:p>
        </p:txBody>
      </p:sp>
    </p:spTree>
    <p:extLst>
      <p:ext uri="{BB962C8B-B14F-4D97-AF65-F5344CB8AC3E}">
        <p14:creationId xmlns:p14="http://schemas.microsoft.com/office/powerpoint/2010/main" val="3293061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3D23A39-2F20-0484-C786-EE3193D16C9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8A393C97-19ED-F601-FD67-1F282319EE6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In this class we will only be doing manual tuning, it is just intuition based but given that there are only 3 gains, it is fast to find appropriate constants!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manual method for tuning is simple:</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Set all gains to 0 and start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i="1">
                            <a:latin typeface="Cambria Math" panose="02040503050406030204" pitchFamily="18" charset="0"/>
                            <a:cs typeface="Arial"/>
                            <a:sym typeface="Arial"/>
                          </a:rPr>
                          <m:t>p</m:t>
                        </m:r>
                      </m:sub>
                    </m:sSub>
                  </m:oMath>
                </a14:m>
                <a:r>
                  <a:rPr lang="en-US" sz="2400" dirty="0">
                    <a:latin typeface="Atkinson Hyperlegible Next"/>
                    <a:ea typeface="Arial"/>
                    <a:cs typeface="Arial"/>
                    <a:sym typeface="Arial"/>
                  </a:rPr>
                  <a:t> at 1</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Keep increasing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P</m:t>
                        </m:r>
                      </m:sub>
                    </m:sSub>
                  </m:oMath>
                </a14:m>
                <a:r>
                  <a:rPr lang="en-US" sz="2400" dirty="0">
                    <a:latin typeface="Atkinson Hyperlegible Next"/>
                    <a:ea typeface="Arial"/>
                    <a:cs typeface="Arial"/>
                    <a:sym typeface="Arial"/>
                  </a:rPr>
                  <a:t> until the output of the system causes it to oscillate</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Then set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P</m:t>
                        </m:r>
                      </m:sub>
                    </m:sSub>
                  </m:oMath>
                </a14:m>
                <a:r>
                  <a:rPr lang="en-US" sz="2400" dirty="0">
                    <a:latin typeface="Atkinson Hyperlegible Next"/>
                    <a:ea typeface="Arial"/>
                    <a:cs typeface="Arial"/>
                    <a:sym typeface="Arial"/>
                  </a:rPr>
                  <a:t> approximately half that value </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Then increase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I</m:t>
                        </m:r>
                      </m:sub>
                    </m:sSub>
                  </m:oMath>
                </a14:m>
                <a:r>
                  <a:rPr lang="en-US" sz="2400" dirty="0">
                    <a:latin typeface="Atkinson Hyperlegible Next"/>
                    <a:ea typeface="Arial"/>
                    <a:cs typeface="Arial"/>
                    <a:sym typeface="Arial"/>
                  </a:rPr>
                  <a:t> until any offset is corrected</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Then, optionally, increase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D</m:t>
                        </m:r>
                      </m:sub>
                    </m:sSub>
                  </m:oMath>
                </a14:m>
                <a:r>
                  <a:rPr lang="en-US" sz="2400" dirty="0">
                    <a:latin typeface="Atkinson Hyperlegible Next"/>
                    <a:ea typeface="Arial"/>
                    <a:cs typeface="Arial"/>
                    <a:sym typeface="Arial"/>
                  </a:rPr>
                  <a:t> to remove overshoot </a:t>
                </a:r>
              </a:p>
              <a:p>
                <a:pPr indent="-457200">
                  <a:lnSpc>
                    <a:spcPct val="100000"/>
                  </a:lnSpc>
                  <a:spcBef>
                    <a:spcPts val="0"/>
                  </a:spcBef>
                  <a:buSzPts val="3000"/>
                  <a:buFont typeface="+mj-lt"/>
                  <a:buAutoNum type="arabicPeriod"/>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Usually,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i="1">
                            <a:latin typeface="Cambria Math" panose="02040503050406030204" pitchFamily="18" charset="0"/>
                            <a:cs typeface="Arial"/>
                            <a:sym typeface="Arial"/>
                          </a:rPr>
                          <m:t>P</m:t>
                        </m:r>
                      </m:sub>
                    </m:sSub>
                  </m:oMath>
                </a14:m>
                <a:r>
                  <a:rPr lang="en-US" sz="2400" dirty="0">
                    <a:latin typeface="Atkinson Hyperlegible Next"/>
                    <a:ea typeface="Arial"/>
                    <a:cs typeface="Arial"/>
                    <a:sym typeface="Arial"/>
                  </a:rPr>
                  <a:t> has the highest magnitude,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I</m:t>
                        </m:r>
                      </m:sub>
                    </m:sSub>
                  </m:oMath>
                </a14:m>
                <a:r>
                  <a:rPr lang="en-US" sz="2400" dirty="0">
                    <a:latin typeface="Atkinson Hyperlegible Next"/>
                    <a:ea typeface="Arial"/>
                    <a:cs typeface="Arial"/>
                    <a:sym typeface="Arial"/>
                  </a:rPr>
                  <a:t> next and then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D</m:t>
                        </m:r>
                      </m:sub>
                    </m:sSub>
                  </m:oMath>
                </a14:m>
                <a:r>
                  <a:rPr lang="en-US" sz="2400" dirty="0">
                    <a:latin typeface="Atkinson Hyperlegible Next"/>
                    <a:ea typeface="Arial"/>
                    <a:cs typeface="Arial"/>
                    <a:sym typeface="Arial"/>
                  </a:rPr>
                  <a:t>.</a:t>
                </a:r>
              </a:p>
            </p:txBody>
          </p:sp>
        </mc:Choice>
        <mc:Fallback>
          <p:sp>
            <p:nvSpPr>
              <p:cNvPr id="118" name="Google Shape;118;p29">
                <a:extLst>
                  <a:ext uri="{FF2B5EF4-FFF2-40B4-BE49-F238E27FC236}">
                    <a16:creationId xmlns:a16="http://schemas.microsoft.com/office/drawing/2014/main" id="{8A393C97-19ED-F601-FD67-1F282319EE6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D6BC403-E629-E751-A298-920CA126377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B0D3DEC-6604-1EFE-8D10-75D5E70FC4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9FAEB16-AAA3-2C08-C2B9-616B750B647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D2E156-0A48-7DEB-2CF4-A8FF2A7F24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68A101F-7D4A-56E2-0D42-4325DB3E620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DF0B5B5-54D6-031C-0C31-494BA63EDEA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7BE0FE-86BF-0DA7-B213-D1FD29BC289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2647831-2490-C941-065A-06979345AF6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14005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AD98172-DDA0-678C-184F-808554FB333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88A29F6-16B6-0DD3-40C2-C051CF73FE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7DBC3E7A-80CC-3A75-3B00-14EDD8089D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DB79A92-33FA-7913-746E-6F2099DCA10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EC98D15-3C5D-B9B5-F33F-2F013683B36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5D4D95D-B46A-2024-BB6D-8535A0253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46B0F6A-4BE3-595C-887E-D9D64E555F2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27B5794-E697-4DF3-A0B7-9CC4CED9EE1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202C330-AED1-050C-8E6C-AA62EDE6B3A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FD1E33-3F54-EE0E-1513-1CA471F643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mc:Choice xmlns:a14="http://schemas.microsoft.com/office/drawing/2010/main" Requires="a14">
          <p:graphicFrame>
            <p:nvGraphicFramePr>
              <p:cNvPr id="9" name="Table 8">
                <a:extLst>
                  <a:ext uri="{FF2B5EF4-FFF2-40B4-BE49-F238E27FC236}">
                    <a16:creationId xmlns:a16="http://schemas.microsoft.com/office/drawing/2014/main" id="{E4DE00ED-4432-B303-1D2F-6D3A4396D97F}"/>
                  </a:ext>
                </a:extLst>
              </p:cNvPr>
              <p:cNvGraphicFramePr>
                <a:graphicFrameLocks noGrp="1"/>
              </p:cNvGraphicFramePr>
              <p:nvPr>
                <p:extLst>
                  <p:ext uri="{D42A27DB-BD31-4B8C-83A1-F6EECF244321}">
                    <p14:modId xmlns:p14="http://schemas.microsoft.com/office/powerpoint/2010/main" val="2832525533"/>
                  </p:ext>
                </p:extLst>
              </p:nvPr>
            </p:nvGraphicFramePr>
            <p:xfrm>
              <a:off x="1512571" y="1230629"/>
              <a:ext cx="9166858" cy="1750662"/>
            </p:xfrm>
            <a:graphic>
              <a:graphicData uri="http://schemas.openxmlformats.org/drawingml/2006/table">
                <a:tbl>
                  <a:tblPr firstRow="1" bandRow="1">
                    <a:tableStyleId>{5C22544A-7EE6-4342-B048-85BDC9FD1C3A}</a:tableStyleId>
                  </a:tblPr>
                  <a:tblGrid>
                    <a:gridCol w="1260771">
                      <a:extLst>
                        <a:ext uri="{9D8B030D-6E8A-4147-A177-3AD203B41FA5}">
                          <a16:colId xmlns:a16="http://schemas.microsoft.com/office/drawing/2014/main" val="3666783551"/>
                        </a:ext>
                      </a:extLst>
                    </a:gridCol>
                    <a:gridCol w="1451949">
                      <a:extLst>
                        <a:ext uri="{9D8B030D-6E8A-4147-A177-3AD203B41FA5}">
                          <a16:colId xmlns:a16="http://schemas.microsoft.com/office/drawing/2014/main" val="3085283467"/>
                        </a:ext>
                      </a:extLst>
                    </a:gridCol>
                    <a:gridCol w="1303020">
                      <a:extLst>
                        <a:ext uri="{9D8B030D-6E8A-4147-A177-3AD203B41FA5}">
                          <a16:colId xmlns:a16="http://schemas.microsoft.com/office/drawing/2014/main" val="298739786"/>
                        </a:ext>
                      </a:extLst>
                    </a:gridCol>
                    <a:gridCol w="1493520">
                      <a:extLst>
                        <a:ext uri="{9D8B030D-6E8A-4147-A177-3AD203B41FA5}">
                          <a16:colId xmlns:a16="http://schemas.microsoft.com/office/drawing/2014/main" val="216787488"/>
                        </a:ext>
                      </a:extLst>
                    </a:gridCol>
                    <a:gridCol w="1927860">
                      <a:extLst>
                        <a:ext uri="{9D8B030D-6E8A-4147-A177-3AD203B41FA5}">
                          <a16:colId xmlns:a16="http://schemas.microsoft.com/office/drawing/2014/main" val="1671318313"/>
                        </a:ext>
                      </a:extLst>
                    </a:gridCol>
                    <a:gridCol w="1729738">
                      <a:extLst>
                        <a:ext uri="{9D8B030D-6E8A-4147-A177-3AD203B41FA5}">
                          <a16:colId xmlns:a16="http://schemas.microsoft.com/office/drawing/2014/main" val="654106361"/>
                        </a:ext>
                      </a:extLst>
                    </a:gridCol>
                  </a:tblGrid>
                  <a:tr h="510193">
                    <a:tc>
                      <a:txBody>
                        <a:bodyPr/>
                        <a:lstStyle/>
                        <a:p>
                          <a:r>
                            <a:rPr lang="en-US" dirty="0"/>
                            <a:t>Parameter</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Steady-state error</a:t>
                          </a:r>
                        </a:p>
                      </a:txBody>
                      <a:tcPr/>
                    </a:tc>
                    <a:tc>
                      <a:txBody>
                        <a:bodyPr/>
                        <a:lstStyle/>
                        <a:p>
                          <a:r>
                            <a:rPr lang="en-US" dirty="0"/>
                            <a:t>Stability</a:t>
                          </a:r>
                        </a:p>
                      </a:txBody>
                      <a:tcPr/>
                    </a:tc>
                    <a:extLst>
                      <a:ext uri="{0D108BD9-81ED-4DB2-BD59-A6C34878D82A}">
                        <a16:rowId xmlns:a16="http://schemas.microsoft.com/office/drawing/2014/main" val="3771477073"/>
                      </a:ext>
                    </a:extLst>
                  </a:tr>
                  <a:tr h="510193">
                    <a:tc>
                      <a:txBody>
                        <a:bodyPr/>
                        <a:lstStyle/>
                        <a:p>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K</m:t>
                                  </m:r>
                                </m:e>
                                <m:sub>
                                  <m:r>
                                    <m:rPr>
                                      <m:sty m:val="p"/>
                                    </m:rPr>
                                    <a:rPr lang="en-US" b="0" i="1" smtClean="0">
                                      <a:latin typeface="Cambria Math" panose="02040503050406030204" pitchFamily="18" charset="0"/>
                                    </a:rPr>
                                    <m:t>P</m:t>
                                  </m:r>
                                </m:sub>
                              </m:sSub>
                            </m:oMath>
                          </a14:m>
                          <a:r>
                            <a:rPr lang="en-US" dirty="0"/>
                            <a:t> </a:t>
                          </a:r>
                        </a:p>
                      </a:txBody>
                      <a:tcPr/>
                    </a:tc>
                    <a:tc>
                      <a:txBody>
                        <a:bodyPr/>
                        <a:lstStyle/>
                        <a:p>
                          <a:r>
                            <a:rPr lang="en-US" dirty="0"/>
                            <a:t>Decrease</a:t>
                          </a:r>
                        </a:p>
                      </a:txBody>
                      <a:tcPr/>
                    </a:tc>
                    <a:tc>
                      <a:txBody>
                        <a:bodyPr/>
                        <a:lstStyle/>
                        <a:p>
                          <a:r>
                            <a:rPr lang="en-US" dirty="0"/>
                            <a:t>Increase</a:t>
                          </a:r>
                        </a:p>
                      </a:txBody>
                      <a:tcPr/>
                    </a:tc>
                    <a:tc>
                      <a:txBody>
                        <a:bodyPr/>
                        <a:lstStyle/>
                        <a:p>
                          <a:r>
                            <a:rPr lang="en-US" dirty="0"/>
                            <a:t>Small change</a:t>
                          </a:r>
                        </a:p>
                      </a:txBody>
                      <a:tcPr/>
                    </a:tc>
                    <a:tc>
                      <a:txBody>
                        <a:bodyPr/>
                        <a:lstStyle/>
                        <a:p>
                          <a:r>
                            <a:rPr lang="en-US" dirty="0"/>
                            <a:t>Decrease</a:t>
                          </a:r>
                        </a:p>
                      </a:txBody>
                      <a:tcPr/>
                    </a:tc>
                    <a:tc>
                      <a:txBody>
                        <a:bodyPr/>
                        <a:lstStyle/>
                        <a:p>
                          <a:r>
                            <a:rPr lang="en-US" dirty="0"/>
                            <a:t>Degrade</a:t>
                          </a:r>
                        </a:p>
                      </a:txBody>
                      <a:tcPr/>
                    </a:tc>
                    <a:extLst>
                      <a:ext uri="{0D108BD9-81ED-4DB2-BD59-A6C34878D82A}">
                        <a16:rowId xmlns:a16="http://schemas.microsoft.com/office/drawing/2014/main" val="3532852043"/>
                      </a:ext>
                    </a:extLst>
                  </a:tr>
                  <a:tr h="365138">
                    <a:tc>
                      <a:txBody>
                        <a:bodyPr/>
                        <a:lstStyle/>
                        <a:p>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K</m:t>
                                  </m:r>
                                </m:e>
                                <m:sub>
                                  <m:r>
                                    <m:rPr>
                                      <m:sty m:val="p"/>
                                    </m:rPr>
                                    <a:rPr lang="en-US" b="0" i="1" smtClean="0">
                                      <a:latin typeface="Cambria Math" panose="02040503050406030204" pitchFamily="18" charset="0"/>
                                    </a:rPr>
                                    <m:t>I</m:t>
                                  </m:r>
                                </m:sub>
                              </m:sSub>
                            </m:oMath>
                          </a14:m>
                          <a:r>
                            <a:rPr lang="en-US" dirty="0"/>
                            <a:t> </a:t>
                          </a:r>
                        </a:p>
                      </a:txBody>
                      <a:tcPr/>
                    </a:tc>
                    <a:tc>
                      <a:txBody>
                        <a:bodyPr/>
                        <a:lstStyle/>
                        <a:p>
                          <a:r>
                            <a:rPr lang="en-US" dirty="0"/>
                            <a:t>Decrease</a:t>
                          </a:r>
                        </a:p>
                      </a:txBody>
                      <a:tcPr/>
                    </a:tc>
                    <a:tc>
                      <a:txBody>
                        <a:bodyPr/>
                        <a:lstStyle/>
                        <a:p>
                          <a:r>
                            <a:rPr lang="en-US" dirty="0"/>
                            <a:t>Increase</a:t>
                          </a:r>
                        </a:p>
                      </a:txBody>
                      <a:tcPr/>
                    </a:tc>
                    <a:tc>
                      <a:txBody>
                        <a:bodyPr/>
                        <a:lstStyle/>
                        <a:p>
                          <a:r>
                            <a:rPr lang="en-US" dirty="0"/>
                            <a:t>Increase</a:t>
                          </a:r>
                        </a:p>
                      </a:txBody>
                      <a:tcPr/>
                    </a:tc>
                    <a:tc>
                      <a:txBody>
                        <a:bodyPr/>
                        <a:lstStyle/>
                        <a:p>
                          <a:r>
                            <a:rPr lang="en-US" dirty="0"/>
                            <a:t>Eliminate</a:t>
                          </a:r>
                        </a:p>
                      </a:txBody>
                      <a:tcPr/>
                    </a:tc>
                    <a:tc>
                      <a:txBody>
                        <a:bodyPr/>
                        <a:lstStyle/>
                        <a:p>
                          <a:r>
                            <a:rPr lang="en-US" dirty="0"/>
                            <a:t>Degrade</a:t>
                          </a:r>
                        </a:p>
                      </a:txBody>
                      <a:tcPr/>
                    </a:tc>
                    <a:extLst>
                      <a:ext uri="{0D108BD9-81ED-4DB2-BD59-A6C34878D82A}">
                        <a16:rowId xmlns:a16="http://schemas.microsoft.com/office/drawing/2014/main" val="3413012873"/>
                      </a:ext>
                    </a:extLst>
                  </a:tr>
                  <a:tr h="365138">
                    <a:tc>
                      <a:txBody>
                        <a:bodyPr/>
                        <a:lstStyle/>
                        <a:p>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K</m:t>
                                  </m:r>
                                </m:e>
                                <m:sub>
                                  <m:r>
                                    <m:rPr>
                                      <m:sty m:val="p"/>
                                    </m:rPr>
                                    <a:rPr lang="en-US" b="0" i="1" smtClean="0">
                                      <a:latin typeface="Cambria Math" panose="02040503050406030204" pitchFamily="18" charset="0"/>
                                    </a:rPr>
                                    <m:t>D</m:t>
                                  </m:r>
                                </m:sub>
                              </m:sSub>
                            </m:oMath>
                          </a14:m>
                          <a:r>
                            <a:rPr lang="en-US" dirty="0"/>
                            <a:t> </a:t>
                          </a:r>
                        </a:p>
                      </a:txBody>
                      <a:tcPr/>
                    </a:tc>
                    <a:tc>
                      <a:txBody>
                        <a:bodyPr/>
                        <a:lstStyle/>
                        <a:p>
                          <a:r>
                            <a:rPr lang="en-US" dirty="0"/>
                            <a:t>Minor change</a:t>
                          </a:r>
                        </a:p>
                      </a:txBody>
                      <a:tcPr/>
                    </a:tc>
                    <a:tc>
                      <a:txBody>
                        <a:bodyPr/>
                        <a:lstStyle/>
                        <a:p>
                          <a:r>
                            <a:rPr lang="en-US" dirty="0"/>
                            <a:t>Decrease</a:t>
                          </a:r>
                        </a:p>
                      </a:txBody>
                      <a:tcPr/>
                    </a:tc>
                    <a:tc>
                      <a:txBody>
                        <a:bodyPr/>
                        <a:lstStyle/>
                        <a:p>
                          <a:r>
                            <a:rPr lang="en-US" dirty="0"/>
                            <a:t>Decrease</a:t>
                          </a:r>
                        </a:p>
                      </a:txBody>
                      <a:tcPr/>
                    </a:tc>
                    <a:tc>
                      <a:txBody>
                        <a:bodyPr/>
                        <a:lstStyle/>
                        <a:p>
                          <a:r>
                            <a:rPr lang="en-US" dirty="0"/>
                            <a:t>No effect in theory</a:t>
                          </a:r>
                        </a:p>
                      </a:txBody>
                      <a:tcPr/>
                    </a:tc>
                    <a:tc>
                      <a:txBody>
                        <a:bodyPr/>
                        <a:lstStyle/>
                        <a:p>
                          <a:r>
                            <a:rPr lang="en-US" dirty="0"/>
                            <a:t>Improve if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K</m:t>
                                  </m:r>
                                </m:e>
                                <m:sub>
                                  <m:r>
                                    <m:rPr>
                                      <m:sty m:val="p"/>
                                    </m:rPr>
                                    <a:rPr lang="en-US" b="0" i="1" smtClean="0">
                                      <a:latin typeface="Cambria Math" panose="02040503050406030204" pitchFamily="18" charset="0"/>
                                    </a:rPr>
                                    <m:t>D</m:t>
                                  </m:r>
                                </m:sub>
                              </m:sSub>
                            </m:oMath>
                          </a14:m>
                          <a:r>
                            <a:rPr lang="en-US" dirty="0"/>
                            <a:t> small</a:t>
                          </a:r>
                        </a:p>
                      </a:txBody>
                      <a:tcPr/>
                    </a:tc>
                    <a:extLst>
                      <a:ext uri="{0D108BD9-81ED-4DB2-BD59-A6C34878D82A}">
                        <a16:rowId xmlns:a16="http://schemas.microsoft.com/office/drawing/2014/main" val="813961603"/>
                      </a:ext>
                    </a:extLst>
                  </a:tr>
                </a:tbl>
              </a:graphicData>
            </a:graphic>
          </p:graphicFrame>
        </mc:Choice>
        <mc:Fallback>
          <p:graphicFrame>
            <p:nvGraphicFramePr>
              <p:cNvPr id="9" name="Table 8">
                <a:extLst>
                  <a:ext uri="{FF2B5EF4-FFF2-40B4-BE49-F238E27FC236}">
                    <a16:creationId xmlns:a16="http://schemas.microsoft.com/office/drawing/2014/main" id="{E4DE00ED-4432-B303-1D2F-6D3A4396D97F}"/>
                  </a:ext>
                </a:extLst>
              </p:cNvPr>
              <p:cNvGraphicFramePr>
                <a:graphicFrameLocks noGrp="1"/>
              </p:cNvGraphicFramePr>
              <p:nvPr>
                <p:extLst>
                  <p:ext uri="{D42A27DB-BD31-4B8C-83A1-F6EECF244321}">
                    <p14:modId xmlns:p14="http://schemas.microsoft.com/office/powerpoint/2010/main" val="2832525533"/>
                  </p:ext>
                </p:extLst>
              </p:nvPr>
            </p:nvGraphicFramePr>
            <p:xfrm>
              <a:off x="1512571" y="1230629"/>
              <a:ext cx="9166858" cy="1750662"/>
            </p:xfrm>
            <a:graphic>
              <a:graphicData uri="http://schemas.openxmlformats.org/drawingml/2006/table">
                <a:tbl>
                  <a:tblPr firstRow="1" bandRow="1">
                    <a:tableStyleId>{5C22544A-7EE6-4342-B048-85BDC9FD1C3A}</a:tableStyleId>
                  </a:tblPr>
                  <a:tblGrid>
                    <a:gridCol w="1260771">
                      <a:extLst>
                        <a:ext uri="{9D8B030D-6E8A-4147-A177-3AD203B41FA5}">
                          <a16:colId xmlns:a16="http://schemas.microsoft.com/office/drawing/2014/main" val="3666783551"/>
                        </a:ext>
                      </a:extLst>
                    </a:gridCol>
                    <a:gridCol w="1451949">
                      <a:extLst>
                        <a:ext uri="{9D8B030D-6E8A-4147-A177-3AD203B41FA5}">
                          <a16:colId xmlns:a16="http://schemas.microsoft.com/office/drawing/2014/main" val="3085283467"/>
                        </a:ext>
                      </a:extLst>
                    </a:gridCol>
                    <a:gridCol w="1303020">
                      <a:extLst>
                        <a:ext uri="{9D8B030D-6E8A-4147-A177-3AD203B41FA5}">
                          <a16:colId xmlns:a16="http://schemas.microsoft.com/office/drawing/2014/main" val="298739786"/>
                        </a:ext>
                      </a:extLst>
                    </a:gridCol>
                    <a:gridCol w="1493520">
                      <a:extLst>
                        <a:ext uri="{9D8B030D-6E8A-4147-A177-3AD203B41FA5}">
                          <a16:colId xmlns:a16="http://schemas.microsoft.com/office/drawing/2014/main" val="216787488"/>
                        </a:ext>
                      </a:extLst>
                    </a:gridCol>
                    <a:gridCol w="1927860">
                      <a:extLst>
                        <a:ext uri="{9D8B030D-6E8A-4147-A177-3AD203B41FA5}">
                          <a16:colId xmlns:a16="http://schemas.microsoft.com/office/drawing/2014/main" val="1671318313"/>
                        </a:ext>
                      </a:extLst>
                    </a:gridCol>
                    <a:gridCol w="1729738">
                      <a:extLst>
                        <a:ext uri="{9D8B030D-6E8A-4147-A177-3AD203B41FA5}">
                          <a16:colId xmlns:a16="http://schemas.microsoft.com/office/drawing/2014/main" val="654106361"/>
                        </a:ext>
                      </a:extLst>
                    </a:gridCol>
                  </a:tblGrid>
                  <a:tr h="510193">
                    <a:tc>
                      <a:txBody>
                        <a:bodyPr/>
                        <a:lstStyle/>
                        <a:p>
                          <a:r>
                            <a:rPr lang="en-US" dirty="0"/>
                            <a:t>Parameter</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Steady-state error</a:t>
                          </a:r>
                        </a:p>
                      </a:txBody>
                      <a:tcPr/>
                    </a:tc>
                    <a:tc>
                      <a:txBody>
                        <a:bodyPr/>
                        <a:lstStyle/>
                        <a:p>
                          <a:r>
                            <a:rPr lang="en-US" dirty="0"/>
                            <a:t>Stability</a:t>
                          </a:r>
                        </a:p>
                      </a:txBody>
                      <a:tcPr/>
                    </a:tc>
                    <a:extLst>
                      <a:ext uri="{0D108BD9-81ED-4DB2-BD59-A6C34878D82A}">
                        <a16:rowId xmlns:a16="http://schemas.microsoft.com/office/drawing/2014/main" val="3771477073"/>
                      </a:ext>
                    </a:extLst>
                  </a:tr>
                  <a:tr h="510193">
                    <a:tc>
                      <a:txBody>
                        <a:bodyPr/>
                        <a:lstStyle/>
                        <a:p>
                          <a:endParaRPr lang="en-US"/>
                        </a:p>
                      </a:txBody>
                      <a:tcPr>
                        <a:blipFill>
                          <a:blip r:embed="rId5"/>
                          <a:stretch>
                            <a:fillRect l="-483" t="-101190" r="-628986" b="-146429"/>
                          </a:stretch>
                        </a:blipFill>
                      </a:tcPr>
                    </a:tc>
                    <a:tc>
                      <a:txBody>
                        <a:bodyPr/>
                        <a:lstStyle/>
                        <a:p>
                          <a:r>
                            <a:rPr lang="en-US" dirty="0"/>
                            <a:t>Decrease</a:t>
                          </a:r>
                        </a:p>
                      </a:txBody>
                      <a:tcPr/>
                    </a:tc>
                    <a:tc>
                      <a:txBody>
                        <a:bodyPr/>
                        <a:lstStyle/>
                        <a:p>
                          <a:r>
                            <a:rPr lang="en-US" dirty="0"/>
                            <a:t>Increase</a:t>
                          </a:r>
                        </a:p>
                      </a:txBody>
                      <a:tcPr/>
                    </a:tc>
                    <a:tc>
                      <a:txBody>
                        <a:bodyPr/>
                        <a:lstStyle/>
                        <a:p>
                          <a:r>
                            <a:rPr lang="en-US" dirty="0"/>
                            <a:t>Small change</a:t>
                          </a:r>
                        </a:p>
                      </a:txBody>
                      <a:tcPr/>
                    </a:tc>
                    <a:tc>
                      <a:txBody>
                        <a:bodyPr/>
                        <a:lstStyle/>
                        <a:p>
                          <a:r>
                            <a:rPr lang="en-US" dirty="0"/>
                            <a:t>Decrease</a:t>
                          </a:r>
                        </a:p>
                      </a:txBody>
                      <a:tcPr/>
                    </a:tc>
                    <a:tc>
                      <a:txBody>
                        <a:bodyPr/>
                        <a:lstStyle/>
                        <a:p>
                          <a:r>
                            <a:rPr lang="en-US" dirty="0"/>
                            <a:t>Degrade</a:t>
                          </a:r>
                        </a:p>
                      </a:txBody>
                      <a:tcPr/>
                    </a:tc>
                    <a:extLst>
                      <a:ext uri="{0D108BD9-81ED-4DB2-BD59-A6C34878D82A}">
                        <a16:rowId xmlns:a16="http://schemas.microsoft.com/office/drawing/2014/main" val="3532852043"/>
                      </a:ext>
                    </a:extLst>
                  </a:tr>
                  <a:tr h="365138">
                    <a:tc>
                      <a:txBody>
                        <a:bodyPr/>
                        <a:lstStyle/>
                        <a:p>
                          <a:endParaRPr lang="en-US"/>
                        </a:p>
                      </a:txBody>
                      <a:tcPr>
                        <a:blipFill>
                          <a:blip r:embed="rId5"/>
                          <a:stretch>
                            <a:fillRect l="-483" t="-277049" r="-628986" b="-101639"/>
                          </a:stretch>
                        </a:blipFill>
                      </a:tcPr>
                    </a:tc>
                    <a:tc>
                      <a:txBody>
                        <a:bodyPr/>
                        <a:lstStyle/>
                        <a:p>
                          <a:r>
                            <a:rPr lang="en-US" dirty="0"/>
                            <a:t>Decrease</a:t>
                          </a:r>
                        </a:p>
                      </a:txBody>
                      <a:tcPr/>
                    </a:tc>
                    <a:tc>
                      <a:txBody>
                        <a:bodyPr/>
                        <a:lstStyle/>
                        <a:p>
                          <a:r>
                            <a:rPr lang="en-US" dirty="0"/>
                            <a:t>Increase</a:t>
                          </a:r>
                        </a:p>
                      </a:txBody>
                      <a:tcPr/>
                    </a:tc>
                    <a:tc>
                      <a:txBody>
                        <a:bodyPr/>
                        <a:lstStyle/>
                        <a:p>
                          <a:r>
                            <a:rPr lang="en-US" dirty="0"/>
                            <a:t>Increase</a:t>
                          </a:r>
                        </a:p>
                      </a:txBody>
                      <a:tcPr/>
                    </a:tc>
                    <a:tc>
                      <a:txBody>
                        <a:bodyPr/>
                        <a:lstStyle/>
                        <a:p>
                          <a:r>
                            <a:rPr lang="en-US" dirty="0"/>
                            <a:t>Eliminate</a:t>
                          </a:r>
                        </a:p>
                      </a:txBody>
                      <a:tcPr/>
                    </a:tc>
                    <a:tc>
                      <a:txBody>
                        <a:bodyPr/>
                        <a:lstStyle/>
                        <a:p>
                          <a:r>
                            <a:rPr lang="en-US" dirty="0"/>
                            <a:t>Degrade</a:t>
                          </a:r>
                        </a:p>
                      </a:txBody>
                      <a:tcPr/>
                    </a:tc>
                    <a:extLst>
                      <a:ext uri="{0D108BD9-81ED-4DB2-BD59-A6C34878D82A}">
                        <a16:rowId xmlns:a16="http://schemas.microsoft.com/office/drawing/2014/main" val="3413012873"/>
                      </a:ext>
                    </a:extLst>
                  </a:tr>
                  <a:tr h="365138">
                    <a:tc>
                      <a:txBody>
                        <a:bodyPr/>
                        <a:lstStyle/>
                        <a:p>
                          <a:endParaRPr lang="en-US"/>
                        </a:p>
                      </a:txBody>
                      <a:tcPr>
                        <a:blipFill>
                          <a:blip r:embed="rId5"/>
                          <a:stretch>
                            <a:fillRect l="-483" t="-383333" r="-628986" b="-3333"/>
                          </a:stretch>
                        </a:blipFill>
                      </a:tcPr>
                    </a:tc>
                    <a:tc>
                      <a:txBody>
                        <a:bodyPr/>
                        <a:lstStyle/>
                        <a:p>
                          <a:r>
                            <a:rPr lang="en-US" dirty="0"/>
                            <a:t>Minor change</a:t>
                          </a:r>
                        </a:p>
                      </a:txBody>
                      <a:tcPr/>
                    </a:tc>
                    <a:tc>
                      <a:txBody>
                        <a:bodyPr/>
                        <a:lstStyle/>
                        <a:p>
                          <a:r>
                            <a:rPr lang="en-US" dirty="0"/>
                            <a:t>Decrease</a:t>
                          </a:r>
                        </a:p>
                      </a:txBody>
                      <a:tcPr/>
                    </a:tc>
                    <a:tc>
                      <a:txBody>
                        <a:bodyPr/>
                        <a:lstStyle/>
                        <a:p>
                          <a:r>
                            <a:rPr lang="en-US" dirty="0"/>
                            <a:t>Decrease</a:t>
                          </a:r>
                        </a:p>
                      </a:txBody>
                      <a:tcPr/>
                    </a:tc>
                    <a:tc>
                      <a:txBody>
                        <a:bodyPr/>
                        <a:lstStyle/>
                        <a:p>
                          <a:r>
                            <a:rPr lang="en-US" dirty="0"/>
                            <a:t>No effect in theory</a:t>
                          </a:r>
                        </a:p>
                      </a:txBody>
                      <a:tcPr/>
                    </a:tc>
                    <a:tc>
                      <a:txBody>
                        <a:bodyPr/>
                        <a:lstStyle/>
                        <a:p>
                          <a:endParaRPr lang="en-US"/>
                        </a:p>
                      </a:txBody>
                      <a:tcPr>
                        <a:blipFill>
                          <a:blip r:embed="rId5"/>
                          <a:stretch>
                            <a:fillRect l="-429930" t="-383333" r="-1761" b="-3333"/>
                          </a:stretch>
                        </a:blipFill>
                      </a:tcPr>
                    </a:tc>
                    <a:extLst>
                      <a:ext uri="{0D108BD9-81ED-4DB2-BD59-A6C34878D82A}">
                        <a16:rowId xmlns:a16="http://schemas.microsoft.com/office/drawing/2014/main" val="813961603"/>
                      </a:ext>
                    </a:extLst>
                  </a:tr>
                </a:tbl>
              </a:graphicData>
            </a:graphic>
          </p:graphicFrame>
        </mc:Fallback>
      </mc:AlternateContent>
      <p:pic>
        <p:nvPicPr>
          <p:cNvPr id="2054" name="Picture 6">
            <a:extLst>
              <a:ext uri="{FF2B5EF4-FFF2-40B4-BE49-F238E27FC236}">
                <a16:creationId xmlns:a16="http://schemas.microsoft.com/office/drawing/2014/main" id="{5582DEE3-F239-7E2F-227E-E5AC805EB3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6674" y="3139586"/>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9BC6D10-CBAC-30E6-4257-57590B237CF0}"/>
              </a:ext>
            </a:extLst>
          </p:cNvPr>
          <p:cNvSpPr txBox="1"/>
          <p:nvPr/>
        </p:nvSpPr>
        <p:spPr>
          <a:xfrm>
            <a:off x="2637161" y="5927911"/>
            <a:ext cx="6917678" cy="253916"/>
          </a:xfrm>
          <a:prstGeom prst="rect">
            <a:avLst/>
          </a:prstGeom>
          <a:noFill/>
        </p:spPr>
        <p:txBody>
          <a:bodyPr wrap="square" rtlCol="0">
            <a:spAutoFit/>
          </a:bodyPr>
          <a:lstStyle/>
          <a:p>
            <a:r>
              <a:rPr lang="en-US" sz="1050" dirty="0">
                <a:hlinkClick r:id="rId7"/>
              </a:rPr>
              <a:t>https://en.wikipedia.org/wiki/Proportional%E2%80%93integral%E2%80%93derivative_controller#Manual_tuning</a:t>
            </a:r>
            <a:r>
              <a:rPr lang="en-US" sz="1050" dirty="0"/>
              <a:t> </a:t>
            </a:r>
          </a:p>
        </p:txBody>
      </p:sp>
    </p:spTree>
    <p:extLst>
      <p:ext uri="{BB962C8B-B14F-4D97-AF65-F5344CB8AC3E}">
        <p14:creationId xmlns:p14="http://schemas.microsoft.com/office/powerpoint/2010/main" val="4077883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4EA511-46F0-ED86-A997-C24CC87187D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FB62C18-05F8-4DB1-5B64-336769CF19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can try out the effect of gains here!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hlinkClick r:id="rId3"/>
              </a:rPr>
              <a:t>https://www.luisllamas.es/en/pid-controller-simulator/</a:t>
            </a:r>
            <a:r>
              <a:rPr lang="en-US" sz="2400" dirty="0">
                <a:latin typeface="Atkinson Hyperlegible Next"/>
                <a:ea typeface="Arial"/>
                <a:cs typeface="Arial"/>
                <a:sym typeface="Arial"/>
              </a:rPr>
              <a:t> </a:t>
            </a:r>
          </a:p>
        </p:txBody>
      </p:sp>
      <p:sp>
        <p:nvSpPr>
          <p:cNvPr id="119" name="Google Shape;119;p29">
            <a:extLst>
              <a:ext uri="{FF2B5EF4-FFF2-40B4-BE49-F238E27FC236}">
                <a16:creationId xmlns:a16="http://schemas.microsoft.com/office/drawing/2014/main" id="{5B52D43B-CD62-125E-226A-30C2A28245A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BC00FD7-B597-8274-0E9E-B1980C416AD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8D39A22-3A95-58EC-3B0F-E0FDFD49571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E46A416-61E2-5CD0-B555-3B977A4995F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011864C-A3D4-1CEE-C107-4EBB4460D97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214668A-6832-38D2-55F4-4F7721FD2CF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4882C4E-2796-BDD0-0010-427AF88D03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E91E4F-A695-1C0C-4901-F9CE6EE2B67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95089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F508368-E578-2A62-74EC-7116CDE357E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818A35A-B974-800A-390C-DBDFA0FC964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457998B-C7F2-F1AE-C453-F55D2701306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 – Lab 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6F2A81-8477-0FCF-8F8B-03B3466A506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64E55B5-28D5-9082-E21E-5A96FBC2CC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43F0BEC-386A-B3B7-A4EF-BA6E90C3A63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449301A-B10D-1DA1-246F-425C668C6A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25BD03B-E860-181E-B51C-0B33ADBE0AA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934CA8A-BC2D-48A0-0488-1D38133AC98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7396B6AB-E327-BBF0-7275-F666CB0597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00332" y="999224"/>
            <a:ext cx="7991337" cy="5394153"/>
          </a:xfrm>
          <a:prstGeom prst="rect">
            <a:avLst/>
          </a:prstGeom>
        </p:spPr>
      </p:pic>
      <p:grpSp>
        <p:nvGrpSpPr>
          <p:cNvPr id="29" name="Group 28">
            <a:extLst>
              <a:ext uri="{FF2B5EF4-FFF2-40B4-BE49-F238E27FC236}">
                <a16:creationId xmlns:a16="http://schemas.microsoft.com/office/drawing/2014/main" id="{6ED1A90A-7083-7636-4681-44757E7163B8}"/>
              </a:ext>
            </a:extLst>
          </p:cNvPr>
          <p:cNvGrpSpPr/>
          <p:nvPr/>
        </p:nvGrpSpPr>
        <p:grpSpPr>
          <a:xfrm>
            <a:off x="708660" y="2011680"/>
            <a:ext cx="5387340" cy="4225388"/>
            <a:chOff x="708660" y="2011680"/>
            <a:chExt cx="5387340" cy="4225388"/>
          </a:xfrm>
        </p:grpSpPr>
        <p:sp>
          <p:nvSpPr>
            <p:cNvPr id="6" name="Rectangle 5">
              <a:extLst>
                <a:ext uri="{FF2B5EF4-FFF2-40B4-BE49-F238E27FC236}">
                  <a16:creationId xmlns:a16="http://schemas.microsoft.com/office/drawing/2014/main" id="{02BABF43-9C37-8351-D22B-12829963188F}"/>
                </a:ext>
              </a:extLst>
            </p:cNvPr>
            <p:cNvSpPr/>
            <p:nvPr/>
          </p:nvSpPr>
          <p:spPr>
            <a:xfrm>
              <a:off x="4130040" y="2011680"/>
              <a:ext cx="1965960" cy="19126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2E13674-2B60-D590-C808-A7FBFB88AC74}"/>
                </a:ext>
              </a:extLst>
            </p:cNvPr>
            <p:cNvCxnSpPr>
              <a:cxnSpLocks/>
              <a:stCxn id="13" idx="3"/>
              <a:endCxn id="6" idx="1"/>
            </p:cNvCxnSpPr>
            <p:nvPr/>
          </p:nvCxnSpPr>
          <p:spPr>
            <a:xfrm flipV="1">
              <a:off x="2567940" y="2967990"/>
              <a:ext cx="1562100" cy="10840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5F55CE8-C6D8-ECD5-8100-A7A2434DBFCB}"/>
                </a:ext>
              </a:extLst>
            </p:cNvPr>
            <p:cNvSpPr/>
            <p:nvPr/>
          </p:nvSpPr>
          <p:spPr>
            <a:xfrm>
              <a:off x="4130040" y="4324448"/>
              <a:ext cx="1965960" cy="19126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9BE899C-54C1-6C4A-C107-805103F5149C}"/>
                </a:ext>
              </a:extLst>
            </p:cNvPr>
            <p:cNvCxnSpPr>
              <a:cxnSpLocks/>
              <a:stCxn id="13" idx="3"/>
              <a:endCxn id="10" idx="1"/>
            </p:cNvCxnSpPr>
            <p:nvPr/>
          </p:nvCxnSpPr>
          <p:spPr>
            <a:xfrm>
              <a:off x="2567940" y="4052034"/>
              <a:ext cx="1562100" cy="12287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3994B94-21BB-1760-B565-ADEE211A15FD}"/>
                </a:ext>
              </a:extLst>
            </p:cNvPr>
            <p:cNvSpPr txBox="1"/>
            <p:nvPr/>
          </p:nvSpPr>
          <p:spPr>
            <a:xfrm>
              <a:off x="708660" y="3574980"/>
              <a:ext cx="1859280" cy="954107"/>
            </a:xfrm>
            <a:prstGeom prst="rect">
              <a:avLst/>
            </a:prstGeom>
            <a:noFill/>
          </p:spPr>
          <p:txBody>
            <a:bodyPr wrap="square" rtlCol="0">
              <a:spAutoFit/>
            </a:bodyPr>
            <a:lstStyle/>
            <a:p>
              <a:pPr algn="ctr"/>
              <a:r>
                <a:rPr lang="en-US" dirty="0">
                  <a:solidFill>
                    <a:srgbClr val="FF0000"/>
                  </a:solidFill>
                </a:rPr>
                <a:t>We have 2 PI controllers for setting the motors to the desired velocity</a:t>
              </a:r>
            </a:p>
          </p:txBody>
        </p:sp>
      </p:grpSp>
      <p:grpSp>
        <p:nvGrpSpPr>
          <p:cNvPr id="30" name="Group 29">
            <a:extLst>
              <a:ext uri="{FF2B5EF4-FFF2-40B4-BE49-F238E27FC236}">
                <a16:creationId xmlns:a16="http://schemas.microsoft.com/office/drawing/2014/main" id="{1ED2208C-EA98-C299-EC9B-020F254988CB}"/>
              </a:ext>
            </a:extLst>
          </p:cNvPr>
          <p:cNvGrpSpPr/>
          <p:nvPr/>
        </p:nvGrpSpPr>
        <p:grpSpPr>
          <a:xfrm>
            <a:off x="9009079" y="2415540"/>
            <a:ext cx="2165177" cy="2369820"/>
            <a:chOff x="9009079" y="2415540"/>
            <a:chExt cx="2165177" cy="2369820"/>
          </a:xfrm>
        </p:grpSpPr>
        <p:sp>
          <p:nvSpPr>
            <p:cNvPr id="20" name="TextBox 19">
              <a:extLst>
                <a:ext uri="{FF2B5EF4-FFF2-40B4-BE49-F238E27FC236}">
                  <a16:creationId xmlns:a16="http://schemas.microsoft.com/office/drawing/2014/main" id="{EBB1E7DF-3824-6F90-BD6B-160B69BEF5A0}"/>
                </a:ext>
              </a:extLst>
            </p:cNvPr>
            <p:cNvSpPr txBox="1"/>
            <p:nvPr/>
          </p:nvSpPr>
          <p:spPr>
            <a:xfrm>
              <a:off x="9009079" y="3313370"/>
              <a:ext cx="2165177" cy="523220"/>
            </a:xfrm>
            <a:prstGeom prst="rect">
              <a:avLst/>
            </a:prstGeom>
            <a:noFill/>
          </p:spPr>
          <p:txBody>
            <a:bodyPr wrap="square" rtlCol="0">
              <a:spAutoFit/>
            </a:bodyPr>
            <a:lstStyle/>
            <a:p>
              <a:pPr algn="ctr"/>
              <a:r>
                <a:rPr lang="en-US" dirty="0">
                  <a:solidFill>
                    <a:srgbClr val="FF0000"/>
                  </a:solidFill>
                </a:rPr>
                <a:t>We computed the velocities from last lab</a:t>
              </a:r>
            </a:p>
          </p:txBody>
        </p:sp>
        <p:cxnSp>
          <p:nvCxnSpPr>
            <p:cNvPr id="22" name="Straight Arrow Connector 21">
              <a:extLst>
                <a:ext uri="{FF2B5EF4-FFF2-40B4-BE49-F238E27FC236}">
                  <a16:creationId xmlns:a16="http://schemas.microsoft.com/office/drawing/2014/main" id="{51788CDE-1FD0-4F41-E86D-49EC3B45D91F}"/>
                </a:ext>
              </a:extLst>
            </p:cNvPr>
            <p:cNvCxnSpPr>
              <a:cxnSpLocks/>
              <a:stCxn id="20" idx="0"/>
            </p:cNvCxnSpPr>
            <p:nvPr/>
          </p:nvCxnSpPr>
          <p:spPr>
            <a:xfrm flipH="1" flipV="1">
              <a:off x="10091667" y="2415540"/>
              <a:ext cx="1" cy="8978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85F0833-45BC-AB06-A3FF-75D201F93487}"/>
                </a:ext>
              </a:extLst>
            </p:cNvPr>
            <p:cNvCxnSpPr>
              <a:cxnSpLocks/>
              <a:stCxn id="20" idx="2"/>
            </p:cNvCxnSpPr>
            <p:nvPr/>
          </p:nvCxnSpPr>
          <p:spPr>
            <a:xfrm>
              <a:off x="10091668" y="3836590"/>
              <a:ext cx="0" cy="948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6E2755AD-A7D3-C367-746A-095FD5D20A31}"/>
              </a:ext>
            </a:extLst>
          </p:cNvPr>
          <p:cNvGrpSpPr/>
          <p:nvPr/>
        </p:nvGrpSpPr>
        <p:grpSpPr>
          <a:xfrm>
            <a:off x="6979373" y="1835226"/>
            <a:ext cx="2165177" cy="3704514"/>
            <a:chOff x="8977207" y="1835226"/>
            <a:chExt cx="2165177" cy="3704514"/>
          </a:xfrm>
        </p:grpSpPr>
        <p:sp>
          <p:nvSpPr>
            <p:cNvPr id="36" name="TextBox 35">
              <a:extLst>
                <a:ext uri="{FF2B5EF4-FFF2-40B4-BE49-F238E27FC236}">
                  <a16:creationId xmlns:a16="http://schemas.microsoft.com/office/drawing/2014/main" id="{3734F2C9-A581-902C-4983-D6013F98B89C}"/>
                </a:ext>
              </a:extLst>
            </p:cNvPr>
            <p:cNvSpPr txBox="1"/>
            <p:nvPr/>
          </p:nvSpPr>
          <p:spPr>
            <a:xfrm>
              <a:off x="8977207" y="3069628"/>
              <a:ext cx="2165177" cy="1169551"/>
            </a:xfrm>
            <a:prstGeom prst="rect">
              <a:avLst/>
            </a:prstGeom>
            <a:noFill/>
          </p:spPr>
          <p:txBody>
            <a:bodyPr wrap="square" rtlCol="0">
              <a:spAutoFit/>
            </a:bodyPr>
            <a:lstStyle/>
            <a:p>
              <a:pPr algn="ctr"/>
              <a:r>
                <a:rPr lang="en-US" dirty="0">
                  <a:solidFill>
                    <a:srgbClr val="FF0000"/>
                  </a:solidFill>
                </a:rPr>
                <a:t>Technically not necessary since this is a feedback controller but helps with improving performance</a:t>
              </a:r>
            </a:p>
          </p:txBody>
        </p:sp>
        <p:cxnSp>
          <p:nvCxnSpPr>
            <p:cNvPr id="37" name="Straight Arrow Connector 36">
              <a:extLst>
                <a:ext uri="{FF2B5EF4-FFF2-40B4-BE49-F238E27FC236}">
                  <a16:creationId xmlns:a16="http://schemas.microsoft.com/office/drawing/2014/main" id="{C0A1AAB9-D3EF-1554-A247-E71C6F440583}"/>
                </a:ext>
              </a:extLst>
            </p:cNvPr>
            <p:cNvCxnSpPr>
              <a:cxnSpLocks/>
              <a:stCxn id="36" idx="0"/>
            </p:cNvCxnSpPr>
            <p:nvPr/>
          </p:nvCxnSpPr>
          <p:spPr>
            <a:xfrm flipH="1" flipV="1">
              <a:off x="9655934" y="1835226"/>
              <a:ext cx="403862" cy="12344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B66E25-07BB-4718-03D3-F02B194F0002}"/>
                </a:ext>
              </a:extLst>
            </p:cNvPr>
            <p:cNvCxnSpPr>
              <a:cxnSpLocks/>
              <a:stCxn id="36" idx="2"/>
            </p:cNvCxnSpPr>
            <p:nvPr/>
          </p:nvCxnSpPr>
          <p:spPr>
            <a:xfrm flipH="1">
              <a:off x="9815954" y="4239179"/>
              <a:ext cx="243842" cy="13005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A5C95987-8241-9F84-C414-E7AEF6BCC3E8}"/>
              </a:ext>
            </a:extLst>
          </p:cNvPr>
          <p:cNvGrpSpPr/>
          <p:nvPr/>
        </p:nvGrpSpPr>
        <p:grpSpPr>
          <a:xfrm>
            <a:off x="560070" y="1431034"/>
            <a:ext cx="1859280" cy="915222"/>
            <a:chOff x="560070" y="1431034"/>
            <a:chExt cx="1859280" cy="915222"/>
          </a:xfrm>
        </p:grpSpPr>
        <p:sp>
          <p:nvSpPr>
            <p:cNvPr id="43" name="TextBox 42">
              <a:extLst>
                <a:ext uri="{FF2B5EF4-FFF2-40B4-BE49-F238E27FC236}">
                  <a16:creationId xmlns:a16="http://schemas.microsoft.com/office/drawing/2014/main" id="{F78DD445-C9AC-D6A2-81EA-8155D4D4FDF5}"/>
                </a:ext>
              </a:extLst>
            </p:cNvPr>
            <p:cNvSpPr txBox="1"/>
            <p:nvPr/>
          </p:nvSpPr>
          <p:spPr>
            <a:xfrm>
              <a:off x="560070" y="1431034"/>
              <a:ext cx="1859280" cy="738664"/>
            </a:xfrm>
            <a:prstGeom prst="rect">
              <a:avLst/>
            </a:prstGeom>
            <a:noFill/>
          </p:spPr>
          <p:txBody>
            <a:bodyPr wrap="square" rtlCol="0">
              <a:spAutoFit/>
            </a:bodyPr>
            <a:lstStyle/>
            <a:p>
              <a:pPr algn="ctr"/>
              <a:r>
                <a:rPr lang="en-US" dirty="0">
                  <a:solidFill>
                    <a:srgbClr val="FF0000"/>
                  </a:solidFill>
                </a:rPr>
                <a:t>We have a desired velocity we want the robot to go at</a:t>
              </a:r>
            </a:p>
          </p:txBody>
        </p:sp>
        <p:cxnSp>
          <p:nvCxnSpPr>
            <p:cNvPr id="44" name="Straight Arrow Connector 43">
              <a:extLst>
                <a:ext uri="{FF2B5EF4-FFF2-40B4-BE49-F238E27FC236}">
                  <a16:creationId xmlns:a16="http://schemas.microsoft.com/office/drawing/2014/main" id="{E2E71B0C-AEFF-5ED7-FA1E-B8F188710C84}"/>
                </a:ext>
              </a:extLst>
            </p:cNvPr>
            <p:cNvCxnSpPr>
              <a:cxnSpLocks/>
              <a:stCxn id="43" idx="2"/>
            </p:cNvCxnSpPr>
            <p:nvPr/>
          </p:nvCxnSpPr>
          <p:spPr>
            <a:xfrm>
              <a:off x="1489710" y="2169698"/>
              <a:ext cx="610621" cy="1765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2226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D2D19B1-03F8-7A10-50BA-E510701133F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B04F9B1-6395-B75A-BC58-24C2DB8539F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7B013B4-1250-70AD-D16B-E5AF9FA9DF0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EEC6480-AB8B-A44C-5B02-0AB4AF5550A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1451EF3-CBAC-B21E-62DD-380752C53AA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133ACEA-FCCF-68A2-6D7B-94973413F6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67533A-9ED3-B496-B0DC-B8014CDAD05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5D9CA9F-8CFF-4757-1679-4F040A745CA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623CA5C-AFB1-04F0-641F-832F6C653C6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B09EE897-6171-2032-9BE2-00C2F44C93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13503" y="1049090"/>
            <a:ext cx="9164994" cy="5349901"/>
          </a:xfrm>
          <a:prstGeom prst="rect">
            <a:avLst/>
          </a:prstGeom>
        </p:spPr>
      </p:pic>
      <p:grpSp>
        <p:nvGrpSpPr>
          <p:cNvPr id="4" name="Group 3">
            <a:extLst>
              <a:ext uri="{FF2B5EF4-FFF2-40B4-BE49-F238E27FC236}">
                <a16:creationId xmlns:a16="http://schemas.microsoft.com/office/drawing/2014/main" id="{4C793C57-F1AD-CE08-AE91-41F7B21AD370}"/>
              </a:ext>
            </a:extLst>
          </p:cNvPr>
          <p:cNvGrpSpPr/>
          <p:nvPr/>
        </p:nvGrpSpPr>
        <p:grpSpPr>
          <a:xfrm>
            <a:off x="53340" y="1965960"/>
            <a:ext cx="5387340" cy="4225388"/>
            <a:chOff x="708660" y="2011680"/>
            <a:chExt cx="5387340" cy="4225388"/>
          </a:xfrm>
        </p:grpSpPr>
        <p:sp>
          <p:nvSpPr>
            <p:cNvPr id="6" name="Rectangle 5">
              <a:extLst>
                <a:ext uri="{FF2B5EF4-FFF2-40B4-BE49-F238E27FC236}">
                  <a16:creationId xmlns:a16="http://schemas.microsoft.com/office/drawing/2014/main" id="{5D3B5DDB-A7EC-6730-0C77-D4AAC1C18BA2}"/>
                </a:ext>
              </a:extLst>
            </p:cNvPr>
            <p:cNvSpPr/>
            <p:nvPr/>
          </p:nvSpPr>
          <p:spPr>
            <a:xfrm>
              <a:off x="4130040" y="2011680"/>
              <a:ext cx="1965960" cy="19126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32FC05F-351B-7AA2-1850-7CFC352BA858}"/>
                </a:ext>
              </a:extLst>
            </p:cNvPr>
            <p:cNvCxnSpPr>
              <a:cxnSpLocks/>
              <a:stCxn id="10" idx="3"/>
              <a:endCxn id="6" idx="1"/>
            </p:cNvCxnSpPr>
            <p:nvPr/>
          </p:nvCxnSpPr>
          <p:spPr>
            <a:xfrm flipV="1">
              <a:off x="2567940" y="2967990"/>
              <a:ext cx="1562100" cy="10840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48D23D3-1148-B61F-36FE-4109013EB036}"/>
                </a:ext>
              </a:extLst>
            </p:cNvPr>
            <p:cNvSpPr/>
            <p:nvPr/>
          </p:nvSpPr>
          <p:spPr>
            <a:xfrm>
              <a:off x="4130040" y="4324448"/>
              <a:ext cx="1965960" cy="19126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4E4FEA1-E250-6299-66C0-12E7D4E380CF}"/>
                </a:ext>
              </a:extLst>
            </p:cNvPr>
            <p:cNvCxnSpPr>
              <a:cxnSpLocks/>
              <a:stCxn id="10" idx="3"/>
              <a:endCxn id="8" idx="1"/>
            </p:cNvCxnSpPr>
            <p:nvPr/>
          </p:nvCxnSpPr>
          <p:spPr>
            <a:xfrm>
              <a:off x="2567940" y="4052034"/>
              <a:ext cx="1562100" cy="12287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9C39D3A-A049-C298-7466-E7201221F625}"/>
                </a:ext>
              </a:extLst>
            </p:cNvPr>
            <p:cNvSpPr txBox="1"/>
            <p:nvPr/>
          </p:nvSpPr>
          <p:spPr>
            <a:xfrm>
              <a:off x="708660" y="3574980"/>
              <a:ext cx="1859280" cy="954107"/>
            </a:xfrm>
            <a:prstGeom prst="rect">
              <a:avLst/>
            </a:prstGeom>
            <a:noFill/>
          </p:spPr>
          <p:txBody>
            <a:bodyPr wrap="square" rtlCol="0">
              <a:spAutoFit/>
            </a:bodyPr>
            <a:lstStyle/>
            <a:p>
              <a:pPr algn="ctr"/>
              <a:r>
                <a:rPr lang="en-US" dirty="0">
                  <a:solidFill>
                    <a:srgbClr val="FF0000"/>
                  </a:solidFill>
                </a:rPr>
                <a:t>We have 2 PI controllers for setting the motors to the desired velocity</a:t>
              </a:r>
            </a:p>
          </p:txBody>
        </p:sp>
      </p:grpSp>
      <p:grpSp>
        <p:nvGrpSpPr>
          <p:cNvPr id="11" name="Group 10">
            <a:extLst>
              <a:ext uri="{FF2B5EF4-FFF2-40B4-BE49-F238E27FC236}">
                <a16:creationId xmlns:a16="http://schemas.microsoft.com/office/drawing/2014/main" id="{9B1FB1DA-F9ED-AC7A-AF83-B65729CCBCAE}"/>
              </a:ext>
            </a:extLst>
          </p:cNvPr>
          <p:cNvGrpSpPr/>
          <p:nvPr/>
        </p:nvGrpSpPr>
        <p:grpSpPr>
          <a:xfrm>
            <a:off x="419650" y="1345275"/>
            <a:ext cx="1859280" cy="1020032"/>
            <a:chOff x="560070" y="1431034"/>
            <a:chExt cx="1859280" cy="1020032"/>
          </a:xfrm>
        </p:grpSpPr>
        <p:sp>
          <p:nvSpPr>
            <p:cNvPr id="12" name="TextBox 11">
              <a:extLst>
                <a:ext uri="{FF2B5EF4-FFF2-40B4-BE49-F238E27FC236}">
                  <a16:creationId xmlns:a16="http://schemas.microsoft.com/office/drawing/2014/main" id="{51CD3AB8-0947-109C-6DC0-34C76A502986}"/>
                </a:ext>
              </a:extLst>
            </p:cNvPr>
            <p:cNvSpPr txBox="1"/>
            <p:nvPr/>
          </p:nvSpPr>
          <p:spPr>
            <a:xfrm>
              <a:off x="560070" y="1431034"/>
              <a:ext cx="1859280" cy="738664"/>
            </a:xfrm>
            <a:prstGeom prst="rect">
              <a:avLst/>
            </a:prstGeom>
            <a:noFill/>
          </p:spPr>
          <p:txBody>
            <a:bodyPr wrap="square" rtlCol="0">
              <a:spAutoFit/>
            </a:bodyPr>
            <a:lstStyle/>
            <a:p>
              <a:pPr algn="ctr"/>
              <a:r>
                <a:rPr lang="en-US" dirty="0">
                  <a:solidFill>
                    <a:srgbClr val="FF0000"/>
                  </a:solidFill>
                </a:rPr>
                <a:t>We have a desired velocity we want the robot to go at</a:t>
              </a:r>
            </a:p>
          </p:txBody>
        </p:sp>
        <p:cxnSp>
          <p:nvCxnSpPr>
            <p:cNvPr id="13" name="Straight Arrow Connector 12">
              <a:extLst>
                <a:ext uri="{FF2B5EF4-FFF2-40B4-BE49-F238E27FC236}">
                  <a16:creationId xmlns:a16="http://schemas.microsoft.com/office/drawing/2014/main" id="{85D884C1-C547-2695-23C6-7C5AB088B2F1}"/>
                </a:ext>
              </a:extLst>
            </p:cNvPr>
            <p:cNvCxnSpPr>
              <a:cxnSpLocks/>
              <a:stCxn id="12" idx="2"/>
            </p:cNvCxnSpPr>
            <p:nvPr/>
          </p:nvCxnSpPr>
          <p:spPr>
            <a:xfrm>
              <a:off x="1489710" y="2169698"/>
              <a:ext cx="258530" cy="2813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B20A990D-5B9D-614B-13B4-59B5322B071F}"/>
              </a:ext>
            </a:extLst>
          </p:cNvPr>
          <p:cNvGrpSpPr/>
          <p:nvPr/>
        </p:nvGrpSpPr>
        <p:grpSpPr>
          <a:xfrm>
            <a:off x="9748857" y="2789968"/>
            <a:ext cx="1859280" cy="1020032"/>
            <a:chOff x="560070" y="1431034"/>
            <a:chExt cx="1859280" cy="1020032"/>
          </a:xfrm>
        </p:grpSpPr>
        <p:sp>
          <p:nvSpPr>
            <p:cNvPr id="16" name="TextBox 15">
              <a:extLst>
                <a:ext uri="{FF2B5EF4-FFF2-40B4-BE49-F238E27FC236}">
                  <a16:creationId xmlns:a16="http://schemas.microsoft.com/office/drawing/2014/main" id="{464D41EC-E37D-966B-0C67-8610CE342454}"/>
                </a:ext>
              </a:extLst>
            </p:cNvPr>
            <p:cNvSpPr txBox="1"/>
            <p:nvPr/>
          </p:nvSpPr>
          <p:spPr>
            <a:xfrm>
              <a:off x="560070" y="1431034"/>
              <a:ext cx="1859280" cy="738664"/>
            </a:xfrm>
            <a:prstGeom prst="rect">
              <a:avLst/>
            </a:prstGeom>
            <a:noFill/>
          </p:spPr>
          <p:txBody>
            <a:bodyPr wrap="square" rtlCol="0">
              <a:spAutoFit/>
            </a:bodyPr>
            <a:lstStyle/>
            <a:p>
              <a:pPr algn="ctr"/>
              <a:r>
                <a:rPr lang="en-US" dirty="0">
                  <a:solidFill>
                    <a:srgbClr val="FF0000"/>
                  </a:solidFill>
                </a:rPr>
                <a:t>We have a desired turn rate we want the robot to go at</a:t>
              </a:r>
            </a:p>
          </p:txBody>
        </p:sp>
        <p:cxnSp>
          <p:nvCxnSpPr>
            <p:cNvPr id="17" name="Straight Arrow Connector 16">
              <a:extLst>
                <a:ext uri="{FF2B5EF4-FFF2-40B4-BE49-F238E27FC236}">
                  <a16:creationId xmlns:a16="http://schemas.microsoft.com/office/drawing/2014/main" id="{04EBEB62-7F76-4F9D-EDBD-31904F7AFE3A}"/>
                </a:ext>
              </a:extLst>
            </p:cNvPr>
            <p:cNvCxnSpPr>
              <a:cxnSpLocks/>
              <a:stCxn id="16" idx="2"/>
            </p:cNvCxnSpPr>
            <p:nvPr/>
          </p:nvCxnSpPr>
          <p:spPr>
            <a:xfrm flipH="1">
              <a:off x="1151553" y="2169698"/>
              <a:ext cx="338157" cy="2813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43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6B96FC-0B48-688D-028E-27AA6FDA680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F82CCE6C-02CA-8740-6D8D-6092CF05251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have 3 error terms,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First, we have the steering error </a:t>
                </a:r>
                <a14:m>
                  <m:oMath xmlns:m="http://schemas.openxmlformats.org/officeDocument/2006/math">
                    <m:sSub>
                      <m:sSubPr>
                        <m:ctrlPr>
                          <a:rPr lang="en-US" sz="240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e</m:t>
                        </m:r>
                      </m:e>
                      <m:sub>
                        <m:r>
                          <m:rPr>
                            <m:sty m:val="p"/>
                          </m:rPr>
                          <a:rPr lang="en-US" sz="2400" b="0" i="1" smtClean="0">
                            <a:latin typeface="Cambria Math" panose="02040503050406030204" pitchFamily="18" charset="0"/>
                            <a:cs typeface="Arial"/>
                            <a:sym typeface="Arial"/>
                          </a:rPr>
                          <m:t>steer</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oMath>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e</m:t>
                          </m:r>
                        </m:e>
                        <m:sub>
                          <m:r>
                            <m:rPr>
                              <m:sty m:val="p"/>
                            </m:rPr>
                            <a:rPr lang="en-US" sz="2400" i="1">
                              <a:latin typeface="Cambria Math" panose="02040503050406030204" pitchFamily="18" charset="0"/>
                              <a:cs typeface="Arial"/>
                              <a:sym typeface="Arial"/>
                            </a:rPr>
                            <m:t>steer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 </m:t>
                      </m:r>
                      <m:sSub>
                        <m:sSubPr>
                          <m:ctrlPr>
                            <a:rPr lang="en-US" sz="2400" b="0" i="1" smtClean="0">
                              <a:latin typeface="Cambria Math" panose="02040503050406030204" pitchFamily="18" charset="0"/>
                              <a:cs typeface="Arial"/>
                              <a:sym typeface="Arial"/>
                            </a:rPr>
                          </m:ctrlPr>
                        </m:sSubPr>
                        <m:e>
                          <m:r>
                            <a:rPr lang="en-US" sz="2400" b="0" i="1" smtClean="0">
                              <a:latin typeface="Cambria Math" panose="02040503050406030204" pitchFamily="18" charset="0"/>
                              <a:ea typeface="Cambria Math" panose="02040503050406030204" pitchFamily="18" charset="0"/>
                              <a:cs typeface="Arial"/>
                              <a:sym typeface="Arial"/>
                            </a:rPr>
                            <m:t>𝜔</m:t>
                          </m:r>
                        </m:e>
                        <m:sub>
                          <m:r>
                            <m:rPr>
                              <m:sty m:val="p"/>
                            </m:rPr>
                            <a:rPr lang="en-US" sz="2400" b="0" i="1" smtClean="0">
                              <a:latin typeface="Cambria Math" panose="02040503050406030204" pitchFamily="18" charset="0"/>
                              <a:cs typeface="Arial"/>
                              <a:sym typeface="Arial"/>
                            </a:rPr>
                            <m:t>r</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 </m:t>
                      </m:r>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l</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r</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 )</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we tell the robot to turn right (</a:t>
                </a:r>
                <a14:m>
                  <m:oMath xmlns:m="http://schemas.openxmlformats.org/officeDocument/2006/math">
                    <m:sSub>
                      <m:sSubPr>
                        <m:ctrlPr>
                          <a:rPr lang="en-US" sz="2400" i="1">
                            <a:latin typeface="Cambria Math" panose="02040503050406030204" pitchFamily="18" charset="0"/>
                            <a:cs typeface="Arial"/>
                            <a:sym typeface="Arial"/>
                          </a:rPr>
                        </m:ctrlPr>
                      </m:sSubPr>
                      <m:e>
                        <m:r>
                          <a:rPr lang="en-US" sz="2400" i="1">
                            <a:latin typeface="Cambria Math" panose="02040503050406030204" pitchFamily="18" charset="0"/>
                            <a:ea typeface="Cambria Math" panose="02040503050406030204" pitchFamily="18" charset="0"/>
                            <a:cs typeface="Arial"/>
                            <a:sym typeface="Arial"/>
                          </a:rPr>
                          <m:t>𝜔</m:t>
                        </m:r>
                      </m:e>
                      <m:sub>
                        <m:r>
                          <m:rPr>
                            <m:sty m:val="p"/>
                          </m:rPr>
                          <a:rPr lang="en-US" sz="2400" i="1">
                            <a:latin typeface="Cambria Math" panose="02040503050406030204" pitchFamily="18" charset="0"/>
                            <a:cs typeface="Arial"/>
                            <a:sym typeface="Arial"/>
                          </a:rPr>
                          <m:t>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)&gt;0</m:t>
                    </m:r>
                  </m:oMath>
                </a14:m>
                <a:r>
                  <a:rPr lang="en-US" sz="2400" dirty="0">
                    <a:latin typeface="Atkinson Hyperlegible Next"/>
                    <a:ea typeface="Arial"/>
                    <a:cs typeface="Arial"/>
                    <a:sym typeface="Arial"/>
                  </a:rPr>
                  <a:t>), we expect the  right wheel to move faster than the left wheel.</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 because in a differential drive system, the yaw rate is proportional to the difference between the right and left velocities </a:t>
                </a:r>
                <a14:m>
                  <m:oMath xmlns:m="http://schemas.openxmlformats.org/officeDocument/2006/math">
                    <m:r>
                      <a:rPr lang="en-US" sz="2400" i="1">
                        <a:latin typeface="Cambria Math" panose="02040503050406030204" pitchFamily="18" charset="0"/>
                        <a:ea typeface="Cambria Math" panose="02040503050406030204" pitchFamily="18" charset="0"/>
                        <a:cs typeface="Arial"/>
                        <a:sym typeface="Arial"/>
                      </a:rPr>
                      <m:t>𝜔</m:t>
                    </m:r>
                    <m:r>
                      <a:rPr lang="en-US" sz="2400" i="1" smtClean="0">
                        <a:latin typeface="Cambria Math" panose="02040503050406030204" pitchFamily="18" charset="0"/>
                        <a:ea typeface="Cambria Math" panose="02040503050406030204" pitchFamily="18" charset="0"/>
                        <a:cs typeface="Arial"/>
                        <a:sym typeface="Arial"/>
                      </a:rPr>
                      <m:t>∝</m:t>
                    </m:r>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r</m:t>
                        </m:r>
                      </m:sub>
                    </m:sSub>
                    <m:r>
                      <a:rPr lang="en-US" sz="2400" i="1">
                        <a:latin typeface="Cambria Math" panose="02040503050406030204" pitchFamily="18" charset="0"/>
                        <a:cs typeface="Arial"/>
                        <a:sym typeface="Arial"/>
                      </a:rPr>
                      <m:t>−</m:t>
                    </m:r>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l</m:t>
                        </m:r>
                      </m:sub>
                    </m:sSub>
                  </m:oMath>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mc:Choice>
        <mc:Fallback>
          <p:sp>
            <p:nvSpPr>
              <p:cNvPr id="118" name="Google Shape;118;p29">
                <a:extLst>
                  <a:ext uri="{FF2B5EF4-FFF2-40B4-BE49-F238E27FC236}">
                    <a16:creationId xmlns:a16="http://schemas.microsoft.com/office/drawing/2014/main" id="{F82CCE6C-02CA-8740-6D8D-6092CF05251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E070B49-1D32-3D10-CCA8-2ED27FB2A5B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F47ADF8-A179-638E-160A-4EB673A6019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F3BCED-18EB-3EFA-CD45-9217275BE52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8470F46-65AE-5E3F-87AA-FAB0498EADE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63F87D3-4E5D-0D21-AC1A-1726B45D2C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1B0D18-2824-F08A-ADE5-2DE1DACD39A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64192AD-48FF-C250-3D82-818527FB93F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77A81EF-305A-D275-21F9-09F91145FD0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45981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8C1904-EE51-5A46-1089-1FBFC9A5519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A7043761-BC59-2C43-E220-6274B69005F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we have the </a:t>
                </a:r>
                <a:r>
                  <a:rPr lang="en-US" sz="2400" b="1" dirty="0">
                    <a:latin typeface="Atkinson Hyperlegible Next"/>
                    <a:ea typeface="Arial"/>
                    <a:cs typeface="Arial"/>
                    <a:sym typeface="Arial"/>
                  </a:rPr>
                  <a:t>Left Motor error </a:t>
                </a:r>
                <a14:m>
                  <m:oMath xmlns:m="http://schemas.openxmlformats.org/officeDocument/2006/math">
                    <m:sSub>
                      <m:sSubPr>
                        <m:ctrlPr>
                          <a:rPr lang="en-US" sz="240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e</m:t>
                        </m:r>
                      </m:e>
                      <m:sub>
                        <m:r>
                          <m:rPr>
                            <m:sty m:val="p"/>
                          </m:rPr>
                          <a:rPr lang="en-US" sz="2400" b="0" i="1" smtClean="0">
                            <a:latin typeface="Cambria Math" panose="02040503050406030204" pitchFamily="18" charset="0"/>
                            <a:cs typeface="Arial"/>
                            <a:sym typeface="Arial"/>
                          </a:rPr>
                          <m:t>l</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oMath>
                </a14:m>
                <a:r>
                  <a:rPr lang="en-US" sz="2400" dirty="0">
                    <a:latin typeface="Atkinson Hyperlegible Next"/>
                    <a:ea typeface="Arial"/>
                    <a:cs typeface="Arial"/>
                    <a:sym typeface="Arial"/>
                  </a:rPr>
                  <a:t>, receives positive feedback from the turning loop</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e</m:t>
                          </m:r>
                        </m:e>
                        <m:sub>
                          <m:r>
                            <m:rPr>
                              <m:sty m:val="p"/>
                            </m:rPr>
                            <a:rPr lang="en-US" sz="2400" i="1">
                              <a:latin typeface="Cambria Math" panose="02040503050406030204" pitchFamily="18" charset="0"/>
                              <a:cs typeface="Arial"/>
                              <a:sym typeface="Arial"/>
                            </a:rPr>
                            <m:t>l</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r>
                        <m:rPr>
                          <m:nor/>
                        </m:rPr>
                        <a:rPr lang="en-US" sz="2400" b="0" i="0" smtClean="0">
                          <a:latin typeface="Cambria Math" panose="02040503050406030204" pitchFamily="18" charset="0"/>
                          <a:cs typeface="Arial"/>
                          <a:sym typeface="Arial"/>
                        </a:rPr>
                        <m:t>= </m:t>
                      </m:r>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r</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l</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K</m:t>
                          </m:r>
                        </m:e>
                        <m:sub>
                          <m:r>
                            <m:rPr>
                              <m:sty m:val="p"/>
                            </m:rPr>
                            <a:rPr lang="en-US" sz="2400" b="0" i="1" smtClean="0">
                              <a:latin typeface="Cambria Math" panose="02040503050406030204" pitchFamily="18" charset="0"/>
                              <a:cs typeface="Arial"/>
                              <a:sym typeface="Arial"/>
                            </a:rPr>
                            <m:t>steer</m:t>
                          </m:r>
                        </m:sub>
                      </m:sSub>
                      <m:sSub>
                        <m:sSubPr>
                          <m:ctrlPr>
                            <a:rPr lang="en-US" sz="2400" b="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e</m:t>
                          </m:r>
                        </m:e>
                        <m:sub>
                          <m:r>
                            <m:rPr>
                              <m:sty m:val="p"/>
                            </m:rPr>
                            <a:rPr lang="en-US" sz="2400" b="0" i="1" smtClean="0">
                              <a:latin typeface="Cambria Math" panose="02040503050406030204" pitchFamily="18" charset="0"/>
                              <a:cs typeface="Arial"/>
                              <a:sym typeface="Arial"/>
                            </a:rPr>
                            <m:t>steer</m:t>
                          </m:r>
                        </m:sub>
                      </m:sSub>
                      <m:r>
                        <a:rPr lang="en-US" sz="2400" b="0" i="1" smtClean="0">
                          <a:latin typeface="Cambria Math" panose="02040503050406030204" pitchFamily="18" charset="0"/>
                          <a:cs typeface="Arial"/>
                          <a:sym typeface="Arial"/>
                        </a:rPr>
                        <m:t>(</m:t>
                      </m:r>
                      <m:r>
                        <m:rPr>
                          <m:sty m:val="p"/>
                        </m:rPr>
                        <a:rPr lang="en-US" sz="2400" b="0" i="1" smtClean="0">
                          <a:latin typeface="Cambria Math" panose="02040503050406030204" pitchFamily="18" charset="0"/>
                          <a:cs typeface="Arial"/>
                          <a:sym typeface="Arial"/>
                        </a:rPr>
                        <m:t>t</m:t>
                      </m:r>
                      <m:r>
                        <a:rPr lang="en-US" sz="2400" b="0" i="1" smtClean="0">
                          <a:latin typeface="Cambria Math" panose="02040503050406030204" pitchFamily="18" charset="0"/>
                          <a:cs typeface="Arial"/>
                          <a:sym typeface="Arial"/>
                        </a:rPr>
                        <m:t>)</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Now we have the </a:t>
                </a:r>
                <a:r>
                  <a:rPr lang="en-US" sz="2400" b="1" dirty="0">
                    <a:latin typeface="Atkinson Hyperlegible Next"/>
                    <a:ea typeface="Arial"/>
                    <a:cs typeface="Arial"/>
                    <a:sym typeface="Arial"/>
                  </a:rPr>
                  <a:t>Right Motor error </a:t>
                </a:r>
                <a14:m>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e</m:t>
                        </m:r>
                      </m:e>
                      <m:sub>
                        <m:r>
                          <m:rPr>
                            <m:sty m:val="p"/>
                          </m:rPr>
                          <a:rPr lang="en-US" sz="2400" b="0" i="1" smtClean="0">
                            <a:latin typeface="Cambria Math" panose="02040503050406030204" pitchFamily="18" charset="0"/>
                            <a:cs typeface="Arial"/>
                            <a:sym typeface="Arial"/>
                          </a:rPr>
                          <m:t>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oMath>
                </a14:m>
                <a:r>
                  <a:rPr lang="en-US" sz="2400" dirty="0">
                    <a:latin typeface="Atkinson Hyperlegible Next"/>
                    <a:ea typeface="Arial"/>
                    <a:cs typeface="Arial"/>
                    <a:sym typeface="Arial"/>
                  </a:rPr>
                  <a:t>, receives negative feedback from the turning loop</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e</m:t>
                          </m:r>
                        </m:e>
                        <m:sub>
                          <m:r>
                            <m:rPr>
                              <m:sty m:val="p"/>
                            </m:rPr>
                            <a:rPr lang="en-US" sz="2400" b="0" i="1" smtClean="0">
                              <a:latin typeface="Cambria Math" panose="02040503050406030204" pitchFamily="18" charset="0"/>
                              <a:cs typeface="Arial"/>
                              <a:sym typeface="Arial"/>
                            </a:rPr>
                            <m:t>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r>
                        <m:rPr>
                          <m:nor/>
                        </m:rPr>
                        <a:rPr lang="en-US" sz="2400">
                          <a:latin typeface="Cambria Math" panose="02040503050406030204" pitchFamily="18" charset="0"/>
                          <a:cs typeface="Arial"/>
                          <a:sym typeface="Arial"/>
                        </a:rPr>
                        <m:t>= </m:t>
                      </m:r>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v</m:t>
                          </m:r>
                        </m:e>
                        <m:sub>
                          <m:r>
                            <m:rPr>
                              <m:sty m:val="p"/>
                            </m:rPr>
                            <a:rPr lang="en-US" sz="2400" i="1">
                              <a:latin typeface="Cambria Math" panose="02040503050406030204" pitchFamily="18" charset="0"/>
                              <a:cs typeface="Arial"/>
                              <a:sym typeface="Arial"/>
                            </a:rPr>
                            <m:t>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v</m:t>
                          </m:r>
                        </m:e>
                        <m:sub>
                          <m:r>
                            <m:rPr>
                              <m:sty m:val="p"/>
                            </m:rPr>
                            <a:rPr lang="en-US" sz="2400" i="1">
                              <a:latin typeface="Cambria Math" panose="02040503050406030204" pitchFamily="18" charset="0"/>
                              <a:cs typeface="Arial"/>
                              <a:sym typeface="Arial"/>
                            </a:rPr>
                            <m:t>l</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K</m:t>
                          </m:r>
                        </m:e>
                        <m:sub>
                          <m:r>
                            <m:rPr>
                              <m:sty m:val="p"/>
                            </m:rPr>
                            <a:rPr lang="en-US" sz="2400" i="1">
                              <a:latin typeface="Cambria Math" panose="02040503050406030204" pitchFamily="18" charset="0"/>
                              <a:cs typeface="Arial"/>
                              <a:sym typeface="Arial"/>
                            </a:rPr>
                            <m:t>steer</m:t>
                          </m:r>
                        </m:sub>
                      </m:sSub>
                      <m:sSub>
                        <m:sSubPr>
                          <m:ctrlPr>
                            <a:rPr lang="en-US" sz="2400" i="1">
                              <a:latin typeface="Cambria Math" panose="02040503050406030204" pitchFamily="18" charset="0"/>
                              <a:cs typeface="Arial"/>
                              <a:sym typeface="Arial"/>
                            </a:rPr>
                          </m:ctrlPr>
                        </m:sSubPr>
                        <m:e>
                          <m:r>
                            <m:rPr>
                              <m:sty m:val="p"/>
                            </m:rPr>
                            <a:rPr lang="en-US" sz="2400" i="1">
                              <a:latin typeface="Cambria Math" panose="02040503050406030204" pitchFamily="18" charset="0"/>
                              <a:cs typeface="Arial"/>
                              <a:sym typeface="Arial"/>
                            </a:rPr>
                            <m:t>e</m:t>
                          </m:r>
                        </m:e>
                        <m:sub>
                          <m:r>
                            <m:rPr>
                              <m:sty m:val="p"/>
                            </m:rPr>
                            <a:rPr lang="en-US" sz="2400" i="1">
                              <a:latin typeface="Cambria Math" panose="02040503050406030204" pitchFamily="18" charset="0"/>
                              <a:cs typeface="Arial"/>
                              <a:sym typeface="Arial"/>
                            </a:rPr>
                            <m:t>steer</m:t>
                          </m:r>
                        </m:sub>
                      </m:sSub>
                      <m:r>
                        <a:rPr lang="en-US" sz="2400" i="1">
                          <a:latin typeface="Cambria Math" panose="02040503050406030204" pitchFamily="18" charset="0"/>
                          <a:cs typeface="Arial"/>
                          <a:sym typeface="Arial"/>
                        </a:rPr>
                        <m:t>(</m:t>
                      </m:r>
                      <m:r>
                        <m:rPr>
                          <m:sty m:val="p"/>
                        </m:rPr>
                        <a:rPr lang="en-US" sz="2400" i="1">
                          <a:latin typeface="Cambria Math" panose="02040503050406030204" pitchFamily="18" charset="0"/>
                          <a:cs typeface="Arial"/>
                          <a:sym typeface="Arial"/>
                        </a:rPr>
                        <m:t>t</m:t>
                      </m:r>
                      <m:r>
                        <a:rPr lang="en-US" sz="2400" i="1">
                          <a:latin typeface="Cambria Math" panose="02040503050406030204" pitchFamily="18" charset="0"/>
                          <a:cs typeface="Arial"/>
                          <a:sym typeface="Arial"/>
                        </a:rPr>
                        <m:t>)</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cross couples the control loops for the steering and the velocity control. Such that you have a feedback loop for making the robot steer. And then a separate control loop to reach the robot’s target individual motor velocity.</a:t>
                </a:r>
              </a:p>
            </p:txBody>
          </p:sp>
        </mc:Choice>
        <mc:Fallback>
          <p:sp>
            <p:nvSpPr>
              <p:cNvPr id="118" name="Google Shape;118;p29">
                <a:extLst>
                  <a:ext uri="{FF2B5EF4-FFF2-40B4-BE49-F238E27FC236}">
                    <a16:creationId xmlns:a16="http://schemas.microsoft.com/office/drawing/2014/main" id="{A7043761-BC59-2C43-E220-6274B69005F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7DC72BE-679D-8521-8F67-C53A12056FC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2EC82E6-FC55-98A7-E6CA-4CC5315E944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PID Controller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6898ED0-D826-2F2A-D654-B3495E725AA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50A89AC-88D1-3EA7-2FB4-E4A2949BD4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E1A41E-B7FA-5880-5B5E-395D4475C3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C1A7B6A-A4E6-72F0-5B24-3EE65631602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986A38-59EA-3378-E15A-CDD237CFA2F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9082B2-75B8-3495-5C41-D82A78000B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78042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11</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1603</Words>
  <Application>Microsoft Office PowerPoint</Application>
  <PresentationFormat>Widescreen</PresentationFormat>
  <Paragraphs>255</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109</cp:revision>
  <dcterms:created xsi:type="dcterms:W3CDTF">2019-01-14T22:06:33Z</dcterms:created>
  <dcterms:modified xsi:type="dcterms:W3CDTF">2026-02-25T08:08:39Z</dcterms:modified>
</cp:coreProperties>
</file>