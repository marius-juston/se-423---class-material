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7"/>
  </p:notesMasterIdLst>
  <p:sldIdLst>
    <p:sldId id="256" r:id="rId2"/>
    <p:sldId id="413" r:id="rId3"/>
    <p:sldId id="414" r:id="rId4"/>
    <p:sldId id="415" r:id="rId5"/>
    <p:sldId id="419" r:id="rId6"/>
    <p:sldId id="416" r:id="rId7"/>
    <p:sldId id="417" r:id="rId8"/>
    <p:sldId id="420" r:id="rId9"/>
    <p:sldId id="418" r:id="rId10"/>
    <p:sldId id="423" r:id="rId11"/>
    <p:sldId id="424" r:id="rId12"/>
    <p:sldId id="422" r:id="rId13"/>
    <p:sldId id="429" r:id="rId14"/>
    <p:sldId id="430" r:id="rId15"/>
    <p:sldId id="426" r:id="rId16"/>
    <p:sldId id="421" r:id="rId17"/>
    <p:sldId id="427" r:id="rId18"/>
    <p:sldId id="428" r:id="rId19"/>
    <p:sldId id="432" r:id="rId20"/>
    <p:sldId id="433" r:id="rId21"/>
    <p:sldId id="434" r:id="rId22"/>
    <p:sldId id="435" r:id="rId23"/>
    <p:sldId id="436" r:id="rId24"/>
    <p:sldId id="271" r:id="rId25"/>
    <p:sldId id="270" r:id="rId2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174" autoAdjust="0"/>
  </p:normalViewPr>
  <p:slideViewPr>
    <p:cSldViewPr snapToGrid="0">
      <p:cViewPr varScale="1">
        <p:scale>
          <a:sx n="126" d="100"/>
          <a:sy n="126" d="100"/>
        </p:scale>
        <p:origin x="105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B19DB81-4729-98FC-E458-7F9DB51A8F3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C19618D-92C6-51BB-0B16-2ABB508B12B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8BDADDE-BF1C-F448-5EA5-45E2EFA424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28375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58E1CA8-DC30-69EC-773E-79655D687C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E90EB6F-6444-3508-7976-83BD84040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B0AE006-73F2-3778-1B2C-77FE9F95E1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82350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005F0A-711D-5397-46EE-8D8187ECE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15BF99-949F-1A05-76C5-7979998031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latin typeface="Atkinson Hyperlegible Next"/>
                <a:ea typeface="Arial"/>
                <a:cs typeface="Arial"/>
                <a:sym typeface="Arial"/>
              </a:rPr>
              <a:t>This is like if I told you to walk blind folded across the room, you might make it </a:t>
            </a:r>
          </a:p>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8E1E57D-932C-F332-5FCE-4CA06538F1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22015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F606F4-F12B-AA1A-4AE5-C14FB67EF4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E52C23-3BCA-AC62-A051-F669687A6E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C302E5-F1CE-6256-4AC1-44BEF4E9675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64409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9E1271-C81B-0CF2-152B-F7E956C86B7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94480E-B5CF-7531-9A89-008F5558F6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9A53FC-57A6-128B-4C06-B9DAF6A946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34303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ACA15C-67A8-E991-DC0E-4BFA5C7DBA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6CD006-C9C4-E8CF-D7D7-519D6F06BD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7EE57D-DFE3-9619-2EED-E794A605A4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8057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FDF30A-724B-7DBA-DC34-952316D0FC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F40B68-C1CD-A686-A789-C9762C6E1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F1E883-2E5E-7A51-1AC5-DCA1980070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4223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A92B6C-755D-453F-7A3A-40F0732697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9F2368-94BD-2433-ACAD-D2004B7F7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365F62-8F6B-7ACF-8348-2F531071B4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276494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936368-8B9B-62FD-4EB3-D3693B5021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E65680-A898-9039-C5CF-8828A20427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7F49F49-F475-A461-A975-F8B39D5463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46016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7EA024-8A0C-E8DC-FAB5-AF1737B61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198969-A9E3-C698-F728-5107A27626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8CB46DA-1040-D7AB-D70F-6373F60551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327625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FFE1A4-DC13-2090-0906-D378B33258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87E37-BDE5-D0FC-F130-9C46D00F03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5CBEF-6FEF-5CDE-039B-88287A5C4E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6870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71855E-B7C9-E37C-A39E-C9B09AD4C0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B35525-53B1-E84E-646C-BB4C2DC2BE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B5DB5A-7AC3-318B-6876-ABA0E351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64132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78D5716-6D15-F7BE-3AA8-774E53C7DE2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9B901BF-E9C7-6D11-12BA-822EF325F5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9E76DAA-4221-3752-6A67-BCBBF4F30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64383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74BFD-8321-21A0-5BBD-8C5E85ECC77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76C27E-2653-0EC9-4445-ECC08EF1D1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4312651-DB47-E185-54C9-CBE27DC48B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198832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DB72CA-3B16-E9BF-467A-0CA2928705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4C3EAE-8BF1-F92E-F202-4817497323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EE69BD-15B8-AB0D-67DA-198AAC82B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05618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D25509-1268-D613-9B93-B099C308CA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0FE4D2-070C-7A63-C56C-38FE76398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BA1C6D9-EE9E-C93B-7332-90FC9A19B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54150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49C181-3F6C-9B19-AC81-7F7499FA68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B97933-D067-94AB-C69C-C741D88EA8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6AB8F3-4B80-13B0-1740-723111DCAE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61683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C69064-7A8C-F8B2-5F84-6AD20BA42F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40315A-6A03-30F6-9D5F-60BA0C30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38FDF1-C159-49AF-6F8D-2B66C0E37DC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79746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56972-0005-EA5F-960B-985E8819B9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6D156D-877B-6831-7D2A-876C919523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C8D806-54CC-5060-D047-4DBC1B7EF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1483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88B42-DC5C-2E91-7704-03B7C2DCAD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E35649-FF02-40CB-F399-A2726950C7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8D60CE8-23DD-2BE5-F688-E7FC525E28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0225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6C1A01-C170-EDD4-3492-AD2582CAC0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ECA017-3FA8-80A4-FF2C-ADC82A2A52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D6F8DC-7B0E-5619-E71D-C4AFE1B5D0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9242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2.pdf" TargetMode="External"/><Relationship Id="rId4" Type="http://schemas.openxmlformats.org/officeDocument/2006/relationships/hyperlink" Target="https://marius-juston.github.io/SE-423---Class-Material/Homeworks/HW3.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Proportional%E2%80%93integral%E2%80%93derivative_controll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hyperlink" Target="https://www.mathworks.com/discovery/pid-control.html" TargetMode="External"/><Relationship Id="rId7"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www.mathworks.com/videos/understanding-pid-control-part-3-expanding-beyond-a-simple-derivative-1531120808026.html" TargetMode="Externa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hyperlink" Target="https://www.mathworks.com/videos/understanding-pid-control-part-1-what-is-pid-control--1527089264373.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4-a-pid-tuning-guide-1531124725727.html" TargetMode="Externa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hyperlink" Target="https://en.wikipedia.org/wiki/Proportional%E2%80%93integral%E2%80%93derivative_controller#Manual_tuning" TargetMode="External"/><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8.gif"/><Relationship Id="rId5" Type="http://schemas.openxmlformats.org/officeDocument/2006/relationships/image" Target="../media/image17.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https://www.luisllamas.es/en/pid-controller-simulato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11: PID Control</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February 25</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9AM</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4"/>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B667AEC-47C7-8F8F-65BF-CECA1157D71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123F9AA-E2AC-D17C-4C54-331AEAEC9B78}"/>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92C9DDC-991A-6832-EF33-FBC87E37BD3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57166BFD-1C4E-3599-89E6-8E3AEA547CF8}"/>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6DF54E6-784E-64BC-7DC6-2531938140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32AD2A6-D4ED-0F91-E70D-36D565E2A2C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750D2F9-8B53-A1CC-1604-8D8421E0F8E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38D87247-9792-F519-72B6-DEECEE261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D5973BE6-A103-F3D1-2B70-3FAB31B103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0BDE8C2-4D12-75B0-5A0B-EB178A1EF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A406C3-C5CA-6DA4-4E7F-6642548A81A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F57968C-4DA0-2550-0B92-73DBE8F055E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C39FF9-17A5-14E2-53C8-55B0E509827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943786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9E514A9-3C3C-09C6-E5E8-8D327629216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9681138-CA23-CFD8-EC55-97EA10C7FF2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PID </a:t>
            </a:r>
            <a:r>
              <a:rPr lang="en-US" sz="4500" b="1" i="0" u="none" strike="noStrike" cap="none" dirty="0">
                <a:solidFill>
                  <a:srgbClr val="15264B"/>
                </a:solidFill>
                <a:latin typeface="Atkinson Hyperlegible Next"/>
                <a:ea typeface="Arial"/>
                <a:cs typeface="Arial"/>
                <a:sym typeface="Arial"/>
              </a:rPr>
              <a:t>Controller</a:t>
            </a:r>
            <a:endParaRPr i="0" b="0" sz="1400" lang="en-US" dirty="0">
              <a:solidFill>
                <a:srgbClr val="000000"/>
              </a:solidFill>
            </a:endParaRPr>
          </a:p>
        </p:txBody>
      </p:sp>
      <p:grpSp>
        <p:nvGrpSpPr>
          <p:cNvPr id="105" name="Google Shape;105;p28">
            <a:extLst>
              <a:ext uri="{FF2B5EF4-FFF2-40B4-BE49-F238E27FC236}">
                <a16:creationId xmlns:a16="http://schemas.microsoft.com/office/drawing/2014/main" id="{A1C5EB5E-4781-9A30-84AC-16B465F11E0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AF129D5-D7F1-4008-166E-3ADA96E0D32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22164CC-C094-FA9A-2375-65B5ACAA95F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815F2B1-22DC-627B-D713-B4AC6A62C08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CCF5F19-6347-DDF3-4432-DA1422B99B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B460FAA-3E29-6215-A566-785C3D6C5F2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9757870-5D2F-FCB6-B2ED-F916BAC7670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2B0E049-B20A-6E61-600B-8ED9FB23E4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2E0C7D2-8A76-1586-EECB-0D180B200A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38695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1BD6B5-8573-BDD5-7183-95E5615C58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7DE27B1-837D-3DCD-0724-4155E29698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There are 2 types of controllers:</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Open-Loop </a:t>
            </a:r>
            <a:r>
              <a:rPr lang="en-US" dirty="0">
                <a:latin typeface="Atkinson Hyperlegible Next"/>
                <a:ea typeface="Arial"/>
                <a:cs typeface="Arial"/>
                <a:sym typeface="Arial"/>
              </a:rPr>
              <a:t>systems: Directly dictates the output. </a:t>
            </a:r>
          </a:p>
          <a:p>
            <a:pPr indent="-457200">
              <a:lnSpc>
                <a:spcPct val="100000"/>
              </a:lnSpc>
              <a:spcBef>
                <a:spcPts val="0"/>
              </a:spcBef>
              <a:buSzPts val="3000"/>
            </a:pPr>
            <a:endParaRPr lang="en-US" dirty="0">
              <a:latin typeface="Atkinson Hyperlegible Next"/>
              <a:ea typeface="Arial"/>
              <a:cs typeface="Arial"/>
              <a:sym typeface="Arial"/>
            </a:endParaRPr>
          </a:p>
          <a:p>
            <a:pPr marL="0" indent="0">
              <a:lnSpc>
                <a:spcPct val="100000"/>
              </a:lnSpc>
              <a:spcBef>
                <a:spcPts val="0"/>
              </a:spcBef>
              <a:buSzPts val="3000"/>
              <a:buNone/>
            </a:pPr>
            <a:r>
              <a:rPr lang="en-US" b="1" dirty="0">
                <a:latin typeface="Atkinson Hyperlegible Next"/>
                <a:ea typeface="Arial"/>
                <a:cs typeface="Arial"/>
                <a:sym typeface="Arial"/>
              </a:rPr>
              <a:t>Problems?</a:t>
            </a:r>
          </a:p>
          <a:p>
            <a:pPr marL="0" indent="0">
              <a:lnSpc>
                <a:spcPct val="100000"/>
              </a:lnSpc>
              <a:spcBef>
                <a:spcPts val="0"/>
              </a:spcBef>
              <a:buSzPts val="3000"/>
              <a:buNone/>
            </a:pPr>
            <a:r>
              <a:rPr lang="en-US" dirty="0">
                <a:latin typeface="Atkinson Hyperlegible Next"/>
                <a:ea typeface="Arial"/>
                <a:cs typeface="Arial"/>
                <a:sym typeface="Arial"/>
              </a:rPr>
              <a:t>Any deviation / noise will cause you to not reach your target.</a:t>
            </a:r>
          </a:p>
          <a:p>
            <a:pPr indent="-457200">
              <a:lnSpc>
                <a:spcPct val="100000"/>
              </a:lnSpc>
              <a:spcBef>
                <a:spcPts val="0"/>
              </a:spcBef>
              <a:buSzPts val="3000"/>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Closed-Loop </a:t>
            </a:r>
            <a:r>
              <a:rPr lang="en-US" dirty="0">
                <a:latin typeface="Atkinson Hyperlegible Next"/>
                <a:ea typeface="Arial"/>
                <a:cs typeface="Arial"/>
                <a:sym typeface="Arial"/>
              </a:rPr>
              <a:t>systems: Utilizes feedback to compute an error metric, dynamically correcting the control effort</a:t>
            </a:r>
          </a:p>
          <a:p>
            <a:pPr indent="-457200">
              <a:lnSpc>
                <a:spcPct val="100000"/>
              </a:lnSpc>
              <a:spcBef>
                <a:spcPts val="0"/>
              </a:spcBef>
              <a:buSzPts val="3000"/>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E0A5ECB-2CC2-C8AF-0FDB-0F4DE71C47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868ED7-F654-3EFD-34E3-52B86EDC89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F90B96-3863-482B-C10C-77679060CF0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C6F392-97C2-11F7-00F3-FFA8B4707A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4A701-AA79-EC9F-5472-ED3F4A37BD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5E3A6D0-D767-FE6D-E3D4-11D02E30D5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C8AB4B-75DB-54A0-C155-B4DEB4461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94ABC-5959-0BB2-D719-CC8855537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191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367E73-A319-1FF6-113B-DFED8598B20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7BDFBB9-85A7-ED21-E9B2-233CFFD2FB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We know it, we love it, it’s the classic PID Controller!</a:t>
            </a:r>
          </a:p>
          <a:p>
            <a:pPr marL="0" lvl="0" indent="0" algn="l" rtl="0">
              <a:lnSpc>
                <a:spcPct val="100000"/>
              </a:lnSpc>
              <a:spcBef>
                <a:spcPts val="0"/>
              </a:spcBef>
              <a:spcAft>
                <a:spcPts val="0"/>
              </a:spcAft>
              <a:buSzPts val="3000"/>
              <a:buNone/>
            </a:pPr>
            <a:endParaRPr lang="en-US"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proportional–integral–derivative (PID) controller  is a closed-loop controller.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It is extremely common due to its simplicity, both in the tuning and in the implementation ( you will see how simple it is when you implement it in the code)</a:t>
            </a:r>
          </a:p>
        </p:txBody>
      </p:sp>
      <p:sp>
        <p:nvSpPr>
          <p:cNvPr id="119" name="Google Shape;119;p29">
            <a:extLst>
              <a:ext uri="{FF2B5EF4-FFF2-40B4-BE49-F238E27FC236}">
                <a16:creationId xmlns:a16="http://schemas.microsoft.com/office/drawing/2014/main" id="{1474906B-3921-7214-671B-824084E0D9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9AD7F0-CE35-3DF3-3786-864C301B1C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943AB06-3A56-F461-6080-9C361B3D64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E52058-DE47-B7E7-3DD3-75BD362912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68666A-021B-030A-A2F6-6A96EB923E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FC0193-D1A2-526B-0843-42C384CD3D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40398F-5080-A657-1047-0045F7D76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9FFF8D-7BBE-9ACA-9DB5-48276DE596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4880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6BE620-0B6D-A41A-34C6-8BE42927179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79BD9A5-5D02-C723-CBE2-049392F3CC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PID controller is split into 3 parts, as its name states. While each of the terms contribute to improving the output, it is not necessary to use all of them at once. </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As the PID controller is a closed-loop controller the input is an error signal </a:t>
                </a:r>
                <a14:m>
                  <m:oMath xmlns:m="http://schemas.openxmlformats.org/officeDocument/2006/math">
                    <m:r>
                      <m:rPr>
                        <m:sty m:val="p"/>
                      </m:rPr>
                      <a:rPr lang="en-US" sz="2000" b="0" i="1" smtClean="0">
                        <a:latin typeface="Cambria Math" panose="02040503050406030204" pitchFamily="18" charset="0"/>
                        <a:ea typeface="Arial"/>
                        <a:cs typeface="Arial"/>
                        <a:sym typeface="Arial"/>
                      </a:rPr>
                      <m:t>e</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r</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which represents the reference “what you want to be doing” </a:t>
                </a:r>
                <a14:m>
                  <m:oMath xmlns:m="http://schemas.openxmlformats.org/officeDocument/2006/math">
                    <m:r>
                      <m:rPr>
                        <m:sty m:val="p"/>
                      </m:rPr>
                      <a:rPr lang="en-US" sz="2000" i="1">
                        <a:latin typeface="Cambria Math" panose="02040503050406030204" pitchFamily="18" charset="0"/>
                        <a:ea typeface="Arial"/>
                        <a:cs typeface="Arial"/>
                        <a:sym typeface="Arial"/>
                      </a:rPr>
                      <m:t>r</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and the currently measured input “what you are doing now” </a:t>
                </a:r>
                <a14:m>
                  <m:oMath xmlns:m="http://schemas.openxmlformats.org/officeDocument/2006/math">
                    <m:r>
                      <m:rPr>
                        <m:sty m:val="p"/>
                      </m:rPr>
                      <a:rPr lang="en-US" sz="2000" i="1">
                        <a:latin typeface="Cambria Math" panose="02040503050406030204" pitchFamily="18" charset="0"/>
                        <a:ea typeface="Arial"/>
                        <a:cs typeface="Arial"/>
                        <a:sym typeface="Arial"/>
                      </a:rPr>
                      <m:t>y</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E79BD9A5-5D02-C723-CBE2-049392F3CC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70EBD3D-08FF-FF42-A964-440586DC0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E7C368-FBA8-DFA8-18D1-3425439018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0D2713-1161-8461-918E-E91EDDE319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F8A4F3-B5E4-64AB-9C00-50D3E3C7E5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2822F-45DA-6332-D95E-40951B4A0B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7153E5-EFB0-A38F-126B-E22875E43A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73EF47-680E-A96C-A12C-A1ACBFC7DD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A8CC90-0DA6-2190-4AC0-A71D7C42292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the reference r of t minus the fed-back output y of t gives the error e of t, which feeds three parallel branches: P, K sub p times e of t; I, K sub i times the integral from 0 to t of e of tau d tau; and D, K sub d times d e of t over d t. The three outputs are summed into the control signal u of t, which drives the plant or process to produce y of t.">
            <a:extLst>
              <a:ext uri="{FF2B5EF4-FFF2-40B4-BE49-F238E27FC236}">
                <a16:creationId xmlns:a16="http://schemas.microsoft.com/office/drawing/2014/main" id="{80FC701E-794E-5C2C-E1F5-4739C0BC827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729382" y="3218884"/>
            <a:ext cx="8733233" cy="3102951"/>
          </a:xfrm>
          <a:prstGeom prst="rect">
            <a:avLst/>
          </a:prstGeom>
        </p:spPr>
      </p:pic>
      <p:sp>
        <p:nvSpPr>
          <p:cNvPr id="4" name="TextBox 3">
            <a:extLst>
              <a:ext uri="{FF2B5EF4-FFF2-40B4-BE49-F238E27FC236}">
                <a16:creationId xmlns:a16="http://schemas.microsoft.com/office/drawing/2014/main" id="{B4A11C64-128D-7F46-BAA8-D2204362922D}"/>
              </a:ext>
            </a:extLst>
          </p:cNvPr>
          <p:cNvSpPr txBox="1"/>
          <p:nvPr/>
        </p:nvSpPr>
        <p:spPr>
          <a:xfrm>
            <a:off x="2838448" y="6346194"/>
            <a:ext cx="6515100" cy="253916"/>
          </a:xfrm>
          <a:prstGeom prst="rect">
            <a:avLst/>
          </a:prstGeom>
          <a:noFill/>
        </p:spPr>
        <p:txBody>
          <a:bodyPr wrap="square" rtlCol="0">
            <a:spAutoFit/>
          </a:bodyPr>
          <a:lstStyle/>
          <a:p>
            <a:pPr algn="ctr"/>
            <a:r>
              <a:rPr lang="en-US" sz="1050" dirty="0">
                <a:hlinkClick r:id="rId7"/>
              </a:rPr>
              <a:t>https://en.wikipedia.org/wiki/Proportional%E2%80%93integral%E2%80%93derivative_controller</a:t>
            </a:r>
            <a:r>
              <a:rPr lang="en-US" sz="1050" dirty="0"/>
              <a:t> </a:t>
            </a:r>
          </a:p>
        </p:txBody>
      </p:sp>
    </p:spTree>
    <p:extLst>
      <p:ext uri="{BB962C8B-B14F-4D97-AF65-F5344CB8AC3E}">
        <p14:creationId xmlns:p14="http://schemas.microsoft.com/office/powerpoint/2010/main" val="2123350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4362C2-94B8-C817-015D-E363508F7B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B9D148-97A0-290F-A9A7-375A613250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We are going to watch </a:t>
            </a:r>
            <a:r>
              <a:rPr lang="en-US" sz="2000" dirty="0">
                <a:latin typeface="Atkinson Hyperlegible Next"/>
                <a:ea typeface="Arial"/>
                <a:cs typeface="Arial"/>
                <a:sym typeface="Arial"/>
                <a:hlinkClick r:id="rId3"/>
              </a:rPr>
              <a:t>some really good MATLAB videos </a:t>
            </a:r>
            <a:r>
              <a:rPr lang="en-US" sz="2000" dirty="0">
                <a:latin typeface="Atkinson Hyperlegible Next"/>
                <a:ea typeface="Arial"/>
                <a:cs typeface="Arial"/>
                <a:sym typeface="Arial"/>
              </a:rPr>
              <a:t>(I highly recommend looking at them some more!)</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hlinkClick r:id="rId4"/>
              </a:rPr>
              <a:t>What is a PID Controller?</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There are 2 main problems with the basic implementation of the PID loop in a real-world example. Any ideas?</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5"/>
              </a:rPr>
              <a:t>Integrator Windup</a:t>
            </a: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6"/>
              </a:rPr>
              <a:t>Derivative noise</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the derivative term we decide that it is not worth using and the robot will follow the path well enough. It is usually more recommended to use if you have a sensor the derivative directly!</a:t>
            </a:r>
          </a:p>
        </p:txBody>
      </p:sp>
      <p:sp>
        <p:nvSpPr>
          <p:cNvPr id="119" name="Google Shape;119;p29">
            <a:extLst>
              <a:ext uri="{FF2B5EF4-FFF2-40B4-BE49-F238E27FC236}">
                <a16:creationId xmlns:a16="http://schemas.microsoft.com/office/drawing/2014/main" id="{257EDDAC-02DE-4A37-81E9-87E1F27370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A1D0B3-2F84-A76E-8716-2AAE915267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EF85876-3CC1-140D-9299-08C918B9F2AA}"/>
              </a:ext>
            </a:extLst>
          </p:cNvPr>
          <p:cNvPicPr preferRelativeResize="0"/>
          <p:nvPr/>
        </p:nvPicPr>
        <p:blipFill rotWithShape="1">
          <a:blip r:embed="rId7">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DE0D6-063F-5BA5-F4CF-33089EFB82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89B2FD-DB67-BC97-28B5-377436FEC4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B3EA23-BF5B-08EC-11CB-E63EDAC678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AC9B43-ECD7-6707-DDCF-732A61525C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AFB995-8332-CC72-BED0-8DBE1FC2BF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46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C9963-579D-875D-8D46-DD76DB32195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F0B0CF2-B0C5-FD01-9DEF-32A13CF62DF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Term </a:t>
                </a:r>
                <a:r>
                  <a:rPr lang="en-US" sz="2300" b="1" dirty="0">
                    <a:latin typeface="Atkinson Hyperlegible Next"/>
                    <a:ea typeface="Arial"/>
                    <a:cs typeface="Arial"/>
                    <a:sym typeface="Arial"/>
                  </a:rPr>
                  <a:t>P</a:t>
                </a:r>
                <a:r>
                  <a:rPr lang="en-US" sz="2300" dirty="0">
                    <a:latin typeface="Atkinson Hyperlegible Next"/>
                    <a:ea typeface="Arial"/>
                    <a:cs typeface="Arial"/>
                    <a:sym typeface="Arial"/>
                  </a:rPr>
                  <a:t> is the proportional term. It is simplify defined as, </a:t>
                </a: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 error is large, the output control effort </a:t>
                </a:r>
                <a14:m>
                  <m:oMath xmlns:m="http://schemas.openxmlformats.org/officeDocument/2006/math">
                    <m:r>
                      <m:rPr>
                        <m:sty m:val="p"/>
                      </m:rPr>
                      <a:rPr lang="en-US" sz="2300" b="0" i="1" smtClean="0">
                        <a:latin typeface="Cambria Math" panose="02040503050406030204" pitchFamily="18" charset="0"/>
                        <a:ea typeface="Arial"/>
                        <a:cs typeface="Arial"/>
                        <a:sym typeface="Arial"/>
                      </a:rPr>
                      <m:t>u</m:t>
                    </m:r>
                    <m:r>
                      <a:rPr lang="en-US" sz="2300" b="0" i="1" smtClean="0">
                        <a:latin typeface="Cambria Math" panose="02040503050406030204" pitchFamily="18" charset="0"/>
                        <a:ea typeface="Arial"/>
                        <a:cs typeface="Arial"/>
                        <a:sym typeface="Arial"/>
                      </a:rPr>
                      <m:t>(</m:t>
                    </m:r>
                    <m:r>
                      <m:rPr>
                        <m:sty m:val="p"/>
                      </m:rPr>
                      <a:rPr lang="en-US" sz="2300" b="0" i="1" smtClean="0">
                        <a:latin typeface="Cambria Math" panose="02040503050406030204" pitchFamily="18" charset="0"/>
                        <a:ea typeface="Arial"/>
                        <a:cs typeface="Arial"/>
                        <a:sym typeface="Arial"/>
                      </a:rPr>
                      <m:t>t</m:t>
                    </m:r>
                    <m:r>
                      <a:rPr lang="en-US" sz="2300" b="0" i="1"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will be large and vice-versa.</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is the most fundamental part of the PID loop, you should at least always use this term.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F0B0CF2-B0C5-FD01-9DEF-32A13CF62DF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CE643E9-5C12-EA23-B9BE-05E431F8BB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4C24F3-26AE-00CC-B3D1-EE817F0DFC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5B4D82-57D3-D2C6-DCC3-90D1F0FBAF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86CE66-E652-2147-B319-6FD3ABBBD0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B9D78F-03BC-8719-B2BE-8177BC8023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5E8207-A66F-493A-D0B7-22A29AFCEA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6E4652-C16D-5E31-1B2A-9F51904396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C2AFE-F1EE-B863-E635-6375856B31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3295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80DF3-4B10-49E9-091E-4B28628191D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CA34920-4CA8-B75A-C609-78913B786C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I</a:t>
                </a:r>
                <a:r>
                  <a:rPr lang="en-US" sz="2300" dirty="0"/>
                  <a:t> accounts for past values of the error and integrates them over time to produce the </a:t>
                </a:r>
                <a:r>
                  <a:rPr lang="en-US" sz="2300" b="1" dirty="0"/>
                  <a:t>I</a:t>
                </a:r>
                <a:r>
                  <a:rPr lang="en-US" sz="2300" dirty="0"/>
                  <a:t> term</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I</m:t>
                        </m:r>
                      </m:sub>
                    </m:sSub>
                    <m:nary>
                      <m:naryPr>
                        <m:ctrlPr>
                          <a:rPr lang="en-US" sz="2300" i="1" smtClean="0">
                            <a:latin typeface="Cambria Math" panose="02040503050406030204" pitchFamily="18" charset="0"/>
                            <a:cs typeface="Arial"/>
                            <a:sym typeface="Arial"/>
                          </a:rPr>
                        </m:ctrlPr>
                      </m:naryPr>
                      <m:sub>
                        <m:r>
                          <m:rPr>
                            <m:brk m:alnAt="23"/>
                          </m:rPr>
                          <a:rPr lang="en-US" sz="2300" b="0" i="1" smtClean="0">
                            <a:latin typeface="Cambria Math" panose="02040503050406030204" pitchFamily="18" charset="0"/>
                            <a:cs typeface="Arial"/>
                            <a:sym typeface="Arial"/>
                          </a:rPr>
                          <m:t>0</m:t>
                        </m:r>
                      </m:sub>
                      <m:sup>
                        <m:r>
                          <m:rPr>
                            <m:sty m:val="p"/>
                          </m:rPr>
                          <a:rPr lang="en-US" sz="2300" b="0" i="1" smtClean="0">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there is a residual error after the application of proportional control, the integral terms eliminates the residual error by adding some additional control effort.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When the error is eliminated, the integral term will cease to grow.</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It is important to bound this component such that it does not explode and make it difficult to control the system. I.e. integrator windup.</a:t>
                </a:r>
              </a:p>
            </p:txBody>
          </p:sp>
        </mc:Choice>
        <mc:Fallback>
          <p:sp>
            <p:nvSpPr>
              <p:cNvPr id="118" name="Google Shape;118;p29">
                <a:extLst>
                  <a:ext uri="{FF2B5EF4-FFF2-40B4-BE49-F238E27FC236}">
                    <a16:creationId xmlns:a16="http://schemas.microsoft.com/office/drawing/2014/main" id="{ACA34920-4CA8-B75A-C609-78913B786C4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177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99A71D1-DA56-A4DD-4DA1-494D216F07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E90F44-30E8-70B2-6BC6-A023B54B5A8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AA8E04-3375-4067-06F9-E0DE5159F4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6623FD-F287-5912-F779-5D812B348F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BC2BA-3A9E-784C-26DC-CFE448EF05B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73E3B0-E640-5198-E05A-50183DBF3A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CB1871-6B78-E51E-6C66-E2F663588D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66C0D2-DB95-BB8D-320A-263879BF49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40486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78CA79-3EA2-E6F8-F50A-BD1C549E98E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888DB60-6528-F99B-3139-9068F29864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D</a:t>
                </a:r>
                <a:r>
                  <a:rPr lang="en-US" sz="2300" dirty="0"/>
                  <a:t> accounts for future values of the error based on the current rate of change of the error.</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D</m:t>
                        </m:r>
                      </m:sub>
                    </m:sSub>
                    <m:f>
                      <m:fPr>
                        <m:ctrlPr>
                          <a:rPr lang="en-US" sz="2300" b="0" i="1" smtClean="0">
                            <a:latin typeface="Cambria Math" panose="02040503050406030204" pitchFamily="18" charset="0"/>
                            <a:cs typeface="Arial"/>
                            <a:sym typeface="Arial"/>
                          </a:rPr>
                        </m:ctrlPr>
                      </m:fPr>
                      <m:num>
                        <m:r>
                          <m:rPr>
                            <m:sty m:val="p"/>
                          </m:rPr>
                          <a:rPr lang="en-US" sz="2300" b="0" i="1" smtClean="0">
                            <a:latin typeface="Cambria Math" panose="02040503050406030204" pitchFamily="18" charset="0"/>
                            <a:cs typeface="Arial"/>
                            <a:sym typeface="Arial"/>
                          </a:rPr>
                          <m:t>de</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m:t>
                        </m:r>
                      </m:num>
                      <m:den>
                        <m:r>
                          <m:rPr>
                            <m:sty m:val="p"/>
                          </m:rPr>
                          <a:rPr lang="en-US" sz="2300" b="0" i="1" smtClean="0">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the real world, sensors are noisy and so collecting the derivative term can be difficult without an additional filter to it.</a:t>
                </a:r>
              </a:p>
            </p:txBody>
          </p:sp>
        </mc:Choice>
        <mc:Fallback>
          <p:sp>
            <p:nvSpPr>
              <p:cNvPr id="118" name="Google Shape;118;p29">
                <a:extLst>
                  <a:ext uri="{FF2B5EF4-FFF2-40B4-BE49-F238E27FC236}">
                    <a16:creationId xmlns:a16="http://schemas.microsoft.com/office/drawing/2014/main" id="{1888DB60-6528-F99B-3139-9068F298646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FA907F-278D-F16A-3A59-8DA3C35571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90CBB-9174-0064-5167-61F881469D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0563487-3977-8710-C4B2-94686EC922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A24D5F-E3A5-C936-9FBE-BC97899865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DE900ED-0175-EFAF-84D4-1407488583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843816-F4D6-D409-16D5-4CAD7D9A31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8259F3-AC7F-086B-269B-F468C08E3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A90606-BCBF-211D-3331-8FCB92035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054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933473-C7C3-92C1-64DA-448F2EC79E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DA616B4-9278-0966-B5DA-EE9A8473994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full form is thus,</a:t>
                </a:r>
              </a:p>
              <a:p>
                <a:pPr marL="0" indent="0">
                  <a:lnSpc>
                    <a:spcPct val="100000"/>
                  </a:lnSpc>
                  <a:spcBef>
                    <a:spcPts val="0"/>
                  </a:spcBef>
                  <a:buSzPts val="3000"/>
                  <a:buNone/>
                </a:pPr>
                <a:endParaRPr lang="en-US" sz="2300" i="1" dirty="0">
                  <a:latin typeface="Atkinson Hyperlegible Next"/>
                  <a:cs typeface="Arial"/>
                  <a:sym typeface="Arial"/>
                </a:endParaRP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I</m:t>
                        </m:r>
                      </m:sub>
                    </m:sSub>
                    <m:nary>
                      <m:naryPr>
                        <m:ctrlPr>
                          <a:rPr lang="en-US" sz="2300" i="1">
                            <a:latin typeface="Cambria Math" panose="02040503050406030204" pitchFamily="18" charset="0"/>
                            <a:cs typeface="Arial"/>
                            <a:sym typeface="Arial"/>
                          </a:rPr>
                        </m:ctrlPr>
                      </m:naryPr>
                      <m:sub>
                        <m:r>
                          <m:rPr>
                            <m:brk m:alnAt="23"/>
                          </m:rPr>
                          <a:rPr lang="en-US" sz="2300" i="1">
                            <a:latin typeface="Cambria Math" panose="02040503050406030204" pitchFamily="18" charset="0"/>
                            <a:cs typeface="Arial"/>
                            <a:sym typeface="Arial"/>
                          </a:rPr>
                          <m:t>0</m:t>
                        </m:r>
                      </m:sub>
                      <m:sup>
                        <m:r>
                          <m:rPr>
                            <m:sty m:val="p"/>
                          </m:rPr>
                          <a:rPr lang="en-US" sz="2300" i="1">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r>
                      <a:rPr lang="en-US" sz="2300" b="0" i="1" smtClean="0">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D</m:t>
                        </m:r>
                      </m:sub>
                    </m:sSub>
                    <m:f>
                      <m:fPr>
                        <m:ctrlPr>
                          <a:rPr lang="en-US" sz="2300" i="1">
                            <a:latin typeface="Cambria Math" panose="02040503050406030204" pitchFamily="18" charset="0"/>
                            <a:cs typeface="Arial"/>
                            <a:sym typeface="Arial"/>
                          </a:rPr>
                        </m:ctrlPr>
                      </m:fPr>
                      <m:num>
                        <m:r>
                          <m:rPr>
                            <m:sty m:val="p"/>
                          </m:rPr>
                          <a:rPr lang="en-US" sz="2300" i="1">
                            <a:latin typeface="Cambria Math" panose="02040503050406030204" pitchFamily="18" charset="0"/>
                            <a:cs typeface="Arial"/>
                            <a:sym typeface="Arial"/>
                          </a:rPr>
                          <m:t>de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num>
                      <m:den>
                        <m:r>
                          <m:rPr>
                            <m:sty m:val="p"/>
                          </m:rPr>
                          <a:rPr lang="en-US" sz="2300" i="1">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Simple as that!</a:t>
                </a:r>
              </a:p>
            </p:txBody>
          </p:sp>
        </mc:Choice>
        <mc:Fallback>
          <p:sp>
            <p:nvSpPr>
              <p:cNvPr id="118" name="Google Shape;118;p29">
                <a:extLst>
                  <a:ext uri="{FF2B5EF4-FFF2-40B4-BE49-F238E27FC236}">
                    <a16:creationId xmlns:a16="http://schemas.microsoft.com/office/drawing/2014/main" id="{3DA616B4-9278-0966-B5DA-EE9A8473994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DB25D9-9612-FACA-1FCD-AAE6973E00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50A7B3-F65D-72E0-A835-FDFBB877E6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0A9B41-BDE3-9D36-A721-E0A79DE9FE6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C02BD0-B383-3699-D3AC-1390C84E04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F500BF6-3A2B-C243-00A6-387AE924245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C92F1F6-8253-69E2-748B-20A463D8CE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18BCC9-0BF6-5763-A911-29BD408015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7239B-5E02-7547-7855-E75DF699A2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9632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045E0F-2F66-E392-A2FA-6ADE1A7604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8586C46-8443-0F4B-2CB8-7CC06F72D95C}"/>
              </a:ext>
            </a:extLst>
          </p:cNvPr>
          <p:cNvSpPr txBox="1">
            <a:spLocks noGrp="1"/>
          </p:cNvSpPr>
          <p:nvPr>
            <p:ph type="body" idx="1"/>
          </p:nvPr>
        </p:nvSpPr>
        <p:spPr>
          <a:xfrm>
            <a:off x="61983" y="1334279"/>
            <a:ext cx="4319517"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200" dirty="0">
                <a:solidFill>
                  <a:srgbClr val="7F0055"/>
                </a:solidFill>
                <a:latin typeface="Consolas" panose="020B0609020204030204" pitchFamily="49" charset="0"/>
              </a:rPr>
              <a:t>#define</a:t>
            </a:r>
            <a:r>
              <a:rPr lang="en-US" sz="1200" dirty="0">
                <a:solidFill>
                  <a:srgbClr val="000000"/>
                </a:solidFill>
                <a:latin typeface="Consolas" panose="020B0609020204030204" pitchFamily="49" charset="0"/>
              </a:rPr>
              <a:t> MAX_EFFORT 10.0f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C0"/>
                </a:solidFill>
                <a:latin typeface="Consolas" panose="020B0609020204030204" pitchFamily="49" charset="0"/>
              </a:rPr>
              <a:t>Kp</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Ki</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saturate(</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input,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input = (input &gt;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r>
              <a:rPr lang="en-US" sz="1200" dirty="0">
                <a:solidFill>
                  <a:srgbClr val="000000"/>
                </a:solidFill>
                <a:latin typeface="Consolas" panose="020B0609020204030204" pitchFamily="49" charset="0"/>
              </a:rPr>
              <a:t>    input = (input &lt;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input;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int</a:t>
            </a:r>
            <a:r>
              <a:rPr lang="en-US" sz="1200" dirty="0">
                <a:solidFill>
                  <a:srgbClr val="000000"/>
                </a:solidFill>
                <a:latin typeface="Consolas" panose="020B0609020204030204" pitchFamily="49" charset="0"/>
              </a:rPr>
              <a:t> sign(</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x){</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&gt;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a:t>
            </a:r>
          </a:p>
          <a:p>
            <a:pPr marL="114300" indent="0" algn="l">
              <a:spcBef>
                <a:spcPts val="0"/>
              </a:spcBef>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371A8D4-7C0C-53F0-A984-6A43AF9C08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5286FA-C3D3-653C-1B74-CC65ED7EAC1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AC0DE0-D856-6C5A-FEAE-5580223C79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DFE86E-7545-2029-B8A6-C28AEF57D9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8A1246-94CC-7FA1-8D46-6825B5F6B7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67D424-DC5A-59C8-7BC0-127EC4E5AA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B675FB-E979-1284-B8A7-78400226670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BD2E46-7457-784E-37D0-842F4C26EE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Google Shape;118;p29">
            <a:extLst>
              <a:ext uri="{FF2B5EF4-FFF2-40B4-BE49-F238E27FC236}">
                <a16:creationId xmlns:a16="http://schemas.microsoft.com/office/drawing/2014/main" id="{D26156EE-88FB-A4C0-25FE-E0CA9C511D71}"/>
              </a:ext>
            </a:extLst>
          </p:cNvPr>
          <p:cNvSpPr txBox="1">
            <a:spLocks/>
          </p:cNvSpPr>
          <p:nvPr/>
        </p:nvSpPr>
        <p:spPr>
          <a:xfrm>
            <a:off x="4381500" y="1334279"/>
            <a:ext cx="7678071" cy="506470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PIControl</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reference,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target,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dt, </a:t>
            </a: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(dt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error = reference - target;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integral</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integral =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error * dt;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PI using tentative integral</a:t>
            </a:r>
          </a:p>
          <a:p>
            <a:pPr marL="114300" indent="0" algn="l">
              <a:spcBef>
                <a:spcPts val="0"/>
              </a:spcBef>
              <a:buNone/>
            </a:pPr>
            <a:r>
              <a:rPr lang="da-DK" sz="1200" dirty="0">
                <a:solidFill>
                  <a:srgbClr val="000000"/>
                </a:solidFill>
                <a:latin typeface="Consolas" panose="020B0609020204030204" pitchFamily="49" charset="0"/>
              </a:rPr>
              <a:t>    </a:t>
            </a:r>
            <a:r>
              <a:rPr lang="da-DK" sz="1200" dirty="0">
                <a:solidFill>
                  <a:srgbClr val="7F0055"/>
                </a:solidFill>
                <a:latin typeface="Consolas" panose="020B0609020204030204" pitchFamily="49" charset="0"/>
              </a:rPr>
              <a:t>float</a:t>
            </a:r>
            <a:r>
              <a:rPr lang="da-DK" sz="1200" dirty="0">
                <a:solidFill>
                  <a:srgbClr val="000000"/>
                </a:solidFill>
                <a:latin typeface="Consolas" panose="020B0609020204030204" pitchFamily="49" charset="0"/>
              </a:rPr>
              <a:t> effort = pidState-&gt;</a:t>
            </a:r>
            <a:r>
              <a:rPr lang="da-DK" sz="1200" dirty="0">
                <a:solidFill>
                  <a:srgbClr val="0000C0"/>
                </a:solidFill>
                <a:latin typeface="Consolas" panose="020B0609020204030204" pitchFamily="49" charset="0"/>
              </a:rPr>
              <a:t>Kp</a:t>
            </a:r>
            <a:r>
              <a:rPr lang="da-DK" sz="1200" dirty="0">
                <a:solidFill>
                  <a:srgbClr val="000000"/>
                </a:solidFill>
                <a:latin typeface="Consolas" panose="020B0609020204030204" pitchFamily="49" charset="0"/>
              </a:rPr>
              <a:t> * error + </a:t>
            </a:r>
          </a:p>
          <a:p>
            <a:pPr marL="114300" indent="0" algn="l">
              <a:spcBef>
                <a:spcPts val="0"/>
              </a:spcBef>
              <a:buNone/>
            </a:pPr>
            <a:r>
              <a:rPr lang="da-DK" sz="1200" dirty="0">
                <a:solidFill>
                  <a:srgbClr val="000000"/>
                </a:solidFill>
                <a:latin typeface="Consolas" panose="020B0609020204030204" pitchFamily="49" charset="0"/>
              </a:rPr>
              <a:t>                   pidState-&gt;</a:t>
            </a:r>
            <a:r>
              <a:rPr lang="da-DK" sz="1200" dirty="0">
                <a:solidFill>
                  <a:srgbClr val="0000C0"/>
                </a:solidFill>
                <a:latin typeface="Consolas" panose="020B0609020204030204" pitchFamily="49" charset="0"/>
              </a:rPr>
              <a:t>Ki</a:t>
            </a:r>
            <a:r>
              <a:rPr lang="da-DK" sz="1200" dirty="0">
                <a:solidFill>
                  <a:srgbClr val="000000"/>
                </a:solidFill>
                <a:latin typeface="Consolas" panose="020B0609020204030204" pitchFamily="49" charset="0"/>
              </a:rPr>
              <a:t> * integral;</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Saturate control input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 saturate(effort, MAX_EFFORT);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Anti-windup condition</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output is saturating</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error is the same sign as the controller output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(!(effort !=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&amp;&amp; sign(effort) == sign(error))){</a:t>
            </a:r>
          </a:p>
          <a:p>
            <a:pPr marL="114300" indent="0" algn="l">
              <a:spcBef>
                <a:spcPts val="0"/>
              </a:spcBef>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integral;</a:t>
            </a:r>
          </a:p>
          <a:p>
            <a:pPr marL="114300" indent="0" algn="l">
              <a:spcBef>
                <a:spcPts val="0"/>
              </a:spcBef>
              <a:buNone/>
            </a:pPr>
            <a:r>
              <a:rPr lang="en-US" sz="1200" dirty="0">
                <a:solidFill>
                  <a:srgbClr val="000000"/>
                </a:solidFill>
                <a:latin typeface="Consolas" panose="020B0609020204030204" pitchFamily="49" charset="0"/>
              </a:rPr>
              <a:t>    }</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626605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363795-DE55-A94F-FD90-EC42B8D87F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BFC1466-9BBF-4139-F030-AE67F2461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E0945C-96F6-CF56-062F-1C9DE4165B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615E3-A724-0778-D7D6-E87C83803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9925AD-8FFF-7702-1A0D-9CFBAF9834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850D1A-F8ED-BDE2-BEAC-6644A785EF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84E3BD-0402-AEE3-C758-36D3702AB4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AAEC778-17D5-9B55-208F-B616DF0021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372F8-2E41-1EEA-2EF9-6F32AEC05DD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584541B-4232-5505-0887-C6A2D876293E}"/>
              </a:ext>
            </a:extLst>
          </p:cNvPr>
          <p:cNvSpPr>
            <a:spLocks noGrp="1"/>
          </p:cNvSpPr>
          <p:nvPr>
            <p:ph type="body" idx="1"/>
          </p:nvPr>
        </p:nvSpPr>
        <p:spPr/>
        <p:txBody>
          <a:bodyPr/>
          <a:lstStyle/>
          <a:p>
            <a:endParaRPr lang="en-US"/>
          </a:p>
        </p:txBody>
      </p:sp>
      <p:pic>
        <p:nvPicPr>
          <p:cNvPr id="5" name="Picture 4" descr="Block diagram: clamping integrator anti-windup in a PID controller. Integrator anti-windup keeps the integrated value from growing past a limit; clamping, which turns the integrator off, is highlighted over back-calculation and observer methods. Error feeds proportional, derivative, and integrator blocks whose sum passes a clamping saturation limit to become the actuator command, then the saturating actuator. A switch feeds the integrator 0 instead of error when both hold: the output is saturating (pre- and post-limit values differ), AND the error has the same sign as the controller output.">
            <a:extLst>
              <a:ext uri="{FF2B5EF4-FFF2-40B4-BE49-F238E27FC236}">
                <a16:creationId xmlns:a16="http://schemas.microsoft.com/office/drawing/2014/main" id="{7869FDA0-4CF7-481C-A8DF-0846B8BF8F79}"/>
              </a:ext>
            </a:extLst>
          </p:cNvPr>
          <p:cNvPicPr>
            <a:picLocks noChangeAspect="1"/>
          </p:cNvPicPr>
          <p:nvPr/>
        </p:nvPicPr>
        <p:blipFill>
          <a:blip r:embed="rId4"/>
          <a:srcRect/>
          <a:stretch/>
        </p:blipFill>
        <p:spPr>
          <a:xfrm>
            <a:off x="1035965" y="988053"/>
            <a:ext cx="9591714" cy="5297515"/>
          </a:xfrm>
          <a:prstGeom prst="rect">
            <a:avLst/>
          </a:prstGeom>
        </p:spPr>
      </p:pic>
      <p:sp>
        <p:nvSpPr>
          <p:cNvPr id="6" name="TextBox 5">
            <a:extLst>
              <a:ext uri="{FF2B5EF4-FFF2-40B4-BE49-F238E27FC236}">
                <a16:creationId xmlns:a16="http://schemas.microsoft.com/office/drawing/2014/main" id="{059E5D66-2DEE-E176-C7C1-94C178693A97}"/>
              </a:ext>
            </a:extLst>
          </p:cNvPr>
          <p:cNvSpPr txBox="1"/>
          <p:nvPr/>
        </p:nvSpPr>
        <p:spPr>
          <a:xfrm>
            <a:off x="1903909" y="6290009"/>
            <a:ext cx="7855827" cy="253916"/>
          </a:xfrm>
          <a:prstGeom prst="rect">
            <a:avLst/>
          </a:prstGeom>
          <a:noFill/>
        </p:spPr>
        <p:txBody>
          <a:bodyPr wrap="square" rtlCol="0">
            <a:spAutoFit/>
          </a:bodyPr>
          <a:lstStyle/>
          <a:p>
            <a:pPr algn="ctr"/>
            <a:r>
              <a:rPr lang="en-US" sz="1050" dirty="0">
                <a:hlinkClick r:id="rId5"/>
              </a:rPr>
              <a:t>https://www.mathworks.com/videos/understanding-pid-control-part-2-expanding-beyond-a-simple-integral-1528310418260.html</a:t>
            </a:r>
            <a:r>
              <a:rPr lang="en-US" sz="1050" dirty="0"/>
              <a:t> </a:t>
            </a:r>
          </a:p>
        </p:txBody>
      </p:sp>
    </p:spTree>
    <p:extLst>
      <p:ext uri="{BB962C8B-B14F-4D97-AF65-F5344CB8AC3E}">
        <p14:creationId xmlns:p14="http://schemas.microsoft.com/office/powerpoint/2010/main" val="2637038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BC322D8-93FC-2CFE-5BE4-AA6851391FA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F0B480B7-51FB-19CD-55F8-7CBBADF298AC}"/>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EF4E0D2-6882-A3A2-5A81-28CFA29BAEAA}"/>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Tuning</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17159B2-3AC6-E395-9D00-3B872C57013C}"/>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417AA023-A2E1-8FFB-EC11-8977B964C1D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E8B5E93-4309-4BCE-A083-48322A2CC21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7776EBD-F381-18AB-AF18-DBA0254278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AB1023-BF74-BCAA-4648-9477ABCDAE7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F4FB2F5-4144-AC63-CE68-A87420003C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65EFD59-5BEF-A6A7-6BA7-28F094DB217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01D3C78-8261-0F06-D803-613AE57A8C0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7A2246AD-F16B-BB01-AAB2-98B45264514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88697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E9C9D-053D-DF32-F6CE-1D99270AF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7D43EFB-CB66-ACB1-EFCC-33AEF227727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AC0E6B7-D4DC-BB8E-3F3A-D5690BABEB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25986B-9103-AD6D-F571-81D008FE8C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71EEF-38E2-DF1D-DF58-1A21E1C6DB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6DBDB-C072-3B4D-8221-C89D57243F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D39ED1-7491-ECDF-AA49-1583826FD5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4FC946-C476-E24F-69E1-A5355C7B7A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4EC189-2DE4-0A7E-DBB6-2F4A0712EE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Flowchart: PID tuning guide. If the system is not well-behaved (highly nonlinear, open-loop unstable, lots of delay, or non-minimum phase), use advanced methods. If it is well-behaved and you have a model, go to model-based tuning. If you have hardware, you can tweak gains directly, derive a model from first principles, or run an input sequence. An input sequence leads to system identification (then model-based tuning), heuristic initial guesses, or automatic tuning. Model-based tuning uses automatic tuning or manual methods (pole placement, loop shaping, heuristics). All paths end with tweaking gains manually.">
            <a:extLst>
              <a:ext uri="{FF2B5EF4-FFF2-40B4-BE49-F238E27FC236}">
                <a16:creationId xmlns:a16="http://schemas.microsoft.com/office/drawing/2014/main" id="{F019B837-225D-A578-169B-D851C7A2C1D3}"/>
              </a:ext>
            </a:extLst>
          </p:cNvPr>
          <p:cNvPicPr>
            <a:picLocks noChangeAspect="1"/>
          </p:cNvPicPr>
          <p:nvPr/>
        </p:nvPicPr>
        <p:blipFill>
          <a:blip r:embed="rId4"/>
          <a:stretch>
            <a:fillRect/>
          </a:stretch>
        </p:blipFill>
        <p:spPr>
          <a:xfrm>
            <a:off x="1438937" y="950461"/>
            <a:ext cx="9314126" cy="5330674"/>
          </a:xfrm>
          <a:prstGeom prst="rect">
            <a:avLst/>
          </a:prstGeom>
        </p:spPr>
      </p:pic>
      <p:sp>
        <p:nvSpPr>
          <p:cNvPr id="6" name="TextBox 5">
            <a:extLst>
              <a:ext uri="{FF2B5EF4-FFF2-40B4-BE49-F238E27FC236}">
                <a16:creationId xmlns:a16="http://schemas.microsoft.com/office/drawing/2014/main" id="{84C799C4-5D39-F880-E60E-5D8654B23F5A}"/>
              </a:ext>
            </a:extLst>
          </p:cNvPr>
          <p:cNvSpPr txBox="1"/>
          <p:nvPr/>
        </p:nvSpPr>
        <p:spPr>
          <a:xfrm>
            <a:off x="2728354" y="6295756"/>
            <a:ext cx="6735293" cy="261610"/>
          </a:xfrm>
          <a:prstGeom prst="rect">
            <a:avLst/>
          </a:prstGeom>
          <a:noFill/>
        </p:spPr>
        <p:txBody>
          <a:bodyPr wrap="square" rtlCol="0">
            <a:spAutoFit/>
          </a:bodyPr>
          <a:lstStyle/>
          <a:p>
            <a:pPr algn="ctr"/>
            <a:r>
              <a:rPr lang="en-US" sz="1050" dirty="0">
                <a:hlinkClick r:id="rId5"/>
              </a:rPr>
              <a:t>https://www.mathworks.com/videos/understanding-pid-control-part-4-a-pid-tuning-guide-1531124725727.html</a:t>
            </a:r>
            <a:r>
              <a:rPr lang="en-US" sz="1050" dirty="0"/>
              <a:t> </a:t>
            </a:r>
          </a:p>
        </p:txBody>
      </p:sp>
    </p:spTree>
    <p:extLst>
      <p:ext uri="{BB962C8B-B14F-4D97-AF65-F5344CB8AC3E}">
        <p14:creationId xmlns:p14="http://schemas.microsoft.com/office/powerpoint/2010/main" val="32930619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23A39-2F20-0484-C786-EE3193D16C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A393C97-19ED-F601-FD67-1F282319EE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this class we will only be doing manual tuning, it is just intuition based but given that there are only 3 gains, it is fast to find appropriate constants!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manual method for tuning is simple: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Set all gains to 0 and start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at 1</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Keep increasing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until the output of the system causes it to oscillate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set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approximately half that value </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until any offset is corrected</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optionally,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 to remove overshoot </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Usually,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has the highest magnitude,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next and then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a:t>
                </a:r>
              </a:p>
            </p:txBody>
          </p:sp>
        </mc:Choice>
        <mc:Fallback>
          <p:sp>
            <p:nvSpPr>
              <p:cNvPr id="118" name="Google Shape;118;p29">
                <a:extLst>
                  <a:ext uri="{FF2B5EF4-FFF2-40B4-BE49-F238E27FC236}">
                    <a16:creationId xmlns:a16="http://schemas.microsoft.com/office/drawing/2014/main" id="{8A393C97-19ED-F601-FD67-1F282319EE6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6BC403-E629-E751-A298-920CA12637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0D3DEC-6604-1EFE-8D10-75D5E70FC4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FAEB16-AAA3-2C08-C2B9-616B750B64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D2E156-0A48-7DEB-2CF4-A8FF2A7F24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8A101F-7D4A-56E2-0D42-4325DB3E62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0B5B5-54D6-031C-0C31-494BA63EDE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7BE0FE-86BF-0DA7-B213-D1FD29BC28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647831-2490-C941-065A-06979345AF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140057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D98172-DDA0-678C-184F-808554FB33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8A29F6-16B6-0DD3-40C2-C051CF73F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DBC3E7A-80CC-3A75-3B00-14EDD8089D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B79A92-33FA-7913-746E-6F2099DCA10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C98D15-3C5D-B9B5-F33F-2F013683B36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D4D95D-B46A-2024-BB6D-8535A0253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6B0F6A-4BE3-595C-887E-D9D64E555F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7B5794-E697-4DF3-A0B7-9CC4CED9EE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02C330-AED1-050C-8E6C-AA62EDE6B3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D1E33-3F54-EE0E-1513-1CA471F643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mc:Choice xmlns:a14="http://schemas.microsoft.com/office/drawing/2010/main" Requires="a14">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P</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I</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a:t>
                          </a:r>
                        </a:p>
                      </a:txBody>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r>
                            <a:rPr lang="en-US" dirty="0"/>
                            <a:t>Improve if </a:t>
                          </a:r>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small</a:t>
                          </a:r>
                        </a:p>
                      </a:txBody>
                      <a:tcPr/>
                    </a:tc>
                    <a:extLst>
                      <a:ext uri="{0D108BD9-81ED-4DB2-BD59-A6C34878D82A}">
                        <a16:rowId xmlns:a16="http://schemas.microsoft.com/office/drawing/2014/main" val="813961603"/>
                      </a:ext>
                    </a:extLst>
                  </a:tr>
                </a:tbl>
              </a:graphicData>
            </a:graphic>
          </p:graphicFrame>
        </mc:Choice>
        <mc:Fallback>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endParaRPr lang="en-US"/>
                        </a:p>
                      </a:txBody>
                      <a:tcPr>
                        <a:blipFill>
                          <a:blip r:embed="rId5"/>
                          <a:stretch>
                            <a:fillRect l="-483" t="-101190" r="-628986" b="-146429"/>
                          </a:stretch>
                        </a:blipFill>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endParaRPr lang="en-US"/>
                        </a:p>
                      </a:txBody>
                      <a:tcPr>
                        <a:blipFill>
                          <a:blip r:embed="rId5"/>
                          <a:stretch>
                            <a:fillRect l="-483" t="-277049" r="-628986" b="-101639"/>
                          </a:stretch>
                        </a:blipFill>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endParaRPr lang="en-US"/>
                        </a:p>
                      </a:txBody>
                      <a:tcPr>
                        <a:blipFill>
                          <a:blip r:embed="rId5"/>
                          <a:stretch>
                            <a:fillRect l="-483" t="-383333" r="-628986" b="-3333"/>
                          </a:stretch>
                        </a:blipFill>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endParaRPr lang="en-US"/>
                        </a:p>
                      </a:txBody>
                      <a:tcPr>
                        <a:blipFill>
                          <a:blip r:embed="rId5"/>
                          <a:stretch>
                            <a:fillRect l="-429930" t="-383333" r="-1761" b="-3333"/>
                          </a:stretch>
                        </a:blipFill>
                      </a:tcPr>
                    </a:tc>
                    <a:extLst>
                      <a:ext uri="{0D108BD9-81ED-4DB2-BD59-A6C34878D82A}">
                        <a16:rowId xmlns:a16="http://schemas.microsoft.com/office/drawing/2014/main" val="813961603"/>
                      </a:ext>
                    </a:extLst>
                  </a:tr>
                </a:tbl>
              </a:graphicData>
            </a:graphic>
          </p:graphicFrame>
        </mc:Fallback>
      </mc:AlternateContent>
      <p:pic>
        <p:nvPicPr>
          <p:cNvPr id="2054" name="Picture 6" descr="Plot: closed-loop step response with K sub p equals 1, K sub i equals 0, K sub d equals 0 (proportional control only), over time t from 0 to 8. The output rises to a peak of about 0.57 near t equals 2.5, then settles around 0.42. It never reaches the setpoint of 1, shown as a dashed line, leaving a large steady-state error.">
            <a:extLst>
              <a:ext uri="{FF2B5EF4-FFF2-40B4-BE49-F238E27FC236}">
                <a16:creationId xmlns:a16="http://schemas.microsoft.com/office/drawing/2014/main" id="{5582DEE3-F239-7E2F-227E-E5AC805EB3E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66674" y="3139586"/>
            <a:ext cx="3810000" cy="285750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99BC6D10-CBAC-30E6-4257-57590B237CF0}"/>
              </a:ext>
            </a:extLst>
          </p:cNvPr>
          <p:cNvSpPr txBox="1"/>
          <p:nvPr/>
        </p:nvSpPr>
        <p:spPr>
          <a:xfrm>
            <a:off x="2637161" y="5927911"/>
            <a:ext cx="6917678" cy="253916"/>
          </a:xfrm>
          <a:prstGeom prst="rect">
            <a:avLst/>
          </a:prstGeom>
          <a:noFill/>
        </p:spPr>
        <p:txBody>
          <a:bodyPr wrap="square" rtlCol="0">
            <a:spAutoFit/>
          </a:bodyPr>
          <a:lstStyle/>
          <a:p>
            <a:r>
              <a:rPr lang="en-US" sz="1050" dirty="0">
                <a:hlinkClick r:id="rId7"/>
              </a:rPr>
              <a:t>https://en.wikipedia.org/wiki/Proportional%E2%80%93integral%E2%80%93derivative_controller#Manual_tuning</a:t>
            </a:r>
            <a:r>
              <a:rPr lang="en-US" sz="1050" dirty="0"/>
              <a:t> </a:t>
            </a:r>
          </a:p>
        </p:txBody>
      </p:sp>
    </p:spTree>
    <p:extLst>
      <p:ext uri="{BB962C8B-B14F-4D97-AF65-F5344CB8AC3E}">
        <p14:creationId xmlns:p14="http://schemas.microsoft.com/office/powerpoint/2010/main" val="40778833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4EA511-46F0-ED86-A997-C24CC87187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B62C18-05F8-4DB1-5B64-336769CF19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can try out the effect of gains here!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hlinkClick r:id="rId3"/>
              </a:rPr>
              <a:t>https://www.luisllamas.es/en/pid-controller-simulator/</a:t>
            </a:r>
            <a:r>
              <a:rPr lang="en-US" sz="24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5B52D43B-CD62-125E-226A-30C2A28245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00FD7-B597-8274-0E9E-B1980C416A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8D39A22-3A95-58EC-3B0F-E0FDFD4957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46A416-61E2-5CD0-B555-3B977A4995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11864C-A3D4-1CEE-C107-4EBB4460D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14668A-6832-38D2-55F4-4F7721FD2C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882C4E-2796-BDD0-0010-427AF88D03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E91E4F-A695-1C0C-4901-F9CE6EE2B6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5089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508368-E578-2A62-74EC-7116CDE357E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8A35A-B974-800A-390C-DBDFA0FC96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57998B-C7F2-F1AE-C453-F55D270130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 Lab 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6F2A81-8477-0FCF-8F8B-03B3466A50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4E55B5-28D5-9082-E21E-5A96FBC2C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3F0BEC-386A-B3B7-A4EF-BA6E90C3A6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49301A-B10D-1DA1-246F-425C668C6A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25BD03B-E860-181E-B51C-0B33ADBE0A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34CA8A-BC2D-48A0-0488-1D38133AC9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ne desired-velocity input feeds two identical PI loops, one per motor. In each loop, measured velocity (v2 for the right motor, v1 for the left) is subtracted from the desired velocity to form error e2 or e1. The error passes through gain Kp and, in parallel, through an integrator (1 over s) and gain Ki; these sum, then a friction_comp block driven by the measured velocity is added to produce control effort u2 or u1 to the motor, whose output velocity feeds back.">
            <a:extLst>
              <a:ext uri="{FF2B5EF4-FFF2-40B4-BE49-F238E27FC236}">
                <a16:creationId xmlns:a16="http://schemas.microsoft.com/office/drawing/2014/main" id="{7396B6AB-E327-BBF0-7275-F666CB0597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00332" y="999224"/>
            <a:ext cx="7991337" cy="5394153"/>
          </a:xfrm>
          <a:prstGeom prst="rect">
            <a:avLst/>
          </a:prstGeom>
        </p:spPr>
      </p:pic>
      <p:grpSp>
        <p:nvGrpSpPr>
          <p:cNvPr id="29" name="Group 28">
            <a:extLst>
              <a:ext uri="{FF2B5EF4-FFF2-40B4-BE49-F238E27FC236}">
                <a16:creationId xmlns:a16="http://schemas.microsoft.com/office/drawing/2014/main" id="{6ED1A90A-7083-7636-4681-44757E7163B8}"/>
              </a:ext>
            </a:extLst>
          </p:cNvPr>
          <p:cNvGrpSpPr/>
          <p:nvPr/>
        </p:nvGrpSpPr>
        <p:grpSpPr>
          <a:xfrm>
            <a:off x="708660" y="2011680"/>
            <a:ext cx="5387340" cy="4225388"/>
            <a:chOff x="708660" y="2011680"/>
            <a:chExt cx="5387340" cy="4225388"/>
          </a:xfrm>
        </p:grpSpPr>
        <p:sp>
          <p:nvSpPr>
            <p:cNvPr id="6" name="Rectangle 5">
              <a:extLst>
                <a:ext uri="{FF2B5EF4-FFF2-40B4-BE49-F238E27FC236}">
                  <a16:creationId xmlns:a16="http://schemas.microsoft.com/office/drawing/2014/main" id="{02BABF43-9C37-8351-D22B-12829963188F}"/>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2E13674-2B60-D590-C808-A7FBFB88AC74}"/>
                </a:ext>
              </a:extLst>
            </p:cNvPr>
            <p:cNvCxnSpPr>
              <a:cxnSpLocks/>
              <a:stCxn id="13"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45F55CE8-C6D8-ECD5-8100-A7A2434DBFCB}"/>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A9BE899C-54C1-6C4A-C107-805103F5149C}"/>
                </a:ext>
              </a:extLst>
            </p:cNvPr>
            <p:cNvCxnSpPr>
              <a:cxnSpLocks/>
              <a:stCxn id="13" idx="3"/>
              <a:endCxn id="10"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3994B94-21BB-1760-B565-ADEE211A15FD}"/>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30" name="Group 29">
            <a:extLst>
              <a:ext uri="{FF2B5EF4-FFF2-40B4-BE49-F238E27FC236}">
                <a16:creationId xmlns:a16="http://schemas.microsoft.com/office/drawing/2014/main" id="{1ED2208C-EA98-C299-EC9B-020F254988CB}"/>
              </a:ext>
            </a:extLst>
          </p:cNvPr>
          <p:cNvGrpSpPr/>
          <p:nvPr/>
        </p:nvGrpSpPr>
        <p:grpSpPr>
          <a:xfrm>
            <a:off x="9009079" y="2415540"/>
            <a:ext cx="2165177" cy="2369820"/>
            <a:chOff x="9009079" y="2415540"/>
            <a:chExt cx="2165177" cy="2369820"/>
          </a:xfrm>
        </p:grpSpPr>
        <p:sp>
          <p:nvSpPr>
            <p:cNvPr id="20" name="TextBox 19">
              <a:extLst>
                <a:ext uri="{FF2B5EF4-FFF2-40B4-BE49-F238E27FC236}">
                  <a16:creationId xmlns:a16="http://schemas.microsoft.com/office/drawing/2014/main" id="{EBB1E7DF-3824-6F90-BD6B-160B69BEF5A0}"/>
                </a:ext>
              </a:extLst>
            </p:cNvPr>
            <p:cNvSpPr txBox="1"/>
            <p:nvPr/>
          </p:nvSpPr>
          <p:spPr>
            <a:xfrm>
              <a:off x="9009079" y="3313370"/>
              <a:ext cx="2165177" cy="523220"/>
            </a:xfrm>
            <a:prstGeom prst="rect">
              <a:avLst/>
            </a:prstGeom>
            <a:noFill/>
          </p:spPr>
          <p:txBody>
            <a:bodyPr wrap="square" rtlCol="0">
              <a:spAutoFit/>
            </a:bodyPr>
            <a:lstStyle/>
            <a:p>
              <a:pPr algn="ctr"/>
              <a:r>
                <a:rPr lang="en-US" dirty="0">
                  <a:solidFill>
                    <a:srgbClr val="FF0000"/>
                  </a:solidFill>
                </a:rPr>
                <a:t>We computed the velocities from last lab</a:t>
              </a:r>
            </a:p>
          </p:txBody>
        </p:sp>
        <p:cxnSp>
          <p:nvCxnSpPr>
            <p:cNvPr id="22" name="Straight Arrow Connector 21">
              <a:extLst>
                <a:ext uri="{FF2B5EF4-FFF2-40B4-BE49-F238E27FC236}">
                  <a16:creationId xmlns:a16="http://schemas.microsoft.com/office/drawing/2014/main" id="{51788CDE-1FD0-4F41-E86D-49EC3B45D91F}"/>
                </a:ext>
              </a:extLst>
            </p:cNvPr>
            <p:cNvCxnSpPr>
              <a:cxnSpLocks/>
              <a:stCxn id="20" idx="0"/>
            </p:cNvCxnSpPr>
            <p:nvPr/>
          </p:nvCxnSpPr>
          <p:spPr>
            <a:xfrm flipH="1" flipV="1">
              <a:off x="10091667" y="2415540"/>
              <a:ext cx="1" cy="89783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85F0833-45BC-AB06-A3FF-75D201F93487}"/>
                </a:ext>
              </a:extLst>
            </p:cNvPr>
            <p:cNvCxnSpPr>
              <a:cxnSpLocks/>
              <a:stCxn id="20" idx="2"/>
            </p:cNvCxnSpPr>
            <p:nvPr/>
          </p:nvCxnSpPr>
          <p:spPr>
            <a:xfrm>
              <a:off x="10091668" y="3836590"/>
              <a:ext cx="0" cy="948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6E2755AD-A7D3-C367-746A-095FD5D20A31}"/>
              </a:ext>
            </a:extLst>
          </p:cNvPr>
          <p:cNvGrpSpPr/>
          <p:nvPr/>
        </p:nvGrpSpPr>
        <p:grpSpPr>
          <a:xfrm>
            <a:off x="6979373" y="1835226"/>
            <a:ext cx="2165177" cy="3704514"/>
            <a:chOff x="8977207" y="1835226"/>
            <a:chExt cx="2165177" cy="3704514"/>
          </a:xfrm>
        </p:grpSpPr>
        <p:sp>
          <p:nvSpPr>
            <p:cNvPr id="36" name="TextBox 35">
              <a:extLst>
                <a:ext uri="{FF2B5EF4-FFF2-40B4-BE49-F238E27FC236}">
                  <a16:creationId xmlns:a16="http://schemas.microsoft.com/office/drawing/2014/main" id="{3734F2C9-A581-902C-4983-D6013F98B89C}"/>
                </a:ext>
              </a:extLst>
            </p:cNvPr>
            <p:cNvSpPr txBox="1"/>
            <p:nvPr/>
          </p:nvSpPr>
          <p:spPr>
            <a:xfrm>
              <a:off x="8977207" y="3069628"/>
              <a:ext cx="2165177" cy="1169551"/>
            </a:xfrm>
            <a:prstGeom prst="rect">
              <a:avLst/>
            </a:prstGeom>
            <a:noFill/>
          </p:spPr>
          <p:txBody>
            <a:bodyPr wrap="square" rtlCol="0">
              <a:spAutoFit/>
            </a:bodyPr>
            <a:lstStyle/>
            <a:p>
              <a:pPr algn="ctr"/>
              <a:r>
                <a:rPr lang="en-US" dirty="0">
                  <a:solidFill>
                    <a:srgbClr val="FF0000"/>
                  </a:solidFill>
                </a:rPr>
                <a:t>Technically not necessary since this is a feedback controller but helps with improving performance</a:t>
              </a:r>
            </a:p>
          </p:txBody>
        </p:sp>
        <p:cxnSp>
          <p:nvCxnSpPr>
            <p:cNvPr id="37" name="Straight Arrow Connector 36">
              <a:extLst>
                <a:ext uri="{FF2B5EF4-FFF2-40B4-BE49-F238E27FC236}">
                  <a16:creationId xmlns:a16="http://schemas.microsoft.com/office/drawing/2014/main" id="{C0A1AAB9-D3EF-1554-A247-E71C6F440583}"/>
                </a:ext>
              </a:extLst>
            </p:cNvPr>
            <p:cNvCxnSpPr>
              <a:cxnSpLocks/>
              <a:stCxn id="36" idx="0"/>
            </p:cNvCxnSpPr>
            <p:nvPr/>
          </p:nvCxnSpPr>
          <p:spPr>
            <a:xfrm flipH="1" flipV="1">
              <a:off x="9655934" y="1835226"/>
              <a:ext cx="403862" cy="12344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B66E25-07BB-4718-03D3-F02B194F0002}"/>
                </a:ext>
              </a:extLst>
            </p:cNvPr>
            <p:cNvCxnSpPr>
              <a:cxnSpLocks/>
              <a:stCxn id="36" idx="2"/>
            </p:cNvCxnSpPr>
            <p:nvPr/>
          </p:nvCxnSpPr>
          <p:spPr>
            <a:xfrm flipH="1">
              <a:off x="9815954" y="4239179"/>
              <a:ext cx="243842" cy="13005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A5C95987-8241-9F84-C414-E7AEF6BCC3E8}"/>
              </a:ext>
            </a:extLst>
          </p:cNvPr>
          <p:cNvGrpSpPr/>
          <p:nvPr/>
        </p:nvGrpSpPr>
        <p:grpSpPr>
          <a:xfrm>
            <a:off x="560070" y="1431034"/>
            <a:ext cx="1859280" cy="915222"/>
            <a:chOff x="560070" y="1431034"/>
            <a:chExt cx="1859280" cy="915222"/>
          </a:xfrm>
        </p:grpSpPr>
        <p:sp>
          <p:nvSpPr>
            <p:cNvPr id="43" name="TextBox 42">
              <a:extLst>
                <a:ext uri="{FF2B5EF4-FFF2-40B4-BE49-F238E27FC236}">
                  <a16:creationId xmlns:a16="http://schemas.microsoft.com/office/drawing/2014/main" id="{F78DD445-C9AC-D6A2-81EA-8155D4D4FDF5}"/>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velocity we want the robot to go at</a:t>
              </a:r>
            </a:p>
          </p:txBody>
        </p:sp>
        <p:cxnSp>
          <p:nvCxnSpPr>
            <p:cNvPr id="44" name="Straight Arrow Connector 43">
              <a:extLst>
                <a:ext uri="{FF2B5EF4-FFF2-40B4-BE49-F238E27FC236}">
                  <a16:creationId xmlns:a16="http://schemas.microsoft.com/office/drawing/2014/main" id="{E2E71B0C-AEFF-5ED7-FA1E-B8F188710C84}"/>
                </a:ext>
              </a:extLst>
            </p:cNvPr>
            <p:cNvCxnSpPr>
              <a:cxnSpLocks/>
              <a:stCxn id="43" idx="2"/>
            </p:cNvCxnSpPr>
            <p:nvPr/>
          </p:nvCxnSpPr>
          <p:spPr>
            <a:xfrm>
              <a:off x="1489710" y="2169698"/>
              <a:ext cx="610621" cy="17655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2226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2D19B1-03F8-7A10-50BA-E510701133F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04F9B1-6395-B75A-BC58-24C2DB8539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B013B4-1250-70AD-D16B-E5AF9FA9DF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EEC6480-AB8B-A44C-5B02-0AB4AF55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451EF3-CBAC-B21E-62DD-380752C53A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33ACEA-FCCF-68A2-6D7B-94973413F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7533A-9ED3-B496-B0DC-B8014CDAD0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D9CA9F-8CFF-4757-1679-4F040A745C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23CA5C-AFB1-04F0-641F-832F6C653C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the desired velocity drives two parallel PI loops, one per motor. Right loop: e2 equals desired velocity minus v2 minus Kp_turn times e_steer. Left loop: e1 equals desired velocity minus v1 plus Kp_turn times e_steer. In each loop, Kp times the error plus Ki times the integral of the error, plus a friction compensation term based on that wheel's velocity, gives u2 for right_motor or u1 for left_motor. Steering error: e_steer equals turn command plus v2 minus v1.">
            <a:extLst>
              <a:ext uri="{FF2B5EF4-FFF2-40B4-BE49-F238E27FC236}">
                <a16:creationId xmlns:a16="http://schemas.microsoft.com/office/drawing/2014/main" id="{B09EE897-6171-2032-9BE2-00C2F44C931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3503" y="1049090"/>
            <a:ext cx="9164994" cy="5349901"/>
          </a:xfrm>
          <a:prstGeom prst="rect">
            <a:avLst/>
          </a:prstGeom>
        </p:spPr>
      </p:pic>
      <p:grpSp>
        <p:nvGrpSpPr>
          <p:cNvPr id="4" name="Group 3">
            <a:extLst>
              <a:ext uri="{FF2B5EF4-FFF2-40B4-BE49-F238E27FC236}">
                <a16:creationId xmlns:a16="http://schemas.microsoft.com/office/drawing/2014/main" id="{4C793C57-F1AD-CE08-AE91-41F7B21AD370}"/>
              </a:ext>
            </a:extLst>
          </p:cNvPr>
          <p:cNvGrpSpPr/>
          <p:nvPr/>
        </p:nvGrpSpPr>
        <p:grpSpPr>
          <a:xfrm>
            <a:off x="53340" y="1965960"/>
            <a:ext cx="5387340" cy="4225388"/>
            <a:chOff x="708660" y="2011680"/>
            <a:chExt cx="5387340" cy="4225388"/>
          </a:xfrm>
        </p:grpSpPr>
        <p:sp>
          <p:nvSpPr>
            <p:cNvPr id="6" name="Rectangle 5">
              <a:extLst>
                <a:ext uri="{FF2B5EF4-FFF2-40B4-BE49-F238E27FC236}">
                  <a16:creationId xmlns:a16="http://schemas.microsoft.com/office/drawing/2014/main" id="{5D3B5DDB-A7EC-6730-0C77-D4AAC1C18BA2}"/>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32FC05F-351B-7AA2-1850-7CFC352BA858}"/>
                </a:ext>
              </a:extLst>
            </p:cNvPr>
            <p:cNvCxnSpPr>
              <a:cxnSpLocks/>
              <a:stCxn id="10"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48D23D3-1148-B61F-36FE-4109013EB036}"/>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4E4FEA1-E250-6299-66C0-12E7D4E380CF}"/>
                </a:ext>
              </a:extLst>
            </p:cNvPr>
            <p:cNvCxnSpPr>
              <a:cxnSpLocks/>
              <a:stCxn id="10" idx="3"/>
              <a:endCxn id="8"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9C39D3A-A049-C298-7466-E7201221F625}"/>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11" name="Group 10">
            <a:extLst>
              <a:ext uri="{FF2B5EF4-FFF2-40B4-BE49-F238E27FC236}">
                <a16:creationId xmlns:a16="http://schemas.microsoft.com/office/drawing/2014/main" id="{9B1FB1DA-F9ED-AC7A-AF83-B65729CCBCAE}"/>
              </a:ext>
            </a:extLst>
          </p:cNvPr>
          <p:cNvGrpSpPr/>
          <p:nvPr/>
        </p:nvGrpSpPr>
        <p:grpSpPr>
          <a:xfrm>
            <a:off x="419650" y="1345275"/>
            <a:ext cx="1859280" cy="1020032"/>
            <a:chOff x="560070" y="1431034"/>
            <a:chExt cx="1859280" cy="1020032"/>
          </a:xfrm>
        </p:grpSpPr>
        <p:sp>
          <p:nvSpPr>
            <p:cNvPr id="12" name="TextBox 11">
              <a:extLst>
                <a:ext uri="{FF2B5EF4-FFF2-40B4-BE49-F238E27FC236}">
                  <a16:creationId xmlns:a16="http://schemas.microsoft.com/office/drawing/2014/main" id="{51CD3AB8-0947-109C-6DC0-34C76A502986}"/>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velocity we want the robot to go at</a:t>
              </a:r>
            </a:p>
          </p:txBody>
        </p:sp>
        <p:cxnSp>
          <p:nvCxnSpPr>
            <p:cNvPr id="13" name="Straight Arrow Connector 12">
              <a:extLst>
                <a:ext uri="{FF2B5EF4-FFF2-40B4-BE49-F238E27FC236}">
                  <a16:creationId xmlns:a16="http://schemas.microsoft.com/office/drawing/2014/main" id="{85D884C1-C547-2695-23C6-7C5AB088B2F1}"/>
                </a:ext>
              </a:extLst>
            </p:cNvPr>
            <p:cNvCxnSpPr>
              <a:cxnSpLocks/>
              <a:stCxn id="12" idx="2"/>
            </p:cNvCxnSpPr>
            <p:nvPr/>
          </p:nvCxnSpPr>
          <p:spPr>
            <a:xfrm>
              <a:off x="1489710" y="2169698"/>
              <a:ext cx="258530"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B20A990D-5B9D-614B-13B4-59B5322B071F}"/>
              </a:ext>
            </a:extLst>
          </p:cNvPr>
          <p:cNvGrpSpPr/>
          <p:nvPr/>
        </p:nvGrpSpPr>
        <p:grpSpPr>
          <a:xfrm>
            <a:off x="9748857" y="2789968"/>
            <a:ext cx="1859280" cy="1020032"/>
            <a:chOff x="560070" y="1431034"/>
            <a:chExt cx="1859280" cy="1020032"/>
          </a:xfrm>
        </p:grpSpPr>
        <p:sp>
          <p:nvSpPr>
            <p:cNvPr id="16" name="TextBox 15">
              <a:extLst>
                <a:ext uri="{FF2B5EF4-FFF2-40B4-BE49-F238E27FC236}">
                  <a16:creationId xmlns:a16="http://schemas.microsoft.com/office/drawing/2014/main" id="{464D41EC-E37D-966B-0C67-8610CE342454}"/>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turn rate we want the robot to go at</a:t>
              </a:r>
            </a:p>
          </p:txBody>
        </p:sp>
        <p:cxnSp>
          <p:nvCxnSpPr>
            <p:cNvPr id="17" name="Straight Arrow Connector 16">
              <a:extLst>
                <a:ext uri="{FF2B5EF4-FFF2-40B4-BE49-F238E27FC236}">
                  <a16:creationId xmlns:a16="http://schemas.microsoft.com/office/drawing/2014/main" id="{04EBEB62-7F76-4F9D-EDBD-31904F7AFE3A}"/>
                </a:ext>
              </a:extLst>
            </p:cNvPr>
            <p:cNvCxnSpPr>
              <a:cxnSpLocks/>
              <a:stCxn id="16" idx="2"/>
            </p:cNvCxnSpPr>
            <p:nvPr/>
          </p:nvCxnSpPr>
          <p:spPr>
            <a:xfrm flipH="1">
              <a:off x="1151553" y="2169698"/>
              <a:ext cx="338157"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43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6B96FC-0B48-688D-028E-27AA6FDA68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82CCE6C-02CA-8740-6D8D-6092CF052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3 error terms,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First, we have the steering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we tell the robot to turn right (</a:t>
                </a:r>
                <a14:m>
                  <m:oMath xmlns:m="http://schemas.openxmlformats.org/officeDocument/2006/math">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𝜔</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)&gt;0</m:t>
                    </m:r>
                  </m:oMath>
                </a14:m>
                <a:r>
                  <a:rPr lang="en-US" sz="2400" dirty="0">
                    <a:latin typeface="Atkinson Hyperlegible Next"/>
                    <a:ea typeface="Arial"/>
                    <a:cs typeface="Arial"/>
                    <a:sym typeface="Arial"/>
                  </a:rPr>
                  <a:t>), we expect the  right wheel to move faster than the left wheel.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because in a differential drive system, the yaw rate is proportional to the difference between the right and left velocities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𝜔</m:t>
                    </m:r>
                    <m:r>
                      <a:rPr lang="en-US" sz="2400" i="1" smtClean="0">
                        <a:latin typeface="Cambria Math" panose="02040503050406030204" pitchFamily="18" charset="0"/>
                        <a:ea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F82CCE6C-02CA-8740-6D8D-6092CF052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E070B49-1D32-3D10-CCA8-2ED27FB2A5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47ADF8-A179-638E-160A-4EB673A6019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F3BCED-18EB-3EFA-CD45-9217275BE5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470F46-65AE-5E3F-87AA-FAB0498EA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F87D3-4E5D-0D21-AC1A-1726B45D2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B0D18-2824-F08A-ADE5-2DE1DACD39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4192AD-48FF-C250-3D82-818527FB93F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A81EF-305A-D275-21F9-09F91145FD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5981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8C1904-EE51-5A46-1089-1FBFC9A551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7043761-BC59-2C43-E220-6274B69005F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Left Motor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positive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b="0" i="0"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steer</m:t>
                          </m:r>
                        </m:sub>
                      </m:sSub>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Right Motor error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negative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a:latin typeface="Cambria Math" panose="02040503050406030204" pitchFamily="18" charset="0"/>
                          <a:cs typeface="Arial"/>
                          <a:sym typeface="Arial"/>
                        </a:rPr>
                        <m:t>= </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steer</m:t>
                          </m:r>
                        </m:sub>
                      </m:sSub>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cross couples the control loops for the steering and the velocity control. Such that you have a feedback loop for making the robot steer. And then a separate control loop to reach the robot’s target individual motor velocity.</a:t>
                </a:r>
              </a:p>
            </p:txBody>
          </p:sp>
        </mc:Choice>
        <mc:Fallback>
          <p:sp>
            <p:nvSpPr>
              <p:cNvPr id="118" name="Google Shape;118;p29">
                <a:extLst>
                  <a:ext uri="{FF2B5EF4-FFF2-40B4-BE49-F238E27FC236}">
                    <a16:creationId xmlns:a16="http://schemas.microsoft.com/office/drawing/2014/main" id="{A7043761-BC59-2C43-E220-6274B69005F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DC72BE-679D-8521-8F67-C53A12056F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EC82E6-FC55-98A7-E6CA-4CC5315E944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898ED0-D826-2F2A-D654-B3495E725A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0A89AC-88D1-3EA7-2FB4-E4A2949BD4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A41E-B7FA-5880-5B5E-395D4475C3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C1A7B6A-A4E6-72F0-5B24-3EE6563160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986A38-59EA-3378-E15A-CDD237CFA2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9082B2-75B8-3495-5C41-D82A78000B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80425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348</TotalTime>
  <Words>1603</Words>
  <Application>Microsoft Office PowerPoint</Application>
  <PresentationFormat>Widescreen</PresentationFormat>
  <Paragraphs>255</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109</cp:revision>
  <dcterms:created xsi:type="dcterms:W3CDTF">2019-01-14T22:06:33Z</dcterms:created>
  <dcterms:modified xsi:type="dcterms:W3CDTF">2026-02-25T08:08:39Z</dcterms:modified>
</cp:coreProperties>
</file>