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73" r:id="rId3"/>
    <p:sldId id="274" r:id="rId4"/>
    <p:sldId id="258" r:id="rId5"/>
    <p:sldId id="259" r:id="rId6"/>
    <p:sldId id="275" r:id="rId7"/>
    <p:sldId id="284" r:id="rId8"/>
    <p:sldId id="285" r:id="rId9"/>
    <p:sldId id="276" r:id="rId10"/>
    <p:sldId id="286" r:id="rId11"/>
    <p:sldId id="287" r:id="rId12"/>
    <p:sldId id="288" r:id="rId13"/>
    <p:sldId id="295" r:id="rId14"/>
    <p:sldId id="296" r:id="rId15"/>
    <p:sldId id="280" r:id="rId16"/>
    <p:sldId id="298" r:id="rId17"/>
    <p:sldId id="278" r:id="rId18"/>
    <p:sldId id="282" r:id="rId19"/>
    <p:sldId id="290" r:id="rId20"/>
    <p:sldId id="289" r:id="rId21"/>
    <p:sldId id="291" r:id="rId22"/>
    <p:sldId id="293" r:id="rId23"/>
    <p:sldId id="294" r:id="rId24"/>
    <p:sldId id="281" r:id="rId25"/>
    <p:sldId id="279" r:id="rId26"/>
    <p:sldId id="271" r:id="rId27"/>
    <p:sldId id="270" r:id="rId28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31" roundtripDataSignature="AMtx7mjKkk5wOoQj6sDPPETbbKgHU96Dz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646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8954" autoAdjust="0"/>
  </p:normalViewPr>
  <p:slideViewPr>
    <p:cSldViewPr snapToGrid="0">
      <p:cViewPr varScale="1">
        <p:scale>
          <a:sx n="141" d="100"/>
          <a:sy n="141" d="100"/>
        </p:scale>
        <p:origin x="101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customschemas.google.com/relationships/presentationmetadata" Target="meta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11560CD-FFDE-70C6-6183-A453F3E98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57E4E91-ED9F-DE16-BEB6-F07455961A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63A7F12-DA54-6672-271A-7F884E56D7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999434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9CCB3815-7DFC-A6C5-71E8-8AB1D82DB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3B37F48D-295B-2D83-05B6-1233C2D28B5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2FBE0671-4B25-6C0E-8C21-D4DA9FB193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320360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7F4CBF3-273E-21CD-D3A8-47811AA33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74483B7-CFF9-872C-EB6C-A541EF6484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14E284D-2CB6-DFC8-BCC4-8B7481F2D2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0208312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68DE748-3852-3A22-9BCC-576F20DA16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EAC264C-00C9-CCF2-1BA4-CCFADB6BA4F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BD492AD-31F9-33ED-44CA-F8A5291CB1C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7545380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1D763C6-467D-A464-A307-7B229B39C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327A722-6E7D-FDE0-3BA9-193246F83C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6B1E107-D995-F608-90FF-47543472E5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14827521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31D5875-C0A4-E765-3DAF-426286C7B0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DE47B5B-9382-AF08-0D7D-06F91D23DF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7226BD4-FB6A-8BE6-17D9-83E2B12CAA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2257551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BDA1172D-55A2-93BD-B09F-335BCCE18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9F9F13A-C065-37CE-02A2-A1E841C90F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26ACBBC-03CD-5994-0BB9-4718714CB6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3501488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7E77750-D885-B834-E27B-22DF02D41A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F69026A-8921-24F6-AA18-C0E11459FC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996CE93-256A-C8EB-2D1B-606410E9AE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7653188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283FFED-6D3D-C069-0C7C-039F527A5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DBCD2AC-6375-79F3-5647-1CF4B7727BE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3E44E4C-67FC-DD93-165A-4D9CC22914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81109290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7010307-D507-D32C-9158-BB6FECCCB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99E68AF3-90B8-E9D3-F3C3-8EEE2753FA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If input is high the NPN is turned on, PNP will be off current flows from +9 to ground. NPN sources current (called push)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If input is low the PNP is turned on, NPN will be off, current flows from ground to -9V, PNP sinks current (called pull)</a:t>
            </a: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FC1B687-BC89-44AC-F0EB-4704719487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82360266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152B91C-5BE3-0ECE-EF12-7D485644DA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9C0C40D-3620-6F3D-B005-6FE0AF7D65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0F152BB-6D4F-0892-2BBE-EC0AB78BAA4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54718619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C72C5C3-A00E-0ABB-4C73-5ED76C1C6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18E7C9E-1577-5C35-44EB-B2CE8BCC0F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79410AC-6BCC-B628-C0D6-E78CC17D638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8713575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DBDFA01-5411-02E4-12B2-1D7839821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2B2E145-7E08-A11D-8E13-003296269F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752E0EB-F1F2-60D6-7CE1-B520F9F9E3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6491053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EF2D7433-2631-176E-469D-E8A694C720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919071AD-BF55-C97A-9DF5-892241FC1F7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C4193DAC-1E4D-99B5-69AD-D8A94A0762E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3148298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ABD9CA1-3CC6-ADA4-A84F-116D9FEA2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71843A3-2F13-E62E-0AA2-C0368371D94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9993DDC-59E8-33DA-418F-0919F1DC356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05101716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58AAF12-34E0-088E-0454-EBA87B2B3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E84DFB4-C905-825D-852D-09E32C9723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B133C7C-D57A-17A7-D319-06A8A7799A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92141981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25ED896-0A2C-8924-68AC-4D97268AB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E1FE0E7-16D9-5B02-D6F7-A6EC4B7B2D5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3062A87-4868-9BA0-4F80-79FAF5928A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77592640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C2A5A8A-5D90-8DDA-4602-15D919A58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06BE18A-C9A4-FFD5-ACA3-813DE211CF6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If a student wants to help me create the animation. I would love your help!!! It takes a lot of time to make these things work!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Group mux = G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There are 8 groups, 0, </a:t>
            </a: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DC7A90E-1B41-3A3B-196C-7864EF4449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2742352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8817004-DB61-291E-9156-8E366EC474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46E4D03-0EDF-F558-0856-EACDC4FE19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19792F3-2790-137B-2CB8-EBFFD6A096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3252827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07281BB-C230-ED35-5517-9DE20E3484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064908A-C9B1-D97D-DA5E-E9DA45F2A2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F319536-887A-BA88-D107-0BD78A8910A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62871211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B19FBE0C-0A4E-F80E-C616-184AAE5D44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C5F92267-93E1-4B64-3F7D-975D39AAE61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8137630F-7D2C-1D7C-CC54-8C49DFCF65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6048420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21BDD76-4F64-5428-A9F3-585691DF3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87E1EDB-2E34-BD6E-2559-5A2EDC52CD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1D84C390-9FCE-300A-71A5-DB32EEE83FD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58250692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>
          <a:extLst>
            <a:ext uri="{FF2B5EF4-FFF2-40B4-BE49-F238E27FC236}">
              <a16:creationId xmlns:a16="http://schemas.microsoft.com/office/drawing/2014/main" id="{ED6D95D0-49C4-BE65-6DB0-A8408AD9A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7:notes">
            <a:extLst>
              <a:ext uri="{FF2B5EF4-FFF2-40B4-BE49-F238E27FC236}">
                <a16:creationId xmlns:a16="http://schemas.microsoft.com/office/drawing/2014/main" id="{D5BF9D20-A937-E031-5ACD-4B566F245A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37:notes">
            <a:extLst>
              <a:ext uri="{FF2B5EF4-FFF2-40B4-BE49-F238E27FC236}">
                <a16:creationId xmlns:a16="http://schemas.microsoft.com/office/drawing/2014/main" id="{1666A96F-D523-1F0C-00D5-14D5F35E2C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8882365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3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4" name="Google Shape;34;p1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1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1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5" name="Google Shape;55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6" name="Google Shape;56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2" name="Google Shape;62;p2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9" name="Google Shape;69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marius-juston.github.io/SE-423---Class-Material/Labs/Lab1.pdf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hyperlink" Target="https://marius-juston.github.io/SE-423---Class-Material/Homeworks/LabVIEW1.pdf" TargetMode="External"/><Relationship Id="rId4" Type="http://schemas.openxmlformats.org/officeDocument/2006/relationships/hyperlink" Target="https://marius-juston.github.io/SE-423---Class-Material/Homeworks/HW1.pdf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606DHE81HZ4?feature=oembed" TargetMode="External"/><Relationship Id="rId6" Type="http://schemas.openxmlformats.org/officeDocument/2006/relationships/hyperlink" Target="https://youtu.be/606DHE81HZ4?si=4FCUMsPSI-xp2QcO" TargetMode="External"/><Relationship Id="rId5" Type="http://schemas.openxmlformats.org/officeDocument/2006/relationships/image" Target="../media/image9.jpe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en.wikipedia.org/wiki/Pull-up_resistor" TargetMode="Externa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S7jrirsfkNw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en.wikipedia.org/wiki/Push%E2%80%93pull_output" TargetMode="External"/><Relationship Id="rId5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en.wikipedia.org/wiki/Push%E2%80%93pull_output" TargetMode="External"/><Relationship Id="rId4" Type="http://schemas.openxmlformats.org/officeDocument/2006/relationships/image" Target="../media/image1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en.wikipedia.org/wiki/Pull-up_resistor" TargetMode="Externa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coecsl.ece.illinois.edu/se423/Lab_PinMuxTableF28379DLaunchPadSE423Robot.pdf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en.wikipedia.org/wiki/Multiplexer" TargetMode="Externa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svg"/><Relationship Id="rId4" Type="http://schemas.openxmlformats.org/officeDocument/2006/relationships/image" Target="../media/image1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6"/>
          <p:cNvSpPr/>
          <p:nvPr>
            <p:ph type="title"/>
          </p:nvPr>
        </p:nvSpPr>
        <p:spPr>
          <a:xfrm>
            <a:off x="1134035" y="2553964"/>
            <a:ext cx="9924000" cy="2723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4500"/>
            </a:pPr>
            <a:r>
              <a:rPr i="0" lang="en-US" sz="4500" b="1" dirty="0">
                <a:solidFill>
                  <a:schemeClr val="lt1"/>
                </a:solidFill>
              </a:rPr>
              <a:t>SE 423: Introduction to Mechatronics</a:t>
            </a:r>
            <a:endParaRPr i="0" b="0" lang="en-US" sz="4500" dirty="0">
              <a:solidFill>
                <a:srgbClr val="000000"/>
              </a:solidFill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i="0" b="0" lang="en-US" sz="2500" dirty="0">
                <a:solidFill>
                  <a:schemeClr val="lt1"/>
                </a:solidFill>
              </a:rPr>
              <a:t>Lecture 3: GPIO</a:t>
            </a:r>
            <a:endParaRPr i="0" b="0" sz="1400" dirty="0">
              <a:solidFill>
                <a:srgbClr val="000000"/>
              </a:solidFill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Marius Juston</a:t>
            </a:r>
            <a:endParaRPr sz="1800" b="0" i="0" u="none" strike="noStrike" cap="none" dirty="0">
              <a:solidFill>
                <a:srgbClr val="000000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26"/>
          <p:cNvSpPr txBox="1"/>
          <p:nvPr/>
        </p:nvSpPr>
        <p:spPr>
          <a:xfrm>
            <a:off x="3922059" y="5413888"/>
            <a:ext cx="4347882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Wednesday, January 28</a:t>
            </a:r>
            <a:r>
              <a:rPr lang="en-US" sz="1800" b="0" i="0" u="none" strike="noStrike" cap="none" baseline="3000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th</a:t>
            </a:r>
            <a:r>
              <a:rPr lang="en-US" sz="18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, </a:t>
            </a:r>
            <a:r>
              <a:rPr lang="en-US" sz="18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2026</a:t>
            </a:r>
            <a:endParaRPr sz="18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84" name="Google Shape;84;p2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41007" y="1004743"/>
            <a:ext cx="2909982" cy="75466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81D3E48-EB5B-86EE-C4D9-54116487B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3BCC2F8C-3A4A-AD98-3682-D9499379E4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Office Hours:</a:t>
            </a:r>
            <a:endParaRPr lang="en-US" sz="2600" b="1" dirty="0">
              <a:solidFill>
                <a:srgbClr val="E84B36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Monday: </a:t>
            </a: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4-6 PM</a:t>
            </a: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Neel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11-1 PM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Lakshmi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1-3 PM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Samuel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2-5 PM</a:t>
            </a: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Dan &amp; Marius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Lab: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Starting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  <a:hlinkClick r:id="rId3"/>
              </a:rPr>
              <a:t>Lab 1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this week, will be using C so be sure to be prepared! ( don’t forget to turn in commented code)!</a:t>
            </a:r>
            <a:endParaRPr lang="en-US" sz="1800" dirty="0">
              <a:solidFill>
                <a:srgbClr val="E84B36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 err="1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Homeworks</a:t>
            </a:r>
            <a:r>
              <a:rPr lang="en-US" sz="1800" b="1" dirty="0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 (Next week):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All check-offs for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  <a:hlinkClick r:id="rId4"/>
              </a:rPr>
              <a:t>homework 1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are due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February 3, 5PM</a:t>
            </a:r>
            <a:endParaRPr lang="en-US" sz="1400" b="1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Answers and code submissions for homework 1 are due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February 4, 9AM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LabVIEW (Next week):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All check-offs for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  <a:hlinkClick r:id="rId5"/>
              </a:rPr>
              <a:t>LabVIEW 1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are  due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February 5, 5PM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Small easy Quiz at the end of this lecture, like Monday, due at 11AM.</a:t>
            </a:r>
            <a:endParaRPr lang="en-US" sz="1800" b="1" dirty="0"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9848B8C-9075-59EA-79FA-AF5B8BFAF8D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AE21486-AEEC-E367-96A5-81B49AD32D6A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Reminders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8CCE647-4D9B-354D-A2E9-718CA28CD750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AC87A64-580A-4863-38B3-4D1504C83F5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3649EAB-2DB3-2DA4-9AD9-5D94AEE695E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41F8E2C-2780-2776-E8ED-542B082247F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D628D6E-10A9-03E9-659C-F8F2D0023C6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BEB3CD3-0F72-FD08-8FA5-00AD37965F2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958410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1A6AFDCE-64E1-A654-DDEC-6DAC090EB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7">
            <a:extLst>
              <a:ext uri="{FF2B5EF4-FFF2-40B4-BE49-F238E27FC236}">
                <a16:creationId xmlns:a16="http://schemas.microsoft.com/office/drawing/2014/main" id="{DD60DF3B-F1D7-F1CF-F808-A9F3705D5690}"/>
              </a:ext>
            </a:extLst>
          </p:cNvPr>
          <p:cNvSpPr/>
          <p:nvPr>
            <p:ph type="title"/>
          </p:nvPr>
        </p:nvSpPr>
        <p:spPr>
          <a:xfrm>
            <a:off x="2206906" y="1491040"/>
            <a:ext cx="7778187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lang="en-US" sz="6000" b="1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Questions?</a:t>
            </a:r>
            <a:endParaRPr sz="1400" b="0" i="0" u="none" strike="noStrike" cap="none" dirty="0">
              <a:solidFill>
                <a:srgbClr val="000000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grpSp>
        <p:nvGrpSpPr>
          <p:cNvPr id="91" name="Google Shape;91;p27">
            <a:extLst>
              <a:ext uri="{FF2B5EF4-FFF2-40B4-BE49-F238E27FC236}">
                <a16:creationId xmlns:a16="http://schemas.microsoft.com/office/drawing/2014/main" id="{0FB85B69-E50F-9C1E-1C71-76085377C22B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855F5239-4555-A1DE-D139-01906351DA30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C13CF1BE-6E26-DBA6-9221-469935C5921D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FF2B5EF4-FFF2-40B4-BE49-F238E27FC236}">
                <a16:creationId xmlns:a16="http://schemas.microsoft.com/office/drawing/2014/main" id="{4B5BF8B4-939B-0026-2C48-AE2D5E52B34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97BC0B8A-C54E-F70D-812D-AC535023870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512D471E-CBCB-6C3B-BEA2-B3BDD45026C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05D56552-D441-BC25-BBF1-AAB3A478D32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2E6A6FC8-9609-883D-87BD-351A55BD02F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FD6E037D-0D10-135D-83C1-1C8C4316A7D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" name="Google Shape;90;p27">
            <a:extLst>
              <a:ext uri="{FF2B5EF4-FFF2-40B4-BE49-F238E27FC236}">
                <a16:creationId xmlns:a16="http://schemas.microsoft.com/office/drawing/2014/main" id="{2877B48C-45B2-E7C7-C2D4-AB891B65D97F}"/>
              </a:ext>
            </a:extLst>
          </p:cNvPr>
          <p:cNvSpPr txBox="1"/>
          <p:nvPr/>
        </p:nvSpPr>
        <p:spPr>
          <a:xfrm>
            <a:off x="1079125" y="3581018"/>
            <a:ext cx="10033748" cy="9540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Homework, Lab, LabVIEW, quiz questions?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dirty="0">
                <a:solidFill>
                  <a:schemeClr val="lt1"/>
                </a:solidFill>
              </a:rPr>
              <a:t>( I sent an update for the reason for the 2 counters question )</a:t>
            </a:r>
            <a:endParaRPr lang="en-US" sz="28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461619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/>
          <p:cNvSpPr/>
          <p:nvPr>
            <p:ph type="title"/>
          </p:nvPr>
        </p:nvSpPr>
        <p:spPr>
          <a:xfrm>
            <a:off x="1295400" y="3225488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Digital Inputs / Outputs</a:t>
            </a:r>
            <a:endParaRPr i="0" b="0" sz="1400" dirty="0">
              <a:solidFill>
                <a:srgbClr val="000000"/>
              </a:solidFill>
            </a:endParaRPr>
          </a:p>
        </p:txBody>
      </p:sp>
      <p:grpSp>
        <p:nvGrpSpPr>
          <p:cNvPr id="105" name="Google Shape;105;p28"/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/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/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/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/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/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/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/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/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b="1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What does it mean for something to be “digital”?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b="1" dirty="0">
              <a:latin typeface="+mj-l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It is the control of your system / sensor using binary (0 or 1) signals.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b="1" dirty="0">
              <a:latin typeface="+mj-l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Digital I/O is the lowest level electrical interface between software and hardware.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solidFill>
                <a:schemeClr val="dk1"/>
              </a:solidFill>
              <a:latin typeface="+mj-l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Almost every mechatronic system constrains at least one digital input / output.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solidFill>
                <a:schemeClr val="dk1"/>
              </a:solidFill>
              <a:latin typeface="+mj-l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Sensors often reduce complex physical phenomena to binary decisions ( limit reached / not reached, turned on or off 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solidFill>
                <a:schemeClr val="dk1"/>
              </a:solidFill>
              <a:latin typeface="+mj-l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</a:rPr>
              <a:t>Digital signals are inherently discrete</a:t>
            </a: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</a:rPr>
              <a:t>Digital I/O provides deterministic, low-latency interaction with the environment</a:t>
            </a:r>
          </a:p>
        </p:txBody>
      </p:sp>
      <p:sp>
        <p:nvSpPr>
          <p:cNvPr id="119" name="Google Shape;119;p29"/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/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Digital Inputs / Outputs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/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/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/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/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/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1B39E5B-B095-A7A2-4054-F976ED8907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B85700D9-F968-351C-1ABA-A528F87048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A digital output drives a pin to a logic level: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Logic 0 (LOW)  → ≈0 V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Logic 1 (HIGH) → ≈3.3 V / 5 V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</a:rPr>
              <a:t>Logic levels are represented by voltage ranges, not exact values</a:t>
            </a: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Internally controlled by a latch / register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Can source or sink limited current (GPIO should not be used to drive power)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</a:rPr>
              <a:t>Digital outputs are not power supplies and must not directly drive loads. The GPIO have a total maximum of current it can supply, shared throughout all the pins.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If you power too many devices using GPIO, you might run out of power!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Examples: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Controlling LEDs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BD2CC7D-DF86-02A2-6AB6-8D45D3F5720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3392F7B-061C-1D92-71B7-F6101DD8796F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Digital Outputs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6E9D2AE-3B4C-EF4D-C337-E9D47C56FAD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924B8CE-6788-10F1-4747-50A92822A41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16B3FBB8-87AC-0E70-F6DB-5FCDAD4607CC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A6221402-7CB7-7662-8E18-40AD79556A1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114327E-E81A-AE6D-AC83-7E07165E028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D204DBD-32F4-4EA5-D978-CFAB3D858FC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212373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D57243D-F549-ADBF-D3A8-A99FA40350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49BF9AB4-98C2-C20B-CF25-C6B760DAB9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" indent="0">
              <a:buNone/>
            </a:pPr>
            <a:r>
              <a:rPr lang="en-US" sz="1800" dirty="0">
                <a:latin typeface="+mj-lt"/>
              </a:rPr>
              <a:t>Digital output control consists of :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+mj-lt"/>
              </a:rPr>
              <a:t>Choosing the GPIO number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+mj-lt"/>
              </a:rPr>
              <a:t>Selecting the GPIO pin mux selection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+mj-lt"/>
              </a:rPr>
              <a:t>Setting direction = output</a:t>
            </a:r>
          </a:p>
          <a:p>
            <a:pPr marL="114300" indent="0" algn="l">
              <a:buNone/>
            </a:pPr>
            <a:endParaRPr lang="en-US" sz="1800" dirty="0">
              <a:solidFill>
                <a:srgbClr val="642880"/>
              </a:solidFill>
              <a:latin typeface="+mj-lt"/>
            </a:endParaRP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GPIO_SetupPinMux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(34, GPIO_MUX_CPU1, 0);</a:t>
            </a: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GPIO_SetupPinOptions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(34, GPIO_OUTPUT, GPIO_PUSHPULL);</a:t>
            </a:r>
          </a:p>
          <a:p>
            <a:pPr marL="114300" indent="0" algn="l">
              <a:buNone/>
            </a:pPr>
            <a:endParaRPr lang="en-US" sz="1800" dirty="0">
              <a:solidFill>
                <a:srgbClr val="000000"/>
              </a:solidFill>
              <a:latin typeface="Consolas" panose="020B0609020204030204" pitchFamily="49" charset="0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You never write voltage, you write </a:t>
            </a:r>
            <a:r>
              <a:rPr lang="en-US" sz="1800" b="1" dirty="0">
                <a:latin typeface="+mj-lt"/>
                <a:ea typeface="Arial"/>
                <a:cs typeface="Arial"/>
                <a:sym typeface="Arial"/>
              </a:rPr>
              <a:t>bits in registers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0CAAB3D-2E17-19E3-7E06-A2A814D07B7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B7961F2B-5780-6575-3749-810EDEF22DDC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Digital Outputs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B464D6A-9830-059A-1CCA-56112EE2B8F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C1B96A16-B6D3-8F37-5E7A-B7DFB0D9008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070B71D-88A2-5672-E409-3BC3B8F275D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4547682-5E3D-B153-B3FB-9A60889501D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46C18CB3-6294-272A-7FD6-983C0108515C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8C25023-E2E2-6513-323F-50BE4AA3424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BFD835BB-5FEF-4893-DF55-01553574E596}"/>
              </a:ext>
            </a:extLst>
          </p:cNvPr>
          <p:cNvCxnSpPr/>
          <p:nvPr/>
        </p:nvCxnSpPr>
        <p:spPr>
          <a:xfrm>
            <a:off x="3457574" y="2906630"/>
            <a:ext cx="533400" cy="83820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6970A2F5-9588-2F25-2D1D-9CAE0A6E0056}"/>
              </a:ext>
            </a:extLst>
          </p:cNvPr>
          <p:cNvCxnSpPr>
            <a:cxnSpLocks/>
          </p:cNvCxnSpPr>
          <p:nvPr/>
        </p:nvCxnSpPr>
        <p:spPr>
          <a:xfrm>
            <a:off x="4629150" y="2482224"/>
            <a:ext cx="476250" cy="870576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22FD6E9-90DC-A025-CB2A-DF2E69C7E627}"/>
              </a:ext>
            </a:extLst>
          </p:cNvPr>
          <p:cNvGrpSpPr/>
          <p:nvPr/>
        </p:nvGrpSpPr>
        <p:grpSpPr>
          <a:xfrm>
            <a:off x="2876550" y="2145600"/>
            <a:ext cx="476250" cy="1599230"/>
            <a:chOff x="2876550" y="2145600"/>
            <a:chExt cx="476250" cy="1599230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C777ED50-FD36-F936-C215-7F1C49D4351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76550" y="2145600"/>
              <a:ext cx="476250" cy="1207200"/>
            </a:xfrm>
            <a:prstGeom prst="straightConnector1">
              <a:avLst/>
            </a:prstGeom>
            <a:ln w="571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83145C9A-F22E-3EDD-2ABF-C217661FAF7E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145600"/>
              <a:ext cx="0" cy="1599230"/>
            </a:xfrm>
            <a:prstGeom prst="straightConnector1">
              <a:avLst/>
            </a:prstGeom>
            <a:ln w="571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372846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55D2A2E-082E-03E4-4855-84B82AF1FE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874E2DB5-4EBC-46DB-EDF8-C3D10BC422D1}"/>
              </a:ext>
            </a:extLst>
          </p:cNvPr>
          <p:cNvSpPr/>
          <p:nvPr/>
        </p:nvSpPr>
        <p:spPr>
          <a:xfrm>
            <a:off x="2400300" y="6229350"/>
            <a:ext cx="7042150" cy="256620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5B6F741-17A9-0E7B-A6FB-C1D963B69E3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829AEC9-A699-615B-558E-9E41BF9DFCF0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Digital Outputs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835B385-881B-FC26-4FFD-03668638DB9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054C686-7EDA-3A1B-D8B2-3D8654FADB8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714DFEED-C81F-FEC3-97C0-6BF47652FC5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2BA8E07-F06A-EA6B-D5FB-7FDEAD41F75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2B6ECF98-6174-CC5B-5901-27F304BA3AC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CB86A8B-9A32-411E-25BF-96D672405D7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D88FE8AE-D2ED-E266-E374-A8E60E3A05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24525" y="975147"/>
            <a:ext cx="6614596" cy="5519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44036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14E8EE6-0038-1418-13F1-12417E07D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61A4CA2-A9F9-5598-09B5-D3C5963C3C9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8022F7F3-70EB-761B-F816-7B2544C0E140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Controlling an LED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A249E9B-FBB1-AA50-9FF9-4A3E043FC6B1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45D7D80-37A9-CA3F-9F6E-F6822E9A9E6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52594CA-A07F-7DD2-D1A9-3345EE9D00E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1D884F4-D591-96BF-FBDB-417AB799222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EFF7A7D-C121-EEC3-5B40-03D6FECBE27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9318CDF-EF6E-9326-3DB5-DDEAB0804AF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" name="Online Media 3" title="GPIO Led Control Animation">
            <a:hlinkClick r:id="" action="ppaction://media"/>
            <a:extLst>
              <a:ext uri="{FF2B5EF4-FFF2-40B4-BE49-F238E27FC236}">
                <a16:creationId xmlns:a16="http://schemas.microsoft.com/office/drawing/2014/main" id="{E92A1532-2B30-59C0-EEE0-EA0927948F96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5"/>
          <a:stretch>
            <a:fillRect/>
          </a:stretch>
        </p:blipFill>
        <p:spPr>
          <a:xfrm>
            <a:off x="1381988" y="1072145"/>
            <a:ext cx="9428024" cy="532684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EDEE608-C306-916C-5818-F9684434C359}"/>
              </a:ext>
            </a:extLst>
          </p:cNvPr>
          <p:cNvSpPr txBox="1"/>
          <p:nvPr/>
        </p:nvSpPr>
        <p:spPr>
          <a:xfrm>
            <a:off x="3962383" y="6375150"/>
            <a:ext cx="373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hlinkClick r:id="rId6"/>
              </a:rPr>
              <a:t>https://youtu.be/606DHE81HZ4?si=4FCUMsPSI-xp2QcO</a:t>
            </a:r>
            <a:r>
              <a:rPr lang="en-US" sz="11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57794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BFEFDC9-165B-8F98-746F-08BA7C96A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BEF13B8D-940F-76C7-A520-0DE59ABD9E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Digital input samples external voltage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Compared against logic thresholds: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LOW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HIGH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Examples: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Buttons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Switches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Some types of encoders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Problem with floating inputs, if input is not driven: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Voltage is undefined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Susceptible to noise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Input may randomly read 0 or 1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More on this with ADC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E65DC17-660F-DFE6-9208-51D641A42ABA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DE9D438-D673-1F0D-CA61-23AC9C69C054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Digital Inputs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B64B249-6922-C3AF-B4AF-2DA2A643A73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9BF1EA3-CFFC-FB6D-8A76-7C8245B8AD4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F4E4CF3-F4AF-3E9D-0438-630DF1A81EE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9E9A40DC-47AD-2C06-609B-AAFA85A9E7B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85B8AB0-AC8B-C9C2-3B63-0632633DD7E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F0F9C48-5CB3-28F2-E990-C8A670FE1CC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508323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F4A6EB9-2BB5-B600-25C9-28FBA88EAC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D5B13584-C704-8F7E-024F-C36F2265D6D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A pull-up resistor:</a:t>
            </a:r>
            <a:endParaRPr lang="en-US" sz="1800" dirty="0">
              <a:latin typeface="+mj-lt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Connects input to </a:t>
            </a:r>
            <a:r>
              <a:rPr lang="en-US" sz="1800" dirty="0" err="1">
                <a:latin typeface="+mj-lt"/>
                <a:cs typeface="Arial"/>
                <a:sym typeface="Arial"/>
              </a:rPr>
              <a:t>Vcc</a:t>
            </a:r>
            <a:r>
              <a:rPr lang="en-US" sz="1800" dirty="0">
                <a:latin typeface="+mj-lt"/>
                <a:cs typeface="Arial"/>
                <a:sym typeface="Arial"/>
              </a:rPr>
              <a:t> 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Defines default logic HIGH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When switch is: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Open: input → HIGH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Closed: input short circuits to GND → LOW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A pull-down resistor ( not used in our application ):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Connects input to GND 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Defines default logic LOW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When switch is: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Open: input → LOW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Closed: input short circuits to GND → HIGH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This is all internal on the Red Board, makes it cleaner!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You don’t need to understand this, just put it in code!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43E189C-5EA9-57AA-B9EF-59D44BE0F47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A459D4B-2AC5-0B30-0937-98CC0A98BFB6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Pull-Up / Pull-Down Resistors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AA35099-656F-6F9D-E55A-3EE08B366A2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08FD7BC-FC5F-C482-0E7C-5CEEDE629E1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8EB30E1-5F65-B1B8-71C9-4C55C863882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D8C8592-45F5-ECB5-C879-D01706EDD91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DB26088-E198-2A8D-0CAC-CED8374E29EB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3AEC7E19-D836-2157-85C1-D01000CD862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24E33918-C5EA-B4E7-A605-B10068B7234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79219" y="983446"/>
            <a:ext cx="2598126" cy="519625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9664ED5-595E-3924-B86B-CE29C9427CF4}"/>
              </a:ext>
            </a:extLst>
          </p:cNvPr>
          <p:cNvSpPr txBox="1"/>
          <p:nvPr/>
        </p:nvSpPr>
        <p:spPr>
          <a:xfrm>
            <a:off x="7618314" y="6129007"/>
            <a:ext cx="291993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hlinkClick r:id="rId6"/>
              </a:rPr>
              <a:t>https://en.wikipedia.org/wiki/Pull-up_resistor</a:t>
            </a:r>
            <a:r>
              <a:rPr lang="en-US" sz="11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132530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03703ED-6B48-3D7C-171A-7C422A26E2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7B871487-C2AC-347D-CC28-89775FD92A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" indent="0">
              <a:buNone/>
            </a:pPr>
            <a:r>
              <a:rPr lang="en-US" sz="1800" dirty="0">
                <a:latin typeface="+mj-lt"/>
              </a:rPr>
              <a:t>Digital output control consists of :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+mj-lt"/>
              </a:rPr>
              <a:t>Choosing the GPIO number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+mj-lt"/>
              </a:rPr>
              <a:t>Selecting the GPIO pin mux selection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+mj-lt"/>
              </a:rPr>
              <a:t>Setting direction = input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+mj-lt"/>
              </a:rPr>
              <a:t>Enable pull-up resistor</a:t>
            </a:r>
            <a:endParaRPr lang="en-US" sz="1800" dirty="0">
              <a:solidFill>
                <a:srgbClr val="642880"/>
              </a:solidFill>
              <a:latin typeface="+mj-lt"/>
            </a:endParaRP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GPIO_SetupPinMux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(7, GPIO_MUX_CPU1, 0);</a:t>
            </a: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GPIO_SetupPinOptions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(7, GPIO_INPUT, GPIO_PULLUP);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You read the binary input using: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7F0055"/>
                </a:solidFill>
                <a:latin typeface="Consolas" panose="020B0609020204030204" pitchFamily="49" charset="0"/>
              </a:rPr>
              <a:t>if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(GpioDataRegs.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GPADAT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GPIO7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){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Do stuff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endParaRPr lang="en-US" sz="1800" b="1" dirty="0"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4D41BD3F-2D1D-ED2D-184F-E233EA77803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6816974-09CC-3F1D-BE9F-FD1D78F9CAB7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Digital Inputs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46D4245-8D3D-8113-412D-A15BB0440F8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D4D772F-2FEB-08FA-D8B9-03F1256CBC6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567EA879-DBFD-0ED1-4078-1DD0C4C92712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676C6E5-89C4-80A3-2608-F74AB3F7F66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A77BCF0-0BA9-8FAA-CF36-9021D8C63BB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2F6763A-3A69-73F1-7925-21907B964A1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39EEBBB8-017D-B70A-D024-BDD096546594}"/>
              </a:ext>
            </a:extLst>
          </p:cNvPr>
          <p:cNvCxnSpPr>
            <a:cxnSpLocks/>
          </p:cNvCxnSpPr>
          <p:nvPr/>
        </p:nvCxnSpPr>
        <p:spPr>
          <a:xfrm>
            <a:off x="3457574" y="2906630"/>
            <a:ext cx="724367" cy="83820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5D0E1434-E939-B6FE-11F9-9065656C8283}"/>
              </a:ext>
            </a:extLst>
          </p:cNvPr>
          <p:cNvCxnSpPr>
            <a:cxnSpLocks/>
          </p:cNvCxnSpPr>
          <p:nvPr/>
        </p:nvCxnSpPr>
        <p:spPr>
          <a:xfrm>
            <a:off x="4629150" y="2482224"/>
            <a:ext cx="371275" cy="870576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E04EB7B-1C85-3D3D-70B3-0ABF54C20CAD}"/>
              </a:ext>
            </a:extLst>
          </p:cNvPr>
          <p:cNvGrpSpPr/>
          <p:nvPr/>
        </p:nvGrpSpPr>
        <p:grpSpPr>
          <a:xfrm>
            <a:off x="2876550" y="2145600"/>
            <a:ext cx="476250" cy="1599230"/>
            <a:chOff x="2876550" y="2145600"/>
            <a:chExt cx="476250" cy="1599230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6A2F6226-CA91-662B-FED7-585802B6892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76550" y="2145600"/>
              <a:ext cx="476250" cy="1207200"/>
            </a:xfrm>
            <a:prstGeom prst="straightConnector1">
              <a:avLst/>
            </a:prstGeom>
            <a:ln w="571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A1FADB05-82B6-30B1-CD03-D502431E97BD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145600"/>
              <a:ext cx="0" cy="1599230"/>
            </a:xfrm>
            <a:prstGeom prst="straightConnector1">
              <a:avLst/>
            </a:prstGeom>
            <a:ln w="571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5A9E21B-B4BA-57FA-0F67-1625D6239B11}"/>
              </a:ext>
            </a:extLst>
          </p:cNvPr>
          <p:cNvCxnSpPr>
            <a:cxnSpLocks/>
          </p:cNvCxnSpPr>
          <p:nvPr/>
        </p:nvCxnSpPr>
        <p:spPr>
          <a:xfrm>
            <a:off x="3254752" y="3120470"/>
            <a:ext cx="2372325" cy="62436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252AC45C-1337-905A-0DA7-757BB305C5A3}"/>
              </a:ext>
            </a:extLst>
          </p:cNvPr>
          <p:cNvSpPr/>
          <p:nvPr/>
        </p:nvSpPr>
        <p:spPr>
          <a:xfrm>
            <a:off x="2954215" y="4840565"/>
            <a:ext cx="398579" cy="2984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37505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528BA2E-A4FE-921F-BD97-342BD3B962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D39EA0BD-6699-644D-580C-BBF5DFBB00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" indent="0">
              <a:buNone/>
            </a:pPr>
            <a:r>
              <a:rPr lang="en-US" sz="1800" dirty="0">
                <a:latin typeface="+mj-lt"/>
              </a:rPr>
              <a:t>A </a:t>
            </a:r>
            <a:r>
              <a:rPr lang="en-US" sz="1800" b="1" dirty="0">
                <a:latin typeface="+mj-lt"/>
              </a:rPr>
              <a:t>push-pull output</a:t>
            </a:r>
            <a:r>
              <a:rPr lang="en-US" sz="1800" dirty="0">
                <a:latin typeface="+mj-lt"/>
              </a:rPr>
              <a:t> uses </a:t>
            </a:r>
            <a:r>
              <a:rPr lang="en-US" sz="1800" b="1" dirty="0">
                <a:latin typeface="+mj-lt"/>
              </a:rPr>
              <a:t>two transistors</a:t>
            </a:r>
            <a:r>
              <a:rPr lang="en-US" sz="1800" dirty="0">
                <a:latin typeface="+mj-lt"/>
              </a:rPr>
              <a:t>:</a:t>
            </a:r>
          </a:p>
          <a:p>
            <a:r>
              <a:rPr lang="en-US" sz="1800" dirty="0">
                <a:latin typeface="+mj-lt"/>
              </a:rPr>
              <a:t>A PMOS transistor pulls the pin up to 3.3 V</a:t>
            </a:r>
          </a:p>
          <a:p>
            <a:r>
              <a:rPr lang="en-US" sz="1800" dirty="0">
                <a:latin typeface="+mj-lt"/>
              </a:rPr>
              <a:t>An NMOS transistor pulls the pin down to GND</a:t>
            </a:r>
          </a:p>
          <a:p>
            <a:pPr marL="114300" indent="0">
              <a:buNone/>
            </a:pPr>
            <a:r>
              <a:rPr lang="en-US" sz="1800" dirty="0">
                <a:latin typeface="+mj-lt"/>
              </a:rPr>
              <a:t>Only </a:t>
            </a:r>
            <a:r>
              <a:rPr lang="en-US" sz="1800" b="1" dirty="0">
                <a:latin typeface="+mj-lt"/>
              </a:rPr>
              <a:t>one is ON at a time</a:t>
            </a:r>
            <a:r>
              <a:rPr lang="en-US" sz="1800" dirty="0">
                <a:latin typeface="+mj-lt"/>
              </a:rPr>
              <a:t>.</a:t>
            </a:r>
          </a:p>
          <a:p>
            <a:pPr marL="114300" indent="0">
              <a:buNone/>
            </a:pPr>
            <a:endParaRPr lang="en-US" sz="1800" dirty="0">
              <a:latin typeface="+mj-lt"/>
            </a:endParaRPr>
          </a:p>
          <a:p>
            <a:pPr marL="114300" indent="0">
              <a:buNone/>
            </a:pPr>
            <a:r>
              <a:rPr lang="en-US" sz="1800" dirty="0">
                <a:latin typeface="+mj-lt"/>
              </a:rPr>
              <a:t>When a pin is an output:</a:t>
            </a:r>
          </a:p>
          <a:p>
            <a:r>
              <a:rPr lang="en-US" sz="1800" dirty="0">
                <a:latin typeface="+mj-lt"/>
              </a:rPr>
              <a:t>You want deterministic voltage</a:t>
            </a:r>
          </a:p>
          <a:p>
            <a:r>
              <a:rPr lang="en-US" sz="1800" dirty="0">
                <a:latin typeface="+mj-lt"/>
              </a:rPr>
              <a:t>You want noise immunity</a:t>
            </a:r>
          </a:p>
          <a:p>
            <a:r>
              <a:rPr lang="en-US" sz="1800" dirty="0">
                <a:latin typeface="+mj-lt"/>
              </a:rPr>
              <a:t>You want defined transitions</a:t>
            </a:r>
          </a:p>
          <a:p>
            <a:endParaRPr lang="en-US" sz="1800" dirty="0">
              <a:latin typeface="+mj-lt"/>
            </a:endParaRPr>
          </a:p>
          <a:p>
            <a:pPr marL="114300" indent="0">
              <a:buNone/>
            </a:pPr>
            <a:r>
              <a:rPr lang="en-US" sz="1800" dirty="0">
                <a:latin typeface="+mj-lt"/>
              </a:rPr>
              <a:t>A more detailed video </a:t>
            </a:r>
            <a:r>
              <a:rPr lang="en-US" sz="1800" dirty="0">
                <a:latin typeface="+mj-lt"/>
                <a:hlinkClick r:id="rId3"/>
              </a:rPr>
              <a:t>here</a:t>
            </a:r>
            <a:r>
              <a:rPr lang="en-US" sz="1800" dirty="0">
                <a:latin typeface="+mj-lt"/>
              </a:rPr>
              <a:t>.</a:t>
            </a:r>
          </a:p>
          <a:p>
            <a:pPr marL="114300" indent="0">
              <a:buNone/>
            </a:pPr>
            <a:r>
              <a:rPr lang="en-US" sz="1800" dirty="0">
                <a:latin typeface="+mj-lt"/>
              </a:rPr>
              <a:t>You don’t need to understand this, just put it in code!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4A61843-BCCA-6664-F08C-46460E531F2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61CEFD1-7ADB-88E3-4B0F-E9595D94190C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Push-Pull - Output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2C7B4F8-37E9-7954-483D-633067729C6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A42762B-A536-7705-E169-2DF5CD5B96B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2495CEF-6409-E37B-6668-5147D3559EA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946B2F0-0828-F038-6BFF-B99C6AC6B96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5E44BE2-F8ED-29E0-461D-70EFC86222F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DFB6B9B-2A6A-6659-363E-55CF76BE59E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098" name="Picture 2" descr="undefined">
            <a:extLst>
              <a:ext uri="{FF2B5EF4-FFF2-40B4-BE49-F238E27FC236}">
                <a16:creationId xmlns:a16="http://schemas.microsoft.com/office/drawing/2014/main" id="{785CA8E1-A16A-6597-2A7A-112D6D7078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3030" y="1662545"/>
            <a:ext cx="6286978" cy="39293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3">
            <a:extLst>
              <a:ext uri="{FF2B5EF4-FFF2-40B4-BE49-F238E27FC236}">
                <a16:creationId xmlns:a16="http://schemas.microsoft.com/office/drawing/2014/main" id="{DE0996D2-F01A-728D-BDDB-B4447FE1871F}"/>
              </a:ext>
            </a:extLst>
          </p:cNvPr>
          <p:cNvSpPr>
            <a:spLocks noChangeArrowheads="1"/>
          </p:cNvSpPr>
          <p:nvPr>
            <p:ph type="title"/>
          </p:nvPr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tkinson Hyperlegible Next"/>
              </a:rPr>
              <a:t>A PMOS transistor pulls the pin </a:t>
            </a: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tkinson Hyperlegible Next"/>
              </a:rPr>
              <a:t>up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tkinson Hyperlegible Next"/>
              </a:rPr>
              <a:t> to 3.3 V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tkinson Hyperlegible Nex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04A23D2-91C4-10D1-67EE-23EA4D179FAB}"/>
              </a:ext>
            </a:extLst>
          </p:cNvPr>
          <p:cNvSpPr txBox="1"/>
          <p:nvPr/>
        </p:nvSpPr>
        <p:spPr>
          <a:xfrm>
            <a:off x="6934861" y="5591906"/>
            <a:ext cx="47304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 I wanted to create the animation for this, but if this text is still here, then it has not been done yet.)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1B3803-B13B-9829-6913-1C3545134F00}"/>
              </a:ext>
            </a:extLst>
          </p:cNvPr>
          <p:cNvSpPr txBox="1"/>
          <p:nvPr/>
        </p:nvSpPr>
        <p:spPr>
          <a:xfrm>
            <a:off x="8267966" y="2302161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NMOS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CD4432-1110-2D56-F0AB-EF2588A0C17C}"/>
              </a:ext>
            </a:extLst>
          </p:cNvPr>
          <p:cNvSpPr txBox="1"/>
          <p:nvPr/>
        </p:nvSpPr>
        <p:spPr>
          <a:xfrm>
            <a:off x="8315240" y="3696300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PMOS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76B762-ADEB-3430-5867-F6AD54820357}"/>
              </a:ext>
            </a:extLst>
          </p:cNvPr>
          <p:cNvSpPr txBox="1"/>
          <p:nvPr/>
        </p:nvSpPr>
        <p:spPr>
          <a:xfrm>
            <a:off x="6712086" y="2769140"/>
            <a:ext cx="11932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Operational Amplifier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8DCEE7-ACAA-9CE3-77E1-899749D40C42}"/>
              </a:ext>
            </a:extLst>
          </p:cNvPr>
          <p:cNvSpPr txBox="1"/>
          <p:nvPr/>
        </p:nvSpPr>
        <p:spPr>
          <a:xfrm>
            <a:off x="6989985" y="6163817"/>
            <a:ext cx="379306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hlinkClick r:id="rId6"/>
              </a:rPr>
              <a:t>https://en.wikipedia.org/wiki/Push%E2%80%93pull_output</a:t>
            </a:r>
            <a:r>
              <a:rPr lang="en-US" sz="11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105919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FA7EAF6-219F-B939-AD81-50F4F6966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96734910-B66A-55C0-B907-C11BCCC092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10" y="1334279"/>
            <a:ext cx="5569988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" indent="0">
              <a:buNone/>
            </a:pPr>
            <a:r>
              <a:rPr lang="en-US" sz="1800" dirty="0">
                <a:latin typeface="+mj-lt"/>
              </a:rPr>
              <a:t>A pull-up resistor is:</a:t>
            </a:r>
          </a:p>
          <a:p>
            <a:r>
              <a:rPr lang="en-US" sz="1800" dirty="0">
                <a:latin typeface="+mj-lt"/>
              </a:rPr>
              <a:t>Slow</a:t>
            </a:r>
          </a:p>
          <a:p>
            <a:r>
              <a:rPr lang="en-US" sz="1800" dirty="0">
                <a:latin typeface="+mj-lt"/>
              </a:rPr>
              <a:t>Incapable of pulling LOW</a:t>
            </a:r>
          </a:p>
          <a:p>
            <a:pPr marL="114300" indent="0">
              <a:buNone/>
            </a:pPr>
            <a:r>
              <a:rPr lang="en-US" sz="1800" dirty="0">
                <a:latin typeface="+mj-lt"/>
              </a:rPr>
              <a:t>So, for outputs, pull-ups are electrically irrelevant and often harmful.</a:t>
            </a:r>
          </a:p>
          <a:p>
            <a:pPr marL="114300" indent="0">
              <a:buNone/>
            </a:pPr>
            <a:endParaRPr lang="en-US" sz="1800" dirty="0">
              <a:latin typeface="+mj-lt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D8DC894-83C1-4EB6-B0D4-B4CF6D68B67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573FF5F-BF0F-FABE-F0FA-ADA09FB4683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Push-Pull - Output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3D6337F-20CE-7295-DC77-4A1C5435617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C54887C-F4E2-B2F8-B9AF-4F500D2556D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450BE3E-88E2-BAAA-3924-88639B93CB13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0DB5BBF4-E101-8243-8266-8E49E80DB9E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72B1796-D95D-B7E0-E66B-F722D891041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FC211F1-A31F-CB16-4E95-5F0E62722FA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098" name="Picture 2" descr="undefined">
            <a:extLst>
              <a:ext uri="{FF2B5EF4-FFF2-40B4-BE49-F238E27FC236}">
                <a16:creationId xmlns:a16="http://schemas.microsoft.com/office/drawing/2014/main" id="{D1F8CC7D-879A-7262-1244-4483EACF72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3030" y="1662545"/>
            <a:ext cx="6286978" cy="39293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3">
            <a:extLst>
              <a:ext uri="{FF2B5EF4-FFF2-40B4-BE49-F238E27FC236}">
                <a16:creationId xmlns:a16="http://schemas.microsoft.com/office/drawing/2014/main" id="{6DEF9745-2DFE-1DE6-04E5-B263C9481698}"/>
              </a:ext>
            </a:extLst>
          </p:cNvPr>
          <p:cNvSpPr>
            <a:spLocks noChangeArrowheads="1"/>
          </p:cNvSpPr>
          <p:nvPr>
            <p:ph type="title"/>
          </p:nvPr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tkinson Hyperlegible Next"/>
              </a:rPr>
              <a:t>A PMOS transistor pulls the pin </a:t>
            </a: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tkinson Hyperlegible Next"/>
              </a:rPr>
              <a:t>up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tkinson Hyperlegible Next"/>
              </a:rPr>
              <a:t> to 3.3 V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tkinson Hyperlegible Nex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FAA4260-9A40-D891-BB00-75F7BBEAEF59}"/>
              </a:ext>
            </a:extLst>
          </p:cNvPr>
          <p:cNvSpPr txBox="1"/>
          <p:nvPr/>
        </p:nvSpPr>
        <p:spPr>
          <a:xfrm>
            <a:off x="6934861" y="5591906"/>
            <a:ext cx="47304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 I wanted to create the animation for this, but if this text is still here, then it has not been done yet.)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3BD9EE-7EDF-97DD-7535-1562A508D801}"/>
              </a:ext>
            </a:extLst>
          </p:cNvPr>
          <p:cNvSpPr txBox="1"/>
          <p:nvPr/>
        </p:nvSpPr>
        <p:spPr>
          <a:xfrm>
            <a:off x="8267966" y="2302161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NMOS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E2198D-F51A-C4F6-0B53-74853D68958F}"/>
              </a:ext>
            </a:extLst>
          </p:cNvPr>
          <p:cNvSpPr txBox="1"/>
          <p:nvPr/>
        </p:nvSpPr>
        <p:spPr>
          <a:xfrm>
            <a:off x="8315240" y="3696300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PMOS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6E5ABC5-E652-9C78-A670-10888E14AD7C}"/>
              </a:ext>
            </a:extLst>
          </p:cNvPr>
          <p:cNvSpPr txBox="1"/>
          <p:nvPr/>
        </p:nvSpPr>
        <p:spPr>
          <a:xfrm>
            <a:off x="6712086" y="2769140"/>
            <a:ext cx="11932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Operational Amplifier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9F8F7C3-BEA9-720E-727F-6C73B5A6D30C}"/>
              </a:ext>
            </a:extLst>
          </p:cNvPr>
          <p:cNvSpPr txBox="1"/>
          <p:nvPr/>
        </p:nvSpPr>
        <p:spPr>
          <a:xfrm>
            <a:off x="6989985" y="6163817"/>
            <a:ext cx="379306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hlinkClick r:id="rId5"/>
              </a:rPr>
              <a:t>https://en.wikipedia.org/wiki/Push%E2%80%93pull_output</a:t>
            </a:r>
            <a:r>
              <a:rPr lang="en-US" sz="11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991456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755900A-1584-865A-E16E-977CAC8219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56E80A18-9A3D-C8B6-B42A-1FBA3D7DB14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5102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Why would we run out of power?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Each GPIO output has its own transistors and can safely source or sink only a limited current.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However, all GPIOs draw that current from shared internal power and ground networks inside the chip.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Even if each individual pin is within its limit, the sum of all GPIO currents can exceed what the silicon, bond wires, or package can safely carry.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This is why microcontrollers specify both per-pin and total GPIO current limits, and why </a:t>
            </a:r>
            <a:r>
              <a:rPr lang="en-US" sz="1800" b="1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GPIOs must never be used as power supplies</a:t>
            </a: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</a:rPr>
              <a:t>Think of each GPIO as a faucet drawing water from the same pipe.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Each faucet has a </a:t>
            </a:r>
            <a:r>
              <a:rPr lang="en-US" sz="1800" b="1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local limit </a:t>
            </a: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(per-pin current)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The pipe has a </a:t>
            </a:r>
            <a:r>
              <a:rPr lang="en-US" sz="1800" b="1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global flow limit </a:t>
            </a: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(total GPIO current)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Opening too many faucets: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Reduces pressure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Stresses the pipe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Causes failure elsewhere</a:t>
            </a:r>
            <a:endParaRPr lang="en-US" sz="1800" dirty="0"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5E40B6D-570B-BDCE-8559-6635E3508B1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447384C-71F9-B962-244D-9EF7ADE6905B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Digital Outputs – too many GPIO output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721AAC4-FC2E-66EB-89BB-8D1383B1ED0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7575B25-09D6-D8D2-8BF7-BF0B088EBD3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E360783A-AA1F-2A77-A35F-1F06412D3A3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3638098-3DAE-64D5-7B8B-FCCE36321A0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FA1198A-55F2-0DB8-D7F7-173ED5D3DD9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2495BEC-F211-57CF-AAC2-2E3E43098DD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057408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217C608-71AA-1AF2-820C-BC27A5D03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7698FFD7-7CBA-4FF5-2772-57AC6126F33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7341239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What an input pin is: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Pin becomes high-impedance, sensitive to low current, allowing for high voltages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Sensitive to noise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The internal pull-up: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Weak resistor (~20-50 k</a:t>
            </a:r>
            <a:r>
              <a:rPr lang="el-GR" sz="1800" dirty="0"/>
              <a:t>Ω</a:t>
            </a:r>
            <a:r>
              <a:rPr lang="en-US" sz="1800" dirty="0"/>
              <a:t>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Slightly biases pin to logic HIGH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Can be overridden by external hardware (button to GND)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Without pull-up, just using floating-inputs, you would be sensitive to random noise, returning: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Random bits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Thus, unpredictable control behavior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4AF9F15F-2F11-0BF8-8EDE-AD952B0401E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2B94127-5D57-A56F-9B9C-CFF14E9B012D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Pull-Up / Pull-Down Resistors - Input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374F108B-6810-5503-0C1E-DDE3101011D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BE4F6D2-C55E-A0A8-513E-08D58E238D4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E8297834-D01F-6772-E65E-B21EC028CCE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28591C5-FD89-BE20-2382-C952DFEF038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1D37F76-FF5B-96CD-A275-06EC3BD7F71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B4E2370-644A-FBDF-0965-E937B135BFD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6C983543-E503-AFF6-EB67-27E5999BF53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79219" y="983446"/>
            <a:ext cx="2598126" cy="519625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F5CA09D-5225-499B-AF46-7829BC91E492}"/>
              </a:ext>
            </a:extLst>
          </p:cNvPr>
          <p:cNvSpPr txBox="1"/>
          <p:nvPr/>
        </p:nvSpPr>
        <p:spPr>
          <a:xfrm>
            <a:off x="7618314" y="6129007"/>
            <a:ext cx="291993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hlinkClick r:id="rId6"/>
              </a:rPr>
              <a:t>https://en.wikipedia.org/wiki/Pull-up_resistor</a:t>
            </a:r>
            <a:r>
              <a:rPr lang="en-US" sz="11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212218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60EDE0FE-74B9-310D-A367-9878117E54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4DF24D40-D29D-CD6D-BAFA-7923D74CD6E4}"/>
              </a:ext>
            </a:extLst>
          </p:cNvPr>
          <p:cNvSpPr/>
          <p:nvPr>
            <p:ph type="title"/>
          </p:nvPr>
        </p:nvSpPr>
        <p:spPr>
          <a:xfrm>
            <a:off x="1295400" y="3225488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Pin Mux</a:t>
            </a:r>
            <a:endParaRPr i="0" b="0" sz="1400" dirty="0">
              <a:solidFill>
                <a:srgbClr val="000000"/>
              </a:solidFill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B311F0E6-306A-7474-9D56-B1DE7C92F4D8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1F24BFBC-8FF4-B824-E5D2-DC6D70F75BCE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6988DCA9-2AC3-DE3E-5368-EBD74DD4D279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A8A3E628-018E-E5CD-2906-E64B0963A56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493D635C-219A-21EA-33CA-C922FD8B850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B1514480-ECAD-A1DA-AECD-BBA644CABD83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B7BC3879-4714-42DE-0771-DA880B46626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604038AB-56A4-198D-5789-9C370A590CB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484ADB6A-A310-9BDA-D7A1-79020777FB2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3680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05CE3D6-6D67-AEFE-A8A5-FF9DAE6456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1F2B8B11-A929-7EEE-B502-7E839B44ED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The Red Board has only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80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pins but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160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GPIO! 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We also need the pins to do multiple specialized things,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GPIO                   (General Purpose Input-Output)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PWM output        (Pulse Width Modulation)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SPI                      (Serial Peripheral Interface)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I2C                      (Inter-Integrated Circuit)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CAN                    (Controller Area Network)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UART                  (Universal Asynchronous Receiver-Transmitter)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ADC trigger, etc. (Analog-to-Digital Converter)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Whole list is in the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  <a:hlinkClick r:id="rId3"/>
              </a:rPr>
              <a:t>pin mux list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, you will be using this in Lab 1!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This sharing is managed by the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pin multiplexer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Pins and GPIOs are not for hardware wiring / optimality reasons.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F89618B-DAF8-8492-D3C2-81DC74A245F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4626475-DCFB-0806-752F-423F07FCEF7B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Pin Mux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91C8113-A4E1-32F3-031C-C3029EE3410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C2CCD3C-B462-8B7C-61AB-A47B03915A3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BD87B59-206F-ADF6-F193-E543A5BC6DA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0ACBD40-F213-E117-9D37-A3CC0C44E85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AB70D66-8CE1-B9C9-8736-C30E2FE76D1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984E4A8-8BB7-B29D-9FD4-AFD5B3315A9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423908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9398413-0AE8-370B-215E-E0D9673AA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E3537289-3906-F61A-FE9B-9E812E1111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This is a hardware switch that selects which peripheral controls a pin: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879F98A-C3A8-4D8F-0C7B-E69DFF82549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67EDB08-73DB-4D7F-CF91-C0FAEAF3D833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What is the Pin Multiplexer (</a:t>
            </a:r>
            <a:r>
              <a:rPr lang="en-US" sz="2400" b="0" i="0" u="none" strike="noStrike" cap="none" dirty="0" err="1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PinMux</a:t>
            </a: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)</a:t>
            </a: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7839535F-2085-901B-16EA-FFF8C73FA9F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3A3305E7-1E0C-6370-88F7-7DECF32F134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95221AE-87F9-789F-FD98-900CBD8F4AC2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DFE2DF4-8F43-04E5-11F2-073A81C9BC0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ED5B125-0354-5134-ADBE-3ABC3EE1CFC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6A367AE-B2AD-9223-6B3D-C61E4BC5AA1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076" name="Picture 4" descr="undefined">
            <a:extLst>
              <a:ext uri="{FF2B5EF4-FFF2-40B4-BE49-F238E27FC236}">
                <a16:creationId xmlns:a16="http://schemas.microsoft.com/office/drawing/2014/main" id="{951CD270-E96E-0C94-E14F-8969C8EC80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92289" y="1920479"/>
            <a:ext cx="5746439" cy="2532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16-to-1 mux">
            <a:extLst>
              <a:ext uri="{FF2B5EF4-FFF2-40B4-BE49-F238E27FC236}">
                <a16:creationId xmlns:a16="http://schemas.microsoft.com/office/drawing/2014/main" id="{AC7668CD-BA9C-41F4-D48B-CB43716E3F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4849" y="4668348"/>
            <a:ext cx="6613948" cy="16534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D27E0E8-4AC2-BB24-ED52-D29FA2FDF093}"/>
              </a:ext>
            </a:extLst>
          </p:cNvPr>
          <p:cNvSpPr txBox="1"/>
          <p:nvPr/>
        </p:nvSpPr>
        <p:spPr>
          <a:xfrm>
            <a:off x="4517796" y="6292303"/>
            <a:ext cx="262805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hlinkClick r:id="rId6"/>
              </a:rPr>
              <a:t>https://en.wikipedia.org/wiki/Multiplexer</a:t>
            </a:r>
            <a:r>
              <a:rPr lang="en-US" sz="11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791498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408E2A6-449A-9603-FE69-F109BC54C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3E47FD70-F90A-C30C-0F7E-2AEE29D0AF8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Up to twelve independent peripheral signals are multiplexed on a single GPIO-enabled pin in addition to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the CPU-controlled I/O capability.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Each pin output can be controlled by either a peripheral or one of the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four CPU masters (CPU1, CPU1.CLA, CPU2, or CPU2.CLA). There are six I/O ports: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Port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A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consists of GPIO0-GPIO31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Port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B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consists of GPIO32-GPIO63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Port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C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consists of GPIO64-GPIO95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Port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D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consists of GPIO96-GPIO127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Port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E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consists of GPIO128-GPIO159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Port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F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consists of GPIO160-GPIO168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GPBTOGGLE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GPIO34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1;</a:t>
            </a: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8A8798C0-FB65-AF98-96CE-315694DD816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297E37E-6E37-C1FF-A913-6CB7BD3CB85A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Pin Mux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E1724000-8575-754D-4571-9013C4B1DD8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6DDE69B-6697-1B0B-DE94-1A74736C018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E892C830-52B9-E97D-F6CE-F34B5756D9B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31E38DD6-F440-B446-17D2-4068CECA720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802B6CE-2189-19A1-2324-43AB9BE3B54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3D7F91C-5E0F-5081-B864-598F93BB211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82075BB9-3D1E-62C6-BF45-1B23C17CBCA2}"/>
              </a:ext>
            </a:extLst>
          </p:cNvPr>
          <p:cNvSpPr/>
          <p:nvPr/>
        </p:nvSpPr>
        <p:spPr>
          <a:xfrm>
            <a:off x="5460956" y="4978417"/>
            <a:ext cx="127000" cy="2307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64896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6610688-0261-AB9D-226F-282781A138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0C31344-07E9-3463-23C1-94C8A8A80F7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D9635DF-89DB-3C96-4474-98F7BE782E23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Pin Mux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726129C-A0F4-6ACD-5F02-014D5E88346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55451F4-51D9-6B38-5E9E-44553E37B65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B138A62-BB56-9CB7-263C-24A0F08793F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8D2D5529-488B-4C93-A63B-B71DE901173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23B6309-083D-A25E-3350-54CAC2943F2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6E14517-D7E3-7896-73CE-1C08D442D29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" name="Graphic 5">
            <a:extLst>
              <a:ext uri="{FF2B5EF4-FFF2-40B4-BE49-F238E27FC236}">
                <a16:creationId xmlns:a16="http://schemas.microsoft.com/office/drawing/2014/main" id="{4DEAC88C-CC19-E63D-08DE-C2D078D9E86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50398" y="983446"/>
            <a:ext cx="7562850" cy="553708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E111A22-27B9-C2D3-DD45-1E7F5E82C23B}"/>
              </a:ext>
            </a:extLst>
          </p:cNvPr>
          <p:cNvSpPr txBox="1"/>
          <p:nvPr/>
        </p:nvSpPr>
        <p:spPr>
          <a:xfrm>
            <a:off x="7717407" y="5135890"/>
            <a:ext cx="356942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 I wanted to create the animation for this, but if this text is still here, then it has not been done yet.) 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C3F7F927-9310-6ED6-69E8-DEAB49A20F1A}"/>
              </a:ext>
            </a:extLst>
          </p:cNvPr>
          <p:cNvSpPr/>
          <p:nvPr/>
        </p:nvSpPr>
        <p:spPr>
          <a:xfrm>
            <a:off x="4757438" y="4661522"/>
            <a:ext cx="764205" cy="1747293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373A964-CF00-C917-3073-D548D2A97642}"/>
              </a:ext>
            </a:extLst>
          </p:cNvPr>
          <p:cNvCxnSpPr>
            <a:endCxn id="8" idx="1"/>
          </p:cNvCxnSpPr>
          <p:nvPr/>
        </p:nvCxnSpPr>
        <p:spPr>
          <a:xfrm>
            <a:off x="2813538" y="3875010"/>
            <a:ext cx="2055815" cy="1042397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8DF0BE6-E7A1-BFAF-C5DC-B43536BC12AA}"/>
              </a:ext>
            </a:extLst>
          </p:cNvPr>
          <p:cNvSpPr txBox="1"/>
          <p:nvPr/>
        </p:nvSpPr>
        <p:spPr>
          <a:xfrm>
            <a:off x="645834" y="3501830"/>
            <a:ext cx="216770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PinMux</a:t>
            </a:r>
            <a:r>
              <a:rPr lang="en-US" dirty="0"/>
              <a:t> has 12 inputs, requires how many bits in the selector?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F12FCF8-3CC3-1F10-6B18-38F83BE5DC3D}"/>
              </a:ext>
            </a:extLst>
          </p:cNvPr>
          <p:cNvSpPr/>
          <p:nvPr/>
        </p:nvSpPr>
        <p:spPr>
          <a:xfrm>
            <a:off x="4955381" y="4783931"/>
            <a:ext cx="176213" cy="1500188"/>
          </a:xfrm>
          <a:prstGeom prst="roundRect">
            <a:avLst/>
          </a:prstGeom>
          <a:noFill/>
          <a:ln>
            <a:solidFill>
              <a:srgbClr val="E164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AB58C61-8D1C-82AF-36A3-7D83EE9C1285}"/>
              </a:ext>
            </a:extLst>
          </p:cNvPr>
          <p:cNvSpPr/>
          <p:nvPr/>
        </p:nvSpPr>
        <p:spPr>
          <a:xfrm>
            <a:off x="5129515" y="4783931"/>
            <a:ext cx="176213" cy="1500188"/>
          </a:xfrm>
          <a:prstGeom prst="roundRect">
            <a:avLst/>
          </a:prstGeom>
          <a:noFill/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4CB5062-D5AB-C42E-FDD3-6DA0D7084A1A}"/>
              </a:ext>
            </a:extLst>
          </p:cNvPr>
          <p:cNvCxnSpPr>
            <a:endCxn id="3" idx="0"/>
          </p:cNvCxnSpPr>
          <p:nvPr/>
        </p:nvCxnSpPr>
        <p:spPr>
          <a:xfrm flipH="1">
            <a:off x="5043488" y="3429000"/>
            <a:ext cx="582612" cy="1354931"/>
          </a:xfrm>
          <a:prstGeom prst="straightConnector1">
            <a:avLst/>
          </a:prstGeom>
          <a:ln>
            <a:solidFill>
              <a:srgbClr val="E1646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DF1AC35-3430-9639-67DD-5780E7CA3D22}"/>
              </a:ext>
            </a:extLst>
          </p:cNvPr>
          <p:cNvCxnSpPr>
            <a:cxnSpLocks/>
            <a:endCxn id="4" idx="0"/>
          </p:cNvCxnSpPr>
          <p:nvPr/>
        </p:nvCxnSpPr>
        <p:spPr>
          <a:xfrm flipH="1">
            <a:off x="5217622" y="3590801"/>
            <a:ext cx="408478" cy="1193130"/>
          </a:xfrm>
          <a:prstGeom prst="straightConnector1">
            <a:avLst/>
          </a:prstGeom>
          <a:ln>
            <a:solidFill>
              <a:schemeClr val="accent2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64060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E385E4F-8763-2CE5-1E24-6B99990E0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BE997C0E-7098-6448-D7ED-5BFC864B12A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7F0055"/>
                </a:solidFill>
                <a:latin typeface="Consolas" panose="020B0609020204030204" pitchFamily="49" charset="0"/>
              </a:rPr>
              <a:t>void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GPIO_SetupPinMux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Uint16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gpioNumber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Uint16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cpu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Uint16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muxPosition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300" dirty="0">
                <a:solidFill>
                  <a:srgbClr val="7F0055"/>
                </a:solidFill>
                <a:latin typeface="Consolas" panose="020B0609020204030204" pitchFamily="49" charset="0"/>
              </a:rPr>
              <a:t>volatile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Uint32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*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gpioBaseAddr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r>
              <a:rPr lang="en-US" sz="1300" dirty="0">
                <a:solidFill>
                  <a:srgbClr val="3F7F5F"/>
                </a:solidFill>
                <a:latin typeface="Consolas" panose="020B0609020204030204" pitchFamily="49" charset="0"/>
              </a:rPr>
              <a:t>// volatile means that the variable may change from external sources (i.e. interrupts)</a:t>
            </a:r>
            <a:endParaRPr lang="en-US" sz="13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algn="l">
              <a:spcBef>
                <a:spcPts val="0"/>
              </a:spcBef>
              <a:buNone/>
            </a:pP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fr-FR" sz="1300" dirty="0">
                <a:solidFill>
                  <a:srgbClr val="7F0055"/>
                </a:solidFill>
                <a:latin typeface="Consolas" panose="020B0609020204030204" pitchFamily="49" charset="0"/>
              </a:rPr>
              <a:t>volatile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Uint32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 *</a:t>
            </a:r>
            <a:r>
              <a:rPr lang="fr-FR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mux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, *</a:t>
            </a:r>
            <a:r>
              <a:rPr lang="fr-FR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gmux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, *</a:t>
            </a:r>
            <a:r>
              <a:rPr lang="fr-FR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csel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Uint16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pin32, pin16, pin8;</a:t>
            </a:r>
          </a:p>
          <a:p>
            <a:pPr marL="0" indent="0" algn="l">
              <a:spcBef>
                <a:spcPts val="0"/>
              </a:spcBef>
              <a:buNone/>
            </a:pPr>
            <a:endParaRPr lang="en-US" sz="1300" dirty="0">
              <a:latin typeface="Consolas" panose="020B0609020204030204" pitchFamily="49" charset="0"/>
            </a:endParaRP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pin32 =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gpioNumber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% 32;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pin16 =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gpioNumber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% 16;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pin8 =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gpioNumber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% 8;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gpioBaseAddr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= (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Uint32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*)&amp;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GpioCtrlRegs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+ (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gpioNumber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/32)*GPY_CTRL_OFFSET;</a:t>
            </a:r>
          </a:p>
          <a:p>
            <a:pPr marL="0" indent="0" algn="l">
              <a:spcBef>
                <a:spcPts val="0"/>
              </a:spcBef>
              <a:buNone/>
            </a:pPr>
            <a:endParaRPr lang="en-US" sz="1300" dirty="0">
              <a:latin typeface="Consolas" panose="020B0609020204030204" pitchFamily="49" charset="0"/>
            </a:endParaRP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mux =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gpioBaseAddr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+ GPYMUX + pin32/16;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gmux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gpioBaseAddr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+ GPYGMUX + pin32/16;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csel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gpioBaseAddr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+ GPYCSEL + pin32/8;</a:t>
            </a:r>
          </a:p>
          <a:p>
            <a:pPr marL="0" indent="0">
              <a:spcBef>
                <a:spcPts val="0"/>
              </a:spcBef>
              <a:buNone/>
            </a:pPr>
            <a:endParaRPr lang="en-US" sz="1300" dirty="0">
              <a:latin typeface="Consolas" panose="020B06090202040302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EALLOW; </a:t>
            </a:r>
            <a:r>
              <a:rPr lang="en-US" sz="1300" dirty="0">
                <a:solidFill>
                  <a:srgbClr val="3F7F5F"/>
                </a:solidFill>
                <a:latin typeface="Consolas" panose="020B0609020204030204" pitchFamily="49" charset="0"/>
              </a:rPr>
              <a:t>// block that controls the physical multiplexer</a:t>
            </a:r>
            <a:endParaRPr lang="en-US" sz="13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algn="l">
              <a:spcBef>
                <a:spcPts val="0"/>
              </a:spcBef>
              <a:buNone/>
            </a:pPr>
            <a:endParaRPr lang="en-US" sz="1300" dirty="0">
              <a:latin typeface="Consolas" panose="020B0609020204030204" pitchFamily="49" charset="0"/>
            </a:endParaRP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300" dirty="0">
                <a:solidFill>
                  <a:srgbClr val="3F7F5F"/>
                </a:solidFill>
                <a:latin typeface="Consolas" panose="020B0609020204030204" pitchFamily="49" charset="0"/>
              </a:rPr>
              <a:t>// 0x3UL means 0b11 but in int32_t (i.e. 0b11 with 30 leading 0s)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*mux &amp;= ~(0x3UL &lt;&lt; (2*pin16));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*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gmux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&amp;= ~(0x3UL &lt;&lt; (2*pin16));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*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gmux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|= (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Uint32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)((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muxPosition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&gt;&gt; 2) &amp; 0x3UL) &lt;&lt; (2*pin16);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*</a:t>
            </a:r>
            <a:r>
              <a:rPr lang="fr-FR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mux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 |= (</a:t>
            </a:r>
            <a:r>
              <a:rPr lang="fr-FR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Uint32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)(</a:t>
            </a:r>
            <a:r>
              <a:rPr lang="fr-FR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muxPosition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 &amp; 0x3UL) &lt;&lt; (2*pin16);</a:t>
            </a:r>
          </a:p>
          <a:p>
            <a:pPr marL="0" indent="0" algn="l">
              <a:spcBef>
                <a:spcPts val="0"/>
              </a:spcBef>
              <a:buNone/>
            </a:pPr>
            <a:endParaRPr lang="en-US" sz="1300" dirty="0">
              <a:latin typeface="Consolas" panose="020B0609020204030204" pitchFamily="49" charset="0"/>
            </a:endParaRP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*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csel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&amp;= ~(0x3L &lt;&lt; (4*pin8));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*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csel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|= (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Uint32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)(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cpu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&amp; 0x3L) &lt;&lt; (4*pin8);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EDIS;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351CFB9-850D-B406-7B3D-BC2E8949265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3911D61-A563-3FD0-3C11-6922C2CAC175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Pin Mux – Code ( Not the exact code for reduced spacing )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EEA00A71-C78E-7E1C-D32F-3604524FB71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E67E111-4413-2CCF-7FE0-8598613A212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FBC29ED-E0AD-1149-9E1A-41043D51258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B47397B-F810-D152-E5B9-7A47587B8E6D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BE875B4-D3C4-7968-47EA-1C68952CB9FB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8409232-DAB3-584A-4800-E9A6804CF96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283483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188E027-5518-4ECF-EB59-C7D57AADEA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6D8EFFB9-F11F-FB13-5C98-BB705E99B2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GPIO_SetupPinMux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(19, GPIO_MUX_CPU1, 0);</a:t>
            </a:r>
          </a:p>
          <a:p>
            <a:pPr marL="0" indent="0" algn="ctr">
              <a:spcBef>
                <a:spcPts val="0"/>
              </a:spcBef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GPIO_SetupPinOptions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(19, GPIO_OUTPUT, GPIO_PUSHPULL);</a:t>
            </a:r>
          </a:p>
          <a:p>
            <a:pPr marL="0" indent="0" algn="ctr">
              <a:lnSpc>
                <a:spcPct val="150000"/>
              </a:lnSpc>
              <a:spcBef>
                <a:spcPts val="0"/>
              </a:spcBef>
              <a:buNone/>
            </a:pP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285750" indent="-285750">
              <a:lnSpc>
                <a:spcPct val="15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0000"/>
                </a:solidFill>
                <a:latin typeface="+mj-lt"/>
              </a:rPr>
              <a:t>Using the pin number instead of the GPIO number</a:t>
            </a:r>
          </a:p>
          <a:p>
            <a:pPr marL="285750" indent="-285750">
              <a:lnSpc>
                <a:spcPct val="15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0000"/>
                </a:solidFill>
                <a:latin typeface="+mj-lt"/>
              </a:rPr>
              <a:t>Using the wrong GPIO for the pin that you want</a:t>
            </a:r>
          </a:p>
          <a:p>
            <a:pPr marL="285750" indent="-285750">
              <a:lnSpc>
                <a:spcPct val="15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0000"/>
                </a:solidFill>
                <a:latin typeface="+mj-lt"/>
              </a:rPr>
              <a:t>Direction is not set correctly</a:t>
            </a:r>
          </a:p>
          <a:p>
            <a:pPr marL="285750" indent="-285750">
              <a:lnSpc>
                <a:spcPct val="15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0000"/>
                </a:solidFill>
                <a:latin typeface="+mj-lt"/>
              </a:rPr>
              <a:t>Pull-up disabled unintentionally</a:t>
            </a:r>
          </a:p>
          <a:p>
            <a:pPr marL="285750" indent="-285750">
              <a:lnSpc>
                <a:spcPct val="15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0000"/>
                </a:solidFill>
                <a:latin typeface="+mj-lt"/>
              </a:rPr>
              <a:t>Make sure to read the documentation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D0C4280-88E8-DB84-118B-F5229BB7E13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E220E78-2418-0631-48E9-884B7151863A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Common </a:t>
            </a:r>
            <a:r>
              <a:rPr lang="en-US" sz="2400" b="0" i="0" u="none" strike="noStrike" cap="none" dirty="0" err="1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PinMux</a:t>
            </a: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 mistake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97E48C2-91B6-B022-E027-12F99D2DE2F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161888B-E83F-CFEB-57BF-D079E37A59B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B461599-6A14-2756-C154-42E5FC1C188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961EF1B5-1199-20FF-0C6F-0D157F05179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C28DB36-C8AA-40B9-F391-39D5D3A5932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B61EB1A-EAED-D063-9C2D-363D9CCBC01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926343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F303F532-FC6F-D568-E4E0-3FD155DE0F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069FE454-6279-8BA6-8D5F-1060F1D08724}"/>
              </a:ext>
            </a:extLst>
          </p:cNvPr>
          <p:cNvSpPr/>
          <p:nvPr>
            <p:ph type="title"/>
          </p:nvPr>
        </p:nvSpPr>
        <p:spPr>
          <a:xfrm>
            <a:off x="1295400" y="3225488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Git / GitHub</a:t>
            </a:r>
            <a:endParaRPr i="0" b="0" sz="1400" dirty="0">
              <a:solidFill>
                <a:srgbClr val="000000"/>
              </a:solidFill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2EEC05E7-9BB3-9352-50EA-BE88A7C50791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C463CF59-204B-1DAA-7B80-37BAEA538EC2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BEFD3B0D-277D-0ED0-8713-5A71C3E86891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8DECB686-B94B-255D-95FD-DDC1B853CC0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4E68CF0F-2FB3-4CD2-F2E2-9106F5BB805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A1146245-6214-8CDD-3676-C0157ADFBC36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2D0E7AF3-681D-F5A1-A5BD-F3ADA907822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980E29CA-3B69-9D2B-47AE-FCD96FF1366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DFD469EA-1872-C16E-7B38-EFCB302FBA2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0955721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DA7ABC1-2A2B-C5BF-469F-1F81C27DFD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6F42C677-ED51-8D43-DC1D-04DC9F8FBC3C}"/>
              </a:ext>
            </a:extLst>
          </p:cNvPr>
          <p:cNvSpPr/>
          <p:nvPr/>
        </p:nvSpPr>
        <p:spPr>
          <a:xfrm>
            <a:off x="8368144" y="1638270"/>
            <a:ext cx="3262524" cy="4725238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6DB4C167-2C33-2FE6-0DA6-E2F7F946D40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7A357A5-785A-2D62-D6A9-E079C0B2E0D1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Git / GitHub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B31DA69B-1A5C-EB74-2B38-5DA5A801920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DB264F6-0B3A-A050-276B-39850607860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549A3198-B2FA-AB08-BA26-1C6E4CD5185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E2C9649-513D-0418-6B43-CA356231667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21C568C-D6CD-1484-7E38-71888070F22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A34152E-5EB8-6626-6556-71F1BC06AE6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A8794A2-8150-5ADE-7519-4045C4BB692A}"/>
              </a:ext>
            </a:extLst>
          </p:cNvPr>
          <p:cNvSpPr/>
          <p:nvPr/>
        </p:nvSpPr>
        <p:spPr>
          <a:xfrm>
            <a:off x="264695" y="1677646"/>
            <a:ext cx="2261937" cy="1010653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Working Directory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5FC1DD3-B1FE-8EDE-37D5-0C8CC6649449}"/>
              </a:ext>
            </a:extLst>
          </p:cNvPr>
          <p:cNvSpPr/>
          <p:nvPr/>
        </p:nvSpPr>
        <p:spPr>
          <a:xfrm>
            <a:off x="2935705" y="1695254"/>
            <a:ext cx="2261937" cy="1010653"/>
          </a:xfrm>
          <a:prstGeom prst="roundRect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Staging Area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A7E07CD-3638-15A5-36B7-D73E34B8DB73}"/>
              </a:ext>
            </a:extLst>
          </p:cNvPr>
          <p:cNvSpPr/>
          <p:nvPr/>
        </p:nvSpPr>
        <p:spPr>
          <a:xfrm>
            <a:off x="5606715" y="1695254"/>
            <a:ext cx="2261937" cy="1010653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Local Repository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2214B10-CD7B-0CC9-FA55-DF658B7885F1}"/>
              </a:ext>
            </a:extLst>
          </p:cNvPr>
          <p:cNvSpPr/>
          <p:nvPr/>
        </p:nvSpPr>
        <p:spPr>
          <a:xfrm>
            <a:off x="8895865" y="1695254"/>
            <a:ext cx="2261937" cy="1010653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Remote Repository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AA834F3-A79C-3EB1-1535-05439C4C14C5}"/>
              </a:ext>
            </a:extLst>
          </p:cNvPr>
          <p:cNvCxnSpPr>
            <a:cxnSpLocks/>
            <a:stCxn id="4" idx="2"/>
          </p:cNvCxnSpPr>
          <p:nvPr/>
        </p:nvCxnSpPr>
        <p:spPr>
          <a:xfrm flipH="1">
            <a:off x="1395663" y="2688299"/>
            <a:ext cx="1" cy="365760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8FA218E-2F98-9701-4B6C-34866E25F702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4066674" y="2705907"/>
            <a:ext cx="0" cy="365760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4502ADF-DC3F-AC07-1D3D-0AC962EB39F5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6737684" y="2705907"/>
            <a:ext cx="0" cy="365760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5FE03CB-1489-D52B-FEBE-50EF83F2710E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10026834" y="2705907"/>
            <a:ext cx="0" cy="365760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635640A7-9D23-66F4-D3C8-DF068BE4D236}"/>
              </a:ext>
            </a:extLst>
          </p:cNvPr>
          <p:cNvSpPr txBox="1"/>
          <p:nvPr/>
        </p:nvSpPr>
        <p:spPr>
          <a:xfrm>
            <a:off x="2427205" y="926572"/>
            <a:ext cx="329665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/>
              <a:t>Local (git)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B2E7C45-02D6-44AA-C3CE-023D10F44C0B}"/>
              </a:ext>
            </a:extLst>
          </p:cNvPr>
          <p:cNvSpPr txBox="1"/>
          <p:nvPr/>
        </p:nvSpPr>
        <p:spPr>
          <a:xfrm>
            <a:off x="8005267" y="910065"/>
            <a:ext cx="404312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/>
              <a:t>Remote (GitHub)</a:t>
            </a:r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0713BEBE-6D93-C2E8-474F-0D8807AE009A}"/>
              </a:ext>
            </a:extLst>
          </p:cNvPr>
          <p:cNvSpPr/>
          <p:nvPr/>
        </p:nvSpPr>
        <p:spPr>
          <a:xfrm>
            <a:off x="6755398" y="4421958"/>
            <a:ext cx="3262526" cy="868222"/>
          </a:xfrm>
          <a:prstGeom prst="rightArrow">
            <a:avLst/>
          </a:prstGeom>
          <a:solidFill>
            <a:srgbClr val="E1646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git push</a:t>
            </a:r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590C59D6-7D2D-C4C0-A1AC-9B0DA7C2878E}"/>
              </a:ext>
            </a:extLst>
          </p:cNvPr>
          <p:cNvSpPr/>
          <p:nvPr/>
        </p:nvSpPr>
        <p:spPr>
          <a:xfrm flipH="1">
            <a:off x="1395663" y="2765116"/>
            <a:ext cx="8631168" cy="868222"/>
          </a:xfrm>
          <a:prstGeom prst="rightArrow">
            <a:avLst/>
          </a:prstGeom>
          <a:solidFill>
            <a:srgbClr val="E1646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git clone</a:t>
            </a:r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D4677A97-0C68-7AA3-784B-737FC5F61BAC}"/>
              </a:ext>
            </a:extLst>
          </p:cNvPr>
          <p:cNvSpPr/>
          <p:nvPr/>
        </p:nvSpPr>
        <p:spPr>
          <a:xfrm>
            <a:off x="4075532" y="3940108"/>
            <a:ext cx="2671009" cy="868222"/>
          </a:xfrm>
          <a:prstGeom prst="rightArrow">
            <a:avLst/>
          </a:prstGeom>
          <a:solidFill>
            <a:srgbClr val="E1646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git commit</a:t>
            </a:r>
          </a:p>
        </p:txBody>
      </p:sp>
      <p:sp>
        <p:nvSpPr>
          <p:cNvPr id="29" name="Arrow: Right 28">
            <a:extLst>
              <a:ext uri="{FF2B5EF4-FFF2-40B4-BE49-F238E27FC236}">
                <a16:creationId xmlns:a16="http://schemas.microsoft.com/office/drawing/2014/main" id="{077B0077-3F2A-F03A-BA15-E8E86AB4BE74}"/>
              </a:ext>
            </a:extLst>
          </p:cNvPr>
          <p:cNvSpPr/>
          <p:nvPr/>
        </p:nvSpPr>
        <p:spPr>
          <a:xfrm>
            <a:off x="1395660" y="3505997"/>
            <a:ext cx="2671004" cy="868222"/>
          </a:xfrm>
          <a:prstGeom prst="rightArrow">
            <a:avLst/>
          </a:prstGeom>
          <a:solidFill>
            <a:srgbClr val="E1646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git add</a:t>
            </a:r>
          </a:p>
        </p:txBody>
      </p:sp>
      <p:sp>
        <p:nvSpPr>
          <p:cNvPr id="30" name="Arrow: Right 29">
            <a:extLst>
              <a:ext uri="{FF2B5EF4-FFF2-40B4-BE49-F238E27FC236}">
                <a16:creationId xmlns:a16="http://schemas.microsoft.com/office/drawing/2014/main" id="{19B20393-7B30-1EA6-679F-3F7AD3D61A83}"/>
              </a:ext>
            </a:extLst>
          </p:cNvPr>
          <p:cNvSpPr/>
          <p:nvPr/>
        </p:nvSpPr>
        <p:spPr>
          <a:xfrm flipH="1">
            <a:off x="6746514" y="5154221"/>
            <a:ext cx="3262524" cy="868222"/>
          </a:xfrm>
          <a:prstGeom prst="rightArrow">
            <a:avLst/>
          </a:prstGeom>
          <a:solidFill>
            <a:srgbClr val="E1646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git pull</a:t>
            </a:r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87527C6E-C096-D5D0-3E36-300DFB7CC864}"/>
              </a:ext>
            </a:extLst>
          </p:cNvPr>
          <p:cNvSpPr/>
          <p:nvPr/>
        </p:nvSpPr>
        <p:spPr>
          <a:xfrm flipH="1">
            <a:off x="1395663" y="5540593"/>
            <a:ext cx="5333140" cy="868222"/>
          </a:xfrm>
          <a:prstGeom prst="rightArrow">
            <a:avLst/>
          </a:prstGeom>
          <a:solidFill>
            <a:srgbClr val="E1646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git checkout</a:t>
            </a:r>
          </a:p>
        </p:txBody>
      </p:sp>
    </p:spTree>
    <p:extLst>
      <p:ext uri="{BB962C8B-B14F-4D97-AF65-F5344CB8AC3E}">
        <p14:creationId xmlns:p14="http://schemas.microsoft.com/office/powerpoint/2010/main" val="16854631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63">
          <a:extLst>
            <a:ext uri="{FF2B5EF4-FFF2-40B4-BE49-F238E27FC236}">
              <a16:creationId xmlns:a16="http://schemas.microsoft.com/office/drawing/2014/main" id="{FA145421-BB40-88A0-CFFD-DC4D9CAC5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37">
            <a:extLst>
              <a:ext uri="{FF2B5EF4-FFF2-40B4-BE49-F238E27FC236}">
                <a16:creationId xmlns:a16="http://schemas.microsoft.com/office/drawing/2014/main" id="{B5B2745B-F5C6-8FBF-1FAE-FE621EFA88F0}"/>
              </a:ext>
            </a:extLst>
          </p:cNvPr>
          <p:cNvSpPr/>
          <p:nvPr>
            <p:ph type="title"/>
          </p:nvPr>
        </p:nvSpPr>
        <p:spPr>
          <a:xfrm>
            <a:off x="2275515" y="2823928"/>
            <a:ext cx="7640969" cy="12101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i="0" lang="en-US" sz="6600" b="1" dirty="0">
                <a:solidFill>
                  <a:schemeClr val="lt1"/>
                </a:solidFill>
              </a:rPr>
              <a:t>Questions</a:t>
            </a:r>
            <a:r>
              <a:rPr i="0" lang="en-US" sz="5400" b="1" dirty="0">
                <a:solidFill>
                  <a:schemeClr val="lt1"/>
                </a:solidFill>
              </a:rPr>
              <a:t>?</a:t>
            </a:r>
          </a:p>
        </p:txBody>
      </p:sp>
      <p:pic>
        <p:nvPicPr>
          <p:cNvPr id="265" name="Google Shape;265;p37">
            <a:extLst>
              <a:ext uri="{FF2B5EF4-FFF2-40B4-BE49-F238E27FC236}">
                <a16:creationId xmlns:a16="http://schemas.microsoft.com/office/drawing/2014/main" id="{EDC8C897-5AB2-076F-5135-9B30ACCBD22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37">
            <a:extLst>
              <a:ext uri="{FF2B5EF4-FFF2-40B4-BE49-F238E27FC236}">
                <a16:creationId xmlns:a16="http://schemas.microsoft.com/office/drawing/2014/main" id="{CF8648FC-7240-4BBB-9E09-C030BD1A805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267" name="Google Shape;267;p37">
            <a:extLst>
              <a:ext uri="{FF2B5EF4-FFF2-40B4-BE49-F238E27FC236}">
                <a16:creationId xmlns:a16="http://schemas.microsoft.com/office/drawing/2014/main" id="{6A5B7064-0FC6-E501-D020-2C92B5A6057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268" name="Google Shape;268;p37">
            <a:extLst>
              <a:ext uri="{FF2B5EF4-FFF2-40B4-BE49-F238E27FC236}">
                <a16:creationId xmlns:a16="http://schemas.microsoft.com/office/drawing/2014/main" id="{69F24B96-E9CD-EB54-C22A-3DD90799A7A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269" name="Google Shape;269;p37">
              <a:extLst>
                <a:ext uri="{FF2B5EF4-FFF2-40B4-BE49-F238E27FC236}">
                  <a16:creationId xmlns:a16="http://schemas.microsoft.com/office/drawing/2014/main" id="{BDF89024-C4A2-8F3A-DA57-A772C136804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70" name="Google Shape;270;p37">
              <a:extLst>
                <a:ext uri="{FF2B5EF4-FFF2-40B4-BE49-F238E27FC236}">
                  <a16:creationId xmlns:a16="http://schemas.microsoft.com/office/drawing/2014/main" id="{B3758997-614E-F4D9-9F4D-D716DCC856B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1598978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Title 276"/>
          <p:cNvSpPr>
            <a:spLocks noGrp="1"/>
          </p:cNvSpPr>
          <p:nvPr>
            <p:ph type="title"/>
          </p:nvPr>
        </p:nvSpPr>
        <p:spPr>
          <a:xfrm>
            <a:off x="0" y="-914400"/>
            <a:ext cx="12192000" cy="685800"/>
          </a:xfrm>
        </p:spPr>
        <p:txBody>
          <a:bodyPr/>
          <a:lstStyle/>
          <a:p>
            <a:r>
              <a:rPr lang="en-US" dirty="0"/>
              <a:t>End of Lecture 3</a:t>
            </a:r>
          </a:p>
        </p:txBody>
      </p:sp>
      <p:pic>
        <p:nvPicPr>
          <p:cNvPr id="275" name="Google Shape;275;p3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59350" y="2791508"/>
            <a:ext cx="5414193" cy="12749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tkinson Hyperlegible Nex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tkinson Hyperlegible Nex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tkinson Hyperlegible Nex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tkinson Hyperlegible Nex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819</TotalTime>
  <Words>2005</Words>
  <Application>Microsoft Office PowerPoint</Application>
  <PresentationFormat>Widescreen</PresentationFormat>
  <Paragraphs>332</Paragraphs>
  <Slides>27</Slides>
  <Notes>27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1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Nielsen, Joshua</dc:creator>
  <cp:lastModifiedBy>Juston, Marius F</cp:lastModifiedBy>
  <cp:revision>133</cp:revision>
  <dcterms:created xsi:type="dcterms:W3CDTF">2019-01-14T22:06:33Z</dcterms:created>
  <dcterms:modified xsi:type="dcterms:W3CDTF">2026-02-08T02:52:28Z</dcterms:modified>
</cp:coreProperties>
</file>