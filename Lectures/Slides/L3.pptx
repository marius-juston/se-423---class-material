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56" r:id="rId2"/>
    <p:sldId id="273" r:id="rId3"/>
    <p:sldId id="274" r:id="rId4"/>
    <p:sldId id="258" r:id="rId5"/>
    <p:sldId id="259" r:id="rId6"/>
    <p:sldId id="275" r:id="rId7"/>
    <p:sldId id="284" r:id="rId8"/>
    <p:sldId id="285" r:id="rId9"/>
    <p:sldId id="276" r:id="rId10"/>
    <p:sldId id="286" r:id="rId11"/>
    <p:sldId id="287" r:id="rId12"/>
    <p:sldId id="288" r:id="rId13"/>
    <p:sldId id="295" r:id="rId14"/>
    <p:sldId id="296" r:id="rId15"/>
    <p:sldId id="280" r:id="rId16"/>
    <p:sldId id="298" r:id="rId17"/>
    <p:sldId id="278" r:id="rId18"/>
    <p:sldId id="282" r:id="rId19"/>
    <p:sldId id="290" r:id="rId20"/>
    <p:sldId id="289" r:id="rId21"/>
    <p:sldId id="291" r:id="rId22"/>
    <p:sldId id="293" r:id="rId23"/>
    <p:sldId id="294" r:id="rId24"/>
    <p:sldId id="281" r:id="rId25"/>
    <p:sldId id="279" r:id="rId26"/>
    <p:sldId id="271" r:id="rId27"/>
    <p:sldId id="270"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1"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64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954" autoAdjust="0"/>
  </p:normalViewPr>
  <p:slideViewPr>
    <p:cSldViewPr snapToGrid="0">
      <p:cViewPr varScale="1">
        <p:scale>
          <a:sx n="141" d="100"/>
          <a:sy n="141" d="100"/>
        </p:scale>
        <p:origin x="101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560CD-FFDE-70C6-6183-A453F3E9816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57E4E91-ED9F-DE16-BEB6-F07455961A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63A7F12-DA54-6672-271A-7F884E56D74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99943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9CCB3815-7DFC-A6C5-71E8-8AB1D82DBAA6}"/>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3B37F48D-295B-2D83-05B6-1233C2D28B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2FBE0671-4B25-6C0E-8C21-D4DA9FB193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2036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7F4CBF3-273E-21CD-D3A8-47811AA3393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74483B7-CFF9-872C-EB6C-A541EF6484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14E284D-2CB6-DFC8-BCC4-8B7481F2D24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208312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68DE748-3852-3A22-9BCC-576F20DA161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EAC264C-00C9-CCF2-1BA4-CCFADB6BA4F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BD492AD-31F9-33ED-44CA-F8A5291CB1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4538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1D763C6-467D-A464-A307-7B229B39CF5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327A722-6E7D-FDE0-3BA9-193246F83C2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6B1E107-D995-F608-90FF-47543472E5A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482752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31D5875-C0A4-E765-3DAF-426286C7B0C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DE47B5B-9382-AF08-0D7D-06F91D23DF1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7226BD4-FB6A-8BE6-17D9-83E2B12CAA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5755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DA1172D-55A2-93BD-B09F-335BCCE18EE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9F9F13A-C065-37CE-02A2-A1E841C90F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26ACBBC-03CD-5994-0BB9-4718714CB6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0148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7E77750-D885-B834-E27B-22DF02D41A5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F69026A-8921-24F6-AA18-C0E11459FC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996CE93-256A-C8EB-2D1B-606410E9AE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53188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283FFED-6D3D-C069-0C7C-039F527A5FC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DBCD2AC-6375-79F3-5647-1CF4B7727B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3E44E4C-67FC-DD93-165A-4D9CC22914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1092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7010307-D507-D32C-9158-BB6FECCCB1A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9E68AF3-90B8-E9D3-F3C3-8EEE2753FA1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If input is high the NPN is turned on, PNP will be off current flows from +9 to ground. NPN sources current (called push)</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If input is low the PNP is turned on, NPN will be off, current flows from ground to -9V, PNP sinks current (called pull)</a:t>
            </a:r>
            <a:endParaRPr dirty="0"/>
          </a:p>
        </p:txBody>
      </p:sp>
      <p:sp>
        <p:nvSpPr>
          <p:cNvPr id="116" name="Google Shape;116;p29:notes">
            <a:extLst>
              <a:ext uri="{FF2B5EF4-FFF2-40B4-BE49-F238E27FC236}">
                <a16:creationId xmlns:a16="http://schemas.microsoft.com/office/drawing/2014/main" id="{2FC1B687-BC89-44AC-F0EB-4704719487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3602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52B91C-5BE3-0ECE-EF12-7D485644DA0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9C0C40D-3620-6F3D-B005-6FE0AF7D65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0F152BB-6D4F-0892-2BBE-EC0AB78BAA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471861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C72C5C3-A00E-0ABB-4C73-5ED76C1C6D2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18E7C9E-1577-5C35-44EB-B2CE8BCC0F8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79410AC-6BCC-B628-C0D6-E78CC17D63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13575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DBDFA01-5411-02E4-12B2-1D7839821B0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2B2E145-7E08-A11D-8E13-003296269FC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752E0EB-F1F2-60D6-7CE1-B520F9F9E3B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4910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F2D7433-2631-176E-469D-E8A694C72043}"/>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919071AD-BF55-C97A-9DF5-892241FC1F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C4193DAC-1E4D-99B5-69AD-D8A94A0762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1482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ABD9CA1-3CC6-ADA4-A84F-116D9FEA212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71843A3-2F13-E62E-0AA2-C0368371D9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9993DDC-59E8-33DA-418F-0919F1DC35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1017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58AAF12-34E0-088E-0454-EBA87B2B3D4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E84DFB4-C905-825D-852D-09E32C97236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B133C7C-D57A-17A7-D319-06A8A7799A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14198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25ED896-0A2C-8924-68AC-4D97268ABE8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E1FE0E7-16D9-5B02-D6F7-A6EC4B7B2D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3062A87-4868-9BA0-4F80-79FAF5928A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759264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2A5A8A-5D90-8DDA-4602-15D919A5864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06BE18A-C9A4-FFD5-ACA3-813DE211CF6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If a student wants to help me create the animation. I would love your help!!! It takes a lot of time to make these things work!</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Group mux = G</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There are 8 groups, 0, </a:t>
            </a:r>
            <a:endParaRPr dirty="0"/>
          </a:p>
        </p:txBody>
      </p:sp>
      <p:sp>
        <p:nvSpPr>
          <p:cNvPr id="116" name="Google Shape;116;p29:notes">
            <a:extLst>
              <a:ext uri="{FF2B5EF4-FFF2-40B4-BE49-F238E27FC236}">
                <a16:creationId xmlns:a16="http://schemas.microsoft.com/office/drawing/2014/main" id="{CDC7A90E-1B41-3A3B-196C-7864EF4449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274235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8817004-DB61-291E-9156-8E366EC4746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46E4D03-0EDF-F558-0856-EACDC4FE19F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19792F3-2790-137B-2CB8-EBFFD6A096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52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07281BB-C230-ED35-5517-9DE20E3484E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064908A-C9B1-D97D-DA5E-E9DA45F2A2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F319536-887A-BA88-D107-0BD78A8910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8712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19FBE0C-0A4E-F80E-C616-184AAE5D4427}"/>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C5F92267-93E1-4B64-3F7D-975D39AAE6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8137630F-7D2C-1D7C-CC54-8C49DFCF651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04842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21BDD76-4F64-5428-A9F3-585691DF356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87E1EDB-2E34-BD6E-2559-5A2EDC52CDD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D84C390-9FCE-300A-71A5-DB32EEE83F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82506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Labs/Lab1.pdf"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marius-juston.github.io/SE-423---Class-Material/Homeworks/LabVIEW1.pdf" TargetMode="External"/><Relationship Id="rId4" Type="http://schemas.openxmlformats.org/officeDocument/2006/relationships/hyperlink" Target="https://marius-juston.github.io/SE-423---Class-Material/Homeworks/HW1.pdf"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ideo" Target="https://www.youtube.com/embed/606DHE81HZ4?feature=oembed" TargetMode="External"/><Relationship Id="rId6" Type="http://schemas.openxmlformats.org/officeDocument/2006/relationships/hyperlink" Target="https://youtu.be/606DHE81HZ4?si=4FCUMsPSI-xp2QcO" TargetMode="External"/><Relationship Id="rId5" Type="http://schemas.openxmlformats.org/officeDocument/2006/relationships/image" Target="../media/image9.jpe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en.wikipedia.org/wiki/Pull-up_resistor" TargetMode="External"/><Relationship Id="rId5" Type="http://schemas.openxmlformats.org/officeDocument/2006/relationships/image" Target="../media/image11.sv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S7jrirsfkNw"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en.wikipedia.org/wiki/Push%E2%80%93pull_output" TargetMode="External"/><Relationship Id="rId5" Type="http://schemas.openxmlformats.org/officeDocument/2006/relationships/image" Target="../media/image12.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hyperlink" Target="https://en.wikipedia.org/wiki/Push%E2%80%93pull_output" TargetMode="Externa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en.wikipedia.org/wiki/Pull-up_resistor" TargetMode="External"/><Relationship Id="rId5" Type="http://schemas.openxmlformats.org/officeDocument/2006/relationships/image" Target="../media/image11.sv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hyperlink" Target="https://coecsl.ece.illinois.edu/se423/Lab_PinMuxTableF28379DLaunchPadSE423Robot.pdf"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en.wikipedia.org/wiki/Multiplexer" TargetMode="External"/><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3: GPIO</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Wednesday, January 28</a:t>
            </a:r>
            <a:r>
              <a:rPr lang="en-US" sz="1800" b="0" i="0" u="none" strike="noStrike" cap="none" baseline="30000">
                <a:solidFill>
                  <a:schemeClr val="lt1"/>
                </a:solidFill>
                <a:latin typeface="Atkinson Hyperlegible Next"/>
                <a:ea typeface="Arial"/>
                <a:cs typeface="Arial"/>
                <a:sym typeface="Arial"/>
              </a:rPr>
              <a:t>th</a:t>
            </a:r>
            <a:r>
              <a:rPr lang="en-US" sz="1800" b="0" i="0" u="none" strike="noStrike" cap="none">
                <a:solidFill>
                  <a:schemeClr val="lt1"/>
                </a:solidFill>
                <a:latin typeface="Atkinson Hyperlegible Next"/>
                <a:ea typeface="Arial"/>
                <a:cs typeface="Arial"/>
                <a:sym typeface="Arial"/>
              </a:rPr>
              <a:t>, </a:t>
            </a:r>
            <a:r>
              <a:rPr lang="en-US" sz="1800" b="0" i="0" u="none" strike="noStrike" cap="none" dirty="0">
                <a:solidFill>
                  <a:schemeClr val="lt1"/>
                </a:solidFill>
                <a:latin typeface="Atkinson Hyperlegible Next"/>
                <a:ea typeface="Arial"/>
                <a:cs typeface="Arial"/>
                <a:sym typeface="Arial"/>
              </a:rPr>
              <a:t>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81D3E48-EB5B-86EE-C4D9-54116487B2D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BCC2F8C-3A4A-AD98-3682-D9499379E41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a:t>
            </a:r>
            <a:r>
              <a:rPr lang="en-US" sz="1800" dirty="0">
                <a:latin typeface="Atkinson Hyperlegible Next"/>
                <a:ea typeface="Arial"/>
                <a:cs typeface="Arial"/>
                <a:sym typeface="Arial"/>
                <a:hlinkClick r:id="rId3"/>
              </a:rPr>
              <a:t>Lab 1</a:t>
            </a:r>
            <a:r>
              <a:rPr lang="en-US" sz="1800" dirty="0">
                <a:latin typeface="Atkinson Hyperlegible Next"/>
                <a:ea typeface="Arial"/>
                <a:cs typeface="Arial"/>
                <a:sym typeface="Arial"/>
              </a:rPr>
              <a:t> this week, will be using C so be sure to be prepared! ( don’t forget to turn in commented code)!</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 (Next week):</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4"/>
              </a:rPr>
              <a:t>homework 1</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3, 5PM</a:t>
            </a:r>
            <a:endParaRPr lang="en-US" sz="1400" b="1"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homework 1 are due </a:t>
            </a:r>
            <a:r>
              <a:rPr lang="en-US" sz="1800" b="1" dirty="0">
                <a:latin typeface="Atkinson Hyperlegible Next"/>
                <a:ea typeface="Arial"/>
                <a:cs typeface="Arial"/>
                <a:sym typeface="Arial"/>
              </a:rPr>
              <a:t>February 4, 9AM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LabVIEW (Next week):</a:t>
            </a:r>
          </a:p>
          <a:p>
            <a:pPr marL="285750" indent="-285750">
              <a:lnSpc>
                <a:spcPct val="100000"/>
              </a:lnSpc>
              <a:spcBef>
                <a:spcPts val="0"/>
              </a:spcBef>
              <a:buSzPts val="3000"/>
            </a:pPr>
            <a:r>
              <a:rPr lang="en-US" sz="1800" dirty="0">
                <a:latin typeface="Atkinson Hyperlegible Next"/>
                <a:ea typeface="Arial"/>
                <a:cs typeface="Arial"/>
                <a:sym typeface="Arial"/>
              </a:rPr>
              <a:t>All check-offs for </a:t>
            </a:r>
            <a:r>
              <a:rPr lang="en-US" sz="1800" dirty="0">
                <a:latin typeface="Atkinson Hyperlegible Next"/>
                <a:ea typeface="Arial"/>
                <a:cs typeface="Arial"/>
                <a:sym typeface="Arial"/>
                <a:hlinkClick r:id="rId5"/>
              </a:rPr>
              <a:t>LabVIEW 1</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February 5, 5PM</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Small easy Quiz at the end of this lecture, like Monday, due at 11AM.</a:t>
            </a:r>
            <a:endParaRPr lang="en-US" sz="18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9848B8C-9075-59EA-79FA-AF5B8BFAF8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AE21486-AEEC-E367-96A5-81B49AD32D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8CCE647-4D9B-354D-A2E9-718CA28CD750}"/>
              </a:ext>
            </a:extLst>
          </p:cNvPr>
          <p:cNvPicPr preferRelativeResize="0"/>
          <p:nvPr/>
        </p:nvPicPr>
        <p:blipFill rotWithShape="1">
          <a:blip r:embed="rId6">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AC87A64-580A-4863-38B3-4D1504C83F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3649EAB-2DB3-2DA4-9AD9-5D94AEE695E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41F8E2C-2780-2776-E8ED-542B082247F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628D6E-10A9-03E9-659C-F8F2D0023C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BEB3CD3-0F72-FD08-8FA5-00AD37965F2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95841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1A6AFDCE-64E1-A654-DDEC-6DAC090EBC37}"/>
            </a:ext>
          </a:extLst>
        </p:cNvPr>
        <p:cNvGrpSpPr/>
        <p:nvPr/>
      </p:nvGrpSpPr>
      <p:grpSpPr>
        <a:xfrm>
          <a:off x="0" y="0"/>
          <a:ext cx="0" cy="0"/>
          <a:chOff x="0" y="0"/>
          <a:chExt cx="0" cy="0"/>
        </a:xfrm>
      </p:grpSpPr>
      <p:sp>
        <p:nvSpPr>
          <p:cNvPr id="89" name="Google Shape;89;p27">
            <a:extLst>
              <a:ext uri="{FF2B5EF4-FFF2-40B4-BE49-F238E27FC236}">
                <a16:creationId xmlns:a16="http://schemas.microsoft.com/office/drawing/2014/main" id="{DD60DF3B-F1D7-F1CF-F808-A9F3705D5690}"/>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grpSp>
        <p:nvGrpSpPr>
          <p:cNvPr id="91" name="Google Shape;91;p27">
            <a:extLst>
              <a:ext uri="{FF2B5EF4-FFF2-40B4-BE49-F238E27FC236}">
                <a16:creationId xmlns:a16="http://schemas.microsoft.com/office/drawing/2014/main" id="{0FB85B69-E50F-9C1E-1C71-76085377C22B}"/>
              </a:ext>
            </a:extLst>
          </p:cNvPr>
          <p:cNvGrpSpPr/>
          <p:nvPr/>
        </p:nvGrpSpPr>
        <p:grpSpPr>
          <a:xfrm>
            <a:off x="3943790" y="2676939"/>
            <a:ext cx="3861740" cy="322845"/>
            <a:chOff x="3943790" y="2676939"/>
            <a:chExt cx="3861740" cy="322845"/>
          </a:xfrm>
        </p:grpSpPr>
        <p:cxnSp>
          <p:nvCxnSpPr>
            <p:cNvPr id="92" name="Google Shape;92;p27">
              <a:extLst>
                <a:ext uri="{FF2B5EF4-FFF2-40B4-BE49-F238E27FC236}">
                  <a16:creationId xmlns:a16="http://schemas.microsoft.com/office/drawing/2014/main" id="{855F5239-4555-A1DE-D139-01906351DA30}"/>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C13CF1BE-6E26-DBA6-9221-469935C5921D}"/>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4B5BF8B4-939B-0026-2C48-AE2D5E52B348}"/>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7BC0B8A-C54E-F70D-812D-AC53502387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512D471E-CBCB-6C3B-BEA2-B3BDD45026C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05D56552-D441-BC25-BBF1-AAB3A478D320}"/>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2E6A6FC8-9609-883D-87BD-351A55BD02F2}"/>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D6E037D-0D10-135D-83C1-1C8C4316A7D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
        <p:nvSpPr>
          <p:cNvPr id="2" name="Google Shape;90;p27">
            <a:extLst>
              <a:ext uri="{FF2B5EF4-FFF2-40B4-BE49-F238E27FC236}">
                <a16:creationId xmlns:a16="http://schemas.microsoft.com/office/drawing/2014/main" id="{2877B48C-45B2-E7C7-C2D4-AB891B65D97F}"/>
              </a:ext>
            </a:extLst>
          </p:cNvPr>
          <p:cNvSpPr txBox="1"/>
          <p:nvPr/>
        </p:nvSpPr>
        <p:spPr>
          <a:xfrm>
            <a:off x="1079125" y="3581018"/>
            <a:ext cx="10033748"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 quiz questions?</a:t>
            </a:r>
          </a:p>
          <a:p>
            <a:pPr marL="0" marR="0" lvl="0" indent="0" algn="ctr" rtl="0">
              <a:lnSpc>
                <a:spcPct val="100000"/>
              </a:lnSpc>
              <a:spcBef>
                <a:spcPts val="0"/>
              </a:spcBef>
              <a:spcAft>
                <a:spcPts val="0"/>
              </a:spcAft>
              <a:buClr>
                <a:srgbClr val="000000"/>
              </a:buClr>
              <a:buSzPts val="2800"/>
              <a:buFont typeface="Arial"/>
              <a:buNone/>
            </a:pPr>
            <a:r>
              <a:rPr lang="en-US" sz="2800" dirty="0">
                <a:solidFill>
                  <a:schemeClr val="lt1"/>
                </a:solidFill>
              </a:rPr>
              <a:t>( I sent an update for the reason for the 2 counters question )</a:t>
            </a:r>
            <a:endParaRPr lang="en-US" sz="2800" b="0" i="0" u="none" strike="noStrike" cap="none" dirty="0">
              <a:solidFill>
                <a:schemeClr val="lt1"/>
              </a:solidFill>
              <a:latin typeface="Atkinson Hyperlegible Next"/>
              <a:ea typeface="Arial"/>
              <a:cs typeface="Arial"/>
              <a:sym typeface="Arial"/>
            </a:endParaRPr>
          </a:p>
        </p:txBody>
      </p:sp>
    </p:spTree>
    <p:extLst>
      <p:ext uri="{BB962C8B-B14F-4D97-AF65-F5344CB8AC3E}">
        <p14:creationId xmlns:p14="http://schemas.microsoft.com/office/powerpoint/2010/main" val="2046161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Digital Inputs / Outputs</a:t>
            </a:r>
            <a:endParaRPr i="0" b="0" sz="1400" dirty="0">
              <a:solidFill>
                <a:srgbClr val="000000"/>
              </a:solidFil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9"/>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chemeClr val="dk1"/>
                </a:solidFill>
                <a:latin typeface="+mj-lt"/>
                <a:ea typeface="Arial"/>
                <a:cs typeface="Arial"/>
                <a:sym typeface="Arial"/>
              </a:rPr>
              <a:t>What does it mean for something to be “digital”?</a:t>
            </a:r>
          </a:p>
          <a:p>
            <a:pPr marL="0" lvl="0" indent="0" algn="l" rtl="0">
              <a:lnSpc>
                <a:spcPct val="100000"/>
              </a:lnSpc>
              <a:spcBef>
                <a:spcPts val="0"/>
              </a:spcBef>
              <a:spcAft>
                <a:spcPts val="0"/>
              </a:spcAft>
              <a:buSzPts val="3000"/>
              <a:buNone/>
            </a:pPr>
            <a:endParaRPr lang="en-US" sz="1800" b="1" dirty="0">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It is the control of your system / sensor using binary (0 or 1) signals.</a:t>
            </a:r>
          </a:p>
          <a:p>
            <a:pPr marL="0" lvl="0" indent="0" algn="l" rtl="0">
              <a:lnSpc>
                <a:spcPct val="100000"/>
              </a:lnSpc>
              <a:spcBef>
                <a:spcPts val="0"/>
              </a:spcBef>
              <a:spcAft>
                <a:spcPts val="0"/>
              </a:spcAft>
              <a:buSzPts val="3000"/>
              <a:buNone/>
            </a:pPr>
            <a:endParaRPr lang="en-US" sz="1800" b="1" dirty="0">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latin typeface="+mj-lt"/>
                <a:ea typeface="Arial"/>
                <a:cs typeface="Arial"/>
                <a:sym typeface="Arial"/>
              </a:rPr>
              <a:t>Digital I/O is the lowest level electrical interface between software and hardware.</a:t>
            </a:r>
          </a:p>
          <a:p>
            <a:pPr marL="0" lvl="0" indent="0" algn="l" rtl="0">
              <a:lnSpc>
                <a:spcPct val="100000"/>
              </a:lnSpc>
              <a:spcBef>
                <a:spcPts val="0"/>
              </a:spcBef>
              <a:spcAft>
                <a:spcPts val="0"/>
              </a:spcAft>
              <a:buSzPts val="3000"/>
              <a:buNone/>
            </a:pPr>
            <a:endParaRPr lang="en-US" sz="1800" dirty="0">
              <a:solidFill>
                <a:schemeClr val="dk1"/>
              </a:solidFill>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latin typeface="+mj-lt"/>
                <a:ea typeface="Arial"/>
                <a:cs typeface="Arial"/>
                <a:sym typeface="Arial"/>
              </a:rPr>
              <a:t>Almost every mechatronic system constrains at least one digital input / output.</a:t>
            </a:r>
          </a:p>
          <a:p>
            <a:pPr marL="0" lvl="0" indent="0" algn="l" rtl="0">
              <a:lnSpc>
                <a:spcPct val="100000"/>
              </a:lnSpc>
              <a:spcBef>
                <a:spcPts val="0"/>
              </a:spcBef>
              <a:spcAft>
                <a:spcPts val="0"/>
              </a:spcAft>
              <a:buSzPts val="3000"/>
              <a:buNone/>
            </a:pPr>
            <a:endParaRPr lang="en-US" sz="1800" dirty="0">
              <a:solidFill>
                <a:schemeClr val="dk1"/>
              </a:solidFill>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latin typeface="+mj-lt"/>
                <a:ea typeface="Arial"/>
                <a:cs typeface="Arial"/>
                <a:sym typeface="Arial"/>
              </a:rPr>
              <a:t>Sensors often reduce complex physical phenomena to binary decisions ( limit reached / not reached, turned on or off )</a:t>
            </a:r>
          </a:p>
          <a:p>
            <a:pPr marL="0" lvl="0" indent="0" algn="l" rtl="0">
              <a:lnSpc>
                <a:spcPct val="100000"/>
              </a:lnSpc>
              <a:spcBef>
                <a:spcPts val="0"/>
              </a:spcBef>
              <a:spcAft>
                <a:spcPts val="0"/>
              </a:spcAft>
              <a:buSzPts val="3000"/>
              <a:buNone/>
            </a:pPr>
            <a:endParaRPr lang="en-US" sz="1800" dirty="0">
              <a:solidFill>
                <a:schemeClr val="dk1"/>
              </a:solidFill>
              <a:latin typeface="+mj-lt"/>
              <a:ea typeface="Arial"/>
              <a:cs typeface="Arial"/>
              <a:sym typeface="Arial"/>
            </a:endParaRPr>
          </a:p>
          <a:p>
            <a:pPr marL="0" indent="0">
              <a:lnSpc>
                <a:spcPct val="100000"/>
              </a:lnSpc>
              <a:spcBef>
                <a:spcPts val="0"/>
              </a:spcBef>
              <a:buSzPts val="3000"/>
              <a:buNone/>
            </a:pPr>
            <a:r>
              <a:rPr lang="en-US" sz="1800" dirty="0">
                <a:latin typeface="+mj-lt"/>
              </a:rPr>
              <a:t>Digital signals are inherently discrete</a:t>
            </a:r>
            <a:endParaRPr lang="en-US" sz="1800" dirty="0">
              <a:latin typeface="+mj-lt"/>
              <a:cs typeface="Arial"/>
              <a:sym typeface="Arial"/>
            </a:endParaRP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r>
              <a:rPr lang="en-US" sz="1800" dirty="0">
                <a:latin typeface="+mj-lt"/>
              </a:rPr>
              <a:t>Digital I/O provides deterministic, low-latency interaction with the environment</a:t>
            </a:r>
          </a:p>
        </p:txBody>
      </p:sp>
      <p:sp>
        <p:nvSpPr>
          <p:cNvPr id="119" name="Google Shape;119;p29"/>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Inputs / Outputs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p:cNvGrpSpPr/>
          <p:nvPr/>
        </p:nvGrpSpPr>
        <p:grpSpPr>
          <a:xfrm>
            <a:off x="4066674" y="6601537"/>
            <a:ext cx="5233412" cy="70446"/>
            <a:chOff x="4033424" y="6601537"/>
            <a:chExt cx="5233412" cy="70446"/>
          </a:xfrm>
        </p:grpSpPr>
        <p:cxnSp>
          <p:nvCxnSpPr>
            <p:cNvPr id="125" name="Google Shape;125;p29"/>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1B39E5B-B095-A7A2-4054-F976ED89070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85700D9-F968-351C-1ABA-A528F870487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A digital output drives a pin to a logic level:</a:t>
            </a:r>
          </a:p>
          <a:p>
            <a:pPr marL="285750" indent="-285750">
              <a:lnSpc>
                <a:spcPct val="100000"/>
              </a:lnSpc>
              <a:spcBef>
                <a:spcPts val="0"/>
              </a:spcBef>
              <a:buSzPts val="3000"/>
            </a:pPr>
            <a:r>
              <a:rPr lang="en-US" sz="1800" dirty="0">
                <a:latin typeface="+mj-lt"/>
                <a:ea typeface="Arial"/>
                <a:cs typeface="Arial"/>
                <a:sym typeface="Arial"/>
              </a:rPr>
              <a:t>Logic 0 (LOW)  → ≈0 V</a:t>
            </a:r>
          </a:p>
          <a:p>
            <a:pPr marL="285750" indent="-285750">
              <a:lnSpc>
                <a:spcPct val="100000"/>
              </a:lnSpc>
              <a:spcBef>
                <a:spcPts val="0"/>
              </a:spcBef>
              <a:buSzPts val="3000"/>
            </a:pPr>
            <a:r>
              <a:rPr lang="en-US" sz="1800" dirty="0">
                <a:latin typeface="+mj-lt"/>
                <a:ea typeface="Arial"/>
                <a:cs typeface="Arial"/>
                <a:sym typeface="Arial"/>
              </a:rPr>
              <a:t>Logic 1 (HIGH) → ≈3.3 V / 5 V</a:t>
            </a:r>
          </a:p>
          <a:p>
            <a:pPr marL="0" indent="0">
              <a:lnSpc>
                <a:spcPct val="100000"/>
              </a:lnSpc>
              <a:spcBef>
                <a:spcPts val="0"/>
              </a:spcBef>
              <a:buSzPts val="3000"/>
              <a:buNone/>
            </a:pPr>
            <a:endParaRPr lang="en-US" sz="1800" dirty="0">
              <a:latin typeface="+mj-lt"/>
              <a:ea typeface="Arial"/>
              <a:cs typeface="Arial"/>
              <a:sym typeface="Arial"/>
            </a:endParaRPr>
          </a:p>
          <a:p>
            <a:pPr marL="0" indent="0">
              <a:lnSpc>
                <a:spcPct val="100000"/>
              </a:lnSpc>
              <a:spcBef>
                <a:spcPts val="0"/>
              </a:spcBef>
              <a:buSzPts val="3000"/>
              <a:buNone/>
            </a:pPr>
            <a:r>
              <a:rPr lang="en-US" sz="1800" dirty="0">
                <a:latin typeface="+mj-lt"/>
              </a:rPr>
              <a:t>Logic levels are represented by voltage ranges, not exact values</a:t>
            </a:r>
            <a:endParaRPr lang="en-US" sz="1800" dirty="0">
              <a:latin typeface="+mj-lt"/>
              <a:ea typeface="Arial"/>
              <a:cs typeface="Arial"/>
              <a:sym typeface="Arial"/>
            </a:endParaRPr>
          </a:p>
          <a:p>
            <a:pPr marL="285750" indent="-285750">
              <a:lnSpc>
                <a:spcPct val="100000"/>
              </a:lnSpc>
              <a:spcBef>
                <a:spcPts val="0"/>
              </a:spcBef>
              <a:buSzPts val="3000"/>
            </a:pPr>
            <a:endParaRPr lang="en-US" sz="1800" dirty="0">
              <a:latin typeface="+mj-lt"/>
              <a:ea typeface="Arial"/>
              <a:cs typeface="Arial"/>
              <a:sym typeface="Arial"/>
            </a:endParaRPr>
          </a:p>
          <a:p>
            <a:pPr marL="0" indent="0">
              <a:lnSpc>
                <a:spcPct val="100000"/>
              </a:lnSpc>
              <a:spcBef>
                <a:spcPts val="0"/>
              </a:spcBef>
              <a:buSzPts val="3000"/>
              <a:buNone/>
            </a:pPr>
            <a:r>
              <a:rPr lang="en-US" sz="1800" dirty="0">
                <a:latin typeface="+mj-lt"/>
                <a:ea typeface="Arial"/>
                <a:cs typeface="Arial"/>
                <a:sym typeface="Arial"/>
              </a:rPr>
              <a:t>Internally controlled by a latch / register</a:t>
            </a:r>
          </a:p>
          <a:p>
            <a:pPr marL="0" indent="0">
              <a:lnSpc>
                <a:spcPct val="100000"/>
              </a:lnSpc>
              <a:spcBef>
                <a:spcPts val="0"/>
              </a:spcBef>
              <a:buSzPts val="3000"/>
              <a:buNone/>
            </a:pPr>
            <a:r>
              <a:rPr lang="en-US" sz="1800" dirty="0">
                <a:latin typeface="+mj-lt"/>
                <a:ea typeface="Arial"/>
                <a:cs typeface="Arial"/>
                <a:sym typeface="Arial"/>
              </a:rPr>
              <a:t>Can source or sink limited current (GPIO should not be used to drive power)</a:t>
            </a:r>
          </a:p>
          <a:p>
            <a:pPr marL="0" indent="0">
              <a:lnSpc>
                <a:spcPct val="100000"/>
              </a:lnSpc>
              <a:spcBef>
                <a:spcPts val="0"/>
              </a:spcBef>
              <a:buSzPts val="3000"/>
              <a:buNone/>
            </a:pPr>
            <a:endParaRPr lang="en-US" sz="1800" dirty="0">
              <a:latin typeface="+mj-lt"/>
              <a:ea typeface="Arial"/>
              <a:cs typeface="Arial"/>
              <a:sym typeface="Arial"/>
            </a:endParaRPr>
          </a:p>
          <a:p>
            <a:pPr marL="0" indent="0">
              <a:lnSpc>
                <a:spcPct val="100000"/>
              </a:lnSpc>
              <a:spcBef>
                <a:spcPts val="0"/>
              </a:spcBef>
              <a:buSzPts val="3000"/>
              <a:buNone/>
            </a:pPr>
            <a:r>
              <a:rPr lang="en-US" sz="1800" dirty="0">
                <a:latin typeface="+mj-lt"/>
              </a:rPr>
              <a:t>Digital outputs are not power supplies and must not directly drive loads. The GPIO have a total maximum of current it can supply, shared throughout all the pins. </a:t>
            </a:r>
          </a:p>
          <a:p>
            <a:pPr marL="0" indent="0">
              <a:lnSpc>
                <a:spcPct val="100000"/>
              </a:lnSpc>
              <a:spcBef>
                <a:spcPts val="0"/>
              </a:spcBef>
              <a:buSzPts val="3000"/>
              <a:buNone/>
            </a:pPr>
            <a:endParaRPr lang="en-US" sz="1800" dirty="0">
              <a:latin typeface="+mj-lt"/>
              <a:ea typeface="Arial"/>
              <a:cs typeface="Arial"/>
              <a:sym typeface="Arial"/>
            </a:endParaRPr>
          </a:p>
          <a:p>
            <a:pPr marL="0" indent="0">
              <a:lnSpc>
                <a:spcPct val="100000"/>
              </a:lnSpc>
              <a:spcBef>
                <a:spcPts val="0"/>
              </a:spcBef>
              <a:buSzPts val="3000"/>
              <a:buNone/>
            </a:pPr>
            <a:r>
              <a:rPr lang="en-US" sz="1800" dirty="0">
                <a:latin typeface="+mj-lt"/>
                <a:ea typeface="Arial"/>
                <a:cs typeface="Arial"/>
                <a:sym typeface="Arial"/>
              </a:rPr>
              <a:t>If you power too many devices using GPIO, you might run out of power!</a:t>
            </a:r>
          </a:p>
          <a:p>
            <a:pPr marL="0" indent="0">
              <a:lnSpc>
                <a:spcPct val="100000"/>
              </a:lnSpc>
              <a:spcBef>
                <a:spcPts val="0"/>
              </a:spcBef>
              <a:buSzPts val="3000"/>
              <a:buNone/>
            </a:pPr>
            <a:endParaRPr lang="en-US" sz="1800" dirty="0">
              <a:latin typeface="+mj-lt"/>
              <a:ea typeface="Arial"/>
              <a:cs typeface="Arial"/>
              <a:sym typeface="Arial"/>
            </a:endParaRPr>
          </a:p>
          <a:p>
            <a:pPr marL="0" indent="0">
              <a:lnSpc>
                <a:spcPct val="100000"/>
              </a:lnSpc>
              <a:spcBef>
                <a:spcPts val="0"/>
              </a:spcBef>
              <a:buSzPts val="3000"/>
              <a:buNone/>
            </a:pPr>
            <a:r>
              <a:rPr lang="en-US" sz="1800" dirty="0">
                <a:latin typeface="+mj-lt"/>
                <a:ea typeface="Arial"/>
                <a:cs typeface="Arial"/>
                <a:sym typeface="Arial"/>
              </a:rPr>
              <a:t>Examples:</a:t>
            </a:r>
          </a:p>
          <a:p>
            <a:pPr marL="285750" indent="-285750">
              <a:lnSpc>
                <a:spcPct val="100000"/>
              </a:lnSpc>
              <a:spcBef>
                <a:spcPts val="0"/>
              </a:spcBef>
              <a:buSzPts val="3000"/>
            </a:pPr>
            <a:r>
              <a:rPr lang="en-US" sz="1800" dirty="0">
                <a:latin typeface="+mj-lt"/>
                <a:ea typeface="Arial"/>
                <a:cs typeface="Arial"/>
                <a:sym typeface="Arial"/>
              </a:rPr>
              <a:t>Controlling LEDs</a:t>
            </a:r>
          </a:p>
        </p:txBody>
      </p:sp>
      <p:sp>
        <p:nvSpPr>
          <p:cNvPr id="119" name="Google Shape;119;p29">
            <a:extLst>
              <a:ext uri="{FF2B5EF4-FFF2-40B4-BE49-F238E27FC236}">
                <a16:creationId xmlns:a16="http://schemas.microsoft.com/office/drawing/2014/main" id="{ABD2CC7D-DF86-02A2-6AB6-8D45D3F5720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3392F7B-061C-1D92-71B7-F6101DD8796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Outputs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6E9D2AE-3B4C-EF4D-C337-E9D47C56FAD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24B8CE-6788-10F1-4747-50A92822A4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6B3FBB8-87AC-0E70-F6DB-5FCDAD4607C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6221402-7CB7-7662-8E18-40AD79556A1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14327E-E81A-AE6D-AC83-7E07165E028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D204DBD-32F4-4EA5-D978-CFAB3D858FC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21237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D57243D-F549-ADBF-D3A8-A99FA403504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9BF9AB4-98C2-C20B-CF25-C6B760DAB91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Digital output control consists of :</a:t>
            </a:r>
          </a:p>
          <a:p>
            <a:pPr>
              <a:buFont typeface="+mj-lt"/>
              <a:buAutoNum type="arabicPeriod"/>
            </a:pPr>
            <a:r>
              <a:rPr lang="en-US" sz="1800" dirty="0">
                <a:latin typeface="+mj-lt"/>
              </a:rPr>
              <a:t>Choosing the GPIO number</a:t>
            </a:r>
          </a:p>
          <a:p>
            <a:pPr>
              <a:buFont typeface="+mj-lt"/>
              <a:buAutoNum type="arabicPeriod"/>
            </a:pPr>
            <a:r>
              <a:rPr lang="en-US" sz="1800" dirty="0">
                <a:latin typeface="+mj-lt"/>
              </a:rPr>
              <a:t>Selecting the GPIO pin mux selection</a:t>
            </a:r>
          </a:p>
          <a:p>
            <a:pPr>
              <a:buFont typeface="+mj-lt"/>
              <a:buAutoNum type="arabicPeriod"/>
            </a:pPr>
            <a:r>
              <a:rPr lang="en-US" sz="1800" dirty="0">
                <a:latin typeface="+mj-lt"/>
              </a:rPr>
              <a:t>Setting direction = output</a:t>
            </a:r>
          </a:p>
          <a:p>
            <a:pPr marL="114300" indent="0" algn="l">
              <a:buNone/>
            </a:pPr>
            <a:endParaRPr lang="en-US" sz="1800" dirty="0">
              <a:solidFill>
                <a:srgbClr val="642880"/>
              </a:solidFill>
              <a:latin typeface="+mj-lt"/>
            </a:endParaRPr>
          </a:p>
          <a:p>
            <a:pPr marL="114300" indent="0" algn="l">
              <a:buNone/>
            </a:pPr>
            <a:r>
              <a:rPr lang="en-US" sz="1800" dirty="0" err="1">
                <a:solidFill>
                  <a:srgbClr val="642880"/>
                </a:solidFill>
                <a:latin typeface="Consolas" panose="020B0609020204030204" pitchFamily="49" charset="0"/>
              </a:rPr>
              <a:t>GPIO_SetupPinMux</a:t>
            </a:r>
            <a:r>
              <a:rPr lang="en-US" sz="1800" dirty="0">
                <a:solidFill>
                  <a:srgbClr val="000000"/>
                </a:solidFill>
                <a:latin typeface="Consolas" panose="020B0609020204030204" pitchFamily="49" charset="0"/>
              </a:rPr>
              <a:t>(34, GPIO_MUX_CPU1, 0);</a:t>
            </a:r>
          </a:p>
          <a:p>
            <a:pPr marL="114300" indent="0" algn="l">
              <a:buNone/>
            </a:pPr>
            <a:r>
              <a:rPr lang="en-US" sz="1800" dirty="0" err="1">
                <a:solidFill>
                  <a:srgbClr val="642880"/>
                </a:solidFill>
                <a:latin typeface="Consolas" panose="020B0609020204030204" pitchFamily="49" charset="0"/>
              </a:rPr>
              <a:t>GPIO_SetupPinOptions</a:t>
            </a:r>
            <a:r>
              <a:rPr lang="en-US" sz="1800" dirty="0">
                <a:solidFill>
                  <a:srgbClr val="000000"/>
                </a:solidFill>
                <a:latin typeface="Consolas" panose="020B0609020204030204" pitchFamily="49" charset="0"/>
              </a:rPr>
              <a:t>(34, GPIO_OUTPUT, GPIO_PUSHPULL);</a:t>
            </a:r>
          </a:p>
          <a:p>
            <a:pPr marL="114300" indent="0" algn="l">
              <a:buNone/>
            </a:pPr>
            <a:endParaRPr lang="en-US" sz="1800" dirty="0">
              <a:solidFill>
                <a:srgbClr val="000000"/>
              </a:solidFill>
              <a:latin typeface="Consolas" panose="020B0609020204030204" pitchFamily="49" charset="0"/>
              <a:ea typeface="Arial"/>
              <a:cs typeface="Arial"/>
              <a:sym typeface="Arial"/>
            </a:endParaRPr>
          </a:p>
          <a:p>
            <a:pPr marL="114300" indent="0" algn="l">
              <a:buNone/>
            </a:pPr>
            <a:r>
              <a:rPr lang="en-US" sz="1800" dirty="0">
                <a:latin typeface="+mj-lt"/>
                <a:ea typeface="Arial"/>
                <a:cs typeface="Arial"/>
                <a:sym typeface="Arial"/>
              </a:rPr>
              <a:t>You never write voltage, you write </a:t>
            </a:r>
            <a:r>
              <a:rPr lang="en-US" sz="1800" b="1" dirty="0">
                <a:latin typeface="+mj-lt"/>
                <a:ea typeface="Arial"/>
                <a:cs typeface="Arial"/>
                <a:sym typeface="Arial"/>
              </a:rPr>
              <a:t>bits in registers</a:t>
            </a:r>
          </a:p>
        </p:txBody>
      </p:sp>
      <p:sp>
        <p:nvSpPr>
          <p:cNvPr id="119" name="Google Shape;119;p29">
            <a:extLst>
              <a:ext uri="{FF2B5EF4-FFF2-40B4-BE49-F238E27FC236}">
                <a16:creationId xmlns:a16="http://schemas.microsoft.com/office/drawing/2014/main" id="{30CAAB3D-2E17-19E3-7E06-A2A814D07B7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7961F2B-5780-6575-3749-810EDEF22DD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Outputs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B464D6A-9830-059A-1CCA-56112EE2B8F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1B96A16-B6D3-8F37-5E7A-B7DFB0D9008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070B71D-88A2-5672-E409-3BC3B8F275D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4547682-5E3D-B153-B3FB-9A60889501D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6C18CB3-6294-272A-7FD6-983C0108515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8C25023-E2E2-6513-323F-50BE4AA3424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cxnSp>
        <p:nvCxnSpPr>
          <p:cNvPr id="3" name="Straight Arrow Connector 2">
            <a:extLst>
              <a:ext uri="{FF2B5EF4-FFF2-40B4-BE49-F238E27FC236}">
                <a16:creationId xmlns:a16="http://schemas.microsoft.com/office/drawing/2014/main" id="{BFD835BB-5FEF-4893-DF55-01553574E596}"/>
              </a:ext>
            </a:extLst>
          </p:cNvPr>
          <p:cNvCxnSpPr/>
          <p:nvPr/>
        </p:nvCxnSpPr>
        <p:spPr>
          <a:xfrm>
            <a:off x="3457574" y="2906630"/>
            <a:ext cx="533400" cy="8382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6970A2F5-9588-2F25-2D1D-9CAE0A6E0056}"/>
              </a:ext>
            </a:extLst>
          </p:cNvPr>
          <p:cNvCxnSpPr>
            <a:cxnSpLocks/>
          </p:cNvCxnSpPr>
          <p:nvPr/>
        </p:nvCxnSpPr>
        <p:spPr>
          <a:xfrm>
            <a:off x="4629150" y="2482224"/>
            <a:ext cx="476250" cy="87057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622FD6E9-90DC-A025-CB2A-DF2E69C7E627}"/>
              </a:ext>
            </a:extLst>
          </p:cNvPr>
          <p:cNvGrpSpPr/>
          <p:nvPr/>
        </p:nvGrpSpPr>
        <p:grpSpPr>
          <a:xfrm>
            <a:off x="2876550" y="2145600"/>
            <a:ext cx="476250" cy="1599230"/>
            <a:chOff x="2876550" y="2145600"/>
            <a:chExt cx="476250" cy="1599230"/>
          </a:xfrm>
        </p:grpSpPr>
        <p:cxnSp>
          <p:nvCxnSpPr>
            <p:cNvPr id="8" name="Straight Arrow Connector 7">
              <a:extLst>
                <a:ext uri="{FF2B5EF4-FFF2-40B4-BE49-F238E27FC236}">
                  <a16:creationId xmlns:a16="http://schemas.microsoft.com/office/drawing/2014/main" id="{C777ED50-FD36-F936-C215-7F1C49D43518}"/>
                </a:ext>
              </a:extLst>
            </p:cNvPr>
            <p:cNvCxnSpPr>
              <a:cxnSpLocks/>
            </p:cNvCxnSpPr>
            <p:nvPr/>
          </p:nvCxnSpPr>
          <p:spPr>
            <a:xfrm flipH="1">
              <a:off x="2876550" y="2145600"/>
              <a:ext cx="476250" cy="12072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83145C9A-F22E-3EDD-2ABF-C217661FAF7E}"/>
                </a:ext>
              </a:extLst>
            </p:cNvPr>
            <p:cNvCxnSpPr>
              <a:cxnSpLocks/>
            </p:cNvCxnSpPr>
            <p:nvPr/>
          </p:nvCxnSpPr>
          <p:spPr>
            <a:xfrm>
              <a:off x="3352800" y="2145600"/>
              <a:ext cx="0" cy="159923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37284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55D2A2E-082E-03E4-4855-84B82AF1FEB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74E2DB5-4EBC-46DB-EDF8-C3D10BC422D1}"/>
              </a:ext>
            </a:extLst>
          </p:cNvPr>
          <p:cNvSpPr/>
          <p:nvPr/>
        </p:nvSpPr>
        <p:spPr>
          <a:xfrm>
            <a:off x="2400300" y="6229350"/>
            <a:ext cx="7042150" cy="256620"/>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9" name="Google Shape;119;p29">
            <a:extLst>
              <a:ext uri="{FF2B5EF4-FFF2-40B4-BE49-F238E27FC236}">
                <a16:creationId xmlns:a16="http://schemas.microsoft.com/office/drawing/2014/main" id="{E5B6F741-17A9-0E7B-A6FB-C1D963B69E3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829AEC9-A699-615B-558E-9E41BF9DFCF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Outputs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835B385-881B-FC26-4FFD-03668638DB9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054C686-7EDA-3A1B-D8B2-3D8654FADB8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14DFEED-C81F-FEC3-97C0-6BF47652FC5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BA8E07-F06A-EA6B-D5FB-7FDEAD41F75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B6ECF98-6174-CC5B-5901-27F304BA3AC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CB86A8B-9A32-411E-25BF-96D672405D7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7" name="Graphic 6" descr="Table: GPIO mux selection for the F28379D LaunchPad, listing for each pin (GPIO0 through GPIO34 and beyond) its ME461 default use, LaunchPad header pin, and peripheral functions by mux index. Index 0, 4, 8 or 12 selects plain GPIO. Indices 1 to 3 set GPyGMUX to 00b and GPyMUX to 01b, 10b or 11b; indices 5 to 7 use GPyGMUX 01b; index 15 uses 11b and 11b. For example, GPIO0 at index 1 is EPWM1A on pin 40/J4.10. GPIO22 is LED1 on pin 8/J1.8, GPIO31 is the board blue LED, and GPIO34 is the board red LED.">
            <a:extLst>
              <a:ext uri="{FF2B5EF4-FFF2-40B4-BE49-F238E27FC236}">
                <a16:creationId xmlns:a16="http://schemas.microsoft.com/office/drawing/2014/main" id="{D88FE8AE-D2ED-E266-E374-A8E60E3A05C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524525" y="975147"/>
            <a:ext cx="6614596" cy="5519464"/>
          </a:xfrm>
          <a:prstGeom prst="rect">
            <a:avLst/>
          </a:prstGeom>
        </p:spPr>
      </p:pic>
    </p:spTree>
    <p:extLst>
      <p:ext uri="{BB962C8B-B14F-4D97-AF65-F5344CB8AC3E}">
        <p14:creationId xmlns:p14="http://schemas.microsoft.com/office/powerpoint/2010/main" val="3564403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14E8EE6-0038-1418-13F1-12417E07DF4F}"/>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61A4CA2-A9F9-5598-09B5-D3C5963C3C9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022F7F3-70EB-761B-F816-7B2544C0E1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Controlling an LED</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A249E9B-FBB1-AA50-9FF9-4A3E043FC6B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45D7D80-37A9-CA3F-9F6E-F6822E9A9E6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52594CA-A07F-7DD2-D1A9-3345EE9D00E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1D884F4-D591-96BF-FBDB-417AB799222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EFF7A7D-C121-EEC3-5B40-03D6FECBE27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9318CDF-EF6E-9326-3DB5-DDEAB0804AF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Online Media 3" title="GPIO Led Control Animation" descr="YouTube video: GPIO Led Control Animation (Marius Juston)">
            <a:hlinkClick r:id="" action="ppaction://media"/>
            <a:extLst>
              <a:ext uri="{FF2B5EF4-FFF2-40B4-BE49-F238E27FC236}">
                <a16:creationId xmlns:a16="http://schemas.microsoft.com/office/drawing/2014/main" id="{E92A1532-2B30-59C0-EEE0-EA0927948F96}"/>
              </a:ext>
            </a:extLst>
          </p:cNvPr>
          <p:cNvPicPr>
            <a:picLocks noRot="1" noChangeAspect="1"/>
          </p:cNvPicPr>
          <p:nvPr>
            <a:videoFile r:link="rId1"/>
          </p:nvPr>
        </p:nvPicPr>
        <p:blipFill>
          <a:blip r:embed="rId5"/>
          <a:stretch>
            <a:fillRect/>
          </a:stretch>
        </p:blipFill>
        <p:spPr>
          <a:xfrm>
            <a:off x="1381988" y="1072145"/>
            <a:ext cx="9428024" cy="5326846"/>
          </a:xfrm>
          <a:prstGeom prst="rect">
            <a:avLst/>
          </a:prstGeom>
        </p:spPr>
      </p:pic>
      <p:sp>
        <p:nvSpPr>
          <p:cNvPr id="2" name="TextBox 1">
            <a:extLst>
              <a:ext uri="{FF2B5EF4-FFF2-40B4-BE49-F238E27FC236}">
                <a16:creationId xmlns:a16="http://schemas.microsoft.com/office/drawing/2014/main" id="{3EDEE608-C306-916C-5818-F9684434C359}"/>
              </a:ext>
            </a:extLst>
          </p:cNvPr>
          <p:cNvSpPr txBox="1"/>
          <p:nvPr/>
        </p:nvSpPr>
        <p:spPr>
          <a:xfrm>
            <a:off x="3962383" y="6375150"/>
            <a:ext cx="3738880" cy="261610"/>
          </a:xfrm>
          <a:prstGeom prst="rect">
            <a:avLst/>
          </a:prstGeom>
          <a:noFill/>
        </p:spPr>
        <p:txBody>
          <a:bodyPr wrap="square" rtlCol="0">
            <a:spAutoFit/>
          </a:bodyPr>
          <a:lstStyle/>
          <a:p>
            <a:pPr algn="ctr"/>
            <a:r>
              <a:rPr lang="en-US" sz="1100" dirty="0">
                <a:hlinkClick r:id="rId6"/>
              </a:rPr>
              <a:t>https://youtu.be/606DHE81HZ4?si=4FCUMsPSI-xp2QcO</a:t>
            </a:r>
            <a:r>
              <a:rPr lang="en-US" sz="1100" dirty="0"/>
              <a:t> </a:t>
            </a:r>
          </a:p>
        </p:txBody>
      </p:sp>
    </p:spTree>
    <p:extLst>
      <p:ext uri="{BB962C8B-B14F-4D97-AF65-F5344CB8AC3E}">
        <p14:creationId xmlns:p14="http://schemas.microsoft.com/office/powerpoint/2010/main" val="2257794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BFEFDC9-165B-8F98-746F-08BA7C96ABB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EF13B8D-940F-76C7-A520-0DE59ABD9EB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Digital input samples external voltage</a:t>
            </a:r>
          </a:p>
          <a:p>
            <a:pPr marL="0" lvl="0" indent="0" algn="l" rtl="0">
              <a:lnSpc>
                <a:spcPct val="100000"/>
              </a:lnSpc>
              <a:spcBef>
                <a:spcPts val="0"/>
              </a:spcBef>
              <a:spcAft>
                <a:spcPts val="0"/>
              </a:spcAft>
              <a:buSzPts val="3000"/>
              <a:buNone/>
            </a:pPr>
            <a:endParaRPr lang="en-US" sz="1800" dirty="0">
              <a:latin typeface="+mj-lt"/>
              <a:cs typeface="Arial"/>
              <a:sym typeface="Arial"/>
            </a:endParaRPr>
          </a:p>
          <a:p>
            <a:pPr marL="0" lvl="0" indent="0" algn="l" rtl="0">
              <a:lnSpc>
                <a:spcPct val="100000"/>
              </a:lnSpc>
              <a:spcBef>
                <a:spcPts val="0"/>
              </a:spcBef>
              <a:spcAft>
                <a:spcPts val="0"/>
              </a:spcAft>
              <a:buSzPts val="3000"/>
              <a:buNone/>
            </a:pPr>
            <a:r>
              <a:rPr lang="en-US" sz="1800" dirty="0">
                <a:latin typeface="+mj-lt"/>
                <a:cs typeface="Arial"/>
                <a:sym typeface="Arial"/>
              </a:rPr>
              <a:t>Compared against logic thresholds:</a:t>
            </a:r>
          </a:p>
          <a:p>
            <a:pPr marL="285750" indent="-285750">
              <a:lnSpc>
                <a:spcPct val="100000"/>
              </a:lnSpc>
              <a:spcBef>
                <a:spcPts val="0"/>
              </a:spcBef>
              <a:buSzPts val="3000"/>
            </a:pPr>
            <a:r>
              <a:rPr lang="en-US" sz="1800" dirty="0">
                <a:latin typeface="+mj-lt"/>
                <a:cs typeface="Arial"/>
                <a:sym typeface="Arial"/>
              </a:rPr>
              <a:t>LOW</a:t>
            </a:r>
          </a:p>
          <a:p>
            <a:pPr marL="285750" indent="-285750">
              <a:lnSpc>
                <a:spcPct val="100000"/>
              </a:lnSpc>
              <a:spcBef>
                <a:spcPts val="0"/>
              </a:spcBef>
              <a:buSzPts val="3000"/>
            </a:pPr>
            <a:r>
              <a:rPr lang="en-US" sz="1800" dirty="0">
                <a:latin typeface="+mj-lt"/>
                <a:cs typeface="Arial"/>
                <a:sym typeface="Arial"/>
              </a:rPr>
              <a:t>HIGH</a:t>
            </a:r>
          </a:p>
          <a:p>
            <a:pPr marL="285750" indent="-285750">
              <a:lnSpc>
                <a:spcPct val="100000"/>
              </a:lnSpc>
              <a:spcBef>
                <a:spcPts val="0"/>
              </a:spcBef>
              <a:buSzPts val="3000"/>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Examples:</a:t>
            </a:r>
          </a:p>
          <a:p>
            <a:pPr marL="285750" indent="-285750">
              <a:lnSpc>
                <a:spcPct val="100000"/>
              </a:lnSpc>
              <a:spcBef>
                <a:spcPts val="0"/>
              </a:spcBef>
              <a:buSzPts val="3000"/>
            </a:pPr>
            <a:r>
              <a:rPr lang="en-US" sz="1800" dirty="0">
                <a:latin typeface="+mj-lt"/>
                <a:cs typeface="Arial"/>
                <a:sym typeface="Arial"/>
              </a:rPr>
              <a:t>Buttons</a:t>
            </a:r>
          </a:p>
          <a:p>
            <a:pPr marL="285750" indent="-285750">
              <a:lnSpc>
                <a:spcPct val="100000"/>
              </a:lnSpc>
              <a:spcBef>
                <a:spcPts val="0"/>
              </a:spcBef>
              <a:buSzPts val="3000"/>
            </a:pPr>
            <a:r>
              <a:rPr lang="en-US" sz="1800" dirty="0">
                <a:latin typeface="+mj-lt"/>
                <a:cs typeface="Arial"/>
                <a:sym typeface="Arial"/>
              </a:rPr>
              <a:t>Switches</a:t>
            </a:r>
          </a:p>
          <a:p>
            <a:pPr marL="285750" indent="-285750">
              <a:lnSpc>
                <a:spcPct val="100000"/>
              </a:lnSpc>
              <a:spcBef>
                <a:spcPts val="0"/>
              </a:spcBef>
              <a:buSzPts val="3000"/>
            </a:pPr>
            <a:r>
              <a:rPr lang="en-US" sz="1800" dirty="0">
                <a:latin typeface="+mj-lt"/>
                <a:cs typeface="Arial"/>
                <a:sym typeface="Arial"/>
              </a:rPr>
              <a:t>Some types of encoders</a:t>
            </a:r>
          </a:p>
          <a:p>
            <a:pPr marL="285750" indent="-285750">
              <a:lnSpc>
                <a:spcPct val="100000"/>
              </a:lnSpc>
              <a:spcBef>
                <a:spcPts val="0"/>
              </a:spcBef>
              <a:buSzPts val="3000"/>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Problem with floating inputs, if input is not driven:</a:t>
            </a:r>
          </a:p>
          <a:p>
            <a:pPr marL="285750" indent="-285750">
              <a:lnSpc>
                <a:spcPct val="100000"/>
              </a:lnSpc>
              <a:spcBef>
                <a:spcPts val="0"/>
              </a:spcBef>
              <a:buSzPts val="3000"/>
            </a:pPr>
            <a:r>
              <a:rPr lang="en-US" sz="1800" dirty="0">
                <a:latin typeface="+mj-lt"/>
                <a:cs typeface="Arial"/>
                <a:sym typeface="Arial"/>
              </a:rPr>
              <a:t>Voltage is undefined</a:t>
            </a:r>
          </a:p>
          <a:p>
            <a:pPr marL="285750" indent="-285750">
              <a:lnSpc>
                <a:spcPct val="100000"/>
              </a:lnSpc>
              <a:spcBef>
                <a:spcPts val="0"/>
              </a:spcBef>
              <a:buSzPts val="3000"/>
            </a:pPr>
            <a:r>
              <a:rPr lang="en-US" sz="1800" dirty="0">
                <a:latin typeface="+mj-lt"/>
                <a:cs typeface="Arial"/>
                <a:sym typeface="Arial"/>
              </a:rPr>
              <a:t>Susceptible to noise</a:t>
            </a:r>
          </a:p>
          <a:p>
            <a:pPr marL="285750" indent="-285750">
              <a:lnSpc>
                <a:spcPct val="100000"/>
              </a:lnSpc>
              <a:spcBef>
                <a:spcPts val="0"/>
              </a:spcBef>
              <a:buSzPts val="3000"/>
            </a:pPr>
            <a:r>
              <a:rPr lang="en-US" sz="1800" dirty="0">
                <a:latin typeface="+mj-lt"/>
                <a:cs typeface="Arial"/>
                <a:sym typeface="Arial"/>
              </a:rPr>
              <a:t>Input may randomly read 0 or 1</a:t>
            </a: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More on this with ADC</a:t>
            </a:r>
          </a:p>
        </p:txBody>
      </p:sp>
      <p:sp>
        <p:nvSpPr>
          <p:cNvPr id="119" name="Google Shape;119;p29">
            <a:extLst>
              <a:ext uri="{FF2B5EF4-FFF2-40B4-BE49-F238E27FC236}">
                <a16:creationId xmlns:a16="http://schemas.microsoft.com/office/drawing/2014/main" id="{5E65DC17-660F-DFE6-9208-51D641A42AB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DE9D438-D673-1F0D-CA61-23AC9C69C05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Inputs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B64B249-6922-C3AF-B4AF-2DA2A643A73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9BF1EA3-CFFC-FB6D-8A76-7C8245B8AD4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F4E4CF3-F4AF-3E9D-0438-630DF1A81EE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E9A40DC-47AD-2C06-609B-AAFA85A9E7B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85B8AB0-AC8B-C9C2-3B63-0632633DD7E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F0F9C48-5CB3-28F2-E990-C8A670FE1CC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0508323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F4A6EB9-2BB5-B600-25C9-28FBA88EAC7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5B13584-C704-8F7E-024F-C36F2265D6D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A pull-up resistor:</a:t>
            </a:r>
            <a:endParaRPr lang="en-US" sz="1800" dirty="0">
              <a:latin typeface="+mj-lt"/>
              <a:cs typeface="Arial"/>
              <a:sym typeface="Arial"/>
            </a:endParaRPr>
          </a:p>
          <a:p>
            <a:pPr marL="285750" indent="-285750">
              <a:lnSpc>
                <a:spcPct val="100000"/>
              </a:lnSpc>
              <a:spcBef>
                <a:spcPts val="0"/>
              </a:spcBef>
              <a:buSzPts val="3000"/>
            </a:pPr>
            <a:r>
              <a:rPr lang="en-US" sz="1800" dirty="0">
                <a:latin typeface="+mj-lt"/>
                <a:cs typeface="Arial"/>
                <a:sym typeface="Arial"/>
              </a:rPr>
              <a:t>Connects input to </a:t>
            </a:r>
            <a:r>
              <a:rPr lang="en-US" sz="1800" dirty="0" err="1">
                <a:latin typeface="+mj-lt"/>
                <a:cs typeface="Arial"/>
                <a:sym typeface="Arial"/>
              </a:rPr>
              <a:t>Vcc</a:t>
            </a:r>
            <a:r>
              <a:rPr lang="en-US" sz="1800" dirty="0">
                <a:latin typeface="+mj-lt"/>
                <a:cs typeface="Arial"/>
                <a:sym typeface="Arial"/>
              </a:rPr>
              <a:t> </a:t>
            </a:r>
          </a:p>
          <a:p>
            <a:pPr marL="285750" indent="-285750">
              <a:lnSpc>
                <a:spcPct val="100000"/>
              </a:lnSpc>
              <a:spcBef>
                <a:spcPts val="0"/>
              </a:spcBef>
              <a:buSzPts val="3000"/>
            </a:pPr>
            <a:r>
              <a:rPr lang="en-US" sz="1800" dirty="0">
                <a:latin typeface="+mj-lt"/>
                <a:cs typeface="Arial"/>
                <a:sym typeface="Arial"/>
              </a:rPr>
              <a:t>Defines default logic HIGH</a:t>
            </a: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When switch is:</a:t>
            </a:r>
          </a:p>
          <a:p>
            <a:pPr marL="285750" indent="-285750">
              <a:lnSpc>
                <a:spcPct val="100000"/>
              </a:lnSpc>
              <a:spcBef>
                <a:spcPts val="0"/>
              </a:spcBef>
              <a:buSzPts val="3000"/>
            </a:pPr>
            <a:r>
              <a:rPr lang="en-US" sz="1800" dirty="0">
                <a:latin typeface="+mj-lt"/>
                <a:cs typeface="Arial"/>
                <a:sym typeface="Arial"/>
              </a:rPr>
              <a:t>Open: input → HIGH</a:t>
            </a:r>
          </a:p>
          <a:p>
            <a:pPr marL="285750" indent="-285750">
              <a:lnSpc>
                <a:spcPct val="100000"/>
              </a:lnSpc>
              <a:spcBef>
                <a:spcPts val="0"/>
              </a:spcBef>
              <a:buSzPts val="3000"/>
            </a:pPr>
            <a:r>
              <a:rPr lang="en-US" sz="1800" dirty="0">
                <a:latin typeface="+mj-lt"/>
                <a:cs typeface="Arial"/>
                <a:sym typeface="Arial"/>
              </a:rPr>
              <a:t>Closed: input short circuits to GND → LOW</a:t>
            </a:r>
          </a:p>
          <a:p>
            <a:pPr marL="285750" indent="-285750">
              <a:lnSpc>
                <a:spcPct val="100000"/>
              </a:lnSpc>
              <a:spcBef>
                <a:spcPts val="0"/>
              </a:spcBef>
              <a:buSzPts val="3000"/>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A pull-down resistor ( not used in our application ):</a:t>
            </a:r>
          </a:p>
          <a:p>
            <a:pPr marL="285750" indent="-285750">
              <a:lnSpc>
                <a:spcPct val="100000"/>
              </a:lnSpc>
              <a:spcBef>
                <a:spcPts val="0"/>
              </a:spcBef>
              <a:buSzPts val="3000"/>
            </a:pPr>
            <a:r>
              <a:rPr lang="en-US" sz="1800" dirty="0">
                <a:latin typeface="+mj-lt"/>
                <a:cs typeface="Arial"/>
                <a:sym typeface="Arial"/>
              </a:rPr>
              <a:t>Connects input to GND </a:t>
            </a:r>
          </a:p>
          <a:p>
            <a:pPr marL="285750" indent="-285750">
              <a:lnSpc>
                <a:spcPct val="100000"/>
              </a:lnSpc>
              <a:spcBef>
                <a:spcPts val="0"/>
              </a:spcBef>
              <a:buSzPts val="3000"/>
            </a:pPr>
            <a:r>
              <a:rPr lang="en-US" sz="1800" dirty="0">
                <a:latin typeface="+mj-lt"/>
                <a:cs typeface="Arial"/>
                <a:sym typeface="Arial"/>
              </a:rPr>
              <a:t>Defines default logic LOW</a:t>
            </a: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When switch is:</a:t>
            </a:r>
          </a:p>
          <a:p>
            <a:pPr marL="285750" indent="-285750">
              <a:lnSpc>
                <a:spcPct val="100000"/>
              </a:lnSpc>
              <a:spcBef>
                <a:spcPts val="0"/>
              </a:spcBef>
              <a:buSzPts val="3000"/>
            </a:pPr>
            <a:r>
              <a:rPr lang="en-US" sz="1800" dirty="0">
                <a:latin typeface="+mj-lt"/>
                <a:cs typeface="Arial"/>
                <a:sym typeface="Arial"/>
              </a:rPr>
              <a:t>Open: input → LOW</a:t>
            </a:r>
          </a:p>
          <a:p>
            <a:pPr marL="285750" indent="-285750">
              <a:lnSpc>
                <a:spcPct val="100000"/>
              </a:lnSpc>
              <a:spcBef>
                <a:spcPts val="0"/>
              </a:spcBef>
              <a:buSzPts val="3000"/>
            </a:pPr>
            <a:r>
              <a:rPr lang="en-US" sz="1800" dirty="0">
                <a:latin typeface="+mj-lt"/>
                <a:cs typeface="Arial"/>
                <a:sym typeface="Arial"/>
              </a:rPr>
              <a:t>Closed: input short circuits to GND → HIGH</a:t>
            </a:r>
          </a:p>
          <a:p>
            <a:pPr marL="285750" indent="-285750">
              <a:lnSpc>
                <a:spcPct val="100000"/>
              </a:lnSpc>
              <a:spcBef>
                <a:spcPts val="0"/>
              </a:spcBef>
              <a:buSzPts val="3000"/>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This is all internal on the Red Board, makes it cleaner!</a:t>
            </a:r>
          </a:p>
          <a:p>
            <a:pPr marL="0" indent="0">
              <a:lnSpc>
                <a:spcPct val="100000"/>
              </a:lnSpc>
              <a:spcBef>
                <a:spcPts val="0"/>
              </a:spcBef>
              <a:buSzPts val="3000"/>
              <a:buNone/>
            </a:pPr>
            <a:r>
              <a:rPr lang="en-US" sz="1800" dirty="0">
                <a:latin typeface="+mj-lt"/>
                <a:cs typeface="Arial"/>
                <a:sym typeface="Arial"/>
              </a:rPr>
              <a:t>You don’t need to understand this, just put it in code!</a:t>
            </a: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endParaRPr lang="en-US" sz="1800" dirty="0">
              <a:latin typeface="+mj-lt"/>
              <a:cs typeface="Arial"/>
              <a:sym typeface="Arial"/>
            </a:endParaRPr>
          </a:p>
          <a:p>
            <a:pPr marL="0" indent="0">
              <a:lnSpc>
                <a:spcPct val="100000"/>
              </a:lnSpc>
              <a:spcBef>
                <a:spcPts val="0"/>
              </a:spcBef>
              <a:buSzPts val="3000"/>
              <a:buNone/>
            </a:pPr>
            <a:endParaRPr lang="en-US" sz="1800" dirty="0">
              <a:latin typeface="+mj-lt"/>
              <a:cs typeface="Arial"/>
              <a:sym typeface="Arial"/>
            </a:endParaRPr>
          </a:p>
        </p:txBody>
      </p:sp>
      <p:sp>
        <p:nvSpPr>
          <p:cNvPr id="119" name="Google Shape;119;p29">
            <a:extLst>
              <a:ext uri="{FF2B5EF4-FFF2-40B4-BE49-F238E27FC236}">
                <a16:creationId xmlns:a16="http://schemas.microsoft.com/office/drawing/2014/main" id="{143E189C-5EA9-57AA-B9EF-59D44BE0F47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A459D4B-2AC5-0B30-0937-98CC0A98BFB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Pull-Up / Pull-Down Resistors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AA35099-656F-6F9D-E55A-3EE08B366A2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08FD7BC-FC5F-C482-0E7C-5CEEDE629E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8EB30E1-5F65-B1B8-71C9-4C55C863882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D8C8592-45F5-ECB5-C879-D01706EDD91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DB26088-E198-2A8D-0CAC-CED8374E29E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AEC7E19-D836-2157-85C1-D01000CD862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wo circuits. Top, pull-up: a resistor runs from V sub CC down to a node that feeds the digital input, and a switching device connects that node to V sub SS (ground or another low-impedance source). Bottom, pull-down: the switching device runs from V sub CC (or another low-impedance source) down to the input node, and a resistor connects that node to V sub SS. In each, the resistor sets the default level and the closed switch drives the input to the opposite rail.">
            <a:extLst>
              <a:ext uri="{FF2B5EF4-FFF2-40B4-BE49-F238E27FC236}">
                <a16:creationId xmlns:a16="http://schemas.microsoft.com/office/drawing/2014/main" id="{24E33918-C5EA-B4E7-A605-B10068B7234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9219" y="983446"/>
            <a:ext cx="2598126" cy="5196252"/>
          </a:xfrm>
          <a:prstGeom prst="rect">
            <a:avLst/>
          </a:prstGeom>
        </p:spPr>
      </p:pic>
      <p:sp>
        <p:nvSpPr>
          <p:cNvPr id="2" name="TextBox 1">
            <a:extLst>
              <a:ext uri="{FF2B5EF4-FFF2-40B4-BE49-F238E27FC236}">
                <a16:creationId xmlns:a16="http://schemas.microsoft.com/office/drawing/2014/main" id="{19664ED5-595E-3924-B86B-CE29C9427CF4}"/>
              </a:ext>
            </a:extLst>
          </p:cNvPr>
          <p:cNvSpPr txBox="1"/>
          <p:nvPr/>
        </p:nvSpPr>
        <p:spPr>
          <a:xfrm>
            <a:off x="7618314" y="6129007"/>
            <a:ext cx="2919935" cy="261610"/>
          </a:xfrm>
          <a:prstGeom prst="rect">
            <a:avLst/>
          </a:prstGeom>
          <a:noFill/>
        </p:spPr>
        <p:txBody>
          <a:bodyPr wrap="square" rtlCol="0">
            <a:spAutoFit/>
          </a:bodyPr>
          <a:lstStyle/>
          <a:p>
            <a:pPr algn="ctr"/>
            <a:r>
              <a:rPr lang="en-US" sz="1100" dirty="0">
                <a:hlinkClick r:id="rId6"/>
              </a:rPr>
              <a:t>https://en.wikipedia.org/wiki/Pull-up_resistor</a:t>
            </a:r>
            <a:r>
              <a:rPr lang="en-US" sz="1100" dirty="0"/>
              <a:t> </a:t>
            </a:r>
          </a:p>
        </p:txBody>
      </p:sp>
    </p:spTree>
    <p:extLst>
      <p:ext uri="{BB962C8B-B14F-4D97-AF65-F5344CB8AC3E}">
        <p14:creationId xmlns:p14="http://schemas.microsoft.com/office/powerpoint/2010/main" val="2513253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03703ED-6B48-3D7C-171A-7C422A26E20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B871487-C2AC-347D-CC28-89775FD92A4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Digital output control consists of :</a:t>
            </a:r>
          </a:p>
          <a:p>
            <a:pPr>
              <a:buFont typeface="+mj-lt"/>
              <a:buAutoNum type="arabicPeriod"/>
            </a:pPr>
            <a:r>
              <a:rPr lang="en-US" sz="1800" dirty="0">
                <a:latin typeface="+mj-lt"/>
              </a:rPr>
              <a:t>Choosing the GPIO number</a:t>
            </a:r>
          </a:p>
          <a:p>
            <a:pPr>
              <a:buFont typeface="+mj-lt"/>
              <a:buAutoNum type="arabicPeriod"/>
            </a:pPr>
            <a:r>
              <a:rPr lang="en-US" sz="1800" dirty="0">
                <a:latin typeface="+mj-lt"/>
              </a:rPr>
              <a:t>Selecting the GPIO pin mux selection</a:t>
            </a:r>
          </a:p>
          <a:p>
            <a:pPr>
              <a:buFont typeface="+mj-lt"/>
              <a:buAutoNum type="arabicPeriod"/>
            </a:pPr>
            <a:r>
              <a:rPr lang="en-US" sz="1800" dirty="0">
                <a:latin typeface="+mj-lt"/>
              </a:rPr>
              <a:t>Setting direction = input</a:t>
            </a:r>
          </a:p>
          <a:p>
            <a:pPr>
              <a:buFont typeface="+mj-lt"/>
              <a:buAutoNum type="arabicPeriod"/>
            </a:pPr>
            <a:r>
              <a:rPr lang="en-US" sz="1800" dirty="0">
                <a:latin typeface="+mj-lt"/>
              </a:rPr>
              <a:t>Enable pull-up resistor</a:t>
            </a:r>
            <a:endParaRPr lang="en-US" sz="1800" dirty="0">
              <a:solidFill>
                <a:srgbClr val="642880"/>
              </a:solidFill>
              <a:latin typeface="+mj-lt"/>
            </a:endParaRPr>
          </a:p>
          <a:p>
            <a:pPr marL="114300" indent="0" algn="l">
              <a:buNone/>
            </a:pPr>
            <a:r>
              <a:rPr lang="en-US" sz="1800" dirty="0" err="1">
                <a:solidFill>
                  <a:srgbClr val="642880"/>
                </a:solidFill>
                <a:latin typeface="Consolas" panose="020B0609020204030204" pitchFamily="49" charset="0"/>
              </a:rPr>
              <a:t>GPIO_SetupPinMux</a:t>
            </a:r>
            <a:r>
              <a:rPr lang="en-US" sz="1800" dirty="0">
                <a:solidFill>
                  <a:srgbClr val="000000"/>
                </a:solidFill>
                <a:latin typeface="Consolas" panose="020B0609020204030204" pitchFamily="49" charset="0"/>
              </a:rPr>
              <a:t>(7, GPIO_MUX_CPU1, 0);</a:t>
            </a:r>
          </a:p>
          <a:p>
            <a:pPr marL="114300" indent="0" algn="l">
              <a:buNone/>
            </a:pPr>
            <a:r>
              <a:rPr lang="en-US" sz="1800" dirty="0" err="1">
                <a:solidFill>
                  <a:srgbClr val="642880"/>
                </a:solidFill>
                <a:latin typeface="Consolas" panose="020B0609020204030204" pitchFamily="49" charset="0"/>
              </a:rPr>
              <a:t>GPIO_SetupPinOptions</a:t>
            </a:r>
            <a:r>
              <a:rPr lang="en-US" sz="1800" dirty="0">
                <a:solidFill>
                  <a:srgbClr val="000000"/>
                </a:solidFill>
                <a:latin typeface="Consolas" panose="020B0609020204030204" pitchFamily="49" charset="0"/>
              </a:rPr>
              <a:t>(7, GPIO_INPUT, GPIO_PULLUP);</a:t>
            </a:r>
            <a:endParaRPr lang="en-US" sz="1800" dirty="0">
              <a:solidFill>
                <a:srgbClr val="000000"/>
              </a:solidFill>
              <a:latin typeface="Consolas" panose="020B0609020204030204" pitchFamily="49" charset="0"/>
              <a:ea typeface="Arial"/>
              <a:cs typeface="Arial"/>
              <a:sym typeface="Arial"/>
            </a:endParaRPr>
          </a:p>
          <a:p>
            <a:pPr marL="114300" indent="0" algn="l">
              <a:buNone/>
            </a:pPr>
            <a:endParaRPr lang="en-US" sz="1800" dirty="0">
              <a:latin typeface="+mj-lt"/>
              <a:ea typeface="Arial"/>
              <a:cs typeface="Arial"/>
              <a:sym typeface="Arial"/>
            </a:endParaRPr>
          </a:p>
          <a:p>
            <a:pPr marL="114300" indent="0" algn="l">
              <a:buNone/>
            </a:pPr>
            <a:r>
              <a:rPr lang="en-US" sz="1800" dirty="0">
                <a:latin typeface="+mj-lt"/>
                <a:ea typeface="Arial"/>
                <a:cs typeface="Arial"/>
                <a:sym typeface="Arial"/>
              </a:rPr>
              <a:t>You read the binary input using:</a:t>
            </a:r>
          </a:p>
          <a:p>
            <a:pPr marL="114300" indent="0" algn="l">
              <a:buNone/>
            </a:pPr>
            <a:r>
              <a:rPr lang="en-US" sz="1800" dirty="0">
                <a:solidFill>
                  <a:srgbClr val="7F0055"/>
                </a:solidFill>
                <a:latin typeface="Consolas" panose="020B0609020204030204" pitchFamily="49" charset="0"/>
              </a:rPr>
              <a:t>if</a:t>
            </a:r>
            <a:r>
              <a:rPr lang="en-US" sz="1800" dirty="0">
                <a:solidFill>
                  <a:srgbClr val="000000"/>
                </a:solidFill>
                <a:latin typeface="Consolas" panose="020B0609020204030204" pitchFamily="49" charset="0"/>
              </a:rPr>
              <a:t>(GpioDataRegs.</a:t>
            </a:r>
            <a:r>
              <a:rPr lang="en-US" sz="1800" dirty="0">
                <a:solidFill>
                  <a:srgbClr val="0000C0"/>
                </a:solidFill>
                <a:latin typeface="Consolas" panose="020B0609020204030204" pitchFamily="49" charset="0"/>
              </a:rPr>
              <a:t>GPADAT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GPIO7</a:t>
            </a:r>
            <a:r>
              <a:rPr lang="en-US" sz="1800" dirty="0">
                <a:solidFill>
                  <a:srgbClr val="000000"/>
                </a:solidFill>
                <a:latin typeface="Consolas" panose="020B0609020204030204" pitchFamily="49" charset="0"/>
              </a:rPr>
              <a:t>){</a:t>
            </a:r>
          </a:p>
          <a:p>
            <a:pPr marL="114300" indent="0" algn="l">
              <a:buNone/>
            </a:pPr>
            <a:r>
              <a:rPr lang="en-US" sz="1800" dirty="0">
                <a:solidFill>
                  <a:srgbClr val="000000"/>
                </a:solidFill>
                <a:latin typeface="Consolas" panose="020B0609020204030204" pitchFamily="49" charset="0"/>
              </a:rPr>
              <a:t>    </a:t>
            </a:r>
            <a:r>
              <a:rPr lang="en-US" sz="1800" dirty="0">
                <a:solidFill>
                  <a:srgbClr val="3F7F5F"/>
                </a:solidFill>
                <a:latin typeface="Consolas" panose="020B0609020204030204" pitchFamily="49" charset="0"/>
              </a:rPr>
              <a:t>// Do stuff</a:t>
            </a:r>
          </a:p>
          <a:p>
            <a:pPr marL="114300" indent="0" algn="l">
              <a:buNone/>
            </a:pPr>
            <a:r>
              <a:rPr lang="en-US" sz="1800" dirty="0">
                <a:solidFill>
                  <a:srgbClr val="000000"/>
                </a:solidFill>
                <a:latin typeface="Consolas" panose="020B0609020204030204" pitchFamily="49" charset="0"/>
              </a:rPr>
              <a:t>}</a:t>
            </a:r>
            <a:endParaRPr lang="en-US" sz="1800" dirty="0">
              <a:latin typeface="+mj-lt"/>
              <a:ea typeface="Arial"/>
              <a:cs typeface="Arial"/>
              <a:sym typeface="Arial"/>
            </a:endParaRPr>
          </a:p>
          <a:p>
            <a:pPr marL="114300" indent="0" algn="l">
              <a:buNone/>
            </a:pPr>
            <a:endParaRPr lang="en-US" sz="1800" b="1" dirty="0">
              <a:latin typeface="+mj-lt"/>
              <a:ea typeface="Arial"/>
              <a:cs typeface="Arial"/>
              <a:sym typeface="Arial"/>
            </a:endParaRPr>
          </a:p>
        </p:txBody>
      </p:sp>
      <p:sp>
        <p:nvSpPr>
          <p:cNvPr id="119" name="Google Shape;119;p29">
            <a:extLst>
              <a:ext uri="{FF2B5EF4-FFF2-40B4-BE49-F238E27FC236}">
                <a16:creationId xmlns:a16="http://schemas.microsoft.com/office/drawing/2014/main" id="{4D41BD3F-2D1D-ED2D-184F-E233EA77803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6816974-09CC-3F1D-BE9F-FD1D78F9CAB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Inputs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46D4245-8D3D-8113-412D-A15BB0440F8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D4D772F-2FEB-08FA-D8B9-03F1256CBC6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67EA879-DBFD-0ED1-4078-1DD0C4C9271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676C6E5-89C4-80A3-2608-F74AB3F7F66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A77BCF0-0BA9-8FAA-CF36-9021D8C63BB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2F6763A-3A69-73F1-7925-21907B964A1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cxnSp>
        <p:nvCxnSpPr>
          <p:cNvPr id="3" name="Straight Arrow Connector 2">
            <a:extLst>
              <a:ext uri="{FF2B5EF4-FFF2-40B4-BE49-F238E27FC236}">
                <a16:creationId xmlns:a16="http://schemas.microsoft.com/office/drawing/2014/main" id="{39EEBBB8-017D-B70A-D024-BDD096546594}"/>
              </a:ext>
            </a:extLst>
          </p:cNvPr>
          <p:cNvCxnSpPr>
            <a:cxnSpLocks/>
          </p:cNvCxnSpPr>
          <p:nvPr/>
        </p:nvCxnSpPr>
        <p:spPr>
          <a:xfrm>
            <a:off x="3457574" y="2906630"/>
            <a:ext cx="724367" cy="8382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5D0E1434-E939-B6FE-11F9-9065656C8283}"/>
              </a:ext>
            </a:extLst>
          </p:cNvPr>
          <p:cNvCxnSpPr>
            <a:cxnSpLocks/>
          </p:cNvCxnSpPr>
          <p:nvPr/>
        </p:nvCxnSpPr>
        <p:spPr>
          <a:xfrm>
            <a:off x="4629150" y="2482224"/>
            <a:ext cx="371275" cy="870576"/>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E04EB7B-1C85-3D3D-70B3-0ABF54C20CAD}"/>
              </a:ext>
            </a:extLst>
          </p:cNvPr>
          <p:cNvGrpSpPr/>
          <p:nvPr/>
        </p:nvGrpSpPr>
        <p:grpSpPr>
          <a:xfrm>
            <a:off x="2876550" y="2145600"/>
            <a:ext cx="476250" cy="1599230"/>
            <a:chOff x="2876550" y="2145600"/>
            <a:chExt cx="476250" cy="1599230"/>
          </a:xfrm>
        </p:grpSpPr>
        <p:cxnSp>
          <p:nvCxnSpPr>
            <p:cNvPr id="8" name="Straight Arrow Connector 7">
              <a:extLst>
                <a:ext uri="{FF2B5EF4-FFF2-40B4-BE49-F238E27FC236}">
                  <a16:creationId xmlns:a16="http://schemas.microsoft.com/office/drawing/2014/main" id="{6A2F6226-CA91-662B-FED7-585802B68925}"/>
                </a:ext>
              </a:extLst>
            </p:cNvPr>
            <p:cNvCxnSpPr>
              <a:cxnSpLocks/>
            </p:cNvCxnSpPr>
            <p:nvPr/>
          </p:nvCxnSpPr>
          <p:spPr>
            <a:xfrm flipH="1">
              <a:off x="2876550" y="2145600"/>
              <a:ext cx="476250" cy="120720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A1FADB05-82B6-30B1-CD03-D502431E97BD}"/>
                </a:ext>
              </a:extLst>
            </p:cNvPr>
            <p:cNvCxnSpPr>
              <a:cxnSpLocks/>
            </p:cNvCxnSpPr>
            <p:nvPr/>
          </p:nvCxnSpPr>
          <p:spPr>
            <a:xfrm>
              <a:off x="3352800" y="2145600"/>
              <a:ext cx="0" cy="159923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 name="Straight Arrow Connector 4">
            <a:extLst>
              <a:ext uri="{FF2B5EF4-FFF2-40B4-BE49-F238E27FC236}">
                <a16:creationId xmlns:a16="http://schemas.microsoft.com/office/drawing/2014/main" id="{B5A9E21B-B4BA-57FA-0F67-1625D6239B11}"/>
              </a:ext>
            </a:extLst>
          </p:cNvPr>
          <p:cNvCxnSpPr>
            <a:cxnSpLocks/>
          </p:cNvCxnSpPr>
          <p:nvPr/>
        </p:nvCxnSpPr>
        <p:spPr>
          <a:xfrm>
            <a:off x="3254752" y="3120470"/>
            <a:ext cx="2372325" cy="62436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252AC45C-1337-905A-0DA7-757BB305C5A3}"/>
              </a:ext>
            </a:extLst>
          </p:cNvPr>
          <p:cNvSpPr/>
          <p:nvPr/>
        </p:nvSpPr>
        <p:spPr>
          <a:xfrm>
            <a:off x="2954215" y="4840565"/>
            <a:ext cx="398579" cy="2984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3750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xit" presetSubtype="0" fill="hold" nodeType="withEffect">
                                  <p:stCondLst>
                                    <p:cond delay="0"/>
                                  </p:stCondLst>
                                  <p:childTnLst>
                                    <p:set>
                                      <p:cBhvr>
                                        <p:cTn id="12" dur="1" fill="hold">
                                          <p:stCondLst>
                                            <p:cond delay="0"/>
                                          </p:stCondLst>
                                        </p:cTn>
                                        <p:tgtEl>
                                          <p:spTgt spid="1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3"/>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528BA2E-A4FE-921F-BD97-342BD3B9626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39EA0BD-6699-644D-580C-BBF5DFBB00E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A </a:t>
            </a:r>
            <a:r>
              <a:rPr lang="en-US" sz="1800" b="1" dirty="0">
                <a:latin typeface="+mj-lt"/>
              </a:rPr>
              <a:t>push-pull output</a:t>
            </a:r>
            <a:r>
              <a:rPr lang="en-US" sz="1800" dirty="0">
                <a:latin typeface="+mj-lt"/>
              </a:rPr>
              <a:t> uses </a:t>
            </a:r>
            <a:r>
              <a:rPr lang="en-US" sz="1800" b="1" dirty="0">
                <a:latin typeface="+mj-lt"/>
              </a:rPr>
              <a:t>two transistors</a:t>
            </a:r>
            <a:r>
              <a:rPr lang="en-US" sz="1800" dirty="0">
                <a:latin typeface="+mj-lt"/>
              </a:rPr>
              <a:t>:</a:t>
            </a:r>
          </a:p>
          <a:p>
            <a:r>
              <a:rPr lang="en-US" sz="1800" dirty="0">
                <a:latin typeface="+mj-lt"/>
              </a:rPr>
              <a:t>A PMOS transistor pulls the pin up to 3.3 V</a:t>
            </a:r>
          </a:p>
          <a:p>
            <a:r>
              <a:rPr lang="en-US" sz="1800" dirty="0">
                <a:latin typeface="+mj-lt"/>
              </a:rPr>
              <a:t>An NMOS transistor pulls the pin down to GND</a:t>
            </a:r>
          </a:p>
          <a:p>
            <a:pPr marL="114300" indent="0">
              <a:buNone/>
            </a:pPr>
            <a:r>
              <a:rPr lang="en-US" sz="1800" dirty="0">
                <a:latin typeface="+mj-lt"/>
              </a:rPr>
              <a:t>Only </a:t>
            </a:r>
            <a:r>
              <a:rPr lang="en-US" sz="1800" b="1" dirty="0">
                <a:latin typeface="+mj-lt"/>
              </a:rPr>
              <a:t>one is ON at a time</a:t>
            </a:r>
            <a:r>
              <a:rPr lang="en-US" sz="1800" dirty="0">
                <a:latin typeface="+mj-lt"/>
              </a:rPr>
              <a:t>.</a:t>
            </a:r>
          </a:p>
          <a:p>
            <a:pPr marL="114300" indent="0">
              <a:buNone/>
            </a:pPr>
            <a:endParaRPr lang="en-US" sz="1800" dirty="0">
              <a:latin typeface="+mj-lt"/>
            </a:endParaRPr>
          </a:p>
          <a:p>
            <a:pPr marL="114300" indent="0">
              <a:buNone/>
            </a:pPr>
            <a:r>
              <a:rPr lang="en-US" sz="1800" dirty="0">
                <a:latin typeface="+mj-lt"/>
              </a:rPr>
              <a:t>When a pin is an output:</a:t>
            </a:r>
          </a:p>
          <a:p>
            <a:r>
              <a:rPr lang="en-US" sz="1800" dirty="0">
                <a:latin typeface="+mj-lt"/>
              </a:rPr>
              <a:t>You want deterministic voltage</a:t>
            </a:r>
          </a:p>
          <a:p>
            <a:r>
              <a:rPr lang="en-US" sz="1800" dirty="0">
                <a:latin typeface="+mj-lt"/>
              </a:rPr>
              <a:t>You want noise immunity</a:t>
            </a:r>
          </a:p>
          <a:p>
            <a:r>
              <a:rPr lang="en-US" sz="1800" dirty="0">
                <a:latin typeface="+mj-lt"/>
              </a:rPr>
              <a:t>You want defined transitions</a:t>
            </a:r>
          </a:p>
          <a:p>
            <a:endParaRPr lang="en-US" sz="1800" dirty="0">
              <a:latin typeface="+mj-lt"/>
            </a:endParaRPr>
          </a:p>
          <a:p>
            <a:pPr marL="114300" indent="0">
              <a:buNone/>
            </a:pPr>
            <a:r>
              <a:rPr lang="en-US" sz="1800" dirty="0">
                <a:latin typeface="+mj-lt"/>
              </a:rPr>
              <a:t>A more detailed video </a:t>
            </a:r>
            <a:r>
              <a:rPr lang="en-US" sz="1800" dirty="0">
                <a:latin typeface="+mj-lt"/>
                <a:hlinkClick r:id="rId3"/>
              </a:rPr>
              <a:t>here</a:t>
            </a:r>
            <a:r>
              <a:rPr lang="en-US" sz="1800" dirty="0">
                <a:latin typeface="+mj-lt"/>
              </a:rPr>
              <a:t>.</a:t>
            </a:r>
          </a:p>
          <a:p>
            <a:pPr marL="114300" indent="0">
              <a:buNone/>
            </a:pPr>
            <a:r>
              <a:rPr lang="en-US" sz="1800" dirty="0">
                <a:latin typeface="+mj-lt"/>
              </a:rPr>
              <a:t>You don’t need to understand this, just put it in code!</a:t>
            </a:r>
          </a:p>
        </p:txBody>
      </p:sp>
      <p:sp>
        <p:nvSpPr>
          <p:cNvPr id="119" name="Google Shape;119;p29">
            <a:extLst>
              <a:ext uri="{FF2B5EF4-FFF2-40B4-BE49-F238E27FC236}">
                <a16:creationId xmlns:a16="http://schemas.microsoft.com/office/drawing/2014/main" id="{34A61843-BCCA-6664-F08C-46460E531F2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61CEFD1-7ADB-88E3-4B0F-E9595D94190C}"/>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Push-Pull - Output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2C7B4F8-37E9-7954-483D-633067729C6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A42762B-A536-7705-E169-2DF5CD5B96B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495CEF-6409-E37B-6668-5147D3559EA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946B2F0-0828-F038-6BFF-B99C6AC6B96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5E44BE2-F8ED-29E0-461D-70EFC86222F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DFB6B9B-2A6A-6659-363E-55CF76BE59E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098" name="Picture 2" descr="Circuit: push-pull output stage driven by an operational amplifier. The input goes to the op-amp's plus input, and the op-amp output drives the joined bases of two complementary transistors. The upper transistor's collector connects to the positive supply and pulls the output up; the lower one connects to the negative supply and pulls it down. Their emitters join at the output, which drives a load to ground and feeds back to the op-amp's minus input.">
            <a:extLst>
              <a:ext uri="{FF2B5EF4-FFF2-40B4-BE49-F238E27FC236}">
                <a16:creationId xmlns:a16="http://schemas.microsoft.com/office/drawing/2014/main" id="{785CA8E1-A16A-6597-2A7A-112D6D70784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43030" y="1662545"/>
            <a:ext cx="6286978" cy="392936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DE0996D2-F01A-728D-BDDB-B4447FE1871F}"/>
              </a:ext>
            </a:extLst>
          </p:cNvPr>
          <p:cNvSpPr>
            <a:spLocks noChangeArrowheads="1"/>
          </p:cNvSpPr>
          <p:nvPr>
            <p:ph type="title"/>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tkinson Hyperlegible Next"/>
              </a:rPr>
              <a:t>A PMOS transistor pulls the pin </a:t>
            </a:r>
            <a:r>
              <a:rPr kumimoji="0" lang="en-US" altLang="en-US" sz="1800" b="1" i="0" u="none" strike="noStrike" cap="none" normalizeH="0" baseline="0">
                <a:ln>
                  <a:noFill/>
                </a:ln>
                <a:solidFill>
                  <a:schemeClr val="tx1"/>
                </a:solidFill>
                <a:effectLst/>
                <a:latin typeface="Atkinson Hyperlegible Next"/>
              </a:rPr>
              <a:t>up</a:t>
            </a:r>
            <a:r>
              <a:rPr kumimoji="0" lang="en-US" altLang="en-US" sz="1800" b="0" i="0" u="none" strike="noStrike" cap="none" normalizeH="0" baseline="0">
                <a:ln>
                  <a:noFill/>
                </a:ln>
                <a:solidFill>
                  <a:schemeClr val="tx1"/>
                </a:solidFill>
                <a:effectLst/>
                <a:latin typeface="Atkinson Hyperlegible Next"/>
              </a:rPr>
              <a:t> to 3.3 V</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tkinson Hyperlegible Next"/>
            </a:endParaRPr>
          </a:p>
        </p:txBody>
      </p:sp>
      <p:sp>
        <p:nvSpPr>
          <p:cNvPr id="3" name="TextBox 2">
            <a:extLst>
              <a:ext uri="{FF2B5EF4-FFF2-40B4-BE49-F238E27FC236}">
                <a16:creationId xmlns:a16="http://schemas.microsoft.com/office/drawing/2014/main" id="{804A23D2-91C4-10D1-67EE-23EA4D179FAB}"/>
              </a:ext>
            </a:extLst>
          </p:cNvPr>
          <p:cNvSpPr txBox="1"/>
          <p:nvPr/>
        </p:nvSpPr>
        <p:spPr>
          <a:xfrm>
            <a:off x="6934861" y="5591906"/>
            <a:ext cx="4730449" cy="523220"/>
          </a:xfrm>
          <a:prstGeom prst="rect">
            <a:avLst/>
          </a:prstGeom>
          <a:noFill/>
        </p:spPr>
        <p:txBody>
          <a:bodyPr wrap="square" rtlCol="0">
            <a:spAutoFit/>
          </a:bodyPr>
          <a:lstStyle/>
          <a:p>
            <a:r>
              <a:rPr lang="en-US" dirty="0"/>
              <a:t>( I wanted to create the animation for this, but if this text is still here, then it has not been done yet.) </a:t>
            </a:r>
          </a:p>
        </p:txBody>
      </p:sp>
      <p:sp>
        <p:nvSpPr>
          <p:cNvPr id="4" name="TextBox 3">
            <a:extLst>
              <a:ext uri="{FF2B5EF4-FFF2-40B4-BE49-F238E27FC236}">
                <a16:creationId xmlns:a16="http://schemas.microsoft.com/office/drawing/2014/main" id="{701B3803-B13B-9829-6913-1C3545134F00}"/>
              </a:ext>
            </a:extLst>
          </p:cNvPr>
          <p:cNvSpPr txBox="1"/>
          <p:nvPr/>
        </p:nvSpPr>
        <p:spPr>
          <a:xfrm>
            <a:off x="8267966" y="2302161"/>
            <a:ext cx="914400" cy="307777"/>
          </a:xfrm>
          <a:prstGeom prst="rect">
            <a:avLst/>
          </a:prstGeom>
          <a:noFill/>
        </p:spPr>
        <p:txBody>
          <a:bodyPr wrap="square" rtlCol="0">
            <a:spAutoFit/>
          </a:bodyPr>
          <a:lstStyle/>
          <a:p>
            <a:pPr algn="ctr"/>
            <a:r>
              <a:rPr lang="en-US" dirty="0"/>
              <a:t>NMOS</a:t>
            </a:r>
          </a:p>
        </p:txBody>
      </p:sp>
      <p:sp>
        <p:nvSpPr>
          <p:cNvPr id="5" name="TextBox 4">
            <a:extLst>
              <a:ext uri="{FF2B5EF4-FFF2-40B4-BE49-F238E27FC236}">
                <a16:creationId xmlns:a16="http://schemas.microsoft.com/office/drawing/2014/main" id="{76CD4432-1110-2D56-F0AB-EF2588A0C17C}"/>
              </a:ext>
            </a:extLst>
          </p:cNvPr>
          <p:cNvSpPr txBox="1"/>
          <p:nvPr/>
        </p:nvSpPr>
        <p:spPr>
          <a:xfrm>
            <a:off x="8315240" y="3696300"/>
            <a:ext cx="914400" cy="307777"/>
          </a:xfrm>
          <a:prstGeom prst="rect">
            <a:avLst/>
          </a:prstGeom>
          <a:noFill/>
        </p:spPr>
        <p:txBody>
          <a:bodyPr wrap="square" rtlCol="0">
            <a:spAutoFit/>
          </a:bodyPr>
          <a:lstStyle/>
          <a:p>
            <a:pPr algn="ctr"/>
            <a:r>
              <a:rPr lang="en-US" dirty="0"/>
              <a:t>PMOS</a:t>
            </a:r>
          </a:p>
        </p:txBody>
      </p:sp>
      <p:sp>
        <p:nvSpPr>
          <p:cNvPr id="6" name="TextBox 5">
            <a:extLst>
              <a:ext uri="{FF2B5EF4-FFF2-40B4-BE49-F238E27FC236}">
                <a16:creationId xmlns:a16="http://schemas.microsoft.com/office/drawing/2014/main" id="{A276B762-ADEB-3430-5867-F6AD54820357}"/>
              </a:ext>
            </a:extLst>
          </p:cNvPr>
          <p:cNvSpPr txBox="1"/>
          <p:nvPr/>
        </p:nvSpPr>
        <p:spPr>
          <a:xfrm>
            <a:off x="6712086" y="2769140"/>
            <a:ext cx="1193259" cy="523220"/>
          </a:xfrm>
          <a:prstGeom prst="rect">
            <a:avLst/>
          </a:prstGeom>
          <a:noFill/>
        </p:spPr>
        <p:txBody>
          <a:bodyPr wrap="square" rtlCol="0">
            <a:spAutoFit/>
          </a:bodyPr>
          <a:lstStyle/>
          <a:p>
            <a:pPr algn="ctr"/>
            <a:r>
              <a:rPr lang="en-US" dirty="0"/>
              <a:t>Operational Amplifier</a:t>
            </a:r>
          </a:p>
        </p:txBody>
      </p:sp>
      <p:sp>
        <p:nvSpPr>
          <p:cNvPr id="7" name="TextBox 6">
            <a:extLst>
              <a:ext uri="{FF2B5EF4-FFF2-40B4-BE49-F238E27FC236}">
                <a16:creationId xmlns:a16="http://schemas.microsoft.com/office/drawing/2014/main" id="{EC8DCEE7-ACAA-9CE3-77E1-899749D40C42}"/>
              </a:ext>
            </a:extLst>
          </p:cNvPr>
          <p:cNvSpPr txBox="1"/>
          <p:nvPr/>
        </p:nvSpPr>
        <p:spPr>
          <a:xfrm>
            <a:off x="6989985" y="6163817"/>
            <a:ext cx="3793067" cy="261610"/>
          </a:xfrm>
          <a:prstGeom prst="rect">
            <a:avLst/>
          </a:prstGeom>
          <a:noFill/>
        </p:spPr>
        <p:txBody>
          <a:bodyPr wrap="square" rtlCol="0">
            <a:spAutoFit/>
          </a:bodyPr>
          <a:lstStyle/>
          <a:p>
            <a:pPr algn="ctr"/>
            <a:r>
              <a:rPr lang="en-US" sz="1100" dirty="0">
                <a:hlinkClick r:id="rId6"/>
              </a:rPr>
              <a:t>https://en.wikipedia.org/wiki/Push%E2%80%93pull_output</a:t>
            </a:r>
            <a:r>
              <a:rPr lang="en-US" sz="1100" dirty="0"/>
              <a:t> </a:t>
            </a:r>
          </a:p>
        </p:txBody>
      </p:sp>
    </p:spTree>
    <p:extLst>
      <p:ext uri="{BB962C8B-B14F-4D97-AF65-F5344CB8AC3E}">
        <p14:creationId xmlns:p14="http://schemas.microsoft.com/office/powerpoint/2010/main" val="2710591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FA7EAF6-219F-B939-AD81-50F4F696646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6734910-B66A-55C0-B907-C11BCCC092FF}"/>
              </a:ext>
            </a:extLst>
          </p:cNvPr>
          <p:cNvSpPr txBox="1">
            <a:spLocks noGrp="1"/>
          </p:cNvSpPr>
          <p:nvPr>
            <p:ph type="body" idx="1"/>
          </p:nvPr>
        </p:nvSpPr>
        <p:spPr>
          <a:xfrm>
            <a:off x="376810" y="1334279"/>
            <a:ext cx="5569988" cy="4821102"/>
          </a:xfrm>
          <a:prstGeom prst="rect">
            <a:avLst/>
          </a:prstGeom>
          <a:noFill/>
          <a:ln>
            <a:noFill/>
          </a:ln>
        </p:spPr>
        <p:txBody>
          <a:bodyPr spcFirstLastPara="1" wrap="square" lIns="91425" tIns="45700" rIns="91425" bIns="45700" anchor="t" anchorCtr="0">
            <a:noAutofit/>
          </a:bodyPr>
          <a:lstStyle/>
          <a:p>
            <a:pPr marL="114300" indent="0">
              <a:buNone/>
            </a:pPr>
            <a:r>
              <a:rPr lang="en-US" sz="1800" dirty="0">
                <a:latin typeface="+mj-lt"/>
              </a:rPr>
              <a:t>A pull-up resistor is:</a:t>
            </a:r>
          </a:p>
          <a:p>
            <a:r>
              <a:rPr lang="en-US" sz="1800" dirty="0">
                <a:latin typeface="+mj-lt"/>
              </a:rPr>
              <a:t>Slow</a:t>
            </a:r>
          </a:p>
          <a:p>
            <a:r>
              <a:rPr lang="en-US" sz="1800" dirty="0">
                <a:latin typeface="+mj-lt"/>
              </a:rPr>
              <a:t>Incapable of pulling LOW</a:t>
            </a:r>
          </a:p>
          <a:p>
            <a:pPr marL="114300" indent="0">
              <a:buNone/>
            </a:pPr>
            <a:r>
              <a:rPr lang="en-US" sz="1800" dirty="0">
                <a:latin typeface="+mj-lt"/>
              </a:rPr>
              <a:t>So, for outputs, pull-ups are electrically irrelevant and often harmful.</a:t>
            </a:r>
          </a:p>
          <a:p>
            <a:pPr marL="114300" indent="0">
              <a:buNone/>
            </a:pPr>
            <a:endParaRPr lang="en-US" sz="1800" dirty="0">
              <a:latin typeface="+mj-lt"/>
            </a:endParaRPr>
          </a:p>
        </p:txBody>
      </p:sp>
      <p:sp>
        <p:nvSpPr>
          <p:cNvPr id="119" name="Google Shape;119;p29">
            <a:extLst>
              <a:ext uri="{FF2B5EF4-FFF2-40B4-BE49-F238E27FC236}">
                <a16:creationId xmlns:a16="http://schemas.microsoft.com/office/drawing/2014/main" id="{3D8DC894-83C1-4EB6-B0D4-B4CF6D68B67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73FF5F-BF0F-FABE-F0FA-ADA09FB46831}"/>
              </a:ext>
            </a:extLst>
          </p:cNvPr>
          <p:cNvSpPr txBox="1"/>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Push-Pull - Output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3D6337F-20CE-7295-DC77-4A1C5435617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C54887C-F4E2-B2F8-B9AF-4F500D2556D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450BE3E-88E2-BAAA-3924-88639B93CB1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DB5BBF4-E101-8243-8266-8E49E80DB9E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72B1796-D95D-B7E0-E66B-F722D891041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FC211F1-A31F-CB16-4E95-5F0E62722FA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098" name="Picture 2" descr="Circuit: push-pull output stage driven by an operational amplifier. The input goes to the op-amp's plus input, and the op-amp output drives the joined bases of two complementary transistors. The upper transistor's collector connects to the positive supply and pulls the output up; the lower one connects to the negative supply and pulls it down. Their emitters join at the output, which drives a load to ground and feeds back to the op-amp's minus input.">
            <a:extLst>
              <a:ext uri="{FF2B5EF4-FFF2-40B4-BE49-F238E27FC236}">
                <a16:creationId xmlns:a16="http://schemas.microsoft.com/office/drawing/2014/main" id="{D1F8CC7D-879A-7262-1244-4483EACF72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3030" y="1662545"/>
            <a:ext cx="6286978" cy="392936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6DEF9745-2DFE-1DE6-04E5-B263C9481698}"/>
              </a:ext>
            </a:extLst>
          </p:cNvPr>
          <p:cNvSpPr>
            <a:spLocks noChangeArrowheads="1"/>
          </p:cNvSpPr>
          <p:nvPr>
            <p:ph type="title"/>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a:ln>
                  <a:noFill/>
                </a:ln>
                <a:solidFill>
                  <a:schemeClr val="tx1"/>
                </a:solidFill>
                <a:effectLst/>
                <a:latin typeface="Atkinson Hyperlegible Next"/>
              </a:rPr>
              <a:t>A PMOS transistor pulls the pin </a:t>
            </a:r>
            <a:r>
              <a:rPr kumimoji="0" lang="en-US" altLang="en-US" sz="1800" b="1" i="0" u="none" strike="noStrike" cap="none" normalizeH="0" baseline="0">
                <a:ln>
                  <a:noFill/>
                </a:ln>
                <a:solidFill>
                  <a:schemeClr val="tx1"/>
                </a:solidFill>
                <a:effectLst/>
                <a:latin typeface="Atkinson Hyperlegible Next"/>
              </a:rPr>
              <a:t>up</a:t>
            </a:r>
            <a:r>
              <a:rPr kumimoji="0" lang="en-US" altLang="en-US" sz="1800" b="0" i="0" u="none" strike="noStrike" cap="none" normalizeH="0" baseline="0">
                <a:ln>
                  <a:noFill/>
                </a:ln>
                <a:solidFill>
                  <a:schemeClr val="tx1"/>
                </a:solidFill>
                <a:effectLst/>
                <a:latin typeface="Atkinson Hyperlegible Next"/>
              </a:rPr>
              <a:t> to 3.3 V</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tkinson Hyperlegible Next"/>
            </a:endParaRPr>
          </a:p>
        </p:txBody>
      </p:sp>
      <p:sp>
        <p:nvSpPr>
          <p:cNvPr id="3" name="TextBox 2">
            <a:extLst>
              <a:ext uri="{FF2B5EF4-FFF2-40B4-BE49-F238E27FC236}">
                <a16:creationId xmlns:a16="http://schemas.microsoft.com/office/drawing/2014/main" id="{AFAA4260-9A40-D891-BB00-75F7BBEAEF59}"/>
              </a:ext>
            </a:extLst>
          </p:cNvPr>
          <p:cNvSpPr txBox="1"/>
          <p:nvPr/>
        </p:nvSpPr>
        <p:spPr>
          <a:xfrm>
            <a:off x="6934861" y="5591906"/>
            <a:ext cx="4730449" cy="523220"/>
          </a:xfrm>
          <a:prstGeom prst="rect">
            <a:avLst/>
          </a:prstGeom>
          <a:noFill/>
        </p:spPr>
        <p:txBody>
          <a:bodyPr wrap="square" rtlCol="0">
            <a:spAutoFit/>
          </a:bodyPr>
          <a:lstStyle/>
          <a:p>
            <a:r>
              <a:rPr lang="en-US" dirty="0"/>
              <a:t>( I wanted to create the animation for this, but if this text is still here, then it has not been done yet.) </a:t>
            </a:r>
          </a:p>
        </p:txBody>
      </p:sp>
      <p:sp>
        <p:nvSpPr>
          <p:cNvPr id="4" name="TextBox 3">
            <a:extLst>
              <a:ext uri="{FF2B5EF4-FFF2-40B4-BE49-F238E27FC236}">
                <a16:creationId xmlns:a16="http://schemas.microsoft.com/office/drawing/2014/main" id="{FE3BD9EE-7EDF-97DD-7535-1562A508D801}"/>
              </a:ext>
            </a:extLst>
          </p:cNvPr>
          <p:cNvSpPr txBox="1"/>
          <p:nvPr/>
        </p:nvSpPr>
        <p:spPr>
          <a:xfrm>
            <a:off x="8267966" y="2302161"/>
            <a:ext cx="914400" cy="307777"/>
          </a:xfrm>
          <a:prstGeom prst="rect">
            <a:avLst/>
          </a:prstGeom>
          <a:noFill/>
        </p:spPr>
        <p:txBody>
          <a:bodyPr wrap="square" rtlCol="0">
            <a:spAutoFit/>
          </a:bodyPr>
          <a:lstStyle/>
          <a:p>
            <a:pPr algn="ctr"/>
            <a:r>
              <a:rPr lang="en-US" dirty="0"/>
              <a:t>NMOS</a:t>
            </a:r>
          </a:p>
        </p:txBody>
      </p:sp>
      <p:sp>
        <p:nvSpPr>
          <p:cNvPr id="5" name="TextBox 4">
            <a:extLst>
              <a:ext uri="{FF2B5EF4-FFF2-40B4-BE49-F238E27FC236}">
                <a16:creationId xmlns:a16="http://schemas.microsoft.com/office/drawing/2014/main" id="{44E2198D-F51A-C4F6-0B53-74853D68958F}"/>
              </a:ext>
            </a:extLst>
          </p:cNvPr>
          <p:cNvSpPr txBox="1"/>
          <p:nvPr/>
        </p:nvSpPr>
        <p:spPr>
          <a:xfrm>
            <a:off x="8315240" y="3696300"/>
            <a:ext cx="914400" cy="307777"/>
          </a:xfrm>
          <a:prstGeom prst="rect">
            <a:avLst/>
          </a:prstGeom>
          <a:noFill/>
        </p:spPr>
        <p:txBody>
          <a:bodyPr wrap="square" rtlCol="0">
            <a:spAutoFit/>
          </a:bodyPr>
          <a:lstStyle/>
          <a:p>
            <a:pPr algn="ctr"/>
            <a:r>
              <a:rPr lang="en-US" dirty="0"/>
              <a:t>PMOS</a:t>
            </a:r>
          </a:p>
        </p:txBody>
      </p:sp>
      <p:sp>
        <p:nvSpPr>
          <p:cNvPr id="6" name="TextBox 5">
            <a:extLst>
              <a:ext uri="{FF2B5EF4-FFF2-40B4-BE49-F238E27FC236}">
                <a16:creationId xmlns:a16="http://schemas.microsoft.com/office/drawing/2014/main" id="{76E5ABC5-E652-9C78-A670-10888E14AD7C}"/>
              </a:ext>
            </a:extLst>
          </p:cNvPr>
          <p:cNvSpPr txBox="1"/>
          <p:nvPr/>
        </p:nvSpPr>
        <p:spPr>
          <a:xfrm>
            <a:off x="6712086" y="2769140"/>
            <a:ext cx="1193259" cy="523220"/>
          </a:xfrm>
          <a:prstGeom prst="rect">
            <a:avLst/>
          </a:prstGeom>
          <a:noFill/>
        </p:spPr>
        <p:txBody>
          <a:bodyPr wrap="square" rtlCol="0">
            <a:spAutoFit/>
          </a:bodyPr>
          <a:lstStyle/>
          <a:p>
            <a:pPr algn="ctr"/>
            <a:r>
              <a:rPr lang="en-US" dirty="0"/>
              <a:t>Operational Amplifier</a:t>
            </a:r>
          </a:p>
        </p:txBody>
      </p:sp>
      <p:sp>
        <p:nvSpPr>
          <p:cNvPr id="7" name="TextBox 6">
            <a:extLst>
              <a:ext uri="{FF2B5EF4-FFF2-40B4-BE49-F238E27FC236}">
                <a16:creationId xmlns:a16="http://schemas.microsoft.com/office/drawing/2014/main" id="{B9F8F7C3-BEA9-720E-727F-6C73B5A6D30C}"/>
              </a:ext>
            </a:extLst>
          </p:cNvPr>
          <p:cNvSpPr txBox="1"/>
          <p:nvPr/>
        </p:nvSpPr>
        <p:spPr>
          <a:xfrm>
            <a:off x="6989985" y="6163817"/>
            <a:ext cx="3793067" cy="261610"/>
          </a:xfrm>
          <a:prstGeom prst="rect">
            <a:avLst/>
          </a:prstGeom>
          <a:noFill/>
        </p:spPr>
        <p:txBody>
          <a:bodyPr wrap="square" rtlCol="0">
            <a:spAutoFit/>
          </a:bodyPr>
          <a:lstStyle/>
          <a:p>
            <a:pPr algn="ctr"/>
            <a:r>
              <a:rPr lang="en-US" sz="1100" dirty="0">
                <a:hlinkClick r:id="rId5"/>
              </a:rPr>
              <a:t>https://en.wikipedia.org/wiki/Push%E2%80%93pull_output</a:t>
            </a:r>
            <a:r>
              <a:rPr lang="en-US" sz="1100" dirty="0"/>
              <a:t> </a:t>
            </a:r>
          </a:p>
        </p:txBody>
      </p:sp>
    </p:spTree>
    <p:extLst>
      <p:ext uri="{BB962C8B-B14F-4D97-AF65-F5344CB8AC3E}">
        <p14:creationId xmlns:p14="http://schemas.microsoft.com/office/powerpoint/2010/main" val="10991456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755900A-1584-865A-E16E-977CAC8219F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6E80A18-9A3D-C8B6-B42A-1FBA3D7DB142}"/>
              </a:ext>
            </a:extLst>
          </p:cNvPr>
          <p:cNvSpPr txBox="1">
            <a:spLocks noGrp="1"/>
          </p:cNvSpPr>
          <p:nvPr>
            <p:ph type="body" idx="1"/>
          </p:nvPr>
        </p:nvSpPr>
        <p:spPr>
          <a:xfrm>
            <a:off x="376809" y="1334279"/>
            <a:ext cx="11177401" cy="510278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Why would we run out of power?</a:t>
            </a:r>
          </a:p>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Each GPIO output has its own transistors and can safely source or sink only a limited current.</a:t>
            </a:r>
          </a:p>
          <a:p>
            <a:pPr marL="0" lvl="0" indent="0" algn="l" rtl="0">
              <a:lnSpc>
                <a:spcPct val="100000"/>
              </a:lnSpc>
              <a:spcBef>
                <a:spcPts val="0"/>
              </a:spcBef>
              <a:spcAft>
                <a:spcPts val="0"/>
              </a:spcAft>
              <a:buSzPts val="3000"/>
              <a:buNone/>
            </a:pPr>
            <a:endParaRPr lang="en-US" sz="1800" dirty="0">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However, all GPIOs draw that current from shared internal power and ground networks inside the chip.</a:t>
            </a:r>
          </a:p>
          <a:p>
            <a:pPr marL="0" lvl="0" indent="0" algn="l" rtl="0">
              <a:lnSpc>
                <a:spcPct val="100000"/>
              </a:lnSpc>
              <a:spcBef>
                <a:spcPts val="0"/>
              </a:spcBef>
              <a:spcAft>
                <a:spcPts val="0"/>
              </a:spcAft>
              <a:buSzPts val="3000"/>
              <a:buNone/>
            </a:pPr>
            <a:endParaRPr lang="en-US" sz="1800" dirty="0">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Even if each individual pin is within its limit, the sum of all GPIO currents can exceed what the silicon, bond wires, or package can safely carry.</a:t>
            </a:r>
          </a:p>
          <a:p>
            <a:pPr marL="0" lvl="0" indent="0" algn="l" rtl="0">
              <a:lnSpc>
                <a:spcPct val="100000"/>
              </a:lnSpc>
              <a:spcBef>
                <a:spcPts val="0"/>
              </a:spcBef>
              <a:spcAft>
                <a:spcPts val="0"/>
              </a:spcAft>
              <a:buSzPts val="3000"/>
              <a:buNone/>
            </a:pPr>
            <a:endParaRPr lang="en-US" sz="1800" dirty="0">
              <a:latin typeface="+mj-lt"/>
              <a:ea typeface="Arial"/>
              <a:cs typeface="Arial"/>
              <a:sym typeface="Arial"/>
            </a:endParaRPr>
          </a:p>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This is why microcontrollers specify both per-pin and total GPIO current limits, and why </a:t>
            </a:r>
            <a:r>
              <a:rPr lang="en-US" sz="1800" b="1" dirty="0">
                <a:solidFill>
                  <a:schemeClr val="dk1"/>
                </a:solidFill>
                <a:latin typeface="+mj-lt"/>
                <a:ea typeface="Arial"/>
                <a:cs typeface="Arial"/>
                <a:sym typeface="Arial"/>
              </a:rPr>
              <a:t>GPIOs must never be used as power supplies</a:t>
            </a:r>
            <a:r>
              <a:rPr lang="en-US" sz="1800" dirty="0">
                <a:solidFill>
                  <a:schemeClr val="dk1"/>
                </a:solidFill>
                <a:latin typeface="+mj-lt"/>
                <a:ea typeface="Arial"/>
                <a:cs typeface="Arial"/>
                <a:sym typeface="Arial"/>
              </a:rPr>
              <a:t>.</a:t>
            </a:r>
          </a:p>
          <a:p>
            <a:pPr marL="0" lvl="0" indent="0" algn="l" rtl="0">
              <a:lnSpc>
                <a:spcPct val="100000"/>
              </a:lnSpc>
              <a:spcBef>
                <a:spcPts val="0"/>
              </a:spcBef>
              <a:spcAft>
                <a:spcPts val="0"/>
              </a:spcAft>
              <a:buSzPts val="3000"/>
              <a:buNone/>
            </a:pPr>
            <a:endParaRPr lang="en-US" sz="1800" dirty="0">
              <a:latin typeface="+mj-lt"/>
              <a:ea typeface="Arial"/>
              <a:cs typeface="Arial"/>
              <a:sym typeface="Arial"/>
            </a:endParaRPr>
          </a:p>
          <a:p>
            <a:pPr marL="0" lvl="0" indent="0">
              <a:lnSpc>
                <a:spcPct val="100000"/>
              </a:lnSpc>
              <a:spcBef>
                <a:spcPts val="0"/>
              </a:spcBef>
              <a:buSzPts val="3000"/>
              <a:buNone/>
            </a:pPr>
            <a:r>
              <a:rPr lang="en-US" sz="1800" dirty="0">
                <a:latin typeface="+mj-lt"/>
              </a:rPr>
              <a:t>Think of each GPIO as a faucet drawing water from the same pipe.</a:t>
            </a:r>
          </a:p>
          <a:p>
            <a:pPr marL="285750" indent="-285750">
              <a:lnSpc>
                <a:spcPct val="100000"/>
              </a:lnSpc>
              <a:spcBef>
                <a:spcPts val="0"/>
              </a:spcBef>
              <a:buSzPts val="3000"/>
            </a:pPr>
            <a:r>
              <a:rPr lang="en-US" sz="1800" dirty="0">
                <a:solidFill>
                  <a:schemeClr val="dk1"/>
                </a:solidFill>
                <a:latin typeface="+mj-lt"/>
                <a:ea typeface="Arial"/>
                <a:cs typeface="Arial"/>
                <a:sym typeface="Arial"/>
              </a:rPr>
              <a:t>Each faucet has a </a:t>
            </a:r>
            <a:r>
              <a:rPr lang="en-US" sz="1800" b="1" dirty="0">
                <a:solidFill>
                  <a:schemeClr val="dk1"/>
                </a:solidFill>
                <a:latin typeface="+mj-lt"/>
                <a:ea typeface="Arial"/>
                <a:cs typeface="Arial"/>
                <a:sym typeface="Arial"/>
              </a:rPr>
              <a:t>local limit </a:t>
            </a:r>
            <a:r>
              <a:rPr lang="en-US" sz="1800" dirty="0">
                <a:solidFill>
                  <a:schemeClr val="dk1"/>
                </a:solidFill>
                <a:latin typeface="+mj-lt"/>
                <a:ea typeface="Arial"/>
                <a:cs typeface="Arial"/>
                <a:sym typeface="Arial"/>
              </a:rPr>
              <a:t>(per-pin current)</a:t>
            </a:r>
          </a:p>
          <a:p>
            <a:pPr marL="285750" indent="-285750">
              <a:lnSpc>
                <a:spcPct val="100000"/>
              </a:lnSpc>
              <a:spcBef>
                <a:spcPts val="0"/>
              </a:spcBef>
              <a:buSzPts val="3000"/>
            </a:pPr>
            <a:r>
              <a:rPr lang="en-US" sz="1800" dirty="0">
                <a:solidFill>
                  <a:schemeClr val="dk1"/>
                </a:solidFill>
                <a:latin typeface="+mj-lt"/>
                <a:ea typeface="Arial"/>
                <a:cs typeface="Arial"/>
                <a:sym typeface="Arial"/>
              </a:rPr>
              <a:t>The pipe has a </a:t>
            </a:r>
            <a:r>
              <a:rPr lang="en-US" sz="1800" b="1" dirty="0">
                <a:solidFill>
                  <a:schemeClr val="dk1"/>
                </a:solidFill>
                <a:latin typeface="+mj-lt"/>
                <a:ea typeface="Arial"/>
                <a:cs typeface="Arial"/>
                <a:sym typeface="Arial"/>
              </a:rPr>
              <a:t>global flow limit </a:t>
            </a:r>
            <a:r>
              <a:rPr lang="en-US" sz="1800" dirty="0">
                <a:solidFill>
                  <a:schemeClr val="dk1"/>
                </a:solidFill>
                <a:latin typeface="+mj-lt"/>
                <a:ea typeface="Arial"/>
                <a:cs typeface="Arial"/>
                <a:sym typeface="Arial"/>
              </a:rPr>
              <a:t>(total GPIO current)</a:t>
            </a:r>
          </a:p>
          <a:p>
            <a:pPr marL="0" indent="0">
              <a:lnSpc>
                <a:spcPct val="100000"/>
              </a:lnSpc>
              <a:spcBef>
                <a:spcPts val="0"/>
              </a:spcBef>
              <a:buSzPts val="3000"/>
              <a:buNone/>
            </a:pPr>
            <a:r>
              <a:rPr lang="en-US" sz="1800" dirty="0">
                <a:solidFill>
                  <a:schemeClr val="dk1"/>
                </a:solidFill>
                <a:latin typeface="+mj-lt"/>
                <a:ea typeface="Arial"/>
                <a:cs typeface="Arial"/>
                <a:sym typeface="Arial"/>
              </a:rPr>
              <a:t>Opening too many faucets:</a:t>
            </a:r>
          </a:p>
          <a:p>
            <a:pPr marL="285750" indent="-285750">
              <a:lnSpc>
                <a:spcPct val="100000"/>
              </a:lnSpc>
              <a:spcBef>
                <a:spcPts val="0"/>
              </a:spcBef>
              <a:buSzPts val="3000"/>
            </a:pPr>
            <a:r>
              <a:rPr lang="en-US" sz="1800" dirty="0">
                <a:solidFill>
                  <a:schemeClr val="dk1"/>
                </a:solidFill>
                <a:latin typeface="+mj-lt"/>
                <a:ea typeface="Arial"/>
                <a:cs typeface="Arial"/>
                <a:sym typeface="Arial"/>
              </a:rPr>
              <a:t>Reduces pressure</a:t>
            </a:r>
          </a:p>
          <a:p>
            <a:pPr marL="285750" indent="-285750">
              <a:lnSpc>
                <a:spcPct val="100000"/>
              </a:lnSpc>
              <a:spcBef>
                <a:spcPts val="0"/>
              </a:spcBef>
              <a:buSzPts val="3000"/>
            </a:pPr>
            <a:r>
              <a:rPr lang="en-US" sz="1800" dirty="0">
                <a:solidFill>
                  <a:schemeClr val="dk1"/>
                </a:solidFill>
                <a:latin typeface="+mj-lt"/>
                <a:ea typeface="Arial"/>
                <a:cs typeface="Arial"/>
                <a:sym typeface="Arial"/>
              </a:rPr>
              <a:t>Stresses the pipe</a:t>
            </a:r>
          </a:p>
          <a:p>
            <a:pPr marL="285750" indent="-285750">
              <a:lnSpc>
                <a:spcPct val="100000"/>
              </a:lnSpc>
              <a:spcBef>
                <a:spcPts val="0"/>
              </a:spcBef>
              <a:buSzPts val="3000"/>
            </a:pPr>
            <a:r>
              <a:rPr lang="en-US" sz="1800" dirty="0">
                <a:solidFill>
                  <a:schemeClr val="dk1"/>
                </a:solidFill>
                <a:latin typeface="+mj-lt"/>
                <a:ea typeface="Arial"/>
                <a:cs typeface="Arial"/>
                <a:sym typeface="Arial"/>
              </a:rPr>
              <a:t>Causes failure elsewhere</a:t>
            </a:r>
            <a:endParaRPr lang="en-US" sz="1800" dirty="0">
              <a:latin typeface="+mj-lt"/>
              <a:ea typeface="Arial"/>
              <a:cs typeface="Arial"/>
              <a:sym typeface="Arial"/>
            </a:endParaRPr>
          </a:p>
        </p:txBody>
      </p:sp>
      <p:sp>
        <p:nvSpPr>
          <p:cNvPr id="119" name="Google Shape;119;p29">
            <a:extLst>
              <a:ext uri="{FF2B5EF4-FFF2-40B4-BE49-F238E27FC236}">
                <a16:creationId xmlns:a16="http://schemas.microsoft.com/office/drawing/2014/main" id="{D5E40B6D-570B-BDCE-8559-6635E3508B1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447384C-71F9-B962-244D-9EF7ADE6905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Digital Outputs – too many GPIO output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721AAC4-FC2E-66EB-89BB-8D1383B1ED0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7575B25-09D6-D8D2-8BF7-BF0B088EBD3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360783A-AA1F-2A77-A35F-1F06412D3A3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3638098-3DAE-64D5-7B8B-FCCE36321A0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FA1198A-55F2-0DB8-D7F7-173ED5D3DD9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2495BEC-F211-57CF-AAC2-2E3E43098DD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057408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217C608-71AA-1AF2-820C-BC27A5D033B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698FFD7-7CBA-4FF5-2772-57AC6126F332}"/>
              </a:ext>
            </a:extLst>
          </p:cNvPr>
          <p:cNvSpPr txBox="1">
            <a:spLocks noGrp="1"/>
          </p:cNvSpPr>
          <p:nvPr>
            <p:ph type="body" idx="1"/>
          </p:nvPr>
        </p:nvSpPr>
        <p:spPr>
          <a:xfrm>
            <a:off x="376809" y="1334279"/>
            <a:ext cx="7341239"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solidFill>
                  <a:schemeClr val="dk1"/>
                </a:solidFill>
                <a:latin typeface="+mj-lt"/>
                <a:ea typeface="Arial"/>
                <a:cs typeface="Arial"/>
                <a:sym typeface="Arial"/>
              </a:rPr>
              <a:t>What an input pin is:</a:t>
            </a:r>
          </a:p>
          <a:p>
            <a:pPr marL="285750" indent="-285750">
              <a:lnSpc>
                <a:spcPct val="100000"/>
              </a:lnSpc>
              <a:spcBef>
                <a:spcPts val="0"/>
              </a:spcBef>
              <a:buSzPts val="3000"/>
            </a:pPr>
            <a:r>
              <a:rPr lang="en-US" sz="1800" dirty="0">
                <a:latin typeface="+mj-lt"/>
                <a:cs typeface="Arial"/>
                <a:sym typeface="Arial"/>
              </a:rPr>
              <a:t>Pin becomes high-impedance, sensitive to low current, allowing for high voltages</a:t>
            </a:r>
          </a:p>
          <a:p>
            <a:pPr marL="285750" indent="-285750">
              <a:lnSpc>
                <a:spcPct val="100000"/>
              </a:lnSpc>
              <a:spcBef>
                <a:spcPts val="0"/>
              </a:spcBef>
              <a:buSzPts val="3000"/>
            </a:pPr>
            <a:r>
              <a:rPr lang="en-US" sz="1800" dirty="0">
                <a:latin typeface="+mj-lt"/>
                <a:cs typeface="Arial"/>
                <a:sym typeface="Arial"/>
              </a:rPr>
              <a:t>Sensitive to noise</a:t>
            </a:r>
          </a:p>
          <a:p>
            <a:pPr marL="285750" indent="-285750">
              <a:lnSpc>
                <a:spcPct val="100000"/>
              </a:lnSpc>
              <a:spcBef>
                <a:spcPts val="0"/>
              </a:spcBef>
              <a:buSzPts val="3000"/>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The internal pull-up:</a:t>
            </a:r>
          </a:p>
          <a:p>
            <a:pPr marL="285750" indent="-285750">
              <a:lnSpc>
                <a:spcPct val="100000"/>
              </a:lnSpc>
              <a:spcBef>
                <a:spcPts val="0"/>
              </a:spcBef>
              <a:buSzPts val="3000"/>
            </a:pPr>
            <a:r>
              <a:rPr lang="en-US" sz="1800" dirty="0">
                <a:latin typeface="+mj-lt"/>
                <a:cs typeface="Arial"/>
                <a:sym typeface="Arial"/>
              </a:rPr>
              <a:t>Weak resistor (~20-50 k</a:t>
            </a:r>
            <a:r>
              <a:rPr lang="el-GR" sz="1800" dirty="0"/>
              <a:t>Ω</a:t>
            </a:r>
            <a:r>
              <a:rPr lang="en-US" sz="1800" dirty="0"/>
              <a:t>)</a:t>
            </a:r>
          </a:p>
          <a:p>
            <a:pPr marL="285750" indent="-285750">
              <a:lnSpc>
                <a:spcPct val="100000"/>
              </a:lnSpc>
              <a:spcBef>
                <a:spcPts val="0"/>
              </a:spcBef>
              <a:buSzPts val="3000"/>
            </a:pPr>
            <a:r>
              <a:rPr lang="en-US" sz="1800" dirty="0">
                <a:latin typeface="+mj-lt"/>
                <a:cs typeface="Arial"/>
                <a:sym typeface="Arial"/>
              </a:rPr>
              <a:t>Slightly biases pin to logic HIGH</a:t>
            </a:r>
          </a:p>
          <a:p>
            <a:pPr marL="285750" indent="-285750">
              <a:lnSpc>
                <a:spcPct val="100000"/>
              </a:lnSpc>
              <a:spcBef>
                <a:spcPts val="0"/>
              </a:spcBef>
              <a:buSzPts val="3000"/>
            </a:pPr>
            <a:r>
              <a:rPr lang="en-US" sz="1800" dirty="0">
                <a:latin typeface="+mj-lt"/>
                <a:cs typeface="Arial"/>
                <a:sym typeface="Arial"/>
              </a:rPr>
              <a:t>Can be overridden by external hardware (button to GND)</a:t>
            </a:r>
          </a:p>
          <a:p>
            <a:pPr marL="285750" indent="-285750">
              <a:lnSpc>
                <a:spcPct val="100000"/>
              </a:lnSpc>
              <a:spcBef>
                <a:spcPts val="0"/>
              </a:spcBef>
              <a:buSzPts val="3000"/>
            </a:pPr>
            <a:endParaRPr lang="en-US" sz="1800" dirty="0">
              <a:latin typeface="+mj-lt"/>
              <a:cs typeface="Arial"/>
              <a:sym typeface="Arial"/>
            </a:endParaRPr>
          </a:p>
          <a:p>
            <a:pPr marL="0" indent="0">
              <a:lnSpc>
                <a:spcPct val="100000"/>
              </a:lnSpc>
              <a:spcBef>
                <a:spcPts val="0"/>
              </a:spcBef>
              <a:buSzPts val="3000"/>
              <a:buNone/>
            </a:pPr>
            <a:r>
              <a:rPr lang="en-US" sz="1800" dirty="0">
                <a:latin typeface="+mj-lt"/>
                <a:cs typeface="Arial"/>
                <a:sym typeface="Arial"/>
              </a:rPr>
              <a:t>Without pull-up, just using floating-inputs, you would be sensitive to random noise, returning:</a:t>
            </a:r>
          </a:p>
          <a:p>
            <a:pPr marL="285750" indent="-285750">
              <a:lnSpc>
                <a:spcPct val="100000"/>
              </a:lnSpc>
              <a:spcBef>
                <a:spcPts val="0"/>
              </a:spcBef>
              <a:buSzPts val="3000"/>
            </a:pPr>
            <a:r>
              <a:rPr lang="en-US" sz="1800" dirty="0">
                <a:latin typeface="+mj-lt"/>
                <a:cs typeface="Arial"/>
                <a:sym typeface="Arial"/>
              </a:rPr>
              <a:t>Random bits</a:t>
            </a:r>
          </a:p>
          <a:p>
            <a:pPr marL="285750" indent="-285750">
              <a:lnSpc>
                <a:spcPct val="100000"/>
              </a:lnSpc>
              <a:spcBef>
                <a:spcPts val="0"/>
              </a:spcBef>
              <a:buSzPts val="3000"/>
            </a:pPr>
            <a:r>
              <a:rPr lang="en-US" sz="1800" dirty="0">
                <a:latin typeface="+mj-lt"/>
                <a:cs typeface="Arial"/>
                <a:sym typeface="Arial"/>
              </a:rPr>
              <a:t>Thus, unpredictable control behavior</a:t>
            </a:r>
          </a:p>
        </p:txBody>
      </p:sp>
      <p:sp>
        <p:nvSpPr>
          <p:cNvPr id="119" name="Google Shape;119;p29">
            <a:extLst>
              <a:ext uri="{FF2B5EF4-FFF2-40B4-BE49-F238E27FC236}">
                <a16:creationId xmlns:a16="http://schemas.microsoft.com/office/drawing/2014/main" id="{4AF9F15F-2F11-0BF8-8EDE-AD952B0401E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2B94127-5D57-A56F-9B9C-CFF14E9B012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Pull-Up / Pull-Down Resistors - Input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74F108B-6810-5503-0C1E-DDE3101011D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BE4F6D2-C55E-A0A8-513E-08D58E238D4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8297834-D01F-6772-E65E-B21EC028CCE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28591C5-FD89-BE20-2382-C952DFEF038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1D37F76-FF5B-96CD-A275-06EC3BD7F71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B4E2370-644A-FBDF-0965-E937B135BFD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descr="Two circuits. Top, pull-up: a resistor runs from V sub CC down to a node that feeds the digital input, and a switching device connects that node to V sub SS (ground or another low-impedance source). Bottom, pull-down: the switching device runs from V sub CC (or another low-impedance source) down to the input node, and a resistor connects that node to V sub SS. In each, the resistor sets the default level and the closed switch drives the input to the opposite rail.">
            <a:extLst>
              <a:ext uri="{FF2B5EF4-FFF2-40B4-BE49-F238E27FC236}">
                <a16:creationId xmlns:a16="http://schemas.microsoft.com/office/drawing/2014/main" id="{6C983543-E503-AFF6-EB67-27E5999BF53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9219" y="983446"/>
            <a:ext cx="2598126" cy="5196252"/>
          </a:xfrm>
          <a:prstGeom prst="rect">
            <a:avLst/>
          </a:prstGeom>
        </p:spPr>
      </p:pic>
      <p:sp>
        <p:nvSpPr>
          <p:cNvPr id="2" name="TextBox 1">
            <a:extLst>
              <a:ext uri="{FF2B5EF4-FFF2-40B4-BE49-F238E27FC236}">
                <a16:creationId xmlns:a16="http://schemas.microsoft.com/office/drawing/2014/main" id="{CF5CA09D-5225-499B-AF46-7829BC91E492}"/>
              </a:ext>
            </a:extLst>
          </p:cNvPr>
          <p:cNvSpPr txBox="1"/>
          <p:nvPr/>
        </p:nvSpPr>
        <p:spPr>
          <a:xfrm>
            <a:off x="7618314" y="6129007"/>
            <a:ext cx="2919935" cy="261610"/>
          </a:xfrm>
          <a:prstGeom prst="rect">
            <a:avLst/>
          </a:prstGeom>
          <a:noFill/>
        </p:spPr>
        <p:txBody>
          <a:bodyPr wrap="square" rtlCol="0">
            <a:spAutoFit/>
          </a:bodyPr>
          <a:lstStyle/>
          <a:p>
            <a:pPr algn="ctr"/>
            <a:r>
              <a:rPr lang="en-US" sz="1100" dirty="0">
                <a:hlinkClick r:id="rId6"/>
              </a:rPr>
              <a:t>https://en.wikipedia.org/wiki/Pull-up_resistor</a:t>
            </a:r>
            <a:r>
              <a:rPr lang="en-US" sz="1100" dirty="0"/>
              <a:t> </a:t>
            </a:r>
          </a:p>
        </p:txBody>
      </p:sp>
    </p:spTree>
    <p:extLst>
      <p:ext uri="{BB962C8B-B14F-4D97-AF65-F5344CB8AC3E}">
        <p14:creationId xmlns:p14="http://schemas.microsoft.com/office/powerpoint/2010/main" val="12212218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60EDE0FE-74B9-310D-A367-9878117E548F}"/>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DF24D40-D29D-CD6D-BAFA-7923D74CD6E4}"/>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Pin Mux</a:t>
            </a:r>
            <a:endParaRPr i="0" b="0" sz="1400" dirty="0">
              <a:solidFill>
                <a:srgbClr val="000000"/>
              </a:solidFill>
            </a:endParaRPr>
          </a:p>
        </p:txBody>
      </p:sp>
      <p:grpSp>
        <p:nvGrpSpPr>
          <p:cNvPr id="105" name="Google Shape;105;p28">
            <a:extLst>
              <a:ext uri="{FF2B5EF4-FFF2-40B4-BE49-F238E27FC236}">
                <a16:creationId xmlns:a16="http://schemas.microsoft.com/office/drawing/2014/main" id="{B311F0E6-306A-7474-9D56-B1DE7C92F4D8}"/>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1F24BFBC-8FF4-B824-E5D2-DC6D70F75BCE}"/>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988DCA9-2AC3-DE3E-5368-EBD74DD4D279}"/>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A8A3E628-018E-E5CD-2906-E64B0963A563}"/>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93D635C-219A-21EA-33CA-C922FD8B85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B1514480-ECAD-A1DA-AECD-BBA644CABD83}"/>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B7BC3879-4714-42DE-0771-DA880B466264}"/>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04038AB-56A4-198D-5789-9C370A590CB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484ADB6A-A310-9BDA-D7A1-79020777FB2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368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05CE3D6-6D67-AEFE-A8A5-FF9DAE6456D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F2B8B11-A929-7EEE-B502-7E839B44EDB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The Red Board has only </a:t>
            </a:r>
            <a:r>
              <a:rPr lang="en-US" sz="1800" b="1" dirty="0">
                <a:latin typeface="Atkinson Hyperlegible Next"/>
                <a:ea typeface="Arial"/>
                <a:cs typeface="Arial"/>
                <a:sym typeface="Arial"/>
              </a:rPr>
              <a:t>80</a:t>
            </a:r>
            <a:r>
              <a:rPr lang="en-US" sz="1800" dirty="0">
                <a:latin typeface="Atkinson Hyperlegible Next"/>
                <a:ea typeface="Arial"/>
                <a:cs typeface="Arial"/>
                <a:sym typeface="Arial"/>
              </a:rPr>
              <a:t> pins but </a:t>
            </a:r>
            <a:r>
              <a:rPr lang="en-US" sz="1800" b="1" dirty="0">
                <a:latin typeface="Atkinson Hyperlegible Next"/>
                <a:ea typeface="Arial"/>
                <a:cs typeface="Arial"/>
                <a:sym typeface="Arial"/>
              </a:rPr>
              <a:t>160</a:t>
            </a:r>
            <a:r>
              <a:rPr lang="en-US" sz="1800" dirty="0">
                <a:latin typeface="Atkinson Hyperlegible Next"/>
                <a:ea typeface="Arial"/>
                <a:cs typeface="Arial"/>
                <a:sym typeface="Arial"/>
              </a:rPr>
              <a:t> GPIO! </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We also need the pins to do multiple specialized things,</a:t>
            </a:r>
          </a:p>
          <a:p>
            <a:pPr marL="285750" indent="-285750">
              <a:lnSpc>
                <a:spcPct val="100000"/>
              </a:lnSpc>
              <a:spcBef>
                <a:spcPts val="0"/>
              </a:spcBef>
              <a:buSzPts val="3000"/>
            </a:pPr>
            <a:r>
              <a:rPr lang="en-US" sz="1800" dirty="0">
                <a:latin typeface="Atkinson Hyperlegible Next"/>
                <a:ea typeface="Arial"/>
                <a:cs typeface="Arial"/>
                <a:sym typeface="Arial"/>
              </a:rPr>
              <a:t>GPIO                   (General Purpose Input-Output)</a:t>
            </a:r>
          </a:p>
          <a:p>
            <a:pPr marL="285750" indent="-285750">
              <a:lnSpc>
                <a:spcPct val="100000"/>
              </a:lnSpc>
              <a:spcBef>
                <a:spcPts val="0"/>
              </a:spcBef>
              <a:buSzPts val="3000"/>
            </a:pPr>
            <a:r>
              <a:rPr lang="en-US" sz="1800" dirty="0">
                <a:latin typeface="Atkinson Hyperlegible Next"/>
                <a:ea typeface="Arial"/>
                <a:cs typeface="Arial"/>
                <a:sym typeface="Arial"/>
              </a:rPr>
              <a:t>PWM output        (Pulse Width Modulation)</a:t>
            </a:r>
          </a:p>
          <a:p>
            <a:pPr marL="285750" indent="-285750">
              <a:lnSpc>
                <a:spcPct val="100000"/>
              </a:lnSpc>
              <a:spcBef>
                <a:spcPts val="0"/>
              </a:spcBef>
              <a:buSzPts val="3000"/>
            </a:pPr>
            <a:r>
              <a:rPr lang="en-US" sz="1800" dirty="0">
                <a:latin typeface="Atkinson Hyperlegible Next"/>
                <a:ea typeface="Arial"/>
                <a:cs typeface="Arial"/>
                <a:sym typeface="Arial"/>
              </a:rPr>
              <a:t>SPI                      (Serial Peripheral Interface)</a:t>
            </a:r>
          </a:p>
          <a:p>
            <a:pPr marL="285750" indent="-285750">
              <a:lnSpc>
                <a:spcPct val="100000"/>
              </a:lnSpc>
              <a:spcBef>
                <a:spcPts val="0"/>
              </a:spcBef>
              <a:buSzPts val="3000"/>
            </a:pPr>
            <a:r>
              <a:rPr lang="en-US" sz="1800" dirty="0">
                <a:latin typeface="Atkinson Hyperlegible Next"/>
                <a:ea typeface="Arial"/>
                <a:cs typeface="Arial"/>
                <a:sym typeface="Arial"/>
              </a:rPr>
              <a:t>I2C                      (Inter-Integrated Circuit)</a:t>
            </a:r>
          </a:p>
          <a:p>
            <a:pPr marL="285750" indent="-285750">
              <a:lnSpc>
                <a:spcPct val="100000"/>
              </a:lnSpc>
              <a:spcBef>
                <a:spcPts val="0"/>
              </a:spcBef>
              <a:buSzPts val="3000"/>
            </a:pPr>
            <a:r>
              <a:rPr lang="en-US" sz="1800" dirty="0">
                <a:latin typeface="Atkinson Hyperlegible Next"/>
                <a:ea typeface="Arial"/>
                <a:cs typeface="Arial"/>
                <a:sym typeface="Arial"/>
              </a:rPr>
              <a:t>CAN                    (Controller Area Network)</a:t>
            </a:r>
          </a:p>
          <a:p>
            <a:pPr marL="285750" indent="-285750">
              <a:lnSpc>
                <a:spcPct val="100000"/>
              </a:lnSpc>
              <a:spcBef>
                <a:spcPts val="0"/>
              </a:spcBef>
              <a:buSzPts val="3000"/>
            </a:pPr>
            <a:r>
              <a:rPr lang="en-US" sz="1800" dirty="0">
                <a:latin typeface="Atkinson Hyperlegible Next"/>
                <a:ea typeface="Arial"/>
                <a:cs typeface="Arial"/>
                <a:sym typeface="Arial"/>
              </a:rPr>
              <a:t>UART                  (Universal Asynchronous Receiver-Transmitter)</a:t>
            </a:r>
          </a:p>
          <a:p>
            <a:pPr marL="285750" indent="-285750">
              <a:lnSpc>
                <a:spcPct val="100000"/>
              </a:lnSpc>
              <a:spcBef>
                <a:spcPts val="0"/>
              </a:spcBef>
              <a:buSzPts val="3000"/>
            </a:pPr>
            <a:r>
              <a:rPr lang="en-US" sz="1800" dirty="0">
                <a:latin typeface="Atkinson Hyperlegible Next"/>
                <a:ea typeface="Arial"/>
                <a:cs typeface="Arial"/>
                <a:sym typeface="Arial"/>
              </a:rPr>
              <a:t>ADC trigger, etc. (Analog-to-Digital Converter)</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Whole list is in the </a:t>
            </a:r>
            <a:r>
              <a:rPr lang="en-US" sz="1800" dirty="0">
                <a:latin typeface="Atkinson Hyperlegible Next"/>
                <a:ea typeface="Arial"/>
                <a:cs typeface="Arial"/>
                <a:sym typeface="Arial"/>
                <a:hlinkClick r:id="rId3"/>
              </a:rPr>
              <a:t>pin mux list</a:t>
            </a:r>
            <a:r>
              <a:rPr lang="en-US" sz="1800" dirty="0">
                <a:latin typeface="Atkinson Hyperlegible Next"/>
                <a:ea typeface="Arial"/>
                <a:cs typeface="Arial"/>
                <a:sym typeface="Arial"/>
              </a:rPr>
              <a:t>, you will be using this in Lab 1!</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This sharing is managed by the </a:t>
            </a:r>
            <a:r>
              <a:rPr lang="en-US" sz="1800" b="1" dirty="0">
                <a:latin typeface="Atkinson Hyperlegible Next"/>
                <a:ea typeface="Arial"/>
                <a:cs typeface="Arial"/>
                <a:sym typeface="Arial"/>
              </a:rPr>
              <a:t>pin multiplexer</a:t>
            </a:r>
            <a:r>
              <a:rPr lang="en-US" sz="1800" dirty="0">
                <a:latin typeface="Atkinson Hyperlegible Next"/>
                <a:ea typeface="Arial"/>
                <a:cs typeface="Arial"/>
                <a:sym typeface="Arial"/>
              </a:rPr>
              <a: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Pins and GPIOs are not for hardware wiring / optimality reasons.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F89618B-DAF8-8492-D3C2-81DC74A245F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4626475-DCFB-0806-752F-423F07FCEF7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Pin Mux</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91C8113-A4E1-32F3-031C-C3029EE3410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C2CCD3C-B462-8B7C-61AB-A47B03915A3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BD87B59-206F-ADF6-F193-E543A5BC6DA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0ACBD40-F213-E117-9D37-A3CC0C44E85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AB70D66-8CE1-B9C9-8736-C30E2FE76D1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984E4A8-8BB7-B29D-9FD4-AFD5B3315A9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42390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9398413-0AE8-370B-215E-E0D9673AAED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3537289-3906-F61A-FE9B-9E812E11117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This is a hardware switch that selects which peripheral controls a pin:</a:t>
            </a:r>
          </a:p>
        </p:txBody>
      </p:sp>
      <p:sp>
        <p:nvSpPr>
          <p:cNvPr id="119" name="Google Shape;119;p29">
            <a:extLst>
              <a:ext uri="{FF2B5EF4-FFF2-40B4-BE49-F238E27FC236}">
                <a16:creationId xmlns:a16="http://schemas.microsoft.com/office/drawing/2014/main" id="{7879F98A-C3A8-4D8F-0C7B-E69DFF82549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67EDB08-73DB-4D7F-CF91-C0FAEAF3D83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What is the Pin Multiplexer (</a:t>
            </a:r>
            <a:r>
              <a:rPr lang="en-US" sz="2400" b="0" i="0" u="none" strike="noStrike" cap="none" dirty="0" err="1">
                <a:solidFill>
                  <a:schemeClr val="lt1"/>
                </a:solidFill>
                <a:latin typeface="Atkinson Hyperlegible Next"/>
                <a:ea typeface="Arial"/>
                <a:cs typeface="Arial"/>
                <a:sym typeface="Arial"/>
              </a:rPr>
              <a:t>PinMux</a:t>
            </a:r>
            <a:r>
              <a:rPr lang="en-US" sz="2400" b="0" i="0" u="none" strike="noStrike" cap="none" dirty="0">
                <a:solidFill>
                  <a:schemeClr val="lt1"/>
                </a:solidFill>
                <a:latin typeface="Atkinson Hyperlegible Next"/>
                <a:ea typeface="Arial"/>
                <a:cs typeface="Arial"/>
                <a:sym typeface="Arial"/>
              </a:rPr>
              <a:t>)</a:t>
            </a: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7839535F-2085-901B-16EA-FFF8C73FA9F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A3305E7-1E0C-6370-88F7-7DECF32F134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95221AE-87F9-789F-FD98-900CBD8F4AC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DFE2DF4-8F43-04E5-11F2-073A81C9BC0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ED5B125-0354-5134-ADBE-3ABC3EE1CFC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6A367AE-B2AD-9223-6B3D-C61E4BC5AA1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076" name="Picture 4" descr="Diagram: a two-input multiplexer is equivalent to a switch. On the left, the multiplexer symbol has inputs I sub 0 and I sub 1, a select input &quot;sel&quot; at the bottom, and one output &quot;out.&quot; On the right, the equivalent is a single-pole switch whose lever connects out to either I sub 0 or I sub 1, positioned by sel through a dashed mechanical link; here it is connected to I sub 0.">
            <a:extLst>
              <a:ext uri="{FF2B5EF4-FFF2-40B4-BE49-F238E27FC236}">
                <a16:creationId xmlns:a16="http://schemas.microsoft.com/office/drawing/2014/main" id="{951CD270-E96E-0C94-E14F-8969C8EC80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2289" y="1920479"/>
            <a:ext cx="5746439" cy="25320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16-to-1 multiplexer symbol: sixteen inputs labeled A through P enter the top, numbered 0 (A) through 15 (P). Four select lines, S sub 0 through S sub 3, enter the right side, and a single output Z exits the bottom. The 4-bit select value chooses which one input is connected to Z, just as the PinMux chooses which peripheral drives a pin.">
            <a:extLst>
              <a:ext uri="{FF2B5EF4-FFF2-40B4-BE49-F238E27FC236}">
                <a16:creationId xmlns:a16="http://schemas.microsoft.com/office/drawing/2014/main" id="{AC7668CD-BA9C-41F4-D48B-CB43716E3F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4849" y="4668348"/>
            <a:ext cx="6613948" cy="16534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D27E0E8-4AC2-BB24-ED52-D29FA2FDF093}"/>
              </a:ext>
            </a:extLst>
          </p:cNvPr>
          <p:cNvSpPr txBox="1"/>
          <p:nvPr/>
        </p:nvSpPr>
        <p:spPr>
          <a:xfrm>
            <a:off x="4517796" y="6292303"/>
            <a:ext cx="2628053" cy="261610"/>
          </a:xfrm>
          <a:prstGeom prst="rect">
            <a:avLst/>
          </a:prstGeom>
          <a:noFill/>
        </p:spPr>
        <p:txBody>
          <a:bodyPr wrap="square" rtlCol="0">
            <a:spAutoFit/>
          </a:bodyPr>
          <a:lstStyle/>
          <a:p>
            <a:pPr algn="ctr"/>
            <a:r>
              <a:rPr lang="en-US" sz="1100" dirty="0">
                <a:hlinkClick r:id="rId6"/>
              </a:rPr>
              <a:t>https://en.wikipedia.org/wiki/Multiplexer</a:t>
            </a:r>
            <a:r>
              <a:rPr lang="en-US" sz="1100" dirty="0"/>
              <a:t> </a:t>
            </a:r>
          </a:p>
        </p:txBody>
      </p:sp>
    </p:spTree>
    <p:extLst>
      <p:ext uri="{BB962C8B-B14F-4D97-AF65-F5344CB8AC3E}">
        <p14:creationId xmlns:p14="http://schemas.microsoft.com/office/powerpoint/2010/main" val="12791498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408E2A6-449A-9603-FE69-F109BC54CCF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E47FD70-F90A-C30C-0F7E-2AEE29D0AF8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Up to twelve independent peripheral signals are multiplexed on a single GPIO-enabled pin in addition to</a:t>
            </a: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the CPU-controlled I/O capability.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Each pin output can be controlled by either a peripheral or one of the</a:t>
            </a: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four CPU masters (CPU1, CPU1.CLA, CPU2, or CPU2.CLA). There are six I/O ports:</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Port </a:t>
            </a:r>
            <a:r>
              <a:rPr lang="en-US" sz="1800" b="1" dirty="0">
                <a:latin typeface="Atkinson Hyperlegible Next"/>
                <a:ea typeface="Arial"/>
                <a:cs typeface="Arial"/>
                <a:sym typeface="Arial"/>
              </a:rPr>
              <a:t>A</a:t>
            </a:r>
            <a:r>
              <a:rPr lang="en-US" sz="1800" dirty="0">
                <a:latin typeface="Atkinson Hyperlegible Next"/>
                <a:ea typeface="Arial"/>
                <a:cs typeface="Arial"/>
                <a:sym typeface="Arial"/>
              </a:rPr>
              <a:t> consists of GPIO0-GPIO31</a:t>
            </a:r>
          </a:p>
          <a:p>
            <a:pPr marL="285750" indent="-285750">
              <a:lnSpc>
                <a:spcPct val="100000"/>
              </a:lnSpc>
              <a:spcBef>
                <a:spcPts val="0"/>
              </a:spcBef>
              <a:buSzPts val="3000"/>
            </a:pPr>
            <a:r>
              <a:rPr lang="en-US" sz="1800" dirty="0">
                <a:latin typeface="Atkinson Hyperlegible Next"/>
                <a:ea typeface="Arial"/>
                <a:cs typeface="Arial"/>
                <a:sym typeface="Arial"/>
              </a:rPr>
              <a:t>Port </a:t>
            </a:r>
            <a:r>
              <a:rPr lang="en-US" sz="1800" b="1" dirty="0">
                <a:latin typeface="Atkinson Hyperlegible Next"/>
                <a:ea typeface="Arial"/>
                <a:cs typeface="Arial"/>
                <a:sym typeface="Arial"/>
              </a:rPr>
              <a:t>B</a:t>
            </a:r>
            <a:r>
              <a:rPr lang="en-US" sz="1800" dirty="0">
                <a:latin typeface="Atkinson Hyperlegible Next"/>
                <a:ea typeface="Arial"/>
                <a:cs typeface="Arial"/>
                <a:sym typeface="Arial"/>
              </a:rPr>
              <a:t> consists of GPIO32-GPIO63</a:t>
            </a:r>
          </a:p>
          <a:p>
            <a:pPr marL="285750" indent="-285750">
              <a:lnSpc>
                <a:spcPct val="100000"/>
              </a:lnSpc>
              <a:spcBef>
                <a:spcPts val="0"/>
              </a:spcBef>
              <a:buSzPts val="3000"/>
            </a:pPr>
            <a:r>
              <a:rPr lang="en-US" sz="1800" dirty="0">
                <a:latin typeface="Atkinson Hyperlegible Next"/>
                <a:ea typeface="Arial"/>
                <a:cs typeface="Arial"/>
                <a:sym typeface="Arial"/>
              </a:rPr>
              <a:t>Port </a:t>
            </a:r>
            <a:r>
              <a:rPr lang="en-US" sz="1800" b="1" dirty="0">
                <a:latin typeface="Atkinson Hyperlegible Next"/>
                <a:ea typeface="Arial"/>
                <a:cs typeface="Arial"/>
                <a:sym typeface="Arial"/>
              </a:rPr>
              <a:t>C</a:t>
            </a:r>
            <a:r>
              <a:rPr lang="en-US" sz="1800" dirty="0">
                <a:latin typeface="Atkinson Hyperlegible Next"/>
                <a:ea typeface="Arial"/>
                <a:cs typeface="Arial"/>
                <a:sym typeface="Arial"/>
              </a:rPr>
              <a:t> consists of GPIO64-GPIO95</a:t>
            </a:r>
          </a:p>
          <a:p>
            <a:pPr marL="285750" indent="-285750">
              <a:lnSpc>
                <a:spcPct val="100000"/>
              </a:lnSpc>
              <a:spcBef>
                <a:spcPts val="0"/>
              </a:spcBef>
              <a:buSzPts val="3000"/>
            </a:pPr>
            <a:r>
              <a:rPr lang="en-US" sz="1800" dirty="0">
                <a:latin typeface="Atkinson Hyperlegible Next"/>
                <a:ea typeface="Arial"/>
                <a:cs typeface="Arial"/>
                <a:sym typeface="Arial"/>
              </a:rPr>
              <a:t>Port </a:t>
            </a:r>
            <a:r>
              <a:rPr lang="en-US" sz="1800" b="1" dirty="0">
                <a:latin typeface="Atkinson Hyperlegible Next"/>
                <a:ea typeface="Arial"/>
                <a:cs typeface="Arial"/>
                <a:sym typeface="Arial"/>
              </a:rPr>
              <a:t>D</a:t>
            </a:r>
            <a:r>
              <a:rPr lang="en-US" sz="1800" dirty="0">
                <a:latin typeface="Atkinson Hyperlegible Next"/>
                <a:ea typeface="Arial"/>
                <a:cs typeface="Arial"/>
                <a:sym typeface="Arial"/>
              </a:rPr>
              <a:t> consists of GPIO96-GPIO127</a:t>
            </a:r>
          </a:p>
          <a:p>
            <a:pPr marL="285750" indent="-285750">
              <a:lnSpc>
                <a:spcPct val="100000"/>
              </a:lnSpc>
              <a:spcBef>
                <a:spcPts val="0"/>
              </a:spcBef>
              <a:buSzPts val="3000"/>
            </a:pPr>
            <a:r>
              <a:rPr lang="en-US" sz="1800" dirty="0">
                <a:latin typeface="Atkinson Hyperlegible Next"/>
                <a:ea typeface="Arial"/>
                <a:cs typeface="Arial"/>
                <a:sym typeface="Arial"/>
              </a:rPr>
              <a:t>Port </a:t>
            </a:r>
            <a:r>
              <a:rPr lang="en-US" sz="1800" b="1" dirty="0">
                <a:latin typeface="Atkinson Hyperlegible Next"/>
                <a:ea typeface="Arial"/>
                <a:cs typeface="Arial"/>
                <a:sym typeface="Arial"/>
              </a:rPr>
              <a:t>E</a:t>
            </a:r>
            <a:r>
              <a:rPr lang="en-US" sz="1800" dirty="0">
                <a:latin typeface="Atkinson Hyperlegible Next"/>
                <a:ea typeface="Arial"/>
                <a:cs typeface="Arial"/>
                <a:sym typeface="Arial"/>
              </a:rPr>
              <a:t> consists of GPIO128-GPIO159</a:t>
            </a:r>
          </a:p>
          <a:p>
            <a:pPr marL="285750" indent="-285750">
              <a:lnSpc>
                <a:spcPct val="100000"/>
              </a:lnSpc>
              <a:spcBef>
                <a:spcPts val="0"/>
              </a:spcBef>
              <a:buSzPts val="3000"/>
            </a:pPr>
            <a:r>
              <a:rPr lang="en-US" sz="1800" dirty="0">
                <a:latin typeface="Atkinson Hyperlegible Next"/>
                <a:ea typeface="Arial"/>
                <a:cs typeface="Arial"/>
                <a:sym typeface="Arial"/>
              </a:rPr>
              <a:t>Port </a:t>
            </a:r>
            <a:r>
              <a:rPr lang="en-US" sz="1800" b="1" dirty="0">
                <a:latin typeface="Atkinson Hyperlegible Next"/>
                <a:ea typeface="Arial"/>
                <a:cs typeface="Arial"/>
                <a:sym typeface="Arial"/>
              </a:rPr>
              <a:t>F</a:t>
            </a:r>
            <a:r>
              <a:rPr lang="en-US" sz="1800" dirty="0">
                <a:latin typeface="Atkinson Hyperlegible Next"/>
                <a:ea typeface="Arial"/>
                <a:cs typeface="Arial"/>
                <a:sym typeface="Arial"/>
              </a:rPr>
              <a:t> consists of GPIO160-GPIO168</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gn="ctr">
              <a:lnSpc>
                <a:spcPct val="100000"/>
              </a:lnSpc>
              <a:spcBef>
                <a:spcPts val="0"/>
              </a:spcBef>
              <a:buSzPts val="3000"/>
              <a:buNone/>
            </a:pPr>
            <a:r>
              <a:rPr lang="en-US" sz="1800" dirty="0">
                <a:solidFill>
                  <a:srgbClr val="000000"/>
                </a:solidFill>
                <a:latin typeface="Consolas" panose="020B0609020204030204" pitchFamily="49" charset="0"/>
              </a:rPr>
              <a:t>GpioDataRegs.</a:t>
            </a:r>
            <a:r>
              <a:rPr lang="en-US" sz="1800" dirty="0">
                <a:solidFill>
                  <a:srgbClr val="0000C0"/>
                </a:solidFill>
                <a:latin typeface="Consolas" panose="020B0609020204030204" pitchFamily="49" charset="0"/>
              </a:rPr>
              <a:t>GPBTOGGLE</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bit</a:t>
            </a:r>
            <a:r>
              <a:rPr lang="en-US" sz="1800" dirty="0">
                <a:solidFill>
                  <a:srgbClr val="000000"/>
                </a:solidFill>
                <a:latin typeface="Consolas" panose="020B0609020204030204" pitchFamily="49" charset="0"/>
              </a:rPr>
              <a:t>.</a:t>
            </a:r>
            <a:r>
              <a:rPr lang="en-US" sz="1800" dirty="0">
                <a:solidFill>
                  <a:srgbClr val="0000C0"/>
                </a:solidFill>
                <a:latin typeface="Consolas" panose="020B0609020204030204" pitchFamily="49" charset="0"/>
              </a:rPr>
              <a:t>GPIO34</a:t>
            </a:r>
            <a:r>
              <a:rPr lang="en-US" sz="1800" dirty="0">
                <a:solidFill>
                  <a:srgbClr val="000000"/>
                </a:solidFill>
                <a:latin typeface="Consolas" panose="020B0609020204030204" pitchFamily="49" charset="0"/>
              </a:rPr>
              <a:t> = 1;</a:t>
            </a: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A8798C0-FB65-AF98-96CE-315694DD816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297E37E-6E37-C1FF-A913-6CB7BD3CB85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Pin Mux</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1724000-8575-754D-4571-9013C4B1DD8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6DDE69B-6697-1B0B-DE94-1A74736C01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892C830-52B9-E97D-F6CE-F34B5756D9B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E38DD6-F440-B446-17D2-4068CECA720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802B6CE-2189-19A1-2324-43AB9BE3B54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3D7F91C-5E0F-5081-B864-598F93BB211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Rectangle 1">
            <a:extLst>
              <a:ext uri="{FF2B5EF4-FFF2-40B4-BE49-F238E27FC236}">
                <a16:creationId xmlns:a16="http://schemas.microsoft.com/office/drawing/2014/main" id="{82075BB9-3D1E-62C6-BF45-1B23C17CBCA2}"/>
              </a:ext>
            </a:extLst>
          </p:cNvPr>
          <p:cNvSpPr/>
          <p:nvPr/>
        </p:nvSpPr>
        <p:spPr>
          <a:xfrm>
            <a:off x="5460956" y="4978417"/>
            <a:ext cx="127000" cy="2307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6489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6610688-0261-AB9D-226F-282781A1388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0C31344-07E9-3463-23C1-94C8A8A80F7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D9635DF-89DB-3C96-4474-98F7BE782E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Pin Mux</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726129C-A0F4-6ACD-5F02-014D5E88346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55451F4-51D9-6B38-5E9E-44553E37B6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B138A62-BB56-9CB7-263C-24A0F08793F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D2D5529-488B-4C93-A63B-B71DE901173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23B6309-083D-A25E-3350-54CAC2943F2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6E14517-D7E3-7896-73CE-1C08D442D29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Graphic 5" descr="Block diagram of the logic behind one GPIO pin. Input path: the pin, with an optional pull-up (GPyPUD), passes through an input buffer, optional inversion (GPyINV) and qualification (sync, 3-sample, 6-sample or async). It then feeds the GPyDAT read registers, the Input XBAR and the peripherals. Output path: a mux selected by GPyGMUX:GPyMUX codes 00:00 through 11:xx picks GPIO data (from CPU1, CPU2 or CLA registers via GPyCSEL) or peripherals A through L, then drives the pin through open-drain logic (GPyODR).">
            <a:extLst>
              <a:ext uri="{FF2B5EF4-FFF2-40B4-BE49-F238E27FC236}">
                <a16:creationId xmlns:a16="http://schemas.microsoft.com/office/drawing/2014/main" id="{4DEAC88C-CC19-E63D-08DE-C2D078D9E86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50398" y="983446"/>
            <a:ext cx="7562850" cy="5537087"/>
          </a:xfrm>
          <a:prstGeom prst="rect">
            <a:avLst/>
          </a:prstGeom>
        </p:spPr>
      </p:pic>
      <p:sp>
        <p:nvSpPr>
          <p:cNvPr id="7" name="TextBox 6">
            <a:extLst>
              <a:ext uri="{FF2B5EF4-FFF2-40B4-BE49-F238E27FC236}">
                <a16:creationId xmlns:a16="http://schemas.microsoft.com/office/drawing/2014/main" id="{7E111A22-27B9-C2D3-DD45-1E7F5E82C23B}"/>
              </a:ext>
            </a:extLst>
          </p:cNvPr>
          <p:cNvSpPr txBox="1"/>
          <p:nvPr/>
        </p:nvSpPr>
        <p:spPr>
          <a:xfrm>
            <a:off x="7717407" y="5135890"/>
            <a:ext cx="3569429" cy="738664"/>
          </a:xfrm>
          <a:prstGeom prst="rect">
            <a:avLst/>
          </a:prstGeom>
          <a:noFill/>
        </p:spPr>
        <p:txBody>
          <a:bodyPr wrap="square" rtlCol="0">
            <a:spAutoFit/>
          </a:bodyPr>
          <a:lstStyle/>
          <a:p>
            <a:r>
              <a:rPr lang="en-US" dirty="0"/>
              <a:t>( I wanted to create the animation for this, but if this text is still here, then it has not been done yet.) </a:t>
            </a:r>
          </a:p>
        </p:txBody>
      </p:sp>
      <p:sp>
        <p:nvSpPr>
          <p:cNvPr id="8" name="Oval 7">
            <a:extLst>
              <a:ext uri="{FF2B5EF4-FFF2-40B4-BE49-F238E27FC236}">
                <a16:creationId xmlns:a16="http://schemas.microsoft.com/office/drawing/2014/main" id="{C3F7F927-9310-6ED6-69E8-DEAB49A20F1A}"/>
              </a:ext>
            </a:extLst>
          </p:cNvPr>
          <p:cNvSpPr/>
          <p:nvPr/>
        </p:nvSpPr>
        <p:spPr>
          <a:xfrm>
            <a:off x="4757438" y="4661522"/>
            <a:ext cx="764205" cy="1747293"/>
          </a:xfrm>
          <a:prstGeom prst="ellipse">
            <a:avLst/>
          </a:prstGeom>
          <a:no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373A964-CF00-C917-3073-D548D2A97642}"/>
              </a:ext>
            </a:extLst>
          </p:cNvPr>
          <p:cNvCxnSpPr>
            <a:endCxn id="8" idx="1"/>
          </p:cNvCxnSpPr>
          <p:nvPr/>
        </p:nvCxnSpPr>
        <p:spPr>
          <a:xfrm>
            <a:off x="2813538" y="3875010"/>
            <a:ext cx="2055815" cy="1042397"/>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88DF0BE6-E7A1-BFAF-C5DC-B43536BC12AA}"/>
              </a:ext>
            </a:extLst>
          </p:cNvPr>
          <p:cNvSpPr txBox="1"/>
          <p:nvPr/>
        </p:nvSpPr>
        <p:spPr>
          <a:xfrm>
            <a:off x="645834" y="3501830"/>
            <a:ext cx="2167704" cy="738664"/>
          </a:xfrm>
          <a:prstGeom prst="rect">
            <a:avLst/>
          </a:prstGeom>
          <a:noFill/>
        </p:spPr>
        <p:txBody>
          <a:bodyPr wrap="square" rtlCol="0">
            <a:spAutoFit/>
          </a:bodyPr>
          <a:lstStyle/>
          <a:p>
            <a:r>
              <a:rPr lang="en-US" dirty="0" err="1"/>
              <a:t>PinMux</a:t>
            </a:r>
            <a:r>
              <a:rPr lang="en-US" dirty="0"/>
              <a:t> has 12 inputs, requires how many bits in the selector?</a:t>
            </a:r>
          </a:p>
        </p:txBody>
      </p:sp>
      <p:sp>
        <p:nvSpPr>
          <p:cNvPr id="3" name="Rectangle: Rounded Corners 2">
            <a:extLst>
              <a:ext uri="{FF2B5EF4-FFF2-40B4-BE49-F238E27FC236}">
                <a16:creationId xmlns:a16="http://schemas.microsoft.com/office/drawing/2014/main" id="{8F12FCF8-3CC3-1F10-6B18-38F83BE5DC3D}"/>
              </a:ext>
            </a:extLst>
          </p:cNvPr>
          <p:cNvSpPr/>
          <p:nvPr/>
        </p:nvSpPr>
        <p:spPr>
          <a:xfrm>
            <a:off x="4955381" y="4783931"/>
            <a:ext cx="176213" cy="1500188"/>
          </a:xfrm>
          <a:prstGeom prst="roundRect">
            <a:avLst/>
          </a:prstGeom>
          <a:noFill/>
          <a:ln>
            <a:solidFill>
              <a:srgbClr val="E1646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Rounded Corners 3">
            <a:extLst>
              <a:ext uri="{FF2B5EF4-FFF2-40B4-BE49-F238E27FC236}">
                <a16:creationId xmlns:a16="http://schemas.microsoft.com/office/drawing/2014/main" id="{1AB58C61-8D1C-82AF-36A3-7D83EE9C1285}"/>
              </a:ext>
            </a:extLst>
          </p:cNvPr>
          <p:cNvSpPr/>
          <p:nvPr/>
        </p:nvSpPr>
        <p:spPr>
          <a:xfrm>
            <a:off x="5129515" y="4783931"/>
            <a:ext cx="176213" cy="1500188"/>
          </a:xfrm>
          <a:prstGeom prst="roundRect">
            <a:avLst/>
          </a:prstGeom>
          <a:no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94CB5062-D5AB-C42E-FDD3-6DA0D7084A1A}"/>
              </a:ext>
            </a:extLst>
          </p:cNvPr>
          <p:cNvCxnSpPr>
            <a:endCxn id="3" idx="0"/>
          </p:cNvCxnSpPr>
          <p:nvPr/>
        </p:nvCxnSpPr>
        <p:spPr>
          <a:xfrm flipH="1">
            <a:off x="5043488" y="3429000"/>
            <a:ext cx="582612" cy="1354931"/>
          </a:xfrm>
          <a:prstGeom prst="straightConnector1">
            <a:avLst/>
          </a:prstGeom>
          <a:ln>
            <a:solidFill>
              <a:srgbClr val="E1646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9DF1AC35-3430-9639-67DD-5780E7CA3D22}"/>
              </a:ext>
            </a:extLst>
          </p:cNvPr>
          <p:cNvCxnSpPr>
            <a:cxnSpLocks/>
            <a:endCxn id="4" idx="0"/>
          </p:cNvCxnSpPr>
          <p:nvPr/>
        </p:nvCxnSpPr>
        <p:spPr>
          <a:xfrm flipH="1">
            <a:off x="5217622" y="3590801"/>
            <a:ext cx="408478" cy="1193130"/>
          </a:xfrm>
          <a:prstGeom prst="straightConnector1">
            <a:avLst/>
          </a:prstGeom>
          <a:ln>
            <a:solidFill>
              <a:schemeClr val="accent2">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6406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E385E4F-8763-2CE5-1E24-6B99990E012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E997C0E-7098-6448-D7ED-5BFC864B12A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gn="l">
              <a:spcBef>
                <a:spcPts val="0"/>
              </a:spcBef>
              <a:buNone/>
            </a:pPr>
            <a:r>
              <a:rPr lang="en-US" sz="1300" dirty="0">
                <a:solidFill>
                  <a:srgbClr val="7F0055"/>
                </a:solidFill>
                <a:latin typeface="Consolas" panose="020B0609020204030204" pitchFamily="49" charset="0"/>
              </a:rPr>
              <a:t>void</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GPIO_SetupPinMux</a:t>
            </a:r>
            <a:r>
              <a:rPr lang="en-US" sz="1300" dirty="0">
                <a:solidFill>
                  <a:srgbClr val="000000"/>
                </a:solidFill>
                <a:latin typeface="Consolas" panose="020B0609020204030204" pitchFamily="49" charset="0"/>
              </a:rPr>
              <a:t>(</a:t>
            </a:r>
            <a:r>
              <a:rPr lang="en-US" sz="1300" dirty="0">
                <a:solidFill>
                  <a:srgbClr val="005032"/>
                </a:solidFill>
                <a:latin typeface="Consolas" panose="020B0609020204030204" pitchFamily="49" charset="0"/>
              </a:rPr>
              <a:t>Uint16</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gpioNumber</a:t>
            </a:r>
            <a:r>
              <a:rPr lang="en-US" sz="1300" dirty="0">
                <a:solidFill>
                  <a:srgbClr val="000000"/>
                </a:solidFill>
                <a:latin typeface="Consolas" panose="020B0609020204030204" pitchFamily="49" charset="0"/>
              </a:rPr>
              <a:t>, </a:t>
            </a:r>
            <a:r>
              <a:rPr lang="en-US" sz="1300" dirty="0">
                <a:solidFill>
                  <a:srgbClr val="005032"/>
                </a:solidFill>
                <a:latin typeface="Consolas" panose="020B0609020204030204" pitchFamily="49" charset="0"/>
              </a:rPr>
              <a:t>Uint16</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cpu</a:t>
            </a:r>
            <a:r>
              <a:rPr lang="en-US" sz="1300" dirty="0">
                <a:solidFill>
                  <a:srgbClr val="000000"/>
                </a:solidFill>
                <a:latin typeface="Consolas" panose="020B0609020204030204" pitchFamily="49" charset="0"/>
              </a:rPr>
              <a:t>, </a:t>
            </a:r>
            <a:r>
              <a:rPr lang="en-US" sz="1300" dirty="0">
                <a:solidFill>
                  <a:srgbClr val="005032"/>
                </a:solidFill>
                <a:latin typeface="Consolas" panose="020B0609020204030204" pitchFamily="49" charset="0"/>
              </a:rPr>
              <a:t>Uint16</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muxPosition</a:t>
            </a:r>
            <a:r>
              <a:rPr lang="en-US" sz="1300" dirty="0">
                <a:solidFill>
                  <a:srgbClr val="000000"/>
                </a:solidFill>
                <a:latin typeface="Consolas" panose="020B0609020204030204" pitchFamily="49" charset="0"/>
              </a:rPr>
              <a:t>)</a:t>
            </a:r>
          </a:p>
          <a:p>
            <a:pPr marL="0" indent="0" algn="l">
              <a:spcBef>
                <a:spcPts val="0"/>
              </a:spcBef>
              <a:buNone/>
            </a:pPr>
            <a:r>
              <a:rPr lang="en-US" sz="1300" dirty="0">
                <a:solidFill>
                  <a:srgbClr val="000000"/>
                </a:solidFill>
                <a:latin typeface="Consolas" panose="020B0609020204030204" pitchFamily="49" charset="0"/>
              </a:rPr>
              <a:t>{</a:t>
            </a:r>
          </a:p>
          <a:p>
            <a:pPr marL="0" indent="0">
              <a:spcBef>
                <a:spcPts val="0"/>
              </a:spcBef>
              <a:buNone/>
            </a:pPr>
            <a:r>
              <a:rPr lang="en-US" sz="1300" dirty="0">
                <a:solidFill>
                  <a:srgbClr val="000000"/>
                </a:solidFill>
                <a:latin typeface="Consolas" panose="020B0609020204030204" pitchFamily="49" charset="0"/>
              </a:rPr>
              <a:t>    </a:t>
            </a:r>
            <a:r>
              <a:rPr lang="en-US" sz="1300" dirty="0">
                <a:solidFill>
                  <a:srgbClr val="7F0055"/>
                </a:solidFill>
                <a:latin typeface="Consolas" panose="020B0609020204030204" pitchFamily="49" charset="0"/>
              </a:rPr>
              <a:t>volatile</a:t>
            </a:r>
            <a:r>
              <a:rPr lang="en-US" sz="1300" dirty="0">
                <a:solidFill>
                  <a:srgbClr val="000000"/>
                </a:solidFill>
                <a:latin typeface="Consolas" panose="020B0609020204030204" pitchFamily="49" charset="0"/>
              </a:rPr>
              <a:t> </a:t>
            </a:r>
            <a:r>
              <a:rPr lang="en-US" sz="1300" dirty="0">
                <a:solidFill>
                  <a:srgbClr val="005032"/>
                </a:solidFill>
                <a:latin typeface="Consolas" panose="020B0609020204030204" pitchFamily="49" charset="0"/>
              </a:rPr>
              <a:t>Uint32</a:t>
            </a: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gpioBaseAddr</a:t>
            </a:r>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volatile means that the variable may change from external sources (i.e. interrupts)</a:t>
            </a:r>
            <a:endParaRPr lang="en-US" sz="1300" dirty="0">
              <a:solidFill>
                <a:srgbClr val="000000"/>
              </a:solidFill>
              <a:latin typeface="Consolas" panose="020B0609020204030204" pitchFamily="49" charset="0"/>
            </a:endParaRPr>
          </a:p>
          <a:p>
            <a:pPr marL="0" indent="0" algn="l">
              <a:spcBef>
                <a:spcPts val="0"/>
              </a:spcBef>
              <a:buNone/>
            </a:pPr>
            <a:r>
              <a:rPr lang="fr-FR" sz="1300" dirty="0">
                <a:solidFill>
                  <a:srgbClr val="000000"/>
                </a:solidFill>
                <a:latin typeface="Consolas" panose="020B0609020204030204" pitchFamily="49" charset="0"/>
              </a:rPr>
              <a:t>    </a:t>
            </a:r>
            <a:r>
              <a:rPr lang="fr-FR" sz="1300" dirty="0">
                <a:solidFill>
                  <a:srgbClr val="7F0055"/>
                </a:solidFill>
                <a:latin typeface="Consolas" panose="020B0609020204030204" pitchFamily="49" charset="0"/>
              </a:rPr>
              <a:t>volatile</a:t>
            </a:r>
            <a:r>
              <a:rPr lang="fr-FR" sz="1300" dirty="0">
                <a:solidFill>
                  <a:srgbClr val="000000"/>
                </a:solidFill>
                <a:latin typeface="Consolas" panose="020B0609020204030204" pitchFamily="49" charset="0"/>
              </a:rPr>
              <a:t> </a:t>
            </a:r>
            <a:r>
              <a:rPr lang="fr-FR" sz="1300" dirty="0">
                <a:solidFill>
                  <a:srgbClr val="005032"/>
                </a:solidFill>
                <a:latin typeface="Consolas" panose="020B0609020204030204" pitchFamily="49" charset="0"/>
              </a:rPr>
              <a:t>Uint32</a:t>
            </a:r>
            <a:r>
              <a:rPr lang="fr-FR" sz="1300" dirty="0">
                <a:solidFill>
                  <a:srgbClr val="000000"/>
                </a:solidFill>
                <a:latin typeface="Consolas" panose="020B0609020204030204" pitchFamily="49" charset="0"/>
              </a:rPr>
              <a:t> *</a:t>
            </a:r>
            <a:r>
              <a:rPr lang="fr-FR" sz="1300" dirty="0" err="1">
                <a:solidFill>
                  <a:srgbClr val="000000"/>
                </a:solidFill>
                <a:latin typeface="Consolas" panose="020B0609020204030204" pitchFamily="49" charset="0"/>
              </a:rPr>
              <a:t>mux</a:t>
            </a:r>
            <a:r>
              <a:rPr lang="fr-FR" sz="1300" dirty="0">
                <a:solidFill>
                  <a:srgbClr val="000000"/>
                </a:solidFill>
                <a:latin typeface="Consolas" panose="020B0609020204030204" pitchFamily="49" charset="0"/>
              </a:rPr>
              <a:t>, *</a:t>
            </a:r>
            <a:r>
              <a:rPr lang="fr-FR" sz="1300" dirty="0" err="1">
                <a:solidFill>
                  <a:srgbClr val="000000"/>
                </a:solidFill>
                <a:latin typeface="Consolas" panose="020B0609020204030204" pitchFamily="49" charset="0"/>
              </a:rPr>
              <a:t>gmux</a:t>
            </a:r>
            <a:r>
              <a:rPr lang="fr-FR" sz="1300" dirty="0">
                <a:solidFill>
                  <a:srgbClr val="000000"/>
                </a:solidFill>
                <a:latin typeface="Consolas" panose="020B0609020204030204" pitchFamily="49" charset="0"/>
              </a:rPr>
              <a:t>, *</a:t>
            </a:r>
            <a:r>
              <a:rPr lang="fr-FR" sz="1300" dirty="0" err="1">
                <a:solidFill>
                  <a:srgbClr val="000000"/>
                </a:solidFill>
                <a:latin typeface="Consolas" panose="020B0609020204030204" pitchFamily="49" charset="0"/>
              </a:rPr>
              <a:t>csel</a:t>
            </a:r>
            <a:r>
              <a:rPr lang="fr-FR" sz="1300" dirty="0">
                <a:solidFill>
                  <a:srgbClr val="000000"/>
                </a:solidFill>
                <a:latin typeface="Consolas" panose="020B0609020204030204" pitchFamily="49" charset="0"/>
              </a:rPr>
              <a:t>;</a:t>
            </a:r>
          </a:p>
          <a:p>
            <a:pPr marL="0" indent="0" algn="l">
              <a:spcBef>
                <a:spcPts val="0"/>
              </a:spcBef>
              <a:buNone/>
            </a:pPr>
            <a:r>
              <a:rPr lang="en-US" sz="1300" dirty="0">
                <a:solidFill>
                  <a:srgbClr val="000000"/>
                </a:solidFill>
                <a:latin typeface="Consolas" panose="020B0609020204030204" pitchFamily="49" charset="0"/>
              </a:rPr>
              <a:t>    </a:t>
            </a:r>
            <a:r>
              <a:rPr lang="en-US" sz="1300" dirty="0">
                <a:solidFill>
                  <a:srgbClr val="005032"/>
                </a:solidFill>
                <a:latin typeface="Consolas" panose="020B0609020204030204" pitchFamily="49" charset="0"/>
              </a:rPr>
              <a:t>Uint16</a:t>
            </a:r>
            <a:r>
              <a:rPr lang="en-US" sz="1300" dirty="0">
                <a:solidFill>
                  <a:srgbClr val="000000"/>
                </a:solidFill>
                <a:latin typeface="Consolas" panose="020B0609020204030204" pitchFamily="49" charset="0"/>
              </a:rPr>
              <a:t> pin32, pin16, pin8;</a:t>
            </a:r>
          </a:p>
          <a:p>
            <a:pPr marL="0" indent="0" algn="l">
              <a:spcBef>
                <a:spcPts val="0"/>
              </a:spcBef>
              <a:buNone/>
            </a:pPr>
            <a:endParaRPr lang="en-US" sz="1300" dirty="0">
              <a:latin typeface="Consolas" panose="020B0609020204030204" pitchFamily="49" charset="0"/>
            </a:endParaRPr>
          </a:p>
          <a:p>
            <a:pPr marL="0" indent="0" algn="l">
              <a:spcBef>
                <a:spcPts val="0"/>
              </a:spcBef>
              <a:buNone/>
            </a:pPr>
            <a:r>
              <a:rPr lang="en-US" sz="1300" dirty="0">
                <a:solidFill>
                  <a:srgbClr val="000000"/>
                </a:solidFill>
                <a:latin typeface="Consolas" panose="020B0609020204030204" pitchFamily="49" charset="0"/>
              </a:rPr>
              <a:t>    pin32 = </a:t>
            </a:r>
            <a:r>
              <a:rPr lang="en-US" sz="1300" dirty="0" err="1">
                <a:solidFill>
                  <a:srgbClr val="000000"/>
                </a:solidFill>
                <a:latin typeface="Consolas" panose="020B0609020204030204" pitchFamily="49" charset="0"/>
              </a:rPr>
              <a:t>gpioNumber</a:t>
            </a:r>
            <a:r>
              <a:rPr lang="en-US" sz="1300" dirty="0">
                <a:solidFill>
                  <a:srgbClr val="000000"/>
                </a:solidFill>
                <a:latin typeface="Consolas" panose="020B0609020204030204" pitchFamily="49" charset="0"/>
              </a:rPr>
              <a:t> % 32;</a:t>
            </a:r>
          </a:p>
          <a:p>
            <a:pPr marL="0" indent="0" algn="l">
              <a:spcBef>
                <a:spcPts val="0"/>
              </a:spcBef>
              <a:buNone/>
            </a:pPr>
            <a:r>
              <a:rPr lang="en-US" sz="1300" dirty="0">
                <a:solidFill>
                  <a:srgbClr val="000000"/>
                </a:solidFill>
                <a:latin typeface="Consolas" panose="020B0609020204030204" pitchFamily="49" charset="0"/>
              </a:rPr>
              <a:t>    pin16 = </a:t>
            </a:r>
            <a:r>
              <a:rPr lang="en-US" sz="1300" dirty="0" err="1">
                <a:solidFill>
                  <a:srgbClr val="000000"/>
                </a:solidFill>
                <a:latin typeface="Consolas" panose="020B0609020204030204" pitchFamily="49" charset="0"/>
              </a:rPr>
              <a:t>gpioNumber</a:t>
            </a:r>
            <a:r>
              <a:rPr lang="en-US" sz="1300" dirty="0">
                <a:solidFill>
                  <a:srgbClr val="000000"/>
                </a:solidFill>
                <a:latin typeface="Consolas" panose="020B0609020204030204" pitchFamily="49" charset="0"/>
              </a:rPr>
              <a:t> % 16;</a:t>
            </a:r>
          </a:p>
          <a:p>
            <a:pPr marL="0" indent="0" algn="l">
              <a:spcBef>
                <a:spcPts val="0"/>
              </a:spcBef>
              <a:buNone/>
            </a:pPr>
            <a:r>
              <a:rPr lang="en-US" sz="1300" dirty="0">
                <a:solidFill>
                  <a:srgbClr val="000000"/>
                </a:solidFill>
                <a:latin typeface="Consolas" panose="020B0609020204030204" pitchFamily="49" charset="0"/>
              </a:rPr>
              <a:t>    pin8 = </a:t>
            </a:r>
            <a:r>
              <a:rPr lang="en-US" sz="1300" dirty="0" err="1">
                <a:solidFill>
                  <a:srgbClr val="000000"/>
                </a:solidFill>
                <a:latin typeface="Consolas" panose="020B0609020204030204" pitchFamily="49" charset="0"/>
              </a:rPr>
              <a:t>gpioNumber</a:t>
            </a:r>
            <a:r>
              <a:rPr lang="en-US" sz="1300" dirty="0">
                <a:solidFill>
                  <a:srgbClr val="000000"/>
                </a:solidFill>
                <a:latin typeface="Consolas" panose="020B0609020204030204" pitchFamily="49" charset="0"/>
              </a:rPr>
              <a:t> % 8;</a:t>
            </a: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gpioBaseAddr</a:t>
            </a:r>
            <a:r>
              <a:rPr lang="en-US" sz="1300" dirty="0">
                <a:solidFill>
                  <a:srgbClr val="000000"/>
                </a:solidFill>
                <a:latin typeface="Consolas" panose="020B0609020204030204" pitchFamily="49" charset="0"/>
              </a:rPr>
              <a:t> = (</a:t>
            </a:r>
            <a:r>
              <a:rPr lang="en-US" sz="1300" dirty="0">
                <a:solidFill>
                  <a:srgbClr val="005032"/>
                </a:solidFill>
                <a:latin typeface="Consolas" panose="020B0609020204030204" pitchFamily="49" charset="0"/>
              </a:rPr>
              <a:t>Uint32</a:t>
            </a:r>
            <a:r>
              <a:rPr lang="en-US" sz="1300" dirty="0">
                <a:solidFill>
                  <a:srgbClr val="000000"/>
                </a:solidFill>
                <a:latin typeface="Consolas" panose="020B0609020204030204" pitchFamily="49" charset="0"/>
              </a:rPr>
              <a:t> *)&amp;</a:t>
            </a:r>
            <a:r>
              <a:rPr lang="en-US" sz="1300" dirty="0" err="1">
                <a:solidFill>
                  <a:srgbClr val="000000"/>
                </a:solidFill>
                <a:latin typeface="Consolas" panose="020B0609020204030204" pitchFamily="49" charset="0"/>
              </a:rPr>
              <a:t>GpioCtrlRegs</a:t>
            </a:r>
            <a:r>
              <a:rPr lang="en-US" sz="1300" dirty="0">
                <a:solidFill>
                  <a:srgbClr val="000000"/>
                </a:solidFill>
                <a:latin typeface="Consolas" panose="020B0609020204030204" pitchFamily="49" charset="0"/>
              </a:rPr>
              <a:t> + (</a:t>
            </a:r>
            <a:r>
              <a:rPr lang="en-US" sz="1300" dirty="0" err="1">
                <a:solidFill>
                  <a:srgbClr val="000000"/>
                </a:solidFill>
                <a:latin typeface="Consolas" panose="020B0609020204030204" pitchFamily="49" charset="0"/>
              </a:rPr>
              <a:t>gpioNumber</a:t>
            </a:r>
            <a:r>
              <a:rPr lang="en-US" sz="1300" dirty="0">
                <a:solidFill>
                  <a:srgbClr val="000000"/>
                </a:solidFill>
                <a:latin typeface="Consolas" panose="020B0609020204030204" pitchFamily="49" charset="0"/>
              </a:rPr>
              <a:t>/32)*GPY_CTRL_OFFSET;</a:t>
            </a:r>
          </a:p>
          <a:p>
            <a:pPr marL="0" indent="0" algn="l">
              <a:spcBef>
                <a:spcPts val="0"/>
              </a:spcBef>
              <a:buNone/>
            </a:pPr>
            <a:endParaRPr lang="en-US" sz="1300" dirty="0">
              <a:latin typeface="Consolas" panose="020B0609020204030204" pitchFamily="49" charset="0"/>
            </a:endParaRPr>
          </a:p>
          <a:p>
            <a:pPr marL="0" indent="0" algn="l">
              <a:spcBef>
                <a:spcPts val="0"/>
              </a:spcBef>
              <a:buNone/>
            </a:pPr>
            <a:r>
              <a:rPr lang="en-US" sz="1300" dirty="0">
                <a:solidFill>
                  <a:srgbClr val="000000"/>
                </a:solidFill>
                <a:latin typeface="Consolas" panose="020B0609020204030204" pitchFamily="49" charset="0"/>
              </a:rPr>
              <a:t>    mux = </a:t>
            </a:r>
            <a:r>
              <a:rPr lang="en-US" sz="1300" dirty="0" err="1">
                <a:solidFill>
                  <a:srgbClr val="000000"/>
                </a:solidFill>
                <a:latin typeface="Consolas" panose="020B0609020204030204" pitchFamily="49" charset="0"/>
              </a:rPr>
              <a:t>gpioBaseAddr</a:t>
            </a:r>
            <a:r>
              <a:rPr lang="en-US" sz="1300" dirty="0">
                <a:solidFill>
                  <a:srgbClr val="000000"/>
                </a:solidFill>
                <a:latin typeface="Consolas" panose="020B0609020204030204" pitchFamily="49" charset="0"/>
              </a:rPr>
              <a:t> + GPYMUX + pin32/16;</a:t>
            </a: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gmux</a:t>
            </a:r>
            <a:r>
              <a:rPr lang="en-US" sz="1300" dirty="0">
                <a:solidFill>
                  <a:srgbClr val="000000"/>
                </a:solidFill>
                <a:latin typeface="Consolas" panose="020B0609020204030204" pitchFamily="49" charset="0"/>
              </a:rPr>
              <a:t> = </a:t>
            </a:r>
            <a:r>
              <a:rPr lang="en-US" sz="1300" dirty="0" err="1">
                <a:solidFill>
                  <a:srgbClr val="000000"/>
                </a:solidFill>
                <a:latin typeface="Consolas" panose="020B0609020204030204" pitchFamily="49" charset="0"/>
              </a:rPr>
              <a:t>gpioBaseAddr</a:t>
            </a:r>
            <a:r>
              <a:rPr lang="en-US" sz="1300" dirty="0">
                <a:solidFill>
                  <a:srgbClr val="000000"/>
                </a:solidFill>
                <a:latin typeface="Consolas" panose="020B0609020204030204" pitchFamily="49" charset="0"/>
              </a:rPr>
              <a:t> + GPYGMUX + pin32/16;</a:t>
            </a: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csel</a:t>
            </a:r>
            <a:r>
              <a:rPr lang="en-US" sz="1300" dirty="0">
                <a:solidFill>
                  <a:srgbClr val="000000"/>
                </a:solidFill>
                <a:latin typeface="Consolas" panose="020B0609020204030204" pitchFamily="49" charset="0"/>
              </a:rPr>
              <a:t> = </a:t>
            </a:r>
            <a:r>
              <a:rPr lang="en-US" sz="1300" dirty="0" err="1">
                <a:solidFill>
                  <a:srgbClr val="000000"/>
                </a:solidFill>
                <a:latin typeface="Consolas" panose="020B0609020204030204" pitchFamily="49" charset="0"/>
              </a:rPr>
              <a:t>gpioBaseAddr</a:t>
            </a:r>
            <a:r>
              <a:rPr lang="en-US" sz="1300" dirty="0">
                <a:solidFill>
                  <a:srgbClr val="000000"/>
                </a:solidFill>
                <a:latin typeface="Consolas" panose="020B0609020204030204" pitchFamily="49" charset="0"/>
              </a:rPr>
              <a:t> + GPYCSEL + pin32/8;</a:t>
            </a:r>
          </a:p>
          <a:p>
            <a:pPr marL="0" indent="0">
              <a:spcBef>
                <a:spcPts val="0"/>
              </a:spcBef>
              <a:buNone/>
            </a:pPr>
            <a:endParaRPr lang="en-US" sz="1300" dirty="0">
              <a:latin typeface="Consolas" panose="020B0609020204030204" pitchFamily="49" charset="0"/>
            </a:endParaRPr>
          </a:p>
          <a:p>
            <a:pPr marL="0" indent="0">
              <a:spcBef>
                <a:spcPts val="0"/>
              </a:spcBef>
              <a:buNone/>
            </a:pPr>
            <a:r>
              <a:rPr lang="en-US" sz="1300" dirty="0">
                <a:solidFill>
                  <a:srgbClr val="000000"/>
                </a:solidFill>
                <a:latin typeface="Consolas" panose="020B0609020204030204" pitchFamily="49" charset="0"/>
              </a:rPr>
              <a:t>    EALLOW; </a:t>
            </a:r>
            <a:r>
              <a:rPr lang="en-US" sz="1300" dirty="0">
                <a:solidFill>
                  <a:srgbClr val="3F7F5F"/>
                </a:solidFill>
                <a:latin typeface="Consolas" panose="020B0609020204030204" pitchFamily="49" charset="0"/>
              </a:rPr>
              <a:t>// block that controls the physical multiplexer</a:t>
            </a:r>
            <a:endParaRPr lang="en-US" sz="1300" dirty="0">
              <a:solidFill>
                <a:srgbClr val="000000"/>
              </a:solidFill>
              <a:latin typeface="Consolas" panose="020B0609020204030204" pitchFamily="49" charset="0"/>
            </a:endParaRPr>
          </a:p>
          <a:p>
            <a:pPr marL="0" indent="0" algn="l">
              <a:spcBef>
                <a:spcPts val="0"/>
              </a:spcBef>
              <a:buNone/>
            </a:pPr>
            <a:endParaRPr lang="en-US" sz="1300" dirty="0">
              <a:latin typeface="Consolas" panose="020B0609020204030204" pitchFamily="49" charset="0"/>
            </a:endParaRPr>
          </a:p>
          <a:p>
            <a:pPr marL="0" indent="0" algn="l">
              <a:spcBef>
                <a:spcPts val="0"/>
              </a:spcBef>
              <a:buNone/>
            </a:pPr>
            <a:r>
              <a:rPr lang="en-US" sz="1300" dirty="0">
                <a:solidFill>
                  <a:srgbClr val="000000"/>
                </a:solidFill>
                <a:latin typeface="Consolas" panose="020B0609020204030204" pitchFamily="49" charset="0"/>
              </a:rPr>
              <a:t>    </a:t>
            </a:r>
            <a:r>
              <a:rPr lang="en-US" sz="1300" dirty="0">
                <a:solidFill>
                  <a:srgbClr val="3F7F5F"/>
                </a:solidFill>
                <a:latin typeface="Consolas" panose="020B0609020204030204" pitchFamily="49" charset="0"/>
              </a:rPr>
              <a:t>// 0x3UL means 0b11 but in int32_t (i.e. 0b11 with 30 leading 0s)</a:t>
            </a:r>
          </a:p>
          <a:p>
            <a:pPr marL="0" indent="0" algn="l">
              <a:spcBef>
                <a:spcPts val="0"/>
              </a:spcBef>
              <a:buNone/>
            </a:pPr>
            <a:r>
              <a:rPr lang="en-US" sz="1300" dirty="0">
                <a:solidFill>
                  <a:srgbClr val="000000"/>
                </a:solidFill>
                <a:latin typeface="Consolas" panose="020B0609020204030204" pitchFamily="49" charset="0"/>
              </a:rPr>
              <a:t>    *mux &amp;= ~(0x3UL &lt;&lt; (2*pin16));</a:t>
            </a: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gmux</a:t>
            </a:r>
            <a:r>
              <a:rPr lang="en-US" sz="1300" dirty="0">
                <a:solidFill>
                  <a:srgbClr val="000000"/>
                </a:solidFill>
                <a:latin typeface="Consolas" panose="020B0609020204030204" pitchFamily="49" charset="0"/>
              </a:rPr>
              <a:t> &amp;= ~(0x3UL &lt;&lt; (2*pin16));</a:t>
            </a: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gmux</a:t>
            </a:r>
            <a:r>
              <a:rPr lang="en-US" sz="1300" dirty="0">
                <a:solidFill>
                  <a:srgbClr val="000000"/>
                </a:solidFill>
                <a:latin typeface="Consolas" panose="020B0609020204030204" pitchFamily="49" charset="0"/>
              </a:rPr>
              <a:t> |= (</a:t>
            </a:r>
            <a:r>
              <a:rPr lang="en-US" sz="1300" dirty="0">
                <a:solidFill>
                  <a:srgbClr val="005032"/>
                </a:solidFill>
                <a:latin typeface="Consolas" panose="020B0609020204030204" pitchFamily="49" charset="0"/>
              </a:rPr>
              <a:t>Uint32</a:t>
            </a:r>
            <a:r>
              <a:rPr lang="en-US" sz="1300" dirty="0">
                <a:solidFill>
                  <a:srgbClr val="000000"/>
                </a:solidFill>
                <a:latin typeface="Consolas" panose="020B0609020204030204" pitchFamily="49" charset="0"/>
              </a:rPr>
              <a:t>)((</a:t>
            </a:r>
            <a:r>
              <a:rPr lang="en-US" sz="1300" dirty="0" err="1">
                <a:solidFill>
                  <a:srgbClr val="000000"/>
                </a:solidFill>
                <a:latin typeface="Consolas" panose="020B0609020204030204" pitchFamily="49" charset="0"/>
              </a:rPr>
              <a:t>muxPosition</a:t>
            </a:r>
            <a:r>
              <a:rPr lang="en-US" sz="1300" dirty="0">
                <a:solidFill>
                  <a:srgbClr val="000000"/>
                </a:solidFill>
                <a:latin typeface="Consolas" panose="020B0609020204030204" pitchFamily="49" charset="0"/>
              </a:rPr>
              <a:t> &gt;&gt; 2) &amp; 0x3UL) &lt;&lt; (2*pin16);</a:t>
            </a:r>
          </a:p>
          <a:p>
            <a:pPr marL="0" indent="0" algn="l">
              <a:spcBef>
                <a:spcPts val="0"/>
              </a:spcBef>
              <a:buNone/>
            </a:pPr>
            <a:r>
              <a:rPr lang="fr-FR" sz="1300" dirty="0">
                <a:solidFill>
                  <a:srgbClr val="000000"/>
                </a:solidFill>
                <a:latin typeface="Consolas" panose="020B0609020204030204" pitchFamily="49" charset="0"/>
              </a:rPr>
              <a:t>    *</a:t>
            </a:r>
            <a:r>
              <a:rPr lang="fr-FR" sz="1300" dirty="0" err="1">
                <a:solidFill>
                  <a:srgbClr val="000000"/>
                </a:solidFill>
                <a:latin typeface="Consolas" panose="020B0609020204030204" pitchFamily="49" charset="0"/>
              </a:rPr>
              <a:t>mux</a:t>
            </a:r>
            <a:r>
              <a:rPr lang="fr-FR" sz="1300" dirty="0">
                <a:solidFill>
                  <a:srgbClr val="000000"/>
                </a:solidFill>
                <a:latin typeface="Consolas" panose="020B0609020204030204" pitchFamily="49" charset="0"/>
              </a:rPr>
              <a:t> |= (</a:t>
            </a:r>
            <a:r>
              <a:rPr lang="fr-FR" sz="1300" dirty="0">
                <a:solidFill>
                  <a:srgbClr val="005032"/>
                </a:solidFill>
                <a:latin typeface="Consolas" panose="020B0609020204030204" pitchFamily="49" charset="0"/>
              </a:rPr>
              <a:t>Uint32</a:t>
            </a:r>
            <a:r>
              <a:rPr lang="fr-FR" sz="1300" dirty="0">
                <a:solidFill>
                  <a:srgbClr val="000000"/>
                </a:solidFill>
                <a:latin typeface="Consolas" panose="020B0609020204030204" pitchFamily="49" charset="0"/>
              </a:rPr>
              <a:t>)(</a:t>
            </a:r>
            <a:r>
              <a:rPr lang="fr-FR" sz="1300" dirty="0" err="1">
                <a:solidFill>
                  <a:srgbClr val="000000"/>
                </a:solidFill>
                <a:latin typeface="Consolas" panose="020B0609020204030204" pitchFamily="49" charset="0"/>
              </a:rPr>
              <a:t>muxPosition</a:t>
            </a:r>
            <a:r>
              <a:rPr lang="fr-FR" sz="1300" dirty="0">
                <a:solidFill>
                  <a:srgbClr val="000000"/>
                </a:solidFill>
                <a:latin typeface="Consolas" panose="020B0609020204030204" pitchFamily="49" charset="0"/>
              </a:rPr>
              <a:t> &amp; 0x3UL) &lt;&lt; (2*pin16);</a:t>
            </a:r>
          </a:p>
          <a:p>
            <a:pPr marL="0" indent="0" algn="l">
              <a:spcBef>
                <a:spcPts val="0"/>
              </a:spcBef>
              <a:buNone/>
            </a:pPr>
            <a:endParaRPr lang="en-US" sz="1300" dirty="0">
              <a:latin typeface="Consolas" panose="020B0609020204030204" pitchFamily="49" charset="0"/>
            </a:endParaRP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csel</a:t>
            </a:r>
            <a:r>
              <a:rPr lang="en-US" sz="1300" dirty="0">
                <a:solidFill>
                  <a:srgbClr val="000000"/>
                </a:solidFill>
                <a:latin typeface="Consolas" panose="020B0609020204030204" pitchFamily="49" charset="0"/>
              </a:rPr>
              <a:t> &amp;= ~(0x3L &lt;&lt; (4*pin8));</a:t>
            </a:r>
          </a:p>
          <a:p>
            <a:pPr marL="0" indent="0" algn="l">
              <a:spcBef>
                <a:spcPts val="0"/>
              </a:spcBef>
              <a:buNone/>
            </a:pPr>
            <a:r>
              <a:rPr lang="en-US" sz="1300" dirty="0">
                <a:solidFill>
                  <a:srgbClr val="000000"/>
                </a:solidFill>
                <a:latin typeface="Consolas" panose="020B0609020204030204" pitchFamily="49" charset="0"/>
              </a:rPr>
              <a:t>    *</a:t>
            </a:r>
            <a:r>
              <a:rPr lang="en-US" sz="1300" dirty="0" err="1">
                <a:solidFill>
                  <a:srgbClr val="000000"/>
                </a:solidFill>
                <a:latin typeface="Consolas" panose="020B0609020204030204" pitchFamily="49" charset="0"/>
              </a:rPr>
              <a:t>csel</a:t>
            </a:r>
            <a:r>
              <a:rPr lang="en-US" sz="1300" dirty="0">
                <a:solidFill>
                  <a:srgbClr val="000000"/>
                </a:solidFill>
                <a:latin typeface="Consolas" panose="020B0609020204030204" pitchFamily="49" charset="0"/>
              </a:rPr>
              <a:t> |= (</a:t>
            </a:r>
            <a:r>
              <a:rPr lang="en-US" sz="1300" dirty="0">
                <a:solidFill>
                  <a:srgbClr val="005032"/>
                </a:solidFill>
                <a:latin typeface="Consolas" panose="020B0609020204030204" pitchFamily="49" charset="0"/>
              </a:rPr>
              <a:t>Uint32</a:t>
            </a:r>
            <a:r>
              <a:rPr lang="en-US" sz="1300" dirty="0">
                <a:solidFill>
                  <a:srgbClr val="000000"/>
                </a:solidFill>
                <a:latin typeface="Consolas" panose="020B0609020204030204" pitchFamily="49" charset="0"/>
              </a:rPr>
              <a:t>)(</a:t>
            </a:r>
            <a:r>
              <a:rPr lang="en-US" sz="1300" dirty="0" err="1">
                <a:solidFill>
                  <a:srgbClr val="000000"/>
                </a:solidFill>
                <a:latin typeface="Consolas" panose="020B0609020204030204" pitchFamily="49" charset="0"/>
              </a:rPr>
              <a:t>cpu</a:t>
            </a:r>
            <a:r>
              <a:rPr lang="en-US" sz="1300" dirty="0">
                <a:solidFill>
                  <a:srgbClr val="000000"/>
                </a:solidFill>
                <a:latin typeface="Consolas" panose="020B0609020204030204" pitchFamily="49" charset="0"/>
              </a:rPr>
              <a:t> &amp; 0x3L) &lt;&lt; (4*pin8);</a:t>
            </a:r>
          </a:p>
          <a:p>
            <a:pPr marL="0" indent="0" algn="l">
              <a:spcBef>
                <a:spcPts val="0"/>
              </a:spcBef>
              <a:buNone/>
            </a:pPr>
            <a:r>
              <a:rPr lang="en-US" sz="1300" dirty="0">
                <a:solidFill>
                  <a:srgbClr val="000000"/>
                </a:solidFill>
                <a:latin typeface="Consolas" panose="020B0609020204030204" pitchFamily="49" charset="0"/>
              </a:rPr>
              <a:t>    EDIS;</a:t>
            </a:r>
          </a:p>
          <a:p>
            <a:pPr marL="0" indent="0" algn="l">
              <a:spcBef>
                <a:spcPts val="0"/>
              </a:spcBef>
              <a:buNone/>
            </a:pPr>
            <a:r>
              <a:rPr lang="en-US" sz="1300" dirty="0">
                <a:solidFill>
                  <a:srgbClr val="000000"/>
                </a:solidFill>
                <a:latin typeface="Consolas" panose="020B0609020204030204" pitchFamily="49" charset="0"/>
              </a:rPr>
              <a:t>}</a:t>
            </a:r>
          </a:p>
        </p:txBody>
      </p:sp>
      <p:sp>
        <p:nvSpPr>
          <p:cNvPr id="119" name="Google Shape;119;p29">
            <a:extLst>
              <a:ext uri="{FF2B5EF4-FFF2-40B4-BE49-F238E27FC236}">
                <a16:creationId xmlns:a16="http://schemas.microsoft.com/office/drawing/2014/main" id="{F351CFB9-850D-B406-7B3D-BC2E894926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3911D61-A563-3FD0-3C11-6922C2CAC17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Pin Mux – Code ( Not the exact code for reduced spacing )</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EA00A71-C78E-7E1C-D32F-3604524FB71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E67E111-4413-2CCF-7FE0-8598613A212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FBC29ED-E0AD-1149-9E1A-41043D5125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B47397B-F810-D152-E5B9-7A47587B8E6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BE875B4-D3C4-7968-47EA-1C68952CB9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8409232-DAB3-584A-4800-E9A6804CF96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283483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188E027-5518-4ECF-EB59-C7D57AADEA8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D8EFFB9-F11F-FB13-5C98-BB705E99B20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gn="ctr">
              <a:spcBef>
                <a:spcPts val="0"/>
              </a:spcBef>
              <a:buNone/>
            </a:pPr>
            <a:r>
              <a:rPr lang="en-US" sz="1800" dirty="0" err="1">
                <a:solidFill>
                  <a:srgbClr val="642880"/>
                </a:solidFill>
                <a:latin typeface="Consolas" panose="020B0609020204030204" pitchFamily="49" charset="0"/>
              </a:rPr>
              <a:t>GPIO_SetupPinMux</a:t>
            </a:r>
            <a:r>
              <a:rPr lang="en-US" sz="1800" dirty="0">
                <a:solidFill>
                  <a:srgbClr val="000000"/>
                </a:solidFill>
                <a:latin typeface="Consolas" panose="020B0609020204030204" pitchFamily="49" charset="0"/>
              </a:rPr>
              <a:t>(19, GPIO_MUX_CPU1, 0);</a:t>
            </a:r>
          </a:p>
          <a:p>
            <a:pPr marL="0" indent="0" algn="ctr">
              <a:spcBef>
                <a:spcPts val="0"/>
              </a:spcBef>
              <a:buNone/>
            </a:pPr>
            <a:r>
              <a:rPr lang="en-US" sz="1800" dirty="0" err="1">
                <a:solidFill>
                  <a:srgbClr val="642880"/>
                </a:solidFill>
                <a:latin typeface="Consolas" panose="020B0609020204030204" pitchFamily="49" charset="0"/>
              </a:rPr>
              <a:t>GPIO_SetupPinOptions</a:t>
            </a:r>
            <a:r>
              <a:rPr lang="en-US" sz="1800" dirty="0">
                <a:solidFill>
                  <a:srgbClr val="000000"/>
                </a:solidFill>
                <a:latin typeface="Consolas" panose="020B0609020204030204" pitchFamily="49" charset="0"/>
              </a:rPr>
              <a:t>(19, GPIO_OUTPUT, GPIO_PUSHPULL);</a:t>
            </a:r>
          </a:p>
          <a:p>
            <a:pPr marL="0" indent="0" algn="ctr">
              <a:lnSpc>
                <a:spcPct val="150000"/>
              </a:lnSpc>
              <a:spcBef>
                <a:spcPts val="0"/>
              </a:spcBef>
              <a:buNone/>
            </a:pPr>
            <a:endParaRPr lang="en-US" sz="1800" dirty="0">
              <a:solidFill>
                <a:srgbClr val="000000"/>
              </a:solidFill>
              <a:latin typeface="Consolas" panose="020B0609020204030204" pitchFamily="49" charset="0"/>
            </a:endParaRPr>
          </a:p>
          <a:p>
            <a:pPr marL="285750" indent="-285750">
              <a:lnSpc>
                <a:spcPct val="150000"/>
              </a:lnSpc>
              <a:spcBef>
                <a:spcPts val="0"/>
              </a:spcBef>
            </a:pPr>
            <a:r>
              <a:rPr lang="en-US" sz="1800" dirty="0">
                <a:solidFill>
                  <a:srgbClr val="000000"/>
                </a:solidFill>
                <a:latin typeface="+mj-lt"/>
              </a:rPr>
              <a:t>Using the pin number instead of the GPIO number</a:t>
            </a:r>
          </a:p>
          <a:p>
            <a:pPr marL="285750" indent="-285750">
              <a:lnSpc>
                <a:spcPct val="150000"/>
              </a:lnSpc>
              <a:spcBef>
                <a:spcPts val="0"/>
              </a:spcBef>
            </a:pPr>
            <a:r>
              <a:rPr lang="en-US" sz="1800" dirty="0">
                <a:solidFill>
                  <a:srgbClr val="000000"/>
                </a:solidFill>
                <a:latin typeface="+mj-lt"/>
              </a:rPr>
              <a:t>Using the wrong GPIO for the pin that you want</a:t>
            </a:r>
          </a:p>
          <a:p>
            <a:pPr marL="285750" indent="-285750">
              <a:lnSpc>
                <a:spcPct val="150000"/>
              </a:lnSpc>
              <a:spcBef>
                <a:spcPts val="0"/>
              </a:spcBef>
            </a:pPr>
            <a:r>
              <a:rPr lang="en-US" sz="1800" dirty="0">
                <a:solidFill>
                  <a:srgbClr val="000000"/>
                </a:solidFill>
                <a:latin typeface="+mj-lt"/>
              </a:rPr>
              <a:t>Direction is not set correctly</a:t>
            </a:r>
          </a:p>
          <a:p>
            <a:pPr marL="285750" indent="-285750">
              <a:lnSpc>
                <a:spcPct val="150000"/>
              </a:lnSpc>
              <a:spcBef>
                <a:spcPts val="0"/>
              </a:spcBef>
            </a:pPr>
            <a:r>
              <a:rPr lang="en-US" sz="1800" dirty="0">
                <a:solidFill>
                  <a:srgbClr val="000000"/>
                </a:solidFill>
                <a:latin typeface="+mj-lt"/>
              </a:rPr>
              <a:t>Pull-up disabled unintentionally</a:t>
            </a:r>
          </a:p>
          <a:p>
            <a:pPr marL="285750" indent="-285750">
              <a:lnSpc>
                <a:spcPct val="150000"/>
              </a:lnSpc>
              <a:spcBef>
                <a:spcPts val="0"/>
              </a:spcBef>
            </a:pPr>
            <a:r>
              <a:rPr lang="en-US" sz="1800" dirty="0">
                <a:solidFill>
                  <a:srgbClr val="000000"/>
                </a:solidFill>
                <a:latin typeface="+mj-lt"/>
              </a:rPr>
              <a:t>Make sure to read the documentation</a:t>
            </a:r>
          </a:p>
        </p:txBody>
      </p:sp>
      <p:sp>
        <p:nvSpPr>
          <p:cNvPr id="119" name="Google Shape;119;p29">
            <a:extLst>
              <a:ext uri="{FF2B5EF4-FFF2-40B4-BE49-F238E27FC236}">
                <a16:creationId xmlns:a16="http://schemas.microsoft.com/office/drawing/2014/main" id="{FD0C4280-88E8-DB84-118B-F5229BB7E13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E220E78-2418-0631-48E9-884B7151863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Common </a:t>
            </a:r>
            <a:r>
              <a:rPr lang="en-US" sz="2400" b="0" i="0" u="none" strike="noStrike" cap="none" dirty="0" err="1">
                <a:solidFill>
                  <a:schemeClr val="lt1"/>
                </a:solidFill>
                <a:latin typeface="Atkinson Hyperlegible Next"/>
                <a:ea typeface="Arial"/>
                <a:cs typeface="Arial"/>
                <a:sym typeface="Arial"/>
              </a:rPr>
              <a:t>PinMux</a:t>
            </a:r>
            <a:r>
              <a:rPr lang="en-US" sz="2400" b="0" i="0" u="none" strike="noStrike" cap="none" dirty="0">
                <a:solidFill>
                  <a:schemeClr val="lt1"/>
                </a:solidFill>
                <a:latin typeface="Atkinson Hyperlegible Next"/>
                <a:ea typeface="Arial"/>
                <a:cs typeface="Arial"/>
                <a:sym typeface="Arial"/>
              </a:rPr>
              <a:t> mistake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97E48C2-91B6-B022-E027-12F99D2DE2F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161888B-E83F-CFEB-57BF-D079E37A59B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B461599-6A14-2756-C154-42E5FC1C188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61EF1B5-1199-20FF-0C6F-0D157F05179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C28DB36-C8AA-40B9-F391-39D5D3A5932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B61EB1A-EAED-D063-9C2D-363D9CCBC01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926343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F303F532-FC6F-D568-E4E0-3FD155DE0FB9}"/>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069FE454-6279-8BA6-8D5F-1060F1D08724}"/>
              </a:ext>
            </a:extLst>
          </p:cNvPr>
          <p:cNvSpPr/>
          <p:nvPr>
            <p:ph type="title"/>
          </p:nvPr>
        </p:nvSpPr>
        <p:spPr>
          <a:xfrm>
            <a:off x="1295400" y="3225488"/>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Git / GitHub</a:t>
            </a:r>
            <a:endParaRPr i="0" b="0" sz="1400" dirty="0">
              <a:solidFill>
                <a:srgbClr val="000000"/>
              </a:solidFill>
            </a:endParaRPr>
          </a:p>
        </p:txBody>
      </p:sp>
      <p:grpSp>
        <p:nvGrpSpPr>
          <p:cNvPr id="105" name="Google Shape;105;p28">
            <a:extLst>
              <a:ext uri="{FF2B5EF4-FFF2-40B4-BE49-F238E27FC236}">
                <a16:creationId xmlns:a16="http://schemas.microsoft.com/office/drawing/2014/main" id="{2EEC05E7-9BB3-9352-50EA-BE88A7C50791}"/>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C463CF59-204B-1DAA-7B80-37BAEA538EC2}"/>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BEFD3B0D-277D-0ED0-8713-5A71C3E86891}"/>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8DECB686-B94B-255D-95FD-DDC1B853CC0D}"/>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E68CF0F-2FB3-4CD2-F2E2-9106F5BB805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A1146245-6214-8CDD-3676-C0157ADFBC36}"/>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2D0E7AF3-681D-F5A1-A5BD-F3ADA907822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980E29CA-3B69-9D2B-47AE-FCD96FF1366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DFD469EA-1872-C16E-7B38-EFCB302FBA2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095572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DA7ABC1-2A2B-C5BF-469F-1F81C27DFDD9}"/>
            </a:ext>
          </a:extLst>
        </p:cNvPr>
        <p:cNvGrpSpPr/>
        <p:nvPr/>
      </p:nvGrpSpPr>
      <p:grpSpPr>
        <a:xfrm>
          <a:off x="0" y="0"/>
          <a:ext cx="0" cy="0"/>
          <a:chOff x="0" y="0"/>
          <a:chExt cx="0" cy="0"/>
        </a:xfrm>
      </p:grpSpPr>
      <p:sp>
        <p:nvSpPr>
          <p:cNvPr id="34" name="Rectangle 33">
            <a:extLst>
              <a:ext uri="{FF2B5EF4-FFF2-40B4-BE49-F238E27FC236}">
                <a16:creationId xmlns:a16="http://schemas.microsoft.com/office/drawing/2014/main" id="{6F42C677-ED51-8D43-DC1D-04DC9F8FBC3C}"/>
              </a:ext>
            </a:extLst>
          </p:cNvPr>
          <p:cNvSpPr/>
          <p:nvPr/>
        </p:nvSpPr>
        <p:spPr>
          <a:xfrm>
            <a:off x="8368144" y="1638270"/>
            <a:ext cx="3262524" cy="4725238"/>
          </a:xfrm>
          <a:prstGeom prst="rect">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119" name="Google Shape;119;p29">
            <a:extLst>
              <a:ext uri="{FF2B5EF4-FFF2-40B4-BE49-F238E27FC236}">
                <a16:creationId xmlns:a16="http://schemas.microsoft.com/office/drawing/2014/main" id="{6DB4C167-2C33-2FE6-0DA6-E2F7F946D40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7A357A5-785A-2D62-D6A9-E079C0B2E0D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Atkinson Hyperlegible Next"/>
                <a:ea typeface="Arial"/>
                <a:cs typeface="Arial"/>
                <a:sym typeface="Arial"/>
              </a:rPr>
              <a:t>Git / GitHub</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31DA69B-1A5C-EB74-2B38-5DA5A801920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DB264F6-0B3A-A050-276B-3985060786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49A3198-B2FA-AB08-BA26-1C6E4CD5185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E2C9649-513D-0418-6B43-CA356231667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21C568C-D6CD-1484-7E38-71888070F22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A34152E-5EB8-6626-6556-71F1BC06AE6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4" name="Rectangle: Rounded Corners 3">
            <a:extLst>
              <a:ext uri="{FF2B5EF4-FFF2-40B4-BE49-F238E27FC236}">
                <a16:creationId xmlns:a16="http://schemas.microsoft.com/office/drawing/2014/main" id="{5A8794A2-8150-5ADE-7519-4045C4BB692A}"/>
              </a:ext>
            </a:extLst>
          </p:cNvPr>
          <p:cNvSpPr/>
          <p:nvPr/>
        </p:nvSpPr>
        <p:spPr>
          <a:xfrm>
            <a:off x="264695" y="1677646"/>
            <a:ext cx="2261937" cy="1010653"/>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Working Directory</a:t>
            </a:r>
          </a:p>
        </p:txBody>
      </p:sp>
      <p:sp>
        <p:nvSpPr>
          <p:cNvPr id="5" name="Rectangle: Rounded Corners 4">
            <a:extLst>
              <a:ext uri="{FF2B5EF4-FFF2-40B4-BE49-F238E27FC236}">
                <a16:creationId xmlns:a16="http://schemas.microsoft.com/office/drawing/2014/main" id="{B5FC1DD3-B1FE-8EDE-37D5-0C8CC6649449}"/>
              </a:ext>
            </a:extLst>
          </p:cNvPr>
          <p:cNvSpPr/>
          <p:nvPr/>
        </p:nvSpPr>
        <p:spPr>
          <a:xfrm>
            <a:off x="2935705" y="1695254"/>
            <a:ext cx="2261937" cy="1010653"/>
          </a:xfrm>
          <a:prstGeom prst="round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Staging Area</a:t>
            </a:r>
          </a:p>
        </p:txBody>
      </p:sp>
      <p:sp>
        <p:nvSpPr>
          <p:cNvPr id="6" name="Rectangle: Rounded Corners 5">
            <a:extLst>
              <a:ext uri="{FF2B5EF4-FFF2-40B4-BE49-F238E27FC236}">
                <a16:creationId xmlns:a16="http://schemas.microsoft.com/office/drawing/2014/main" id="{8A7E07CD-3638-15A5-36B7-D73E34B8DB73}"/>
              </a:ext>
            </a:extLst>
          </p:cNvPr>
          <p:cNvSpPr/>
          <p:nvPr/>
        </p:nvSpPr>
        <p:spPr>
          <a:xfrm>
            <a:off x="5606715" y="1695254"/>
            <a:ext cx="2261937" cy="1010653"/>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Local Repository</a:t>
            </a:r>
          </a:p>
        </p:txBody>
      </p:sp>
      <p:sp>
        <p:nvSpPr>
          <p:cNvPr id="7" name="Rectangle: Rounded Corners 6">
            <a:extLst>
              <a:ext uri="{FF2B5EF4-FFF2-40B4-BE49-F238E27FC236}">
                <a16:creationId xmlns:a16="http://schemas.microsoft.com/office/drawing/2014/main" id="{72214B10-CD7B-0CC9-FA55-DF658B7885F1}"/>
              </a:ext>
            </a:extLst>
          </p:cNvPr>
          <p:cNvSpPr/>
          <p:nvPr/>
        </p:nvSpPr>
        <p:spPr>
          <a:xfrm>
            <a:off x="8895865" y="1695254"/>
            <a:ext cx="2261937" cy="1010653"/>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Remote Repository</a:t>
            </a:r>
          </a:p>
        </p:txBody>
      </p:sp>
      <p:cxnSp>
        <p:nvCxnSpPr>
          <p:cNvPr id="9" name="Straight Connector 8">
            <a:extLst>
              <a:ext uri="{FF2B5EF4-FFF2-40B4-BE49-F238E27FC236}">
                <a16:creationId xmlns:a16="http://schemas.microsoft.com/office/drawing/2014/main" id="{BAA834F3-A79C-3EB1-1535-05439C4C14C5}"/>
              </a:ext>
            </a:extLst>
          </p:cNvPr>
          <p:cNvCxnSpPr>
            <a:cxnSpLocks/>
            <a:stCxn id="4" idx="2"/>
          </p:cNvCxnSpPr>
          <p:nvPr/>
        </p:nvCxnSpPr>
        <p:spPr>
          <a:xfrm flipH="1">
            <a:off x="1395663" y="2688299"/>
            <a:ext cx="1" cy="365760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8FA218E-2F98-9701-4B6C-34866E25F702}"/>
              </a:ext>
            </a:extLst>
          </p:cNvPr>
          <p:cNvCxnSpPr>
            <a:cxnSpLocks/>
            <a:stCxn id="5" idx="2"/>
          </p:cNvCxnSpPr>
          <p:nvPr/>
        </p:nvCxnSpPr>
        <p:spPr>
          <a:xfrm>
            <a:off x="4066674" y="2705907"/>
            <a:ext cx="0" cy="365760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54502ADF-DC3F-AC07-1D3D-0AC962EB39F5}"/>
              </a:ext>
            </a:extLst>
          </p:cNvPr>
          <p:cNvCxnSpPr>
            <a:cxnSpLocks/>
            <a:stCxn id="6" idx="2"/>
          </p:cNvCxnSpPr>
          <p:nvPr/>
        </p:nvCxnSpPr>
        <p:spPr>
          <a:xfrm>
            <a:off x="6737684" y="2705907"/>
            <a:ext cx="0" cy="3657600"/>
          </a:xfrm>
          <a:prstGeom prst="line">
            <a:avLst/>
          </a:prstGeom>
          <a:ln w="28575"/>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5FE03CB-1489-D52B-FEBE-50EF83F2710E}"/>
              </a:ext>
            </a:extLst>
          </p:cNvPr>
          <p:cNvCxnSpPr>
            <a:cxnSpLocks/>
            <a:stCxn id="7" idx="2"/>
          </p:cNvCxnSpPr>
          <p:nvPr/>
        </p:nvCxnSpPr>
        <p:spPr>
          <a:xfrm>
            <a:off x="10026834" y="2705907"/>
            <a:ext cx="0" cy="3657600"/>
          </a:xfrm>
          <a:prstGeom prst="line">
            <a:avLst/>
          </a:prstGeom>
          <a:ln w="28575"/>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35640A7-9D23-66F4-D3C8-DF068BE4D236}"/>
              </a:ext>
            </a:extLst>
          </p:cNvPr>
          <p:cNvSpPr txBox="1"/>
          <p:nvPr/>
        </p:nvSpPr>
        <p:spPr>
          <a:xfrm>
            <a:off x="2427205" y="926572"/>
            <a:ext cx="3296653" cy="707886"/>
          </a:xfrm>
          <a:prstGeom prst="rect">
            <a:avLst/>
          </a:prstGeom>
          <a:noFill/>
        </p:spPr>
        <p:txBody>
          <a:bodyPr wrap="square" rtlCol="0">
            <a:spAutoFit/>
          </a:bodyPr>
          <a:lstStyle/>
          <a:p>
            <a:pPr algn="ctr"/>
            <a:r>
              <a:rPr lang="en-US" sz="4000" dirty="0"/>
              <a:t>Local (git)</a:t>
            </a:r>
          </a:p>
        </p:txBody>
      </p:sp>
      <p:sp>
        <p:nvSpPr>
          <p:cNvPr id="25" name="TextBox 24">
            <a:extLst>
              <a:ext uri="{FF2B5EF4-FFF2-40B4-BE49-F238E27FC236}">
                <a16:creationId xmlns:a16="http://schemas.microsoft.com/office/drawing/2014/main" id="{4B2E7C45-02D6-44AA-C3CE-023D10F44C0B}"/>
              </a:ext>
            </a:extLst>
          </p:cNvPr>
          <p:cNvSpPr txBox="1"/>
          <p:nvPr/>
        </p:nvSpPr>
        <p:spPr>
          <a:xfrm>
            <a:off x="8005267" y="910065"/>
            <a:ext cx="4043128" cy="707886"/>
          </a:xfrm>
          <a:prstGeom prst="rect">
            <a:avLst/>
          </a:prstGeom>
          <a:noFill/>
        </p:spPr>
        <p:txBody>
          <a:bodyPr wrap="square" rtlCol="0">
            <a:spAutoFit/>
          </a:bodyPr>
          <a:lstStyle/>
          <a:p>
            <a:pPr algn="ctr"/>
            <a:r>
              <a:rPr lang="en-US" sz="4000" dirty="0"/>
              <a:t>Remote (GitHub)</a:t>
            </a:r>
          </a:p>
        </p:txBody>
      </p:sp>
      <p:sp>
        <p:nvSpPr>
          <p:cNvPr id="26" name="Arrow: Right 25">
            <a:extLst>
              <a:ext uri="{FF2B5EF4-FFF2-40B4-BE49-F238E27FC236}">
                <a16:creationId xmlns:a16="http://schemas.microsoft.com/office/drawing/2014/main" id="{0713BEBE-6D93-C2E8-474F-0D8807AE009A}"/>
              </a:ext>
            </a:extLst>
          </p:cNvPr>
          <p:cNvSpPr/>
          <p:nvPr/>
        </p:nvSpPr>
        <p:spPr>
          <a:xfrm>
            <a:off x="6755398" y="4421958"/>
            <a:ext cx="3262526" cy="868222"/>
          </a:xfrm>
          <a:prstGeom prst="rightArrow">
            <a:avLst/>
          </a:prstGeom>
          <a:solidFill>
            <a:srgbClr val="E164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git push</a:t>
            </a:r>
          </a:p>
        </p:txBody>
      </p:sp>
      <p:sp>
        <p:nvSpPr>
          <p:cNvPr id="27" name="Arrow: Right 26">
            <a:extLst>
              <a:ext uri="{FF2B5EF4-FFF2-40B4-BE49-F238E27FC236}">
                <a16:creationId xmlns:a16="http://schemas.microsoft.com/office/drawing/2014/main" id="{590C59D6-7D2D-C4C0-A1AC-9B0DA7C2878E}"/>
              </a:ext>
            </a:extLst>
          </p:cNvPr>
          <p:cNvSpPr/>
          <p:nvPr/>
        </p:nvSpPr>
        <p:spPr>
          <a:xfrm flipH="1">
            <a:off x="1395663" y="2765116"/>
            <a:ext cx="8631168" cy="868222"/>
          </a:xfrm>
          <a:prstGeom prst="rightArrow">
            <a:avLst/>
          </a:prstGeom>
          <a:solidFill>
            <a:srgbClr val="E164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git clone</a:t>
            </a:r>
          </a:p>
        </p:txBody>
      </p:sp>
      <p:sp>
        <p:nvSpPr>
          <p:cNvPr id="28" name="Arrow: Right 27">
            <a:extLst>
              <a:ext uri="{FF2B5EF4-FFF2-40B4-BE49-F238E27FC236}">
                <a16:creationId xmlns:a16="http://schemas.microsoft.com/office/drawing/2014/main" id="{D4677A97-0C68-7AA3-784B-737FC5F61BAC}"/>
              </a:ext>
            </a:extLst>
          </p:cNvPr>
          <p:cNvSpPr/>
          <p:nvPr/>
        </p:nvSpPr>
        <p:spPr>
          <a:xfrm>
            <a:off x="4075532" y="3940108"/>
            <a:ext cx="2671009" cy="868222"/>
          </a:xfrm>
          <a:prstGeom prst="rightArrow">
            <a:avLst/>
          </a:prstGeom>
          <a:solidFill>
            <a:srgbClr val="E164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git commit</a:t>
            </a:r>
          </a:p>
        </p:txBody>
      </p:sp>
      <p:sp>
        <p:nvSpPr>
          <p:cNvPr id="29" name="Arrow: Right 28">
            <a:extLst>
              <a:ext uri="{FF2B5EF4-FFF2-40B4-BE49-F238E27FC236}">
                <a16:creationId xmlns:a16="http://schemas.microsoft.com/office/drawing/2014/main" id="{077B0077-3F2A-F03A-BA15-E8E86AB4BE74}"/>
              </a:ext>
            </a:extLst>
          </p:cNvPr>
          <p:cNvSpPr/>
          <p:nvPr/>
        </p:nvSpPr>
        <p:spPr>
          <a:xfrm>
            <a:off x="1395660" y="3505997"/>
            <a:ext cx="2671004" cy="868222"/>
          </a:xfrm>
          <a:prstGeom prst="rightArrow">
            <a:avLst/>
          </a:prstGeom>
          <a:solidFill>
            <a:srgbClr val="E164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git add</a:t>
            </a:r>
          </a:p>
        </p:txBody>
      </p:sp>
      <p:sp>
        <p:nvSpPr>
          <p:cNvPr id="30" name="Arrow: Right 29">
            <a:extLst>
              <a:ext uri="{FF2B5EF4-FFF2-40B4-BE49-F238E27FC236}">
                <a16:creationId xmlns:a16="http://schemas.microsoft.com/office/drawing/2014/main" id="{19B20393-7B30-1EA6-679F-3F7AD3D61A83}"/>
              </a:ext>
            </a:extLst>
          </p:cNvPr>
          <p:cNvSpPr/>
          <p:nvPr/>
        </p:nvSpPr>
        <p:spPr>
          <a:xfrm flipH="1">
            <a:off x="6746514" y="5154221"/>
            <a:ext cx="3262524" cy="868222"/>
          </a:xfrm>
          <a:prstGeom prst="rightArrow">
            <a:avLst/>
          </a:prstGeom>
          <a:solidFill>
            <a:srgbClr val="E164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git pull</a:t>
            </a:r>
          </a:p>
        </p:txBody>
      </p:sp>
      <p:sp>
        <p:nvSpPr>
          <p:cNvPr id="31" name="Arrow: Right 30">
            <a:extLst>
              <a:ext uri="{FF2B5EF4-FFF2-40B4-BE49-F238E27FC236}">
                <a16:creationId xmlns:a16="http://schemas.microsoft.com/office/drawing/2014/main" id="{87527C6E-C096-D5D0-3E36-300DFB7CC864}"/>
              </a:ext>
            </a:extLst>
          </p:cNvPr>
          <p:cNvSpPr/>
          <p:nvPr/>
        </p:nvSpPr>
        <p:spPr>
          <a:xfrm flipH="1">
            <a:off x="1395663" y="5540593"/>
            <a:ext cx="5333140" cy="868222"/>
          </a:xfrm>
          <a:prstGeom prst="rightArrow">
            <a:avLst/>
          </a:prstGeom>
          <a:solidFill>
            <a:srgbClr val="E164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t>git checkout</a:t>
            </a:r>
          </a:p>
        </p:txBody>
      </p:sp>
    </p:spTree>
    <p:extLst>
      <p:ext uri="{BB962C8B-B14F-4D97-AF65-F5344CB8AC3E}">
        <p14:creationId xmlns:p14="http://schemas.microsoft.com/office/powerpoint/2010/main" val="16854631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3</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819</TotalTime>
  <Words>2005</Words>
  <Application>Microsoft Office PowerPoint</Application>
  <PresentationFormat>Widescreen</PresentationFormat>
  <Paragraphs>332</Paragraphs>
  <Slides>27</Slides>
  <Notes>27</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133</cp:revision>
  <dcterms:created xsi:type="dcterms:W3CDTF">2019-01-14T22:06:33Z</dcterms:created>
  <dcterms:modified xsi:type="dcterms:W3CDTF">2026-02-08T02:52:28Z</dcterms:modified>
</cp:coreProperties>
</file>