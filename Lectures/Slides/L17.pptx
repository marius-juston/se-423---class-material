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6"/>
  </p:notesMasterIdLst>
  <p:sldIdLst>
    <p:sldId id="256" r:id="rId2"/>
    <p:sldId id="417" r:id="rId3"/>
    <p:sldId id="413" r:id="rId4"/>
    <p:sldId id="272" r:id="rId5"/>
    <p:sldId id="258" r:id="rId6"/>
    <p:sldId id="418" r:id="rId7"/>
    <p:sldId id="420" r:id="rId8"/>
    <p:sldId id="421" r:id="rId9"/>
    <p:sldId id="422" r:id="rId10"/>
    <p:sldId id="426" r:id="rId11"/>
    <p:sldId id="441" r:id="rId12"/>
    <p:sldId id="425" r:id="rId13"/>
    <p:sldId id="424" r:id="rId14"/>
    <p:sldId id="423" r:id="rId15"/>
    <p:sldId id="427" r:id="rId16"/>
    <p:sldId id="439" r:id="rId17"/>
    <p:sldId id="442" r:id="rId18"/>
    <p:sldId id="428" r:id="rId19"/>
    <p:sldId id="429" r:id="rId20"/>
    <p:sldId id="430" r:id="rId21"/>
    <p:sldId id="431" r:id="rId22"/>
    <p:sldId id="432" r:id="rId23"/>
    <p:sldId id="433" r:id="rId24"/>
    <p:sldId id="434" r:id="rId25"/>
    <p:sldId id="435" r:id="rId26"/>
    <p:sldId id="436" r:id="rId27"/>
    <p:sldId id="437" r:id="rId28"/>
    <p:sldId id="438" r:id="rId29"/>
    <p:sldId id="446" r:id="rId30"/>
    <p:sldId id="445" r:id="rId31"/>
    <p:sldId id="447" r:id="rId32"/>
    <p:sldId id="448" r:id="rId33"/>
    <p:sldId id="440" r:id="rId34"/>
    <p:sldId id="443" r:id="rId35"/>
    <p:sldId id="444" r:id="rId36"/>
    <p:sldId id="449" r:id="rId37"/>
    <p:sldId id="450" r:id="rId38"/>
    <p:sldId id="451" r:id="rId39"/>
    <p:sldId id="452" r:id="rId40"/>
    <p:sldId id="453" r:id="rId41"/>
    <p:sldId id="454" r:id="rId42"/>
    <p:sldId id="455" r:id="rId43"/>
    <p:sldId id="271" r:id="rId44"/>
    <p:sldId id="270" r:id="rId4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3896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16ADE6F-99B4-9799-2C41-4011DF8B3C3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A369389-D210-000B-6FED-F008667A34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5D55EF0-218F-71C2-453B-6639DB719D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4915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6E2BE17-991A-AC6E-BA8B-434897DBFBC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790597E-F7E7-34EB-3971-CBD5DFB292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DADBA60-6486-DBA1-C367-658AA5E2A2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21154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E2F57B8-6FC4-8816-4B2E-FA116D5A38F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F5461E9-4CC0-00FA-DE74-4ACADC1296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319DDE7-BB41-407B-7F40-F49FA674B4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84655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629B90F-AEED-6D2A-C4D1-373A28E62258}"/>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038B84F7-766E-12E2-9609-077DFC5368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CDEC1A56-CDF7-F517-C18C-1795CA3683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06589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33FA637-0439-F11E-FC41-00BE39636F9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448DA76-D773-63C1-8561-3C90018F2B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8ACE637-18D0-AA1A-0D9D-66DEC2A5C9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70690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50676D7-CA51-711C-DCBA-CA23123F9B8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BC25D65-D0BC-EEA2-8AB3-4607DBB004C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26FB0F6-F093-428E-E600-A44A654298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0993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A065E7A-9B1B-1BE2-29D0-EC233898063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BC5960F-F261-E5F4-4CE0-84AB4372099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3F2467D-238F-9E12-1412-52E3CB32E4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57284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83E4A19-1592-C1FF-233B-4A66CC4DCDC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B04DDF6-E088-AF65-8521-E66E0D7A10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183102D-96FD-5A81-C202-D4DE83FB78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111615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DA2C574-8CDF-366C-E8A4-99F91803E7D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184EE58-3E4B-F2AE-BB3C-609F2533DA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4664311-18C5-0F05-9CDF-5C306D7ECC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63843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BAA1647-7AFD-8C69-8777-23320392AFA5}"/>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9127593A-FFC2-A1E5-D8FE-10156F648A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FCB4D3AB-46BA-6543-F507-39CFB0966D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86245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7267AB2-1EDD-C257-91E8-5B67E515528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A4C20FB-E18B-8DB2-5D57-2D25B08BEA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A1BA117-4661-1140-864D-CF605EFC9D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19076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82EE4C7-F28C-4531-F5EC-CE414315781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8F2C6C4-6E9C-B070-9F42-C92C5D34C4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1EBADFD-3A76-CE3A-FDE3-2F8F585F10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06137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DDA1FDB-7425-9853-8F45-3504312192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9A8E59B-DDF3-86E7-EC87-2D923B6A87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F30CBD0-D2A6-6D75-7CFE-4A5994C42F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51167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3BD9398-5BDA-0E67-C7AC-6E024246CF9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0DC48E-85DE-C25C-5496-300727C86B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2164087-A1F3-1C69-5DEC-68943630AA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48168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F3416C-30A2-5FCF-D3E6-2DF45F8E24C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4E7D71-DD8C-6493-4EC4-304B20F1DB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CE07802-0D73-89D6-A9D9-01B9B4BDD2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23521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58FF9FA-2587-BA16-AD7D-82BACCB28D1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AB974A6-4AF4-F075-F44A-37069C1F7B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EA94773-F84B-E818-0EF6-052FDE0C03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016536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2C749-CD49-C280-0A80-1E6373FC081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28E87AB-3D3D-321A-7381-8C20E334AB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6CF677D-8C39-B695-BD35-7C07FA85ED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08541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A843B6A-12DA-A916-89FE-6DF458FFD08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41FCD8-01F1-A6E8-72BC-793B7BD818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FEFEB9D-9A15-E4B9-167F-D55CBE178B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110466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5D3E2B5-B574-0671-916C-E16D9DB0F32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9099826-4582-1846-24EF-D688768C63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564BAC7-FDE4-4959-1E9F-0B2FDA16DF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316152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E46754C-2C13-23F7-9D88-55E7FCC2D5F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980362C-5154-22A4-7761-AF494875494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9A7E3E6-863D-2C2F-D18C-2ED07AD614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670752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C32B8D-9D52-9A44-3C67-CAF170BCCD4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C51AF31-95A2-66C8-CBBB-FD1A2976F1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F9D91DE-5183-E53A-BE47-8BEC2CFF51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897391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93A133D-F0C6-69E5-2C76-8DF27243AA6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EB50B19-F3D7-6383-D131-D897C029E0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ADA42AF-4DD3-AE9E-00F9-FCBFD52E22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895396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11B0C1D-1601-A1BF-26B3-4FBF2FCD2C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E98AB75-E9FB-4F91-B6AD-0A2A924D22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E173565-8872-FD39-7C5D-E82C8C027A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2800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7CA29D-7492-A28D-FD93-914E74AA94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4DEAE0E-B773-1EC4-1432-01EF272531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850C2E8-B8FA-F2C9-4B0B-58D2E1E40B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97869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290AC5A-D8BC-6046-D284-93579E4FCB4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F7795E5-4A6D-7AA3-98D0-145A880FD1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E8C737D-B38F-CD0F-8195-F5AB1411D7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236858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F361C8D-2524-0265-3FAC-1937E94E04F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966F5CB-02B8-288C-32DA-BB1FE60B26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FD6FB82-FEFC-D2AB-089C-FA8A11C22D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622808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ED60DE2-85D4-EE3A-AF2C-EAF42D8979F3}"/>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0C1CDADA-8CA3-7C95-EB4F-F32BD30336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2F3976DB-20C6-71C1-7299-42DD69AE0A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8731989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8361EF9-BA90-1345-B14B-DC170FA7468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0329FA4-A3E5-5907-0604-1CD14D2809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DC79163-36C5-DB9E-95DD-43C1CCE1D8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72030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99F13D6-1CC9-911D-81A1-B19FDD6C19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CEEC3F3-A15F-84F7-9BEF-420692C66B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C285E14-208D-DB11-BE23-55C181ACA3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970992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C11EA38-BD47-22A2-A407-F678F396D73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1CE7C2D-BF11-7868-8AFB-9535CF8290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2A19A12-FCF5-1335-3F1D-3D4D647E45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790422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AA5F7E-F9B5-8949-BAD8-1C2D4566761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0017715-18E6-C6B1-4ACE-1951C84247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C63AE6F-41B5-7ED4-A98E-6E31CB7890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027204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C2C8002-1A47-DE63-75D4-9DB4C2D662E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C427010-AC24-E981-8FF6-2A1127D216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6CDA2FC-4DD3-A1B4-FD07-AAEC248345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595606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6253051-CFA1-CB5E-837F-0483B349B24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5FDB27-07B3-09EA-FC0C-659F13E2A2B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741F3FB-26C7-904C-383F-EEFAAC2D58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929711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E4356CA-44D2-0CE3-653A-CF2944457D3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8463E22-1319-3E72-5526-4DAAA20945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4AC8DB4-0C07-B70B-2CC2-BD7526280E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25972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576830-E28E-2D5F-C20E-A9DBB5A13AE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6013F49-DA3B-4488-F46E-D5DD30F10B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D2D9884-DF4A-27F2-2854-1F43AA0B88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886578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520B157-5651-24A1-8720-CF09CBA292B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D62F168-1756-7BF6-E542-5E080C0427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79D3E2F-1CAA-C659-C5EE-8DE64B638C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5875965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8888236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michaelbach.de/ot/" TargetMode="External"/><Relationship Id="rId5" Type="http://schemas.openxmlformats.org/officeDocument/2006/relationships/image" Target="../media/image5.png"/><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4.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hyperlink" Target="https://visionbook.mit.edu/"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3.png"/><Relationship Id="rId4" Type="http://schemas.openxmlformats.org/officeDocument/2006/relationships/hyperlink" Target="https://isl.stanford.edu/~abbas/ee392b/lect04.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hyperlink" Target="https://evidentscientific.com/en/microscope-resource/knowledge-hub/digital-imaging/cmosimagesensors" TargetMode="Externa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isl.stanford.edu/~abbas/ee392b/lect04.pdf" TargetMode="External"/><Relationship Id="rId5" Type="http://schemas.openxmlformats.org/officeDocument/2006/relationships/image" Target="../media/image15.sv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en.wikipedia.org/wiki/Bayer_filter" TargetMode="External"/><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hyperlink" Target="https://en.wikipedia.org/wiki/Bayer_filter"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en.wikipedia.org/wiki/Color_vision" TargetMode="External"/><Relationship Id="rId5" Type="http://schemas.openxmlformats.org/officeDocument/2006/relationships/image" Target="../media/image24.sv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en.wikipedia.org/wiki/Color_vision" TargetMode="Externa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en.wikipedia.org/wiki/HSL_and_HSV" TargetMode="Externa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en.wikipedia.org/wiki/HSL_and_HSV" TargetMode="External"/><Relationship Id="rId5" Type="http://schemas.openxmlformats.org/officeDocument/2006/relationships/image" Target="../media/image29.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en.wikipedia.org/wiki/HSL_and_HSV" TargetMode="Externa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en.wikipedia.org/wiki/HSL_and_HSV" TargetMode="External"/><Relationship Id="rId5" Type="http://schemas.openxmlformats.org/officeDocument/2006/relationships/image" Target="../media/image29.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hyperlink" Target="https://en.wikipedia.org/wiki/HSL_and_HSV#Disadvantages" TargetMode="External"/><Relationship Id="rId3" Type="http://schemas.openxmlformats.org/officeDocument/2006/relationships/image" Target="../media/image3.png"/><Relationship Id="rId7" Type="http://schemas.openxmlformats.org/officeDocument/2006/relationships/image" Target="../media/image33.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hyperlink" Target="https://en.wikipedia.org/wiki/CIELAB_color_space"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en.wikipedia.org/wiki/CIELAB_color_space" TargetMode="Externa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ideo" Target="https://www.youtube.com/embed/-WRpijIHN3M?feature=oembed" TargetMode="External"/><Relationship Id="rId5" Type="http://schemas.openxmlformats.org/officeDocument/2006/relationships/image" Target="../media/image36.jpe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17: Vision Processing, Cameras, Blob Detection</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Wednesday, March 25</a:t>
            </a:r>
            <a:r>
              <a:rPr lang="en-US" sz="1800" b="0" i="0" u="none" strike="noStrike" cap="none" baseline="30000">
                <a:solidFill>
                  <a:schemeClr val="lt1"/>
                </a:solidFill>
                <a:latin typeface="Atkinson Hyperlegible Next"/>
                <a:ea typeface="Arial"/>
                <a:cs typeface="Arial"/>
                <a:sym typeface="Arial"/>
              </a:rPr>
              <a:t>th</a:t>
            </a:r>
            <a:r>
              <a:rPr lang="en-US" sz="1800" b="0" i="0" u="none" strike="noStrike" cap="none">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What does RGB stand for?</a:t>
            </a:r>
          </a:p>
          <a:p>
            <a:pPr marL="285750" indent="-285750">
              <a:lnSpc>
                <a:spcPct val="100000"/>
              </a:lnSpc>
              <a:spcBef>
                <a:spcPts val="0"/>
              </a:spcBef>
              <a:buSzPts val="3000"/>
            </a:pPr>
            <a:r>
              <a:rPr lang="en-US" sz="2400" dirty="0">
                <a:latin typeface="Atkinson Hyperlegible Next"/>
                <a:ea typeface="Arial"/>
                <a:cs typeface="Arial"/>
                <a:sym typeface="Arial"/>
              </a:rPr>
              <a:t>How many colors are there? Are the lines straight?</a:t>
            </a: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6" name="Picture 2" descr="Optical illusion: a fine green-and-white checkerboard with two pinkish-red diagonal stripes, made of small squares, crossing in an X slightly above center. The stripes look wavy and bent, and the one from upper left to lower right looks lighter pink while the one from lower left to upper right looks deeper red. The checkerboard pattern behind them creates these impressions of color and straightness that the slide's questions ask about.">
            <a:extLst>
              <a:ext uri="{FF2B5EF4-FFF2-40B4-BE49-F238E27FC236}">
                <a16:creationId xmlns:a16="http://schemas.microsoft.com/office/drawing/2014/main" id="{5C9ED0E5-D2F3-6859-05CA-DBB780B2AE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279" y="2870951"/>
            <a:ext cx="3654112" cy="281366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tical illusion: a grid of alternating pale blue and gray squares in rows, separated by horizontal medium-blue bands dotted with dark blue diamonds. Small black-and-white checkered diamonds sit at the square corners, making the horizontal bands appear to wave and tilt, though they are actually straight and parallel. The pattern uses only about six colors: pale blue, medium blue, dark blue, gray, black and white.">
            <a:extLst>
              <a:ext uri="{FF2B5EF4-FFF2-40B4-BE49-F238E27FC236}">
                <a16:creationId xmlns:a16="http://schemas.microsoft.com/office/drawing/2014/main" id="{24A77EEA-1740-B395-D98B-8393E536A5FE}"/>
              </a:ext>
            </a:extLst>
          </p:cNvPr>
          <p:cNvPicPr>
            <a:picLocks noChangeAspect="1"/>
          </p:cNvPicPr>
          <p:nvPr/>
        </p:nvPicPr>
        <p:blipFill>
          <a:blip r:embed="rId5"/>
          <a:stretch>
            <a:fillRect/>
          </a:stretch>
        </p:blipFill>
        <p:spPr>
          <a:xfrm>
            <a:off x="6167022" y="2870951"/>
            <a:ext cx="4118907" cy="2945301"/>
          </a:xfrm>
          <a:prstGeom prst="rect">
            <a:avLst/>
          </a:prstGeom>
        </p:spPr>
      </p:pic>
      <p:sp>
        <p:nvSpPr>
          <p:cNvPr id="5" name="TextBox 4">
            <a:extLst>
              <a:ext uri="{FF2B5EF4-FFF2-40B4-BE49-F238E27FC236}">
                <a16:creationId xmlns:a16="http://schemas.microsoft.com/office/drawing/2014/main" id="{E925A56A-A2DB-7BA7-00B2-27F8A193BF16}"/>
              </a:ext>
            </a:extLst>
          </p:cNvPr>
          <p:cNvSpPr txBox="1"/>
          <p:nvPr/>
        </p:nvSpPr>
        <p:spPr>
          <a:xfrm>
            <a:off x="2973698" y="6101038"/>
            <a:ext cx="5716250" cy="307777"/>
          </a:xfrm>
          <a:prstGeom prst="rect">
            <a:avLst/>
          </a:prstGeom>
          <a:noFill/>
        </p:spPr>
        <p:txBody>
          <a:bodyPr wrap="square">
            <a:spAutoFit/>
          </a:bodyPr>
          <a:lstStyle/>
          <a:p>
            <a:pPr algn="ctr"/>
            <a:r>
              <a:rPr lang="en-US" dirty="0"/>
              <a:t>check out </a:t>
            </a:r>
            <a:r>
              <a:rPr lang="en-US" dirty="0">
                <a:hlinkClick r:id="rId6"/>
              </a:rPr>
              <a:t>https://michaelbach.de/ot/</a:t>
            </a:r>
            <a:r>
              <a:rPr lang="en-US" dirty="0"/>
              <a:t> for a bunch of optical illusions!</a:t>
            </a:r>
          </a:p>
        </p:txBody>
      </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6 this week. This a 3-week lab!</a:t>
            </a:r>
          </a:p>
          <a:p>
            <a:pPr marL="285750" indent="-285750">
              <a:lnSpc>
                <a:spcPct val="100000"/>
              </a:lnSpc>
              <a:spcBef>
                <a:spcPts val="0"/>
              </a:spcBef>
              <a:buSzPts val="3000"/>
            </a:pPr>
            <a:r>
              <a:rPr lang="en-US" sz="1800" dirty="0">
                <a:solidFill>
                  <a:schemeClr val="tx1"/>
                </a:solidFill>
                <a:latin typeface="Atkinson Hyperlegible Next"/>
                <a:ea typeface="Arial"/>
                <a:cs typeface="Arial"/>
                <a:sym typeface="Arial"/>
              </a:rPr>
              <a:t>Don’t forget to have the Lab LabVIEW application implemented before lab.</a:t>
            </a:r>
          </a:p>
          <a:p>
            <a:pPr marL="285750" indent="-285750">
              <a:lnSpc>
                <a:spcPct val="100000"/>
              </a:lnSpc>
              <a:spcBef>
                <a:spcPts val="0"/>
              </a:spcBef>
              <a:buSzPts val="3000"/>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Ex 2 and 3 are due </a:t>
            </a:r>
            <a:r>
              <a:rPr lang="en-US" sz="1800" b="1" dirty="0">
                <a:latin typeface="Atkinson Hyperlegible Next"/>
                <a:ea typeface="Arial"/>
                <a:cs typeface="Arial"/>
                <a:sym typeface="Arial"/>
              </a:rPr>
              <a:t>March 31,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Ex 4 are due </a:t>
            </a:r>
            <a:r>
              <a:rPr lang="en-US" sz="1800" b="1" dirty="0">
                <a:latin typeface="Atkinson Hyperlegible Next"/>
                <a:ea typeface="Arial"/>
                <a:cs typeface="Arial"/>
                <a:sym typeface="Arial"/>
              </a:rPr>
              <a:t>April 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Remainder of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due on </a:t>
            </a:r>
            <a:r>
              <a:rPr lang="en-US" sz="1800" dirty="0" err="1">
                <a:latin typeface="Atkinson Hyperlegible Next"/>
                <a:ea typeface="Arial"/>
                <a:cs typeface="Arial"/>
                <a:sym typeface="Arial"/>
              </a:rPr>
              <a:t>Gradescope</a:t>
            </a:r>
            <a:r>
              <a:rPr lang="en-US" sz="1800" dirty="0">
                <a:latin typeface="Atkinson Hyperlegible Next"/>
                <a:ea typeface="Arial"/>
                <a:cs typeface="Arial"/>
                <a:sym typeface="Arial"/>
              </a:rPr>
              <a:t> on </a:t>
            </a:r>
            <a:r>
              <a:rPr lang="en-US" sz="1800" b="1" dirty="0">
                <a:latin typeface="Atkinson Hyperlegible Next"/>
                <a:ea typeface="Arial"/>
                <a:cs typeface="Arial"/>
                <a:sym typeface="Arial"/>
              </a:rPr>
              <a:t>April 8, 9AM</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Computer Vision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72812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 would </a:t>
            </a:r>
            <a:r>
              <a:rPr lang="en-US" sz="2200" b="1" dirty="0">
                <a:latin typeface="Atkinson Hyperlegible Next"/>
                <a:ea typeface="Arial"/>
                <a:cs typeface="Arial"/>
                <a:sym typeface="Arial"/>
              </a:rPr>
              <a:t>HIGHLY</a:t>
            </a:r>
            <a:r>
              <a:rPr lang="en-US" sz="2200" dirty="0">
                <a:latin typeface="Atkinson Hyperlegible Next"/>
                <a:ea typeface="Arial"/>
                <a:cs typeface="Arial"/>
                <a:sym typeface="Arial"/>
              </a:rPr>
              <a:t> recommend you looking at:</a:t>
            </a:r>
          </a:p>
          <a:p>
            <a:pPr marL="0" indent="0">
              <a:lnSpc>
                <a:spcPct val="100000"/>
              </a:lnSpc>
              <a:spcBef>
                <a:spcPts val="0"/>
              </a:spcBef>
              <a:buSzPts val="3000"/>
              <a:buNone/>
            </a:pPr>
            <a:endParaRPr lang="en-US" sz="2200" dirty="0">
              <a:solidFill>
                <a:schemeClr val="dk1"/>
              </a:solidFill>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hlinkClick r:id="rId3"/>
              </a:rPr>
              <a:t>https://visionbook.mit.edu/</a:t>
            </a:r>
            <a:r>
              <a:rPr lang="en-US" sz="2200" dirty="0">
                <a:latin typeface="Atkinson Hyperlegible Next"/>
                <a:ea typeface="Arial"/>
                <a:cs typeface="Arial"/>
                <a:sym typeface="Arial"/>
              </a:rPr>
              <a:t> </a:t>
            </a:r>
          </a:p>
          <a:p>
            <a:pPr marL="342900">
              <a:lnSpc>
                <a:spcPct val="100000"/>
              </a:lnSpc>
              <a:spcBef>
                <a:spcPts val="0"/>
              </a:spcBef>
              <a:buSzPts val="3000"/>
            </a:pPr>
            <a:endParaRPr lang="en-US" sz="2200" dirty="0">
              <a:solidFill>
                <a:schemeClr val="dk1"/>
              </a:solidFill>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The webpage is a textbook with all the math, background and information for computer vision. </a:t>
            </a:r>
          </a:p>
          <a:p>
            <a:pPr marL="342900">
              <a:lnSpc>
                <a:spcPct val="100000"/>
              </a:lnSpc>
              <a:spcBef>
                <a:spcPts val="0"/>
              </a:spcBef>
              <a:buSzPts val="3000"/>
            </a:pPr>
            <a:r>
              <a:rPr lang="en-US" sz="2200" dirty="0">
                <a:latin typeface="Atkinson Hyperlegible Next"/>
                <a:ea typeface="Arial"/>
                <a:cs typeface="Arial"/>
                <a:sym typeface="Arial"/>
              </a:rPr>
              <a:t>We will only be doing a tiny portion of this in this lecture (there are whole grad classes for computer vision).</a:t>
            </a:r>
          </a:p>
          <a:p>
            <a:pPr marL="342900">
              <a:lnSpc>
                <a:spcPct val="100000"/>
              </a:lnSpc>
              <a:spcBef>
                <a:spcPts val="0"/>
              </a:spcBef>
              <a:buSzPts val="3000"/>
            </a:pPr>
            <a:r>
              <a:rPr lang="en-US" sz="2200" dirty="0">
                <a:latin typeface="Atkinson Hyperlegible Next"/>
                <a:ea typeface="Arial"/>
                <a:cs typeface="Arial"/>
                <a:sym typeface="Arial"/>
              </a:rPr>
              <a:t>It is containerized very nicely, has lots of pictures, diagrams. Each section takes 5 minutes to read.</a:t>
            </a:r>
          </a:p>
          <a:p>
            <a:pPr marL="342900">
              <a:lnSpc>
                <a:spcPct val="100000"/>
              </a:lnSpc>
              <a:spcBef>
                <a:spcPts val="0"/>
              </a:spcBef>
              <a:buSzPts val="3000"/>
            </a:pPr>
            <a:endParaRPr lang="en-US" sz="2200" dirty="0">
              <a:latin typeface="Atkinson Hyperlegible Next"/>
              <a:ea typeface="Arial"/>
              <a:cs typeface="Arial"/>
              <a:sym typeface="Arial"/>
            </a:endParaRPr>
          </a:p>
          <a:p>
            <a:pPr marL="342900">
              <a:lnSpc>
                <a:spcPct val="100000"/>
              </a:lnSpc>
              <a:spcBef>
                <a:spcPts val="0"/>
              </a:spcBef>
              <a:buSzPts val="3000"/>
            </a:pPr>
            <a:r>
              <a:rPr lang="en-US" sz="2200" dirty="0">
                <a:latin typeface="Atkinson Hyperlegible Next"/>
                <a:ea typeface="Arial"/>
                <a:cs typeface="Arial"/>
                <a:sym typeface="Arial"/>
              </a:rPr>
              <a:t>(also, for more CMOS details look at </a:t>
            </a:r>
            <a:r>
              <a:rPr lang="en-US" sz="2200" dirty="0">
                <a:latin typeface="Atkinson Hyperlegible Next"/>
                <a:ea typeface="Arial"/>
                <a:cs typeface="Arial"/>
                <a:sym typeface="Arial"/>
                <a:hlinkClick r:id="rId4"/>
              </a:rPr>
              <a:t>https://isl.stanford.edu/~abbas/ee392b/lect04.pdf</a:t>
            </a:r>
            <a:r>
              <a:rPr lang="en-US" sz="2200" dirty="0">
                <a:latin typeface="Atkinson Hyperlegible Next"/>
                <a:ea typeface="Arial"/>
                <a:cs typeface="Arial"/>
                <a:sym typeface="Arial"/>
              </a:rPr>
              <a:t> )</a:t>
            </a:r>
          </a:p>
          <a:p>
            <a:pPr marL="0" indent="0">
              <a:lnSpc>
                <a:spcPct val="100000"/>
              </a:lnSpc>
              <a:spcBef>
                <a:spcPts val="0"/>
              </a:spcBef>
              <a:buSzPts val="3000"/>
              <a:buNone/>
            </a:pPr>
            <a:r>
              <a:rPr lang="en-US" sz="2200" dirty="0">
                <a:latin typeface="Atkinson Hyperlegible Next"/>
                <a:ea typeface="Arial"/>
                <a:cs typeface="Arial"/>
                <a:sym typeface="Arial"/>
              </a:rPr>
              <a:t> </a:t>
            </a:r>
          </a:p>
          <a:p>
            <a:pPr marL="342900">
              <a:lnSpc>
                <a:spcPct val="100000"/>
              </a:lnSpc>
              <a:spcBef>
                <a:spcPts val="0"/>
              </a:spcBef>
              <a:buSzPts val="3000"/>
            </a:pPr>
            <a:endParaRPr lang="en-US" sz="22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2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Preface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330AC21-503A-97DC-BCF1-95DD8206162E}"/>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0" name="Picture 2" descr="Cover of the textbook Foundations of Computer Vision by Antonio Torralba, Phillip Isola, and William T. Freeman, decorated with a mosaic of colored pixel squares.">
            <a:extLst>
              <a:ext uri="{FF2B5EF4-FFF2-40B4-BE49-F238E27FC236}">
                <a16:creationId xmlns:a16="http://schemas.microsoft.com/office/drawing/2014/main" id="{16494730-091D-C1B6-F5BD-6F81EF76AD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7703" y="1711534"/>
            <a:ext cx="3704685" cy="4155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78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B2C81AD-1A6E-D004-B381-602AC33F3AE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6D7903F-4A88-9155-DEE5-0ACBC5381F2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solidFill>
                  <a:schemeClr val="dk1"/>
                </a:solidFill>
                <a:latin typeface="Atkinson Hyperlegible Next"/>
                <a:ea typeface="Arial"/>
                <a:cs typeface="Arial"/>
                <a:sym typeface="Arial"/>
              </a:rPr>
              <a:t>Currently we have the LiDAR working and returning points; however, what kind of data are missing from just the LiDAR?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solidFill>
                  <a:schemeClr val="dk1"/>
                </a:solidFill>
                <a:latin typeface="Atkinson Hyperlegible Next"/>
                <a:ea typeface="Arial"/>
                <a:cs typeface="Arial"/>
                <a:sym typeface="Arial"/>
              </a:rPr>
              <a:t>Color, complex shapes, human vision like data</a:t>
            </a:r>
          </a:p>
          <a:p>
            <a:pPr marL="0" indent="0" algn="ctr">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Vision processing allows a robot to extract rich, high-density data from its environment.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Instead of an array of 228 distances (like our LiDAR), a camera gives us millions of data points per frame (RGB per pixel).</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is the primary drawback of having millions of data points per frame in a real-time mechatronic system?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Computational latency; processing takes time, more memory / bandwidth is required to handle processing of the data!</a:t>
            </a:r>
          </a:p>
        </p:txBody>
      </p:sp>
      <p:sp>
        <p:nvSpPr>
          <p:cNvPr id="119" name="Google Shape;119;p29">
            <a:extLst>
              <a:ext uri="{FF2B5EF4-FFF2-40B4-BE49-F238E27FC236}">
                <a16:creationId xmlns:a16="http://schemas.microsoft.com/office/drawing/2014/main" id="{365A57A6-14AA-B374-F8FB-5E158BBEB38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8A16E84-BE0D-7BB2-4B0E-C19E6F45F11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541ACED-9C36-202D-23D7-311F30CCF3C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83AE1D0-CA64-859A-D8D7-095BDA4E1D2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6FEBDB6-6EA8-F453-A40F-DE4FC23DE51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B78A940-625E-BBA2-AC5E-ED630C3A449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34A153F-832E-FA5E-970B-B15C0D5AD2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983D903-725F-188F-CD09-34C316ADA5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3374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B092B7E-51BB-FC65-FE20-B599D930F98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B7E96BB-18D9-716F-5079-19C6785E666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Is a standard camera an active or a passive sensor?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Passive.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does not emit energy; it captures ambient light bouncing off objects.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Because it is passive, it is highly vulnerable to environmental changes.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If the sun goes behind a cloud what happens?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The pixel color changes, shadows appears, etc.</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do we build robust code around this? </a:t>
            </a:r>
          </a:p>
        </p:txBody>
      </p:sp>
      <p:sp>
        <p:nvSpPr>
          <p:cNvPr id="119" name="Google Shape;119;p29">
            <a:extLst>
              <a:ext uri="{FF2B5EF4-FFF2-40B4-BE49-F238E27FC236}">
                <a16:creationId xmlns:a16="http://schemas.microsoft.com/office/drawing/2014/main" id="{AEA9BF49-63B3-6220-8894-5C4A01C95DB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11FC65F-811D-9E5B-B046-C805B0487EA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C294F1E-A9C1-68F5-F825-463F2865842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EBB6AFF-821D-8DF2-BC40-2ABD681AA34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21F7708-3D4A-9DA6-1196-CEA543B416B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21A2B8B-1B14-B56C-3E70-3F5BA69443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2ADCFB-430A-B61B-070F-9C6EC8A2330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1A0FD44-0EE0-1EC2-797E-F014D37B96A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5086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C8FC24-6FEE-B53E-DF6D-B06641057BE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5936406-4328-DAE7-E65C-88AF791D3A4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main pipeline that we will follow in this class is the following: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1400" dirty="0">
              <a:latin typeface="Atkinson Hyperlegible Next"/>
              <a:ea typeface="Arial"/>
              <a:cs typeface="Arial"/>
              <a:sym typeface="Arial"/>
            </a:endParaRPr>
          </a:p>
          <a:p>
            <a:pPr marL="0" indent="0">
              <a:lnSpc>
                <a:spcPct val="100000"/>
              </a:lnSpc>
              <a:spcBef>
                <a:spcPts val="0"/>
              </a:spcBef>
              <a:buSzPts val="3000"/>
              <a:buNone/>
            </a:pPr>
            <a:endParaRPr lang="en-US" sz="1400" dirty="0">
              <a:latin typeface="Atkinson Hyperlegible Next"/>
              <a:ea typeface="Arial"/>
              <a:cs typeface="Arial"/>
              <a:sym typeface="Arial"/>
            </a:endParaRPr>
          </a:p>
          <a:p>
            <a:pPr marL="0" indent="0">
              <a:lnSpc>
                <a:spcPct val="100000"/>
              </a:lnSpc>
              <a:spcBef>
                <a:spcPts val="0"/>
              </a:spcBef>
              <a:buSzPts val="3000"/>
              <a:buNone/>
            </a:pPr>
            <a:r>
              <a:rPr lang="en-US" sz="1400" dirty="0">
                <a:latin typeface="Atkinson Hyperlegible Next"/>
                <a:ea typeface="Arial"/>
                <a:cs typeface="Arial"/>
                <a:sym typeface="Arial"/>
              </a:rPr>
              <a:t>Step 1: The CMOS sensor captures photons and converts them to digital arrays.</a:t>
            </a:r>
          </a:p>
          <a:p>
            <a:pPr marL="0" indent="0">
              <a:lnSpc>
                <a:spcPct val="100000"/>
              </a:lnSpc>
              <a:spcBef>
                <a:spcPts val="0"/>
              </a:spcBef>
              <a:buSzPts val="3000"/>
              <a:buNone/>
            </a:pPr>
            <a:r>
              <a:rPr lang="en-US" sz="1400" dirty="0">
                <a:latin typeface="Atkinson Hyperlegible Next"/>
                <a:ea typeface="Arial"/>
                <a:cs typeface="Arial"/>
                <a:sym typeface="Arial"/>
              </a:rPr>
              <a:t>Step 2: The processor filters the image (e.g., finding specific colors).</a:t>
            </a:r>
          </a:p>
          <a:p>
            <a:pPr marL="0" indent="0">
              <a:lnSpc>
                <a:spcPct val="100000"/>
              </a:lnSpc>
              <a:spcBef>
                <a:spcPts val="0"/>
              </a:spcBef>
              <a:buSzPts val="3000"/>
              <a:buNone/>
            </a:pPr>
            <a:r>
              <a:rPr lang="en-US" sz="1400" dirty="0">
                <a:latin typeface="Atkinson Hyperlegible Next"/>
                <a:ea typeface="Arial"/>
                <a:cs typeface="Arial"/>
                <a:sym typeface="Arial"/>
              </a:rPr>
              <a:t>Step 3: The algorithm calculates the coordinates of the target (Centroid).</a:t>
            </a:r>
          </a:p>
          <a:p>
            <a:pPr marL="0" indent="0">
              <a:lnSpc>
                <a:spcPct val="100000"/>
              </a:lnSpc>
              <a:spcBef>
                <a:spcPts val="0"/>
              </a:spcBef>
              <a:buSzPts val="3000"/>
              <a:buNone/>
            </a:pPr>
            <a:r>
              <a:rPr lang="en-US" sz="1400" dirty="0">
                <a:latin typeface="Atkinson Hyperlegible Next"/>
                <a:ea typeface="Arial"/>
                <a:cs typeface="Arial"/>
                <a:sym typeface="Arial"/>
              </a:rPr>
              <a:t>Step 4: The Cascade Control loop turns the coordinates into wheel velocities.</a:t>
            </a: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752AB9F-64E8-0BAB-3991-3DD5D956415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8CF0202-90E7-D4E7-69D2-F24AA443F73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385070-E786-B7E8-0475-4C7D65A169C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6ADCBB4-BC8E-B688-4A9D-A1BC344CB70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533A4F0-689F-8D49-5D7E-57A52C7BB3E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5AE4E45-9568-F880-75DE-6D325A0684D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87675D2-499F-2B6A-2AFC-375CF6CA76A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89901C-7A46-7EFD-D6E3-659F797B764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Flowchart, four stages: CMOS array converts photons to voltage through a Bayer filter with a 1 red, 2 green, 1 blue mosaic. Bilinear demosaicing, RGB to HSV conversion, and a binary threshold, H min less than or equal to H less than or equal to H max. Connected-component blob detection, area filtering of noise, and centroid from image moments: x bar equals M one zero over M zero zero, y bar equals M zero one over M zero zero. Error e of t equals x bar minus X center feeds a PI controller, u of t equals K p e plus K i times the integral of e d t, producing PWM commands v left and v right.">
            <a:extLst>
              <a:ext uri="{FF2B5EF4-FFF2-40B4-BE49-F238E27FC236}">
                <a16:creationId xmlns:a16="http://schemas.microsoft.com/office/drawing/2014/main" id="{13F46CA8-EE1D-75C2-2D7F-5CB72CE2BE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55035" y="1692271"/>
            <a:ext cx="6681929" cy="3473457"/>
          </a:xfrm>
          <a:prstGeom prst="rect">
            <a:avLst/>
          </a:prstGeom>
        </p:spPr>
      </p:pic>
    </p:spTree>
    <p:extLst>
      <p:ext uri="{BB962C8B-B14F-4D97-AF65-F5344CB8AC3E}">
        <p14:creationId xmlns:p14="http://schemas.microsoft.com/office/powerpoint/2010/main" val="272836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A0E69405-C3FC-2EC0-DFAC-9DBE384FEF6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4D13460-73C7-E962-FBE7-AF45E2446324}"/>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CMOS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D563148F-85A1-824E-16CB-09A3FDE84B0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4F9632D-C2F2-12AD-0306-8CACB0A508D7}"/>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C9D0B51-5108-4F0C-0589-1B98FF31625E}"/>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25636025-B5E4-C288-D577-082D0394624E}"/>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19CD3D86-71C2-6AA7-4319-0050BA7C0C2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ACB5B61B-B5B4-C423-3981-4DB2FCD077F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E0A5F840-FAEB-575B-264E-CE9006A2C90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C5899A6-6957-DA49-48EF-04407EC2007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66E60713-C69D-BE82-3982-08E43AD7D7B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17478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373CE13-BD42-B6D3-F295-EF5964D167B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CB52865-C695-CF51-6C5B-20484818599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CFBEC08-96C0-86F3-C10A-4FB75E1ABE8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F5C46DE-9015-B6D9-9D7F-3DC552A79AE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E8E7360-DEAF-3490-B665-A86236B2AA7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40EBAF3-FC95-88A3-1E92-6B172381B25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63B14B-0010-EFEE-6033-30DD9CB94FF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5328DB5-EA0C-C580-19C9-76A678B20F5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D06C697-5485-F679-1818-97A544ADB41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Flowchart, four stages: CMOS array converts photons to voltage through a Bayer filter with a 1 red, 2 green, 1 blue mosaic. Bilinear demosaicing, RGB to HSV conversion, and a binary threshold, H min less than or equal to H less than or equal to H max. Connected-component blob detection, area filtering of noise, and centroid from image moments: x bar equals M one zero over M zero zero, y bar equals M zero one over M zero zero. Error e of t equals x bar minus X center feeds a PI controller, u of t equals K p e plus K i times the integral of e d t, producing PWM commands v left and v right.">
            <a:extLst>
              <a:ext uri="{FF2B5EF4-FFF2-40B4-BE49-F238E27FC236}">
                <a16:creationId xmlns:a16="http://schemas.microsoft.com/office/drawing/2014/main" id="{D5130AE9-14BA-F584-28E1-F910A55AB1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7117" y="1032005"/>
            <a:ext cx="10397766" cy="5405055"/>
          </a:xfrm>
          <a:prstGeom prst="rect">
            <a:avLst/>
          </a:prstGeom>
        </p:spPr>
      </p:pic>
      <p:sp>
        <p:nvSpPr>
          <p:cNvPr id="5" name="Rectangle 4">
            <a:extLst>
              <a:ext uri="{FF2B5EF4-FFF2-40B4-BE49-F238E27FC236}">
                <a16:creationId xmlns:a16="http://schemas.microsoft.com/office/drawing/2014/main" id="{145A5D38-587A-C3A9-3E44-D23B81CCD043}"/>
              </a:ext>
            </a:extLst>
          </p:cNvPr>
          <p:cNvSpPr/>
          <p:nvPr/>
        </p:nvSpPr>
        <p:spPr>
          <a:xfrm>
            <a:off x="1125415" y="1956688"/>
            <a:ext cx="1931111" cy="8248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9928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F2E227C-2AE5-37F3-8346-8FCEE112609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3C338A1-0BAF-412A-7142-D2E70B411BA2}"/>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Most modern robotics vision relies on CMOS (Complementary Metal-Oxide-Semiconductor) sensors.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 CMOS sensor contains a massive 2D grid of microscopic photodiodes.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When photons strike a photodiode, they excite electrons via the photoelectric effect, creating a measurable voltage.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continuous voltage is sampled and converted into a discrete digital value (usually 0-255 for an 8-bit ADC).</a:t>
            </a:r>
          </a:p>
        </p:txBody>
      </p:sp>
      <p:sp>
        <p:nvSpPr>
          <p:cNvPr id="119" name="Google Shape;119;p29">
            <a:extLst>
              <a:ext uri="{FF2B5EF4-FFF2-40B4-BE49-F238E27FC236}">
                <a16:creationId xmlns:a16="http://schemas.microsoft.com/office/drawing/2014/main" id="{367404CA-E801-FD8F-DCC1-24568A84D62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FE89861-4F4B-3942-76BF-26881403B0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290073D-7D1A-E36D-4E3C-8BACD8AE47B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B255760-B7BC-C211-8343-50B747B0503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6642F68-EFB3-50EA-DD77-C82D6A9A8E1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13EF384-8B6B-DB9F-4ED9-DAA49C76E8B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F35BFE3-7568-2FB8-FE43-DDEB530A8D4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A1CBFAB-A82A-B593-707E-F8227CEA9C3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3507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CAF34F0-DAC3-ED96-6087-965934AD2F8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D04B90C-7F7E-FD75-CD0D-D61D59EA9D1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066A014-9097-3DEA-C557-1C0E1B7B664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E1B2A7A-4EE9-90F2-1EA1-CFB3E78699E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DA60199-153E-D7CD-9299-57337585F6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F6F6156-625B-3A59-A856-445D59C31F3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4847699-D191-02EF-AC9E-3A5D5DD5AF3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2B93BE2-D7A5-D70E-0346-1B359059C4D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59C2582-7401-ABE8-9645-B1012F368B9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098" name="Picture 2" descr="Annotated die photo of a CMOS image sensor chip, with a large central active pixel sensor color imaging array taking up most of the die. A magnified inset shows the Bayer mosaic filter pattern of alternating red, green, and blue pixels, with green most frequent. Analog-to-digital conversion circuitry runs along the top edge. Analog signal processing and clock and timing control sit on the right side. A digital logic block for interface, timing, processing, and output runs along the bottom. A pad ring surrounds the whole die.">
            <a:extLst>
              <a:ext uri="{FF2B5EF4-FFF2-40B4-BE49-F238E27FC236}">
                <a16:creationId xmlns:a16="http://schemas.microsoft.com/office/drawing/2014/main" id="{CE785DB6-441D-D3F4-8BB7-605AB46690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807" y="1149901"/>
            <a:ext cx="4737235" cy="41315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DA355D2-018F-3919-63AA-60CC2BED9520}"/>
              </a:ext>
            </a:extLst>
          </p:cNvPr>
          <p:cNvSpPr txBox="1"/>
          <p:nvPr/>
        </p:nvSpPr>
        <p:spPr>
          <a:xfrm>
            <a:off x="376807" y="5392222"/>
            <a:ext cx="4821539" cy="400110"/>
          </a:xfrm>
          <a:prstGeom prst="rect">
            <a:avLst/>
          </a:prstGeom>
          <a:noFill/>
        </p:spPr>
        <p:txBody>
          <a:bodyPr wrap="square">
            <a:spAutoFit/>
          </a:bodyPr>
          <a:lstStyle/>
          <a:p>
            <a:pPr algn="ctr"/>
            <a:r>
              <a:rPr lang="en-US" sz="1000" dirty="0">
                <a:hlinkClick r:id="rId5"/>
              </a:rPr>
              <a:t>https://evidentscientific.com/en/microscope-resource/knowledge-hub/digital-imaging/cmosimagesensors</a:t>
            </a:r>
            <a:r>
              <a:rPr lang="en-US" sz="1000" dirty="0"/>
              <a:t> </a:t>
            </a:r>
          </a:p>
        </p:txBody>
      </p:sp>
      <p:sp>
        <p:nvSpPr>
          <p:cNvPr id="7" name="TextBox 6">
            <a:extLst>
              <a:ext uri="{FF2B5EF4-FFF2-40B4-BE49-F238E27FC236}">
                <a16:creationId xmlns:a16="http://schemas.microsoft.com/office/drawing/2014/main" id="{0E3A40FB-47EE-51C1-538A-8D3C89F5692B}"/>
              </a:ext>
            </a:extLst>
          </p:cNvPr>
          <p:cNvSpPr txBox="1"/>
          <p:nvPr/>
        </p:nvSpPr>
        <p:spPr>
          <a:xfrm>
            <a:off x="6285042" y="5309239"/>
            <a:ext cx="4821539" cy="400110"/>
          </a:xfrm>
          <a:prstGeom prst="rect">
            <a:avLst/>
          </a:prstGeom>
          <a:noFill/>
        </p:spPr>
        <p:txBody>
          <a:bodyPr wrap="square">
            <a:spAutoFit/>
          </a:bodyPr>
          <a:lstStyle/>
          <a:p>
            <a:pPr algn="ctr"/>
            <a:r>
              <a:rPr lang="en-US" sz="1000" dirty="0">
                <a:hlinkClick r:id="rId5"/>
              </a:rPr>
              <a:t>https://evidentscientific.com/en/microscope-resource/knowledge-hub/digital-imaging/cmosimagesensors</a:t>
            </a:r>
            <a:r>
              <a:rPr lang="en-US" sz="1000" dirty="0"/>
              <a:t> </a:t>
            </a:r>
          </a:p>
        </p:txBody>
      </p:sp>
      <p:pic>
        <p:nvPicPr>
          <p:cNvPr id="4100" name="Picture 4" descr="Block diagram: a CMOS image sensor chip connected to the camera's printed circuit board, which holds a connector and bias decoupling. On the sensor, a 5 by 5 pixel array performs photon-to-electron and electron-to-voltage conversion within each pixel. Row drivers and row access select pixel rows, and column amps and a column mux read them out. Signals then pass through gain, analog-to-digital conversion and a line driver to the frame grabber. Bias generation, clock and timing generation, and an oscillator are also on-chip.">
            <a:extLst>
              <a:ext uri="{FF2B5EF4-FFF2-40B4-BE49-F238E27FC236}">
                <a16:creationId xmlns:a16="http://schemas.microsoft.com/office/drawing/2014/main" id="{A0F68EDD-8402-D252-610E-D50621D0FA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9706" y="1667094"/>
            <a:ext cx="5476875"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49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5D39BDC-B417-2C91-3C41-8669DDDF2ED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486FBB7-ACE6-F853-8977-F3838F6E894D}"/>
              </a:ext>
            </a:extLst>
          </p:cNvPr>
          <p:cNvSpPr txBox="1">
            <a:spLocks noGrp="1"/>
          </p:cNvSpPr>
          <p:nvPr>
            <p:ph type="body" idx="1"/>
          </p:nvPr>
        </p:nvSpPr>
        <p:spPr>
          <a:xfrm>
            <a:off x="376807" y="5046258"/>
            <a:ext cx="11655171" cy="1362557"/>
          </a:xfrm>
          <a:prstGeom prst="rect">
            <a:avLst/>
          </a:prstGeom>
          <a:noFill/>
          <a:ln>
            <a:noFill/>
          </a:ln>
        </p:spPr>
        <p:txBody>
          <a:bodyPr spcFirstLastPara="1" wrap="square" lIns="91425" tIns="45700" rIns="91425" bIns="45700" anchor="t" anchorCtr="0">
            <a:noAutofit/>
          </a:bodyPr>
          <a:lstStyle/>
          <a:p>
            <a:pPr marL="342900">
              <a:lnSpc>
                <a:spcPct val="100000"/>
              </a:lnSpc>
              <a:spcBef>
                <a:spcPts val="0"/>
              </a:spcBef>
              <a:buSzPts val="3000"/>
            </a:pPr>
            <a:r>
              <a:rPr lang="en-US" sz="2000" dirty="0">
                <a:latin typeface="Atkinson Hyperlegible Next"/>
                <a:ea typeface="Arial"/>
                <a:cs typeface="Arial"/>
                <a:sym typeface="Arial"/>
              </a:rPr>
              <a:t>Readout performed by transferring one row at a time to the column storage capacitors, then reading out the row, one (or more) pixel at a time, using the column decoder and multiplexer</a:t>
            </a:r>
          </a:p>
          <a:p>
            <a:pPr marL="342900">
              <a:lnSpc>
                <a:spcPct val="100000"/>
              </a:lnSpc>
              <a:spcBef>
                <a:spcPts val="0"/>
              </a:spcBef>
              <a:buSzPts val="3000"/>
            </a:pPr>
            <a:r>
              <a:rPr lang="en-US" sz="2000" dirty="0">
                <a:latin typeface="Atkinson Hyperlegible Next"/>
                <a:ea typeface="Arial"/>
                <a:cs typeface="Arial"/>
                <a:sym typeface="Arial"/>
              </a:rPr>
              <a:t>In many CMOS image sensor architectures, row integration times are </a:t>
            </a:r>
            <a:r>
              <a:rPr lang="en-US" sz="2000" i="1" dirty="0" err="1">
                <a:latin typeface="Atkinson Hyperlegible Next"/>
                <a:ea typeface="Arial"/>
                <a:cs typeface="Arial"/>
                <a:sym typeface="Arial"/>
              </a:rPr>
              <a:t>staggerred</a:t>
            </a:r>
            <a:r>
              <a:rPr lang="en-US" sz="2000" dirty="0">
                <a:latin typeface="Atkinson Hyperlegible Next"/>
                <a:ea typeface="Arial"/>
                <a:cs typeface="Arial"/>
                <a:sym typeface="Arial"/>
              </a:rPr>
              <a:t> by the row / column readout time (scrolling shutter)</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E912862-C259-5403-D979-AA2DF7E305E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D2198F7-ACF4-9C07-9D55-F1C96E9323F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21D8DBA-D9F4-D636-8E2F-A72D9C2EE34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7449347-39E1-4A07-375D-BEBE44D978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DD7A1C0-CBB6-F725-5593-EFBF92998D5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713BFA4-DC34-3936-E0FC-835C4C2D58A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B53DA28-E52B-AF29-98C9-5F5DF1E9597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B51E22B-18E8-C869-312E-E6D65D1EFAA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CMOS image sensor readout architecture. A row decoder on the left drives horizontal word lines across a pixel array. Each pixel, containing a photodetector and readout transistors, connects to a word line and to a vertical bit line. The bit lines run down into a row of column amplifiers and capacitors, which feed a column multiplexer. The multiplexer sends selected pixel values through an output amplifier to a single output line.">
            <a:extLst>
              <a:ext uri="{FF2B5EF4-FFF2-40B4-BE49-F238E27FC236}">
                <a16:creationId xmlns:a16="http://schemas.microsoft.com/office/drawing/2014/main" id="{607017C9-F3C9-CE7F-6ED2-053A21D093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87591" y="951609"/>
            <a:ext cx="5016817" cy="3841214"/>
          </a:xfrm>
          <a:prstGeom prst="rect">
            <a:avLst/>
          </a:prstGeom>
        </p:spPr>
      </p:pic>
      <p:sp>
        <p:nvSpPr>
          <p:cNvPr id="7" name="TextBox 6">
            <a:extLst>
              <a:ext uri="{FF2B5EF4-FFF2-40B4-BE49-F238E27FC236}">
                <a16:creationId xmlns:a16="http://schemas.microsoft.com/office/drawing/2014/main" id="{DC97B9AE-D1DF-9644-F12A-EA5890DF0F8F}"/>
              </a:ext>
            </a:extLst>
          </p:cNvPr>
          <p:cNvSpPr txBox="1"/>
          <p:nvPr/>
        </p:nvSpPr>
        <p:spPr>
          <a:xfrm>
            <a:off x="4333790" y="4792823"/>
            <a:ext cx="2996065" cy="246221"/>
          </a:xfrm>
          <a:prstGeom prst="rect">
            <a:avLst/>
          </a:prstGeom>
          <a:noFill/>
        </p:spPr>
        <p:txBody>
          <a:bodyPr wrap="square">
            <a:spAutoFit/>
          </a:bodyPr>
          <a:lstStyle/>
          <a:p>
            <a:pPr algn="ctr"/>
            <a:r>
              <a:rPr lang="en-US" sz="1000" dirty="0">
                <a:hlinkClick r:id="rId6"/>
              </a:rPr>
              <a:t>https://isl.stanford.edu/~abbas/ee392b/lect04.pdf</a:t>
            </a:r>
            <a:r>
              <a:rPr lang="en-US" sz="1000" dirty="0"/>
              <a:t> </a:t>
            </a:r>
          </a:p>
        </p:txBody>
      </p:sp>
      <p:sp>
        <p:nvSpPr>
          <p:cNvPr id="10" name="Rectangle 9">
            <a:extLst>
              <a:ext uri="{FF2B5EF4-FFF2-40B4-BE49-F238E27FC236}">
                <a16:creationId xmlns:a16="http://schemas.microsoft.com/office/drawing/2014/main" id="{C9E3879A-FC4D-C2A2-09A8-A80D0C8F9F54}"/>
              </a:ext>
            </a:extLst>
          </p:cNvPr>
          <p:cNvSpPr/>
          <p:nvPr/>
        </p:nvSpPr>
        <p:spPr>
          <a:xfrm>
            <a:off x="4333790" y="1043909"/>
            <a:ext cx="2897590" cy="20574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F6F53D-1798-8603-2575-BCE3298FD780}"/>
              </a:ext>
            </a:extLst>
          </p:cNvPr>
          <p:cNvSpPr/>
          <p:nvPr/>
        </p:nvSpPr>
        <p:spPr>
          <a:xfrm>
            <a:off x="4333790" y="1239079"/>
            <a:ext cx="2897590" cy="20574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569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25E-6 3.7037E-7 L 0.00039 0.39398 " pathEditMode="relative" rAng="0" ptsTypes="AA">
                                      <p:cBhvr>
                                        <p:cTn id="6" dur="2000" fill="hold"/>
                                        <p:tgtEl>
                                          <p:spTgt spid="10"/>
                                        </p:tgtEl>
                                        <p:attrNameLst>
                                          <p:attrName>ppt_x</p:attrName>
                                          <p:attrName>ppt_y</p:attrName>
                                        </p:attrNameLst>
                                      </p:cBhvr>
                                      <p:rCtr x="13" y="19699"/>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00039 0.39398 L -0.00039 0.49398 " pathEditMode="relative" rAng="0" ptsTypes="AA">
                                      <p:cBhvr>
                                        <p:cTn id="10" dur="2000" fill="hold"/>
                                        <p:tgtEl>
                                          <p:spTgt spid="10"/>
                                        </p:tgtEl>
                                        <p:attrNameLst>
                                          <p:attrName>ppt_x</p:attrName>
                                          <p:attrName>ppt_y</p:attrName>
                                        </p:attrNameLst>
                                      </p:cBhvr>
                                      <p:rCtr x="-39" y="5000"/>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2"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ntr" presetSubtype="0" fill="hold" grpId="3"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0" nodeType="clickEffect">
                                  <p:stCondLst>
                                    <p:cond delay="0"/>
                                  </p:stCondLst>
                                  <p:childTnLst>
                                    <p:animMotion origin="layout" path="M 1.25E-6 -1.85185E-6 L 0.00039 0.36551 " pathEditMode="relative" rAng="0" ptsTypes="AA">
                                      <p:cBhvr>
                                        <p:cTn id="20" dur="2000" fill="hold"/>
                                        <p:tgtEl>
                                          <p:spTgt spid="11"/>
                                        </p:tgtEl>
                                        <p:attrNameLst>
                                          <p:attrName>ppt_x</p:attrName>
                                          <p:attrName>ppt_y</p:attrName>
                                        </p:attrNameLst>
                                      </p:cBhvr>
                                      <p:rCtr x="13" y="18287"/>
                                    </p:animMotion>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1" nodeType="clickEffect">
                                  <p:stCondLst>
                                    <p:cond delay="0"/>
                                  </p:stCondLst>
                                  <p:childTnLst>
                                    <p:animMotion origin="layout" path="M 0.00039 0.36551 L -0.00065 0.46158 " pathEditMode="relative" rAng="0" ptsTypes="AA">
                                      <p:cBhvr>
                                        <p:cTn id="24" dur="2000" fill="hold"/>
                                        <p:tgtEl>
                                          <p:spTgt spid="11"/>
                                        </p:tgtEl>
                                        <p:attrNameLst>
                                          <p:attrName>ppt_x</p:attrName>
                                          <p:attrName>ppt_y</p:attrName>
                                        </p:attrNameLst>
                                      </p:cBhvr>
                                      <p:rCtr x="-52" y="4838"/>
                                    </p:animMotion>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2"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11" grpId="0" animBg="1"/>
      <p:bldP spid="11" grpId="1" animBg="1"/>
      <p:bldP spid="11" grpId="2" animBg="1"/>
      <p:bldP spid="11" grpId="3"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84055B5-1970-C033-140B-50686B844B2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9EC995E-165B-415C-918F-AC1037DA90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47CE5F1-C7BA-5C3F-63E4-DB7735F5FFC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D5F07E2-EF66-0614-89D1-08A0D24B953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449277E-74F1-FD87-1BB4-8C3D83D778F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3CE064D-1420-8022-DACD-DD8479CA7D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17FFD5C-3674-B855-A22A-242E452F5B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523B0BB-D4F7-8334-5EBF-EF8E67BA6BB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A91176C-AB86-25CA-D70B-519D348855A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9" name="Graphic 8" descr="Block diagram: a camera circuit board (connector, bias decoupling) feeds a CMOS image sensor chip. On the chip, bias generation, clock and timing, an oscillator, row drivers and row access control a 5-by-5 pixel array. In each pixel a photodiode converts photons to electrons, and transistors convert the electrons to a voltage. Column lines pass through column bias and sampling, then a column mux, gain stage, analog-to-digital converter and line driver send the image to a frame grabber.">
            <a:extLst>
              <a:ext uri="{FF2B5EF4-FFF2-40B4-BE49-F238E27FC236}">
                <a16:creationId xmlns:a16="http://schemas.microsoft.com/office/drawing/2014/main" id="{A7C3B241-1FB8-9B94-5DF3-2792191F22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8928" y="906290"/>
            <a:ext cx="9325790" cy="5642743"/>
          </a:xfrm>
          <a:prstGeom prst="rect">
            <a:avLst/>
          </a:prstGeom>
        </p:spPr>
      </p:pic>
    </p:spTree>
    <p:extLst>
      <p:ext uri="{BB962C8B-B14F-4D97-AF65-F5344CB8AC3E}">
        <p14:creationId xmlns:p14="http://schemas.microsoft.com/office/powerpoint/2010/main" val="1427716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F6D493FA-85DA-1CCB-AAFF-2A9DE25A2A9C}"/>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2DA663CA-C59F-1619-8715-F60A2D6A26CB}"/>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Color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9F3CCF5E-EA36-E338-3F0E-DC3FD7C18082}"/>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74658FC8-C20C-1E0B-3FD9-6331C603F535}"/>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46C4F7F3-E39E-6C38-88D0-CCF6134DEA13}"/>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CFE62ED8-7B59-55DD-51B0-F3DDF9AF26F3}"/>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1D2F7DF1-BB93-59D8-712E-A7449568D69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F6C0CA7-365D-4652-CCAD-F59886125E89}"/>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C8B63AE-DF30-3803-D7D9-1E535F9430E6}"/>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AF4B5853-9129-BCB9-12EF-56E29CEC95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82E6949C-9D63-A913-C56C-B0A972D24EB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06660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A2CD5B3-5C73-6BCF-9FA2-ED791614FA3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F937959-889A-3719-3ADC-A8BA1CCF2CF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8995CBE-E033-0297-89E9-86C9FA1608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E84DACE-ED6C-5118-E502-E9955AFAF83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3F5D811-2A0F-50D6-FEF8-A91DAAD50E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19F2132-DC6F-668A-8806-5B2B9C48517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A012C68-49B7-623D-A02F-3DC3998D5CB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4EB3D6B-7C61-CD92-3C23-9BDA1736B6B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148B7A6-9A0D-A8A9-14CC-CB3B5F4C82D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Flowchart, four stages: CMOS array converts photons to voltage through a Bayer filter with a 1 red, 2 green, 1 blue mosaic. Bilinear demosaicing, RGB to HSV conversion, and a binary threshold, H min less than or equal to H less than or equal to H max. Connected-component blob detection, area filtering of noise, and centroid from image moments: x bar equals M one zero over M zero zero, y bar equals M zero one over M zero zero. Error e of t equals x bar minus X center feeds a PI controller, u of t equals K p e plus K i times the integral of e d t, producing PWM commands v left and v right.">
            <a:extLst>
              <a:ext uri="{FF2B5EF4-FFF2-40B4-BE49-F238E27FC236}">
                <a16:creationId xmlns:a16="http://schemas.microsoft.com/office/drawing/2014/main" id="{45C563A8-9C6C-884F-050B-DCCA4FA58E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7117" y="1032005"/>
            <a:ext cx="10397766" cy="5405055"/>
          </a:xfrm>
          <a:prstGeom prst="rect">
            <a:avLst/>
          </a:prstGeom>
        </p:spPr>
      </p:pic>
      <p:sp>
        <p:nvSpPr>
          <p:cNvPr id="5" name="Rectangle 4">
            <a:extLst>
              <a:ext uri="{FF2B5EF4-FFF2-40B4-BE49-F238E27FC236}">
                <a16:creationId xmlns:a16="http://schemas.microsoft.com/office/drawing/2014/main" id="{AD6DA1D1-B38B-273F-9CA2-BBA2539BCA33}"/>
              </a:ext>
            </a:extLst>
          </p:cNvPr>
          <p:cNvSpPr/>
          <p:nvPr/>
        </p:nvSpPr>
        <p:spPr>
          <a:xfrm>
            <a:off x="1125415" y="3069314"/>
            <a:ext cx="1931111" cy="8248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96C64C0-BC46-3B3F-BC84-B56FFBAC7B0C}"/>
              </a:ext>
            </a:extLst>
          </p:cNvPr>
          <p:cNvSpPr/>
          <p:nvPr/>
        </p:nvSpPr>
        <p:spPr>
          <a:xfrm>
            <a:off x="3829183" y="1501619"/>
            <a:ext cx="1931111" cy="473292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9655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9CC968E-6237-666A-D027-4063FBF1255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BF7B1D2-1D7B-18E0-D300-ABF7104C3E15}"/>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problem with photodiodes is that they only measure the intensity of light (how many photons hit them).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kind of problem that cause?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They are inherently colorblind; they only produce a grayscale image!</a:t>
            </a:r>
          </a:p>
          <a:p>
            <a:pPr marL="0" indent="0" algn="ctr">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To see a red ball, we need a way to filter out all other wavelengths of light before they hit the photodiode.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do we make a single sensor array see Red, Green, and Blue simultaneously?</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BE5A6DA-D3A9-B791-4CCB-9481B83F874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811BE3D-0BBB-F8BD-3E0B-22A281C3F44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92BE70D-DC9A-F795-7C9B-709ABC66B33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1F3FB78-D3A5-4AC1-88C7-B7EDC96814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C29F70-4AB7-E33E-93EE-9018FADE889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F1C2F72-1150-02AC-3712-4F80FAB07A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38581D2-5A7D-B5F6-8F0D-8FB647F686F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ECDA98-4799-6F2F-D7F3-0A44D8FC994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0855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2C7A530-2384-A583-4E7B-8DEA43EFC75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488AB6D-1BB4-0235-15FD-1CAE70156FD8}"/>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To achieve color vision, a microscopic color filter is placed over each individual photodiode.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is known as a Color Filter Array (CFA), the most common being the Bayer Filter.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It assigns each pixel to capture only Red, only Green, or only Blue light.</a:t>
            </a:r>
          </a:p>
        </p:txBody>
      </p:sp>
      <p:sp>
        <p:nvSpPr>
          <p:cNvPr id="119" name="Google Shape;119;p29">
            <a:extLst>
              <a:ext uri="{FF2B5EF4-FFF2-40B4-BE49-F238E27FC236}">
                <a16:creationId xmlns:a16="http://schemas.microsoft.com/office/drawing/2014/main" id="{6B141D5C-1413-2233-B5ED-A7C686627F0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C6EF57E-ED04-5F29-CEFC-FF2A5773B6C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2BFD962-28DE-81EF-F91E-B72A012108D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6C802C2-8720-9847-A023-01DECB25002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1B8F9C9-FA22-2F02-6DBC-8935E5D863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4125C8C-58A8-4095-F628-D14724105E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21298CC-055D-4140-0F06-3B86F44B09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6B9224F-2CC9-B423-B413-D16930E874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Isometric view of a Bayer color filter array: a checkerboard of red, green and blue filter squares, one per pixel, sitting on a black sensor surface, partly cut away to expose it. Rows alternate between green-red and blue-green, so each 2 by 2 block has two green, one red and one blue filter. Half the pixels sense green and a quarter each sense red and blue.">
            <a:extLst>
              <a:ext uri="{FF2B5EF4-FFF2-40B4-BE49-F238E27FC236}">
                <a16:creationId xmlns:a16="http://schemas.microsoft.com/office/drawing/2014/main" id="{E9F80111-1378-6BC9-2B5D-07F27806A1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3800" y="3026035"/>
            <a:ext cx="5070462" cy="3295800"/>
          </a:xfrm>
          <a:prstGeom prst="rect">
            <a:avLst/>
          </a:prstGeom>
        </p:spPr>
      </p:pic>
      <p:pic>
        <p:nvPicPr>
          <p:cNvPr id="30" name="Graphic 29" descr="Three photosites side by side, each with red, green and blue light arrows arriving from above. The first has a red filter, the second a green filter, the third a blue filter, and only the light matching each filter's color passes through to the gray photodiode beneath. Below each photosite is a black square, likely representing that pixel's output, which records only the intensity of its one passed color.">
            <a:extLst>
              <a:ext uri="{FF2B5EF4-FFF2-40B4-BE49-F238E27FC236}">
                <a16:creationId xmlns:a16="http://schemas.microsoft.com/office/drawing/2014/main" id="{1D8E7123-8833-59E4-C7E6-F8C1F1E9FD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09033" y="3016589"/>
            <a:ext cx="5455013" cy="3450179"/>
          </a:xfrm>
          <a:prstGeom prst="rect">
            <a:avLst/>
          </a:prstGeom>
        </p:spPr>
      </p:pic>
      <p:sp>
        <p:nvSpPr>
          <p:cNvPr id="32" name="TextBox 31">
            <a:extLst>
              <a:ext uri="{FF2B5EF4-FFF2-40B4-BE49-F238E27FC236}">
                <a16:creationId xmlns:a16="http://schemas.microsoft.com/office/drawing/2014/main" id="{5602F69F-82F3-38CC-BAB6-B945D84C51C2}"/>
              </a:ext>
            </a:extLst>
          </p:cNvPr>
          <p:cNvSpPr txBox="1"/>
          <p:nvPr/>
        </p:nvSpPr>
        <p:spPr>
          <a:xfrm>
            <a:off x="1897282" y="6328219"/>
            <a:ext cx="2418683" cy="246221"/>
          </a:xfrm>
          <a:prstGeom prst="rect">
            <a:avLst/>
          </a:prstGeom>
          <a:noFill/>
        </p:spPr>
        <p:txBody>
          <a:bodyPr wrap="square">
            <a:spAutoFit/>
          </a:bodyPr>
          <a:lstStyle/>
          <a:p>
            <a:r>
              <a:rPr lang="en-US" sz="1000" dirty="0">
                <a:hlinkClick r:id="rId8"/>
              </a:rPr>
              <a:t>https://en.wikipedia.org/wiki/Bayer_filter</a:t>
            </a:r>
            <a:r>
              <a:rPr lang="en-US" sz="1000" dirty="0"/>
              <a:t> </a:t>
            </a:r>
          </a:p>
        </p:txBody>
      </p:sp>
    </p:spTree>
    <p:extLst>
      <p:ext uri="{BB962C8B-B14F-4D97-AF65-F5344CB8AC3E}">
        <p14:creationId xmlns:p14="http://schemas.microsoft.com/office/powerpoint/2010/main" val="1034084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A7BCDD5-6150-E4E8-D27D-3C5B70F88D1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9534963-25FE-44FA-EF60-9E5FE4EB0FE1}"/>
                  </a:ext>
                </a:extLst>
              </p:cNvPr>
              <p:cNvSpPr txBox="1">
                <a:spLocks noGrp="1"/>
              </p:cNvSpPr>
              <p:nvPr>
                <p:ph type="body" idx="1"/>
              </p:nvPr>
            </p:nvSpPr>
            <p:spPr>
              <a:xfrm>
                <a:off x="376809" y="1334279"/>
                <a:ext cx="6625065"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Bayer format arranges filters in a repeating </a:t>
                </a:r>
                <a14:m>
                  <m:oMath xmlns:m="http://schemas.openxmlformats.org/officeDocument/2006/math">
                    <m:r>
                      <a:rPr lang="en-US" sz="2000" i="1" dirty="0" smtClean="0">
                        <a:latin typeface="Cambria Math" panose="02040503050406030204" pitchFamily="18" charset="0"/>
                        <a:ea typeface="Arial"/>
                        <a:cs typeface="Arial"/>
                        <a:sym typeface="Arial"/>
                      </a:rPr>
                      <m:t>2 ×2</m:t>
                    </m:r>
                  </m:oMath>
                </a14:m>
                <a:r>
                  <a:rPr lang="en-US" sz="2000" dirty="0">
                    <a:latin typeface="Atkinson Hyperlegible Next"/>
                    <a:ea typeface="Arial"/>
                    <a:cs typeface="Arial"/>
                    <a:sym typeface="Arial"/>
                  </a:rPr>
                  <a:t> grid.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is a problem with filtering color?</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We lose information! This is why most scientific instruments (on Mars for example) are in black and white to ensure capturing all the intensities!</a:t>
                </a:r>
              </a:p>
              <a:p>
                <a:pPr marL="0" indent="0" algn="ctr">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Notice anything strange about this ratio?</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gn="ctr">
                  <a:lnSpc>
                    <a:spcPct val="100000"/>
                  </a:lnSpc>
                  <a:spcBef>
                    <a:spcPts val="0"/>
                  </a:spcBef>
                  <a:buSzPts val="3000"/>
                  <a:buNone/>
                </a:pPr>
                <a:r>
                  <a:rPr lang="en-US" sz="2000" dirty="0">
                    <a:latin typeface="Atkinson Hyperlegible Next"/>
                    <a:ea typeface="Arial"/>
                    <a:cs typeface="Arial"/>
                    <a:sym typeface="Arial"/>
                  </a:rPr>
                  <a:t>1 Red : 2 Green : 1 Blue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Why are there twice as many Green pixels as Red or Blue?</a:t>
                </a:r>
              </a:p>
            </p:txBody>
          </p:sp>
        </mc:Choice>
        <mc:Fallback xmlns="">
          <p:sp>
            <p:nvSpPr>
              <p:cNvPr id="118" name="Google Shape;118;p29">
                <a:extLst>
                  <a:ext uri="{FF2B5EF4-FFF2-40B4-BE49-F238E27FC236}">
                    <a16:creationId xmlns:a16="http://schemas.microsoft.com/office/drawing/2014/main" id="{99534963-25FE-44FA-EF60-9E5FE4EB0FE1}"/>
                  </a:ext>
                </a:extLst>
              </p:cNvPr>
              <p:cNvSpPr txBox="1">
                <a:spLocks noGrp="1" noRot="1" noChangeAspect="1" noMove="1" noResize="1" noEditPoints="1" noAdjustHandles="1" noChangeArrowheads="1" noChangeShapeType="1" noTextEdit="1"/>
              </p:cNvSpPr>
              <p:nvPr>
                <p:ph type="body" idx="1"/>
              </p:nvPr>
            </p:nvSpPr>
            <p:spPr>
              <a:xfrm>
                <a:off x="376809" y="1334279"/>
                <a:ext cx="6625065" cy="4821102"/>
              </a:xfrm>
              <a:prstGeom prst="rect">
                <a:avLst/>
              </a:prstGeom>
              <a:blipFill>
                <a:blip r:embed="rId3"/>
                <a:stretch>
                  <a:fillRect l="-1012" t="-632" r="-15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F69237D-4892-5146-7D90-C6FFC4A82D1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BC44916-7F47-B71E-7EFB-367F0535085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7077CA7-47B9-9B80-90AB-73D47D664CC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6C66DF5-1748-63CC-C1B2-F08B446B44A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D8F87EC-7B9A-3861-6FE0-6C4376DA3ED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4567CE4-5DD6-9A77-CB53-BD71E59FC0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8DD70CE-7172-A41B-B389-86C0962294C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ECF62CC-7736-ACD0-F919-D17DE3F56FA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Isometric view of a Bayer color filter array: a checkerboard of red, green and blue filter squares, one per pixel, sitting on a black sensor surface, partly cut away to expose it. Rows alternate between green-red and blue-green, so each 2 by 2 block has two green, one red and one blue filter. Half the pixels sense green and a quarter each sense red and blue.">
            <a:extLst>
              <a:ext uri="{FF2B5EF4-FFF2-40B4-BE49-F238E27FC236}">
                <a16:creationId xmlns:a16="http://schemas.microsoft.com/office/drawing/2014/main" id="{82222B3B-389F-7775-51FF-2BA97B4189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01874" y="1990789"/>
            <a:ext cx="5070462" cy="3295800"/>
          </a:xfrm>
          <a:prstGeom prst="rect">
            <a:avLst/>
          </a:prstGeom>
        </p:spPr>
      </p:pic>
      <p:sp>
        <p:nvSpPr>
          <p:cNvPr id="7" name="TextBox 6">
            <a:extLst>
              <a:ext uri="{FF2B5EF4-FFF2-40B4-BE49-F238E27FC236}">
                <a16:creationId xmlns:a16="http://schemas.microsoft.com/office/drawing/2014/main" id="{A6AEAA92-FD9A-D8C4-5A0B-2E6D2EC5AC74}"/>
              </a:ext>
            </a:extLst>
          </p:cNvPr>
          <p:cNvSpPr txBox="1"/>
          <p:nvPr/>
        </p:nvSpPr>
        <p:spPr>
          <a:xfrm>
            <a:off x="8327763" y="5409368"/>
            <a:ext cx="2418683" cy="246221"/>
          </a:xfrm>
          <a:prstGeom prst="rect">
            <a:avLst/>
          </a:prstGeom>
          <a:noFill/>
        </p:spPr>
        <p:txBody>
          <a:bodyPr wrap="square">
            <a:spAutoFit/>
          </a:bodyPr>
          <a:lstStyle/>
          <a:p>
            <a:r>
              <a:rPr lang="en-US" sz="1000" dirty="0">
                <a:hlinkClick r:id="rId7"/>
              </a:rPr>
              <a:t>https://en.wikipedia.org/wiki/Bayer_filter</a:t>
            </a:r>
            <a:r>
              <a:rPr lang="en-US" sz="1000" dirty="0"/>
              <a:t> </a:t>
            </a:r>
          </a:p>
        </p:txBody>
      </p:sp>
    </p:spTree>
    <p:extLst>
      <p:ext uri="{BB962C8B-B14F-4D97-AF65-F5344CB8AC3E}">
        <p14:creationId xmlns:p14="http://schemas.microsoft.com/office/powerpoint/2010/main" val="130951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9343AD7-193D-266D-A9E4-87355625E16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3DFCB42-7D1B-D334-9277-BEF8EF74D967}"/>
              </a:ext>
            </a:extLst>
          </p:cNvPr>
          <p:cNvSpPr txBox="1">
            <a:spLocks noGrp="1"/>
          </p:cNvSpPr>
          <p:nvPr>
            <p:ph type="body" idx="1"/>
          </p:nvPr>
        </p:nvSpPr>
        <p:spPr>
          <a:xfrm>
            <a:off x="376809" y="1334279"/>
            <a:ext cx="6625065"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We use twice as many green filters because the human eye (specifically our cone cells) is most sensitive to green wavelengths (~550 nm).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By over-sampling green, the camera captures luminance (brightness) detail that matches human perception.</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However, our raw array is now a mosaic of single colors.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Pixel (0,0) only knows Red.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do we get RGB values for every pixel?</a:t>
            </a:r>
          </a:p>
        </p:txBody>
      </p:sp>
      <p:sp>
        <p:nvSpPr>
          <p:cNvPr id="119" name="Google Shape;119;p29">
            <a:extLst>
              <a:ext uri="{FF2B5EF4-FFF2-40B4-BE49-F238E27FC236}">
                <a16:creationId xmlns:a16="http://schemas.microsoft.com/office/drawing/2014/main" id="{8E8B27DE-CEEF-1BB2-874A-D538CB3C1DE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F014AA-712A-DE43-361B-5A6C6FC1FD6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944764B-31A9-1DC1-C620-4CDA508F76A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1C67A19-621A-5D6D-8E54-5DB8F52F52C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16ABCF1-9B76-7FEE-CA69-E46228A067B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9688DBB-E47E-333E-448A-42F3DB41379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0FAA275-6DD1-F909-5C89-CD81B1C3019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491B7A3-1277-5304-38D6-09D09793870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Plot: normalized response of the eye's three cone types versus wavelength, 400 to 700 nanometers. The S cone peaks near 440 nm and falls to near zero by 530 nm. The M and L cones overlap heavily, peaking near 545 nm and 570 nm, so the eye's combined sensitivity is greatest in the green region around 550 nm. The L cone extends furthest into the red, fading by about 700 nm.">
            <a:extLst>
              <a:ext uri="{FF2B5EF4-FFF2-40B4-BE49-F238E27FC236}">
                <a16:creationId xmlns:a16="http://schemas.microsoft.com/office/drawing/2014/main" id="{80CC4E5E-E877-37EB-865E-FB15BC4881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01874" y="1772716"/>
            <a:ext cx="5143500" cy="3619500"/>
          </a:xfrm>
          <a:prstGeom prst="rect">
            <a:avLst/>
          </a:prstGeom>
        </p:spPr>
      </p:pic>
      <p:sp>
        <p:nvSpPr>
          <p:cNvPr id="6" name="TextBox 5">
            <a:extLst>
              <a:ext uri="{FF2B5EF4-FFF2-40B4-BE49-F238E27FC236}">
                <a16:creationId xmlns:a16="http://schemas.microsoft.com/office/drawing/2014/main" id="{7774153F-467A-1D4A-A497-E9472CDA09AE}"/>
              </a:ext>
            </a:extLst>
          </p:cNvPr>
          <p:cNvSpPr txBox="1"/>
          <p:nvPr/>
        </p:nvSpPr>
        <p:spPr>
          <a:xfrm>
            <a:off x="7963833" y="5507441"/>
            <a:ext cx="3404519" cy="246221"/>
          </a:xfrm>
          <a:prstGeom prst="rect">
            <a:avLst/>
          </a:prstGeom>
          <a:noFill/>
        </p:spPr>
        <p:txBody>
          <a:bodyPr wrap="square">
            <a:spAutoFit/>
          </a:bodyPr>
          <a:lstStyle/>
          <a:p>
            <a:pPr algn="ctr"/>
            <a:r>
              <a:rPr lang="en-US" sz="1000" dirty="0">
                <a:hlinkClick r:id="rId6"/>
              </a:rPr>
              <a:t>https://en.wikipedia.org/wiki/Color_vision</a:t>
            </a:r>
            <a:r>
              <a:rPr lang="en-US" sz="1000" dirty="0"/>
              <a:t> </a:t>
            </a:r>
          </a:p>
        </p:txBody>
      </p:sp>
    </p:spTree>
    <p:extLst>
      <p:ext uri="{BB962C8B-B14F-4D97-AF65-F5344CB8AC3E}">
        <p14:creationId xmlns:p14="http://schemas.microsoft.com/office/powerpoint/2010/main" val="180288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7EE4C85-C55C-A363-197F-86885DF7D5B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7F466A6-160B-BA90-320F-53F242E6C4C9}"/>
                  </a:ext>
                </a:extLst>
              </p:cNvPr>
              <p:cNvSpPr txBox="1">
                <a:spLocks noGrp="1"/>
              </p:cNvSpPr>
              <p:nvPr>
                <p:ph type="body" idx="1"/>
              </p:nvPr>
            </p:nvSpPr>
            <p:spPr>
              <a:xfrm>
                <a:off x="376809" y="1334279"/>
                <a:ext cx="950636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b="1" dirty="0" err="1">
                    <a:latin typeface="Atkinson Hyperlegible Next"/>
                    <a:ea typeface="Arial"/>
                    <a:cs typeface="Arial"/>
                    <a:sym typeface="Arial"/>
                  </a:rPr>
                  <a:t>Demosaicing</a:t>
                </a:r>
                <a:r>
                  <a:rPr lang="en-US" sz="1800" dirty="0">
                    <a:latin typeface="Atkinson Hyperlegible Next"/>
                    <a:ea typeface="Arial"/>
                    <a:cs typeface="Arial"/>
                    <a:sym typeface="Arial"/>
                  </a:rPr>
                  <a:t> is the mathematical process of guessing the missing color values at each pixel location.</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We use surrounding pixels to calculate an average. To find the missing Green value at a Red pixel:</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gn="ctr">
                  <a:lnSpc>
                    <a:spcPct val="100000"/>
                  </a:lnSpc>
                  <a:spcBef>
                    <a:spcPts val="0"/>
                  </a:spcBef>
                  <a:buSzPts val="3000"/>
                  <a:buNone/>
                </a:pPr>
                <a:r>
                  <a:rPr lang="en-US" sz="1800" dirty="0">
                    <a:latin typeface="Atkinson Hyperlegible Next"/>
                    <a:ea typeface="Arial"/>
                    <a:cs typeface="Arial"/>
                    <a:sym typeface="Arial"/>
                  </a:rPr>
                  <a:t> </a:t>
                </a:r>
                <a14:m>
                  <m:oMath xmlns:m="http://schemas.openxmlformats.org/officeDocument/2006/math">
                    <m:sSub>
                      <m:sSubPr>
                        <m:ctrlPr>
                          <a:rPr lang="en-US" sz="1800" i="1" dirty="0" smtClean="0">
                            <a:latin typeface="Cambria Math" panose="02040503050406030204" pitchFamily="18" charset="0"/>
                            <a:ea typeface="Arial"/>
                            <a:cs typeface="Arial"/>
                            <a:sym typeface="Arial"/>
                          </a:rPr>
                        </m:ctrlPr>
                      </m:sSubPr>
                      <m:e>
                        <m:r>
                          <a:rPr lang="en-US" sz="1800" i="1" dirty="0" smtClean="0">
                            <a:latin typeface="Cambria Math" panose="02040503050406030204" pitchFamily="18" charset="0"/>
                            <a:ea typeface="Arial"/>
                            <a:cs typeface="Arial"/>
                            <a:sym typeface="Arial"/>
                          </a:rPr>
                          <m:t>𝑅</m:t>
                        </m:r>
                      </m:e>
                      <m:sub>
                        <m:r>
                          <a:rPr lang="en-US" sz="1800" i="1" dirty="0" err="1">
                            <a:latin typeface="Cambria Math" panose="02040503050406030204" pitchFamily="18" charset="0"/>
                            <a:ea typeface="Arial"/>
                            <a:cs typeface="Arial"/>
                            <a:sym typeface="Arial"/>
                          </a:rPr>
                          <m:t>𝑖</m:t>
                        </m:r>
                        <m:r>
                          <a:rPr lang="en-US" sz="1800" i="1" dirty="0" err="1">
                            <a:latin typeface="Cambria Math" panose="02040503050406030204" pitchFamily="18" charset="0"/>
                            <a:ea typeface="Arial"/>
                            <a:cs typeface="Arial"/>
                            <a:sym typeface="Arial"/>
                          </a:rPr>
                          <m:t>,</m:t>
                        </m:r>
                        <m:r>
                          <a:rPr lang="en-US" sz="1800" i="1" dirty="0" err="1">
                            <a:latin typeface="Cambria Math" panose="02040503050406030204" pitchFamily="18" charset="0"/>
                            <a:ea typeface="Arial"/>
                            <a:cs typeface="Arial"/>
                            <a:sym typeface="Arial"/>
                          </a:rPr>
                          <m:t>𝑗</m:t>
                        </m:r>
                      </m:sub>
                    </m:sSub>
                    <m:r>
                      <a:rPr lang="en-US" sz="1800" i="1" dirty="0">
                        <a:latin typeface="Cambria Math" panose="02040503050406030204" pitchFamily="18" charset="0"/>
                        <a:ea typeface="Arial"/>
                        <a:cs typeface="Arial"/>
                        <a:sym typeface="Arial"/>
                      </a:rPr>
                      <m:t>:</m:t>
                    </m:r>
                    <m:sSub>
                      <m:sSubPr>
                        <m:ctrlPr>
                          <a:rPr lang="en-US" sz="1800" i="1" dirty="0" smtClean="0">
                            <a:latin typeface="Cambria Math" panose="02040503050406030204" pitchFamily="18" charset="0"/>
                            <a:ea typeface="Arial"/>
                            <a:cs typeface="Arial"/>
                            <a:sym typeface="Arial"/>
                          </a:rPr>
                        </m:ctrlPr>
                      </m:sSubPr>
                      <m:e>
                        <m:r>
                          <a:rPr lang="en-US" sz="1800" b="0" i="1" dirty="0" smtClean="0">
                            <a:latin typeface="Cambria Math" panose="02040503050406030204" pitchFamily="18" charset="0"/>
                            <a:ea typeface="Arial"/>
                            <a:cs typeface="Arial"/>
                            <a:sym typeface="Arial"/>
                          </a:rPr>
                          <m:t> </m:t>
                        </m:r>
                        <m:r>
                          <a:rPr lang="en-US" sz="1800" i="1" dirty="0">
                            <a:latin typeface="Cambria Math" panose="02040503050406030204" pitchFamily="18" charset="0"/>
                            <a:ea typeface="Arial"/>
                            <a:cs typeface="Arial"/>
                            <a:sym typeface="Arial"/>
                          </a:rPr>
                          <m:t>𝐺</m:t>
                        </m:r>
                      </m:e>
                      <m:sub>
                        <m:r>
                          <a:rPr lang="en-US" sz="1800" i="1" dirty="0" err="1">
                            <a:latin typeface="Cambria Math" panose="02040503050406030204" pitchFamily="18" charset="0"/>
                            <a:ea typeface="Arial"/>
                            <a:cs typeface="Arial"/>
                            <a:sym typeface="Arial"/>
                          </a:rPr>
                          <m:t>𝑖</m:t>
                        </m:r>
                        <m:r>
                          <a:rPr lang="en-US" sz="1800" i="1" dirty="0" err="1">
                            <a:latin typeface="Cambria Math" panose="02040503050406030204" pitchFamily="18" charset="0"/>
                            <a:ea typeface="Arial"/>
                            <a:cs typeface="Arial"/>
                            <a:sym typeface="Arial"/>
                          </a:rPr>
                          <m:t>,</m:t>
                        </m:r>
                        <m:r>
                          <a:rPr lang="en-US" sz="1800" i="1" dirty="0" err="1">
                            <a:latin typeface="Cambria Math" panose="02040503050406030204" pitchFamily="18" charset="0"/>
                            <a:ea typeface="Arial"/>
                            <a:cs typeface="Arial"/>
                            <a:sym typeface="Arial"/>
                          </a:rPr>
                          <m:t>𝑗</m:t>
                        </m:r>
                      </m:sub>
                    </m:sSub>
                    <m:r>
                      <a:rPr lang="en-US" sz="1800" i="1" dirty="0">
                        <a:latin typeface="Cambria Math" panose="02040503050406030204" pitchFamily="18" charset="0"/>
                        <a:ea typeface="Arial"/>
                        <a:cs typeface="Arial"/>
                        <a:sym typeface="Arial"/>
                      </a:rPr>
                      <m:t>=</m:t>
                    </m:r>
                    <m:f>
                      <m:fPr>
                        <m:ctrlPr>
                          <a:rPr lang="en-US" sz="1800" i="1" dirty="0">
                            <a:latin typeface="Cambria Math" panose="02040503050406030204" pitchFamily="18" charset="0"/>
                            <a:ea typeface="Arial"/>
                            <a:cs typeface="Arial"/>
                            <a:sym typeface="Arial"/>
                          </a:rPr>
                        </m:ctrlPr>
                      </m:fPr>
                      <m:num>
                        <m:r>
                          <a:rPr lang="en-US" sz="1800" i="1" dirty="0">
                            <a:latin typeface="Cambria Math" panose="02040503050406030204" pitchFamily="18" charset="0"/>
                            <a:ea typeface="Arial"/>
                            <a:cs typeface="Arial"/>
                            <a:sym typeface="Arial"/>
                          </a:rPr>
                          <m:t>1</m:t>
                        </m:r>
                      </m:num>
                      <m:den>
                        <m:r>
                          <a:rPr lang="en-US" sz="1800" i="1" dirty="0">
                            <a:latin typeface="Cambria Math" panose="02040503050406030204" pitchFamily="18" charset="0"/>
                            <a:ea typeface="Arial"/>
                            <a:cs typeface="Arial"/>
                            <a:sym typeface="Arial"/>
                          </a:rPr>
                          <m:t>4</m:t>
                        </m:r>
                      </m:den>
                    </m:f>
                    <m:d>
                      <m:dPr>
                        <m:ctrlPr>
                          <a:rPr lang="en-US" sz="1800" i="1" dirty="0">
                            <a:latin typeface="Cambria Math" panose="02040503050406030204" pitchFamily="18" charset="0"/>
                            <a:ea typeface="Arial"/>
                            <a:cs typeface="Arial"/>
                            <a:sym typeface="Arial"/>
                          </a:rPr>
                        </m:ctrlPr>
                      </m:dPr>
                      <m:e>
                        <m:sSub>
                          <m:sSubPr>
                            <m:ctrlPr>
                              <a:rPr lang="en-US" sz="1800" i="1" dirty="0">
                                <a:latin typeface="Cambria Math" panose="02040503050406030204" pitchFamily="18" charset="0"/>
                                <a:ea typeface="Arial"/>
                                <a:cs typeface="Arial"/>
                                <a:sym typeface="Arial"/>
                              </a:rPr>
                            </m:ctrlPr>
                          </m:sSubPr>
                          <m:e>
                            <m:r>
                              <a:rPr lang="en-US" sz="1800" i="1" dirty="0">
                                <a:latin typeface="Cambria Math" panose="02040503050406030204" pitchFamily="18" charset="0"/>
                                <a:ea typeface="Arial"/>
                                <a:cs typeface="Arial"/>
                                <a:sym typeface="Arial"/>
                              </a:rPr>
                              <m:t>𝐺</m:t>
                            </m:r>
                          </m:e>
                          <m:sub>
                            <m:r>
                              <a:rPr lang="en-US" sz="1800" i="1" dirty="0">
                                <a:latin typeface="Cambria Math" panose="02040503050406030204" pitchFamily="18" charset="0"/>
                                <a:ea typeface="Arial"/>
                                <a:cs typeface="Arial"/>
                                <a:sym typeface="Arial"/>
                              </a:rPr>
                              <m:t>𝑖</m:t>
                            </m:r>
                            <m:r>
                              <a:rPr lang="en-US" sz="1800" i="1" dirty="0">
                                <a:latin typeface="Cambria Math" panose="02040503050406030204" pitchFamily="18" charset="0"/>
                                <a:ea typeface="Arial"/>
                                <a:cs typeface="Arial"/>
                                <a:sym typeface="Arial"/>
                              </a:rPr>
                              <m:t>−1,</m:t>
                            </m:r>
                            <m:r>
                              <a:rPr lang="en-US" sz="1800" i="1" dirty="0">
                                <a:latin typeface="Cambria Math" panose="02040503050406030204" pitchFamily="18" charset="0"/>
                                <a:ea typeface="Arial"/>
                                <a:cs typeface="Arial"/>
                                <a:sym typeface="Arial"/>
                              </a:rPr>
                              <m:t>𝑗</m:t>
                            </m:r>
                          </m:sub>
                        </m:sSub>
                        <m:r>
                          <a:rPr lang="en-US" sz="1800" i="1" dirty="0">
                            <a:latin typeface="Cambria Math" panose="02040503050406030204" pitchFamily="18" charset="0"/>
                            <a:ea typeface="Arial"/>
                            <a:cs typeface="Arial"/>
                            <a:sym typeface="Arial"/>
                          </a:rPr>
                          <m:t>+</m:t>
                        </m:r>
                        <m:sSub>
                          <m:sSubPr>
                            <m:ctrlPr>
                              <a:rPr lang="en-US" sz="1800" i="1" dirty="0">
                                <a:latin typeface="Cambria Math" panose="02040503050406030204" pitchFamily="18" charset="0"/>
                                <a:ea typeface="Arial"/>
                                <a:cs typeface="Arial"/>
                                <a:sym typeface="Arial"/>
                              </a:rPr>
                            </m:ctrlPr>
                          </m:sSubPr>
                          <m:e>
                            <m:r>
                              <a:rPr lang="en-US" sz="1800" i="1" dirty="0">
                                <a:latin typeface="Cambria Math" panose="02040503050406030204" pitchFamily="18" charset="0"/>
                                <a:ea typeface="Arial"/>
                                <a:cs typeface="Arial"/>
                                <a:sym typeface="Arial"/>
                              </a:rPr>
                              <m:t>𝐺</m:t>
                            </m:r>
                          </m:e>
                          <m:sub>
                            <m:r>
                              <a:rPr lang="en-US" sz="1800" i="1" dirty="0">
                                <a:latin typeface="Cambria Math" panose="02040503050406030204" pitchFamily="18" charset="0"/>
                                <a:ea typeface="Arial"/>
                                <a:cs typeface="Arial"/>
                                <a:sym typeface="Arial"/>
                              </a:rPr>
                              <m:t>𝑖</m:t>
                            </m:r>
                            <m:r>
                              <a:rPr lang="en-US" sz="1800" i="1" dirty="0">
                                <a:latin typeface="Cambria Math" panose="02040503050406030204" pitchFamily="18" charset="0"/>
                                <a:ea typeface="Arial"/>
                                <a:cs typeface="Arial"/>
                                <a:sym typeface="Arial"/>
                              </a:rPr>
                              <m:t>+1,</m:t>
                            </m:r>
                            <m:r>
                              <a:rPr lang="en-US" sz="1800" i="1" dirty="0">
                                <a:latin typeface="Cambria Math" panose="02040503050406030204" pitchFamily="18" charset="0"/>
                                <a:ea typeface="Arial"/>
                                <a:cs typeface="Arial"/>
                                <a:sym typeface="Arial"/>
                              </a:rPr>
                              <m:t>𝑗</m:t>
                            </m:r>
                          </m:sub>
                        </m:sSub>
                        <m:r>
                          <a:rPr lang="en-US" sz="1800" i="1" dirty="0">
                            <a:latin typeface="Cambria Math" panose="02040503050406030204" pitchFamily="18" charset="0"/>
                            <a:ea typeface="Arial"/>
                            <a:cs typeface="Arial"/>
                            <a:sym typeface="Arial"/>
                          </a:rPr>
                          <m:t>+</m:t>
                        </m:r>
                        <m:sSub>
                          <m:sSubPr>
                            <m:ctrlPr>
                              <a:rPr lang="en-US" sz="1800" i="1" dirty="0">
                                <a:latin typeface="Cambria Math" panose="02040503050406030204" pitchFamily="18" charset="0"/>
                                <a:ea typeface="Arial"/>
                                <a:cs typeface="Arial"/>
                                <a:sym typeface="Arial"/>
                              </a:rPr>
                            </m:ctrlPr>
                          </m:sSubPr>
                          <m:e>
                            <m:r>
                              <a:rPr lang="en-US" sz="1800" i="1" dirty="0">
                                <a:latin typeface="Cambria Math" panose="02040503050406030204" pitchFamily="18" charset="0"/>
                                <a:ea typeface="Arial"/>
                                <a:cs typeface="Arial"/>
                                <a:sym typeface="Arial"/>
                              </a:rPr>
                              <m:t>𝐺</m:t>
                            </m:r>
                          </m:e>
                          <m:sub>
                            <m:r>
                              <a:rPr lang="en-US" sz="1800" i="1" dirty="0">
                                <a:latin typeface="Cambria Math" panose="02040503050406030204" pitchFamily="18" charset="0"/>
                                <a:ea typeface="Arial"/>
                                <a:cs typeface="Arial"/>
                                <a:sym typeface="Arial"/>
                              </a:rPr>
                              <m:t>𝑖</m:t>
                            </m:r>
                            <m:r>
                              <a:rPr lang="en-US" sz="1800" i="1" dirty="0">
                                <a:latin typeface="Cambria Math" panose="02040503050406030204" pitchFamily="18" charset="0"/>
                                <a:ea typeface="Arial"/>
                                <a:cs typeface="Arial"/>
                                <a:sym typeface="Arial"/>
                              </a:rPr>
                              <m:t>,</m:t>
                            </m:r>
                            <m:r>
                              <a:rPr lang="en-US" sz="1800" i="1" dirty="0">
                                <a:latin typeface="Cambria Math" panose="02040503050406030204" pitchFamily="18" charset="0"/>
                                <a:ea typeface="Arial"/>
                                <a:cs typeface="Arial"/>
                                <a:sym typeface="Arial"/>
                              </a:rPr>
                              <m:t>𝑗</m:t>
                            </m:r>
                            <m:r>
                              <a:rPr lang="en-US" sz="1800" i="1" dirty="0">
                                <a:latin typeface="Cambria Math" panose="02040503050406030204" pitchFamily="18" charset="0"/>
                                <a:ea typeface="Arial"/>
                                <a:cs typeface="Arial"/>
                                <a:sym typeface="Arial"/>
                              </a:rPr>
                              <m:t>−1</m:t>
                            </m:r>
                          </m:sub>
                        </m:sSub>
                        <m:r>
                          <a:rPr lang="en-US" sz="1800" i="1" dirty="0">
                            <a:latin typeface="Cambria Math" panose="02040503050406030204" pitchFamily="18" charset="0"/>
                            <a:ea typeface="Arial"/>
                            <a:cs typeface="Arial"/>
                            <a:sym typeface="Arial"/>
                          </a:rPr>
                          <m:t>+</m:t>
                        </m:r>
                        <m:sSub>
                          <m:sSubPr>
                            <m:ctrlPr>
                              <a:rPr lang="en-US" sz="1800" i="1" dirty="0">
                                <a:latin typeface="Cambria Math" panose="02040503050406030204" pitchFamily="18" charset="0"/>
                                <a:ea typeface="Arial"/>
                                <a:cs typeface="Arial"/>
                                <a:sym typeface="Arial"/>
                              </a:rPr>
                            </m:ctrlPr>
                          </m:sSubPr>
                          <m:e>
                            <m:r>
                              <a:rPr lang="en-US" sz="1800" i="1" dirty="0">
                                <a:latin typeface="Cambria Math" panose="02040503050406030204" pitchFamily="18" charset="0"/>
                                <a:ea typeface="Arial"/>
                                <a:cs typeface="Arial"/>
                                <a:sym typeface="Arial"/>
                              </a:rPr>
                              <m:t>𝐺</m:t>
                            </m:r>
                          </m:e>
                          <m:sub>
                            <m:r>
                              <a:rPr lang="en-US" sz="1800" i="1" dirty="0">
                                <a:latin typeface="Cambria Math" panose="02040503050406030204" pitchFamily="18" charset="0"/>
                                <a:ea typeface="Arial"/>
                                <a:cs typeface="Arial"/>
                                <a:sym typeface="Arial"/>
                              </a:rPr>
                              <m:t>𝑖</m:t>
                            </m:r>
                            <m:r>
                              <a:rPr lang="en-US" sz="1800" i="1" dirty="0">
                                <a:latin typeface="Cambria Math" panose="02040503050406030204" pitchFamily="18" charset="0"/>
                                <a:ea typeface="Arial"/>
                                <a:cs typeface="Arial"/>
                                <a:sym typeface="Arial"/>
                              </a:rPr>
                              <m:t>,</m:t>
                            </m:r>
                            <m:r>
                              <a:rPr lang="en-US" sz="1800" i="1" dirty="0">
                                <a:latin typeface="Cambria Math" panose="02040503050406030204" pitchFamily="18" charset="0"/>
                                <a:ea typeface="Arial"/>
                                <a:cs typeface="Arial"/>
                                <a:sym typeface="Arial"/>
                              </a:rPr>
                              <m:t>𝑗</m:t>
                            </m:r>
                            <m:r>
                              <a:rPr lang="en-US" sz="1800" i="1" dirty="0">
                                <a:latin typeface="Cambria Math" panose="02040503050406030204" pitchFamily="18" charset="0"/>
                                <a:ea typeface="Arial"/>
                                <a:cs typeface="Arial"/>
                                <a:sym typeface="Arial"/>
                              </a:rPr>
                              <m:t>+1</m:t>
                            </m:r>
                          </m:sub>
                        </m:sSub>
                      </m:e>
                    </m:d>
                  </m:oMath>
                </a14:m>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camera's internal DSP (Digital Signal Processor) usually does this before sending data to the microcontroller.</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This simple approach works well in areas with constant color or smooth gradients, but it can cause artifacts such as color bleeding in areas where there are abrupt changes in color or brightness especially noticeable along sharp edges in the image.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Because of this, other </a:t>
                </a:r>
                <a:r>
                  <a:rPr lang="en-US" sz="1800" dirty="0" err="1">
                    <a:latin typeface="Atkinson Hyperlegible Next"/>
                    <a:ea typeface="Arial"/>
                    <a:cs typeface="Arial"/>
                    <a:sym typeface="Arial"/>
                  </a:rPr>
                  <a:t>demosaicing</a:t>
                </a:r>
                <a:r>
                  <a:rPr lang="en-US" sz="1800" dirty="0">
                    <a:latin typeface="Atkinson Hyperlegible Next"/>
                    <a:ea typeface="Arial"/>
                    <a:cs typeface="Arial"/>
                    <a:sym typeface="Arial"/>
                  </a:rPr>
                  <a:t> methods attempt to identify high-contrast edges and only interpolate along these edges, but not across them.</a:t>
                </a:r>
              </a:p>
            </p:txBody>
          </p:sp>
        </mc:Choice>
        <mc:Fallback xmlns="">
          <p:sp>
            <p:nvSpPr>
              <p:cNvPr id="118" name="Google Shape;118;p29">
                <a:extLst>
                  <a:ext uri="{FF2B5EF4-FFF2-40B4-BE49-F238E27FC236}">
                    <a16:creationId xmlns:a16="http://schemas.microsoft.com/office/drawing/2014/main" id="{87F466A6-160B-BA90-320F-53F242E6C4C9}"/>
                  </a:ext>
                </a:extLst>
              </p:cNvPr>
              <p:cNvSpPr txBox="1">
                <a:spLocks noGrp="1" noRot="1" noChangeAspect="1" noMove="1" noResize="1" noEditPoints="1" noAdjustHandles="1" noChangeArrowheads="1" noChangeShapeType="1" noTextEdit="1"/>
              </p:cNvSpPr>
              <p:nvPr>
                <p:ph type="body" idx="1"/>
              </p:nvPr>
            </p:nvSpPr>
            <p:spPr>
              <a:xfrm>
                <a:off x="376809" y="1334279"/>
                <a:ext cx="9506367" cy="4821102"/>
              </a:xfrm>
              <a:prstGeom prst="rect">
                <a:avLst/>
              </a:prstGeom>
              <a:blipFill>
                <a:blip r:embed="rId3"/>
                <a:stretch>
                  <a:fillRect l="-577" t="-759" r="-513" b="-303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A9906EE-DC3D-4993-9C05-BD16DA3C0B7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7E92BC-2724-C331-395C-4181738AD4D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AEE36F5-9C9C-750A-A0FA-665E5D65B0D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3CEE85A-4531-C080-189E-2CF31B221A8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42EFFC4-90F2-6FF4-B187-79D1303E1FA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532086-5AF1-571B-8E1A-D28EAA7EC85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A4AEB92-690F-9723-A832-6BB594908B4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83CC9D2-E71E-6265-6C8E-BA464EFD85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6" name="TextBox 5">
            <a:extLst>
              <a:ext uri="{FF2B5EF4-FFF2-40B4-BE49-F238E27FC236}">
                <a16:creationId xmlns:a16="http://schemas.microsoft.com/office/drawing/2014/main" id="{67C14D31-4651-ACA9-8042-534989BC48AD}"/>
              </a:ext>
            </a:extLst>
          </p:cNvPr>
          <p:cNvSpPr txBox="1"/>
          <p:nvPr/>
        </p:nvSpPr>
        <p:spPr>
          <a:xfrm>
            <a:off x="7467685" y="6335772"/>
            <a:ext cx="2473415" cy="246221"/>
          </a:xfrm>
          <a:prstGeom prst="rect">
            <a:avLst/>
          </a:prstGeom>
          <a:noFill/>
        </p:spPr>
        <p:txBody>
          <a:bodyPr wrap="square">
            <a:spAutoFit/>
          </a:bodyPr>
          <a:lstStyle/>
          <a:p>
            <a:pPr algn="ctr"/>
            <a:r>
              <a:rPr lang="en-US" sz="1000" dirty="0">
                <a:hlinkClick r:id="rId5"/>
              </a:rPr>
              <a:t>https://en.wikipedia.org/wiki/Color_vision</a:t>
            </a:r>
            <a:r>
              <a:rPr lang="en-US" sz="1000" dirty="0"/>
              <a:t> </a:t>
            </a:r>
          </a:p>
        </p:txBody>
      </p:sp>
      <p:pic>
        <p:nvPicPr>
          <p:cNvPr id="6146" name="Picture 2" descr="Five numbered versions of a flower photo of red, yellow, white and purple tulips, illustrating demosaicing. 1: the original full-color scene. 2: raw grayscale output of a low-resolution sensor with a Bayer filter, showing a checkerboard pattern. 3: the same raw data tinted red, green and blue by each pixel's filter color. 4: the image reconstructed by interpolating the missing colors, which is blurrier, with color bleeding along petal edges. 5: a full-color image at the same resolution for comparison, with sharper edges and no fringing.">
            <a:extLst>
              <a:ext uri="{FF2B5EF4-FFF2-40B4-BE49-F238E27FC236}">
                <a16:creationId xmlns:a16="http://schemas.microsoft.com/office/drawing/2014/main" id="{FDC5DBA4-DACA-DD70-878D-9351060228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99025" y="899495"/>
            <a:ext cx="1694138" cy="564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771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A544614-C0E6-92FC-6C2E-E2D3B4F2AC1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025FD2B-153B-79B5-FC7B-D014B7DE69BB}"/>
                  </a:ext>
                </a:extLst>
              </p:cNvPr>
              <p:cNvSpPr txBox="1">
                <a:spLocks noGrp="1"/>
              </p:cNvSpPr>
              <p:nvPr>
                <p:ph type="body" idx="1"/>
              </p:nvPr>
            </p:nvSpPr>
            <p:spPr>
              <a:xfrm>
                <a:off x="376809" y="1334279"/>
                <a:ext cx="633731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Once demosaiced, every pixel is an array of three values: </a:t>
                </a:r>
                <a:r>
                  <a:rPr lang="en-US" sz="1800" b="1" dirty="0">
                    <a:latin typeface="Atkinson Hyperlegible Next"/>
                    <a:ea typeface="Arial"/>
                    <a:cs typeface="Arial"/>
                    <a:sym typeface="Arial"/>
                  </a:rPr>
                  <a:t>R, G, B</a:t>
                </a:r>
                <a:r>
                  <a:rPr lang="en-US" sz="1800" dirty="0">
                    <a:latin typeface="Atkinson Hyperlegible Next"/>
                    <a:ea typeface="Arial"/>
                    <a:cs typeface="Arial"/>
                    <a:sym typeface="Arial"/>
                  </a:rPr>
                  <a: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RGB is an additive color model used by screens and sensors and each value is represented as an 8-bit value (depends on the ADC of the sensor).</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If </a:t>
                </a:r>
                <a14:m>
                  <m:oMath xmlns:m="http://schemas.openxmlformats.org/officeDocument/2006/math">
                    <m:r>
                      <a:rPr lang="en-US" sz="1800" i="1" dirty="0" smtClean="0">
                        <a:latin typeface="Cambria Math" panose="02040503050406030204" pitchFamily="18" charset="0"/>
                        <a:ea typeface="Arial"/>
                        <a:cs typeface="Arial"/>
                        <a:sym typeface="Arial"/>
                      </a:rPr>
                      <m:t>𝑅</m:t>
                    </m:r>
                    <m:r>
                      <a:rPr lang="en-US" sz="1800" i="1" dirty="0" smtClean="0">
                        <a:latin typeface="Cambria Math" panose="02040503050406030204" pitchFamily="18" charset="0"/>
                        <a:ea typeface="Arial"/>
                        <a:cs typeface="Arial"/>
                        <a:sym typeface="Arial"/>
                      </a:rPr>
                      <m:t>=255, </m:t>
                    </m:r>
                    <m:r>
                      <a:rPr lang="en-US" sz="1800" i="1" dirty="0" smtClean="0">
                        <a:latin typeface="Cambria Math" panose="02040503050406030204" pitchFamily="18" charset="0"/>
                        <a:ea typeface="Arial"/>
                        <a:cs typeface="Arial"/>
                        <a:sym typeface="Arial"/>
                      </a:rPr>
                      <m:t>𝐺</m:t>
                    </m:r>
                    <m:r>
                      <a:rPr lang="en-US" sz="1800" i="1" dirty="0" smtClean="0">
                        <a:latin typeface="Cambria Math" panose="02040503050406030204" pitchFamily="18" charset="0"/>
                        <a:ea typeface="Arial"/>
                        <a:cs typeface="Arial"/>
                        <a:sym typeface="Arial"/>
                      </a:rPr>
                      <m:t>=255, </m:t>
                    </m:r>
                    <m:r>
                      <a:rPr lang="en-US" sz="1800" i="1" dirty="0" smtClean="0">
                        <a:latin typeface="Cambria Math" panose="02040503050406030204" pitchFamily="18" charset="0"/>
                        <a:ea typeface="Arial"/>
                        <a:cs typeface="Arial"/>
                        <a:sym typeface="Arial"/>
                      </a:rPr>
                      <m:t>𝐵</m:t>
                    </m:r>
                    <m:r>
                      <a:rPr lang="en-US" sz="1800" i="1" dirty="0" smtClean="0">
                        <a:latin typeface="Cambria Math" panose="02040503050406030204" pitchFamily="18" charset="0"/>
                        <a:ea typeface="Arial"/>
                        <a:cs typeface="Arial"/>
                        <a:sym typeface="Arial"/>
                      </a:rPr>
                      <m:t>=255</m:t>
                    </m:r>
                  </m:oMath>
                </a14:m>
                <a:r>
                  <a:rPr lang="en-US" sz="1800" dirty="0">
                    <a:latin typeface="Atkinson Hyperlegible Next"/>
                    <a:ea typeface="Arial"/>
                    <a:cs typeface="Arial"/>
                    <a:sym typeface="Arial"/>
                  </a:rPr>
                  <a:t>, what color do we see? </a:t>
                </a:r>
              </a:p>
              <a:p>
                <a:pPr marL="0" indent="0" algn="ctr">
                  <a:lnSpc>
                    <a:spcPct val="100000"/>
                  </a:lnSpc>
                  <a:spcBef>
                    <a:spcPts val="0"/>
                  </a:spcBef>
                  <a:buSzPts val="3000"/>
                  <a:buNone/>
                </a:pPr>
                <a:r>
                  <a:rPr lang="en-US" sz="1800" dirty="0">
                    <a:latin typeface="Atkinson Hyperlegible Next"/>
                    <a:ea typeface="Arial"/>
                    <a:cs typeface="Arial"/>
                    <a:sym typeface="Arial"/>
                  </a:rPr>
                  <a:t>White</a:t>
                </a:r>
              </a:p>
              <a:p>
                <a:pPr marL="0" indent="0" algn="ctr">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If </a:t>
                </a:r>
                <a14:m>
                  <m:oMath xmlns:m="http://schemas.openxmlformats.org/officeDocument/2006/math">
                    <m:r>
                      <a:rPr lang="en-US" sz="1800" i="1" dirty="0">
                        <a:latin typeface="Cambria Math" panose="02040503050406030204" pitchFamily="18" charset="0"/>
                        <a:ea typeface="Arial"/>
                        <a:cs typeface="Arial"/>
                        <a:sym typeface="Arial"/>
                      </a:rPr>
                      <m:t>𝑅</m:t>
                    </m:r>
                    <m:r>
                      <a:rPr lang="en-US" sz="1800" i="1" dirty="0">
                        <a:latin typeface="Cambria Math" panose="02040503050406030204" pitchFamily="18" charset="0"/>
                        <a:ea typeface="Arial"/>
                        <a:cs typeface="Arial"/>
                        <a:sym typeface="Arial"/>
                      </a:rPr>
                      <m:t>=255, </m:t>
                    </m:r>
                    <m:r>
                      <a:rPr lang="en-US" sz="1800" i="1" dirty="0">
                        <a:latin typeface="Cambria Math" panose="02040503050406030204" pitchFamily="18" charset="0"/>
                        <a:ea typeface="Arial"/>
                        <a:cs typeface="Arial"/>
                        <a:sym typeface="Arial"/>
                      </a:rPr>
                      <m:t>𝐺</m:t>
                    </m:r>
                    <m:r>
                      <a:rPr lang="en-US" sz="1800" i="1" dirty="0">
                        <a:latin typeface="Cambria Math" panose="02040503050406030204" pitchFamily="18" charset="0"/>
                        <a:ea typeface="Arial"/>
                        <a:cs typeface="Arial"/>
                        <a:sym typeface="Arial"/>
                      </a:rPr>
                      <m:t>=0, </m:t>
                    </m:r>
                    <m:r>
                      <a:rPr lang="en-US" sz="1800" i="1" dirty="0">
                        <a:latin typeface="Cambria Math" panose="02040503050406030204" pitchFamily="18" charset="0"/>
                        <a:ea typeface="Arial"/>
                        <a:cs typeface="Arial"/>
                        <a:sym typeface="Arial"/>
                      </a:rPr>
                      <m:t>𝐵</m:t>
                    </m:r>
                    <m:r>
                      <a:rPr lang="en-US" sz="1800" i="1" dirty="0">
                        <a:latin typeface="Cambria Math" panose="02040503050406030204" pitchFamily="18" charset="0"/>
                        <a:ea typeface="Arial"/>
                        <a:cs typeface="Arial"/>
                        <a:sym typeface="Arial"/>
                      </a:rPr>
                      <m:t>=0</m:t>
                    </m:r>
                  </m:oMath>
                </a14:m>
                <a:r>
                  <a:rPr lang="en-US" sz="1800" dirty="0">
                    <a:latin typeface="Atkinson Hyperlegible Next"/>
                    <a:ea typeface="Arial"/>
                    <a:cs typeface="Arial"/>
                    <a:sym typeface="Arial"/>
                  </a:rPr>
                  <a:t>, what color do we see? </a:t>
                </a:r>
              </a:p>
              <a:p>
                <a:pPr marL="0" indent="0" algn="ctr">
                  <a:lnSpc>
                    <a:spcPct val="100000"/>
                  </a:lnSpc>
                  <a:spcBef>
                    <a:spcPts val="0"/>
                  </a:spcBef>
                  <a:buSzPts val="3000"/>
                  <a:buNone/>
                </a:pPr>
                <a:r>
                  <a:rPr lang="en-US" sz="1800" dirty="0">
                    <a:latin typeface="Atkinson Hyperlegible Next"/>
                    <a:ea typeface="Arial"/>
                    <a:cs typeface="Arial"/>
                    <a:sym typeface="Arial"/>
                  </a:rPr>
                  <a:t>Red</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RGB is represented as a 3D Cartesian cube, where </a:t>
                </a:r>
                <a14:m>
                  <m:oMath xmlns:m="http://schemas.openxmlformats.org/officeDocument/2006/math">
                    <m:r>
                      <a:rPr lang="en-US" sz="1800" i="1" dirty="0" smtClean="0">
                        <a:latin typeface="Cambria Math" panose="02040503050406030204" pitchFamily="18" charset="0"/>
                        <a:ea typeface="Arial"/>
                        <a:cs typeface="Arial"/>
                        <a:sym typeface="Arial"/>
                      </a:rPr>
                      <m:t>𝑥</m:t>
                    </m:r>
                    <m:r>
                      <a:rPr lang="en-US" sz="1800" i="1" dirty="0" smtClean="0">
                        <a:latin typeface="Cambria Math" panose="02040503050406030204" pitchFamily="18" charset="0"/>
                        <a:ea typeface="Arial"/>
                        <a:cs typeface="Arial"/>
                        <a:sym typeface="Arial"/>
                      </a:rPr>
                      <m:t>, </m:t>
                    </m:r>
                    <m:r>
                      <a:rPr lang="en-US" sz="1800" i="1" dirty="0" smtClean="0">
                        <a:latin typeface="Cambria Math" panose="02040503050406030204" pitchFamily="18" charset="0"/>
                        <a:ea typeface="Arial"/>
                        <a:cs typeface="Arial"/>
                        <a:sym typeface="Arial"/>
                      </a:rPr>
                      <m:t>𝑦</m:t>
                    </m:r>
                    <m:r>
                      <a:rPr lang="en-US" sz="1800" i="1" dirty="0" smtClean="0">
                        <a:latin typeface="Cambria Math" panose="02040503050406030204" pitchFamily="18" charset="0"/>
                        <a:ea typeface="Arial"/>
                        <a:cs typeface="Arial"/>
                        <a:sym typeface="Arial"/>
                      </a:rPr>
                      <m:t>, </m:t>
                    </m:r>
                    <m:r>
                      <a:rPr lang="en-US" sz="1800" i="1" dirty="0" smtClean="0">
                        <a:latin typeface="Cambria Math" panose="02040503050406030204" pitchFamily="18" charset="0"/>
                        <a:ea typeface="Arial"/>
                        <a:cs typeface="Arial"/>
                        <a:sym typeface="Arial"/>
                      </a:rPr>
                      <m:t>𝑧</m:t>
                    </m:r>
                  </m:oMath>
                </a14:m>
                <a:r>
                  <a:rPr lang="en-US" sz="1800" dirty="0">
                    <a:latin typeface="Atkinson Hyperlegible Next"/>
                    <a:ea typeface="Arial"/>
                    <a:cs typeface="Arial"/>
                    <a:sym typeface="Arial"/>
                  </a:rPr>
                  <a:t> correspond to Red, Green, and Blue intensities.</a:t>
                </a:r>
              </a:p>
            </p:txBody>
          </p:sp>
        </mc:Choice>
        <mc:Fallback xmlns="">
          <p:sp>
            <p:nvSpPr>
              <p:cNvPr id="118" name="Google Shape;118;p29">
                <a:extLst>
                  <a:ext uri="{FF2B5EF4-FFF2-40B4-BE49-F238E27FC236}">
                    <a16:creationId xmlns:a16="http://schemas.microsoft.com/office/drawing/2014/main" id="{2025FD2B-153B-79B5-FC7B-D014B7DE69BB}"/>
                  </a:ext>
                </a:extLst>
              </p:cNvPr>
              <p:cNvSpPr txBox="1">
                <a:spLocks noGrp="1" noRot="1" noChangeAspect="1" noMove="1" noResize="1" noEditPoints="1" noAdjustHandles="1" noChangeArrowheads="1" noChangeShapeType="1" noTextEdit="1"/>
              </p:cNvSpPr>
              <p:nvPr>
                <p:ph type="body" idx="1"/>
              </p:nvPr>
            </p:nvSpPr>
            <p:spPr>
              <a:xfrm>
                <a:off x="376809" y="1334279"/>
                <a:ext cx="6337317" cy="4821102"/>
              </a:xfrm>
              <a:prstGeom prst="rect">
                <a:avLst/>
              </a:prstGeom>
              <a:blipFill>
                <a:blip r:embed="rId3"/>
                <a:stretch>
                  <a:fillRect l="-866" t="-759" r="-10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37002F5-43A1-3659-46D5-F15510587B4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61B69C0-9007-08ED-89B8-1905379CA48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DD85418-C577-7D8F-21A5-30B7A7BAF3E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0D58404-BE95-D434-65F2-306FC599DF9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E30CCF0-82F1-3E58-8173-755205865B2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6EB9C87-70EE-168A-4B90-A0BCAD01C3B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9BBFC4-9319-AFC4-DF25-F7275827CF1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8510C7F-114E-86B2-59ED-B04A35C7506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170" name="Picture 2" descr="RGB color cube with Red, Green and Blue axes, each divided into five intensity steps. Black sits at the origin; pure red, green and blue lie at the ends of each axis; yellow, cyan and magenta sit at corners where two primaries are at full intensity; white is where all three are at full intensity. A highlighted point inside the cube at R equals 1/5, G equals 3/5, B equals 4/5 is a medium sky blue.">
            <a:extLst>
              <a:ext uri="{FF2B5EF4-FFF2-40B4-BE49-F238E27FC236}">
                <a16:creationId xmlns:a16="http://schemas.microsoft.com/office/drawing/2014/main" id="{A838F4B9-F11D-9A10-4905-78818523DE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3654" y="1818007"/>
            <a:ext cx="5162417" cy="3871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50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70B60C1-85AD-9058-56CC-1E225FCD8AB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F48A072-B649-CA68-8F40-E55E4DBEC52D}"/>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Imagine we write code to track a red ball: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rgbClr val="7F0055"/>
                </a:solidFill>
                <a:latin typeface="Consolas" panose="020B0609020204030204" pitchFamily="49" charset="0"/>
              </a:rPr>
              <a:t>if</a:t>
            </a:r>
            <a:r>
              <a:rPr lang="en-US" sz="2400" dirty="0">
                <a:solidFill>
                  <a:srgbClr val="000000"/>
                </a:solidFill>
                <a:latin typeface="Consolas" panose="020B0609020204030204" pitchFamily="49" charset="0"/>
              </a:rPr>
              <a:t> (R &gt; 200 &amp;&amp; G &lt; 50 &amp;&amp; B &lt; 50) { track();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What happens when the robot drives under a shadow?</a:t>
            </a:r>
          </a:p>
          <a:p>
            <a:pPr marL="0" indent="0" algn="ctr">
              <a:lnSpc>
                <a:spcPct val="100000"/>
              </a:lnSpc>
              <a:spcBef>
                <a:spcPts val="0"/>
              </a:spcBef>
              <a:buSzPts val="3000"/>
              <a:buNone/>
            </a:pPr>
            <a:r>
              <a:rPr lang="en-US" sz="2400" dirty="0">
                <a:latin typeface="Atkinson Hyperlegible Next"/>
                <a:ea typeface="Arial"/>
                <a:cs typeface="Arial"/>
                <a:sym typeface="Arial"/>
              </a:rPr>
              <a:t>The total light drops. The pixel might become R=100, G=10, B=10. Our code fails!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In RGB, a change in lighting changes all three variables simultaneously. It couples chrominance (color) with luminance (brightness).</a:t>
            </a:r>
          </a:p>
        </p:txBody>
      </p:sp>
      <p:sp>
        <p:nvSpPr>
          <p:cNvPr id="119" name="Google Shape;119;p29">
            <a:extLst>
              <a:ext uri="{FF2B5EF4-FFF2-40B4-BE49-F238E27FC236}">
                <a16:creationId xmlns:a16="http://schemas.microsoft.com/office/drawing/2014/main" id="{1A24E37D-307B-2055-AAD6-5AEC68D2B8E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04854A1-C86C-BB07-AD4F-FCA28CEEB15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90E872E-57F9-3E50-3D25-69A05D55458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6A802C0-3C44-6E35-D5C9-4AD2CA9B157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AFCBD58-039C-9B8A-7AB6-265C5E17696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D17D9DC-B7B7-758C-7FCC-0C716BE5740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26566F0-CEAC-6518-8563-DA56A0FC514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867BF16-B3B8-3E77-1FBF-4BDE45BC144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8021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E17ED55-03FB-0FFB-E3B4-5473D2EEF37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A60AB90-E0F5-8288-7149-F131CCE2EDB6}"/>
              </a:ext>
            </a:extLst>
          </p:cNvPr>
          <p:cNvSpPr txBox="1">
            <a:spLocks noGrp="1"/>
          </p:cNvSpPr>
          <p:nvPr>
            <p:ph type="body" idx="1"/>
          </p:nvPr>
        </p:nvSpPr>
        <p:spPr>
          <a:xfrm>
            <a:off x="376809" y="1334279"/>
            <a:ext cx="6249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To solve the shadow problem, we transform the RGB cube into a cylinder: The </a:t>
            </a:r>
            <a:r>
              <a:rPr lang="en-US" sz="2400" b="1" dirty="0">
                <a:latin typeface="Atkinson Hyperlegible Next"/>
                <a:ea typeface="Arial"/>
                <a:cs typeface="Arial"/>
                <a:sym typeface="Arial"/>
              </a:rPr>
              <a:t>HSV </a:t>
            </a:r>
            <a:r>
              <a:rPr lang="en-US" sz="2400" dirty="0">
                <a:latin typeface="Atkinson Hyperlegible Next"/>
                <a:ea typeface="Arial"/>
                <a:cs typeface="Arial"/>
                <a:sym typeface="Arial"/>
              </a:rPr>
              <a:t>color space.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 = </a:t>
            </a:r>
            <a:r>
              <a:rPr lang="en-US" sz="2400" b="1" dirty="0">
                <a:latin typeface="Atkinson Hyperlegible Next"/>
                <a:ea typeface="Arial"/>
                <a:cs typeface="Arial"/>
                <a:sym typeface="Arial"/>
              </a:rPr>
              <a:t>Hue</a:t>
            </a:r>
            <a:r>
              <a:rPr lang="en-US" sz="2400" dirty="0">
                <a:latin typeface="Atkinson Hyperlegible Next"/>
                <a:ea typeface="Arial"/>
                <a:cs typeface="Arial"/>
                <a:sym typeface="Arial"/>
              </a:rPr>
              <a:t> (The actual color type, e.g., Red, Blue).</a:t>
            </a:r>
          </a:p>
          <a:p>
            <a:pPr marL="0" indent="0">
              <a:lnSpc>
                <a:spcPct val="100000"/>
              </a:lnSpc>
              <a:spcBef>
                <a:spcPts val="0"/>
              </a:spcBef>
              <a:buSzPts val="3000"/>
              <a:buNone/>
            </a:pPr>
            <a:r>
              <a:rPr lang="en-US" sz="2400" dirty="0">
                <a:latin typeface="Atkinson Hyperlegible Next"/>
                <a:ea typeface="Arial"/>
                <a:cs typeface="Arial"/>
                <a:sym typeface="Arial"/>
              </a:rPr>
              <a:t>S = </a:t>
            </a:r>
            <a:r>
              <a:rPr lang="en-US" sz="2400" b="1" dirty="0">
                <a:latin typeface="Atkinson Hyperlegible Next"/>
                <a:ea typeface="Arial"/>
                <a:cs typeface="Arial"/>
                <a:sym typeface="Arial"/>
              </a:rPr>
              <a:t>Saturation</a:t>
            </a:r>
            <a:r>
              <a:rPr lang="en-US" sz="2400" dirty="0">
                <a:latin typeface="Atkinson Hyperlegible Next"/>
                <a:ea typeface="Arial"/>
                <a:cs typeface="Arial"/>
                <a:sym typeface="Arial"/>
              </a:rPr>
              <a:t> (How pure the color is, vs. faded white).</a:t>
            </a:r>
          </a:p>
          <a:p>
            <a:pPr marL="0" indent="0">
              <a:lnSpc>
                <a:spcPct val="100000"/>
              </a:lnSpc>
              <a:spcBef>
                <a:spcPts val="0"/>
              </a:spcBef>
              <a:buSzPts val="3000"/>
              <a:buNone/>
            </a:pPr>
            <a:r>
              <a:rPr lang="en-US" sz="2400" dirty="0">
                <a:latin typeface="Atkinson Hyperlegible Next"/>
                <a:ea typeface="Arial"/>
                <a:cs typeface="Arial"/>
                <a:sym typeface="Arial"/>
              </a:rPr>
              <a:t>V = </a:t>
            </a:r>
            <a:r>
              <a:rPr lang="en-US" sz="2400" b="1" dirty="0">
                <a:latin typeface="Atkinson Hyperlegible Next"/>
                <a:ea typeface="Arial"/>
                <a:cs typeface="Arial"/>
                <a:sym typeface="Arial"/>
              </a:rPr>
              <a:t>Value</a:t>
            </a:r>
            <a:r>
              <a:rPr lang="en-US" sz="2400" dirty="0">
                <a:latin typeface="Atkinson Hyperlegible Next"/>
                <a:ea typeface="Arial"/>
                <a:cs typeface="Arial"/>
                <a:sym typeface="Arial"/>
              </a:rPr>
              <a:t> (How bright or dark the color is).</a:t>
            </a:r>
          </a:p>
        </p:txBody>
      </p:sp>
      <p:sp>
        <p:nvSpPr>
          <p:cNvPr id="119" name="Google Shape;119;p29">
            <a:extLst>
              <a:ext uri="{FF2B5EF4-FFF2-40B4-BE49-F238E27FC236}">
                <a16:creationId xmlns:a16="http://schemas.microsoft.com/office/drawing/2014/main" id="{5B0817FF-F18B-E3FF-4C79-0B77FFC1A8C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DA9351C-5389-BAF5-4402-7028D9D075B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A04358E-9F07-9A79-96CF-1D85EF31FC4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76830E6-B00B-6704-EC76-1DC71759AFE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E0C2F89-9A33-4BF2-D2BE-A270022881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4A05458-4860-3297-95D1-C31879519B1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8524E47-C778-F7F9-D353-5BB43DD93E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B093902-8747-E57B-87DB-B173F11FEF7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194" name="Picture 2" descr="HSV color space drawn as a cylinder with a wedge cut out to show its interior. Hue is the angle around the vertical axis, cycling red, yellow, green, cyan, blue, magenta. Saturation is the distance from the center, running from gray or white on the axis to pure color at the outer edge. Value is height, from black at the bottom to full brightness at the top. A shadow mainly lowers value, while hue stays at the same angle.">
            <a:extLst>
              <a:ext uri="{FF2B5EF4-FFF2-40B4-BE49-F238E27FC236}">
                <a16:creationId xmlns:a16="http://schemas.microsoft.com/office/drawing/2014/main" id="{2C29C659-83F3-5525-4410-BAC568249F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6736" y="1666939"/>
            <a:ext cx="5565264" cy="41739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97CFA33-B747-1FFC-7DC4-C56019937EE3}"/>
              </a:ext>
            </a:extLst>
          </p:cNvPr>
          <p:cNvSpPr txBox="1"/>
          <p:nvPr/>
        </p:nvSpPr>
        <p:spPr>
          <a:xfrm>
            <a:off x="7547437" y="5913434"/>
            <a:ext cx="3739399" cy="307777"/>
          </a:xfrm>
          <a:prstGeom prst="rect">
            <a:avLst/>
          </a:prstGeom>
          <a:noFill/>
        </p:spPr>
        <p:txBody>
          <a:bodyPr wrap="square">
            <a:spAutoFit/>
          </a:bodyPr>
          <a:lstStyle/>
          <a:p>
            <a:pPr algn="ctr"/>
            <a:r>
              <a:rPr lang="en-US" dirty="0">
                <a:hlinkClick r:id="rId5"/>
              </a:rPr>
              <a:t>https://en.wikipedia.org/wiki/HSL_and_HSV</a:t>
            </a:r>
            <a:r>
              <a:rPr lang="en-US" dirty="0"/>
              <a:t> </a:t>
            </a:r>
          </a:p>
        </p:txBody>
      </p:sp>
    </p:spTree>
    <p:extLst>
      <p:ext uri="{BB962C8B-B14F-4D97-AF65-F5344CB8AC3E}">
        <p14:creationId xmlns:p14="http://schemas.microsoft.com/office/powerpoint/2010/main" val="29823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A22B9A-326B-194A-364D-9DBEF6C762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B3096CD-535E-BAFB-689D-0824AE698D98}"/>
                  </a:ext>
                </a:extLst>
              </p:cNvPr>
              <p:cNvSpPr txBox="1">
                <a:spLocks noGrp="1"/>
              </p:cNvSpPr>
              <p:nvPr>
                <p:ph type="body" idx="1"/>
              </p:nvPr>
            </p:nvSpPr>
            <p:spPr>
              <a:xfrm>
                <a:off x="376809" y="1334279"/>
                <a:ext cx="6249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In the HSV cylinder, Hue is an angle from </a:t>
                </a:r>
                <a14:m>
                  <m:oMath xmlns:m="http://schemas.openxmlformats.org/officeDocument/2006/math">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0</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to </a:t>
                </a:r>
                <a14:m>
                  <m:oMath xmlns:m="http://schemas.openxmlformats.org/officeDocument/2006/math">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360</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a:t>
                </a:r>
                <a:endParaRPr lang="en-US" sz="2400" i="1" dirty="0">
                  <a:latin typeface="Cambria Math" panose="02040503050406030204" pitchFamily="18" charset="0"/>
                  <a:ea typeface="Arial"/>
                  <a:cs typeface="Arial"/>
                  <a:sym typeface="Arial"/>
                </a:endParaRPr>
              </a:p>
              <a:p>
                <a:pPr marL="342900">
                  <a:lnSpc>
                    <a:spcPct val="100000"/>
                  </a:lnSpc>
                  <a:spcBef>
                    <a:spcPts val="0"/>
                  </a:spcBef>
                  <a:buSzPts val="3000"/>
                </a:pPr>
                <a14:m>
                  <m:oMath xmlns:m="http://schemas.openxmlformats.org/officeDocument/2006/math">
                    <m:sSup>
                      <m:sSupPr>
                        <m:ctrlPr>
                          <a:rPr lang="en-US" sz="2400" i="1" dirty="0">
                            <a:latin typeface="Cambria Math" panose="02040503050406030204" pitchFamily="18" charset="0"/>
                            <a:ea typeface="Arial"/>
                            <a:cs typeface="Arial"/>
                            <a:sym typeface="Arial"/>
                          </a:rPr>
                        </m:ctrlPr>
                      </m:sSupPr>
                      <m:e>
                        <m:r>
                          <a:rPr lang="en-US" sz="2400" i="1" dirty="0">
                            <a:latin typeface="Cambria Math" panose="02040503050406030204" pitchFamily="18" charset="0"/>
                            <a:ea typeface="Arial"/>
                            <a:cs typeface="Arial"/>
                            <a:sym typeface="Arial"/>
                          </a:rPr>
                          <m:t>0</m:t>
                        </m:r>
                      </m:e>
                      <m:sup>
                        <m:r>
                          <a:rPr lang="en-US" sz="2400" i="1" dirty="0">
                            <a:latin typeface="Cambria Math" panose="02040503050406030204" pitchFamily="18" charset="0"/>
                            <a:ea typeface="Arial"/>
                            <a:cs typeface="Arial"/>
                            <a:sym typeface="Arial"/>
                          </a:rPr>
                          <m:t>∘</m:t>
                        </m:r>
                      </m:sup>
                    </m:sSup>
                    <m:r>
                      <a:rPr lang="en-US" sz="2400" i="1" dirty="0">
                        <a:latin typeface="Cambria Math" panose="02040503050406030204" pitchFamily="18" charset="0"/>
                        <a:ea typeface="Arial"/>
                        <a:cs typeface="Arial"/>
                        <a:sym typeface="Arial"/>
                      </a:rPr>
                      <m:t> </m:t>
                    </m:r>
                  </m:oMath>
                </a14:m>
                <a:r>
                  <a:rPr lang="en-US" sz="2400" dirty="0">
                    <a:latin typeface="Atkinson Hyperlegible Next"/>
                    <a:ea typeface="Arial"/>
                    <a:cs typeface="Arial"/>
                    <a:sym typeface="Arial"/>
                  </a:rPr>
                  <a:t>= Red, </a:t>
                </a:r>
              </a:p>
              <a:p>
                <a:pPr marL="342900">
                  <a:lnSpc>
                    <a:spcPct val="100000"/>
                  </a:lnSpc>
                  <a:spcBef>
                    <a:spcPts val="0"/>
                  </a:spcBef>
                  <a:buSzPts val="3000"/>
                </a:pPr>
                <a14:m>
                  <m:oMath xmlns:m="http://schemas.openxmlformats.org/officeDocument/2006/math">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120</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 Green, </a:t>
                </a:r>
              </a:p>
              <a:p>
                <a:pPr marL="342900">
                  <a:lnSpc>
                    <a:spcPct val="100000"/>
                  </a:lnSpc>
                  <a:spcBef>
                    <a:spcPts val="0"/>
                  </a:spcBef>
                  <a:buSzPts val="3000"/>
                </a:pPr>
                <a14:m>
                  <m:oMath xmlns:m="http://schemas.openxmlformats.org/officeDocument/2006/math">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240</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 Blue.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Why this is brilliant: If a red ball enters a shadow, its </a:t>
                </a:r>
                <a:r>
                  <a:rPr lang="en-US" sz="2400" b="1" dirty="0">
                    <a:latin typeface="Atkinson Hyperlegible Next"/>
                    <a:ea typeface="Arial"/>
                    <a:cs typeface="Arial"/>
                    <a:sym typeface="Arial"/>
                  </a:rPr>
                  <a:t>Value</a:t>
                </a:r>
                <a:r>
                  <a:rPr lang="en-US" sz="2400" dirty="0">
                    <a:latin typeface="Atkinson Hyperlegible Next"/>
                    <a:ea typeface="Arial"/>
                    <a:cs typeface="Arial"/>
                    <a:sym typeface="Arial"/>
                  </a:rPr>
                  <a:t> </a:t>
                </a:r>
                <a:r>
                  <a:rPr lang="en-US" sz="2400" b="1" dirty="0">
                    <a:latin typeface="Atkinson Hyperlegible Next"/>
                    <a:ea typeface="Arial"/>
                    <a:cs typeface="Arial"/>
                    <a:sym typeface="Arial"/>
                  </a:rPr>
                  <a:t>drops</a:t>
                </a:r>
                <a:r>
                  <a:rPr lang="en-US" sz="2400" dirty="0">
                    <a:latin typeface="Atkinson Hyperlegible Next"/>
                    <a:ea typeface="Arial"/>
                    <a:cs typeface="Arial"/>
                    <a:sym typeface="Arial"/>
                  </a:rPr>
                  <a:t>, but its </a:t>
                </a:r>
                <a:r>
                  <a:rPr lang="en-US" sz="2400" b="1" dirty="0">
                    <a:latin typeface="Atkinson Hyperlegible Next"/>
                    <a:ea typeface="Arial"/>
                    <a:cs typeface="Arial"/>
                    <a:sym typeface="Arial"/>
                  </a:rPr>
                  <a:t>Hue angle remains “exactly” </a:t>
                </a:r>
                <a14:m>
                  <m:oMath xmlns:m="http://schemas.openxmlformats.org/officeDocument/2006/math">
                    <m:sSup>
                      <m:sSupPr>
                        <m:ctrlPr>
                          <a:rPr lang="en-US" sz="2400" b="1" i="1" dirty="0">
                            <a:latin typeface="Cambria Math" panose="02040503050406030204" pitchFamily="18" charset="0"/>
                            <a:ea typeface="Arial"/>
                            <a:cs typeface="Arial"/>
                            <a:sym typeface="Arial"/>
                          </a:rPr>
                        </m:ctrlPr>
                      </m:sSupPr>
                      <m:e>
                        <m:r>
                          <a:rPr lang="en-US" sz="2400" b="1" i="1" dirty="0">
                            <a:latin typeface="Cambria Math" panose="02040503050406030204" pitchFamily="18" charset="0"/>
                            <a:ea typeface="Arial"/>
                            <a:cs typeface="Arial"/>
                            <a:sym typeface="Arial"/>
                          </a:rPr>
                          <m:t>𝟎</m:t>
                        </m:r>
                      </m:e>
                      <m:sup>
                        <m:r>
                          <a:rPr lang="en-US" sz="2400" b="1" i="1" dirty="0">
                            <a:latin typeface="Cambria Math" panose="02040503050406030204" pitchFamily="18" charset="0"/>
                            <a:ea typeface="Arial"/>
                            <a:cs typeface="Arial"/>
                            <a:sym typeface="Arial"/>
                          </a:rPr>
                          <m:t>∘</m:t>
                        </m:r>
                      </m:sup>
                    </m:sSup>
                  </m:oMath>
                </a14:m>
                <a:r>
                  <a:rPr lang="en-US" sz="2400" b="1"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isolates the color from the lighting condition, making our tracking algorithm more robust!</a:t>
                </a:r>
              </a:p>
            </p:txBody>
          </p:sp>
        </mc:Choice>
        <mc:Fallback xmlns="">
          <p:sp>
            <p:nvSpPr>
              <p:cNvPr id="118" name="Google Shape;118;p29">
                <a:extLst>
                  <a:ext uri="{FF2B5EF4-FFF2-40B4-BE49-F238E27FC236}">
                    <a16:creationId xmlns:a16="http://schemas.microsoft.com/office/drawing/2014/main" id="{CB3096CD-535E-BAFB-689D-0824AE698D98}"/>
                  </a:ext>
                </a:extLst>
              </p:cNvPr>
              <p:cNvSpPr txBox="1">
                <a:spLocks noGrp="1" noRot="1" noChangeAspect="1" noMove="1" noResize="1" noEditPoints="1" noAdjustHandles="1" noChangeArrowheads="1" noChangeShapeType="1" noTextEdit="1"/>
              </p:cNvSpPr>
              <p:nvPr>
                <p:ph type="body" idx="1"/>
              </p:nvPr>
            </p:nvSpPr>
            <p:spPr>
              <a:xfrm>
                <a:off x="376809" y="1334279"/>
                <a:ext cx="6249927" cy="4821102"/>
              </a:xfrm>
              <a:prstGeom prst="rect">
                <a:avLst/>
              </a:prstGeom>
              <a:blipFill>
                <a:blip r:embed="rId3"/>
                <a:stretch>
                  <a:fillRect l="-2049" t="-885"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BA171B8-7E24-D5CD-6129-037B60E4F7D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D5DB623-DF51-91FD-EEFE-5AAAF7527D4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816869F-F56C-15D7-3C4E-37C6C1BB5CA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0AF2485-266C-378C-07DB-4A63D0E440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F42BB47-4267-D0B1-C60D-B1E3523248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7314A8-3CA3-327D-890E-13B7F4B16BC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1D414B7-30F3-6555-397E-831DC75311C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01178C4-A7E4-72A5-FE0F-DE99846740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194" name="Picture 2" descr="HSV color space drawn as a cylinder with a wedge cut out to show its interior. Hue is the angle around the vertical axis, cycling red, yellow, green, cyan, blue, magenta. Saturation is the distance from the center, running from gray or white on the axis to pure color at the outer edge. Value is height, from black at the bottom to full brightness at the top. A shadow mainly lowers value, while hue stays at the same angle.">
            <a:extLst>
              <a:ext uri="{FF2B5EF4-FFF2-40B4-BE49-F238E27FC236}">
                <a16:creationId xmlns:a16="http://schemas.microsoft.com/office/drawing/2014/main" id="{2919FED6-C67F-725D-39A7-7E7B85FE4C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6736" y="1666939"/>
            <a:ext cx="5565264" cy="41739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4EE992C-4DFF-C690-F6E5-765961A9F7B6}"/>
              </a:ext>
            </a:extLst>
          </p:cNvPr>
          <p:cNvSpPr txBox="1"/>
          <p:nvPr/>
        </p:nvSpPr>
        <p:spPr>
          <a:xfrm>
            <a:off x="7547437" y="5913434"/>
            <a:ext cx="3739399" cy="307777"/>
          </a:xfrm>
          <a:prstGeom prst="rect">
            <a:avLst/>
          </a:prstGeom>
          <a:noFill/>
        </p:spPr>
        <p:txBody>
          <a:bodyPr wrap="square">
            <a:spAutoFit/>
          </a:bodyPr>
          <a:lstStyle/>
          <a:p>
            <a:pPr algn="ctr"/>
            <a:r>
              <a:rPr lang="en-US" dirty="0">
                <a:hlinkClick r:id="rId6"/>
              </a:rPr>
              <a:t>https://en.wikipedia.org/wiki/HSL_and_HSV</a:t>
            </a:r>
            <a:r>
              <a:rPr lang="en-US" dirty="0"/>
              <a:t> </a:t>
            </a:r>
          </a:p>
        </p:txBody>
      </p:sp>
    </p:spTree>
    <p:extLst>
      <p:ext uri="{BB962C8B-B14F-4D97-AF65-F5344CB8AC3E}">
        <p14:creationId xmlns:p14="http://schemas.microsoft.com/office/powerpoint/2010/main" val="2927062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0501AA-4348-DAAE-58E9-9B534A33934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F511F52-AAE8-4CD5-D22B-672540E4BED1}"/>
              </a:ext>
            </a:extLst>
          </p:cNvPr>
          <p:cNvSpPr txBox="1">
            <a:spLocks noGrp="1"/>
          </p:cNvSpPr>
          <p:nvPr>
            <p:ph type="body" idx="1"/>
          </p:nvPr>
        </p:nvSpPr>
        <p:spPr>
          <a:xfrm>
            <a:off x="376809" y="1334279"/>
            <a:ext cx="6249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Saturation is the radius (distance from the center axis).</a:t>
            </a:r>
          </a:p>
          <a:p>
            <a:pPr marL="342900">
              <a:lnSpc>
                <a:spcPct val="100000"/>
              </a:lnSpc>
              <a:spcBef>
                <a:spcPts val="0"/>
              </a:spcBef>
              <a:buSzPts val="3000"/>
            </a:pPr>
            <a:r>
              <a:rPr lang="en-US" sz="2400" b="1" dirty="0">
                <a:latin typeface="Atkinson Hyperlegible Next"/>
                <a:ea typeface="Arial"/>
                <a:cs typeface="Arial"/>
                <a:sym typeface="Arial"/>
              </a:rPr>
              <a:t>S=0%</a:t>
            </a:r>
            <a:r>
              <a:rPr lang="en-US" sz="2400" dirty="0">
                <a:latin typeface="Atkinson Hyperlegible Next"/>
                <a:ea typeface="Arial"/>
                <a:cs typeface="Arial"/>
                <a:sym typeface="Arial"/>
              </a:rPr>
              <a:t> is pure gray/white (center). </a:t>
            </a:r>
          </a:p>
          <a:p>
            <a:pPr marL="342900">
              <a:lnSpc>
                <a:spcPct val="100000"/>
              </a:lnSpc>
              <a:spcBef>
                <a:spcPts val="0"/>
              </a:spcBef>
              <a:buSzPts val="3000"/>
            </a:pPr>
            <a:r>
              <a:rPr lang="en-US" sz="2400" b="1" dirty="0">
                <a:latin typeface="Atkinson Hyperlegible Next"/>
                <a:ea typeface="Arial"/>
                <a:cs typeface="Arial"/>
                <a:sym typeface="Arial"/>
              </a:rPr>
              <a:t>S=100%</a:t>
            </a:r>
            <a:r>
              <a:rPr lang="en-US" sz="2400" dirty="0">
                <a:latin typeface="Atkinson Hyperlegible Next"/>
                <a:ea typeface="Arial"/>
                <a:cs typeface="Arial"/>
                <a:sym typeface="Arial"/>
              </a:rPr>
              <a:t> is a pure, vibrant color (edge).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Value is the height of the cylinder (0 to 100%).</a:t>
            </a:r>
          </a:p>
          <a:p>
            <a:pPr marL="342900">
              <a:lnSpc>
                <a:spcPct val="100000"/>
              </a:lnSpc>
              <a:spcBef>
                <a:spcPts val="0"/>
              </a:spcBef>
              <a:buSzPts val="3000"/>
            </a:pPr>
            <a:r>
              <a:rPr lang="en-US" sz="2400" b="1" dirty="0">
                <a:latin typeface="Atkinson Hyperlegible Next"/>
                <a:ea typeface="Arial"/>
                <a:cs typeface="Arial"/>
                <a:sym typeface="Arial"/>
              </a:rPr>
              <a:t>V=0%</a:t>
            </a:r>
            <a:r>
              <a:rPr lang="en-US" sz="2400" dirty="0">
                <a:latin typeface="Atkinson Hyperlegible Next"/>
                <a:ea typeface="Arial"/>
                <a:cs typeface="Arial"/>
                <a:sym typeface="Arial"/>
              </a:rPr>
              <a:t> is pitch black. </a:t>
            </a:r>
          </a:p>
          <a:p>
            <a:pPr marL="342900">
              <a:lnSpc>
                <a:spcPct val="100000"/>
              </a:lnSpc>
              <a:spcBef>
                <a:spcPts val="0"/>
              </a:spcBef>
              <a:buSzPts val="3000"/>
            </a:pPr>
            <a:r>
              <a:rPr lang="en-US" sz="2400" b="1" dirty="0">
                <a:latin typeface="Atkinson Hyperlegible Next"/>
                <a:ea typeface="Arial"/>
                <a:cs typeface="Arial"/>
                <a:sym typeface="Arial"/>
              </a:rPr>
              <a:t>V=100% </a:t>
            </a:r>
            <a:r>
              <a:rPr lang="en-US" sz="2400" dirty="0">
                <a:latin typeface="Atkinson Hyperlegible Next"/>
                <a:ea typeface="Arial"/>
                <a:cs typeface="Arial"/>
                <a:sym typeface="Arial"/>
              </a:rPr>
              <a:t>is fully illuminated.</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 track an object, we look for pixels that fall within specific ranges.</a:t>
            </a:r>
          </a:p>
        </p:txBody>
      </p:sp>
      <p:sp>
        <p:nvSpPr>
          <p:cNvPr id="119" name="Google Shape;119;p29">
            <a:extLst>
              <a:ext uri="{FF2B5EF4-FFF2-40B4-BE49-F238E27FC236}">
                <a16:creationId xmlns:a16="http://schemas.microsoft.com/office/drawing/2014/main" id="{711C6FD8-037E-C66E-8F78-4C569DD47C8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0363E49-52D5-A2A0-4ADD-805741FFB4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76B8E5F-AFD9-98FE-29E7-59001541FE2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A4495B9-4E49-1418-CB21-698A503C560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97D4219-531D-2365-F4D9-395A25CECB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8031414-D07D-8DC6-CC76-F49276E28A2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0282DD-5F1E-925F-BAF1-4B172D25D6B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2C2D23-AFEA-C01D-7F5B-822F1DBE7D8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194" name="Picture 2" descr="HSV color space drawn as a cylinder with a wedge cut out to show its interior. Hue is the angle around the vertical axis, cycling red, yellow, green, cyan, blue, magenta. Saturation is the distance from the center, running from gray or white on the axis to pure color at the outer edge. Value is height, from black at the bottom to full brightness at the top. A shadow mainly lowers value, while hue stays at the same angle.">
            <a:extLst>
              <a:ext uri="{FF2B5EF4-FFF2-40B4-BE49-F238E27FC236}">
                <a16:creationId xmlns:a16="http://schemas.microsoft.com/office/drawing/2014/main" id="{D438D219-4CEC-F988-4BF8-AD7BCD28C9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6736" y="1666939"/>
            <a:ext cx="5565264" cy="41739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C362953-CBE3-0DAC-E424-2117F88DBD61}"/>
              </a:ext>
            </a:extLst>
          </p:cNvPr>
          <p:cNvSpPr txBox="1"/>
          <p:nvPr/>
        </p:nvSpPr>
        <p:spPr>
          <a:xfrm>
            <a:off x="7547437" y="5913434"/>
            <a:ext cx="3739399" cy="307777"/>
          </a:xfrm>
          <a:prstGeom prst="rect">
            <a:avLst/>
          </a:prstGeom>
          <a:noFill/>
        </p:spPr>
        <p:txBody>
          <a:bodyPr wrap="square">
            <a:spAutoFit/>
          </a:bodyPr>
          <a:lstStyle/>
          <a:p>
            <a:pPr algn="ctr"/>
            <a:r>
              <a:rPr lang="en-US" dirty="0">
                <a:hlinkClick r:id="rId5"/>
              </a:rPr>
              <a:t>https://en.wikipedia.org/wiki/HSL_and_HSV</a:t>
            </a:r>
            <a:r>
              <a:rPr lang="en-US" dirty="0"/>
              <a:t> </a:t>
            </a:r>
          </a:p>
        </p:txBody>
      </p:sp>
    </p:spTree>
    <p:extLst>
      <p:ext uri="{BB962C8B-B14F-4D97-AF65-F5344CB8AC3E}">
        <p14:creationId xmlns:p14="http://schemas.microsoft.com/office/powerpoint/2010/main" val="80724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923E82A-1CEC-E410-BF7A-84AF184E636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4237E1B-545F-69C1-D581-FF9F2476C15A}"/>
                  </a:ext>
                </a:extLst>
              </p:cNvPr>
              <p:cNvSpPr txBox="1">
                <a:spLocks noGrp="1"/>
              </p:cNvSpPr>
              <p:nvPr>
                <p:ph type="body" idx="1"/>
              </p:nvPr>
            </p:nvSpPr>
            <p:spPr>
              <a:xfrm>
                <a:off x="376809" y="1334279"/>
                <a:ext cx="6249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To convert from RGB to HSV the conversion is simple.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Let </a:t>
                </a:r>
                <a14:m>
                  <m:oMath xmlns:m="http://schemas.openxmlformats.org/officeDocument/2006/math">
                    <m:r>
                      <a:rPr lang="en-US" sz="1800" i="1" dirty="0" smtClean="0">
                        <a:latin typeface="Cambria Math" panose="02040503050406030204" pitchFamily="18" charset="0"/>
                        <a:ea typeface="Arial"/>
                        <a:cs typeface="Arial"/>
                        <a:sym typeface="Arial"/>
                      </a:rPr>
                      <m:t>𝑅</m:t>
                    </m:r>
                    <m:r>
                      <a:rPr lang="en-US" sz="1800" i="1" dirty="0" smtClean="0">
                        <a:latin typeface="Cambria Math" panose="02040503050406030204" pitchFamily="18" charset="0"/>
                        <a:ea typeface="Arial"/>
                        <a:cs typeface="Arial"/>
                        <a:sym typeface="Arial"/>
                      </a:rPr>
                      <m:t>’, </m:t>
                    </m:r>
                    <m:r>
                      <a:rPr lang="en-US" sz="1800" i="1" dirty="0" smtClean="0">
                        <a:latin typeface="Cambria Math" panose="02040503050406030204" pitchFamily="18" charset="0"/>
                        <a:ea typeface="Arial"/>
                        <a:cs typeface="Arial"/>
                        <a:sym typeface="Arial"/>
                      </a:rPr>
                      <m:t>𝐺</m:t>
                    </m:r>
                    <m:r>
                      <a:rPr lang="en-US" sz="1800" i="1" dirty="0" smtClean="0">
                        <a:latin typeface="Cambria Math" panose="02040503050406030204" pitchFamily="18" charset="0"/>
                        <a:ea typeface="Arial"/>
                        <a:cs typeface="Arial"/>
                        <a:sym typeface="Arial"/>
                      </a:rPr>
                      <m:t>’, </m:t>
                    </m:r>
                    <m:r>
                      <a:rPr lang="en-US" sz="1800" i="1" dirty="0" smtClean="0">
                        <a:latin typeface="Cambria Math" panose="02040503050406030204" pitchFamily="18" charset="0"/>
                        <a:ea typeface="Arial"/>
                        <a:cs typeface="Arial"/>
                        <a:sym typeface="Arial"/>
                      </a:rPr>
                      <m:t>𝐵</m:t>
                    </m:r>
                    <m:r>
                      <a:rPr lang="en-US" sz="1800" i="1" dirty="0" smtClean="0">
                        <a:latin typeface="Cambria Math" panose="02040503050406030204" pitchFamily="18" charset="0"/>
                        <a:ea typeface="Arial"/>
                        <a:cs typeface="Arial"/>
                        <a:sym typeface="Arial"/>
                      </a:rPr>
                      <m:t>’</m:t>
                    </m:r>
                  </m:oMath>
                </a14:m>
                <a:r>
                  <a:rPr lang="en-US" sz="1800" dirty="0">
                    <a:latin typeface="Atkinson Hyperlegible Next"/>
                    <a:ea typeface="Arial"/>
                    <a:cs typeface="Arial"/>
                    <a:sym typeface="Arial"/>
                  </a:rPr>
                  <a:t> be normalized values in </a:t>
                </a:r>
                <a14:m>
                  <m:oMath xmlns:m="http://schemas.openxmlformats.org/officeDocument/2006/math">
                    <m:d>
                      <m:dPr>
                        <m:begChr m:val="["/>
                        <m:endChr m:val="]"/>
                        <m:ctrlPr>
                          <a:rPr lang="en-US" sz="1800" i="1" dirty="0" smtClean="0">
                            <a:latin typeface="Cambria Math" panose="02040503050406030204" pitchFamily="18" charset="0"/>
                            <a:ea typeface="Arial"/>
                            <a:cs typeface="Arial"/>
                            <a:sym typeface="Arial"/>
                          </a:rPr>
                        </m:ctrlPr>
                      </m:dPr>
                      <m:e>
                        <m:r>
                          <a:rPr lang="en-US" sz="1800" i="1" dirty="0" smtClean="0">
                            <a:latin typeface="Cambria Math" panose="02040503050406030204" pitchFamily="18" charset="0"/>
                            <a:ea typeface="Arial"/>
                            <a:cs typeface="Arial"/>
                            <a:sym typeface="Arial"/>
                          </a:rPr>
                          <m:t>0,1</m:t>
                        </m:r>
                      </m:e>
                    </m:d>
                  </m:oMath>
                </a14:m>
                <a:r>
                  <a:rPr lang="en-US" sz="1800" dirty="0">
                    <a:latin typeface="Atkinson Hyperlegible Next"/>
                    <a:ea typeface="Arial"/>
                    <a:cs typeface="Arial"/>
                    <a:sym typeface="Arial"/>
                  </a:rPr>
                  <a: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ea typeface="Arial"/>
                              <a:cs typeface="Arial"/>
                              <a:sym typeface="Arial"/>
                            </a:rPr>
                          </m:ctrlPr>
                        </m:sSubPr>
                        <m:e>
                          <m:r>
                            <a:rPr lang="en-US" sz="1800" b="0" i="1" smtClean="0">
                              <a:latin typeface="Cambria Math" panose="02040503050406030204" pitchFamily="18" charset="0"/>
                              <a:ea typeface="Arial"/>
                              <a:cs typeface="Arial"/>
                              <a:sym typeface="Arial"/>
                            </a:rPr>
                            <m:t>𝐶</m:t>
                          </m:r>
                        </m:e>
                        <m:sub>
                          <m:r>
                            <a:rPr lang="en-US" sz="1800" b="0" i="1" smtClean="0">
                              <a:latin typeface="Cambria Math" panose="02040503050406030204" pitchFamily="18" charset="0"/>
                              <a:ea typeface="Arial"/>
                              <a:cs typeface="Arial"/>
                              <a:sym typeface="Arial"/>
                            </a:rPr>
                            <m:t>𝑚𝑎𝑥</m:t>
                          </m:r>
                        </m:sub>
                      </m:sSub>
                      <m:r>
                        <a:rPr lang="en-US" sz="1800" b="0" i="1" smtClean="0">
                          <a:latin typeface="Cambria Math" panose="02040503050406030204" pitchFamily="18" charset="0"/>
                          <a:ea typeface="Arial"/>
                          <a:cs typeface="Arial"/>
                          <a:sym typeface="Arial"/>
                        </a:rPr>
                        <m:t>=</m:t>
                      </m:r>
                      <m:r>
                        <a:rPr lang="en-US" sz="1800" b="0" i="1" smtClean="0">
                          <a:latin typeface="Cambria Math" panose="02040503050406030204" pitchFamily="18" charset="0"/>
                          <a:ea typeface="Arial"/>
                          <a:cs typeface="Arial"/>
                          <a:sym typeface="Arial"/>
                        </a:rPr>
                        <m:t>𝑚𝑎𝑥</m:t>
                      </m:r>
                      <m:d>
                        <m:dPr>
                          <m:ctrlPr>
                            <a:rPr lang="en-US" sz="1800" b="0" i="1" smtClean="0">
                              <a:latin typeface="Cambria Math" panose="02040503050406030204" pitchFamily="18" charset="0"/>
                              <a:ea typeface="Arial"/>
                              <a:cs typeface="Arial"/>
                              <a:sym typeface="Arial"/>
                            </a:rPr>
                          </m:ctrlPr>
                        </m:dPr>
                        <m:e>
                          <m:r>
                            <a:rPr lang="en-US" sz="1800" i="1" dirty="0">
                              <a:latin typeface="Cambria Math" panose="02040503050406030204" pitchFamily="18" charset="0"/>
                              <a:ea typeface="Arial"/>
                              <a:cs typeface="Arial"/>
                              <a:sym typeface="Arial"/>
                            </a:rPr>
                            <m:t>𝑅</m:t>
                          </m:r>
                          <m:r>
                            <a:rPr lang="en-US" sz="1800" i="1" dirty="0">
                              <a:latin typeface="Cambria Math" panose="02040503050406030204" pitchFamily="18" charset="0"/>
                              <a:ea typeface="Arial"/>
                              <a:cs typeface="Arial"/>
                              <a:sym typeface="Arial"/>
                            </a:rPr>
                            <m:t>’,</m:t>
                          </m:r>
                          <m:r>
                            <a:rPr lang="en-US" sz="1800" i="1" dirty="0">
                              <a:latin typeface="Cambria Math" panose="02040503050406030204" pitchFamily="18" charset="0"/>
                              <a:ea typeface="Arial"/>
                              <a:cs typeface="Arial"/>
                              <a:sym typeface="Arial"/>
                            </a:rPr>
                            <m:t>𝐺</m:t>
                          </m:r>
                          <m:r>
                            <a:rPr lang="en-US" sz="1800" i="1" dirty="0">
                              <a:latin typeface="Cambria Math" panose="02040503050406030204" pitchFamily="18" charset="0"/>
                              <a:ea typeface="Arial"/>
                              <a:cs typeface="Arial"/>
                              <a:sym typeface="Arial"/>
                            </a:rPr>
                            <m:t>’,</m:t>
                          </m:r>
                          <m:r>
                            <a:rPr lang="en-US" sz="1800" i="1" dirty="0">
                              <a:latin typeface="Cambria Math" panose="02040503050406030204" pitchFamily="18" charset="0"/>
                              <a:ea typeface="Arial"/>
                              <a:cs typeface="Arial"/>
                              <a:sym typeface="Arial"/>
                            </a:rPr>
                            <m:t>𝐵</m:t>
                          </m:r>
                          <m:r>
                            <a:rPr lang="en-US" sz="1800" i="1" dirty="0">
                              <a:latin typeface="Cambria Math" panose="02040503050406030204" pitchFamily="18" charset="0"/>
                              <a:ea typeface="Arial"/>
                              <a:cs typeface="Arial"/>
                              <a:sym typeface="Arial"/>
                            </a:rPr>
                            <m:t>’</m:t>
                          </m:r>
                        </m:e>
                      </m:d>
                      <m:r>
                        <a:rPr lang="en-US" sz="1800" b="0" i="1" smtClean="0">
                          <a:latin typeface="Cambria Math" panose="02040503050406030204" pitchFamily="18" charset="0"/>
                          <a:ea typeface="Arial"/>
                          <a:cs typeface="Arial"/>
                          <a:sym typeface="Arial"/>
                        </a:rPr>
                        <m:t>,  </m:t>
                      </m:r>
                      <m:sSub>
                        <m:sSubPr>
                          <m:ctrlPr>
                            <a:rPr lang="en-US" sz="1800" b="0" i="1" smtClean="0">
                              <a:latin typeface="Cambria Math" panose="02040503050406030204" pitchFamily="18" charset="0"/>
                              <a:ea typeface="Arial"/>
                              <a:cs typeface="Arial"/>
                              <a:sym typeface="Arial"/>
                            </a:rPr>
                          </m:ctrlPr>
                        </m:sSubPr>
                        <m:e>
                          <m:r>
                            <a:rPr lang="en-US" sz="1800" b="0" i="1" smtClean="0">
                              <a:latin typeface="Cambria Math" panose="02040503050406030204" pitchFamily="18" charset="0"/>
                              <a:ea typeface="Arial"/>
                              <a:cs typeface="Arial"/>
                              <a:sym typeface="Arial"/>
                            </a:rPr>
                            <m:t>𝐶</m:t>
                          </m:r>
                        </m:e>
                        <m:sub>
                          <m:r>
                            <a:rPr lang="en-US" sz="1800" b="0" i="1" smtClean="0">
                              <a:latin typeface="Cambria Math" panose="02040503050406030204" pitchFamily="18" charset="0"/>
                              <a:ea typeface="Arial"/>
                              <a:cs typeface="Arial"/>
                              <a:sym typeface="Arial"/>
                            </a:rPr>
                            <m:t>𝑚𝑖𝑛</m:t>
                          </m:r>
                        </m:sub>
                      </m:sSub>
                      <m:r>
                        <a:rPr lang="en-US" sz="1800" b="0" i="1" smtClean="0">
                          <a:latin typeface="Cambria Math" panose="02040503050406030204" pitchFamily="18" charset="0"/>
                          <a:ea typeface="Arial"/>
                          <a:cs typeface="Arial"/>
                          <a:sym typeface="Arial"/>
                        </a:rPr>
                        <m:t>=</m:t>
                      </m:r>
                      <m:r>
                        <a:rPr lang="en-US" sz="1800" b="0" i="1" smtClean="0">
                          <a:latin typeface="Cambria Math" panose="02040503050406030204" pitchFamily="18" charset="0"/>
                          <a:ea typeface="Arial"/>
                          <a:cs typeface="Arial"/>
                          <a:sym typeface="Arial"/>
                        </a:rPr>
                        <m:t>𝑚𝑖𝑛</m:t>
                      </m:r>
                      <m:d>
                        <m:dPr>
                          <m:ctrlPr>
                            <a:rPr lang="en-US" sz="1800" b="0" i="1" smtClean="0">
                              <a:latin typeface="Cambria Math" panose="02040503050406030204" pitchFamily="18" charset="0"/>
                              <a:ea typeface="Arial"/>
                              <a:cs typeface="Arial"/>
                              <a:sym typeface="Arial"/>
                            </a:rPr>
                          </m:ctrlPr>
                        </m:dPr>
                        <m:e>
                          <m:r>
                            <a:rPr lang="en-US" sz="1800" i="1" dirty="0">
                              <a:latin typeface="Cambria Math" panose="02040503050406030204" pitchFamily="18" charset="0"/>
                              <a:ea typeface="Arial"/>
                              <a:cs typeface="Arial"/>
                              <a:sym typeface="Arial"/>
                            </a:rPr>
                            <m:t>𝑅</m:t>
                          </m:r>
                          <m:r>
                            <a:rPr lang="en-US" sz="1800" i="1" dirty="0">
                              <a:latin typeface="Cambria Math" panose="02040503050406030204" pitchFamily="18" charset="0"/>
                              <a:ea typeface="Arial"/>
                              <a:cs typeface="Arial"/>
                              <a:sym typeface="Arial"/>
                            </a:rPr>
                            <m:t>’,</m:t>
                          </m:r>
                          <m:r>
                            <a:rPr lang="en-US" sz="1800" i="1" dirty="0">
                              <a:latin typeface="Cambria Math" panose="02040503050406030204" pitchFamily="18" charset="0"/>
                              <a:ea typeface="Arial"/>
                              <a:cs typeface="Arial"/>
                              <a:sym typeface="Arial"/>
                            </a:rPr>
                            <m:t>𝐺</m:t>
                          </m:r>
                          <m:r>
                            <a:rPr lang="en-US" sz="1800" i="1" dirty="0">
                              <a:latin typeface="Cambria Math" panose="02040503050406030204" pitchFamily="18" charset="0"/>
                              <a:ea typeface="Arial"/>
                              <a:cs typeface="Arial"/>
                              <a:sym typeface="Arial"/>
                            </a:rPr>
                            <m:t>’,</m:t>
                          </m:r>
                          <m:r>
                            <a:rPr lang="en-US" sz="1800" i="1" dirty="0">
                              <a:latin typeface="Cambria Math" panose="02040503050406030204" pitchFamily="18" charset="0"/>
                              <a:ea typeface="Arial"/>
                              <a:cs typeface="Arial"/>
                              <a:sym typeface="Arial"/>
                            </a:rPr>
                            <m:t>𝐵</m:t>
                          </m:r>
                          <m:r>
                            <a:rPr lang="en-US" sz="1800" i="1" dirty="0">
                              <a:latin typeface="Cambria Math" panose="02040503050406030204" pitchFamily="18" charset="0"/>
                              <a:ea typeface="Arial"/>
                              <a:cs typeface="Arial"/>
                              <a:sym typeface="Arial"/>
                            </a:rPr>
                            <m:t>’</m:t>
                          </m:r>
                        </m:e>
                      </m:d>
                      <m:r>
                        <a:rPr lang="en-US" sz="1800" b="0" i="1" smtClean="0">
                          <a:latin typeface="Cambria Math" panose="02040503050406030204" pitchFamily="18" charset="0"/>
                          <a:ea typeface="Arial"/>
                          <a:cs typeface="Arial"/>
                          <a:sym typeface="Arial"/>
                        </a:rPr>
                        <m:t>,</m:t>
                      </m:r>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ea typeface="Arial"/>
                          <a:cs typeface="Arial"/>
                          <a:sym typeface="Arial"/>
                        </a:rPr>
                        <m:t>Δ</m:t>
                      </m:r>
                      <m:r>
                        <a:rPr lang="en-US" sz="1800" b="0" i="1" smtClean="0">
                          <a:latin typeface="Cambria Math" panose="02040503050406030204" pitchFamily="18" charset="0"/>
                          <a:ea typeface="Arial"/>
                          <a:cs typeface="Arial"/>
                          <a:sym typeface="Arial"/>
                        </a:rPr>
                        <m:t>=</m:t>
                      </m:r>
                      <m:sSub>
                        <m:sSubPr>
                          <m:ctrlPr>
                            <a:rPr lang="en-US" sz="1800" b="0" i="1" smtClean="0">
                              <a:latin typeface="Cambria Math" panose="02040503050406030204" pitchFamily="18" charset="0"/>
                              <a:ea typeface="Arial"/>
                              <a:cs typeface="Arial"/>
                              <a:sym typeface="Arial"/>
                            </a:rPr>
                          </m:ctrlPr>
                        </m:sSubPr>
                        <m:e>
                          <m:r>
                            <a:rPr lang="en-US" sz="1800" b="0" i="1" smtClean="0">
                              <a:latin typeface="Cambria Math" panose="02040503050406030204" pitchFamily="18" charset="0"/>
                              <a:ea typeface="Arial"/>
                              <a:cs typeface="Arial"/>
                              <a:sym typeface="Arial"/>
                            </a:rPr>
                            <m:t>𝐶</m:t>
                          </m:r>
                        </m:e>
                        <m:sub>
                          <m:r>
                            <a:rPr lang="en-US" sz="1800" b="0" i="1" smtClean="0">
                              <a:latin typeface="Cambria Math" panose="02040503050406030204" pitchFamily="18" charset="0"/>
                              <a:ea typeface="Arial"/>
                              <a:cs typeface="Arial"/>
                              <a:sym typeface="Arial"/>
                            </a:rPr>
                            <m:t>𝑚𝑎𝑥</m:t>
                          </m:r>
                        </m:sub>
                      </m:sSub>
                      <m:r>
                        <a:rPr lang="en-US" sz="1800" b="0" i="1" smtClean="0">
                          <a:latin typeface="Cambria Math" panose="02040503050406030204" pitchFamily="18" charset="0"/>
                          <a:ea typeface="Arial"/>
                          <a:cs typeface="Arial"/>
                          <a:sym typeface="Arial"/>
                        </a:rPr>
                        <m:t>−</m:t>
                      </m:r>
                      <m:sSub>
                        <m:sSubPr>
                          <m:ctrlPr>
                            <a:rPr lang="en-US" sz="1800" b="0" i="1" smtClean="0">
                              <a:latin typeface="Cambria Math" panose="02040503050406030204" pitchFamily="18" charset="0"/>
                              <a:ea typeface="Arial"/>
                              <a:cs typeface="Arial"/>
                              <a:sym typeface="Arial"/>
                            </a:rPr>
                          </m:ctrlPr>
                        </m:sSubPr>
                        <m:e>
                          <m:r>
                            <a:rPr lang="en-US" sz="1800" b="0" i="1" smtClean="0">
                              <a:latin typeface="Cambria Math" panose="02040503050406030204" pitchFamily="18" charset="0"/>
                              <a:ea typeface="Arial"/>
                              <a:cs typeface="Arial"/>
                              <a:sym typeface="Arial"/>
                            </a:rPr>
                            <m:t>𝐶</m:t>
                          </m:r>
                        </m:e>
                        <m:sub>
                          <m:r>
                            <a:rPr lang="en-US" sz="1800" b="0" i="1" smtClean="0">
                              <a:latin typeface="Cambria Math" panose="02040503050406030204" pitchFamily="18" charset="0"/>
                              <a:ea typeface="Arial"/>
                              <a:cs typeface="Arial"/>
                              <a:sym typeface="Arial"/>
                            </a:rPr>
                            <m:t>𝑚𝑖𝑛</m:t>
                          </m:r>
                        </m:sub>
                      </m:sSub>
                      <m:r>
                        <a:rPr lang="en-US" sz="1800" b="0" i="1" smtClean="0">
                          <a:latin typeface="Cambria Math" panose="02040503050406030204" pitchFamily="18" charset="0"/>
                          <a:ea typeface="Arial"/>
                          <a:cs typeface="Arial"/>
                          <a:sym typeface="Arial"/>
                        </a:rPr>
                        <m:t>,</m:t>
                      </m:r>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Arial"/>
                          <a:cs typeface="Arial"/>
                          <a:sym typeface="Arial"/>
                        </a:rPr>
                        <m:t>𝑉</m:t>
                      </m:r>
                      <m:r>
                        <a:rPr lang="en-US" sz="1800" b="0" i="1" smtClean="0">
                          <a:latin typeface="Cambria Math" panose="02040503050406030204" pitchFamily="18" charset="0"/>
                          <a:ea typeface="Arial"/>
                          <a:cs typeface="Arial"/>
                          <a:sym typeface="Arial"/>
                        </a:rPr>
                        <m:t>=</m:t>
                      </m:r>
                      <m:sSub>
                        <m:sSubPr>
                          <m:ctrlPr>
                            <a:rPr lang="en-US" sz="1800" b="0" i="1" smtClean="0">
                              <a:latin typeface="Cambria Math" panose="02040503050406030204" pitchFamily="18" charset="0"/>
                              <a:ea typeface="Arial"/>
                              <a:cs typeface="Arial"/>
                              <a:sym typeface="Arial"/>
                            </a:rPr>
                          </m:ctrlPr>
                        </m:sSubPr>
                        <m:e>
                          <m:r>
                            <a:rPr lang="en-US" sz="1800" b="0" i="1" smtClean="0">
                              <a:latin typeface="Cambria Math" panose="02040503050406030204" pitchFamily="18" charset="0"/>
                              <a:ea typeface="Arial"/>
                              <a:cs typeface="Arial"/>
                              <a:sym typeface="Arial"/>
                            </a:rPr>
                            <m:t>𝐶</m:t>
                          </m:r>
                        </m:e>
                        <m:sub>
                          <m:r>
                            <a:rPr lang="en-US" sz="1800" b="0" i="1" smtClean="0">
                              <a:latin typeface="Cambria Math" panose="02040503050406030204" pitchFamily="18" charset="0"/>
                              <a:ea typeface="Arial"/>
                              <a:cs typeface="Arial"/>
                              <a:sym typeface="Arial"/>
                            </a:rPr>
                            <m:t>𝑚𝑎𝑥</m:t>
                          </m:r>
                        </m:sub>
                      </m:sSub>
                      <m:r>
                        <a:rPr lang="en-US" sz="1800" b="0" i="1" smtClean="0">
                          <a:latin typeface="Cambria Math" panose="02040503050406030204" pitchFamily="18" charset="0"/>
                          <a:ea typeface="Arial"/>
                          <a:cs typeface="Arial"/>
                          <a:sym typeface="Arial"/>
                        </a:rPr>
                        <m:t>,</m:t>
                      </m:r>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cs typeface="Arial"/>
                          <a:sym typeface="Arial"/>
                        </a:rPr>
                        <m:t>𝑆</m:t>
                      </m:r>
                      <m:r>
                        <a:rPr lang="en-US" sz="1800" b="0" i="1" dirty="0" smtClean="0">
                          <a:latin typeface="Cambria Math" panose="02040503050406030204" pitchFamily="18" charset="0"/>
                          <a:cs typeface="Arial"/>
                          <a:sym typeface="Arial"/>
                        </a:rPr>
                        <m:t>=</m:t>
                      </m:r>
                      <m:d>
                        <m:dPr>
                          <m:begChr m:val="{"/>
                          <m:endChr m:val=""/>
                          <m:ctrlPr>
                            <a:rPr lang="en-US" sz="1800" i="1" dirty="0" smtClean="0">
                              <a:latin typeface="Cambria Math" panose="02040503050406030204" pitchFamily="18" charset="0"/>
                              <a:cs typeface="Arial"/>
                              <a:sym typeface="Arial"/>
                            </a:rPr>
                          </m:ctrlPr>
                        </m:dPr>
                        <m:e>
                          <m:eqArr>
                            <m:eqArrPr>
                              <m:ctrlPr>
                                <a:rPr lang="en-US" sz="1800" i="1" dirty="0" smtClean="0">
                                  <a:latin typeface="Cambria Math" panose="02040503050406030204" pitchFamily="18" charset="0"/>
                                  <a:cs typeface="Arial"/>
                                  <a:sym typeface="Arial"/>
                                </a:rPr>
                              </m:ctrlPr>
                            </m:eqArrPr>
                            <m:e>
                              <m:r>
                                <a:rPr lang="en-US" sz="1800" b="0" i="1" dirty="0" smtClean="0">
                                  <a:latin typeface="Cambria Math" panose="02040503050406030204" pitchFamily="18" charset="0"/>
                                  <a:cs typeface="Arial"/>
                                  <a:sym typeface="Arial"/>
                                </a:rPr>
                                <m:t>0, </m:t>
                              </m:r>
                              <m:sSub>
                                <m:sSubPr>
                                  <m:ctrlPr>
                                    <a:rPr lang="en-US" sz="1800" b="0" i="1" dirty="0" smtClean="0">
                                      <a:latin typeface="Cambria Math" panose="02040503050406030204" pitchFamily="18" charset="0"/>
                                      <a:cs typeface="Arial"/>
                                      <a:sym typeface="Arial"/>
                                    </a:rPr>
                                  </m:ctrlPr>
                                </m:sSubPr>
                                <m:e>
                                  <m:r>
                                    <a:rPr lang="en-US" sz="1800" b="0" i="1" dirty="0" smtClean="0">
                                      <a:latin typeface="Cambria Math" panose="02040503050406030204" pitchFamily="18" charset="0"/>
                                      <a:cs typeface="Arial"/>
                                      <a:sym typeface="Arial"/>
                                    </a:rPr>
                                    <m:t>𝐶</m:t>
                                  </m:r>
                                </m:e>
                                <m:sub>
                                  <m:r>
                                    <m:rPr>
                                      <m:sty m:val="p"/>
                                    </m:rPr>
                                    <a:rPr lang="en-US" sz="1800" b="0" i="1" dirty="0" smtClean="0">
                                      <a:latin typeface="Cambria Math" panose="02040503050406030204" pitchFamily="18" charset="0"/>
                                      <a:cs typeface="Arial"/>
                                      <a:sym typeface="Arial"/>
                                    </a:rPr>
                                    <m:t>max</m:t>
                                  </m:r>
                                </m:sub>
                              </m:sSub>
                              <m:r>
                                <a:rPr lang="en-US" sz="1800" b="0" i="1" dirty="0" smtClean="0">
                                  <a:latin typeface="Cambria Math" panose="02040503050406030204" pitchFamily="18" charset="0"/>
                                  <a:cs typeface="Arial"/>
                                  <a:sym typeface="Arial"/>
                                </a:rPr>
                                <m:t>=0</m:t>
                              </m:r>
                            </m:e>
                            <m:e>
                              <m:f>
                                <m:fPr>
                                  <m:ctrlPr>
                                    <a:rPr lang="en-US" sz="1800" i="1" dirty="0" smtClean="0">
                                      <a:latin typeface="Cambria Math" panose="02040503050406030204" pitchFamily="18" charset="0"/>
                                      <a:cs typeface="Arial"/>
                                      <a:sym typeface="Arial"/>
                                    </a:rPr>
                                  </m:ctrlPr>
                                </m:fPr>
                                <m:num>
                                  <m:r>
                                    <m:rPr>
                                      <m:sty m:val="p"/>
                                    </m:rPr>
                                    <a:rPr lang="en-US" sz="1800" b="0" i="1" dirty="0" smtClean="0">
                                      <a:latin typeface="Cambria Math" panose="02040503050406030204" pitchFamily="18" charset="0"/>
                                      <a:cs typeface="Arial"/>
                                      <a:sym typeface="Arial"/>
                                    </a:rPr>
                                    <m:t>Δ</m:t>
                                  </m:r>
                                </m:num>
                                <m:den>
                                  <m:sSub>
                                    <m:sSubPr>
                                      <m:ctrlPr>
                                        <a:rPr lang="en-US" sz="1800" i="1" dirty="0">
                                          <a:latin typeface="Cambria Math" panose="02040503050406030204" pitchFamily="18" charset="0"/>
                                          <a:cs typeface="Arial"/>
                                          <a:sym typeface="Arial"/>
                                        </a:rPr>
                                      </m:ctrlPr>
                                    </m:sSubPr>
                                    <m:e>
                                      <m:r>
                                        <a:rPr lang="en-US" sz="1800" i="1" dirty="0">
                                          <a:latin typeface="Cambria Math" panose="02040503050406030204" pitchFamily="18" charset="0"/>
                                          <a:cs typeface="Arial"/>
                                          <a:sym typeface="Arial"/>
                                        </a:rPr>
                                        <m:t>𝐶</m:t>
                                      </m:r>
                                    </m:e>
                                    <m:sub>
                                      <m:r>
                                        <m:rPr>
                                          <m:sty m:val="p"/>
                                        </m:rPr>
                                        <a:rPr lang="en-US" sz="1800" i="1" dirty="0">
                                          <a:latin typeface="Cambria Math" panose="02040503050406030204" pitchFamily="18" charset="0"/>
                                          <a:cs typeface="Arial"/>
                                          <a:sym typeface="Arial"/>
                                        </a:rPr>
                                        <m:t>max</m:t>
                                      </m:r>
                                    </m:sub>
                                  </m:sSub>
                                </m:den>
                              </m:f>
                            </m:e>
                          </m:eqArr>
                          <m:r>
                            <a:rPr lang="en-US" sz="1800" b="0" i="1" dirty="0" smtClean="0">
                              <a:latin typeface="Cambria Math" panose="02040503050406030204" pitchFamily="18" charset="0"/>
                              <a:cs typeface="Arial"/>
                              <a:sym typeface="Arial"/>
                            </a:rPr>
                            <m:t>,</m:t>
                          </m:r>
                        </m:e>
                      </m:d>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b="0" i="1" smtClean="0">
                          <a:latin typeface="Cambria Math" panose="02040503050406030204" pitchFamily="18" charset="0"/>
                          <a:cs typeface="Arial"/>
                          <a:sym typeface="Arial"/>
                        </a:rPr>
                        <m:t>H</m:t>
                      </m:r>
                      <m:r>
                        <a:rPr lang="en-US" sz="1800" b="0" i="1" smtClean="0">
                          <a:latin typeface="Cambria Math" panose="02040503050406030204" pitchFamily="18" charset="0"/>
                          <a:cs typeface="Arial"/>
                          <a:sym typeface="Arial"/>
                        </a:rPr>
                        <m:t> = </m:t>
                      </m:r>
                      <m:sSup>
                        <m:sSupPr>
                          <m:ctrlPr>
                            <a:rPr lang="en-US" sz="1800" b="0" i="1" smtClean="0">
                              <a:latin typeface="Cambria Math" panose="02040503050406030204" pitchFamily="18" charset="0"/>
                              <a:cs typeface="Arial"/>
                              <a:sym typeface="Arial"/>
                            </a:rPr>
                          </m:ctrlPr>
                        </m:sSupPr>
                        <m:e>
                          <m:r>
                            <a:rPr lang="en-US" sz="1800" b="0" i="1" smtClean="0">
                              <a:latin typeface="Cambria Math" panose="02040503050406030204" pitchFamily="18" charset="0"/>
                              <a:cs typeface="Arial"/>
                              <a:sym typeface="Arial"/>
                            </a:rPr>
                            <m:t>60</m:t>
                          </m:r>
                        </m:e>
                        <m:sup>
                          <m:r>
                            <a:rPr lang="en-US" sz="1800" b="0" i="1" smtClean="0">
                              <a:latin typeface="Cambria Math" panose="02040503050406030204" pitchFamily="18" charset="0"/>
                              <a:cs typeface="Arial"/>
                              <a:sym typeface="Arial"/>
                            </a:rPr>
                            <m:t>∘</m:t>
                          </m:r>
                        </m:sup>
                      </m:sSup>
                      <m:r>
                        <a:rPr lang="en-US" sz="1800" b="0" i="1" smtClean="0">
                          <a:latin typeface="Cambria Math" panose="02040503050406030204" pitchFamily="18" charset="0"/>
                          <a:cs typeface="Arial"/>
                          <a:sym typeface="Arial"/>
                        </a:rPr>
                        <m:t> ×</m:t>
                      </m:r>
                      <m:d>
                        <m:dPr>
                          <m:begChr m:val="{"/>
                          <m:endChr m:val=""/>
                          <m:ctrlPr>
                            <a:rPr lang="en-US" sz="1800" i="1" smtClean="0">
                              <a:latin typeface="Cambria Math" panose="02040503050406030204" pitchFamily="18" charset="0"/>
                              <a:cs typeface="Arial"/>
                              <a:sym typeface="Arial"/>
                            </a:rPr>
                          </m:ctrlPr>
                        </m:dPr>
                        <m:e>
                          <m:eqArr>
                            <m:eqArrPr>
                              <m:ctrlPr>
                                <a:rPr lang="en-US" sz="1800" i="1" smtClean="0">
                                  <a:latin typeface="Cambria Math" panose="02040503050406030204" pitchFamily="18" charset="0"/>
                                  <a:cs typeface="Arial"/>
                                  <a:sym typeface="Arial"/>
                                </a:rPr>
                              </m:ctrlPr>
                            </m:eqArrPr>
                            <m:e>
                              <m:f>
                                <m:fPr>
                                  <m:ctrlPr>
                                    <a:rPr lang="en-US" sz="1800" i="1" smtClean="0">
                                      <a:latin typeface="Cambria Math" panose="02040503050406030204" pitchFamily="18" charset="0"/>
                                      <a:cs typeface="Arial"/>
                                      <a:sym typeface="Arial"/>
                                    </a:rPr>
                                  </m:ctrlPr>
                                </m:fPr>
                                <m:num>
                                  <m:r>
                                    <m:rPr>
                                      <m:sty m:val="p"/>
                                    </m:rPr>
                                    <a:rPr lang="en-US" sz="1800" b="0" i="1" smtClean="0">
                                      <a:latin typeface="Cambria Math" panose="02040503050406030204" pitchFamily="18" charset="0"/>
                                      <a:cs typeface="Arial"/>
                                      <a:sym typeface="Arial"/>
                                    </a:rPr>
                                    <m:t>G</m:t>
                                  </m:r>
                                  <m:r>
                                    <a:rPr lang="en-US" sz="1800" b="0" i="1" smtClean="0">
                                      <a:latin typeface="Cambria Math" panose="02040503050406030204" pitchFamily="18" charset="0"/>
                                      <a:cs typeface="Arial"/>
                                      <a:sym typeface="Arial"/>
                                    </a:rPr>
                                    <m:t> − </m:t>
                                  </m:r>
                                  <m:r>
                                    <m:rPr>
                                      <m:sty m:val="p"/>
                                    </m:rPr>
                                    <a:rPr lang="en-US" sz="1800" b="0" i="1" smtClean="0">
                                      <a:latin typeface="Cambria Math" panose="02040503050406030204" pitchFamily="18" charset="0"/>
                                      <a:cs typeface="Arial"/>
                                      <a:sym typeface="Arial"/>
                                    </a:rPr>
                                    <m:t>B</m:t>
                                  </m:r>
                                </m:num>
                                <m:den>
                                  <m:r>
                                    <m:rPr>
                                      <m:sty m:val="p"/>
                                    </m:rPr>
                                    <a:rPr lang="en-US" sz="1800" b="0" i="1" smtClean="0">
                                      <a:latin typeface="Cambria Math" panose="02040503050406030204" pitchFamily="18" charset="0"/>
                                      <a:cs typeface="Arial"/>
                                      <a:sym typeface="Arial"/>
                                    </a:rPr>
                                    <m:t>Δ</m:t>
                                  </m:r>
                                </m:den>
                              </m:f>
                              <m:r>
                                <a:rPr lang="en-US" sz="1800" b="0" i="1" smtClean="0">
                                  <a:latin typeface="Cambria Math" panose="02040503050406030204" pitchFamily="18" charset="0"/>
                                  <a:cs typeface="Arial"/>
                                  <a:sym typeface="Arial"/>
                                </a:rPr>
                                <m:t> % 6, </m:t>
                              </m:r>
                              <m:sSub>
                                <m:sSubPr>
                                  <m:ctrlPr>
                                    <a:rPr lang="en-US" sz="1800" b="0" i="1" smtClean="0">
                                      <a:latin typeface="Cambria Math" panose="02040503050406030204" pitchFamily="18" charset="0"/>
                                      <a:cs typeface="Arial"/>
                                      <a:sym typeface="Arial"/>
                                    </a:rPr>
                                  </m:ctrlPr>
                                </m:sSubPr>
                                <m:e>
                                  <m:r>
                                    <a:rPr lang="en-US" sz="1800" b="0" i="1" smtClean="0">
                                      <a:latin typeface="Cambria Math" panose="02040503050406030204" pitchFamily="18" charset="0"/>
                                      <a:cs typeface="Arial"/>
                                      <a:sym typeface="Arial"/>
                                    </a:rPr>
                                    <m:t>𝐶</m:t>
                                  </m:r>
                                </m:e>
                                <m:sub>
                                  <m:r>
                                    <a:rPr lang="en-US" sz="1800" b="0" i="1" smtClean="0">
                                      <a:latin typeface="Cambria Math" panose="02040503050406030204" pitchFamily="18" charset="0"/>
                                      <a:cs typeface="Arial"/>
                                      <a:sym typeface="Arial"/>
                                    </a:rPr>
                                    <m:t>𝑚𝑎𝑥</m:t>
                                  </m:r>
                                </m:sub>
                              </m:sSub>
                              <m:r>
                                <a:rPr lang="en-US" sz="1800" b="0" i="1" smtClean="0">
                                  <a:latin typeface="Cambria Math" panose="02040503050406030204" pitchFamily="18" charset="0"/>
                                  <a:cs typeface="Arial"/>
                                  <a:sym typeface="Arial"/>
                                </a:rPr>
                                <m:t>= </m:t>
                              </m:r>
                              <m:r>
                                <m:rPr>
                                  <m:sty m:val="p"/>
                                </m:rPr>
                                <a:rPr lang="en-US" sz="1800" b="0" i="1" smtClean="0">
                                  <a:latin typeface="Cambria Math" panose="02040503050406030204" pitchFamily="18" charset="0"/>
                                  <a:cs typeface="Arial"/>
                                  <a:sym typeface="Arial"/>
                                </a:rPr>
                                <m:t>R</m:t>
                              </m:r>
                            </m:e>
                            <m:e>
                              <m:f>
                                <m:fPr>
                                  <m:ctrlPr>
                                    <a:rPr lang="en-US" sz="1800" i="1">
                                      <a:latin typeface="Cambria Math" panose="02040503050406030204" pitchFamily="18" charset="0"/>
                                      <a:cs typeface="Arial"/>
                                      <a:sym typeface="Arial"/>
                                    </a:rPr>
                                  </m:ctrlPr>
                                </m:fPr>
                                <m:num>
                                  <m:r>
                                    <m:rPr>
                                      <m:sty m:val="p"/>
                                    </m:rPr>
                                    <a:rPr lang="en-US" sz="1800" i="1">
                                      <a:latin typeface="Cambria Math" panose="02040503050406030204" pitchFamily="18" charset="0"/>
                                      <a:cs typeface="Arial"/>
                                      <a:sym typeface="Arial"/>
                                    </a:rPr>
                                    <m:t>B</m:t>
                                  </m:r>
                                  <m:r>
                                    <a:rPr lang="en-US" sz="1800" i="1">
                                      <a:latin typeface="Cambria Math" panose="02040503050406030204" pitchFamily="18" charset="0"/>
                                      <a:cs typeface="Arial"/>
                                      <a:sym typeface="Arial"/>
                                    </a:rPr>
                                    <m:t> − </m:t>
                                  </m:r>
                                  <m:r>
                                    <m:rPr>
                                      <m:sty m:val="p"/>
                                    </m:rPr>
                                    <a:rPr lang="en-US" sz="1800" i="1">
                                      <a:latin typeface="Cambria Math" panose="02040503050406030204" pitchFamily="18" charset="0"/>
                                      <a:cs typeface="Arial"/>
                                      <a:sym typeface="Arial"/>
                                    </a:rPr>
                                    <m:t>R</m:t>
                                  </m:r>
                                </m:num>
                                <m:den>
                                  <m:r>
                                    <m:rPr>
                                      <m:sty m:val="p"/>
                                    </m:rPr>
                                    <a:rPr lang="en-US" sz="1800" i="1">
                                      <a:latin typeface="Cambria Math" panose="02040503050406030204" pitchFamily="18" charset="0"/>
                                      <a:cs typeface="Arial"/>
                                      <a:sym typeface="Arial"/>
                                    </a:rPr>
                                    <m:t>Δ</m:t>
                                  </m:r>
                                </m:den>
                              </m:f>
                              <m:r>
                                <a:rPr lang="en-US" sz="1800" b="0" i="1" smtClean="0">
                                  <a:latin typeface="Cambria Math" panose="02040503050406030204" pitchFamily="18" charset="0"/>
                                  <a:cs typeface="Arial"/>
                                  <a:sym typeface="Arial"/>
                                </a:rPr>
                                <m:t>+2</m:t>
                              </m:r>
                              <m:r>
                                <a:rPr lang="en-US" sz="1800" i="1">
                                  <a:latin typeface="Cambria Math" panose="02040503050406030204" pitchFamily="18" charset="0"/>
                                  <a:cs typeface="Arial"/>
                                  <a:sym typeface="Arial"/>
                                </a:rPr>
                                <m:t>, </m:t>
                              </m:r>
                              <m:sSub>
                                <m:sSubPr>
                                  <m:ctrlPr>
                                    <a:rPr lang="en-US" sz="1800" i="1">
                                      <a:latin typeface="Cambria Math" panose="02040503050406030204" pitchFamily="18" charset="0"/>
                                      <a:cs typeface="Arial"/>
                                      <a:sym typeface="Arial"/>
                                    </a:rPr>
                                  </m:ctrlPr>
                                </m:sSubPr>
                                <m:e>
                                  <m:r>
                                    <a:rPr lang="en-US" sz="1800" i="1">
                                      <a:latin typeface="Cambria Math" panose="02040503050406030204" pitchFamily="18" charset="0"/>
                                      <a:cs typeface="Arial"/>
                                      <a:sym typeface="Arial"/>
                                    </a:rPr>
                                    <m:t>𝐶</m:t>
                                  </m:r>
                                </m:e>
                                <m:sub>
                                  <m:r>
                                    <a:rPr lang="en-US" sz="1800" i="1">
                                      <a:latin typeface="Cambria Math" panose="02040503050406030204" pitchFamily="18" charset="0"/>
                                      <a:cs typeface="Arial"/>
                                      <a:sym typeface="Arial"/>
                                    </a:rPr>
                                    <m:t>𝑚𝑎𝑥</m:t>
                                  </m:r>
                                </m:sub>
                              </m:sSub>
                              <m:r>
                                <a:rPr lang="en-US" sz="1800" i="1">
                                  <a:latin typeface="Cambria Math" panose="02040503050406030204" pitchFamily="18" charset="0"/>
                                  <a:cs typeface="Arial"/>
                                  <a:sym typeface="Arial"/>
                                </a:rPr>
                                <m:t>= </m:t>
                              </m:r>
                              <m:r>
                                <m:rPr>
                                  <m:sty m:val="p"/>
                                </m:rPr>
                                <a:rPr lang="en-US" sz="1800" b="0" i="1" smtClean="0">
                                  <a:latin typeface="Cambria Math" panose="02040503050406030204" pitchFamily="18" charset="0"/>
                                  <a:cs typeface="Arial"/>
                                  <a:sym typeface="Arial"/>
                                </a:rPr>
                                <m:t>G</m:t>
                              </m:r>
                            </m:e>
                            <m:e>
                              <m:f>
                                <m:fPr>
                                  <m:ctrlPr>
                                    <a:rPr lang="en-US" sz="1800" i="1">
                                      <a:latin typeface="Cambria Math" panose="02040503050406030204" pitchFamily="18" charset="0"/>
                                      <a:cs typeface="Arial"/>
                                      <a:sym typeface="Arial"/>
                                    </a:rPr>
                                  </m:ctrlPr>
                                </m:fPr>
                                <m:num>
                                  <m:r>
                                    <m:rPr>
                                      <m:sty m:val="p"/>
                                    </m:rPr>
                                    <a:rPr lang="en-US" sz="1800" i="1">
                                      <a:latin typeface="Cambria Math" panose="02040503050406030204" pitchFamily="18" charset="0"/>
                                      <a:cs typeface="Arial"/>
                                      <a:sym typeface="Arial"/>
                                    </a:rPr>
                                    <m:t>R</m:t>
                                  </m:r>
                                  <m:r>
                                    <a:rPr lang="en-US" sz="1800" i="1">
                                      <a:latin typeface="Cambria Math" panose="02040503050406030204" pitchFamily="18" charset="0"/>
                                      <a:cs typeface="Arial"/>
                                      <a:sym typeface="Arial"/>
                                    </a:rPr>
                                    <m:t> − </m:t>
                                  </m:r>
                                  <m:r>
                                    <m:rPr>
                                      <m:sty m:val="p"/>
                                    </m:rPr>
                                    <a:rPr lang="en-US" sz="1800" i="1">
                                      <a:latin typeface="Cambria Math" panose="02040503050406030204" pitchFamily="18" charset="0"/>
                                      <a:cs typeface="Arial"/>
                                      <a:sym typeface="Arial"/>
                                    </a:rPr>
                                    <m:t>G</m:t>
                                  </m:r>
                                </m:num>
                                <m:den>
                                  <m:r>
                                    <m:rPr>
                                      <m:sty m:val="p"/>
                                    </m:rPr>
                                    <a:rPr lang="en-US" sz="1800" i="1">
                                      <a:latin typeface="Cambria Math" panose="02040503050406030204" pitchFamily="18" charset="0"/>
                                      <a:cs typeface="Arial"/>
                                      <a:sym typeface="Arial"/>
                                    </a:rPr>
                                    <m:t>Δ</m:t>
                                  </m:r>
                                </m:den>
                              </m:f>
                              <m:r>
                                <a:rPr lang="en-US" sz="1800" i="1">
                                  <a:latin typeface="Cambria Math" panose="02040503050406030204" pitchFamily="18" charset="0"/>
                                  <a:cs typeface="Arial"/>
                                  <a:sym typeface="Arial"/>
                                </a:rPr>
                                <m:t> </m:t>
                              </m:r>
                              <m:r>
                                <a:rPr lang="en-US" sz="1800" b="0" i="1" smtClean="0">
                                  <a:latin typeface="Cambria Math" panose="02040503050406030204" pitchFamily="18" charset="0"/>
                                  <a:cs typeface="Arial"/>
                                  <a:sym typeface="Arial"/>
                                </a:rPr>
                                <m:t>+4</m:t>
                              </m:r>
                              <m:r>
                                <a:rPr lang="en-US" sz="1800" i="1">
                                  <a:latin typeface="Cambria Math" panose="02040503050406030204" pitchFamily="18" charset="0"/>
                                  <a:cs typeface="Arial"/>
                                  <a:sym typeface="Arial"/>
                                </a:rPr>
                                <m:t>, </m:t>
                              </m:r>
                              <m:sSub>
                                <m:sSubPr>
                                  <m:ctrlPr>
                                    <a:rPr lang="en-US" sz="1800" i="1">
                                      <a:latin typeface="Cambria Math" panose="02040503050406030204" pitchFamily="18" charset="0"/>
                                      <a:cs typeface="Arial"/>
                                      <a:sym typeface="Arial"/>
                                    </a:rPr>
                                  </m:ctrlPr>
                                </m:sSubPr>
                                <m:e>
                                  <m:r>
                                    <a:rPr lang="en-US" sz="1800" i="1">
                                      <a:latin typeface="Cambria Math" panose="02040503050406030204" pitchFamily="18" charset="0"/>
                                      <a:cs typeface="Arial"/>
                                      <a:sym typeface="Arial"/>
                                    </a:rPr>
                                    <m:t>𝐶</m:t>
                                  </m:r>
                                </m:e>
                                <m:sub>
                                  <m:r>
                                    <a:rPr lang="en-US" sz="1800" i="1">
                                      <a:latin typeface="Cambria Math" panose="02040503050406030204" pitchFamily="18" charset="0"/>
                                      <a:cs typeface="Arial"/>
                                      <a:sym typeface="Arial"/>
                                    </a:rPr>
                                    <m:t>𝑚𝑎𝑥</m:t>
                                  </m:r>
                                </m:sub>
                              </m:sSub>
                              <m:r>
                                <a:rPr lang="en-US" sz="1800" i="1">
                                  <a:latin typeface="Cambria Math" panose="02040503050406030204" pitchFamily="18" charset="0"/>
                                  <a:cs typeface="Arial"/>
                                  <a:sym typeface="Arial"/>
                                </a:rPr>
                                <m:t>= </m:t>
                              </m:r>
                              <m:r>
                                <m:rPr>
                                  <m:sty m:val="p"/>
                                </m:rPr>
                                <a:rPr lang="en-US" sz="1800" b="0" i="1" smtClean="0">
                                  <a:latin typeface="Cambria Math" panose="02040503050406030204" pitchFamily="18" charset="0"/>
                                  <a:cs typeface="Arial"/>
                                  <a:sym typeface="Arial"/>
                                </a:rPr>
                                <m:t>B</m:t>
                              </m:r>
                            </m:e>
                          </m:eqArr>
                        </m:e>
                      </m:d>
                    </m:oMath>
                  </m:oMathPara>
                </a14:m>
                <a:endParaRPr lang="en-US" sz="18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D4237E1B-545F-69C1-D581-FF9F2476C15A}"/>
                  </a:ext>
                </a:extLst>
              </p:cNvPr>
              <p:cNvSpPr txBox="1">
                <a:spLocks noGrp="1" noRot="1" noChangeAspect="1" noMove="1" noResize="1" noEditPoints="1" noAdjustHandles="1" noChangeArrowheads="1" noChangeShapeType="1" noTextEdit="1"/>
              </p:cNvSpPr>
              <p:nvPr>
                <p:ph type="body" idx="1"/>
              </p:nvPr>
            </p:nvSpPr>
            <p:spPr>
              <a:xfrm>
                <a:off x="376809" y="1334279"/>
                <a:ext cx="6249927" cy="4821102"/>
              </a:xfrm>
              <a:prstGeom prst="rect">
                <a:avLst/>
              </a:prstGeom>
              <a:blipFill>
                <a:blip r:embed="rId3"/>
                <a:stretch>
                  <a:fillRect l="-878"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A38134D-BC05-A9E4-964E-41BF74069AA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5893D9E-85E5-0A36-3430-5D37940B908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D0718D8-30AD-D7C5-8A68-6F81DC2D493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85DADCC-EC8A-1D0D-F508-F1D41C0A3EF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BBB4DD0-56A2-02E0-C285-A85954AA566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481610D-F709-493A-DE83-2F286BC82D5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43D08E5-5038-2959-A5E9-10CCA2FFF2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A86E03F-C716-315F-46CF-58C1165A4BC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8194" name="Picture 2" descr="HSV color space drawn as a cylinder with a wedge cut out to show its interior. Hue is the angle around the vertical axis, cycling red, yellow, green, cyan, blue, magenta. Saturation is the distance from the center, running from gray or white on the axis to pure color at the outer edge. Value is height, from black at the bottom to full brightness at the top. A shadow mainly lowers value, while hue stays at the same angle.">
            <a:extLst>
              <a:ext uri="{FF2B5EF4-FFF2-40B4-BE49-F238E27FC236}">
                <a16:creationId xmlns:a16="http://schemas.microsoft.com/office/drawing/2014/main" id="{AF6EB6C2-AADA-A0B4-39C7-4724DBFA92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6736" y="1666939"/>
            <a:ext cx="5565264" cy="41739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82E01D-94DB-6D53-F0E0-6228D008EAEE}"/>
              </a:ext>
            </a:extLst>
          </p:cNvPr>
          <p:cNvSpPr txBox="1"/>
          <p:nvPr/>
        </p:nvSpPr>
        <p:spPr>
          <a:xfrm>
            <a:off x="7547437" y="5913434"/>
            <a:ext cx="3739399" cy="307777"/>
          </a:xfrm>
          <a:prstGeom prst="rect">
            <a:avLst/>
          </a:prstGeom>
          <a:noFill/>
        </p:spPr>
        <p:txBody>
          <a:bodyPr wrap="square">
            <a:spAutoFit/>
          </a:bodyPr>
          <a:lstStyle/>
          <a:p>
            <a:pPr algn="ctr"/>
            <a:r>
              <a:rPr lang="en-US" dirty="0">
                <a:hlinkClick r:id="rId6"/>
              </a:rPr>
              <a:t>https://en.wikipedia.org/wiki/HSL_and_HSV</a:t>
            </a:r>
            <a:r>
              <a:rPr lang="en-US" dirty="0"/>
              <a:t> </a:t>
            </a:r>
          </a:p>
        </p:txBody>
      </p:sp>
    </p:spTree>
    <p:extLst>
      <p:ext uri="{BB962C8B-B14F-4D97-AF65-F5344CB8AC3E}">
        <p14:creationId xmlns:p14="http://schemas.microsoft.com/office/powerpoint/2010/main" val="3160164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F9F57E-2DBD-44F8-8454-D286105C147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CEE6F7A-EC74-30A2-88E8-6C2427A9A21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CA6D7FB-FAB6-5B85-592C-72EDA4E0B2C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902F8BE-39BA-002E-8EBC-E0225562B69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23CAA6-5617-F536-1F8F-11AFDE6EF4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9B43056-5636-DB67-E22A-40AF11E7689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4240060-6A6A-CBED-E1EF-756E623447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96B047D-03B1-4247-6D6A-E18F7315C41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1C0499F-EC99-EB26-DA17-3704012B28E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42" name="Picture 2" descr="Photo, the original color version used for the lightness comparison: a fire breather in a sequined dark red costume kneels on a wet stage and blows a large, bright yellow-orange fireball, with drummers in red robes and spectators behind. The saturated yellow flame against deep reds and dark background makes the differences between the HSV value, HSL lightness and CIELAB L-star grayscale versions easy to see.">
            <a:extLst>
              <a:ext uri="{FF2B5EF4-FFF2-40B4-BE49-F238E27FC236}">
                <a16:creationId xmlns:a16="http://schemas.microsoft.com/office/drawing/2014/main" id="{41A7A60A-73DC-DEC4-0C5F-CF88DBAF04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1374" y="889027"/>
            <a:ext cx="3749252" cy="275335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Photo, grayscale version: a street performer leaning back on wet pavement breathes a large plume of fire while drummers in long robes play behind him and spectators watch. The flame is the brightest region, while the performer's face, beaded necklaces, drums and background figures keep clear midtone detail. This is one of the grayscale renderings being compared for how well its lightness matches the original color image.">
            <a:extLst>
              <a:ext uri="{FF2B5EF4-FFF2-40B4-BE49-F238E27FC236}">
                <a16:creationId xmlns:a16="http://schemas.microsoft.com/office/drawing/2014/main" id="{CB2095BA-9684-22C8-ADC8-E825ADD548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8484" y="3707347"/>
            <a:ext cx="3835032" cy="2816352"/>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hoto, grayscale: one of the lightness renderings compared on this slide, of a performer in a beaded costume leaning back on a wet stage and breathing a large plume of fire, with two drummers and spectators behind. The flame is near-white, while skin, clothing, drums and background stay distinguishable mid-grays, so the conversion keeps natural-looking brightness and detail across the scene.">
            <a:extLst>
              <a:ext uri="{FF2B5EF4-FFF2-40B4-BE49-F238E27FC236}">
                <a16:creationId xmlns:a16="http://schemas.microsoft.com/office/drawing/2014/main" id="{391BBE52-D58B-65EA-4C1E-6779ABB764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428" y="3710862"/>
            <a:ext cx="3830246" cy="2812837"/>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Photo, grayscale: a kneeling fire breather blows a large, bright plume of flame across the frame while drummers play behind them, an example image for comparing how converting color to grayscale with HSV value, HSL lightness or CIELAB L-star changes perceived brightness relative to the original color photo.">
            <a:extLst>
              <a:ext uri="{FF2B5EF4-FFF2-40B4-BE49-F238E27FC236}">
                <a16:creationId xmlns:a16="http://schemas.microsoft.com/office/drawing/2014/main" id="{DCF6C397-C9DD-3CAF-C0CA-D5D1CDA952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20540" y="3707347"/>
            <a:ext cx="3835032" cy="28163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02BDC6-4AA3-8F50-3C1A-4232B526CCD7}"/>
              </a:ext>
            </a:extLst>
          </p:cNvPr>
          <p:cNvSpPr txBox="1"/>
          <p:nvPr/>
        </p:nvSpPr>
        <p:spPr>
          <a:xfrm>
            <a:off x="485975" y="1164204"/>
            <a:ext cx="2423480" cy="307777"/>
          </a:xfrm>
          <a:prstGeom prst="rect">
            <a:avLst/>
          </a:prstGeom>
          <a:noFill/>
        </p:spPr>
        <p:txBody>
          <a:bodyPr wrap="square" rtlCol="0">
            <a:spAutoFit/>
          </a:bodyPr>
          <a:lstStyle/>
          <a:p>
            <a:r>
              <a:rPr lang="en-US" dirty="0"/>
              <a:t>Which one looks the nicest?</a:t>
            </a:r>
          </a:p>
        </p:txBody>
      </p:sp>
      <p:sp>
        <p:nvSpPr>
          <p:cNvPr id="5" name="TextBox 4">
            <a:extLst>
              <a:ext uri="{FF2B5EF4-FFF2-40B4-BE49-F238E27FC236}">
                <a16:creationId xmlns:a16="http://schemas.microsoft.com/office/drawing/2014/main" id="{0DB40B51-D24E-456A-3FC5-8F2F506542F6}"/>
              </a:ext>
            </a:extLst>
          </p:cNvPr>
          <p:cNvSpPr txBox="1"/>
          <p:nvPr/>
        </p:nvSpPr>
        <p:spPr>
          <a:xfrm>
            <a:off x="939811" y="3368442"/>
            <a:ext cx="2423480" cy="307777"/>
          </a:xfrm>
          <a:prstGeom prst="rect">
            <a:avLst/>
          </a:prstGeom>
          <a:noFill/>
        </p:spPr>
        <p:txBody>
          <a:bodyPr wrap="square" rtlCol="0">
            <a:spAutoFit/>
          </a:bodyPr>
          <a:lstStyle/>
          <a:p>
            <a:pPr algn="ctr"/>
            <a:r>
              <a:rPr lang="en-US" dirty="0"/>
              <a:t>HSV value V</a:t>
            </a:r>
          </a:p>
        </p:txBody>
      </p:sp>
      <p:sp>
        <p:nvSpPr>
          <p:cNvPr id="6" name="TextBox 5">
            <a:extLst>
              <a:ext uri="{FF2B5EF4-FFF2-40B4-BE49-F238E27FC236}">
                <a16:creationId xmlns:a16="http://schemas.microsoft.com/office/drawing/2014/main" id="{D9162660-7C23-8A31-2498-AE252E8517AB}"/>
              </a:ext>
            </a:extLst>
          </p:cNvPr>
          <p:cNvSpPr txBox="1"/>
          <p:nvPr/>
        </p:nvSpPr>
        <p:spPr>
          <a:xfrm>
            <a:off x="8826316" y="3360651"/>
            <a:ext cx="2423480" cy="307777"/>
          </a:xfrm>
          <a:prstGeom prst="rect">
            <a:avLst/>
          </a:prstGeom>
          <a:noFill/>
        </p:spPr>
        <p:txBody>
          <a:bodyPr wrap="square" rtlCol="0">
            <a:spAutoFit/>
          </a:bodyPr>
          <a:lstStyle/>
          <a:p>
            <a:pPr algn="ctr"/>
            <a:r>
              <a:rPr lang="en-US" dirty="0"/>
              <a:t>HSL value L</a:t>
            </a:r>
          </a:p>
        </p:txBody>
      </p:sp>
      <p:sp>
        <p:nvSpPr>
          <p:cNvPr id="7" name="TextBox 6">
            <a:extLst>
              <a:ext uri="{FF2B5EF4-FFF2-40B4-BE49-F238E27FC236}">
                <a16:creationId xmlns:a16="http://schemas.microsoft.com/office/drawing/2014/main" id="{B81FD8A4-9737-503E-F429-C3A056C627A6}"/>
              </a:ext>
            </a:extLst>
          </p:cNvPr>
          <p:cNvSpPr txBox="1"/>
          <p:nvPr/>
        </p:nvSpPr>
        <p:spPr>
          <a:xfrm>
            <a:off x="8013516" y="1010315"/>
            <a:ext cx="1358740" cy="307777"/>
          </a:xfrm>
          <a:prstGeom prst="rect">
            <a:avLst/>
          </a:prstGeom>
          <a:noFill/>
        </p:spPr>
        <p:txBody>
          <a:bodyPr wrap="square" rtlCol="0">
            <a:spAutoFit/>
          </a:bodyPr>
          <a:lstStyle/>
          <a:p>
            <a:pPr algn="ctr"/>
            <a:r>
              <a:rPr lang="en-US" dirty="0"/>
              <a:t>Original Color</a:t>
            </a:r>
          </a:p>
        </p:txBody>
      </p:sp>
      <p:sp>
        <p:nvSpPr>
          <p:cNvPr id="8" name="TextBox 7">
            <a:extLst>
              <a:ext uri="{FF2B5EF4-FFF2-40B4-BE49-F238E27FC236}">
                <a16:creationId xmlns:a16="http://schemas.microsoft.com/office/drawing/2014/main" id="{096DC7E9-FD26-0163-DE3C-886619DDA3A2}"/>
              </a:ext>
            </a:extLst>
          </p:cNvPr>
          <p:cNvSpPr txBox="1"/>
          <p:nvPr/>
        </p:nvSpPr>
        <p:spPr>
          <a:xfrm>
            <a:off x="8013516" y="3360651"/>
            <a:ext cx="1047357" cy="307777"/>
          </a:xfrm>
          <a:prstGeom prst="rect">
            <a:avLst/>
          </a:prstGeom>
          <a:noFill/>
        </p:spPr>
        <p:txBody>
          <a:bodyPr wrap="square" rtlCol="0">
            <a:spAutoFit/>
          </a:bodyPr>
          <a:lstStyle/>
          <a:p>
            <a:pPr algn="ctr"/>
            <a:r>
              <a:rPr lang="en-US" dirty="0"/>
              <a:t>CIELAB L*</a:t>
            </a:r>
          </a:p>
        </p:txBody>
      </p:sp>
      <p:sp>
        <p:nvSpPr>
          <p:cNvPr id="10" name="TextBox 9">
            <a:extLst>
              <a:ext uri="{FF2B5EF4-FFF2-40B4-BE49-F238E27FC236}">
                <a16:creationId xmlns:a16="http://schemas.microsoft.com/office/drawing/2014/main" id="{D3EED8F6-F9E3-FF3A-3C2B-1AFB500DCCE2}"/>
              </a:ext>
            </a:extLst>
          </p:cNvPr>
          <p:cNvSpPr txBox="1"/>
          <p:nvPr/>
        </p:nvSpPr>
        <p:spPr>
          <a:xfrm>
            <a:off x="8169919" y="1275577"/>
            <a:ext cx="3536106" cy="246221"/>
          </a:xfrm>
          <a:prstGeom prst="rect">
            <a:avLst/>
          </a:prstGeom>
          <a:noFill/>
        </p:spPr>
        <p:txBody>
          <a:bodyPr wrap="square">
            <a:spAutoFit/>
          </a:bodyPr>
          <a:lstStyle/>
          <a:p>
            <a:pPr algn="ctr"/>
            <a:r>
              <a:rPr lang="en-US" sz="1000" dirty="0">
                <a:hlinkClick r:id="rId8"/>
              </a:rPr>
              <a:t>https://en.wikipedia.org/wiki/HSL_and_HSV#Disadvantages</a:t>
            </a:r>
            <a:r>
              <a:rPr lang="en-US" sz="1000" dirty="0"/>
              <a:t> </a:t>
            </a:r>
          </a:p>
        </p:txBody>
      </p:sp>
    </p:spTree>
    <p:extLst>
      <p:ext uri="{BB962C8B-B14F-4D97-AF65-F5344CB8AC3E}">
        <p14:creationId xmlns:p14="http://schemas.microsoft.com/office/powerpoint/2010/main" val="250741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ADC26FD-BE90-A194-5416-EC1A40F45DD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F32F094-B864-91E5-4C3A-BC5767FE48BD}"/>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While HSL, HSV, and related spaces serve well enough to, for instance, choose a single color, they ignore much of the complexity of color appearance.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Essentially, they trade off </a:t>
            </a:r>
            <a:r>
              <a:rPr lang="en-US" sz="2000" b="1" dirty="0">
                <a:latin typeface="Atkinson Hyperlegible Next"/>
                <a:ea typeface="Arial"/>
                <a:cs typeface="Arial"/>
                <a:sym typeface="Arial"/>
              </a:rPr>
              <a:t>perceptual relevance </a:t>
            </a:r>
            <a:r>
              <a:rPr lang="en-US" sz="2000" dirty="0">
                <a:latin typeface="Atkinson Hyperlegible Next"/>
                <a:ea typeface="Arial"/>
                <a:cs typeface="Arial"/>
                <a:sym typeface="Arial"/>
              </a:rPr>
              <a:t>for computation speed.</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HSL and HSV are simple transformations of RGB which preserve symmetries in the RGB cube unrelated to human perception.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If we plot the RGB gamut in a more </a:t>
            </a:r>
            <a:r>
              <a:rPr lang="en-US" sz="2000" b="1" dirty="0">
                <a:latin typeface="Atkinson Hyperlegible Next"/>
                <a:ea typeface="Arial"/>
                <a:cs typeface="Arial"/>
                <a:sym typeface="Arial"/>
              </a:rPr>
              <a:t>perceptually-uniform space</a:t>
            </a:r>
            <a:r>
              <a:rPr lang="en-US" sz="2000" dirty="0">
                <a:latin typeface="Atkinson Hyperlegible Next"/>
                <a:ea typeface="Arial"/>
                <a:cs typeface="Arial"/>
                <a:sym typeface="Arial"/>
              </a:rPr>
              <a:t>, such as CIELAB, it becomes immediately clear that the red, green, and blue primaries do not have the same lightness or chroma, or evenly spaced hues.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Because HSL and HSV are defined purely with reference to some RGB space, they are not absolute color spaces: to specify a color precisely requires reporting not only HSL or HSV values, but also the characteristics of the RGB space they are based on, including the gamma correction in use.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F8B5D63E-8A1B-A94E-DBD1-37B0B750FC3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238C76F-C589-4D4D-78EB-D87E6215107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426FD96-823B-DBBC-9E77-D2C54AFC2B2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1C276AA-35F8-F3A2-42A4-1E319E10D65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D15A9D4-5AA6-6E3B-203D-ED4CEF06AE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D3136E-F26E-C1E9-6FFD-F2896793FCD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406811-0793-6F49-D62C-27BCA074287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B3C04C7-A328-7814-79E6-BC1910C1E5D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4768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C445765-83BA-A583-E0CC-0178C5E7543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080A7C0-8A39-FB91-8EB4-DF753F93FC7C}"/>
              </a:ext>
            </a:extLst>
          </p:cNvPr>
          <p:cNvSpPr txBox="1">
            <a:spLocks noGrp="1"/>
          </p:cNvSpPr>
          <p:nvPr>
            <p:ph type="body" idx="1"/>
          </p:nvPr>
        </p:nvSpPr>
        <p:spPr>
          <a:xfrm>
            <a:off x="376809" y="1334279"/>
            <a:ext cx="6249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The </a:t>
            </a:r>
            <a:r>
              <a:rPr lang="en-US" sz="1800" b="1" dirty="0">
                <a:latin typeface="Atkinson Hyperlegible Next"/>
                <a:ea typeface="Arial"/>
                <a:cs typeface="Arial"/>
                <a:sym typeface="Arial"/>
              </a:rPr>
              <a:t>CIELAB</a:t>
            </a:r>
            <a:r>
              <a:rPr lang="en-US" sz="1800" dirty="0">
                <a:latin typeface="Atkinson Hyperlegible Next"/>
                <a:ea typeface="Arial"/>
                <a:cs typeface="Arial"/>
                <a:sym typeface="Arial"/>
              </a:rPr>
              <a:t> space is three-dimensional and covers the entire gamut (range) of human color perception.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It is based on the opponent model of human vision, where red and green form an opponent pair and blue and yellow form an opponent pair.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a:t>
            </a:r>
            <a:r>
              <a:rPr lang="en-US" sz="1800" b="1" dirty="0">
                <a:latin typeface="Atkinson Hyperlegible Next"/>
                <a:ea typeface="Arial"/>
                <a:cs typeface="Arial"/>
                <a:sym typeface="Arial"/>
              </a:rPr>
              <a:t>lightness value</a:t>
            </a:r>
            <a:r>
              <a:rPr lang="en-US" sz="1800" dirty="0">
                <a:latin typeface="Atkinson Hyperlegible Next"/>
                <a:ea typeface="Arial"/>
                <a:cs typeface="Arial"/>
                <a:sym typeface="Arial"/>
              </a:rPr>
              <a:t>, L* (pronounced "L star"), defines </a:t>
            </a:r>
            <a:r>
              <a:rPr lang="en-US" sz="1800" b="1" dirty="0">
                <a:latin typeface="Atkinson Hyperlegible Next"/>
                <a:ea typeface="Arial"/>
                <a:cs typeface="Arial"/>
                <a:sym typeface="Arial"/>
              </a:rPr>
              <a:t>black</a:t>
            </a:r>
            <a:r>
              <a:rPr lang="en-US" sz="1800" dirty="0">
                <a:latin typeface="Atkinson Hyperlegible Next"/>
                <a:ea typeface="Arial"/>
                <a:cs typeface="Arial"/>
                <a:sym typeface="Arial"/>
              </a:rPr>
              <a:t> at 0 and </a:t>
            </a:r>
            <a:r>
              <a:rPr lang="en-US" sz="1800" b="1" dirty="0">
                <a:latin typeface="Atkinson Hyperlegible Next"/>
                <a:ea typeface="Arial"/>
                <a:cs typeface="Arial"/>
                <a:sym typeface="Arial"/>
              </a:rPr>
              <a:t>white</a:t>
            </a:r>
            <a:r>
              <a:rPr lang="en-US" sz="1800" dirty="0">
                <a:latin typeface="Atkinson Hyperlegible Next"/>
                <a:ea typeface="Arial"/>
                <a:cs typeface="Arial"/>
                <a:sym typeface="Arial"/>
              </a:rPr>
              <a:t> at 100. </a:t>
            </a:r>
          </a:p>
          <a:p>
            <a:pPr marL="0" indent="0">
              <a:lnSpc>
                <a:spcPct val="100000"/>
              </a:lnSpc>
              <a:spcBef>
                <a:spcPts val="0"/>
              </a:spcBef>
              <a:buSzPts val="3000"/>
              <a:buNone/>
            </a:pPr>
            <a:r>
              <a:rPr lang="en-US" sz="1800" dirty="0">
                <a:latin typeface="Atkinson Hyperlegible Next"/>
                <a:ea typeface="Arial"/>
                <a:cs typeface="Arial"/>
                <a:sym typeface="Arial"/>
              </a:rPr>
              <a:t>The </a:t>
            </a:r>
            <a:r>
              <a:rPr lang="en-US" sz="1800" b="1" dirty="0">
                <a:latin typeface="Atkinson Hyperlegible Next"/>
                <a:ea typeface="Arial"/>
                <a:cs typeface="Arial"/>
                <a:sym typeface="Arial"/>
              </a:rPr>
              <a:t>a* axis </a:t>
            </a:r>
            <a:r>
              <a:rPr lang="en-US" sz="1800" dirty="0">
                <a:latin typeface="Atkinson Hyperlegible Next"/>
                <a:ea typeface="Arial"/>
                <a:cs typeface="Arial"/>
                <a:sym typeface="Arial"/>
              </a:rPr>
              <a:t>is relative to the </a:t>
            </a:r>
            <a:r>
              <a:rPr lang="en-US" sz="1800" b="1" dirty="0">
                <a:latin typeface="Atkinson Hyperlegible Next"/>
                <a:ea typeface="Arial"/>
                <a:cs typeface="Arial"/>
                <a:sym typeface="Arial"/>
              </a:rPr>
              <a:t>green–red </a:t>
            </a:r>
            <a:r>
              <a:rPr lang="en-US" sz="1800" dirty="0">
                <a:latin typeface="Atkinson Hyperlegible Next"/>
                <a:ea typeface="Arial"/>
                <a:cs typeface="Arial"/>
                <a:sym typeface="Arial"/>
              </a:rPr>
              <a:t>opponent colors, with negative values toward green and positive values toward red. </a:t>
            </a:r>
          </a:p>
          <a:p>
            <a:pPr marL="0" indent="0">
              <a:lnSpc>
                <a:spcPct val="100000"/>
              </a:lnSpc>
              <a:spcBef>
                <a:spcPts val="0"/>
              </a:spcBef>
              <a:buSzPts val="3000"/>
              <a:buNone/>
            </a:pPr>
            <a:r>
              <a:rPr lang="en-US" sz="1800" dirty="0">
                <a:latin typeface="Atkinson Hyperlegible Next"/>
                <a:ea typeface="Arial"/>
                <a:cs typeface="Arial"/>
                <a:sym typeface="Arial"/>
              </a:rPr>
              <a:t>The </a:t>
            </a:r>
            <a:r>
              <a:rPr lang="en-US" sz="1800" b="1" dirty="0">
                <a:latin typeface="Atkinson Hyperlegible Next"/>
                <a:ea typeface="Arial"/>
                <a:cs typeface="Arial"/>
                <a:sym typeface="Arial"/>
              </a:rPr>
              <a:t>b* axis </a:t>
            </a:r>
            <a:r>
              <a:rPr lang="en-US" sz="1800" dirty="0">
                <a:latin typeface="Atkinson Hyperlegible Next"/>
                <a:ea typeface="Arial"/>
                <a:cs typeface="Arial"/>
                <a:sym typeface="Arial"/>
              </a:rPr>
              <a:t>represents the </a:t>
            </a:r>
            <a:r>
              <a:rPr lang="en-US" sz="1800" b="1" dirty="0">
                <a:latin typeface="Atkinson Hyperlegible Next"/>
                <a:ea typeface="Arial"/>
                <a:cs typeface="Arial"/>
                <a:sym typeface="Arial"/>
              </a:rPr>
              <a:t>blue–yellow </a:t>
            </a:r>
            <a:r>
              <a:rPr lang="en-US" sz="1800" dirty="0">
                <a:latin typeface="Atkinson Hyperlegible Next"/>
                <a:ea typeface="Arial"/>
                <a:cs typeface="Arial"/>
                <a:sym typeface="Arial"/>
              </a:rPr>
              <a:t>opponents, with negative numbers toward blue and positive toward yellow.</a:t>
            </a:r>
          </a:p>
        </p:txBody>
      </p:sp>
      <p:sp>
        <p:nvSpPr>
          <p:cNvPr id="119" name="Google Shape;119;p29">
            <a:extLst>
              <a:ext uri="{FF2B5EF4-FFF2-40B4-BE49-F238E27FC236}">
                <a16:creationId xmlns:a16="http://schemas.microsoft.com/office/drawing/2014/main" id="{1049A639-4B4E-6835-C81D-AAA2225CAF0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5D081E5-54B3-3924-2B74-D0DDD38B409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E3E7D70-05DD-75EF-5681-1F62D3A776F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67139E9-E9E6-7966-915D-2F6A20977F1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E6FEE00-556A-76D8-1B1A-8031D3A41D0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ACBBBC5-5731-C6AA-4D88-A3E66C67FA4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DFF90A8-8E09-D66E-B790-A9D33430964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35C59DE-AF37-EC18-B6DD-EB5012A9D74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Box 2">
            <a:extLst>
              <a:ext uri="{FF2B5EF4-FFF2-40B4-BE49-F238E27FC236}">
                <a16:creationId xmlns:a16="http://schemas.microsoft.com/office/drawing/2014/main" id="{976D4B0A-9C3F-129F-D0B9-7788788EAC79}"/>
              </a:ext>
            </a:extLst>
          </p:cNvPr>
          <p:cNvSpPr txBox="1"/>
          <p:nvPr/>
        </p:nvSpPr>
        <p:spPr>
          <a:xfrm>
            <a:off x="8124955" y="6355316"/>
            <a:ext cx="2965959" cy="246221"/>
          </a:xfrm>
          <a:prstGeom prst="rect">
            <a:avLst/>
          </a:prstGeom>
          <a:noFill/>
        </p:spPr>
        <p:txBody>
          <a:bodyPr wrap="square">
            <a:spAutoFit/>
          </a:bodyPr>
          <a:lstStyle/>
          <a:p>
            <a:pPr algn="ctr"/>
            <a:r>
              <a:rPr lang="en-US" sz="1000" dirty="0">
                <a:hlinkClick r:id="rId4"/>
              </a:rPr>
              <a:t>https://en.wikipedia.org/wiki/CIELAB_color_space</a:t>
            </a:r>
            <a:r>
              <a:rPr lang="en-US" sz="1000" dirty="0"/>
              <a:t> </a:t>
            </a:r>
          </a:p>
        </p:txBody>
      </p:sp>
      <p:pic>
        <p:nvPicPr>
          <p:cNvPr id="12" name="Picture 11" descr="Plot: the boundary of all physically possible surface colors under D65 daylight, viewed from the side as lightness L star (0 to 100, vertical) versus a star (horizontal). The solid narrows to black at L star 0 and to white at L star 100. Greens reach about a star minus 170 near L star 50, yellow sits near the top around L star 95, red and magenta extend to about plus 130, and dark violet-blue reaches about plus 145 at low lightness near L star 10.">
            <a:extLst>
              <a:ext uri="{FF2B5EF4-FFF2-40B4-BE49-F238E27FC236}">
                <a16:creationId xmlns:a16="http://schemas.microsoft.com/office/drawing/2014/main" id="{C26F9AA7-B35C-8A6F-B8EB-91A4578A80E6}"/>
              </a:ext>
            </a:extLst>
          </p:cNvPr>
          <p:cNvPicPr>
            <a:picLocks noChangeAspect="1"/>
          </p:cNvPicPr>
          <p:nvPr/>
        </p:nvPicPr>
        <p:blipFill>
          <a:blip r:embed="rId5"/>
          <a:stretch>
            <a:fillRect/>
          </a:stretch>
        </p:blipFill>
        <p:spPr>
          <a:xfrm>
            <a:off x="8124955" y="3624695"/>
            <a:ext cx="2688336" cy="2688336"/>
          </a:xfrm>
          <a:prstGeom prst="rect">
            <a:avLst/>
          </a:prstGeom>
        </p:spPr>
      </p:pic>
      <p:pic>
        <p:nvPicPr>
          <p:cNvPr id="14" name="Picture 13" descr="Plot: top-down view of the optimal-color solid under D65 light in CIELAB, a* horizontal and b* vertical, each from minus 150 to 150. Colors fade to white near the origin and saturate outward. Green extends farthest left (a* about minus 170), yellow peaks at top (b* about 145), red and magenta lie right near a* 85 to 130, violet-blue reaches lower right (a* about 145, b* about minus 125), and cyan sits lower left. The gamut is lopsided, not circular.">
            <a:extLst>
              <a:ext uri="{FF2B5EF4-FFF2-40B4-BE49-F238E27FC236}">
                <a16:creationId xmlns:a16="http://schemas.microsoft.com/office/drawing/2014/main" id="{D2AA05EC-F333-E110-32DC-1E4D05FF14F6}"/>
              </a:ext>
            </a:extLst>
          </p:cNvPr>
          <p:cNvPicPr>
            <a:picLocks noChangeAspect="1"/>
          </p:cNvPicPr>
          <p:nvPr/>
        </p:nvPicPr>
        <p:blipFill>
          <a:blip r:embed="rId6"/>
          <a:stretch>
            <a:fillRect/>
          </a:stretch>
        </p:blipFill>
        <p:spPr>
          <a:xfrm>
            <a:off x="8122207" y="900916"/>
            <a:ext cx="2691084" cy="2691084"/>
          </a:xfrm>
          <a:prstGeom prst="rect">
            <a:avLst/>
          </a:prstGeom>
        </p:spPr>
      </p:pic>
    </p:spTree>
    <p:extLst>
      <p:ext uri="{BB962C8B-B14F-4D97-AF65-F5344CB8AC3E}">
        <p14:creationId xmlns:p14="http://schemas.microsoft.com/office/powerpoint/2010/main" val="356230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1E4BC80-07CC-3006-2306-FDFB1C932CE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FF36F9C-EB6F-317D-91F6-71C5664D8F4C}"/>
              </a:ext>
            </a:extLst>
          </p:cNvPr>
          <p:cNvSpPr txBox="1">
            <a:spLocks noGrp="1"/>
          </p:cNvSpPr>
          <p:nvPr>
            <p:ph type="body" idx="1"/>
          </p:nvPr>
        </p:nvSpPr>
        <p:spPr>
          <a:xfrm>
            <a:off x="376809" y="1334279"/>
            <a:ext cx="6249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The lightness value, L* in CIELAB is calculated using the cube root of the relative luminance with an offset near black.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This results in an effective power curve with an exponent of approximately 0.43 which represents the human eye's response to light under daylight (photopic) conditions.</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a* and b* axes are unbounded and depending on the reference white they can easily exceed ±150 to cover the human gamut (range).</a:t>
            </a:r>
          </a:p>
          <a:p>
            <a:pPr marL="0" indent="0">
              <a:lnSpc>
                <a:spcPct val="100000"/>
              </a:lnSpc>
              <a:spcBef>
                <a:spcPts val="0"/>
              </a:spcBef>
              <a:buSzPts val="3000"/>
              <a:buNone/>
            </a:pPr>
            <a:r>
              <a:rPr lang="en-US" sz="1800" dirty="0">
                <a:latin typeface="Atkinson Hyperlegible Next"/>
                <a:ea typeface="Arial"/>
                <a:cs typeface="Arial"/>
                <a:sym typeface="Arial"/>
              </a:rPr>
              <a:t> </a:t>
            </a:r>
          </a:p>
          <a:p>
            <a:pPr marL="0" indent="0">
              <a:lnSpc>
                <a:spcPct val="100000"/>
              </a:lnSpc>
              <a:spcBef>
                <a:spcPts val="0"/>
              </a:spcBef>
              <a:buSzPts val="3000"/>
              <a:buNone/>
            </a:pPr>
            <a:r>
              <a:rPr lang="en-US" sz="1800" dirty="0">
                <a:latin typeface="Atkinson Hyperlegible Next"/>
                <a:ea typeface="Arial"/>
                <a:cs typeface="Arial"/>
                <a:sym typeface="Arial"/>
              </a:rPr>
              <a:t>Nevertheless, software implementations often clamp these values for practical reasons. For instance, if integer math is being used it is common to clamp a* and b* in the range of −128 to 127.</a:t>
            </a:r>
          </a:p>
        </p:txBody>
      </p:sp>
      <p:sp>
        <p:nvSpPr>
          <p:cNvPr id="119" name="Google Shape;119;p29">
            <a:extLst>
              <a:ext uri="{FF2B5EF4-FFF2-40B4-BE49-F238E27FC236}">
                <a16:creationId xmlns:a16="http://schemas.microsoft.com/office/drawing/2014/main" id="{1BDB5FEE-EADD-86EE-04E3-5C2FFB60B66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119C998-B051-71F2-9F86-5C079A60300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4DAAE4B-7CB3-E009-7E41-A17D3B4F2EC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596A8F0-CF2E-F349-4A33-C66DCFE6FCC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964B9FF-C05C-49AA-B8DD-13F6EEAF2B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D993EDC-87B0-721D-9C78-8B323BE725C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C7DFC9-FE6A-A3FB-4A90-169EE060F4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4BE4DE2-9BB4-3AD5-B456-CC3D775BF57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Picture 1" descr="Plot: the boundary of all physically possible surface colors under D65 daylight, viewed from the side as lightness L star (0 to 100, vertical) versus a star (horizontal). The solid narrows to black at L star 0 and to white at L star 100. Greens reach about a star minus 170 near L star 50, yellow sits near the top around L star 95, red and magenta extend to about plus 130, and dark violet-blue reaches about plus 145 at low lightness near L star 10.">
            <a:extLst>
              <a:ext uri="{FF2B5EF4-FFF2-40B4-BE49-F238E27FC236}">
                <a16:creationId xmlns:a16="http://schemas.microsoft.com/office/drawing/2014/main" id="{65C38C90-2230-46A9-529F-C754AA363B8E}"/>
              </a:ext>
            </a:extLst>
          </p:cNvPr>
          <p:cNvPicPr>
            <a:picLocks noChangeAspect="1"/>
          </p:cNvPicPr>
          <p:nvPr/>
        </p:nvPicPr>
        <p:blipFill>
          <a:blip r:embed="rId4"/>
          <a:stretch>
            <a:fillRect/>
          </a:stretch>
        </p:blipFill>
        <p:spPr>
          <a:xfrm>
            <a:off x="8124955" y="3624695"/>
            <a:ext cx="2688336" cy="2688336"/>
          </a:xfrm>
          <a:prstGeom prst="rect">
            <a:avLst/>
          </a:prstGeom>
        </p:spPr>
      </p:pic>
      <p:pic>
        <p:nvPicPr>
          <p:cNvPr id="4" name="Picture 3" descr="Plot: top-down view of the optimal-color solid under D65 light in CIELAB, a* horizontal and b* vertical, each from minus 150 to 150. Colors fade to white near the origin and saturate outward. Green extends farthest left (a* about minus 170), yellow peaks at top (b* about 145), red and magenta lie right near a* 85 to 130, violet-blue reaches lower right (a* about 145, b* about minus 125), and cyan sits lower left. The gamut is lopsided, not circular.">
            <a:extLst>
              <a:ext uri="{FF2B5EF4-FFF2-40B4-BE49-F238E27FC236}">
                <a16:creationId xmlns:a16="http://schemas.microsoft.com/office/drawing/2014/main" id="{D1FD9546-DC56-C2E1-82B5-993921386BDC}"/>
              </a:ext>
            </a:extLst>
          </p:cNvPr>
          <p:cNvPicPr>
            <a:picLocks noChangeAspect="1"/>
          </p:cNvPicPr>
          <p:nvPr/>
        </p:nvPicPr>
        <p:blipFill>
          <a:blip r:embed="rId5"/>
          <a:stretch>
            <a:fillRect/>
          </a:stretch>
        </p:blipFill>
        <p:spPr>
          <a:xfrm>
            <a:off x="8122207" y="900916"/>
            <a:ext cx="2691084" cy="2691084"/>
          </a:xfrm>
          <a:prstGeom prst="rect">
            <a:avLst/>
          </a:prstGeom>
        </p:spPr>
      </p:pic>
      <p:sp>
        <p:nvSpPr>
          <p:cNvPr id="5" name="TextBox 4">
            <a:extLst>
              <a:ext uri="{FF2B5EF4-FFF2-40B4-BE49-F238E27FC236}">
                <a16:creationId xmlns:a16="http://schemas.microsoft.com/office/drawing/2014/main" id="{60A72866-12CA-4B31-C655-22FCDED7F17B}"/>
              </a:ext>
            </a:extLst>
          </p:cNvPr>
          <p:cNvSpPr txBox="1"/>
          <p:nvPr/>
        </p:nvSpPr>
        <p:spPr>
          <a:xfrm>
            <a:off x="8124955" y="6355316"/>
            <a:ext cx="2965959" cy="246221"/>
          </a:xfrm>
          <a:prstGeom prst="rect">
            <a:avLst/>
          </a:prstGeom>
          <a:noFill/>
        </p:spPr>
        <p:txBody>
          <a:bodyPr wrap="square">
            <a:spAutoFit/>
          </a:bodyPr>
          <a:lstStyle/>
          <a:p>
            <a:pPr algn="ctr"/>
            <a:r>
              <a:rPr lang="en-US" sz="1000" dirty="0">
                <a:hlinkClick r:id="rId6"/>
              </a:rPr>
              <a:t>https://en.wikipedia.org/wiki/CIELAB_color_space</a:t>
            </a:r>
            <a:r>
              <a:rPr lang="en-US" sz="1000" dirty="0"/>
              <a:t> </a:t>
            </a:r>
          </a:p>
        </p:txBody>
      </p:sp>
    </p:spTree>
    <p:extLst>
      <p:ext uri="{BB962C8B-B14F-4D97-AF65-F5344CB8AC3E}">
        <p14:creationId xmlns:p14="http://schemas.microsoft.com/office/powerpoint/2010/main" val="100503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B484AAD-6462-0D61-8ADB-BFA994E47AEB}"/>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E790E130-4B81-C660-34AD-8BBC83AD20AA}"/>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Blob detection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73379A89-A450-3CEB-99CD-B1E64AEF2217}"/>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2780018A-F4DE-87B2-9957-973EE8C3272C}"/>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C1315027-83A9-996B-3680-7B9C72490DAC}"/>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DC547E27-F7EF-DBFE-646A-4FF75CB10A93}"/>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D738CAC0-9803-C5F1-AC0B-623965C769B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209EA818-0007-440F-B530-158F2ADFDBA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CEB08EFC-8792-FED2-E5EB-0C0F02CD5721}"/>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4ADE775-37AD-CBE1-1E73-E282F7273B6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54AC5CBA-58A8-512D-3552-64B7E48495E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66090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4DBAAC9-CCB4-0CF3-4701-6CB8DB392D1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983E7DB-1916-A4B9-AE29-357DBA6131F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372B080-4D5A-132E-6F00-D991F577AFF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A3B06F3-8B75-3470-1D0F-94BFD0EF570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55C6AAD-CB43-BAD1-BF97-3E1702FF2A7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C0F60F8-11F1-2EEB-5B69-2D43999DA3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98C5C3E-079C-A4A8-6F6C-DC3FCC9ADF7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AB9D8A8-242F-CC71-411E-C45167766C6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7F2C249-3295-6AD0-36D1-9BA7DB44C7B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Flowchart, four stages: CMOS array converts photons to voltage through a Bayer filter with a 1 red, 2 green, 1 blue mosaic. Bilinear demosaicing, RGB to HSV conversion, and a binary threshold, H min less than or equal to H less than or equal to H max. Connected-component blob detection, area filtering of noise, and centroid from image moments: x bar equals M one zero over M zero zero, y bar equals M zero one over M zero zero. Error e of t equals x bar minus X center feeds a PI controller, u of t equals K p e plus K i times the integral of e d t, producing PWM commands v left and v right.">
            <a:extLst>
              <a:ext uri="{FF2B5EF4-FFF2-40B4-BE49-F238E27FC236}">
                <a16:creationId xmlns:a16="http://schemas.microsoft.com/office/drawing/2014/main" id="{AE05105A-68F1-3D08-DB16-EBFF7C5859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7117" y="1032005"/>
            <a:ext cx="10397766" cy="5405055"/>
          </a:xfrm>
          <a:prstGeom prst="rect">
            <a:avLst/>
          </a:prstGeom>
        </p:spPr>
      </p:pic>
      <p:sp>
        <p:nvSpPr>
          <p:cNvPr id="2" name="Rectangle 1">
            <a:extLst>
              <a:ext uri="{FF2B5EF4-FFF2-40B4-BE49-F238E27FC236}">
                <a16:creationId xmlns:a16="http://schemas.microsoft.com/office/drawing/2014/main" id="{8AEF13F9-05C9-6C5F-2244-88C424AB71D8}"/>
              </a:ext>
            </a:extLst>
          </p:cNvPr>
          <p:cNvSpPr/>
          <p:nvPr/>
        </p:nvSpPr>
        <p:spPr>
          <a:xfrm>
            <a:off x="6437033" y="1527729"/>
            <a:ext cx="1931111" cy="473292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2329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9A98158-B07D-286E-4E45-98FB552FCFD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9524A58-95AB-F400-2140-E123DC71BFA7}"/>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Once we convert our image to HSV, we apply a </a:t>
            </a:r>
            <a:r>
              <a:rPr lang="en-US" sz="2400" b="1" dirty="0">
                <a:latin typeface="Atkinson Hyperlegible Next"/>
                <a:ea typeface="Arial"/>
                <a:cs typeface="Arial"/>
                <a:sym typeface="Arial"/>
              </a:rPr>
              <a:t>Threshold. </a:t>
            </a:r>
          </a:p>
          <a:p>
            <a:pPr marL="0" indent="0">
              <a:lnSpc>
                <a:spcPct val="100000"/>
              </a:lnSpc>
              <a:spcBef>
                <a:spcPts val="0"/>
              </a:spcBef>
              <a:buSzPts val="3000"/>
              <a:buNone/>
            </a:pPr>
            <a:endParaRPr lang="en-US" sz="2400" b="1"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evaluate at every single pixel: “Does this pixel’s CIELAB fall within my target red range?”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YES -&gt; Pixel becomes 1 ( Whites)</a:t>
            </a:r>
          </a:p>
          <a:p>
            <a:pPr marL="0" indent="0">
              <a:lnSpc>
                <a:spcPct val="100000"/>
              </a:lnSpc>
              <a:spcBef>
                <a:spcPts val="0"/>
              </a:spcBef>
              <a:buSzPts val="3000"/>
              <a:buNone/>
            </a:pPr>
            <a:r>
              <a:rPr lang="en-US" sz="2400" dirty="0">
                <a:latin typeface="Atkinson Hyperlegible Next"/>
                <a:ea typeface="Arial"/>
                <a:cs typeface="Arial"/>
                <a:sym typeface="Arial"/>
              </a:rPr>
              <a:t>If NO -&gt; Pixel becomes 0 (Black).</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result is a </a:t>
            </a:r>
            <a:r>
              <a:rPr lang="en-US" sz="2400" b="1" dirty="0">
                <a:latin typeface="Atkinson Hyperlegible Next"/>
                <a:ea typeface="Arial"/>
                <a:cs typeface="Arial"/>
                <a:sym typeface="Arial"/>
              </a:rPr>
              <a:t>Binary Mask</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have thrown away all useless data and kept only the target representation.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Does thresholding tell us exactly where the ball is?</a:t>
            </a:r>
          </a:p>
        </p:txBody>
      </p:sp>
      <p:sp>
        <p:nvSpPr>
          <p:cNvPr id="119" name="Google Shape;119;p29">
            <a:extLst>
              <a:ext uri="{FF2B5EF4-FFF2-40B4-BE49-F238E27FC236}">
                <a16:creationId xmlns:a16="http://schemas.microsoft.com/office/drawing/2014/main" id="{7F3FCBFC-C24D-0C34-1898-BDC3577E1D1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624727E-10EE-2ED1-48D1-5D7468BB28A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234DBF2-9F6A-9983-D94B-AAACC9D6F1B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286C32D-8AFB-9C10-256F-D38D45ECA81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2F63F3A-7EE7-41EB-8055-F58B3E8BA31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D62D6B3-EF47-9C98-7C3A-74C42A74B8B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E6BDBFA-5368-453B-8298-EA04443157B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923AE2A-562F-5A3A-6A9F-2ACF19174D9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065809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316482-13BC-80BE-A0AE-5D5B7256183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08B1A1D-904C-8EAA-F960-A5865176E883}"/>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A "Blob" (Binary Large Object) is a contiguous group of connected white pixels in our binary mask.</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Blob detection algorithms scan the image to find these groupings and label them as distinct physical objects.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is known computationally as </a:t>
            </a:r>
            <a:r>
              <a:rPr lang="en-US" sz="2400" b="1" dirty="0">
                <a:latin typeface="Atkinson Hyperlegible Next"/>
                <a:ea typeface="Arial"/>
                <a:cs typeface="Arial"/>
                <a:sym typeface="Arial"/>
              </a:rPr>
              <a:t>Connected Component Labeling (CCL)</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What simple graph algorithm can you think of could potentially help us?</a:t>
            </a:r>
          </a:p>
        </p:txBody>
      </p:sp>
      <p:sp>
        <p:nvSpPr>
          <p:cNvPr id="119" name="Google Shape;119;p29">
            <a:extLst>
              <a:ext uri="{FF2B5EF4-FFF2-40B4-BE49-F238E27FC236}">
                <a16:creationId xmlns:a16="http://schemas.microsoft.com/office/drawing/2014/main" id="{92CB5E11-4190-944A-9BD4-ABFFE5EED12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5057BBB-CD8B-BCA1-728B-A1F56E78568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8619173-5BF3-BAA6-AF67-CD80AEB0BA4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DC7947-F6E7-801F-13B7-AD37CB487DE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A1E7A1-AB23-2BBD-DB63-219C596310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F01FE3E-3D2A-A546-C9F3-CEC67C382F7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C2319C3-103A-9FA2-6F07-6F1D00197C3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897934A-01C2-047F-8CAB-7C272834A87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84129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B4AEF3C-325B-5939-1225-7EAFAD9DDCE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A0C34BE-74E1-9C48-EDCB-632207F540F3}"/>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The simplest implementation of the algorithm for the Connected Components work is as following:</a:t>
            </a:r>
          </a:p>
          <a:p>
            <a:pPr marL="0" indent="0">
              <a:lnSpc>
                <a:spcPct val="100000"/>
              </a:lnSpc>
              <a:spcBef>
                <a:spcPts val="0"/>
              </a:spcBef>
              <a:buSzPts val="3000"/>
              <a:buNone/>
            </a:pPr>
            <a:endParaRPr lang="en-US" sz="2400" dirty="0">
              <a:latin typeface="Atkinson Hyperlegible Next"/>
              <a:ea typeface="Arial"/>
              <a:cs typeface="Arial"/>
              <a:sym typeface="Arial"/>
            </a:endParaRP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The algorithm scans the image pixel by pixel (raster scan).</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When it finds a '1', it checks the neighboring pixels (usually 4-connectivity or 8-connectivity).</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If a neighbor is also a '1', it assigns them the same "Label" (e.g., Object A).</a:t>
            </a:r>
          </a:p>
          <a:p>
            <a:pPr indent="-457200">
              <a:lnSpc>
                <a:spcPct val="100000"/>
              </a:lnSpc>
              <a:spcBef>
                <a:spcPts val="0"/>
              </a:spcBef>
              <a:buSzPts val="3000"/>
              <a:buFont typeface="+mj-lt"/>
              <a:buAutoNum type="arabicPeriod"/>
            </a:pPr>
            <a:r>
              <a:rPr lang="en-US" sz="2400" dirty="0">
                <a:latin typeface="Atkinson Hyperlegible Next"/>
                <a:ea typeface="Arial"/>
                <a:cs typeface="Arial"/>
                <a:sym typeface="Arial"/>
              </a:rPr>
              <a:t>It uses a "Union-Find" data structure to merge labels if two separate groups eventually connect.</a:t>
            </a:r>
          </a:p>
          <a:p>
            <a:pPr indent="-457200">
              <a:lnSpc>
                <a:spcPct val="100000"/>
              </a:lnSpc>
              <a:spcBef>
                <a:spcPts val="0"/>
              </a:spcBef>
              <a:buSzPts val="3000"/>
              <a:buFont typeface="+mj-lt"/>
              <a:buAutoNum type="arabicPeriod"/>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Otherwise, you can think of this as doing BFS (Breadth-First-Search) on every pixel! (The best algorithms do not do this exactly, but this is the simples way to explain)</a:t>
            </a:r>
          </a:p>
        </p:txBody>
      </p:sp>
      <p:sp>
        <p:nvSpPr>
          <p:cNvPr id="119" name="Google Shape;119;p29">
            <a:extLst>
              <a:ext uri="{FF2B5EF4-FFF2-40B4-BE49-F238E27FC236}">
                <a16:creationId xmlns:a16="http://schemas.microsoft.com/office/drawing/2014/main" id="{9087FFCA-7454-0452-CA71-7021B9DC095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F5516C5-528C-8A8C-7C77-023792ABCDF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8BB73C9-D2A5-706C-EAB0-5D68D899A91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8B72B2A-D6D9-7409-B741-39DE066A3D1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762ABA9-4768-AF8A-5E61-304446AAAAF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23AFC3-DC9C-5C87-2D1F-D3E5A2967AE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A63B3BE-44A9-C26C-45C2-0B8AAE3461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BFD8FC5-F1B4-F678-404C-72EAF116594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6999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D56F10E-8B77-A367-66D0-785A223E79A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CFF1696-8936-47D3-B2DF-8AE28071FE73}"/>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Even with the color filtering, we can still get random glare or noise in the background that will create small fake blobs.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How do we write a rule t ignore these false positives?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Filter blob by </a:t>
            </a:r>
            <a:r>
              <a:rPr lang="en-US" sz="2400" b="1" dirty="0">
                <a:latin typeface="Atkinson Hyperlegible Next"/>
                <a:ea typeface="Arial"/>
                <a:cs typeface="Arial"/>
                <a:sym typeface="Arial"/>
              </a:rPr>
              <a:t>Area </a:t>
            </a:r>
            <a:r>
              <a:rPr lang="en-US" sz="2400" dirty="0">
                <a:latin typeface="Atkinson Hyperlegible Next"/>
                <a:ea typeface="Arial"/>
                <a:cs typeface="Arial"/>
                <a:sym typeface="Arial"/>
              </a:rPr>
              <a:t>(total pixel count), filter blob by </a:t>
            </a:r>
            <a:r>
              <a:rPr lang="en-US" sz="2400" b="1" dirty="0">
                <a:latin typeface="Atkinson Hyperlegible Next"/>
                <a:ea typeface="Arial"/>
                <a:cs typeface="Arial"/>
                <a:sym typeface="Arial"/>
              </a:rPr>
              <a:t>shape </a:t>
            </a:r>
            <a:r>
              <a:rPr lang="en-US" sz="2400" dirty="0">
                <a:latin typeface="Atkinson Hyperlegible Next"/>
                <a:ea typeface="Arial"/>
                <a:cs typeface="Arial"/>
                <a:sym typeface="Arial"/>
              </a:rPr>
              <a:t>(the more like a circle the more we want to keep it).</a:t>
            </a:r>
          </a:p>
          <a:p>
            <a:pPr marL="0" indent="0">
              <a:lnSpc>
                <a:spcPct val="100000"/>
              </a:lnSpc>
              <a:spcBef>
                <a:spcPts val="0"/>
              </a:spcBef>
              <a:buSzPts val="3000"/>
              <a:buNone/>
            </a:pPr>
            <a:endParaRPr lang="en-US" sz="2400" b="1"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a:t>
            </a:r>
            <a:r>
              <a:rPr lang="en-US" sz="2400" dirty="0" err="1">
                <a:latin typeface="Atkinson Hyperlegible Next"/>
                <a:ea typeface="Arial"/>
                <a:cs typeface="Arial"/>
                <a:sym typeface="Arial"/>
              </a:rPr>
              <a:t>Blob.Area</a:t>
            </a:r>
            <a:r>
              <a:rPr lang="en-US" sz="2400" dirty="0">
                <a:latin typeface="Atkinson Hyperlegible Next"/>
                <a:ea typeface="Arial"/>
                <a:cs typeface="Arial"/>
                <a:sym typeface="Arial"/>
              </a:rPr>
              <a:t> &lt; MIN_THRESHOLD, we discard it.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only pass the largest valid blob to the next step.</a:t>
            </a:r>
          </a:p>
        </p:txBody>
      </p:sp>
      <p:sp>
        <p:nvSpPr>
          <p:cNvPr id="119" name="Google Shape;119;p29">
            <a:extLst>
              <a:ext uri="{FF2B5EF4-FFF2-40B4-BE49-F238E27FC236}">
                <a16:creationId xmlns:a16="http://schemas.microsoft.com/office/drawing/2014/main" id="{EBA4CA92-F4F9-916B-420E-A312232A4E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24A7935-C3BD-808B-9BCB-FFD0CF3EFEC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13FB241-1BF8-4B57-8719-EB9F417246A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39A541E-761D-09D7-0F40-0D8BEA8AD17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2245E14-9E1E-69D0-33D9-3B3B9986D97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74448E7-ABBC-F6D9-D83A-EF0D97DCD72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714D3ED-5AB9-6E1C-C60F-0DD2D7C17B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4C21B61-7E83-7146-5E0F-C6D1FB60F33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5883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EDF6DF9-122C-7262-22F2-6C8CDB974FE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8A61CA5-8E51-95E1-8492-071964A72525}"/>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We have found the blob representing our red ball, now where is it?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need its (X, Y) coordinate in the camera frame to steer the robot. We do this by calculating the </a:t>
                </a:r>
                <a:r>
                  <a:rPr lang="en-US" sz="2000" b="1" dirty="0">
                    <a:latin typeface="Atkinson Hyperlegible Next"/>
                    <a:ea typeface="Arial"/>
                    <a:cs typeface="Arial"/>
                    <a:sym typeface="Arial"/>
                  </a:rPr>
                  <a:t>Centroid </a:t>
                </a:r>
                <a:r>
                  <a:rPr lang="en-US" sz="2000" dirty="0">
                    <a:latin typeface="Atkinson Hyperlegible Next"/>
                    <a:ea typeface="Arial"/>
                    <a:cs typeface="Arial"/>
                    <a:sym typeface="Arial"/>
                  </a:rPr>
                  <a:t>(Center of Mass ) of the blob.</a:t>
                </a:r>
              </a:p>
              <a:p>
                <a:pPr marL="0" indent="0">
                  <a:lnSpc>
                    <a:spcPct val="100000"/>
                  </a:lnSpc>
                  <a:spcBef>
                    <a:spcPts val="0"/>
                  </a:spcBef>
                  <a:buSzPts val="3000"/>
                  <a:buNone/>
                </a:pPr>
                <a:endParaRPr lang="en-US" sz="2000" b="1"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compute this using </a:t>
                </a:r>
                <a:r>
                  <a:rPr lang="en-US" sz="2000" b="1" dirty="0">
                    <a:latin typeface="Atkinson Hyperlegible Next"/>
                    <a:ea typeface="Arial"/>
                    <a:cs typeface="Arial"/>
                    <a:sym typeface="Arial"/>
                  </a:rPr>
                  <a:t>Image Moments</a:t>
                </a:r>
                <a:r>
                  <a:rPr lang="en-US" sz="2000" dirty="0">
                    <a:latin typeface="Atkinson Hyperlegible Next"/>
                    <a:ea typeface="Arial"/>
                    <a:cs typeface="Arial"/>
                    <a:sym typeface="Arial"/>
                  </a:rPr>
                  <a:t>.</a:t>
                </a:r>
              </a:p>
              <a:p>
                <a:pPr marL="0" indent="0">
                  <a:lnSpc>
                    <a:spcPct val="100000"/>
                  </a:lnSpc>
                  <a:spcBef>
                    <a:spcPts val="0"/>
                  </a:spcBef>
                  <a:buSzPts val="3000"/>
                  <a:buNone/>
                </a:pPr>
                <a:r>
                  <a:rPr lang="en-US" sz="2000" dirty="0">
                    <a:latin typeface="Atkinson Hyperlegible Next"/>
                    <a:ea typeface="Arial"/>
                    <a:cs typeface="Arial"/>
                    <a:sym typeface="Arial"/>
                  </a:rPr>
                  <a:t>In computer vision, a discrete image moment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𝑀</m:t>
                        </m:r>
                      </m:e>
                      <m:sub>
                        <m:r>
                          <a:rPr lang="en-US" sz="2000" i="1" dirty="0" err="1" smtClean="0">
                            <a:latin typeface="Cambria Math" panose="02040503050406030204" pitchFamily="18" charset="0"/>
                            <a:ea typeface="Arial"/>
                            <a:cs typeface="Arial"/>
                            <a:sym typeface="Arial"/>
                          </a:rPr>
                          <m:t>𝑖𝑗</m:t>
                        </m:r>
                      </m:sub>
                    </m:sSub>
                  </m:oMath>
                </a14:m>
                <a:r>
                  <a:rPr lang="en-US" sz="2000" dirty="0">
                    <a:latin typeface="Atkinson Hyperlegible Next"/>
                    <a:ea typeface="Arial"/>
                    <a:cs typeface="Arial"/>
                    <a:sym typeface="Arial"/>
                  </a:rPr>
                  <a:t> for a binary image </a:t>
                </a:r>
                <a14:m>
                  <m:oMath xmlns:m="http://schemas.openxmlformats.org/officeDocument/2006/math">
                    <m:r>
                      <a:rPr lang="en-US" sz="2000" i="1" dirty="0" smtClean="0">
                        <a:latin typeface="Cambria Math" panose="02040503050406030204" pitchFamily="18" charset="0"/>
                        <a:ea typeface="Arial"/>
                        <a:cs typeface="Arial"/>
                        <a:sym typeface="Arial"/>
                      </a:rPr>
                      <m:t>𝐼</m:t>
                    </m:r>
                    <m:d>
                      <m:dPr>
                        <m:ctrlPr>
                          <a:rPr lang="en-US" sz="2000" i="1" dirty="0" smtClean="0">
                            <a:latin typeface="Cambria Math" panose="02040503050406030204" pitchFamily="18" charset="0"/>
                            <a:ea typeface="Arial"/>
                            <a:cs typeface="Arial"/>
                            <a:sym typeface="Arial"/>
                          </a:rPr>
                        </m:ctrlPr>
                      </m:dPr>
                      <m:e>
                        <m:r>
                          <a:rPr lang="en-US" sz="2000" i="1" dirty="0" err="1" smtClean="0">
                            <a:latin typeface="Cambria Math" panose="02040503050406030204" pitchFamily="18" charset="0"/>
                            <a:ea typeface="Arial"/>
                            <a:cs typeface="Arial"/>
                            <a:sym typeface="Arial"/>
                          </a:rPr>
                          <m:t>𝑥</m:t>
                        </m:r>
                        <m:r>
                          <a:rPr lang="en-US" sz="2000" i="1" dirty="0" err="1" smtClean="0">
                            <a:latin typeface="Cambria Math" panose="02040503050406030204" pitchFamily="18" charset="0"/>
                            <a:ea typeface="Arial"/>
                            <a:cs typeface="Arial"/>
                            <a:sym typeface="Arial"/>
                          </a:rPr>
                          <m:t>,</m:t>
                        </m:r>
                        <m:r>
                          <a:rPr lang="en-US" sz="2000" i="1" dirty="0" err="1" smtClean="0">
                            <a:latin typeface="Cambria Math" panose="02040503050406030204" pitchFamily="18" charset="0"/>
                            <a:ea typeface="Arial"/>
                            <a:cs typeface="Arial"/>
                            <a:sym typeface="Arial"/>
                          </a:rPr>
                          <m:t>𝑦</m:t>
                        </m:r>
                      </m:e>
                    </m:d>
                  </m:oMath>
                </a14:m>
                <a:r>
                  <a:rPr lang="en-US" sz="2000" dirty="0">
                    <a:latin typeface="Atkinson Hyperlegible Next"/>
                    <a:ea typeface="Arial"/>
                    <a:cs typeface="Arial"/>
                    <a:sym typeface="Arial"/>
                  </a:rPr>
                  <a:t> is defined as:</a:t>
                </a:r>
                <a:endParaRPr lang="en-US" sz="20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𝑀</m:t>
                          </m:r>
                        </m:e>
                        <m:sub>
                          <m:r>
                            <a:rPr lang="en-US" sz="2000" i="1" dirty="0" err="1" smtClean="0">
                              <a:latin typeface="Cambria Math" panose="02040503050406030204" pitchFamily="18" charset="0"/>
                              <a:ea typeface="Arial"/>
                              <a:cs typeface="Arial"/>
                              <a:sym typeface="Arial"/>
                            </a:rPr>
                            <m:t>𝑖𝑗</m:t>
                          </m:r>
                        </m:sub>
                      </m:sSub>
                      <m:r>
                        <a:rPr lang="en-US" sz="2000" i="1" dirty="0" smtClean="0">
                          <a:latin typeface="Cambria Math" panose="02040503050406030204" pitchFamily="18" charset="0"/>
                          <a:ea typeface="Arial"/>
                          <a:cs typeface="Arial"/>
                          <a:sym typeface="Arial"/>
                        </a:rPr>
                        <m:t>=</m:t>
                      </m:r>
                      <m:nary>
                        <m:naryPr>
                          <m:chr m:val="∑"/>
                          <m:supHide m:val="on"/>
                          <m:ctrlPr>
                            <a:rPr lang="en-US" sz="2000" i="1" dirty="0" smtClean="0">
                              <a:latin typeface="Cambria Math" panose="02040503050406030204" pitchFamily="18" charset="0"/>
                              <a:ea typeface="Arial"/>
                              <a:cs typeface="Arial"/>
                              <a:sym typeface="Arial"/>
                            </a:rPr>
                          </m:ctrlPr>
                        </m:naryPr>
                        <m:sub>
                          <m:r>
                            <a:rPr lang="en-US" sz="2000" i="1" dirty="0" smtClean="0">
                              <a:latin typeface="Cambria Math" panose="02040503050406030204" pitchFamily="18" charset="0"/>
                              <a:ea typeface="Arial"/>
                              <a:cs typeface="Arial"/>
                              <a:sym typeface="Arial"/>
                            </a:rPr>
                            <m:t>𝑥</m:t>
                          </m:r>
                        </m:sub>
                        <m:sup/>
                        <m:e>
                          <m:nary>
                            <m:naryPr>
                              <m:chr m:val="∑"/>
                              <m:supHide m:val="on"/>
                              <m:ctrlPr>
                                <a:rPr lang="en-US" sz="2000" i="1" dirty="0" smtClean="0">
                                  <a:latin typeface="Cambria Math" panose="02040503050406030204" pitchFamily="18" charset="0"/>
                                  <a:ea typeface="Arial"/>
                                  <a:cs typeface="Arial"/>
                                  <a:sym typeface="Arial"/>
                                </a:rPr>
                              </m:ctrlPr>
                            </m:naryPr>
                            <m:sub>
                              <m:r>
                                <a:rPr lang="en-US" sz="2000" i="1" dirty="0" smtClean="0">
                                  <a:latin typeface="Cambria Math" panose="02040503050406030204" pitchFamily="18" charset="0"/>
                                  <a:ea typeface="Arial"/>
                                  <a:cs typeface="Arial"/>
                                  <a:sym typeface="Arial"/>
                                </a:rPr>
                                <m:t>𝑦</m:t>
                              </m:r>
                            </m:sub>
                            <m:sup/>
                            <m:e>
                              <m:sSup>
                                <m:sSupPr>
                                  <m:ctrlPr>
                                    <a:rPr lang="en-US" sz="2000" i="1" dirty="0" err="1" smtClean="0">
                                      <a:latin typeface="Cambria Math" panose="02040503050406030204" pitchFamily="18" charset="0"/>
                                      <a:ea typeface="Arial"/>
                                      <a:cs typeface="Arial"/>
                                      <a:sym typeface="Arial"/>
                                    </a:rPr>
                                  </m:ctrlPr>
                                </m:sSupPr>
                                <m:e>
                                  <m:r>
                                    <a:rPr lang="en-US" sz="2000" i="1" dirty="0" err="1" smtClean="0">
                                      <a:latin typeface="Cambria Math" panose="02040503050406030204" pitchFamily="18" charset="0"/>
                                      <a:ea typeface="Arial"/>
                                      <a:cs typeface="Arial"/>
                                      <a:sym typeface="Arial"/>
                                    </a:rPr>
                                    <m:t>𝑥</m:t>
                                  </m:r>
                                </m:e>
                                <m:sup>
                                  <m:r>
                                    <a:rPr lang="en-US" sz="2000" i="1" dirty="0" err="1" smtClean="0">
                                      <a:latin typeface="Cambria Math" panose="02040503050406030204" pitchFamily="18" charset="0"/>
                                      <a:ea typeface="Arial"/>
                                      <a:cs typeface="Arial"/>
                                      <a:sym typeface="Arial"/>
                                    </a:rPr>
                                    <m:t>𝑖</m:t>
                                  </m:r>
                                </m:sup>
                              </m:sSup>
                              <m:sSup>
                                <m:sSupPr>
                                  <m:ctrlPr>
                                    <a:rPr lang="en-US" sz="2000" i="1" dirty="0" err="1" smtClean="0">
                                      <a:latin typeface="Cambria Math" panose="02040503050406030204" pitchFamily="18" charset="0"/>
                                      <a:ea typeface="Arial"/>
                                      <a:cs typeface="Arial"/>
                                      <a:sym typeface="Arial"/>
                                    </a:rPr>
                                  </m:ctrlPr>
                                </m:sSupPr>
                                <m:e>
                                  <m:r>
                                    <a:rPr lang="en-US" sz="2000" i="1" dirty="0" err="1" smtClean="0">
                                      <a:latin typeface="Cambria Math" panose="02040503050406030204" pitchFamily="18" charset="0"/>
                                      <a:ea typeface="Arial"/>
                                      <a:cs typeface="Arial"/>
                                      <a:sym typeface="Arial"/>
                                    </a:rPr>
                                    <m:t>𝑦</m:t>
                                  </m:r>
                                </m:e>
                                <m:sup>
                                  <m:r>
                                    <a:rPr lang="en-US" sz="2000" i="1" dirty="0" err="1" smtClean="0">
                                      <a:latin typeface="Cambria Math" panose="02040503050406030204" pitchFamily="18" charset="0"/>
                                      <a:ea typeface="Arial"/>
                                      <a:cs typeface="Arial"/>
                                      <a:sym typeface="Arial"/>
                                    </a:rPr>
                                    <m:t>𝑗</m:t>
                                  </m:r>
                                </m:sup>
                              </m:sSup>
                              <m:r>
                                <a:rPr lang="en-US" sz="2000" i="1" dirty="0" smtClean="0">
                                  <a:latin typeface="Cambria Math" panose="02040503050406030204" pitchFamily="18" charset="0"/>
                                  <a:ea typeface="Arial"/>
                                  <a:cs typeface="Arial"/>
                                  <a:sym typeface="Arial"/>
                                </a:rPr>
                                <m:t>𝐼</m:t>
                              </m:r>
                              <m:d>
                                <m:dPr>
                                  <m:ctrlPr>
                                    <a:rPr lang="en-US" sz="2000" i="1" dirty="0" smtClean="0">
                                      <a:latin typeface="Cambria Math" panose="02040503050406030204" pitchFamily="18" charset="0"/>
                                      <a:ea typeface="Arial"/>
                                      <a:cs typeface="Arial"/>
                                      <a:sym typeface="Arial"/>
                                    </a:rPr>
                                  </m:ctrlPr>
                                </m:dPr>
                                <m:e>
                                  <m:r>
                                    <a:rPr lang="en-US" sz="2000" i="1" dirty="0" err="1" smtClean="0">
                                      <a:latin typeface="Cambria Math" panose="02040503050406030204" pitchFamily="18" charset="0"/>
                                      <a:ea typeface="Arial"/>
                                      <a:cs typeface="Arial"/>
                                      <a:sym typeface="Arial"/>
                                    </a:rPr>
                                    <m:t>𝑥</m:t>
                                  </m:r>
                                  <m:r>
                                    <a:rPr lang="en-US" sz="2000" i="1" dirty="0" err="1" smtClean="0">
                                      <a:latin typeface="Cambria Math" panose="02040503050406030204" pitchFamily="18" charset="0"/>
                                      <a:ea typeface="Arial"/>
                                      <a:cs typeface="Arial"/>
                                      <a:sym typeface="Arial"/>
                                    </a:rPr>
                                    <m:t>,</m:t>
                                  </m:r>
                                  <m:r>
                                    <a:rPr lang="en-US" sz="2000" i="1" dirty="0" err="1" smtClean="0">
                                      <a:latin typeface="Cambria Math" panose="02040503050406030204" pitchFamily="18" charset="0"/>
                                      <a:ea typeface="Arial"/>
                                      <a:cs typeface="Arial"/>
                                      <a:sym typeface="Arial"/>
                                    </a:rPr>
                                    <m:t>𝑦</m:t>
                                  </m:r>
                                </m:e>
                              </m:d>
                            </m:e>
                          </m:nary>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0</a:t>
                </a:r>
                <a:r>
                  <a:rPr lang="en-US" sz="2000" baseline="30000" dirty="0">
                    <a:latin typeface="Atkinson Hyperlegible Next"/>
                    <a:ea typeface="Arial"/>
                    <a:cs typeface="Arial"/>
                    <a:sym typeface="Arial"/>
                  </a:rPr>
                  <a:t>th</a:t>
                </a:r>
                <a:r>
                  <a:rPr lang="en-US" sz="2000" dirty="0">
                    <a:latin typeface="Atkinson Hyperlegible Next"/>
                    <a:ea typeface="Arial"/>
                    <a:cs typeface="Arial"/>
                    <a:sym typeface="Arial"/>
                  </a:rPr>
                  <a:t> moment, </a:t>
                </a:r>
                <a14:m>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𝑀</m:t>
                        </m:r>
                      </m:e>
                      <m:sub>
                        <m:r>
                          <a:rPr lang="en-US" sz="2000" i="1" dirty="0" smtClean="0">
                            <a:latin typeface="Cambria Math" panose="02040503050406030204" pitchFamily="18" charset="0"/>
                            <a:ea typeface="Arial"/>
                            <a:cs typeface="Arial"/>
                            <a:sym typeface="Arial"/>
                          </a:rPr>
                          <m:t>00</m:t>
                        </m:r>
                      </m:sub>
                    </m:sSub>
                  </m:oMath>
                </a14:m>
                <a:r>
                  <a:rPr lang="en-US" sz="2000" dirty="0">
                    <a:latin typeface="Atkinson Hyperlegible Next"/>
                    <a:ea typeface="Arial"/>
                    <a:cs typeface="Arial"/>
                    <a:sym typeface="Arial"/>
                  </a:rPr>
                  <a:t>, sets </a:t>
                </a:r>
                <a14:m>
                  <m:oMath xmlns:m="http://schemas.openxmlformats.org/officeDocument/2006/math">
                    <m:r>
                      <a:rPr lang="en-US" sz="2000" i="1" dirty="0" err="1" smtClean="0">
                        <a:latin typeface="Cambria Math" panose="02040503050406030204" pitchFamily="18" charset="0"/>
                        <a:ea typeface="Arial"/>
                        <a:cs typeface="Arial"/>
                        <a:sym typeface="Arial"/>
                      </a:rPr>
                      <m:t>𝑖</m:t>
                    </m:r>
                    <m:r>
                      <a:rPr lang="en-US" sz="2000" i="1" dirty="0" smtClean="0">
                        <a:latin typeface="Cambria Math" panose="02040503050406030204" pitchFamily="18" charset="0"/>
                        <a:ea typeface="Arial"/>
                        <a:cs typeface="Arial"/>
                        <a:sym typeface="Arial"/>
                      </a:rPr>
                      <m:t>=0</m:t>
                    </m:r>
                  </m:oMath>
                </a14:m>
                <a:r>
                  <a:rPr lang="en-US" sz="2000" dirty="0">
                    <a:latin typeface="Atkinson Hyperlegible Next"/>
                    <a:ea typeface="Arial"/>
                    <a:cs typeface="Arial"/>
                    <a:sym typeface="Arial"/>
                  </a:rPr>
                  <a:t> and </a:t>
                </a:r>
                <a14:m>
                  <m:oMath xmlns:m="http://schemas.openxmlformats.org/officeDocument/2006/math">
                    <m:r>
                      <a:rPr lang="en-US" sz="2000" i="1" dirty="0" smtClean="0">
                        <a:latin typeface="Cambria Math" panose="02040503050406030204" pitchFamily="18" charset="0"/>
                        <a:ea typeface="Arial"/>
                        <a:cs typeface="Arial"/>
                        <a:sym typeface="Arial"/>
                      </a:rPr>
                      <m:t>𝑗</m:t>
                    </m:r>
                    <m:r>
                      <a:rPr lang="en-US" sz="2000" i="1" dirty="0" smtClean="0">
                        <a:latin typeface="Cambria Math" panose="02040503050406030204" pitchFamily="18" charset="0"/>
                        <a:ea typeface="Arial"/>
                        <a:cs typeface="Arial"/>
                        <a:sym typeface="Arial"/>
                      </a:rPr>
                      <m:t>=0</m:t>
                    </m:r>
                  </m:oMath>
                </a14:m>
                <a:r>
                  <a:rPr lang="en-US" sz="20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ea typeface="Arial"/>
                              <a:cs typeface="Arial"/>
                              <a:sym typeface="Arial"/>
                            </a:rPr>
                          </m:ctrlPr>
                        </m:sSubPr>
                        <m:e>
                          <m:r>
                            <a:rPr lang="en-US" sz="2000" i="1" dirty="0" smtClean="0">
                              <a:latin typeface="Cambria Math" panose="02040503050406030204" pitchFamily="18" charset="0"/>
                              <a:ea typeface="Arial"/>
                              <a:cs typeface="Arial"/>
                              <a:sym typeface="Arial"/>
                            </a:rPr>
                            <m:t>𝑀</m:t>
                          </m:r>
                        </m:e>
                        <m:sub>
                          <m:r>
                            <a:rPr lang="en-US" sz="2000" i="1" dirty="0" smtClean="0">
                              <a:latin typeface="Cambria Math" panose="02040503050406030204" pitchFamily="18" charset="0"/>
                              <a:ea typeface="Arial"/>
                              <a:cs typeface="Arial"/>
                              <a:sym typeface="Arial"/>
                            </a:rPr>
                            <m:t>00</m:t>
                          </m:r>
                        </m:sub>
                      </m:sSub>
                      <m:r>
                        <a:rPr lang="en-US" sz="2000" i="1" dirty="0" smtClean="0">
                          <a:latin typeface="Cambria Math" panose="02040503050406030204" pitchFamily="18" charset="0"/>
                          <a:ea typeface="Arial"/>
                          <a:cs typeface="Arial"/>
                          <a:sym typeface="Arial"/>
                        </a:rPr>
                        <m:t>=</m:t>
                      </m:r>
                      <m:nary>
                        <m:naryPr>
                          <m:chr m:val="∑"/>
                          <m:supHide m:val="on"/>
                          <m:ctrlPr>
                            <a:rPr lang="en-US" sz="2000" i="1" dirty="0" smtClean="0">
                              <a:latin typeface="Cambria Math" panose="02040503050406030204" pitchFamily="18" charset="0"/>
                              <a:ea typeface="Arial"/>
                              <a:cs typeface="Arial"/>
                              <a:sym typeface="Arial"/>
                            </a:rPr>
                          </m:ctrlPr>
                        </m:naryPr>
                        <m:sub>
                          <m:r>
                            <a:rPr lang="en-US" sz="2000" i="1" dirty="0" smtClean="0">
                              <a:latin typeface="Cambria Math" panose="02040503050406030204" pitchFamily="18" charset="0"/>
                              <a:ea typeface="Arial"/>
                              <a:cs typeface="Arial"/>
                              <a:sym typeface="Arial"/>
                            </a:rPr>
                            <m:t>𝑥</m:t>
                          </m:r>
                        </m:sub>
                        <m:sup/>
                        <m:e>
                          <m:nary>
                            <m:naryPr>
                              <m:chr m:val="∑"/>
                              <m:supHide m:val="on"/>
                              <m:ctrlPr>
                                <a:rPr lang="en-US" sz="2000" i="1" dirty="0" smtClean="0">
                                  <a:latin typeface="Cambria Math" panose="02040503050406030204" pitchFamily="18" charset="0"/>
                                  <a:ea typeface="Arial"/>
                                  <a:cs typeface="Arial"/>
                                  <a:sym typeface="Arial"/>
                                </a:rPr>
                              </m:ctrlPr>
                            </m:naryPr>
                            <m:sub>
                              <m:r>
                                <a:rPr lang="en-US" sz="2000" i="1" dirty="0" smtClean="0">
                                  <a:latin typeface="Cambria Math" panose="02040503050406030204" pitchFamily="18" charset="0"/>
                                  <a:ea typeface="Arial"/>
                                  <a:cs typeface="Arial"/>
                                  <a:sym typeface="Arial"/>
                                </a:rPr>
                                <m:t>𝑦</m:t>
                              </m:r>
                            </m:sub>
                            <m:sup/>
                            <m:e>
                              <m:r>
                                <a:rPr lang="en-US" sz="2000" i="1" dirty="0" smtClean="0">
                                  <a:latin typeface="Cambria Math" panose="02040503050406030204" pitchFamily="18" charset="0"/>
                                  <a:ea typeface="Arial"/>
                                  <a:cs typeface="Arial"/>
                                  <a:sym typeface="Arial"/>
                                </a:rPr>
                                <m:t>𝐼</m:t>
                              </m:r>
                              <m:d>
                                <m:dPr>
                                  <m:ctrlPr>
                                    <a:rPr lang="en-US" sz="2000" i="1" dirty="0" smtClean="0">
                                      <a:latin typeface="Cambria Math" panose="02040503050406030204" pitchFamily="18" charset="0"/>
                                      <a:ea typeface="Arial"/>
                                      <a:cs typeface="Arial"/>
                                      <a:sym typeface="Arial"/>
                                    </a:rPr>
                                  </m:ctrlPr>
                                </m:dPr>
                                <m:e>
                                  <m:r>
                                    <a:rPr lang="en-US" sz="2000" i="1" dirty="0" err="1" smtClean="0">
                                      <a:latin typeface="Cambria Math" panose="02040503050406030204" pitchFamily="18" charset="0"/>
                                      <a:ea typeface="Arial"/>
                                      <a:cs typeface="Arial"/>
                                      <a:sym typeface="Arial"/>
                                    </a:rPr>
                                    <m:t>𝑥</m:t>
                                  </m:r>
                                  <m:r>
                                    <a:rPr lang="en-US" sz="2000" i="1" dirty="0" err="1" smtClean="0">
                                      <a:latin typeface="Cambria Math" panose="02040503050406030204" pitchFamily="18" charset="0"/>
                                      <a:ea typeface="Arial"/>
                                      <a:cs typeface="Arial"/>
                                      <a:sym typeface="Arial"/>
                                    </a:rPr>
                                    <m:t>,</m:t>
                                  </m:r>
                                  <m:r>
                                    <a:rPr lang="en-US" sz="2000" i="1" dirty="0" err="1" smtClean="0">
                                      <a:latin typeface="Cambria Math" panose="02040503050406030204" pitchFamily="18" charset="0"/>
                                      <a:ea typeface="Arial"/>
                                      <a:cs typeface="Arial"/>
                                      <a:sym typeface="Arial"/>
                                    </a:rPr>
                                    <m:t>𝑦</m:t>
                                  </m:r>
                                </m:e>
                              </m:d>
                            </m:e>
                          </m:nary>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Because </a:t>
                </a:r>
                <a14:m>
                  <m:oMath xmlns:m="http://schemas.openxmlformats.org/officeDocument/2006/math">
                    <m:r>
                      <a:rPr lang="en-US" sz="2000" i="1" dirty="0" smtClean="0">
                        <a:latin typeface="Cambria Math" panose="02040503050406030204" pitchFamily="18" charset="0"/>
                        <a:ea typeface="Arial"/>
                        <a:cs typeface="Arial"/>
                        <a:sym typeface="Arial"/>
                      </a:rPr>
                      <m:t>𝐼</m:t>
                    </m:r>
                    <m:r>
                      <a:rPr lang="en-US" sz="2000" i="1" dirty="0" smtClean="0">
                        <a:latin typeface="Cambria Math" panose="02040503050406030204" pitchFamily="18" charset="0"/>
                        <a:ea typeface="Arial"/>
                        <a:cs typeface="Arial"/>
                        <a:sym typeface="Arial"/>
                      </a:rPr>
                      <m:t>(</m:t>
                    </m:r>
                    <m:r>
                      <a:rPr lang="en-US" sz="2000" i="1" dirty="0" err="1">
                        <a:latin typeface="Cambria Math" panose="02040503050406030204" pitchFamily="18" charset="0"/>
                        <a:ea typeface="Arial"/>
                        <a:cs typeface="Arial"/>
                        <a:sym typeface="Arial"/>
                      </a:rPr>
                      <m:t>𝑥</m:t>
                    </m:r>
                    <m:r>
                      <a:rPr lang="en-US" sz="2000" i="1" dirty="0" err="1">
                        <a:latin typeface="Cambria Math" panose="02040503050406030204" pitchFamily="18" charset="0"/>
                        <a:ea typeface="Arial"/>
                        <a:cs typeface="Arial"/>
                        <a:sym typeface="Arial"/>
                      </a:rPr>
                      <m:t>,</m:t>
                    </m:r>
                    <m:r>
                      <a:rPr lang="en-US" sz="2000" i="1" dirty="0" err="1">
                        <a:latin typeface="Cambria Math" panose="02040503050406030204" pitchFamily="18" charset="0"/>
                        <a:ea typeface="Arial"/>
                        <a:cs typeface="Arial"/>
                        <a:sym typeface="Arial"/>
                      </a:rPr>
                      <m:t>𝑦</m:t>
                    </m:r>
                    <m:r>
                      <a:rPr lang="en-US" sz="2000" i="1" dirty="0">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is either 1 or 0, </a:t>
                </a:r>
                <a14:m>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𝑀</m:t>
                        </m:r>
                      </m:e>
                      <m:sub>
                        <m:r>
                          <a:rPr lang="en-US" sz="2000" i="1" dirty="0">
                            <a:latin typeface="Cambria Math" panose="02040503050406030204" pitchFamily="18" charset="0"/>
                            <a:ea typeface="Arial"/>
                            <a:cs typeface="Arial"/>
                            <a:sym typeface="Arial"/>
                          </a:rPr>
                          <m:t>00</m:t>
                        </m:r>
                      </m:sub>
                    </m:sSub>
                  </m:oMath>
                </a14:m>
                <a:r>
                  <a:rPr lang="en-US" sz="2000" dirty="0">
                    <a:latin typeface="Atkinson Hyperlegible Next"/>
                    <a:ea typeface="Arial"/>
                    <a:cs typeface="Arial"/>
                    <a:sym typeface="Arial"/>
                  </a:rPr>
                  <a:t> is simply the total sum of white pixels. </a:t>
                </a:r>
                <a14:m>
                  <m:oMath xmlns:m="http://schemas.openxmlformats.org/officeDocument/2006/math">
                    <m:sSub>
                      <m:sSubPr>
                        <m:ctrlPr>
                          <a:rPr lang="en-US" sz="2000" i="1" dirty="0">
                            <a:latin typeface="Cambria Math" panose="02040503050406030204" pitchFamily="18" charset="0"/>
                            <a:ea typeface="Arial"/>
                            <a:cs typeface="Arial"/>
                            <a:sym typeface="Arial"/>
                          </a:rPr>
                        </m:ctrlPr>
                      </m:sSubPr>
                      <m:e>
                        <m:r>
                          <a:rPr lang="en-US" sz="2000" i="1" dirty="0">
                            <a:latin typeface="Cambria Math" panose="02040503050406030204" pitchFamily="18" charset="0"/>
                            <a:ea typeface="Arial"/>
                            <a:cs typeface="Arial"/>
                            <a:sym typeface="Arial"/>
                          </a:rPr>
                          <m:t>𝑀</m:t>
                        </m:r>
                      </m:e>
                      <m:sub>
                        <m:r>
                          <a:rPr lang="en-US" sz="2000" i="1" dirty="0">
                            <a:latin typeface="Cambria Math" panose="02040503050406030204" pitchFamily="18" charset="0"/>
                            <a:ea typeface="Arial"/>
                            <a:cs typeface="Arial"/>
                            <a:sym typeface="Arial"/>
                          </a:rPr>
                          <m:t>00</m:t>
                        </m:r>
                      </m:sub>
                    </m:sSub>
                    <m:r>
                      <a:rPr lang="en-US" sz="2000" b="0" i="1" dirty="0" smtClean="0">
                        <a:latin typeface="Cambria Math" panose="02040503050406030204" pitchFamily="18" charset="0"/>
                        <a:ea typeface="Arial"/>
                        <a:cs typeface="Arial"/>
                        <a:sym typeface="Arial"/>
                      </a:rPr>
                      <m:t>=</m:t>
                    </m:r>
                    <m:r>
                      <m:rPr>
                        <m:sty m:val="p"/>
                      </m:rPr>
                      <a:rPr lang="en-US" sz="2000" b="0" i="1" dirty="0" smtClean="0">
                        <a:latin typeface="Cambria Math" panose="02040503050406030204" pitchFamily="18" charset="0"/>
                        <a:ea typeface="Arial"/>
                        <a:cs typeface="Arial"/>
                        <a:sym typeface="Arial"/>
                      </a:rPr>
                      <m:t>Area</m:t>
                    </m:r>
                    <m:r>
                      <a:rPr lang="en-US" sz="2000" b="0" i="1" dirty="0" smtClean="0">
                        <a:latin typeface="Cambria Math" panose="02040503050406030204" pitchFamily="18" charset="0"/>
                        <a:ea typeface="Arial"/>
                        <a:cs typeface="Arial"/>
                        <a:sym typeface="Arial"/>
                      </a:rPr>
                      <m:t> </m:t>
                    </m:r>
                    <m:r>
                      <m:rPr>
                        <m:sty m:val="p"/>
                      </m:rPr>
                      <a:rPr lang="en-US" sz="2000" b="0" i="1" dirty="0" smtClean="0">
                        <a:latin typeface="Cambria Math" panose="02040503050406030204" pitchFamily="18" charset="0"/>
                        <a:ea typeface="Arial"/>
                        <a:cs typeface="Arial"/>
                        <a:sym typeface="Arial"/>
                      </a:rPr>
                      <m:t>of</m:t>
                    </m:r>
                    <m:r>
                      <a:rPr lang="en-US" sz="2000" b="0" i="1" dirty="0" smtClean="0">
                        <a:latin typeface="Cambria Math" panose="02040503050406030204" pitchFamily="18" charset="0"/>
                        <a:ea typeface="Arial"/>
                        <a:cs typeface="Arial"/>
                        <a:sym typeface="Arial"/>
                      </a:rPr>
                      <m:t> </m:t>
                    </m:r>
                    <m:r>
                      <m:rPr>
                        <m:sty m:val="p"/>
                      </m:rPr>
                      <a:rPr lang="en-US" sz="2000" b="0" i="1" dirty="0" smtClean="0">
                        <a:latin typeface="Cambria Math" panose="02040503050406030204" pitchFamily="18" charset="0"/>
                        <a:ea typeface="Arial"/>
                        <a:cs typeface="Arial"/>
                        <a:sym typeface="Arial"/>
                      </a:rPr>
                      <m:t>the</m:t>
                    </m:r>
                    <m:r>
                      <a:rPr lang="en-US" sz="2000" b="0" i="1" dirty="0" smtClean="0">
                        <a:latin typeface="Cambria Math" panose="02040503050406030204" pitchFamily="18" charset="0"/>
                        <a:ea typeface="Arial"/>
                        <a:cs typeface="Arial"/>
                        <a:sym typeface="Arial"/>
                      </a:rPr>
                      <m:t> </m:t>
                    </m:r>
                    <m:r>
                      <m:rPr>
                        <m:sty m:val="p"/>
                      </m:rPr>
                      <a:rPr lang="en-US" sz="2000" b="0" i="1" dirty="0" smtClean="0">
                        <a:latin typeface="Cambria Math" panose="02040503050406030204" pitchFamily="18" charset="0"/>
                        <a:ea typeface="Arial"/>
                        <a:cs typeface="Arial"/>
                        <a:sym typeface="Arial"/>
                      </a:rPr>
                      <m:t>Blob</m:t>
                    </m:r>
                  </m:oMath>
                </a14:m>
                <a:r>
                  <a:rPr lang="en-US" sz="20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E8A61CA5-8E51-95E1-8492-071964A72525}"/>
                  </a:ext>
                </a:extLst>
              </p:cNvPr>
              <p:cNvSpPr txBox="1">
                <a:spLocks noGrp="1" noRot="1" noChangeAspect="1" noMove="1" noResize="1" noEditPoints="1" noAdjustHandles="1" noChangeArrowheads="1" noChangeShapeType="1" noTextEdit="1"/>
              </p:cNvSpPr>
              <p:nvPr>
                <p:ph type="body" idx="1"/>
              </p:nvPr>
            </p:nvSpPr>
            <p:spPr>
              <a:xfrm>
                <a:off x="376809" y="1334279"/>
                <a:ext cx="11593518" cy="4821102"/>
              </a:xfrm>
              <a:prstGeom prst="rect">
                <a:avLst/>
              </a:prstGeom>
              <a:blipFill>
                <a:blip r:embed="rId3"/>
                <a:stretch>
                  <a:fillRect l="-578"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DE1CF4A-28B7-D263-9F49-1337C2D1139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D90515D-1860-8C44-D3E5-F37464630AD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358DBA0-4F5F-A797-6787-6CAFBD07617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29244F2-7CA8-166B-F5C1-4F35AB3F5F5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1B9E5DE-AE46-2F45-EED7-1287D87A1E5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8457993-5AFF-4D30-D1CC-355E5301C7A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2C2F0F1-28EC-AB06-F0F2-B1483C7156F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CC67176-3C91-0ACF-CE73-60809F3481E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3862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3999390-1254-3F29-8C88-274BD88E6D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484AF18-1653-7582-DAA9-ADDC230031EC}"/>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To find the center, we need the 1st order moments, </a:t>
                </a:r>
                <a14:m>
                  <m:oMath xmlns:m="http://schemas.openxmlformats.org/officeDocument/2006/math">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𝑀</m:t>
                        </m:r>
                      </m:e>
                      <m:sub>
                        <m:r>
                          <a:rPr lang="en-US" sz="2400" b="0" i="1" dirty="0" smtClean="0">
                            <a:latin typeface="Cambria Math" panose="02040503050406030204" pitchFamily="18" charset="0"/>
                            <a:ea typeface="Arial"/>
                            <a:cs typeface="Arial"/>
                            <a:sym typeface="Arial"/>
                          </a:rPr>
                          <m:t>10</m:t>
                        </m:r>
                      </m:sub>
                    </m:sSub>
                  </m:oMath>
                </a14:m>
                <a:r>
                  <a:rPr lang="en-US" sz="2400" dirty="0">
                    <a:latin typeface="Atkinson Hyperlegible Next"/>
                    <a:ea typeface="Arial"/>
                    <a:cs typeface="Arial"/>
                    <a:sym typeface="Arial"/>
                  </a:rPr>
                  <a:t> and </a:t>
                </a:r>
                <a14:m>
                  <m:oMath xmlns:m="http://schemas.openxmlformats.org/officeDocument/2006/math">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𝑀</m:t>
                        </m:r>
                      </m:e>
                      <m:sub>
                        <m:r>
                          <a:rPr lang="en-US" sz="2400" b="0" i="1" dirty="0" smtClean="0">
                            <a:latin typeface="Cambria Math" panose="02040503050406030204" pitchFamily="18" charset="0"/>
                            <a:ea typeface="Arial"/>
                            <a:cs typeface="Arial"/>
                            <a:sym typeface="Arial"/>
                          </a:rPr>
                          <m:t>01</m:t>
                        </m:r>
                      </m:sub>
                    </m:sSub>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𝑀</m:t>
                        </m:r>
                      </m:e>
                      <m:sub>
                        <m:r>
                          <a:rPr lang="en-US" sz="2400" i="1" dirty="0" smtClean="0">
                            <a:latin typeface="Cambria Math" panose="02040503050406030204" pitchFamily="18" charset="0"/>
                            <a:ea typeface="Arial"/>
                            <a:cs typeface="Arial"/>
                            <a:sym typeface="Arial"/>
                          </a:rPr>
                          <m:t>10</m:t>
                        </m:r>
                      </m:sub>
                    </m:sSub>
                    <m:r>
                      <a:rPr lang="en-US" sz="2400" i="1" dirty="0" smtClean="0">
                        <a:latin typeface="Cambria Math" panose="02040503050406030204" pitchFamily="18" charset="0"/>
                        <a:ea typeface="Arial"/>
                        <a:cs typeface="Arial"/>
                        <a:sym typeface="Arial"/>
                      </a:rPr>
                      <m:t>=</m:t>
                    </m:r>
                    <m:nary>
                      <m:naryPr>
                        <m:chr m:val="∑"/>
                        <m:supHide m:val="on"/>
                        <m:ctrlPr>
                          <a:rPr lang="en-US" sz="2400" i="1" dirty="0" smtClean="0">
                            <a:latin typeface="Cambria Math" panose="02040503050406030204" pitchFamily="18" charset="0"/>
                            <a:ea typeface="Arial"/>
                            <a:cs typeface="Arial"/>
                            <a:sym typeface="Arial"/>
                          </a:rPr>
                        </m:ctrlPr>
                      </m:naryPr>
                      <m:sub>
                        <m:r>
                          <a:rPr lang="en-US" sz="2400" i="1" dirty="0" smtClean="0">
                            <a:latin typeface="Cambria Math" panose="02040503050406030204" pitchFamily="18" charset="0"/>
                            <a:ea typeface="Arial"/>
                            <a:cs typeface="Arial"/>
                            <a:sym typeface="Arial"/>
                          </a:rPr>
                          <m:t>𝑥</m:t>
                        </m:r>
                      </m:sub>
                      <m:sup/>
                      <m:e>
                        <m:nary>
                          <m:naryPr>
                            <m:chr m:val="∑"/>
                            <m:supHide m:val="on"/>
                            <m:ctrlPr>
                              <a:rPr lang="en-US" sz="2400" i="1" dirty="0" smtClean="0">
                                <a:latin typeface="Cambria Math" panose="02040503050406030204" pitchFamily="18" charset="0"/>
                                <a:ea typeface="Arial"/>
                                <a:cs typeface="Arial"/>
                                <a:sym typeface="Arial"/>
                              </a:rPr>
                            </m:ctrlPr>
                          </m:naryPr>
                          <m:sub>
                            <m:r>
                              <a:rPr lang="en-US" sz="2400" i="1" dirty="0" smtClean="0">
                                <a:latin typeface="Cambria Math" panose="02040503050406030204" pitchFamily="18" charset="0"/>
                                <a:ea typeface="Arial"/>
                                <a:cs typeface="Arial"/>
                                <a:sym typeface="Arial"/>
                              </a:rPr>
                              <m:t>𝑦</m:t>
                            </m:r>
                          </m:sub>
                          <m:sup/>
                          <m:e>
                            <m:r>
                              <a:rPr lang="en-US" sz="2400" i="1" dirty="0" smtClean="0">
                                <a:latin typeface="Cambria Math" panose="02040503050406030204" pitchFamily="18" charset="0"/>
                                <a:ea typeface="Arial"/>
                                <a:cs typeface="Arial"/>
                                <a:sym typeface="Arial"/>
                              </a:rPr>
                              <m:t>𝑥</m:t>
                            </m:r>
                          </m:e>
                        </m:nary>
                      </m:e>
                    </m:nary>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𝐼</m:t>
                    </m:r>
                    <m:d>
                      <m:dPr>
                        <m:ctrlPr>
                          <a:rPr lang="en-US" sz="2400" i="1" dirty="0" smtClean="0">
                            <a:latin typeface="Cambria Math" panose="02040503050406030204" pitchFamily="18" charset="0"/>
                            <a:ea typeface="Arial"/>
                            <a:cs typeface="Arial"/>
                            <a:sym typeface="Arial"/>
                          </a:rPr>
                        </m:ctrlPr>
                      </m:dPr>
                      <m:e>
                        <m:r>
                          <a:rPr lang="en-US" sz="2400" i="1" dirty="0" err="1" smtClean="0">
                            <a:latin typeface="Cambria Math" panose="02040503050406030204" pitchFamily="18" charset="0"/>
                            <a:ea typeface="Arial"/>
                            <a:cs typeface="Arial"/>
                            <a:sym typeface="Arial"/>
                          </a:rPr>
                          <m:t>𝑥</m:t>
                        </m:r>
                        <m:r>
                          <a:rPr lang="en-US" sz="2400" i="1" dirty="0" err="1" smtClean="0">
                            <a:latin typeface="Cambria Math" panose="02040503050406030204" pitchFamily="18" charset="0"/>
                            <a:ea typeface="Arial"/>
                            <a:cs typeface="Arial"/>
                            <a:sym typeface="Arial"/>
                          </a:rPr>
                          <m:t>,</m:t>
                        </m:r>
                        <m:r>
                          <a:rPr lang="en-US" sz="2400" i="1" dirty="0" err="1" smtClean="0">
                            <a:latin typeface="Cambria Math" panose="02040503050406030204" pitchFamily="18" charset="0"/>
                            <a:ea typeface="Arial"/>
                            <a:cs typeface="Arial"/>
                            <a:sym typeface="Arial"/>
                          </a:rPr>
                          <m:t>𝑦</m:t>
                        </m:r>
                      </m:e>
                    </m:d>
                  </m:oMath>
                </a14:m>
                <a:r>
                  <a:rPr lang="en-US" sz="2400" dirty="0">
                    <a:latin typeface="Atkinson Hyperlegible Next"/>
                    <a:ea typeface="Arial"/>
                    <a:cs typeface="Arial"/>
                    <a:sym typeface="Arial"/>
                  </a:rPr>
                  <a:t> (This is the sum of all the X-coordinates of the white pixels).</a:t>
                </a:r>
              </a:p>
              <a:p>
                <a:pPr marL="0" indent="0">
                  <a:lnSpc>
                    <a:spcPct val="100000"/>
                  </a:lnSpc>
                  <a:spcBef>
                    <a:spcPts val="0"/>
                  </a:spcBef>
                  <a:buSzPts val="3000"/>
                  <a:buNone/>
                </a:pP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𝑀</m:t>
                        </m:r>
                      </m:e>
                      <m:sub>
                        <m:r>
                          <a:rPr lang="en-US" sz="2400" i="1" dirty="0" smtClean="0">
                            <a:latin typeface="Cambria Math" panose="02040503050406030204" pitchFamily="18" charset="0"/>
                            <a:ea typeface="Arial"/>
                            <a:cs typeface="Arial"/>
                            <a:sym typeface="Arial"/>
                          </a:rPr>
                          <m:t>01</m:t>
                        </m:r>
                      </m:sub>
                    </m:sSub>
                    <m:r>
                      <a:rPr lang="en-US" sz="2400" i="1" dirty="0" smtClean="0">
                        <a:latin typeface="Cambria Math" panose="02040503050406030204" pitchFamily="18" charset="0"/>
                        <a:ea typeface="Arial"/>
                        <a:cs typeface="Arial"/>
                        <a:sym typeface="Arial"/>
                      </a:rPr>
                      <m:t>=</m:t>
                    </m:r>
                    <m:nary>
                      <m:naryPr>
                        <m:chr m:val="∑"/>
                        <m:supHide m:val="on"/>
                        <m:ctrlPr>
                          <a:rPr lang="en-US" sz="2400" i="1" dirty="0" smtClean="0">
                            <a:latin typeface="Cambria Math" panose="02040503050406030204" pitchFamily="18" charset="0"/>
                            <a:ea typeface="Arial"/>
                            <a:cs typeface="Arial"/>
                            <a:sym typeface="Arial"/>
                          </a:rPr>
                        </m:ctrlPr>
                      </m:naryPr>
                      <m:sub>
                        <m:r>
                          <a:rPr lang="en-US" sz="2400" i="1" dirty="0" smtClean="0">
                            <a:latin typeface="Cambria Math" panose="02040503050406030204" pitchFamily="18" charset="0"/>
                            <a:ea typeface="Arial"/>
                            <a:cs typeface="Arial"/>
                            <a:sym typeface="Arial"/>
                          </a:rPr>
                          <m:t>𝑥</m:t>
                        </m:r>
                      </m:sub>
                      <m:sup/>
                      <m:e>
                        <m:nary>
                          <m:naryPr>
                            <m:chr m:val="∑"/>
                            <m:supHide m:val="on"/>
                            <m:ctrlPr>
                              <a:rPr lang="en-US" sz="2400" i="1" dirty="0" smtClean="0">
                                <a:latin typeface="Cambria Math" panose="02040503050406030204" pitchFamily="18" charset="0"/>
                                <a:ea typeface="Arial"/>
                                <a:cs typeface="Arial"/>
                                <a:sym typeface="Arial"/>
                              </a:rPr>
                            </m:ctrlPr>
                          </m:naryPr>
                          <m:sub>
                            <m:r>
                              <a:rPr lang="en-US" sz="2400" i="1" dirty="0" smtClean="0">
                                <a:latin typeface="Cambria Math" panose="02040503050406030204" pitchFamily="18" charset="0"/>
                                <a:ea typeface="Arial"/>
                                <a:cs typeface="Arial"/>
                                <a:sym typeface="Arial"/>
                              </a:rPr>
                              <m:t>𝑦</m:t>
                            </m:r>
                          </m:sub>
                          <m:sup/>
                          <m:e>
                            <m:r>
                              <a:rPr lang="en-US" sz="2400" i="1" dirty="0" smtClean="0">
                                <a:latin typeface="Cambria Math" panose="02040503050406030204" pitchFamily="18" charset="0"/>
                                <a:ea typeface="Arial"/>
                                <a:cs typeface="Arial"/>
                                <a:sym typeface="Arial"/>
                              </a:rPr>
                              <m:t>𝑦</m:t>
                            </m:r>
                          </m:e>
                        </m:nary>
                      </m:e>
                    </m:nary>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𝐼</m:t>
                    </m:r>
                    <m:d>
                      <m:dPr>
                        <m:ctrlPr>
                          <a:rPr lang="en-US" sz="2400" i="1" dirty="0" smtClean="0">
                            <a:latin typeface="Cambria Math" panose="02040503050406030204" pitchFamily="18" charset="0"/>
                            <a:ea typeface="Arial"/>
                            <a:cs typeface="Arial"/>
                            <a:sym typeface="Arial"/>
                          </a:rPr>
                        </m:ctrlPr>
                      </m:dPr>
                      <m:e>
                        <m:r>
                          <a:rPr lang="en-US" sz="2400" i="1" dirty="0" err="1" smtClean="0">
                            <a:latin typeface="Cambria Math" panose="02040503050406030204" pitchFamily="18" charset="0"/>
                            <a:ea typeface="Arial"/>
                            <a:cs typeface="Arial"/>
                            <a:sym typeface="Arial"/>
                          </a:rPr>
                          <m:t>𝑥</m:t>
                        </m:r>
                        <m:r>
                          <a:rPr lang="en-US" sz="2400" i="1" dirty="0" err="1" smtClean="0">
                            <a:latin typeface="Cambria Math" panose="02040503050406030204" pitchFamily="18" charset="0"/>
                            <a:ea typeface="Arial"/>
                            <a:cs typeface="Arial"/>
                            <a:sym typeface="Arial"/>
                          </a:rPr>
                          <m:t>,</m:t>
                        </m:r>
                        <m:r>
                          <a:rPr lang="en-US" sz="2400" i="1" dirty="0" err="1" smtClean="0">
                            <a:latin typeface="Cambria Math" panose="02040503050406030204" pitchFamily="18" charset="0"/>
                            <a:ea typeface="Arial"/>
                            <a:cs typeface="Arial"/>
                            <a:sym typeface="Arial"/>
                          </a:rPr>
                          <m:t>𝑦</m:t>
                        </m:r>
                      </m:e>
                    </m:d>
                  </m:oMath>
                </a14:m>
                <a:r>
                  <a:rPr lang="en-US" sz="2400" dirty="0">
                    <a:latin typeface="Atkinson Hyperlegible Next"/>
                    <a:ea typeface="Arial"/>
                    <a:cs typeface="Arial"/>
                    <a:sym typeface="Arial"/>
                  </a:rPr>
                  <a:t> (This is the sum of all the Y-coordinates of the white pixels).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These act as our weighted spatial totals.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 find the exact center pixel </a:t>
                </a:r>
                <a14:m>
                  <m:oMath xmlns:m="http://schemas.openxmlformats.org/officeDocument/2006/math">
                    <m:d>
                      <m:dPr>
                        <m:ctrlPr>
                          <a:rPr lang="en-US" sz="2400" i="1" dirty="0" smtClean="0">
                            <a:latin typeface="Cambria Math" panose="02040503050406030204" pitchFamily="18" charset="0"/>
                            <a:ea typeface="Arial"/>
                            <a:cs typeface="Arial"/>
                            <a:sym typeface="Arial"/>
                          </a:rPr>
                        </m:ctrlPr>
                      </m:dPr>
                      <m:e>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𝑥</m:t>
                            </m:r>
                          </m:e>
                        </m:acc>
                        <m:r>
                          <a:rPr lang="en-US" sz="2400" i="1" dirty="0" smtClean="0">
                            <a:latin typeface="Cambria Math" panose="02040503050406030204" pitchFamily="18" charset="0"/>
                            <a:ea typeface="Arial"/>
                            <a:cs typeface="Arial"/>
                            <a:sym typeface="Arial"/>
                          </a:rPr>
                          <m:t>,</m:t>
                        </m:r>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𝑦</m:t>
                            </m:r>
                          </m:e>
                        </m:acc>
                      </m:e>
                    </m:d>
                  </m:oMath>
                </a14:m>
                <a:r>
                  <a:rPr lang="en-US" sz="2400" dirty="0">
                    <a:latin typeface="Atkinson Hyperlegible Next"/>
                    <a:ea typeface="Arial"/>
                    <a:cs typeface="Arial"/>
                    <a:sym typeface="Arial"/>
                  </a:rPr>
                  <a:t>, we divide the spatial totals by the total area.</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𝑥</m:t>
                          </m:r>
                        </m:e>
                      </m:acc>
                      <m:r>
                        <a:rPr lang="en-US" sz="2400" i="1" dirty="0" smtClean="0">
                          <a:latin typeface="Cambria Math" panose="02040503050406030204" pitchFamily="18" charset="0"/>
                          <a:ea typeface="Arial"/>
                          <a:cs typeface="Arial"/>
                          <a:sym typeface="Arial"/>
                        </a:rPr>
                        <m:t>=</m:t>
                      </m:r>
                      <m:f>
                        <m:fPr>
                          <m:ctrlPr>
                            <a:rPr lang="en-US" sz="2400" i="1" dirty="0" smtClean="0">
                              <a:latin typeface="Cambria Math" panose="02040503050406030204" pitchFamily="18" charset="0"/>
                              <a:ea typeface="Arial"/>
                              <a:cs typeface="Arial"/>
                              <a:sym typeface="Arial"/>
                            </a:rPr>
                          </m:ctrlPr>
                        </m:fPr>
                        <m:num>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𝑀</m:t>
                              </m:r>
                            </m:e>
                            <m:sub>
                              <m:r>
                                <a:rPr lang="en-US" sz="2400" i="1" dirty="0" smtClean="0">
                                  <a:latin typeface="Cambria Math" panose="02040503050406030204" pitchFamily="18" charset="0"/>
                                  <a:ea typeface="Arial"/>
                                  <a:cs typeface="Arial"/>
                                  <a:sym typeface="Arial"/>
                                </a:rPr>
                                <m:t>10</m:t>
                              </m:r>
                            </m:sub>
                          </m:sSub>
                        </m:num>
                        <m:den>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𝑀</m:t>
                              </m:r>
                            </m:e>
                            <m:sub>
                              <m:r>
                                <a:rPr lang="en-US" sz="2400" i="1" dirty="0" smtClean="0">
                                  <a:latin typeface="Cambria Math" panose="02040503050406030204" pitchFamily="18" charset="0"/>
                                  <a:ea typeface="Arial"/>
                                  <a:cs typeface="Arial"/>
                                  <a:sym typeface="Arial"/>
                                </a:rPr>
                                <m:t>00</m:t>
                              </m:r>
                            </m:sub>
                          </m:sSub>
                        </m:den>
                      </m:f>
                      <m:r>
                        <a:rPr lang="en-US" sz="2400" b="0" i="1" dirty="0" smtClean="0">
                          <a:latin typeface="Cambria Math" panose="02040503050406030204" pitchFamily="18" charset="0"/>
                          <a:ea typeface="Arial"/>
                          <a:cs typeface="Arial"/>
                          <a:sym typeface="Arial"/>
                        </a:rPr>
                        <m:t>,  </m:t>
                      </m:r>
                      <m:acc>
                        <m:accPr>
                          <m:chr m:val="̅"/>
                          <m:ctrlPr>
                            <a:rPr lang="en-US" sz="2400" i="1" dirty="0">
                              <a:latin typeface="Cambria Math" panose="02040503050406030204" pitchFamily="18" charset="0"/>
                              <a:ea typeface="Arial"/>
                              <a:cs typeface="Arial"/>
                              <a:sym typeface="Arial"/>
                            </a:rPr>
                          </m:ctrlPr>
                        </m:accPr>
                        <m:e>
                          <m:r>
                            <a:rPr lang="en-US" sz="2400" i="1" dirty="0">
                              <a:latin typeface="Cambria Math" panose="02040503050406030204" pitchFamily="18" charset="0"/>
                              <a:ea typeface="Arial"/>
                              <a:cs typeface="Arial"/>
                              <a:sym typeface="Arial"/>
                            </a:rPr>
                            <m:t>𝑦</m:t>
                          </m:r>
                        </m:e>
                      </m:acc>
                      <m:r>
                        <a:rPr lang="en-US" sz="2400" i="1" dirty="0">
                          <a:latin typeface="Cambria Math" panose="02040503050406030204" pitchFamily="18" charset="0"/>
                          <a:ea typeface="Arial"/>
                          <a:cs typeface="Arial"/>
                          <a:sym typeface="Arial"/>
                        </a:rPr>
                        <m:t>=</m:t>
                      </m:r>
                      <m:f>
                        <m:fPr>
                          <m:ctrlPr>
                            <a:rPr lang="en-US" sz="2400" i="1" dirty="0">
                              <a:latin typeface="Cambria Math" panose="02040503050406030204" pitchFamily="18" charset="0"/>
                              <a:ea typeface="Arial"/>
                              <a:cs typeface="Arial"/>
                              <a:sym typeface="Arial"/>
                            </a:rPr>
                          </m:ctrlPr>
                        </m:fPr>
                        <m:num>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𝑀</m:t>
                              </m:r>
                            </m:e>
                            <m:sub>
                              <m:r>
                                <a:rPr lang="en-US" sz="2400" i="1" dirty="0">
                                  <a:latin typeface="Cambria Math" panose="02040503050406030204" pitchFamily="18" charset="0"/>
                                  <a:ea typeface="Arial"/>
                                  <a:cs typeface="Arial"/>
                                  <a:sym typeface="Arial"/>
                                </a:rPr>
                                <m:t>01</m:t>
                              </m:r>
                            </m:sub>
                          </m:sSub>
                        </m:num>
                        <m:den>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𝑀</m:t>
                              </m:r>
                            </m:e>
                            <m:sub>
                              <m:r>
                                <a:rPr lang="en-US" sz="2400" i="1" dirty="0">
                                  <a:latin typeface="Cambria Math" panose="02040503050406030204" pitchFamily="18" charset="0"/>
                                  <a:ea typeface="Arial"/>
                                  <a:cs typeface="Arial"/>
                                  <a:sym typeface="Arial"/>
                                </a:rPr>
                                <m:t>00</m:t>
                              </m:r>
                            </m:sub>
                          </m:sSub>
                        </m:den>
                      </m:f>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484AF18-1653-7582-DAA9-ADDC230031EC}"/>
                  </a:ext>
                </a:extLst>
              </p:cNvPr>
              <p:cNvSpPr txBox="1">
                <a:spLocks noGrp="1" noRot="1" noChangeAspect="1" noMove="1" noResize="1" noEditPoints="1" noAdjustHandles="1" noChangeArrowheads="1" noChangeShapeType="1" noTextEdit="1"/>
              </p:cNvSpPr>
              <p:nvPr>
                <p:ph type="body" idx="1"/>
              </p:nvPr>
            </p:nvSpPr>
            <p:spPr>
              <a:xfrm>
                <a:off x="376809" y="1334279"/>
                <a:ext cx="11593518" cy="4821102"/>
              </a:xfrm>
              <a:prstGeom prst="rect">
                <a:avLst/>
              </a:prstGeom>
              <a:blipFill>
                <a:blip r:embed="rId3"/>
                <a:stretch>
                  <a:fillRect l="-841"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E6AF6E5-C186-0008-21B9-C4755A32499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97C9715-292A-263E-6E4C-06C829E5492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6EE2203-E8AE-5F68-B52F-A0C0D33C4A6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5C44378-F085-62C5-18F4-D271A722B08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8F780A-83CE-7929-4DB9-957AF6B7B16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8F39A78-F1B2-A8AF-2EEE-3F86690D6A3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A5FAD2A-EE93-A0D8-6A37-10C41B0D04B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B7CDD45-7A86-1605-D56A-2D02B4A197F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4871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94E4742-1C25-FBBC-11E9-9A0692A696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A19ADA2-69FD-0496-DC38-CC3E2EB7DDAB}"/>
                  </a:ext>
                </a:extLst>
              </p:cNvPr>
              <p:cNvSpPr txBox="1">
                <a:spLocks noGrp="1"/>
              </p:cNvSpPr>
              <p:nvPr>
                <p:ph type="body" idx="1"/>
              </p:nvPr>
            </p:nvSpPr>
            <p:spPr>
              <a:xfrm>
                <a:off x="376809" y="1334279"/>
                <a:ext cx="1159351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Now we have </a:t>
                </a:r>
                <a14:m>
                  <m:oMath xmlns:m="http://schemas.openxmlformats.org/officeDocument/2006/math">
                    <m:d>
                      <m:dPr>
                        <m:ctrlPr>
                          <a:rPr lang="en-US" sz="2400" i="1" dirty="0" smtClean="0">
                            <a:latin typeface="Cambria Math" panose="02040503050406030204" pitchFamily="18" charset="0"/>
                            <a:ea typeface="Arial"/>
                            <a:cs typeface="Arial"/>
                            <a:sym typeface="Arial"/>
                          </a:rPr>
                        </m:ctrlPr>
                      </m:dPr>
                      <m:e>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𝑥</m:t>
                            </m:r>
                          </m:e>
                        </m:acc>
                        <m:r>
                          <a:rPr lang="en-US" sz="2400" i="1" dirty="0" smtClean="0">
                            <a:latin typeface="Cambria Math" panose="02040503050406030204" pitchFamily="18" charset="0"/>
                            <a:ea typeface="Arial"/>
                            <a:cs typeface="Arial"/>
                            <a:sym typeface="Arial"/>
                          </a:rPr>
                          <m:t>,</m:t>
                        </m:r>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𝑦</m:t>
                            </m:r>
                          </m:e>
                        </m:acc>
                      </m:e>
                    </m:d>
                  </m:oMath>
                </a14:m>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Let's say the image is </a:t>
                </a:r>
                <a14:m>
                  <m:oMath xmlns:m="http://schemas.openxmlformats.org/officeDocument/2006/math">
                    <m:r>
                      <a:rPr lang="en-US" sz="2400" i="1" dirty="0" smtClean="0">
                        <a:latin typeface="Cambria Math" panose="02040503050406030204" pitchFamily="18" charset="0"/>
                        <a:ea typeface="Arial"/>
                        <a:cs typeface="Arial"/>
                        <a:sym typeface="Arial"/>
                      </a:rPr>
                      <m:t>640 ×480</m:t>
                    </m:r>
                  </m:oMath>
                </a14:m>
                <a:r>
                  <a:rPr lang="en-US" sz="2400" dirty="0">
                    <a:latin typeface="Atkinson Hyperlegible Next"/>
                    <a:ea typeface="Arial"/>
                    <a:cs typeface="Arial"/>
                    <a:sym typeface="Arial"/>
                  </a:rPr>
                  <a:t> pixels.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center of the camera is </a:t>
                </a:r>
                <a14:m>
                  <m:oMath xmlns:m="http://schemas.openxmlformats.org/officeDocument/2006/math">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320,240</m:t>
                        </m:r>
                      </m:e>
                    </m:d>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our centroid is at </a:t>
                </a:r>
                <a14:m>
                  <m:oMath xmlns:m="http://schemas.openxmlformats.org/officeDocument/2006/math">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𝑥</m:t>
                        </m:r>
                      </m:e>
                    </m:acc>
                    <m:r>
                      <a:rPr lang="en-US" sz="2400" i="1" dirty="0" smtClean="0">
                        <a:latin typeface="Cambria Math" panose="02040503050406030204" pitchFamily="18" charset="0"/>
                        <a:ea typeface="Arial"/>
                        <a:cs typeface="Arial"/>
                        <a:sym typeface="Arial"/>
                      </a:rPr>
                      <m:t>=500</m:t>
                    </m:r>
                  </m:oMath>
                </a14:m>
                <a:r>
                  <a:rPr lang="en-US" sz="2400" dirty="0">
                    <a:latin typeface="Atkinson Hyperlegible Next"/>
                    <a:ea typeface="Arial"/>
                    <a:cs typeface="Arial"/>
                    <a:sym typeface="Arial"/>
                  </a:rPr>
                  <a:t>, where is the ball?</a:t>
                </a:r>
              </a:p>
              <a:p>
                <a:pPr marL="0" indent="0" algn="ctr">
                  <a:lnSpc>
                    <a:spcPct val="100000"/>
                  </a:lnSpc>
                  <a:spcBef>
                    <a:spcPts val="0"/>
                  </a:spcBef>
                  <a:buSzPts val="3000"/>
                  <a:buNone/>
                </a:pPr>
                <a:r>
                  <a:rPr lang="en-US" sz="2400" dirty="0">
                    <a:latin typeface="Atkinson Hyperlegible Next"/>
                    <a:ea typeface="Arial"/>
                    <a:cs typeface="Arial"/>
                    <a:sym typeface="Arial"/>
                  </a:rPr>
                  <a:t>It is to the right of the robot.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calculate the error: </a:t>
                </a:r>
                <a14:m>
                  <m:oMath xmlns:m="http://schemas.openxmlformats.org/officeDocument/2006/math">
                    <m:r>
                      <a:rPr lang="en-US" sz="2400" i="1" dirty="0" smtClean="0">
                        <a:latin typeface="Cambria Math" panose="02040503050406030204" pitchFamily="18" charset="0"/>
                        <a:ea typeface="Arial"/>
                        <a:cs typeface="Arial"/>
                        <a:sym typeface="Arial"/>
                      </a:rPr>
                      <m:t>𝑒</m:t>
                    </m:r>
                    <m:r>
                      <a:rPr lang="en-US" sz="2400" i="1" dirty="0" smtClean="0">
                        <a:latin typeface="Cambria Math" panose="02040503050406030204" pitchFamily="18" charset="0"/>
                        <a:ea typeface="Arial"/>
                        <a:cs typeface="Arial"/>
                        <a:sym typeface="Arial"/>
                      </a:rPr>
                      <m:t>=</m:t>
                    </m:r>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𝑥</m:t>
                        </m:r>
                      </m:e>
                    </m:acc>
                    <m:r>
                      <a:rPr lang="en-US" sz="2400" i="1" dirty="0" smtClean="0">
                        <a:latin typeface="Cambria Math" panose="02040503050406030204" pitchFamily="18" charset="0"/>
                        <a:ea typeface="Arial"/>
                        <a:cs typeface="Arial"/>
                        <a:sym typeface="Arial"/>
                      </a:rPr>
                      <m:t>−</m:t>
                    </m:r>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𝑋</m:t>
                        </m:r>
                      </m:e>
                      <m:sub>
                        <m:r>
                          <a:rPr lang="en-US" sz="2400" i="1" dirty="0" smtClean="0">
                            <a:latin typeface="Cambria Math" panose="02040503050406030204" pitchFamily="18" charset="0"/>
                            <a:ea typeface="Arial"/>
                            <a:cs typeface="Arial"/>
                            <a:sym typeface="Arial"/>
                          </a:rPr>
                          <m:t>𝑐𝑒𝑛𝑡𝑒𝑟</m:t>
                        </m:r>
                      </m:sub>
                    </m:sSub>
                    <m:r>
                      <a:rPr lang="en-US" sz="2400" i="1" dirty="0" smtClean="0">
                        <a:latin typeface="Cambria Math" panose="02040503050406030204" pitchFamily="18" charset="0"/>
                        <a:ea typeface="Arial"/>
                        <a:cs typeface="Arial"/>
                        <a:sym typeface="Arial"/>
                      </a:rPr>
                      <m:t>=500−320=180</m:t>
                    </m:r>
                  </m:oMath>
                </a14:m>
                <a:r>
                  <a:rPr lang="en-US" sz="2400" dirty="0">
                    <a:latin typeface="Atkinson Hyperlegible Next"/>
                    <a:ea typeface="Arial"/>
                    <a:cs typeface="Arial"/>
                    <a:sym typeface="Arial"/>
                  </a:rPr>
                  <a:t> pixels.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Given this error, we can pass this as an error to a PI controller to make the robot turn to face the target!</a:t>
                </a:r>
              </a:p>
            </p:txBody>
          </p:sp>
        </mc:Choice>
        <mc:Fallback xmlns="">
          <p:sp>
            <p:nvSpPr>
              <p:cNvPr id="118" name="Google Shape;118;p29">
                <a:extLst>
                  <a:ext uri="{FF2B5EF4-FFF2-40B4-BE49-F238E27FC236}">
                    <a16:creationId xmlns:a16="http://schemas.microsoft.com/office/drawing/2014/main" id="{8A19ADA2-69FD-0496-DC38-CC3E2EB7DDAB}"/>
                  </a:ext>
                </a:extLst>
              </p:cNvPr>
              <p:cNvSpPr txBox="1">
                <a:spLocks noGrp="1" noRot="1" noChangeAspect="1" noMove="1" noResize="1" noEditPoints="1" noAdjustHandles="1" noChangeArrowheads="1" noChangeShapeType="1" noTextEdit="1"/>
              </p:cNvSpPr>
              <p:nvPr>
                <p:ph type="body" idx="1"/>
              </p:nvPr>
            </p:nvSpPr>
            <p:spPr>
              <a:xfrm>
                <a:off x="376809" y="1334279"/>
                <a:ext cx="11593518" cy="4821102"/>
              </a:xfrm>
              <a:prstGeom prst="rect">
                <a:avLst/>
              </a:prstGeom>
              <a:blipFill>
                <a:blip r:embed="rId3"/>
                <a:stretch>
                  <a:fillRect l="-841" t="-885"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C3F718F-06B8-CEDB-BCA3-EB4873959CC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12EB922-1A2B-52F9-CF84-C586E56B615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321CB5C-2AAA-B3DE-FC97-6D5F5138048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6486268-8F88-DCAA-43EC-B8B4D2CC245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8242B90-7418-8E03-9FA1-03FD935C937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41DCADC-512F-2CC9-CBB9-A4A0B2E5353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35E0930-2409-63FF-1F31-4A81715864D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763C98D-3948-31AB-22EC-521EA297401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3923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121A589-6491-0677-5C38-E935FC1B2DC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CC0F767-F54E-A0E3-C78E-1DD342D4DE6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4497FE1-C721-98F9-C81D-EB6ED230E5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Camera Vision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04FC050-C463-EBE5-31A9-0EA59B2C71B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21E5BDC-A11D-728D-8126-C06DDE2781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E1E0D8-5B8D-D8EA-7E6C-E49802F597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E939C0B-F6FF-28A6-3BF9-54600C2EF28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BF44F4C-2A57-3533-92CA-EA0A9EB8770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4491EB6-E3CA-FA19-AF41-0A617197EE3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Online Media 4" title="Computer Vision Blob Detection" descr="YouTube video: Computer Vision Blob Detection (Marius Juston)">
            <a:hlinkClick r:id="" action="ppaction://media"/>
            <a:extLst>
              <a:ext uri="{FF2B5EF4-FFF2-40B4-BE49-F238E27FC236}">
                <a16:creationId xmlns:a16="http://schemas.microsoft.com/office/drawing/2014/main" id="{E8AA5AD8-B95F-8DA2-93C5-F0798C82327D}"/>
              </a:ext>
            </a:extLst>
          </p:cNvPr>
          <p:cNvPicPr>
            <a:picLocks noRot="1" noChangeAspect="1"/>
          </p:cNvPicPr>
          <p:nvPr>
            <a:videoFile r:link="rId1"/>
          </p:nvPr>
        </p:nvPicPr>
        <p:blipFill>
          <a:blip r:embed="rId5"/>
          <a:stretch>
            <a:fillRect/>
          </a:stretch>
        </p:blipFill>
        <p:spPr>
          <a:xfrm>
            <a:off x="1084621" y="903443"/>
            <a:ext cx="10022757" cy="5662871"/>
          </a:xfrm>
          <a:prstGeom prst="rect">
            <a:avLst/>
          </a:prstGeom>
        </p:spPr>
      </p:pic>
    </p:spTree>
    <p:extLst>
      <p:ext uri="{BB962C8B-B14F-4D97-AF65-F5344CB8AC3E}">
        <p14:creationId xmlns:p14="http://schemas.microsoft.com/office/powerpoint/2010/main" val="299309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17</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1747</TotalTime>
  <Words>3067</Words>
  <Application>Microsoft Office PowerPoint</Application>
  <PresentationFormat>Widescreen</PresentationFormat>
  <Paragraphs>420</Paragraphs>
  <Slides>44</Slides>
  <Notes>44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181</cp:revision>
  <dcterms:created xsi:type="dcterms:W3CDTF">2019-01-14T22:06:33Z</dcterms:created>
  <dcterms:modified xsi:type="dcterms:W3CDTF">2026-04-01T13:45:25Z</dcterms:modified>
</cp:coreProperties>
</file>