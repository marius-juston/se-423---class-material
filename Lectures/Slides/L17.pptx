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3"/>
  </p:notesMasterIdLst>
  <p:sldIdLst>
    <p:sldId id="256" r:id="rId2"/>
    <p:sldId id="417" r:id="rId3"/>
    <p:sldId id="413" r:id="rId4"/>
    <p:sldId id="272" r:id="rId5"/>
    <p:sldId id="258" r:id="rId6"/>
    <p:sldId id="418" r:id="rId7"/>
    <p:sldId id="420" r:id="rId8"/>
    <p:sldId id="421" r:id="rId9"/>
    <p:sldId id="422" r:id="rId10"/>
    <p:sldId id="426" r:id="rId11"/>
    <p:sldId id="425" r:id="rId12"/>
    <p:sldId id="424" r:id="rId13"/>
    <p:sldId id="423" r:id="rId14"/>
    <p:sldId id="427" r:id="rId15"/>
    <p:sldId id="439" r:id="rId16"/>
    <p:sldId id="428" r:id="rId17"/>
    <p:sldId id="429" r:id="rId18"/>
    <p:sldId id="430" r:id="rId19"/>
    <p:sldId id="431" r:id="rId20"/>
    <p:sldId id="432" r:id="rId21"/>
    <p:sldId id="433" r:id="rId22"/>
    <p:sldId id="434" r:id="rId23"/>
    <p:sldId id="435" r:id="rId24"/>
    <p:sldId id="436" r:id="rId25"/>
    <p:sldId id="437" r:id="rId26"/>
    <p:sldId id="438" r:id="rId27"/>
    <p:sldId id="440" r:id="rId28"/>
    <p:sldId id="259" r:id="rId29"/>
    <p:sldId id="260" r:id="rId30"/>
    <p:sldId id="261" r:id="rId31"/>
    <p:sldId id="262" r:id="rId32"/>
    <p:sldId id="263" r:id="rId33"/>
    <p:sldId id="264" r:id="rId34"/>
    <p:sldId id="265" r:id="rId35"/>
    <p:sldId id="266" r:id="rId36"/>
    <p:sldId id="267" r:id="rId37"/>
    <p:sldId id="268" r:id="rId38"/>
    <p:sldId id="269" r:id="rId39"/>
    <p:sldId id="257" r:id="rId40"/>
    <p:sldId id="271" r:id="rId41"/>
    <p:sldId id="270" r:id="rId4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9" d="100"/>
          <a:sy n="149" d="100"/>
        </p:scale>
        <p:origin x="138"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6ADE6F-99B4-9799-2C41-4011DF8B3C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369389-D210-000B-6FED-F008667A34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5D55EF0-218F-71C2-453B-6639DB719D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49156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E2BE17-991A-AC6E-BA8B-434897DBFB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90597E-F7E7-34EB-3971-CBD5DFB292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ADBA60-6486-DBA1-C367-658AA5E2A2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154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F57B8-6FC4-8816-4B2E-FA116D5A38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5461E9-4CC0-00FA-DE74-4ACADC1296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19DDE7-BB41-407B-7F40-F49FA674B4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846550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629B90F-AEED-6D2A-C4D1-373A28E6225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38B84F7-766E-12E2-9609-077DFC5368D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DEC1A56-CDF7-F517-C18C-1795CA3683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065895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0676D7-CA51-711C-DCBA-CA23123F9B8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C25D65-D0BC-EEA2-8AB3-4607DBB004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FB0F6-F093-428E-E600-A44A65429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09938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065E7A-9B1B-1BE2-29D0-EC233898063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C5960F-F261-E5F4-4CE0-84AB437209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F2467D-238F-9E12-1412-52E3CB32E4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572840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3E4A19-1592-C1FF-233B-4A66CC4DC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04DDF6-E088-AF65-8521-E66E0D7A10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83102D-96FD-5A81-C202-D4DE83FB78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16158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A2C574-8CDF-366C-E8A4-99F91803E7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84EE58-3E4B-F2AE-BB3C-609F2533DA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664311-18C5-0F05-9CDF-5C306D7ECC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638432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AA1647-7AFD-8C69-8777-23320392AFA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27593A-FFC2-A1E5-D8FE-10156F648A7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FCB4D3AB-46BA-6543-F507-39CFB0966D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862450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2EE4C7-F28C-4531-F5EC-CE41431578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F2C6C4-6E9C-B070-9F42-C92C5D34C4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EBADFD-3A76-CE3A-FDE3-2F8F585F10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61373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DA1FDB-7425-9853-8F45-3504312192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A8E59B-DDF3-86E7-EC87-2D923B6A87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30CBD0-D2A6-6D75-7CFE-4A5994C42F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11679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BD9398-5BDA-0E67-C7AC-6E024246CF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0DC48E-85DE-C25C-5496-300727C86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164087-A1F3-1C69-5DEC-68943630AA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4816850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F3416C-30A2-5FCF-D3E6-2DF45F8E24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4E7D71-DD8C-6493-4EC4-304B20F1DB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E07802-0D73-89D6-A9D9-01B9B4BDD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35216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8FF9FA-2587-BA16-AD7D-82BACCB28D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B974A6-4AF4-F075-F44A-37069C1F7B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A94773-F84B-E818-0EF6-052FDE0C0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0165361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2C749-CD49-C280-0A80-1E6373FC08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8E87AB-3D3D-321A-7381-8C20E334AB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CF677D-8C39-B695-BD35-7C07FA85ED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085412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843B6A-12DA-A916-89FE-6DF458FFD0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41FCD8-01F1-A6E8-72BC-793B7BD818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EFEB9D-9A15-E4B9-167F-D55CBE178B0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110466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D3E2B5-B574-0671-916C-E16D9DB0F3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099826-4582-1846-24EF-D688768C63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64BAC7-FDE4-4959-1E9F-0B2FDA16DF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61523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46754C-2C13-23F7-9D88-55E7FCC2D5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80362C-5154-22A4-7761-AF49487549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A7E3E6-863D-2C2F-D18C-2ED07AD614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670752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C32B8D-9D52-9A44-3C67-CAF170BCCD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51AF31-95A2-66C8-CBBB-FD1A2976F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9D91DE-5183-E53A-BE47-8BEC2CFF51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8973914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3A133D-F0C6-69E5-2C76-8DF27243AA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B50B19-F3D7-6383-D131-D897C029E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DA42AF-4DD3-AE9E-00F9-FCBFD52E22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8953961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ED60DE2-85D4-EE3A-AF2C-EAF42D8979F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C1CDADA-8CA3-7C95-EB4F-F32BD303361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2F3976DB-20C6-71C1-7299-42DD69AE0A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731989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michaelbach.de/ot/" TargetMode="External"/><Relationship Id="rId5" Type="http://schemas.openxmlformats.org/officeDocument/2006/relationships/image" Target="../media/image5.png"/><Relationship Id="rId4" Type="http://schemas.openxmlformats.org/officeDocument/2006/relationships/image" Target="../media/image4.gif"/></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hyperlink" Target="https://visionbook.mit.edu/"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3.png"/><Relationship Id="rId4" Type="http://schemas.openxmlformats.org/officeDocument/2006/relationships/hyperlink" Target="https://isl.stanford.edu/~abbas/ee392b/lect04.pdf"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3.jpeg"/><Relationship Id="rId5" Type="http://schemas.openxmlformats.org/officeDocument/2006/relationships/hyperlink" Target="https://evidentscientific.com/en/microscope-resource/knowledge-hub/digital-imaging/cmosimagesensors" TargetMode="External"/><Relationship Id="rId4" Type="http://schemas.openxmlformats.org/officeDocument/2006/relationships/image" Target="../media/image12.jpe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hyperlink" Target="https://isl.stanford.edu/~abbas/ee392b/lect04.pdf" TargetMode="External"/><Relationship Id="rId5" Type="http://schemas.openxmlformats.org/officeDocument/2006/relationships/image" Target="../media/image15.sv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hyperlink" Target="https://en.wikipedia.org/wiki/Bayer_filter" TargetMode="External"/><Relationship Id="rId3" Type="http://schemas.openxmlformats.org/officeDocument/2006/relationships/image" Target="../media/image3.png"/><Relationship Id="rId7" Type="http://schemas.openxmlformats.org/officeDocument/2006/relationships/image" Target="../media/image21.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sv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hyperlink" Target="https://en.wikipedia.org/wiki/Bayer_filter"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en.wikipedia.org/wiki/Color_vision" TargetMode="External"/><Relationship Id="rId5" Type="http://schemas.openxmlformats.org/officeDocument/2006/relationships/image" Target="../media/image24.sv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Color_vision" TargetMode="Externa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17: Vision Processing, Cameras, Blob Detection</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DATE</a:t>
            </a:r>
            <a:endParaRPr sz="1800" b="0" i="0" u="none" strike="noStrike" cap="none">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What does RGB stand for?</a:t>
            </a:r>
          </a:p>
          <a:p>
            <a:pPr marL="285750" indent="-285750">
              <a:lnSpc>
                <a:spcPct val="100000"/>
              </a:lnSpc>
              <a:spcBef>
                <a:spcPts val="0"/>
              </a:spcBef>
              <a:buSzPts val="3000"/>
            </a:pPr>
            <a:r>
              <a:rPr lang="en-US" sz="2400" dirty="0">
                <a:latin typeface="Arial"/>
                <a:ea typeface="Arial"/>
                <a:cs typeface="Arial"/>
                <a:sym typeface="Arial"/>
              </a:rPr>
              <a:t>How many colors are there? Are the lines straight?</a:t>
            </a: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a:extLst>
              <a:ext uri="{FF2B5EF4-FFF2-40B4-BE49-F238E27FC236}">
                <a16:creationId xmlns:a16="http://schemas.microsoft.com/office/drawing/2014/main" id="{5C9ED0E5-D2F3-6859-05CA-DBB780B2AE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7279" y="2870951"/>
            <a:ext cx="3654112" cy="281366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4A77EEA-1740-B395-D98B-8393E536A5FE}"/>
              </a:ext>
            </a:extLst>
          </p:cNvPr>
          <p:cNvPicPr>
            <a:picLocks noChangeAspect="1"/>
          </p:cNvPicPr>
          <p:nvPr/>
        </p:nvPicPr>
        <p:blipFill>
          <a:blip r:embed="rId5"/>
          <a:stretch>
            <a:fillRect/>
          </a:stretch>
        </p:blipFill>
        <p:spPr>
          <a:xfrm>
            <a:off x="6167022" y="2870951"/>
            <a:ext cx="4118907" cy="2945301"/>
          </a:xfrm>
          <a:prstGeom prst="rect">
            <a:avLst/>
          </a:prstGeom>
        </p:spPr>
      </p:pic>
      <p:sp>
        <p:nvSpPr>
          <p:cNvPr id="5" name="TextBox 4">
            <a:extLst>
              <a:ext uri="{FF2B5EF4-FFF2-40B4-BE49-F238E27FC236}">
                <a16:creationId xmlns:a16="http://schemas.microsoft.com/office/drawing/2014/main" id="{E925A56A-A2DB-7BA7-00B2-27F8A193BF16}"/>
              </a:ext>
            </a:extLst>
          </p:cNvPr>
          <p:cNvSpPr txBox="1"/>
          <p:nvPr/>
        </p:nvSpPr>
        <p:spPr>
          <a:xfrm>
            <a:off x="2973698" y="6101038"/>
            <a:ext cx="5716250" cy="307777"/>
          </a:xfrm>
          <a:prstGeom prst="rect">
            <a:avLst/>
          </a:prstGeom>
          <a:noFill/>
        </p:spPr>
        <p:txBody>
          <a:bodyPr wrap="square">
            <a:spAutoFit/>
          </a:bodyPr>
          <a:lstStyle/>
          <a:p>
            <a:pPr algn="ctr"/>
            <a:r>
              <a:rPr lang="en-US" dirty="0"/>
              <a:t>check out </a:t>
            </a:r>
            <a:r>
              <a:rPr lang="en-US" dirty="0">
                <a:hlinkClick r:id="rId6"/>
              </a:rPr>
              <a:t>https://michaelbach.de/ot/</a:t>
            </a:r>
            <a:r>
              <a:rPr lang="en-US" dirty="0"/>
              <a:t> for a bunch of optical illusions!</a:t>
            </a:r>
          </a:p>
        </p:txBody>
      </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rial"/>
                <a:ea typeface="Arial"/>
                <a:cs typeface="Arial"/>
                <a:sym typeface="Arial"/>
              </a:rPr>
              <a:t>Don’t forget to have the Lab LabVIEW application implemented before lab.</a:t>
            </a:r>
          </a:p>
          <a:p>
            <a:pPr marL="285750" indent="-285750">
              <a:lnSpc>
                <a:spcPct val="100000"/>
              </a:lnSpc>
              <a:spcBef>
                <a:spcPts val="0"/>
              </a:spcBef>
              <a:buSzPts val="3000"/>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4 are due </a:t>
            </a:r>
            <a:r>
              <a:rPr lang="en-US" sz="1800" b="1" dirty="0">
                <a:latin typeface="Arial"/>
                <a:ea typeface="Arial"/>
                <a:cs typeface="Arial"/>
                <a:sym typeface="Arial"/>
              </a:rPr>
              <a:t>April 7, 5PM (The end of office hours)</a:t>
            </a:r>
          </a:p>
          <a:p>
            <a:pPr marL="285750" indent="-285750">
              <a:lnSpc>
                <a:spcPct val="100000"/>
              </a:lnSpc>
              <a:spcBef>
                <a:spcPts val="0"/>
              </a:spcBef>
              <a:buSzPts val="3000"/>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4</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Computer Vision</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72812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 would </a:t>
            </a:r>
            <a:r>
              <a:rPr lang="en-US" sz="2200" b="1" dirty="0">
                <a:latin typeface="Arial"/>
                <a:ea typeface="Arial"/>
                <a:cs typeface="Arial"/>
                <a:sym typeface="Arial"/>
              </a:rPr>
              <a:t>HIGHLY</a:t>
            </a:r>
            <a:r>
              <a:rPr lang="en-US" sz="2200" dirty="0">
                <a:latin typeface="Arial"/>
                <a:ea typeface="Arial"/>
                <a:cs typeface="Arial"/>
                <a:sym typeface="Arial"/>
              </a:rPr>
              <a:t> recommend you looking at:</a:t>
            </a:r>
          </a:p>
          <a:p>
            <a:pPr marL="0" indent="0">
              <a:lnSpc>
                <a:spcPct val="100000"/>
              </a:lnSpc>
              <a:spcBef>
                <a:spcPts val="0"/>
              </a:spcBef>
              <a:buSzPts val="3000"/>
              <a:buNone/>
            </a:pPr>
            <a:endParaRPr lang="en-US" sz="2200" dirty="0">
              <a:solidFill>
                <a:schemeClr val="dk1"/>
              </a:solidFill>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hlinkClick r:id="rId3"/>
              </a:rPr>
              <a:t>https://visionbook.mit.edu/</a:t>
            </a:r>
            <a:r>
              <a:rPr lang="en-US" sz="2200" dirty="0">
                <a:latin typeface="Arial"/>
                <a:ea typeface="Arial"/>
                <a:cs typeface="Arial"/>
                <a:sym typeface="Arial"/>
              </a:rPr>
              <a:t> </a:t>
            </a:r>
          </a:p>
          <a:p>
            <a:pPr marL="342900">
              <a:lnSpc>
                <a:spcPct val="100000"/>
              </a:lnSpc>
              <a:spcBef>
                <a:spcPts val="0"/>
              </a:spcBef>
              <a:buSzPts val="3000"/>
            </a:pPr>
            <a:endParaRPr lang="en-US" sz="2200" dirty="0">
              <a:solidFill>
                <a:schemeClr val="dk1"/>
              </a:solidFill>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The webpage is a textbook with all the math, background and information for computer vision. </a:t>
            </a:r>
          </a:p>
          <a:p>
            <a:pPr marL="342900">
              <a:lnSpc>
                <a:spcPct val="100000"/>
              </a:lnSpc>
              <a:spcBef>
                <a:spcPts val="0"/>
              </a:spcBef>
              <a:buSzPts val="3000"/>
            </a:pPr>
            <a:r>
              <a:rPr lang="en-US" sz="2200" dirty="0">
                <a:latin typeface="Arial"/>
                <a:ea typeface="Arial"/>
                <a:cs typeface="Arial"/>
                <a:sym typeface="Arial"/>
              </a:rPr>
              <a:t>We will only be doing a tiny portion of this in this lecture (there are whole grad classes for computer vision).</a:t>
            </a:r>
          </a:p>
          <a:p>
            <a:pPr marL="342900">
              <a:lnSpc>
                <a:spcPct val="100000"/>
              </a:lnSpc>
              <a:spcBef>
                <a:spcPts val="0"/>
              </a:spcBef>
              <a:buSzPts val="3000"/>
            </a:pPr>
            <a:r>
              <a:rPr lang="en-US" sz="2200" dirty="0">
                <a:latin typeface="Arial"/>
                <a:ea typeface="Arial"/>
                <a:cs typeface="Arial"/>
                <a:sym typeface="Arial"/>
              </a:rPr>
              <a:t>It is containerized very nicely, has lots of pictures, diagrams. Each section takes 5 minutes to read.</a:t>
            </a: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(also, for more CMOS details look at </a:t>
            </a:r>
            <a:r>
              <a:rPr lang="en-US" sz="2200" dirty="0">
                <a:latin typeface="Arial"/>
                <a:ea typeface="Arial"/>
                <a:cs typeface="Arial"/>
                <a:sym typeface="Arial"/>
                <a:hlinkClick r:id="rId4"/>
              </a:rPr>
              <a:t>https://isl.stanford.edu/~abbas/ee392b/lect04.pdf</a:t>
            </a:r>
            <a:r>
              <a:rPr lang="en-US" sz="2200" dirty="0">
                <a:latin typeface="Arial"/>
                <a:ea typeface="Arial"/>
                <a:cs typeface="Arial"/>
                <a:sym typeface="Arial"/>
              </a:rPr>
              <a:t> )</a:t>
            </a:r>
          </a:p>
          <a:p>
            <a:pPr marL="0" indent="0">
              <a:lnSpc>
                <a:spcPct val="100000"/>
              </a:lnSpc>
              <a:spcBef>
                <a:spcPts val="0"/>
              </a:spcBef>
              <a:buSzPts val="3000"/>
              <a:buNone/>
            </a:pPr>
            <a:r>
              <a:rPr lang="en-US" sz="2200" dirty="0">
                <a:latin typeface="Arial"/>
                <a:ea typeface="Arial"/>
                <a:cs typeface="Arial"/>
                <a:sym typeface="Arial"/>
              </a:rPr>
              <a:t> </a:t>
            </a:r>
          </a:p>
          <a:p>
            <a:pPr marL="342900">
              <a:lnSpc>
                <a:spcPct val="100000"/>
              </a:lnSpc>
              <a:spcBef>
                <a:spcPts val="0"/>
              </a:spcBef>
              <a:buSzPts val="3000"/>
            </a:pPr>
            <a:endParaRPr lang="en-US" sz="2200" dirty="0">
              <a:solidFill>
                <a:schemeClr val="dk1"/>
              </a:solidFill>
              <a:latin typeface="Arial"/>
              <a:ea typeface="Arial"/>
              <a:cs typeface="Arial"/>
              <a:sym typeface="Arial"/>
            </a:endParaRPr>
          </a:p>
          <a:p>
            <a:pPr marL="0" indent="0">
              <a:lnSpc>
                <a:spcPct val="100000"/>
              </a:lnSpc>
              <a:spcBef>
                <a:spcPts val="0"/>
              </a:spcBef>
              <a:buSzPts val="3000"/>
              <a:buNone/>
            </a:pPr>
            <a:endParaRPr lang="en-US" sz="22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Preface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descr="Book Cover">
            <a:extLst>
              <a:ext uri="{FF2B5EF4-FFF2-40B4-BE49-F238E27FC236}">
                <a16:creationId xmlns:a16="http://schemas.microsoft.com/office/drawing/2014/main" id="{16494730-091D-C1B6-F5BD-6F81EF76AD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77703" y="1711534"/>
            <a:ext cx="3704685" cy="41558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2C81AD-1A6E-D004-B381-602AC33F3AE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D7903F-4A88-9155-DEE5-0ACBC5381F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rial"/>
                <a:ea typeface="Arial"/>
                <a:cs typeface="Arial"/>
                <a:sym typeface="Arial"/>
              </a:rPr>
              <a:t>Currently we have the LiDAR working and returning points; however, what kind of data are missing from just the LiDAR?</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solidFill>
                  <a:schemeClr val="dk1"/>
                </a:solidFill>
                <a:latin typeface="Arial"/>
                <a:ea typeface="Arial"/>
                <a:cs typeface="Arial"/>
                <a:sym typeface="Arial"/>
              </a:rPr>
              <a:t>Color, complex shapes, human vision like data</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Vision processing allows a robot to extract rich, high-density data from its environment.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Instead of an array of 228 distances (like our LiDAR), a camera gives us millions of data points per frame (RGB per pixel).</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the primary drawback of having millions of data points per frame in a real-time mechatronic system?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Computational latency; processing takes time, more memory / bandwidth is required to handle processing of the data!</a:t>
            </a:r>
          </a:p>
        </p:txBody>
      </p:sp>
      <p:sp>
        <p:nvSpPr>
          <p:cNvPr id="119" name="Google Shape;119;p29">
            <a:extLst>
              <a:ext uri="{FF2B5EF4-FFF2-40B4-BE49-F238E27FC236}">
                <a16:creationId xmlns:a16="http://schemas.microsoft.com/office/drawing/2014/main" id="{365A57A6-14AA-B374-F8FB-5E158BBEB3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A16E84-BE0D-7BB2-4B0E-C19E6F45F11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41ACED-9C36-202D-23D7-311F30CCF3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83AE1D0-CA64-859A-D8D7-095BDA4E1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FEBDB6-6EA8-F453-A40F-DE4FC23DE5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78A940-625E-BBA2-AC5E-ED630C3A44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4A153F-832E-FA5E-970B-B15C0D5AD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83D903-725F-188F-CD09-34C316ADA5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3746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092B7E-51BB-FC65-FE20-B599D930F9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7E96BB-18D9-716F-5079-19C6785E66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Is a standard camera an active or a passive sensor?</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Passive.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does not emit energy; it captures ambient light bouncing off objects.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Because it is passive, it is highly vulnerable to environmental changes.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the sun goes behind a cloud what happens?</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The pixel color changes, shadows appears, etc.</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 we build robust code around this? </a:t>
            </a:r>
          </a:p>
        </p:txBody>
      </p:sp>
      <p:sp>
        <p:nvSpPr>
          <p:cNvPr id="119" name="Google Shape;119;p29">
            <a:extLst>
              <a:ext uri="{FF2B5EF4-FFF2-40B4-BE49-F238E27FC236}">
                <a16:creationId xmlns:a16="http://schemas.microsoft.com/office/drawing/2014/main" id="{AEA9BF49-63B3-6220-8894-5C4A01C95D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11FC65F-811D-9E5B-B046-C805B0487EA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294F1E-A9C1-68F5-F825-463F286584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BB6AFF-821D-8DF2-BC40-2ABD681AA3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1F7708-3D4A-9DA6-1196-CEA543B41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1A2B8B-1B14-B56C-3E70-3F5BA69443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2ADCFB-430A-B61B-070F-9C6EC8A233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0FD44-0EE0-1EC2-797E-F014D37B96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5086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8FC24-6FEE-B53E-DF6D-B06641057B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936406-4328-DAE7-E65C-88AF791D3A4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main pipeline that we will follow in this class is the following: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r>
              <a:rPr lang="en-US" sz="1400" dirty="0">
                <a:latin typeface="Arial"/>
                <a:ea typeface="Arial"/>
                <a:cs typeface="Arial"/>
                <a:sym typeface="Arial"/>
              </a:rPr>
              <a:t>Step 1: The CMOS sensor captures photons and converts them to digital arrays.</a:t>
            </a:r>
          </a:p>
          <a:p>
            <a:pPr marL="0" indent="0">
              <a:lnSpc>
                <a:spcPct val="100000"/>
              </a:lnSpc>
              <a:spcBef>
                <a:spcPts val="0"/>
              </a:spcBef>
              <a:buSzPts val="3000"/>
              <a:buNone/>
            </a:pPr>
            <a:r>
              <a:rPr lang="en-US" sz="1400" dirty="0">
                <a:latin typeface="Arial"/>
                <a:ea typeface="Arial"/>
                <a:cs typeface="Arial"/>
                <a:sym typeface="Arial"/>
              </a:rPr>
              <a:t>Step 2: The processor filters the image (e.g., finding specific colors).</a:t>
            </a:r>
          </a:p>
          <a:p>
            <a:pPr marL="0" indent="0">
              <a:lnSpc>
                <a:spcPct val="100000"/>
              </a:lnSpc>
              <a:spcBef>
                <a:spcPts val="0"/>
              </a:spcBef>
              <a:buSzPts val="3000"/>
              <a:buNone/>
            </a:pPr>
            <a:r>
              <a:rPr lang="en-US" sz="1400" dirty="0">
                <a:latin typeface="Arial"/>
                <a:ea typeface="Arial"/>
                <a:cs typeface="Arial"/>
                <a:sym typeface="Arial"/>
              </a:rPr>
              <a:t>Step 3: The algorithm calculates the coordinates of the target (Centroid).</a:t>
            </a:r>
          </a:p>
          <a:p>
            <a:pPr marL="0" indent="0">
              <a:lnSpc>
                <a:spcPct val="100000"/>
              </a:lnSpc>
              <a:spcBef>
                <a:spcPts val="0"/>
              </a:spcBef>
              <a:buSzPts val="3000"/>
              <a:buNone/>
            </a:pPr>
            <a:r>
              <a:rPr lang="en-US" sz="1400" dirty="0">
                <a:latin typeface="Arial"/>
                <a:ea typeface="Arial"/>
                <a:cs typeface="Arial"/>
                <a:sym typeface="Arial"/>
              </a:rPr>
              <a:t>Step 4: The Cascade Control loop turns the coordinates into wheel velocities.</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752AB9F-64E8-0BAB-3991-3DD5D9564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8CF0202-90E7-D4E7-69D2-F24AA443F7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385070-E786-B7E8-0475-4C7D65A169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DCBB4-BC8E-B688-4A9D-A1BC344CB7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33A4F0-689F-8D49-5D7E-57A52C7BB3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5AE4E45-9568-F880-75DE-6D325A0684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7675D2-499F-2B6A-2AFC-375CF6CA76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89901C-7A46-7EFD-D6E3-659F797B764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13F46CA8-EE1D-75C2-2D7F-5CB72CE2BE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55035" y="1692271"/>
            <a:ext cx="6681929" cy="3473457"/>
          </a:xfrm>
          <a:prstGeom prst="rect">
            <a:avLst/>
          </a:prstGeom>
        </p:spPr>
      </p:pic>
    </p:spTree>
    <p:extLst>
      <p:ext uri="{BB962C8B-B14F-4D97-AF65-F5344CB8AC3E}">
        <p14:creationId xmlns:p14="http://schemas.microsoft.com/office/powerpoint/2010/main" val="2728360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0E69405-C3FC-2EC0-DFAC-9DBE384FEF6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4D13460-73C7-E962-FBE7-AF45E2446324}"/>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CMOS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D563148F-85A1-824E-16CB-09A3FDE84B0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4F9632D-C2F2-12AD-0306-8CACB0A508D7}"/>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C9D0B51-5108-4F0C-0589-1B98FF31625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25636025-B5E4-C288-D577-082D0394624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9CD3D86-71C2-6AA7-4319-0050BA7C0C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CB5B61B-B5B4-C423-3981-4DB2FCD077F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0A5F840-FAEB-575B-264E-CE9006A2C90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C5899A6-6957-DA49-48EF-04407EC200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E60713-C69D-BE82-3982-08E43AD7D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174785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2E227C-2AE5-37F3-8346-8FCEE11260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3C338A1-0BAF-412A-7142-D2E70B411BA2}"/>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Most modern robotics vision relies on CMOS (Complementary Metal-Oxide-Semiconductor) sensors.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CMOS sensor contains a massive 2D grid of microscopic photodiodes.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photons strike a photodiode, they excite electrons via the photoelectric effect, creating a measurable voltage.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continuous voltage is sampled and converted into a discrete digital value (usually 0-255 for an 8-bit ADC).</a:t>
            </a:r>
          </a:p>
        </p:txBody>
      </p:sp>
      <p:sp>
        <p:nvSpPr>
          <p:cNvPr id="119" name="Google Shape;119;p29">
            <a:extLst>
              <a:ext uri="{FF2B5EF4-FFF2-40B4-BE49-F238E27FC236}">
                <a16:creationId xmlns:a16="http://schemas.microsoft.com/office/drawing/2014/main" id="{367404CA-E801-FD8F-DCC1-24568A84D62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FE89861-4F4B-3942-76BF-26881403B0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290073D-7D1A-E36D-4E3C-8BACD8AE47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255760-B7BC-C211-8343-50B747B050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642F68-EFB3-50EA-DD77-C82D6A9A8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3EF384-8B6B-DB9F-4ED9-DAA49C76E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35BFE3-7568-2FB8-FE43-DDEB530A8D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1CBFAB-A82A-B593-707E-F8227CEA9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3507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AF34F0-DAC3-ED96-6087-965934AD2F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D04B90C-7F7E-FD75-CD0D-D61D59EA9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066A014-9097-3DEA-C557-1C0E1B7B664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E1B2A7A-4EE9-90F2-1EA1-CFB3E78699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A60199-153E-D7CD-9299-57337585F6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6F6156-625B-3A59-A856-445D59C31F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847699-D191-02EF-AC9E-3A5D5DD5AF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B93BE2-D7A5-D70E-0346-1B359059C4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9C2582-7401-ABE8-9645-B1012F368B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CMOS Image Sensors: How They Work in Digital Microscopy | Evident">
            <a:extLst>
              <a:ext uri="{FF2B5EF4-FFF2-40B4-BE49-F238E27FC236}">
                <a16:creationId xmlns:a16="http://schemas.microsoft.com/office/drawing/2014/main" id="{CE785DB6-441D-D3F4-8BB7-605AB466907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807" y="1149901"/>
            <a:ext cx="4737235" cy="413156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A355D2-018F-3919-63AA-60CC2BED9520}"/>
              </a:ext>
            </a:extLst>
          </p:cNvPr>
          <p:cNvSpPr txBox="1"/>
          <p:nvPr/>
        </p:nvSpPr>
        <p:spPr>
          <a:xfrm>
            <a:off x="376807" y="5392222"/>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sp>
        <p:nvSpPr>
          <p:cNvPr id="7" name="TextBox 6">
            <a:extLst>
              <a:ext uri="{FF2B5EF4-FFF2-40B4-BE49-F238E27FC236}">
                <a16:creationId xmlns:a16="http://schemas.microsoft.com/office/drawing/2014/main" id="{0E3A40FB-47EE-51C1-538A-8D3C89F5692B}"/>
              </a:ext>
            </a:extLst>
          </p:cNvPr>
          <p:cNvSpPr txBox="1"/>
          <p:nvPr/>
        </p:nvSpPr>
        <p:spPr>
          <a:xfrm>
            <a:off x="6285042" y="5309239"/>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pic>
        <p:nvPicPr>
          <p:cNvPr id="4100" name="Picture 4" descr="CCD and CMOS Technology">
            <a:extLst>
              <a:ext uri="{FF2B5EF4-FFF2-40B4-BE49-F238E27FC236}">
                <a16:creationId xmlns:a16="http://schemas.microsoft.com/office/drawing/2014/main" id="{A0F68EDD-8402-D252-610E-D50621D0FAD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629706" y="1667094"/>
            <a:ext cx="5476875" cy="327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93493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D39BDC-B417-2C91-3C41-8669DDDF2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86FBB7-ACE6-F853-8977-F3838F6E894D}"/>
              </a:ext>
            </a:extLst>
          </p:cNvPr>
          <p:cNvSpPr txBox="1">
            <a:spLocks noGrp="1"/>
          </p:cNvSpPr>
          <p:nvPr>
            <p:ph type="body" idx="1"/>
          </p:nvPr>
        </p:nvSpPr>
        <p:spPr>
          <a:xfrm>
            <a:off x="376807" y="5046258"/>
            <a:ext cx="11655171" cy="1362557"/>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Readout performed by transferring one row at a time to the column storage capacitors, then reading out the row, one (or more) pixel at a time, using the column decoder and multiplexer</a:t>
            </a:r>
          </a:p>
          <a:p>
            <a:pPr marL="342900">
              <a:lnSpc>
                <a:spcPct val="100000"/>
              </a:lnSpc>
              <a:spcBef>
                <a:spcPts val="0"/>
              </a:spcBef>
              <a:buSzPts val="3000"/>
            </a:pPr>
            <a:r>
              <a:rPr lang="en-US" sz="2000" dirty="0">
                <a:latin typeface="Arial"/>
                <a:ea typeface="Arial"/>
                <a:cs typeface="Arial"/>
                <a:sym typeface="Arial"/>
              </a:rPr>
              <a:t>In many CMOS image sensor architectures, row integration times are </a:t>
            </a:r>
            <a:r>
              <a:rPr lang="en-US" sz="2000" i="1" dirty="0" err="1">
                <a:latin typeface="Arial"/>
                <a:ea typeface="Arial"/>
                <a:cs typeface="Arial"/>
                <a:sym typeface="Arial"/>
              </a:rPr>
              <a:t>staggerred</a:t>
            </a:r>
            <a:r>
              <a:rPr lang="en-US" sz="2000" dirty="0">
                <a:latin typeface="Arial"/>
                <a:ea typeface="Arial"/>
                <a:cs typeface="Arial"/>
                <a:sym typeface="Arial"/>
              </a:rPr>
              <a:t> by the row / column readout time (scrolling shutter)</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E912862-C259-5403-D979-AA2DF7E305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D2198F7-ACF4-9C07-9D55-F1C96E9323F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21D8DBA-D9F4-D636-8E2F-A72D9C2EE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49347-39E1-4A07-375D-BEBE44D978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D7A1C0-CBB6-F725-5593-EFBF92998D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13BFA4-DC34-3936-E0FC-835C4C2D58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53DA28-E52B-AF29-98C9-5F5DF1E959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51E22B-18E8-C869-312E-E6D65D1EF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07017C9-F3C9-CE7F-6ED2-053A21D093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87591" y="951609"/>
            <a:ext cx="5016817" cy="3841214"/>
          </a:xfrm>
          <a:prstGeom prst="rect">
            <a:avLst/>
          </a:prstGeom>
        </p:spPr>
      </p:pic>
      <p:sp>
        <p:nvSpPr>
          <p:cNvPr id="7" name="TextBox 6">
            <a:extLst>
              <a:ext uri="{FF2B5EF4-FFF2-40B4-BE49-F238E27FC236}">
                <a16:creationId xmlns:a16="http://schemas.microsoft.com/office/drawing/2014/main" id="{DC97B9AE-D1DF-9644-F12A-EA5890DF0F8F}"/>
              </a:ext>
            </a:extLst>
          </p:cNvPr>
          <p:cNvSpPr txBox="1"/>
          <p:nvPr/>
        </p:nvSpPr>
        <p:spPr>
          <a:xfrm>
            <a:off x="4333790" y="4792823"/>
            <a:ext cx="2996065" cy="246221"/>
          </a:xfrm>
          <a:prstGeom prst="rect">
            <a:avLst/>
          </a:prstGeom>
          <a:noFill/>
        </p:spPr>
        <p:txBody>
          <a:bodyPr wrap="square">
            <a:spAutoFit/>
          </a:bodyPr>
          <a:lstStyle/>
          <a:p>
            <a:pPr algn="ctr"/>
            <a:r>
              <a:rPr lang="en-US" sz="1000" dirty="0">
                <a:hlinkClick r:id="rId6"/>
              </a:rPr>
              <a:t>https://isl.stanford.edu/~abbas/ee392b/lect04.pdf</a:t>
            </a:r>
            <a:r>
              <a:rPr lang="en-US" sz="1000" dirty="0"/>
              <a:t> </a:t>
            </a:r>
          </a:p>
        </p:txBody>
      </p:sp>
      <p:sp>
        <p:nvSpPr>
          <p:cNvPr id="10" name="Rectangle 9">
            <a:extLst>
              <a:ext uri="{FF2B5EF4-FFF2-40B4-BE49-F238E27FC236}">
                <a16:creationId xmlns:a16="http://schemas.microsoft.com/office/drawing/2014/main" id="{C9E3879A-FC4D-C2A2-09A8-A80D0C8F9F54}"/>
              </a:ext>
            </a:extLst>
          </p:cNvPr>
          <p:cNvSpPr/>
          <p:nvPr/>
        </p:nvSpPr>
        <p:spPr>
          <a:xfrm>
            <a:off x="4333790" y="104390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6F6F53D-1798-8603-2575-BCE3298FD780}"/>
              </a:ext>
            </a:extLst>
          </p:cNvPr>
          <p:cNvSpPr/>
          <p:nvPr/>
        </p:nvSpPr>
        <p:spPr>
          <a:xfrm>
            <a:off x="4333790" y="123907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5695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25E-6 3.7037E-7 L 0.00039 0.39398 " pathEditMode="relative" rAng="0" ptsTypes="AA">
                                      <p:cBhvr>
                                        <p:cTn id="6" dur="2000" fill="hold"/>
                                        <p:tgtEl>
                                          <p:spTgt spid="10"/>
                                        </p:tgtEl>
                                        <p:attrNameLst>
                                          <p:attrName>ppt_x</p:attrName>
                                          <p:attrName>ppt_y</p:attrName>
                                        </p:attrNameLst>
                                      </p:cBhvr>
                                      <p:rCtr x="13" y="19699"/>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grpId="1" nodeType="clickEffect">
                                  <p:stCondLst>
                                    <p:cond delay="0"/>
                                  </p:stCondLst>
                                  <p:childTnLst>
                                    <p:animMotion origin="layout" path="M 0.00039 0.39398 L -0.00039 0.49398 " pathEditMode="relative" rAng="0" ptsTypes="AA">
                                      <p:cBhvr>
                                        <p:cTn id="10" dur="2000" fill="hold"/>
                                        <p:tgtEl>
                                          <p:spTgt spid="10"/>
                                        </p:tgtEl>
                                        <p:attrNameLst>
                                          <p:attrName>ppt_x</p:attrName>
                                          <p:attrName>ppt_y</p:attrName>
                                        </p:attrNameLst>
                                      </p:cBhvr>
                                      <p:rCtr x="-39" y="5000"/>
                                    </p:animMotion>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2"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ntr" presetSubtype="0" fill="hold" grpId="3"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42" presetClass="path" presetSubtype="0" accel="50000" decel="50000" fill="hold" grpId="0" nodeType="clickEffect">
                                  <p:stCondLst>
                                    <p:cond delay="0"/>
                                  </p:stCondLst>
                                  <p:childTnLst>
                                    <p:animMotion origin="layout" path="M 1.25E-6 -1.85185E-6 L 0.00039 0.36551 " pathEditMode="relative" rAng="0" ptsTypes="AA">
                                      <p:cBhvr>
                                        <p:cTn id="20" dur="2000" fill="hold"/>
                                        <p:tgtEl>
                                          <p:spTgt spid="11"/>
                                        </p:tgtEl>
                                        <p:attrNameLst>
                                          <p:attrName>ppt_x</p:attrName>
                                          <p:attrName>ppt_y</p:attrName>
                                        </p:attrNameLst>
                                      </p:cBhvr>
                                      <p:rCtr x="13" y="18287"/>
                                    </p:animMotion>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1" nodeType="clickEffect">
                                  <p:stCondLst>
                                    <p:cond delay="0"/>
                                  </p:stCondLst>
                                  <p:childTnLst>
                                    <p:animMotion origin="layout" path="M 0.00039 0.36551 L -0.00065 0.46158 " pathEditMode="relative" rAng="0" ptsTypes="AA">
                                      <p:cBhvr>
                                        <p:cTn id="24" dur="2000" fill="hold"/>
                                        <p:tgtEl>
                                          <p:spTgt spid="11"/>
                                        </p:tgtEl>
                                        <p:attrNameLst>
                                          <p:attrName>ppt_x</p:attrName>
                                          <p:attrName>ppt_y</p:attrName>
                                        </p:attrNameLst>
                                      </p:cBhvr>
                                      <p:rCtr x="-52" y="4838"/>
                                    </p:animMotion>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2"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0" grpId="2" animBg="1"/>
      <p:bldP spid="11" grpId="0" animBg="1"/>
      <p:bldP spid="11" grpId="1" animBg="1"/>
      <p:bldP spid="11" grpId="2" animBg="1"/>
      <p:bldP spid="11" grpId="3"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4055B5-1970-C033-140B-50686B844B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9EC995E-165B-415C-918F-AC1037DA9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47CE5F1-C7BA-5C3F-63E4-DB7735F5FF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D5F07E2-EF66-0614-89D1-08A0D24B95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49277E-74F1-FD87-1BB4-8C3D83D77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CE064D-1420-8022-DACD-DD8479CA7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FFD5C-3674-B855-A22A-242E452F5B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23B0BB-D4F7-8334-5EBF-EF8E67BA6BB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91176C-AB86-25CA-D70B-519D34885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 name="Graphic 8">
            <a:extLst>
              <a:ext uri="{FF2B5EF4-FFF2-40B4-BE49-F238E27FC236}">
                <a16:creationId xmlns:a16="http://schemas.microsoft.com/office/drawing/2014/main" id="{A7C3B241-1FB8-9B94-5DF3-2792191F22B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68928" y="906290"/>
            <a:ext cx="9325790" cy="5642743"/>
          </a:xfrm>
          <a:prstGeom prst="rect">
            <a:avLst/>
          </a:prstGeom>
        </p:spPr>
      </p:pic>
    </p:spTree>
    <p:extLst>
      <p:ext uri="{BB962C8B-B14F-4D97-AF65-F5344CB8AC3E}">
        <p14:creationId xmlns:p14="http://schemas.microsoft.com/office/powerpoint/2010/main" val="14277161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6D493FA-85DA-1CCB-AAFF-2A9DE25A2A9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DA663CA-C59F-1619-8715-F60A2D6A26C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Color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9F3CCF5E-EA36-E338-3F0E-DC3FD7C180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4658FC8-C20C-1E0B-3FD9-6331C603F53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6C4F7F3-E39E-6C38-88D0-CCF6134DEA1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FE62ED8-7B59-55DD-51B0-F3DDF9AF26F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D2F7DF1-BB93-59D8-712E-A7449568D6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F6C0CA7-365D-4652-CCAD-F59886125E8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63AE-DF30-3803-D7D9-1E535F9430E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F4B5853-9129-BCB9-12EF-56E29CEC95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2E6949C-9D63-A913-C56C-B0A972D24E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066604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CC968E-6237-666A-D027-4063FBF1255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BF7B1D2-1D7B-18E0-D300-ABF7104C3E1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problem with photodiodes is that they only measure the intensity of light (how many photons hit them).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kind of problem that cause?</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They are inherently colorblind; they only produce a grayscale image!</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see a red ball, we need a way to filter out all other wavelengths of light before they hit the photodiode.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 we make a single sensor array see Red, Green, and Blue simultaneously?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BE5A6DA-D3A9-B791-4CCB-9481B83F87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11BE3D-0BBB-F8BD-3E0B-22A281C3F4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2BE70D-DC9A-F795-7C9B-709ABC66B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F3FB78-D3A5-4AC1-88C7-B7EDC96814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C29F70-4AB7-E33E-93EE-9018FADE88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F1C2F72-1150-02AC-3712-4F80FAB07A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8581D2-5A7D-B5F6-8F0D-8FB647F68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ECDA98-4799-6F2F-D7F3-0A44D8FC99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8556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2C7A530-2384-A583-4E7B-8DEA43EFC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488AB6D-1BB4-0235-15FD-1CAE70156FD8}"/>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To achieve color vision, a microscopic color filter is placed over each individual photodiode.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known as a Color Filter Array (CFA), the most common being the Bayer Filter.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assigns each pixel to capture only Red, only Green, or only Blue light.</a:t>
            </a:r>
          </a:p>
        </p:txBody>
      </p:sp>
      <p:sp>
        <p:nvSpPr>
          <p:cNvPr id="119" name="Google Shape;119;p29">
            <a:extLst>
              <a:ext uri="{FF2B5EF4-FFF2-40B4-BE49-F238E27FC236}">
                <a16:creationId xmlns:a16="http://schemas.microsoft.com/office/drawing/2014/main" id="{6B141D5C-1413-2233-B5ED-A7C686627F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C6EF57E-ED04-5F29-CEFC-FF2A5773B6C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2BFD962-28DE-81EF-F91E-B72A012108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C802C2-8720-9847-A023-01DECB2500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1B8F9C9-FA22-2F02-6DBC-8935E5D86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125C8C-58A8-4095-F628-D14724105E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298CC-055D-4140-0F06-3B86F44B09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B9224F-2CC9-B423-B413-D16930E874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9F80111-1378-6BC9-2B5D-07F27806A1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3800" y="3026035"/>
            <a:ext cx="5070462" cy="3295800"/>
          </a:xfrm>
          <a:prstGeom prst="rect">
            <a:avLst/>
          </a:prstGeom>
        </p:spPr>
      </p:pic>
      <p:pic>
        <p:nvPicPr>
          <p:cNvPr id="30" name="Graphic 29">
            <a:extLst>
              <a:ext uri="{FF2B5EF4-FFF2-40B4-BE49-F238E27FC236}">
                <a16:creationId xmlns:a16="http://schemas.microsoft.com/office/drawing/2014/main" id="{1D8E7123-8833-59E4-C7E6-F8C1F1E9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09033" y="3016589"/>
            <a:ext cx="5455013" cy="3450179"/>
          </a:xfrm>
          <a:prstGeom prst="rect">
            <a:avLst/>
          </a:prstGeom>
        </p:spPr>
      </p:pic>
      <p:sp>
        <p:nvSpPr>
          <p:cNvPr id="32" name="TextBox 31">
            <a:extLst>
              <a:ext uri="{FF2B5EF4-FFF2-40B4-BE49-F238E27FC236}">
                <a16:creationId xmlns:a16="http://schemas.microsoft.com/office/drawing/2014/main" id="{5602F69F-82F3-38CC-BAB6-B945D84C51C2}"/>
              </a:ext>
            </a:extLst>
          </p:cNvPr>
          <p:cNvSpPr txBox="1"/>
          <p:nvPr/>
        </p:nvSpPr>
        <p:spPr>
          <a:xfrm>
            <a:off x="1897282" y="6328219"/>
            <a:ext cx="2418683" cy="246221"/>
          </a:xfrm>
          <a:prstGeom prst="rect">
            <a:avLst/>
          </a:prstGeom>
          <a:noFill/>
        </p:spPr>
        <p:txBody>
          <a:bodyPr wrap="square">
            <a:spAutoFit/>
          </a:bodyPr>
          <a:lstStyle/>
          <a:p>
            <a:r>
              <a:rPr lang="en-US" sz="1000" dirty="0">
                <a:hlinkClick r:id="rId8"/>
              </a:rPr>
              <a:t>https://en.wikipedia.org/wiki/Bayer_filter</a:t>
            </a:r>
            <a:r>
              <a:rPr lang="en-US" sz="1000" dirty="0"/>
              <a:t> </a:t>
            </a:r>
          </a:p>
        </p:txBody>
      </p:sp>
    </p:spTree>
    <p:extLst>
      <p:ext uri="{BB962C8B-B14F-4D97-AF65-F5344CB8AC3E}">
        <p14:creationId xmlns:p14="http://schemas.microsoft.com/office/powerpoint/2010/main" val="10340844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7BCDD5-6150-E4E8-D27D-3C5B70F88D1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99534963-25FE-44FA-EF60-9E5FE4EB0FE1}"/>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Bayer format arranges filters in a repeating </a:t>
                </a:r>
                <a14:m>
                  <m:oMath xmlns:m="http://schemas.openxmlformats.org/officeDocument/2006/math">
                    <m:r>
                      <a:rPr lang="en-US" sz="2000" i="1" dirty="0" smtClean="0">
                        <a:latin typeface="Cambria Math" panose="02040503050406030204" pitchFamily="18" charset="0"/>
                        <a:ea typeface="Arial"/>
                        <a:cs typeface="Arial"/>
                        <a:sym typeface="Arial"/>
                      </a:rPr>
                      <m:t>2 ×2</m:t>
                    </m:r>
                  </m:oMath>
                </a14:m>
                <a:r>
                  <a:rPr lang="en-US" sz="2000" dirty="0">
                    <a:latin typeface="Arial"/>
                    <a:ea typeface="Arial"/>
                    <a:cs typeface="Arial"/>
                    <a:sym typeface="Arial"/>
                  </a:rPr>
                  <a:t> grid.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a problem with filtering color?</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We lose information! This is why most scientific instruments (on Mars for example) are in black and white to ensure capturing all the intensities!</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Notice anything strange about this ratio?</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1 Red : 2 Green : 1 Blue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Why are there twice as many Green pixels as Red or Blue?</a:t>
                </a:r>
              </a:p>
            </p:txBody>
          </p:sp>
        </mc:Choice>
        <mc:Fallback>
          <p:sp>
            <p:nvSpPr>
              <p:cNvPr id="118" name="Google Shape;118;p29">
                <a:extLst>
                  <a:ext uri="{FF2B5EF4-FFF2-40B4-BE49-F238E27FC236}">
                    <a16:creationId xmlns:a16="http://schemas.microsoft.com/office/drawing/2014/main" id="{99534963-25FE-44FA-EF60-9E5FE4EB0FE1}"/>
                  </a:ext>
                </a:extLst>
              </p:cNvPr>
              <p:cNvSpPr txBox="1">
                <a:spLocks noGrp="1" noRot="1" noChangeAspect="1" noMove="1" noResize="1" noEditPoints="1" noAdjustHandles="1" noChangeArrowheads="1" noChangeShapeType="1" noTextEdit="1"/>
              </p:cNvSpPr>
              <p:nvPr>
                <p:ph type="body" idx="1"/>
              </p:nvPr>
            </p:nvSpPr>
            <p:spPr>
              <a:xfrm>
                <a:off x="376809" y="1334279"/>
                <a:ext cx="6625065" cy="4821102"/>
              </a:xfrm>
              <a:prstGeom prst="rect">
                <a:avLst/>
              </a:prstGeom>
              <a:blipFill>
                <a:blip r:embed="rId3"/>
                <a:stretch>
                  <a:fillRect l="-1012" t="-632" r="-15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F69237D-4892-5146-7D90-C6FFC4A82D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C44916-7F47-B71E-7EFB-367F053508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7077CA7-47B9-9B80-90AB-73D47D664C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6C66DF5-1748-63CC-C1B2-F08B446B44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8F87EC-7B9A-3861-6FE0-6C4376DA3E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567CE4-5DD6-9A77-CB53-BD71E59FC0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DD70CE-7172-A41B-B389-86C0962294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CF62CC-7736-ACD0-F919-D17DE3F56F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82222B3B-389F-7775-51FF-2BA97B4189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01874" y="1990789"/>
            <a:ext cx="5070462" cy="3295800"/>
          </a:xfrm>
          <a:prstGeom prst="rect">
            <a:avLst/>
          </a:prstGeom>
        </p:spPr>
      </p:pic>
      <p:sp>
        <p:nvSpPr>
          <p:cNvPr id="7" name="TextBox 6">
            <a:extLst>
              <a:ext uri="{FF2B5EF4-FFF2-40B4-BE49-F238E27FC236}">
                <a16:creationId xmlns:a16="http://schemas.microsoft.com/office/drawing/2014/main" id="{A6AEAA92-FD9A-D8C4-5A0B-2E6D2EC5AC74}"/>
              </a:ext>
            </a:extLst>
          </p:cNvPr>
          <p:cNvSpPr txBox="1"/>
          <p:nvPr/>
        </p:nvSpPr>
        <p:spPr>
          <a:xfrm>
            <a:off x="8327763" y="5409368"/>
            <a:ext cx="2418683" cy="246221"/>
          </a:xfrm>
          <a:prstGeom prst="rect">
            <a:avLst/>
          </a:prstGeom>
          <a:noFill/>
        </p:spPr>
        <p:txBody>
          <a:bodyPr wrap="square">
            <a:spAutoFit/>
          </a:bodyPr>
          <a:lstStyle/>
          <a:p>
            <a:r>
              <a:rPr lang="en-US" sz="1000" dirty="0">
                <a:hlinkClick r:id="rId7"/>
              </a:rPr>
              <a:t>https://en.wikipedia.org/wiki/Bayer_filter</a:t>
            </a:r>
            <a:r>
              <a:rPr lang="en-US" sz="1000" dirty="0"/>
              <a:t> </a:t>
            </a:r>
          </a:p>
        </p:txBody>
      </p:sp>
    </p:spTree>
    <p:extLst>
      <p:ext uri="{BB962C8B-B14F-4D97-AF65-F5344CB8AC3E}">
        <p14:creationId xmlns:p14="http://schemas.microsoft.com/office/powerpoint/2010/main" val="1309517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343AD7-193D-266D-A9E4-87355625E1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DFCB42-7D1B-D334-9277-BEF8EF74D967}"/>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We use twice as many green filters because the human eye (specifically our cone cells) is most sensitive to green wavelengths (~550 nm).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By over-sampling green, the camera captures luminance (brightness) detail that matches human perception.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However, our raw array is now a mosaic of single colors.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Pixel (0,0) only knows Red.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 we get RGB values for every pixel?</a:t>
            </a:r>
          </a:p>
        </p:txBody>
      </p:sp>
      <p:sp>
        <p:nvSpPr>
          <p:cNvPr id="119" name="Google Shape;119;p29">
            <a:extLst>
              <a:ext uri="{FF2B5EF4-FFF2-40B4-BE49-F238E27FC236}">
                <a16:creationId xmlns:a16="http://schemas.microsoft.com/office/drawing/2014/main" id="{8E8B27DE-CEEF-1BB2-874A-D538CB3C1D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F014AA-712A-DE43-361B-5A6C6FC1FD6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944764B-31A9-1DC1-C620-4CDA508F76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C67A19-621A-5D6D-8E54-5DB8F52F52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6ABCF1-9B76-7FEE-CA69-E46228A067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688DBB-E47E-333E-448A-42F3DB4137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FAA275-6DD1-F909-5C89-CD81B1C301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1B7A3-1277-5304-38D6-09D0979387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80CC4E5E-E877-37EB-865E-FB15BC4881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01874" y="1772716"/>
            <a:ext cx="5143500" cy="3619500"/>
          </a:xfrm>
          <a:prstGeom prst="rect">
            <a:avLst/>
          </a:prstGeom>
        </p:spPr>
      </p:pic>
      <p:sp>
        <p:nvSpPr>
          <p:cNvPr id="6" name="TextBox 5">
            <a:extLst>
              <a:ext uri="{FF2B5EF4-FFF2-40B4-BE49-F238E27FC236}">
                <a16:creationId xmlns:a16="http://schemas.microsoft.com/office/drawing/2014/main" id="{7774153F-467A-1D4A-A497-E9472CDA09AE}"/>
              </a:ext>
            </a:extLst>
          </p:cNvPr>
          <p:cNvSpPr txBox="1"/>
          <p:nvPr/>
        </p:nvSpPr>
        <p:spPr>
          <a:xfrm>
            <a:off x="7963833" y="5507441"/>
            <a:ext cx="3404519" cy="246221"/>
          </a:xfrm>
          <a:prstGeom prst="rect">
            <a:avLst/>
          </a:prstGeom>
          <a:noFill/>
        </p:spPr>
        <p:txBody>
          <a:bodyPr wrap="square">
            <a:spAutoFit/>
          </a:bodyPr>
          <a:lstStyle/>
          <a:p>
            <a:pPr algn="ctr"/>
            <a:r>
              <a:rPr lang="en-US" sz="1000" dirty="0">
                <a:hlinkClick r:id="rId6"/>
              </a:rPr>
              <a:t>https://en.wikipedia.org/wiki/Color_vision</a:t>
            </a:r>
            <a:r>
              <a:rPr lang="en-US" sz="1000" dirty="0"/>
              <a:t> </a:t>
            </a:r>
          </a:p>
        </p:txBody>
      </p:sp>
    </p:spTree>
    <p:extLst>
      <p:ext uri="{BB962C8B-B14F-4D97-AF65-F5344CB8AC3E}">
        <p14:creationId xmlns:p14="http://schemas.microsoft.com/office/powerpoint/2010/main" val="180288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EE4C85-C55C-A363-197F-86885DF7D5B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7F466A6-160B-BA90-320F-53F242E6C4C9}"/>
                  </a:ext>
                </a:extLst>
              </p:cNvPr>
              <p:cNvSpPr txBox="1">
                <a:spLocks noGrp="1"/>
              </p:cNvSpPr>
              <p:nvPr>
                <p:ph type="body" idx="1"/>
              </p:nvPr>
            </p:nvSpPr>
            <p:spPr>
              <a:xfrm>
                <a:off x="376809" y="1334279"/>
                <a:ext cx="950636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err="1">
                    <a:latin typeface="Arial"/>
                    <a:ea typeface="Arial"/>
                    <a:cs typeface="Arial"/>
                    <a:sym typeface="Arial"/>
                  </a:rPr>
                  <a:t>Demosaicing</a:t>
                </a:r>
                <a:r>
                  <a:rPr lang="en-US" sz="1800" dirty="0">
                    <a:latin typeface="Arial"/>
                    <a:ea typeface="Arial"/>
                    <a:cs typeface="Arial"/>
                    <a:sym typeface="Arial"/>
                  </a:rPr>
                  <a:t> is the mathematical process of guessing the missing color values at each pixel location.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We use surrounding pixels to calculate an average. To find the missing Green value at a Red pixel:</a:t>
                </a:r>
              </a:p>
              <a:p>
                <a:pPr marL="0" indent="0">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 </a:t>
                </a:r>
                <a14:m>
                  <m:oMath xmlns:m="http://schemas.openxmlformats.org/officeDocument/2006/math">
                    <m:sSub>
                      <m:sSubPr>
                        <m:ctrlPr>
                          <a:rPr lang="en-US" sz="1800" i="1" dirty="0" smtClean="0">
                            <a:latin typeface="Cambria Math" panose="02040503050406030204" pitchFamily="18" charset="0"/>
                            <a:ea typeface="Arial"/>
                            <a:cs typeface="Arial"/>
                            <a:sym typeface="Arial"/>
                          </a:rPr>
                        </m:ctrlPr>
                      </m:sSubPr>
                      <m:e>
                        <m:r>
                          <a:rPr lang="en-US" sz="1800" i="1" dirty="0" smtClean="0">
                            <a:latin typeface="Cambria Math" panose="02040503050406030204" pitchFamily="18" charset="0"/>
                            <a:ea typeface="Arial"/>
                            <a:cs typeface="Arial"/>
                            <a:sym typeface="Arial"/>
                          </a:rPr>
                          <m:t>𝑅</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smtClean="0">
                            <a:latin typeface="Cambria Math" panose="02040503050406030204" pitchFamily="18" charset="0"/>
                            <a:ea typeface="Arial"/>
                            <a:cs typeface="Arial"/>
                            <a:sym typeface="Arial"/>
                          </a:rPr>
                        </m:ctrlPr>
                      </m:sSubPr>
                      <m:e>
                        <m:r>
                          <a:rPr lang="en-US" sz="1800" b="0" i="1" dirty="0" smtClean="0">
                            <a:latin typeface="Cambria Math" panose="02040503050406030204" pitchFamily="18" charset="0"/>
                            <a:ea typeface="Arial"/>
                            <a:cs typeface="Arial"/>
                            <a:sym typeface="Arial"/>
                          </a:rPr>
                          <m:t> </m:t>
                        </m:r>
                        <m:r>
                          <a:rPr lang="en-US" sz="1800" i="1" dirty="0">
                            <a:latin typeface="Cambria Math" panose="02040503050406030204" pitchFamily="18" charset="0"/>
                            <a:ea typeface="Arial"/>
                            <a:cs typeface="Arial"/>
                            <a:sym typeface="Arial"/>
                          </a:rPr>
                          <m:t>𝐺</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f>
                      <m:fPr>
                        <m:ctrlPr>
                          <a:rPr lang="en-US" sz="1800" i="1" dirty="0">
                            <a:latin typeface="Cambria Math" panose="02040503050406030204" pitchFamily="18" charset="0"/>
                            <a:ea typeface="Arial"/>
                            <a:cs typeface="Arial"/>
                            <a:sym typeface="Arial"/>
                          </a:rPr>
                        </m:ctrlPr>
                      </m:fPr>
                      <m:num>
                        <m:r>
                          <a:rPr lang="en-US" sz="1800" i="1" dirty="0">
                            <a:latin typeface="Cambria Math" panose="02040503050406030204" pitchFamily="18" charset="0"/>
                            <a:ea typeface="Arial"/>
                            <a:cs typeface="Arial"/>
                            <a:sym typeface="Arial"/>
                          </a:rPr>
                          <m:t>1</m:t>
                        </m:r>
                      </m:num>
                      <m:den>
                        <m:r>
                          <a:rPr lang="en-US" sz="1800" i="1" dirty="0">
                            <a:latin typeface="Cambria Math" panose="02040503050406030204" pitchFamily="18" charset="0"/>
                            <a:ea typeface="Arial"/>
                            <a:cs typeface="Arial"/>
                            <a:sym typeface="Arial"/>
                          </a:rPr>
                          <m:t>4</m:t>
                        </m:r>
                      </m:den>
                    </m:f>
                    <m:d>
                      <m:dPr>
                        <m:ctrlPr>
                          <a:rPr lang="en-US" sz="1800" i="1" dirty="0">
                            <a:latin typeface="Cambria Math" panose="02040503050406030204" pitchFamily="18" charset="0"/>
                            <a:ea typeface="Arial"/>
                            <a:cs typeface="Arial"/>
                            <a:sym typeface="Arial"/>
                          </a:rPr>
                        </m:ctrlPr>
                      </m:dPr>
                      <m:e>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e>
                    </m:d>
                  </m:oMath>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camera's internal DSP (Digital Signal Processor) usually does this before sending data to the microcontroller.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This simple approach works well in areas with constant color or smooth gradients, but it can cause artifacts such as color bleeding in areas where there are abrupt changes in color or brightness especially noticeable along sharp edges in the image.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Because of this, other </a:t>
                </a:r>
                <a:r>
                  <a:rPr lang="en-US" sz="1800" dirty="0" err="1">
                    <a:latin typeface="Arial"/>
                    <a:ea typeface="Arial"/>
                    <a:cs typeface="Arial"/>
                    <a:sym typeface="Arial"/>
                  </a:rPr>
                  <a:t>demosaicing</a:t>
                </a:r>
                <a:r>
                  <a:rPr lang="en-US" sz="1800" dirty="0">
                    <a:latin typeface="Arial"/>
                    <a:ea typeface="Arial"/>
                    <a:cs typeface="Arial"/>
                    <a:sym typeface="Arial"/>
                  </a:rPr>
                  <a:t> methods attempt to identify high-contrast edges and only interpolate along these edges, but not across them.</a:t>
                </a:r>
              </a:p>
            </p:txBody>
          </p:sp>
        </mc:Choice>
        <mc:Fallback>
          <p:sp>
            <p:nvSpPr>
              <p:cNvPr id="118" name="Google Shape;118;p29">
                <a:extLst>
                  <a:ext uri="{FF2B5EF4-FFF2-40B4-BE49-F238E27FC236}">
                    <a16:creationId xmlns:a16="http://schemas.microsoft.com/office/drawing/2014/main" id="{87F466A6-160B-BA90-320F-53F242E6C4C9}"/>
                  </a:ext>
                </a:extLst>
              </p:cNvPr>
              <p:cNvSpPr txBox="1">
                <a:spLocks noGrp="1" noRot="1" noChangeAspect="1" noMove="1" noResize="1" noEditPoints="1" noAdjustHandles="1" noChangeArrowheads="1" noChangeShapeType="1" noTextEdit="1"/>
              </p:cNvSpPr>
              <p:nvPr>
                <p:ph type="body" idx="1"/>
              </p:nvPr>
            </p:nvSpPr>
            <p:spPr>
              <a:xfrm>
                <a:off x="376809" y="1334279"/>
                <a:ext cx="9506367" cy="4821102"/>
              </a:xfrm>
              <a:prstGeom prst="rect">
                <a:avLst/>
              </a:prstGeom>
              <a:blipFill>
                <a:blip r:embed="rId3"/>
                <a:stretch>
                  <a:fillRect l="-577" t="-759" r="-513"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A9906EE-DC3D-4993-9C05-BD16DA3C0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7E92BC-2724-C331-395C-4181738AD4D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AEE36F5-9C9C-750A-A0FA-665E5D65B0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CEE85A-4531-C080-189E-2CF31B221A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2EFFC4-90F2-6FF4-B187-79D1303E1F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532086-5AF1-571B-8E1A-D28EAA7EC8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4AEB92-690F-9723-A832-6BB594908B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3CC9D2-E71E-6265-6C8E-BA464EFD85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6" name="TextBox 5">
            <a:extLst>
              <a:ext uri="{FF2B5EF4-FFF2-40B4-BE49-F238E27FC236}">
                <a16:creationId xmlns:a16="http://schemas.microsoft.com/office/drawing/2014/main" id="{67C14D31-4651-ACA9-8042-534989BC48AD}"/>
              </a:ext>
            </a:extLst>
          </p:cNvPr>
          <p:cNvSpPr txBox="1"/>
          <p:nvPr/>
        </p:nvSpPr>
        <p:spPr>
          <a:xfrm>
            <a:off x="7467685" y="6335772"/>
            <a:ext cx="2473415" cy="246221"/>
          </a:xfrm>
          <a:prstGeom prst="rect">
            <a:avLst/>
          </a:prstGeom>
          <a:noFill/>
        </p:spPr>
        <p:txBody>
          <a:bodyPr wrap="square">
            <a:spAutoFit/>
          </a:bodyPr>
          <a:lstStyle/>
          <a:p>
            <a:pPr algn="ctr"/>
            <a:r>
              <a:rPr lang="en-US" sz="1000" dirty="0">
                <a:hlinkClick r:id="rId5"/>
              </a:rPr>
              <a:t>https://en.wikipedia.org/wiki/Color_vision</a:t>
            </a:r>
            <a:r>
              <a:rPr lang="en-US" sz="1000" dirty="0"/>
              <a:t> </a:t>
            </a:r>
          </a:p>
        </p:txBody>
      </p:sp>
      <p:pic>
        <p:nvPicPr>
          <p:cNvPr id="6146" name="Picture 2" descr="undefined">
            <a:extLst>
              <a:ext uri="{FF2B5EF4-FFF2-40B4-BE49-F238E27FC236}">
                <a16:creationId xmlns:a16="http://schemas.microsoft.com/office/drawing/2014/main" id="{FDC5DBA4-DACA-DD70-878D-9351060228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99025" y="899495"/>
            <a:ext cx="1694138" cy="564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07718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544614-C0E6-92FC-6C2E-E2D3B4F2AC1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025FD2B-153B-79B5-FC7B-D014B7DE69BB}"/>
                  </a:ext>
                </a:extLst>
              </p:cNvPr>
              <p:cNvSpPr txBox="1">
                <a:spLocks noGrp="1"/>
              </p:cNvSpPr>
              <p:nvPr>
                <p:ph type="body" idx="1"/>
              </p:nvPr>
            </p:nvSpPr>
            <p:spPr>
              <a:xfrm>
                <a:off x="376809" y="1334279"/>
                <a:ext cx="633731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Once demosaiced, every pixel is an array of three values: </a:t>
                </a:r>
                <a:r>
                  <a:rPr lang="en-US" sz="1800" b="1" dirty="0">
                    <a:latin typeface="Arial"/>
                    <a:ea typeface="Arial"/>
                    <a:cs typeface="Arial"/>
                    <a:sym typeface="Arial"/>
                  </a:rPr>
                  <a:t>R, G, B</a:t>
                </a:r>
                <a:r>
                  <a:rPr lang="en-US" sz="1800" dirty="0">
                    <a:latin typeface="Arial"/>
                    <a:ea typeface="Arial"/>
                    <a:cs typeface="Arial"/>
                    <a:sym typeface="Arial"/>
                  </a:rPr>
                  <a: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RGB is an additive color model used by screens and sensors and each value is represented as an 8-bit value (depends on the ADC of the sensor).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If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=255</m:t>
                    </m:r>
                  </m:oMath>
                </a14:m>
                <a:r>
                  <a:rPr lang="en-US" sz="1800" dirty="0">
                    <a:latin typeface="Arial"/>
                    <a:ea typeface="Arial"/>
                    <a:cs typeface="Arial"/>
                    <a:sym typeface="Arial"/>
                  </a:rPr>
                  <a:t>, what color do we see? </a:t>
                </a:r>
              </a:p>
              <a:p>
                <a:pPr marL="0" indent="0" algn="ctr">
                  <a:lnSpc>
                    <a:spcPct val="100000"/>
                  </a:lnSpc>
                  <a:spcBef>
                    <a:spcPts val="0"/>
                  </a:spcBef>
                  <a:buSzPts val="3000"/>
                  <a:buNone/>
                </a:pPr>
                <a:r>
                  <a:rPr lang="en-US" sz="1800" dirty="0">
                    <a:latin typeface="Arial"/>
                    <a:ea typeface="Arial"/>
                    <a:cs typeface="Arial"/>
                    <a:sym typeface="Arial"/>
                  </a:rPr>
                  <a:t>White</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If </a:t>
                </a:r>
                <a14:m>
                  <m:oMath xmlns:m="http://schemas.openxmlformats.org/officeDocument/2006/math">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=255, </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=0, </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=0</m:t>
                    </m:r>
                  </m:oMath>
                </a14:m>
                <a:r>
                  <a:rPr lang="en-US" sz="1800" dirty="0">
                    <a:latin typeface="Arial"/>
                    <a:ea typeface="Arial"/>
                    <a:cs typeface="Arial"/>
                    <a:sym typeface="Arial"/>
                  </a:rPr>
                  <a:t>, what color do we see? </a:t>
                </a:r>
              </a:p>
              <a:p>
                <a:pPr marL="0" indent="0" algn="ctr">
                  <a:lnSpc>
                    <a:spcPct val="100000"/>
                  </a:lnSpc>
                  <a:spcBef>
                    <a:spcPts val="0"/>
                  </a:spcBef>
                  <a:buSzPts val="3000"/>
                  <a:buNone/>
                </a:pPr>
                <a:r>
                  <a:rPr lang="en-US" sz="1800" dirty="0">
                    <a:latin typeface="Arial"/>
                    <a:ea typeface="Arial"/>
                    <a:cs typeface="Arial"/>
                    <a:sym typeface="Arial"/>
                  </a:rPr>
                  <a:t>Red</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RGB is represented as a 3D Cartesian cube, where </a:t>
                </a:r>
                <a14:m>
                  <m:oMath xmlns:m="http://schemas.openxmlformats.org/officeDocument/2006/math">
                    <m:r>
                      <a:rPr lang="en-US" sz="1800" i="1" dirty="0" smtClean="0">
                        <a:latin typeface="Cambria Math" panose="02040503050406030204" pitchFamily="18" charset="0"/>
                        <a:ea typeface="Arial"/>
                        <a:cs typeface="Arial"/>
                        <a:sym typeface="Arial"/>
                      </a:rPr>
                      <m:t>𝑥</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𝑦</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𝑧</m:t>
                    </m:r>
                  </m:oMath>
                </a14:m>
                <a:r>
                  <a:rPr lang="en-US" sz="1800" dirty="0">
                    <a:latin typeface="Arial"/>
                    <a:ea typeface="Arial"/>
                    <a:cs typeface="Arial"/>
                    <a:sym typeface="Arial"/>
                  </a:rPr>
                  <a:t> correspond to Red, Green, and Blue intensities.</a:t>
                </a:r>
              </a:p>
            </p:txBody>
          </p:sp>
        </mc:Choice>
        <mc:Fallback>
          <p:sp>
            <p:nvSpPr>
              <p:cNvPr id="118" name="Google Shape;118;p29">
                <a:extLst>
                  <a:ext uri="{FF2B5EF4-FFF2-40B4-BE49-F238E27FC236}">
                    <a16:creationId xmlns:a16="http://schemas.microsoft.com/office/drawing/2014/main" id="{2025FD2B-153B-79B5-FC7B-D014B7DE69BB}"/>
                  </a:ext>
                </a:extLst>
              </p:cNvPr>
              <p:cNvSpPr txBox="1">
                <a:spLocks noGrp="1" noRot="1" noChangeAspect="1" noMove="1" noResize="1" noEditPoints="1" noAdjustHandles="1" noChangeArrowheads="1" noChangeShapeType="1" noTextEdit="1"/>
              </p:cNvSpPr>
              <p:nvPr>
                <p:ph type="body" idx="1"/>
              </p:nvPr>
            </p:nvSpPr>
            <p:spPr>
              <a:xfrm>
                <a:off x="376809" y="1334279"/>
                <a:ext cx="6337317" cy="4821102"/>
              </a:xfrm>
              <a:prstGeom prst="rect">
                <a:avLst/>
              </a:prstGeom>
              <a:blipFill>
                <a:blip r:embed="rId3"/>
                <a:stretch>
                  <a:fillRect l="-866" t="-759" r="-10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37002F5-43A1-3659-46D5-F15510587B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61B69C0-9007-08ED-89B8-1905379CA4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DD85418-C577-7D8F-21A5-30B7A7BAF3E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D58404-BE95-D434-65F2-306FC599D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30CCF0-82F1-3E58-8173-755205865B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EB9C87-70EE-168A-4B90-A0BCAD01C3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9BBFC4-9319-AFC4-DF25-F7275827CF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510C7F-114E-86B2-59ED-B04A35C750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170" name="Picture 2" descr="undefined">
            <a:extLst>
              <a:ext uri="{FF2B5EF4-FFF2-40B4-BE49-F238E27FC236}">
                <a16:creationId xmlns:a16="http://schemas.microsoft.com/office/drawing/2014/main" id="{A838F4B9-F11D-9A10-4905-78818523DE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83654" y="1818007"/>
            <a:ext cx="5162417" cy="38718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0501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B60C1-85AD-9058-56CC-1E225FCD8A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48A072-B649-CA68-8F40-E55E4DBEC52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Imagine we write code to track a red ball: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rgbClr val="7F0055"/>
                </a:solidFill>
                <a:latin typeface="Consolas" panose="020B0609020204030204" pitchFamily="49" charset="0"/>
              </a:rPr>
              <a:t>if</a:t>
            </a:r>
            <a:r>
              <a:rPr lang="en-US" sz="2400" dirty="0">
                <a:solidFill>
                  <a:srgbClr val="000000"/>
                </a:solidFill>
                <a:latin typeface="Consolas" panose="020B0609020204030204" pitchFamily="49" charset="0"/>
              </a:rPr>
              <a:t> (R &gt; 200 &amp;&amp; G &lt; 50 &amp;&amp; B &lt; 50) { track();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What happens when the robot drives under a shadow?</a:t>
            </a:r>
          </a:p>
          <a:p>
            <a:pPr marL="0" indent="0" algn="ctr">
              <a:lnSpc>
                <a:spcPct val="100000"/>
              </a:lnSpc>
              <a:spcBef>
                <a:spcPts val="0"/>
              </a:spcBef>
              <a:buSzPts val="3000"/>
              <a:buNone/>
            </a:pPr>
            <a:r>
              <a:rPr lang="en-US" sz="2400" dirty="0">
                <a:latin typeface="Arial"/>
                <a:ea typeface="Arial"/>
                <a:cs typeface="Arial"/>
                <a:sym typeface="Arial"/>
              </a:rPr>
              <a:t>The total light drops. The pixel might become R=100, G=10, B=10. Our code fails!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In RGB, a change in lighting changes all three variables simultaneously. It couples chrominance (color) with luminance (brightness).</a:t>
            </a:r>
          </a:p>
        </p:txBody>
      </p:sp>
      <p:sp>
        <p:nvSpPr>
          <p:cNvPr id="119" name="Google Shape;119;p29">
            <a:extLst>
              <a:ext uri="{FF2B5EF4-FFF2-40B4-BE49-F238E27FC236}">
                <a16:creationId xmlns:a16="http://schemas.microsoft.com/office/drawing/2014/main" id="{1A24E37D-307B-2055-AAD6-5AEC68D2B8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04854A1-C86C-BB07-AD4F-FCA28CEEB15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0E872E-57F9-3E50-3D25-69A05D5545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A802C0-3C44-6E35-D5C9-4AD2CA9B15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FCBD58-039C-9B8A-7AB6-265C5E176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17D9DC-B7B7-758C-7FCC-0C716BE57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566F0-CEAC-6518-8563-DA56A0FC51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7BF16-B3B8-3E77-1FBF-4BDE45BC14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0214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17ED55-03FB-0FFB-E3B4-5473D2EEF37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60AB90-E0F5-8288-7149-F131CCE2EDB6}"/>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To solve the shadow problem, we transform the RGB cube into a cylinder: The </a:t>
            </a:r>
            <a:r>
              <a:rPr lang="en-US" sz="2400" b="1" dirty="0">
                <a:latin typeface="Arial"/>
                <a:ea typeface="Arial"/>
                <a:cs typeface="Arial"/>
                <a:sym typeface="Arial"/>
              </a:rPr>
              <a:t>HSV </a:t>
            </a:r>
            <a:r>
              <a:rPr lang="en-US" sz="2400" dirty="0">
                <a:latin typeface="Arial"/>
                <a:ea typeface="Arial"/>
                <a:cs typeface="Arial"/>
                <a:sym typeface="Arial"/>
              </a:rPr>
              <a:t>color space.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 = </a:t>
            </a:r>
            <a:r>
              <a:rPr lang="en-US" sz="2400" b="1" dirty="0">
                <a:latin typeface="Arial"/>
                <a:ea typeface="Arial"/>
                <a:cs typeface="Arial"/>
                <a:sym typeface="Arial"/>
              </a:rPr>
              <a:t>Hue</a:t>
            </a:r>
            <a:r>
              <a:rPr lang="en-US" sz="2400" dirty="0">
                <a:latin typeface="Arial"/>
                <a:ea typeface="Arial"/>
                <a:cs typeface="Arial"/>
                <a:sym typeface="Arial"/>
              </a:rPr>
              <a:t> (The actual color type, e.g., Red, Blue).</a:t>
            </a:r>
          </a:p>
          <a:p>
            <a:pPr marL="0" indent="0">
              <a:lnSpc>
                <a:spcPct val="100000"/>
              </a:lnSpc>
              <a:spcBef>
                <a:spcPts val="0"/>
              </a:spcBef>
              <a:buSzPts val="3000"/>
              <a:buNone/>
            </a:pPr>
            <a:r>
              <a:rPr lang="en-US" sz="2400" dirty="0">
                <a:latin typeface="Arial"/>
                <a:ea typeface="Arial"/>
                <a:cs typeface="Arial"/>
                <a:sym typeface="Arial"/>
              </a:rPr>
              <a:t>S = </a:t>
            </a:r>
            <a:r>
              <a:rPr lang="en-US" sz="2400" b="1" dirty="0">
                <a:latin typeface="Arial"/>
                <a:ea typeface="Arial"/>
                <a:cs typeface="Arial"/>
                <a:sym typeface="Arial"/>
              </a:rPr>
              <a:t>Saturation</a:t>
            </a:r>
            <a:r>
              <a:rPr lang="en-US" sz="2400" dirty="0">
                <a:latin typeface="Arial"/>
                <a:ea typeface="Arial"/>
                <a:cs typeface="Arial"/>
                <a:sym typeface="Arial"/>
              </a:rPr>
              <a:t> (How pure the color is, vs. faded white).</a:t>
            </a:r>
          </a:p>
          <a:p>
            <a:pPr marL="0" indent="0">
              <a:lnSpc>
                <a:spcPct val="100000"/>
              </a:lnSpc>
              <a:spcBef>
                <a:spcPts val="0"/>
              </a:spcBef>
              <a:buSzPts val="3000"/>
              <a:buNone/>
            </a:pPr>
            <a:r>
              <a:rPr lang="en-US" sz="2400" dirty="0">
                <a:latin typeface="Arial"/>
                <a:ea typeface="Arial"/>
                <a:cs typeface="Arial"/>
                <a:sym typeface="Arial"/>
              </a:rPr>
              <a:t>V = </a:t>
            </a:r>
            <a:r>
              <a:rPr lang="en-US" sz="2400" b="1" dirty="0">
                <a:latin typeface="Arial"/>
                <a:ea typeface="Arial"/>
                <a:cs typeface="Arial"/>
                <a:sym typeface="Arial"/>
              </a:rPr>
              <a:t>Value</a:t>
            </a:r>
            <a:r>
              <a:rPr lang="en-US" sz="2400" dirty="0">
                <a:latin typeface="Arial"/>
                <a:ea typeface="Arial"/>
                <a:cs typeface="Arial"/>
                <a:sym typeface="Arial"/>
              </a:rPr>
              <a:t> (How bright or dark the color is).</a:t>
            </a:r>
          </a:p>
        </p:txBody>
      </p:sp>
      <p:sp>
        <p:nvSpPr>
          <p:cNvPr id="119" name="Google Shape;119;p29">
            <a:extLst>
              <a:ext uri="{FF2B5EF4-FFF2-40B4-BE49-F238E27FC236}">
                <a16:creationId xmlns:a16="http://schemas.microsoft.com/office/drawing/2014/main" id="{5B0817FF-F18B-E3FF-4C79-0B77FFC1A8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DA9351C-5389-BAF5-4402-7028D9D075B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A04358E-9F07-9A79-96CF-1D85EF31FC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6830E6-B00B-6704-EC76-1DC71759AF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E0C2F89-9A33-4BF2-D2BE-A270022881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A05458-4860-3297-95D1-C31879519B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524E47-C778-F7F9-D353-5BB43DD93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B093902-8747-E57B-87DB-B173F11FEF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2C29C659-83F3-5525-4410-BAC568249F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97CFA33-B747-1FFC-7DC4-C56019937EE3}"/>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2982333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A22B9A-326B-194A-364D-9DBEF6C7623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CB3096CD-535E-BAFB-689D-0824AE698D98}"/>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In the HSV cylinder, Hue is an angle from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to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360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a:t>
                </a:r>
                <a:endParaRPr lang="en-US" sz="2400" i="1" dirty="0">
                  <a:latin typeface="Cambria Math" panose="02040503050406030204" pitchFamily="18" charset="0"/>
                  <a:ea typeface="Arial"/>
                  <a:cs typeface="Arial"/>
                  <a:sym typeface="Arial"/>
                </a:endParaRPr>
              </a:p>
              <a:p>
                <a:pPr marL="342900">
                  <a:lnSpc>
                    <a:spcPct val="100000"/>
                  </a:lnSpc>
                  <a:spcBef>
                    <a:spcPts val="0"/>
                  </a:spcBef>
                  <a:buSzPts val="3000"/>
                </a:pPr>
                <a14:m>
                  <m:oMath xmlns:m="http://schemas.openxmlformats.org/officeDocument/2006/math">
                    <m:sSup>
                      <m:sSupPr>
                        <m:ctrlPr>
                          <a:rPr lang="en-US" sz="2400" i="1" dirty="0">
                            <a:latin typeface="Cambria Math" panose="02040503050406030204" pitchFamily="18" charset="0"/>
                            <a:ea typeface="Arial"/>
                            <a:cs typeface="Arial"/>
                            <a:sym typeface="Arial"/>
                          </a:rPr>
                        </m:ctrlPr>
                      </m:sSupPr>
                      <m:e>
                        <m:r>
                          <a:rPr lang="en-US" sz="2400" i="1" dirty="0">
                            <a:latin typeface="Cambria Math" panose="02040503050406030204" pitchFamily="18" charset="0"/>
                            <a:ea typeface="Arial"/>
                            <a:cs typeface="Arial"/>
                            <a:sym typeface="Arial"/>
                          </a:rPr>
                          <m:t>0</m:t>
                        </m:r>
                      </m:e>
                      <m:sup>
                        <m:r>
                          <a:rPr lang="en-US" sz="2400" i="1" dirty="0">
                            <a:latin typeface="Cambria Math" panose="02040503050406030204" pitchFamily="18" charset="0"/>
                            <a:ea typeface="Arial"/>
                            <a:cs typeface="Arial"/>
                            <a:sym typeface="Arial"/>
                          </a:rPr>
                          <m:t>∘</m:t>
                        </m:r>
                      </m:sup>
                    </m:sSup>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 Red,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120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 Green,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240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 Blue.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Why this is brilliant: If a red ball enters a shadow, its </a:t>
                </a:r>
                <a:r>
                  <a:rPr lang="en-US" sz="2400" b="1" dirty="0">
                    <a:latin typeface="Arial"/>
                    <a:ea typeface="Arial"/>
                    <a:cs typeface="Arial"/>
                    <a:sym typeface="Arial"/>
                  </a:rPr>
                  <a:t>Value</a:t>
                </a:r>
                <a:r>
                  <a:rPr lang="en-US" sz="2400" dirty="0">
                    <a:latin typeface="Arial"/>
                    <a:ea typeface="Arial"/>
                    <a:cs typeface="Arial"/>
                    <a:sym typeface="Arial"/>
                  </a:rPr>
                  <a:t> </a:t>
                </a:r>
                <a:r>
                  <a:rPr lang="en-US" sz="2400" b="1" dirty="0">
                    <a:latin typeface="Arial"/>
                    <a:ea typeface="Arial"/>
                    <a:cs typeface="Arial"/>
                    <a:sym typeface="Arial"/>
                  </a:rPr>
                  <a:t>drops</a:t>
                </a:r>
                <a:r>
                  <a:rPr lang="en-US" sz="2400" dirty="0">
                    <a:latin typeface="Arial"/>
                    <a:ea typeface="Arial"/>
                    <a:cs typeface="Arial"/>
                    <a:sym typeface="Arial"/>
                  </a:rPr>
                  <a:t>, but its </a:t>
                </a:r>
                <a:r>
                  <a:rPr lang="en-US" sz="2400" b="1" dirty="0">
                    <a:latin typeface="Arial"/>
                    <a:ea typeface="Arial"/>
                    <a:cs typeface="Arial"/>
                    <a:sym typeface="Arial"/>
                  </a:rPr>
                  <a:t>Hue angle remains “exactly” </a:t>
                </a:r>
                <a14:m>
                  <m:oMath xmlns:m="http://schemas.openxmlformats.org/officeDocument/2006/math">
                    <m:sSup>
                      <m:sSupPr>
                        <m:ctrlPr>
                          <a:rPr lang="en-US" sz="2400" b="1" i="1" dirty="0">
                            <a:latin typeface="Cambria Math" panose="02040503050406030204" pitchFamily="18" charset="0"/>
                            <a:ea typeface="Arial"/>
                            <a:cs typeface="Arial"/>
                            <a:sym typeface="Arial"/>
                          </a:rPr>
                        </m:ctrlPr>
                      </m:sSupPr>
                      <m:e>
                        <m:r>
                          <a:rPr lang="en-US" sz="2400" b="1" i="1" dirty="0">
                            <a:latin typeface="Cambria Math" panose="02040503050406030204" pitchFamily="18" charset="0"/>
                            <a:ea typeface="Arial"/>
                            <a:cs typeface="Arial"/>
                            <a:sym typeface="Arial"/>
                          </a:rPr>
                          <m:t>𝟎</m:t>
                        </m:r>
                      </m:e>
                      <m:sup>
                        <m:r>
                          <a:rPr lang="en-US" sz="2400" b="1" i="1" dirty="0">
                            <a:latin typeface="Cambria Math" panose="02040503050406030204" pitchFamily="18" charset="0"/>
                            <a:ea typeface="Arial"/>
                            <a:cs typeface="Arial"/>
                            <a:sym typeface="Arial"/>
                          </a:rPr>
                          <m:t>∘</m:t>
                        </m:r>
                      </m:sup>
                    </m:sSup>
                  </m:oMath>
                </a14:m>
                <a:r>
                  <a:rPr lang="en-US" sz="2400" b="1"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isolates the color from the lighting condition, making our tracking algorithm more robust!</a:t>
                </a:r>
              </a:p>
            </p:txBody>
          </p:sp>
        </mc:Choice>
        <mc:Fallback>
          <p:sp>
            <p:nvSpPr>
              <p:cNvPr id="118" name="Google Shape;118;p29">
                <a:extLst>
                  <a:ext uri="{FF2B5EF4-FFF2-40B4-BE49-F238E27FC236}">
                    <a16:creationId xmlns:a16="http://schemas.microsoft.com/office/drawing/2014/main" id="{CB3096CD-535E-BAFB-689D-0824AE698D98}"/>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2049"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A171B8-7E24-D5CD-6129-037B60E4F7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D5DB623-DF51-91FD-EEFE-5AAAF7527D4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16869F-F56C-15D7-3C4E-37C6C1BB5CA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AF2485-266C-378C-07DB-4A63D0E440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42BB47-4267-D0B1-C60D-B1E3523248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7314A8-3CA3-327D-890E-13B7F4B16B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414B7-30F3-6555-397E-831DC75311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1178C4-A7E4-72A5-FE0F-DE99846740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2919FED6-C67F-725D-39A7-7E7B85FE4C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4EE992C-4DFF-C690-F6E5-765961A9F7B6}"/>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29270627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0501AA-4348-DAAE-58E9-9B534A33934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F511F52-AAE8-4CD5-D22B-672540E4BED1}"/>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Saturation is the radius (distance from the center axis).</a:t>
            </a:r>
          </a:p>
          <a:p>
            <a:pPr marL="342900">
              <a:lnSpc>
                <a:spcPct val="100000"/>
              </a:lnSpc>
              <a:spcBef>
                <a:spcPts val="0"/>
              </a:spcBef>
              <a:buSzPts val="3000"/>
            </a:pPr>
            <a:r>
              <a:rPr lang="en-US" sz="2400" b="1" dirty="0">
                <a:latin typeface="Arial"/>
                <a:ea typeface="Arial"/>
                <a:cs typeface="Arial"/>
                <a:sym typeface="Arial"/>
              </a:rPr>
              <a:t>S=0%</a:t>
            </a:r>
            <a:r>
              <a:rPr lang="en-US" sz="2400" dirty="0">
                <a:latin typeface="Arial"/>
                <a:ea typeface="Arial"/>
                <a:cs typeface="Arial"/>
                <a:sym typeface="Arial"/>
              </a:rPr>
              <a:t> is pure gray/white (center). </a:t>
            </a:r>
          </a:p>
          <a:p>
            <a:pPr marL="342900">
              <a:lnSpc>
                <a:spcPct val="100000"/>
              </a:lnSpc>
              <a:spcBef>
                <a:spcPts val="0"/>
              </a:spcBef>
              <a:buSzPts val="3000"/>
            </a:pPr>
            <a:r>
              <a:rPr lang="en-US" sz="2400" b="1" dirty="0">
                <a:latin typeface="Arial"/>
                <a:ea typeface="Arial"/>
                <a:cs typeface="Arial"/>
                <a:sym typeface="Arial"/>
              </a:rPr>
              <a:t>S=100%</a:t>
            </a:r>
            <a:r>
              <a:rPr lang="en-US" sz="2400" dirty="0">
                <a:latin typeface="Arial"/>
                <a:ea typeface="Arial"/>
                <a:cs typeface="Arial"/>
                <a:sym typeface="Arial"/>
              </a:rPr>
              <a:t> is a pure, vibrant color (edge).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Value is the height of the cylinder (0 to 100%).</a:t>
            </a:r>
          </a:p>
          <a:p>
            <a:pPr marL="342900">
              <a:lnSpc>
                <a:spcPct val="100000"/>
              </a:lnSpc>
              <a:spcBef>
                <a:spcPts val="0"/>
              </a:spcBef>
              <a:buSzPts val="3000"/>
            </a:pPr>
            <a:r>
              <a:rPr lang="en-US" sz="2400" b="1" dirty="0">
                <a:latin typeface="Arial"/>
                <a:ea typeface="Arial"/>
                <a:cs typeface="Arial"/>
                <a:sym typeface="Arial"/>
              </a:rPr>
              <a:t>V=0%</a:t>
            </a:r>
            <a:r>
              <a:rPr lang="en-US" sz="2400" dirty="0">
                <a:latin typeface="Arial"/>
                <a:ea typeface="Arial"/>
                <a:cs typeface="Arial"/>
                <a:sym typeface="Arial"/>
              </a:rPr>
              <a:t> is pitch black. </a:t>
            </a:r>
          </a:p>
          <a:p>
            <a:pPr marL="342900">
              <a:lnSpc>
                <a:spcPct val="100000"/>
              </a:lnSpc>
              <a:spcBef>
                <a:spcPts val="0"/>
              </a:spcBef>
              <a:buSzPts val="3000"/>
            </a:pPr>
            <a:r>
              <a:rPr lang="en-US" sz="2400" b="1" dirty="0">
                <a:latin typeface="Arial"/>
                <a:ea typeface="Arial"/>
                <a:cs typeface="Arial"/>
                <a:sym typeface="Arial"/>
              </a:rPr>
              <a:t>V=100% </a:t>
            </a:r>
            <a:r>
              <a:rPr lang="en-US" sz="2400" dirty="0">
                <a:latin typeface="Arial"/>
                <a:ea typeface="Arial"/>
                <a:cs typeface="Arial"/>
                <a:sym typeface="Arial"/>
              </a:rPr>
              <a:t>is fully illuminated.</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To track an object, we look for pixels that fall within specific ranges.</a:t>
            </a:r>
          </a:p>
        </p:txBody>
      </p:sp>
      <p:sp>
        <p:nvSpPr>
          <p:cNvPr id="119" name="Google Shape;119;p29">
            <a:extLst>
              <a:ext uri="{FF2B5EF4-FFF2-40B4-BE49-F238E27FC236}">
                <a16:creationId xmlns:a16="http://schemas.microsoft.com/office/drawing/2014/main" id="{711C6FD8-037E-C66E-8F78-4C569DD47C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0363E49-52D5-A2A0-4ADD-805741FFB4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6B8E5F-AFD9-98FE-29E7-59001541FE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4495B9-4E49-1418-CB21-698A503C56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7D4219-531D-2365-F4D9-395A25CEC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031414-D07D-8DC6-CC76-F49276E28A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282DD-5F1E-925F-BAF1-4B172D25D6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2C2D23-AFEA-C01D-7F5B-822F1DBE7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D438D219-4CEC-F988-4BF8-AD7BCD28C9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C362953-CBE3-0DAC-E424-2117F88DBD61}"/>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8072496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23E82A-1CEC-E410-BF7A-84AF184E636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D4237E1B-545F-69C1-D581-FF9F2476C15A}"/>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To convert from RGB to HSV the conversion is simple.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Let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m:t>
                    </m:r>
                  </m:oMath>
                </a14:m>
                <a:r>
                  <a:rPr lang="en-US" sz="1800" dirty="0">
                    <a:latin typeface="Arial"/>
                    <a:ea typeface="Arial"/>
                    <a:cs typeface="Arial"/>
                    <a:sym typeface="Arial"/>
                  </a:rPr>
                  <a:t> be normalized values in </a:t>
                </a:r>
                <a14:m>
                  <m:oMath xmlns:m="http://schemas.openxmlformats.org/officeDocument/2006/math">
                    <m:d>
                      <m:dPr>
                        <m:begChr m:val="["/>
                        <m:endChr m:val="]"/>
                        <m:ctrlPr>
                          <a:rPr lang="en-US" sz="1800" i="1" dirty="0" smtClean="0">
                            <a:latin typeface="Cambria Math" panose="02040503050406030204" pitchFamily="18" charset="0"/>
                            <a:ea typeface="Arial"/>
                            <a:cs typeface="Arial"/>
                            <a:sym typeface="Arial"/>
                          </a:rPr>
                        </m:ctrlPr>
                      </m:dPr>
                      <m:e>
                        <m:r>
                          <a:rPr lang="en-US" sz="1800" i="1" dirty="0" smtClean="0">
                            <a:latin typeface="Cambria Math" panose="02040503050406030204" pitchFamily="18" charset="0"/>
                            <a:ea typeface="Arial"/>
                            <a:cs typeface="Arial"/>
                            <a:sym typeface="Arial"/>
                          </a:rPr>
                          <m:t>0,1</m:t>
                        </m:r>
                      </m:e>
                    </m:d>
                  </m:oMath>
                </a14:m>
                <a:r>
                  <a:rPr lang="en-US" sz="1800" dirty="0">
                    <a:latin typeface="Arial"/>
                    <a:ea typeface="Arial"/>
                    <a:cs typeface="Arial"/>
                    <a:sym typeface="Arial"/>
                  </a:rPr>
                  <a: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𝑚𝑎𝑥</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  </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𝑚𝑖𝑛</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m:t>
                      </m:r>
                    </m:oMath>
                  </m:oMathPara>
                </a14:m>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0" smtClean="0">
                          <a:latin typeface="Cambria Math" panose="02040503050406030204" pitchFamily="18" charset="0"/>
                          <a:ea typeface="Arial"/>
                          <a:cs typeface="Arial"/>
                          <a:sym typeface="Arial"/>
                        </a:rPr>
                        <m:t>Δ</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Arial"/>
                          <a:cs typeface="Arial"/>
                          <a:sym typeface="Arial"/>
                        </a:rPr>
                        <m:t>𝑉</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oMath>
                  </m:oMathPara>
                </a14:m>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dirty="0" smtClean="0">
                          <a:latin typeface="Cambria Math" panose="02040503050406030204" pitchFamily="18" charset="0"/>
                          <a:cs typeface="Arial"/>
                          <a:sym typeface="Arial"/>
                        </a:rPr>
                        <m:t>𝑆</m:t>
                      </m:r>
                      <m:r>
                        <a:rPr lang="en-US" sz="1800" b="0" i="1" dirty="0" smtClean="0">
                          <a:latin typeface="Cambria Math" panose="02040503050406030204" pitchFamily="18" charset="0"/>
                          <a:cs typeface="Arial"/>
                          <a:sym typeface="Arial"/>
                        </a:rPr>
                        <m:t>=</m:t>
                      </m:r>
                      <m:d>
                        <m:dPr>
                          <m:begChr m:val="{"/>
                          <m:endChr m:val=""/>
                          <m:ctrlPr>
                            <a:rPr lang="en-US" sz="1800" i="1" dirty="0" smtClean="0">
                              <a:latin typeface="Cambria Math" panose="02040503050406030204" pitchFamily="18" charset="0"/>
                              <a:cs typeface="Arial"/>
                              <a:sym typeface="Arial"/>
                            </a:rPr>
                          </m:ctrlPr>
                        </m:dPr>
                        <m:e>
                          <m:eqArr>
                            <m:eqArrPr>
                              <m:ctrlPr>
                                <a:rPr lang="en-US" sz="1800" i="1" dirty="0" smtClean="0">
                                  <a:latin typeface="Cambria Math" panose="02040503050406030204" pitchFamily="18" charset="0"/>
                                  <a:cs typeface="Arial"/>
                                  <a:sym typeface="Arial"/>
                                </a:rPr>
                              </m:ctrlPr>
                            </m:eqArrPr>
                            <m:e>
                              <m:r>
                                <a:rPr lang="en-US" sz="1800" b="0" i="1" dirty="0" smtClean="0">
                                  <a:latin typeface="Cambria Math" panose="02040503050406030204" pitchFamily="18" charset="0"/>
                                  <a:cs typeface="Arial"/>
                                  <a:sym typeface="Arial"/>
                                </a:rPr>
                                <m:t>0, </m:t>
                              </m:r>
                              <m:sSub>
                                <m:sSubPr>
                                  <m:ctrlPr>
                                    <a:rPr lang="en-US" sz="1800" b="0" i="1" dirty="0" smtClean="0">
                                      <a:latin typeface="Cambria Math" panose="02040503050406030204" pitchFamily="18" charset="0"/>
                                      <a:cs typeface="Arial"/>
                                      <a:sym typeface="Arial"/>
                                    </a:rPr>
                                  </m:ctrlPr>
                                </m:sSubPr>
                                <m:e>
                                  <m:r>
                                    <a:rPr lang="en-US" sz="1800" b="0" i="1" dirty="0" smtClean="0">
                                      <a:latin typeface="Cambria Math" panose="02040503050406030204" pitchFamily="18" charset="0"/>
                                      <a:cs typeface="Arial"/>
                                      <a:sym typeface="Arial"/>
                                    </a:rPr>
                                    <m:t>𝐶</m:t>
                                  </m:r>
                                </m:e>
                                <m:sub>
                                  <m:r>
                                    <m:rPr>
                                      <m:sty m:val="p"/>
                                    </m:rPr>
                                    <a:rPr lang="en-US" sz="1800" b="0" i="1" dirty="0" smtClean="0">
                                      <a:latin typeface="Cambria Math" panose="02040503050406030204" pitchFamily="18" charset="0"/>
                                      <a:cs typeface="Arial"/>
                                      <a:sym typeface="Arial"/>
                                    </a:rPr>
                                    <m:t>max</m:t>
                                  </m:r>
                                </m:sub>
                              </m:sSub>
                              <m:r>
                                <a:rPr lang="en-US" sz="1800" b="0" i="1" dirty="0" smtClean="0">
                                  <a:latin typeface="Cambria Math" panose="02040503050406030204" pitchFamily="18" charset="0"/>
                                  <a:cs typeface="Arial"/>
                                  <a:sym typeface="Arial"/>
                                </a:rPr>
                                <m:t>=0</m:t>
                              </m:r>
                            </m:e>
                            <m:e>
                              <m:f>
                                <m:fPr>
                                  <m:ctrlPr>
                                    <a:rPr lang="en-US" sz="1800" i="1" dirty="0" smtClean="0">
                                      <a:latin typeface="Cambria Math" panose="02040503050406030204" pitchFamily="18" charset="0"/>
                                      <a:cs typeface="Arial"/>
                                      <a:sym typeface="Arial"/>
                                    </a:rPr>
                                  </m:ctrlPr>
                                </m:fPr>
                                <m:num>
                                  <m:r>
                                    <m:rPr>
                                      <m:sty m:val="p"/>
                                    </m:rPr>
                                    <a:rPr lang="en-US" sz="1800" b="0" i="1" dirty="0" smtClean="0">
                                      <a:latin typeface="Cambria Math" panose="02040503050406030204" pitchFamily="18" charset="0"/>
                                      <a:cs typeface="Arial"/>
                                      <a:sym typeface="Arial"/>
                                    </a:rPr>
                                    <m:t>Δ</m:t>
                                  </m:r>
                                </m:num>
                                <m:den>
                                  <m:sSub>
                                    <m:sSubPr>
                                      <m:ctrlPr>
                                        <a:rPr lang="en-US" sz="1800" i="1" dirty="0">
                                          <a:latin typeface="Cambria Math" panose="02040503050406030204" pitchFamily="18" charset="0"/>
                                          <a:cs typeface="Arial"/>
                                          <a:sym typeface="Arial"/>
                                        </a:rPr>
                                      </m:ctrlPr>
                                    </m:sSubPr>
                                    <m:e>
                                      <m:r>
                                        <a:rPr lang="en-US" sz="1800" i="1" dirty="0">
                                          <a:latin typeface="Cambria Math" panose="02040503050406030204" pitchFamily="18" charset="0"/>
                                          <a:cs typeface="Arial"/>
                                          <a:sym typeface="Arial"/>
                                        </a:rPr>
                                        <m:t>𝐶</m:t>
                                      </m:r>
                                    </m:e>
                                    <m:sub>
                                      <m:r>
                                        <m:rPr>
                                          <m:sty m:val="p"/>
                                        </m:rPr>
                                        <a:rPr lang="en-US" sz="1800" i="1" dirty="0">
                                          <a:latin typeface="Cambria Math" panose="02040503050406030204" pitchFamily="18" charset="0"/>
                                          <a:cs typeface="Arial"/>
                                          <a:sym typeface="Arial"/>
                                        </a:rPr>
                                        <m:t>max</m:t>
                                      </m:r>
                                    </m:sub>
                                  </m:sSub>
                                </m:den>
                              </m:f>
                            </m:e>
                          </m:eqArr>
                          <m:r>
                            <a:rPr lang="en-US" sz="1800" b="0" i="1" dirty="0" smtClean="0">
                              <a:latin typeface="Cambria Math" panose="02040503050406030204" pitchFamily="18" charset="0"/>
                              <a:cs typeface="Arial"/>
                              <a:sym typeface="Arial"/>
                            </a:rPr>
                            <m:t>,</m:t>
                          </m:r>
                        </m:e>
                      </m:d>
                    </m:oMath>
                  </m:oMathPara>
                </a14:m>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cs typeface="Arial"/>
                          <a:sym typeface="Arial"/>
                        </a:rPr>
                        <m:t>H</m:t>
                      </m:r>
                      <m:r>
                        <a:rPr lang="en-US" sz="1800" b="0" i="1" smtClean="0">
                          <a:latin typeface="Cambria Math" panose="02040503050406030204" pitchFamily="18" charset="0"/>
                          <a:cs typeface="Arial"/>
                          <a:sym typeface="Arial"/>
                        </a:rPr>
                        <m:t> = </m:t>
                      </m:r>
                      <m:sSup>
                        <m:sSupPr>
                          <m:ctrlPr>
                            <a:rPr lang="en-US" sz="1800" b="0" i="1" smtClean="0">
                              <a:latin typeface="Cambria Math" panose="02040503050406030204" pitchFamily="18" charset="0"/>
                              <a:cs typeface="Arial"/>
                              <a:sym typeface="Arial"/>
                            </a:rPr>
                          </m:ctrlPr>
                        </m:sSupPr>
                        <m:e>
                          <m:r>
                            <a:rPr lang="en-US" sz="1800" b="0" i="1" smtClean="0">
                              <a:latin typeface="Cambria Math" panose="02040503050406030204" pitchFamily="18" charset="0"/>
                              <a:cs typeface="Arial"/>
                              <a:sym typeface="Arial"/>
                            </a:rPr>
                            <m:t>60</m:t>
                          </m:r>
                        </m:e>
                        <m:sup>
                          <m:r>
                            <a:rPr lang="en-US" sz="1800" b="0" i="1" smtClean="0">
                              <a:latin typeface="Cambria Math" panose="02040503050406030204" pitchFamily="18" charset="0"/>
                              <a:cs typeface="Arial"/>
                              <a:sym typeface="Arial"/>
                            </a:rPr>
                            <m:t>∘</m:t>
                          </m:r>
                        </m:sup>
                      </m:sSup>
                      <m:r>
                        <a:rPr lang="en-US" sz="1800" b="0" i="1" smtClean="0">
                          <a:latin typeface="Cambria Math" panose="02040503050406030204" pitchFamily="18" charset="0"/>
                          <a:cs typeface="Arial"/>
                          <a:sym typeface="Arial"/>
                        </a:rPr>
                        <m:t> ×</m:t>
                      </m:r>
                      <m:d>
                        <m:dPr>
                          <m:begChr m:val="{"/>
                          <m:endChr m:val=""/>
                          <m:ctrlPr>
                            <a:rPr lang="en-US" sz="1800" i="1" smtClean="0">
                              <a:latin typeface="Cambria Math" panose="02040503050406030204" pitchFamily="18" charset="0"/>
                              <a:cs typeface="Arial"/>
                              <a:sym typeface="Arial"/>
                            </a:rPr>
                          </m:ctrlPr>
                        </m:dPr>
                        <m:e>
                          <m:eqArr>
                            <m:eqArrPr>
                              <m:ctrlPr>
                                <a:rPr lang="en-US" sz="1800" i="1" smtClean="0">
                                  <a:latin typeface="Cambria Math" panose="02040503050406030204" pitchFamily="18" charset="0"/>
                                  <a:cs typeface="Arial"/>
                                  <a:sym typeface="Arial"/>
                                </a:rPr>
                              </m:ctrlPr>
                            </m:eqArrPr>
                            <m:e>
                              <m:f>
                                <m:fPr>
                                  <m:ctrlPr>
                                    <a:rPr lang="en-US" sz="180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G</m:t>
                                  </m:r>
                                  <m:r>
                                    <a:rPr lang="en-US" sz="1800" b="0" i="1" smtClean="0">
                                      <a:latin typeface="Cambria Math" panose="02040503050406030204" pitchFamily="18" charset="0"/>
                                      <a:cs typeface="Arial"/>
                                      <a:sym typeface="Arial"/>
                                    </a:rPr>
                                    <m:t> − </m:t>
                                  </m:r>
                                  <m:r>
                                    <m:rPr>
                                      <m:sty m:val="p"/>
                                    </m:rPr>
                                    <a:rPr lang="en-US" sz="1800" b="0" i="1" smtClean="0">
                                      <a:latin typeface="Cambria Math" panose="02040503050406030204" pitchFamily="18" charset="0"/>
                                      <a:cs typeface="Arial"/>
                                      <a:sym typeface="Arial"/>
                                    </a:rPr>
                                    <m:t>B</m:t>
                                  </m:r>
                                </m:num>
                                <m:den>
                                  <m:r>
                                    <m:rPr>
                                      <m:sty m:val="p"/>
                                    </m:rPr>
                                    <a:rPr lang="en-US" sz="1800" b="0" i="1" smtClean="0">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 % 6, </m:t>
                              </m:r>
                              <m:sSub>
                                <m:sSubPr>
                                  <m:ctrlPr>
                                    <a:rPr lang="en-US" sz="1800" b="0" i="1" smtClean="0">
                                      <a:latin typeface="Cambria Math" panose="02040503050406030204" pitchFamily="18" charset="0"/>
                                      <a:cs typeface="Arial"/>
                                      <a:sym typeface="Arial"/>
                                    </a:rPr>
                                  </m:ctrlPr>
                                </m:sSubPr>
                                <m:e>
                                  <m:r>
                                    <a:rPr lang="en-US" sz="1800" b="0" i="1" smtClean="0">
                                      <a:latin typeface="Cambria Math" panose="02040503050406030204" pitchFamily="18" charset="0"/>
                                      <a:cs typeface="Arial"/>
                                      <a:sym typeface="Arial"/>
                                    </a:rPr>
                                    <m:t>𝐶</m:t>
                                  </m:r>
                                </m:e>
                                <m:sub>
                                  <m:r>
                                    <a:rPr lang="en-US" sz="1800" b="0" i="1" smtClean="0">
                                      <a:latin typeface="Cambria Math" panose="02040503050406030204" pitchFamily="18" charset="0"/>
                                      <a:cs typeface="Arial"/>
                                      <a:sym typeface="Arial"/>
                                    </a:rPr>
                                    <m:t>𝑚𝑎𝑥</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R</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B</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R</m:t>
                                  </m:r>
                                </m:num>
                                <m:den>
                                  <m:r>
                                    <m:rPr>
                                      <m:sty m:val="p"/>
                                    </m:rPr>
                                    <a:rPr lang="en-US" sz="1800" i="1">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+2</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G</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R</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G</m:t>
                                  </m:r>
                                </m:num>
                                <m:den>
                                  <m:r>
                                    <m:rPr>
                                      <m:sty m:val="p"/>
                                    </m:rPr>
                                    <a:rPr lang="en-US" sz="1800" i="1">
                                      <a:latin typeface="Cambria Math" panose="02040503050406030204" pitchFamily="18" charset="0"/>
                                      <a:cs typeface="Arial"/>
                                      <a:sym typeface="Arial"/>
                                    </a:rPr>
                                    <m:t>Δ</m:t>
                                  </m:r>
                                </m:den>
                              </m:f>
                              <m:r>
                                <a:rPr lang="en-US" sz="1800" i="1">
                                  <a:latin typeface="Cambria Math" panose="02040503050406030204" pitchFamily="18" charset="0"/>
                                  <a:cs typeface="Arial"/>
                                  <a:sym typeface="Arial"/>
                                </a:rPr>
                                <m:t> </m:t>
                              </m:r>
                              <m:r>
                                <a:rPr lang="en-US" sz="1800" b="0" i="1" smtClean="0">
                                  <a:latin typeface="Cambria Math" panose="02040503050406030204" pitchFamily="18" charset="0"/>
                                  <a:cs typeface="Arial"/>
                                  <a:sym typeface="Arial"/>
                                </a:rPr>
                                <m:t>+4</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B</m:t>
                              </m:r>
                            </m:e>
                          </m:eqArr>
                        </m:e>
                      </m:d>
                    </m:oMath>
                  </m:oMathPara>
                </a14:m>
                <a:endParaRPr lang="en-US" sz="18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D4237E1B-545F-69C1-D581-FF9F2476C15A}"/>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87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38134D-BC05-A9E4-964E-41BF74069A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5893D9E-85E5-0A36-3430-5D37940B90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D0718D8-30AD-D7C5-8A68-6F81DC2D493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5DADCC-EC8A-1D0D-F508-F1D41C0A3E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BB4DD0-56A2-02E0-C285-A85954AA56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81610D-F709-493A-DE83-2F286BC82D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3D08E5-5038-2959-A5E9-10CCA2FFF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86E03F-C716-315F-46CF-58C1165A4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AF6EB6C2-AADA-A0B4-39C7-4724DBFA92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A82E01D-94DB-6D53-F0E0-6228D008EAEE}"/>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31601641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484AAD-6462-0D61-8ADB-BFA994E47AE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790E130-4B81-C660-34AD-8BBC83AD20AA}"/>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Color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73379A89-A450-3CEB-99CD-B1E64AEF221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780018A-F4DE-87B2-9957-973EE8C3272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315027-83A9-996B-3680-7B9C72490DA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C547E27-F7EF-DBFE-646A-4FF75CB10A9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738CAC0-9803-C5F1-AC0B-623965C769B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09EA818-0007-440F-B530-158F2ADFDB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EB08EFC-8792-FED2-E5EB-0C0F02CD572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ADE775-37AD-CBE1-1E73-E282F7273B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4AC5CBA-58A8-512D-3552-64B7E48495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660907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a:solidFill>
                  <a:schemeClr val="lt1"/>
                </a:solidFill>
                <a:latin typeface="Arial"/>
                <a:ea typeface="Arial"/>
                <a:cs typeface="Arial"/>
                <a:sym typeface="Arial"/>
              </a:rPr>
              <a:t>HEADING</a:t>
            </a:r>
            <a:endParaRPr sz="1400" b="0" i="0" u="none" strike="noStrike" cap="none">
              <a:solidFill>
                <a:srgbClr val="000000"/>
              </a:solidFill>
              <a:latin typeface="Arial"/>
              <a:ea typeface="Arial"/>
              <a:cs typeface="Arial"/>
              <a:sym typeface="Arial"/>
            </a:endParaRPr>
          </a:p>
        </p:txBody>
      </p:sp>
      <p:sp>
        <p:nvSpPr>
          <p:cNvPr id="90" name="Google Shape;90;p27"/>
          <p:cNvSpPr txBox="1"/>
          <p:nvPr/>
        </p:nvSpPr>
        <p:spPr>
          <a:xfrm>
            <a:off x="1441528" y="3232230"/>
            <a:ext cx="9308941" cy="20928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Lorem ipsum dolor sit amet, consectetur adipiscing elit. Nullam ut orci condimentum, commodo dui quis, faucibus mauris. Praesent nec sapien sed nunc sollicitudin.</a:t>
            </a:r>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(Main section divider slide option one.)</a:t>
            </a:r>
            <a:endParaRPr sz="1800" b="0" i="0" u="none" strike="noStrike" cap="none">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726</TotalTime>
  <Words>2807</Words>
  <Application>Microsoft Office PowerPoint</Application>
  <PresentationFormat>Widescreen</PresentationFormat>
  <Paragraphs>386</Paragraphs>
  <Slides>41</Slides>
  <Notes>41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41</vt:i4>
      </vt:variant>
    </vt:vector>
  </HeadingPairs>
  <TitlesOfParts>
    <vt:vector size="47" baseType="lpstr">
      <vt:lpstr>Arial</vt:lpstr>
      <vt:lpstr>Calibri</vt:lpstr>
      <vt:lpstr>Cambria Math</vt:lpstr>
      <vt:lpstr>Consolas</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130</cp:revision>
  <dcterms:created xsi:type="dcterms:W3CDTF">2019-01-14T22:06:33Z</dcterms:created>
  <dcterms:modified xsi:type="dcterms:W3CDTF">2026-03-20T09:29:46Z</dcterms:modified>
</cp:coreProperties>
</file>