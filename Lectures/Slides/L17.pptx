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Lecture 17 of SE 423, Introduction to Mechatronics: Vision Processing, Cameras, Blob Detection. The presenter is Marius Juston, and the date is Wednesday, March 25th, 2026. The University of Illinois Urbana-Champaign logo sits at the top, over a dark blue background of faint hand-drawn equations and diagrams.</a:t>
            </a:r>
          </a:p>
          <a:p>
            <a:pPr marL="0" lvl="0" indent="0" algn="l" rtl="0">
              <a:spcBef>
                <a:spcPts val="0"/>
              </a:spcBef>
              <a:spcAft>
                <a:spcPts val="600"/>
              </a:spcAft>
              <a:buNone/>
            </a:pPr>
            <a:r>
              <a:rPr lang="en-US" dirty="0"/>
              <a:t>Today you move from on-board sensors to cameras. The lecture covers how image sensors capture light, how color is represented, and how blob detection finds colored objects for the robot. First comes a short partner discussion built around optical illusions.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opens Lecture 17 on vision processing, cameras and blob detection. The prompt reads: "Talk to the person next to you and answer these questions." There are two questions: What does RGB stand for? How many colors are there, and are the lines straight?</a:t>
            </a:r>
          </a:p>
          <a:p>
            <a:pPr marL="0" lvl="0" indent="0" algn="l" rtl="0">
              <a:lnSpc>
                <a:spcPct val="100000"/>
              </a:lnSpc>
              <a:spcBef>
                <a:spcPts val="0"/>
              </a:spcBef>
              <a:spcAft>
                <a:spcPts val="600"/>
              </a:spcAft>
              <a:buSzPts val="1400"/>
              <a:buNone/>
            </a:pPr>
            <a:r>
              <a:rPr lang="en-US" dirty="0"/>
              <a:t>There are two optical illusions below the questions. On the left is a fine green-and-white checkerboard with two pinkish-red stripes, built from small squares, crossing in an X slightly above center. The stripes look wavy, and one looks lighter pink while the other looks deeper red. On the right is a grid of pale blue and gray squares in rows, separated by medium-blue horizontal bands dotted with dark blue diamonds. Small black-and-white checkered diamonds sit at the square corners, and they make the bands appear to wave and tilt. At the bottom, the slide points you to https://michaelbach.de/ot/ for many more optical illusions.</a:t>
            </a:r>
          </a:p>
          <a:p>
            <a:pPr marL="0" lvl="0" indent="0" algn="l" rtl="0">
              <a:lnSpc>
                <a:spcPct val="100000"/>
              </a:lnSpc>
              <a:spcBef>
                <a:spcPts val="0"/>
              </a:spcBef>
              <a:spcAft>
                <a:spcPts val="600"/>
              </a:spcAft>
              <a:buSzPts val="1400"/>
              <a:buNone/>
            </a:pPr>
            <a:r>
              <a:rPr lang="en-US" dirty="0"/>
              <a:t>For the answers: RGB stands for red, green, blue. These are the three additive primary colors, and each camera pixel reports one intensity value for each of these channels. In the right image, the bands really are straight and parallel, and the pattern uses only about six colors. In the left image, the two stripes appear to be different colors, and in illusions of this type they are usually the same pink, shifted only by the surrounding checkerboard. If you want to verify it, open the slide and check both stripes with a color picker.</a:t>
            </a:r>
          </a:p>
          <a:p>
            <a:pPr marL="0" lvl="0" indent="0" algn="l" rtl="0">
              <a:lnSpc>
                <a:spcPct val="100000"/>
              </a:lnSpc>
              <a:spcBef>
                <a:spcPts val="0"/>
              </a:spcBef>
              <a:spcAft>
                <a:spcPts val="600"/>
              </a:spcAft>
              <a:buSzPts val="1400"/>
              <a:buNone/>
            </a:pPr>
            <a:r>
              <a:rPr lang="en-US" dirty="0"/>
              <a:t>Here is why this matters for the robot. Your brain interprets color and shape from context, but a camera does not. It reports raw RGB numbers. When you later threshold colors to detect blobs, the code sees only those pixel values. Lighting and background can change the numbers in ways your eye does not notice.</a:t>
            </a:r>
          </a:p>
          <a:p>
            <a:pPr marL="0" lvl="0" indent="0" algn="l" rtl="0">
              <a:lnSpc>
                <a:spcPct val="100000"/>
              </a:lnSpc>
              <a:spcBef>
                <a:spcPts val="0"/>
              </a:spcBef>
              <a:spcAft>
                <a:spcPts val="600"/>
              </a:spcAft>
              <a:buSzPts val="1400"/>
              <a:buNone/>
            </a:pPr>
            <a:r>
              <a:rPr lang="en-US" dirty="0"/>
              <a:t>After the discussion, the next slide covers reminders.</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three orange headings: Office Hours, Lab, and Homeworks. Before we move from the optical illusions into computer vision, check that your schedule lines up with these dates.</a:t>
            </a:r>
          </a:p>
          <a:p>
            <a:pPr marL="0" lvl="0" indent="0" algn="l" rtl="0">
              <a:lnSpc>
                <a:spcPct val="100000"/>
              </a:lnSpc>
              <a:spcBef>
                <a:spcPts val="0"/>
              </a:spcBef>
              <a:spcAft>
                <a:spcPts val="600"/>
              </a:spcAft>
              <a:buSzPts val="1400"/>
              <a:buNone/>
            </a:pPr>
            <a:r>
              <a:rPr lang="en-US" dirty="0"/>
              <a:t>Office hours are Monday 4 to 6 PM with Neel, and Tuesday 11 AM to 1 PM with Lakshmi, 1 to 3 PM with Samuel, and 2 to 5 PM with Dan and Marius. Most of the support is on Tuesday, so plan your check-offs around that day.</a:t>
            </a:r>
          </a:p>
          <a:p>
            <a:pPr marL="0" lvl="0" indent="0" algn="l" rtl="0">
              <a:lnSpc>
                <a:spcPct val="100000"/>
              </a:lnSpc>
              <a:spcBef>
                <a:spcPts val="0"/>
              </a:spcBef>
              <a:spcAft>
                <a:spcPts val="600"/>
              </a:spcAft>
              <a:buSzPts val="1400"/>
              <a:buNone/>
            </a:pPr>
            <a:r>
              <a:rPr lang="en-US" dirty="0"/>
              <a:t>Lab 6 starts this week, and it is a three-week lab. Have the LabVIEW application for the lab implemented before you arrive. Your lab time is for testing with the robot, not for building the interface from scratch.</a:t>
            </a:r>
          </a:p>
          <a:p>
            <a:pPr marL="0" lvl="0" indent="0" algn="l" rtl="0">
              <a:lnSpc>
                <a:spcPct val="100000"/>
              </a:lnSpc>
              <a:spcBef>
                <a:spcPts val="0"/>
              </a:spcBef>
              <a:spcAft>
                <a:spcPts val="600"/>
              </a:spcAft>
              <a:buSzPts val="1400"/>
              <a:buNone/>
            </a:pPr>
            <a:r>
              <a:rPr lang="en-US" dirty="0"/>
              <a:t>Homework 4 has three deadlines, and each "homework 4" on the slide is a link to the assignment. Check-offs for Exercises 2 and 3 are due March 31 at 5 PM, the end of that Tuesday's office hours. Check-offs for Exercise 4 are due April 7 at 5 PM, again the end of office hours. The rest of Homework 4 goes to Gradescope by April 8 at 9 AM.</a:t>
            </a:r>
          </a:p>
          <a:p>
            <a:pPr marL="0" lvl="0" indent="0" algn="l" rtl="0">
              <a:lnSpc>
                <a:spcPct val="100000"/>
              </a:lnSpc>
              <a:spcBef>
                <a:spcPts val="0"/>
              </a:spcBef>
              <a:spcAft>
                <a:spcPts val="600"/>
              </a:spcAft>
              <a:buSzPts val="1400"/>
              <a:buNone/>
            </a:pPr>
            <a:r>
              <a:rPr lang="en-US" dirty="0"/>
              <a:t>A common mistake is treating 5 PM as the time to start a check-off. 5 PM is when office hours end, so arrive early enough to be checked off before then.</a:t>
            </a:r>
          </a:p>
          <a:p>
            <a:pPr marL="0" lvl="0" indent="0" algn="l" rtl="0">
              <a:lnSpc>
                <a:spcPct val="100000"/>
              </a:lnSpc>
              <a:spcBef>
                <a:spcPts val="0"/>
              </a:spcBef>
              <a:spcAft>
                <a:spcPts val="600"/>
              </a:spcAft>
              <a:buSzPts val="1400"/>
              <a:buNone/>
            </a:pPr>
            <a:r>
              <a:rPr lang="en-US" dirty="0"/>
              <a:t>Next, there is time for questions about the homework, the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letters on the dark blue Illinois background, with the prompt "Homework, Lab, LabVIEW?" underneath.</a:t>
            </a:r>
          </a:p>
          <a:p>
            <a:pPr marL="0" lvl="0" indent="0" algn="l" rtl="0">
              <a:spcBef>
                <a:spcPts val="0"/>
              </a:spcBef>
              <a:spcAft>
                <a:spcPts val="600"/>
              </a:spcAft>
              <a:buNone/>
            </a:pPr>
            <a:r>
              <a:rPr lang="en-US" dirty="0"/>
              <a:t>Before you start on new material, take a moment to ask about anything from the reminders slide. That includes the homework 4 check-offs and Gradescope submission, the start of the three-week Lab 6, and the LabVIEW application you need to have implemented before lab.</a:t>
            </a:r>
          </a:p>
          <a:p>
            <a:pPr marL="0" lvl="0" indent="0" algn="l" rtl="0">
              <a:spcBef>
                <a:spcPts val="0"/>
              </a:spcBef>
              <a:spcAft>
                <a:spcPts val="600"/>
              </a:spcAft>
              <a:buNone/>
            </a:pPr>
            <a:r>
              <a:rPr lang="en-US" dirty="0"/>
              <a:t>Next, the lecture moves into computer vision: how cameras capture images, how color is represented, and how blob detection finds objects for the robot.</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"Computer Vision" in large dark blue text on an orange Illinois background, with faint hand-sketched equations, a cube and chemistry diagrams as decoration, and the Systems Engineering and Grainger Engineering footer.</a:t>
            </a:r>
          </a:p>
          <a:p>
            <a:pPr marL="0" lvl="0" indent="0" algn="l" rtl="0">
              <a:spcBef>
                <a:spcPts val="0"/>
              </a:spcBef>
              <a:spcAft>
                <a:spcPts val="600"/>
              </a:spcAft>
              <a:buNone/>
            </a:pPr>
            <a:r>
              <a:rPr lang="en-US" dirty="0"/>
              <a:t>With the reminders and questions done, you now start the main topic of Lecture 17. Your robot's LiDAR already returns distances. Next you see why a camera adds information the LiDAR cannot, how cameras capture images, and how to find colored blobs in them.</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Preface, recommends a resource before we start the vision material. The text says the instructor would HIGHLY recommend looking at visionbook.mit.edu, written out as https://visionbook.mit.edu/. To the right is the cover of that book, Foundations of Computer Vision by Antonio Torralba, Phillip Isola, and William T. Freeman. The cover is a mosaic of small colored squares, like enlarged pixels, which fits the topic: an image is just a grid of colored values.</a:t>
            </a:r>
          </a:p>
          <a:p>
            <a:pPr marL="0" lvl="0" indent="0" algn="l" rtl="0">
              <a:lnSpc>
                <a:spcPct val="100000"/>
              </a:lnSpc>
              <a:spcBef>
                <a:spcPts val="0"/>
              </a:spcBef>
              <a:spcAft>
                <a:spcPts val="600"/>
              </a:spcAft>
              <a:buSzPts val="1400"/>
              <a:buNone/>
            </a:pPr>
            <a:r>
              <a:rPr lang="en-US" dirty="0"/>
              <a:t>The website is a full textbook with the math, background, and information for computer vision. This lecture covers only a tiny portion of the field, and there are whole graduate courses on computer vision. The book is a good place to go deeper. It is organized into short, self-contained sections with many pictures and diagrams, and each section takes about five minutes to read, so you can look up one topic at a time.</a:t>
            </a:r>
          </a:p>
          <a:p>
            <a:pPr marL="0" lvl="0" indent="0" algn="l" rtl="0">
              <a:lnSpc>
                <a:spcPct val="100000"/>
              </a:lnSpc>
              <a:spcBef>
                <a:spcPts val="0"/>
              </a:spcBef>
              <a:spcAft>
                <a:spcPts val="600"/>
              </a:spcAft>
              <a:buSzPts val="1400"/>
              <a:buNone/>
            </a:pPr>
            <a:r>
              <a:rPr lang="en-US" dirty="0"/>
              <a:t>The slide also gives a second resource. For more detail on CMOS image sensors, the chip technology inside most cameras, including the Raspberry Pi camera, see the Stanford EE392B lecture notes at https://isl.stanford.edu/~abbas/ee392b/lect04.pdf. We touch on CMOS briefly in a few slides.</a:t>
            </a:r>
          </a:p>
          <a:p>
            <a:pPr marL="0" lvl="0" indent="0" algn="l" rtl="0">
              <a:lnSpc>
                <a:spcPct val="100000"/>
              </a:lnSpc>
              <a:spcBef>
                <a:spcPts val="0"/>
              </a:spcBef>
              <a:spcAft>
                <a:spcPts val="600"/>
              </a:spcAft>
              <a:buSzPts val="1400"/>
              <a:buNone/>
            </a:pPr>
            <a:r>
              <a:rPr lang="en-US" dirty="0"/>
              <a:t>Next, we ask what a camera gives the robot that our LiDAR cannot.</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laid out as two questions, each followed by its answer. It moves us from the LiDAR, which you already have working, to cameras.</a:t>
            </a:r>
          </a:p>
          <a:p>
            <a:pPr marL="0" lvl="0" indent="0" algn="l" rtl="0">
              <a:lnSpc>
                <a:spcPct val="100000"/>
              </a:lnSpc>
              <a:spcBef>
                <a:spcPts val="0"/>
              </a:spcBef>
              <a:spcAft>
                <a:spcPts val="600"/>
              </a:spcAft>
              <a:buSzPts val="1400"/>
              <a:buNone/>
            </a:pPr>
            <a:r>
              <a:rPr lang="en-US" dirty="0"/>
              <a:t>The first question asks what data is missing if the robot has only the LiDAR. The answer on the slide is color, complex shapes, and human-vision-like data. The LiDAR tells you how far away something is in each direction. It cannot tell you that the object is an orange ball or a blue box, and it sees only a thin slice of the world.</a:t>
            </a:r>
          </a:p>
          <a:p>
            <a:pPr marL="0" lvl="0" indent="0" algn="l" rtl="0">
              <a:lnSpc>
                <a:spcPct val="100000"/>
              </a:lnSpc>
              <a:spcBef>
                <a:spcPts val="0"/>
              </a:spcBef>
              <a:spcAft>
                <a:spcPts val="600"/>
              </a:spcAft>
              <a:buSzPts val="1400"/>
              <a:buNone/>
            </a:pPr>
            <a:r>
              <a:rPr lang="en-US" dirty="0"/>
              <a:t>The slide then states that vision processing lets a robot extract rich, high-density data from its environment. Our LiDAR returns an array of 228 distances. A camera returns millions of data points per frame, because every pixel carries red, green and blue values. For scale, even a modest 640 by 480 image has 307,200 pixels. At three color values per pixel, that is about 921,600 numbers in a single frame, roughly 4,000 times the LiDAR scan.</a:t>
            </a:r>
          </a:p>
          <a:p>
            <a:pPr marL="0" lvl="0" indent="0" algn="l" rtl="0">
              <a:lnSpc>
                <a:spcPct val="100000"/>
              </a:lnSpc>
              <a:spcBef>
                <a:spcPts val="0"/>
              </a:spcBef>
              <a:spcAft>
                <a:spcPts val="600"/>
              </a:spcAft>
              <a:buSzPts val="1400"/>
              <a:buNone/>
            </a:pPr>
            <a:r>
              <a:rPr lang="en-US" dirty="0"/>
              <a:t>The second question asks what the primary drawback of that much data is in a real-time mechatronic system. The answer is computational latency. Processing takes time, and you need more memory and bandwidth just to move and store each frame. In a feedback loop, latency acts like a time delay, and delay erodes stability margin. A perfect measurement that arrives late can still make your controller oscillate.</a:t>
            </a:r>
          </a:p>
          <a:p>
            <a:pPr marL="0" lvl="0" indent="0" algn="l" rtl="0">
              <a:lnSpc>
                <a:spcPct val="100000"/>
              </a:lnSpc>
              <a:spcBef>
                <a:spcPts val="0"/>
              </a:spcBef>
              <a:spcAft>
                <a:spcPts val="600"/>
              </a:spcAft>
              <a:buSzPts val="1400"/>
              <a:buNone/>
            </a:pPr>
            <a:r>
              <a:rPr lang="en-US" dirty="0"/>
              <a:t>Keep that tradeoff in mind. Next, we ask whether a camera is an active or a passive sensor, and why that makes vision fragile.</a:t>
            </a: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question-and-answer format from the previous one. It asks: is a standard camera an active or a passive sensor? The answer, centered on the slide, is passive. A camera does not emit energy; it only captures ambient light bouncing off objects. Because it is passive, it is highly vulnerable to environmental changes. The slide then asks what happens if the sun goes behind a cloud. The answer is that pixel colors change, shadows appear, and so on. It ends with an open question: how do we build robust code around this?</a:t>
            </a:r>
          </a:p>
          <a:p>
            <a:pPr marL="0" lvl="0" indent="0" algn="l" rtl="0">
              <a:lnSpc>
                <a:spcPct val="100000"/>
              </a:lnSpc>
              <a:spcBef>
                <a:spcPts val="0"/>
              </a:spcBef>
              <a:spcAft>
                <a:spcPts val="600"/>
              </a:spcAft>
              <a:buSzPts val="1400"/>
              <a:buNone/>
            </a:pPr>
            <a:r>
              <a:rPr lang="en-US" dirty="0"/>
              <a:t>An active sensor sends out its own energy and measures what comes back. The LiDAR you already have working is active: it emits laser light and times the return, so it works the same in a bright room or a dark one. A camera has no light source of its own. The value of each pixel depends on the object's surface and also on the lighting in the room. The same orange ball can produce very different RGB numbers near a window than under a ceiling light.</a:t>
            </a:r>
          </a:p>
          <a:p>
            <a:pPr marL="0" lvl="0" indent="0" algn="l" rtl="0">
              <a:lnSpc>
                <a:spcPct val="100000"/>
              </a:lnSpc>
              <a:spcBef>
                <a:spcPts val="0"/>
              </a:spcBef>
              <a:spcAft>
                <a:spcPts val="600"/>
              </a:spcAft>
              <a:buSzPts val="1400"/>
              <a:buNone/>
            </a:pPr>
            <a:r>
              <a:rPr lang="en-US" dirty="0"/>
              <a:t>So what does robust code look like? Avoid hard-coding raw RGB values. A common fix, which you will see in the pipeline on the next slide, is converting RGB to HSV. Hue (the color itself) stays fairly stable when brightness changes. Other useful steps are filtering out small noisy blobs by area and recalibrating your thresholds in the room where you actually run the robot.</a:t>
            </a:r>
          </a:p>
          <a:p>
            <a:pPr marL="0" lvl="0" indent="0" algn="l" rtl="0">
              <a:lnSpc>
                <a:spcPct val="100000"/>
              </a:lnSpc>
              <a:spcBef>
                <a:spcPts val="0"/>
              </a:spcBef>
              <a:spcAft>
                <a:spcPts val="600"/>
              </a:spcAft>
              <a:buSzPts val="1400"/>
              <a:buNone/>
            </a:pPr>
            <a:r>
              <a:rPr lang="en-US" dirty="0"/>
              <a:t>Quick check: would an RGB threshold tuned in the morning still find your target at night? Why or why not?</a:t>
            </a:r>
          </a:p>
          <a:p>
            <a:pPr marL="0" lvl="0" indent="0" algn="l" rtl="0">
              <a:lnSpc>
                <a:spcPct val="100000"/>
              </a:lnSpc>
              <a:spcBef>
                <a:spcPts val="0"/>
              </a:spcBef>
              <a:spcAft>
                <a:spcPts val="600"/>
              </a:spcAft>
              <a:buSzPts val="1400"/>
              <a:buNone/>
            </a:pPr>
            <a:r>
              <a:rPr lang="en-US" dirty="0"/>
              <a:t>Next, we follow the full vision pipeline, from the CMOS sensor to wheel velocities.</a:t>
            </a: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roadmap for the rest of the lecture: the four-stage camera pipeline you use in this class. A flowchart runs left to right in four dashed boxes, with the four steps written below it.</a:t>
            </a:r>
          </a:p>
          <a:p>
            <a:pPr marL="0" lvl="0" indent="0" algn="l" rtl="0">
              <a:lnSpc>
                <a:spcPct val="100000"/>
              </a:lnSpc>
              <a:spcBef>
                <a:spcPts val="0"/>
              </a:spcBef>
              <a:spcAft>
                <a:spcPts val="600"/>
              </a:spcAft>
              <a:buSzPts val="1400"/>
              <a:buNone/>
            </a:pPr>
            <a:r>
              <a:rPr lang="en-US" dirty="0"/>
              <a:t>Stage 1, Raw Sensor Data: a CMOS array converts photons to voltage. Over it sits a Bayer color filter array, a mosaic of 1 red to 2 green to 1 blue, so each pixel measures only one color.</a:t>
            </a:r>
          </a:p>
          <a:p>
            <a:pPr marL="0" lvl="0" indent="0" algn="l" rtl="0">
              <a:lnSpc>
                <a:spcPct val="100000"/>
              </a:lnSpc>
              <a:spcBef>
                <a:spcPts val="0"/>
              </a:spcBef>
              <a:spcAft>
                <a:spcPts val="600"/>
              </a:spcAft>
              <a:buSzPts val="1400"/>
              <a:buNone/>
            </a:pPr>
            <a:r>
              <a:rPr lang="en-US" dirty="0"/>
              <a:t>Stage 2, Pre-Processing: demosaicing by bilinear interpolation fills in the two missing colors at every pixel. The image is then converted from RGB to HSV to isolate chrominance, the color itself, from brightness. A binary threshold keeps only pixels whose hue satisfies H_min &lt;= H &lt;= H_max. This answers the question from the last slide: separating hue from brightness makes color detection more robust when lighting changes.</a:t>
            </a:r>
          </a:p>
          <a:p>
            <a:pPr marL="0" lvl="0" indent="0" algn="l" rtl="0">
              <a:lnSpc>
                <a:spcPct val="100000"/>
              </a:lnSpc>
              <a:spcBef>
                <a:spcPts val="0"/>
              </a:spcBef>
              <a:spcAft>
                <a:spcPts val="600"/>
              </a:spcAft>
              <a:buSzPts val="1400"/>
              <a:buNone/>
            </a:pPr>
            <a:r>
              <a:rPr lang="en-US" dirty="0"/>
              <a:t>Stage 3, Feature Extraction: blob detection with connected components groups neighboring "on" pixels. Area filtering discards blobs whose pixel count is too small to be more than noise. Image moments then give the centroid: x_bar = M_10/M_00 and y_bar = M_01/M_00. Here M_00 is the blob area, and M_10 and M_01 are the sums of the pixel x and y coordinates.</a:t>
            </a:r>
          </a:p>
          <a:p>
            <a:pPr marL="0" lvl="0" indent="0" algn="l" rtl="0">
              <a:lnSpc>
                <a:spcPct val="100000"/>
              </a:lnSpc>
              <a:spcBef>
                <a:spcPts val="0"/>
              </a:spcBef>
              <a:spcAft>
                <a:spcPts val="600"/>
              </a:spcAft>
              <a:buSzPts val="1400"/>
              <a:buNone/>
            </a:pPr>
            <a:r>
              <a:rPr lang="en-US" dirty="0"/>
              <a:t>Stage 4, Control Logic: the error is e(t) = x_bar - X_center, the target's horizontal offset from the image center. A PI controller computes u(t) = K_p*e + K_i times the integral of e dt. This sets the wheel velocities v_left and v_right, which become PWM motor commands in a cascade loop.</a:t>
            </a:r>
          </a:p>
          <a:p>
            <a:pPr marL="0" lvl="0" indent="0" algn="l" rtl="0">
              <a:lnSpc>
                <a:spcPct val="100000"/>
              </a:lnSpc>
              <a:spcBef>
                <a:spcPts val="0"/>
              </a:spcBef>
              <a:spcAft>
                <a:spcPts val="600"/>
              </a:spcAft>
              <a:buSzPts val="1400"/>
              <a:buNone/>
            </a:pPr>
            <a:r>
              <a:rPr lang="en-US" dirty="0"/>
              <a:t>Next, you look at the CMOS sensor itself.</a:t>
            </a: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"CMOS" in large dark blue letters on the course's orange background, which carries faint hand-drawn sketches of equations, a cube, and chemical structures as decoration.</a:t>
            </a:r>
          </a:p>
          <a:p>
            <a:pPr marL="0" lvl="0" indent="0" algn="l" rtl="0">
              <a:spcBef>
                <a:spcPts val="0"/>
              </a:spcBef>
              <a:spcAft>
                <a:spcPts val="600"/>
              </a:spcAft>
              <a:buNone/>
            </a:pPr>
            <a:r>
              <a:rPr lang="en-US" dirty="0"/>
              <a:t>We now zoom into Step 1 of the vision pipeline from the previous slide: how the camera's CMOS (Complementary Metal-Oxide-Semiconductor) sensor turns incoming light into the digital pixel array your code processes. Keep in mind that this is a passive sensor, because that explains much of the lighting sensitivity you will run into later.</a:t>
            </a: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four-stage vision pipeline flowchart from earlier, now with the very first box, "CMOS Array: Photon-to-Voltage," outlined in a thick red border. The red box marks where you are in the pipeline: we begin with the sensor itself.</a:t>
            </a:r>
          </a:p>
          <a:p>
            <a:pPr marL="0" lvl="0" indent="0" algn="l" rtl="0">
              <a:lnSpc>
                <a:spcPct val="100000"/>
              </a:lnSpc>
              <a:spcBef>
                <a:spcPts val="0"/>
              </a:spcBef>
              <a:spcAft>
                <a:spcPts val="600"/>
              </a:spcAft>
              <a:buSzPts val="1400"/>
              <a:buNone/>
            </a:pPr>
            <a:r>
              <a:rPr lang="en-US" dirty="0"/>
              <a:t>For reference, the flowchart reads left to right in four dashed panels. Stage 1, Raw Sensor Data: the CMOS array feeds a Bayer CFA filter, a color filter array with a 1 red : 2 green : 1 blue mosaic. Stage 2, Pre-Processing: bilinear demosaicing, then conversion from RGB to HSV to isolate chrominance (color information), then a binary threshold, H_min &lt;= H &lt;= H_max. Stage 3, Feature Extraction: blob detection by connected components, area filtering that keeps a blob only if its pixel count exceeds a noise level, then image moments that give the centroid, x_bar = M10/M00 and y_bar = M01/M00. Stage 4, Control Logic: the error e(t) = x_bar - X_center feeds a PI controller, u(t) = Kp*e + Ki*integral(e dt), which produces the PWM motor commands v_left and v_right.</a:t>
            </a:r>
          </a:p>
          <a:p>
            <a:pPr marL="0" lvl="0" indent="0" algn="l" rtl="0">
              <a:lnSpc>
                <a:spcPct val="100000"/>
              </a:lnSpc>
              <a:spcBef>
                <a:spcPts val="0"/>
              </a:spcBef>
              <a:spcAft>
                <a:spcPts val="600"/>
              </a:spcAft>
              <a:buSzPts val="1400"/>
              <a:buNone/>
            </a:pPr>
            <a:r>
              <a:rPr lang="en-US" dirty="0"/>
              <a:t>Every later stage depends on the numbers this sensor produces. Noise, color accuracy and resolution start here, so knowing how the sensor works explains many of the problems you see later in thresholding and blob detection.</a:t>
            </a:r>
          </a:p>
          <a:p>
            <a:pPr marL="0" lvl="0" indent="0" algn="l" rtl="0">
              <a:lnSpc>
                <a:spcPct val="100000"/>
              </a:lnSpc>
              <a:spcBef>
                <a:spcPts val="0"/>
              </a:spcBef>
              <a:spcAft>
                <a:spcPts val="600"/>
              </a:spcAft>
              <a:buSzPts val="1400"/>
              <a:buNone/>
            </a:pPr>
            <a:r>
              <a:rPr lang="en-US" dirty="0"/>
              <a:t>Next, we look at what a CMOS sensor physically is: a grid of photodiodes that turns light into a voltage, which an ADC then converts to digital pixel values.</a:t>
            </a: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about how a camera turns light into numbers. It is the first stage of the pipeline from the previous slide's flowchart: the CMOS array converting photons to voltage.</a:t>
            </a:r>
          </a:p>
          <a:p>
            <a:pPr marL="0" lvl="0" indent="0" algn="l" rtl="0">
              <a:lnSpc>
                <a:spcPct val="100000"/>
              </a:lnSpc>
              <a:spcBef>
                <a:spcPts val="0"/>
              </a:spcBef>
              <a:spcAft>
                <a:spcPts val="600"/>
              </a:spcAft>
              <a:buSzPts val="1400"/>
              <a:buNone/>
            </a:pPr>
            <a:r>
              <a:rPr lang="en-US" dirty="0"/>
              <a:t>First, most modern robotics vision uses CMOS sensors. CMOS stands for Complementary Metal-Oxide-Semiconductor, the same chip process used for microcontrollers like the F28379D. That is why the sensor, amplifiers and converters can all sit on one inexpensive chip.</a:t>
            </a:r>
          </a:p>
          <a:p>
            <a:pPr marL="0" lvl="0" indent="0" algn="l" rtl="0">
              <a:lnSpc>
                <a:spcPct val="100000"/>
              </a:lnSpc>
              <a:spcBef>
                <a:spcPts val="0"/>
              </a:spcBef>
              <a:spcAft>
                <a:spcPts val="600"/>
              </a:spcAft>
              <a:buSzPts val="1400"/>
              <a:buNone/>
            </a:pPr>
            <a:r>
              <a:rPr lang="en-US" dirty="0"/>
              <a:t>Second, a CMOS sensor is a huge 2D grid of microscopic photodiodes. Each photodiode corresponds to one pixel, so a 640 by 480 camera has about 307,000 of them.</a:t>
            </a:r>
          </a:p>
          <a:p>
            <a:pPr marL="0" lvl="0" indent="0" algn="l" rtl="0">
              <a:lnSpc>
                <a:spcPct val="100000"/>
              </a:lnSpc>
              <a:spcBef>
                <a:spcPts val="0"/>
              </a:spcBef>
              <a:spcAft>
                <a:spcPts val="600"/>
              </a:spcAft>
              <a:buSzPts val="1400"/>
              <a:buNone/>
            </a:pPr>
            <a:r>
              <a:rPr lang="en-US" dirty="0"/>
              <a:t>Third, when photons strike a photodiode, they excite electrons through the photoelectric effect. The more light that arrives during the exposure, the more charge collects. That charge is converted to a measurable voltage inside the pixel.</a:t>
            </a:r>
          </a:p>
          <a:p>
            <a:pPr marL="0" lvl="0" indent="0" algn="l" rtl="0">
              <a:lnSpc>
                <a:spcPct val="100000"/>
              </a:lnSpc>
              <a:spcBef>
                <a:spcPts val="0"/>
              </a:spcBef>
              <a:spcAft>
                <a:spcPts val="600"/>
              </a:spcAft>
              <a:buSzPts val="1400"/>
              <a:buNone/>
            </a:pPr>
            <a:r>
              <a:rPr lang="en-US" dirty="0"/>
              <a:t>Fourth, that continuous voltage is sampled and converted to a discrete digital value, usually 0 to 255 with an 8-bit ADC. An n-bit converter gives 2^n levels, and 2^8 = 256. This is the same idea as the ADC you use on the Red Board, whose 12-bit converter gives 2^12 = 4096 levels. A camera simply does this for hundreds of thousands of channels every frame.</a:t>
            </a:r>
          </a:p>
          <a:p>
            <a:pPr marL="0" lvl="0" indent="0" algn="l" rtl="0">
              <a:lnSpc>
                <a:spcPct val="100000"/>
              </a:lnSpc>
              <a:spcBef>
                <a:spcPts val="0"/>
              </a:spcBef>
              <a:spcAft>
                <a:spcPts val="600"/>
              </a:spcAft>
              <a:buSzPts val="1400"/>
              <a:buNone/>
            </a:pPr>
            <a:r>
              <a:rPr lang="en-US" dirty="0"/>
              <a:t>A common misconception is that a photodiode sees color. It does not: it only measures how much light hit it. Color comes from filters placed over the pixels, which you will see shortly.</a:t>
            </a:r>
          </a:p>
          <a:p>
            <a:pPr marL="0" lvl="0" indent="0" algn="l" rtl="0">
              <a:lnSpc>
                <a:spcPct val="100000"/>
              </a:lnSpc>
              <a:spcBef>
                <a:spcPts val="0"/>
              </a:spcBef>
              <a:spcAft>
                <a:spcPts val="600"/>
              </a:spcAft>
              <a:buSzPts val="1400"/>
              <a:buNone/>
            </a:pPr>
            <a:r>
              <a:rPr lang="en-US" dirty="0"/>
              <a:t>Quick check: how many intensity levels does a 10-bit camera produce? The answer is 1024.</a:t>
            </a:r>
          </a:p>
          <a:p>
            <a:pPr marL="0" lvl="0" indent="0" algn="l" rtl="0">
              <a:lnSpc>
                <a:spcPct val="100000"/>
              </a:lnSpc>
              <a:spcBef>
                <a:spcPts val="0"/>
              </a:spcBef>
              <a:spcAft>
                <a:spcPts val="600"/>
              </a:spcAft>
              <a:buSzPts val="1400"/>
              <a:buNone/>
            </a:pPr>
            <a:r>
              <a:rPr lang="en-US" dirty="0"/>
              <a:t>Next, you will look at a real CMOS die and its block diagram.</a:t>
            </a: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CMOS image sensor physically looks like and how its parts connect. Both figures come from the Evident Scientific digital imaging resource: https://evidentscientific.com/en/microscope-resource/knowledge-hub/digital-imaging/cmosimagesensors</a:t>
            </a:r>
          </a:p>
          <a:p>
            <a:pPr marL="0" lvl="0" indent="0" algn="l" rtl="0">
              <a:lnSpc>
                <a:spcPct val="100000"/>
              </a:lnSpc>
              <a:spcBef>
                <a:spcPts val="0"/>
              </a:spcBef>
              <a:spcAft>
                <a:spcPts val="600"/>
              </a:spcAft>
              <a:buSzPts val="1400"/>
              <a:buNone/>
            </a:pPr>
            <a:r>
              <a:rPr lang="en-US" dirty="0"/>
              <a:t>The left figure, labeled "CMOS Image Sensor Integrated Circuit Architecture," is an annotated photo of the sensor die. A large reddish-brown rectangle in the center is the CMOS active pixel sensor color imaging array, and it takes up most of the chip. A magnified circular inset shows the Bayer mosaic filters: tiny red, green and blue filters over the pixels, with green appearing twice as often as red or blue. Around the array, analog-to-digital conversion runs along the top edge. Analog signal processing and clock and timing control sit on the right. Digital logic for interface, timing, processing and output runs along the bottom. A pad ring of external connections surrounds the whole die.</a:t>
            </a:r>
          </a:p>
          <a:p>
            <a:pPr marL="0" lvl="0" indent="0" algn="l" rtl="0">
              <a:lnSpc>
                <a:spcPct val="100000"/>
              </a:lnSpc>
              <a:spcBef>
                <a:spcPts val="0"/>
              </a:spcBef>
              <a:spcAft>
                <a:spcPts val="600"/>
              </a:spcAft>
              <a:buSzPts val="1400"/>
              <a:buNone/>
            </a:pPr>
            <a:r>
              <a:rPr lang="en-US" dirty="0"/>
              <a:t>The right figure is a block diagram of the same idea. The camera's printed circuit board holds a connector and bias decoupling. The sensor chip holds bias generation, clock and timing generation, an oscillator, row drivers, and row access. It also holds a 5 by 5 pixel array, where each pixel does photon-to-electron and then electron-to-voltage conversion. Column amps and a column mux read the pixels out. The signal then passes through a gain stage, an analog-to-digital converter, and a line driver to a frame grabber.</a:t>
            </a:r>
          </a:p>
          <a:p>
            <a:pPr marL="0" lvl="0" indent="0" algn="l" rtl="0">
              <a:lnSpc>
                <a:spcPct val="100000"/>
              </a:lnSpc>
              <a:spcBef>
                <a:spcPts val="0"/>
              </a:spcBef>
              <a:spcAft>
                <a:spcPts val="600"/>
              </a:spcAft>
              <a:buSzPts val="1400"/>
              <a:buNone/>
            </a:pPr>
            <a:r>
              <a:rPr lang="en-US" dirty="0"/>
              <a:t>The key point is that one chip contains the whole camera front end: the pixels, the analog amplification, the ADC, and the digital output. That is why CMOS cameras are cheap and low power. Notice also that the Bayer pattern means each pixel measures only one color. The missing colors are filled in later by demosaicing, which is the first processing step in our pipeline.</a:t>
            </a:r>
          </a:p>
          <a:p>
            <a:pPr marL="0" lvl="0" indent="0" algn="l" rtl="0">
              <a:lnSpc>
                <a:spcPct val="100000"/>
              </a:lnSpc>
              <a:spcBef>
                <a:spcPts val="0"/>
              </a:spcBef>
              <a:spcAft>
                <a:spcPts val="600"/>
              </a:spcAft>
              <a:buSzPts val="1400"/>
              <a:buNone/>
            </a:pPr>
            <a:r>
              <a:rPr lang="en-US" dirty="0"/>
              <a:t>Next, we look at how rows and columns are actually read out.</a:t>
            </a: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how a CMOS sensor actually reads out its pixels, building on the chip layout and block diagram from the previous slide. The figure, from Stanford's EE392b lecture notes, shows the pixel array as a grid. A row decoder on the left drives horizontal lines called word lines, and each pixel, a photodetector plus a few readout transistors, connects to one word line and one vertical bit line. Two rows at the top are outlined in red to show that a whole row is handled together. The bit lines run down into a strip of column amplifiers and capacitors, then into a column multiplexer, which feeds a single output amplifier.</a:t>
            </a:r>
          </a:p>
          <a:p>
            <a:pPr marL="0" lvl="0" indent="0" algn="l" rtl="0">
              <a:lnSpc>
                <a:spcPct val="100000"/>
              </a:lnSpc>
              <a:spcBef>
                <a:spcPts val="0"/>
              </a:spcBef>
              <a:spcAft>
                <a:spcPts val="600"/>
              </a:spcAft>
              <a:buSzPts val="1400"/>
              <a:buNone/>
            </a:pPr>
            <a:r>
              <a:rPr lang="en-US" dirty="0"/>
              <a:t>The readout works in two steps. First, the row decoder selects one row, and every pixel in that row dumps its voltage down its bit line onto that column's storage capacitor, all at once. Second, the column multiplexer steps across those capacitors, sending one pixel (or a few) at a time to the output and on to the ADC. Then the next row is selected and the process repeats.</a:t>
            </a:r>
          </a:p>
          <a:p>
            <a:pPr marL="0" lvl="0" indent="0" algn="l" rtl="0">
              <a:lnSpc>
                <a:spcPct val="100000"/>
              </a:lnSpc>
              <a:spcBef>
                <a:spcPts val="0"/>
              </a:spcBef>
              <a:spcAft>
                <a:spcPts val="600"/>
              </a:spcAft>
              <a:buSzPts val="1400"/>
              <a:buNone/>
            </a:pPr>
            <a:r>
              <a:rPr lang="en-US" dirty="0"/>
              <a:t>Because rows are read one after another, many sensors also start and stop each row's exposure (its integration time) staggered by that row readout time. This is called a rolling or scrolling shutter. The top of the image is captured slightly earlier than the bottom. If your robot turns quickly or an object moves fast, vertical edges appear slanted or wobbly. Global-shutter sensors expose every pixel simultaneously but cost more. Most low-cost camera modules, like those commonly paired with a Raspberry Pi, use a rolling shutter.</a:t>
            </a:r>
          </a:p>
          <a:p>
            <a:pPr marL="0" lvl="0" indent="0" algn="l" rtl="0">
              <a:lnSpc>
                <a:spcPct val="100000"/>
              </a:lnSpc>
              <a:spcBef>
                <a:spcPts val="0"/>
              </a:spcBef>
              <a:spcAft>
                <a:spcPts val="600"/>
              </a:spcAft>
              <a:buSzPts val="1400"/>
              <a:buNone/>
            </a:pPr>
            <a:r>
              <a:rPr lang="en-US" dirty="0"/>
              <a:t>Quick check: if the camera pans right during a frame, which way does a vertical pole lean in the image?</a:t>
            </a: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full-size version of the CMOS image sensor block diagram from two slides ago, so you can follow one signal from light to digital output. On the left, a dashed box labeled "Camera (Printed Circuit Board)" holds two blocks, a Connector and Bias Decoupling, and an arrow carries the board's supply into the chip. The larger dashed box on the right is the "Complementary Metal Oxide Semiconductor Image Sensor." It contains Bias Generation, Clock and Timing Generation, an Oscillator, Row Drivers and Row Access, which together control a 5 by 5 grid of pixels. One pixel is highlighted in green. Two arrows point into it, labeled "Photon-to-Electron Conversion" (the photodiode) and "Electron-to-Voltage Conversion" (the transistors inside the pixel). Below the grid, a strip labeled "Column Bias and Sampling" shows a bias transistor and a sampling capacitor for each column, biased by v_bias. The signal then flows right to left through the Column Mux, a Gain stage, Analog-to-Digital Conversion and a Line Driver, and exits "To Frame Grabber."</a:t>
            </a:r>
          </a:p>
          <a:p>
            <a:pPr marL="0" lvl="0" indent="0" algn="l" rtl="0">
              <a:lnSpc>
                <a:spcPct val="100000"/>
              </a:lnSpc>
              <a:spcBef>
                <a:spcPts val="0"/>
              </a:spcBef>
              <a:spcAft>
                <a:spcPts val="600"/>
              </a:spcAft>
              <a:buSzPts val="1400"/>
              <a:buNone/>
            </a:pPr>
            <a:r>
              <a:rPr lang="en-US" dirty="0"/>
              <a:t>Trace the chain in order. Light frees electrons in the photodiode, and the pixel transistors turn that charge into a voltage. The row drivers select one row, and every column samples that row onto its capacitor. The mux then reads the columns one at a time, the gain stage amplifies the voltage, and the ADC digitizes it. This is the row-by-row readout from the last slide, and it is why the rows are exposed at staggered times (rolling shutter).</a:t>
            </a:r>
          </a:p>
          <a:p>
            <a:pPr marL="0" lvl="0" indent="0" algn="l" rtl="0">
              <a:lnSpc>
                <a:spcPct val="100000"/>
              </a:lnSpc>
              <a:spcBef>
                <a:spcPts val="0"/>
              </a:spcBef>
              <a:spcAft>
                <a:spcPts val="600"/>
              </a:spcAft>
              <a:buSzPts val="1400"/>
              <a:buNone/>
            </a:pPr>
            <a:r>
              <a:rPr lang="en-US" dirty="0"/>
              <a:t>A common mistake is to assume the camera sends analog video. Here the ADC is on-chip, so your Raspberry Pi receives digital pixel values.</a:t>
            </a:r>
          </a:p>
          <a:p>
            <a:pPr marL="0" lvl="0" indent="0" algn="l" rtl="0">
              <a:lnSpc>
                <a:spcPct val="100000"/>
              </a:lnSpc>
              <a:spcBef>
                <a:spcPts val="0"/>
              </a:spcBef>
              <a:spcAft>
                <a:spcPts val="600"/>
              </a:spcAft>
              <a:buSzPts val="1400"/>
              <a:buNone/>
            </a:pPr>
            <a:r>
              <a:rPr lang="en-US" dirty="0"/>
              <a:t>To check your understanding: why would a fast-spinning robot wheel look bent in the image?</a:t>
            </a:r>
          </a:p>
          <a:p>
            <a:pPr marL="0" lvl="0" indent="0" algn="l" rtl="0">
              <a:lnSpc>
                <a:spcPct val="100000"/>
              </a:lnSpc>
              <a:spcBef>
                <a:spcPts val="0"/>
              </a:spcBef>
              <a:spcAft>
                <a:spcPts val="600"/>
              </a:spcAft>
              <a:buSzPts val="1400"/>
              <a:buNone/>
            </a:pPr>
            <a:r>
              <a:rPr lang="en-US" dirty="0"/>
              <a:t>Next, we see how each of these pixels records color.</a:t>
            </a: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"Color," in dark blue text on the Illinois orange background with faint hand-drawn equation and diagram sketches. The footer reads Systems Engineering and Grainger Engineering.</a:t>
            </a:r>
          </a:p>
          <a:p>
            <a:pPr marL="0" lvl="0" indent="0" algn="l" rtl="0">
              <a:spcBef>
                <a:spcPts val="0"/>
              </a:spcBef>
              <a:spcAft>
                <a:spcPts val="600"/>
              </a:spcAft>
              <a:buNone/>
            </a:pPr>
            <a:r>
              <a:rPr lang="en-US" dirty="0"/>
              <a:t>You have just seen how a CMOS sensor turns photons into voltages and reads them out row by row. Those photodiodes only measure light intensity, so the next question is how a camera produces color, and how your robot uses that color to find and track a ball.</a:t>
            </a: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rest of the lecture: a flowchart showing how a camera image becomes a motor command for the robot. It has four dashed panels connected left to right by arrows.</a:t>
            </a:r>
          </a:p>
          <a:p>
            <a:pPr marL="0" lvl="0" indent="0" algn="l" rtl="0">
              <a:lnSpc>
                <a:spcPct val="100000"/>
              </a:lnSpc>
              <a:spcBef>
                <a:spcPts val="0"/>
              </a:spcBef>
              <a:spcAft>
                <a:spcPts val="600"/>
              </a:spcAft>
              <a:buSzPts val="1400"/>
              <a:buNone/>
            </a:pPr>
            <a:r>
              <a:rPr lang="en-US" dirty="0"/>
              <a:t>Panel 1, Raw Sensor Data, contains the CMOS array, which converts photons to voltage, and below it the Bayer color filter array, a mosaic of 1 red to 2 green to 1 blue. Panel 2, Pre-Processing, flows downward through demosaicing by bilinear interpolation, conversion from RGB to HSV to isolate chrominance (the color information, separate from brightness), and a binary threshold that keeps pixels whose hue satisfies H_min &lt;= H &lt;= H_max. Panel 3, Feature Extraction, runs blob detection with connected components, area filtering that keeps a blob only if its pixel count exceeds a noise level, and image moments that give the centroid: x_bar = M10/M00 and y_bar = M01/M00. Panel 4, Control Logic, computes the error e(t) = x_bar - X_center, feeds it to a PI controller, u(t) = Kp*e + Ki*integral of e dt, and outputs the PWM wheel speed commands v_left and v_right.</a:t>
            </a:r>
          </a:p>
          <a:p>
            <a:pPr marL="0" lvl="0" indent="0" algn="l" rtl="0">
              <a:lnSpc>
                <a:spcPct val="100000"/>
              </a:lnSpc>
              <a:spcBef>
                <a:spcPts val="0"/>
              </a:spcBef>
              <a:spcAft>
                <a:spcPts val="600"/>
              </a:spcAft>
              <a:buSzPts val="1400"/>
              <a:buNone/>
            </a:pPr>
            <a:r>
              <a:rPr lang="en-US" dirty="0"/>
              <a:t>A thick red outline surrounds the Bayer filter box and the whole Pre-Processing panel. These highlighted parts are what you study next. Feature extraction comes later in the lecture with blob detection, and the control logic is the same PI feedback you already use on the robot's motors.</a:t>
            </a:r>
          </a:p>
          <a:p>
            <a:pPr marL="0" lvl="0" indent="0" algn="l" rtl="0">
              <a:lnSpc>
                <a:spcPct val="100000"/>
              </a:lnSpc>
              <a:spcBef>
                <a:spcPts val="0"/>
              </a:spcBef>
              <a:spcAft>
                <a:spcPts val="600"/>
              </a:spcAft>
              <a:buSzPts val="1400"/>
              <a:buNone/>
            </a:pPr>
            <a:r>
              <a:rPr lang="en-US" dirty="0"/>
              <a:t>The key idea is that vision becomes a sensor like any other. The camera ultimately produces one number, how far the target sits from the image center, and that number is the error your controller drives to zero.</a:t>
            </a:r>
          </a:p>
          <a:p>
            <a:pPr marL="0" lvl="0" indent="0" algn="l" rtl="0">
              <a:lnSpc>
                <a:spcPct val="100000"/>
              </a:lnSpc>
              <a:spcBef>
                <a:spcPts val="0"/>
              </a:spcBef>
              <a:spcAft>
                <a:spcPts val="600"/>
              </a:spcAft>
              <a:buSzPts val="1400"/>
              <a:buNone/>
            </a:pPr>
            <a:r>
              <a:rPr lang="en-US" dirty="0"/>
              <a:t>On the previous slides you saw how a CMOS pixel turns light into a voltage. Next, you see why that pixel alone cannot see color.</a:t>
            </a: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text only, no figures. It states that a photodiode measures only the intensity of light, meaning how many photons hit it. It then asks what problem that causes, and gives the answer in a centered line: photodiodes are inherently colorblind and produce only a grayscale image. It closes with a goal and a second question. To see a red ball, we must filter out all other wavelengths before they reach the photodiode. So how do we make a single sensor array see red, green and blue at the same time?</a:t>
            </a:r>
          </a:p>
          <a:p>
            <a:pPr marL="0" lvl="0" indent="0" algn="l" rtl="0">
              <a:lnSpc>
                <a:spcPct val="100000"/>
              </a:lnSpc>
              <a:spcBef>
                <a:spcPts val="0"/>
              </a:spcBef>
              <a:spcAft>
                <a:spcPts val="600"/>
              </a:spcAft>
              <a:buSzPts val="1400"/>
              <a:buNone/>
            </a:pPr>
            <a:r>
              <a:rPr lang="en-US" dirty="0"/>
              <a:t>On the previous slide you saw the full pipeline, from the CMOS array through the Bayer filter, HSV thresholding, blob detection, and finally a PI controller that steers the robot toward the ball's centroid. This slide zooms in on the very first stage.</a:t>
            </a:r>
          </a:p>
          <a:p>
            <a:pPr marL="0" lvl="0" indent="0" algn="l" rtl="0">
              <a:lnSpc>
                <a:spcPct val="100000"/>
              </a:lnSpc>
              <a:spcBef>
                <a:spcPts val="0"/>
              </a:spcBef>
              <a:spcAft>
                <a:spcPts val="600"/>
              </a:spcAft>
              <a:buSzPts val="1400"/>
              <a:buNone/>
            </a:pPr>
            <a:r>
              <a:rPr lang="en-US" dirty="0"/>
              <a:t>Here is the key idea. A silicon photodiode converts incoming photons into charge. A red photon and a blue photon of the same brightness can produce roughly the same signal, and once the charge is collected, the wavelength information is gone. Each pixel reports one number, so an array of bare photodiodes gives you a grayscale image.</a:t>
            </a:r>
          </a:p>
          <a:p>
            <a:pPr marL="0" lvl="0" indent="0" algn="l" rtl="0">
              <a:lnSpc>
                <a:spcPct val="100000"/>
              </a:lnSpc>
              <a:spcBef>
                <a:spcPts val="0"/>
              </a:spcBef>
              <a:spcAft>
                <a:spcPts val="600"/>
              </a:spcAft>
              <a:buSzPts val="1400"/>
              <a:buNone/>
            </a:pPr>
            <a:r>
              <a:rPr lang="en-US" dirty="0"/>
              <a:t>That is a real problem for a robot that must find a red ball. In grayscale, a red ball and a green ball of similar brightness can look identical. The color threshold step in our pipeline, H_min &lt;= H &lt;= H_max, would then have no hue to work with.</a:t>
            </a:r>
          </a:p>
          <a:p>
            <a:pPr marL="0" lvl="0" indent="0" algn="l" rtl="0">
              <a:lnSpc>
                <a:spcPct val="100000"/>
              </a:lnSpc>
              <a:spcBef>
                <a:spcPts val="0"/>
              </a:spcBef>
              <a:spcAft>
                <a:spcPts val="600"/>
              </a:spcAft>
              <a:buSzPts val="1400"/>
              <a:buNone/>
            </a:pPr>
            <a:r>
              <a:rPr lang="en-US" dirty="0"/>
              <a:t>Pause here and ask: given one flat grid of colorblind sensors, how would you recover color? Let students suggest ideas, such as three separate cameras, a spinning filter wheel, or filters on each pixel. The next slide answers with the Color Filter Array, the most common type being the Bayer filter.</a:t>
            </a: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how does a colorblind sensor array see red, green and blue at the same time? The answer is to place a microscopic color filter over each individual photodiode. This layer of filters is called a Color Filter Array, or CFA, and the most common one is the Bayer filter. It assigns each pixel to capture only red, only green, or only blue light.</a:t>
            </a:r>
          </a:p>
          <a:p>
            <a:pPr marL="0" lvl="0" indent="0" algn="l" rtl="0">
              <a:lnSpc>
                <a:spcPct val="100000"/>
              </a:lnSpc>
              <a:spcBef>
                <a:spcPts val="0"/>
              </a:spcBef>
              <a:spcAft>
                <a:spcPts val="600"/>
              </a:spcAft>
              <a:buSzPts val="1400"/>
              <a:buNone/>
            </a:pPr>
            <a:r>
              <a:rPr lang="en-US" dirty="0"/>
              <a:t>On the left is an isometric drawing of a Bayer filter. A checkerboard of red, green and blue squares, one per pixel, sits on top of the gray sensor grid. Part of the filter layer is cut away to show the bare photosites beneath.</a:t>
            </a:r>
          </a:p>
          <a:p>
            <a:pPr marL="0" lvl="0" indent="0" algn="l" rtl="0">
              <a:lnSpc>
                <a:spcPct val="100000"/>
              </a:lnSpc>
              <a:spcBef>
                <a:spcPts val="0"/>
              </a:spcBef>
              <a:spcAft>
                <a:spcPts val="600"/>
              </a:spcAft>
              <a:buSzPts val="1400"/>
              <a:buNone/>
            </a:pPr>
            <a:r>
              <a:rPr lang="en-US" dirty="0"/>
              <a:t>On the right are three photosites side by side. Red, green and blue light arrows arrive at each one from above. The first has a red filter, and only the red arrow continues down into the gray photodiode. The second passes only green, and the third passes only blue.</a:t>
            </a:r>
          </a:p>
          <a:p>
            <a:pPr marL="0" lvl="0" indent="0" algn="l" rtl="0">
              <a:lnSpc>
                <a:spcPct val="100000"/>
              </a:lnSpc>
              <a:spcBef>
                <a:spcPts val="0"/>
              </a:spcBef>
              <a:spcAft>
                <a:spcPts val="600"/>
              </a:spcAft>
              <a:buSzPts val="1400"/>
              <a:buNone/>
            </a:pPr>
            <a:r>
              <a:rPr lang="en-US" dirty="0"/>
              <a:t>Under each photosite is a small 6 by 6 grid showing where that color's pixels sit in the mosaic:</a:t>
            </a:r>
          </a:p>
          <a:p>
            <a:pPr marL="0" lvl="0" indent="0" algn="l" rtl="0">
              <a:lnSpc>
                <a:spcPct val="100000"/>
              </a:lnSpc>
              <a:spcBef>
                <a:spcPts val="0"/>
              </a:spcBef>
              <a:spcAft>
                <a:spcPts val="600"/>
              </a:spcAft>
              <a:buSzPts val="1400"/>
              <a:buNone/>
            </a:pPr>
            <a:r>
              <a:rPr lang="en-US" dirty="0"/>
              <a:t>1. Red pixels fill every other position on every other row.</a:t>
            </a:r>
          </a:p>
          <a:p>
            <a:pPr marL="0" lvl="0" indent="0" algn="l" rtl="0">
              <a:lnSpc>
                <a:spcPct val="100000"/>
              </a:lnSpc>
              <a:spcBef>
                <a:spcPts val="0"/>
              </a:spcBef>
              <a:spcAft>
                <a:spcPts val="600"/>
              </a:spcAft>
              <a:buSzPts val="1400"/>
              <a:buNone/>
            </a:pPr>
            <a:r>
              <a:rPr lang="en-US" dirty="0"/>
              <a:t>2. Green pixels form a full checkerboard.</a:t>
            </a:r>
          </a:p>
          <a:p>
            <a:pPr marL="0" lvl="0" indent="0" algn="l" rtl="0">
              <a:lnSpc>
                <a:spcPct val="100000"/>
              </a:lnSpc>
              <a:spcBef>
                <a:spcPts val="0"/>
              </a:spcBef>
              <a:spcAft>
                <a:spcPts val="600"/>
              </a:spcAft>
              <a:buSzPts val="1400"/>
              <a:buNone/>
            </a:pPr>
            <a:r>
              <a:rPr lang="en-US" dirty="0"/>
              <a:t>3. Blue pixels fill the leftover alternate positions.</a:t>
            </a:r>
          </a:p>
          <a:p>
            <a:pPr marL="0" lvl="0" indent="0" algn="l" rtl="0">
              <a:lnSpc>
                <a:spcPct val="100000"/>
              </a:lnSpc>
              <a:spcBef>
                <a:spcPts val="0"/>
              </a:spcBef>
              <a:spcAft>
                <a:spcPts val="600"/>
              </a:spcAft>
              <a:buSzPts val="1400"/>
              <a:buNone/>
            </a:pPr>
            <a:r>
              <a:rPr lang="en-US" dirty="0"/>
              <a:t>The key idea is that each photodiode still measures only intensity. The filter simply decides which wavelengths reach it. So every pixel records one color's brightness, never all three.</a:t>
            </a:r>
          </a:p>
          <a:p>
            <a:pPr marL="0" lvl="0" indent="0" algn="l" rtl="0">
              <a:lnSpc>
                <a:spcPct val="100000"/>
              </a:lnSpc>
              <a:spcBef>
                <a:spcPts val="0"/>
              </a:spcBef>
              <a:spcAft>
                <a:spcPts val="600"/>
              </a:spcAft>
              <a:buSzPts val="1400"/>
              <a:buNone/>
            </a:pPr>
            <a:r>
              <a:rPr lang="en-US" dirty="0"/>
              <a:t>Before the next slide, look at those three small grids and count. Are there equally many red, green and blue pixels? Also think about what happens to the light the filter blocks. Both questions come next.</a:t>
            </a: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Bayer filter from the previous slide and asks two questions. The text says the Bayer format arranges filters in a repeating 2 by 2 grid. It asks what the problem is with filtering color, and answers: we lose information. That is why most scientific instruments, such as cameras on Mars, are black and white, so they capture all the intensities. The slide then shows the ratio 1 Red : 2 Green : 1 Blue and asks why there are twice as many green pixels as red or blue.</a:t>
            </a:r>
          </a:p>
          <a:p>
            <a:pPr marL="0" lvl="0" indent="0" algn="l" rtl="0">
              <a:lnSpc>
                <a:spcPct val="100000"/>
              </a:lnSpc>
              <a:spcBef>
                <a:spcPts val="0"/>
              </a:spcBef>
              <a:spcAft>
                <a:spcPts val="600"/>
              </a:spcAft>
              <a:buSzPts val="1400"/>
              <a:buNone/>
            </a:pPr>
            <a:r>
              <a:rPr lang="en-US" dirty="0"/>
              <a:t>On the right is the same isometric picture of a Bayer color filter array, cited from the Wikipedia Bayer filter page. A checkerboard of red, green and blue filter squares sits on a gray sensor surface, partly cut away to show the bare photosites underneath. Rows alternate green-red and blue-green, so every 2 by 2 block holds two greens, one red and one blue.</a:t>
            </a:r>
          </a:p>
          <a:p>
            <a:pPr marL="0" lvl="0" indent="0" algn="l" rtl="0">
              <a:lnSpc>
                <a:spcPct val="100000"/>
              </a:lnSpc>
              <a:spcBef>
                <a:spcPts val="0"/>
              </a:spcBef>
              <a:spcAft>
                <a:spcPts val="600"/>
              </a:spcAft>
              <a:buSzPts val="1400"/>
              <a:buNone/>
            </a:pPr>
            <a:r>
              <a:rPr lang="en-US" dirty="0"/>
              <a:t>Here is why filtering loses information. Each filter passes only its own band and blocks the rest of the light. Each photodiode therefore records only part of the incoming light, and it knows nothing about the other two colors at its location. A monochrome sensor has no filters, so every pixel measures the full intensity. That gives the most light-sensitive, full-resolution measurement possible, which is exactly what a scientific instrument wants. Color can still be recovered later by taking separate exposures through filters.</a:t>
            </a:r>
          </a:p>
          <a:p>
            <a:pPr marL="0" lvl="0" indent="0" algn="l" rtl="0">
              <a:lnSpc>
                <a:spcPct val="100000"/>
              </a:lnSpc>
              <a:spcBef>
                <a:spcPts val="0"/>
              </a:spcBef>
              <a:spcAft>
                <a:spcPts val="600"/>
              </a:spcAft>
              <a:buSzPts val="1400"/>
              <a:buNone/>
            </a:pPr>
            <a:r>
              <a:rPr lang="en-US" dirty="0"/>
              <a:t>Quick check: what fraction of the sensor's pixels actually measure red? The answer is one quarter, so red is sampled at only a quarter of the full resolution.</a:t>
            </a:r>
          </a:p>
          <a:p>
            <a:pPr marL="0" lvl="0" indent="0" algn="l" rtl="0">
              <a:lnSpc>
                <a:spcPct val="100000"/>
              </a:lnSpc>
              <a:spcBef>
                <a:spcPts val="0"/>
              </a:spcBef>
              <a:spcAft>
                <a:spcPts val="600"/>
              </a:spcAft>
              <a:buSzPts val="1400"/>
              <a:buNone/>
            </a:pPr>
            <a:r>
              <a:rPr lang="en-US" dirty="0"/>
              <a:t>Think about the green question before the next slide. The answer comes from the human eye, and after that we will see how the camera fills in the missing colors at each pixel.</a:t>
            </a: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why does the Bayer filter use 1 red to 2 green to 1 blue? The left side gives the answer in text. The right side shows a plot from the Wikipedia Color vision article: the normalized response of the eye's three cone cell types versus wavelength, from 400 to 700 nanometers. The background is the visible spectrum, running from violet through green to red. The S, or short, cone peaks near 440 nm in the blue and drops to almost zero by about 530 nm. The M, or medium, and L, or long, cones overlap heavily, peaking near 545 nm and 570 nm. The L curve extends furthest into the red, fading out around 700 nm.</a:t>
            </a:r>
          </a:p>
          <a:p>
            <a:pPr marL="0" lvl="0" indent="0" algn="l" rtl="0">
              <a:lnSpc>
                <a:spcPct val="100000"/>
              </a:lnSpc>
              <a:spcBef>
                <a:spcPts val="0"/>
              </a:spcBef>
              <a:spcAft>
                <a:spcPts val="600"/>
              </a:spcAft>
              <a:buSzPts val="1400"/>
              <a:buNone/>
            </a:pPr>
            <a:r>
              <a:rPr lang="en-US" dirty="0"/>
              <a:t>Because two of the three cone types respond strongly around 550 nm, your eye is most sensitive to green. Most of the brightness you perceive, called luminance, comes from this green region. Sampling green at twice the density of red or blue lets the camera capture fine brightness detail where your eye notices it most. The camera spends its limited pixels where perception cares.</a:t>
            </a:r>
          </a:p>
          <a:p>
            <a:pPr marL="0" lvl="0" indent="0" algn="l" rtl="0">
              <a:lnSpc>
                <a:spcPct val="100000"/>
              </a:lnSpc>
              <a:spcBef>
                <a:spcPts val="0"/>
              </a:spcBef>
              <a:spcAft>
                <a:spcPts val="600"/>
              </a:spcAft>
              <a:buSzPts val="1400"/>
              <a:buNone/>
            </a:pPr>
            <a:r>
              <a:rPr lang="en-US" dirty="0"/>
              <a:t>The cost is that the raw sensor output is a mosaic: each pixel holds only one color value. In this layout, pixel (0,0) recorded only red, so its green and blue values are simply unknown. If you read raw Bayer data on the robot and treat it as an image, it looks like a checkerboard.</a:t>
            </a:r>
          </a:p>
          <a:p>
            <a:pPr marL="0" lvl="0" indent="0" algn="l" rtl="0">
              <a:lnSpc>
                <a:spcPct val="100000"/>
              </a:lnSpc>
              <a:spcBef>
                <a:spcPts val="0"/>
              </a:spcBef>
              <a:spcAft>
                <a:spcPts val="600"/>
              </a:spcAft>
              <a:buSzPts val="1400"/>
              <a:buNone/>
            </a:pPr>
            <a:r>
              <a:rPr lang="en-US" dirty="0"/>
              <a:t>Before moving on, ask yourself how you would estimate the green value at that red pixel using only its neighbors. The next slide answers this with demosaicing.</a:t>
            </a: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one: if each pixel in the Bayer mosaic records only one color, how does every pixel end up with full RGB? The answer is demosaicing, the mathematical process of estimating the missing color values at each pixel location.</a:t>
            </a:r>
          </a:p>
          <a:p>
            <a:pPr marL="0" lvl="0" indent="0" algn="l" rtl="0">
              <a:lnSpc>
                <a:spcPct val="100000"/>
              </a:lnSpc>
              <a:spcBef>
                <a:spcPts val="0"/>
              </a:spcBef>
              <a:spcAft>
                <a:spcPts val="600"/>
              </a:spcAft>
              <a:buSzPts val="1400"/>
              <a:buNone/>
            </a:pPr>
            <a:r>
              <a:rPr lang="en-US" dirty="0"/>
              <a:t>The simplest method averages neighboring pixels. To find the missing green value at a red pixel, the slide gives: at R_(i,j), G_(i,j) = (1/4)*(G_(i-1,j) + G_(i+1,j) + G_(i,j-1) + G_(i,j+1)). In words, the green value at row i, column j is one quarter of the sum of the green values directly above, below, left and right. This works because in the Bayer grid, those four neighbors of a red pixel are always green. The slide doesn't show the other cases, but the same idea applies: the missing blue at a red pixel comes from averaging its four diagonal neighbors, which are blue. Usually the camera's internal DSP, its Digital Signal Processor, does this before the data ever reaches your microcontroller or Raspberry Pi.</a:t>
            </a:r>
          </a:p>
          <a:p>
            <a:pPr marL="0" lvl="0" indent="0" algn="l" rtl="0">
              <a:lnSpc>
                <a:spcPct val="100000"/>
              </a:lnSpc>
              <a:spcBef>
                <a:spcPts val="0"/>
              </a:spcBef>
              <a:spcAft>
                <a:spcPts val="600"/>
              </a:spcAft>
              <a:buSzPts val="1400"/>
              <a:buNone/>
            </a:pPr>
            <a:r>
              <a:rPr lang="en-US" dirty="0"/>
              <a:t>The column of five tulip images on the right shows the pipeline. Image 1 is the original scene. Image 2 is the raw grayscale sensor output with its checkerboard pattern. Image 3 is that raw data tinted by each pixel's filter color. Image 4 is the averaged reconstruction, which is blurrier and has color bleeding along the petal edges. Image 5 is a true full-color image for comparison.</a:t>
            </a:r>
          </a:p>
          <a:p>
            <a:pPr marL="0" lvl="0" indent="0" algn="l" rtl="0">
              <a:lnSpc>
                <a:spcPct val="100000"/>
              </a:lnSpc>
              <a:spcBef>
                <a:spcPts val="0"/>
              </a:spcBef>
              <a:spcAft>
                <a:spcPts val="600"/>
              </a:spcAft>
              <a:buSzPts val="1400"/>
              <a:buNone/>
            </a:pPr>
            <a:r>
              <a:rPr lang="en-US" dirty="0"/>
              <a:t>Averaging works well in flat or smoothly shaded regions. At sharp edges, though, it mixes colors from both sides. Better methods detect high-contrast edges and interpolate along them, not across them.</a:t>
            </a:r>
          </a:p>
          <a:p>
            <a:pPr marL="0" lvl="0" indent="0" algn="l" rtl="0">
              <a:lnSpc>
                <a:spcPct val="100000"/>
              </a:lnSpc>
              <a:spcBef>
                <a:spcPts val="0"/>
              </a:spcBef>
              <a:spcAft>
                <a:spcPts val="600"/>
              </a:spcAft>
              <a:buSzPts val="1400"/>
              <a:buNone/>
            </a:pPr>
            <a:r>
              <a:rPr lang="en-US" dirty="0"/>
              <a:t>With every pixel now holding R, G and B, the next slide looks at how that RGB color space is organized.</a:t>
            </a: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demosaicing: once the camera's DSP has filled in the missing colors, every pixel is an array of three numbers, R, G and B, for red, green and blue.</a:t>
            </a:r>
          </a:p>
          <a:p>
            <a:pPr marL="0" lvl="0" indent="0" algn="l" rtl="0">
              <a:lnSpc>
                <a:spcPct val="100000"/>
              </a:lnSpc>
              <a:spcBef>
                <a:spcPts val="0"/>
              </a:spcBef>
              <a:spcAft>
                <a:spcPts val="600"/>
              </a:spcAft>
              <a:buSzPts val="1400"/>
              <a:buNone/>
            </a:pPr>
            <a:r>
              <a:rPr lang="en-US" dirty="0"/>
              <a:t>The text says RGB is an additive color model, used by screens and sensors. Additive means you start from black (no light) and add red, green and blue light together; more of each makes the result brighter. Each channel is typically an 8-bit value, so it ranges from 0 to 255, giving 256 levels per channel and 256^3, about 16.7 million, possible colors. The slide notes that the bit depth depends on the sensor's ADC; some sensors digitize raw data at 10 or 12 bits.</a:t>
            </a:r>
          </a:p>
          <a:p>
            <a:pPr marL="0" lvl="0" indent="0" algn="l" rtl="0">
              <a:lnSpc>
                <a:spcPct val="100000"/>
              </a:lnSpc>
              <a:spcBef>
                <a:spcPts val="0"/>
              </a:spcBef>
              <a:spcAft>
                <a:spcPts val="600"/>
              </a:spcAft>
              <a:buSzPts val="1400"/>
              <a:buNone/>
            </a:pPr>
            <a:r>
              <a:rPr lang="en-US" dirty="0"/>
              <a:t>Two quick questions are on the slide. If R = 255, G = 255, B = 255, all three at full intensity, you see white. If R = 255, G = 0, B = 0, you see pure red.</a:t>
            </a:r>
          </a:p>
          <a:p>
            <a:pPr marL="0" lvl="0" indent="0" algn="l" rtl="0">
              <a:lnSpc>
                <a:spcPct val="100000"/>
              </a:lnSpc>
              <a:spcBef>
                <a:spcPts val="0"/>
              </a:spcBef>
              <a:spcAft>
                <a:spcPts val="600"/>
              </a:spcAft>
              <a:buSzPts val="1400"/>
              <a:buNone/>
            </a:pPr>
            <a:r>
              <a:rPr lang="en-US" dirty="0"/>
              <a:t>On the right is the RGB color cube, with Red, Green and Blue as the x, y and z axes, each divided into five intensity steps. Black sits at the origin. Pure red, green and blue are at the ends of the axes. Yellow, cyan and magenta are at the corners where two primaries are at full intensity. White is the corner where all three are full. A highlighted interior point at R = 1/5, G = 3/5, B = 4/5 is a medium sky blue. In 8-bit terms that is about R = 51, G = 153, B = 204.</a:t>
            </a:r>
          </a:p>
          <a:p>
            <a:pPr marL="0" lvl="0" indent="0" algn="l" rtl="0">
              <a:lnSpc>
                <a:spcPct val="100000"/>
              </a:lnSpc>
              <a:spcBef>
                <a:spcPts val="0"/>
              </a:spcBef>
              <a:spcAft>
                <a:spcPts val="600"/>
              </a:spcAft>
              <a:buSzPts val="1400"/>
              <a:buNone/>
            </a:pPr>
            <a:r>
              <a:rPr lang="en-US" dirty="0"/>
              <a:t>Check yourself: what color is R = 255, G = 255, B = 0? It is yellow. Next, you will see why this cube makes color tracking fragile when the lighting changes.</a:t>
            </a: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no figures, only text and one line of code. It poses a thought experiment: you write code to track a red ball using a simple threshold on the three RGB channels. The code reads: if R is greater than 200 and G is less than 50 and B is less than 50, call track. In C syntax: if (R &gt; 200 &amp;&amp; G &lt; 50 &amp;&amp; B &lt; 50) { track(); }</a:t>
            </a:r>
          </a:p>
          <a:p>
            <a:pPr marL="0" lvl="0" indent="0" algn="l" rtl="0">
              <a:lnSpc>
                <a:spcPct val="100000"/>
              </a:lnSpc>
              <a:spcBef>
                <a:spcPts val="0"/>
              </a:spcBef>
              <a:spcAft>
                <a:spcPts val="600"/>
              </a:spcAft>
              <a:buSzPts val="1400"/>
              <a:buNone/>
            </a:pPr>
            <a:r>
              <a:rPr lang="en-US" dirty="0"/>
              <a:t>The slide then asks what happens when the robot drives under a shadow. The total light drops, and the same red ball's pixel might now read R = 100, G = 10, B = 10. R is no longer above 200, so the condition fails and the robot loses the ball, even though nothing about the ball changed.</a:t>
            </a:r>
          </a:p>
          <a:p>
            <a:pPr marL="0" lvl="0" indent="0" algn="l" rtl="0">
              <a:lnSpc>
                <a:spcPct val="100000"/>
              </a:lnSpc>
              <a:spcBef>
                <a:spcPts val="0"/>
              </a:spcBef>
              <a:spcAft>
                <a:spcPts val="600"/>
              </a:spcAft>
              <a:buSzPts val="1400"/>
              <a:buNone/>
            </a:pPr>
            <a:r>
              <a:rPr lang="en-US" dirty="0"/>
              <a:t>The key point is the slide's final statement: in RGB, a change in lighting changes all three values at once. RGB couples chrominance, meaning the color itself, with luminance, meaning brightness. On the RGB cube from the previous slide, dimming a color moves the point toward black at the origin. It is the same color, only darker. Notice that red still strongly dominates at R = 100, G = 10, B = 10. The proportions survive the shadow, but your fixed thresholds on raw values cannot see that.</a:t>
            </a:r>
          </a:p>
          <a:p>
            <a:pPr marL="0" lvl="0" indent="0" algn="l" rtl="0">
              <a:lnSpc>
                <a:spcPct val="100000"/>
              </a:lnSpc>
              <a:spcBef>
                <a:spcPts val="0"/>
              </a:spcBef>
              <a:spcAft>
                <a:spcPts val="600"/>
              </a:spcAft>
              <a:buSzPts val="1400"/>
              <a:buNone/>
            </a:pPr>
            <a:r>
              <a:rPr lang="en-US" dirty="0"/>
              <a:t>A common mistake is to tune thresholds under the lab lights and then find that the robot fails near a window or under a table. Quick check: would lowering the threshold to R &gt; 90 fix this? Partly, but now darker orange, brown, or pink objects may pass too.</a:t>
            </a:r>
          </a:p>
          <a:p>
            <a:pPr marL="0" lvl="0" indent="0" algn="l" rtl="0">
              <a:lnSpc>
                <a:spcPct val="100000"/>
              </a:lnSpc>
              <a:spcBef>
                <a:spcPts val="0"/>
              </a:spcBef>
              <a:spcAft>
                <a:spcPts val="600"/>
              </a:spcAft>
              <a:buSzPts val="1400"/>
              <a:buNone/>
            </a:pPr>
            <a:r>
              <a:rPr lang="en-US" dirty="0"/>
              <a:t>The next slide fixes this by moving from the RGB cube to the HSV cylinder, which separates color from brightness.</a:t>
            </a: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problem from the last one: our RGB threshold for a red ball broke as soon as the robot drove into a shadow, because dimming the light changes R, G and B all at once. The fix is to re-express the same color information in a different coordinate system, the HSV color space, where the RGB cube is reshaped into a cylinder.</a:t>
            </a:r>
          </a:p>
          <a:p>
            <a:pPr marL="0" lvl="0" indent="0" algn="l" rtl="0">
              <a:lnSpc>
                <a:spcPct val="100000"/>
              </a:lnSpc>
              <a:spcBef>
                <a:spcPts val="0"/>
              </a:spcBef>
              <a:spcAft>
                <a:spcPts val="600"/>
              </a:spcAft>
              <a:buSzPts val="1400"/>
              <a:buNone/>
            </a:pPr>
            <a:r>
              <a:rPr lang="en-US" dirty="0"/>
              <a:t>The slide defines the three coordinates. H is Hue, the actual color type, such as red or blue. S is Saturation, how pure the color is compared with a faded, whitish version of it. V is Value, how bright or dark the color is.</a:t>
            </a:r>
          </a:p>
          <a:p>
            <a:pPr marL="0" lvl="0" indent="0" algn="l" rtl="0">
              <a:lnSpc>
                <a:spcPct val="100000"/>
              </a:lnSpc>
              <a:spcBef>
                <a:spcPts val="0"/>
              </a:spcBef>
              <a:spcAft>
                <a:spcPts val="600"/>
              </a:spcAft>
              <a:buSzPts val="1400"/>
              <a:buNone/>
            </a:pPr>
            <a:r>
              <a:rPr lang="en-US" dirty="0"/>
              <a:t>The figure, from Wikipedia's HSL and HSV article (https://en.wikipedia.org/wiki/HSL_and_HSV), shows a cylinder with a wedge cut out so you can see inside. Around the top rim the colors cycle red, yellow, green, cyan, blue, magenta, and back to red. A curved arrow labeled Hue wraps around the side, showing that hue is an angle. A straight arrow labeled Saturation points outward from the central axis to the edge, where the gray center becomes vivid color. A vertical arrow labeled Value points upward from the black bottom to the bright top.</a:t>
            </a:r>
          </a:p>
          <a:p>
            <a:pPr marL="0" lvl="0" indent="0" algn="l" rtl="0">
              <a:lnSpc>
                <a:spcPct val="100000"/>
              </a:lnSpc>
              <a:spcBef>
                <a:spcPts val="0"/>
              </a:spcBef>
              <a:spcAft>
                <a:spcPts val="600"/>
              </a:spcAft>
              <a:buSzPts val="1400"/>
              <a:buNone/>
            </a:pPr>
            <a:r>
              <a:rPr lang="en-US" dirty="0"/>
              <a:t>The key idea is that HSV separates color (hue and saturation) from brightness (value). A shadow mostly moves a pixel down the cylinder, not around it.</a:t>
            </a:r>
          </a:p>
          <a:p>
            <a:pPr marL="0" lvl="0" indent="0" algn="l" rtl="0">
              <a:lnSpc>
                <a:spcPct val="100000"/>
              </a:lnSpc>
              <a:spcBef>
                <a:spcPts val="0"/>
              </a:spcBef>
              <a:spcAft>
                <a:spcPts val="600"/>
              </a:spcAft>
              <a:buSzPts val="1400"/>
              <a:buNone/>
            </a:pPr>
            <a:r>
              <a:rPr lang="en-US" dirty="0"/>
              <a:t>No new information is created here. HSV is just a nonlinear transform of the same R, G, B numbers.</a:t>
            </a:r>
          </a:p>
          <a:p>
            <a:pPr marL="0" lvl="0" indent="0" algn="l" rtl="0">
              <a:lnSpc>
                <a:spcPct val="100000"/>
              </a:lnSpc>
              <a:spcBef>
                <a:spcPts val="0"/>
              </a:spcBef>
              <a:spcAft>
                <a:spcPts val="600"/>
              </a:spcAft>
              <a:buSzPts val="1400"/>
              <a:buNone/>
            </a:pPr>
            <a:r>
              <a:rPr lang="en-US" dirty="0"/>
              <a:t>Next, we look at hue as an angle and see why that makes tracking robust.</a:t>
            </a: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Hue part of the HSV cylinder we just introduced. The text says that in the HSV cylinder, Hue is an angle from 0 degrees to 360 degrees, with 0 degrees = Red, 120 degrees = Green, and 240 degrees = Blue. It then states why this is brilliant: if a red ball enters a shadow, its Value drops, but its Hue angle remains "exactly" 0 degrees. This isolates the color from the lighting condition and makes the tracking algorithm more robust.</a:t>
            </a:r>
          </a:p>
          <a:p>
            <a:pPr marL="0" lvl="0" indent="0" algn="l" rtl="0">
              <a:lnSpc>
                <a:spcPct val="100000"/>
              </a:lnSpc>
              <a:spcBef>
                <a:spcPts val="0"/>
              </a:spcBef>
              <a:spcAft>
                <a:spcPts val="600"/>
              </a:spcAft>
              <a:buSzPts val="1400"/>
              <a:buNone/>
            </a:pPr>
            <a:r>
              <a:rPr lang="en-US" dirty="0"/>
              <a:t>On the right is the same cylinder figure from the Wikipedia HSL and HSV article. A curved arrow labeled Hue runs around the outside, through red, yellow, green, cyan, blue and magenta. An arrow labeled Saturation points from the center axis out to the edge. A vertical arrow labeled Value points from the black bottom to the bright top.</a:t>
            </a:r>
          </a:p>
          <a:p>
            <a:pPr marL="0" lvl="0" indent="0" algn="l" rtl="0">
              <a:lnSpc>
                <a:spcPct val="100000"/>
              </a:lnSpc>
              <a:spcBef>
                <a:spcPts val="0"/>
              </a:spcBef>
              <a:spcAft>
                <a:spcPts val="600"/>
              </a:spcAft>
              <a:buSzPts val="1400"/>
              <a:buNone/>
            </a:pPr>
            <a:r>
              <a:rPr lang="en-US" dirty="0"/>
              <a:t>Go back to the shadow example from two slides ago. The bright pixel R=255, G=0, B=0 and the shadowed pixel R=100, G=10, B=10 both have red as the largest channel, with G equal to B. Both therefore map to a hue of 0 degrees. The shadow moves the pixel down the cylinder, so only V changes. The pixel does not rotate around the axis.</a:t>
            </a:r>
          </a:p>
          <a:p>
            <a:pPr marL="0" lvl="0" indent="0" algn="l" rtl="0">
              <a:lnSpc>
                <a:spcPct val="100000"/>
              </a:lnSpc>
              <a:spcBef>
                <a:spcPts val="0"/>
              </a:spcBef>
              <a:spcAft>
                <a:spcPts val="600"/>
              </a:spcAft>
              <a:buSzPts val="1400"/>
              <a:buNone/>
            </a:pPr>
            <a:r>
              <a:rPr lang="en-US" dirty="0"/>
              <a:t>The word "exactly" is in quotes for a reason. Sensor noise and very dark or very gray pixels make hue unstable, because near the axis the angle is poorly defined.</a:t>
            </a:r>
          </a:p>
          <a:p>
            <a:pPr marL="0" lvl="0" indent="0" algn="l" rtl="0">
              <a:lnSpc>
                <a:spcPct val="100000"/>
              </a:lnSpc>
              <a:spcBef>
                <a:spcPts val="0"/>
              </a:spcBef>
              <a:spcAft>
                <a:spcPts val="600"/>
              </a:spcAft>
              <a:buSzPts val="1400"/>
              <a:buNone/>
            </a:pPr>
            <a:r>
              <a:rPr lang="en-US" dirty="0"/>
              <a:t>Watch out for red: it sits at the wraparound point. A hue of 355 degrees is also red, so a red threshold needs two ranges, one near 0 and one near 360. In OpenCV's 8-bit images, hue is stored as 0 to 179, which is half the angle.</a:t>
            </a:r>
          </a:p>
          <a:p>
            <a:pPr marL="0" lvl="0" indent="0" algn="l" rtl="0">
              <a:lnSpc>
                <a:spcPct val="100000"/>
              </a:lnSpc>
              <a:spcBef>
                <a:spcPts val="0"/>
              </a:spcBef>
              <a:spcAft>
                <a:spcPts val="600"/>
              </a:spcAft>
              <a:buSzPts val="1400"/>
              <a:buNone/>
            </a:pPr>
            <a:r>
              <a:rPr lang="en-US" dirty="0"/>
              <a:t>Next, we look at Saturation and Value and how to choose ranges for tracking.</a:t>
            </a: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tour of the HSV cylinder. On the left, the text defines the last two coordinates. Saturation is the radius, the distance from the center axis: S = 0% is pure gray or white at the center, and S = 100% is a pure, vibrant color at the outer edge. Value is the height of the cylinder, from 0 to 100%: V = 0% is pitch black and V = 100% is fully illuminated. The final line says that to track an object, we look for pixels that fall within specific ranges.</a:t>
            </a:r>
          </a:p>
          <a:p>
            <a:pPr marL="0" lvl="0" indent="0" algn="l" rtl="0">
              <a:lnSpc>
                <a:spcPct val="100000"/>
              </a:lnSpc>
              <a:spcBef>
                <a:spcPts val="0"/>
              </a:spcBef>
              <a:spcAft>
                <a:spcPts val="600"/>
              </a:spcAft>
              <a:buSzPts val="1400"/>
              <a:buNone/>
            </a:pPr>
            <a:r>
              <a:rPr lang="en-US" dirty="0"/>
              <a:t>On the right is the same cylinder image as the last two slides, from https://en.wikipedia.org/wiki/HSL_and_HSV. A wedge is cut out so you can see inside. A curved arrow labeled Hue wraps around the side, a straight arrow labeled Saturation points from the center outward, and a vertical arrow labeled Value points up from the black bottom toward the bright top.</a:t>
            </a:r>
          </a:p>
          <a:p>
            <a:pPr marL="0" lvl="0" indent="0" algn="l" rtl="0">
              <a:lnSpc>
                <a:spcPct val="100000"/>
              </a:lnSpc>
              <a:spcBef>
                <a:spcPts val="0"/>
              </a:spcBef>
              <a:spcAft>
                <a:spcPts val="600"/>
              </a:spcAft>
              <a:buSzPts val="1400"/>
              <a:buNone/>
            </a:pPr>
            <a:r>
              <a:rPr lang="en-US" dirty="0"/>
              <a:t>Combined with hue from the previous slide, this gives you a complete color-tracking recipe. You pick a hue band for your object, such as a narrow window around red. Then you add a minimum saturation and a minimum value. Every pixel inside all three ranges becomes a 1 in a binary mask, and every other pixel becomes a 0.</a:t>
            </a:r>
          </a:p>
          <a:p>
            <a:pPr marL="0" lvl="0" indent="0" algn="l" rtl="0">
              <a:lnSpc>
                <a:spcPct val="100000"/>
              </a:lnSpc>
              <a:spcBef>
                <a:spcPts val="0"/>
              </a:spcBef>
              <a:spcAft>
                <a:spcPts val="600"/>
              </a:spcAft>
              <a:buSzPts val="1400"/>
              <a:buNone/>
            </a:pPr>
            <a:r>
              <a:rPr lang="en-US" dirty="0"/>
              <a:t>A common mistake is to threshold on hue alone. Near the center axis, where colors are faded, and near the black bottom of the cylinder, the hue angle becomes noisy and meaningless. A gray wall or a dark corner can then pass your red filter. The S and V minimums are what reject those pixels.</a:t>
            </a:r>
          </a:p>
          <a:p>
            <a:pPr marL="0" lvl="0" indent="0" algn="l" rtl="0">
              <a:lnSpc>
                <a:spcPct val="100000"/>
              </a:lnSpc>
              <a:spcBef>
                <a:spcPts val="0"/>
              </a:spcBef>
              <a:spcAft>
                <a:spcPts val="600"/>
              </a:spcAft>
              <a:buSzPts val="1400"/>
              <a:buNone/>
            </a:pPr>
            <a:r>
              <a:rPr lang="en-US" dirty="0"/>
              <a:t>Quick check: a white sheet of paper under bright light has roughly what S and V? Answer: S near 0% and V near 100%.</a:t>
            </a:r>
          </a:p>
          <a:p>
            <a:pPr marL="0" lvl="0" indent="0" algn="l" rtl="0">
              <a:lnSpc>
                <a:spcPct val="100000"/>
              </a:lnSpc>
              <a:spcBef>
                <a:spcPts val="0"/>
              </a:spcBef>
              <a:spcAft>
                <a:spcPts val="600"/>
              </a:spcAft>
              <a:buSzPts val="1400"/>
              <a:buNone/>
            </a:pPr>
            <a:r>
              <a:rPr lang="en-US" dirty="0"/>
              <a:t>Next, you see how to compute H, S and V from normalized RGB values.</a:t>
            </a: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actual math for converting a pixel from RGB to HSV. On the right is the same HSV cylinder from the last two slides: hue is the angle around the axis, saturation is the distance from the center, and value is the height. The figure is from the Wikipedia article on HSL and HSV.</a:t>
            </a:r>
          </a:p>
          <a:p>
            <a:pPr marL="0" lvl="0" indent="0" algn="l" rtl="0">
              <a:lnSpc>
                <a:spcPct val="100000"/>
              </a:lnSpc>
              <a:spcBef>
                <a:spcPts val="0"/>
              </a:spcBef>
              <a:spcAft>
                <a:spcPts val="600"/>
              </a:spcAft>
              <a:buSzPts val="1400"/>
              <a:buNone/>
            </a:pPr>
            <a:r>
              <a:rPr lang="en-US" dirty="0"/>
              <a:t>First, normalize the red, green and blue values to the range 0 to 1, called R', G', B'. Then compute three quantities: C_max = max(R', G', B'), C_min = min(R', G', B'), and delta = C_max − C_min.</a:t>
            </a:r>
          </a:p>
          <a:p>
            <a:pPr marL="0" lvl="0" indent="0" algn="l" rtl="0">
              <a:lnSpc>
                <a:spcPct val="100000"/>
              </a:lnSpc>
              <a:spcBef>
                <a:spcPts val="0"/>
              </a:spcBef>
              <a:spcAft>
                <a:spcPts val="600"/>
              </a:spcAft>
              <a:buSzPts val="1400"/>
              <a:buNone/>
            </a:pPr>
            <a:r>
              <a:rPr lang="en-US" dirty="0"/>
              <a:t>Value is simply the largest channel: V = C_max.</a:t>
            </a:r>
          </a:p>
          <a:p>
            <a:pPr marL="0" lvl="0" indent="0" algn="l" rtl="0">
              <a:lnSpc>
                <a:spcPct val="100000"/>
              </a:lnSpc>
              <a:spcBef>
                <a:spcPts val="0"/>
              </a:spcBef>
              <a:spcAft>
                <a:spcPts val="600"/>
              </a:spcAft>
              <a:buSzPts val="1400"/>
              <a:buNone/>
            </a:pPr>
            <a:r>
              <a:rPr lang="en-US" dirty="0"/>
              <a:t>Saturation is S = 0 if C_max = 0, otherwise S = delta / C_max. That is how far the strongest channel stands out from the weakest, relative to brightness.</a:t>
            </a:r>
          </a:p>
          <a:p>
            <a:pPr marL="0" lvl="0" indent="0" algn="l" rtl="0">
              <a:lnSpc>
                <a:spcPct val="100000"/>
              </a:lnSpc>
              <a:spcBef>
                <a:spcPts val="0"/>
              </a:spcBef>
              <a:spcAft>
                <a:spcPts val="600"/>
              </a:spcAft>
              <a:buSzPts val="1400"/>
              <a:buNone/>
            </a:pPr>
            <a:r>
              <a:rPr lang="en-US" dirty="0"/>
              <a:t>Hue is H = 60 degrees times one of three expressions, chosen by which channel is largest. If C_max is R, use ((G − B)/delta) mod 6. If C_max is G, use (B − R)/delta + 2. If C_max is B, use (R − G)/delta + 4. The offsets 0, 2 and 4 place red, green and blue at 0, 120 and 240 degrees.</a:t>
            </a:r>
          </a:p>
          <a:p>
            <a:pPr marL="0" lvl="0" indent="0" algn="l" rtl="0">
              <a:lnSpc>
                <a:spcPct val="100000"/>
              </a:lnSpc>
              <a:spcBef>
                <a:spcPts val="0"/>
              </a:spcBef>
              <a:spcAft>
                <a:spcPts val="600"/>
              </a:spcAft>
              <a:buSzPts val="1400"/>
              <a:buNone/>
            </a:pPr>
            <a:r>
              <a:rPr lang="en-US" dirty="0"/>
              <a:t>Try pure red, (1, 0, 0): V = 1, S = 1, H = 0 degrees. Now put it in shadow, (0.5, 0, 0): V drops to 0.5, but S is still 1 and H is still 0. This is the lighting robustness from slide 26, shown with numbers.</a:t>
            </a:r>
          </a:p>
          <a:p>
            <a:pPr marL="0" lvl="0" indent="0" algn="l" rtl="0">
              <a:lnSpc>
                <a:spcPct val="100000"/>
              </a:lnSpc>
              <a:spcBef>
                <a:spcPts val="0"/>
              </a:spcBef>
              <a:spcAft>
                <a:spcPts val="600"/>
              </a:spcAft>
              <a:buSzPts val="1400"/>
              <a:buNone/>
            </a:pPr>
            <a:r>
              <a:rPr lang="en-US" dirty="0"/>
              <a:t>A common mistake is forgetting that when delta = 0 (any gray), hue is undefined because you would divide by zero. Your code must handle that case. Also, in your Raspberry Pi vision code, OpenCV's 8-bit HSV stores hue as 0 to 179 (degrees divided by 2), so scale your thresholds to match.</a:t>
            </a:r>
          </a:p>
          <a:p>
            <a:pPr marL="0" lvl="0" indent="0" algn="l" rtl="0">
              <a:lnSpc>
                <a:spcPct val="100000"/>
              </a:lnSpc>
              <a:spcBef>
                <a:spcPts val="0"/>
              </a:spcBef>
              <a:spcAft>
                <a:spcPts val="600"/>
              </a:spcAft>
              <a:buSzPts val="1400"/>
              <a:buNone/>
            </a:pPr>
            <a:r>
              <a:rPr lang="en-US" dirty="0"/>
              <a:t>Next, we look at what HSV gives up in exchange for being this cheap to compute.</a:t>
            </a: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visual test. At the top center is the original color photo: a fire breather in a dark red sequined costume kneels on a wet stage and blows a huge yellow-orange fireball, with drummers in red robes and spectators behind. The slide asks, "Which one looks the nicest?" Below are three grayscale versions of the same photo, each using only one "brightness" channel. The left one is labeled HSV value V. The two remaining labels, CIELAB L* and HSL value L, both sit above the right side. Based on how each formula treats the yellow flame, the middle image is CIELAB L* and the right image is HSL L. The source is the Wikipedia HSL and HSV article, Disadvantages section.</a:t>
            </a:r>
          </a:p>
          <a:p>
            <a:pPr marL="0" lvl="0" indent="0" algn="l" rtl="0">
              <a:lnSpc>
                <a:spcPct val="100000"/>
              </a:lnSpc>
              <a:spcBef>
                <a:spcPts val="0"/>
              </a:spcBef>
              <a:spcAft>
                <a:spcPts val="600"/>
              </a:spcAft>
              <a:buSzPts val="1400"/>
              <a:buNone/>
            </a:pPr>
            <a:r>
              <a:rPr lang="en-US" dirty="0"/>
              <a:t>Look at the flame. In the HSV V image it is a flat, blown-out white blob, because V = max(R, G, B), and yellow already has red and green near 1. In the HSL L image the flame turns a dull mid-gray, because L = (max + min)/2, and the low blue pulls it down to about 0.5. The CIELAB L* image keeps the flame bright but textured, which matches what your eye actually sees. That is because L* is built to model human lightness perception.</a:t>
            </a:r>
          </a:p>
          <a:p>
            <a:pPr marL="0" lvl="0" indent="0" algn="l" rtl="0">
              <a:lnSpc>
                <a:spcPct val="100000"/>
              </a:lnSpc>
              <a:spcBef>
                <a:spcPts val="0"/>
              </a:spcBef>
              <a:spcAft>
                <a:spcPts val="600"/>
              </a:spcAft>
              <a:buSzPts val="1400"/>
              <a:buNone/>
            </a:pPr>
            <a:r>
              <a:rPr lang="en-US" dirty="0"/>
              <a:t>The takeaway is that HSV and HSL are fast and very useful for thresholding colors on the robot, but their "brightness" channel is not what humans perceive. Next you see why: they trade perceptual accuracy for computation speed.</a:t>
            </a:r>
          </a:p>
          <a:p>
            <a:pPr marL="0" lvl="0" indent="0" algn="l" rtl="0">
              <a:lnSpc>
                <a:spcPct val="100000"/>
              </a:lnSpc>
              <a:spcBef>
                <a:spcPts val="0"/>
              </a:spcBef>
              <a:spcAft>
                <a:spcPts val="600"/>
              </a:spcAft>
              <a:buSzPts val="1400"/>
              <a:buNone/>
            </a:pPr>
            <a:r>
              <a:rPr lang="en-US" dirty="0"/>
              <a:t>Quick check: why does a saturated yellow give V = 1 but L of only about 0.5?</a:t>
            </a: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no figures. It explains why the HSV and HSL lightness images on the previous slide looked less natural than the CIELAB L-star image.</a:t>
            </a:r>
          </a:p>
          <a:p>
            <a:pPr marL="0" lvl="0" indent="0" algn="l" rtl="0">
              <a:lnSpc>
                <a:spcPct val="100000"/>
              </a:lnSpc>
              <a:spcBef>
                <a:spcPts val="0"/>
              </a:spcBef>
              <a:spcAft>
                <a:spcPts val="600"/>
              </a:spcAft>
              <a:buSzPts val="1400"/>
              <a:buNone/>
            </a:pPr>
            <a:r>
              <a:rPr lang="en-US" dirty="0"/>
              <a:t>The first point is that HSL and HSV work well enough for simple jobs like picking a single color, but they ignore much of how people actually perceive color. The slide puts it as a trade: they give up perceptual relevance for computation speed. "Perceptual relevance" means that equal numerical steps correspond to equal-looking changes to a human viewer.</a:t>
            </a:r>
          </a:p>
          <a:p>
            <a:pPr marL="0" lvl="0" indent="0" algn="l" rtl="0">
              <a:lnSpc>
                <a:spcPct val="100000"/>
              </a:lnSpc>
              <a:spcBef>
                <a:spcPts val="0"/>
              </a:spcBef>
              <a:spcAft>
                <a:spcPts val="600"/>
              </a:spcAft>
              <a:buSzPts val="1400"/>
              <a:buNone/>
            </a:pPr>
            <a:r>
              <a:rPr lang="en-US" dirty="0"/>
              <a:t>The second point is that HSL and HSV are just simple rearrangements of the RGB cube. They keep the cube's geometric symmetries, and those symmetries have nothing to do with human vision. For example, pure red, pure green and pure blue all have V = 1 and S = 1 in HSV, with hues exactly 120 degrees apart. In CIELAB, a perceptually-uniform space, these primaries turn out to have different lightness and chroma (colorfulness), and their hues are not evenly spaced. In sRGB, green looks far brighter than blue: L* is about 88 for green, about 53 for red and only about 32 for blue.</a:t>
            </a:r>
          </a:p>
          <a:p>
            <a:pPr marL="0" lvl="0" indent="0" algn="l" rtl="0">
              <a:lnSpc>
                <a:spcPct val="100000"/>
              </a:lnSpc>
              <a:spcBef>
                <a:spcPts val="0"/>
              </a:spcBef>
              <a:spcAft>
                <a:spcPts val="600"/>
              </a:spcAft>
              <a:buSzPts val="1400"/>
              <a:buNone/>
            </a:pPr>
            <a:r>
              <a:rPr lang="en-US" dirty="0"/>
              <a:t>The last point is that HSL and HSV are not absolute color spaces. A triple like (H, S, V) only pins down a color once you also know which RGB space it came from, including its gamma correction.</a:t>
            </a:r>
          </a:p>
          <a:p>
            <a:pPr marL="0" lvl="0" indent="0" algn="l" rtl="0">
              <a:lnSpc>
                <a:spcPct val="100000"/>
              </a:lnSpc>
              <a:spcBef>
                <a:spcPts val="0"/>
              </a:spcBef>
              <a:spcAft>
                <a:spcPts val="600"/>
              </a:spcAft>
              <a:buSzPts val="1400"/>
              <a:buNone/>
            </a:pPr>
            <a:r>
              <a:rPr lang="en-US" dirty="0"/>
              <a:t>For your robot, HSV thresholding on the Raspberry Pi is still a good choice because it is fast. Just remember that your thresholds belong to your camera and your lighting, so recalibrate them when either changes.</a:t>
            </a:r>
          </a:p>
          <a:p>
            <a:pPr marL="0" lvl="0" indent="0" algn="l" rtl="0">
              <a:lnSpc>
                <a:spcPct val="100000"/>
              </a:lnSpc>
              <a:spcBef>
                <a:spcPts val="0"/>
              </a:spcBef>
              <a:spcAft>
                <a:spcPts val="600"/>
              </a:spcAft>
              <a:buSzPts val="1400"/>
              <a:buNone/>
            </a:pPr>
            <a:r>
              <a:rPr lang="en-US" dirty="0"/>
              <a:t>Next, we look at how CIELAB is built.</a:t>
            </a: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CIELAB, the perceptually based color space that the last slide pointed to as the alternative to HSL and HSV.</a:t>
            </a:r>
          </a:p>
          <a:p>
            <a:pPr marL="0" lvl="0" indent="0" algn="l" rtl="0">
              <a:lnSpc>
                <a:spcPct val="100000"/>
              </a:lnSpc>
              <a:spcBef>
                <a:spcPts val="0"/>
              </a:spcBef>
              <a:spcAft>
                <a:spcPts val="600"/>
              </a:spcAft>
              <a:buSzPts val="1400"/>
              <a:buNone/>
            </a:pPr>
            <a:r>
              <a:rPr lang="en-US" dirty="0"/>
              <a:t>The text makes three points. First, CIELAB is three-dimensional and covers the entire gamut, meaning the full range, of colors a human can perceive. Second, it is built on the opponent model of human vision, in which red and green form one opponent pair and blue and yellow form another. Third, it defines three axes. Lightness, L* (said "L star"), runs from black at 0 to white at 100. The a* axis runs green to red: negative is greener, positive is redder. The b* axis runs blue to yellow: negative is bluer, positive is yellower.</a:t>
            </a:r>
          </a:p>
          <a:p>
            <a:pPr marL="0" lvl="0" indent="0" algn="l" rtl="0">
              <a:lnSpc>
                <a:spcPct val="100000"/>
              </a:lnSpc>
              <a:spcBef>
                <a:spcPts val="0"/>
              </a:spcBef>
              <a:spcAft>
                <a:spcPts val="600"/>
              </a:spcAft>
              <a:buSzPts val="1400"/>
              <a:buNone/>
            </a:pPr>
            <a:r>
              <a:rPr lang="en-US" dirty="0"/>
              <a:t>On the right are two views of the solid of all physically possible surface colors under D65 daylight. The top view plots a* horizontally against b* vertically, each from about minus 150 to 150. It is white near the origin and more saturated toward the edges. Green extends farthest left, yellow sits at the top, red and magenta are on the right, and violet-blue is in the lower right. Notice that the shape is lopsided, not a neat circle.</a:t>
            </a:r>
          </a:p>
          <a:p>
            <a:pPr marL="0" lvl="0" indent="0" algn="l" rtl="0">
              <a:lnSpc>
                <a:spcPct val="100000"/>
              </a:lnSpc>
              <a:spcBef>
                <a:spcPts val="0"/>
              </a:spcBef>
              <a:spcAft>
                <a:spcPts val="600"/>
              </a:spcAft>
              <a:buSzPts val="1400"/>
              <a:buNone/>
            </a:pPr>
            <a:r>
              <a:rPr lang="en-US" dirty="0"/>
              <a:t>The side view plots L* vertically against a*. The solid pinches to black at L* = 0 and to white at L* = 100. Yellow sits high, near L* 95, and deep violet sits low.</a:t>
            </a:r>
          </a:p>
          <a:p>
            <a:pPr marL="0" lvl="0" indent="0" algn="l" rtl="0">
              <a:lnSpc>
                <a:spcPct val="100000"/>
              </a:lnSpc>
              <a:spcBef>
                <a:spcPts val="0"/>
              </a:spcBef>
              <a:spcAft>
                <a:spcPts val="600"/>
              </a:spcAft>
              <a:buSzPts val="1400"/>
              <a:buNone/>
            </a:pPr>
            <a:r>
              <a:rPr lang="en-US" dirty="0"/>
              <a:t>The key idea is that "opponent" means a color cannot be both reddish and greenish at once, so a single signed number captures that dimension. For blob detection, this is useful because color, held in a* and b*, is separated from brightness, held in L*. A change in room lighting mostly shifts L*, so a threshold on a* and b* stays more robust.</a:t>
            </a:r>
          </a:p>
          <a:p>
            <a:pPr marL="0" lvl="0" indent="0" algn="l" rtl="0">
              <a:lnSpc>
                <a:spcPct val="100000"/>
              </a:lnSpc>
              <a:spcBef>
                <a:spcPts val="0"/>
              </a:spcBef>
              <a:spcAft>
                <a:spcPts val="600"/>
              </a:spcAft>
              <a:buSzPts val="1400"/>
              <a:buNone/>
            </a:pPr>
            <a:r>
              <a:rPr lang="en-US" dirty="0"/>
              <a:t>Quick check: what sign would you expect for a* and b* on an orange ball? (Both positive, red plus yellow.)</a:t>
            </a:r>
          </a:p>
          <a:p>
            <a:pPr marL="0" lvl="0" indent="0" algn="l" rtl="0">
              <a:lnSpc>
                <a:spcPct val="100000"/>
              </a:lnSpc>
              <a:spcBef>
                <a:spcPts val="0"/>
              </a:spcBef>
              <a:spcAft>
                <a:spcPts val="600"/>
              </a:spcAft>
              <a:buSzPts val="1400"/>
              <a:buNone/>
            </a:pPr>
            <a:r>
              <a:rPr lang="en-US" dirty="0"/>
              <a:t>Next, you see how L* is actually computed and why a* and b* are often clamped. Source: https://en.wikipedia.org/wiki/CIELAB_color_space</a:t>
            </a: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CIELAB discussion with how the numbers are computed and what ranges they take. The text is on the left; on the right are two plots from the Wikipedia CIELAB article (https://en.wikipedia.org/wiki/CIELAB_color_space), the same ones from the previous slide. They show the solid of all physically possible surface colors under D65 daylight. The top plot looks down the lightness axis, with a* horizontal and b* vertical, each spanning about minus 150 to 150. It is lopsided: greens reach about a* = -170, yellow about b* = +145, and violet-blue about a* = +145, b* = -125. The bottom plot is a side view of L* (0 to 100) versus a*, narrowing to black at the bottom and white at the top.</a:t>
            </a:r>
          </a:p>
          <a:p>
            <a:pPr marL="0" lvl="0" indent="0" algn="l" rtl="0">
              <a:lnSpc>
                <a:spcPct val="100000"/>
              </a:lnSpc>
              <a:spcBef>
                <a:spcPts val="0"/>
              </a:spcBef>
              <a:spcAft>
                <a:spcPts val="600"/>
              </a:spcAft>
              <a:buSzPts val="1400"/>
              <a:buNone/>
            </a:pPr>
            <a:r>
              <a:rPr lang="en-US" dirty="0"/>
              <a:t>Lightness is computed as L* = 116*f(Y/Yn) - 16, where Y/Yn is luminance relative to the reference white. The function f is the cube root, f(t) = t^(1/3), except very near black, where it switches to a short linear segment. The linear part avoids an infinite slope at zero. Combined with the offset, this behaves like a power curve with exponent about 0.43, which matches how your eye perceives brightness in daylight (photopic) vision. Equal steps in L* therefore look like equal steps in brightness.</a:t>
            </a:r>
          </a:p>
          <a:p>
            <a:pPr marL="0" lvl="0" indent="0" algn="l" rtl="0">
              <a:lnSpc>
                <a:spcPct val="100000"/>
              </a:lnSpc>
              <a:spcBef>
                <a:spcPts val="0"/>
              </a:spcBef>
              <a:spcAft>
                <a:spcPts val="600"/>
              </a:spcAft>
              <a:buSzPts val="1400"/>
              <a:buNone/>
            </a:pPr>
            <a:r>
              <a:rPr lang="en-US" dirty="0"/>
              <a:t>The a* and b* axes have no fixed limits, and the plots show them passing plus or minus 150. In practice, software stores them in integer types and clamps them to -128 to 127. OpenCV's 8-bit Lab images go one step further and add 128 so the values fit in 0 to 255. Check which convention your library uses before you pick color thresholds.</a:t>
            </a:r>
          </a:p>
          <a:p>
            <a:pPr marL="0" lvl="0" indent="0" algn="l" rtl="0">
              <a:lnSpc>
                <a:spcPct val="100000"/>
              </a:lnSpc>
              <a:spcBef>
                <a:spcPts val="0"/>
              </a:spcBef>
              <a:spcAft>
                <a:spcPts val="600"/>
              </a:spcAft>
              <a:buSzPts val="1400"/>
              <a:buNone/>
            </a:pPr>
            <a:r>
              <a:rPr lang="en-US" dirty="0"/>
              <a:t>Next, we use a color space to segment an image and move into blob detection.</a:t>
            </a: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slide reads "Blob detection" in large dark blue text on the orange Illinois background. Faint hand-drawn sketches of a cube, equations, molecules and a diagram are decoration only.</a:t>
            </a:r>
          </a:p>
          <a:p>
            <a:pPr marL="0" lvl="0" indent="0" algn="l" rtl="0">
              <a:spcBef>
                <a:spcPts val="0"/>
              </a:spcBef>
              <a:spcAft>
                <a:spcPts val="600"/>
              </a:spcAft>
              <a:buNone/>
            </a:pPr>
            <a:r>
              <a:rPr lang="en-US" dirty="0"/>
              <a:t>You now have color spaces, HSV and CIELAB, for describing what a target looks like. This section turns that into a location. Next you see the full pipeline: from camera pixels, to a binary mask, to a blob centroid, to a PI controller that steers the robot toward the target.</a:t>
            </a: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of the full vision pipeline, from photons hitting the sensor to motor commands on the robot. It is a flowchart with four stages running left to right, and a thick red box highlights stage 3, Feature Extraction, which is what this blob detection section covers.</a:t>
            </a:r>
          </a:p>
          <a:p>
            <a:pPr marL="0" lvl="0" indent="0" algn="l" rtl="0">
              <a:lnSpc>
                <a:spcPct val="100000"/>
              </a:lnSpc>
              <a:spcBef>
                <a:spcPts val="0"/>
              </a:spcBef>
              <a:spcAft>
                <a:spcPts val="600"/>
              </a:spcAft>
              <a:buSzPts val="1400"/>
              <a:buNone/>
            </a:pPr>
            <a:r>
              <a:rPr lang="en-US" dirty="0"/>
              <a:t>Stage 1, Raw Sensor Data: the CMOS array converts photons to voltage. A Bayer color filter array sits on top in a 1 red : 2 green : 1 blue mosaic, so each pixel records only one color.</a:t>
            </a:r>
          </a:p>
          <a:p>
            <a:pPr marL="0" lvl="0" indent="0" algn="l" rtl="0">
              <a:lnSpc>
                <a:spcPct val="100000"/>
              </a:lnSpc>
              <a:spcBef>
                <a:spcPts val="0"/>
              </a:spcBef>
              <a:spcAft>
                <a:spcPts val="600"/>
              </a:spcAft>
              <a:buSzPts val="1400"/>
              <a:buNone/>
            </a:pPr>
            <a:r>
              <a:rPr lang="en-US" dirty="0"/>
              <a:t>Stage 2, Pre-Processing: three steps run in order. Demosaicing by bilinear interpolation fills in the two missing colors at each pixel from its neighbors. The image is then converted from RGB to HSV to isolate chrominance, meaning the color itself, separate from brightness. Finally a binary threshold keeps pixels where H_min &lt;= H &lt;= H_max, read as "hue between a minimum and a maximum."</a:t>
            </a:r>
          </a:p>
          <a:p>
            <a:pPr marL="0" lvl="0" indent="0" algn="l" rtl="0">
              <a:lnSpc>
                <a:spcPct val="100000"/>
              </a:lnSpc>
              <a:spcBef>
                <a:spcPts val="0"/>
              </a:spcBef>
              <a:spcAft>
                <a:spcPts val="600"/>
              </a:spcAft>
              <a:buSzPts val="1400"/>
              <a:buNone/>
            </a:pPr>
            <a:r>
              <a:rPr lang="en-US" dirty="0"/>
              <a:t>Stage 3, Feature Extraction: blob detection groups touching white pixels into connected components. Area filtering keeps only blobs whose pixel count exceeds a noise level. Image moments then give the centroid: x_bar = M_10 / M_00 and y_bar = M_01 / M_00. M_00 is the blob's area, and M_10 and M_01 are the sums of x and y over its pixels.</a:t>
            </a:r>
          </a:p>
          <a:p>
            <a:pPr marL="0" lvl="0" indent="0" algn="l" rtl="0">
              <a:lnSpc>
                <a:spcPct val="100000"/>
              </a:lnSpc>
              <a:spcBef>
                <a:spcPts val="0"/>
              </a:spcBef>
              <a:spcAft>
                <a:spcPts val="600"/>
              </a:spcAft>
              <a:buSzPts val="1400"/>
              <a:buNone/>
            </a:pPr>
            <a:r>
              <a:rPr lang="en-US" dirty="0"/>
              <a:t>Stage 4, Control Logic: the error e(t) = x_bar - X_center measures how far the blob sits from the image center. A PI controller computes u(t) = K_p*e + K_i * integral of e dt, which becomes the PWM wheel commands v_left and v_right that steer the robot toward the target.</a:t>
            </a:r>
          </a:p>
          <a:p>
            <a:pPr marL="0" lvl="0" indent="0" algn="l" rtl="0">
              <a:lnSpc>
                <a:spcPct val="100000"/>
              </a:lnSpc>
              <a:spcBef>
                <a:spcPts val="0"/>
              </a:spcBef>
              <a:spcAft>
                <a:spcPts val="600"/>
              </a:spcAft>
              <a:buSzPts val="1400"/>
              <a:buNone/>
            </a:pPr>
            <a:r>
              <a:rPr lang="en-US" dirty="0"/>
              <a:t>A common mistake is that red hue wraps around 0 and 360 degrees, so a single H_min to H_max range can miss half of a red object.</a:t>
            </a:r>
          </a:p>
          <a:p>
            <a:pPr marL="0" lvl="0" indent="0" algn="l" rtl="0">
              <a:lnSpc>
                <a:spcPct val="100000"/>
              </a:lnSpc>
              <a:spcBef>
                <a:spcPts val="0"/>
              </a:spcBef>
              <a:spcAft>
                <a:spcPts val="600"/>
              </a:spcAft>
              <a:buSzPts val="1400"/>
              <a:buNone/>
            </a:pPr>
            <a:r>
              <a:rPr lang="en-US" dirty="0"/>
              <a:t>Quick check: why divide by M_00 instead of just using M_10? Dividing by the area turns a sum into an average position.</a:t>
            </a:r>
          </a:p>
          <a:p>
            <a:pPr marL="0" lvl="0" indent="0" algn="l" rtl="0">
              <a:lnSpc>
                <a:spcPct val="100000"/>
              </a:lnSpc>
              <a:spcBef>
                <a:spcPts val="0"/>
              </a:spcBef>
              <a:spcAft>
                <a:spcPts val="600"/>
              </a:spcAft>
              <a:buSzPts val="1400"/>
              <a:buNone/>
            </a:pPr>
            <a:r>
              <a:rPr lang="en-US" dirty="0"/>
              <a:t>Next, you look at what the threshold actually produces.</a:t>
            </a: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text only, no figures. It says that once the image is converted to HSV, we apply a threshold. At every single pixel we ask: does this pixel's color fall within my target red range? (The slide words the question in terms of CIELAB.) If yes, the pixel becomes 1, shown as white. If no, it becomes 0, shown as black. The result is a binary mask: all useless data is thrown away and only the target representation is kept. The slide ends with a question: does thresholding tell us exactly where the ball is?</a:t>
            </a:r>
          </a:p>
          <a:p>
            <a:pPr marL="0" lvl="0" indent="0" algn="l" rtl="0">
              <a:lnSpc>
                <a:spcPct val="100000"/>
              </a:lnSpc>
              <a:spcBef>
                <a:spcPts val="0"/>
              </a:spcBef>
              <a:spcAft>
                <a:spcPts val="600"/>
              </a:spcAft>
              <a:buSzPts val="1400"/>
              <a:buNone/>
            </a:pPr>
            <a:r>
              <a:rPr lang="en-US" dirty="0"/>
              <a:t>This is the "binary threshold" box from the pipeline flowchart on the previous slide. In HSV the test is H_min &lt;= H &lt;= H_max, usually with minimum saturation and value limits as well, so dull or dark pixels are rejected. The slide mentions CIELAB, but the idea is identical in any color space: you pick a box of acceptable color coordinates and test each pixel against it. A 640 by 480 image collapses from three channels per pixel to a single yes or no per pixel, which is far cheaper to process on the Raspberry Pi.</a:t>
            </a:r>
          </a:p>
          <a:p>
            <a:pPr marL="0" lvl="0" indent="0" algn="l" rtl="0">
              <a:lnSpc>
                <a:spcPct val="100000"/>
              </a:lnSpc>
              <a:spcBef>
                <a:spcPts val="0"/>
              </a:spcBef>
              <a:spcAft>
                <a:spcPts val="600"/>
              </a:spcAft>
              <a:buSzPts val="1400"/>
              <a:buNone/>
            </a:pPr>
            <a:r>
              <a:rPr lang="en-US" dirty="0"/>
              <a:t>A common mistake with red is that hue wraps around. Red sits near both 0 and the top of the hue range (179 in OpenCV), so you often need two thresholds combined with OR. Lighting changes on the robot course also shift saturation and value, so tune your limits under the real lighting.</a:t>
            </a:r>
          </a:p>
          <a:p>
            <a:pPr marL="0" lvl="0" indent="0" algn="l" rtl="0">
              <a:lnSpc>
                <a:spcPct val="100000"/>
              </a:lnSpc>
              <a:spcBef>
                <a:spcPts val="0"/>
              </a:spcBef>
              <a:spcAft>
                <a:spcPts val="600"/>
              </a:spcAft>
              <a:buSzPts val="1400"/>
              <a:buNone/>
            </a:pPr>
            <a:r>
              <a:rPr lang="en-US" dirty="0"/>
              <a:t>Now answer the question. No, thresholding alone does not locate the ball. The mask tells you which pixels look red, but it does not tell you which pixels belong together. Stray noise pixels, a red shirt in the background, or two balls all appear as white. To find distinct objects, you next group the connected white pixels into blobs.</a:t>
            </a: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title, "Camera Vision," and four lines of text. A "Blob," short for Binary Large Object, is a contiguous group of connected white pixels in our binary mask. Blob detection algorithms scan the image to find these groupings and label them as distinct physical objects. Computationally, this is called Connected Component Labeling, or CCL. The slide ends with a question: what simple graph algorithm could help us?</a:t>
            </a:r>
          </a:p>
          <a:p>
            <a:pPr marL="0" lvl="0" indent="0" algn="l" rtl="0">
              <a:lnSpc>
                <a:spcPct val="100000"/>
              </a:lnSpc>
              <a:spcBef>
                <a:spcPts val="0"/>
              </a:spcBef>
              <a:spcAft>
                <a:spcPts val="600"/>
              </a:spcAft>
              <a:buSzPts val="1400"/>
              <a:buNone/>
            </a:pPr>
            <a:r>
              <a:rPr lang="en-US" dirty="0"/>
              <a:t>This answers the question from the previous slide. Thresholding alone does not tell you where the ball is. The binary mask only says, pixel by pixel, "this matches red" or "this does not." It has no idea that a few hundred white pixels belong to one ball, while a scattered handful belong to glare on the wall. Grouping pixels into objects is what lets you later compute an area and a centroid for each one.</a:t>
            </a:r>
          </a:p>
          <a:p>
            <a:pPr marL="0" lvl="0" indent="0" algn="l" rtl="0">
              <a:lnSpc>
                <a:spcPct val="100000"/>
              </a:lnSpc>
              <a:spcBef>
                <a:spcPts val="0"/>
              </a:spcBef>
              <a:spcAft>
                <a:spcPts val="600"/>
              </a:spcAft>
              <a:buSzPts val="1400"/>
              <a:buNone/>
            </a:pPr>
            <a:r>
              <a:rPr lang="en-US" dirty="0"/>
              <a:t>To see the graph connection, treat every white pixel as a node. Draw an edge between two white pixels whenever they are neighbors in the grid. Each blob is then simply a connected component of that graph.</a:t>
            </a:r>
          </a:p>
          <a:p>
            <a:pPr marL="0" lvl="0" indent="0" algn="l" rtl="0">
              <a:lnSpc>
                <a:spcPct val="100000"/>
              </a:lnSpc>
              <a:spcBef>
                <a:spcPts val="0"/>
              </a:spcBef>
              <a:spcAft>
                <a:spcPts val="600"/>
              </a:spcAft>
              <a:buSzPts val="1400"/>
              <a:buNone/>
            </a:pPr>
            <a:r>
              <a:rPr lang="en-US" dirty="0"/>
              <a:t>Before moving on, pause and let the class answer. The expected answer is a flood fill. Start at any unvisited white pixel, then run breadth-first search (BFS) or depth-first search (DFS) through its white neighbors. Every pixel you reach gets the same label. Repeat until no unlabeled white pixels remain. This is the same idea as the paint-bucket tool in an image editor.</a:t>
            </a:r>
          </a:p>
          <a:p>
            <a:pPr marL="0" lvl="0" indent="0" algn="l" rtl="0">
              <a:lnSpc>
                <a:spcPct val="100000"/>
              </a:lnSpc>
              <a:spcBef>
                <a:spcPts val="0"/>
              </a:spcBef>
              <a:spcAft>
                <a:spcPts val="600"/>
              </a:spcAft>
              <a:buSzPts val="1400"/>
              <a:buNone/>
            </a:pPr>
            <a:r>
              <a:rPr lang="en-US" dirty="0"/>
              <a:t>A quick check for you: are two white pixels that touch only at a corner part of the same blob? The answer depends on the connectivity rule you choose, which the next slide defines as 4-connectivity or 8-connectivity, along with the raster-scan and Union-Find version of the algorithm.</a:t>
            </a: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which simple graph algorithm helps find blobs? It is text only, listing four steps for the simplest Connected Component Labeling algorithm, plus a note that you can think of it as Breadth-First Search.</a:t>
            </a:r>
          </a:p>
          <a:p>
            <a:pPr marL="0" lvl="0" indent="0" algn="l" rtl="0">
              <a:lnSpc>
                <a:spcPct val="100000"/>
              </a:lnSpc>
              <a:spcBef>
                <a:spcPts val="0"/>
              </a:spcBef>
              <a:spcAft>
                <a:spcPts val="600"/>
              </a:spcAft>
              <a:buSzPts val="1400"/>
              <a:buNone/>
            </a:pPr>
            <a:r>
              <a:rPr lang="en-US" dirty="0"/>
              <a:t>Step one: the algorithm does a raster scan, visiting every pixel of the binary mask left to right and top to bottom, the way you read a page. Step two: when it finds a 1, a white pixel, it checks the neighboring pixels. With 4-connectivity the neighbors are only up, down, left and right. With 8-connectivity the four diagonals count too. The choice matters: two pixels that touch only at a corner form one blob under 8-connectivity but two blobs under 4-connectivity. Step three: if a neighbor is also a 1, both pixels get the same label, for example Object A. Step four: a Union-Find data structure merges labels. Picture a U-shaped blob. The scan reaches the two arms first and gives them different labels, then finds they join at the bottom. Union-Find records that the two labels are the same object, and a final pass rewrites them as one label.</a:t>
            </a:r>
          </a:p>
          <a:p>
            <a:pPr marL="0" lvl="0" indent="0" algn="l" rtl="0">
              <a:lnSpc>
                <a:spcPct val="100000"/>
              </a:lnSpc>
              <a:spcBef>
                <a:spcPts val="0"/>
              </a:spcBef>
              <a:spcAft>
                <a:spcPts val="600"/>
              </a:spcAft>
              <a:buSzPts val="1400"/>
              <a:buNone/>
            </a:pPr>
            <a:r>
              <a:rPr lang="en-US" dirty="0"/>
              <a:t>The BFS view treats every white pixel as a graph node with edges to its white neighbors. Start a search from any unlabeled white pixel, and everything it reaches is one blob. A common mistake is forgetting to mark pixels as visited, so the search revisits them over and over. Optimized library routines work differently, but they produce the same result.</a:t>
            </a:r>
          </a:p>
          <a:p>
            <a:pPr marL="0" lvl="0" indent="0" algn="l" rtl="0">
              <a:lnSpc>
                <a:spcPct val="100000"/>
              </a:lnSpc>
              <a:spcBef>
                <a:spcPts val="0"/>
              </a:spcBef>
              <a:spcAft>
                <a:spcPts val="600"/>
              </a:spcAft>
              <a:buSzPts val="1400"/>
              <a:buNone/>
            </a:pPr>
            <a:r>
              <a:rPr lang="en-US" dirty="0"/>
              <a:t>Next, you see that noise also forms blobs, so you need rules to filter them out.</a:t>
            </a: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Camera Vision. It makes one point: even after color filtering, random glare or background noise still creates small fake blobs. It asks how you would write a rule to ignore these false positives. The answer it gives has three parts. Filter each blob by area, meaning its total pixel count. Filter by shape, keeping blobs that look more like a circle. Then, in pseudocode, if Blob.Area &lt; MIN_THRESHOLD, discard the blob, and pass only the largest valid blob to the next step.</a:t>
            </a:r>
          </a:p>
          <a:p>
            <a:pPr marL="0" lvl="0" indent="0" algn="l" rtl="0">
              <a:lnSpc>
                <a:spcPct val="100000"/>
              </a:lnSpc>
              <a:spcBef>
                <a:spcPts val="0"/>
              </a:spcBef>
              <a:spcAft>
                <a:spcPts val="600"/>
              </a:spcAft>
              <a:buSzPts val="1400"/>
              <a:buNone/>
            </a:pPr>
            <a:r>
              <a:rPr lang="en-US" dirty="0"/>
              <a:t>On the previous slide, connected component labeling turned the binary mask into a list of labeled blobs. Some of those blobs are not the ball. A reflection off the floor or a red patch on a poster can pass the color threshold too. Area is the cheapest test to apply. A real ball near the camera covers hundreds or thousands of pixels, while a speck of glare covers only a few.</a:t>
            </a:r>
          </a:p>
          <a:p>
            <a:pPr marL="0" lvl="0" indent="0" algn="l" rtl="0">
              <a:lnSpc>
                <a:spcPct val="100000"/>
              </a:lnSpc>
              <a:spcBef>
                <a:spcPts val="0"/>
              </a:spcBef>
              <a:spcAft>
                <a:spcPts val="600"/>
              </a:spcAft>
              <a:buSzPts val="1400"/>
              <a:buNone/>
            </a:pPr>
            <a:r>
              <a:rPr lang="en-US" dirty="0"/>
              <a:t>For shape, one common measure is circularity: circularity = 4*pi*Area / Perimeter^2. It equals 1 for a perfect circle and gets smaller for elongated or ragged shapes.</a:t>
            </a:r>
          </a:p>
          <a:p>
            <a:pPr marL="0" lvl="0" indent="0" algn="l" rtl="0">
              <a:lnSpc>
                <a:spcPct val="100000"/>
              </a:lnSpc>
              <a:spcBef>
                <a:spcPts val="0"/>
              </a:spcBef>
              <a:spcAft>
                <a:spcPts val="600"/>
              </a:spcAft>
              <a:buSzPts val="1400"/>
              <a:buNone/>
            </a:pPr>
            <a:r>
              <a:rPr lang="en-US" dirty="0"/>
              <a:t>You have to tune MIN_THRESHOLD. If you set it too high, the ball disappears when it is far away and looks small. If you set it too low, noise gets through.</a:t>
            </a:r>
          </a:p>
          <a:p>
            <a:pPr marL="0" lvl="0" indent="0" algn="l" rtl="0">
              <a:lnSpc>
                <a:spcPct val="100000"/>
              </a:lnSpc>
              <a:spcBef>
                <a:spcPts val="0"/>
              </a:spcBef>
              <a:spcAft>
                <a:spcPts val="600"/>
              </a:spcAft>
              <a:buSzPts val="1400"/>
              <a:buNone/>
            </a:pPr>
            <a:r>
              <a:rPr lang="en-US" dirty="0"/>
              <a:t>Quick check: what happens if two valid blobs are present? The rule keeps only the largest one.</a:t>
            </a:r>
          </a:p>
          <a:p>
            <a:pPr marL="0" lvl="0" indent="0" algn="l" rtl="0">
              <a:lnSpc>
                <a:spcPct val="100000"/>
              </a:lnSpc>
              <a:spcBef>
                <a:spcPts val="0"/>
              </a:spcBef>
              <a:spcAft>
                <a:spcPts val="600"/>
              </a:spcAft>
              <a:buSzPts val="1400"/>
              <a:buNone/>
            </a:pPr>
            <a:r>
              <a:rPr lang="en-US" dirty="0"/>
              <a:t>With a single trusted blob, the next slide uses image moments to find its centroid, the (X, Y) location you use to steer the robot.</a:t>
            </a: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next question in the pipeline: you have found the blob that represents the red ball, so where is it? To steer the robot you need the ball's (X, Y) coordinate in the camera frame, and you get it by computing the blob's centroid, its center of mass.</a:t>
            </a:r>
          </a:p>
          <a:p>
            <a:pPr marL="0" lvl="0" indent="0" algn="l" rtl="0">
              <a:lnSpc>
                <a:spcPct val="100000"/>
              </a:lnSpc>
              <a:spcBef>
                <a:spcPts val="0"/>
              </a:spcBef>
              <a:spcAft>
                <a:spcPts val="600"/>
              </a:spcAft>
              <a:buSzPts val="1400"/>
              <a:buNone/>
            </a:pPr>
            <a:r>
              <a:rPr lang="en-US" dirty="0"/>
              <a:t>The slide introduces image moments as the tool for this. For a binary image I(x, y), the discrete image moment M_ij is defined as M_ij = sum over x of sum over y of x^i * y^j * I(x, y). In words: M sub i j equals the double sum, over every pixel column x and every pixel row y, of x to the power i, times y to the power j, times the pixel value at (x, y). The exponents i and j decide how strongly each pixel's position weights the sum.</a:t>
            </a:r>
          </a:p>
          <a:p>
            <a:pPr marL="0" lvl="0" indent="0" algn="l" rtl="0">
              <a:lnSpc>
                <a:spcPct val="100000"/>
              </a:lnSpc>
              <a:spcBef>
                <a:spcPts val="0"/>
              </a:spcBef>
              <a:spcAft>
                <a:spcPts val="600"/>
              </a:spcAft>
              <a:buSzPts val="1400"/>
              <a:buNone/>
            </a:pPr>
            <a:r>
              <a:rPr lang="en-US" dirty="0"/>
              <a:t>The slide then sets i = 0 and j = 0 to get the zeroth moment: M_00 = sum over x of sum over y of I(x, y). Here x^0 and y^0 are both 1, so position drops out entirely. Because every pixel in the binary mask is either 1 (white, part of the blob) or 0 (black), M_00 is simply a count of the white pixels. The slide states this directly: M_00 equals the area of the blob.</a:t>
            </a:r>
          </a:p>
          <a:p>
            <a:pPr marL="0" lvl="0" indent="0" algn="l" rtl="0">
              <a:lnSpc>
                <a:spcPct val="100000"/>
              </a:lnSpc>
              <a:spcBef>
                <a:spcPts val="0"/>
              </a:spcBef>
              <a:spcAft>
                <a:spcPts val="600"/>
              </a:spcAft>
              <a:buSzPts val="1400"/>
              <a:buNone/>
            </a:pPr>
            <a:r>
              <a:rPr lang="en-US" dirty="0"/>
              <a:t>This is the same area you used on the previous slide to discard small noise blobs below MIN_THRESHOLD, so one quantity serves both filtering and localization. Make sure you run the moments only on the single largest valid blob, not the whole mask. Otherwise leftover glare pixels pull the centroid off the ball.</a:t>
            </a:r>
          </a:p>
          <a:p>
            <a:pPr marL="0" lvl="0" indent="0" algn="l" rtl="0">
              <a:lnSpc>
                <a:spcPct val="100000"/>
              </a:lnSpc>
              <a:spcBef>
                <a:spcPts val="0"/>
              </a:spcBef>
              <a:spcAft>
                <a:spcPts val="600"/>
              </a:spcAft>
              <a:buSzPts val="1400"/>
              <a:buNone/>
            </a:pPr>
            <a:r>
              <a:rPr lang="en-US" dirty="0"/>
              <a:t>On the next slide, the first-order moments M_10 and M_01 give the position-weighted sums. Dividing them by M_00 gives the centroid.</a:t>
            </a: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centroid calculation from the previous slide, where you saw that the zeroth moment, M_00, is the total number of white pixels in the blob, its area. To locate the center, you also need the two first-order moments, M_10 and M_01.</a:t>
            </a:r>
          </a:p>
          <a:p>
            <a:pPr marL="0" lvl="0" indent="0" algn="l" rtl="0">
              <a:lnSpc>
                <a:spcPct val="100000"/>
              </a:lnSpc>
              <a:spcBef>
                <a:spcPts val="0"/>
              </a:spcBef>
              <a:spcAft>
                <a:spcPts val="600"/>
              </a:spcAft>
              <a:buSzPts val="1400"/>
              <a:buNone/>
            </a:pPr>
            <a:r>
              <a:rPr lang="en-US" dirty="0"/>
              <a:t>The slide defines them. M_10 = sum over x, sum over y, of x*I(x,y), read "M one zero equals the double sum over x and y of x times I of x comma y." This is the sum of the x-coordinates of all the white pixels. Similarly, M_01 = sum over x, sum over y, of y*I(x,y), the sum of the y-coordinates of all the white pixels. Because I(x,y) is 1 for a white pixel and 0 for a black one, only blob pixels contribute. The slide calls these "weighted spatial totals."</a:t>
            </a:r>
          </a:p>
          <a:p>
            <a:pPr marL="0" lvl="0" indent="0" algn="l" rtl="0">
              <a:lnSpc>
                <a:spcPct val="100000"/>
              </a:lnSpc>
              <a:spcBef>
                <a:spcPts val="0"/>
              </a:spcBef>
              <a:spcAft>
                <a:spcPts val="600"/>
              </a:spcAft>
              <a:buSzPts val="1400"/>
              <a:buNone/>
            </a:pPr>
            <a:r>
              <a:rPr lang="en-US" dirty="0"/>
              <a:t>The slide then gives the center pixel (x_bar, y_bar) as the spatial totals divided by the area: x_bar = M_10 / M_00 and y_bar = M_01 / M_00. In other words, the center is the average x and the average y of the blob's pixels, which is exactly a center of mass with equal weight on every pixel.</a:t>
            </a:r>
          </a:p>
          <a:p>
            <a:pPr marL="0" lvl="0" indent="0" algn="l" rtl="0">
              <a:lnSpc>
                <a:spcPct val="100000"/>
              </a:lnSpc>
              <a:spcBef>
                <a:spcPts val="0"/>
              </a:spcBef>
              <a:spcAft>
                <a:spcPts val="600"/>
              </a:spcAft>
              <a:buSzPts val="1400"/>
              <a:buNone/>
            </a:pPr>
            <a:r>
              <a:rPr lang="en-US" dirty="0"/>
              <a:t>As a quick example, take three white pixels at (10,5), (11,5) and (12,5). Then M_00 = 3, M_10 = 33 and M_01 = 15, so the centroid is (11, 5).</a:t>
            </a:r>
          </a:p>
          <a:p>
            <a:pPr marL="0" lvl="0" indent="0" algn="l" rtl="0">
              <a:lnSpc>
                <a:spcPct val="100000"/>
              </a:lnSpc>
              <a:spcBef>
                <a:spcPts val="0"/>
              </a:spcBef>
              <a:spcAft>
                <a:spcPts val="600"/>
              </a:spcAft>
              <a:buSzPts val="1400"/>
              <a:buNone/>
            </a:pPr>
            <a:r>
              <a:rPr lang="en-US" dirty="0"/>
              <a:t>A common mistake in code is forgetting that M_00 can be zero when no valid blob is found. Check for this before dividing. Also remember that in image coordinates, x is the column and y is the row, measured from the top-left corner.</a:t>
            </a:r>
          </a:p>
          <a:p>
            <a:pPr marL="0" lvl="0" indent="0" algn="l" rtl="0">
              <a:lnSpc>
                <a:spcPct val="100000"/>
              </a:lnSpc>
              <a:spcBef>
                <a:spcPts val="0"/>
              </a:spcBef>
              <a:spcAft>
                <a:spcPts val="600"/>
              </a:spcAft>
              <a:buSzPts val="1400"/>
              <a:buNone/>
            </a:pPr>
            <a:r>
              <a:rPr lang="en-US" dirty="0"/>
              <a:t>Next, you use x_bar to compute a steering error relative to the image center.</a:t>
            </a: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carries on from the image moments. Now that you have the centroid (x-bar, y-bar), you can turn it into a steering command. The slide uses an image 640 by 480 pixels, so the center of the camera is pixel (320, 240). If the centroid is at x-bar = 500, the ball is to the right of the robot. The error is e = x_bar - X_center = 500 - 320 = 180 pixels. You pass this error to a PI controller that turns the robot to face the target.</a:t>
            </a:r>
          </a:p>
          <a:p>
            <a:pPr marL="0" lvl="0" indent="0" algn="l" rtl="0">
              <a:lnSpc>
                <a:spcPct val="100000"/>
              </a:lnSpc>
              <a:spcBef>
                <a:spcPts val="0"/>
              </a:spcBef>
              <a:spcAft>
                <a:spcPts val="600"/>
              </a:spcAft>
              <a:buSzPts val="1400"/>
              <a:buNone/>
            </a:pPr>
            <a:r>
              <a:rPr lang="en-US" dirty="0"/>
              <a:t>The key idea is that the camera has become a sensor that measures how far the target is from straight ahead. In pixel coordinates the origin is the top-left corner and x increases to the right. A centroid with x greater than 320 is therefore right of center, and one with x less than 320 is left of center. The error is zero when the ball is centered horizontally.</a:t>
            </a:r>
          </a:p>
          <a:p>
            <a:pPr marL="0" lvl="0" indent="0" algn="l" rtl="0">
              <a:lnSpc>
                <a:spcPct val="100000"/>
              </a:lnSpc>
              <a:spcBef>
                <a:spcPts val="0"/>
              </a:spcBef>
              <a:spcAft>
                <a:spcPts val="600"/>
              </a:spcAft>
              <a:buSzPts val="1400"/>
              <a:buNone/>
            </a:pPr>
            <a:r>
              <a:rPr lang="en-US" dirty="0"/>
              <a:t>This is the same feedback structure you have used all semester. Earlier the error was a wheel speed or wall distance; here it is pixels. The PI controller output becomes a turn command, for example a difference added to one wheel's speed and subtracted from the other's. The proportional term turns the robot faster when the ball is far off center. The integral term removes the small steady offset that would otherwise remain.</a:t>
            </a:r>
          </a:p>
          <a:p>
            <a:pPr marL="0" lvl="0" indent="0" algn="l" rtl="0">
              <a:lnSpc>
                <a:spcPct val="100000"/>
              </a:lnSpc>
              <a:spcBef>
                <a:spcPts val="0"/>
              </a:spcBef>
              <a:spcAft>
                <a:spcPts val="600"/>
              </a:spcAft>
              <a:buSzPts val="1400"/>
              <a:buNone/>
            </a:pPr>
            <a:r>
              <a:rPr lang="en-US" dirty="0"/>
              <a:t>Common mistakes: check the sign of the error. If the robot turns away from the ball, your sign is flipped. Also guard against a blob area M00 of zero, which means no ball was found, so the centroid would divide by zero.</a:t>
            </a:r>
          </a:p>
          <a:p>
            <a:pPr marL="0" lvl="0" indent="0" algn="l" rtl="0">
              <a:lnSpc>
                <a:spcPct val="100000"/>
              </a:lnSpc>
              <a:spcBef>
                <a:spcPts val="0"/>
              </a:spcBef>
              <a:spcAft>
                <a:spcPts val="600"/>
              </a:spcAft>
              <a:buSzPts val="1400"/>
              <a:buNone/>
            </a:pPr>
            <a:r>
              <a:rPr lang="en-US" dirty="0"/>
              <a:t>Next you see this running in a video demo.</a:t>
            </a: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YouTube video, "Computer Vision Blob Detection" by Marius Juston, that animates the blob detection pipeline. The frame shown is titled "Perform BFS on each pixel," BFS meaning breadth-first search. It shows a 10 by 11 grid of binary pixels. Background pixels are 0. A green 3 by 3 blob is labeled group 1 with 9 pixels, and a larger teal blob is labeled group 2 with 25 pixels. Circles mark each blob's centroid.</a:t>
            </a:r>
          </a:p>
          <a:p>
            <a:pPr marL="0" lvl="0" indent="0" algn="l" rtl="0">
              <a:lnSpc>
                <a:spcPct val="100000"/>
              </a:lnSpc>
              <a:spcBef>
                <a:spcPts val="0"/>
              </a:spcBef>
              <a:spcAft>
                <a:spcPts val="600"/>
              </a:spcAft>
              <a:buSzPts val="1400"/>
              <a:buNone/>
            </a:pPr>
            <a:r>
              <a:rPr lang="en-US" dirty="0"/>
              <a:t>For the teal blob, the moments are M00 (area) = 25, M10 = 124 and M01 = 190. That gives x-bar = 124/25 = 4.96 and y-bar = 190/25 = 7.60, the same calculation from the previous slides. As you watch, notice how BFS labels connected pixels, and how keeping the largest group rejects small noise blobs before you compute the error for the controller.</a:t>
            </a: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a dark blue background. Faint hand-drawn sketches of a cube, equations, molecules and an arrow diagram fill the background, with the Illinois logo in the corner and the footer "Systems Engineering" and "Grainger Engineering."</a:t>
            </a:r>
          </a:p>
          <a:p>
            <a:pPr marL="0" lvl="0" indent="0" algn="l" rtl="0">
              <a:spcBef>
                <a:spcPts val="0"/>
              </a:spcBef>
              <a:spcAft>
                <a:spcPts val="600"/>
              </a:spcAft>
              <a:buNone/>
            </a:pPr>
            <a:r>
              <a:rPr lang="en-US" dirty="0"/>
              <a:t>This is the pause for questions on today's vision pipeline. You captured an image, thresholded it by color, found a blob's centroid, and turned the centroid's pixel offset from the image center into an error for a PI turning controller, as the video demonstrated. Check yourself: if the centroid is left of center, what sign is your error?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17. It shows the Grainger College of Engineering logo, the block "I" with the words "University of Illinois Urbana-Champaign," on an orange background. Faint hand-drawn sketches fill the background: a cube with flux equations, a sphere, chemical structures and an arrow diagram.</a:t>
            </a:r>
          </a:p>
          <a:p>
            <a:pPr marL="0" lvl="0" indent="0" algn="l" rtl="0">
              <a:spcBef>
                <a:spcPts val="0"/>
              </a:spcBef>
              <a:spcAft>
                <a:spcPts val="600"/>
              </a:spcAft>
              <a:buNone/>
            </a:pPr>
            <a:r>
              <a:rPr lang="en-US" dirty="0"/>
              <a:t>Today you covered how cameras capture images, how color is represented, and how blob detection finds objects. As you leave, think about how you would pick a color threshold so your robot reliably detects a target blob.</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Optical illusion: a fine green-and-white checkerboard with two pinkish-red diagonal stripes, made of small squares, crossing in an X slightly above center. The stripes look wavy and bent, and the one from upper left to lower right looks lighter pink while the one from lower left to upper right looks deeper red. The checkerboard pattern behind them creates these impressions of color and straightness that the slide's questions ask about.">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tical illusion: a grid of alternating pale blue and gray squares in rows, separated by horizontal medium-blue bands dotted with dark blue diamonds. Small black-and-white checkered diamonds sit at the square corners, making the horizontal bands appear to wave and tilt, though they are actually straight and parallel. The pattern uses only about six colors: pale blue, medium blue, dark blue, gray, black and white.">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Cover of the textbook Foundations of Computer Vision by Antonio Torralba, Phillip Isola, and William T. Freeman, decorated with a mosaic of colored pixel squares.">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Annotated die photo of a CMOS image sensor chip, with a large central active pixel sensor color imaging array taking up most of the die. A magnified inset shows the Bayer mosaic filter pattern of alternating red, green, and blue pixels, with green most frequent. Analog-to-digital conversion circuitry runs along the top edge. Analog signal processing and clock and timing control sit on the right side. A digital logic block for interface, timing, processing, and output runs along the bottom. A pad ring surrounds the whole die.">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Block diagram: a CMOS image sensor chip connected to the camera's printed circuit board, which holds a connector and bias decoupling. On the sensor, a 5 by 5 pixel array performs photon-to-electron and electron-to-voltage conversion within each pixel. Row drivers and row access select pixel rows, and column amps and a column mux read them out. Signals then pass through gain, analog-to-digital conversion and a line driver to the frame grabber. Bias generation, clock and timing generation, and an oscillator are also on-chip.">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CMOS image sensor readout architecture. A row decoder on the left drives horizontal word lines across a pixel array. Each pixel, containing a photodetector and readout transistors, connects to a word line and to a vertical bit line. The bit lines run down into a row of column amplifiers and capacitors, which feed a column multiplexer. The multiplexer sends selected pixel values through an output amplifier to a single output line.">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Block diagram: a camera circuit board (connector, bias decoupling) feeds a CMOS image sensor chip. On the chip, bias generation, clock and timing, an oscillator, row drivers and row access control a 5-by-5 pixel array. In each pixel a photodiode converts photons to electrons, and transistors convert the electrons to a voltage. Column lines pass through column bias and sampling, then a column mux, gain stage, analog-to-digital converter and line driver send the image to a frame grabber.">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descr="Three photosites side by side, each with red, green and blue light arrows arriving from above. The first has a red filter, the second a green filter, the third a blue filter, and only the light matching each filter's color passes through to the gray photodiode beneath. Below each photosite is a black square, likely representing that pixel's output, which records only the intensity of its one passed color.">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Isometric view of a Bayer color filter array: a checkerboard of red, green and blue filter squares, one per pixel, sitting on a black sensor surface, partly cut away to expose it. Rows alternate between green-red and blue-green, so each 2 by 2 block has two green, one red and one blue filter. Half the pixels sense green and a quarter each sense red and blue.">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normalized response of the eye's three cone types versus wavelength, 400 to 700 nanometers. The S cone peaks near 440 nm and falls to near zero by 530 nm. The M and L cones overlap heavily, peaking near 545 nm and 570 nm, so the eye's combined sensitivity is greatest in the green region around 550 nm. The L cone extends furthest into the red, fading by about 700 nm.">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Five numbered versions of a flower photo of red, yellow, white and purple tulips, illustrating demosaicing. 1: the original full-color scene. 2: raw grayscale output of a low-resolution sensor with a Bayer filter, showing a checkerboard pattern. 3: the same raw data tinted red, green and blue by each pixel's filter color. 4: the image reconstructed by interpolating the missing colors, which is blurrier, with color bleeding along petal edges. 5: a full-color image at the same resolution for comparison, with sharper edges and no fringing.">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RGB color cube with Red, Green and Blue axes, each divided into five intensity steps. Black sits at the origin; pure red, green and blue lie at the ends of each axis; yellow, cyan and magenta sit at corners where two primaries are at full intensity; white is where all three are at full intensity. A highlighted point inside the cube at R equals 1/5, G equals 3/5, B equals 4/5 is a medium sky blue.">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(19/33)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descr="HSV color space drawn as a cylinder with a wedge cut out to show its interior. Hue is the angle around the vertical axis, cycling red, yellow, green, cyan, blue, magenta. Saturation is the distance from the center, running from gray or white on the axis to pure color at the outer edge. Value is height, from black at the bottom to full brightness at the top. A shadow mainly lowers value, while hue stays at the same angle.">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hoto, the original color version used for the lightness comparison: a fire breather in a sequined dark red costume kneels on a wet stage and blows a large, bright yellow-orange fireball, with drummers in red robes and spectators behind. The saturated yellow flame against deep reds and dark background makes the differences between the HSV value, HSL lightness and CIELAB L-star grayscale versions easy to see.">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Photo, grayscale version: a street performer leaning back on wet pavement breathes a large plume of fire while drummers in long robes play behind him and spectators watch. The flame is the brightest region, while the performer's face, beaded necklaces, drums and background figures keep clear midtone detail. This is one of the grayscale renderings being compared for how well its lightness matches the original color image.">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hoto, grayscale: one of the lightness renderings compared on this slide, of a performer in a beaded costume leaning back on a wet stage and breathing a large plume of fire, with two drummers and spectators behind. The flame is near-white, while skin, clothing, drums and background stay distinguishable mid-grays, so the conversion keeps natural-looking brightness and detail across the scene.">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descr="Photo, grayscale: a kneeling fire breather blows a large, bright plume of flame across the frame while drummers play behind them, an example image for comparing how converting color to grayscale with HSV value, HSL lightness or CIELAB L-star changes perceived brightness relative to the original color photo.">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(24/33)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descr="Plot: the boundary of all physically possible surface colors under D65 daylight, viewed from the side as lightness L star (0 to 100, vertical) versus a star (horizontal). The solid narrows to black at L star 0 and to white at L star 100. Greens reach about a star minus 170 near L star 50, yellow sits near the top around L star 95, red and magenta extend to about plus 130, and dark violet-blue reaches about plus 145 at low lightness near L star 10.">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descr="Plot: top-down view of the optimal-color solid under D65 light in CIELAB, a* horizontal and b* vertical, each from minus 150 to 150. Colors fade to white near the origin and saturate outward. Green extends farthest left (a* about minus 170), yellow peaks at top (b* about 145), red and magenta lie right near a* 85 to 130, violet-blue reaches lower right (a* about 145, b* about minus 125), and cyan sits lower left. The gamut is lopsided, not circular.">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(25/33)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Flowchart, four stages: CMOS array converts photons to voltage through a Bayer filter with a 1 red, 2 green, 1 blue mosaic. Bilinear demosaicing, RGB to HSV conversion, and a binary threshold, H min less than or equal to H less than or equal to H max. Connected-component blob detection, area filtering of noise, and centroid from image moments: x bar equals M one zero over M zero zero, y bar equals M zero one over M zero zero. Error e of t equals x bar minus X center feeds a PI controller, u of t equals K p e plus K i times the integral of e d t, producing PWM commands v left and v right.">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(26/33)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(27/33)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(28/33)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(29/33)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(30/33)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(31/33)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(32/33)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 (33/33)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descr="YouTube video: Computer Vision Blob Detection (Marius Just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dc:title>SE 423 Lecture 17: Vision Processing, Cameras, Blob Detection</dc:title>
</cp:coreProperties>
</file>