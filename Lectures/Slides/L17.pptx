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5"/>
  </p:notesMasterIdLst>
  <p:sldIdLst>
    <p:sldId id="256" r:id="rId2"/>
    <p:sldId id="417" r:id="rId3"/>
    <p:sldId id="413" r:id="rId4"/>
    <p:sldId id="272" r:id="rId5"/>
    <p:sldId id="258" r:id="rId6"/>
    <p:sldId id="418" r:id="rId7"/>
    <p:sldId id="420" r:id="rId8"/>
    <p:sldId id="421" r:id="rId9"/>
    <p:sldId id="422" r:id="rId10"/>
    <p:sldId id="259" r:id="rId11"/>
    <p:sldId id="260" r:id="rId12"/>
    <p:sldId id="261" r:id="rId13"/>
    <p:sldId id="262" r:id="rId14"/>
    <p:sldId id="263" r:id="rId15"/>
    <p:sldId id="264" r:id="rId16"/>
    <p:sldId id="265" r:id="rId17"/>
    <p:sldId id="266" r:id="rId18"/>
    <p:sldId id="267" r:id="rId19"/>
    <p:sldId id="268" r:id="rId20"/>
    <p:sldId id="269" r:id="rId21"/>
    <p:sldId id="257" r:id="rId22"/>
    <p:sldId id="271" r:id="rId23"/>
    <p:sldId id="270" r:id="rId2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3" d="2"/>
        <a:sy n="3" d="2"/>
      </p:scale>
      <p:origin x="-6" y="-18"/>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customschemas.google.com/relationships/presentationmetadata" Target="meta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6ADE6F-99B4-9799-2C41-4011DF8B3C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369389-D210-000B-6FED-F008667A34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5D55EF0-218F-71C2-453B-6639DB719D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9156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E2BE17-991A-AC6E-BA8B-434897DBFB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90597E-F7E7-34EB-3971-CBD5DFB292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ADBA60-6486-DBA1-C367-658AA5E2A2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1541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F57B8-6FC4-8816-4B2E-FA116D5A38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5461E9-4CC0-00FA-DE74-4ACADC1296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19DDE7-BB41-407B-7F40-F49FA674B4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846550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https://michaelbach.de/ot/" TargetMode="External"/><Relationship Id="rId5" Type="http://schemas.openxmlformats.org/officeDocument/2006/relationships/image" Target="../media/image5.png"/><Relationship Id="rId4" Type="http://schemas.openxmlformats.org/officeDocument/2006/relationships/image" Target="../media/image4.gif"/></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hyperlink" Target="https://visionbook.mit.edu/"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9.jpe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17: Vision Processing, Cameras, Blob Detection</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DATE</a:t>
            </a:r>
            <a:endParaRPr sz="1800" b="0" i="0" u="none" strike="noStrike" cap="none">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What does RGB stand for?</a:t>
            </a:r>
          </a:p>
          <a:p>
            <a:pPr marL="285750" indent="-285750">
              <a:lnSpc>
                <a:spcPct val="100000"/>
              </a:lnSpc>
              <a:spcBef>
                <a:spcPts val="0"/>
              </a:spcBef>
              <a:buSzPts val="3000"/>
            </a:pPr>
            <a:r>
              <a:rPr lang="en-US" sz="2400" dirty="0">
                <a:latin typeface="Arial"/>
                <a:ea typeface="Arial"/>
                <a:cs typeface="Arial"/>
                <a:sym typeface="Arial"/>
              </a:rPr>
              <a:t>How many colors are there? Are the lines straight?</a:t>
            </a: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a:extLst>
              <a:ext uri="{FF2B5EF4-FFF2-40B4-BE49-F238E27FC236}">
                <a16:creationId xmlns:a16="http://schemas.microsoft.com/office/drawing/2014/main" id="{5C9ED0E5-D2F3-6859-05CA-DBB780B2AEF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7279" y="2870951"/>
            <a:ext cx="3654112" cy="281366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24A77EEA-1740-B395-D98B-8393E536A5FE}"/>
              </a:ext>
            </a:extLst>
          </p:cNvPr>
          <p:cNvPicPr>
            <a:picLocks noChangeAspect="1"/>
          </p:cNvPicPr>
          <p:nvPr/>
        </p:nvPicPr>
        <p:blipFill>
          <a:blip r:embed="rId5"/>
          <a:stretch>
            <a:fillRect/>
          </a:stretch>
        </p:blipFill>
        <p:spPr>
          <a:xfrm>
            <a:off x="6167022" y="2870951"/>
            <a:ext cx="4118907" cy="2945301"/>
          </a:xfrm>
          <a:prstGeom prst="rect">
            <a:avLst/>
          </a:prstGeom>
        </p:spPr>
      </p:pic>
      <p:sp>
        <p:nvSpPr>
          <p:cNvPr id="5" name="TextBox 4">
            <a:extLst>
              <a:ext uri="{FF2B5EF4-FFF2-40B4-BE49-F238E27FC236}">
                <a16:creationId xmlns:a16="http://schemas.microsoft.com/office/drawing/2014/main" id="{E925A56A-A2DB-7BA7-00B2-27F8A193BF16}"/>
              </a:ext>
            </a:extLst>
          </p:cNvPr>
          <p:cNvSpPr txBox="1"/>
          <p:nvPr/>
        </p:nvSpPr>
        <p:spPr>
          <a:xfrm>
            <a:off x="2973698" y="6101038"/>
            <a:ext cx="5716250" cy="307777"/>
          </a:xfrm>
          <a:prstGeom prst="rect">
            <a:avLst/>
          </a:prstGeom>
          <a:noFill/>
        </p:spPr>
        <p:txBody>
          <a:bodyPr wrap="square">
            <a:spAutoFit/>
          </a:bodyPr>
          <a:lstStyle/>
          <a:p>
            <a:pPr algn="ctr"/>
            <a:r>
              <a:rPr lang="en-US" dirty="0"/>
              <a:t>check out </a:t>
            </a:r>
            <a:r>
              <a:rPr lang="en-US" dirty="0">
                <a:hlinkClick r:id="rId6"/>
              </a:rPr>
              <a:t>https://michaelbach.de/ot/</a:t>
            </a:r>
            <a:r>
              <a:rPr lang="en-US" dirty="0"/>
              <a:t> for a bunch of optical illusions!</a:t>
            </a:r>
          </a:p>
        </p:txBody>
      </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rial"/>
                <a:ea typeface="Arial"/>
                <a:cs typeface="Arial"/>
                <a:sym typeface="Arial"/>
              </a:rPr>
              <a:t>Don’t forget to have the Lab LabVIEW application implemented before lab.</a:t>
            </a:r>
          </a:p>
          <a:p>
            <a:pPr marL="285750" indent="-285750">
              <a:lnSpc>
                <a:spcPct val="100000"/>
              </a:lnSpc>
              <a:spcBef>
                <a:spcPts val="0"/>
              </a:spcBef>
              <a:buSzPts val="3000"/>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4</a:t>
            </a:r>
            <a:r>
              <a:rPr lang="en-US" sz="1800" dirty="0">
                <a:latin typeface="Arial"/>
                <a:ea typeface="Arial"/>
                <a:cs typeface="Arial"/>
                <a:sym typeface="Arial"/>
              </a:rPr>
              <a:t> Ex 2 and 3 are due </a:t>
            </a:r>
            <a:r>
              <a:rPr lang="en-US" sz="1800" b="1" dirty="0">
                <a:latin typeface="Arial"/>
                <a:ea typeface="Arial"/>
                <a:cs typeface="Arial"/>
                <a:sym typeface="Arial"/>
              </a:rPr>
              <a:t>March 31,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4</a:t>
            </a:r>
            <a:r>
              <a:rPr lang="en-US" sz="1800" dirty="0">
                <a:latin typeface="Arial"/>
                <a:ea typeface="Arial"/>
                <a:cs typeface="Arial"/>
                <a:sym typeface="Arial"/>
              </a:rPr>
              <a:t> Ex 4 are due </a:t>
            </a:r>
            <a:r>
              <a:rPr lang="en-US" sz="1800" b="1" dirty="0">
                <a:latin typeface="Arial"/>
                <a:ea typeface="Arial"/>
                <a:cs typeface="Arial"/>
                <a:sym typeface="Arial"/>
              </a:rPr>
              <a:t>April 7, 5PM (The end of office hours)</a:t>
            </a:r>
          </a:p>
          <a:p>
            <a:pPr marL="285750" indent="-285750">
              <a:lnSpc>
                <a:spcPct val="100000"/>
              </a:lnSpc>
              <a:spcBef>
                <a:spcPts val="0"/>
              </a:spcBef>
              <a:buSzPts val="3000"/>
            </a:pPr>
            <a:r>
              <a:rPr lang="en-US" sz="1800" dirty="0">
                <a:latin typeface="Arial"/>
                <a:ea typeface="Arial"/>
                <a:cs typeface="Arial"/>
                <a:sym typeface="Arial"/>
              </a:rPr>
              <a:t>Remainder of </a:t>
            </a:r>
            <a:r>
              <a:rPr lang="en-US" sz="1800" dirty="0">
                <a:latin typeface="Arial"/>
                <a:ea typeface="Arial"/>
                <a:cs typeface="Arial"/>
                <a:sym typeface="Arial"/>
                <a:hlinkClick r:id="rId3"/>
              </a:rPr>
              <a:t>homework 4</a:t>
            </a:r>
            <a:r>
              <a:rPr lang="en-US" sz="1800" dirty="0">
                <a:latin typeface="Arial"/>
                <a:ea typeface="Arial"/>
                <a:cs typeface="Arial"/>
                <a:sym typeface="Arial"/>
              </a:rPr>
              <a:t> due on </a:t>
            </a:r>
            <a:r>
              <a:rPr lang="en-US" sz="1800" dirty="0" err="1">
                <a:latin typeface="Arial"/>
                <a:ea typeface="Arial"/>
                <a:cs typeface="Arial"/>
                <a:sym typeface="Arial"/>
              </a:rPr>
              <a:t>Gradescope</a:t>
            </a:r>
            <a:r>
              <a:rPr lang="en-US" sz="1800" dirty="0">
                <a:latin typeface="Arial"/>
                <a:ea typeface="Arial"/>
                <a:cs typeface="Arial"/>
                <a:sym typeface="Arial"/>
              </a:rPr>
              <a:t> on </a:t>
            </a:r>
            <a:r>
              <a:rPr lang="en-US" sz="1800" b="1" dirty="0">
                <a:latin typeface="Arial"/>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Computer Vision</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72812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I would </a:t>
            </a:r>
            <a:r>
              <a:rPr lang="en-US" sz="2400" b="1" dirty="0">
                <a:latin typeface="Arial"/>
                <a:ea typeface="Arial"/>
                <a:cs typeface="Arial"/>
                <a:sym typeface="Arial"/>
              </a:rPr>
              <a:t>HIGHLY</a:t>
            </a:r>
            <a:r>
              <a:rPr lang="en-US" sz="2400" dirty="0">
                <a:latin typeface="Arial"/>
                <a:ea typeface="Arial"/>
                <a:cs typeface="Arial"/>
                <a:sym typeface="Arial"/>
              </a:rPr>
              <a:t> recommend you looking at: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342900">
              <a:lnSpc>
                <a:spcPct val="100000"/>
              </a:lnSpc>
              <a:spcBef>
                <a:spcPts val="0"/>
              </a:spcBef>
              <a:buSzPts val="3000"/>
            </a:pPr>
            <a:r>
              <a:rPr lang="en-US" sz="2400" dirty="0">
                <a:latin typeface="Arial"/>
                <a:ea typeface="Arial"/>
                <a:cs typeface="Arial"/>
                <a:sym typeface="Arial"/>
                <a:hlinkClick r:id="rId3"/>
              </a:rPr>
              <a:t>https://visionbook.mit.edu/</a:t>
            </a:r>
            <a:r>
              <a:rPr lang="en-US" sz="2400" dirty="0">
                <a:latin typeface="Arial"/>
                <a:ea typeface="Arial"/>
                <a:cs typeface="Arial"/>
                <a:sym typeface="Arial"/>
              </a:rPr>
              <a:t> </a:t>
            </a:r>
          </a:p>
          <a:p>
            <a:pPr marL="342900">
              <a:lnSpc>
                <a:spcPct val="100000"/>
              </a:lnSpc>
              <a:spcBef>
                <a:spcPts val="0"/>
              </a:spcBef>
              <a:buSzPts val="3000"/>
            </a:pPr>
            <a:endParaRPr lang="en-US" sz="2400" dirty="0">
              <a:solidFill>
                <a:schemeClr val="dk1"/>
              </a:solidFill>
              <a:latin typeface="Arial"/>
              <a:ea typeface="Arial"/>
              <a:cs typeface="Arial"/>
              <a:sym typeface="Arial"/>
            </a:endParaRPr>
          </a:p>
          <a:p>
            <a:pPr marL="342900">
              <a:lnSpc>
                <a:spcPct val="100000"/>
              </a:lnSpc>
              <a:spcBef>
                <a:spcPts val="0"/>
              </a:spcBef>
              <a:buSzPts val="3000"/>
            </a:pPr>
            <a:r>
              <a:rPr lang="en-US" sz="2400" dirty="0">
                <a:latin typeface="Arial"/>
                <a:ea typeface="Arial"/>
                <a:cs typeface="Arial"/>
                <a:sym typeface="Arial"/>
              </a:rPr>
              <a:t>The webpage is a textbook with all the math, background and information for computer vision. </a:t>
            </a:r>
          </a:p>
          <a:p>
            <a:pPr marL="342900">
              <a:lnSpc>
                <a:spcPct val="100000"/>
              </a:lnSpc>
              <a:spcBef>
                <a:spcPts val="0"/>
              </a:spcBef>
              <a:buSzPts val="3000"/>
            </a:pPr>
            <a:r>
              <a:rPr lang="en-US" sz="2400" dirty="0">
                <a:latin typeface="Arial"/>
                <a:ea typeface="Arial"/>
                <a:cs typeface="Arial"/>
                <a:sym typeface="Arial"/>
              </a:rPr>
              <a:t>We will only be doing a tiny portion of this in this lecture (there are whole grad classes for computer vision).</a:t>
            </a:r>
          </a:p>
          <a:p>
            <a:pPr marL="342900">
              <a:lnSpc>
                <a:spcPct val="100000"/>
              </a:lnSpc>
              <a:spcBef>
                <a:spcPts val="0"/>
              </a:spcBef>
              <a:buSzPts val="3000"/>
            </a:pPr>
            <a:endParaRPr lang="en-US" sz="2400" dirty="0">
              <a:latin typeface="Arial"/>
              <a:ea typeface="Arial"/>
              <a:cs typeface="Arial"/>
              <a:sym typeface="Arial"/>
            </a:endParaRPr>
          </a:p>
          <a:p>
            <a:pPr marL="342900">
              <a:lnSpc>
                <a:spcPct val="100000"/>
              </a:lnSpc>
              <a:spcBef>
                <a:spcPts val="0"/>
              </a:spcBef>
              <a:buSzPts val="3000"/>
            </a:pPr>
            <a:r>
              <a:rPr lang="en-US" sz="2400" dirty="0">
                <a:latin typeface="Arial"/>
                <a:ea typeface="Arial"/>
                <a:cs typeface="Arial"/>
                <a:sym typeface="Arial"/>
              </a:rPr>
              <a:t>It is containerized very nicely, has lots of pictures, diagrams. Each section takes 5 minutes to read.</a:t>
            </a:r>
          </a:p>
          <a:p>
            <a:pPr marL="0" indent="0">
              <a:lnSpc>
                <a:spcPct val="100000"/>
              </a:lnSpc>
              <a:spcBef>
                <a:spcPts val="0"/>
              </a:spcBef>
              <a:buSzPts val="3000"/>
              <a:buNone/>
            </a:pPr>
            <a:r>
              <a:rPr lang="en-US" sz="2400" dirty="0">
                <a:latin typeface="Arial"/>
                <a:ea typeface="Arial"/>
                <a:cs typeface="Arial"/>
                <a:sym typeface="Arial"/>
              </a:rPr>
              <a:t> </a:t>
            </a:r>
          </a:p>
          <a:p>
            <a:pPr marL="34290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Preface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30AC21-503A-97DC-BCF1-95DD820616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descr="Book Cover">
            <a:extLst>
              <a:ext uri="{FF2B5EF4-FFF2-40B4-BE49-F238E27FC236}">
                <a16:creationId xmlns:a16="http://schemas.microsoft.com/office/drawing/2014/main" id="{16494730-091D-C1B6-F5BD-6F81EF76ADA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777703" y="1711534"/>
            <a:ext cx="3704685" cy="41558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2C81AD-1A6E-D004-B381-602AC33F3AE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6D7903F-4A88-9155-DEE5-0ACBC5381F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rial"/>
                <a:ea typeface="Arial"/>
                <a:cs typeface="Arial"/>
                <a:sym typeface="Arial"/>
              </a:rPr>
              <a:t>Currently we have the LiDAR working and returning points; however, what kind of data are missing from just the LiDAR?</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solidFill>
                  <a:schemeClr val="dk1"/>
                </a:solidFill>
                <a:latin typeface="Arial"/>
                <a:ea typeface="Arial"/>
                <a:cs typeface="Arial"/>
                <a:sym typeface="Arial"/>
              </a:rPr>
              <a:t>Color, complex shapes, human vision like data</a:t>
            </a:r>
          </a:p>
          <a:p>
            <a:pPr marL="0" indent="0" algn="ctr">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Vision processing allows a robot to extract rich, high-density data from its environment.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Instead of an array of 228 distances (like our LiDAR), a camera gives us millions of data points per frame (RGB per pixel).</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the primary drawback of having millions of data points per frame in a real-time mechatronic system?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Computational latency; processing takes time, more memory / bandwidth is required to handle processing of the data!</a:t>
            </a:r>
          </a:p>
        </p:txBody>
      </p:sp>
      <p:sp>
        <p:nvSpPr>
          <p:cNvPr id="119" name="Google Shape;119;p29">
            <a:extLst>
              <a:ext uri="{FF2B5EF4-FFF2-40B4-BE49-F238E27FC236}">
                <a16:creationId xmlns:a16="http://schemas.microsoft.com/office/drawing/2014/main" id="{365A57A6-14AA-B374-F8FB-5E158BBEB3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8A16E84-BE0D-7BB2-4B0E-C19E6F45F11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541ACED-9C36-202D-23D7-311F30CCF3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83AE1D0-CA64-859A-D8D7-095BDA4E1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FEBDB6-6EA8-F453-A40F-DE4FC23DE5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78A940-625E-BBA2-AC5E-ED630C3A449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4A153F-832E-FA5E-970B-B15C0D5AD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83D903-725F-188F-CD09-34C316ADA5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3746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092B7E-51BB-FC65-FE20-B599D930F9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7E96BB-18D9-716F-5079-19C6785E66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Is a standard camera an active or a passive sensor?</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Passive.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does not emit energy; it captures ambient light bouncing off objects.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Because it is passive, it is highly vulnerable to environmental changes.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If the sun goes behind a cloud what happens?</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The pixel color changes, shadows appears, etc.</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do we build robust code around this? </a:t>
            </a:r>
          </a:p>
        </p:txBody>
      </p:sp>
      <p:sp>
        <p:nvSpPr>
          <p:cNvPr id="119" name="Google Shape;119;p29">
            <a:extLst>
              <a:ext uri="{FF2B5EF4-FFF2-40B4-BE49-F238E27FC236}">
                <a16:creationId xmlns:a16="http://schemas.microsoft.com/office/drawing/2014/main" id="{AEA9BF49-63B3-6220-8894-5C4A01C95D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11FC65F-811D-9E5B-B046-C805B0487EA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294F1E-A9C1-68F5-F825-463F286584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BB6AFF-821D-8DF2-BC40-2ABD681AA3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1F7708-3D4A-9DA6-1196-CEA543B41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1A2B8B-1B14-B56C-3E70-3F5BA69443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2ADCFB-430A-B61B-070F-9C6EC8A233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A0FD44-0EE0-1EC2-797E-F014D37B96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50868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8FC24-6FEE-B53E-DF6D-B06641057B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936406-4328-DAE7-E65C-88AF791D3A4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main pipeline that we will follow in this class is the following: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1400" dirty="0">
              <a:latin typeface="Arial"/>
              <a:ea typeface="Arial"/>
              <a:cs typeface="Arial"/>
              <a:sym typeface="Arial"/>
            </a:endParaRPr>
          </a:p>
          <a:p>
            <a:pPr marL="0" indent="0">
              <a:lnSpc>
                <a:spcPct val="100000"/>
              </a:lnSpc>
              <a:spcBef>
                <a:spcPts val="0"/>
              </a:spcBef>
              <a:buSzPts val="3000"/>
              <a:buNone/>
            </a:pPr>
            <a:endParaRPr lang="en-US" sz="1400" dirty="0">
              <a:latin typeface="Arial"/>
              <a:ea typeface="Arial"/>
              <a:cs typeface="Arial"/>
              <a:sym typeface="Arial"/>
            </a:endParaRPr>
          </a:p>
          <a:p>
            <a:pPr marL="0" indent="0">
              <a:lnSpc>
                <a:spcPct val="100000"/>
              </a:lnSpc>
              <a:spcBef>
                <a:spcPts val="0"/>
              </a:spcBef>
              <a:buSzPts val="3000"/>
              <a:buNone/>
            </a:pPr>
            <a:r>
              <a:rPr lang="en-US" sz="1400" dirty="0">
                <a:latin typeface="Arial"/>
                <a:ea typeface="Arial"/>
                <a:cs typeface="Arial"/>
                <a:sym typeface="Arial"/>
              </a:rPr>
              <a:t>Step 1: The CMOS sensor captures photons and converts them to digital arrays.</a:t>
            </a:r>
          </a:p>
          <a:p>
            <a:pPr marL="0" indent="0">
              <a:lnSpc>
                <a:spcPct val="100000"/>
              </a:lnSpc>
              <a:spcBef>
                <a:spcPts val="0"/>
              </a:spcBef>
              <a:buSzPts val="3000"/>
              <a:buNone/>
            </a:pPr>
            <a:r>
              <a:rPr lang="en-US" sz="1400" dirty="0">
                <a:latin typeface="Arial"/>
                <a:ea typeface="Arial"/>
                <a:cs typeface="Arial"/>
                <a:sym typeface="Arial"/>
              </a:rPr>
              <a:t>Step 2: The processor filters the image (e.g., finding specific colors).</a:t>
            </a:r>
          </a:p>
          <a:p>
            <a:pPr marL="0" indent="0">
              <a:lnSpc>
                <a:spcPct val="100000"/>
              </a:lnSpc>
              <a:spcBef>
                <a:spcPts val="0"/>
              </a:spcBef>
              <a:buSzPts val="3000"/>
              <a:buNone/>
            </a:pPr>
            <a:r>
              <a:rPr lang="en-US" sz="1400" dirty="0">
                <a:latin typeface="Arial"/>
                <a:ea typeface="Arial"/>
                <a:cs typeface="Arial"/>
                <a:sym typeface="Arial"/>
              </a:rPr>
              <a:t>Step 3: The algorithm calculates the coordinates of the target (Centroid).</a:t>
            </a:r>
          </a:p>
          <a:p>
            <a:pPr marL="0" indent="0">
              <a:lnSpc>
                <a:spcPct val="100000"/>
              </a:lnSpc>
              <a:spcBef>
                <a:spcPts val="0"/>
              </a:spcBef>
              <a:buSzPts val="3000"/>
              <a:buNone/>
            </a:pPr>
            <a:r>
              <a:rPr lang="en-US" sz="1400" dirty="0">
                <a:latin typeface="Arial"/>
                <a:ea typeface="Arial"/>
                <a:cs typeface="Arial"/>
                <a:sym typeface="Arial"/>
              </a:rPr>
              <a:t>Step 4: The Cascade Control loop turns the coordinates into wheel velocities.</a:t>
            </a: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752AB9F-64E8-0BAB-3991-3DD5D95641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8CF0202-90E7-D4E7-69D2-F24AA443F7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385070-E786-B7E8-0475-4C7D65A169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ADCBB4-BC8E-B688-4A9D-A1BC344CB7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33A4F0-689F-8D49-5D7E-57A52C7BB3E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5AE4E45-9568-F880-75DE-6D325A0684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7675D2-499F-2B6A-2AFC-375CF6CA76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89901C-7A46-7EFD-D6E3-659F797B764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13F46CA8-EE1D-75C2-2D7F-5CB72CE2BE3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55035" y="1692271"/>
            <a:ext cx="6681929" cy="3473457"/>
          </a:xfrm>
          <a:prstGeom prst="rect">
            <a:avLst/>
          </a:prstGeom>
        </p:spPr>
      </p:pic>
    </p:spTree>
    <p:extLst>
      <p:ext uri="{BB962C8B-B14F-4D97-AF65-F5344CB8AC3E}">
        <p14:creationId xmlns:p14="http://schemas.microsoft.com/office/powerpoint/2010/main" val="2728360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latin typeface="Arial"/>
              <a:ea typeface="Arial"/>
              <a:cs typeface="Arial"/>
              <a:sym typeface="Aria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a:solidFill>
                  <a:schemeClr val="lt1"/>
                </a:solidFill>
                <a:latin typeface="Arial"/>
                <a:ea typeface="Arial"/>
                <a:cs typeface="Arial"/>
                <a:sym typeface="Arial"/>
              </a:rPr>
              <a:t>HEADING</a:t>
            </a:r>
            <a:endParaRPr sz="1400" b="0" i="0" u="none" strike="noStrike" cap="none">
              <a:solidFill>
                <a:srgbClr val="000000"/>
              </a:solidFill>
              <a:latin typeface="Arial"/>
              <a:ea typeface="Arial"/>
              <a:cs typeface="Arial"/>
              <a:sym typeface="Arial"/>
            </a:endParaRPr>
          </a:p>
        </p:txBody>
      </p:sp>
      <p:sp>
        <p:nvSpPr>
          <p:cNvPr id="90" name="Google Shape;90;p27"/>
          <p:cNvSpPr txBox="1"/>
          <p:nvPr/>
        </p:nvSpPr>
        <p:spPr>
          <a:xfrm>
            <a:off x="1441528" y="3232230"/>
            <a:ext cx="9308941" cy="209284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Lorem ipsum dolor sit amet, consectetur adipiscing elit. Nullam ut orci condimentum, commodo dui quis, faucibus mauris. Praesent nec sapien sed nunc sollicitudin.</a:t>
            </a:r>
            <a:endParaRPr/>
          </a:p>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(Main section divider slide option one.)</a:t>
            </a:r>
            <a:endParaRPr sz="1800" b="0" i="0" u="none" strike="noStrike" cap="none">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94</TotalTime>
  <Words>1520</Words>
  <Application>Microsoft Office PowerPoint</Application>
  <PresentationFormat>Widescreen</PresentationFormat>
  <Paragraphs>214</Paragraphs>
  <Slides>23</Slides>
  <Notes>23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34</cp:revision>
  <dcterms:created xsi:type="dcterms:W3CDTF">2019-01-14T22:06:33Z</dcterms:created>
  <dcterms:modified xsi:type="dcterms:W3CDTF">2026-03-19T22:58:14Z</dcterms:modified>
</cp:coreProperties>
</file>