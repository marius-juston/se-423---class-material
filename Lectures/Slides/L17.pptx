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17: Vision Processing, Cameras, Blob Detection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March 25</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RGB stand for?</a:t>
            </a:r>
          </a:p>
          <a:p>
            <a:pPr marL="285750" indent="-285750">
              <a:lnSpc>
                <a:spcPct val="100000"/>
              </a:lnSpc>
              <a:spcBef>
                <a:spcPts val="0"/>
              </a:spcBef>
              <a:buSzPts val="3000"/>
            </a:pPr>
            <a:r>
              <a:rPr lang="en-US" sz="2400" dirty="0">
                <a:latin typeface="Atkinson Hyperlegible Next"/>
                <a:ea typeface="Arial"/>
                <a:cs typeface="Arial"/>
                <a:sym typeface="Arial"/>
              </a:rPr>
              <a:t>How many colors are there? Are the lines straight?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Optical illusion: a fine green-and-white checkerboard with two pinkish-red diagonal stripes, made of small squares, crossing in an X slightly above center. The stripes look wavy and bent, and the one from upper left to lower right looks lighter pink while the one from lower left to upper right looks deeper red. The checkerboard pattern behind them creates these impressions of color and straightness that the slide's questions ask about.">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tical illusion: a grid of alternating pale blue and gray squares in rows, separated by horizontal medium-blue bands dotted with dark blue diamonds. Small black-and-white checkered diamonds sit at the square corners, making the horizontal bands appear to wave and tilt, though they are actually straight and parallel. The pattern uses only about six colors: pale blue, medium blue, dark blue, gray, black and white.">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Computer Vision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 would </a:t>
            </a:r>
            <a:r>
              <a:rPr lang="en-US" sz="2200" b="1" dirty="0">
                <a:latin typeface="Atkinson Hyperlegible Next"/>
                <a:ea typeface="Arial"/>
                <a:cs typeface="Arial"/>
                <a:sym typeface="Arial"/>
              </a:rPr>
              <a:t>HIGHLY</a:t>
            </a:r>
            <a:r>
              <a:rPr lang="en-US" sz="2200" dirty="0">
                <a:latin typeface="Atkinson Hyperlegible Next"/>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hlinkClick r:id="rId3"/>
              </a:rPr>
              <a:t>https://visionbook.mit.edu/</a:t>
            </a: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tkinson Hyperlegible Next"/>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tkinson Hyperlegible Next"/>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(also, for more CMOS details look at </a:t>
            </a:r>
            <a:r>
              <a:rPr lang="en-US" sz="2200" dirty="0">
                <a:latin typeface="Atkinson Hyperlegible Next"/>
                <a:ea typeface="Arial"/>
                <a:cs typeface="Arial"/>
                <a:sym typeface="Arial"/>
                <a:hlinkClick r:id="rId4"/>
              </a:rPr>
              <a:t>https://isl.stanford.edu/~abbas/ee392b/lect04.pdf</a:t>
            </a:r>
            <a:r>
              <a:rPr lang="en-US" sz="2200" dirty="0">
                <a:latin typeface="Atkinson Hyperlegible Next"/>
                <a:ea typeface="Arial"/>
                <a:cs typeface="Arial"/>
                <a:sym typeface="Arial"/>
              </a:rPr>
              <a:t> )</a:t>
            </a:r>
          </a:p>
          <a:p>
            <a:pPr marL="0" indent="0">
              <a:lnSpc>
                <a:spcPct val="100000"/>
              </a:lnSpc>
              <a:spcBef>
                <a:spcPts val="0"/>
              </a:spcBef>
              <a:buSzPts val="3000"/>
              <a:buNone/>
            </a:pP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Cover of the textbook Foundations of Computer Vision by Antonio Torralba, Phillip Isola, and William T. Freeman, decorated with a mosaic of colored pixel squares.">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solidFill>
                  <a:schemeClr val="dk1"/>
                </a:solidFill>
                <a:latin typeface="Atkinson Hyperlegible Next"/>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Passive.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sun goes behind a cloud what happens?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 pixel color changes, shadows appears, etc.</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tkinson Hyperlegible Next"/>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tkinson Hyperlegible Next"/>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tkinson Hyperlegible Next"/>
                <a:ea typeface="Arial"/>
                <a:cs typeface="Arial"/>
                <a:sym typeface="Arial"/>
              </a:rPr>
              <a:t>Step 4: The Cascade Control loop turns the coordinates into wheel velocities.</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CMOS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Annotated die photo of a CMOS image sensor chip, with a large central active pixel sensor color imaging array taking up most of the die. A magnified inset shows the Bayer mosaic filter pattern of alternating red, green, and blue pixels, with green most frequent. Analog-to-digital conversion circuitry runs along the top edge. Analog signal processing and clock and timing control sit on the right side. A digital logic block for interface, timing, processing, and output runs along the bottom. A pad ring surrounds the whole die.">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Block diagram: a CMOS image sensor chip connected to the camera's printed circuit board, which holds a connector and bias decoupling. On the sensor, a 5 by 5 pixel array performs photon-to-electron and electron-to-voltage conversion within each pixel. Row drivers and row access select pixel rows, and column amps and a column mux read them out. Signals then pass through gain, analog-to-digital conversion and a line driver to the frame grabber. Bias generation, clock and timing generation, and an oscillator are also on-chip.">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tkinson Hyperlegible Next"/>
                <a:ea typeface="Arial"/>
                <a:cs typeface="Arial"/>
                <a:sym typeface="Arial"/>
              </a:rPr>
              <a:t>In many CMOS image sensor architectures, row integration times are </a:t>
            </a:r>
            <a:r>
              <a:rPr lang="en-US" sz="2000" i="1" dirty="0" err="1">
                <a:latin typeface="Atkinson Hyperlegible Next"/>
                <a:ea typeface="Arial"/>
                <a:cs typeface="Arial"/>
                <a:sym typeface="Arial"/>
              </a:rPr>
              <a:t>staggerred</a:t>
            </a:r>
            <a:r>
              <a:rPr lang="en-US" sz="2000" dirty="0">
                <a:latin typeface="Atkinson Hyperlegible Next"/>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CMOS image sensor readout architecture. A row decoder on the left drives horizontal word lines across a pixel array. Each pixel, containing a photodetector and readout transistors, connects to a word line and to a vertical bit line. The bit lines run down into a row of column amplifiers and capacitors, which feed a column multiplexer. The multiplexer sends selected pixel values through an output amplifier to a single output line.">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Block diagram: a camera circuit board (connector, bias decoupling) feeds a CMOS image sensor chip. On the chip, bias generation, clock and timing, an oscillator, row drivers and row access control a 5-by-5 pixel array. In each pixel a photodiode converts photons to electrons, and transistors convert the electrons to a voltage. Column lines pass through column bias and sampling, then a column mux, gain stage, analog-to-digital converter and line driver send the image to a frame grabber.">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Color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kind of problem that cause?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descr="Three photosites side by side, each with red, green and blue light arrows arriving from above. The first has a red filter, the second a green filter, the third a blue filter, and only the light matching each filter's color passes through to the gray photodiode beneath. Below each photosite is a black square, likely representing that pixel's output, which records only the intensity of its one passed color.">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tkinson Hyperlegible Next"/>
                    <a:ea typeface="Arial"/>
                    <a:cs typeface="Arial"/>
                    <a:sym typeface="Arial"/>
                  </a:rPr>
                  <a:t> grid.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filtering color?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anything strange about this ratio?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1 Red : 2 Green : 1 Blue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Pixel (0,0) only knows Red.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normalized response of the eye's three cone types versus wavelength, 400 to 700 nanometers. The S cone peaks near 440 nm and falls to near zero by 530 nm. The M and L cones overlap heavily, peaking near 545 nm and 570 nm, so the eye's combined sensitivity is greatest in the green region around 550 nm. The L cone extends furthest into the red, fading by about 700 nm.">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tkinson Hyperlegible Next"/>
                    <a:ea typeface="Arial"/>
                    <a:cs typeface="Arial"/>
                    <a:sym typeface="Arial"/>
                  </a:rPr>
                  <a:t>Demosaicing</a:t>
                </a:r>
                <a:r>
                  <a:rPr lang="en-US" sz="1800" dirty="0">
                    <a:latin typeface="Atkinson Hyperlegible Next"/>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Because of this, other </a:t>
                </a:r>
                <a:r>
                  <a:rPr lang="en-US" sz="1800" dirty="0" err="1">
                    <a:latin typeface="Atkinson Hyperlegible Next"/>
                    <a:ea typeface="Arial"/>
                    <a:cs typeface="Arial"/>
                    <a:sym typeface="Arial"/>
                  </a:rPr>
                  <a:t>demosaicing</a:t>
                </a:r>
                <a:r>
                  <a:rPr lang="en-US" sz="1800" dirty="0">
                    <a:latin typeface="Atkinson Hyperlegible Next"/>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Five numbered versions of a flower photo of red, yellow, white and purple tulips, illustrating demosaicing. 1: the original full-color scene. 2: raw grayscale output of a low-resolution sensor with a Bayer filter, showing a checkerboard pattern. 3: the same raw data tinted red, green and blue by each pixel's filter color. 4: the image reconstructed by interpolating the missing colors, which is blurrier, with color bleeding along petal edges. 5: a full-color image at the same resolution for comparison, with sharper edges and no fringing.">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Once demosaiced, every pixel is an array of three values: </a:t>
                </a:r>
                <a:r>
                  <a:rPr lang="en-US" sz="1800" b="1" dirty="0">
                    <a:latin typeface="Atkinson Hyperlegible Next"/>
                    <a:ea typeface="Arial"/>
                    <a:cs typeface="Arial"/>
                    <a:sym typeface="Arial"/>
                  </a:rPr>
                  <a:t>R, G, B</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White</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Red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tkinson Hyperlegible Next"/>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RGB color cube with Red, Green and Blue axes, each divided into five intensity steps. Black sits at the origin; pure red, green and blue lie at the ends of each axis; yellow, cyan and magenta sit at corners where two primaries are at full intensity; white is where all three are at full intensity. A highlighted point inside the cube at R equals 1/5, G equals 3/5, B equals 4/5 is a medium sky blue.">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Imagine we write code to track a red ball: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tkinson Hyperlegible Next"/>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solve the shadow problem, we transform the RGB cube into a cylinder: The </a:t>
            </a:r>
            <a:r>
              <a:rPr lang="en-US" sz="2400" b="1" dirty="0">
                <a:latin typeface="Atkinson Hyperlegible Next"/>
                <a:ea typeface="Arial"/>
                <a:cs typeface="Arial"/>
                <a:sym typeface="Arial"/>
              </a:rPr>
              <a:t>HSV </a:t>
            </a:r>
            <a:r>
              <a:rPr lang="en-US" sz="2400" dirty="0">
                <a:latin typeface="Atkinson Hyperlegible Next"/>
                <a:ea typeface="Arial"/>
                <a:cs typeface="Arial"/>
                <a:sym typeface="Arial"/>
              </a:rPr>
              <a:t>color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 = </a:t>
            </a:r>
            <a:r>
              <a:rPr lang="en-US" sz="2400" b="1" dirty="0">
                <a:latin typeface="Atkinson Hyperlegible Next"/>
                <a:ea typeface="Arial"/>
                <a:cs typeface="Arial"/>
                <a:sym typeface="Arial"/>
              </a:rPr>
              <a:t>Hue</a:t>
            </a:r>
            <a:r>
              <a:rPr lang="en-US" sz="2400" dirty="0">
                <a:latin typeface="Atkinson Hyperlegible Next"/>
                <a:ea typeface="Arial"/>
                <a:cs typeface="Arial"/>
                <a:sym typeface="Arial"/>
              </a:rPr>
              <a:t> (The actual color type, e.g., Red, Blue).</a:t>
            </a:r>
          </a:p>
          <a:p>
            <a:pPr marL="0" indent="0">
              <a:lnSpc>
                <a:spcPct val="100000"/>
              </a:lnSpc>
              <a:spcBef>
                <a:spcPts val="0"/>
              </a:spcBef>
              <a:buSzPts val="3000"/>
              <a:buNone/>
            </a:pPr>
            <a:r>
              <a:rPr lang="en-US" sz="2400" dirty="0">
                <a:latin typeface="Atkinson Hyperlegible Next"/>
                <a:ea typeface="Arial"/>
                <a:cs typeface="Arial"/>
                <a:sym typeface="Arial"/>
              </a:rPr>
              <a:t>S = </a:t>
            </a:r>
            <a:r>
              <a:rPr lang="en-US" sz="2400" b="1" dirty="0">
                <a:latin typeface="Atkinson Hyperlegible Next"/>
                <a:ea typeface="Arial"/>
                <a:cs typeface="Arial"/>
                <a:sym typeface="Arial"/>
              </a:rPr>
              <a:t>Saturation</a:t>
            </a:r>
            <a:r>
              <a:rPr lang="en-US" sz="2400" dirty="0">
                <a:latin typeface="Atkinson Hyperlegible Next"/>
                <a:ea typeface="Arial"/>
                <a:cs typeface="Arial"/>
                <a:sym typeface="Arial"/>
              </a:rPr>
              <a:t> (How pure the color is, vs. faded white).</a:t>
            </a:r>
          </a:p>
          <a:p>
            <a:pPr marL="0" indent="0">
              <a:lnSpc>
                <a:spcPct val="100000"/>
              </a:lnSpc>
              <a:spcBef>
                <a:spcPts val="0"/>
              </a:spcBef>
              <a:buSzPts val="3000"/>
              <a:buNone/>
            </a:pPr>
            <a:r>
              <a:rPr lang="en-US" sz="2400" dirty="0">
                <a:latin typeface="Atkinson Hyperlegible Next"/>
                <a:ea typeface="Arial"/>
                <a:cs typeface="Arial"/>
                <a:sym typeface="Arial"/>
              </a:rPr>
              <a:t>V =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Blue.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Why this is brilliant: If a red ball enters a shadow, its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a:t>
                </a:r>
                <a:r>
                  <a:rPr lang="en-US" sz="2400" b="1" dirty="0">
                    <a:latin typeface="Atkinson Hyperlegible Next"/>
                    <a:ea typeface="Arial"/>
                    <a:cs typeface="Arial"/>
                    <a:sym typeface="Arial"/>
                  </a:rPr>
                  <a:t>drops</a:t>
                </a:r>
                <a:r>
                  <a:rPr lang="en-US" sz="2400" dirty="0">
                    <a:latin typeface="Atkinson Hyperlegible Next"/>
                    <a:ea typeface="Arial"/>
                    <a:cs typeface="Arial"/>
                    <a:sym typeface="Arial"/>
                  </a:rPr>
                  <a:t>, but its </a:t>
                </a:r>
                <a:r>
                  <a:rPr lang="en-US" sz="2400" b="1" dirty="0">
                    <a:latin typeface="Atkinson Hyperlegible Next"/>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Saturation is the radius (distance from the center axis).</a:t>
            </a:r>
          </a:p>
          <a:p>
            <a:pPr marL="342900">
              <a:lnSpc>
                <a:spcPct val="100000"/>
              </a:lnSpc>
              <a:spcBef>
                <a:spcPts val="0"/>
              </a:spcBef>
              <a:buSzPts val="3000"/>
            </a:pPr>
            <a:r>
              <a:rPr lang="en-US" sz="2400" b="1" dirty="0">
                <a:latin typeface="Atkinson Hyperlegible Next"/>
                <a:ea typeface="Arial"/>
                <a:cs typeface="Arial"/>
                <a:sym typeface="Arial"/>
              </a:rPr>
              <a:t>S=0%</a:t>
            </a:r>
            <a:r>
              <a:rPr lang="en-US" sz="2400" dirty="0">
                <a:latin typeface="Atkinson Hyperlegible Next"/>
                <a:ea typeface="Arial"/>
                <a:cs typeface="Arial"/>
                <a:sym typeface="Arial"/>
              </a:rPr>
              <a:t> is pure gray/white (center). </a:t>
            </a:r>
          </a:p>
          <a:p>
            <a:pPr marL="342900">
              <a:lnSpc>
                <a:spcPct val="100000"/>
              </a:lnSpc>
              <a:spcBef>
                <a:spcPts val="0"/>
              </a:spcBef>
              <a:buSzPts val="3000"/>
            </a:pPr>
            <a:r>
              <a:rPr lang="en-US" sz="2400" b="1" dirty="0">
                <a:latin typeface="Atkinson Hyperlegible Next"/>
                <a:ea typeface="Arial"/>
                <a:cs typeface="Arial"/>
                <a:sym typeface="Arial"/>
              </a:rPr>
              <a:t>S=100%</a:t>
            </a:r>
            <a:r>
              <a:rPr lang="en-US" sz="2400" dirty="0">
                <a:latin typeface="Atkinson Hyperlegible Next"/>
                <a:ea typeface="Arial"/>
                <a:cs typeface="Arial"/>
                <a:sym typeface="Arial"/>
              </a:rPr>
              <a:t> is a pure, vibrant color (edge).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Value is the height of the cylinder (0 to 100%).</a:t>
            </a:r>
          </a:p>
          <a:p>
            <a:pPr marL="342900">
              <a:lnSpc>
                <a:spcPct val="100000"/>
              </a:lnSpc>
              <a:spcBef>
                <a:spcPts val="0"/>
              </a:spcBef>
              <a:buSzPts val="3000"/>
            </a:pPr>
            <a:r>
              <a:rPr lang="en-US" sz="2400" b="1" dirty="0">
                <a:latin typeface="Atkinson Hyperlegible Next"/>
                <a:ea typeface="Arial"/>
                <a:cs typeface="Arial"/>
                <a:sym typeface="Arial"/>
              </a:rPr>
              <a:t>V=0%</a:t>
            </a:r>
            <a:r>
              <a:rPr lang="en-US" sz="2400" dirty="0">
                <a:latin typeface="Atkinson Hyperlegible Next"/>
                <a:ea typeface="Arial"/>
                <a:cs typeface="Arial"/>
                <a:sym typeface="Arial"/>
              </a:rPr>
              <a:t> is pitch black. </a:t>
            </a:r>
          </a:p>
          <a:p>
            <a:pPr marL="342900">
              <a:lnSpc>
                <a:spcPct val="100000"/>
              </a:lnSpc>
              <a:spcBef>
                <a:spcPts val="0"/>
              </a:spcBef>
              <a:buSzPts val="3000"/>
            </a:pPr>
            <a:r>
              <a:rPr lang="en-US" sz="2400" b="1" dirty="0">
                <a:latin typeface="Atkinson Hyperlegible Next"/>
                <a:ea typeface="Arial"/>
                <a:cs typeface="Arial"/>
                <a:sym typeface="Arial"/>
              </a:rPr>
              <a:t>V=100% </a:t>
            </a:r>
            <a:r>
              <a:rPr lang="en-US" sz="2400" dirty="0">
                <a:latin typeface="Atkinson Hyperlegible Next"/>
                <a:ea typeface="Arial"/>
                <a:cs typeface="Arial"/>
                <a:sym typeface="Arial"/>
              </a:rPr>
              <a:t>is fully illuminated.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tkinson Hyperlegible Next"/>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hoto, the original color version used for the lightness comparison: a fire breather in a sequined dark red costume kneels on a wet stage and blows a large, bright yellow-orange fireball, with drummers in red robes and spectators behind. The saturated yellow flame against deep reds and dark background makes the differences between the HSV value, HSL lightness and CIELAB L-star grayscale versions easy to see.">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Photo, grayscale version: a street performer leaning back on wet pavement breathes a large plume of fire while drummers in long robes play behind him and spectators watch. The flame is the brightest region, while the performer's face, beaded necklaces, drums and background figures keep clear midtone detail. This is one of the grayscale renderings being compared for how well its lightness matches the original color image.">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Photo, grayscale: one of the lightness renderings compared on this slide, of a performer in a beaded costume leaning back on a wet stage and breathing a large plume of fire, with two drummers and spectators behind. The flame is near-white, while skin, clothing, drums and background stay distinguishable mid-grays, so the conversion keeps natural-looking brightness and detail across the scene.">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descr="Photo, grayscale: a kneeling fire breather blows a large, bright plume of flame across the frame while drummers play behind them, an example image for comparing how converting color to grayscale with HSV value, HSL lightness or CIELAB L-star changes perceived brightness relative to the original color photo.">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Essentially, they trade off </a:t>
            </a:r>
            <a:r>
              <a:rPr lang="en-US" sz="2000" b="1" dirty="0">
                <a:latin typeface="Atkinson Hyperlegible Next"/>
                <a:ea typeface="Arial"/>
                <a:cs typeface="Arial"/>
                <a:sym typeface="Arial"/>
              </a:rPr>
              <a:t>perceptual relevance </a:t>
            </a:r>
            <a:r>
              <a:rPr lang="en-US" sz="2000" dirty="0">
                <a:latin typeface="Atkinson Hyperlegible Next"/>
                <a:ea typeface="Arial"/>
                <a:cs typeface="Arial"/>
                <a:sym typeface="Arial"/>
              </a:rPr>
              <a:t>for computation speed.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plot the RGB gamut in a more </a:t>
            </a:r>
            <a:r>
              <a:rPr lang="en-US" sz="2000" b="1" dirty="0">
                <a:latin typeface="Atkinson Hyperlegible Next"/>
                <a:ea typeface="Arial"/>
                <a:cs typeface="Arial"/>
                <a:sym typeface="Arial"/>
              </a:rPr>
              <a:t>perceptually-uniform space</a:t>
            </a:r>
            <a:r>
              <a:rPr lang="en-US" sz="2000" dirty="0">
                <a:latin typeface="Atkinson Hyperlegible Next"/>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CIELAB</a:t>
            </a:r>
            <a:r>
              <a:rPr lang="en-US" sz="1800" dirty="0">
                <a:latin typeface="Atkinson Hyperlegible Next"/>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lightness value</a:t>
            </a:r>
            <a:r>
              <a:rPr lang="en-US" sz="1800" dirty="0">
                <a:latin typeface="Atkinson Hyperlegible Next"/>
                <a:ea typeface="Arial"/>
                <a:cs typeface="Arial"/>
                <a:sym typeface="Arial"/>
              </a:rPr>
              <a:t>, L* (pronounced "L star"), defines </a:t>
            </a:r>
            <a:r>
              <a:rPr lang="en-US" sz="1800" b="1" dirty="0">
                <a:latin typeface="Atkinson Hyperlegible Next"/>
                <a:ea typeface="Arial"/>
                <a:cs typeface="Arial"/>
                <a:sym typeface="Arial"/>
              </a:rPr>
              <a:t>black</a:t>
            </a:r>
            <a:r>
              <a:rPr lang="en-US" sz="1800" dirty="0">
                <a:latin typeface="Atkinson Hyperlegible Next"/>
                <a:ea typeface="Arial"/>
                <a:cs typeface="Arial"/>
                <a:sym typeface="Arial"/>
              </a:rPr>
              <a:t> at 0 and </a:t>
            </a:r>
            <a:r>
              <a:rPr lang="en-US" sz="1800" b="1" dirty="0">
                <a:latin typeface="Atkinson Hyperlegible Next"/>
                <a:ea typeface="Arial"/>
                <a:cs typeface="Arial"/>
                <a:sym typeface="Arial"/>
              </a:rPr>
              <a:t>white</a:t>
            </a:r>
            <a:r>
              <a:rPr lang="en-US" sz="1800" dirty="0">
                <a:latin typeface="Atkinson Hyperlegible Next"/>
                <a:ea typeface="Arial"/>
                <a:cs typeface="Arial"/>
                <a:sym typeface="Arial"/>
              </a:rPr>
              <a:t> at 100.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a* axis </a:t>
            </a:r>
            <a:r>
              <a:rPr lang="en-US" sz="1800" dirty="0">
                <a:latin typeface="Atkinson Hyperlegible Next"/>
                <a:ea typeface="Arial"/>
                <a:cs typeface="Arial"/>
                <a:sym typeface="Arial"/>
              </a:rPr>
              <a:t>is relative to the </a:t>
            </a:r>
            <a:r>
              <a:rPr lang="en-US" sz="1800" b="1" dirty="0">
                <a:latin typeface="Atkinson Hyperlegible Next"/>
                <a:ea typeface="Arial"/>
                <a:cs typeface="Arial"/>
                <a:sym typeface="Arial"/>
              </a:rPr>
              <a:t>green–red </a:t>
            </a:r>
            <a:r>
              <a:rPr lang="en-US" sz="1800" dirty="0">
                <a:latin typeface="Atkinson Hyperlegible Next"/>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b* axis </a:t>
            </a:r>
            <a:r>
              <a:rPr lang="en-US" sz="1800" dirty="0">
                <a:latin typeface="Atkinson Hyperlegible Next"/>
                <a:ea typeface="Arial"/>
                <a:cs typeface="Arial"/>
                <a:sym typeface="Arial"/>
              </a:rPr>
              <a:t>represents the </a:t>
            </a:r>
            <a:r>
              <a:rPr lang="en-US" sz="1800" b="1" dirty="0">
                <a:latin typeface="Atkinson Hyperlegible Next"/>
                <a:ea typeface="Arial"/>
                <a:cs typeface="Arial"/>
                <a:sym typeface="Arial"/>
              </a:rPr>
              <a:t>blue–yellow </a:t>
            </a:r>
            <a:r>
              <a:rPr lang="en-US" sz="1800" dirty="0">
                <a:latin typeface="Atkinson Hyperlegible Next"/>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tkinson Hyperlegible Next"/>
                <a:ea typeface="Arial"/>
                <a:cs typeface="Arial"/>
                <a:sym typeface="Arial"/>
              </a:rPr>
              <a:t> </a:t>
            </a:r>
          </a:p>
          <a:p>
            <a:pPr marL="0" indent="0">
              <a:lnSpc>
                <a:spcPct val="100000"/>
              </a:lnSpc>
              <a:spcBef>
                <a:spcPts val="0"/>
              </a:spcBef>
              <a:buSzPts val="3000"/>
              <a:buNone/>
            </a:pPr>
            <a:r>
              <a:rPr lang="en-US" sz="1800" dirty="0">
                <a:latin typeface="Atkinson Hyperlegible Next"/>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Picture 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Blob detection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Once we convert our image to HSV, we apply a </a:t>
            </a:r>
            <a:r>
              <a:rPr lang="en-US" sz="2400" b="1" dirty="0">
                <a:latin typeface="Atkinson Hyperlegible Next"/>
                <a:ea typeface="Arial"/>
                <a:cs typeface="Arial"/>
                <a:sym typeface="Arial"/>
              </a:rPr>
              <a:t>Threshold. </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YES -&gt; Pixel becomes 1 ( Whites)</a:t>
            </a:r>
          </a:p>
          <a:p>
            <a:pPr marL="0" indent="0">
              <a:lnSpc>
                <a:spcPct val="100000"/>
              </a:lnSpc>
              <a:spcBef>
                <a:spcPts val="0"/>
              </a:spcBef>
              <a:buSzPts val="3000"/>
              <a:buNone/>
            </a:pPr>
            <a:r>
              <a:rPr lang="en-US" sz="2400" dirty="0">
                <a:latin typeface="Atkinson Hyperlegible Next"/>
                <a:ea typeface="Arial"/>
                <a:cs typeface="Arial"/>
                <a:sym typeface="Arial"/>
              </a:rPr>
              <a:t>If NO -&gt; Pixel becomes 0 (Black).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result is a </a:t>
            </a:r>
            <a:r>
              <a:rPr lang="en-US" sz="2400" b="1" dirty="0">
                <a:latin typeface="Atkinson Hyperlegible Next"/>
                <a:ea typeface="Arial"/>
                <a:cs typeface="Arial"/>
                <a:sym typeface="Arial"/>
              </a:rPr>
              <a:t>Binary Mask</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known computationally as </a:t>
            </a:r>
            <a:r>
              <a:rPr lang="en-US" sz="2400" b="1" dirty="0">
                <a:latin typeface="Atkinson Hyperlegible Next"/>
                <a:ea typeface="Arial"/>
                <a:cs typeface="Arial"/>
                <a:sym typeface="Arial"/>
              </a:rPr>
              <a:t>Connected Component Labeling (CCL)</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Filter blob by </a:t>
            </a:r>
            <a:r>
              <a:rPr lang="en-US" sz="2400" b="1" dirty="0">
                <a:latin typeface="Atkinson Hyperlegible Next"/>
                <a:ea typeface="Arial"/>
                <a:cs typeface="Arial"/>
                <a:sym typeface="Arial"/>
              </a:rPr>
              <a:t>Area </a:t>
            </a:r>
            <a:r>
              <a:rPr lang="en-US" sz="2400" dirty="0">
                <a:latin typeface="Atkinson Hyperlegible Next"/>
                <a:ea typeface="Arial"/>
                <a:cs typeface="Arial"/>
                <a:sym typeface="Arial"/>
              </a:rPr>
              <a:t>(total pixel count), filter blob by </a:t>
            </a:r>
            <a:r>
              <a:rPr lang="en-US" sz="2400" b="1" dirty="0">
                <a:latin typeface="Atkinson Hyperlegible Next"/>
                <a:ea typeface="Arial"/>
                <a:cs typeface="Arial"/>
                <a:sym typeface="Arial"/>
              </a:rPr>
              <a:t>shape </a:t>
            </a:r>
            <a:r>
              <a:rPr lang="en-US" sz="2400" dirty="0">
                <a:latin typeface="Atkinson Hyperlegible Next"/>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dirty="0" err="1">
                <a:latin typeface="Atkinson Hyperlegible Next"/>
                <a:ea typeface="Arial"/>
                <a:cs typeface="Arial"/>
                <a:sym typeface="Arial"/>
              </a:rPr>
              <a:t>Blob.Area</a:t>
            </a:r>
            <a:r>
              <a:rPr lang="en-US" sz="2400" dirty="0">
                <a:latin typeface="Atkinson Hyperlegible Next"/>
                <a:ea typeface="Arial"/>
                <a:cs typeface="Arial"/>
                <a:sym typeface="Arial"/>
              </a:rPr>
              <a:t> &lt; MIN_THRESHOLD, we discard 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need its (X, Y) coordinate in the camera frame to steer the robot. We do this by calculating the </a:t>
                </a:r>
                <a:r>
                  <a:rPr lang="en-US" sz="2000" b="1" dirty="0">
                    <a:latin typeface="Atkinson Hyperlegible Next"/>
                    <a:ea typeface="Arial"/>
                    <a:cs typeface="Arial"/>
                    <a:sym typeface="Arial"/>
                  </a:rPr>
                  <a:t>Centroid </a:t>
                </a:r>
                <a:r>
                  <a:rPr lang="en-US" sz="2000" dirty="0">
                    <a:latin typeface="Atkinson Hyperlegible Next"/>
                    <a:ea typeface="Arial"/>
                    <a:cs typeface="Arial"/>
                    <a:sym typeface="Arial"/>
                  </a:rPr>
                  <a:t>(Center of Mass ) of the blob.</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compute this using </a:t>
                </a:r>
                <a:r>
                  <a:rPr lang="en-US" sz="2000" b="1" dirty="0">
                    <a:latin typeface="Atkinson Hyperlegible Next"/>
                    <a:ea typeface="Arial"/>
                    <a:cs typeface="Arial"/>
                    <a:sym typeface="Arial"/>
                  </a:rPr>
                  <a:t>Image Moments</a:t>
                </a:r>
                <a:r>
                  <a:rPr lang="en-US" sz="2000" dirty="0">
                    <a:latin typeface="Atkinson Hyperlegible Next"/>
                    <a:ea typeface="Arial"/>
                    <a:cs typeface="Arial"/>
                    <a:sym typeface="Arial"/>
                  </a:rPr>
                  <a:t>.</a:t>
                </a:r>
              </a:p>
              <a:p>
                <a:pPr marL="0" indent="0">
                  <a:lnSpc>
                    <a:spcPct val="100000"/>
                  </a:lnSpc>
                  <a:spcBef>
                    <a:spcPts val="0"/>
                  </a:spcBef>
                  <a:buSzPts val="3000"/>
                  <a:buNone/>
                </a:pPr>
                <a:r>
                  <a:rPr lang="en-US" sz="2000" dirty="0">
                    <a:latin typeface="Atkinson Hyperlegible Next"/>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0</a:t>
                </a:r>
                <a:r>
                  <a:rPr lang="en-US" sz="2000" baseline="30000" dirty="0">
                    <a:latin typeface="Atkinson Hyperlegible Next"/>
                    <a:ea typeface="Arial"/>
                    <a:cs typeface="Arial"/>
                    <a:sym typeface="Arial"/>
                  </a:rPr>
                  <a:t>th</a:t>
                </a:r>
                <a:r>
                  <a:rPr lang="en-US" sz="2000" dirty="0">
                    <a:latin typeface="Atkinson Hyperlegible Next"/>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act as our weighted spatial totals.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tkinson Hyperlegible Next"/>
                    <a:ea typeface="Arial"/>
                    <a:cs typeface="Arial"/>
                    <a:sym typeface="Arial"/>
                  </a:rPr>
                  <a:t>, where is the ball?</a:t>
                </a:r>
              </a:p>
              <a:p>
                <a:pPr marL="0" indent="0" algn="ctr">
                  <a:lnSpc>
                    <a:spcPct val="100000"/>
                  </a:lnSpc>
                  <a:spcBef>
                    <a:spcPts val="0"/>
                  </a:spcBef>
                  <a:buSzPts val="3000"/>
                  <a:buNone/>
                </a:pPr>
                <a:r>
                  <a:rPr lang="en-US" sz="2400" dirty="0">
                    <a:latin typeface="Atkinson Hyperlegible Next"/>
                    <a:ea typeface="Arial"/>
                    <a:cs typeface="Arial"/>
                    <a:sym typeface="Arial"/>
                  </a:rPr>
                  <a:t>It is to the right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Computer Vision Blob Detection" descr="YouTube video: Computer Vision Blob Detection (Marius Just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cp:coreProperties>
</file>