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46"/>
  </p:notesMasterIdLst>
  <p:sldIdLst>
    <p:sldId id="256" r:id="rId2"/>
    <p:sldId id="417" r:id="rId3"/>
    <p:sldId id="413" r:id="rId4"/>
    <p:sldId id="272" r:id="rId5"/>
    <p:sldId id="258" r:id="rId6"/>
    <p:sldId id="418" r:id="rId7"/>
    <p:sldId id="420" r:id="rId8"/>
    <p:sldId id="421" r:id="rId9"/>
    <p:sldId id="422" r:id="rId10"/>
    <p:sldId id="426" r:id="rId11"/>
    <p:sldId id="441" r:id="rId12"/>
    <p:sldId id="425" r:id="rId13"/>
    <p:sldId id="424" r:id="rId14"/>
    <p:sldId id="423" r:id="rId15"/>
    <p:sldId id="427" r:id="rId16"/>
    <p:sldId id="439" r:id="rId17"/>
    <p:sldId id="442" r:id="rId18"/>
    <p:sldId id="428" r:id="rId19"/>
    <p:sldId id="429" r:id="rId20"/>
    <p:sldId id="430" r:id="rId21"/>
    <p:sldId id="431" r:id="rId22"/>
    <p:sldId id="432" r:id="rId23"/>
    <p:sldId id="433" r:id="rId24"/>
    <p:sldId id="434" r:id="rId25"/>
    <p:sldId id="435" r:id="rId26"/>
    <p:sldId id="436" r:id="rId27"/>
    <p:sldId id="437" r:id="rId28"/>
    <p:sldId id="438" r:id="rId29"/>
    <p:sldId id="446" r:id="rId30"/>
    <p:sldId id="445" r:id="rId31"/>
    <p:sldId id="447" r:id="rId32"/>
    <p:sldId id="448" r:id="rId33"/>
    <p:sldId id="440" r:id="rId34"/>
    <p:sldId id="443" r:id="rId35"/>
    <p:sldId id="444" r:id="rId36"/>
    <p:sldId id="449" r:id="rId37"/>
    <p:sldId id="450" r:id="rId38"/>
    <p:sldId id="451" r:id="rId39"/>
    <p:sldId id="452" r:id="rId40"/>
    <p:sldId id="453" r:id="rId41"/>
    <p:sldId id="454" r:id="rId42"/>
    <p:sldId id="455" r:id="rId43"/>
    <p:sldId id="271" r:id="rId44"/>
    <p:sldId id="270" r:id="rId45"/>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47"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p:scale>
          <a:sx n="125" d="100"/>
          <a:sy n="125" d="100"/>
        </p:scale>
        <p:origin x="1614" y="6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customschemas.google.com/relationships/presentationmetadata" Target="metadata"/><Relationship Id="rId50"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E7E3B5-49B9-1887-BB3D-532FE9FF85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5B324B9-F340-1116-1318-88A50BDE8B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0993868-158A-56AF-D3A1-6FFF7658AE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25405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7719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F9ED5EC-765E-DDD7-332B-8A00B0540F9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154540A-10BF-B029-D910-A380E44E1A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65677FB-0014-3040-C794-160B4CD86A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40253816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298137B-7DAA-9A50-71C4-FC55CDC8CD0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37DB962-8E1D-D8B2-EA44-B0D388CE43A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0FFEDAA-13A7-8EF9-E3D2-6527A8F571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389607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16ADE6F-99B4-9799-2C41-4011DF8B3C3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A369389-D210-000B-6FED-F008667A34E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5D55EF0-218F-71C2-453B-6639DB719DE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491567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6E2BE17-991A-AC6E-BA8B-434897DBFBC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790597E-F7E7-34EB-3971-CBD5DFB2929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DADBA60-6486-DBA1-C367-658AA5E2A25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2115410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E2F57B8-6FC4-8816-4B2E-FA116D5A38F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F5461E9-4CC0-00FA-DE74-4ACADC12960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319DDE7-BB41-407B-7F40-F49FA674B41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28465503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9629B90F-AEED-6D2A-C4D1-373A28E62258}"/>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038B84F7-766E-12E2-9609-077DFC5368D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CDEC1A56-CDF7-F517-C18C-1795CA3683D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420658953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33FA637-0439-F11E-FC41-00BE39636F9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448DA76-D773-63C1-8561-3C90018F2BE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8ACE637-18D0-AA1A-0D9D-66DEC2A5C9E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7069060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50676D7-CA51-711C-DCBA-CA23123F9B8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BC25D65-D0BC-EEA2-8AB3-4607DBB004C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26FB0F6-F093-428E-E600-A44A654298C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3099382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A065E7A-9B1B-1BE2-29D0-EC233898063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BC5960F-F261-E5F4-4CE0-84AB4372099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3F2467D-238F-9E12-1412-52E3CB32E4F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45728403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83E4A19-1592-C1FF-233B-4A66CC4DCDC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B04DDF6-E088-AF65-8521-E66E0D7A101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183102D-96FD-5A81-C202-D4DE83FB781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11161580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DA2C574-8CDF-366C-E8A4-99F91803E7D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184EE58-3E4B-F2AE-BB3C-609F2533DA8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4664311-18C5-0F05-9CDF-5C306D7ECC5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76384325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8BAA1647-7AFD-8C69-8777-23320392AFA5}"/>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9127593A-FFC2-A1E5-D8FE-10156F648A7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FCB4D3AB-46BA-6543-F507-39CFB0966D5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428624500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7267AB2-1EDD-C257-91E8-5B67E515528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A4C20FB-E18B-8DB2-5D57-2D25B08BEA1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A1BA117-4661-1140-864D-CF605EFC9D3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190762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82EE4C7-F28C-4531-F5EC-CE414315781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8F2C6C4-6E9C-B070-9F42-C92C5D34C4A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1EBADFD-3A76-CE3A-FDE3-2F8F585F100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50613738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DDA1FDB-7425-9853-8F45-35043121927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9A8E59B-DDF3-86E7-EC87-2D923B6A87D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F30CBD0-D2A6-6D75-7CFE-4A5994C42FF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5116797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3BD9398-5BDA-0E67-C7AC-6E024246CF9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20DC48E-85DE-C25C-5496-300727C86B2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2164087-A1F3-1C69-5DEC-68943630AA9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4816850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F3416C-30A2-5FCF-D3E6-2DF45F8E24C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24E7D71-DD8C-6493-4EC4-304B20F1DB2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CE07802-0D73-89D6-A9D9-01B9B4BDD29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2352165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58FF9FA-2587-BA16-AD7D-82BACCB28D1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AB974A6-4AF4-F075-F44A-37069C1F7B6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EA94773-F84B-E818-0EF6-052FDE0C037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01653617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12C749-CD49-C280-0A80-1E6373FC081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28E87AB-3D3D-321A-7381-8C20E334ABE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6CF677D-8C39-B695-BD35-7C07FA85EDD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70854120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A843B6A-12DA-A916-89FE-6DF458FFD08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41FCD8-01F1-A6E8-72BC-793B7BD8184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FEFEB9D-9A15-E4B9-167F-D55CBE178B0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41104667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5D3E2B5-B574-0671-916C-E16D9DB0F32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9099826-4582-1846-24EF-D688768C63B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564BAC7-FDE4-4959-1E9F-0B2FDA16DF0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31615231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E46754C-2C13-23F7-9D88-55E7FCC2D5F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980362C-5154-22A4-7761-AF494875494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9A7E3E6-863D-2C2F-D18C-2ED07AD614D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86707522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1C32B8D-9D52-9A44-3C67-CAF170BCCD4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C51AF31-95A2-66C8-CBBB-FD1A2976F1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F9D91DE-5183-E53A-BE47-8BEC2CFF517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68973914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93A133D-F0C6-69E5-2C76-8DF27243AA6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EB50B19-F3D7-6383-D131-D897C029E01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ADA42AF-4DD3-AE9E-00F9-FCBFD52E223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38953961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11B0C1D-1601-A1BF-26B3-4FBF2FCD2CD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E98AB75-E9FB-4F91-B6AD-0A2A924D22C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E173565-8872-FD39-7C5D-E82C8C027AC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6280041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07CA29D-7492-A28D-FD93-914E74AA94D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4DEAE0E-B773-1EC4-1432-01EF2725318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850C2E8-B8FA-F2C9-4B0B-58D2E1E40BE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40978693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290AC5A-D8BC-6046-D284-93579E4FCB4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F7795E5-4A6D-7AA3-98D0-145A880FD14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E8C737D-B38F-CD0F-8195-F5AB1411D75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82368587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F361C8D-2524-0265-3FAC-1937E94E04F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966F5CB-02B8-288C-32DA-BB1FE60B267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FD6FB82-FEFC-D2AB-089C-FA8A11C22D9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56228089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2ED60DE2-85D4-EE3A-AF2C-EAF42D8979F3}"/>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0C1CDADA-8CA3-7C95-EB4F-F32BD303361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2F3976DB-20C6-71C1-7299-42DD69AE0A4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387319893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8361EF9-BA90-1345-B14B-DC170FA7468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0329FA4-A3E5-5907-0604-1CD14D2809E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DC79163-36C5-DB9E-95DD-43C1CCE1D84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77203029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99F13D6-1CC9-911D-81A1-B19FDD6C19A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CEEC3F3-A15F-84F7-9BEF-420692C66B5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C285E14-208D-DB11-BE23-55C181ACA3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9709926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C11EA38-BD47-22A2-A407-F678F396D73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1CE7C2D-BF11-7868-8AFB-9535CF82906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2A19A12-FCF5-1335-3F1D-3D4D647E456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67904226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7AA5F7E-F9B5-8949-BAD8-1C2D4566761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0017715-18E6-C6B1-4ACE-1951C84247F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C63AE6F-41B5-7ED4-A98E-6E31CB7890E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80272044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C2C8002-1A47-DE63-75D4-9DB4C2D662E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C427010-AC24-E981-8FF6-2A1127D2162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6CDA2FC-4DD3-A1B4-FD07-AAEC248345A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5956063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6253051-CFA1-CB5E-837F-0483B349B24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C5FDB27-07B3-09EA-FC0C-659F13E2A2B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741F3FB-26C7-904C-383F-EEFAAC2D586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09297117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E4356CA-44D2-0CE3-653A-CF2944457D3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8463E22-1319-3E72-5526-4DAAA20945F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4AC8DB4-0C07-B70B-2CC2-BD7526280E9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2597238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1576830-E28E-2D5F-C20E-A9DBB5A13AE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6013F49-DA3B-4488-F46E-D5DD30F10BD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D2D9884-DF4A-27F2-2854-1F43AA0B884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8865783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520B157-5651-24A1-8720-CF09CBA292B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D62F168-1756-7BF6-E542-5E080C0427A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79D3E2F-1CAA-C659-C5EE-8DE64B638C7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58759657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388882365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txBody>
          <a:bodyPr/>
          <a:lstStyle/>
          <a:p>
            <a:endParaRPr lang="en-US"/>
          </a:p>
        </p:txBody>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hyperlink" Target="https://michaelbach.de/ot/" TargetMode="External"/><Relationship Id="rId5" Type="http://schemas.openxmlformats.org/officeDocument/2006/relationships/image" Target="../media/image5.png"/><Relationship Id="rId4" Type="http://schemas.openxmlformats.org/officeDocument/2006/relationships/image" Target="../media/image4.gif"/></Relationships>
</file>

<file path=ppt/slides/_rels/slide3.xml.rels><?xml version="1.0" encoding="UTF-8" standalone="yes"?>
<Relationships xmlns="http://schemas.openxmlformats.org/package/2006/relationships"><Relationship Id="rId3" Type="http://schemas.openxmlformats.org/officeDocument/2006/relationships/hyperlink" Target="https://marius-juston.github.io/SE-423---Class-Material/Homeworks/HW4.pdf"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3" Type="http://schemas.openxmlformats.org/officeDocument/2006/relationships/hyperlink" Target="https://visionbook.mit.edu/"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9.jpeg"/><Relationship Id="rId5" Type="http://schemas.openxmlformats.org/officeDocument/2006/relationships/image" Target="../media/image3.png"/><Relationship Id="rId4" Type="http://schemas.openxmlformats.org/officeDocument/2006/relationships/hyperlink" Target="https://isl.stanford.edu/~abbas/ee392b/lect04.pdf" TargetMode="Externa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11.svg"/><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11.svg"/><Relationship Id="rId4" Type="http://schemas.openxmlformats.org/officeDocument/2006/relationships/image" Target="../media/image10.pn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13.jpeg"/><Relationship Id="rId5" Type="http://schemas.openxmlformats.org/officeDocument/2006/relationships/hyperlink" Target="https://evidentscientific.com/en/microscope-resource/knowledge-hub/digital-imaging/cmosimagesensors" TargetMode="External"/><Relationship Id="rId4" Type="http://schemas.openxmlformats.org/officeDocument/2006/relationships/image" Target="../media/image12.jpe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hyperlink" Target="https://isl.stanford.edu/~abbas/ee392b/lect04.pdf" TargetMode="External"/><Relationship Id="rId5" Type="http://schemas.openxmlformats.org/officeDocument/2006/relationships/image" Target="../media/image15.svg"/><Relationship Id="rId4" Type="http://schemas.openxmlformats.org/officeDocument/2006/relationships/image" Target="../media/image14.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17.svg"/><Relationship Id="rId4" Type="http://schemas.openxmlformats.org/officeDocument/2006/relationships/image" Target="../media/image16.png"/></Relationships>
</file>

<file path=ppt/slides/_rels/slide16.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11.sv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8" Type="http://schemas.openxmlformats.org/officeDocument/2006/relationships/hyperlink" Target="https://en.wikipedia.org/wiki/Bayer_filter" TargetMode="External"/><Relationship Id="rId3" Type="http://schemas.openxmlformats.org/officeDocument/2006/relationships/image" Target="../media/image3.png"/><Relationship Id="rId7" Type="http://schemas.openxmlformats.org/officeDocument/2006/relationships/image" Target="../media/image21.sv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20.png"/><Relationship Id="rId5" Type="http://schemas.openxmlformats.org/officeDocument/2006/relationships/image" Target="../media/image19.svg"/><Relationship Id="rId4" Type="http://schemas.openxmlformats.org/officeDocument/2006/relationships/image" Target="../media/image18.png"/></Relationships>
</file>

<file path=ppt/slides/_rels/slide20.xml.rels><?xml version="1.0" encoding="UTF-8" standalone="yes"?>
<Relationships xmlns="http://schemas.openxmlformats.org/package/2006/relationships"><Relationship Id="rId3" Type="http://schemas.openxmlformats.org/officeDocument/2006/relationships/image" Target="../media/image22.png"/><Relationship Id="rId7" Type="http://schemas.openxmlformats.org/officeDocument/2006/relationships/hyperlink" Target="https://en.wikipedia.org/wiki/Bayer_filter" TargetMode="External"/><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19.svg"/><Relationship Id="rId5" Type="http://schemas.openxmlformats.org/officeDocument/2006/relationships/image" Target="../media/image18.png"/><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hyperlink" Target="https://en.wikipedia.org/wiki/Color_vision" TargetMode="External"/><Relationship Id="rId5" Type="http://schemas.openxmlformats.org/officeDocument/2006/relationships/image" Target="../media/image24.svg"/><Relationship Id="rId4" Type="http://schemas.openxmlformats.org/officeDocument/2006/relationships/image" Target="../media/image23.png"/></Relationships>
</file>

<file path=ppt/slides/_rels/slide2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26.png"/><Relationship Id="rId5" Type="http://schemas.openxmlformats.org/officeDocument/2006/relationships/hyperlink" Target="https://en.wikipedia.org/wiki/Color_vision" TargetMode="External"/><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3.xml"/><Relationship Id="rId1" Type="http://schemas.openxmlformats.org/officeDocument/2006/relationships/slideLayout" Target="../slideLayouts/slideLayout2.xml"/><Relationship Id="rId5" Type="http://schemas.openxmlformats.org/officeDocument/2006/relationships/image" Target="../media/image28.png"/><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 Id="rId5" Type="http://schemas.openxmlformats.org/officeDocument/2006/relationships/hyperlink" Target="https://en.wikipedia.org/wiki/HSL_and_HSV" TargetMode="External"/><Relationship Id="rId4" Type="http://schemas.openxmlformats.org/officeDocument/2006/relationships/image" Target="../media/image29.png"/></Relationships>
</file>

<file path=ppt/slides/_rels/slide2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hyperlink" Target="https://en.wikipedia.org/wiki/HSL_and_HSV" TargetMode="External"/><Relationship Id="rId5" Type="http://schemas.openxmlformats.org/officeDocument/2006/relationships/image" Target="../media/image29.png"/><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2.xml"/><Relationship Id="rId5" Type="http://schemas.openxmlformats.org/officeDocument/2006/relationships/hyperlink" Target="https://en.wikipedia.org/wiki/HSL_and_HSV" TargetMode="External"/><Relationship Id="rId4" Type="http://schemas.openxmlformats.org/officeDocument/2006/relationships/image" Target="../media/image29.png"/></Relationships>
</file>

<file path=ppt/slides/_rels/slide28.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hyperlink" Target="https://en.wikipedia.org/wiki/HSL_and_HSV" TargetMode="External"/><Relationship Id="rId5" Type="http://schemas.openxmlformats.org/officeDocument/2006/relationships/image" Target="../media/image29.png"/><Relationship Id="rId4" Type="http://schemas.openxmlformats.org/officeDocument/2006/relationships/image" Target="../media/image3.png"/></Relationships>
</file>

<file path=ppt/slides/_rels/slide29.xml.rels><?xml version="1.0" encoding="UTF-8" standalone="yes"?>
<Relationships xmlns="http://schemas.openxmlformats.org/package/2006/relationships"><Relationship Id="rId8" Type="http://schemas.openxmlformats.org/officeDocument/2006/relationships/hyperlink" Target="https://en.wikipedia.org/wiki/HSL_and_HSV#Disadvantages" TargetMode="External"/><Relationship Id="rId3" Type="http://schemas.openxmlformats.org/officeDocument/2006/relationships/image" Target="../media/image3.png"/><Relationship Id="rId7" Type="http://schemas.openxmlformats.org/officeDocument/2006/relationships/image" Target="../media/image33.jpe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32.jpeg"/><Relationship Id="rId5" Type="http://schemas.openxmlformats.org/officeDocument/2006/relationships/image" Target="../media/image31.jpeg"/><Relationship Id="rId4" Type="http://schemas.openxmlformats.org/officeDocument/2006/relationships/image" Target="../media/image30.jpe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hyperlink" Target="https://en.wikipedia.org/wiki/CIELAB_color_space" TargetMode="External"/></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hyperlink" Target="https://en.wikipedia.org/wiki/CIELAB_color_space" TargetMode="External"/><Relationship Id="rId5" Type="http://schemas.openxmlformats.org/officeDocument/2006/relationships/image" Target="../media/image35.png"/><Relationship Id="rId4" Type="http://schemas.openxmlformats.org/officeDocument/2006/relationships/image" Target="../media/image34.png"/></Relationships>
</file>

<file path=ppt/slides/_rels/slide33.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33.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4.xml"/><Relationship Id="rId1" Type="http://schemas.openxmlformats.org/officeDocument/2006/relationships/slideLayout" Target="../slideLayouts/slideLayout2.xml"/><Relationship Id="rId5" Type="http://schemas.openxmlformats.org/officeDocument/2006/relationships/image" Target="../media/image11.svg"/><Relationship Id="rId4" Type="http://schemas.openxmlformats.org/officeDocument/2006/relationships/image" Target="../media/image10.pn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4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1.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4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2.xml.rels><?xml version="1.0" encoding="UTF-8" standalone="yes"?>
<Relationships xmlns="http://schemas.openxmlformats.org/package/2006/relationships"><Relationship Id="rId3" Type="http://schemas.openxmlformats.org/officeDocument/2006/relationships/notesSlide" Target="../notesSlides/notesSlide42.xml"/><Relationship Id="rId2" Type="http://schemas.openxmlformats.org/officeDocument/2006/relationships/slideLayout" Target="../slideLayouts/slideLayout2.xml"/><Relationship Id="rId1" Type="http://schemas.openxmlformats.org/officeDocument/2006/relationships/video" Target="https://www.youtube.com/embed/-WRpijIHN3M?feature=oembed" TargetMode="External"/><Relationship Id="rId5" Type="http://schemas.openxmlformats.org/officeDocument/2006/relationships/image" Target="../media/image36.jpeg"/><Relationship Id="rId4" Type="http://schemas.openxmlformats.org/officeDocument/2006/relationships/image" Target="../media/image3.png"/></Relationships>
</file>

<file path=ppt/slides/_rels/slide43.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4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4.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44.xml"/><Relationship Id="rId1" Type="http://schemas.openxmlformats.org/officeDocument/2006/relationships/slideLayout" Target="../slideLayouts/slideLayout1.xml"/><Relationship Id="rId4" Type="http://schemas.openxmlformats.org/officeDocument/2006/relationships/image" Target="../media/image37.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txBox="1"/>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spcBef>
                <a:spcPts val="600"/>
              </a:spcBef>
              <a:buSzPts val="4500"/>
            </a:pPr>
            <a:r>
              <a:rPr lang="en-US" sz="4500" b="1" dirty="0">
                <a:solidFill>
                  <a:schemeClr val="lt1"/>
                </a:solidFill>
              </a:rPr>
              <a:t>SE 423: Introduction to Mechatronics</a:t>
            </a:r>
            <a:endParaRPr lang="en-US" sz="4500" dirty="0"/>
          </a:p>
          <a:p>
            <a:pPr marL="0" marR="0" lvl="0" indent="0" algn="ctr" rtl="0">
              <a:lnSpc>
                <a:spcPct val="100000"/>
              </a:lnSpc>
              <a:spcBef>
                <a:spcPts val="600"/>
              </a:spcBef>
              <a:spcAft>
                <a:spcPts val="0"/>
              </a:spcAft>
              <a:buNone/>
            </a:pPr>
            <a:r>
              <a:rPr lang="en-US" sz="2500" dirty="0">
                <a:solidFill>
                  <a:schemeClr val="lt1"/>
                </a:solidFill>
              </a:rPr>
              <a:t>Lecture 17: Vision Processing, Cameras, Blob Detection</a:t>
            </a:r>
            <a:endParaRPr dirty="0"/>
          </a:p>
          <a:p>
            <a:pPr marL="0" marR="0" lvl="0" indent="0" algn="ctr" rtl="0">
              <a:lnSpc>
                <a:spcPct val="100000"/>
              </a:lnSpc>
              <a:spcBef>
                <a:spcPts val="600"/>
              </a:spcBef>
              <a:spcAft>
                <a:spcPts val="0"/>
              </a:spcAft>
              <a:buNone/>
            </a:pPr>
            <a:endParaRPr sz="1800" b="0" i="0" u="none" strike="noStrike" cap="none" dirty="0">
              <a:solidFill>
                <a:schemeClr val="lt1"/>
              </a:solidFill>
              <a:latin typeface="Arial"/>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rial"/>
                <a:ea typeface="Arial"/>
                <a:cs typeface="Arial"/>
                <a:sym typeface="Arial"/>
              </a:rPr>
              <a:t>Marius Juston</a:t>
            </a:r>
            <a:endParaRPr sz="1800" b="0" i="0" u="none" strike="noStrike" cap="none" dirty="0">
              <a:solidFill>
                <a:srgbClr val="000000"/>
              </a:solidFill>
              <a:latin typeface="Arial"/>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lt1"/>
                </a:solidFill>
                <a:latin typeface="Arial"/>
                <a:ea typeface="Arial"/>
                <a:cs typeface="Arial"/>
                <a:sym typeface="Arial"/>
              </a:rPr>
              <a:t>DATE</a:t>
            </a:r>
            <a:endParaRPr sz="1800" b="0" i="0" u="none" strike="noStrike" cap="none">
              <a:solidFill>
                <a:schemeClr val="lt1"/>
              </a:solidFill>
              <a:latin typeface="Arial"/>
              <a:ea typeface="Arial"/>
              <a:cs typeface="Arial"/>
              <a:sym typeface="Arial"/>
            </a:endParaRPr>
          </a:p>
        </p:txBody>
      </p:sp>
      <p:pic>
        <p:nvPicPr>
          <p:cNvPr id="84" name="Google Shape;84;p26"/>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87707C-0AB4-57C3-5639-B4BEF43893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EA1A55-2BAC-C6A5-ABC3-168138F62B6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Talk to the person next to you and answer these questions.</a:t>
            </a:r>
          </a:p>
          <a:p>
            <a:pPr marL="285750" indent="-285750">
              <a:lnSpc>
                <a:spcPct val="100000"/>
              </a:lnSpc>
              <a:spcBef>
                <a:spcPts val="0"/>
              </a:spcBef>
              <a:buSzPts val="3000"/>
            </a:pPr>
            <a:endParaRPr lang="en-US" sz="2400" dirty="0">
              <a:latin typeface="Arial"/>
              <a:ea typeface="Arial"/>
              <a:cs typeface="Arial"/>
              <a:sym typeface="Arial"/>
            </a:endParaRPr>
          </a:p>
          <a:p>
            <a:pPr marL="285750" indent="-285750">
              <a:lnSpc>
                <a:spcPct val="100000"/>
              </a:lnSpc>
              <a:spcBef>
                <a:spcPts val="0"/>
              </a:spcBef>
              <a:buSzPts val="3000"/>
            </a:pPr>
            <a:r>
              <a:rPr lang="en-US" sz="2400" dirty="0">
                <a:solidFill>
                  <a:schemeClr val="dk1"/>
                </a:solidFill>
                <a:latin typeface="Arial"/>
                <a:ea typeface="Arial"/>
                <a:cs typeface="Arial"/>
                <a:sym typeface="Arial"/>
              </a:rPr>
              <a:t>What does RGB stand for?</a:t>
            </a:r>
          </a:p>
          <a:p>
            <a:pPr marL="285750" indent="-285750">
              <a:lnSpc>
                <a:spcPct val="100000"/>
              </a:lnSpc>
              <a:spcBef>
                <a:spcPts val="0"/>
              </a:spcBef>
              <a:buSzPts val="3000"/>
            </a:pPr>
            <a:r>
              <a:rPr lang="en-US" sz="2400" dirty="0">
                <a:latin typeface="Arial"/>
                <a:ea typeface="Arial"/>
                <a:cs typeface="Arial"/>
                <a:sym typeface="Arial"/>
              </a:rPr>
              <a:t>How many colors are there? Are the lines straight?</a:t>
            </a:r>
            <a:endParaRPr lang="en-US" sz="2400" dirty="0">
              <a:solidFill>
                <a:schemeClr val="dk1"/>
              </a:solidFill>
              <a:latin typeface="Arial"/>
              <a:ea typeface="Arial"/>
              <a:cs typeface="Arial"/>
              <a:sym typeface="Arial"/>
            </a:endParaRPr>
          </a:p>
          <a:p>
            <a:pPr marL="285750" indent="-285750">
              <a:lnSpc>
                <a:spcPct val="100000"/>
              </a:lnSpc>
              <a:spcBef>
                <a:spcPts val="0"/>
              </a:spcBef>
              <a:buSzPts val="3000"/>
            </a:pPr>
            <a:endParaRPr lang="en-US" sz="2400" dirty="0">
              <a:latin typeface="Arial"/>
              <a:ea typeface="Arial"/>
              <a:cs typeface="Arial"/>
              <a:sym typeface="Arial"/>
            </a:endParaRPr>
          </a:p>
          <a:p>
            <a:pPr marL="285750" indent="-285750">
              <a:lnSpc>
                <a:spcPct val="100000"/>
              </a:lnSpc>
              <a:spcBef>
                <a:spcPts val="0"/>
              </a:spcBef>
              <a:buSzPts val="3000"/>
            </a:pPr>
            <a:endParaRPr lang="en-US" sz="2400" dirty="0">
              <a:solidFill>
                <a:schemeClr val="dk1"/>
              </a:solidFill>
              <a:latin typeface="Arial"/>
              <a:ea typeface="Arial"/>
              <a:cs typeface="Arial"/>
              <a:sym typeface="Arial"/>
            </a:endParaRPr>
          </a:p>
          <a:p>
            <a:pPr marL="285750" indent="-285750">
              <a:lnSpc>
                <a:spcPct val="100000"/>
              </a:lnSpc>
              <a:spcBef>
                <a:spcPts val="0"/>
              </a:spcBef>
              <a:buSzPts val="3000"/>
            </a:pPr>
            <a:endParaRPr lang="en-US" sz="2400" dirty="0">
              <a:latin typeface="Arial"/>
              <a:ea typeface="Arial"/>
              <a:cs typeface="Arial"/>
              <a:sym typeface="Arial"/>
            </a:endParaRPr>
          </a:p>
          <a:p>
            <a:pPr marL="285750" indent="-285750">
              <a:lnSpc>
                <a:spcPct val="100000"/>
              </a:lnSpc>
              <a:spcBef>
                <a:spcPts val="0"/>
              </a:spcBef>
              <a:buSzPts val="3000"/>
            </a:pPr>
            <a:endParaRPr lang="en-US" sz="2400" dirty="0">
              <a:solidFill>
                <a:schemeClr val="dk1"/>
              </a:solidFill>
              <a:latin typeface="Arial"/>
              <a:ea typeface="Arial"/>
              <a:cs typeface="Arial"/>
              <a:sym typeface="Arial"/>
            </a:endParaRPr>
          </a:p>
          <a:p>
            <a:pPr marL="285750" indent="-285750">
              <a:lnSpc>
                <a:spcPct val="100000"/>
              </a:lnSpc>
              <a:spcBef>
                <a:spcPts val="0"/>
              </a:spcBef>
              <a:buSzPts val="3000"/>
            </a:pPr>
            <a:endParaRPr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AADDCC56-907C-FD39-6E34-87042D08FA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941C760-8B23-A46D-5C4A-981290CB9EB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Review – 5-minute partner discussion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1984774-B7FA-53FC-ECBE-3FFBD377F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2648EA-0120-942E-FA7D-98B9C25F4F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87DBB9-03BE-10E2-9B63-400A9675CE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B542CF-2028-95AA-CCEF-91A8D02AD1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141631-F3ED-2759-4D92-932A85BC40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D9BF8E-CB10-CAD2-7648-4939A5B564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1026" name="Picture 2">
            <a:extLst>
              <a:ext uri="{FF2B5EF4-FFF2-40B4-BE49-F238E27FC236}">
                <a16:creationId xmlns:a16="http://schemas.microsoft.com/office/drawing/2014/main" id="{5C9ED0E5-D2F3-6859-05CA-DBB780B2AEF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27279" y="2870951"/>
            <a:ext cx="3654112" cy="2813666"/>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a:extLst>
              <a:ext uri="{FF2B5EF4-FFF2-40B4-BE49-F238E27FC236}">
                <a16:creationId xmlns:a16="http://schemas.microsoft.com/office/drawing/2014/main" id="{24A77EEA-1740-B395-D98B-8393E536A5FE}"/>
              </a:ext>
            </a:extLst>
          </p:cNvPr>
          <p:cNvPicPr>
            <a:picLocks noChangeAspect="1"/>
          </p:cNvPicPr>
          <p:nvPr/>
        </p:nvPicPr>
        <p:blipFill>
          <a:blip r:embed="rId5"/>
          <a:stretch>
            <a:fillRect/>
          </a:stretch>
        </p:blipFill>
        <p:spPr>
          <a:xfrm>
            <a:off x="6167022" y="2870951"/>
            <a:ext cx="4118907" cy="2945301"/>
          </a:xfrm>
          <a:prstGeom prst="rect">
            <a:avLst/>
          </a:prstGeom>
        </p:spPr>
      </p:pic>
      <p:sp>
        <p:nvSpPr>
          <p:cNvPr id="5" name="TextBox 4">
            <a:extLst>
              <a:ext uri="{FF2B5EF4-FFF2-40B4-BE49-F238E27FC236}">
                <a16:creationId xmlns:a16="http://schemas.microsoft.com/office/drawing/2014/main" id="{E925A56A-A2DB-7BA7-00B2-27F8A193BF16}"/>
              </a:ext>
            </a:extLst>
          </p:cNvPr>
          <p:cNvSpPr txBox="1"/>
          <p:nvPr/>
        </p:nvSpPr>
        <p:spPr>
          <a:xfrm>
            <a:off x="2973698" y="6101038"/>
            <a:ext cx="5716250" cy="307777"/>
          </a:xfrm>
          <a:prstGeom prst="rect">
            <a:avLst/>
          </a:prstGeom>
          <a:noFill/>
        </p:spPr>
        <p:txBody>
          <a:bodyPr wrap="square">
            <a:spAutoFit/>
          </a:bodyPr>
          <a:lstStyle/>
          <a:p>
            <a:pPr algn="ctr"/>
            <a:r>
              <a:rPr lang="en-US" dirty="0"/>
              <a:t>check out </a:t>
            </a:r>
            <a:r>
              <a:rPr lang="en-US" dirty="0">
                <a:hlinkClick r:id="rId6"/>
              </a:rPr>
              <a:t>https://michaelbach.de/ot/</a:t>
            </a:r>
            <a:r>
              <a:rPr lang="en-US" dirty="0"/>
              <a:t> for a bunch of optical illusions!</a:t>
            </a:r>
          </a:p>
        </p:txBody>
      </p:sp>
    </p:spTree>
    <p:extLst>
      <p:ext uri="{BB962C8B-B14F-4D97-AF65-F5344CB8AC3E}">
        <p14:creationId xmlns:p14="http://schemas.microsoft.com/office/powerpoint/2010/main" val="17020808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rial"/>
                <a:ea typeface="Arial"/>
                <a:cs typeface="Arial"/>
                <a:sym typeface="Arial"/>
              </a:rPr>
              <a:t>Office Hours:</a:t>
            </a:r>
            <a:endParaRPr lang="en-US" sz="2600" b="1" dirty="0">
              <a:solidFill>
                <a:srgbClr val="E84B36"/>
              </a:solidFill>
              <a:latin typeface="Arial"/>
              <a:ea typeface="Arial"/>
              <a:cs typeface="Arial"/>
              <a:sym typeface="Arial"/>
            </a:endParaRPr>
          </a:p>
          <a:p>
            <a:pPr marL="285750" indent="-285750">
              <a:lnSpc>
                <a:spcPct val="100000"/>
              </a:lnSpc>
              <a:spcBef>
                <a:spcPts val="0"/>
              </a:spcBef>
              <a:buSzPts val="3000"/>
            </a:pPr>
            <a:r>
              <a:rPr lang="en-US" sz="1800" b="1" dirty="0">
                <a:solidFill>
                  <a:schemeClr val="dk1"/>
                </a:solidFill>
                <a:latin typeface="Arial"/>
                <a:ea typeface="Arial"/>
                <a:cs typeface="Arial"/>
                <a:sym typeface="Arial"/>
              </a:rPr>
              <a:t>Monday: </a:t>
            </a:r>
            <a:r>
              <a:rPr lang="en-US" sz="1800" dirty="0">
                <a:solidFill>
                  <a:schemeClr val="dk1"/>
                </a:solidFill>
                <a:latin typeface="Arial"/>
                <a:ea typeface="Arial"/>
                <a:cs typeface="Arial"/>
                <a:sym typeface="Arial"/>
              </a:rPr>
              <a:t>4-6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Neel</a:t>
            </a:r>
          </a:p>
          <a:p>
            <a:pPr marL="285750" indent="-285750">
              <a:lnSpc>
                <a:spcPct val="100000"/>
              </a:lnSpc>
              <a:spcBef>
                <a:spcPts val="0"/>
              </a:spcBef>
              <a:buSzPts val="3000"/>
            </a:pPr>
            <a:r>
              <a:rPr lang="en-US" sz="1800" b="1" dirty="0">
                <a:latin typeface="Arial"/>
                <a:ea typeface="Arial"/>
                <a:cs typeface="Arial"/>
                <a:sym typeface="Arial"/>
              </a:rPr>
              <a:t>Tuesday: </a:t>
            </a:r>
            <a:r>
              <a:rPr lang="en-US" sz="1800" dirty="0">
                <a:latin typeface="Arial"/>
                <a:ea typeface="Arial"/>
                <a:cs typeface="Arial"/>
                <a:sym typeface="Arial"/>
              </a:rPr>
              <a:t>11-1 PM</a:t>
            </a:r>
            <a:r>
              <a:rPr lang="en-US" sz="1800" b="1" dirty="0">
                <a:latin typeface="Arial"/>
                <a:ea typeface="Arial"/>
                <a:cs typeface="Arial"/>
                <a:sym typeface="Arial"/>
              </a:rPr>
              <a:t>, </a:t>
            </a:r>
            <a:r>
              <a:rPr lang="en-US" sz="1800" dirty="0">
                <a:latin typeface="Arial"/>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latin typeface="Arial"/>
                <a:ea typeface="Arial"/>
                <a:cs typeface="Arial"/>
                <a:sym typeface="Arial"/>
              </a:rPr>
              <a:t>1-3 PM</a:t>
            </a:r>
            <a:r>
              <a:rPr lang="en-US" sz="1800" b="1" dirty="0">
                <a:latin typeface="Arial"/>
                <a:ea typeface="Arial"/>
                <a:cs typeface="Arial"/>
                <a:sym typeface="Arial"/>
              </a:rPr>
              <a:t>, </a:t>
            </a:r>
            <a:r>
              <a:rPr lang="en-US" sz="1800" dirty="0">
                <a:latin typeface="Arial"/>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solidFill>
                  <a:schemeClr val="dk1"/>
                </a:solidFill>
                <a:latin typeface="Arial"/>
                <a:ea typeface="Arial"/>
                <a:cs typeface="Arial"/>
                <a:sym typeface="Arial"/>
              </a:rPr>
              <a:t>2-5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Dan &amp; Marius</a:t>
            </a:r>
          </a:p>
          <a:p>
            <a:pPr marL="285750" indent="-285750">
              <a:lnSpc>
                <a:spcPct val="100000"/>
              </a:lnSpc>
              <a:spcBef>
                <a:spcPts val="0"/>
              </a:spcBef>
              <a:buSzPts val="3000"/>
            </a:pPr>
            <a:endParaRPr lang="en-US" sz="1800" b="1"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 </a:t>
            </a:r>
            <a:r>
              <a:rPr lang="en-US" sz="1800" dirty="0">
                <a:latin typeface="Arial"/>
                <a:ea typeface="Arial"/>
                <a:cs typeface="Arial"/>
                <a:sym typeface="Arial"/>
              </a:rPr>
              <a:t>Starting Lab 6 this week. This a 3-week lab!</a:t>
            </a:r>
          </a:p>
          <a:p>
            <a:pPr marL="285750" indent="-285750">
              <a:lnSpc>
                <a:spcPct val="100000"/>
              </a:lnSpc>
              <a:spcBef>
                <a:spcPts val="0"/>
              </a:spcBef>
              <a:buSzPts val="3000"/>
            </a:pPr>
            <a:r>
              <a:rPr lang="en-US" sz="1800" dirty="0">
                <a:solidFill>
                  <a:schemeClr val="tx1"/>
                </a:solidFill>
                <a:latin typeface="Arial"/>
                <a:ea typeface="Arial"/>
                <a:cs typeface="Arial"/>
                <a:sym typeface="Arial"/>
              </a:rPr>
              <a:t>Don’t forget to have the Lab LabVIEW application implemented before lab.</a:t>
            </a:r>
          </a:p>
          <a:p>
            <a:pPr marL="285750" indent="-285750">
              <a:lnSpc>
                <a:spcPct val="100000"/>
              </a:lnSpc>
              <a:spcBef>
                <a:spcPts val="0"/>
              </a:spcBef>
              <a:buSzPts val="3000"/>
            </a:pPr>
            <a:endParaRPr lang="en-US" sz="1800" b="1" dirty="0">
              <a:solidFill>
                <a:srgbClr val="E84B36"/>
              </a:solidFill>
              <a:latin typeface="Arial"/>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rial"/>
                <a:ea typeface="Arial"/>
                <a:cs typeface="Arial"/>
                <a:sym typeface="Arial"/>
              </a:rPr>
              <a:t>Homeworks</a:t>
            </a:r>
            <a:r>
              <a:rPr lang="en-US" sz="1800" b="1" dirty="0">
                <a:solidFill>
                  <a:srgbClr val="E84B36"/>
                </a:solidFill>
                <a:latin typeface="Arial"/>
                <a:ea typeface="Arial"/>
                <a:cs typeface="Arial"/>
                <a:sym typeface="Arial"/>
              </a:rPr>
              <a:t>:</a:t>
            </a: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4</a:t>
            </a:r>
            <a:r>
              <a:rPr lang="en-US" sz="1800" dirty="0">
                <a:latin typeface="Arial"/>
                <a:ea typeface="Arial"/>
                <a:cs typeface="Arial"/>
                <a:sym typeface="Arial"/>
              </a:rPr>
              <a:t> Ex 2 and 3 are due </a:t>
            </a:r>
            <a:r>
              <a:rPr lang="en-US" sz="1800" b="1" dirty="0">
                <a:latin typeface="Arial"/>
                <a:ea typeface="Arial"/>
                <a:cs typeface="Arial"/>
                <a:sym typeface="Arial"/>
              </a:rPr>
              <a:t>March 31, 5PM (The end of office hours)</a:t>
            </a:r>
            <a:endParaRPr lang="en-US" sz="1800" dirty="0">
              <a:latin typeface="Arial"/>
              <a:ea typeface="Arial"/>
              <a:cs typeface="Arial"/>
              <a:sym typeface="Arial"/>
            </a:endParaRP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4</a:t>
            </a:r>
            <a:r>
              <a:rPr lang="en-US" sz="1800" dirty="0">
                <a:latin typeface="Arial"/>
                <a:ea typeface="Arial"/>
                <a:cs typeface="Arial"/>
                <a:sym typeface="Arial"/>
              </a:rPr>
              <a:t> Ex 4 are due </a:t>
            </a:r>
            <a:r>
              <a:rPr lang="en-US" sz="1800" b="1" dirty="0">
                <a:latin typeface="Arial"/>
                <a:ea typeface="Arial"/>
                <a:cs typeface="Arial"/>
                <a:sym typeface="Arial"/>
              </a:rPr>
              <a:t>April 7, 5PM (The end of office hours)</a:t>
            </a:r>
          </a:p>
          <a:p>
            <a:pPr marL="285750" indent="-285750">
              <a:lnSpc>
                <a:spcPct val="100000"/>
              </a:lnSpc>
              <a:spcBef>
                <a:spcPts val="0"/>
              </a:spcBef>
              <a:buSzPts val="3000"/>
            </a:pPr>
            <a:r>
              <a:rPr lang="en-US" sz="1800" dirty="0">
                <a:latin typeface="Arial"/>
                <a:ea typeface="Arial"/>
                <a:cs typeface="Arial"/>
                <a:sym typeface="Arial"/>
              </a:rPr>
              <a:t>Remainder of </a:t>
            </a:r>
            <a:r>
              <a:rPr lang="en-US" sz="1800" dirty="0">
                <a:latin typeface="Arial"/>
                <a:ea typeface="Arial"/>
                <a:cs typeface="Arial"/>
                <a:sym typeface="Arial"/>
                <a:hlinkClick r:id="rId3"/>
              </a:rPr>
              <a:t>homework 4</a:t>
            </a:r>
            <a:r>
              <a:rPr lang="en-US" sz="1800" dirty="0">
                <a:latin typeface="Arial"/>
                <a:ea typeface="Arial"/>
                <a:cs typeface="Arial"/>
                <a:sym typeface="Arial"/>
              </a:rPr>
              <a:t> due on </a:t>
            </a:r>
            <a:r>
              <a:rPr lang="en-US" sz="1800" dirty="0" err="1">
                <a:latin typeface="Arial"/>
                <a:ea typeface="Arial"/>
                <a:cs typeface="Arial"/>
                <a:sym typeface="Arial"/>
              </a:rPr>
              <a:t>Gradescope</a:t>
            </a:r>
            <a:r>
              <a:rPr lang="en-US" sz="1800" dirty="0">
                <a:latin typeface="Arial"/>
                <a:ea typeface="Arial"/>
                <a:cs typeface="Arial"/>
                <a:sym typeface="Arial"/>
              </a:rPr>
              <a:t> on </a:t>
            </a:r>
            <a:r>
              <a:rPr lang="en-US" sz="1800" b="1" dirty="0">
                <a:latin typeface="Arial"/>
                <a:ea typeface="Arial"/>
                <a:cs typeface="Arial"/>
                <a:sym typeface="Arial"/>
              </a:rPr>
              <a:t>April 8, 9AM</a:t>
            </a: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Reminders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5A7A3C5-2C94-DFDE-B6CE-1AA71BB909D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AF3B574-1FB7-47D8-7C3B-2D8B80C1B71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18C368B-FE2D-5B17-BE43-7465482AEBFA}"/>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CBC3FB6-47F6-7775-CB52-E1D0141B8A3F}"/>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Questions?</a:t>
              </a:r>
              <a:endParaRPr sz="1400" b="0" i="0" u="none" strike="noStrike" cap="none" dirty="0">
                <a:solidFill>
                  <a:srgbClr val="000000"/>
                </a:solidFill>
                <a:latin typeface="Arial"/>
                <a:ea typeface="Arial"/>
                <a:cs typeface="Arial"/>
                <a:sym typeface="Arial"/>
              </a:endParaRPr>
            </a:p>
          </p:txBody>
        </p:sp>
        <p:sp>
          <p:nvSpPr>
            <p:cNvPr id="90" name="Google Shape;90;p27">
              <a:extLst>
                <a:ext uri="{FF2B5EF4-FFF2-40B4-BE49-F238E27FC236}">
                  <a16:creationId xmlns:a16="http://schemas.microsoft.com/office/drawing/2014/main" id="{D56A7593-AC73-7040-DB5D-E69F313BBDE7}"/>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rial"/>
                  <a:ea typeface="Arial"/>
                  <a:cs typeface="Arial"/>
                  <a:sym typeface="Arial"/>
                </a:rPr>
                <a:t>Homework, Lab, LabVIEW?</a:t>
              </a:r>
              <a:endParaRPr sz="1800" b="0" i="0" u="none" strike="noStrike" cap="none" dirty="0">
                <a:solidFill>
                  <a:schemeClr val="lt1"/>
                </a:solidFill>
                <a:latin typeface="Arial"/>
                <a:ea typeface="Arial"/>
                <a:cs typeface="Arial"/>
                <a:sym typeface="Arial"/>
              </a:endParaRPr>
            </a:p>
          </p:txBody>
        </p:sp>
        <p:cxnSp>
          <p:nvCxnSpPr>
            <p:cNvPr id="92" name="Google Shape;92;p27">
              <a:extLst>
                <a:ext uri="{FF2B5EF4-FFF2-40B4-BE49-F238E27FC236}">
                  <a16:creationId xmlns:a16="http://schemas.microsoft.com/office/drawing/2014/main" id="{BFE751B6-CF4D-273E-D560-6B4D883779F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7768501-64BD-D022-44D2-3CA620B502C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19915C55-6271-9B95-62A4-D901C77AA9D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6534BB9-415B-75C5-14DF-605417B1EA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8493C96-336F-E402-218B-5C13C8F04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3C3076B-D3BE-042B-369B-996B00F03F2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886A22C-18CA-ADCE-8A13-5D51F5F174D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5546652-0DF2-2B1B-5CB6-25C023D4F23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1306566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Computer Vision</a:t>
            </a:r>
            <a:endParaRPr sz="1800" b="0" i="0" u="none" strike="noStrike" cap="none" dirty="0">
              <a:solidFill>
                <a:srgbClr val="15264B"/>
              </a:solidFill>
              <a:latin typeface="Arial"/>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84C1449-3E0A-4861-9392-BE1442E4AF8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0B82F22-2950-651A-368C-79B66C411823}"/>
              </a:ext>
            </a:extLst>
          </p:cNvPr>
          <p:cNvSpPr txBox="1">
            <a:spLocks noGrp="1"/>
          </p:cNvSpPr>
          <p:nvPr>
            <p:ph type="body" idx="1"/>
          </p:nvPr>
        </p:nvSpPr>
        <p:spPr>
          <a:xfrm>
            <a:off x="376809" y="1334279"/>
            <a:ext cx="728129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I would </a:t>
            </a:r>
            <a:r>
              <a:rPr lang="en-US" sz="2200" b="1" dirty="0">
                <a:latin typeface="Arial"/>
                <a:ea typeface="Arial"/>
                <a:cs typeface="Arial"/>
                <a:sym typeface="Arial"/>
              </a:rPr>
              <a:t>HIGHLY</a:t>
            </a:r>
            <a:r>
              <a:rPr lang="en-US" sz="2200" dirty="0">
                <a:latin typeface="Arial"/>
                <a:ea typeface="Arial"/>
                <a:cs typeface="Arial"/>
                <a:sym typeface="Arial"/>
              </a:rPr>
              <a:t> recommend you looking at:</a:t>
            </a:r>
          </a:p>
          <a:p>
            <a:pPr marL="0" indent="0">
              <a:lnSpc>
                <a:spcPct val="100000"/>
              </a:lnSpc>
              <a:spcBef>
                <a:spcPts val="0"/>
              </a:spcBef>
              <a:buSzPts val="3000"/>
              <a:buNone/>
            </a:pPr>
            <a:endParaRPr lang="en-US" sz="2200" dirty="0">
              <a:solidFill>
                <a:schemeClr val="dk1"/>
              </a:solidFill>
              <a:latin typeface="Arial"/>
              <a:ea typeface="Arial"/>
              <a:cs typeface="Arial"/>
              <a:sym typeface="Arial"/>
            </a:endParaRPr>
          </a:p>
          <a:p>
            <a:pPr marL="342900">
              <a:lnSpc>
                <a:spcPct val="100000"/>
              </a:lnSpc>
              <a:spcBef>
                <a:spcPts val="0"/>
              </a:spcBef>
              <a:buSzPts val="3000"/>
            </a:pPr>
            <a:r>
              <a:rPr lang="en-US" sz="2200" dirty="0">
                <a:latin typeface="Arial"/>
                <a:ea typeface="Arial"/>
                <a:cs typeface="Arial"/>
                <a:sym typeface="Arial"/>
                <a:hlinkClick r:id="rId3"/>
              </a:rPr>
              <a:t>https://visionbook.mit.edu/</a:t>
            </a:r>
            <a:r>
              <a:rPr lang="en-US" sz="2200" dirty="0">
                <a:latin typeface="Arial"/>
                <a:ea typeface="Arial"/>
                <a:cs typeface="Arial"/>
                <a:sym typeface="Arial"/>
              </a:rPr>
              <a:t> </a:t>
            </a:r>
          </a:p>
          <a:p>
            <a:pPr marL="342900">
              <a:lnSpc>
                <a:spcPct val="100000"/>
              </a:lnSpc>
              <a:spcBef>
                <a:spcPts val="0"/>
              </a:spcBef>
              <a:buSzPts val="3000"/>
            </a:pPr>
            <a:endParaRPr lang="en-US" sz="2200" dirty="0">
              <a:solidFill>
                <a:schemeClr val="dk1"/>
              </a:solidFill>
              <a:latin typeface="Arial"/>
              <a:ea typeface="Arial"/>
              <a:cs typeface="Arial"/>
              <a:sym typeface="Arial"/>
            </a:endParaRPr>
          </a:p>
          <a:p>
            <a:pPr marL="342900">
              <a:lnSpc>
                <a:spcPct val="100000"/>
              </a:lnSpc>
              <a:spcBef>
                <a:spcPts val="0"/>
              </a:spcBef>
              <a:buSzPts val="3000"/>
            </a:pPr>
            <a:r>
              <a:rPr lang="en-US" sz="2200" dirty="0">
                <a:latin typeface="Arial"/>
                <a:ea typeface="Arial"/>
                <a:cs typeface="Arial"/>
                <a:sym typeface="Arial"/>
              </a:rPr>
              <a:t>The webpage is a textbook with all the math, background and information for computer vision. </a:t>
            </a:r>
          </a:p>
          <a:p>
            <a:pPr marL="342900">
              <a:lnSpc>
                <a:spcPct val="100000"/>
              </a:lnSpc>
              <a:spcBef>
                <a:spcPts val="0"/>
              </a:spcBef>
              <a:buSzPts val="3000"/>
            </a:pPr>
            <a:r>
              <a:rPr lang="en-US" sz="2200" dirty="0">
                <a:latin typeface="Arial"/>
                <a:ea typeface="Arial"/>
                <a:cs typeface="Arial"/>
                <a:sym typeface="Arial"/>
              </a:rPr>
              <a:t>We will only be doing a tiny portion of this in this lecture (there are whole grad classes for computer vision).</a:t>
            </a:r>
          </a:p>
          <a:p>
            <a:pPr marL="342900">
              <a:lnSpc>
                <a:spcPct val="100000"/>
              </a:lnSpc>
              <a:spcBef>
                <a:spcPts val="0"/>
              </a:spcBef>
              <a:buSzPts val="3000"/>
            </a:pPr>
            <a:r>
              <a:rPr lang="en-US" sz="2200" dirty="0">
                <a:latin typeface="Arial"/>
                <a:ea typeface="Arial"/>
                <a:cs typeface="Arial"/>
                <a:sym typeface="Arial"/>
              </a:rPr>
              <a:t>It is containerized very nicely, has lots of pictures, diagrams. Each section takes 5 minutes to read.</a:t>
            </a:r>
          </a:p>
          <a:p>
            <a:pPr marL="342900">
              <a:lnSpc>
                <a:spcPct val="100000"/>
              </a:lnSpc>
              <a:spcBef>
                <a:spcPts val="0"/>
              </a:spcBef>
              <a:buSzPts val="3000"/>
            </a:pPr>
            <a:endParaRPr lang="en-US" sz="2200" dirty="0">
              <a:latin typeface="Arial"/>
              <a:ea typeface="Arial"/>
              <a:cs typeface="Arial"/>
              <a:sym typeface="Arial"/>
            </a:endParaRPr>
          </a:p>
          <a:p>
            <a:pPr marL="342900">
              <a:lnSpc>
                <a:spcPct val="100000"/>
              </a:lnSpc>
              <a:spcBef>
                <a:spcPts val="0"/>
              </a:spcBef>
              <a:buSzPts val="3000"/>
            </a:pPr>
            <a:r>
              <a:rPr lang="en-US" sz="2200" dirty="0">
                <a:latin typeface="Arial"/>
                <a:ea typeface="Arial"/>
                <a:cs typeface="Arial"/>
                <a:sym typeface="Arial"/>
              </a:rPr>
              <a:t>(also, for more CMOS details look at </a:t>
            </a:r>
            <a:r>
              <a:rPr lang="en-US" sz="2200" dirty="0">
                <a:latin typeface="Arial"/>
                <a:ea typeface="Arial"/>
                <a:cs typeface="Arial"/>
                <a:sym typeface="Arial"/>
                <a:hlinkClick r:id="rId4"/>
              </a:rPr>
              <a:t>https://isl.stanford.edu/~abbas/ee392b/lect04.pdf</a:t>
            </a:r>
            <a:r>
              <a:rPr lang="en-US" sz="2200" dirty="0">
                <a:latin typeface="Arial"/>
                <a:ea typeface="Arial"/>
                <a:cs typeface="Arial"/>
                <a:sym typeface="Arial"/>
              </a:rPr>
              <a:t> )</a:t>
            </a:r>
          </a:p>
          <a:p>
            <a:pPr marL="0" indent="0">
              <a:lnSpc>
                <a:spcPct val="100000"/>
              </a:lnSpc>
              <a:spcBef>
                <a:spcPts val="0"/>
              </a:spcBef>
              <a:buSzPts val="3000"/>
              <a:buNone/>
            </a:pPr>
            <a:r>
              <a:rPr lang="en-US" sz="2200" dirty="0">
                <a:latin typeface="Arial"/>
                <a:ea typeface="Arial"/>
                <a:cs typeface="Arial"/>
                <a:sym typeface="Arial"/>
              </a:rPr>
              <a:t> </a:t>
            </a:r>
          </a:p>
          <a:p>
            <a:pPr marL="342900">
              <a:lnSpc>
                <a:spcPct val="100000"/>
              </a:lnSpc>
              <a:spcBef>
                <a:spcPts val="0"/>
              </a:spcBef>
              <a:buSzPts val="3000"/>
            </a:pPr>
            <a:endParaRPr lang="en-US" sz="2200" dirty="0">
              <a:solidFill>
                <a:schemeClr val="dk1"/>
              </a:solidFill>
              <a:latin typeface="Arial"/>
              <a:ea typeface="Arial"/>
              <a:cs typeface="Arial"/>
              <a:sym typeface="Arial"/>
            </a:endParaRPr>
          </a:p>
          <a:p>
            <a:pPr marL="0" indent="0">
              <a:lnSpc>
                <a:spcPct val="100000"/>
              </a:lnSpc>
              <a:spcBef>
                <a:spcPts val="0"/>
              </a:spcBef>
              <a:buSzPts val="3000"/>
              <a:buNone/>
            </a:pPr>
            <a:endParaRPr lang="en-US" sz="22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6A628A2B-B709-CACE-8F95-69BCFBA1685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0483023-EDBE-4389-5B7F-1D8932DD80A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Preface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330AC21-503A-97DC-BCF1-95DD8206162E}"/>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90C9303-015B-BA26-66AF-C804A163D8C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640AD6F-925A-DF39-18C2-1660A40D8DF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6834384-62C3-933E-328D-C094682345A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82058DB-8DC9-B90E-8DCC-F65D880AB5F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6DA9392-D2C8-BB5F-1616-0AF3151C33D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050" name="Picture 2" descr="Book Cover">
            <a:extLst>
              <a:ext uri="{FF2B5EF4-FFF2-40B4-BE49-F238E27FC236}">
                <a16:creationId xmlns:a16="http://schemas.microsoft.com/office/drawing/2014/main" id="{16494730-091D-C1B6-F5BD-6F81EF76ADA1}"/>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7777703" y="1711534"/>
            <a:ext cx="3704685" cy="415586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0078645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B2C81AD-1A6E-D004-B381-602AC33F3AE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6D7903F-4A88-9155-DEE5-0ACBC5381F2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solidFill>
                  <a:schemeClr val="dk1"/>
                </a:solidFill>
                <a:latin typeface="Arial"/>
                <a:ea typeface="Arial"/>
                <a:cs typeface="Arial"/>
                <a:sym typeface="Arial"/>
              </a:rPr>
              <a:t>Currently we have the LiDAR working and returning points; however, what kind of data are missing from just the LiDAR?</a:t>
            </a:r>
          </a:p>
          <a:p>
            <a:pPr marL="0" indent="0">
              <a:lnSpc>
                <a:spcPct val="100000"/>
              </a:lnSpc>
              <a:spcBef>
                <a:spcPts val="0"/>
              </a:spcBef>
              <a:buSzPts val="3000"/>
              <a:buNone/>
            </a:pPr>
            <a:endParaRPr lang="en-US" sz="2000" dirty="0">
              <a:latin typeface="Arial"/>
              <a:ea typeface="Arial"/>
              <a:cs typeface="Arial"/>
              <a:sym typeface="Arial"/>
            </a:endParaRPr>
          </a:p>
          <a:p>
            <a:pPr marL="0" indent="0" algn="ctr">
              <a:lnSpc>
                <a:spcPct val="100000"/>
              </a:lnSpc>
              <a:spcBef>
                <a:spcPts val="0"/>
              </a:spcBef>
              <a:buSzPts val="3000"/>
              <a:buNone/>
            </a:pPr>
            <a:r>
              <a:rPr lang="en-US" sz="2000" dirty="0">
                <a:solidFill>
                  <a:schemeClr val="dk1"/>
                </a:solidFill>
                <a:latin typeface="Arial"/>
                <a:ea typeface="Arial"/>
                <a:cs typeface="Arial"/>
                <a:sym typeface="Arial"/>
              </a:rPr>
              <a:t>Color, complex shapes, human vision like data</a:t>
            </a:r>
          </a:p>
          <a:p>
            <a:pPr marL="0" indent="0" algn="ctr">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Vision processing allows a robot to extract rich, high-density data from its environment.</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Instead of an array of 228 distances (like our LiDAR), a camera gives us millions of data points per frame (RGB per pixel).</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What is the primary drawback of having millions of data points per frame in a real-time mechatronic system?</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Computational latency; processing takes time, more memory / bandwidth is required to handle processing of the data!</a:t>
            </a:r>
          </a:p>
        </p:txBody>
      </p:sp>
      <p:sp>
        <p:nvSpPr>
          <p:cNvPr id="119" name="Google Shape;119;p29">
            <a:extLst>
              <a:ext uri="{FF2B5EF4-FFF2-40B4-BE49-F238E27FC236}">
                <a16:creationId xmlns:a16="http://schemas.microsoft.com/office/drawing/2014/main" id="{365A57A6-14AA-B374-F8FB-5E158BBEB38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8A16E84-BE0D-7BB2-4B0E-C19E6F45F11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541ACED-9C36-202D-23D7-311F30CCF3C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83AE1D0-CA64-859A-D8D7-095BDA4E1D2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6FEBDB6-6EA8-F453-A40F-DE4FC23DE51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B78A940-625E-BBA2-AC5E-ED630C3A449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34A153F-832E-FA5E-970B-B15C0D5AD26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983D903-725F-188F-CD09-34C316ADA53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337467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B092B7E-51BB-FC65-FE20-B599D930F98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B7E96BB-18D9-716F-5079-19C6785E666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Is a standard camera an active or a passive sensor?</a:t>
            </a:r>
          </a:p>
          <a:p>
            <a:pPr marL="0" indent="0">
              <a:lnSpc>
                <a:spcPct val="100000"/>
              </a:lnSpc>
              <a:spcBef>
                <a:spcPts val="0"/>
              </a:spcBef>
              <a:buSzPts val="3000"/>
              <a:buNone/>
            </a:pPr>
            <a:endParaRPr lang="en-US" sz="2000" dirty="0">
              <a:latin typeface="Arial"/>
              <a:ea typeface="Arial"/>
              <a:cs typeface="Arial"/>
              <a:sym typeface="Arial"/>
            </a:endParaRPr>
          </a:p>
          <a:p>
            <a:pPr marL="0" indent="0" algn="ctr">
              <a:lnSpc>
                <a:spcPct val="100000"/>
              </a:lnSpc>
              <a:spcBef>
                <a:spcPts val="0"/>
              </a:spcBef>
              <a:buSzPts val="3000"/>
              <a:buNone/>
            </a:pPr>
            <a:r>
              <a:rPr lang="en-US" sz="2000" dirty="0">
                <a:latin typeface="Arial"/>
                <a:ea typeface="Arial"/>
                <a:cs typeface="Arial"/>
                <a:sym typeface="Arial"/>
              </a:rPr>
              <a:t>Passive. </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It does not emit energy; it captures ambient light bouncing off objects.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Because it is passive, it is highly vulnerable to environmental changes.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If the sun goes behind a cloud what happens?</a:t>
            </a:r>
          </a:p>
          <a:p>
            <a:pPr marL="0" indent="0">
              <a:lnSpc>
                <a:spcPct val="100000"/>
              </a:lnSpc>
              <a:spcBef>
                <a:spcPts val="0"/>
              </a:spcBef>
              <a:buSzPts val="3000"/>
              <a:buNone/>
            </a:pPr>
            <a:endParaRPr lang="en-US" sz="2000" dirty="0">
              <a:latin typeface="Arial"/>
              <a:ea typeface="Arial"/>
              <a:cs typeface="Arial"/>
              <a:sym typeface="Arial"/>
            </a:endParaRPr>
          </a:p>
          <a:p>
            <a:pPr marL="0" indent="0" algn="ctr">
              <a:lnSpc>
                <a:spcPct val="100000"/>
              </a:lnSpc>
              <a:spcBef>
                <a:spcPts val="0"/>
              </a:spcBef>
              <a:buSzPts val="3000"/>
              <a:buNone/>
            </a:pPr>
            <a:r>
              <a:rPr lang="en-US" sz="2000" dirty="0">
                <a:latin typeface="Arial"/>
                <a:ea typeface="Arial"/>
                <a:cs typeface="Arial"/>
                <a:sym typeface="Arial"/>
              </a:rPr>
              <a:t>The pixel color changes, shadows appears, etc.</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How do we build robust code around this? </a:t>
            </a:r>
          </a:p>
        </p:txBody>
      </p:sp>
      <p:sp>
        <p:nvSpPr>
          <p:cNvPr id="119" name="Google Shape;119;p29">
            <a:extLst>
              <a:ext uri="{FF2B5EF4-FFF2-40B4-BE49-F238E27FC236}">
                <a16:creationId xmlns:a16="http://schemas.microsoft.com/office/drawing/2014/main" id="{AEA9BF49-63B3-6220-8894-5C4A01C95DB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11FC65F-811D-9E5B-B046-C805B0487EA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C294F1E-A9C1-68F5-F825-463F2865842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EBB6AFF-821D-8DF2-BC40-2ABD681AA34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21F7708-3D4A-9DA6-1196-CEA543B416B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21A2B8B-1B14-B56C-3E70-3F5BA694433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02ADCFB-430A-B61B-070F-9C6EC8A2330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1A0FD44-0EE0-1EC2-797E-F014D37B96A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2508688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BC8FC24-6FEE-B53E-DF6D-B06641057BE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5936406-4328-DAE7-E65C-88AF791D3A4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The main pipeline that we will follow in this class is the following:</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1400" dirty="0">
              <a:latin typeface="Arial"/>
              <a:ea typeface="Arial"/>
              <a:cs typeface="Arial"/>
              <a:sym typeface="Arial"/>
            </a:endParaRPr>
          </a:p>
          <a:p>
            <a:pPr marL="0" indent="0">
              <a:lnSpc>
                <a:spcPct val="100000"/>
              </a:lnSpc>
              <a:spcBef>
                <a:spcPts val="0"/>
              </a:spcBef>
              <a:buSzPts val="3000"/>
              <a:buNone/>
            </a:pPr>
            <a:endParaRPr lang="en-US" sz="1400" dirty="0">
              <a:latin typeface="Arial"/>
              <a:ea typeface="Arial"/>
              <a:cs typeface="Arial"/>
              <a:sym typeface="Arial"/>
            </a:endParaRPr>
          </a:p>
          <a:p>
            <a:pPr marL="0" indent="0">
              <a:lnSpc>
                <a:spcPct val="100000"/>
              </a:lnSpc>
              <a:spcBef>
                <a:spcPts val="0"/>
              </a:spcBef>
              <a:buSzPts val="3000"/>
              <a:buNone/>
            </a:pPr>
            <a:r>
              <a:rPr lang="en-US" sz="1400" dirty="0">
                <a:latin typeface="Arial"/>
                <a:ea typeface="Arial"/>
                <a:cs typeface="Arial"/>
                <a:sym typeface="Arial"/>
              </a:rPr>
              <a:t>Step 1: The CMOS sensor captures photons and converts them to digital arrays.</a:t>
            </a:r>
          </a:p>
          <a:p>
            <a:pPr marL="0" indent="0">
              <a:lnSpc>
                <a:spcPct val="100000"/>
              </a:lnSpc>
              <a:spcBef>
                <a:spcPts val="0"/>
              </a:spcBef>
              <a:buSzPts val="3000"/>
              <a:buNone/>
            </a:pPr>
            <a:r>
              <a:rPr lang="en-US" sz="1400" dirty="0">
                <a:latin typeface="Arial"/>
                <a:ea typeface="Arial"/>
                <a:cs typeface="Arial"/>
                <a:sym typeface="Arial"/>
              </a:rPr>
              <a:t>Step 2: The processor filters the image (e.g., finding specific colors).</a:t>
            </a:r>
          </a:p>
          <a:p>
            <a:pPr marL="0" indent="0">
              <a:lnSpc>
                <a:spcPct val="100000"/>
              </a:lnSpc>
              <a:spcBef>
                <a:spcPts val="0"/>
              </a:spcBef>
              <a:buSzPts val="3000"/>
              <a:buNone/>
            </a:pPr>
            <a:r>
              <a:rPr lang="en-US" sz="1400" dirty="0">
                <a:latin typeface="Arial"/>
                <a:ea typeface="Arial"/>
                <a:cs typeface="Arial"/>
                <a:sym typeface="Arial"/>
              </a:rPr>
              <a:t>Step 3: The algorithm calculates the coordinates of the target (Centroid).</a:t>
            </a:r>
          </a:p>
          <a:p>
            <a:pPr marL="0" indent="0">
              <a:lnSpc>
                <a:spcPct val="100000"/>
              </a:lnSpc>
              <a:spcBef>
                <a:spcPts val="0"/>
              </a:spcBef>
              <a:buSzPts val="3000"/>
              <a:buNone/>
            </a:pPr>
            <a:r>
              <a:rPr lang="en-US" sz="1400" dirty="0">
                <a:latin typeface="Arial"/>
                <a:ea typeface="Arial"/>
                <a:cs typeface="Arial"/>
                <a:sym typeface="Arial"/>
              </a:rPr>
              <a:t>Step 4: The Cascade Control loop turns the coordinates into wheel velocities.</a:t>
            </a: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6752AB9F-64E8-0BAB-3991-3DD5D956415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8CF0202-90E7-D4E7-69D2-F24AA443F73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1385070-E786-B7E8-0475-4C7D65A169C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6ADCBB4-BC8E-B688-4A9D-A1BC344CB70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533A4F0-689F-8D49-5D7E-57A52C7BB3E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5AE4E45-9568-F880-75DE-6D325A0684D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87675D2-499F-2B6A-2AFC-375CF6CA76A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089901C-7A46-7EFD-D6E3-659F797B764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13F46CA8-EE1D-75C2-2D7F-5CB72CE2BE3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755035" y="1692271"/>
            <a:ext cx="6681929" cy="3473457"/>
          </a:xfrm>
          <a:prstGeom prst="rect">
            <a:avLst/>
          </a:prstGeom>
        </p:spPr>
      </p:pic>
    </p:spTree>
    <p:extLst>
      <p:ext uri="{BB962C8B-B14F-4D97-AF65-F5344CB8AC3E}">
        <p14:creationId xmlns:p14="http://schemas.microsoft.com/office/powerpoint/2010/main" val="27283607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14" end="1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15" end="1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16" end="1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A0E69405-C3FC-2EC0-DFAC-9DBE384FEF6F}"/>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44D13460-73C7-E962-FBE7-AF45E2446324}"/>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CMOS</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D563148F-85A1-824E-16CB-09A3FDE84B0C}"/>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14F9632D-C2F2-12AD-0306-8CACB0A508D7}"/>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6C9D0B51-5108-4F0C-0589-1B98FF31625E}"/>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25636025-B5E4-C288-D577-082D0394624E}"/>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19CD3D86-71C2-6AA7-4319-0050BA7C0C2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ACB5B61B-B5B4-C423-3981-4DB2FCD077F0}"/>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E0A5F840-FAEB-575B-264E-CE9006A2C90C}"/>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6C5899A6-6957-DA49-48EF-04407EC2007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66E60713-C69D-BE82-3982-08E43AD7D7B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01747853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373CE13-BD42-B6D3-F295-EF5964D167B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CB52865-C695-CF51-6C5B-20484818599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CFBEC08-96C0-86F3-C10A-4FB75E1ABE8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F5C46DE-9015-B6D9-9D7F-3DC552A79AE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E8E7360-DEAF-3490-B665-A86236B2AA7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40EBAF3-FC95-88A3-1E92-6B172381B25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63B14B-0010-EFEE-6033-30DD9CB94FF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5328DB5-EA0C-C580-19C9-76A678B20F5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D06C697-5485-F679-1818-97A544ADB41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D5130AE9-14BA-F584-28E1-F910A55AB14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7117" y="1032005"/>
            <a:ext cx="10397766" cy="5405055"/>
          </a:xfrm>
          <a:prstGeom prst="rect">
            <a:avLst/>
          </a:prstGeom>
        </p:spPr>
      </p:pic>
      <p:sp>
        <p:nvSpPr>
          <p:cNvPr id="5" name="Rectangle 4">
            <a:extLst>
              <a:ext uri="{FF2B5EF4-FFF2-40B4-BE49-F238E27FC236}">
                <a16:creationId xmlns:a16="http://schemas.microsoft.com/office/drawing/2014/main" id="{145A5D38-587A-C3A9-3E44-D23B81CCD043}"/>
              </a:ext>
            </a:extLst>
          </p:cNvPr>
          <p:cNvSpPr/>
          <p:nvPr/>
        </p:nvSpPr>
        <p:spPr>
          <a:xfrm>
            <a:off x="1125415" y="1956688"/>
            <a:ext cx="1931111" cy="82487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399280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F2E227C-2AE5-37F3-8346-8FCEE112609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3C338A1-0BAF-412A-7142-D2E70B411BA2}"/>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Most modern robotics vision relies on CMOS (Complementary Metal-Oxide-Semiconductor) sensors.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A CMOS sensor contains a massive 2D grid of microscopic photodiodes.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When photons strike a photodiode, they excite electrons via the photoelectric effect, creating a measurable voltage.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This continuous voltage is sampled and converted into a discrete digital value (usually 0-255 for an 8-bit ADC).</a:t>
            </a:r>
          </a:p>
        </p:txBody>
      </p:sp>
      <p:sp>
        <p:nvSpPr>
          <p:cNvPr id="119" name="Google Shape;119;p29">
            <a:extLst>
              <a:ext uri="{FF2B5EF4-FFF2-40B4-BE49-F238E27FC236}">
                <a16:creationId xmlns:a16="http://schemas.microsoft.com/office/drawing/2014/main" id="{367404CA-E801-FD8F-DCC1-24568A84D62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FE89861-4F4B-3942-76BF-26881403B01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290073D-7D1A-E36D-4E3C-8BACD8AE47B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B255760-B7BC-C211-8343-50B747B0503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6642F68-EFB3-50EA-DD77-C82D6A9A8E1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13EF384-8B6B-DB9F-4ED9-DAA49C76E8B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F35BFE3-7568-2FB8-FE43-DDEB530A8D4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A1CBFAB-A82A-B593-707E-F8227CEA9C3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7350715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CAF34F0-DAC3-ED96-6087-965934AD2F8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D04B90C-7F7E-FD75-CD0D-D61D59EA9D1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066A014-9097-3DEA-C557-1C0E1B7B664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E1B2A7A-4EE9-90F2-1EA1-CFB3E78699E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DA60199-153E-D7CD-9299-57337585F6D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F6F6156-625B-3A59-A856-445D59C31F3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4847699-D191-02EF-AC9E-3A5D5DD5AF3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2B93BE2-D7A5-D70E-0346-1B359059C4D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59C2582-7401-ABE8-9645-B1012F368B9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098" name="Picture 2" descr="CMOS Image Sensors: How They Work in Digital Microscopy | Evident">
            <a:extLst>
              <a:ext uri="{FF2B5EF4-FFF2-40B4-BE49-F238E27FC236}">
                <a16:creationId xmlns:a16="http://schemas.microsoft.com/office/drawing/2014/main" id="{CE785DB6-441D-D3F4-8BB7-605AB466907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76807" y="1149901"/>
            <a:ext cx="4737235" cy="413156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4DA355D2-018F-3919-63AA-60CC2BED9520}"/>
              </a:ext>
            </a:extLst>
          </p:cNvPr>
          <p:cNvSpPr txBox="1"/>
          <p:nvPr/>
        </p:nvSpPr>
        <p:spPr>
          <a:xfrm>
            <a:off x="376807" y="5392222"/>
            <a:ext cx="4821539" cy="400110"/>
          </a:xfrm>
          <a:prstGeom prst="rect">
            <a:avLst/>
          </a:prstGeom>
          <a:noFill/>
        </p:spPr>
        <p:txBody>
          <a:bodyPr wrap="square">
            <a:spAutoFit/>
          </a:bodyPr>
          <a:lstStyle/>
          <a:p>
            <a:pPr algn="ctr"/>
            <a:r>
              <a:rPr lang="en-US" sz="1000" dirty="0">
                <a:hlinkClick r:id="rId5"/>
              </a:rPr>
              <a:t>https://evidentscientific.com/en/microscope-resource/knowledge-hub/digital-imaging/cmosimagesensors</a:t>
            </a:r>
            <a:r>
              <a:rPr lang="en-US" sz="1000" dirty="0"/>
              <a:t> </a:t>
            </a:r>
          </a:p>
        </p:txBody>
      </p:sp>
      <p:sp>
        <p:nvSpPr>
          <p:cNvPr id="7" name="TextBox 6">
            <a:extLst>
              <a:ext uri="{FF2B5EF4-FFF2-40B4-BE49-F238E27FC236}">
                <a16:creationId xmlns:a16="http://schemas.microsoft.com/office/drawing/2014/main" id="{0E3A40FB-47EE-51C1-538A-8D3C89F5692B}"/>
              </a:ext>
            </a:extLst>
          </p:cNvPr>
          <p:cNvSpPr txBox="1"/>
          <p:nvPr/>
        </p:nvSpPr>
        <p:spPr>
          <a:xfrm>
            <a:off x="6285042" y="5309239"/>
            <a:ext cx="4821539" cy="400110"/>
          </a:xfrm>
          <a:prstGeom prst="rect">
            <a:avLst/>
          </a:prstGeom>
          <a:noFill/>
        </p:spPr>
        <p:txBody>
          <a:bodyPr wrap="square">
            <a:spAutoFit/>
          </a:bodyPr>
          <a:lstStyle/>
          <a:p>
            <a:pPr algn="ctr"/>
            <a:r>
              <a:rPr lang="en-US" sz="1000" dirty="0">
                <a:hlinkClick r:id="rId5"/>
              </a:rPr>
              <a:t>https://evidentscientific.com/en/microscope-resource/knowledge-hub/digital-imaging/cmosimagesensors</a:t>
            </a:r>
            <a:r>
              <a:rPr lang="en-US" sz="1000" dirty="0"/>
              <a:t> </a:t>
            </a:r>
          </a:p>
        </p:txBody>
      </p:sp>
      <p:pic>
        <p:nvPicPr>
          <p:cNvPr id="4100" name="Picture 4" descr="CCD and CMOS Technology">
            <a:extLst>
              <a:ext uri="{FF2B5EF4-FFF2-40B4-BE49-F238E27FC236}">
                <a16:creationId xmlns:a16="http://schemas.microsoft.com/office/drawing/2014/main" id="{A0F68EDD-8402-D252-610E-D50621D0FAD5}"/>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629706" y="1667094"/>
            <a:ext cx="5476875" cy="3276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3934933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5D39BDC-B417-2C91-3C41-8669DDDF2ED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486FBB7-ACE6-F853-8977-F3838F6E894D}"/>
              </a:ext>
            </a:extLst>
          </p:cNvPr>
          <p:cNvSpPr txBox="1">
            <a:spLocks noGrp="1"/>
          </p:cNvSpPr>
          <p:nvPr>
            <p:ph type="body" idx="1"/>
          </p:nvPr>
        </p:nvSpPr>
        <p:spPr>
          <a:xfrm>
            <a:off x="376807" y="5046258"/>
            <a:ext cx="11655171" cy="1362557"/>
          </a:xfrm>
          <a:prstGeom prst="rect">
            <a:avLst/>
          </a:prstGeom>
          <a:noFill/>
          <a:ln>
            <a:noFill/>
          </a:ln>
        </p:spPr>
        <p:txBody>
          <a:bodyPr spcFirstLastPara="1" wrap="square" lIns="91425" tIns="45700" rIns="91425" bIns="45700" anchor="t" anchorCtr="0">
            <a:noAutofit/>
          </a:bodyPr>
          <a:lstStyle/>
          <a:p>
            <a:pPr marL="342900">
              <a:lnSpc>
                <a:spcPct val="100000"/>
              </a:lnSpc>
              <a:spcBef>
                <a:spcPts val="0"/>
              </a:spcBef>
              <a:buSzPts val="3000"/>
            </a:pPr>
            <a:r>
              <a:rPr lang="en-US" sz="2000" dirty="0">
                <a:latin typeface="Arial"/>
                <a:ea typeface="Arial"/>
                <a:cs typeface="Arial"/>
                <a:sym typeface="Arial"/>
              </a:rPr>
              <a:t>Readout performed by transferring one row at a time to the column storage capacitors, then reading out the row, one (or more) pixel at a time, using the column decoder and multiplexer</a:t>
            </a:r>
          </a:p>
          <a:p>
            <a:pPr marL="342900">
              <a:lnSpc>
                <a:spcPct val="100000"/>
              </a:lnSpc>
              <a:spcBef>
                <a:spcPts val="0"/>
              </a:spcBef>
              <a:buSzPts val="3000"/>
            </a:pPr>
            <a:r>
              <a:rPr lang="en-US" sz="2000" dirty="0">
                <a:latin typeface="Arial"/>
                <a:ea typeface="Arial"/>
                <a:cs typeface="Arial"/>
                <a:sym typeface="Arial"/>
              </a:rPr>
              <a:t>In many CMOS image sensor architectures, row integration times are </a:t>
            </a:r>
            <a:r>
              <a:rPr lang="en-US" sz="2000" i="1" dirty="0" err="1">
                <a:latin typeface="Arial"/>
                <a:ea typeface="Arial"/>
                <a:cs typeface="Arial"/>
                <a:sym typeface="Arial"/>
              </a:rPr>
              <a:t>staggerred</a:t>
            </a:r>
            <a:r>
              <a:rPr lang="en-US" sz="2000" dirty="0">
                <a:latin typeface="Arial"/>
                <a:ea typeface="Arial"/>
                <a:cs typeface="Arial"/>
                <a:sym typeface="Arial"/>
              </a:rPr>
              <a:t> by the row / column readout time (scrolling shutter)</a:t>
            </a:r>
          </a:p>
          <a:p>
            <a:pPr marL="0" indent="0">
              <a:lnSpc>
                <a:spcPct val="100000"/>
              </a:lnSpc>
              <a:spcBef>
                <a:spcPts val="0"/>
              </a:spcBef>
              <a:buSzPts val="3000"/>
              <a:buNone/>
            </a:pP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6E912862-C259-5403-D979-AA2DF7E305E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D2198F7-ACF4-9C07-9D55-F1C96E9323F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21D8DBA-D9F4-D636-8E2F-A72D9C2EE34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7449347-39E1-4A07-375D-BEBE44D978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DD7A1C0-CBB6-F725-5593-EFBF92998D5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713BFA4-DC34-3936-E0FC-835C4C2D58A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B53DA28-E52B-AF29-98C9-5F5DF1E9597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B51E22B-18E8-C869-312E-E6D65D1EFAA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607017C9-F3C9-CE7F-6ED2-053A21D0935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587591" y="951609"/>
            <a:ext cx="5016817" cy="3841214"/>
          </a:xfrm>
          <a:prstGeom prst="rect">
            <a:avLst/>
          </a:prstGeom>
        </p:spPr>
      </p:pic>
      <p:sp>
        <p:nvSpPr>
          <p:cNvPr id="7" name="TextBox 6">
            <a:extLst>
              <a:ext uri="{FF2B5EF4-FFF2-40B4-BE49-F238E27FC236}">
                <a16:creationId xmlns:a16="http://schemas.microsoft.com/office/drawing/2014/main" id="{DC97B9AE-D1DF-9644-F12A-EA5890DF0F8F}"/>
              </a:ext>
            </a:extLst>
          </p:cNvPr>
          <p:cNvSpPr txBox="1"/>
          <p:nvPr/>
        </p:nvSpPr>
        <p:spPr>
          <a:xfrm>
            <a:off x="4333790" y="4792823"/>
            <a:ext cx="2996065" cy="246221"/>
          </a:xfrm>
          <a:prstGeom prst="rect">
            <a:avLst/>
          </a:prstGeom>
          <a:noFill/>
        </p:spPr>
        <p:txBody>
          <a:bodyPr wrap="square">
            <a:spAutoFit/>
          </a:bodyPr>
          <a:lstStyle/>
          <a:p>
            <a:pPr algn="ctr"/>
            <a:r>
              <a:rPr lang="en-US" sz="1000" dirty="0">
                <a:hlinkClick r:id="rId6"/>
              </a:rPr>
              <a:t>https://isl.stanford.edu/~abbas/ee392b/lect04.pdf</a:t>
            </a:r>
            <a:r>
              <a:rPr lang="en-US" sz="1000" dirty="0"/>
              <a:t> </a:t>
            </a:r>
          </a:p>
        </p:txBody>
      </p:sp>
      <p:sp>
        <p:nvSpPr>
          <p:cNvPr id="10" name="Rectangle 9">
            <a:extLst>
              <a:ext uri="{FF2B5EF4-FFF2-40B4-BE49-F238E27FC236}">
                <a16:creationId xmlns:a16="http://schemas.microsoft.com/office/drawing/2014/main" id="{C9E3879A-FC4D-C2A2-09A8-A80D0C8F9F54}"/>
              </a:ext>
            </a:extLst>
          </p:cNvPr>
          <p:cNvSpPr/>
          <p:nvPr/>
        </p:nvSpPr>
        <p:spPr>
          <a:xfrm>
            <a:off x="4333790" y="1043909"/>
            <a:ext cx="2897590" cy="20574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86F6F53D-1798-8603-2575-BCE3298FD780}"/>
              </a:ext>
            </a:extLst>
          </p:cNvPr>
          <p:cNvSpPr/>
          <p:nvPr/>
        </p:nvSpPr>
        <p:spPr>
          <a:xfrm>
            <a:off x="4333790" y="1239079"/>
            <a:ext cx="2897590" cy="20574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056954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grpId="0" nodeType="clickEffect">
                                  <p:stCondLst>
                                    <p:cond delay="0"/>
                                  </p:stCondLst>
                                  <p:childTnLst>
                                    <p:animMotion origin="layout" path="M 1.25E-6 3.7037E-7 L 0.00039 0.39398 " pathEditMode="relative" rAng="0" ptsTypes="AA">
                                      <p:cBhvr>
                                        <p:cTn id="6" dur="2000" fill="hold"/>
                                        <p:tgtEl>
                                          <p:spTgt spid="10"/>
                                        </p:tgtEl>
                                        <p:attrNameLst>
                                          <p:attrName>ppt_x</p:attrName>
                                          <p:attrName>ppt_y</p:attrName>
                                        </p:attrNameLst>
                                      </p:cBhvr>
                                      <p:rCtr x="13" y="19699"/>
                                    </p:animMotion>
                                  </p:childTnLst>
                                </p:cTn>
                              </p:par>
                            </p:childTnLst>
                          </p:cTn>
                        </p:par>
                      </p:childTnLst>
                    </p:cTn>
                  </p:par>
                  <p:par>
                    <p:cTn id="7" fill="hold">
                      <p:stCondLst>
                        <p:cond delay="indefinite"/>
                      </p:stCondLst>
                      <p:childTnLst>
                        <p:par>
                          <p:cTn id="8" fill="hold">
                            <p:stCondLst>
                              <p:cond delay="0"/>
                            </p:stCondLst>
                            <p:childTnLst>
                              <p:par>
                                <p:cTn id="9" presetID="42" presetClass="path" presetSubtype="0" accel="50000" decel="50000" fill="hold" grpId="1" nodeType="clickEffect">
                                  <p:stCondLst>
                                    <p:cond delay="0"/>
                                  </p:stCondLst>
                                  <p:childTnLst>
                                    <p:animMotion origin="layout" path="M 0.00039 0.39398 L -0.00039 0.49398 " pathEditMode="relative" rAng="0" ptsTypes="AA">
                                      <p:cBhvr>
                                        <p:cTn id="10" dur="2000" fill="hold"/>
                                        <p:tgtEl>
                                          <p:spTgt spid="10"/>
                                        </p:tgtEl>
                                        <p:attrNameLst>
                                          <p:attrName>ppt_x</p:attrName>
                                          <p:attrName>ppt_y</p:attrName>
                                        </p:attrNameLst>
                                      </p:cBhvr>
                                      <p:rCtr x="-39" y="5000"/>
                                    </p:animMotion>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2" nodeType="clickEffect">
                                  <p:stCondLst>
                                    <p:cond delay="0"/>
                                  </p:stCondLst>
                                  <p:childTnLst>
                                    <p:set>
                                      <p:cBhvr>
                                        <p:cTn id="14" dur="1" fill="hold">
                                          <p:stCondLst>
                                            <p:cond delay="0"/>
                                          </p:stCondLst>
                                        </p:cTn>
                                        <p:tgtEl>
                                          <p:spTgt spid="10"/>
                                        </p:tgtEl>
                                        <p:attrNameLst>
                                          <p:attrName>style.visibility</p:attrName>
                                        </p:attrNameLst>
                                      </p:cBhvr>
                                      <p:to>
                                        <p:strVal val="hidden"/>
                                      </p:to>
                                    </p:set>
                                  </p:childTnLst>
                                </p:cTn>
                              </p:par>
                              <p:par>
                                <p:cTn id="15" presetID="1" presetClass="entr" presetSubtype="0" fill="hold" grpId="3"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42" presetClass="path" presetSubtype="0" accel="50000" decel="50000" fill="hold" grpId="0" nodeType="clickEffect">
                                  <p:stCondLst>
                                    <p:cond delay="0"/>
                                  </p:stCondLst>
                                  <p:childTnLst>
                                    <p:animMotion origin="layout" path="M 1.25E-6 -1.85185E-6 L 0.00039 0.36551 " pathEditMode="relative" rAng="0" ptsTypes="AA">
                                      <p:cBhvr>
                                        <p:cTn id="20" dur="2000" fill="hold"/>
                                        <p:tgtEl>
                                          <p:spTgt spid="11"/>
                                        </p:tgtEl>
                                        <p:attrNameLst>
                                          <p:attrName>ppt_x</p:attrName>
                                          <p:attrName>ppt_y</p:attrName>
                                        </p:attrNameLst>
                                      </p:cBhvr>
                                      <p:rCtr x="13" y="18287"/>
                                    </p:animMotion>
                                  </p:childTnLst>
                                </p:cTn>
                              </p:par>
                            </p:childTnLst>
                          </p:cTn>
                        </p:par>
                      </p:childTnLst>
                    </p:cTn>
                  </p:par>
                  <p:par>
                    <p:cTn id="21" fill="hold">
                      <p:stCondLst>
                        <p:cond delay="indefinite"/>
                      </p:stCondLst>
                      <p:childTnLst>
                        <p:par>
                          <p:cTn id="22" fill="hold">
                            <p:stCondLst>
                              <p:cond delay="0"/>
                            </p:stCondLst>
                            <p:childTnLst>
                              <p:par>
                                <p:cTn id="23" presetID="42" presetClass="path" presetSubtype="0" accel="50000" decel="50000" fill="hold" grpId="1" nodeType="clickEffect">
                                  <p:stCondLst>
                                    <p:cond delay="0"/>
                                  </p:stCondLst>
                                  <p:childTnLst>
                                    <p:animMotion origin="layout" path="M 0.00039 0.36551 L -0.00065 0.46158 " pathEditMode="relative" rAng="0" ptsTypes="AA">
                                      <p:cBhvr>
                                        <p:cTn id="24" dur="2000" fill="hold"/>
                                        <p:tgtEl>
                                          <p:spTgt spid="11"/>
                                        </p:tgtEl>
                                        <p:attrNameLst>
                                          <p:attrName>ppt_x</p:attrName>
                                          <p:attrName>ppt_y</p:attrName>
                                        </p:attrNameLst>
                                      </p:cBhvr>
                                      <p:rCtr x="-52" y="4838"/>
                                    </p:animMotion>
                                  </p:childTnLst>
                                </p:cTn>
                              </p:par>
                            </p:childTnLst>
                          </p:cTn>
                        </p:par>
                      </p:childTnLst>
                    </p:cTn>
                  </p:par>
                  <p:par>
                    <p:cTn id="25" fill="hold">
                      <p:stCondLst>
                        <p:cond delay="indefinite"/>
                      </p:stCondLst>
                      <p:childTnLst>
                        <p:par>
                          <p:cTn id="26" fill="hold">
                            <p:stCondLst>
                              <p:cond delay="0"/>
                            </p:stCondLst>
                            <p:childTnLst>
                              <p:par>
                                <p:cTn id="27" presetID="1" presetClass="exit" presetSubtype="0" fill="hold" grpId="2" nodeType="clickEffect">
                                  <p:stCondLst>
                                    <p:cond delay="0"/>
                                  </p:stCondLst>
                                  <p:childTnLst>
                                    <p:set>
                                      <p:cBhvr>
                                        <p:cTn id="28" dur="1" fill="hold">
                                          <p:stCondLst>
                                            <p:cond delay="0"/>
                                          </p:stCondLst>
                                        </p:cTn>
                                        <p:tgtEl>
                                          <p:spTgt spid="1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0" grpId="1" animBg="1"/>
      <p:bldP spid="10" grpId="2" animBg="1"/>
      <p:bldP spid="11" grpId="0" animBg="1"/>
      <p:bldP spid="11" grpId="1" animBg="1"/>
      <p:bldP spid="11" grpId="2" animBg="1"/>
      <p:bldP spid="11" grpId="3"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84055B5-1970-C033-140B-50686B844B20}"/>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9EC995E-165B-415C-918F-AC1037DA90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47CE5F1-C7BA-5C3F-63E4-DB7735F5FFC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D5F07E2-EF66-0614-89D1-08A0D24B953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449277E-74F1-FD87-1BB4-8C3D83D778F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3CE064D-1420-8022-DACD-DD8479CA7D1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17FFD5C-3674-B855-A22A-242E452F5BB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523B0BB-D4F7-8334-5EBF-EF8E67BA6BB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A91176C-AB86-25CA-D70B-519D348855A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9" name="Graphic 8">
            <a:extLst>
              <a:ext uri="{FF2B5EF4-FFF2-40B4-BE49-F238E27FC236}">
                <a16:creationId xmlns:a16="http://schemas.microsoft.com/office/drawing/2014/main" id="{A7C3B241-1FB8-9B94-5DF3-2792191F22B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168928" y="906290"/>
            <a:ext cx="9325790" cy="5642743"/>
          </a:xfrm>
          <a:prstGeom prst="rect">
            <a:avLst/>
          </a:prstGeom>
        </p:spPr>
      </p:pic>
    </p:spTree>
    <p:extLst>
      <p:ext uri="{BB962C8B-B14F-4D97-AF65-F5344CB8AC3E}">
        <p14:creationId xmlns:p14="http://schemas.microsoft.com/office/powerpoint/2010/main" val="142771610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F6D493FA-85DA-1CCB-AAFF-2A9DE25A2A9C}"/>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2DA663CA-C59F-1619-8715-F60A2D6A26CB}"/>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Color</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9F3CCF5E-EA36-E338-3F0E-DC3FD7C18082}"/>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74658FC8-C20C-1E0B-3FD9-6331C603F535}"/>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46C4F7F3-E39E-6C38-88D0-CCF6134DEA13}"/>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CFE62ED8-7B59-55DD-51B0-F3DDF9AF26F3}"/>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1D2F7DF1-BB93-59D8-712E-A7449568D69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4F6C0CA7-365D-4652-CCAD-F59886125E89}"/>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2C8B63AE-DF30-3803-D7D9-1E535F9430E6}"/>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AF4B5853-9129-BCB9-12EF-56E29CEC95C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82E6949C-9D63-A913-C56C-B0A972D24EB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30666044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A2CD5B3-5C73-6BCF-9FA2-ED791614FA3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F937959-889A-3719-3ADC-A8BA1CCF2CF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8995CBE-E033-0297-89E9-86C9FA16082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E84DACE-ED6C-5118-E502-E9955AFAF83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3F5D811-2A0F-50D6-FEF8-A91DAAD50E5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19F2132-DC6F-668A-8806-5B2B9C48517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A012C68-49B7-623D-A02F-3DC3998D5CB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4EB3D6B-7C61-CD92-3C23-9BDA1736B6B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148B7A6-9A0D-A8A9-14CC-CB3B5F4C82D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45C563A8-9C6C-884F-050B-DCCA4FA58ED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7117" y="1032005"/>
            <a:ext cx="10397766" cy="5405055"/>
          </a:xfrm>
          <a:prstGeom prst="rect">
            <a:avLst/>
          </a:prstGeom>
        </p:spPr>
      </p:pic>
      <p:sp>
        <p:nvSpPr>
          <p:cNvPr id="5" name="Rectangle 4">
            <a:extLst>
              <a:ext uri="{FF2B5EF4-FFF2-40B4-BE49-F238E27FC236}">
                <a16:creationId xmlns:a16="http://schemas.microsoft.com/office/drawing/2014/main" id="{AD6DA1D1-B38B-273F-9CA2-BBA2539BCA33}"/>
              </a:ext>
            </a:extLst>
          </p:cNvPr>
          <p:cNvSpPr/>
          <p:nvPr/>
        </p:nvSpPr>
        <p:spPr>
          <a:xfrm>
            <a:off x="1125415" y="3069314"/>
            <a:ext cx="1931111" cy="82487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496C64C0-BC46-3B3F-BC84-B56FFBAC7B0C}"/>
              </a:ext>
            </a:extLst>
          </p:cNvPr>
          <p:cNvSpPr/>
          <p:nvPr/>
        </p:nvSpPr>
        <p:spPr>
          <a:xfrm>
            <a:off x="3829183" y="1501619"/>
            <a:ext cx="1931111" cy="4732926"/>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8965579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9CC968E-6237-666A-D027-4063FBF1255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BF7B1D2-1D7B-18E0-D300-ABF7104C3E15}"/>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The problem with photodiodes is that they only measure the intensity of light (how many photons hit them).</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What kind of problem that cause?</a:t>
            </a:r>
          </a:p>
          <a:p>
            <a:pPr marL="0" indent="0">
              <a:lnSpc>
                <a:spcPct val="100000"/>
              </a:lnSpc>
              <a:spcBef>
                <a:spcPts val="0"/>
              </a:spcBef>
              <a:buSzPts val="3000"/>
              <a:buNone/>
            </a:pPr>
            <a:endParaRPr lang="en-US" sz="2000" dirty="0">
              <a:latin typeface="Arial"/>
              <a:ea typeface="Arial"/>
              <a:cs typeface="Arial"/>
              <a:sym typeface="Arial"/>
            </a:endParaRPr>
          </a:p>
          <a:p>
            <a:pPr marL="0" indent="0" algn="ctr">
              <a:lnSpc>
                <a:spcPct val="100000"/>
              </a:lnSpc>
              <a:spcBef>
                <a:spcPts val="0"/>
              </a:spcBef>
              <a:buSzPts val="3000"/>
              <a:buNone/>
            </a:pPr>
            <a:r>
              <a:rPr lang="en-US" sz="2000" dirty="0">
                <a:latin typeface="Arial"/>
                <a:ea typeface="Arial"/>
                <a:cs typeface="Arial"/>
                <a:sym typeface="Arial"/>
              </a:rPr>
              <a:t>They are inherently colorblind; they only produce a grayscale image!</a:t>
            </a:r>
          </a:p>
          <a:p>
            <a:pPr marL="0" indent="0" algn="ctr">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To see a red ball, we need a way to filter out all other wavelengths of light before they hit the photodiode.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How do we make a single sensor array see Red, Green, and Blue simultaneously?</a:t>
            </a:r>
          </a:p>
          <a:p>
            <a:pPr marL="0" indent="0">
              <a:lnSpc>
                <a:spcPct val="100000"/>
              </a:lnSpc>
              <a:spcBef>
                <a:spcPts val="0"/>
              </a:spcBef>
              <a:buSzPts val="3000"/>
              <a:buNone/>
            </a:pP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2BE5A6DA-D3A9-B791-4CCB-9481B83F874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811BE3D-0BBB-F8BD-3E0B-22A281C3F44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92BE70D-DC9A-F795-7C9B-709ABC66B33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1F3FB78-D3A5-4AC1-88C7-B7EDC968148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8C29F70-4AB7-E33E-93EE-9018FADE889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F1C2F72-1150-02AC-3712-4F80FAB07A7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38581D2-5A7D-B5F6-8F0D-8FB647F686F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5ECDA98-4799-6F2F-D7F3-0A44D8FC994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1085561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2C7A530-2384-A583-4E7B-8DEA43EFC75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488AB6D-1BB4-0235-15FD-1CAE70156FD8}"/>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To achieve color vision, a microscopic color filter is placed over each individual photodiode.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This is known as a Color Filter Array (CFA), the most common being the Bayer Filter.</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It assigns each pixel to capture only Red, only Green, or only Blue light.</a:t>
            </a:r>
          </a:p>
        </p:txBody>
      </p:sp>
      <p:sp>
        <p:nvSpPr>
          <p:cNvPr id="119" name="Google Shape;119;p29">
            <a:extLst>
              <a:ext uri="{FF2B5EF4-FFF2-40B4-BE49-F238E27FC236}">
                <a16:creationId xmlns:a16="http://schemas.microsoft.com/office/drawing/2014/main" id="{6B141D5C-1413-2233-B5ED-A7C686627F0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C6EF57E-ED04-5F29-CEFC-FF2A5773B6C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2BFD962-28DE-81EF-F91E-B72A012108D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6C802C2-8720-9847-A023-01DECB25002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1B8F9C9-FA22-2F02-6DBC-8935E5D863F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4125C8C-58A8-4095-F628-D14724105E5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21298CC-055D-4140-0F06-3B86F44B095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6B9224F-2CC9-B423-B413-D16930E874D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E9F80111-1378-6BC9-2B5D-07F27806A1A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73800" y="3026035"/>
            <a:ext cx="5070462" cy="3295800"/>
          </a:xfrm>
          <a:prstGeom prst="rect">
            <a:avLst/>
          </a:prstGeom>
        </p:spPr>
      </p:pic>
      <p:pic>
        <p:nvPicPr>
          <p:cNvPr id="30" name="Graphic 29">
            <a:extLst>
              <a:ext uri="{FF2B5EF4-FFF2-40B4-BE49-F238E27FC236}">
                <a16:creationId xmlns:a16="http://schemas.microsoft.com/office/drawing/2014/main" id="{1D8E7123-8833-59E4-C7E6-F8C1F1E9FDB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009033" y="3016589"/>
            <a:ext cx="5455013" cy="3450179"/>
          </a:xfrm>
          <a:prstGeom prst="rect">
            <a:avLst/>
          </a:prstGeom>
        </p:spPr>
      </p:pic>
      <p:sp>
        <p:nvSpPr>
          <p:cNvPr id="32" name="TextBox 31">
            <a:extLst>
              <a:ext uri="{FF2B5EF4-FFF2-40B4-BE49-F238E27FC236}">
                <a16:creationId xmlns:a16="http://schemas.microsoft.com/office/drawing/2014/main" id="{5602F69F-82F3-38CC-BAB6-B945D84C51C2}"/>
              </a:ext>
            </a:extLst>
          </p:cNvPr>
          <p:cNvSpPr txBox="1"/>
          <p:nvPr/>
        </p:nvSpPr>
        <p:spPr>
          <a:xfrm>
            <a:off x="1897282" y="6328219"/>
            <a:ext cx="2418683" cy="246221"/>
          </a:xfrm>
          <a:prstGeom prst="rect">
            <a:avLst/>
          </a:prstGeom>
          <a:noFill/>
        </p:spPr>
        <p:txBody>
          <a:bodyPr wrap="square">
            <a:spAutoFit/>
          </a:bodyPr>
          <a:lstStyle/>
          <a:p>
            <a:r>
              <a:rPr lang="en-US" sz="1000" dirty="0">
                <a:hlinkClick r:id="rId8"/>
              </a:rPr>
              <a:t>https://en.wikipedia.org/wiki/Bayer_filter</a:t>
            </a:r>
            <a:r>
              <a:rPr lang="en-US" sz="1000" dirty="0"/>
              <a:t> </a:t>
            </a:r>
          </a:p>
        </p:txBody>
      </p:sp>
    </p:spTree>
    <p:extLst>
      <p:ext uri="{BB962C8B-B14F-4D97-AF65-F5344CB8AC3E}">
        <p14:creationId xmlns:p14="http://schemas.microsoft.com/office/powerpoint/2010/main" val="103408440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A7BCDD5-6150-E4E8-D27D-3C5B70F88D1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9534963-25FE-44FA-EF60-9E5FE4EB0FE1}"/>
                  </a:ext>
                </a:extLst>
              </p:cNvPr>
              <p:cNvSpPr txBox="1">
                <a:spLocks noGrp="1"/>
              </p:cNvSpPr>
              <p:nvPr>
                <p:ph type="body" idx="1"/>
              </p:nvPr>
            </p:nvSpPr>
            <p:spPr>
              <a:xfrm>
                <a:off x="376809" y="1334279"/>
                <a:ext cx="6625065"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The Bayer format arranges filters in a repeating </a:t>
                </a:r>
                <a14:m>
                  <m:oMath xmlns:m="http://schemas.openxmlformats.org/officeDocument/2006/math">
                    <m:r>
                      <a:rPr lang="en-US" sz="2000" i="1" dirty="0" smtClean="0">
                        <a:latin typeface="Cambria Math" panose="02040503050406030204" pitchFamily="18" charset="0"/>
                        <a:ea typeface="Arial"/>
                        <a:cs typeface="Arial"/>
                        <a:sym typeface="Arial"/>
                      </a:rPr>
                      <m:t>2 ×2</m:t>
                    </m:r>
                  </m:oMath>
                </a14:m>
                <a:r>
                  <a:rPr lang="en-US" sz="2000" dirty="0">
                    <a:latin typeface="Arial"/>
                    <a:ea typeface="Arial"/>
                    <a:cs typeface="Arial"/>
                    <a:sym typeface="Arial"/>
                  </a:rPr>
                  <a:t> grid.</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What is a problem with filtering color?</a:t>
                </a:r>
              </a:p>
              <a:p>
                <a:pPr marL="0" indent="0">
                  <a:lnSpc>
                    <a:spcPct val="100000"/>
                  </a:lnSpc>
                  <a:spcBef>
                    <a:spcPts val="0"/>
                  </a:spcBef>
                  <a:buSzPts val="3000"/>
                  <a:buNone/>
                </a:pPr>
                <a:endParaRPr lang="en-US" sz="2000" dirty="0">
                  <a:latin typeface="Arial"/>
                  <a:ea typeface="Arial"/>
                  <a:cs typeface="Arial"/>
                  <a:sym typeface="Arial"/>
                </a:endParaRPr>
              </a:p>
              <a:p>
                <a:pPr marL="0" indent="0" algn="ctr">
                  <a:lnSpc>
                    <a:spcPct val="100000"/>
                  </a:lnSpc>
                  <a:spcBef>
                    <a:spcPts val="0"/>
                  </a:spcBef>
                  <a:buSzPts val="3000"/>
                  <a:buNone/>
                </a:pPr>
                <a:r>
                  <a:rPr lang="en-US" sz="2000" dirty="0">
                    <a:latin typeface="Arial"/>
                    <a:ea typeface="Arial"/>
                    <a:cs typeface="Arial"/>
                    <a:sym typeface="Arial"/>
                  </a:rPr>
                  <a:t>We lose information! This is why most scientific instruments (on Mars for example) are in black and white to ensure capturing all the intensities!</a:t>
                </a:r>
              </a:p>
              <a:p>
                <a:pPr marL="0" indent="0" algn="ctr">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Notice anything strange about this ratio?</a:t>
                </a:r>
              </a:p>
              <a:p>
                <a:pPr marL="0" indent="0">
                  <a:lnSpc>
                    <a:spcPct val="100000"/>
                  </a:lnSpc>
                  <a:spcBef>
                    <a:spcPts val="0"/>
                  </a:spcBef>
                  <a:buSzPts val="3000"/>
                  <a:buNone/>
                </a:pPr>
                <a:endParaRPr lang="en-US" sz="2000" dirty="0">
                  <a:latin typeface="Arial"/>
                  <a:ea typeface="Arial"/>
                  <a:cs typeface="Arial"/>
                  <a:sym typeface="Arial"/>
                </a:endParaRPr>
              </a:p>
              <a:p>
                <a:pPr marL="0" indent="0" algn="ctr">
                  <a:lnSpc>
                    <a:spcPct val="100000"/>
                  </a:lnSpc>
                  <a:spcBef>
                    <a:spcPts val="0"/>
                  </a:spcBef>
                  <a:buSzPts val="3000"/>
                  <a:buNone/>
                </a:pPr>
                <a:r>
                  <a:rPr lang="en-US" sz="2000" dirty="0">
                    <a:latin typeface="Arial"/>
                    <a:ea typeface="Arial"/>
                    <a:cs typeface="Arial"/>
                    <a:sym typeface="Arial"/>
                  </a:rPr>
                  <a:t>1 Red : 2 Green : 1 Blue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Why are there twice as many Green pixels as Red or Blue?</a:t>
                </a:r>
              </a:p>
            </p:txBody>
          </p:sp>
        </mc:Choice>
        <mc:Fallback xmlns="">
          <p:sp>
            <p:nvSpPr>
              <p:cNvPr id="118" name="Google Shape;118;p29">
                <a:extLst>
                  <a:ext uri="{FF2B5EF4-FFF2-40B4-BE49-F238E27FC236}">
                    <a16:creationId xmlns:a16="http://schemas.microsoft.com/office/drawing/2014/main" id="{99534963-25FE-44FA-EF60-9E5FE4EB0FE1}"/>
                  </a:ext>
                </a:extLst>
              </p:cNvPr>
              <p:cNvSpPr txBox="1">
                <a:spLocks noGrp="1" noRot="1" noChangeAspect="1" noMove="1" noResize="1" noEditPoints="1" noAdjustHandles="1" noChangeArrowheads="1" noChangeShapeType="1" noTextEdit="1"/>
              </p:cNvSpPr>
              <p:nvPr>
                <p:ph type="body" idx="1"/>
              </p:nvPr>
            </p:nvSpPr>
            <p:spPr>
              <a:xfrm>
                <a:off x="376809" y="1334279"/>
                <a:ext cx="6625065" cy="4821102"/>
              </a:xfrm>
              <a:prstGeom prst="rect">
                <a:avLst/>
              </a:prstGeom>
              <a:blipFill>
                <a:blip r:embed="rId3"/>
                <a:stretch>
                  <a:fillRect l="-1012" t="-632" r="-156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6F69237D-4892-5146-7D90-C6FFC4A82D1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BC44916-7F47-B71E-7EFB-367F0535085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7077CA7-47B9-9B80-90AB-73D47D664CC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6C66DF5-1748-63CC-C1B2-F08B446B44A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D8F87EC-7B9A-3861-6FE0-6C4376DA3ED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4567CE4-5DD6-9A77-CB53-BD71E59FC03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8DD70CE-7172-A41B-B389-86C0962294C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ECF62CC-7736-ACD0-F919-D17DE3F56FA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Graphic 3">
            <a:extLst>
              <a:ext uri="{FF2B5EF4-FFF2-40B4-BE49-F238E27FC236}">
                <a16:creationId xmlns:a16="http://schemas.microsoft.com/office/drawing/2014/main" id="{82222B3B-389F-7775-51FF-2BA97B418931}"/>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001874" y="1990789"/>
            <a:ext cx="5070462" cy="3295800"/>
          </a:xfrm>
          <a:prstGeom prst="rect">
            <a:avLst/>
          </a:prstGeom>
        </p:spPr>
      </p:pic>
      <p:sp>
        <p:nvSpPr>
          <p:cNvPr id="7" name="TextBox 6">
            <a:extLst>
              <a:ext uri="{FF2B5EF4-FFF2-40B4-BE49-F238E27FC236}">
                <a16:creationId xmlns:a16="http://schemas.microsoft.com/office/drawing/2014/main" id="{A6AEAA92-FD9A-D8C4-5A0B-2E6D2EC5AC74}"/>
              </a:ext>
            </a:extLst>
          </p:cNvPr>
          <p:cNvSpPr txBox="1"/>
          <p:nvPr/>
        </p:nvSpPr>
        <p:spPr>
          <a:xfrm>
            <a:off x="8327763" y="5409368"/>
            <a:ext cx="2418683" cy="246221"/>
          </a:xfrm>
          <a:prstGeom prst="rect">
            <a:avLst/>
          </a:prstGeom>
          <a:noFill/>
        </p:spPr>
        <p:txBody>
          <a:bodyPr wrap="square">
            <a:spAutoFit/>
          </a:bodyPr>
          <a:lstStyle/>
          <a:p>
            <a:r>
              <a:rPr lang="en-US" sz="1000" dirty="0">
                <a:hlinkClick r:id="rId7"/>
              </a:rPr>
              <a:t>https://en.wikipedia.org/wiki/Bayer_filter</a:t>
            </a:r>
            <a:r>
              <a:rPr lang="en-US" sz="1000" dirty="0"/>
              <a:t> </a:t>
            </a:r>
          </a:p>
        </p:txBody>
      </p:sp>
    </p:spTree>
    <p:extLst>
      <p:ext uri="{BB962C8B-B14F-4D97-AF65-F5344CB8AC3E}">
        <p14:creationId xmlns:p14="http://schemas.microsoft.com/office/powerpoint/2010/main" val="13095174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9343AD7-193D-266D-A9E4-87355625E16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3DFCB42-7D1B-D334-9277-BEF8EF74D967}"/>
              </a:ext>
            </a:extLst>
          </p:cNvPr>
          <p:cNvSpPr txBox="1">
            <a:spLocks noGrp="1"/>
          </p:cNvSpPr>
          <p:nvPr>
            <p:ph type="body" idx="1"/>
          </p:nvPr>
        </p:nvSpPr>
        <p:spPr>
          <a:xfrm>
            <a:off x="376809" y="1334279"/>
            <a:ext cx="6625065"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We use twice as many green filters because the human eye (specifically our cone cells) is most sensitive to green wavelengths (~550 nm).</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By over-sampling green, the camera captures luminance (brightness) detail that matches human perception.</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However, our raw array is now a mosaic of single colors. </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Pixel (0,0) only knows Red.</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How do we get RGB values for every pixel?</a:t>
            </a:r>
          </a:p>
        </p:txBody>
      </p:sp>
      <p:sp>
        <p:nvSpPr>
          <p:cNvPr id="119" name="Google Shape;119;p29">
            <a:extLst>
              <a:ext uri="{FF2B5EF4-FFF2-40B4-BE49-F238E27FC236}">
                <a16:creationId xmlns:a16="http://schemas.microsoft.com/office/drawing/2014/main" id="{8E8B27DE-CEEF-1BB2-874A-D538CB3C1DE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0F014AA-712A-DE43-361B-5A6C6FC1FD6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944764B-31A9-1DC1-C620-4CDA508F76A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1C67A19-621A-5D6D-8E54-5DB8F52F52C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16ABCF1-9B76-7FEE-CA69-E46228A067B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9688DBB-E47E-333E-448A-42F3DB41379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0FAA275-6DD1-F909-5C89-CD81B1C3019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491B7A3-1277-5304-38D6-09D09793870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80CC4E5E-E877-37EB-865E-FB15BC4881B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001874" y="1772716"/>
            <a:ext cx="5143500" cy="3619500"/>
          </a:xfrm>
          <a:prstGeom prst="rect">
            <a:avLst/>
          </a:prstGeom>
        </p:spPr>
      </p:pic>
      <p:sp>
        <p:nvSpPr>
          <p:cNvPr id="6" name="TextBox 5">
            <a:extLst>
              <a:ext uri="{FF2B5EF4-FFF2-40B4-BE49-F238E27FC236}">
                <a16:creationId xmlns:a16="http://schemas.microsoft.com/office/drawing/2014/main" id="{7774153F-467A-1D4A-A497-E9472CDA09AE}"/>
              </a:ext>
            </a:extLst>
          </p:cNvPr>
          <p:cNvSpPr txBox="1"/>
          <p:nvPr/>
        </p:nvSpPr>
        <p:spPr>
          <a:xfrm>
            <a:off x="7963833" y="5507441"/>
            <a:ext cx="3404519" cy="246221"/>
          </a:xfrm>
          <a:prstGeom prst="rect">
            <a:avLst/>
          </a:prstGeom>
          <a:noFill/>
        </p:spPr>
        <p:txBody>
          <a:bodyPr wrap="square">
            <a:spAutoFit/>
          </a:bodyPr>
          <a:lstStyle/>
          <a:p>
            <a:pPr algn="ctr"/>
            <a:r>
              <a:rPr lang="en-US" sz="1000" dirty="0">
                <a:hlinkClick r:id="rId6"/>
              </a:rPr>
              <a:t>https://en.wikipedia.org/wiki/Color_vision</a:t>
            </a:r>
            <a:r>
              <a:rPr lang="en-US" sz="1000" dirty="0"/>
              <a:t> </a:t>
            </a:r>
          </a:p>
        </p:txBody>
      </p:sp>
    </p:spTree>
    <p:extLst>
      <p:ext uri="{BB962C8B-B14F-4D97-AF65-F5344CB8AC3E}">
        <p14:creationId xmlns:p14="http://schemas.microsoft.com/office/powerpoint/2010/main" val="18028895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7EE4C85-C55C-A363-197F-86885DF7D5B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7F466A6-160B-BA90-320F-53F242E6C4C9}"/>
                  </a:ext>
                </a:extLst>
              </p:cNvPr>
              <p:cNvSpPr txBox="1">
                <a:spLocks noGrp="1"/>
              </p:cNvSpPr>
              <p:nvPr>
                <p:ph type="body" idx="1"/>
              </p:nvPr>
            </p:nvSpPr>
            <p:spPr>
              <a:xfrm>
                <a:off x="376809" y="1334279"/>
                <a:ext cx="950636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b="1" dirty="0" err="1">
                    <a:latin typeface="Arial"/>
                    <a:ea typeface="Arial"/>
                    <a:cs typeface="Arial"/>
                    <a:sym typeface="Arial"/>
                  </a:rPr>
                  <a:t>Demosaicing</a:t>
                </a:r>
                <a:r>
                  <a:rPr lang="en-US" sz="1800" dirty="0">
                    <a:latin typeface="Arial"/>
                    <a:ea typeface="Arial"/>
                    <a:cs typeface="Arial"/>
                    <a:sym typeface="Arial"/>
                  </a:rPr>
                  <a:t> is the mathematical process of guessing the missing color values at each pixel location.</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We use surrounding pixels to calculate an average. To find the missing Green value at a Red pixel:</a:t>
                </a:r>
              </a:p>
              <a:p>
                <a:pPr marL="0" indent="0">
                  <a:lnSpc>
                    <a:spcPct val="100000"/>
                  </a:lnSpc>
                  <a:spcBef>
                    <a:spcPts val="0"/>
                  </a:spcBef>
                  <a:buSzPts val="3000"/>
                  <a:buNone/>
                </a:pPr>
                <a:endParaRPr lang="en-US" sz="1800" dirty="0">
                  <a:latin typeface="Arial"/>
                  <a:ea typeface="Arial"/>
                  <a:cs typeface="Arial"/>
                  <a:sym typeface="Arial"/>
                </a:endParaRPr>
              </a:p>
              <a:p>
                <a:pPr marL="0" indent="0" algn="ctr">
                  <a:lnSpc>
                    <a:spcPct val="100000"/>
                  </a:lnSpc>
                  <a:spcBef>
                    <a:spcPts val="0"/>
                  </a:spcBef>
                  <a:buSzPts val="3000"/>
                  <a:buNone/>
                </a:pPr>
                <a:r>
                  <a:rPr lang="en-US" sz="1800" dirty="0">
                    <a:latin typeface="Arial"/>
                    <a:ea typeface="Arial"/>
                    <a:cs typeface="Arial"/>
                    <a:sym typeface="Arial"/>
                  </a:rPr>
                  <a:t> </a:t>
                </a:r>
                <a14:m>
                  <m:oMath xmlns:m="http://schemas.openxmlformats.org/officeDocument/2006/math">
                    <m:sSub>
                      <m:sSubPr>
                        <m:ctrlPr>
                          <a:rPr lang="en-US" sz="1800" i="1" dirty="0" smtClean="0">
                            <a:latin typeface="Cambria Math" panose="02040503050406030204" pitchFamily="18" charset="0"/>
                            <a:ea typeface="Arial"/>
                            <a:cs typeface="Arial"/>
                            <a:sym typeface="Arial"/>
                          </a:rPr>
                        </m:ctrlPr>
                      </m:sSubPr>
                      <m:e>
                        <m:r>
                          <a:rPr lang="en-US" sz="1800" i="1" dirty="0" smtClean="0">
                            <a:latin typeface="Cambria Math" panose="02040503050406030204" pitchFamily="18" charset="0"/>
                            <a:ea typeface="Arial"/>
                            <a:cs typeface="Arial"/>
                            <a:sym typeface="Arial"/>
                          </a:rPr>
                          <m:t>𝑅</m:t>
                        </m:r>
                      </m:e>
                      <m:sub>
                        <m:r>
                          <a:rPr lang="en-US" sz="1800" i="1" dirty="0" err="1">
                            <a:latin typeface="Cambria Math" panose="02040503050406030204" pitchFamily="18" charset="0"/>
                            <a:ea typeface="Arial"/>
                            <a:cs typeface="Arial"/>
                            <a:sym typeface="Arial"/>
                          </a:rPr>
                          <m:t>𝑖</m:t>
                        </m:r>
                        <m:r>
                          <a:rPr lang="en-US" sz="1800" i="1" dirty="0" err="1">
                            <a:latin typeface="Cambria Math" panose="02040503050406030204" pitchFamily="18" charset="0"/>
                            <a:ea typeface="Arial"/>
                            <a:cs typeface="Arial"/>
                            <a:sym typeface="Arial"/>
                          </a:rPr>
                          <m:t>,</m:t>
                        </m:r>
                        <m:r>
                          <a:rPr lang="en-US" sz="1800" i="1" dirty="0" err="1">
                            <a:latin typeface="Cambria Math" panose="02040503050406030204" pitchFamily="18" charset="0"/>
                            <a:ea typeface="Arial"/>
                            <a:cs typeface="Arial"/>
                            <a:sym typeface="Arial"/>
                          </a:rPr>
                          <m:t>𝑗</m:t>
                        </m:r>
                      </m:sub>
                    </m:sSub>
                    <m:r>
                      <a:rPr lang="en-US" sz="1800" i="1" dirty="0">
                        <a:latin typeface="Cambria Math" panose="02040503050406030204" pitchFamily="18" charset="0"/>
                        <a:ea typeface="Arial"/>
                        <a:cs typeface="Arial"/>
                        <a:sym typeface="Arial"/>
                      </a:rPr>
                      <m:t>:</m:t>
                    </m:r>
                    <m:sSub>
                      <m:sSubPr>
                        <m:ctrlPr>
                          <a:rPr lang="en-US" sz="1800" i="1" dirty="0" smtClean="0">
                            <a:latin typeface="Cambria Math" panose="02040503050406030204" pitchFamily="18" charset="0"/>
                            <a:ea typeface="Arial"/>
                            <a:cs typeface="Arial"/>
                            <a:sym typeface="Arial"/>
                          </a:rPr>
                        </m:ctrlPr>
                      </m:sSubPr>
                      <m:e>
                        <m:r>
                          <a:rPr lang="en-US" sz="1800" b="0" i="1" dirty="0" smtClean="0">
                            <a:latin typeface="Cambria Math" panose="02040503050406030204" pitchFamily="18" charset="0"/>
                            <a:ea typeface="Arial"/>
                            <a:cs typeface="Arial"/>
                            <a:sym typeface="Arial"/>
                          </a:rPr>
                          <m:t> </m:t>
                        </m:r>
                        <m:r>
                          <a:rPr lang="en-US" sz="1800" i="1" dirty="0">
                            <a:latin typeface="Cambria Math" panose="02040503050406030204" pitchFamily="18" charset="0"/>
                            <a:ea typeface="Arial"/>
                            <a:cs typeface="Arial"/>
                            <a:sym typeface="Arial"/>
                          </a:rPr>
                          <m:t>𝐺</m:t>
                        </m:r>
                      </m:e>
                      <m:sub>
                        <m:r>
                          <a:rPr lang="en-US" sz="1800" i="1" dirty="0" err="1">
                            <a:latin typeface="Cambria Math" panose="02040503050406030204" pitchFamily="18" charset="0"/>
                            <a:ea typeface="Arial"/>
                            <a:cs typeface="Arial"/>
                            <a:sym typeface="Arial"/>
                          </a:rPr>
                          <m:t>𝑖</m:t>
                        </m:r>
                        <m:r>
                          <a:rPr lang="en-US" sz="1800" i="1" dirty="0" err="1">
                            <a:latin typeface="Cambria Math" panose="02040503050406030204" pitchFamily="18" charset="0"/>
                            <a:ea typeface="Arial"/>
                            <a:cs typeface="Arial"/>
                            <a:sym typeface="Arial"/>
                          </a:rPr>
                          <m:t>,</m:t>
                        </m:r>
                        <m:r>
                          <a:rPr lang="en-US" sz="1800" i="1" dirty="0" err="1">
                            <a:latin typeface="Cambria Math" panose="02040503050406030204" pitchFamily="18" charset="0"/>
                            <a:ea typeface="Arial"/>
                            <a:cs typeface="Arial"/>
                            <a:sym typeface="Arial"/>
                          </a:rPr>
                          <m:t>𝑗</m:t>
                        </m:r>
                      </m:sub>
                    </m:sSub>
                    <m:r>
                      <a:rPr lang="en-US" sz="1800" i="1" dirty="0">
                        <a:latin typeface="Cambria Math" panose="02040503050406030204" pitchFamily="18" charset="0"/>
                        <a:ea typeface="Arial"/>
                        <a:cs typeface="Arial"/>
                        <a:sym typeface="Arial"/>
                      </a:rPr>
                      <m:t>=</m:t>
                    </m:r>
                    <m:f>
                      <m:fPr>
                        <m:ctrlPr>
                          <a:rPr lang="en-US" sz="1800" i="1" dirty="0">
                            <a:latin typeface="Cambria Math" panose="02040503050406030204" pitchFamily="18" charset="0"/>
                            <a:ea typeface="Arial"/>
                            <a:cs typeface="Arial"/>
                            <a:sym typeface="Arial"/>
                          </a:rPr>
                        </m:ctrlPr>
                      </m:fPr>
                      <m:num>
                        <m:r>
                          <a:rPr lang="en-US" sz="1800" i="1" dirty="0">
                            <a:latin typeface="Cambria Math" panose="02040503050406030204" pitchFamily="18" charset="0"/>
                            <a:ea typeface="Arial"/>
                            <a:cs typeface="Arial"/>
                            <a:sym typeface="Arial"/>
                          </a:rPr>
                          <m:t>1</m:t>
                        </m:r>
                      </m:num>
                      <m:den>
                        <m:r>
                          <a:rPr lang="en-US" sz="1800" i="1" dirty="0">
                            <a:latin typeface="Cambria Math" panose="02040503050406030204" pitchFamily="18" charset="0"/>
                            <a:ea typeface="Arial"/>
                            <a:cs typeface="Arial"/>
                            <a:sym typeface="Arial"/>
                          </a:rPr>
                          <m:t>4</m:t>
                        </m:r>
                      </m:den>
                    </m:f>
                    <m:d>
                      <m:dPr>
                        <m:ctrlPr>
                          <a:rPr lang="en-US" sz="1800" i="1" dirty="0">
                            <a:latin typeface="Cambria Math" panose="02040503050406030204" pitchFamily="18" charset="0"/>
                            <a:ea typeface="Arial"/>
                            <a:cs typeface="Arial"/>
                            <a:sym typeface="Arial"/>
                          </a:rPr>
                        </m:ctrlPr>
                      </m:dPr>
                      <m:e>
                        <m:sSub>
                          <m:sSubPr>
                            <m:ctrlPr>
                              <a:rPr lang="en-US" sz="1800" i="1" dirty="0">
                                <a:latin typeface="Cambria Math" panose="02040503050406030204" pitchFamily="18" charset="0"/>
                                <a:ea typeface="Arial"/>
                                <a:cs typeface="Arial"/>
                                <a:sym typeface="Arial"/>
                              </a:rPr>
                            </m:ctrlPr>
                          </m:sSubPr>
                          <m:e>
                            <m:r>
                              <a:rPr lang="en-US" sz="1800" i="1" dirty="0">
                                <a:latin typeface="Cambria Math" panose="02040503050406030204" pitchFamily="18" charset="0"/>
                                <a:ea typeface="Arial"/>
                                <a:cs typeface="Arial"/>
                                <a:sym typeface="Arial"/>
                              </a:rPr>
                              <m:t>𝐺</m:t>
                            </m:r>
                          </m:e>
                          <m:sub>
                            <m:r>
                              <a:rPr lang="en-US" sz="1800" i="1" dirty="0">
                                <a:latin typeface="Cambria Math" panose="02040503050406030204" pitchFamily="18" charset="0"/>
                                <a:ea typeface="Arial"/>
                                <a:cs typeface="Arial"/>
                                <a:sym typeface="Arial"/>
                              </a:rPr>
                              <m:t>𝑖</m:t>
                            </m:r>
                            <m:r>
                              <a:rPr lang="en-US" sz="1800" i="1" dirty="0">
                                <a:latin typeface="Cambria Math" panose="02040503050406030204" pitchFamily="18" charset="0"/>
                                <a:ea typeface="Arial"/>
                                <a:cs typeface="Arial"/>
                                <a:sym typeface="Arial"/>
                              </a:rPr>
                              <m:t>−1,</m:t>
                            </m:r>
                            <m:r>
                              <a:rPr lang="en-US" sz="1800" i="1" dirty="0">
                                <a:latin typeface="Cambria Math" panose="02040503050406030204" pitchFamily="18" charset="0"/>
                                <a:ea typeface="Arial"/>
                                <a:cs typeface="Arial"/>
                                <a:sym typeface="Arial"/>
                              </a:rPr>
                              <m:t>𝑗</m:t>
                            </m:r>
                          </m:sub>
                        </m:sSub>
                        <m:r>
                          <a:rPr lang="en-US" sz="1800" i="1" dirty="0">
                            <a:latin typeface="Cambria Math" panose="02040503050406030204" pitchFamily="18" charset="0"/>
                            <a:ea typeface="Arial"/>
                            <a:cs typeface="Arial"/>
                            <a:sym typeface="Arial"/>
                          </a:rPr>
                          <m:t>+</m:t>
                        </m:r>
                        <m:sSub>
                          <m:sSubPr>
                            <m:ctrlPr>
                              <a:rPr lang="en-US" sz="1800" i="1" dirty="0">
                                <a:latin typeface="Cambria Math" panose="02040503050406030204" pitchFamily="18" charset="0"/>
                                <a:ea typeface="Arial"/>
                                <a:cs typeface="Arial"/>
                                <a:sym typeface="Arial"/>
                              </a:rPr>
                            </m:ctrlPr>
                          </m:sSubPr>
                          <m:e>
                            <m:r>
                              <a:rPr lang="en-US" sz="1800" i="1" dirty="0">
                                <a:latin typeface="Cambria Math" panose="02040503050406030204" pitchFamily="18" charset="0"/>
                                <a:ea typeface="Arial"/>
                                <a:cs typeface="Arial"/>
                                <a:sym typeface="Arial"/>
                              </a:rPr>
                              <m:t>𝐺</m:t>
                            </m:r>
                          </m:e>
                          <m:sub>
                            <m:r>
                              <a:rPr lang="en-US" sz="1800" i="1" dirty="0">
                                <a:latin typeface="Cambria Math" panose="02040503050406030204" pitchFamily="18" charset="0"/>
                                <a:ea typeface="Arial"/>
                                <a:cs typeface="Arial"/>
                                <a:sym typeface="Arial"/>
                              </a:rPr>
                              <m:t>𝑖</m:t>
                            </m:r>
                            <m:r>
                              <a:rPr lang="en-US" sz="1800" i="1" dirty="0">
                                <a:latin typeface="Cambria Math" panose="02040503050406030204" pitchFamily="18" charset="0"/>
                                <a:ea typeface="Arial"/>
                                <a:cs typeface="Arial"/>
                                <a:sym typeface="Arial"/>
                              </a:rPr>
                              <m:t>+1,</m:t>
                            </m:r>
                            <m:r>
                              <a:rPr lang="en-US" sz="1800" i="1" dirty="0">
                                <a:latin typeface="Cambria Math" panose="02040503050406030204" pitchFamily="18" charset="0"/>
                                <a:ea typeface="Arial"/>
                                <a:cs typeface="Arial"/>
                                <a:sym typeface="Arial"/>
                              </a:rPr>
                              <m:t>𝑗</m:t>
                            </m:r>
                          </m:sub>
                        </m:sSub>
                        <m:r>
                          <a:rPr lang="en-US" sz="1800" i="1" dirty="0">
                            <a:latin typeface="Cambria Math" panose="02040503050406030204" pitchFamily="18" charset="0"/>
                            <a:ea typeface="Arial"/>
                            <a:cs typeface="Arial"/>
                            <a:sym typeface="Arial"/>
                          </a:rPr>
                          <m:t>+</m:t>
                        </m:r>
                        <m:sSub>
                          <m:sSubPr>
                            <m:ctrlPr>
                              <a:rPr lang="en-US" sz="1800" i="1" dirty="0">
                                <a:latin typeface="Cambria Math" panose="02040503050406030204" pitchFamily="18" charset="0"/>
                                <a:ea typeface="Arial"/>
                                <a:cs typeface="Arial"/>
                                <a:sym typeface="Arial"/>
                              </a:rPr>
                            </m:ctrlPr>
                          </m:sSubPr>
                          <m:e>
                            <m:r>
                              <a:rPr lang="en-US" sz="1800" i="1" dirty="0">
                                <a:latin typeface="Cambria Math" panose="02040503050406030204" pitchFamily="18" charset="0"/>
                                <a:ea typeface="Arial"/>
                                <a:cs typeface="Arial"/>
                                <a:sym typeface="Arial"/>
                              </a:rPr>
                              <m:t>𝐺</m:t>
                            </m:r>
                          </m:e>
                          <m:sub>
                            <m:r>
                              <a:rPr lang="en-US" sz="1800" i="1" dirty="0">
                                <a:latin typeface="Cambria Math" panose="02040503050406030204" pitchFamily="18" charset="0"/>
                                <a:ea typeface="Arial"/>
                                <a:cs typeface="Arial"/>
                                <a:sym typeface="Arial"/>
                              </a:rPr>
                              <m:t>𝑖</m:t>
                            </m:r>
                            <m:r>
                              <a:rPr lang="en-US" sz="1800" i="1" dirty="0">
                                <a:latin typeface="Cambria Math" panose="02040503050406030204" pitchFamily="18" charset="0"/>
                                <a:ea typeface="Arial"/>
                                <a:cs typeface="Arial"/>
                                <a:sym typeface="Arial"/>
                              </a:rPr>
                              <m:t>,</m:t>
                            </m:r>
                            <m:r>
                              <a:rPr lang="en-US" sz="1800" i="1" dirty="0">
                                <a:latin typeface="Cambria Math" panose="02040503050406030204" pitchFamily="18" charset="0"/>
                                <a:ea typeface="Arial"/>
                                <a:cs typeface="Arial"/>
                                <a:sym typeface="Arial"/>
                              </a:rPr>
                              <m:t>𝑗</m:t>
                            </m:r>
                            <m:r>
                              <a:rPr lang="en-US" sz="1800" i="1" dirty="0">
                                <a:latin typeface="Cambria Math" panose="02040503050406030204" pitchFamily="18" charset="0"/>
                                <a:ea typeface="Arial"/>
                                <a:cs typeface="Arial"/>
                                <a:sym typeface="Arial"/>
                              </a:rPr>
                              <m:t>−1</m:t>
                            </m:r>
                          </m:sub>
                        </m:sSub>
                        <m:r>
                          <a:rPr lang="en-US" sz="1800" i="1" dirty="0">
                            <a:latin typeface="Cambria Math" panose="02040503050406030204" pitchFamily="18" charset="0"/>
                            <a:ea typeface="Arial"/>
                            <a:cs typeface="Arial"/>
                            <a:sym typeface="Arial"/>
                          </a:rPr>
                          <m:t>+</m:t>
                        </m:r>
                        <m:sSub>
                          <m:sSubPr>
                            <m:ctrlPr>
                              <a:rPr lang="en-US" sz="1800" i="1" dirty="0">
                                <a:latin typeface="Cambria Math" panose="02040503050406030204" pitchFamily="18" charset="0"/>
                                <a:ea typeface="Arial"/>
                                <a:cs typeface="Arial"/>
                                <a:sym typeface="Arial"/>
                              </a:rPr>
                            </m:ctrlPr>
                          </m:sSubPr>
                          <m:e>
                            <m:r>
                              <a:rPr lang="en-US" sz="1800" i="1" dirty="0">
                                <a:latin typeface="Cambria Math" panose="02040503050406030204" pitchFamily="18" charset="0"/>
                                <a:ea typeface="Arial"/>
                                <a:cs typeface="Arial"/>
                                <a:sym typeface="Arial"/>
                              </a:rPr>
                              <m:t>𝐺</m:t>
                            </m:r>
                          </m:e>
                          <m:sub>
                            <m:r>
                              <a:rPr lang="en-US" sz="1800" i="1" dirty="0">
                                <a:latin typeface="Cambria Math" panose="02040503050406030204" pitchFamily="18" charset="0"/>
                                <a:ea typeface="Arial"/>
                                <a:cs typeface="Arial"/>
                                <a:sym typeface="Arial"/>
                              </a:rPr>
                              <m:t>𝑖</m:t>
                            </m:r>
                            <m:r>
                              <a:rPr lang="en-US" sz="1800" i="1" dirty="0">
                                <a:latin typeface="Cambria Math" panose="02040503050406030204" pitchFamily="18" charset="0"/>
                                <a:ea typeface="Arial"/>
                                <a:cs typeface="Arial"/>
                                <a:sym typeface="Arial"/>
                              </a:rPr>
                              <m:t>,</m:t>
                            </m:r>
                            <m:r>
                              <a:rPr lang="en-US" sz="1800" i="1" dirty="0">
                                <a:latin typeface="Cambria Math" panose="02040503050406030204" pitchFamily="18" charset="0"/>
                                <a:ea typeface="Arial"/>
                                <a:cs typeface="Arial"/>
                                <a:sym typeface="Arial"/>
                              </a:rPr>
                              <m:t>𝑗</m:t>
                            </m:r>
                            <m:r>
                              <a:rPr lang="en-US" sz="1800" i="1" dirty="0">
                                <a:latin typeface="Cambria Math" panose="02040503050406030204" pitchFamily="18" charset="0"/>
                                <a:ea typeface="Arial"/>
                                <a:cs typeface="Arial"/>
                                <a:sym typeface="Arial"/>
                              </a:rPr>
                              <m:t>+1</m:t>
                            </m:r>
                          </m:sub>
                        </m:sSub>
                      </m:e>
                    </m:d>
                  </m:oMath>
                </a14:m>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The camera's internal DSP (Digital Signal Processor) usually does this before sending data to the microcontroller.</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This simple approach works well in areas with constant color or smooth gradients, but it can cause artifacts such as color bleeding in areas where there are abrupt changes in color or brightness especially noticeable along sharp edges in the image. </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Because of this, other </a:t>
                </a:r>
                <a:r>
                  <a:rPr lang="en-US" sz="1800" dirty="0" err="1">
                    <a:latin typeface="Arial"/>
                    <a:ea typeface="Arial"/>
                    <a:cs typeface="Arial"/>
                    <a:sym typeface="Arial"/>
                  </a:rPr>
                  <a:t>demosaicing</a:t>
                </a:r>
                <a:r>
                  <a:rPr lang="en-US" sz="1800" dirty="0">
                    <a:latin typeface="Arial"/>
                    <a:ea typeface="Arial"/>
                    <a:cs typeface="Arial"/>
                    <a:sym typeface="Arial"/>
                  </a:rPr>
                  <a:t> methods attempt to identify high-contrast edges and only interpolate along these edges, but not across them.</a:t>
                </a:r>
              </a:p>
            </p:txBody>
          </p:sp>
        </mc:Choice>
        <mc:Fallback xmlns="">
          <p:sp>
            <p:nvSpPr>
              <p:cNvPr id="118" name="Google Shape;118;p29">
                <a:extLst>
                  <a:ext uri="{FF2B5EF4-FFF2-40B4-BE49-F238E27FC236}">
                    <a16:creationId xmlns:a16="http://schemas.microsoft.com/office/drawing/2014/main" id="{87F466A6-160B-BA90-320F-53F242E6C4C9}"/>
                  </a:ext>
                </a:extLst>
              </p:cNvPr>
              <p:cNvSpPr txBox="1">
                <a:spLocks noGrp="1" noRot="1" noChangeAspect="1" noMove="1" noResize="1" noEditPoints="1" noAdjustHandles="1" noChangeArrowheads="1" noChangeShapeType="1" noTextEdit="1"/>
              </p:cNvSpPr>
              <p:nvPr>
                <p:ph type="body" idx="1"/>
              </p:nvPr>
            </p:nvSpPr>
            <p:spPr>
              <a:xfrm>
                <a:off x="376809" y="1334279"/>
                <a:ext cx="9506367" cy="4821102"/>
              </a:xfrm>
              <a:prstGeom prst="rect">
                <a:avLst/>
              </a:prstGeom>
              <a:blipFill>
                <a:blip r:embed="rId3"/>
                <a:stretch>
                  <a:fillRect l="-577" t="-759" r="-513" b="-303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A9906EE-DC3D-4993-9C05-BD16DA3C0B7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A7E92BC-2724-C331-395C-4181738AD4D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AEE36F5-9C9C-750A-A0FA-665E5D65B0D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3CEE85A-4531-C080-189E-2CF31B221A8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42EFFC4-90F2-6FF4-B187-79D1303E1FA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6532086-5AF1-571B-8E1A-D28EAA7EC85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A4AEB92-690F-9723-A832-6BB594908B4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83CC9D2-E71E-6265-6C8E-BA464EFD857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6" name="TextBox 5">
            <a:extLst>
              <a:ext uri="{FF2B5EF4-FFF2-40B4-BE49-F238E27FC236}">
                <a16:creationId xmlns:a16="http://schemas.microsoft.com/office/drawing/2014/main" id="{67C14D31-4651-ACA9-8042-534989BC48AD}"/>
              </a:ext>
            </a:extLst>
          </p:cNvPr>
          <p:cNvSpPr txBox="1"/>
          <p:nvPr/>
        </p:nvSpPr>
        <p:spPr>
          <a:xfrm>
            <a:off x="7467685" y="6335772"/>
            <a:ext cx="2473415" cy="246221"/>
          </a:xfrm>
          <a:prstGeom prst="rect">
            <a:avLst/>
          </a:prstGeom>
          <a:noFill/>
        </p:spPr>
        <p:txBody>
          <a:bodyPr wrap="square">
            <a:spAutoFit/>
          </a:bodyPr>
          <a:lstStyle/>
          <a:p>
            <a:pPr algn="ctr"/>
            <a:r>
              <a:rPr lang="en-US" sz="1000" dirty="0">
                <a:hlinkClick r:id="rId5"/>
              </a:rPr>
              <a:t>https://en.wikipedia.org/wiki/Color_vision</a:t>
            </a:r>
            <a:r>
              <a:rPr lang="en-US" sz="1000" dirty="0"/>
              <a:t> </a:t>
            </a:r>
          </a:p>
        </p:txBody>
      </p:sp>
      <p:pic>
        <p:nvPicPr>
          <p:cNvPr id="6146" name="Picture 2" descr="undefined">
            <a:extLst>
              <a:ext uri="{FF2B5EF4-FFF2-40B4-BE49-F238E27FC236}">
                <a16:creationId xmlns:a16="http://schemas.microsoft.com/office/drawing/2014/main" id="{FDC5DBA4-DACA-DD70-878D-935106022821}"/>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9999025" y="899495"/>
            <a:ext cx="1694138" cy="56471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3077180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A544614-C0E6-92FC-6C2E-E2D3B4F2AC1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2025FD2B-153B-79B5-FC7B-D014B7DE69BB}"/>
                  </a:ext>
                </a:extLst>
              </p:cNvPr>
              <p:cNvSpPr txBox="1">
                <a:spLocks noGrp="1"/>
              </p:cNvSpPr>
              <p:nvPr>
                <p:ph type="body" idx="1"/>
              </p:nvPr>
            </p:nvSpPr>
            <p:spPr>
              <a:xfrm>
                <a:off x="376809" y="1334279"/>
                <a:ext cx="633731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rial"/>
                    <a:ea typeface="Arial"/>
                    <a:cs typeface="Arial"/>
                    <a:sym typeface="Arial"/>
                  </a:rPr>
                  <a:t>Once demosaiced, every pixel is an array of three values: </a:t>
                </a:r>
                <a:r>
                  <a:rPr lang="en-US" sz="1800" b="1" dirty="0">
                    <a:latin typeface="Arial"/>
                    <a:ea typeface="Arial"/>
                    <a:cs typeface="Arial"/>
                    <a:sym typeface="Arial"/>
                  </a:rPr>
                  <a:t>R, G, B</a:t>
                </a:r>
                <a:r>
                  <a:rPr lang="en-US" sz="1800" dirty="0">
                    <a:latin typeface="Arial"/>
                    <a:ea typeface="Arial"/>
                    <a:cs typeface="Arial"/>
                    <a:sym typeface="Arial"/>
                  </a:rPr>
                  <a:t>.</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RGB is an additive color model used by screens and sensors and each value is represented as an 8-bit value (depends on the ADC of the sensor).</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If </a:t>
                </a:r>
                <a14:m>
                  <m:oMath xmlns:m="http://schemas.openxmlformats.org/officeDocument/2006/math">
                    <m:r>
                      <a:rPr lang="en-US" sz="1800" i="1" dirty="0" smtClean="0">
                        <a:latin typeface="Cambria Math" panose="02040503050406030204" pitchFamily="18" charset="0"/>
                        <a:ea typeface="Arial"/>
                        <a:cs typeface="Arial"/>
                        <a:sym typeface="Arial"/>
                      </a:rPr>
                      <m:t>𝑅</m:t>
                    </m:r>
                    <m:r>
                      <a:rPr lang="en-US" sz="1800" i="1" dirty="0" smtClean="0">
                        <a:latin typeface="Cambria Math" panose="02040503050406030204" pitchFamily="18" charset="0"/>
                        <a:ea typeface="Arial"/>
                        <a:cs typeface="Arial"/>
                        <a:sym typeface="Arial"/>
                      </a:rPr>
                      <m:t>=255, </m:t>
                    </m:r>
                    <m:r>
                      <a:rPr lang="en-US" sz="1800" i="1" dirty="0" smtClean="0">
                        <a:latin typeface="Cambria Math" panose="02040503050406030204" pitchFamily="18" charset="0"/>
                        <a:ea typeface="Arial"/>
                        <a:cs typeface="Arial"/>
                        <a:sym typeface="Arial"/>
                      </a:rPr>
                      <m:t>𝐺</m:t>
                    </m:r>
                    <m:r>
                      <a:rPr lang="en-US" sz="1800" i="1" dirty="0" smtClean="0">
                        <a:latin typeface="Cambria Math" panose="02040503050406030204" pitchFamily="18" charset="0"/>
                        <a:ea typeface="Arial"/>
                        <a:cs typeface="Arial"/>
                        <a:sym typeface="Arial"/>
                      </a:rPr>
                      <m:t>=255, </m:t>
                    </m:r>
                    <m:r>
                      <a:rPr lang="en-US" sz="1800" i="1" dirty="0" smtClean="0">
                        <a:latin typeface="Cambria Math" panose="02040503050406030204" pitchFamily="18" charset="0"/>
                        <a:ea typeface="Arial"/>
                        <a:cs typeface="Arial"/>
                        <a:sym typeface="Arial"/>
                      </a:rPr>
                      <m:t>𝐵</m:t>
                    </m:r>
                    <m:r>
                      <a:rPr lang="en-US" sz="1800" i="1" dirty="0" smtClean="0">
                        <a:latin typeface="Cambria Math" panose="02040503050406030204" pitchFamily="18" charset="0"/>
                        <a:ea typeface="Arial"/>
                        <a:cs typeface="Arial"/>
                        <a:sym typeface="Arial"/>
                      </a:rPr>
                      <m:t>=255</m:t>
                    </m:r>
                  </m:oMath>
                </a14:m>
                <a:r>
                  <a:rPr lang="en-US" sz="1800" dirty="0">
                    <a:latin typeface="Arial"/>
                    <a:ea typeface="Arial"/>
                    <a:cs typeface="Arial"/>
                    <a:sym typeface="Arial"/>
                  </a:rPr>
                  <a:t>, what color do we see? </a:t>
                </a:r>
              </a:p>
              <a:p>
                <a:pPr marL="0" indent="0" algn="ctr">
                  <a:lnSpc>
                    <a:spcPct val="100000"/>
                  </a:lnSpc>
                  <a:spcBef>
                    <a:spcPts val="0"/>
                  </a:spcBef>
                  <a:buSzPts val="3000"/>
                  <a:buNone/>
                </a:pPr>
                <a:r>
                  <a:rPr lang="en-US" sz="1800" dirty="0">
                    <a:latin typeface="Arial"/>
                    <a:ea typeface="Arial"/>
                    <a:cs typeface="Arial"/>
                    <a:sym typeface="Arial"/>
                  </a:rPr>
                  <a:t>White</a:t>
                </a:r>
              </a:p>
              <a:p>
                <a:pPr marL="0" indent="0" algn="ctr">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If </a:t>
                </a:r>
                <a14:m>
                  <m:oMath xmlns:m="http://schemas.openxmlformats.org/officeDocument/2006/math">
                    <m:r>
                      <a:rPr lang="en-US" sz="1800" i="1" dirty="0">
                        <a:latin typeface="Cambria Math" panose="02040503050406030204" pitchFamily="18" charset="0"/>
                        <a:ea typeface="Arial"/>
                        <a:cs typeface="Arial"/>
                        <a:sym typeface="Arial"/>
                      </a:rPr>
                      <m:t>𝑅</m:t>
                    </m:r>
                    <m:r>
                      <a:rPr lang="en-US" sz="1800" i="1" dirty="0">
                        <a:latin typeface="Cambria Math" panose="02040503050406030204" pitchFamily="18" charset="0"/>
                        <a:ea typeface="Arial"/>
                        <a:cs typeface="Arial"/>
                        <a:sym typeface="Arial"/>
                      </a:rPr>
                      <m:t>=255, </m:t>
                    </m:r>
                    <m:r>
                      <a:rPr lang="en-US" sz="1800" i="1" dirty="0">
                        <a:latin typeface="Cambria Math" panose="02040503050406030204" pitchFamily="18" charset="0"/>
                        <a:ea typeface="Arial"/>
                        <a:cs typeface="Arial"/>
                        <a:sym typeface="Arial"/>
                      </a:rPr>
                      <m:t>𝐺</m:t>
                    </m:r>
                    <m:r>
                      <a:rPr lang="en-US" sz="1800" i="1" dirty="0">
                        <a:latin typeface="Cambria Math" panose="02040503050406030204" pitchFamily="18" charset="0"/>
                        <a:ea typeface="Arial"/>
                        <a:cs typeface="Arial"/>
                        <a:sym typeface="Arial"/>
                      </a:rPr>
                      <m:t>=0, </m:t>
                    </m:r>
                    <m:r>
                      <a:rPr lang="en-US" sz="1800" i="1" dirty="0">
                        <a:latin typeface="Cambria Math" panose="02040503050406030204" pitchFamily="18" charset="0"/>
                        <a:ea typeface="Arial"/>
                        <a:cs typeface="Arial"/>
                        <a:sym typeface="Arial"/>
                      </a:rPr>
                      <m:t>𝐵</m:t>
                    </m:r>
                    <m:r>
                      <a:rPr lang="en-US" sz="1800" i="1" dirty="0">
                        <a:latin typeface="Cambria Math" panose="02040503050406030204" pitchFamily="18" charset="0"/>
                        <a:ea typeface="Arial"/>
                        <a:cs typeface="Arial"/>
                        <a:sym typeface="Arial"/>
                      </a:rPr>
                      <m:t>=0</m:t>
                    </m:r>
                  </m:oMath>
                </a14:m>
                <a:r>
                  <a:rPr lang="en-US" sz="1800" dirty="0">
                    <a:latin typeface="Arial"/>
                    <a:ea typeface="Arial"/>
                    <a:cs typeface="Arial"/>
                    <a:sym typeface="Arial"/>
                  </a:rPr>
                  <a:t>, what color do we see? </a:t>
                </a:r>
              </a:p>
              <a:p>
                <a:pPr marL="0" indent="0" algn="ctr">
                  <a:lnSpc>
                    <a:spcPct val="100000"/>
                  </a:lnSpc>
                  <a:spcBef>
                    <a:spcPts val="0"/>
                  </a:spcBef>
                  <a:buSzPts val="3000"/>
                  <a:buNone/>
                </a:pPr>
                <a:r>
                  <a:rPr lang="en-US" sz="1800" dirty="0">
                    <a:latin typeface="Arial"/>
                    <a:ea typeface="Arial"/>
                    <a:cs typeface="Arial"/>
                    <a:sym typeface="Arial"/>
                  </a:rPr>
                  <a:t>Red</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RGB is represented as a 3D Cartesian cube, where </a:t>
                </a:r>
                <a14:m>
                  <m:oMath xmlns:m="http://schemas.openxmlformats.org/officeDocument/2006/math">
                    <m:r>
                      <a:rPr lang="en-US" sz="1800" i="1" dirty="0" smtClean="0">
                        <a:latin typeface="Cambria Math" panose="02040503050406030204" pitchFamily="18" charset="0"/>
                        <a:ea typeface="Arial"/>
                        <a:cs typeface="Arial"/>
                        <a:sym typeface="Arial"/>
                      </a:rPr>
                      <m:t>𝑥</m:t>
                    </m:r>
                    <m:r>
                      <a:rPr lang="en-US" sz="1800" i="1" dirty="0" smtClean="0">
                        <a:latin typeface="Cambria Math" panose="02040503050406030204" pitchFamily="18" charset="0"/>
                        <a:ea typeface="Arial"/>
                        <a:cs typeface="Arial"/>
                        <a:sym typeface="Arial"/>
                      </a:rPr>
                      <m:t>, </m:t>
                    </m:r>
                    <m:r>
                      <a:rPr lang="en-US" sz="1800" i="1" dirty="0" smtClean="0">
                        <a:latin typeface="Cambria Math" panose="02040503050406030204" pitchFamily="18" charset="0"/>
                        <a:ea typeface="Arial"/>
                        <a:cs typeface="Arial"/>
                        <a:sym typeface="Arial"/>
                      </a:rPr>
                      <m:t>𝑦</m:t>
                    </m:r>
                    <m:r>
                      <a:rPr lang="en-US" sz="1800" i="1" dirty="0" smtClean="0">
                        <a:latin typeface="Cambria Math" panose="02040503050406030204" pitchFamily="18" charset="0"/>
                        <a:ea typeface="Arial"/>
                        <a:cs typeface="Arial"/>
                        <a:sym typeface="Arial"/>
                      </a:rPr>
                      <m:t>, </m:t>
                    </m:r>
                    <m:r>
                      <a:rPr lang="en-US" sz="1800" i="1" dirty="0" smtClean="0">
                        <a:latin typeface="Cambria Math" panose="02040503050406030204" pitchFamily="18" charset="0"/>
                        <a:ea typeface="Arial"/>
                        <a:cs typeface="Arial"/>
                        <a:sym typeface="Arial"/>
                      </a:rPr>
                      <m:t>𝑧</m:t>
                    </m:r>
                  </m:oMath>
                </a14:m>
                <a:r>
                  <a:rPr lang="en-US" sz="1800" dirty="0">
                    <a:latin typeface="Arial"/>
                    <a:ea typeface="Arial"/>
                    <a:cs typeface="Arial"/>
                    <a:sym typeface="Arial"/>
                  </a:rPr>
                  <a:t> correspond to Red, Green, and Blue intensities.</a:t>
                </a:r>
              </a:p>
            </p:txBody>
          </p:sp>
        </mc:Choice>
        <mc:Fallback xmlns="">
          <p:sp>
            <p:nvSpPr>
              <p:cNvPr id="118" name="Google Shape;118;p29">
                <a:extLst>
                  <a:ext uri="{FF2B5EF4-FFF2-40B4-BE49-F238E27FC236}">
                    <a16:creationId xmlns:a16="http://schemas.microsoft.com/office/drawing/2014/main" id="{2025FD2B-153B-79B5-FC7B-D014B7DE69BB}"/>
                  </a:ext>
                </a:extLst>
              </p:cNvPr>
              <p:cNvSpPr txBox="1">
                <a:spLocks noGrp="1" noRot="1" noChangeAspect="1" noMove="1" noResize="1" noEditPoints="1" noAdjustHandles="1" noChangeArrowheads="1" noChangeShapeType="1" noTextEdit="1"/>
              </p:cNvSpPr>
              <p:nvPr>
                <p:ph type="body" idx="1"/>
              </p:nvPr>
            </p:nvSpPr>
            <p:spPr>
              <a:xfrm>
                <a:off x="376809" y="1334279"/>
                <a:ext cx="6337317" cy="4821102"/>
              </a:xfrm>
              <a:prstGeom prst="rect">
                <a:avLst/>
              </a:prstGeom>
              <a:blipFill>
                <a:blip r:embed="rId3"/>
                <a:stretch>
                  <a:fillRect l="-866" t="-759" r="-10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37002F5-43A1-3659-46D5-F15510587B4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61B69C0-9007-08ED-89B8-1905379CA48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DD85418-C577-7D8F-21A5-30B7A7BAF3E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0D58404-BE95-D434-65F2-306FC599DF9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E30CCF0-82F1-3E58-8173-755205865B2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6EB9C87-70EE-168A-4B90-A0BCAD01C3B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C9BBFC4-9319-AFC4-DF25-F7275827CF1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8510C7F-114E-86B2-59ED-B04A35C7506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7170" name="Picture 2" descr="undefined">
            <a:extLst>
              <a:ext uri="{FF2B5EF4-FFF2-40B4-BE49-F238E27FC236}">
                <a16:creationId xmlns:a16="http://schemas.microsoft.com/office/drawing/2014/main" id="{A838F4B9-F11D-9A10-4905-78818523DE9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683654" y="1818007"/>
            <a:ext cx="5162417" cy="387181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805012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70B60C1-85AD-9058-56CC-1E225FCD8AB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F48A072-B649-CA68-8F40-E55E4DBEC52D}"/>
              </a:ext>
            </a:extLst>
          </p:cNvPr>
          <p:cNvSpPr txBox="1">
            <a:spLocks noGrp="1"/>
          </p:cNvSpPr>
          <p:nvPr>
            <p:ph type="body" idx="1"/>
          </p:nvPr>
        </p:nvSpPr>
        <p:spPr>
          <a:xfrm>
            <a:off x="376809" y="1334279"/>
            <a:ext cx="1159351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rial"/>
                <a:ea typeface="Arial"/>
                <a:cs typeface="Arial"/>
                <a:sym typeface="Arial"/>
              </a:rPr>
              <a:t>Imagine we write code to track a red ball: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rgbClr val="7F0055"/>
                </a:solidFill>
                <a:latin typeface="Consolas" panose="020B0609020204030204" pitchFamily="49" charset="0"/>
              </a:rPr>
              <a:t>if</a:t>
            </a:r>
            <a:r>
              <a:rPr lang="en-US" sz="2400" dirty="0">
                <a:solidFill>
                  <a:srgbClr val="000000"/>
                </a:solidFill>
                <a:latin typeface="Consolas" panose="020B0609020204030204" pitchFamily="49" charset="0"/>
              </a:rPr>
              <a:t> (R &gt; 200 &amp;&amp; G &lt; 50 &amp;&amp; B &lt; 50) { track();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What happens when the robot drives under a shadow?</a:t>
            </a:r>
          </a:p>
          <a:p>
            <a:pPr marL="0" indent="0" algn="ctr">
              <a:lnSpc>
                <a:spcPct val="100000"/>
              </a:lnSpc>
              <a:spcBef>
                <a:spcPts val="0"/>
              </a:spcBef>
              <a:buSzPts val="3000"/>
              <a:buNone/>
            </a:pPr>
            <a:r>
              <a:rPr lang="en-US" sz="2400" dirty="0">
                <a:latin typeface="Arial"/>
                <a:ea typeface="Arial"/>
                <a:cs typeface="Arial"/>
                <a:sym typeface="Arial"/>
              </a:rPr>
              <a:t>The total light drops. The pixel might become R=100, G=10, B=10. Our code fails!</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In RGB, a change in lighting changes all three variables simultaneously. It couples chrominance (color) with luminance (brightness).</a:t>
            </a:r>
          </a:p>
        </p:txBody>
      </p:sp>
      <p:sp>
        <p:nvSpPr>
          <p:cNvPr id="119" name="Google Shape;119;p29">
            <a:extLst>
              <a:ext uri="{FF2B5EF4-FFF2-40B4-BE49-F238E27FC236}">
                <a16:creationId xmlns:a16="http://schemas.microsoft.com/office/drawing/2014/main" id="{1A24E37D-307B-2055-AAD6-5AEC68D2B8E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04854A1-C86C-BB07-AD4F-FCA28CEEB15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90E872E-57F9-3E50-3D25-69A05D55458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6A802C0-3C44-6E35-D5C9-4AD2CA9B157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AFCBD58-039C-9B8A-7AB6-265C5E17696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D17D9DC-B7B7-758C-7FCC-0C716BE5740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26566F0-CEAC-6518-8563-DA56A0FC514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867BF16-B3B8-3E77-1FBF-4BDE45BC144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2802147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E17ED55-03FB-0FFB-E3B4-5473D2EEF37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A60AB90-E0F5-8288-7149-F131CCE2EDB6}"/>
              </a:ext>
            </a:extLst>
          </p:cNvPr>
          <p:cNvSpPr txBox="1">
            <a:spLocks noGrp="1"/>
          </p:cNvSpPr>
          <p:nvPr>
            <p:ph type="body" idx="1"/>
          </p:nvPr>
        </p:nvSpPr>
        <p:spPr>
          <a:xfrm>
            <a:off x="376809" y="1334279"/>
            <a:ext cx="624992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rial"/>
                <a:ea typeface="Arial"/>
                <a:cs typeface="Arial"/>
                <a:sym typeface="Arial"/>
              </a:rPr>
              <a:t>To solve the shadow problem, we transform the RGB cube into a cylinder: The </a:t>
            </a:r>
            <a:r>
              <a:rPr lang="en-US" sz="2400" b="1" dirty="0">
                <a:latin typeface="Arial"/>
                <a:ea typeface="Arial"/>
                <a:cs typeface="Arial"/>
                <a:sym typeface="Arial"/>
              </a:rPr>
              <a:t>HSV </a:t>
            </a:r>
            <a:r>
              <a:rPr lang="en-US" sz="2400" dirty="0">
                <a:latin typeface="Arial"/>
                <a:ea typeface="Arial"/>
                <a:cs typeface="Arial"/>
                <a:sym typeface="Arial"/>
              </a:rPr>
              <a:t>color space.</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H = </a:t>
            </a:r>
            <a:r>
              <a:rPr lang="en-US" sz="2400" b="1" dirty="0">
                <a:latin typeface="Arial"/>
                <a:ea typeface="Arial"/>
                <a:cs typeface="Arial"/>
                <a:sym typeface="Arial"/>
              </a:rPr>
              <a:t>Hue</a:t>
            </a:r>
            <a:r>
              <a:rPr lang="en-US" sz="2400" dirty="0">
                <a:latin typeface="Arial"/>
                <a:ea typeface="Arial"/>
                <a:cs typeface="Arial"/>
                <a:sym typeface="Arial"/>
              </a:rPr>
              <a:t> (The actual color type, e.g., Red, Blue).</a:t>
            </a:r>
          </a:p>
          <a:p>
            <a:pPr marL="0" indent="0">
              <a:lnSpc>
                <a:spcPct val="100000"/>
              </a:lnSpc>
              <a:spcBef>
                <a:spcPts val="0"/>
              </a:spcBef>
              <a:buSzPts val="3000"/>
              <a:buNone/>
            </a:pPr>
            <a:r>
              <a:rPr lang="en-US" sz="2400" dirty="0">
                <a:latin typeface="Arial"/>
                <a:ea typeface="Arial"/>
                <a:cs typeface="Arial"/>
                <a:sym typeface="Arial"/>
              </a:rPr>
              <a:t>S = </a:t>
            </a:r>
            <a:r>
              <a:rPr lang="en-US" sz="2400" b="1" dirty="0">
                <a:latin typeface="Arial"/>
                <a:ea typeface="Arial"/>
                <a:cs typeface="Arial"/>
                <a:sym typeface="Arial"/>
              </a:rPr>
              <a:t>Saturation</a:t>
            </a:r>
            <a:r>
              <a:rPr lang="en-US" sz="2400" dirty="0">
                <a:latin typeface="Arial"/>
                <a:ea typeface="Arial"/>
                <a:cs typeface="Arial"/>
                <a:sym typeface="Arial"/>
              </a:rPr>
              <a:t> (How pure the color is, vs. faded white).</a:t>
            </a:r>
          </a:p>
          <a:p>
            <a:pPr marL="0" indent="0">
              <a:lnSpc>
                <a:spcPct val="100000"/>
              </a:lnSpc>
              <a:spcBef>
                <a:spcPts val="0"/>
              </a:spcBef>
              <a:buSzPts val="3000"/>
              <a:buNone/>
            </a:pPr>
            <a:r>
              <a:rPr lang="en-US" sz="2400" dirty="0">
                <a:latin typeface="Arial"/>
                <a:ea typeface="Arial"/>
                <a:cs typeface="Arial"/>
                <a:sym typeface="Arial"/>
              </a:rPr>
              <a:t>V = </a:t>
            </a:r>
            <a:r>
              <a:rPr lang="en-US" sz="2400" b="1" dirty="0">
                <a:latin typeface="Arial"/>
                <a:ea typeface="Arial"/>
                <a:cs typeface="Arial"/>
                <a:sym typeface="Arial"/>
              </a:rPr>
              <a:t>Value</a:t>
            </a:r>
            <a:r>
              <a:rPr lang="en-US" sz="2400" dirty="0">
                <a:latin typeface="Arial"/>
                <a:ea typeface="Arial"/>
                <a:cs typeface="Arial"/>
                <a:sym typeface="Arial"/>
              </a:rPr>
              <a:t> (How bright or dark the color is).</a:t>
            </a:r>
          </a:p>
        </p:txBody>
      </p:sp>
      <p:sp>
        <p:nvSpPr>
          <p:cNvPr id="119" name="Google Shape;119;p29">
            <a:extLst>
              <a:ext uri="{FF2B5EF4-FFF2-40B4-BE49-F238E27FC236}">
                <a16:creationId xmlns:a16="http://schemas.microsoft.com/office/drawing/2014/main" id="{5B0817FF-F18B-E3FF-4C79-0B77FFC1A8C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DA9351C-5389-BAF5-4402-7028D9D075B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A04358E-9F07-9A79-96CF-1D85EF31FC4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76830E6-B00B-6704-EC76-1DC71759AFE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E0C2F89-9A33-4BF2-D2BE-A270022881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4A05458-4860-3297-95D1-C31879519B1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8524E47-C778-F7F9-D353-5BB43DD93EF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B093902-8747-E57B-87DB-B173F11FEF7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8194" name="Picture 2">
            <a:extLst>
              <a:ext uri="{FF2B5EF4-FFF2-40B4-BE49-F238E27FC236}">
                <a16:creationId xmlns:a16="http://schemas.microsoft.com/office/drawing/2014/main" id="{2C29C659-83F3-5525-4410-BAC568249FF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626736" y="1666939"/>
            <a:ext cx="5565264" cy="4173948"/>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A97CFA33-B747-1FFC-7DC4-C56019937EE3}"/>
              </a:ext>
            </a:extLst>
          </p:cNvPr>
          <p:cNvSpPr txBox="1"/>
          <p:nvPr/>
        </p:nvSpPr>
        <p:spPr>
          <a:xfrm>
            <a:off x="7547437" y="5913434"/>
            <a:ext cx="3739399" cy="307777"/>
          </a:xfrm>
          <a:prstGeom prst="rect">
            <a:avLst/>
          </a:prstGeom>
          <a:noFill/>
        </p:spPr>
        <p:txBody>
          <a:bodyPr wrap="square">
            <a:spAutoFit/>
          </a:bodyPr>
          <a:lstStyle/>
          <a:p>
            <a:pPr algn="ctr"/>
            <a:r>
              <a:rPr lang="en-US" dirty="0">
                <a:hlinkClick r:id="rId5"/>
              </a:rPr>
              <a:t>https://en.wikipedia.org/wiki/HSL_and_HSV</a:t>
            </a:r>
            <a:r>
              <a:rPr lang="en-US" dirty="0"/>
              <a:t> </a:t>
            </a:r>
          </a:p>
        </p:txBody>
      </p:sp>
    </p:spTree>
    <p:extLst>
      <p:ext uri="{BB962C8B-B14F-4D97-AF65-F5344CB8AC3E}">
        <p14:creationId xmlns:p14="http://schemas.microsoft.com/office/powerpoint/2010/main" val="29823334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1A22B9A-326B-194A-364D-9DBEF6C7623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B3096CD-535E-BAFB-689D-0824AE698D98}"/>
                  </a:ext>
                </a:extLst>
              </p:cNvPr>
              <p:cNvSpPr txBox="1">
                <a:spLocks noGrp="1"/>
              </p:cNvSpPr>
              <p:nvPr>
                <p:ph type="body" idx="1"/>
              </p:nvPr>
            </p:nvSpPr>
            <p:spPr>
              <a:xfrm>
                <a:off x="376809" y="1334279"/>
                <a:ext cx="624992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rial"/>
                    <a:ea typeface="Arial"/>
                    <a:cs typeface="Arial"/>
                    <a:sym typeface="Arial"/>
                  </a:rPr>
                  <a:t>In the HSV cylinder, Hue is an angle from </a:t>
                </a:r>
                <a14:m>
                  <m:oMath xmlns:m="http://schemas.openxmlformats.org/officeDocument/2006/math">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0</m:t>
                        </m:r>
                      </m:e>
                      <m:sup>
                        <m:r>
                          <a:rPr lang="en-US" sz="2400" i="1" dirty="0" smtClean="0">
                            <a:latin typeface="Cambria Math" panose="02040503050406030204" pitchFamily="18" charset="0"/>
                            <a:ea typeface="Arial"/>
                            <a:cs typeface="Arial"/>
                            <a:sym typeface="Arial"/>
                          </a:rPr>
                          <m:t>∘</m:t>
                        </m:r>
                      </m:sup>
                    </m:sSup>
                  </m:oMath>
                </a14:m>
                <a:r>
                  <a:rPr lang="en-US" sz="2400" dirty="0">
                    <a:latin typeface="Arial"/>
                    <a:ea typeface="Arial"/>
                    <a:cs typeface="Arial"/>
                    <a:sym typeface="Arial"/>
                  </a:rPr>
                  <a:t> to </a:t>
                </a:r>
                <a14:m>
                  <m:oMath xmlns:m="http://schemas.openxmlformats.org/officeDocument/2006/math">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360</m:t>
                        </m:r>
                      </m:e>
                      <m:sup>
                        <m:r>
                          <a:rPr lang="en-US" sz="2400" i="1" dirty="0" smtClean="0">
                            <a:latin typeface="Cambria Math" panose="02040503050406030204" pitchFamily="18" charset="0"/>
                            <a:ea typeface="Arial"/>
                            <a:cs typeface="Arial"/>
                            <a:sym typeface="Arial"/>
                          </a:rPr>
                          <m:t>∘</m:t>
                        </m:r>
                      </m:sup>
                    </m:sSup>
                  </m:oMath>
                </a14:m>
                <a:r>
                  <a:rPr lang="en-US" sz="2400" dirty="0">
                    <a:latin typeface="Arial"/>
                    <a:ea typeface="Arial"/>
                    <a:cs typeface="Arial"/>
                    <a:sym typeface="Arial"/>
                  </a:rPr>
                  <a:t>. </a:t>
                </a:r>
                <a:endParaRPr lang="en-US" sz="2400" i="1" dirty="0">
                  <a:latin typeface="Cambria Math" panose="02040503050406030204" pitchFamily="18" charset="0"/>
                  <a:ea typeface="Arial"/>
                  <a:cs typeface="Arial"/>
                  <a:sym typeface="Arial"/>
                </a:endParaRPr>
              </a:p>
              <a:p>
                <a:pPr marL="342900">
                  <a:lnSpc>
                    <a:spcPct val="100000"/>
                  </a:lnSpc>
                  <a:spcBef>
                    <a:spcPts val="0"/>
                  </a:spcBef>
                  <a:buSzPts val="3000"/>
                </a:pPr>
                <a14:m>
                  <m:oMath xmlns:m="http://schemas.openxmlformats.org/officeDocument/2006/math">
                    <m:sSup>
                      <m:sSupPr>
                        <m:ctrlPr>
                          <a:rPr lang="en-US" sz="2400" i="1" dirty="0">
                            <a:latin typeface="Cambria Math" panose="02040503050406030204" pitchFamily="18" charset="0"/>
                            <a:ea typeface="Arial"/>
                            <a:cs typeface="Arial"/>
                            <a:sym typeface="Arial"/>
                          </a:rPr>
                        </m:ctrlPr>
                      </m:sSupPr>
                      <m:e>
                        <m:r>
                          <a:rPr lang="en-US" sz="2400" i="1" dirty="0">
                            <a:latin typeface="Cambria Math" panose="02040503050406030204" pitchFamily="18" charset="0"/>
                            <a:ea typeface="Arial"/>
                            <a:cs typeface="Arial"/>
                            <a:sym typeface="Arial"/>
                          </a:rPr>
                          <m:t>0</m:t>
                        </m:r>
                      </m:e>
                      <m:sup>
                        <m:r>
                          <a:rPr lang="en-US" sz="2400" i="1" dirty="0">
                            <a:latin typeface="Cambria Math" panose="02040503050406030204" pitchFamily="18" charset="0"/>
                            <a:ea typeface="Arial"/>
                            <a:cs typeface="Arial"/>
                            <a:sym typeface="Arial"/>
                          </a:rPr>
                          <m:t>∘</m:t>
                        </m:r>
                      </m:sup>
                    </m:sSup>
                    <m:r>
                      <a:rPr lang="en-US" sz="2400" i="1" dirty="0">
                        <a:latin typeface="Cambria Math" panose="02040503050406030204" pitchFamily="18" charset="0"/>
                        <a:ea typeface="Arial"/>
                        <a:cs typeface="Arial"/>
                        <a:sym typeface="Arial"/>
                      </a:rPr>
                      <m:t> </m:t>
                    </m:r>
                  </m:oMath>
                </a14:m>
                <a:r>
                  <a:rPr lang="en-US" sz="2400" dirty="0">
                    <a:latin typeface="Arial"/>
                    <a:ea typeface="Arial"/>
                    <a:cs typeface="Arial"/>
                    <a:sym typeface="Arial"/>
                  </a:rPr>
                  <a:t>= Red, </a:t>
                </a:r>
              </a:p>
              <a:p>
                <a:pPr marL="342900">
                  <a:lnSpc>
                    <a:spcPct val="100000"/>
                  </a:lnSpc>
                  <a:spcBef>
                    <a:spcPts val="0"/>
                  </a:spcBef>
                  <a:buSzPts val="3000"/>
                </a:pPr>
                <a14:m>
                  <m:oMath xmlns:m="http://schemas.openxmlformats.org/officeDocument/2006/math">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120</m:t>
                        </m:r>
                      </m:e>
                      <m:sup>
                        <m:r>
                          <a:rPr lang="en-US" sz="2400" i="1" dirty="0" smtClean="0">
                            <a:latin typeface="Cambria Math" panose="02040503050406030204" pitchFamily="18" charset="0"/>
                            <a:ea typeface="Arial"/>
                            <a:cs typeface="Arial"/>
                            <a:sym typeface="Arial"/>
                          </a:rPr>
                          <m:t>∘</m:t>
                        </m:r>
                      </m:sup>
                    </m:sSup>
                  </m:oMath>
                </a14:m>
                <a:r>
                  <a:rPr lang="en-US" sz="2400" dirty="0">
                    <a:latin typeface="Arial"/>
                    <a:ea typeface="Arial"/>
                    <a:cs typeface="Arial"/>
                    <a:sym typeface="Arial"/>
                  </a:rPr>
                  <a:t> = Green, </a:t>
                </a:r>
              </a:p>
              <a:p>
                <a:pPr marL="342900">
                  <a:lnSpc>
                    <a:spcPct val="100000"/>
                  </a:lnSpc>
                  <a:spcBef>
                    <a:spcPts val="0"/>
                  </a:spcBef>
                  <a:buSzPts val="3000"/>
                </a:pPr>
                <a14:m>
                  <m:oMath xmlns:m="http://schemas.openxmlformats.org/officeDocument/2006/math">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240</m:t>
                        </m:r>
                      </m:e>
                      <m:sup>
                        <m:r>
                          <a:rPr lang="en-US" sz="2400" i="1" dirty="0" smtClean="0">
                            <a:latin typeface="Cambria Math" panose="02040503050406030204" pitchFamily="18" charset="0"/>
                            <a:ea typeface="Arial"/>
                            <a:cs typeface="Arial"/>
                            <a:sym typeface="Arial"/>
                          </a:rPr>
                          <m:t>∘</m:t>
                        </m:r>
                      </m:sup>
                    </m:sSup>
                  </m:oMath>
                </a14:m>
                <a:r>
                  <a:rPr lang="en-US" sz="2400" dirty="0">
                    <a:latin typeface="Arial"/>
                    <a:ea typeface="Arial"/>
                    <a:cs typeface="Arial"/>
                    <a:sym typeface="Arial"/>
                  </a:rPr>
                  <a:t> = Blue.</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Why this is brilliant: If a red ball enters a shadow, its </a:t>
                </a:r>
                <a:r>
                  <a:rPr lang="en-US" sz="2400" b="1" dirty="0">
                    <a:latin typeface="Arial"/>
                    <a:ea typeface="Arial"/>
                    <a:cs typeface="Arial"/>
                    <a:sym typeface="Arial"/>
                  </a:rPr>
                  <a:t>Value</a:t>
                </a:r>
                <a:r>
                  <a:rPr lang="en-US" sz="2400" dirty="0">
                    <a:latin typeface="Arial"/>
                    <a:ea typeface="Arial"/>
                    <a:cs typeface="Arial"/>
                    <a:sym typeface="Arial"/>
                  </a:rPr>
                  <a:t> </a:t>
                </a:r>
                <a:r>
                  <a:rPr lang="en-US" sz="2400" b="1" dirty="0">
                    <a:latin typeface="Arial"/>
                    <a:ea typeface="Arial"/>
                    <a:cs typeface="Arial"/>
                    <a:sym typeface="Arial"/>
                  </a:rPr>
                  <a:t>drops</a:t>
                </a:r>
                <a:r>
                  <a:rPr lang="en-US" sz="2400" dirty="0">
                    <a:latin typeface="Arial"/>
                    <a:ea typeface="Arial"/>
                    <a:cs typeface="Arial"/>
                    <a:sym typeface="Arial"/>
                  </a:rPr>
                  <a:t>, but its </a:t>
                </a:r>
                <a:r>
                  <a:rPr lang="en-US" sz="2400" b="1" dirty="0">
                    <a:latin typeface="Arial"/>
                    <a:ea typeface="Arial"/>
                    <a:cs typeface="Arial"/>
                    <a:sym typeface="Arial"/>
                  </a:rPr>
                  <a:t>Hue angle remains “exactly” </a:t>
                </a:r>
                <a14:m>
                  <m:oMath xmlns:m="http://schemas.openxmlformats.org/officeDocument/2006/math">
                    <m:sSup>
                      <m:sSupPr>
                        <m:ctrlPr>
                          <a:rPr lang="en-US" sz="2400" b="1" i="1" dirty="0">
                            <a:latin typeface="Cambria Math" panose="02040503050406030204" pitchFamily="18" charset="0"/>
                            <a:ea typeface="Arial"/>
                            <a:cs typeface="Arial"/>
                            <a:sym typeface="Arial"/>
                          </a:rPr>
                        </m:ctrlPr>
                      </m:sSupPr>
                      <m:e>
                        <m:r>
                          <a:rPr lang="en-US" sz="2400" b="1" i="1" dirty="0">
                            <a:latin typeface="Cambria Math" panose="02040503050406030204" pitchFamily="18" charset="0"/>
                            <a:ea typeface="Arial"/>
                            <a:cs typeface="Arial"/>
                            <a:sym typeface="Arial"/>
                          </a:rPr>
                          <m:t>𝟎</m:t>
                        </m:r>
                      </m:e>
                      <m:sup>
                        <m:r>
                          <a:rPr lang="en-US" sz="2400" b="1" i="1" dirty="0">
                            <a:latin typeface="Cambria Math" panose="02040503050406030204" pitchFamily="18" charset="0"/>
                            <a:ea typeface="Arial"/>
                            <a:cs typeface="Arial"/>
                            <a:sym typeface="Arial"/>
                          </a:rPr>
                          <m:t>∘</m:t>
                        </m:r>
                      </m:sup>
                    </m:sSup>
                  </m:oMath>
                </a14:m>
                <a:r>
                  <a:rPr lang="en-US" sz="2400" b="1" dirty="0">
                    <a:latin typeface="Arial"/>
                    <a:ea typeface="Arial"/>
                    <a:cs typeface="Arial"/>
                    <a:sym typeface="Arial"/>
                  </a:rPr>
                  <a:t>!</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This isolates the color from the lighting condition, making our tracking algorithm more robust!</a:t>
                </a:r>
              </a:p>
            </p:txBody>
          </p:sp>
        </mc:Choice>
        <mc:Fallback xmlns="">
          <p:sp>
            <p:nvSpPr>
              <p:cNvPr id="118" name="Google Shape;118;p29">
                <a:extLst>
                  <a:ext uri="{FF2B5EF4-FFF2-40B4-BE49-F238E27FC236}">
                    <a16:creationId xmlns:a16="http://schemas.microsoft.com/office/drawing/2014/main" id="{CB3096CD-535E-BAFB-689D-0824AE698D98}"/>
                  </a:ext>
                </a:extLst>
              </p:cNvPr>
              <p:cNvSpPr txBox="1">
                <a:spLocks noGrp="1" noRot="1" noChangeAspect="1" noMove="1" noResize="1" noEditPoints="1" noAdjustHandles="1" noChangeArrowheads="1" noChangeShapeType="1" noTextEdit="1"/>
              </p:cNvSpPr>
              <p:nvPr>
                <p:ph type="body" idx="1"/>
              </p:nvPr>
            </p:nvSpPr>
            <p:spPr>
              <a:xfrm>
                <a:off x="376809" y="1334279"/>
                <a:ext cx="6249927" cy="4821102"/>
              </a:xfrm>
              <a:prstGeom prst="rect">
                <a:avLst/>
              </a:prstGeom>
              <a:blipFill>
                <a:blip r:embed="rId3"/>
                <a:stretch>
                  <a:fillRect l="-2049" t="-885" b="-354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BA171B8-7E24-D5CD-6129-037B60E4F7D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D5DB623-DF51-91FD-EEFE-5AAAF7527D4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816869F-F56C-15D7-3C4E-37C6C1BB5CA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0AF2485-266C-378C-07DB-4A63D0E440D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F42BB47-4267-D0B1-C60D-B1E3523248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97314A8-3CA3-327D-890E-13B7F4B16BC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1D414B7-30F3-6555-397E-831DC75311C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01178C4-A7E4-72A5-FE0F-DE998467401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8194" name="Picture 2">
            <a:extLst>
              <a:ext uri="{FF2B5EF4-FFF2-40B4-BE49-F238E27FC236}">
                <a16:creationId xmlns:a16="http://schemas.microsoft.com/office/drawing/2014/main" id="{2919FED6-C67F-725D-39A7-7E7B85FE4C9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626736" y="1666939"/>
            <a:ext cx="5565264" cy="4173948"/>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04EE992C-4DFF-C690-F6E5-765961A9F7B6}"/>
              </a:ext>
            </a:extLst>
          </p:cNvPr>
          <p:cNvSpPr txBox="1"/>
          <p:nvPr/>
        </p:nvSpPr>
        <p:spPr>
          <a:xfrm>
            <a:off x="7547437" y="5913434"/>
            <a:ext cx="3739399" cy="307777"/>
          </a:xfrm>
          <a:prstGeom prst="rect">
            <a:avLst/>
          </a:prstGeom>
          <a:noFill/>
        </p:spPr>
        <p:txBody>
          <a:bodyPr wrap="square">
            <a:spAutoFit/>
          </a:bodyPr>
          <a:lstStyle/>
          <a:p>
            <a:pPr algn="ctr"/>
            <a:r>
              <a:rPr lang="en-US" dirty="0">
                <a:hlinkClick r:id="rId6"/>
              </a:rPr>
              <a:t>https://en.wikipedia.org/wiki/HSL_and_HSV</a:t>
            </a:r>
            <a:r>
              <a:rPr lang="en-US" dirty="0"/>
              <a:t> </a:t>
            </a:r>
          </a:p>
        </p:txBody>
      </p:sp>
    </p:spTree>
    <p:extLst>
      <p:ext uri="{BB962C8B-B14F-4D97-AF65-F5344CB8AC3E}">
        <p14:creationId xmlns:p14="http://schemas.microsoft.com/office/powerpoint/2010/main" val="292706274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A0501AA-4348-DAAE-58E9-9B534A33934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F511F52-AAE8-4CD5-D22B-672540E4BED1}"/>
              </a:ext>
            </a:extLst>
          </p:cNvPr>
          <p:cNvSpPr txBox="1">
            <a:spLocks noGrp="1"/>
          </p:cNvSpPr>
          <p:nvPr>
            <p:ph type="body" idx="1"/>
          </p:nvPr>
        </p:nvSpPr>
        <p:spPr>
          <a:xfrm>
            <a:off x="376809" y="1334279"/>
            <a:ext cx="624992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rial"/>
                <a:ea typeface="Arial"/>
                <a:cs typeface="Arial"/>
                <a:sym typeface="Arial"/>
              </a:rPr>
              <a:t>Saturation is the radius (distance from the center axis).</a:t>
            </a:r>
          </a:p>
          <a:p>
            <a:pPr marL="342900">
              <a:lnSpc>
                <a:spcPct val="100000"/>
              </a:lnSpc>
              <a:spcBef>
                <a:spcPts val="0"/>
              </a:spcBef>
              <a:buSzPts val="3000"/>
            </a:pPr>
            <a:r>
              <a:rPr lang="en-US" sz="2400" b="1" dirty="0">
                <a:latin typeface="Arial"/>
                <a:ea typeface="Arial"/>
                <a:cs typeface="Arial"/>
                <a:sym typeface="Arial"/>
              </a:rPr>
              <a:t>S=0%</a:t>
            </a:r>
            <a:r>
              <a:rPr lang="en-US" sz="2400" dirty="0">
                <a:latin typeface="Arial"/>
                <a:ea typeface="Arial"/>
                <a:cs typeface="Arial"/>
                <a:sym typeface="Arial"/>
              </a:rPr>
              <a:t> is pure gray/white (center). </a:t>
            </a:r>
          </a:p>
          <a:p>
            <a:pPr marL="342900">
              <a:lnSpc>
                <a:spcPct val="100000"/>
              </a:lnSpc>
              <a:spcBef>
                <a:spcPts val="0"/>
              </a:spcBef>
              <a:buSzPts val="3000"/>
            </a:pPr>
            <a:r>
              <a:rPr lang="en-US" sz="2400" b="1" dirty="0">
                <a:latin typeface="Arial"/>
                <a:ea typeface="Arial"/>
                <a:cs typeface="Arial"/>
                <a:sym typeface="Arial"/>
              </a:rPr>
              <a:t>S=100%</a:t>
            </a:r>
            <a:r>
              <a:rPr lang="en-US" sz="2400" dirty="0">
                <a:latin typeface="Arial"/>
                <a:ea typeface="Arial"/>
                <a:cs typeface="Arial"/>
                <a:sym typeface="Arial"/>
              </a:rPr>
              <a:t> is a pure, vibrant color (edge).</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Value is the height of the cylinder (0 to 100%).</a:t>
            </a:r>
          </a:p>
          <a:p>
            <a:pPr marL="342900">
              <a:lnSpc>
                <a:spcPct val="100000"/>
              </a:lnSpc>
              <a:spcBef>
                <a:spcPts val="0"/>
              </a:spcBef>
              <a:buSzPts val="3000"/>
            </a:pPr>
            <a:r>
              <a:rPr lang="en-US" sz="2400" b="1" dirty="0">
                <a:latin typeface="Arial"/>
                <a:ea typeface="Arial"/>
                <a:cs typeface="Arial"/>
                <a:sym typeface="Arial"/>
              </a:rPr>
              <a:t>V=0%</a:t>
            </a:r>
            <a:r>
              <a:rPr lang="en-US" sz="2400" dirty="0">
                <a:latin typeface="Arial"/>
                <a:ea typeface="Arial"/>
                <a:cs typeface="Arial"/>
                <a:sym typeface="Arial"/>
              </a:rPr>
              <a:t> is pitch black. </a:t>
            </a:r>
          </a:p>
          <a:p>
            <a:pPr marL="342900">
              <a:lnSpc>
                <a:spcPct val="100000"/>
              </a:lnSpc>
              <a:spcBef>
                <a:spcPts val="0"/>
              </a:spcBef>
              <a:buSzPts val="3000"/>
            </a:pPr>
            <a:r>
              <a:rPr lang="en-US" sz="2400" b="1" dirty="0">
                <a:latin typeface="Arial"/>
                <a:ea typeface="Arial"/>
                <a:cs typeface="Arial"/>
                <a:sym typeface="Arial"/>
              </a:rPr>
              <a:t>V=100% </a:t>
            </a:r>
            <a:r>
              <a:rPr lang="en-US" sz="2400" dirty="0">
                <a:latin typeface="Arial"/>
                <a:ea typeface="Arial"/>
                <a:cs typeface="Arial"/>
                <a:sym typeface="Arial"/>
              </a:rPr>
              <a:t>is fully illuminated.</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To track an object, we look for pixels that fall within specific ranges.</a:t>
            </a:r>
          </a:p>
        </p:txBody>
      </p:sp>
      <p:sp>
        <p:nvSpPr>
          <p:cNvPr id="119" name="Google Shape;119;p29">
            <a:extLst>
              <a:ext uri="{FF2B5EF4-FFF2-40B4-BE49-F238E27FC236}">
                <a16:creationId xmlns:a16="http://schemas.microsoft.com/office/drawing/2014/main" id="{711C6FD8-037E-C66E-8F78-4C569DD47C8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0363E49-52D5-A2A0-4ADD-805741FFB49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76B8E5F-AFD9-98FE-29E7-59001541FE2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A4495B9-4E49-1418-CB21-698A503C560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97D4219-531D-2365-F4D9-395A25CECB8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8031414-D07D-8DC6-CC76-F49276E28A2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C0282DD-5F1E-925F-BAF1-4B172D25D6B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52C2D23-AFEA-C01D-7F5B-822F1DBE7D8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8194" name="Picture 2">
            <a:extLst>
              <a:ext uri="{FF2B5EF4-FFF2-40B4-BE49-F238E27FC236}">
                <a16:creationId xmlns:a16="http://schemas.microsoft.com/office/drawing/2014/main" id="{D438D219-4CEC-F988-4BF8-AD7BCD28C96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626736" y="1666939"/>
            <a:ext cx="5565264" cy="4173948"/>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AC362953-CBE3-0DAC-E424-2117F88DBD61}"/>
              </a:ext>
            </a:extLst>
          </p:cNvPr>
          <p:cNvSpPr txBox="1"/>
          <p:nvPr/>
        </p:nvSpPr>
        <p:spPr>
          <a:xfrm>
            <a:off x="7547437" y="5913434"/>
            <a:ext cx="3739399" cy="307777"/>
          </a:xfrm>
          <a:prstGeom prst="rect">
            <a:avLst/>
          </a:prstGeom>
          <a:noFill/>
        </p:spPr>
        <p:txBody>
          <a:bodyPr wrap="square">
            <a:spAutoFit/>
          </a:bodyPr>
          <a:lstStyle/>
          <a:p>
            <a:pPr algn="ctr"/>
            <a:r>
              <a:rPr lang="en-US" dirty="0">
                <a:hlinkClick r:id="rId5"/>
              </a:rPr>
              <a:t>https://en.wikipedia.org/wiki/HSL_and_HSV</a:t>
            </a:r>
            <a:r>
              <a:rPr lang="en-US" dirty="0"/>
              <a:t> </a:t>
            </a:r>
          </a:p>
        </p:txBody>
      </p:sp>
    </p:spTree>
    <p:extLst>
      <p:ext uri="{BB962C8B-B14F-4D97-AF65-F5344CB8AC3E}">
        <p14:creationId xmlns:p14="http://schemas.microsoft.com/office/powerpoint/2010/main" val="8072496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923E82A-1CEC-E410-BF7A-84AF184E636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4237E1B-545F-69C1-D581-FF9F2476C15A}"/>
                  </a:ext>
                </a:extLst>
              </p:cNvPr>
              <p:cNvSpPr txBox="1">
                <a:spLocks noGrp="1"/>
              </p:cNvSpPr>
              <p:nvPr>
                <p:ph type="body" idx="1"/>
              </p:nvPr>
            </p:nvSpPr>
            <p:spPr>
              <a:xfrm>
                <a:off x="376809" y="1334279"/>
                <a:ext cx="624992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rial"/>
                    <a:ea typeface="Arial"/>
                    <a:cs typeface="Arial"/>
                    <a:sym typeface="Arial"/>
                  </a:rPr>
                  <a:t>To convert from RGB to HSV the conversion is simple.</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Let </a:t>
                </a:r>
                <a14:m>
                  <m:oMath xmlns:m="http://schemas.openxmlformats.org/officeDocument/2006/math">
                    <m:r>
                      <a:rPr lang="en-US" sz="1800" i="1" dirty="0" smtClean="0">
                        <a:latin typeface="Cambria Math" panose="02040503050406030204" pitchFamily="18" charset="0"/>
                        <a:ea typeface="Arial"/>
                        <a:cs typeface="Arial"/>
                        <a:sym typeface="Arial"/>
                      </a:rPr>
                      <m:t>𝑅</m:t>
                    </m:r>
                    <m:r>
                      <a:rPr lang="en-US" sz="1800" i="1" dirty="0" smtClean="0">
                        <a:latin typeface="Cambria Math" panose="02040503050406030204" pitchFamily="18" charset="0"/>
                        <a:ea typeface="Arial"/>
                        <a:cs typeface="Arial"/>
                        <a:sym typeface="Arial"/>
                      </a:rPr>
                      <m:t>’, </m:t>
                    </m:r>
                    <m:r>
                      <a:rPr lang="en-US" sz="1800" i="1" dirty="0" smtClean="0">
                        <a:latin typeface="Cambria Math" panose="02040503050406030204" pitchFamily="18" charset="0"/>
                        <a:ea typeface="Arial"/>
                        <a:cs typeface="Arial"/>
                        <a:sym typeface="Arial"/>
                      </a:rPr>
                      <m:t>𝐺</m:t>
                    </m:r>
                    <m:r>
                      <a:rPr lang="en-US" sz="1800" i="1" dirty="0" smtClean="0">
                        <a:latin typeface="Cambria Math" panose="02040503050406030204" pitchFamily="18" charset="0"/>
                        <a:ea typeface="Arial"/>
                        <a:cs typeface="Arial"/>
                        <a:sym typeface="Arial"/>
                      </a:rPr>
                      <m:t>’, </m:t>
                    </m:r>
                    <m:r>
                      <a:rPr lang="en-US" sz="1800" i="1" dirty="0" smtClean="0">
                        <a:latin typeface="Cambria Math" panose="02040503050406030204" pitchFamily="18" charset="0"/>
                        <a:ea typeface="Arial"/>
                        <a:cs typeface="Arial"/>
                        <a:sym typeface="Arial"/>
                      </a:rPr>
                      <m:t>𝐵</m:t>
                    </m:r>
                    <m:r>
                      <a:rPr lang="en-US" sz="1800" i="1" dirty="0" smtClean="0">
                        <a:latin typeface="Cambria Math" panose="02040503050406030204" pitchFamily="18" charset="0"/>
                        <a:ea typeface="Arial"/>
                        <a:cs typeface="Arial"/>
                        <a:sym typeface="Arial"/>
                      </a:rPr>
                      <m:t>’</m:t>
                    </m:r>
                  </m:oMath>
                </a14:m>
                <a:r>
                  <a:rPr lang="en-US" sz="1800" dirty="0">
                    <a:latin typeface="Arial"/>
                    <a:ea typeface="Arial"/>
                    <a:cs typeface="Arial"/>
                    <a:sym typeface="Arial"/>
                  </a:rPr>
                  <a:t> be normalized values in </a:t>
                </a:r>
                <a14:m>
                  <m:oMath xmlns:m="http://schemas.openxmlformats.org/officeDocument/2006/math">
                    <m:d>
                      <m:dPr>
                        <m:begChr m:val="["/>
                        <m:endChr m:val="]"/>
                        <m:ctrlPr>
                          <a:rPr lang="en-US" sz="1800" i="1" dirty="0" smtClean="0">
                            <a:latin typeface="Cambria Math" panose="02040503050406030204" pitchFamily="18" charset="0"/>
                            <a:ea typeface="Arial"/>
                            <a:cs typeface="Arial"/>
                            <a:sym typeface="Arial"/>
                          </a:rPr>
                        </m:ctrlPr>
                      </m:dPr>
                      <m:e>
                        <m:r>
                          <a:rPr lang="en-US" sz="1800" i="1" dirty="0" smtClean="0">
                            <a:latin typeface="Cambria Math" panose="02040503050406030204" pitchFamily="18" charset="0"/>
                            <a:ea typeface="Arial"/>
                            <a:cs typeface="Arial"/>
                            <a:sym typeface="Arial"/>
                          </a:rPr>
                          <m:t>0,1</m:t>
                        </m:r>
                      </m:e>
                    </m:d>
                  </m:oMath>
                </a14:m>
                <a:r>
                  <a:rPr lang="en-US" sz="1800" dirty="0">
                    <a:latin typeface="Arial"/>
                    <a:ea typeface="Arial"/>
                    <a:cs typeface="Arial"/>
                    <a:sym typeface="Arial"/>
                  </a:rPr>
                  <a:t>.</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1800" b="0" i="1" smtClean="0">
                              <a:latin typeface="Cambria Math" panose="02040503050406030204" pitchFamily="18" charset="0"/>
                              <a:ea typeface="Arial"/>
                              <a:cs typeface="Arial"/>
                              <a:sym typeface="Arial"/>
                            </a:rPr>
                          </m:ctrlPr>
                        </m:sSubPr>
                        <m:e>
                          <m:r>
                            <a:rPr lang="en-US" sz="1800" b="0" i="1" smtClean="0">
                              <a:latin typeface="Cambria Math" panose="02040503050406030204" pitchFamily="18" charset="0"/>
                              <a:ea typeface="Arial"/>
                              <a:cs typeface="Arial"/>
                              <a:sym typeface="Arial"/>
                            </a:rPr>
                            <m:t>𝐶</m:t>
                          </m:r>
                        </m:e>
                        <m:sub>
                          <m:r>
                            <a:rPr lang="en-US" sz="1800" b="0" i="1" smtClean="0">
                              <a:latin typeface="Cambria Math" panose="02040503050406030204" pitchFamily="18" charset="0"/>
                              <a:ea typeface="Arial"/>
                              <a:cs typeface="Arial"/>
                              <a:sym typeface="Arial"/>
                            </a:rPr>
                            <m:t>𝑚𝑎𝑥</m:t>
                          </m:r>
                        </m:sub>
                      </m:sSub>
                      <m:r>
                        <a:rPr lang="en-US" sz="1800" b="0" i="1" smtClean="0">
                          <a:latin typeface="Cambria Math" panose="02040503050406030204" pitchFamily="18" charset="0"/>
                          <a:ea typeface="Arial"/>
                          <a:cs typeface="Arial"/>
                          <a:sym typeface="Arial"/>
                        </a:rPr>
                        <m:t>=</m:t>
                      </m:r>
                      <m:r>
                        <a:rPr lang="en-US" sz="1800" b="0" i="1" smtClean="0">
                          <a:latin typeface="Cambria Math" panose="02040503050406030204" pitchFamily="18" charset="0"/>
                          <a:ea typeface="Arial"/>
                          <a:cs typeface="Arial"/>
                          <a:sym typeface="Arial"/>
                        </a:rPr>
                        <m:t>𝑚𝑎𝑥</m:t>
                      </m:r>
                      <m:d>
                        <m:dPr>
                          <m:ctrlPr>
                            <a:rPr lang="en-US" sz="1800" b="0" i="1" smtClean="0">
                              <a:latin typeface="Cambria Math" panose="02040503050406030204" pitchFamily="18" charset="0"/>
                              <a:ea typeface="Arial"/>
                              <a:cs typeface="Arial"/>
                              <a:sym typeface="Arial"/>
                            </a:rPr>
                          </m:ctrlPr>
                        </m:dPr>
                        <m:e>
                          <m:r>
                            <a:rPr lang="en-US" sz="1800" i="1" dirty="0">
                              <a:latin typeface="Cambria Math" panose="02040503050406030204" pitchFamily="18" charset="0"/>
                              <a:ea typeface="Arial"/>
                              <a:cs typeface="Arial"/>
                              <a:sym typeface="Arial"/>
                            </a:rPr>
                            <m:t>𝑅</m:t>
                          </m:r>
                          <m:r>
                            <a:rPr lang="en-US" sz="1800" i="1" dirty="0">
                              <a:latin typeface="Cambria Math" panose="02040503050406030204" pitchFamily="18" charset="0"/>
                              <a:ea typeface="Arial"/>
                              <a:cs typeface="Arial"/>
                              <a:sym typeface="Arial"/>
                            </a:rPr>
                            <m:t>’,</m:t>
                          </m:r>
                          <m:r>
                            <a:rPr lang="en-US" sz="1800" i="1" dirty="0">
                              <a:latin typeface="Cambria Math" panose="02040503050406030204" pitchFamily="18" charset="0"/>
                              <a:ea typeface="Arial"/>
                              <a:cs typeface="Arial"/>
                              <a:sym typeface="Arial"/>
                            </a:rPr>
                            <m:t>𝐺</m:t>
                          </m:r>
                          <m:r>
                            <a:rPr lang="en-US" sz="1800" i="1" dirty="0">
                              <a:latin typeface="Cambria Math" panose="02040503050406030204" pitchFamily="18" charset="0"/>
                              <a:ea typeface="Arial"/>
                              <a:cs typeface="Arial"/>
                              <a:sym typeface="Arial"/>
                            </a:rPr>
                            <m:t>’,</m:t>
                          </m:r>
                          <m:r>
                            <a:rPr lang="en-US" sz="1800" i="1" dirty="0">
                              <a:latin typeface="Cambria Math" panose="02040503050406030204" pitchFamily="18" charset="0"/>
                              <a:ea typeface="Arial"/>
                              <a:cs typeface="Arial"/>
                              <a:sym typeface="Arial"/>
                            </a:rPr>
                            <m:t>𝐵</m:t>
                          </m:r>
                          <m:r>
                            <a:rPr lang="en-US" sz="1800" i="1" dirty="0">
                              <a:latin typeface="Cambria Math" panose="02040503050406030204" pitchFamily="18" charset="0"/>
                              <a:ea typeface="Arial"/>
                              <a:cs typeface="Arial"/>
                              <a:sym typeface="Arial"/>
                            </a:rPr>
                            <m:t>’</m:t>
                          </m:r>
                        </m:e>
                      </m:d>
                      <m:r>
                        <a:rPr lang="en-US" sz="1800" b="0" i="1" smtClean="0">
                          <a:latin typeface="Cambria Math" panose="02040503050406030204" pitchFamily="18" charset="0"/>
                          <a:ea typeface="Arial"/>
                          <a:cs typeface="Arial"/>
                          <a:sym typeface="Arial"/>
                        </a:rPr>
                        <m:t>,  </m:t>
                      </m:r>
                      <m:sSub>
                        <m:sSubPr>
                          <m:ctrlPr>
                            <a:rPr lang="en-US" sz="1800" b="0" i="1" smtClean="0">
                              <a:latin typeface="Cambria Math" panose="02040503050406030204" pitchFamily="18" charset="0"/>
                              <a:ea typeface="Arial"/>
                              <a:cs typeface="Arial"/>
                              <a:sym typeface="Arial"/>
                            </a:rPr>
                          </m:ctrlPr>
                        </m:sSubPr>
                        <m:e>
                          <m:r>
                            <a:rPr lang="en-US" sz="1800" b="0" i="1" smtClean="0">
                              <a:latin typeface="Cambria Math" panose="02040503050406030204" pitchFamily="18" charset="0"/>
                              <a:ea typeface="Arial"/>
                              <a:cs typeface="Arial"/>
                              <a:sym typeface="Arial"/>
                            </a:rPr>
                            <m:t>𝐶</m:t>
                          </m:r>
                        </m:e>
                        <m:sub>
                          <m:r>
                            <a:rPr lang="en-US" sz="1800" b="0" i="1" smtClean="0">
                              <a:latin typeface="Cambria Math" panose="02040503050406030204" pitchFamily="18" charset="0"/>
                              <a:ea typeface="Arial"/>
                              <a:cs typeface="Arial"/>
                              <a:sym typeface="Arial"/>
                            </a:rPr>
                            <m:t>𝑚𝑖𝑛</m:t>
                          </m:r>
                        </m:sub>
                      </m:sSub>
                      <m:r>
                        <a:rPr lang="en-US" sz="1800" b="0" i="1" smtClean="0">
                          <a:latin typeface="Cambria Math" panose="02040503050406030204" pitchFamily="18" charset="0"/>
                          <a:ea typeface="Arial"/>
                          <a:cs typeface="Arial"/>
                          <a:sym typeface="Arial"/>
                        </a:rPr>
                        <m:t>=</m:t>
                      </m:r>
                      <m:r>
                        <a:rPr lang="en-US" sz="1800" b="0" i="1" smtClean="0">
                          <a:latin typeface="Cambria Math" panose="02040503050406030204" pitchFamily="18" charset="0"/>
                          <a:ea typeface="Arial"/>
                          <a:cs typeface="Arial"/>
                          <a:sym typeface="Arial"/>
                        </a:rPr>
                        <m:t>𝑚𝑖𝑛</m:t>
                      </m:r>
                      <m:d>
                        <m:dPr>
                          <m:ctrlPr>
                            <a:rPr lang="en-US" sz="1800" b="0" i="1" smtClean="0">
                              <a:latin typeface="Cambria Math" panose="02040503050406030204" pitchFamily="18" charset="0"/>
                              <a:ea typeface="Arial"/>
                              <a:cs typeface="Arial"/>
                              <a:sym typeface="Arial"/>
                            </a:rPr>
                          </m:ctrlPr>
                        </m:dPr>
                        <m:e>
                          <m:r>
                            <a:rPr lang="en-US" sz="1800" i="1" dirty="0">
                              <a:latin typeface="Cambria Math" panose="02040503050406030204" pitchFamily="18" charset="0"/>
                              <a:ea typeface="Arial"/>
                              <a:cs typeface="Arial"/>
                              <a:sym typeface="Arial"/>
                            </a:rPr>
                            <m:t>𝑅</m:t>
                          </m:r>
                          <m:r>
                            <a:rPr lang="en-US" sz="1800" i="1" dirty="0">
                              <a:latin typeface="Cambria Math" panose="02040503050406030204" pitchFamily="18" charset="0"/>
                              <a:ea typeface="Arial"/>
                              <a:cs typeface="Arial"/>
                              <a:sym typeface="Arial"/>
                            </a:rPr>
                            <m:t>’,</m:t>
                          </m:r>
                          <m:r>
                            <a:rPr lang="en-US" sz="1800" i="1" dirty="0">
                              <a:latin typeface="Cambria Math" panose="02040503050406030204" pitchFamily="18" charset="0"/>
                              <a:ea typeface="Arial"/>
                              <a:cs typeface="Arial"/>
                              <a:sym typeface="Arial"/>
                            </a:rPr>
                            <m:t>𝐺</m:t>
                          </m:r>
                          <m:r>
                            <a:rPr lang="en-US" sz="1800" i="1" dirty="0">
                              <a:latin typeface="Cambria Math" panose="02040503050406030204" pitchFamily="18" charset="0"/>
                              <a:ea typeface="Arial"/>
                              <a:cs typeface="Arial"/>
                              <a:sym typeface="Arial"/>
                            </a:rPr>
                            <m:t>’,</m:t>
                          </m:r>
                          <m:r>
                            <a:rPr lang="en-US" sz="1800" i="1" dirty="0">
                              <a:latin typeface="Cambria Math" panose="02040503050406030204" pitchFamily="18" charset="0"/>
                              <a:ea typeface="Arial"/>
                              <a:cs typeface="Arial"/>
                              <a:sym typeface="Arial"/>
                            </a:rPr>
                            <m:t>𝐵</m:t>
                          </m:r>
                          <m:r>
                            <a:rPr lang="en-US" sz="1800" i="1" dirty="0">
                              <a:latin typeface="Cambria Math" panose="02040503050406030204" pitchFamily="18" charset="0"/>
                              <a:ea typeface="Arial"/>
                              <a:cs typeface="Arial"/>
                              <a:sym typeface="Arial"/>
                            </a:rPr>
                            <m:t>’</m:t>
                          </m:r>
                        </m:e>
                      </m:d>
                      <m:r>
                        <a:rPr lang="en-US" sz="1800" b="0" i="1" smtClean="0">
                          <a:latin typeface="Cambria Math" panose="02040503050406030204" pitchFamily="18" charset="0"/>
                          <a:ea typeface="Arial"/>
                          <a:cs typeface="Arial"/>
                          <a:sym typeface="Arial"/>
                        </a:rPr>
                        <m:t>,</m:t>
                      </m:r>
                    </m:oMath>
                  </m:oMathPara>
                </a14:m>
                <a:endParaRPr lang="en-US" sz="18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1800" b="0" i="0" smtClean="0">
                          <a:latin typeface="Cambria Math" panose="02040503050406030204" pitchFamily="18" charset="0"/>
                          <a:ea typeface="Arial"/>
                          <a:cs typeface="Arial"/>
                          <a:sym typeface="Arial"/>
                        </a:rPr>
                        <m:t>Δ</m:t>
                      </m:r>
                      <m:r>
                        <a:rPr lang="en-US" sz="1800" b="0" i="1" smtClean="0">
                          <a:latin typeface="Cambria Math" panose="02040503050406030204" pitchFamily="18" charset="0"/>
                          <a:ea typeface="Arial"/>
                          <a:cs typeface="Arial"/>
                          <a:sym typeface="Arial"/>
                        </a:rPr>
                        <m:t>=</m:t>
                      </m:r>
                      <m:sSub>
                        <m:sSubPr>
                          <m:ctrlPr>
                            <a:rPr lang="en-US" sz="1800" b="0" i="1" smtClean="0">
                              <a:latin typeface="Cambria Math" panose="02040503050406030204" pitchFamily="18" charset="0"/>
                              <a:ea typeface="Arial"/>
                              <a:cs typeface="Arial"/>
                              <a:sym typeface="Arial"/>
                            </a:rPr>
                          </m:ctrlPr>
                        </m:sSubPr>
                        <m:e>
                          <m:r>
                            <a:rPr lang="en-US" sz="1800" b="0" i="1" smtClean="0">
                              <a:latin typeface="Cambria Math" panose="02040503050406030204" pitchFamily="18" charset="0"/>
                              <a:ea typeface="Arial"/>
                              <a:cs typeface="Arial"/>
                              <a:sym typeface="Arial"/>
                            </a:rPr>
                            <m:t>𝐶</m:t>
                          </m:r>
                        </m:e>
                        <m:sub>
                          <m:r>
                            <a:rPr lang="en-US" sz="1800" b="0" i="1" smtClean="0">
                              <a:latin typeface="Cambria Math" panose="02040503050406030204" pitchFamily="18" charset="0"/>
                              <a:ea typeface="Arial"/>
                              <a:cs typeface="Arial"/>
                              <a:sym typeface="Arial"/>
                            </a:rPr>
                            <m:t>𝑚𝑎𝑥</m:t>
                          </m:r>
                        </m:sub>
                      </m:sSub>
                      <m:r>
                        <a:rPr lang="en-US" sz="1800" b="0" i="1" smtClean="0">
                          <a:latin typeface="Cambria Math" panose="02040503050406030204" pitchFamily="18" charset="0"/>
                          <a:ea typeface="Arial"/>
                          <a:cs typeface="Arial"/>
                          <a:sym typeface="Arial"/>
                        </a:rPr>
                        <m:t>−</m:t>
                      </m:r>
                      <m:sSub>
                        <m:sSubPr>
                          <m:ctrlPr>
                            <a:rPr lang="en-US" sz="1800" b="0" i="1" smtClean="0">
                              <a:latin typeface="Cambria Math" panose="02040503050406030204" pitchFamily="18" charset="0"/>
                              <a:ea typeface="Arial"/>
                              <a:cs typeface="Arial"/>
                              <a:sym typeface="Arial"/>
                            </a:rPr>
                          </m:ctrlPr>
                        </m:sSubPr>
                        <m:e>
                          <m:r>
                            <a:rPr lang="en-US" sz="1800" b="0" i="1" smtClean="0">
                              <a:latin typeface="Cambria Math" panose="02040503050406030204" pitchFamily="18" charset="0"/>
                              <a:ea typeface="Arial"/>
                              <a:cs typeface="Arial"/>
                              <a:sym typeface="Arial"/>
                            </a:rPr>
                            <m:t>𝐶</m:t>
                          </m:r>
                        </m:e>
                        <m:sub>
                          <m:r>
                            <a:rPr lang="en-US" sz="1800" b="0" i="1" smtClean="0">
                              <a:latin typeface="Cambria Math" panose="02040503050406030204" pitchFamily="18" charset="0"/>
                              <a:ea typeface="Arial"/>
                              <a:cs typeface="Arial"/>
                              <a:sym typeface="Arial"/>
                            </a:rPr>
                            <m:t>𝑚𝑖𝑛</m:t>
                          </m:r>
                        </m:sub>
                      </m:sSub>
                      <m:r>
                        <a:rPr lang="en-US" sz="1800" b="0" i="1" smtClean="0">
                          <a:latin typeface="Cambria Math" panose="02040503050406030204" pitchFamily="18" charset="0"/>
                          <a:ea typeface="Arial"/>
                          <a:cs typeface="Arial"/>
                          <a:sym typeface="Arial"/>
                        </a:rPr>
                        <m:t>,</m:t>
                      </m:r>
                    </m:oMath>
                  </m:oMathPara>
                </a14:m>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1800" b="0" i="1" smtClean="0">
                          <a:latin typeface="Cambria Math" panose="02040503050406030204" pitchFamily="18" charset="0"/>
                          <a:ea typeface="Arial"/>
                          <a:cs typeface="Arial"/>
                          <a:sym typeface="Arial"/>
                        </a:rPr>
                        <m:t>𝑉</m:t>
                      </m:r>
                      <m:r>
                        <a:rPr lang="en-US" sz="1800" b="0" i="1" smtClean="0">
                          <a:latin typeface="Cambria Math" panose="02040503050406030204" pitchFamily="18" charset="0"/>
                          <a:ea typeface="Arial"/>
                          <a:cs typeface="Arial"/>
                          <a:sym typeface="Arial"/>
                        </a:rPr>
                        <m:t>=</m:t>
                      </m:r>
                      <m:sSub>
                        <m:sSubPr>
                          <m:ctrlPr>
                            <a:rPr lang="en-US" sz="1800" b="0" i="1" smtClean="0">
                              <a:latin typeface="Cambria Math" panose="02040503050406030204" pitchFamily="18" charset="0"/>
                              <a:ea typeface="Arial"/>
                              <a:cs typeface="Arial"/>
                              <a:sym typeface="Arial"/>
                            </a:rPr>
                          </m:ctrlPr>
                        </m:sSubPr>
                        <m:e>
                          <m:r>
                            <a:rPr lang="en-US" sz="1800" b="0" i="1" smtClean="0">
                              <a:latin typeface="Cambria Math" panose="02040503050406030204" pitchFamily="18" charset="0"/>
                              <a:ea typeface="Arial"/>
                              <a:cs typeface="Arial"/>
                              <a:sym typeface="Arial"/>
                            </a:rPr>
                            <m:t>𝐶</m:t>
                          </m:r>
                        </m:e>
                        <m:sub>
                          <m:r>
                            <a:rPr lang="en-US" sz="1800" b="0" i="1" smtClean="0">
                              <a:latin typeface="Cambria Math" panose="02040503050406030204" pitchFamily="18" charset="0"/>
                              <a:ea typeface="Arial"/>
                              <a:cs typeface="Arial"/>
                              <a:sym typeface="Arial"/>
                            </a:rPr>
                            <m:t>𝑚𝑎𝑥</m:t>
                          </m:r>
                        </m:sub>
                      </m:sSub>
                      <m:r>
                        <a:rPr lang="en-US" sz="1800" b="0" i="1" smtClean="0">
                          <a:latin typeface="Cambria Math" panose="02040503050406030204" pitchFamily="18" charset="0"/>
                          <a:ea typeface="Arial"/>
                          <a:cs typeface="Arial"/>
                          <a:sym typeface="Arial"/>
                        </a:rPr>
                        <m:t>,</m:t>
                      </m:r>
                    </m:oMath>
                  </m:oMathPara>
                </a14:m>
                <a:endParaRPr lang="en-US" sz="18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1800" b="0" i="1" dirty="0" smtClean="0">
                          <a:latin typeface="Cambria Math" panose="02040503050406030204" pitchFamily="18" charset="0"/>
                          <a:cs typeface="Arial"/>
                          <a:sym typeface="Arial"/>
                        </a:rPr>
                        <m:t>𝑆</m:t>
                      </m:r>
                      <m:r>
                        <a:rPr lang="en-US" sz="1800" b="0" i="1" dirty="0" smtClean="0">
                          <a:latin typeface="Cambria Math" panose="02040503050406030204" pitchFamily="18" charset="0"/>
                          <a:cs typeface="Arial"/>
                          <a:sym typeface="Arial"/>
                        </a:rPr>
                        <m:t>=</m:t>
                      </m:r>
                      <m:d>
                        <m:dPr>
                          <m:begChr m:val="{"/>
                          <m:endChr m:val=""/>
                          <m:ctrlPr>
                            <a:rPr lang="en-US" sz="1800" i="1" dirty="0" smtClean="0">
                              <a:latin typeface="Cambria Math" panose="02040503050406030204" pitchFamily="18" charset="0"/>
                              <a:cs typeface="Arial"/>
                              <a:sym typeface="Arial"/>
                            </a:rPr>
                          </m:ctrlPr>
                        </m:dPr>
                        <m:e>
                          <m:eqArr>
                            <m:eqArrPr>
                              <m:ctrlPr>
                                <a:rPr lang="en-US" sz="1800" i="1" dirty="0" smtClean="0">
                                  <a:latin typeface="Cambria Math" panose="02040503050406030204" pitchFamily="18" charset="0"/>
                                  <a:cs typeface="Arial"/>
                                  <a:sym typeface="Arial"/>
                                </a:rPr>
                              </m:ctrlPr>
                            </m:eqArrPr>
                            <m:e>
                              <m:r>
                                <a:rPr lang="en-US" sz="1800" b="0" i="1" dirty="0" smtClean="0">
                                  <a:latin typeface="Cambria Math" panose="02040503050406030204" pitchFamily="18" charset="0"/>
                                  <a:cs typeface="Arial"/>
                                  <a:sym typeface="Arial"/>
                                </a:rPr>
                                <m:t>0, </m:t>
                              </m:r>
                              <m:sSub>
                                <m:sSubPr>
                                  <m:ctrlPr>
                                    <a:rPr lang="en-US" sz="1800" b="0" i="1" dirty="0" smtClean="0">
                                      <a:latin typeface="Cambria Math" panose="02040503050406030204" pitchFamily="18" charset="0"/>
                                      <a:cs typeface="Arial"/>
                                      <a:sym typeface="Arial"/>
                                    </a:rPr>
                                  </m:ctrlPr>
                                </m:sSubPr>
                                <m:e>
                                  <m:r>
                                    <a:rPr lang="en-US" sz="1800" b="0" i="1" dirty="0" smtClean="0">
                                      <a:latin typeface="Cambria Math" panose="02040503050406030204" pitchFamily="18" charset="0"/>
                                      <a:cs typeface="Arial"/>
                                      <a:sym typeface="Arial"/>
                                    </a:rPr>
                                    <m:t>𝐶</m:t>
                                  </m:r>
                                </m:e>
                                <m:sub>
                                  <m:r>
                                    <m:rPr>
                                      <m:sty m:val="p"/>
                                    </m:rPr>
                                    <a:rPr lang="en-US" sz="1800" b="0" i="1" dirty="0" smtClean="0">
                                      <a:latin typeface="Cambria Math" panose="02040503050406030204" pitchFamily="18" charset="0"/>
                                      <a:cs typeface="Arial"/>
                                      <a:sym typeface="Arial"/>
                                    </a:rPr>
                                    <m:t>max</m:t>
                                  </m:r>
                                </m:sub>
                              </m:sSub>
                              <m:r>
                                <a:rPr lang="en-US" sz="1800" b="0" i="1" dirty="0" smtClean="0">
                                  <a:latin typeface="Cambria Math" panose="02040503050406030204" pitchFamily="18" charset="0"/>
                                  <a:cs typeface="Arial"/>
                                  <a:sym typeface="Arial"/>
                                </a:rPr>
                                <m:t>=0</m:t>
                              </m:r>
                            </m:e>
                            <m:e>
                              <m:f>
                                <m:fPr>
                                  <m:ctrlPr>
                                    <a:rPr lang="en-US" sz="1800" i="1" dirty="0" smtClean="0">
                                      <a:latin typeface="Cambria Math" panose="02040503050406030204" pitchFamily="18" charset="0"/>
                                      <a:cs typeface="Arial"/>
                                      <a:sym typeface="Arial"/>
                                    </a:rPr>
                                  </m:ctrlPr>
                                </m:fPr>
                                <m:num>
                                  <m:r>
                                    <m:rPr>
                                      <m:sty m:val="p"/>
                                    </m:rPr>
                                    <a:rPr lang="en-US" sz="1800" b="0" i="1" dirty="0" smtClean="0">
                                      <a:latin typeface="Cambria Math" panose="02040503050406030204" pitchFamily="18" charset="0"/>
                                      <a:cs typeface="Arial"/>
                                      <a:sym typeface="Arial"/>
                                    </a:rPr>
                                    <m:t>Δ</m:t>
                                  </m:r>
                                </m:num>
                                <m:den>
                                  <m:sSub>
                                    <m:sSubPr>
                                      <m:ctrlPr>
                                        <a:rPr lang="en-US" sz="1800" i="1" dirty="0">
                                          <a:latin typeface="Cambria Math" panose="02040503050406030204" pitchFamily="18" charset="0"/>
                                          <a:cs typeface="Arial"/>
                                          <a:sym typeface="Arial"/>
                                        </a:rPr>
                                      </m:ctrlPr>
                                    </m:sSubPr>
                                    <m:e>
                                      <m:r>
                                        <a:rPr lang="en-US" sz="1800" i="1" dirty="0">
                                          <a:latin typeface="Cambria Math" panose="02040503050406030204" pitchFamily="18" charset="0"/>
                                          <a:cs typeface="Arial"/>
                                          <a:sym typeface="Arial"/>
                                        </a:rPr>
                                        <m:t>𝐶</m:t>
                                      </m:r>
                                    </m:e>
                                    <m:sub>
                                      <m:r>
                                        <m:rPr>
                                          <m:sty m:val="p"/>
                                        </m:rPr>
                                        <a:rPr lang="en-US" sz="1800" i="1" dirty="0">
                                          <a:latin typeface="Cambria Math" panose="02040503050406030204" pitchFamily="18" charset="0"/>
                                          <a:cs typeface="Arial"/>
                                          <a:sym typeface="Arial"/>
                                        </a:rPr>
                                        <m:t>max</m:t>
                                      </m:r>
                                    </m:sub>
                                  </m:sSub>
                                </m:den>
                              </m:f>
                            </m:e>
                          </m:eqArr>
                          <m:r>
                            <a:rPr lang="en-US" sz="1800" b="0" i="1" dirty="0" smtClean="0">
                              <a:latin typeface="Cambria Math" panose="02040503050406030204" pitchFamily="18" charset="0"/>
                              <a:cs typeface="Arial"/>
                              <a:sym typeface="Arial"/>
                            </a:rPr>
                            <m:t>,</m:t>
                          </m:r>
                        </m:e>
                      </m:d>
                    </m:oMath>
                  </m:oMathPara>
                </a14:m>
                <a:endParaRPr lang="en-US" sz="18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1800" b="0" i="1" smtClean="0">
                          <a:latin typeface="Cambria Math" panose="02040503050406030204" pitchFamily="18" charset="0"/>
                          <a:cs typeface="Arial"/>
                          <a:sym typeface="Arial"/>
                        </a:rPr>
                        <m:t>H</m:t>
                      </m:r>
                      <m:r>
                        <a:rPr lang="en-US" sz="1800" b="0" i="1" smtClean="0">
                          <a:latin typeface="Cambria Math" panose="02040503050406030204" pitchFamily="18" charset="0"/>
                          <a:cs typeface="Arial"/>
                          <a:sym typeface="Arial"/>
                        </a:rPr>
                        <m:t> = </m:t>
                      </m:r>
                      <m:sSup>
                        <m:sSupPr>
                          <m:ctrlPr>
                            <a:rPr lang="en-US" sz="1800" b="0" i="1" smtClean="0">
                              <a:latin typeface="Cambria Math" panose="02040503050406030204" pitchFamily="18" charset="0"/>
                              <a:cs typeface="Arial"/>
                              <a:sym typeface="Arial"/>
                            </a:rPr>
                          </m:ctrlPr>
                        </m:sSupPr>
                        <m:e>
                          <m:r>
                            <a:rPr lang="en-US" sz="1800" b="0" i="1" smtClean="0">
                              <a:latin typeface="Cambria Math" panose="02040503050406030204" pitchFamily="18" charset="0"/>
                              <a:cs typeface="Arial"/>
                              <a:sym typeface="Arial"/>
                            </a:rPr>
                            <m:t>60</m:t>
                          </m:r>
                        </m:e>
                        <m:sup>
                          <m:r>
                            <a:rPr lang="en-US" sz="1800" b="0" i="1" smtClean="0">
                              <a:latin typeface="Cambria Math" panose="02040503050406030204" pitchFamily="18" charset="0"/>
                              <a:cs typeface="Arial"/>
                              <a:sym typeface="Arial"/>
                            </a:rPr>
                            <m:t>∘</m:t>
                          </m:r>
                        </m:sup>
                      </m:sSup>
                      <m:r>
                        <a:rPr lang="en-US" sz="1800" b="0" i="1" smtClean="0">
                          <a:latin typeface="Cambria Math" panose="02040503050406030204" pitchFamily="18" charset="0"/>
                          <a:cs typeface="Arial"/>
                          <a:sym typeface="Arial"/>
                        </a:rPr>
                        <m:t> ×</m:t>
                      </m:r>
                      <m:d>
                        <m:dPr>
                          <m:begChr m:val="{"/>
                          <m:endChr m:val=""/>
                          <m:ctrlPr>
                            <a:rPr lang="en-US" sz="1800" i="1" smtClean="0">
                              <a:latin typeface="Cambria Math" panose="02040503050406030204" pitchFamily="18" charset="0"/>
                              <a:cs typeface="Arial"/>
                              <a:sym typeface="Arial"/>
                            </a:rPr>
                          </m:ctrlPr>
                        </m:dPr>
                        <m:e>
                          <m:eqArr>
                            <m:eqArrPr>
                              <m:ctrlPr>
                                <a:rPr lang="en-US" sz="1800" i="1" smtClean="0">
                                  <a:latin typeface="Cambria Math" panose="02040503050406030204" pitchFamily="18" charset="0"/>
                                  <a:cs typeface="Arial"/>
                                  <a:sym typeface="Arial"/>
                                </a:rPr>
                              </m:ctrlPr>
                            </m:eqArrPr>
                            <m:e>
                              <m:f>
                                <m:fPr>
                                  <m:ctrlPr>
                                    <a:rPr lang="en-US" sz="1800" i="1" smtClean="0">
                                      <a:latin typeface="Cambria Math" panose="02040503050406030204" pitchFamily="18" charset="0"/>
                                      <a:cs typeface="Arial"/>
                                      <a:sym typeface="Arial"/>
                                    </a:rPr>
                                  </m:ctrlPr>
                                </m:fPr>
                                <m:num>
                                  <m:r>
                                    <m:rPr>
                                      <m:sty m:val="p"/>
                                    </m:rPr>
                                    <a:rPr lang="en-US" sz="1800" b="0" i="1" smtClean="0">
                                      <a:latin typeface="Cambria Math" panose="02040503050406030204" pitchFamily="18" charset="0"/>
                                      <a:cs typeface="Arial"/>
                                      <a:sym typeface="Arial"/>
                                    </a:rPr>
                                    <m:t>G</m:t>
                                  </m:r>
                                  <m:r>
                                    <a:rPr lang="en-US" sz="1800" b="0" i="1" smtClean="0">
                                      <a:latin typeface="Cambria Math" panose="02040503050406030204" pitchFamily="18" charset="0"/>
                                      <a:cs typeface="Arial"/>
                                      <a:sym typeface="Arial"/>
                                    </a:rPr>
                                    <m:t> − </m:t>
                                  </m:r>
                                  <m:r>
                                    <m:rPr>
                                      <m:sty m:val="p"/>
                                    </m:rPr>
                                    <a:rPr lang="en-US" sz="1800" b="0" i="1" smtClean="0">
                                      <a:latin typeface="Cambria Math" panose="02040503050406030204" pitchFamily="18" charset="0"/>
                                      <a:cs typeface="Arial"/>
                                      <a:sym typeface="Arial"/>
                                    </a:rPr>
                                    <m:t>B</m:t>
                                  </m:r>
                                </m:num>
                                <m:den>
                                  <m:r>
                                    <m:rPr>
                                      <m:sty m:val="p"/>
                                    </m:rPr>
                                    <a:rPr lang="en-US" sz="1800" b="0" i="1" smtClean="0">
                                      <a:latin typeface="Cambria Math" panose="02040503050406030204" pitchFamily="18" charset="0"/>
                                      <a:cs typeface="Arial"/>
                                      <a:sym typeface="Arial"/>
                                    </a:rPr>
                                    <m:t>Δ</m:t>
                                  </m:r>
                                </m:den>
                              </m:f>
                              <m:r>
                                <a:rPr lang="en-US" sz="1800" b="0" i="1" smtClean="0">
                                  <a:latin typeface="Cambria Math" panose="02040503050406030204" pitchFamily="18" charset="0"/>
                                  <a:cs typeface="Arial"/>
                                  <a:sym typeface="Arial"/>
                                </a:rPr>
                                <m:t> % 6, </m:t>
                              </m:r>
                              <m:sSub>
                                <m:sSubPr>
                                  <m:ctrlPr>
                                    <a:rPr lang="en-US" sz="1800" b="0" i="1" smtClean="0">
                                      <a:latin typeface="Cambria Math" panose="02040503050406030204" pitchFamily="18" charset="0"/>
                                      <a:cs typeface="Arial"/>
                                      <a:sym typeface="Arial"/>
                                    </a:rPr>
                                  </m:ctrlPr>
                                </m:sSubPr>
                                <m:e>
                                  <m:r>
                                    <a:rPr lang="en-US" sz="1800" b="0" i="1" smtClean="0">
                                      <a:latin typeface="Cambria Math" panose="02040503050406030204" pitchFamily="18" charset="0"/>
                                      <a:cs typeface="Arial"/>
                                      <a:sym typeface="Arial"/>
                                    </a:rPr>
                                    <m:t>𝐶</m:t>
                                  </m:r>
                                </m:e>
                                <m:sub>
                                  <m:r>
                                    <a:rPr lang="en-US" sz="1800" b="0" i="1" smtClean="0">
                                      <a:latin typeface="Cambria Math" panose="02040503050406030204" pitchFamily="18" charset="0"/>
                                      <a:cs typeface="Arial"/>
                                      <a:sym typeface="Arial"/>
                                    </a:rPr>
                                    <m:t>𝑚𝑎𝑥</m:t>
                                  </m:r>
                                </m:sub>
                              </m:sSub>
                              <m:r>
                                <a:rPr lang="en-US" sz="1800" b="0" i="1" smtClean="0">
                                  <a:latin typeface="Cambria Math" panose="02040503050406030204" pitchFamily="18" charset="0"/>
                                  <a:cs typeface="Arial"/>
                                  <a:sym typeface="Arial"/>
                                </a:rPr>
                                <m:t>= </m:t>
                              </m:r>
                              <m:r>
                                <m:rPr>
                                  <m:sty m:val="p"/>
                                </m:rPr>
                                <a:rPr lang="en-US" sz="1800" b="0" i="1" smtClean="0">
                                  <a:latin typeface="Cambria Math" panose="02040503050406030204" pitchFamily="18" charset="0"/>
                                  <a:cs typeface="Arial"/>
                                  <a:sym typeface="Arial"/>
                                </a:rPr>
                                <m:t>R</m:t>
                              </m:r>
                            </m:e>
                            <m:e>
                              <m:f>
                                <m:fPr>
                                  <m:ctrlPr>
                                    <a:rPr lang="en-US" sz="1800" i="1">
                                      <a:latin typeface="Cambria Math" panose="02040503050406030204" pitchFamily="18" charset="0"/>
                                      <a:cs typeface="Arial"/>
                                      <a:sym typeface="Arial"/>
                                    </a:rPr>
                                  </m:ctrlPr>
                                </m:fPr>
                                <m:num>
                                  <m:r>
                                    <m:rPr>
                                      <m:sty m:val="p"/>
                                    </m:rPr>
                                    <a:rPr lang="en-US" sz="1800" i="1">
                                      <a:latin typeface="Cambria Math" panose="02040503050406030204" pitchFamily="18" charset="0"/>
                                      <a:cs typeface="Arial"/>
                                      <a:sym typeface="Arial"/>
                                    </a:rPr>
                                    <m:t>B</m:t>
                                  </m:r>
                                  <m:r>
                                    <a:rPr lang="en-US" sz="1800" i="1">
                                      <a:latin typeface="Cambria Math" panose="02040503050406030204" pitchFamily="18" charset="0"/>
                                      <a:cs typeface="Arial"/>
                                      <a:sym typeface="Arial"/>
                                    </a:rPr>
                                    <m:t> − </m:t>
                                  </m:r>
                                  <m:r>
                                    <m:rPr>
                                      <m:sty m:val="p"/>
                                    </m:rPr>
                                    <a:rPr lang="en-US" sz="1800" i="1">
                                      <a:latin typeface="Cambria Math" panose="02040503050406030204" pitchFamily="18" charset="0"/>
                                      <a:cs typeface="Arial"/>
                                      <a:sym typeface="Arial"/>
                                    </a:rPr>
                                    <m:t>R</m:t>
                                  </m:r>
                                </m:num>
                                <m:den>
                                  <m:r>
                                    <m:rPr>
                                      <m:sty m:val="p"/>
                                    </m:rPr>
                                    <a:rPr lang="en-US" sz="1800" i="1">
                                      <a:latin typeface="Cambria Math" panose="02040503050406030204" pitchFamily="18" charset="0"/>
                                      <a:cs typeface="Arial"/>
                                      <a:sym typeface="Arial"/>
                                    </a:rPr>
                                    <m:t>Δ</m:t>
                                  </m:r>
                                </m:den>
                              </m:f>
                              <m:r>
                                <a:rPr lang="en-US" sz="1800" b="0" i="1" smtClean="0">
                                  <a:latin typeface="Cambria Math" panose="02040503050406030204" pitchFamily="18" charset="0"/>
                                  <a:cs typeface="Arial"/>
                                  <a:sym typeface="Arial"/>
                                </a:rPr>
                                <m:t>+2</m:t>
                              </m:r>
                              <m:r>
                                <a:rPr lang="en-US" sz="1800" i="1">
                                  <a:latin typeface="Cambria Math" panose="02040503050406030204" pitchFamily="18" charset="0"/>
                                  <a:cs typeface="Arial"/>
                                  <a:sym typeface="Arial"/>
                                </a:rPr>
                                <m:t>, </m:t>
                              </m:r>
                              <m:sSub>
                                <m:sSubPr>
                                  <m:ctrlPr>
                                    <a:rPr lang="en-US" sz="1800" i="1">
                                      <a:latin typeface="Cambria Math" panose="02040503050406030204" pitchFamily="18" charset="0"/>
                                      <a:cs typeface="Arial"/>
                                      <a:sym typeface="Arial"/>
                                    </a:rPr>
                                  </m:ctrlPr>
                                </m:sSubPr>
                                <m:e>
                                  <m:r>
                                    <a:rPr lang="en-US" sz="1800" i="1">
                                      <a:latin typeface="Cambria Math" panose="02040503050406030204" pitchFamily="18" charset="0"/>
                                      <a:cs typeface="Arial"/>
                                      <a:sym typeface="Arial"/>
                                    </a:rPr>
                                    <m:t>𝐶</m:t>
                                  </m:r>
                                </m:e>
                                <m:sub>
                                  <m:r>
                                    <a:rPr lang="en-US" sz="1800" i="1">
                                      <a:latin typeface="Cambria Math" panose="02040503050406030204" pitchFamily="18" charset="0"/>
                                      <a:cs typeface="Arial"/>
                                      <a:sym typeface="Arial"/>
                                    </a:rPr>
                                    <m:t>𝑚𝑎𝑥</m:t>
                                  </m:r>
                                </m:sub>
                              </m:sSub>
                              <m:r>
                                <a:rPr lang="en-US" sz="1800" i="1">
                                  <a:latin typeface="Cambria Math" panose="02040503050406030204" pitchFamily="18" charset="0"/>
                                  <a:cs typeface="Arial"/>
                                  <a:sym typeface="Arial"/>
                                </a:rPr>
                                <m:t>= </m:t>
                              </m:r>
                              <m:r>
                                <m:rPr>
                                  <m:sty m:val="p"/>
                                </m:rPr>
                                <a:rPr lang="en-US" sz="1800" b="0" i="1" smtClean="0">
                                  <a:latin typeface="Cambria Math" panose="02040503050406030204" pitchFamily="18" charset="0"/>
                                  <a:cs typeface="Arial"/>
                                  <a:sym typeface="Arial"/>
                                </a:rPr>
                                <m:t>G</m:t>
                              </m:r>
                            </m:e>
                            <m:e>
                              <m:f>
                                <m:fPr>
                                  <m:ctrlPr>
                                    <a:rPr lang="en-US" sz="1800" i="1">
                                      <a:latin typeface="Cambria Math" panose="02040503050406030204" pitchFamily="18" charset="0"/>
                                      <a:cs typeface="Arial"/>
                                      <a:sym typeface="Arial"/>
                                    </a:rPr>
                                  </m:ctrlPr>
                                </m:fPr>
                                <m:num>
                                  <m:r>
                                    <m:rPr>
                                      <m:sty m:val="p"/>
                                    </m:rPr>
                                    <a:rPr lang="en-US" sz="1800" i="1">
                                      <a:latin typeface="Cambria Math" panose="02040503050406030204" pitchFamily="18" charset="0"/>
                                      <a:cs typeface="Arial"/>
                                      <a:sym typeface="Arial"/>
                                    </a:rPr>
                                    <m:t>R</m:t>
                                  </m:r>
                                  <m:r>
                                    <a:rPr lang="en-US" sz="1800" i="1">
                                      <a:latin typeface="Cambria Math" panose="02040503050406030204" pitchFamily="18" charset="0"/>
                                      <a:cs typeface="Arial"/>
                                      <a:sym typeface="Arial"/>
                                    </a:rPr>
                                    <m:t> − </m:t>
                                  </m:r>
                                  <m:r>
                                    <m:rPr>
                                      <m:sty m:val="p"/>
                                    </m:rPr>
                                    <a:rPr lang="en-US" sz="1800" i="1">
                                      <a:latin typeface="Cambria Math" panose="02040503050406030204" pitchFamily="18" charset="0"/>
                                      <a:cs typeface="Arial"/>
                                      <a:sym typeface="Arial"/>
                                    </a:rPr>
                                    <m:t>G</m:t>
                                  </m:r>
                                </m:num>
                                <m:den>
                                  <m:r>
                                    <m:rPr>
                                      <m:sty m:val="p"/>
                                    </m:rPr>
                                    <a:rPr lang="en-US" sz="1800" i="1">
                                      <a:latin typeface="Cambria Math" panose="02040503050406030204" pitchFamily="18" charset="0"/>
                                      <a:cs typeface="Arial"/>
                                      <a:sym typeface="Arial"/>
                                    </a:rPr>
                                    <m:t>Δ</m:t>
                                  </m:r>
                                </m:den>
                              </m:f>
                              <m:r>
                                <a:rPr lang="en-US" sz="1800" i="1">
                                  <a:latin typeface="Cambria Math" panose="02040503050406030204" pitchFamily="18" charset="0"/>
                                  <a:cs typeface="Arial"/>
                                  <a:sym typeface="Arial"/>
                                </a:rPr>
                                <m:t> </m:t>
                              </m:r>
                              <m:r>
                                <a:rPr lang="en-US" sz="1800" b="0" i="1" smtClean="0">
                                  <a:latin typeface="Cambria Math" panose="02040503050406030204" pitchFamily="18" charset="0"/>
                                  <a:cs typeface="Arial"/>
                                  <a:sym typeface="Arial"/>
                                </a:rPr>
                                <m:t>+4</m:t>
                              </m:r>
                              <m:r>
                                <a:rPr lang="en-US" sz="1800" i="1">
                                  <a:latin typeface="Cambria Math" panose="02040503050406030204" pitchFamily="18" charset="0"/>
                                  <a:cs typeface="Arial"/>
                                  <a:sym typeface="Arial"/>
                                </a:rPr>
                                <m:t>, </m:t>
                              </m:r>
                              <m:sSub>
                                <m:sSubPr>
                                  <m:ctrlPr>
                                    <a:rPr lang="en-US" sz="1800" i="1">
                                      <a:latin typeface="Cambria Math" panose="02040503050406030204" pitchFamily="18" charset="0"/>
                                      <a:cs typeface="Arial"/>
                                      <a:sym typeface="Arial"/>
                                    </a:rPr>
                                  </m:ctrlPr>
                                </m:sSubPr>
                                <m:e>
                                  <m:r>
                                    <a:rPr lang="en-US" sz="1800" i="1">
                                      <a:latin typeface="Cambria Math" panose="02040503050406030204" pitchFamily="18" charset="0"/>
                                      <a:cs typeface="Arial"/>
                                      <a:sym typeface="Arial"/>
                                    </a:rPr>
                                    <m:t>𝐶</m:t>
                                  </m:r>
                                </m:e>
                                <m:sub>
                                  <m:r>
                                    <a:rPr lang="en-US" sz="1800" i="1">
                                      <a:latin typeface="Cambria Math" panose="02040503050406030204" pitchFamily="18" charset="0"/>
                                      <a:cs typeface="Arial"/>
                                      <a:sym typeface="Arial"/>
                                    </a:rPr>
                                    <m:t>𝑚𝑎𝑥</m:t>
                                  </m:r>
                                </m:sub>
                              </m:sSub>
                              <m:r>
                                <a:rPr lang="en-US" sz="1800" i="1">
                                  <a:latin typeface="Cambria Math" panose="02040503050406030204" pitchFamily="18" charset="0"/>
                                  <a:cs typeface="Arial"/>
                                  <a:sym typeface="Arial"/>
                                </a:rPr>
                                <m:t>= </m:t>
                              </m:r>
                              <m:r>
                                <m:rPr>
                                  <m:sty m:val="p"/>
                                </m:rPr>
                                <a:rPr lang="en-US" sz="1800" b="0" i="1" smtClean="0">
                                  <a:latin typeface="Cambria Math" panose="02040503050406030204" pitchFamily="18" charset="0"/>
                                  <a:cs typeface="Arial"/>
                                  <a:sym typeface="Arial"/>
                                </a:rPr>
                                <m:t>B</m:t>
                              </m:r>
                            </m:e>
                          </m:eqArr>
                        </m:e>
                      </m:d>
                    </m:oMath>
                  </m:oMathPara>
                </a14:m>
                <a:endParaRPr lang="en-US" sz="18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D4237E1B-545F-69C1-D581-FF9F2476C15A}"/>
                  </a:ext>
                </a:extLst>
              </p:cNvPr>
              <p:cNvSpPr txBox="1">
                <a:spLocks noGrp="1" noRot="1" noChangeAspect="1" noMove="1" noResize="1" noEditPoints="1" noAdjustHandles="1" noChangeArrowheads="1" noChangeShapeType="1" noTextEdit="1"/>
              </p:cNvSpPr>
              <p:nvPr>
                <p:ph type="body" idx="1"/>
              </p:nvPr>
            </p:nvSpPr>
            <p:spPr>
              <a:xfrm>
                <a:off x="376809" y="1334279"/>
                <a:ext cx="6249927" cy="4821102"/>
              </a:xfrm>
              <a:prstGeom prst="rect">
                <a:avLst/>
              </a:prstGeom>
              <a:blipFill>
                <a:blip r:embed="rId3"/>
                <a:stretch>
                  <a:fillRect l="-878"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6A38134D-BC05-A9E4-964E-41BF74069AA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5893D9E-85E5-0A36-3430-5D37940B908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D0718D8-30AD-D7C5-8A68-6F81DC2D493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85DADCC-EC8A-1D0D-F508-F1D41C0A3EF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BBB4DD0-56A2-02E0-C285-A85954AA566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481610D-F709-493A-DE83-2F286BC82D5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43D08E5-5038-2959-A5E9-10CCA2FFF28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A86E03F-C716-315F-46CF-58C1165A4BC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8194" name="Picture 2">
            <a:extLst>
              <a:ext uri="{FF2B5EF4-FFF2-40B4-BE49-F238E27FC236}">
                <a16:creationId xmlns:a16="http://schemas.microsoft.com/office/drawing/2014/main" id="{AF6EB6C2-AADA-A0B4-39C7-4724DBFA921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626736" y="1666939"/>
            <a:ext cx="5565264" cy="4173948"/>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1A82E01D-94DB-6D53-F0E0-6228D008EAEE}"/>
              </a:ext>
            </a:extLst>
          </p:cNvPr>
          <p:cNvSpPr txBox="1"/>
          <p:nvPr/>
        </p:nvSpPr>
        <p:spPr>
          <a:xfrm>
            <a:off x="7547437" y="5913434"/>
            <a:ext cx="3739399" cy="307777"/>
          </a:xfrm>
          <a:prstGeom prst="rect">
            <a:avLst/>
          </a:prstGeom>
          <a:noFill/>
        </p:spPr>
        <p:txBody>
          <a:bodyPr wrap="square">
            <a:spAutoFit/>
          </a:bodyPr>
          <a:lstStyle/>
          <a:p>
            <a:pPr algn="ctr"/>
            <a:r>
              <a:rPr lang="en-US" dirty="0">
                <a:hlinkClick r:id="rId6"/>
              </a:rPr>
              <a:t>https://en.wikipedia.org/wiki/HSL_and_HSV</a:t>
            </a:r>
            <a:r>
              <a:rPr lang="en-US" dirty="0"/>
              <a:t> </a:t>
            </a:r>
          </a:p>
        </p:txBody>
      </p:sp>
    </p:spTree>
    <p:extLst>
      <p:ext uri="{BB962C8B-B14F-4D97-AF65-F5344CB8AC3E}">
        <p14:creationId xmlns:p14="http://schemas.microsoft.com/office/powerpoint/2010/main" val="316016416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2F9F57E-2DBD-44F8-8454-D286105C147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CEE6F7A-EC74-30A2-88E8-6C2427A9A21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CA6D7FB-FAB6-5B85-592C-72EDA4E0B2C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902F8BE-39BA-002E-8EBC-E0225562B69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823CAA6-5617-F536-1F8F-11AFDE6EF47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9B43056-5636-DB67-E22A-40AF11E7689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4240060-6A6A-CBED-E1EF-756E6234479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96B047D-03B1-4247-6D6A-E18F7315C41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1C0499F-EC99-EB26-DA17-3704012B28E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10242" name="Picture 2">
            <a:extLst>
              <a:ext uri="{FF2B5EF4-FFF2-40B4-BE49-F238E27FC236}">
                <a16:creationId xmlns:a16="http://schemas.microsoft.com/office/drawing/2014/main" id="{41A7A60A-73DC-DEC4-0C5F-CF88DBAF042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221374" y="889027"/>
            <a:ext cx="3749252" cy="2753357"/>
          </a:xfrm>
          <a:prstGeom prst="rect">
            <a:avLst/>
          </a:prstGeom>
          <a:noFill/>
          <a:extLst>
            <a:ext uri="{909E8E84-426E-40DD-AFC4-6F175D3DCCD1}">
              <a14:hiddenFill xmlns:a14="http://schemas.microsoft.com/office/drawing/2010/main">
                <a:solidFill>
                  <a:srgbClr val="FFFFFF"/>
                </a:solidFill>
              </a14:hiddenFill>
            </a:ext>
          </a:extLst>
        </p:spPr>
      </p:pic>
      <p:pic>
        <p:nvPicPr>
          <p:cNvPr id="10244" name="Picture 4">
            <a:extLst>
              <a:ext uri="{FF2B5EF4-FFF2-40B4-BE49-F238E27FC236}">
                <a16:creationId xmlns:a16="http://schemas.microsoft.com/office/drawing/2014/main" id="{CB2095BA-9684-22C8-ADC8-E825ADD54885}"/>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178484" y="3707347"/>
            <a:ext cx="3835032" cy="2816352"/>
          </a:xfrm>
          <a:prstGeom prst="rect">
            <a:avLst/>
          </a:prstGeom>
          <a:noFill/>
          <a:extLst>
            <a:ext uri="{909E8E84-426E-40DD-AFC4-6F175D3DCCD1}">
              <a14:hiddenFill xmlns:a14="http://schemas.microsoft.com/office/drawing/2010/main">
                <a:solidFill>
                  <a:srgbClr val="FFFFFF"/>
                </a:solidFill>
              </a14:hiddenFill>
            </a:ext>
          </a:extLst>
        </p:spPr>
      </p:pic>
      <p:pic>
        <p:nvPicPr>
          <p:cNvPr id="10246" name="Picture 6">
            <a:extLst>
              <a:ext uri="{FF2B5EF4-FFF2-40B4-BE49-F238E27FC236}">
                <a16:creationId xmlns:a16="http://schemas.microsoft.com/office/drawing/2014/main" id="{391BBE52-D58B-65EA-4C1E-6779ABB764E2}"/>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36428" y="3710862"/>
            <a:ext cx="3830246" cy="2812837"/>
          </a:xfrm>
          <a:prstGeom prst="rect">
            <a:avLst/>
          </a:prstGeom>
          <a:noFill/>
          <a:extLst>
            <a:ext uri="{909E8E84-426E-40DD-AFC4-6F175D3DCCD1}">
              <a14:hiddenFill xmlns:a14="http://schemas.microsoft.com/office/drawing/2010/main">
                <a:solidFill>
                  <a:srgbClr val="FFFFFF"/>
                </a:solidFill>
              </a14:hiddenFill>
            </a:ext>
          </a:extLst>
        </p:spPr>
      </p:pic>
      <p:pic>
        <p:nvPicPr>
          <p:cNvPr id="10248" name="Picture 8">
            <a:extLst>
              <a:ext uri="{FF2B5EF4-FFF2-40B4-BE49-F238E27FC236}">
                <a16:creationId xmlns:a16="http://schemas.microsoft.com/office/drawing/2014/main" id="{DCF6C397-C9DD-3CAF-C0CA-D5D1CDA95204}"/>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8120540" y="3707347"/>
            <a:ext cx="3835032" cy="2816352"/>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E502BDC6-4AA3-8F50-3C1A-4232B526CCD7}"/>
              </a:ext>
            </a:extLst>
          </p:cNvPr>
          <p:cNvSpPr txBox="1"/>
          <p:nvPr/>
        </p:nvSpPr>
        <p:spPr>
          <a:xfrm>
            <a:off x="485975" y="1164204"/>
            <a:ext cx="2423480" cy="307777"/>
          </a:xfrm>
          <a:prstGeom prst="rect">
            <a:avLst/>
          </a:prstGeom>
          <a:noFill/>
        </p:spPr>
        <p:txBody>
          <a:bodyPr wrap="square" rtlCol="0">
            <a:spAutoFit/>
          </a:bodyPr>
          <a:lstStyle/>
          <a:p>
            <a:r>
              <a:rPr lang="en-US" dirty="0"/>
              <a:t>Which one looks the nicest?</a:t>
            </a:r>
          </a:p>
        </p:txBody>
      </p:sp>
      <p:sp>
        <p:nvSpPr>
          <p:cNvPr id="5" name="TextBox 4">
            <a:extLst>
              <a:ext uri="{FF2B5EF4-FFF2-40B4-BE49-F238E27FC236}">
                <a16:creationId xmlns:a16="http://schemas.microsoft.com/office/drawing/2014/main" id="{0DB40B51-D24E-456A-3FC5-8F2F506542F6}"/>
              </a:ext>
            </a:extLst>
          </p:cNvPr>
          <p:cNvSpPr txBox="1"/>
          <p:nvPr/>
        </p:nvSpPr>
        <p:spPr>
          <a:xfrm>
            <a:off x="939811" y="3368442"/>
            <a:ext cx="2423480" cy="307777"/>
          </a:xfrm>
          <a:prstGeom prst="rect">
            <a:avLst/>
          </a:prstGeom>
          <a:noFill/>
        </p:spPr>
        <p:txBody>
          <a:bodyPr wrap="square" rtlCol="0">
            <a:spAutoFit/>
          </a:bodyPr>
          <a:lstStyle/>
          <a:p>
            <a:pPr algn="ctr"/>
            <a:r>
              <a:rPr lang="en-US" dirty="0"/>
              <a:t>HSV value V</a:t>
            </a:r>
          </a:p>
        </p:txBody>
      </p:sp>
      <p:sp>
        <p:nvSpPr>
          <p:cNvPr id="6" name="TextBox 5">
            <a:extLst>
              <a:ext uri="{FF2B5EF4-FFF2-40B4-BE49-F238E27FC236}">
                <a16:creationId xmlns:a16="http://schemas.microsoft.com/office/drawing/2014/main" id="{D9162660-7C23-8A31-2498-AE252E8517AB}"/>
              </a:ext>
            </a:extLst>
          </p:cNvPr>
          <p:cNvSpPr txBox="1"/>
          <p:nvPr/>
        </p:nvSpPr>
        <p:spPr>
          <a:xfrm>
            <a:off x="8826316" y="3360651"/>
            <a:ext cx="2423480" cy="307777"/>
          </a:xfrm>
          <a:prstGeom prst="rect">
            <a:avLst/>
          </a:prstGeom>
          <a:noFill/>
        </p:spPr>
        <p:txBody>
          <a:bodyPr wrap="square" rtlCol="0">
            <a:spAutoFit/>
          </a:bodyPr>
          <a:lstStyle/>
          <a:p>
            <a:pPr algn="ctr"/>
            <a:r>
              <a:rPr lang="en-US" dirty="0"/>
              <a:t>HSL value L</a:t>
            </a:r>
          </a:p>
        </p:txBody>
      </p:sp>
      <p:sp>
        <p:nvSpPr>
          <p:cNvPr id="7" name="TextBox 6">
            <a:extLst>
              <a:ext uri="{FF2B5EF4-FFF2-40B4-BE49-F238E27FC236}">
                <a16:creationId xmlns:a16="http://schemas.microsoft.com/office/drawing/2014/main" id="{B81FD8A4-9737-503E-F429-C3A056C627A6}"/>
              </a:ext>
            </a:extLst>
          </p:cNvPr>
          <p:cNvSpPr txBox="1"/>
          <p:nvPr/>
        </p:nvSpPr>
        <p:spPr>
          <a:xfrm>
            <a:off x="8013516" y="1010315"/>
            <a:ext cx="1358740" cy="307777"/>
          </a:xfrm>
          <a:prstGeom prst="rect">
            <a:avLst/>
          </a:prstGeom>
          <a:noFill/>
        </p:spPr>
        <p:txBody>
          <a:bodyPr wrap="square" rtlCol="0">
            <a:spAutoFit/>
          </a:bodyPr>
          <a:lstStyle/>
          <a:p>
            <a:pPr algn="ctr"/>
            <a:r>
              <a:rPr lang="en-US" dirty="0"/>
              <a:t>Original Color</a:t>
            </a:r>
          </a:p>
        </p:txBody>
      </p:sp>
      <p:sp>
        <p:nvSpPr>
          <p:cNvPr id="8" name="TextBox 7">
            <a:extLst>
              <a:ext uri="{FF2B5EF4-FFF2-40B4-BE49-F238E27FC236}">
                <a16:creationId xmlns:a16="http://schemas.microsoft.com/office/drawing/2014/main" id="{096DC7E9-FD26-0163-DE3C-886619DDA3A2}"/>
              </a:ext>
            </a:extLst>
          </p:cNvPr>
          <p:cNvSpPr txBox="1"/>
          <p:nvPr/>
        </p:nvSpPr>
        <p:spPr>
          <a:xfrm>
            <a:off x="8013516" y="3360651"/>
            <a:ext cx="1047357" cy="307777"/>
          </a:xfrm>
          <a:prstGeom prst="rect">
            <a:avLst/>
          </a:prstGeom>
          <a:noFill/>
        </p:spPr>
        <p:txBody>
          <a:bodyPr wrap="square" rtlCol="0">
            <a:spAutoFit/>
          </a:bodyPr>
          <a:lstStyle/>
          <a:p>
            <a:pPr algn="ctr"/>
            <a:r>
              <a:rPr lang="en-US" dirty="0"/>
              <a:t>CIELAB L*</a:t>
            </a:r>
          </a:p>
        </p:txBody>
      </p:sp>
      <p:sp>
        <p:nvSpPr>
          <p:cNvPr id="10" name="TextBox 9">
            <a:extLst>
              <a:ext uri="{FF2B5EF4-FFF2-40B4-BE49-F238E27FC236}">
                <a16:creationId xmlns:a16="http://schemas.microsoft.com/office/drawing/2014/main" id="{D3EED8F6-F9E3-FF3A-3C2B-1AFB500DCCE2}"/>
              </a:ext>
            </a:extLst>
          </p:cNvPr>
          <p:cNvSpPr txBox="1"/>
          <p:nvPr/>
        </p:nvSpPr>
        <p:spPr>
          <a:xfrm>
            <a:off x="8169919" y="1275577"/>
            <a:ext cx="3536106" cy="246221"/>
          </a:xfrm>
          <a:prstGeom prst="rect">
            <a:avLst/>
          </a:prstGeom>
          <a:noFill/>
        </p:spPr>
        <p:txBody>
          <a:bodyPr wrap="square">
            <a:spAutoFit/>
          </a:bodyPr>
          <a:lstStyle/>
          <a:p>
            <a:pPr algn="ctr"/>
            <a:r>
              <a:rPr lang="en-US" sz="1000" dirty="0">
                <a:hlinkClick r:id="rId8"/>
              </a:rPr>
              <a:t>https://en.wikipedia.org/wiki/HSL_and_HSV#Disadvantages</a:t>
            </a:r>
            <a:r>
              <a:rPr lang="en-US" sz="1000" dirty="0"/>
              <a:t> </a:t>
            </a:r>
          </a:p>
        </p:txBody>
      </p:sp>
    </p:spTree>
    <p:extLst>
      <p:ext uri="{BB962C8B-B14F-4D97-AF65-F5344CB8AC3E}">
        <p14:creationId xmlns:p14="http://schemas.microsoft.com/office/powerpoint/2010/main" val="25074133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8"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ADC26FD-BE90-A194-5416-EC1A40F45DD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F32F094-B864-91E5-4C3A-BC5767FE48BD}"/>
              </a:ext>
            </a:extLst>
          </p:cNvPr>
          <p:cNvSpPr txBox="1">
            <a:spLocks noGrp="1"/>
          </p:cNvSpPr>
          <p:nvPr>
            <p:ph type="body" idx="1"/>
          </p:nvPr>
        </p:nvSpPr>
        <p:spPr>
          <a:xfrm>
            <a:off x="376809" y="1334279"/>
            <a:ext cx="1159351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While HSL, HSV, and related spaces serve well enough to, for instance, choose a single color, they ignore much of the complexity of color appearance. </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Essentially, they trade off </a:t>
            </a:r>
            <a:r>
              <a:rPr lang="en-US" sz="2000" b="1" dirty="0">
                <a:latin typeface="Arial"/>
                <a:ea typeface="Arial"/>
                <a:cs typeface="Arial"/>
                <a:sym typeface="Arial"/>
              </a:rPr>
              <a:t>perceptual relevance </a:t>
            </a:r>
            <a:r>
              <a:rPr lang="en-US" sz="2000" dirty="0">
                <a:latin typeface="Arial"/>
                <a:ea typeface="Arial"/>
                <a:cs typeface="Arial"/>
                <a:sym typeface="Arial"/>
              </a:rPr>
              <a:t>for computation speed.</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HSL and HSV are simple transformations of RGB which preserve symmetries in the RGB cube unrelated to human perception. </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If we plot the RGB gamut in a more </a:t>
            </a:r>
            <a:r>
              <a:rPr lang="en-US" sz="2000" b="1" dirty="0">
                <a:latin typeface="Arial"/>
                <a:ea typeface="Arial"/>
                <a:cs typeface="Arial"/>
                <a:sym typeface="Arial"/>
              </a:rPr>
              <a:t>perceptually-uniform space</a:t>
            </a:r>
            <a:r>
              <a:rPr lang="en-US" sz="2000" dirty="0">
                <a:latin typeface="Arial"/>
                <a:ea typeface="Arial"/>
                <a:cs typeface="Arial"/>
                <a:sym typeface="Arial"/>
              </a:rPr>
              <a:t>, such as CIELAB, it becomes immediately clear that the red, green, and blue primaries do not have the same lightness or chroma, or evenly spaced hues.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Because HSL and HSV are defined purely with reference to some RGB space, they are not absolute color spaces: to specify a color precisely requires reporting not only HSL or HSV values, but also the characteristics of the RGB space they are based on, including the gamma correction in use.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F8B5D63E-8A1B-A94E-DBD1-37B0B750FC3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238C76F-C589-4D4D-78EB-D87E6215107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426FD96-823B-DBBC-9E77-D2C54AFC2B2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1C276AA-35F8-F3A2-42A4-1E319E10D65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D15A9D4-5AA6-6E3B-203D-ED4CEF06AEF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3D3136E-F26E-C1E9-6FFD-F2896793FCD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E406811-0793-6F49-D62C-27BCA074287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B3C04C7-A328-7814-79E6-BC1910C1E5D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3476843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C445765-83BA-A583-E0CC-0178C5E7543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080A7C0-8A39-FB91-8EB4-DF753F93FC7C}"/>
              </a:ext>
            </a:extLst>
          </p:cNvPr>
          <p:cNvSpPr txBox="1">
            <a:spLocks noGrp="1"/>
          </p:cNvSpPr>
          <p:nvPr>
            <p:ph type="body" idx="1"/>
          </p:nvPr>
        </p:nvSpPr>
        <p:spPr>
          <a:xfrm>
            <a:off x="376809" y="1334279"/>
            <a:ext cx="624992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rial"/>
                <a:ea typeface="Arial"/>
                <a:cs typeface="Arial"/>
                <a:sym typeface="Arial"/>
              </a:rPr>
              <a:t>The </a:t>
            </a:r>
            <a:r>
              <a:rPr lang="en-US" sz="1800" b="1" dirty="0">
                <a:latin typeface="Arial"/>
                <a:ea typeface="Arial"/>
                <a:cs typeface="Arial"/>
                <a:sym typeface="Arial"/>
              </a:rPr>
              <a:t>CIELAB</a:t>
            </a:r>
            <a:r>
              <a:rPr lang="en-US" sz="1800" dirty="0">
                <a:latin typeface="Arial"/>
                <a:ea typeface="Arial"/>
                <a:cs typeface="Arial"/>
                <a:sym typeface="Arial"/>
              </a:rPr>
              <a:t> space is three-dimensional and covers the entire gamut (range) of human color perception. </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It is based on the opponent model of human vision, where red and green form an opponent pair and blue and yellow form an opponent pair. </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The </a:t>
            </a:r>
            <a:r>
              <a:rPr lang="en-US" sz="1800" b="1" dirty="0">
                <a:latin typeface="Arial"/>
                <a:ea typeface="Arial"/>
                <a:cs typeface="Arial"/>
                <a:sym typeface="Arial"/>
              </a:rPr>
              <a:t>lightness value</a:t>
            </a:r>
            <a:r>
              <a:rPr lang="en-US" sz="1800" dirty="0">
                <a:latin typeface="Arial"/>
                <a:ea typeface="Arial"/>
                <a:cs typeface="Arial"/>
                <a:sym typeface="Arial"/>
              </a:rPr>
              <a:t>, L* (pronounced "L star"), defines </a:t>
            </a:r>
            <a:r>
              <a:rPr lang="en-US" sz="1800" b="1" dirty="0">
                <a:latin typeface="Arial"/>
                <a:ea typeface="Arial"/>
                <a:cs typeface="Arial"/>
                <a:sym typeface="Arial"/>
              </a:rPr>
              <a:t>black</a:t>
            </a:r>
            <a:r>
              <a:rPr lang="en-US" sz="1800" dirty="0">
                <a:latin typeface="Arial"/>
                <a:ea typeface="Arial"/>
                <a:cs typeface="Arial"/>
                <a:sym typeface="Arial"/>
              </a:rPr>
              <a:t> at 0 and </a:t>
            </a:r>
            <a:r>
              <a:rPr lang="en-US" sz="1800" b="1" dirty="0">
                <a:latin typeface="Arial"/>
                <a:ea typeface="Arial"/>
                <a:cs typeface="Arial"/>
                <a:sym typeface="Arial"/>
              </a:rPr>
              <a:t>white</a:t>
            </a:r>
            <a:r>
              <a:rPr lang="en-US" sz="1800" dirty="0">
                <a:latin typeface="Arial"/>
                <a:ea typeface="Arial"/>
                <a:cs typeface="Arial"/>
                <a:sym typeface="Arial"/>
              </a:rPr>
              <a:t> at 100. </a:t>
            </a:r>
          </a:p>
          <a:p>
            <a:pPr marL="0" indent="0">
              <a:lnSpc>
                <a:spcPct val="100000"/>
              </a:lnSpc>
              <a:spcBef>
                <a:spcPts val="0"/>
              </a:spcBef>
              <a:buSzPts val="3000"/>
              <a:buNone/>
            </a:pPr>
            <a:r>
              <a:rPr lang="en-US" sz="1800" dirty="0">
                <a:latin typeface="Arial"/>
                <a:ea typeface="Arial"/>
                <a:cs typeface="Arial"/>
                <a:sym typeface="Arial"/>
              </a:rPr>
              <a:t>The </a:t>
            </a:r>
            <a:r>
              <a:rPr lang="en-US" sz="1800" b="1" dirty="0">
                <a:latin typeface="Arial"/>
                <a:ea typeface="Arial"/>
                <a:cs typeface="Arial"/>
                <a:sym typeface="Arial"/>
              </a:rPr>
              <a:t>a* axis </a:t>
            </a:r>
            <a:r>
              <a:rPr lang="en-US" sz="1800" dirty="0">
                <a:latin typeface="Arial"/>
                <a:ea typeface="Arial"/>
                <a:cs typeface="Arial"/>
                <a:sym typeface="Arial"/>
              </a:rPr>
              <a:t>is relative to the </a:t>
            </a:r>
            <a:r>
              <a:rPr lang="en-US" sz="1800" b="1" dirty="0">
                <a:latin typeface="Arial"/>
                <a:ea typeface="Arial"/>
                <a:cs typeface="Arial"/>
                <a:sym typeface="Arial"/>
              </a:rPr>
              <a:t>green–red </a:t>
            </a:r>
            <a:r>
              <a:rPr lang="en-US" sz="1800" dirty="0">
                <a:latin typeface="Arial"/>
                <a:ea typeface="Arial"/>
                <a:cs typeface="Arial"/>
                <a:sym typeface="Arial"/>
              </a:rPr>
              <a:t>opponent colors, with negative values toward green and positive values toward red. </a:t>
            </a:r>
          </a:p>
          <a:p>
            <a:pPr marL="0" indent="0">
              <a:lnSpc>
                <a:spcPct val="100000"/>
              </a:lnSpc>
              <a:spcBef>
                <a:spcPts val="0"/>
              </a:spcBef>
              <a:buSzPts val="3000"/>
              <a:buNone/>
            </a:pPr>
            <a:r>
              <a:rPr lang="en-US" sz="1800" dirty="0">
                <a:latin typeface="Arial"/>
                <a:ea typeface="Arial"/>
                <a:cs typeface="Arial"/>
                <a:sym typeface="Arial"/>
              </a:rPr>
              <a:t>The </a:t>
            </a:r>
            <a:r>
              <a:rPr lang="en-US" sz="1800" b="1" dirty="0">
                <a:latin typeface="Arial"/>
                <a:ea typeface="Arial"/>
                <a:cs typeface="Arial"/>
                <a:sym typeface="Arial"/>
              </a:rPr>
              <a:t>b* axis </a:t>
            </a:r>
            <a:r>
              <a:rPr lang="en-US" sz="1800" dirty="0">
                <a:latin typeface="Arial"/>
                <a:ea typeface="Arial"/>
                <a:cs typeface="Arial"/>
                <a:sym typeface="Arial"/>
              </a:rPr>
              <a:t>represents the </a:t>
            </a:r>
            <a:r>
              <a:rPr lang="en-US" sz="1800" b="1" dirty="0">
                <a:latin typeface="Arial"/>
                <a:ea typeface="Arial"/>
                <a:cs typeface="Arial"/>
                <a:sym typeface="Arial"/>
              </a:rPr>
              <a:t>blue–yellow </a:t>
            </a:r>
            <a:r>
              <a:rPr lang="en-US" sz="1800" dirty="0">
                <a:latin typeface="Arial"/>
                <a:ea typeface="Arial"/>
                <a:cs typeface="Arial"/>
                <a:sym typeface="Arial"/>
              </a:rPr>
              <a:t>opponents, with negative numbers toward blue and positive toward yellow.</a:t>
            </a:r>
          </a:p>
        </p:txBody>
      </p:sp>
      <p:sp>
        <p:nvSpPr>
          <p:cNvPr id="119" name="Google Shape;119;p29">
            <a:extLst>
              <a:ext uri="{FF2B5EF4-FFF2-40B4-BE49-F238E27FC236}">
                <a16:creationId xmlns:a16="http://schemas.microsoft.com/office/drawing/2014/main" id="{1049A639-4B4E-6835-C81D-AAA2225CAF0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5D081E5-54B3-3924-2B74-D0DDD38B409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E3E7D70-05DD-75EF-5681-1F62D3A776F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67139E9-E9E6-7966-915D-2F6A20977F1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E6FEE00-556A-76D8-1B1A-8031D3A41D0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ACBBBC5-5731-C6AA-4D88-A3E66C67FA4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DFF90A8-8E09-D66E-B790-A9D33430964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35C59DE-AF37-EC18-B6DD-EB5012A9D74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3" name="TextBox 2">
            <a:extLst>
              <a:ext uri="{FF2B5EF4-FFF2-40B4-BE49-F238E27FC236}">
                <a16:creationId xmlns:a16="http://schemas.microsoft.com/office/drawing/2014/main" id="{976D4B0A-9C3F-129F-D0B9-7788788EAC79}"/>
              </a:ext>
            </a:extLst>
          </p:cNvPr>
          <p:cNvSpPr txBox="1"/>
          <p:nvPr/>
        </p:nvSpPr>
        <p:spPr>
          <a:xfrm>
            <a:off x="8124955" y="6355316"/>
            <a:ext cx="2965959" cy="246221"/>
          </a:xfrm>
          <a:prstGeom prst="rect">
            <a:avLst/>
          </a:prstGeom>
          <a:noFill/>
        </p:spPr>
        <p:txBody>
          <a:bodyPr wrap="square">
            <a:spAutoFit/>
          </a:bodyPr>
          <a:lstStyle/>
          <a:p>
            <a:pPr algn="ctr"/>
            <a:r>
              <a:rPr lang="en-US" sz="1000" dirty="0">
                <a:hlinkClick r:id="rId4"/>
              </a:rPr>
              <a:t>https://en.wikipedia.org/wiki/CIELAB_color_space</a:t>
            </a:r>
            <a:r>
              <a:rPr lang="en-US" sz="1000" dirty="0"/>
              <a:t> </a:t>
            </a:r>
          </a:p>
        </p:txBody>
      </p:sp>
      <p:pic>
        <p:nvPicPr>
          <p:cNvPr id="12" name="Picture 11">
            <a:extLst>
              <a:ext uri="{FF2B5EF4-FFF2-40B4-BE49-F238E27FC236}">
                <a16:creationId xmlns:a16="http://schemas.microsoft.com/office/drawing/2014/main" id="{C26F9AA7-B35C-8A6F-B8EB-91A4578A80E6}"/>
              </a:ext>
            </a:extLst>
          </p:cNvPr>
          <p:cNvPicPr>
            <a:picLocks noChangeAspect="1"/>
          </p:cNvPicPr>
          <p:nvPr/>
        </p:nvPicPr>
        <p:blipFill>
          <a:blip r:embed="rId5"/>
          <a:stretch>
            <a:fillRect/>
          </a:stretch>
        </p:blipFill>
        <p:spPr>
          <a:xfrm>
            <a:off x="8124955" y="3624695"/>
            <a:ext cx="2688336" cy="2688336"/>
          </a:xfrm>
          <a:prstGeom prst="rect">
            <a:avLst/>
          </a:prstGeom>
        </p:spPr>
      </p:pic>
      <p:pic>
        <p:nvPicPr>
          <p:cNvPr id="14" name="Picture 13">
            <a:extLst>
              <a:ext uri="{FF2B5EF4-FFF2-40B4-BE49-F238E27FC236}">
                <a16:creationId xmlns:a16="http://schemas.microsoft.com/office/drawing/2014/main" id="{D2AA05EC-F333-E110-32DC-1E4D05FF14F6}"/>
              </a:ext>
            </a:extLst>
          </p:cNvPr>
          <p:cNvPicPr>
            <a:picLocks noChangeAspect="1"/>
          </p:cNvPicPr>
          <p:nvPr/>
        </p:nvPicPr>
        <p:blipFill>
          <a:blip r:embed="rId6"/>
          <a:stretch>
            <a:fillRect/>
          </a:stretch>
        </p:blipFill>
        <p:spPr>
          <a:xfrm>
            <a:off x="8122207" y="900916"/>
            <a:ext cx="2691084" cy="2691084"/>
          </a:xfrm>
          <a:prstGeom prst="rect">
            <a:avLst/>
          </a:prstGeom>
        </p:spPr>
      </p:pic>
    </p:spTree>
    <p:extLst>
      <p:ext uri="{BB962C8B-B14F-4D97-AF65-F5344CB8AC3E}">
        <p14:creationId xmlns:p14="http://schemas.microsoft.com/office/powerpoint/2010/main" val="35623063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1E4BC80-07CC-3006-2306-FDFB1C932CE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FF36F9C-EB6F-317D-91F6-71C5664D8F4C}"/>
              </a:ext>
            </a:extLst>
          </p:cNvPr>
          <p:cNvSpPr txBox="1">
            <a:spLocks noGrp="1"/>
          </p:cNvSpPr>
          <p:nvPr>
            <p:ph type="body" idx="1"/>
          </p:nvPr>
        </p:nvSpPr>
        <p:spPr>
          <a:xfrm>
            <a:off x="376809" y="1334279"/>
            <a:ext cx="624992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rial"/>
                <a:ea typeface="Arial"/>
                <a:cs typeface="Arial"/>
                <a:sym typeface="Arial"/>
              </a:rPr>
              <a:t>The lightness value, L* in CIELAB is calculated using the cube root of the relative luminance with an offset near black. </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This results in an effective power curve with an exponent of approximately 0.43 which represents the human eye's response to light under daylight (photopic) conditions.</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The a* and b* axes are unbounded and depending on the reference white they can easily exceed ±150 to cover the human gamut (range).</a:t>
            </a:r>
          </a:p>
          <a:p>
            <a:pPr marL="0" indent="0">
              <a:lnSpc>
                <a:spcPct val="100000"/>
              </a:lnSpc>
              <a:spcBef>
                <a:spcPts val="0"/>
              </a:spcBef>
              <a:buSzPts val="3000"/>
              <a:buNone/>
            </a:pPr>
            <a:r>
              <a:rPr lang="en-US" sz="1800" dirty="0">
                <a:latin typeface="Arial"/>
                <a:ea typeface="Arial"/>
                <a:cs typeface="Arial"/>
                <a:sym typeface="Arial"/>
              </a:rPr>
              <a:t> </a:t>
            </a:r>
          </a:p>
          <a:p>
            <a:pPr marL="0" indent="0">
              <a:lnSpc>
                <a:spcPct val="100000"/>
              </a:lnSpc>
              <a:spcBef>
                <a:spcPts val="0"/>
              </a:spcBef>
              <a:buSzPts val="3000"/>
              <a:buNone/>
            </a:pPr>
            <a:r>
              <a:rPr lang="en-US" sz="1800" dirty="0">
                <a:latin typeface="Arial"/>
                <a:ea typeface="Arial"/>
                <a:cs typeface="Arial"/>
                <a:sym typeface="Arial"/>
              </a:rPr>
              <a:t>Nevertheless, software implementations often clamp these values for practical reasons. For instance, if integer math is being used it is common to clamp a* and b* in the range of −128 to 127.</a:t>
            </a:r>
          </a:p>
        </p:txBody>
      </p:sp>
      <p:sp>
        <p:nvSpPr>
          <p:cNvPr id="119" name="Google Shape;119;p29">
            <a:extLst>
              <a:ext uri="{FF2B5EF4-FFF2-40B4-BE49-F238E27FC236}">
                <a16:creationId xmlns:a16="http://schemas.microsoft.com/office/drawing/2014/main" id="{1BDB5FEE-EADD-86EE-04E3-5C2FFB60B66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119C998-B051-71F2-9F86-5C079A60300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4DAAE4B-7CB3-E009-7E41-A17D3B4F2EC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596A8F0-CF2E-F349-4A33-C66DCFE6FCC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964B9FF-C05C-49AA-B8DD-13F6EEAF2B1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D993EDC-87B0-721D-9C78-8B323BE725C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9C7DFC9-FE6A-A3FB-4A90-169EE060F43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4BE4DE2-9BB4-3AD5-B456-CC3D775BF57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 name="Picture 1">
            <a:extLst>
              <a:ext uri="{FF2B5EF4-FFF2-40B4-BE49-F238E27FC236}">
                <a16:creationId xmlns:a16="http://schemas.microsoft.com/office/drawing/2014/main" id="{65C38C90-2230-46A9-529F-C754AA363B8E}"/>
              </a:ext>
            </a:extLst>
          </p:cNvPr>
          <p:cNvPicPr>
            <a:picLocks noChangeAspect="1"/>
          </p:cNvPicPr>
          <p:nvPr/>
        </p:nvPicPr>
        <p:blipFill>
          <a:blip r:embed="rId4"/>
          <a:stretch>
            <a:fillRect/>
          </a:stretch>
        </p:blipFill>
        <p:spPr>
          <a:xfrm>
            <a:off x="8124955" y="3624695"/>
            <a:ext cx="2688336" cy="2688336"/>
          </a:xfrm>
          <a:prstGeom prst="rect">
            <a:avLst/>
          </a:prstGeom>
        </p:spPr>
      </p:pic>
      <p:pic>
        <p:nvPicPr>
          <p:cNvPr id="4" name="Picture 3">
            <a:extLst>
              <a:ext uri="{FF2B5EF4-FFF2-40B4-BE49-F238E27FC236}">
                <a16:creationId xmlns:a16="http://schemas.microsoft.com/office/drawing/2014/main" id="{D1FD9546-DC56-C2E1-82B5-993921386BDC}"/>
              </a:ext>
            </a:extLst>
          </p:cNvPr>
          <p:cNvPicPr>
            <a:picLocks noChangeAspect="1"/>
          </p:cNvPicPr>
          <p:nvPr/>
        </p:nvPicPr>
        <p:blipFill>
          <a:blip r:embed="rId5"/>
          <a:stretch>
            <a:fillRect/>
          </a:stretch>
        </p:blipFill>
        <p:spPr>
          <a:xfrm>
            <a:off x="8122207" y="900916"/>
            <a:ext cx="2691084" cy="2691084"/>
          </a:xfrm>
          <a:prstGeom prst="rect">
            <a:avLst/>
          </a:prstGeom>
        </p:spPr>
      </p:pic>
      <p:sp>
        <p:nvSpPr>
          <p:cNvPr id="5" name="TextBox 4">
            <a:extLst>
              <a:ext uri="{FF2B5EF4-FFF2-40B4-BE49-F238E27FC236}">
                <a16:creationId xmlns:a16="http://schemas.microsoft.com/office/drawing/2014/main" id="{60A72866-12CA-4B31-C655-22FCDED7F17B}"/>
              </a:ext>
            </a:extLst>
          </p:cNvPr>
          <p:cNvSpPr txBox="1"/>
          <p:nvPr/>
        </p:nvSpPr>
        <p:spPr>
          <a:xfrm>
            <a:off x="8124955" y="6355316"/>
            <a:ext cx="2965959" cy="246221"/>
          </a:xfrm>
          <a:prstGeom prst="rect">
            <a:avLst/>
          </a:prstGeom>
          <a:noFill/>
        </p:spPr>
        <p:txBody>
          <a:bodyPr wrap="square">
            <a:spAutoFit/>
          </a:bodyPr>
          <a:lstStyle/>
          <a:p>
            <a:pPr algn="ctr"/>
            <a:r>
              <a:rPr lang="en-US" sz="1000" dirty="0">
                <a:hlinkClick r:id="rId6"/>
              </a:rPr>
              <a:t>https://en.wikipedia.org/wiki/CIELAB_color_space</a:t>
            </a:r>
            <a:r>
              <a:rPr lang="en-US" sz="1000" dirty="0"/>
              <a:t> </a:t>
            </a:r>
          </a:p>
        </p:txBody>
      </p:sp>
    </p:spTree>
    <p:extLst>
      <p:ext uri="{BB962C8B-B14F-4D97-AF65-F5344CB8AC3E}">
        <p14:creationId xmlns:p14="http://schemas.microsoft.com/office/powerpoint/2010/main" val="1005032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DB484AAD-6462-0D61-8ADB-BFA994E47AEB}"/>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E790E130-4B81-C660-34AD-8BBC83AD20AA}"/>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Blob detection</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73379A89-A450-3CEB-99CD-B1E64AEF2217}"/>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2780018A-F4DE-87B2-9957-973EE8C3272C}"/>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C1315027-83A9-996B-3680-7B9C72490DAC}"/>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DC547E27-F7EF-DBFE-646A-4FF75CB10A93}"/>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D738CAC0-9803-C5F1-AC0B-623965C769B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209EA818-0007-440F-B530-158F2ADFDBA2}"/>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CEB08EFC-8792-FED2-E5EB-0C0F02CD5721}"/>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64ADE775-37AD-CBE1-1E73-E282F7273B6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54AC5CBA-58A8-512D-3552-64B7E48495E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46609072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4DBAAC9-CCB4-0CF3-4701-6CB8DB392D1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983E7DB-1916-A4B9-AE29-357DBA6131F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372B080-4D5A-132E-6F00-D991F577AFF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A3B06F3-8B75-3470-1D0F-94BFD0EF570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55C6AAD-CB43-BAD1-BF97-3E1702FF2A7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C0F60F8-11F1-2EEB-5B69-2D43999DA37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98C5C3E-079C-A4A8-6F6C-DC3FCC9ADF7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AB9D8A8-242F-CC71-411E-C45167766C6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7F2C249-3295-6AD0-36D1-9BA7DB44C7B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AE05105A-68F1-3D08-DB16-EBFF7C58599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7117" y="1032005"/>
            <a:ext cx="10397766" cy="5405055"/>
          </a:xfrm>
          <a:prstGeom prst="rect">
            <a:avLst/>
          </a:prstGeom>
        </p:spPr>
      </p:pic>
      <p:sp>
        <p:nvSpPr>
          <p:cNvPr id="2" name="Rectangle 1">
            <a:extLst>
              <a:ext uri="{FF2B5EF4-FFF2-40B4-BE49-F238E27FC236}">
                <a16:creationId xmlns:a16="http://schemas.microsoft.com/office/drawing/2014/main" id="{8AEF13F9-05C9-6C5F-2244-88C424AB71D8}"/>
              </a:ext>
            </a:extLst>
          </p:cNvPr>
          <p:cNvSpPr/>
          <p:nvPr/>
        </p:nvSpPr>
        <p:spPr>
          <a:xfrm>
            <a:off x="6437033" y="1527729"/>
            <a:ext cx="1931111" cy="4732926"/>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3232977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9A98158-B07D-286E-4E45-98FB552FCFD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9524A58-95AB-F400-2140-E123DC71BFA7}"/>
              </a:ext>
            </a:extLst>
          </p:cNvPr>
          <p:cNvSpPr txBox="1">
            <a:spLocks noGrp="1"/>
          </p:cNvSpPr>
          <p:nvPr>
            <p:ph type="body" idx="1"/>
          </p:nvPr>
        </p:nvSpPr>
        <p:spPr>
          <a:xfrm>
            <a:off x="376809" y="1334279"/>
            <a:ext cx="1159351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rial"/>
                <a:ea typeface="Arial"/>
                <a:cs typeface="Arial"/>
                <a:sym typeface="Arial"/>
              </a:rPr>
              <a:t>Once we convert our image to HSV, we apply a </a:t>
            </a:r>
            <a:r>
              <a:rPr lang="en-US" sz="2400" b="1" dirty="0">
                <a:latin typeface="Arial"/>
                <a:ea typeface="Arial"/>
                <a:cs typeface="Arial"/>
                <a:sym typeface="Arial"/>
              </a:rPr>
              <a:t>Threshold. </a:t>
            </a:r>
          </a:p>
          <a:p>
            <a:pPr marL="0" indent="0">
              <a:lnSpc>
                <a:spcPct val="100000"/>
              </a:lnSpc>
              <a:spcBef>
                <a:spcPts val="0"/>
              </a:spcBef>
              <a:buSzPts val="3000"/>
              <a:buNone/>
            </a:pPr>
            <a:endParaRPr lang="en-US" sz="2400" b="1"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We evaluate at every single pixel: “Does this pixel’s CIELAB fall within my target red range?”</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If YES -&gt; Pixel becomes 1 ( Whites)</a:t>
            </a:r>
          </a:p>
          <a:p>
            <a:pPr marL="0" indent="0">
              <a:lnSpc>
                <a:spcPct val="100000"/>
              </a:lnSpc>
              <a:spcBef>
                <a:spcPts val="0"/>
              </a:spcBef>
              <a:buSzPts val="3000"/>
              <a:buNone/>
            </a:pPr>
            <a:r>
              <a:rPr lang="en-US" sz="2400" dirty="0">
                <a:latin typeface="Arial"/>
                <a:ea typeface="Arial"/>
                <a:cs typeface="Arial"/>
                <a:sym typeface="Arial"/>
              </a:rPr>
              <a:t>If NO -&gt; Pixel becomes 0 (Black).</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The result is a </a:t>
            </a:r>
            <a:r>
              <a:rPr lang="en-US" sz="2400" b="1" dirty="0">
                <a:latin typeface="Arial"/>
                <a:ea typeface="Arial"/>
                <a:cs typeface="Arial"/>
                <a:sym typeface="Arial"/>
              </a:rPr>
              <a:t>Binary Mask</a:t>
            </a:r>
            <a:r>
              <a:rPr lang="en-US" sz="2400" dirty="0">
                <a:latin typeface="Arial"/>
                <a:ea typeface="Arial"/>
                <a:cs typeface="Arial"/>
                <a:sym typeface="Arial"/>
              </a:rPr>
              <a:t>.</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We have thrown away all useless data and kept only the target representation.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Does thresholding tell us exactly where the ball is?</a:t>
            </a:r>
          </a:p>
        </p:txBody>
      </p:sp>
      <p:sp>
        <p:nvSpPr>
          <p:cNvPr id="119" name="Google Shape;119;p29">
            <a:extLst>
              <a:ext uri="{FF2B5EF4-FFF2-40B4-BE49-F238E27FC236}">
                <a16:creationId xmlns:a16="http://schemas.microsoft.com/office/drawing/2014/main" id="{7F3FCBFC-C24D-0C34-1898-BDC3577E1D1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624727E-10EE-2ED1-48D1-5D7468BB28A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234DBF2-9F6A-9983-D94B-AAACC9D6F1B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286C32D-8AFB-9C10-256F-D38D45ECA81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2F63F3A-7EE7-41EB-8055-F58B3E8BA31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D62D6B3-EF47-9C98-7C3A-74C42A74B8B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E6BDBFA-5368-453B-8298-EA04443157B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923AE2A-562F-5A3A-6A9F-2ACF19174D9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06580965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4316482-13BC-80BE-A0AE-5D5B7256183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08B1A1D-904C-8EAA-F960-A5865176E883}"/>
              </a:ext>
            </a:extLst>
          </p:cNvPr>
          <p:cNvSpPr txBox="1">
            <a:spLocks noGrp="1"/>
          </p:cNvSpPr>
          <p:nvPr>
            <p:ph type="body" idx="1"/>
          </p:nvPr>
        </p:nvSpPr>
        <p:spPr>
          <a:xfrm>
            <a:off x="376809" y="1334279"/>
            <a:ext cx="1159351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rial"/>
                <a:ea typeface="Arial"/>
                <a:cs typeface="Arial"/>
                <a:sym typeface="Arial"/>
              </a:rPr>
              <a:t>A "Blob" (Binary Large Object) is a contiguous group of connected white pixels in our binary mask.</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Blob detection algorithms scan the image to find these groupings and label them as distinct physical objects.</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This is known computationally as </a:t>
            </a:r>
            <a:r>
              <a:rPr lang="en-US" sz="2400" b="1" dirty="0">
                <a:latin typeface="Arial"/>
                <a:ea typeface="Arial"/>
                <a:cs typeface="Arial"/>
                <a:sym typeface="Arial"/>
              </a:rPr>
              <a:t>Connected Component Labeling (CCL)</a:t>
            </a:r>
            <a:r>
              <a:rPr lang="en-US" sz="2400" dirty="0">
                <a:latin typeface="Arial"/>
                <a:ea typeface="Arial"/>
                <a:cs typeface="Arial"/>
                <a:sym typeface="Arial"/>
              </a:rPr>
              <a:t>.</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What simple graph algorithm can you think of could potentially help us?</a:t>
            </a:r>
          </a:p>
        </p:txBody>
      </p:sp>
      <p:sp>
        <p:nvSpPr>
          <p:cNvPr id="119" name="Google Shape;119;p29">
            <a:extLst>
              <a:ext uri="{FF2B5EF4-FFF2-40B4-BE49-F238E27FC236}">
                <a16:creationId xmlns:a16="http://schemas.microsoft.com/office/drawing/2014/main" id="{92CB5E11-4190-944A-9BD4-ABFFE5EED12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5057BBB-CD8B-BCA1-728B-A1F56E78568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8619173-5BF3-BAA6-AF67-CD80AEB0BA4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0DC7947-F6E7-801F-13B7-AD37CB487DE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9A1E7A1-AB23-2BBD-DB63-219C596310F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F01FE3E-3D2A-A546-C9F3-CEC67C382F7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C2319C3-103A-9FA2-6F07-6F1D00197C3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897934A-01C2-047F-8CAB-7C272834A87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98412954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B4AEF3C-325B-5939-1225-7EAFAD9DDCE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A0C34BE-74E1-9C48-EDCB-632207F540F3}"/>
              </a:ext>
            </a:extLst>
          </p:cNvPr>
          <p:cNvSpPr txBox="1">
            <a:spLocks noGrp="1"/>
          </p:cNvSpPr>
          <p:nvPr>
            <p:ph type="body" idx="1"/>
          </p:nvPr>
        </p:nvSpPr>
        <p:spPr>
          <a:xfrm>
            <a:off x="376809" y="1334279"/>
            <a:ext cx="1159351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rial"/>
                <a:ea typeface="Arial"/>
                <a:cs typeface="Arial"/>
                <a:sym typeface="Arial"/>
              </a:rPr>
              <a:t>The simplest implementation of the algorithm for the Connected Components work is as following:</a:t>
            </a:r>
          </a:p>
          <a:p>
            <a:pPr marL="0" indent="0">
              <a:lnSpc>
                <a:spcPct val="100000"/>
              </a:lnSpc>
              <a:spcBef>
                <a:spcPts val="0"/>
              </a:spcBef>
              <a:buSzPts val="3000"/>
              <a:buNone/>
            </a:pPr>
            <a:endParaRPr lang="en-US" sz="2400" dirty="0">
              <a:latin typeface="Arial"/>
              <a:ea typeface="Arial"/>
              <a:cs typeface="Arial"/>
              <a:sym typeface="Arial"/>
            </a:endParaRPr>
          </a:p>
          <a:p>
            <a:pPr indent="-457200">
              <a:lnSpc>
                <a:spcPct val="100000"/>
              </a:lnSpc>
              <a:spcBef>
                <a:spcPts val="0"/>
              </a:spcBef>
              <a:buSzPts val="3000"/>
              <a:buFont typeface="+mj-lt"/>
              <a:buAutoNum type="arabicPeriod"/>
            </a:pPr>
            <a:r>
              <a:rPr lang="en-US" sz="2400" dirty="0">
                <a:latin typeface="Arial"/>
                <a:ea typeface="Arial"/>
                <a:cs typeface="Arial"/>
                <a:sym typeface="Arial"/>
              </a:rPr>
              <a:t>The algorithm scans the image pixel by pixel (raster scan).</a:t>
            </a:r>
          </a:p>
          <a:p>
            <a:pPr indent="-457200">
              <a:lnSpc>
                <a:spcPct val="100000"/>
              </a:lnSpc>
              <a:spcBef>
                <a:spcPts val="0"/>
              </a:spcBef>
              <a:buSzPts val="3000"/>
              <a:buFont typeface="+mj-lt"/>
              <a:buAutoNum type="arabicPeriod"/>
            </a:pPr>
            <a:r>
              <a:rPr lang="en-US" sz="2400" dirty="0">
                <a:latin typeface="Arial"/>
                <a:ea typeface="Arial"/>
                <a:cs typeface="Arial"/>
                <a:sym typeface="Arial"/>
              </a:rPr>
              <a:t>When it finds a '1', it checks the neighboring pixels (usually 4-connectivity or 8-connectivity).</a:t>
            </a:r>
          </a:p>
          <a:p>
            <a:pPr indent="-457200">
              <a:lnSpc>
                <a:spcPct val="100000"/>
              </a:lnSpc>
              <a:spcBef>
                <a:spcPts val="0"/>
              </a:spcBef>
              <a:buSzPts val="3000"/>
              <a:buFont typeface="+mj-lt"/>
              <a:buAutoNum type="arabicPeriod"/>
            </a:pPr>
            <a:r>
              <a:rPr lang="en-US" sz="2400" dirty="0">
                <a:latin typeface="Arial"/>
                <a:ea typeface="Arial"/>
                <a:cs typeface="Arial"/>
                <a:sym typeface="Arial"/>
              </a:rPr>
              <a:t>If a neighbor is also a '1', it assigns them the same "Label" (e.g., Object A).</a:t>
            </a:r>
          </a:p>
          <a:p>
            <a:pPr indent="-457200">
              <a:lnSpc>
                <a:spcPct val="100000"/>
              </a:lnSpc>
              <a:spcBef>
                <a:spcPts val="0"/>
              </a:spcBef>
              <a:buSzPts val="3000"/>
              <a:buFont typeface="+mj-lt"/>
              <a:buAutoNum type="arabicPeriod"/>
            </a:pPr>
            <a:r>
              <a:rPr lang="en-US" sz="2400" dirty="0">
                <a:latin typeface="Arial"/>
                <a:ea typeface="Arial"/>
                <a:cs typeface="Arial"/>
                <a:sym typeface="Arial"/>
              </a:rPr>
              <a:t>It uses a "Union-Find" data structure to merge labels if two separate groups eventually connect.</a:t>
            </a:r>
          </a:p>
          <a:p>
            <a:pPr indent="-457200">
              <a:lnSpc>
                <a:spcPct val="100000"/>
              </a:lnSpc>
              <a:spcBef>
                <a:spcPts val="0"/>
              </a:spcBef>
              <a:buSzPts val="3000"/>
              <a:buFont typeface="+mj-lt"/>
              <a:buAutoNum type="arabicPeriod"/>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Otherwise, you can think of this as doing BFS (Breadth-First-Search) on every pixel! (The best algorithms do not do this exactly, but this is the simples way to explain)</a:t>
            </a:r>
          </a:p>
        </p:txBody>
      </p:sp>
      <p:sp>
        <p:nvSpPr>
          <p:cNvPr id="119" name="Google Shape;119;p29">
            <a:extLst>
              <a:ext uri="{FF2B5EF4-FFF2-40B4-BE49-F238E27FC236}">
                <a16:creationId xmlns:a16="http://schemas.microsoft.com/office/drawing/2014/main" id="{9087FFCA-7454-0452-CA71-7021B9DC095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F5516C5-528C-8A8C-7C77-023792ABCDF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8BB73C9-D2A5-706C-EAB0-5D68D899A91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8B72B2A-D6D9-7409-B741-39DE066A3D1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762ABA9-4768-AF8A-5E61-304446AAAAF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A23AFC3-DC9C-5C87-2D1F-D3E5A2967AE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A63B3BE-44A9-C26C-45C2-0B8AAE3461F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BFD8FC5-F1B4-F678-404C-72EAF116594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2699993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D56F10E-8B77-A367-66D0-785A223E79A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CFF1696-8936-47D3-B2DF-8AE28071FE73}"/>
              </a:ext>
            </a:extLst>
          </p:cNvPr>
          <p:cNvSpPr txBox="1">
            <a:spLocks noGrp="1"/>
          </p:cNvSpPr>
          <p:nvPr>
            <p:ph type="body" idx="1"/>
          </p:nvPr>
        </p:nvSpPr>
        <p:spPr>
          <a:xfrm>
            <a:off x="376809" y="1334279"/>
            <a:ext cx="1159351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rial"/>
                <a:ea typeface="Arial"/>
                <a:cs typeface="Arial"/>
                <a:sym typeface="Arial"/>
              </a:rPr>
              <a:t>Even with the color filtering, we can still get random glare or noise in the background that will create small fake blobs.</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How do we write a rule t ignore these false positives?</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Filter blob by </a:t>
            </a:r>
            <a:r>
              <a:rPr lang="en-US" sz="2400" b="1" dirty="0">
                <a:latin typeface="Arial"/>
                <a:ea typeface="Arial"/>
                <a:cs typeface="Arial"/>
                <a:sym typeface="Arial"/>
              </a:rPr>
              <a:t>Area </a:t>
            </a:r>
            <a:r>
              <a:rPr lang="en-US" sz="2400" dirty="0">
                <a:latin typeface="Arial"/>
                <a:ea typeface="Arial"/>
                <a:cs typeface="Arial"/>
                <a:sym typeface="Arial"/>
              </a:rPr>
              <a:t>(total pixel count), filter blob by </a:t>
            </a:r>
            <a:r>
              <a:rPr lang="en-US" sz="2400" b="1" dirty="0">
                <a:latin typeface="Arial"/>
                <a:ea typeface="Arial"/>
                <a:cs typeface="Arial"/>
                <a:sym typeface="Arial"/>
              </a:rPr>
              <a:t>shape </a:t>
            </a:r>
            <a:r>
              <a:rPr lang="en-US" sz="2400" dirty="0">
                <a:latin typeface="Arial"/>
                <a:ea typeface="Arial"/>
                <a:cs typeface="Arial"/>
                <a:sym typeface="Arial"/>
              </a:rPr>
              <a:t>(the more like a circle the more we want to keep it).</a:t>
            </a:r>
          </a:p>
          <a:p>
            <a:pPr marL="0" indent="0">
              <a:lnSpc>
                <a:spcPct val="100000"/>
              </a:lnSpc>
              <a:spcBef>
                <a:spcPts val="0"/>
              </a:spcBef>
              <a:buSzPts val="3000"/>
              <a:buNone/>
            </a:pPr>
            <a:endParaRPr lang="en-US" sz="2400" b="1"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If </a:t>
            </a:r>
            <a:r>
              <a:rPr lang="en-US" sz="2400" dirty="0" err="1">
                <a:latin typeface="Arial"/>
                <a:ea typeface="Arial"/>
                <a:cs typeface="Arial"/>
                <a:sym typeface="Arial"/>
              </a:rPr>
              <a:t>Blob.Area</a:t>
            </a:r>
            <a:r>
              <a:rPr lang="en-US" sz="2400" dirty="0">
                <a:latin typeface="Arial"/>
                <a:ea typeface="Arial"/>
                <a:cs typeface="Arial"/>
                <a:sym typeface="Arial"/>
              </a:rPr>
              <a:t> &lt; MIN_THRESHOLD, we discard it.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We only pass the largest valid blob to the next step.</a:t>
            </a:r>
          </a:p>
        </p:txBody>
      </p:sp>
      <p:sp>
        <p:nvSpPr>
          <p:cNvPr id="119" name="Google Shape;119;p29">
            <a:extLst>
              <a:ext uri="{FF2B5EF4-FFF2-40B4-BE49-F238E27FC236}">
                <a16:creationId xmlns:a16="http://schemas.microsoft.com/office/drawing/2014/main" id="{EBA4CA92-F4F9-916B-420E-A312232A4EA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24A7935-C3BD-808B-9BCB-FFD0CF3EFEC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13FB241-1BF8-4B57-8719-EB9F417246A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39A541E-761D-09D7-0F40-0D8BEA8AD17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2245E14-9E1E-69D0-33D9-3B3B9986D97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74448E7-ABBC-F6D9-D83A-EF0D97DCD72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714D3ED-5AB9-6E1C-C60F-0DD2D7C17B9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4C21B61-7E83-7146-5E0F-C6D1FB60F33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8588382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6" end="6"/>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EDF6DF9-122C-7262-22F2-6C8CDB974FE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E8A61CA5-8E51-95E1-8492-071964A72525}"/>
                  </a:ext>
                </a:extLst>
              </p:cNvPr>
              <p:cNvSpPr txBox="1">
                <a:spLocks noGrp="1"/>
              </p:cNvSpPr>
              <p:nvPr>
                <p:ph type="body" idx="1"/>
              </p:nvPr>
            </p:nvSpPr>
            <p:spPr>
              <a:xfrm>
                <a:off x="376809" y="1334279"/>
                <a:ext cx="1159351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We have found the blob representing our red ball, now where is it?</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We need its (X, Y) coordinate in the camera frame to steer the robot. We do this by calculating the </a:t>
                </a:r>
                <a:r>
                  <a:rPr lang="en-US" sz="2000" b="1" dirty="0">
                    <a:latin typeface="Arial"/>
                    <a:ea typeface="Arial"/>
                    <a:cs typeface="Arial"/>
                    <a:sym typeface="Arial"/>
                  </a:rPr>
                  <a:t>Centroid </a:t>
                </a:r>
                <a:r>
                  <a:rPr lang="en-US" sz="2000" dirty="0">
                    <a:latin typeface="Arial"/>
                    <a:ea typeface="Arial"/>
                    <a:cs typeface="Arial"/>
                    <a:sym typeface="Arial"/>
                  </a:rPr>
                  <a:t>(Center of Mass ) of the blob.</a:t>
                </a:r>
              </a:p>
              <a:p>
                <a:pPr marL="0" indent="0">
                  <a:lnSpc>
                    <a:spcPct val="100000"/>
                  </a:lnSpc>
                  <a:spcBef>
                    <a:spcPts val="0"/>
                  </a:spcBef>
                  <a:buSzPts val="3000"/>
                  <a:buNone/>
                </a:pPr>
                <a:endParaRPr lang="en-US" sz="2000" b="1"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We compute this using </a:t>
                </a:r>
                <a:r>
                  <a:rPr lang="en-US" sz="2000" b="1" dirty="0">
                    <a:latin typeface="Arial"/>
                    <a:ea typeface="Arial"/>
                    <a:cs typeface="Arial"/>
                    <a:sym typeface="Arial"/>
                  </a:rPr>
                  <a:t>Image Moments</a:t>
                </a:r>
                <a:r>
                  <a:rPr lang="en-US" sz="2000" dirty="0">
                    <a:latin typeface="Arial"/>
                    <a:ea typeface="Arial"/>
                    <a:cs typeface="Arial"/>
                    <a:sym typeface="Arial"/>
                  </a:rPr>
                  <a:t>.</a:t>
                </a:r>
              </a:p>
              <a:p>
                <a:pPr marL="0" indent="0">
                  <a:lnSpc>
                    <a:spcPct val="100000"/>
                  </a:lnSpc>
                  <a:spcBef>
                    <a:spcPts val="0"/>
                  </a:spcBef>
                  <a:buSzPts val="3000"/>
                  <a:buNone/>
                </a:pPr>
                <a:r>
                  <a:rPr lang="en-US" sz="2000" dirty="0">
                    <a:latin typeface="Arial"/>
                    <a:ea typeface="Arial"/>
                    <a:cs typeface="Arial"/>
                    <a:sym typeface="Arial"/>
                  </a:rPr>
                  <a:t>In computer vision, a discrete image moment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𝑀</m:t>
                        </m:r>
                      </m:e>
                      <m:sub>
                        <m:r>
                          <a:rPr lang="en-US" sz="2000" i="1" dirty="0" err="1" smtClean="0">
                            <a:latin typeface="Cambria Math" panose="02040503050406030204" pitchFamily="18" charset="0"/>
                            <a:ea typeface="Arial"/>
                            <a:cs typeface="Arial"/>
                            <a:sym typeface="Arial"/>
                          </a:rPr>
                          <m:t>𝑖𝑗</m:t>
                        </m:r>
                      </m:sub>
                    </m:sSub>
                  </m:oMath>
                </a14:m>
                <a:r>
                  <a:rPr lang="en-US" sz="2000" dirty="0">
                    <a:latin typeface="Arial"/>
                    <a:ea typeface="Arial"/>
                    <a:cs typeface="Arial"/>
                    <a:sym typeface="Arial"/>
                  </a:rPr>
                  <a:t> for a binary image </a:t>
                </a:r>
                <a14:m>
                  <m:oMath xmlns:m="http://schemas.openxmlformats.org/officeDocument/2006/math">
                    <m:r>
                      <a:rPr lang="en-US" sz="2000" i="1" dirty="0" smtClean="0">
                        <a:latin typeface="Cambria Math" panose="02040503050406030204" pitchFamily="18" charset="0"/>
                        <a:ea typeface="Arial"/>
                        <a:cs typeface="Arial"/>
                        <a:sym typeface="Arial"/>
                      </a:rPr>
                      <m:t>𝐼</m:t>
                    </m:r>
                    <m:d>
                      <m:dPr>
                        <m:ctrlPr>
                          <a:rPr lang="en-US" sz="2000" i="1" dirty="0" smtClean="0">
                            <a:latin typeface="Cambria Math" panose="02040503050406030204" pitchFamily="18" charset="0"/>
                            <a:ea typeface="Arial"/>
                            <a:cs typeface="Arial"/>
                            <a:sym typeface="Arial"/>
                          </a:rPr>
                        </m:ctrlPr>
                      </m:dPr>
                      <m:e>
                        <m:r>
                          <a:rPr lang="en-US" sz="2000" i="1" dirty="0" err="1" smtClean="0">
                            <a:latin typeface="Cambria Math" panose="02040503050406030204" pitchFamily="18" charset="0"/>
                            <a:ea typeface="Arial"/>
                            <a:cs typeface="Arial"/>
                            <a:sym typeface="Arial"/>
                          </a:rPr>
                          <m:t>𝑥</m:t>
                        </m:r>
                        <m:r>
                          <a:rPr lang="en-US" sz="2000" i="1" dirty="0" err="1" smtClean="0">
                            <a:latin typeface="Cambria Math" panose="02040503050406030204" pitchFamily="18" charset="0"/>
                            <a:ea typeface="Arial"/>
                            <a:cs typeface="Arial"/>
                            <a:sym typeface="Arial"/>
                          </a:rPr>
                          <m:t>,</m:t>
                        </m:r>
                        <m:r>
                          <a:rPr lang="en-US" sz="2000" i="1" dirty="0" err="1" smtClean="0">
                            <a:latin typeface="Cambria Math" panose="02040503050406030204" pitchFamily="18" charset="0"/>
                            <a:ea typeface="Arial"/>
                            <a:cs typeface="Arial"/>
                            <a:sym typeface="Arial"/>
                          </a:rPr>
                          <m:t>𝑦</m:t>
                        </m:r>
                      </m:e>
                    </m:d>
                  </m:oMath>
                </a14:m>
                <a:r>
                  <a:rPr lang="en-US" sz="2000" dirty="0">
                    <a:latin typeface="Arial"/>
                    <a:ea typeface="Arial"/>
                    <a:cs typeface="Arial"/>
                    <a:sym typeface="Arial"/>
                  </a:rPr>
                  <a:t> is defined as:</a:t>
                </a:r>
                <a:endParaRPr lang="en-US" sz="2000" i="1" dirty="0">
                  <a:latin typeface="Cambria Math" panose="02040503050406030204" pitchFamily="18" charset="0"/>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𝑀</m:t>
                          </m:r>
                        </m:e>
                        <m:sub>
                          <m:r>
                            <a:rPr lang="en-US" sz="2000" i="1" dirty="0" err="1" smtClean="0">
                              <a:latin typeface="Cambria Math" panose="02040503050406030204" pitchFamily="18" charset="0"/>
                              <a:ea typeface="Arial"/>
                              <a:cs typeface="Arial"/>
                              <a:sym typeface="Arial"/>
                            </a:rPr>
                            <m:t>𝑖𝑗</m:t>
                          </m:r>
                        </m:sub>
                      </m:sSub>
                      <m:r>
                        <a:rPr lang="en-US" sz="2000" i="1" dirty="0" smtClean="0">
                          <a:latin typeface="Cambria Math" panose="02040503050406030204" pitchFamily="18" charset="0"/>
                          <a:ea typeface="Arial"/>
                          <a:cs typeface="Arial"/>
                          <a:sym typeface="Arial"/>
                        </a:rPr>
                        <m:t>=</m:t>
                      </m:r>
                      <m:nary>
                        <m:naryPr>
                          <m:chr m:val="∑"/>
                          <m:supHide m:val="on"/>
                          <m:ctrlPr>
                            <a:rPr lang="en-US" sz="2000" i="1" dirty="0" smtClean="0">
                              <a:latin typeface="Cambria Math" panose="02040503050406030204" pitchFamily="18" charset="0"/>
                              <a:ea typeface="Arial"/>
                              <a:cs typeface="Arial"/>
                              <a:sym typeface="Arial"/>
                            </a:rPr>
                          </m:ctrlPr>
                        </m:naryPr>
                        <m:sub>
                          <m:r>
                            <a:rPr lang="en-US" sz="2000" i="1" dirty="0" smtClean="0">
                              <a:latin typeface="Cambria Math" panose="02040503050406030204" pitchFamily="18" charset="0"/>
                              <a:ea typeface="Arial"/>
                              <a:cs typeface="Arial"/>
                              <a:sym typeface="Arial"/>
                            </a:rPr>
                            <m:t>𝑥</m:t>
                          </m:r>
                        </m:sub>
                        <m:sup/>
                        <m:e>
                          <m:nary>
                            <m:naryPr>
                              <m:chr m:val="∑"/>
                              <m:supHide m:val="on"/>
                              <m:ctrlPr>
                                <a:rPr lang="en-US" sz="2000" i="1" dirty="0" smtClean="0">
                                  <a:latin typeface="Cambria Math" panose="02040503050406030204" pitchFamily="18" charset="0"/>
                                  <a:ea typeface="Arial"/>
                                  <a:cs typeface="Arial"/>
                                  <a:sym typeface="Arial"/>
                                </a:rPr>
                              </m:ctrlPr>
                            </m:naryPr>
                            <m:sub>
                              <m:r>
                                <a:rPr lang="en-US" sz="2000" i="1" dirty="0" smtClean="0">
                                  <a:latin typeface="Cambria Math" panose="02040503050406030204" pitchFamily="18" charset="0"/>
                                  <a:ea typeface="Arial"/>
                                  <a:cs typeface="Arial"/>
                                  <a:sym typeface="Arial"/>
                                </a:rPr>
                                <m:t>𝑦</m:t>
                              </m:r>
                            </m:sub>
                            <m:sup/>
                            <m:e>
                              <m:sSup>
                                <m:sSupPr>
                                  <m:ctrlPr>
                                    <a:rPr lang="en-US" sz="2000" i="1" dirty="0" err="1" smtClean="0">
                                      <a:latin typeface="Cambria Math" panose="02040503050406030204" pitchFamily="18" charset="0"/>
                                      <a:ea typeface="Arial"/>
                                      <a:cs typeface="Arial"/>
                                      <a:sym typeface="Arial"/>
                                    </a:rPr>
                                  </m:ctrlPr>
                                </m:sSupPr>
                                <m:e>
                                  <m:r>
                                    <a:rPr lang="en-US" sz="2000" i="1" dirty="0" err="1" smtClean="0">
                                      <a:latin typeface="Cambria Math" panose="02040503050406030204" pitchFamily="18" charset="0"/>
                                      <a:ea typeface="Arial"/>
                                      <a:cs typeface="Arial"/>
                                      <a:sym typeface="Arial"/>
                                    </a:rPr>
                                    <m:t>𝑥</m:t>
                                  </m:r>
                                </m:e>
                                <m:sup>
                                  <m:r>
                                    <a:rPr lang="en-US" sz="2000" i="1" dirty="0" err="1" smtClean="0">
                                      <a:latin typeface="Cambria Math" panose="02040503050406030204" pitchFamily="18" charset="0"/>
                                      <a:ea typeface="Arial"/>
                                      <a:cs typeface="Arial"/>
                                      <a:sym typeface="Arial"/>
                                    </a:rPr>
                                    <m:t>𝑖</m:t>
                                  </m:r>
                                </m:sup>
                              </m:sSup>
                              <m:sSup>
                                <m:sSupPr>
                                  <m:ctrlPr>
                                    <a:rPr lang="en-US" sz="2000" i="1" dirty="0" err="1" smtClean="0">
                                      <a:latin typeface="Cambria Math" panose="02040503050406030204" pitchFamily="18" charset="0"/>
                                      <a:ea typeface="Arial"/>
                                      <a:cs typeface="Arial"/>
                                      <a:sym typeface="Arial"/>
                                    </a:rPr>
                                  </m:ctrlPr>
                                </m:sSupPr>
                                <m:e>
                                  <m:r>
                                    <a:rPr lang="en-US" sz="2000" i="1" dirty="0" err="1" smtClean="0">
                                      <a:latin typeface="Cambria Math" panose="02040503050406030204" pitchFamily="18" charset="0"/>
                                      <a:ea typeface="Arial"/>
                                      <a:cs typeface="Arial"/>
                                      <a:sym typeface="Arial"/>
                                    </a:rPr>
                                    <m:t>𝑦</m:t>
                                  </m:r>
                                </m:e>
                                <m:sup>
                                  <m:r>
                                    <a:rPr lang="en-US" sz="2000" i="1" dirty="0" err="1" smtClean="0">
                                      <a:latin typeface="Cambria Math" panose="02040503050406030204" pitchFamily="18" charset="0"/>
                                      <a:ea typeface="Arial"/>
                                      <a:cs typeface="Arial"/>
                                      <a:sym typeface="Arial"/>
                                    </a:rPr>
                                    <m:t>𝑗</m:t>
                                  </m:r>
                                </m:sup>
                              </m:sSup>
                              <m:r>
                                <a:rPr lang="en-US" sz="2000" i="1" dirty="0" smtClean="0">
                                  <a:latin typeface="Cambria Math" panose="02040503050406030204" pitchFamily="18" charset="0"/>
                                  <a:ea typeface="Arial"/>
                                  <a:cs typeface="Arial"/>
                                  <a:sym typeface="Arial"/>
                                </a:rPr>
                                <m:t>𝐼</m:t>
                              </m:r>
                              <m:d>
                                <m:dPr>
                                  <m:ctrlPr>
                                    <a:rPr lang="en-US" sz="2000" i="1" dirty="0" smtClean="0">
                                      <a:latin typeface="Cambria Math" panose="02040503050406030204" pitchFamily="18" charset="0"/>
                                      <a:ea typeface="Arial"/>
                                      <a:cs typeface="Arial"/>
                                      <a:sym typeface="Arial"/>
                                    </a:rPr>
                                  </m:ctrlPr>
                                </m:dPr>
                                <m:e>
                                  <m:r>
                                    <a:rPr lang="en-US" sz="2000" i="1" dirty="0" err="1" smtClean="0">
                                      <a:latin typeface="Cambria Math" panose="02040503050406030204" pitchFamily="18" charset="0"/>
                                      <a:ea typeface="Arial"/>
                                      <a:cs typeface="Arial"/>
                                      <a:sym typeface="Arial"/>
                                    </a:rPr>
                                    <m:t>𝑥</m:t>
                                  </m:r>
                                  <m:r>
                                    <a:rPr lang="en-US" sz="2000" i="1" dirty="0" err="1" smtClean="0">
                                      <a:latin typeface="Cambria Math" panose="02040503050406030204" pitchFamily="18" charset="0"/>
                                      <a:ea typeface="Arial"/>
                                      <a:cs typeface="Arial"/>
                                      <a:sym typeface="Arial"/>
                                    </a:rPr>
                                    <m:t>,</m:t>
                                  </m:r>
                                  <m:r>
                                    <a:rPr lang="en-US" sz="2000" i="1" dirty="0" err="1" smtClean="0">
                                      <a:latin typeface="Cambria Math" panose="02040503050406030204" pitchFamily="18" charset="0"/>
                                      <a:ea typeface="Arial"/>
                                      <a:cs typeface="Arial"/>
                                      <a:sym typeface="Arial"/>
                                    </a:rPr>
                                    <m:t>𝑦</m:t>
                                  </m:r>
                                </m:e>
                              </m:d>
                            </m:e>
                          </m:nary>
                        </m:e>
                      </m:nary>
                    </m:oMath>
                  </m:oMathPara>
                </a14:m>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The 0</a:t>
                </a:r>
                <a:r>
                  <a:rPr lang="en-US" sz="2000" baseline="30000" dirty="0">
                    <a:latin typeface="Arial"/>
                    <a:ea typeface="Arial"/>
                    <a:cs typeface="Arial"/>
                    <a:sym typeface="Arial"/>
                  </a:rPr>
                  <a:t>th</a:t>
                </a:r>
                <a:r>
                  <a:rPr lang="en-US" sz="2000" dirty="0">
                    <a:latin typeface="Arial"/>
                    <a:ea typeface="Arial"/>
                    <a:cs typeface="Arial"/>
                    <a:sym typeface="Arial"/>
                  </a:rPr>
                  <a:t> moment,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𝑀</m:t>
                        </m:r>
                      </m:e>
                      <m:sub>
                        <m:r>
                          <a:rPr lang="en-US" sz="2000" i="1" dirty="0" smtClean="0">
                            <a:latin typeface="Cambria Math" panose="02040503050406030204" pitchFamily="18" charset="0"/>
                            <a:ea typeface="Arial"/>
                            <a:cs typeface="Arial"/>
                            <a:sym typeface="Arial"/>
                          </a:rPr>
                          <m:t>00</m:t>
                        </m:r>
                      </m:sub>
                    </m:sSub>
                  </m:oMath>
                </a14:m>
                <a:r>
                  <a:rPr lang="en-US" sz="2000" dirty="0">
                    <a:latin typeface="Arial"/>
                    <a:ea typeface="Arial"/>
                    <a:cs typeface="Arial"/>
                    <a:sym typeface="Arial"/>
                  </a:rPr>
                  <a:t>, sets </a:t>
                </a:r>
                <a14:m>
                  <m:oMath xmlns:m="http://schemas.openxmlformats.org/officeDocument/2006/math">
                    <m:r>
                      <a:rPr lang="en-US" sz="2000" i="1" dirty="0" err="1" smtClean="0">
                        <a:latin typeface="Cambria Math" panose="02040503050406030204" pitchFamily="18" charset="0"/>
                        <a:ea typeface="Arial"/>
                        <a:cs typeface="Arial"/>
                        <a:sym typeface="Arial"/>
                      </a:rPr>
                      <m:t>𝑖</m:t>
                    </m:r>
                    <m:r>
                      <a:rPr lang="en-US" sz="2000" i="1" dirty="0" smtClean="0">
                        <a:latin typeface="Cambria Math" panose="02040503050406030204" pitchFamily="18" charset="0"/>
                        <a:ea typeface="Arial"/>
                        <a:cs typeface="Arial"/>
                        <a:sym typeface="Arial"/>
                      </a:rPr>
                      <m:t>=0</m:t>
                    </m:r>
                  </m:oMath>
                </a14:m>
                <a:r>
                  <a:rPr lang="en-US" sz="2000" dirty="0">
                    <a:latin typeface="Arial"/>
                    <a:ea typeface="Arial"/>
                    <a:cs typeface="Arial"/>
                    <a:sym typeface="Arial"/>
                  </a:rPr>
                  <a:t> and </a:t>
                </a:r>
                <a14:m>
                  <m:oMath xmlns:m="http://schemas.openxmlformats.org/officeDocument/2006/math">
                    <m:r>
                      <a:rPr lang="en-US" sz="2000" i="1" dirty="0" smtClean="0">
                        <a:latin typeface="Cambria Math" panose="02040503050406030204" pitchFamily="18" charset="0"/>
                        <a:ea typeface="Arial"/>
                        <a:cs typeface="Arial"/>
                        <a:sym typeface="Arial"/>
                      </a:rPr>
                      <m:t>𝑗</m:t>
                    </m:r>
                    <m:r>
                      <a:rPr lang="en-US" sz="2000" i="1" dirty="0" smtClean="0">
                        <a:latin typeface="Cambria Math" panose="02040503050406030204" pitchFamily="18" charset="0"/>
                        <a:ea typeface="Arial"/>
                        <a:cs typeface="Arial"/>
                        <a:sym typeface="Arial"/>
                      </a:rPr>
                      <m:t>=0</m:t>
                    </m:r>
                  </m:oMath>
                </a14:m>
                <a:r>
                  <a:rPr lang="en-US" sz="2000" dirty="0">
                    <a:latin typeface="Arial"/>
                    <a:ea typeface="Arial"/>
                    <a:cs typeface="Arial"/>
                    <a:sym typeface="Arial"/>
                  </a:rPr>
                  <a:t>:</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𝑀</m:t>
                          </m:r>
                        </m:e>
                        <m:sub>
                          <m:r>
                            <a:rPr lang="en-US" sz="2000" i="1" dirty="0" smtClean="0">
                              <a:latin typeface="Cambria Math" panose="02040503050406030204" pitchFamily="18" charset="0"/>
                              <a:ea typeface="Arial"/>
                              <a:cs typeface="Arial"/>
                              <a:sym typeface="Arial"/>
                            </a:rPr>
                            <m:t>00</m:t>
                          </m:r>
                        </m:sub>
                      </m:sSub>
                      <m:r>
                        <a:rPr lang="en-US" sz="2000" i="1" dirty="0" smtClean="0">
                          <a:latin typeface="Cambria Math" panose="02040503050406030204" pitchFamily="18" charset="0"/>
                          <a:ea typeface="Arial"/>
                          <a:cs typeface="Arial"/>
                          <a:sym typeface="Arial"/>
                        </a:rPr>
                        <m:t>=</m:t>
                      </m:r>
                      <m:nary>
                        <m:naryPr>
                          <m:chr m:val="∑"/>
                          <m:supHide m:val="on"/>
                          <m:ctrlPr>
                            <a:rPr lang="en-US" sz="2000" i="1" dirty="0" smtClean="0">
                              <a:latin typeface="Cambria Math" panose="02040503050406030204" pitchFamily="18" charset="0"/>
                              <a:ea typeface="Arial"/>
                              <a:cs typeface="Arial"/>
                              <a:sym typeface="Arial"/>
                            </a:rPr>
                          </m:ctrlPr>
                        </m:naryPr>
                        <m:sub>
                          <m:r>
                            <a:rPr lang="en-US" sz="2000" i="1" dirty="0" smtClean="0">
                              <a:latin typeface="Cambria Math" panose="02040503050406030204" pitchFamily="18" charset="0"/>
                              <a:ea typeface="Arial"/>
                              <a:cs typeface="Arial"/>
                              <a:sym typeface="Arial"/>
                            </a:rPr>
                            <m:t>𝑥</m:t>
                          </m:r>
                        </m:sub>
                        <m:sup/>
                        <m:e>
                          <m:nary>
                            <m:naryPr>
                              <m:chr m:val="∑"/>
                              <m:supHide m:val="on"/>
                              <m:ctrlPr>
                                <a:rPr lang="en-US" sz="2000" i="1" dirty="0" smtClean="0">
                                  <a:latin typeface="Cambria Math" panose="02040503050406030204" pitchFamily="18" charset="0"/>
                                  <a:ea typeface="Arial"/>
                                  <a:cs typeface="Arial"/>
                                  <a:sym typeface="Arial"/>
                                </a:rPr>
                              </m:ctrlPr>
                            </m:naryPr>
                            <m:sub>
                              <m:r>
                                <a:rPr lang="en-US" sz="2000" i="1" dirty="0" smtClean="0">
                                  <a:latin typeface="Cambria Math" panose="02040503050406030204" pitchFamily="18" charset="0"/>
                                  <a:ea typeface="Arial"/>
                                  <a:cs typeface="Arial"/>
                                  <a:sym typeface="Arial"/>
                                </a:rPr>
                                <m:t>𝑦</m:t>
                              </m:r>
                            </m:sub>
                            <m:sup/>
                            <m:e>
                              <m:r>
                                <a:rPr lang="en-US" sz="2000" i="1" dirty="0" smtClean="0">
                                  <a:latin typeface="Cambria Math" panose="02040503050406030204" pitchFamily="18" charset="0"/>
                                  <a:ea typeface="Arial"/>
                                  <a:cs typeface="Arial"/>
                                  <a:sym typeface="Arial"/>
                                </a:rPr>
                                <m:t>𝐼</m:t>
                              </m:r>
                              <m:d>
                                <m:dPr>
                                  <m:ctrlPr>
                                    <a:rPr lang="en-US" sz="2000" i="1" dirty="0" smtClean="0">
                                      <a:latin typeface="Cambria Math" panose="02040503050406030204" pitchFamily="18" charset="0"/>
                                      <a:ea typeface="Arial"/>
                                      <a:cs typeface="Arial"/>
                                      <a:sym typeface="Arial"/>
                                    </a:rPr>
                                  </m:ctrlPr>
                                </m:dPr>
                                <m:e>
                                  <m:r>
                                    <a:rPr lang="en-US" sz="2000" i="1" dirty="0" err="1" smtClean="0">
                                      <a:latin typeface="Cambria Math" panose="02040503050406030204" pitchFamily="18" charset="0"/>
                                      <a:ea typeface="Arial"/>
                                      <a:cs typeface="Arial"/>
                                      <a:sym typeface="Arial"/>
                                    </a:rPr>
                                    <m:t>𝑥</m:t>
                                  </m:r>
                                  <m:r>
                                    <a:rPr lang="en-US" sz="2000" i="1" dirty="0" err="1" smtClean="0">
                                      <a:latin typeface="Cambria Math" panose="02040503050406030204" pitchFamily="18" charset="0"/>
                                      <a:ea typeface="Arial"/>
                                      <a:cs typeface="Arial"/>
                                      <a:sym typeface="Arial"/>
                                    </a:rPr>
                                    <m:t>,</m:t>
                                  </m:r>
                                  <m:r>
                                    <a:rPr lang="en-US" sz="2000" i="1" dirty="0" err="1" smtClean="0">
                                      <a:latin typeface="Cambria Math" panose="02040503050406030204" pitchFamily="18" charset="0"/>
                                      <a:ea typeface="Arial"/>
                                      <a:cs typeface="Arial"/>
                                      <a:sym typeface="Arial"/>
                                    </a:rPr>
                                    <m:t>𝑦</m:t>
                                  </m:r>
                                </m:e>
                              </m:d>
                            </m:e>
                          </m:nary>
                        </m:e>
                      </m:nary>
                    </m:oMath>
                  </m:oMathPara>
                </a14:m>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Because </a:t>
                </a:r>
                <a14:m>
                  <m:oMath xmlns:m="http://schemas.openxmlformats.org/officeDocument/2006/math">
                    <m:r>
                      <a:rPr lang="en-US" sz="2000" i="1" dirty="0" smtClean="0">
                        <a:latin typeface="Cambria Math" panose="02040503050406030204" pitchFamily="18" charset="0"/>
                        <a:ea typeface="Arial"/>
                        <a:cs typeface="Arial"/>
                        <a:sym typeface="Arial"/>
                      </a:rPr>
                      <m:t>𝐼</m:t>
                    </m:r>
                    <m:r>
                      <a:rPr lang="en-US" sz="2000" i="1" dirty="0" smtClean="0">
                        <a:latin typeface="Cambria Math" panose="02040503050406030204" pitchFamily="18" charset="0"/>
                        <a:ea typeface="Arial"/>
                        <a:cs typeface="Arial"/>
                        <a:sym typeface="Arial"/>
                      </a:rPr>
                      <m:t>(</m:t>
                    </m:r>
                    <m:r>
                      <a:rPr lang="en-US" sz="2000" i="1" dirty="0" err="1">
                        <a:latin typeface="Cambria Math" panose="02040503050406030204" pitchFamily="18" charset="0"/>
                        <a:ea typeface="Arial"/>
                        <a:cs typeface="Arial"/>
                        <a:sym typeface="Arial"/>
                      </a:rPr>
                      <m:t>𝑥</m:t>
                    </m:r>
                    <m:r>
                      <a:rPr lang="en-US" sz="2000" i="1" dirty="0" err="1">
                        <a:latin typeface="Cambria Math" panose="02040503050406030204" pitchFamily="18" charset="0"/>
                        <a:ea typeface="Arial"/>
                        <a:cs typeface="Arial"/>
                        <a:sym typeface="Arial"/>
                      </a:rPr>
                      <m:t>,</m:t>
                    </m:r>
                    <m:r>
                      <a:rPr lang="en-US" sz="2000" i="1" dirty="0" err="1">
                        <a:latin typeface="Cambria Math" panose="02040503050406030204" pitchFamily="18" charset="0"/>
                        <a:ea typeface="Arial"/>
                        <a:cs typeface="Arial"/>
                        <a:sym typeface="Arial"/>
                      </a:rPr>
                      <m:t>𝑦</m:t>
                    </m:r>
                    <m:r>
                      <a:rPr lang="en-US" sz="2000" i="1" dirty="0">
                        <a:latin typeface="Cambria Math" panose="02040503050406030204" pitchFamily="18" charset="0"/>
                        <a:ea typeface="Arial"/>
                        <a:cs typeface="Arial"/>
                        <a:sym typeface="Arial"/>
                      </a:rPr>
                      <m:t>)</m:t>
                    </m:r>
                  </m:oMath>
                </a14:m>
                <a:r>
                  <a:rPr lang="en-US" sz="2000" dirty="0">
                    <a:latin typeface="Arial"/>
                    <a:ea typeface="Arial"/>
                    <a:cs typeface="Arial"/>
                    <a:sym typeface="Arial"/>
                  </a:rPr>
                  <a:t>is either 1 or 0, </a:t>
                </a:r>
                <a14:m>
                  <m:oMath xmlns:m="http://schemas.openxmlformats.org/officeDocument/2006/math">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𝑀</m:t>
                        </m:r>
                      </m:e>
                      <m:sub>
                        <m:r>
                          <a:rPr lang="en-US" sz="2000" i="1" dirty="0">
                            <a:latin typeface="Cambria Math" panose="02040503050406030204" pitchFamily="18" charset="0"/>
                            <a:ea typeface="Arial"/>
                            <a:cs typeface="Arial"/>
                            <a:sym typeface="Arial"/>
                          </a:rPr>
                          <m:t>00</m:t>
                        </m:r>
                      </m:sub>
                    </m:sSub>
                  </m:oMath>
                </a14:m>
                <a:r>
                  <a:rPr lang="en-US" sz="2000" dirty="0">
                    <a:latin typeface="Arial"/>
                    <a:ea typeface="Arial"/>
                    <a:cs typeface="Arial"/>
                    <a:sym typeface="Arial"/>
                  </a:rPr>
                  <a:t> is simply the total sum of white pixels. </a:t>
                </a:r>
                <a14:m>
                  <m:oMath xmlns:m="http://schemas.openxmlformats.org/officeDocument/2006/math">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𝑀</m:t>
                        </m:r>
                      </m:e>
                      <m:sub>
                        <m:r>
                          <a:rPr lang="en-US" sz="2000" i="1" dirty="0">
                            <a:latin typeface="Cambria Math" panose="02040503050406030204" pitchFamily="18" charset="0"/>
                            <a:ea typeface="Arial"/>
                            <a:cs typeface="Arial"/>
                            <a:sym typeface="Arial"/>
                          </a:rPr>
                          <m:t>00</m:t>
                        </m:r>
                      </m:sub>
                    </m:sSub>
                    <m:r>
                      <a:rPr lang="en-US" sz="2000" b="0" i="1" dirty="0" smtClean="0">
                        <a:latin typeface="Cambria Math" panose="02040503050406030204" pitchFamily="18" charset="0"/>
                        <a:ea typeface="Arial"/>
                        <a:cs typeface="Arial"/>
                        <a:sym typeface="Arial"/>
                      </a:rPr>
                      <m:t>=</m:t>
                    </m:r>
                    <m:r>
                      <m:rPr>
                        <m:sty m:val="p"/>
                      </m:rPr>
                      <a:rPr lang="en-US" sz="2000" b="0" i="1" dirty="0" smtClean="0">
                        <a:latin typeface="Cambria Math" panose="02040503050406030204" pitchFamily="18" charset="0"/>
                        <a:ea typeface="Arial"/>
                        <a:cs typeface="Arial"/>
                        <a:sym typeface="Arial"/>
                      </a:rPr>
                      <m:t>Area</m:t>
                    </m:r>
                    <m:r>
                      <a:rPr lang="en-US" sz="2000" b="0" i="1" dirty="0" smtClean="0">
                        <a:latin typeface="Cambria Math" panose="02040503050406030204" pitchFamily="18" charset="0"/>
                        <a:ea typeface="Arial"/>
                        <a:cs typeface="Arial"/>
                        <a:sym typeface="Arial"/>
                      </a:rPr>
                      <m:t> </m:t>
                    </m:r>
                    <m:r>
                      <m:rPr>
                        <m:sty m:val="p"/>
                      </m:rPr>
                      <a:rPr lang="en-US" sz="2000" b="0" i="1" dirty="0" smtClean="0">
                        <a:latin typeface="Cambria Math" panose="02040503050406030204" pitchFamily="18" charset="0"/>
                        <a:ea typeface="Arial"/>
                        <a:cs typeface="Arial"/>
                        <a:sym typeface="Arial"/>
                      </a:rPr>
                      <m:t>of</m:t>
                    </m:r>
                    <m:r>
                      <a:rPr lang="en-US" sz="2000" b="0" i="1" dirty="0" smtClean="0">
                        <a:latin typeface="Cambria Math" panose="02040503050406030204" pitchFamily="18" charset="0"/>
                        <a:ea typeface="Arial"/>
                        <a:cs typeface="Arial"/>
                        <a:sym typeface="Arial"/>
                      </a:rPr>
                      <m:t> </m:t>
                    </m:r>
                    <m:r>
                      <m:rPr>
                        <m:sty m:val="p"/>
                      </m:rPr>
                      <a:rPr lang="en-US" sz="2000" b="0" i="1" dirty="0" smtClean="0">
                        <a:latin typeface="Cambria Math" panose="02040503050406030204" pitchFamily="18" charset="0"/>
                        <a:ea typeface="Arial"/>
                        <a:cs typeface="Arial"/>
                        <a:sym typeface="Arial"/>
                      </a:rPr>
                      <m:t>the</m:t>
                    </m:r>
                    <m:r>
                      <a:rPr lang="en-US" sz="2000" b="0" i="1" dirty="0" smtClean="0">
                        <a:latin typeface="Cambria Math" panose="02040503050406030204" pitchFamily="18" charset="0"/>
                        <a:ea typeface="Arial"/>
                        <a:cs typeface="Arial"/>
                        <a:sym typeface="Arial"/>
                      </a:rPr>
                      <m:t> </m:t>
                    </m:r>
                    <m:r>
                      <m:rPr>
                        <m:sty m:val="p"/>
                      </m:rPr>
                      <a:rPr lang="en-US" sz="2000" b="0" i="1" dirty="0" smtClean="0">
                        <a:latin typeface="Cambria Math" panose="02040503050406030204" pitchFamily="18" charset="0"/>
                        <a:ea typeface="Arial"/>
                        <a:cs typeface="Arial"/>
                        <a:sym typeface="Arial"/>
                      </a:rPr>
                      <m:t>Blob</m:t>
                    </m:r>
                  </m:oMath>
                </a14:m>
                <a:r>
                  <a:rPr lang="en-US" sz="2000" dirty="0">
                    <a:latin typeface="Arial"/>
                    <a:ea typeface="Arial"/>
                    <a:cs typeface="Arial"/>
                    <a:sym typeface="Arial"/>
                  </a:rPr>
                  <a:t>.</a:t>
                </a:r>
              </a:p>
            </p:txBody>
          </p:sp>
        </mc:Choice>
        <mc:Fallback xmlns="">
          <p:sp>
            <p:nvSpPr>
              <p:cNvPr id="118" name="Google Shape;118;p29">
                <a:extLst>
                  <a:ext uri="{FF2B5EF4-FFF2-40B4-BE49-F238E27FC236}">
                    <a16:creationId xmlns:a16="http://schemas.microsoft.com/office/drawing/2014/main" id="{E8A61CA5-8E51-95E1-8492-071964A72525}"/>
                  </a:ext>
                </a:extLst>
              </p:cNvPr>
              <p:cNvSpPr txBox="1">
                <a:spLocks noGrp="1" noRot="1" noChangeAspect="1" noMove="1" noResize="1" noEditPoints="1" noAdjustHandles="1" noChangeArrowheads="1" noChangeShapeType="1" noTextEdit="1"/>
              </p:cNvSpPr>
              <p:nvPr>
                <p:ph type="body" idx="1"/>
              </p:nvPr>
            </p:nvSpPr>
            <p:spPr>
              <a:xfrm>
                <a:off x="376809" y="1334279"/>
                <a:ext cx="11593518" cy="4821102"/>
              </a:xfrm>
              <a:prstGeom prst="rect">
                <a:avLst/>
              </a:prstGeom>
              <a:blipFill>
                <a:blip r:embed="rId3"/>
                <a:stretch>
                  <a:fillRect l="-578"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DE1CF4A-28B7-D263-9F49-1337C2D1139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D90515D-1860-8C44-D3E5-F37464630AD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358DBA0-4F5F-A797-6787-6CAFBD07617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29244F2-7CA8-166B-F5C1-4F35AB3F5F5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1B9E5DE-AE46-2F45-EED7-1287D87A1E5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8457993-5AFF-4D30-D1CC-355E5301C7A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2C2F0F1-28EC-AB06-F0F2-B1483C7156F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CC67176-3C91-0ACF-CE73-60809F3481E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0386271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3999390-1254-3F29-8C88-274BD88E6D3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484AF18-1653-7582-DAA9-ADDC230031EC}"/>
                  </a:ext>
                </a:extLst>
              </p:cNvPr>
              <p:cNvSpPr txBox="1">
                <a:spLocks noGrp="1"/>
              </p:cNvSpPr>
              <p:nvPr>
                <p:ph type="body" idx="1"/>
              </p:nvPr>
            </p:nvSpPr>
            <p:spPr>
              <a:xfrm>
                <a:off x="376809" y="1334279"/>
                <a:ext cx="1159351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rial"/>
                    <a:ea typeface="Arial"/>
                    <a:cs typeface="Arial"/>
                    <a:sym typeface="Arial"/>
                  </a:rPr>
                  <a:t>To find the center, we need the 1st order moments, </a:t>
                </a:r>
                <a14:m>
                  <m:oMath xmlns:m="http://schemas.openxmlformats.org/officeDocument/2006/math">
                    <m:sSub>
                      <m:sSubPr>
                        <m:ctrlPr>
                          <a:rPr lang="en-US" sz="2400" i="1" dirty="0">
                            <a:latin typeface="Cambria Math" panose="02040503050406030204" pitchFamily="18" charset="0"/>
                            <a:ea typeface="Arial"/>
                            <a:cs typeface="Arial"/>
                            <a:sym typeface="Arial"/>
                          </a:rPr>
                        </m:ctrlPr>
                      </m:sSubPr>
                      <m:e>
                        <m:r>
                          <a:rPr lang="en-US" sz="2400" i="1" dirty="0">
                            <a:latin typeface="Cambria Math" panose="02040503050406030204" pitchFamily="18" charset="0"/>
                            <a:ea typeface="Arial"/>
                            <a:cs typeface="Arial"/>
                            <a:sym typeface="Arial"/>
                          </a:rPr>
                          <m:t>𝑀</m:t>
                        </m:r>
                      </m:e>
                      <m:sub>
                        <m:r>
                          <a:rPr lang="en-US" sz="2400" b="0" i="1" dirty="0" smtClean="0">
                            <a:latin typeface="Cambria Math" panose="02040503050406030204" pitchFamily="18" charset="0"/>
                            <a:ea typeface="Arial"/>
                            <a:cs typeface="Arial"/>
                            <a:sym typeface="Arial"/>
                          </a:rPr>
                          <m:t>10</m:t>
                        </m:r>
                      </m:sub>
                    </m:sSub>
                  </m:oMath>
                </a14:m>
                <a:r>
                  <a:rPr lang="en-US" sz="2400" dirty="0">
                    <a:latin typeface="Arial"/>
                    <a:ea typeface="Arial"/>
                    <a:cs typeface="Arial"/>
                    <a:sym typeface="Arial"/>
                  </a:rPr>
                  <a:t> and </a:t>
                </a:r>
                <a14:m>
                  <m:oMath xmlns:m="http://schemas.openxmlformats.org/officeDocument/2006/math">
                    <m:sSub>
                      <m:sSubPr>
                        <m:ctrlPr>
                          <a:rPr lang="en-US" sz="2400" i="1" dirty="0">
                            <a:latin typeface="Cambria Math" panose="02040503050406030204" pitchFamily="18" charset="0"/>
                            <a:ea typeface="Arial"/>
                            <a:cs typeface="Arial"/>
                            <a:sym typeface="Arial"/>
                          </a:rPr>
                        </m:ctrlPr>
                      </m:sSubPr>
                      <m:e>
                        <m:r>
                          <a:rPr lang="en-US" sz="2400" i="1" dirty="0">
                            <a:latin typeface="Cambria Math" panose="02040503050406030204" pitchFamily="18" charset="0"/>
                            <a:ea typeface="Arial"/>
                            <a:cs typeface="Arial"/>
                            <a:sym typeface="Arial"/>
                          </a:rPr>
                          <m:t>𝑀</m:t>
                        </m:r>
                      </m:e>
                      <m:sub>
                        <m:r>
                          <a:rPr lang="en-US" sz="2400" b="0" i="1" dirty="0" smtClean="0">
                            <a:latin typeface="Cambria Math" panose="02040503050406030204" pitchFamily="18" charset="0"/>
                            <a:ea typeface="Arial"/>
                            <a:cs typeface="Arial"/>
                            <a:sym typeface="Arial"/>
                          </a:rPr>
                          <m:t>01</m:t>
                        </m:r>
                      </m:sub>
                    </m:sSub>
                  </m:oMath>
                </a14:m>
                <a:r>
                  <a:rPr lang="en-US" sz="2400" dirty="0">
                    <a:latin typeface="Arial"/>
                    <a:ea typeface="Arial"/>
                    <a:cs typeface="Arial"/>
                    <a:sym typeface="Arial"/>
                  </a:rPr>
                  <a:t>.</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14:m>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𝑀</m:t>
                        </m:r>
                      </m:e>
                      <m:sub>
                        <m:r>
                          <a:rPr lang="en-US" sz="2400" i="1" dirty="0" smtClean="0">
                            <a:latin typeface="Cambria Math" panose="02040503050406030204" pitchFamily="18" charset="0"/>
                            <a:ea typeface="Arial"/>
                            <a:cs typeface="Arial"/>
                            <a:sym typeface="Arial"/>
                          </a:rPr>
                          <m:t>10</m:t>
                        </m:r>
                      </m:sub>
                    </m:sSub>
                    <m:r>
                      <a:rPr lang="en-US" sz="2400" i="1" dirty="0" smtClean="0">
                        <a:latin typeface="Cambria Math" panose="02040503050406030204" pitchFamily="18" charset="0"/>
                        <a:ea typeface="Arial"/>
                        <a:cs typeface="Arial"/>
                        <a:sym typeface="Arial"/>
                      </a:rPr>
                      <m:t>=</m:t>
                    </m:r>
                    <m:nary>
                      <m:naryPr>
                        <m:chr m:val="∑"/>
                        <m:supHide m:val="on"/>
                        <m:ctrlPr>
                          <a:rPr lang="en-US" sz="2400" i="1" dirty="0" smtClean="0">
                            <a:latin typeface="Cambria Math" panose="02040503050406030204" pitchFamily="18" charset="0"/>
                            <a:ea typeface="Arial"/>
                            <a:cs typeface="Arial"/>
                            <a:sym typeface="Arial"/>
                          </a:rPr>
                        </m:ctrlPr>
                      </m:naryPr>
                      <m:sub>
                        <m:r>
                          <a:rPr lang="en-US" sz="2400" i="1" dirty="0" smtClean="0">
                            <a:latin typeface="Cambria Math" panose="02040503050406030204" pitchFamily="18" charset="0"/>
                            <a:ea typeface="Arial"/>
                            <a:cs typeface="Arial"/>
                            <a:sym typeface="Arial"/>
                          </a:rPr>
                          <m:t>𝑥</m:t>
                        </m:r>
                      </m:sub>
                      <m:sup/>
                      <m:e>
                        <m:nary>
                          <m:naryPr>
                            <m:chr m:val="∑"/>
                            <m:supHide m:val="on"/>
                            <m:ctrlPr>
                              <a:rPr lang="en-US" sz="2400" i="1" dirty="0" smtClean="0">
                                <a:latin typeface="Cambria Math" panose="02040503050406030204" pitchFamily="18" charset="0"/>
                                <a:ea typeface="Arial"/>
                                <a:cs typeface="Arial"/>
                                <a:sym typeface="Arial"/>
                              </a:rPr>
                            </m:ctrlPr>
                          </m:naryPr>
                          <m:sub>
                            <m:r>
                              <a:rPr lang="en-US" sz="2400" i="1" dirty="0" smtClean="0">
                                <a:latin typeface="Cambria Math" panose="02040503050406030204" pitchFamily="18" charset="0"/>
                                <a:ea typeface="Arial"/>
                                <a:cs typeface="Arial"/>
                                <a:sym typeface="Arial"/>
                              </a:rPr>
                              <m:t>𝑦</m:t>
                            </m:r>
                          </m:sub>
                          <m:sup/>
                          <m:e>
                            <m:r>
                              <a:rPr lang="en-US" sz="2400" i="1" dirty="0" smtClean="0">
                                <a:latin typeface="Cambria Math" panose="02040503050406030204" pitchFamily="18" charset="0"/>
                                <a:ea typeface="Arial"/>
                                <a:cs typeface="Arial"/>
                                <a:sym typeface="Arial"/>
                              </a:rPr>
                              <m:t>𝑥</m:t>
                            </m:r>
                          </m:e>
                        </m:nary>
                      </m:e>
                    </m:nary>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𝐼</m:t>
                    </m:r>
                    <m:d>
                      <m:dPr>
                        <m:ctrlPr>
                          <a:rPr lang="en-US" sz="2400" i="1" dirty="0" smtClean="0">
                            <a:latin typeface="Cambria Math" panose="02040503050406030204" pitchFamily="18" charset="0"/>
                            <a:ea typeface="Arial"/>
                            <a:cs typeface="Arial"/>
                            <a:sym typeface="Arial"/>
                          </a:rPr>
                        </m:ctrlPr>
                      </m:dPr>
                      <m:e>
                        <m:r>
                          <a:rPr lang="en-US" sz="2400" i="1" dirty="0" err="1" smtClean="0">
                            <a:latin typeface="Cambria Math" panose="02040503050406030204" pitchFamily="18" charset="0"/>
                            <a:ea typeface="Arial"/>
                            <a:cs typeface="Arial"/>
                            <a:sym typeface="Arial"/>
                          </a:rPr>
                          <m:t>𝑥</m:t>
                        </m:r>
                        <m:r>
                          <a:rPr lang="en-US" sz="2400" i="1" dirty="0" err="1" smtClean="0">
                            <a:latin typeface="Cambria Math" panose="02040503050406030204" pitchFamily="18" charset="0"/>
                            <a:ea typeface="Arial"/>
                            <a:cs typeface="Arial"/>
                            <a:sym typeface="Arial"/>
                          </a:rPr>
                          <m:t>,</m:t>
                        </m:r>
                        <m:r>
                          <a:rPr lang="en-US" sz="2400" i="1" dirty="0" err="1" smtClean="0">
                            <a:latin typeface="Cambria Math" panose="02040503050406030204" pitchFamily="18" charset="0"/>
                            <a:ea typeface="Arial"/>
                            <a:cs typeface="Arial"/>
                            <a:sym typeface="Arial"/>
                          </a:rPr>
                          <m:t>𝑦</m:t>
                        </m:r>
                      </m:e>
                    </m:d>
                  </m:oMath>
                </a14:m>
                <a:r>
                  <a:rPr lang="en-US" sz="2400" dirty="0">
                    <a:latin typeface="Arial"/>
                    <a:ea typeface="Arial"/>
                    <a:cs typeface="Arial"/>
                    <a:sym typeface="Arial"/>
                  </a:rPr>
                  <a:t> (This is the sum of all the X-coordinates of the white pixels).</a:t>
                </a:r>
              </a:p>
              <a:p>
                <a:pPr marL="0" indent="0">
                  <a:lnSpc>
                    <a:spcPct val="100000"/>
                  </a:lnSpc>
                  <a:spcBef>
                    <a:spcPts val="0"/>
                  </a:spcBef>
                  <a:buSzPts val="3000"/>
                  <a:buNone/>
                </a:pPr>
                <a14:m>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𝑀</m:t>
                        </m:r>
                      </m:e>
                      <m:sub>
                        <m:r>
                          <a:rPr lang="en-US" sz="2400" i="1" dirty="0" smtClean="0">
                            <a:latin typeface="Cambria Math" panose="02040503050406030204" pitchFamily="18" charset="0"/>
                            <a:ea typeface="Arial"/>
                            <a:cs typeface="Arial"/>
                            <a:sym typeface="Arial"/>
                          </a:rPr>
                          <m:t>01</m:t>
                        </m:r>
                      </m:sub>
                    </m:sSub>
                    <m:r>
                      <a:rPr lang="en-US" sz="2400" i="1" dirty="0" smtClean="0">
                        <a:latin typeface="Cambria Math" panose="02040503050406030204" pitchFamily="18" charset="0"/>
                        <a:ea typeface="Arial"/>
                        <a:cs typeface="Arial"/>
                        <a:sym typeface="Arial"/>
                      </a:rPr>
                      <m:t>=</m:t>
                    </m:r>
                    <m:nary>
                      <m:naryPr>
                        <m:chr m:val="∑"/>
                        <m:supHide m:val="on"/>
                        <m:ctrlPr>
                          <a:rPr lang="en-US" sz="2400" i="1" dirty="0" smtClean="0">
                            <a:latin typeface="Cambria Math" panose="02040503050406030204" pitchFamily="18" charset="0"/>
                            <a:ea typeface="Arial"/>
                            <a:cs typeface="Arial"/>
                            <a:sym typeface="Arial"/>
                          </a:rPr>
                        </m:ctrlPr>
                      </m:naryPr>
                      <m:sub>
                        <m:r>
                          <a:rPr lang="en-US" sz="2400" i="1" dirty="0" smtClean="0">
                            <a:latin typeface="Cambria Math" panose="02040503050406030204" pitchFamily="18" charset="0"/>
                            <a:ea typeface="Arial"/>
                            <a:cs typeface="Arial"/>
                            <a:sym typeface="Arial"/>
                          </a:rPr>
                          <m:t>𝑥</m:t>
                        </m:r>
                      </m:sub>
                      <m:sup/>
                      <m:e>
                        <m:nary>
                          <m:naryPr>
                            <m:chr m:val="∑"/>
                            <m:supHide m:val="on"/>
                            <m:ctrlPr>
                              <a:rPr lang="en-US" sz="2400" i="1" dirty="0" smtClean="0">
                                <a:latin typeface="Cambria Math" panose="02040503050406030204" pitchFamily="18" charset="0"/>
                                <a:ea typeface="Arial"/>
                                <a:cs typeface="Arial"/>
                                <a:sym typeface="Arial"/>
                              </a:rPr>
                            </m:ctrlPr>
                          </m:naryPr>
                          <m:sub>
                            <m:r>
                              <a:rPr lang="en-US" sz="2400" i="1" dirty="0" smtClean="0">
                                <a:latin typeface="Cambria Math" panose="02040503050406030204" pitchFamily="18" charset="0"/>
                                <a:ea typeface="Arial"/>
                                <a:cs typeface="Arial"/>
                                <a:sym typeface="Arial"/>
                              </a:rPr>
                              <m:t>𝑦</m:t>
                            </m:r>
                          </m:sub>
                          <m:sup/>
                          <m:e>
                            <m:r>
                              <a:rPr lang="en-US" sz="2400" i="1" dirty="0" smtClean="0">
                                <a:latin typeface="Cambria Math" panose="02040503050406030204" pitchFamily="18" charset="0"/>
                                <a:ea typeface="Arial"/>
                                <a:cs typeface="Arial"/>
                                <a:sym typeface="Arial"/>
                              </a:rPr>
                              <m:t>𝑦</m:t>
                            </m:r>
                          </m:e>
                        </m:nary>
                      </m:e>
                    </m:nary>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𝐼</m:t>
                    </m:r>
                    <m:d>
                      <m:dPr>
                        <m:ctrlPr>
                          <a:rPr lang="en-US" sz="2400" i="1" dirty="0" smtClean="0">
                            <a:latin typeface="Cambria Math" panose="02040503050406030204" pitchFamily="18" charset="0"/>
                            <a:ea typeface="Arial"/>
                            <a:cs typeface="Arial"/>
                            <a:sym typeface="Arial"/>
                          </a:rPr>
                        </m:ctrlPr>
                      </m:dPr>
                      <m:e>
                        <m:r>
                          <a:rPr lang="en-US" sz="2400" i="1" dirty="0" err="1" smtClean="0">
                            <a:latin typeface="Cambria Math" panose="02040503050406030204" pitchFamily="18" charset="0"/>
                            <a:ea typeface="Arial"/>
                            <a:cs typeface="Arial"/>
                            <a:sym typeface="Arial"/>
                          </a:rPr>
                          <m:t>𝑥</m:t>
                        </m:r>
                        <m:r>
                          <a:rPr lang="en-US" sz="2400" i="1" dirty="0" err="1" smtClean="0">
                            <a:latin typeface="Cambria Math" panose="02040503050406030204" pitchFamily="18" charset="0"/>
                            <a:ea typeface="Arial"/>
                            <a:cs typeface="Arial"/>
                            <a:sym typeface="Arial"/>
                          </a:rPr>
                          <m:t>,</m:t>
                        </m:r>
                        <m:r>
                          <a:rPr lang="en-US" sz="2400" i="1" dirty="0" err="1" smtClean="0">
                            <a:latin typeface="Cambria Math" panose="02040503050406030204" pitchFamily="18" charset="0"/>
                            <a:ea typeface="Arial"/>
                            <a:cs typeface="Arial"/>
                            <a:sym typeface="Arial"/>
                          </a:rPr>
                          <m:t>𝑦</m:t>
                        </m:r>
                      </m:e>
                    </m:d>
                  </m:oMath>
                </a14:m>
                <a:r>
                  <a:rPr lang="en-US" sz="2400" dirty="0">
                    <a:latin typeface="Arial"/>
                    <a:ea typeface="Arial"/>
                    <a:cs typeface="Arial"/>
                    <a:sym typeface="Arial"/>
                  </a:rPr>
                  <a:t> (This is the sum of all the Y-coordinates of the white pixels).</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These act as our weighted spatial totals.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To find the exact center pixel </a:t>
                </a:r>
                <a14:m>
                  <m:oMath xmlns:m="http://schemas.openxmlformats.org/officeDocument/2006/math">
                    <m:d>
                      <m:dPr>
                        <m:ctrlPr>
                          <a:rPr lang="en-US" sz="2400" i="1" dirty="0" smtClean="0">
                            <a:latin typeface="Cambria Math" panose="02040503050406030204" pitchFamily="18" charset="0"/>
                            <a:ea typeface="Arial"/>
                            <a:cs typeface="Arial"/>
                            <a:sym typeface="Arial"/>
                          </a:rPr>
                        </m:ctrlPr>
                      </m:dPr>
                      <m:e>
                        <m:acc>
                          <m:accPr>
                            <m:chr m:val="̅"/>
                            <m:ctrlPr>
                              <a:rPr lang="en-US" sz="2400" i="1" dirty="0" smtClean="0">
                                <a:latin typeface="Cambria Math" panose="02040503050406030204" pitchFamily="18" charset="0"/>
                                <a:ea typeface="Arial"/>
                                <a:cs typeface="Arial"/>
                                <a:sym typeface="Arial"/>
                              </a:rPr>
                            </m:ctrlPr>
                          </m:accPr>
                          <m:e>
                            <m:r>
                              <a:rPr lang="en-US" sz="2400" i="1" dirty="0" smtClean="0">
                                <a:latin typeface="Cambria Math" panose="02040503050406030204" pitchFamily="18" charset="0"/>
                                <a:ea typeface="Arial"/>
                                <a:cs typeface="Arial"/>
                                <a:sym typeface="Arial"/>
                              </a:rPr>
                              <m:t>𝑥</m:t>
                            </m:r>
                          </m:e>
                        </m:acc>
                        <m:r>
                          <a:rPr lang="en-US" sz="2400" i="1" dirty="0" smtClean="0">
                            <a:latin typeface="Cambria Math" panose="02040503050406030204" pitchFamily="18" charset="0"/>
                            <a:ea typeface="Arial"/>
                            <a:cs typeface="Arial"/>
                            <a:sym typeface="Arial"/>
                          </a:rPr>
                          <m:t>,</m:t>
                        </m:r>
                        <m:acc>
                          <m:accPr>
                            <m:chr m:val="̅"/>
                            <m:ctrlPr>
                              <a:rPr lang="en-US" sz="2400" i="1" dirty="0" smtClean="0">
                                <a:latin typeface="Cambria Math" panose="02040503050406030204" pitchFamily="18" charset="0"/>
                                <a:ea typeface="Arial"/>
                                <a:cs typeface="Arial"/>
                                <a:sym typeface="Arial"/>
                              </a:rPr>
                            </m:ctrlPr>
                          </m:accPr>
                          <m:e>
                            <m:r>
                              <a:rPr lang="en-US" sz="2400" i="1" dirty="0" smtClean="0">
                                <a:latin typeface="Cambria Math" panose="02040503050406030204" pitchFamily="18" charset="0"/>
                                <a:ea typeface="Arial"/>
                                <a:cs typeface="Arial"/>
                                <a:sym typeface="Arial"/>
                              </a:rPr>
                              <m:t>𝑦</m:t>
                            </m:r>
                          </m:e>
                        </m:acc>
                      </m:e>
                    </m:d>
                  </m:oMath>
                </a14:m>
                <a:r>
                  <a:rPr lang="en-US" sz="2400" dirty="0">
                    <a:latin typeface="Arial"/>
                    <a:ea typeface="Arial"/>
                    <a:cs typeface="Arial"/>
                    <a:sym typeface="Arial"/>
                  </a:rPr>
                  <a:t>, we divide the spatial totals by the total area.</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acc>
                        <m:accPr>
                          <m:chr m:val="̅"/>
                          <m:ctrlPr>
                            <a:rPr lang="en-US" sz="2400" i="1" dirty="0" smtClean="0">
                              <a:latin typeface="Cambria Math" panose="02040503050406030204" pitchFamily="18" charset="0"/>
                              <a:ea typeface="Arial"/>
                              <a:cs typeface="Arial"/>
                              <a:sym typeface="Arial"/>
                            </a:rPr>
                          </m:ctrlPr>
                        </m:accPr>
                        <m:e>
                          <m:r>
                            <a:rPr lang="en-US" sz="2400" i="1" dirty="0" smtClean="0">
                              <a:latin typeface="Cambria Math" panose="02040503050406030204" pitchFamily="18" charset="0"/>
                              <a:ea typeface="Arial"/>
                              <a:cs typeface="Arial"/>
                              <a:sym typeface="Arial"/>
                            </a:rPr>
                            <m:t>𝑥</m:t>
                          </m:r>
                        </m:e>
                      </m:acc>
                      <m:r>
                        <a:rPr lang="en-US" sz="2400" i="1" dirty="0" smtClean="0">
                          <a:latin typeface="Cambria Math" panose="02040503050406030204" pitchFamily="18" charset="0"/>
                          <a:ea typeface="Arial"/>
                          <a:cs typeface="Arial"/>
                          <a:sym typeface="Arial"/>
                        </a:rPr>
                        <m:t>=</m:t>
                      </m:r>
                      <m:f>
                        <m:fPr>
                          <m:ctrlPr>
                            <a:rPr lang="en-US" sz="2400" i="1" dirty="0" smtClean="0">
                              <a:latin typeface="Cambria Math" panose="02040503050406030204" pitchFamily="18" charset="0"/>
                              <a:ea typeface="Arial"/>
                              <a:cs typeface="Arial"/>
                              <a:sym typeface="Arial"/>
                            </a:rPr>
                          </m:ctrlPr>
                        </m:fPr>
                        <m:num>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𝑀</m:t>
                              </m:r>
                            </m:e>
                            <m:sub>
                              <m:r>
                                <a:rPr lang="en-US" sz="2400" i="1" dirty="0" smtClean="0">
                                  <a:latin typeface="Cambria Math" panose="02040503050406030204" pitchFamily="18" charset="0"/>
                                  <a:ea typeface="Arial"/>
                                  <a:cs typeface="Arial"/>
                                  <a:sym typeface="Arial"/>
                                </a:rPr>
                                <m:t>10</m:t>
                              </m:r>
                            </m:sub>
                          </m:sSub>
                        </m:num>
                        <m:den>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𝑀</m:t>
                              </m:r>
                            </m:e>
                            <m:sub>
                              <m:r>
                                <a:rPr lang="en-US" sz="2400" i="1" dirty="0" smtClean="0">
                                  <a:latin typeface="Cambria Math" panose="02040503050406030204" pitchFamily="18" charset="0"/>
                                  <a:ea typeface="Arial"/>
                                  <a:cs typeface="Arial"/>
                                  <a:sym typeface="Arial"/>
                                </a:rPr>
                                <m:t>00</m:t>
                              </m:r>
                            </m:sub>
                          </m:sSub>
                        </m:den>
                      </m:f>
                      <m:r>
                        <a:rPr lang="en-US" sz="2400" b="0" i="1" dirty="0" smtClean="0">
                          <a:latin typeface="Cambria Math" panose="02040503050406030204" pitchFamily="18" charset="0"/>
                          <a:ea typeface="Arial"/>
                          <a:cs typeface="Arial"/>
                          <a:sym typeface="Arial"/>
                        </a:rPr>
                        <m:t>,  </m:t>
                      </m:r>
                      <m:acc>
                        <m:accPr>
                          <m:chr m:val="̅"/>
                          <m:ctrlPr>
                            <a:rPr lang="en-US" sz="2400" i="1" dirty="0">
                              <a:latin typeface="Cambria Math" panose="02040503050406030204" pitchFamily="18" charset="0"/>
                              <a:ea typeface="Arial"/>
                              <a:cs typeface="Arial"/>
                              <a:sym typeface="Arial"/>
                            </a:rPr>
                          </m:ctrlPr>
                        </m:accPr>
                        <m:e>
                          <m:r>
                            <a:rPr lang="en-US" sz="2400" i="1" dirty="0">
                              <a:latin typeface="Cambria Math" panose="02040503050406030204" pitchFamily="18" charset="0"/>
                              <a:ea typeface="Arial"/>
                              <a:cs typeface="Arial"/>
                              <a:sym typeface="Arial"/>
                            </a:rPr>
                            <m:t>𝑦</m:t>
                          </m:r>
                        </m:e>
                      </m:acc>
                      <m:r>
                        <a:rPr lang="en-US" sz="2400" i="1" dirty="0">
                          <a:latin typeface="Cambria Math" panose="02040503050406030204" pitchFamily="18" charset="0"/>
                          <a:ea typeface="Arial"/>
                          <a:cs typeface="Arial"/>
                          <a:sym typeface="Arial"/>
                        </a:rPr>
                        <m:t>=</m:t>
                      </m:r>
                      <m:f>
                        <m:fPr>
                          <m:ctrlPr>
                            <a:rPr lang="en-US" sz="2400" i="1" dirty="0">
                              <a:latin typeface="Cambria Math" panose="02040503050406030204" pitchFamily="18" charset="0"/>
                              <a:ea typeface="Arial"/>
                              <a:cs typeface="Arial"/>
                              <a:sym typeface="Arial"/>
                            </a:rPr>
                          </m:ctrlPr>
                        </m:fPr>
                        <m:num>
                          <m:sSub>
                            <m:sSubPr>
                              <m:ctrlPr>
                                <a:rPr lang="en-US" sz="2400" i="1" dirty="0">
                                  <a:latin typeface="Cambria Math" panose="02040503050406030204" pitchFamily="18" charset="0"/>
                                  <a:ea typeface="Arial"/>
                                  <a:cs typeface="Arial"/>
                                  <a:sym typeface="Arial"/>
                                </a:rPr>
                              </m:ctrlPr>
                            </m:sSubPr>
                            <m:e>
                              <m:r>
                                <a:rPr lang="en-US" sz="2400" i="1" dirty="0">
                                  <a:latin typeface="Cambria Math" panose="02040503050406030204" pitchFamily="18" charset="0"/>
                                  <a:ea typeface="Arial"/>
                                  <a:cs typeface="Arial"/>
                                  <a:sym typeface="Arial"/>
                                </a:rPr>
                                <m:t>𝑀</m:t>
                              </m:r>
                            </m:e>
                            <m:sub>
                              <m:r>
                                <a:rPr lang="en-US" sz="2400" i="1" dirty="0">
                                  <a:latin typeface="Cambria Math" panose="02040503050406030204" pitchFamily="18" charset="0"/>
                                  <a:ea typeface="Arial"/>
                                  <a:cs typeface="Arial"/>
                                  <a:sym typeface="Arial"/>
                                </a:rPr>
                                <m:t>01</m:t>
                              </m:r>
                            </m:sub>
                          </m:sSub>
                        </m:num>
                        <m:den>
                          <m:sSub>
                            <m:sSubPr>
                              <m:ctrlPr>
                                <a:rPr lang="en-US" sz="2400" i="1" dirty="0">
                                  <a:latin typeface="Cambria Math" panose="02040503050406030204" pitchFamily="18" charset="0"/>
                                  <a:ea typeface="Arial"/>
                                  <a:cs typeface="Arial"/>
                                  <a:sym typeface="Arial"/>
                                </a:rPr>
                              </m:ctrlPr>
                            </m:sSubPr>
                            <m:e>
                              <m:r>
                                <a:rPr lang="en-US" sz="2400" i="1" dirty="0">
                                  <a:latin typeface="Cambria Math" panose="02040503050406030204" pitchFamily="18" charset="0"/>
                                  <a:ea typeface="Arial"/>
                                  <a:cs typeface="Arial"/>
                                  <a:sym typeface="Arial"/>
                                </a:rPr>
                                <m:t>𝑀</m:t>
                              </m:r>
                            </m:e>
                            <m:sub>
                              <m:r>
                                <a:rPr lang="en-US" sz="2400" i="1" dirty="0">
                                  <a:latin typeface="Cambria Math" panose="02040503050406030204" pitchFamily="18" charset="0"/>
                                  <a:ea typeface="Arial"/>
                                  <a:cs typeface="Arial"/>
                                  <a:sym typeface="Arial"/>
                                </a:rPr>
                                <m:t>00</m:t>
                              </m:r>
                            </m:sub>
                          </m:sSub>
                        </m:den>
                      </m:f>
                    </m:oMath>
                  </m:oMathPara>
                </a14:m>
                <a:endParaRPr lang="en-US" sz="2400" dirty="0">
                  <a:latin typeface="Arial"/>
                  <a:ea typeface="Arial"/>
                  <a:cs typeface="Arial"/>
                  <a:sym typeface="Arial"/>
                </a:endParaRPr>
              </a:p>
              <a:p>
                <a:pPr marL="0" indent="0">
                  <a:lnSpc>
                    <a:spcPct val="100000"/>
                  </a:lnSpc>
                  <a:spcBef>
                    <a:spcPts val="0"/>
                  </a:spcBef>
                  <a:buSzPts val="3000"/>
                  <a:buNone/>
                </a:pPr>
                <a:endParaRPr lang="en-US" sz="24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F484AF18-1653-7582-DAA9-ADDC230031EC}"/>
                  </a:ext>
                </a:extLst>
              </p:cNvPr>
              <p:cNvSpPr txBox="1">
                <a:spLocks noGrp="1" noRot="1" noChangeAspect="1" noMove="1" noResize="1" noEditPoints="1" noAdjustHandles="1" noChangeArrowheads="1" noChangeShapeType="1" noTextEdit="1"/>
              </p:cNvSpPr>
              <p:nvPr>
                <p:ph type="body" idx="1"/>
              </p:nvPr>
            </p:nvSpPr>
            <p:spPr>
              <a:xfrm>
                <a:off x="376809" y="1334279"/>
                <a:ext cx="11593518" cy="4821102"/>
              </a:xfrm>
              <a:prstGeom prst="rect">
                <a:avLst/>
              </a:prstGeom>
              <a:blipFill>
                <a:blip r:embed="rId3"/>
                <a:stretch>
                  <a:fillRect l="-841"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7E6AF6E5-C186-0008-21B9-C4755A32499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97C9715-292A-263E-6E4C-06C829E5492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6EE2203-E8AE-5F68-B52F-A0C0D33C4A6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5C44378-F085-62C5-18F4-D271A722B08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8F780A-83CE-7929-4DB9-957AF6B7B16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8F39A78-F1B2-A8AF-2EEE-3F86690D6A3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A5FAD2A-EE93-A0D8-6A37-10C41B0D04B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B7CDD45-7A86-1605-D56A-2D02B4A197F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4487125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94E4742-1C25-FBBC-11E9-9A0692A6965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A19ADA2-69FD-0496-DC38-CC3E2EB7DDAB}"/>
                  </a:ext>
                </a:extLst>
              </p:cNvPr>
              <p:cNvSpPr txBox="1">
                <a:spLocks noGrp="1"/>
              </p:cNvSpPr>
              <p:nvPr>
                <p:ph type="body" idx="1"/>
              </p:nvPr>
            </p:nvSpPr>
            <p:spPr>
              <a:xfrm>
                <a:off x="376809" y="1334279"/>
                <a:ext cx="1159351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rial"/>
                    <a:ea typeface="Arial"/>
                    <a:cs typeface="Arial"/>
                    <a:sym typeface="Arial"/>
                  </a:rPr>
                  <a:t>Now we have </a:t>
                </a:r>
                <a14:m>
                  <m:oMath xmlns:m="http://schemas.openxmlformats.org/officeDocument/2006/math">
                    <m:d>
                      <m:dPr>
                        <m:ctrlPr>
                          <a:rPr lang="en-US" sz="2400" i="1" dirty="0" smtClean="0">
                            <a:latin typeface="Cambria Math" panose="02040503050406030204" pitchFamily="18" charset="0"/>
                            <a:ea typeface="Arial"/>
                            <a:cs typeface="Arial"/>
                            <a:sym typeface="Arial"/>
                          </a:rPr>
                        </m:ctrlPr>
                      </m:dPr>
                      <m:e>
                        <m:acc>
                          <m:accPr>
                            <m:chr m:val="̅"/>
                            <m:ctrlPr>
                              <a:rPr lang="en-US" sz="2400" i="1" dirty="0" smtClean="0">
                                <a:latin typeface="Cambria Math" panose="02040503050406030204" pitchFamily="18" charset="0"/>
                                <a:ea typeface="Arial"/>
                                <a:cs typeface="Arial"/>
                                <a:sym typeface="Arial"/>
                              </a:rPr>
                            </m:ctrlPr>
                          </m:accPr>
                          <m:e>
                            <m:r>
                              <a:rPr lang="en-US" sz="2400" i="1" dirty="0" smtClean="0">
                                <a:latin typeface="Cambria Math" panose="02040503050406030204" pitchFamily="18" charset="0"/>
                                <a:ea typeface="Arial"/>
                                <a:cs typeface="Arial"/>
                                <a:sym typeface="Arial"/>
                              </a:rPr>
                              <m:t>𝑥</m:t>
                            </m:r>
                          </m:e>
                        </m:acc>
                        <m:r>
                          <a:rPr lang="en-US" sz="2400" i="1" dirty="0" smtClean="0">
                            <a:latin typeface="Cambria Math" panose="02040503050406030204" pitchFamily="18" charset="0"/>
                            <a:ea typeface="Arial"/>
                            <a:cs typeface="Arial"/>
                            <a:sym typeface="Arial"/>
                          </a:rPr>
                          <m:t>,</m:t>
                        </m:r>
                        <m:acc>
                          <m:accPr>
                            <m:chr m:val="̅"/>
                            <m:ctrlPr>
                              <a:rPr lang="en-US" sz="2400" i="1" dirty="0" smtClean="0">
                                <a:latin typeface="Cambria Math" panose="02040503050406030204" pitchFamily="18" charset="0"/>
                                <a:ea typeface="Arial"/>
                                <a:cs typeface="Arial"/>
                                <a:sym typeface="Arial"/>
                              </a:rPr>
                            </m:ctrlPr>
                          </m:accPr>
                          <m:e>
                            <m:r>
                              <a:rPr lang="en-US" sz="2400" i="1" dirty="0" smtClean="0">
                                <a:latin typeface="Cambria Math" panose="02040503050406030204" pitchFamily="18" charset="0"/>
                                <a:ea typeface="Arial"/>
                                <a:cs typeface="Arial"/>
                                <a:sym typeface="Arial"/>
                              </a:rPr>
                              <m:t>𝑦</m:t>
                            </m:r>
                          </m:e>
                        </m:acc>
                      </m:e>
                    </m:d>
                  </m:oMath>
                </a14:m>
                <a:r>
                  <a:rPr lang="en-US" sz="2400" dirty="0">
                    <a:latin typeface="Arial"/>
                    <a:ea typeface="Arial"/>
                    <a:cs typeface="Arial"/>
                    <a:sym typeface="Arial"/>
                  </a:rPr>
                  <a:t>.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Let's say the image is </a:t>
                </a:r>
                <a14:m>
                  <m:oMath xmlns:m="http://schemas.openxmlformats.org/officeDocument/2006/math">
                    <m:r>
                      <a:rPr lang="en-US" sz="2400" i="1" dirty="0" smtClean="0">
                        <a:latin typeface="Cambria Math" panose="02040503050406030204" pitchFamily="18" charset="0"/>
                        <a:ea typeface="Arial"/>
                        <a:cs typeface="Arial"/>
                        <a:sym typeface="Arial"/>
                      </a:rPr>
                      <m:t>640 ×480</m:t>
                    </m:r>
                  </m:oMath>
                </a14:m>
                <a:r>
                  <a:rPr lang="en-US" sz="2400" dirty="0">
                    <a:latin typeface="Arial"/>
                    <a:ea typeface="Arial"/>
                    <a:cs typeface="Arial"/>
                    <a:sym typeface="Arial"/>
                  </a:rPr>
                  <a:t> pixels.</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The center of the camera is </a:t>
                </a:r>
                <a14:m>
                  <m:oMath xmlns:m="http://schemas.openxmlformats.org/officeDocument/2006/math">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320,240</m:t>
                        </m:r>
                      </m:e>
                    </m:d>
                  </m:oMath>
                </a14:m>
                <a:r>
                  <a:rPr lang="en-US" sz="2400" dirty="0">
                    <a:latin typeface="Arial"/>
                    <a:ea typeface="Arial"/>
                    <a:cs typeface="Arial"/>
                    <a:sym typeface="Arial"/>
                  </a:rPr>
                  <a:t>.</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If our centroid is at </a:t>
                </a:r>
                <a14:m>
                  <m:oMath xmlns:m="http://schemas.openxmlformats.org/officeDocument/2006/math">
                    <m:acc>
                      <m:accPr>
                        <m:chr m:val="̅"/>
                        <m:ctrlPr>
                          <a:rPr lang="en-US" sz="2400" i="1" dirty="0" smtClean="0">
                            <a:latin typeface="Cambria Math" panose="02040503050406030204" pitchFamily="18" charset="0"/>
                            <a:ea typeface="Arial"/>
                            <a:cs typeface="Arial"/>
                            <a:sym typeface="Arial"/>
                          </a:rPr>
                        </m:ctrlPr>
                      </m:accPr>
                      <m:e>
                        <m:r>
                          <a:rPr lang="en-US" sz="2400" i="1" dirty="0" smtClean="0">
                            <a:latin typeface="Cambria Math" panose="02040503050406030204" pitchFamily="18" charset="0"/>
                            <a:ea typeface="Arial"/>
                            <a:cs typeface="Arial"/>
                            <a:sym typeface="Arial"/>
                          </a:rPr>
                          <m:t>𝑥</m:t>
                        </m:r>
                      </m:e>
                    </m:acc>
                    <m:r>
                      <a:rPr lang="en-US" sz="2400" i="1" dirty="0" smtClean="0">
                        <a:latin typeface="Cambria Math" panose="02040503050406030204" pitchFamily="18" charset="0"/>
                        <a:ea typeface="Arial"/>
                        <a:cs typeface="Arial"/>
                        <a:sym typeface="Arial"/>
                      </a:rPr>
                      <m:t>=500</m:t>
                    </m:r>
                  </m:oMath>
                </a14:m>
                <a:r>
                  <a:rPr lang="en-US" sz="2400" dirty="0">
                    <a:latin typeface="Arial"/>
                    <a:ea typeface="Arial"/>
                    <a:cs typeface="Arial"/>
                    <a:sym typeface="Arial"/>
                  </a:rPr>
                  <a:t>, where is the ball?</a:t>
                </a:r>
              </a:p>
              <a:p>
                <a:pPr marL="0" indent="0" algn="ctr">
                  <a:lnSpc>
                    <a:spcPct val="100000"/>
                  </a:lnSpc>
                  <a:spcBef>
                    <a:spcPts val="0"/>
                  </a:spcBef>
                  <a:buSzPts val="3000"/>
                  <a:buNone/>
                </a:pPr>
                <a:r>
                  <a:rPr lang="en-US" sz="2400" dirty="0">
                    <a:latin typeface="Arial"/>
                    <a:ea typeface="Arial"/>
                    <a:cs typeface="Arial"/>
                    <a:sym typeface="Arial"/>
                  </a:rPr>
                  <a:t>It is to the right of the robot.</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We calculate the error: </a:t>
                </a:r>
                <a14:m>
                  <m:oMath xmlns:m="http://schemas.openxmlformats.org/officeDocument/2006/math">
                    <m:r>
                      <a:rPr lang="en-US" sz="2400" i="1" dirty="0" smtClean="0">
                        <a:latin typeface="Cambria Math" panose="02040503050406030204" pitchFamily="18" charset="0"/>
                        <a:ea typeface="Arial"/>
                        <a:cs typeface="Arial"/>
                        <a:sym typeface="Arial"/>
                      </a:rPr>
                      <m:t>𝑒</m:t>
                    </m:r>
                    <m:r>
                      <a:rPr lang="en-US" sz="2400" i="1" dirty="0" smtClean="0">
                        <a:latin typeface="Cambria Math" panose="02040503050406030204" pitchFamily="18" charset="0"/>
                        <a:ea typeface="Arial"/>
                        <a:cs typeface="Arial"/>
                        <a:sym typeface="Arial"/>
                      </a:rPr>
                      <m:t>=</m:t>
                    </m:r>
                    <m:acc>
                      <m:accPr>
                        <m:chr m:val="̅"/>
                        <m:ctrlPr>
                          <a:rPr lang="en-US" sz="2400" i="1" dirty="0" smtClean="0">
                            <a:latin typeface="Cambria Math" panose="02040503050406030204" pitchFamily="18" charset="0"/>
                            <a:ea typeface="Arial"/>
                            <a:cs typeface="Arial"/>
                            <a:sym typeface="Arial"/>
                          </a:rPr>
                        </m:ctrlPr>
                      </m:accPr>
                      <m:e>
                        <m:r>
                          <a:rPr lang="en-US" sz="2400" i="1" dirty="0" smtClean="0">
                            <a:latin typeface="Cambria Math" panose="02040503050406030204" pitchFamily="18" charset="0"/>
                            <a:ea typeface="Arial"/>
                            <a:cs typeface="Arial"/>
                            <a:sym typeface="Arial"/>
                          </a:rPr>
                          <m:t>𝑥</m:t>
                        </m:r>
                      </m:e>
                    </m:acc>
                    <m:r>
                      <a:rPr lang="en-US" sz="2400" i="1" dirty="0" smtClean="0">
                        <a:latin typeface="Cambria Math" panose="02040503050406030204" pitchFamily="18" charset="0"/>
                        <a:ea typeface="Arial"/>
                        <a:cs typeface="Arial"/>
                        <a:sym typeface="Arial"/>
                      </a:rPr>
                      <m:t>−</m:t>
                    </m:r>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𝑋</m:t>
                        </m:r>
                      </m:e>
                      <m:sub>
                        <m:r>
                          <a:rPr lang="en-US" sz="2400" i="1" dirty="0" smtClean="0">
                            <a:latin typeface="Cambria Math" panose="02040503050406030204" pitchFamily="18" charset="0"/>
                            <a:ea typeface="Arial"/>
                            <a:cs typeface="Arial"/>
                            <a:sym typeface="Arial"/>
                          </a:rPr>
                          <m:t>𝑐𝑒𝑛𝑡𝑒𝑟</m:t>
                        </m:r>
                      </m:sub>
                    </m:sSub>
                    <m:r>
                      <a:rPr lang="en-US" sz="2400" i="1" dirty="0" smtClean="0">
                        <a:latin typeface="Cambria Math" panose="02040503050406030204" pitchFamily="18" charset="0"/>
                        <a:ea typeface="Arial"/>
                        <a:cs typeface="Arial"/>
                        <a:sym typeface="Arial"/>
                      </a:rPr>
                      <m:t>=500−320=180</m:t>
                    </m:r>
                  </m:oMath>
                </a14:m>
                <a:r>
                  <a:rPr lang="en-US" sz="2400" dirty="0">
                    <a:latin typeface="Arial"/>
                    <a:ea typeface="Arial"/>
                    <a:cs typeface="Arial"/>
                    <a:sym typeface="Arial"/>
                  </a:rPr>
                  <a:t> pixels.</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Given this error, we can pass this as an error to a PI controller to make the robot turn to face the target!</a:t>
                </a:r>
              </a:p>
            </p:txBody>
          </p:sp>
        </mc:Choice>
        <mc:Fallback xmlns="">
          <p:sp>
            <p:nvSpPr>
              <p:cNvPr id="118" name="Google Shape;118;p29">
                <a:extLst>
                  <a:ext uri="{FF2B5EF4-FFF2-40B4-BE49-F238E27FC236}">
                    <a16:creationId xmlns:a16="http://schemas.microsoft.com/office/drawing/2014/main" id="{8A19ADA2-69FD-0496-DC38-CC3E2EB7DDAB}"/>
                  </a:ext>
                </a:extLst>
              </p:cNvPr>
              <p:cNvSpPr txBox="1">
                <a:spLocks noGrp="1" noRot="1" noChangeAspect="1" noMove="1" noResize="1" noEditPoints="1" noAdjustHandles="1" noChangeArrowheads="1" noChangeShapeType="1" noTextEdit="1"/>
              </p:cNvSpPr>
              <p:nvPr>
                <p:ph type="body" idx="1"/>
              </p:nvPr>
            </p:nvSpPr>
            <p:spPr>
              <a:xfrm>
                <a:off x="376809" y="1334279"/>
                <a:ext cx="11593518" cy="4821102"/>
              </a:xfrm>
              <a:prstGeom prst="rect">
                <a:avLst/>
              </a:prstGeom>
              <a:blipFill>
                <a:blip r:embed="rId3"/>
                <a:stretch>
                  <a:fillRect l="-841" t="-885" b="-354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C3F718F-06B8-CEDB-BCA3-EB4873959CC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12EB922-1A2B-52F9-CF84-C586E56B615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321CB5C-2AAA-B3DE-FC97-6D5F5138048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6486268-8F88-DCAA-43EC-B8B4D2CC245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8242B90-7418-8E03-9FA1-03FD935C937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41DCADC-512F-2CC9-CBB9-A4A0B2E5353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35E0930-2409-63FF-1F31-4A81715864D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763C98D-3948-31AB-22EC-521EA297401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2392381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121A589-6491-0677-5C38-E935FC1B2DC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CC0F767-F54E-A0E3-C78E-1DD342D4DE6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4497FE1-C721-98F9-C81D-EB6ED230E59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04FC050-C463-EBE5-31A9-0EA59B2C71B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21E5BDC-A11D-728D-8126-C06DDE27812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2E1E0D8-5B8D-D8EA-7E6C-E49802F597C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E939C0B-F6FF-28A6-3BF9-54600C2EF28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BF44F4C-2A57-3533-92CA-EA0A9EB8770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4491EB6-E3CA-FA19-AF41-0A617197EE3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Online Media 4" title="Computer Vision Blob Detection">
            <a:hlinkClick r:id="" action="ppaction://media"/>
            <a:extLst>
              <a:ext uri="{FF2B5EF4-FFF2-40B4-BE49-F238E27FC236}">
                <a16:creationId xmlns:a16="http://schemas.microsoft.com/office/drawing/2014/main" id="{E8AA5AD8-B95F-8DA2-93C5-F0798C82327D}"/>
              </a:ext>
            </a:extLst>
          </p:cNvPr>
          <p:cNvPicPr>
            <a:picLocks noRot="1" noChangeAspect="1"/>
          </p:cNvPicPr>
          <p:nvPr>
            <a:videoFile r:link="rId1"/>
          </p:nvPr>
        </p:nvPicPr>
        <p:blipFill>
          <a:blip r:embed="rId5"/>
          <a:stretch>
            <a:fillRect/>
          </a:stretch>
        </p:blipFill>
        <p:spPr>
          <a:xfrm>
            <a:off x="1084621" y="903443"/>
            <a:ext cx="10022757" cy="5662871"/>
          </a:xfrm>
          <a:prstGeom prst="rect">
            <a:avLst/>
          </a:prstGeom>
        </p:spPr>
      </p:pic>
    </p:spTree>
    <p:extLst>
      <p:ext uri="{BB962C8B-B14F-4D97-AF65-F5344CB8AC3E}">
        <p14:creationId xmlns:p14="http://schemas.microsoft.com/office/powerpoint/2010/main" val="29930967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5"/>
                </p:tgtEl>
              </p:cMediaNode>
            </p:video>
            <p:seq concurrent="1" nextAc="seek">
              <p:cTn id="8" restart="whenNotActive" fill="hold" evtFilter="cancelBubble" nodeType="interactiveSeq">
                <p:stCondLst>
                  <p:cond evt="onClick" delay="0">
                    <p:tgtEl>
                      <p:spTgt spid="5"/>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5"/>
                                        </p:tgtEl>
                                      </p:cBhvr>
                                    </p:cmd>
                                  </p:childTnLst>
                                </p:cTn>
                              </p:par>
                            </p:childTnLst>
                          </p:cTn>
                        </p:par>
                      </p:childTnLst>
                    </p:cTn>
                  </p:par>
                </p:childTnLst>
              </p:cTn>
              <p:nextCondLst>
                <p:cond evt="onClick" delay="0">
                  <p:tgtEl>
                    <p:spTgt spid="5"/>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txBox="1"/>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r>
              <a:rPr lang="en-US" sz="6600" b="1" dirty="0">
                <a:solidFill>
                  <a:schemeClr val="lt1"/>
                </a:solidFill>
              </a:rPr>
              <a:t>Questions</a:t>
            </a:r>
            <a:r>
              <a:rPr lang="en-US" sz="5400" b="1" dirty="0">
                <a:solidFill>
                  <a:schemeClr val="lt1"/>
                </a:solidFill>
              </a:rPr>
              <a:t>?</a:t>
            </a:r>
          </a:p>
        </p:txBody>
      </p:sp>
      <p:pic>
        <p:nvPicPr>
          <p:cNvPr id="265" name="Google Shape;265;p37">
            <a:extLs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pic>
        <p:nvPicPr>
          <p:cNvPr id="275" name="Google Shape;275;p38"/>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1747</TotalTime>
  <Words>3062</Words>
  <Application>Microsoft Office PowerPoint</Application>
  <PresentationFormat>Widescreen</PresentationFormat>
  <Paragraphs>420</Paragraphs>
  <Slides>44</Slides>
  <Notes>44</Notes>
  <HiddenSlides>0</HiddenSlides>
  <MMClips>1</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44</vt:i4>
      </vt:variant>
    </vt:vector>
  </HeadingPairs>
  <TitlesOfParts>
    <vt:vector size="49" baseType="lpstr">
      <vt:lpstr>Arial</vt:lpstr>
      <vt:lpstr>Calibri</vt:lpstr>
      <vt:lpstr>Cambria Math</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180</cp:revision>
  <dcterms:created xsi:type="dcterms:W3CDTF">2019-01-14T22:06:33Z</dcterms:created>
  <dcterms:modified xsi:type="dcterms:W3CDTF">2026-03-21T04:55:30Z</dcterms:modified>
</cp:coreProperties>
</file>