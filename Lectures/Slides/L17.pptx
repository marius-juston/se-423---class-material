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Wednesday, March 25</a:t>
            </a:r>
            <a:r>
              <a:rPr lang="en-US" sz="1800" b="0" i="0" u="none" strike="noStrike" cap="none" baseline="30000">
                <a:solidFill>
                  <a:schemeClr val="lt1"/>
                </a:solidFill>
                <a:latin typeface="Arial"/>
                <a:ea typeface="Arial"/>
                <a:cs typeface="Arial"/>
                <a:sym typeface="Arial"/>
              </a:rPr>
              <a:t>th</a:t>
            </a:r>
            <a:r>
              <a:rPr lang="en-US" sz="1800" b="0" i="0" u="none" strike="noStrike" cap="none">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does RGB stand for?</a:t>
            </a:r>
          </a:p>
          <a:p>
            <a:pPr marL="285750" indent="-285750">
              <a:lnSpc>
                <a:spcPct val="100000"/>
              </a:lnSpc>
              <a:spcBef>
                <a:spcPts val="0"/>
              </a:spcBef>
              <a:buSzPts val="3000"/>
            </a:pPr>
            <a:r>
              <a:rPr lang="en-US" sz="2400" dirty="0">
                <a:latin typeface="Arial"/>
                <a:ea typeface="Arial"/>
                <a:cs typeface="Arial"/>
                <a:sym typeface="Arial"/>
              </a:rPr>
              <a:t>How many colors are there? Are the lines straight?</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Computer Vision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 would </a:t>
            </a:r>
            <a:r>
              <a:rPr lang="en-US" sz="2200" b="1" dirty="0">
                <a:latin typeface="Arial"/>
                <a:ea typeface="Arial"/>
                <a:cs typeface="Arial"/>
                <a:sym typeface="Arial"/>
              </a:rPr>
              <a:t>HIGHLY</a:t>
            </a:r>
            <a:r>
              <a:rPr lang="en-US" sz="2200" dirty="0">
                <a:latin typeface="Arial"/>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hlinkClick r:id="rId3"/>
              </a:rPr>
              <a:t>https://visionbook.mit.edu/</a:t>
            </a: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rial"/>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(also, for more CMOS details look at </a:t>
            </a:r>
            <a:r>
              <a:rPr lang="en-US" sz="2200" dirty="0">
                <a:latin typeface="Arial"/>
                <a:ea typeface="Arial"/>
                <a:cs typeface="Arial"/>
                <a:sym typeface="Arial"/>
                <a:hlinkClick r:id="rId4"/>
              </a:rPr>
              <a:t>https://isl.stanford.edu/~abbas/ee392b/lect04.pdf</a:t>
            </a:r>
            <a:r>
              <a:rPr lang="en-US" sz="2200" dirty="0">
                <a:latin typeface="Arial"/>
                <a:ea typeface="Arial"/>
                <a:cs typeface="Arial"/>
                <a:sym typeface="Arial"/>
              </a:rPr>
              <a:t> )</a:t>
            </a:r>
          </a:p>
          <a:p>
            <a:pPr marL="0" indent="0">
              <a:lnSpc>
                <a:spcPct val="100000"/>
              </a:lnSpc>
              <a:spcBef>
                <a:spcPts val="0"/>
              </a:spcBef>
              <a:buSzPts val="3000"/>
              <a:buNone/>
            </a:pP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solidFill>
                  <a:schemeClr val="dk1"/>
                </a:solidFill>
                <a:latin typeface="Arial"/>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Passive.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sun goes behind a cloud what happens?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 pixel color changes, shadows appears, etc.</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rial"/>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rial"/>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rial"/>
                <a:ea typeface="Arial"/>
                <a:cs typeface="Arial"/>
                <a:sym typeface="Arial"/>
              </a:rPr>
              <a:t>Step 4: The Cascade Control loop turns the coordinates into wheel velocities.</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CMOS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rial"/>
                <a:ea typeface="Arial"/>
                <a:cs typeface="Arial"/>
                <a:sym typeface="Arial"/>
              </a:rPr>
              <a:t>In many CMOS image sensor architectures, row integration times are </a:t>
            </a:r>
            <a:r>
              <a:rPr lang="en-US" sz="2000" i="1" dirty="0" err="1">
                <a:latin typeface="Arial"/>
                <a:ea typeface="Arial"/>
                <a:cs typeface="Arial"/>
                <a:sym typeface="Arial"/>
              </a:rPr>
              <a:t>staggerred</a:t>
            </a:r>
            <a:r>
              <a:rPr lang="en-US" sz="2000" dirty="0">
                <a:latin typeface="Arial"/>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Color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kind of problem that cause?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rial"/>
                    <a:ea typeface="Arial"/>
                    <a:cs typeface="Arial"/>
                    <a:sym typeface="Arial"/>
                  </a:rPr>
                  <a:t> grid.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filtering color?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anything strange about this ratio?</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1 Red : 2 Green : 1 Blue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Pixel (0,0) only knows Red.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rial"/>
                    <a:ea typeface="Arial"/>
                    <a:cs typeface="Arial"/>
                    <a:sym typeface="Arial"/>
                  </a:rPr>
                  <a:t>Demosaicing</a:t>
                </a:r>
                <a:r>
                  <a:rPr lang="en-US" sz="1800" dirty="0">
                    <a:latin typeface="Arial"/>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Because of this, other </a:t>
                </a:r>
                <a:r>
                  <a:rPr lang="en-US" sz="1800" dirty="0" err="1">
                    <a:latin typeface="Arial"/>
                    <a:ea typeface="Arial"/>
                    <a:cs typeface="Arial"/>
                    <a:sym typeface="Arial"/>
                  </a:rPr>
                  <a:t>demosaicing</a:t>
                </a:r>
                <a:r>
                  <a:rPr lang="en-US" sz="1800" dirty="0">
                    <a:latin typeface="Arial"/>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Once demosaiced, every pixel is an array of three values: </a:t>
                </a:r>
                <a:r>
                  <a:rPr lang="en-US" sz="1800" b="1" dirty="0">
                    <a:latin typeface="Arial"/>
                    <a:ea typeface="Arial"/>
                    <a:cs typeface="Arial"/>
                    <a:sym typeface="Arial"/>
                  </a:rPr>
                  <a:t>R, G, B</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White</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Red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rial"/>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Imagine we write code to track a red ball: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rial"/>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solve the shadow problem, we transform the RGB cube into a cylinder: The </a:t>
            </a:r>
            <a:r>
              <a:rPr lang="en-US" sz="2400" b="1" dirty="0">
                <a:latin typeface="Arial"/>
                <a:ea typeface="Arial"/>
                <a:cs typeface="Arial"/>
                <a:sym typeface="Arial"/>
              </a:rPr>
              <a:t>HSV </a:t>
            </a:r>
            <a:r>
              <a:rPr lang="en-US" sz="2400" dirty="0">
                <a:latin typeface="Arial"/>
                <a:ea typeface="Arial"/>
                <a:cs typeface="Arial"/>
                <a:sym typeface="Arial"/>
              </a:rPr>
              <a:t>color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 = </a:t>
            </a:r>
            <a:r>
              <a:rPr lang="en-US" sz="2400" b="1" dirty="0">
                <a:latin typeface="Arial"/>
                <a:ea typeface="Arial"/>
                <a:cs typeface="Arial"/>
                <a:sym typeface="Arial"/>
              </a:rPr>
              <a:t>Hue</a:t>
            </a:r>
            <a:r>
              <a:rPr lang="en-US" sz="2400" dirty="0">
                <a:latin typeface="Arial"/>
                <a:ea typeface="Arial"/>
                <a:cs typeface="Arial"/>
                <a:sym typeface="Arial"/>
              </a:rPr>
              <a:t> (The actual color type, e.g., Red, Blue).</a:t>
            </a:r>
          </a:p>
          <a:p>
            <a:pPr marL="0" indent="0">
              <a:lnSpc>
                <a:spcPct val="100000"/>
              </a:lnSpc>
              <a:spcBef>
                <a:spcPts val="0"/>
              </a:spcBef>
              <a:buSzPts val="3000"/>
              <a:buNone/>
            </a:pPr>
            <a:r>
              <a:rPr lang="en-US" sz="2400" dirty="0">
                <a:latin typeface="Arial"/>
                <a:ea typeface="Arial"/>
                <a:cs typeface="Arial"/>
                <a:sym typeface="Arial"/>
              </a:rPr>
              <a:t>S = </a:t>
            </a:r>
            <a:r>
              <a:rPr lang="en-US" sz="2400" b="1" dirty="0">
                <a:latin typeface="Arial"/>
                <a:ea typeface="Arial"/>
                <a:cs typeface="Arial"/>
                <a:sym typeface="Arial"/>
              </a:rPr>
              <a:t>Saturation</a:t>
            </a:r>
            <a:r>
              <a:rPr lang="en-US" sz="2400" dirty="0">
                <a:latin typeface="Arial"/>
                <a:ea typeface="Arial"/>
                <a:cs typeface="Arial"/>
                <a:sym typeface="Arial"/>
              </a:rPr>
              <a:t> (How pure the color is, vs. faded white).</a:t>
            </a:r>
          </a:p>
          <a:p>
            <a:pPr marL="0" indent="0">
              <a:lnSpc>
                <a:spcPct val="100000"/>
              </a:lnSpc>
              <a:spcBef>
                <a:spcPts val="0"/>
              </a:spcBef>
              <a:buSzPts val="3000"/>
              <a:buNone/>
            </a:pPr>
            <a:r>
              <a:rPr lang="en-US" sz="2400" dirty="0">
                <a:latin typeface="Arial"/>
                <a:ea typeface="Arial"/>
                <a:cs typeface="Arial"/>
                <a:sym typeface="Arial"/>
              </a:rPr>
              <a:t>V = </a:t>
            </a:r>
            <a:r>
              <a:rPr lang="en-US" sz="2400" b="1" dirty="0">
                <a:latin typeface="Arial"/>
                <a:ea typeface="Arial"/>
                <a:cs typeface="Arial"/>
                <a:sym typeface="Arial"/>
              </a:rPr>
              <a:t>Value</a:t>
            </a:r>
            <a:r>
              <a:rPr lang="en-US" sz="2400" dirty="0">
                <a:latin typeface="Arial"/>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Blue.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Why this is brilliant: If a red ball enters a shadow, its </a:t>
                </a:r>
                <a:r>
                  <a:rPr lang="en-US" sz="2400" b="1" dirty="0">
                    <a:latin typeface="Arial"/>
                    <a:ea typeface="Arial"/>
                    <a:cs typeface="Arial"/>
                    <a:sym typeface="Arial"/>
                  </a:rPr>
                  <a:t>Value</a:t>
                </a:r>
                <a:r>
                  <a:rPr lang="en-US" sz="2400" dirty="0">
                    <a:latin typeface="Arial"/>
                    <a:ea typeface="Arial"/>
                    <a:cs typeface="Arial"/>
                    <a:sym typeface="Arial"/>
                  </a:rPr>
                  <a:t> </a:t>
                </a:r>
                <a:r>
                  <a:rPr lang="en-US" sz="2400" b="1" dirty="0">
                    <a:latin typeface="Arial"/>
                    <a:ea typeface="Arial"/>
                    <a:cs typeface="Arial"/>
                    <a:sym typeface="Arial"/>
                  </a:rPr>
                  <a:t>drops</a:t>
                </a:r>
                <a:r>
                  <a:rPr lang="en-US" sz="2400" dirty="0">
                    <a:latin typeface="Arial"/>
                    <a:ea typeface="Arial"/>
                    <a:cs typeface="Arial"/>
                    <a:sym typeface="Arial"/>
                  </a:rPr>
                  <a:t>, but its </a:t>
                </a:r>
                <a:r>
                  <a:rPr lang="en-US" sz="2400" b="1" dirty="0">
                    <a:latin typeface="Arial"/>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Saturation is the radius (distance from the center axis).</a:t>
            </a:r>
          </a:p>
          <a:p>
            <a:pPr marL="342900">
              <a:lnSpc>
                <a:spcPct val="100000"/>
              </a:lnSpc>
              <a:spcBef>
                <a:spcPts val="0"/>
              </a:spcBef>
              <a:buSzPts val="3000"/>
            </a:pPr>
            <a:r>
              <a:rPr lang="en-US" sz="2400" b="1" dirty="0">
                <a:latin typeface="Arial"/>
                <a:ea typeface="Arial"/>
                <a:cs typeface="Arial"/>
                <a:sym typeface="Arial"/>
              </a:rPr>
              <a:t>S=0%</a:t>
            </a:r>
            <a:r>
              <a:rPr lang="en-US" sz="2400" dirty="0">
                <a:latin typeface="Arial"/>
                <a:ea typeface="Arial"/>
                <a:cs typeface="Arial"/>
                <a:sym typeface="Arial"/>
              </a:rPr>
              <a:t> is pure gray/white (center). </a:t>
            </a:r>
          </a:p>
          <a:p>
            <a:pPr marL="342900">
              <a:lnSpc>
                <a:spcPct val="100000"/>
              </a:lnSpc>
              <a:spcBef>
                <a:spcPts val="0"/>
              </a:spcBef>
              <a:buSzPts val="3000"/>
            </a:pPr>
            <a:r>
              <a:rPr lang="en-US" sz="2400" b="1" dirty="0">
                <a:latin typeface="Arial"/>
                <a:ea typeface="Arial"/>
                <a:cs typeface="Arial"/>
                <a:sym typeface="Arial"/>
              </a:rPr>
              <a:t>S=100%</a:t>
            </a:r>
            <a:r>
              <a:rPr lang="en-US" sz="2400" dirty="0">
                <a:latin typeface="Arial"/>
                <a:ea typeface="Arial"/>
                <a:cs typeface="Arial"/>
                <a:sym typeface="Arial"/>
              </a:rPr>
              <a:t> is a pure, vibrant color (edge).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Value is the height of the cylinder (0 to 100%).</a:t>
            </a:r>
          </a:p>
          <a:p>
            <a:pPr marL="342900">
              <a:lnSpc>
                <a:spcPct val="100000"/>
              </a:lnSpc>
              <a:spcBef>
                <a:spcPts val="0"/>
              </a:spcBef>
              <a:buSzPts val="3000"/>
            </a:pPr>
            <a:r>
              <a:rPr lang="en-US" sz="2400" b="1" dirty="0">
                <a:latin typeface="Arial"/>
                <a:ea typeface="Arial"/>
                <a:cs typeface="Arial"/>
                <a:sym typeface="Arial"/>
              </a:rPr>
              <a:t>V=0%</a:t>
            </a:r>
            <a:r>
              <a:rPr lang="en-US" sz="2400" dirty="0">
                <a:latin typeface="Arial"/>
                <a:ea typeface="Arial"/>
                <a:cs typeface="Arial"/>
                <a:sym typeface="Arial"/>
              </a:rPr>
              <a:t> is pitch black. </a:t>
            </a:r>
          </a:p>
          <a:p>
            <a:pPr marL="342900">
              <a:lnSpc>
                <a:spcPct val="100000"/>
              </a:lnSpc>
              <a:spcBef>
                <a:spcPts val="0"/>
              </a:spcBef>
              <a:buSzPts val="3000"/>
            </a:pPr>
            <a:r>
              <a:rPr lang="en-US" sz="2400" b="1" dirty="0">
                <a:latin typeface="Arial"/>
                <a:ea typeface="Arial"/>
                <a:cs typeface="Arial"/>
                <a:sym typeface="Arial"/>
              </a:rPr>
              <a:t>V=100% </a:t>
            </a:r>
            <a:r>
              <a:rPr lang="en-US" sz="2400" dirty="0">
                <a:latin typeface="Arial"/>
                <a:ea typeface="Arial"/>
                <a:cs typeface="Arial"/>
                <a:sym typeface="Arial"/>
              </a:rPr>
              <a:t>is fully illuminated.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rial"/>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42" name="Picture 2">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Essentially, they trade off </a:t>
            </a:r>
            <a:r>
              <a:rPr lang="en-US" sz="2000" b="1" dirty="0">
                <a:latin typeface="Arial"/>
                <a:ea typeface="Arial"/>
                <a:cs typeface="Arial"/>
                <a:sym typeface="Arial"/>
              </a:rPr>
              <a:t>perceptual relevance </a:t>
            </a:r>
            <a:r>
              <a:rPr lang="en-US" sz="2000" dirty="0">
                <a:latin typeface="Arial"/>
                <a:ea typeface="Arial"/>
                <a:cs typeface="Arial"/>
                <a:sym typeface="Arial"/>
              </a:rPr>
              <a:t>for computation speed.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plot the RGB gamut in a more </a:t>
            </a:r>
            <a:r>
              <a:rPr lang="en-US" sz="2000" b="1" dirty="0">
                <a:latin typeface="Arial"/>
                <a:ea typeface="Arial"/>
                <a:cs typeface="Arial"/>
                <a:sym typeface="Arial"/>
              </a:rPr>
              <a:t>perceptually-uniform space</a:t>
            </a:r>
            <a:r>
              <a:rPr lang="en-US" sz="2000" dirty="0">
                <a:latin typeface="Arial"/>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CIELAB</a:t>
            </a:r>
            <a:r>
              <a:rPr lang="en-US" sz="1800" dirty="0">
                <a:latin typeface="Arial"/>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lightness value</a:t>
            </a:r>
            <a:r>
              <a:rPr lang="en-US" sz="1800" dirty="0">
                <a:latin typeface="Arial"/>
                <a:ea typeface="Arial"/>
                <a:cs typeface="Arial"/>
                <a:sym typeface="Arial"/>
              </a:rPr>
              <a:t>, L* (pronounced "L star"), defines </a:t>
            </a:r>
            <a:r>
              <a:rPr lang="en-US" sz="1800" b="1" dirty="0">
                <a:latin typeface="Arial"/>
                <a:ea typeface="Arial"/>
                <a:cs typeface="Arial"/>
                <a:sym typeface="Arial"/>
              </a:rPr>
              <a:t>black</a:t>
            </a:r>
            <a:r>
              <a:rPr lang="en-US" sz="1800" dirty="0">
                <a:latin typeface="Arial"/>
                <a:ea typeface="Arial"/>
                <a:cs typeface="Arial"/>
                <a:sym typeface="Arial"/>
              </a:rPr>
              <a:t> at 0 and </a:t>
            </a:r>
            <a:r>
              <a:rPr lang="en-US" sz="1800" b="1" dirty="0">
                <a:latin typeface="Arial"/>
                <a:ea typeface="Arial"/>
                <a:cs typeface="Arial"/>
                <a:sym typeface="Arial"/>
              </a:rPr>
              <a:t>white</a:t>
            </a:r>
            <a:r>
              <a:rPr lang="en-US" sz="1800" dirty="0">
                <a:latin typeface="Arial"/>
                <a:ea typeface="Arial"/>
                <a:cs typeface="Arial"/>
                <a:sym typeface="Arial"/>
              </a:rPr>
              <a:t> at 100. </a:t>
            </a: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a* axis </a:t>
            </a:r>
            <a:r>
              <a:rPr lang="en-US" sz="1800" dirty="0">
                <a:latin typeface="Arial"/>
                <a:ea typeface="Arial"/>
                <a:cs typeface="Arial"/>
                <a:sym typeface="Arial"/>
              </a:rPr>
              <a:t>is relative to the </a:t>
            </a:r>
            <a:r>
              <a:rPr lang="en-US" sz="1800" b="1" dirty="0">
                <a:latin typeface="Arial"/>
                <a:ea typeface="Arial"/>
                <a:cs typeface="Arial"/>
                <a:sym typeface="Arial"/>
              </a:rPr>
              <a:t>green–red </a:t>
            </a:r>
            <a:r>
              <a:rPr lang="en-US" sz="1800" dirty="0">
                <a:latin typeface="Arial"/>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rial"/>
                <a:ea typeface="Arial"/>
                <a:cs typeface="Arial"/>
                <a:sym typeface="Arial"/>
              </a:rPr>
              <a:t>The </a:t>
            </a:r>
            <a:r>
              <a:rPr lang="en-US" sz="1800" b="1" dirty="0">
                <a:latin typeface="Arial"/>
                <a:ea typeface="Arial"/>
                <a:cs typeface="Arial"/>
                <a:sym typeface="Arial"/>
              </a:rPr>
              <a:t>b* axis </a:t>
            </a:r>
            <a:r>
              <a:rPr lang="en-US" sz="1800" dirty="0">
                <a:latin typeface="Arial"/>
                <a:ea typeface="Arial"/>
                <a:cs typeface="Arial"/>
                <a:sym typeface="Arial"/>
              </a:rPr>
              <a:t>represents the </a:t>
            </a:r>
            <a:r>
              <a:rPr lang="en-US" sz="1800" b="1" dirty="0">
                <a:latin typeface="Arial"/>
                <a:ea typeface="Arial"/>
                <a:cs typeface="Arial"/>
                <a:sym typeface="Arial"/>
              </a:rPr>
              <a:t>blue–yellow </a:t>
            </a:r>
            <a:r>
              <a:rPr lang="en-US" sz="1800" dirty="0">
                <a:latin typeface="Arial"/>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rial"/>
                <a:ea typeface="Arial"/>
                <a:cs typeface="Arial"/>
                <a:sym typeface="Arial"/>
              </a:rPr>
              <a:t> </a:t>
            </a:r>
          </a:p>
          <a:p>
            <a:pPr marL="0" indent="0">
              <a:lnSpc>
                <a:spcPct val="100000"/>
              </a:lnSpc>
              <a:spcBef>
                <a:spcPts val="0"/>
              </a:spcBef>
              <a:buSzPts val="3000"/>
              <a:buNone/>
            </a:pPr>
            <a:r>
              <a:rPr lang="en-US" sz="1800" dirty="0">
                <a:latin typeface="Arial"/>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Picture 1">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Blob detection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Once we convert our image to HSV, we apply a </a:t>
            </a:r>
            <a:r>
              <a:rPr lang="en-US" sz="2400" b="1" dirty="0">
                <a:latin typeface="Arial"/>
                <a:ea typeface="Arial"/>
                <a:cs typeface="Arial"/>
                <a:sym typeface="Arial"/>
              </a:rPr>
              <a:t>Threshold. </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YES -&gt; Pixel becomes 1 ( Whites)</a:t>
            </a:r>
          </a:p>
          <a:p>
            <a:pPr marL="0" indent="0">
              <a:lnSpc>
                <a:spcPct val="100000"/>
              </a:lnSpc>
              <a:spcBef>
                <a:spcPts val="0"/>
              </a:spcBef>
              <a:buSzPts val="3000"/>
              <a:buNone/>
            </a:pPr>
            <a:r>
              <a:rPr lang="en-US" sz="2400" dirty="0">
                <a:latin typeface="Arial"/>
                <a:ea typeface="Arial"/>
                <a:cs typeface="Arial"/>
                <a:sym typeface="Arial"/>
              </a:rPr>
              <a:t>If NO -&gt; Pixel becomes 0 (Black).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result is a </a:t>
            </a:r>
            <a:r>
              <a:rPr lang="en-US" sz="2400" b="1" dirty="0">
                <a:latin typeface="Arial"/>
                <a:ea typeface="Arial"/>
                <a:cs typeface="Arial"/>
                <a:sym typeface="Arial"/>
              </a:rPr>
              <a:t>Binary Mask</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known computationally as </a:t>
            </a:r>
            <a:r>
              <a:rPr lang="en-US" sz="2400" b="1" dirty="0">
                <a:latin typeface="Arial"/>
                <a:ea typeface="Arial"/>
                <a:cs typeface="Arial"/>
                <a:sym typeface="Arial"/>
              </a:rPr>
              <a:t>Connected Component Labeling (CCL)</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rial"/>
              <a:ea typeface="Arial"/>
              <a:cs typeface="Arial"/>
              <a:sym typeface="Arial"/>
            </a:endParaRPr>
          </a:p>
          <a:p>
            <a:pPr indent="-457200">
              <a:lnSpc>
                <a:spcPct val="100000"/>
              </a:lnSpc>
              <a:spcBef>
                <a:spcPts val="0"/>
              </a:spcBef>
              <a:buSzPts val="3000"/>
              <a:buFont typeface="+mj-lt"/>
              <a:buAutoNum type="arabicPeriod"/>
            </a:pPr>
            <a:r>
              <a:rPr lang="en-US" sz="2400" dirty="0">
                <a:latin typeface="Arial"/>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rial"/>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rial"/>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rial"/>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Filter blob by </a:t>
            </a:r>
            <a:r>
              <a:rPr lang="en-US" sz="2400" b="1" dirty="0">
                <a:latin typeface="Arial"/>
                <a:ea typeface="Arial"/>
                <a:cs typeface="Arial"/>
                <a:sym typeface="Arial"/>
              </a:rPr>
              <a:t>Area </a:t>
            </a:r>
            <a:r>
              <a:rPr lang="en-US" sz="2400" dirty="0">
                <a:latin typeface="Arial"/>
                <a:ea typeface="Arial"/>
                <a:cs typeface="Arial"/>
                <a:sym typeface="Arial"/>
              </a:rPr>
              <a:t>(total pixel count), filter blob by </a:t>
            </a:r>
            <a:r>
              <a:rPr lang="en-US" sz="2400" b="1" dirty="0">
                <a:latin typeface="Arial"/>
                <a:ea typeface="Arial"/>
                <a:cs typeface="Arial"/>
                <a:sym typeface="Arial"/>
              </a:rPr>
              <a:t>shape </a:t>
            </a:r>
            <a:r>
              <a:rPr lang="en-US" sz="2400" dirty="0">
                <a:latin typeface="Arial"/>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dirty="0" err="1">
                <a:latin typeface="Arial"/>
                <a:ea typeface="Arial"/>
                <a:cs typeface="Arial"/>
                <a:sym typeface="Arial"/>
              </a:rPr>
              <a:t>Blob.Area</a:t>
            </a:r>
            <a:r>
              <a:rPr lang="en-US" sz="2400" dirty="0">
                <a:latin typeface="Arial"/>
                <a:ea typeface="Arial"/>
                <a:cs typeface="Arial"/>
                <a:sym typeface="Arial"/>
              </a:rPr>
              <a:t> &lt; MIN_THRESHOLD, we discard 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need its (X, Y) coordinate in the camera frame to steer the robot. We do this by calculating the </a:t>
                </a:r>
                <a:r>
                  <a:rPr lang="en-US" sz="2000" b="1" dirty="0">
                    <a:latin typeface="Arial"/>
                    <a:ea typeface="Arial"/>
                    <a:cs typeface="Arial"/>
                    <a:sym typeface="Arial"/>
                  </a:rPr>
                  <a:t>Centroid </a:t>
                </a:r>
                <a:r>
                  <a:rPr lang="en-US" sz="2000" dirty="0">
                    <a:latin typeface="Arial"/>
                    <a:ea typeface="Arial"/>
                    <a:cs typeface="Arial"/>
                    <a:sym typeface="Arial"/>
                  </a:rPr>
                  <a:t>(Center of Mass ) of the blob.</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compute this using </a:t>
                </a:r>
                <a:r>
                  <a:rPr lang="en-US" sz="2000" b="1" dirty="0">
                    <a:latin typeface="Arial"/>
                    <a:ea typeface="Arial"/>
                    <a:cs typeface="Arial"/>
                    <a:sym typeface="Arial"/>
                  </a:rPr>
                  <a:t>Image Moments</a:t>
                </a:r>
                <a:r>
                  <a:rPr lang="en-US" sz="2000" dirty="0">
                    <a:latin typeface="Arial"/>
                    <a:ea typeface="Arial"/>
                    <a:cs typeface="Arial"/>
                    <a:sym typeface="Arial"/>
                  </a:rPr>
                  <a:t>.</a:t>
                </a:r>
              </a:p>
              <a:p>
                <a:pPr marL="0" indent="0">
                  <a:lnSpc>
                    <a:spcPct val="100000"/>
                  </a:lnSpc>
                  <a:spcBef>
                    <a:spcPts val="0"/>
                  </a:spcBef>
                  <a:buSzPts val="3000"/>
                  <a:buNone/>
                </a:pPr>
                <a:r>
                  <a:rPr lang="en-US" sz="2000" dirty="0">
                    <a:latin typeface="Arial"/>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rial"/>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0</a:t>
                </a:r>
                <a:r>
                  <a:rPr lang="en-US" sz="2000" baseline="30000" dirty="0">
                    <a:latin typeface="Arial"/>
                    <a:ea typeface="Arial"/>
                    <a:cs typeface="Arial"/>
                    <a:sym typeface="Arial"/>
                  </a:rPr>
                  <a:t>th</a:t>
                </a:r>
                <a:r>
                  <a:rPr lang="en-US" sz="2000" dirty="0">
                    <a:latin typeface="Arial"/>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rial"/>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rial"/>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rial"/>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rial"/>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rial"/>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rial"/>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These act as our weighted spatial totals.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rial"/>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rial"/>
                    <a:ea typeface="Arial"/>
                    <a:cs typeface="Arial"/>
                    <a:sym typeface="Arial"/>
                  </a:rPr>
                  <a:t>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rial"/>
                    <a:ea typeface="Arial"/>
                    <a:cs typeface="Arial"/>
                    <a:sym typeface="Arial"/>
                  </a:rPr>
                  <a:t>, where is the ball?</a:t>
                </a:r>
              </a:p>
              <a:p>
                <a:pPr marL="0" indent="0" algn="ctr">
                  <a:lnSpc>
                    <a:spcPct val="100000"/>
                  </a:lnSpc>
                  <a:spcBef>
                    <a:spcPts val="0"/>
                  </a:spcBef>
                  <a:buSzPts val="3000"/>
                  <a:buNone/>
                </a:pPr>
                <a:r>
                  <a:rPr lang="en-US" sz="2400" dirty="0">
                    <a:latin typeface="Arial"/>
                    <a:ea typeface="Arial"/>
                    <a:cs typeface="Arial"/>
                    <a:sym typeface="Arial"/>
                  </a:rPr>
                  <a:t>It is to the right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rial"/>
                    <a:ea typeface="Arial"/>
                    <a:cs typeface="Arial"/>
                    <a:sym typeface="Arial"/>
                  </a:rPr>
                  <a:t> pixels.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Online Media 4" title="Computer Vision Blob Detecti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