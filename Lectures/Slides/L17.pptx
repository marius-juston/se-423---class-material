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6"/>
  </p:notesMasterIdLst>
  <p:sldIdLst>
    <p:sldId id="256" r:id="rId2"/>
    <p:sldId id="417" r:id="rId3"/>
    <p:sldId id="413" r:id="rId4"/>
    <p:sldId id="272" r:id="rId5"/>
    <p:sldId id="258" r:id="rId6"/>
    <p:sldId id="418" r:id="rId7"/>
    <p:sldId id="420" r:id="rId8"/>
    <p:sldId id="421" r:id="rId9"/>
    <p:sldId id="422" r:id="rId10"/>
    <p:sldId id="426" r:id="rId11"/>
    <p:sldId id="441" r:id="rId12"/>
    <p:sldId id="425" r:id="rId13"/>
    <p:sldId id="424" r:id="rId14"/>
    <p:sldId id="423" r:id="rId15"/>
    <p:sldId id="427" r:id="rId16"/>
    <p:sldId id="439" r:id="rId17"/>
    <p:sldId id="442" r:id="rId18"/>
    <p:sldId id="428" r:id="rId19"/>
    <p:sldId id="429" r:id="rId20"/>
    <p:sldId id="430" r:id="rId21"/>
    <p:sldId id="431" r:id="rId22"/>
    <p:sldId id="432" r:id="rId23"/>
    <p:sldId id="433" r:id="rId24"/>
    <p:sldId id="434" r:id="rId25"/>
    <p:sldId id="435" r:id="rId26"/>
    <p:sldId id="436" r:id="rId27"/>
    <p:sldId id="437" r:id="rId28"/>
    <p:sldId id="438" r:id="rId29"/>
    <p:sldId id="446" r:id="rId30"/>
    <p:sldId id="445" r:id="rId31"/>
    <p:sldId id="447" r:id="rId32"/>
    <p:sldId id="448" r:id="rId33"/>
    <p:sldId id="440" r:id="rId34"/>
    <p:sldId id="443" r:id="rId35"/>
    <p:sldId id="444" r:id="rId36"/>
    <p:sldId id="449" r:id="rId37"/>
    <p:sldId id="450" r:id="rId38"/>
    <p:sldId id="451" r:id="rId39"/>
    <p:sldId id="452" r:id="rId40"/>
    <p:sldId id="453" r:id="rId41"/>
    <p:sldId id="454" r:id="rId42"/>
    <p:sldId id="455" r:id="rId43"/>
    <p:sldId id="271" r:id="rId44"/>
    <p:sldId id="270" r:id="rId4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7"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customschemas.google.com/relationships/presentationmetadata" Target="meta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6ADE6F-99B4-9799-2C41-4011DF8B3C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369389-D210-000B-6FED-F008667A34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5D55EF0-218F-71C2-453B-6639DB719D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49156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E2BE17-991A-AC6E-BA8B-434897DBFB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90597E-F7E7-34EB-3971-CBD5DFB292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ADBA60-6486-DBA1-C367-658AA5E2A2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1541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F57B8-6FC4-8816-4B2E-FA116D5A38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5461E9-4CC0-00FA-DE74-4ACADC1296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19DDE7-BB41-407B-7F40-F49FA674B4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846550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629B90F-AEED-6D2A-C4D1-373A28E6225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38B84F7-766E-12E2-9609-077DFC5368D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DEC1A56-CDF7-F517-C18C-1795CA3683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065895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3FA637-0439-F11E-FC41-00BE39636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8DA76-D773-63C1-8561-3C90018F2B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ACE637-18D0-AA1A-0D9D-66DEC2A5C9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706906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0676D7-CA51-711C-DCBA-CA23123F9B8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C25D65-D0BC-EEA2-8AB3-4607DBB004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FB0F6-F093-428E-E600-A44A65429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09938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065E7A-9B1B-1BE2-29D0-EC233898063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C5960F-F261-E5F4-4CE0-84AB437209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F2467D-238F-9E12-1412-52E3CB32E4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572840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3E4A19-1592-C1FF-233B-4A66CC4DC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04DDF6-E088-AF65-8521-E66E0D7A10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83102D-96FD-5A81-C202-D4DE83FB78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1615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A2C574-8CDF-366C-E8A4-99F91803E7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84EE58-3E4B-F2AE-BB3C-609F2533DA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664311-18C5-0F05-9CDF-5C306D7ECC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638432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AA1647-7AFD-8C69-8777-23320392AFA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127593A-FFC2-A1E5-D8FE-10156F648A7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FCB4D3AB-46BA-6543-F507-39CFB0966D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862450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7267AB2-1EDD-C257-91E8-5B67E51552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4C20FB-E18B-8DB2-5D57-2D25B08BEA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1BA117-4661-1140-864D-CF605EFC9D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9076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82EE4C7-F28C-4531-F5EC-CE41431578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F2C6C4-6E9C-B070-9F42-C92C5D34C4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EBADFD-3A76-CE3A-FDE3-2F8F585F10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61373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DA1FDB-7425-9853-8F45-3504312192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A8E59B-DDF3-86E7-EC87-2D923B6A87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F30CBD0-D2A6-6D75-7CFE-4A5994C42F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116797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BD9398-5BDA-0E67-C7AC-6E024246CF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0DC48E-85DE-C25C-5496-300727C86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164087-A1F3-1C69-5DEC-68943630AA9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481685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F3416C-30A2-5FCF-D3E6-2DF45F8E24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4E7D71-DD8C-6493-4EC4-304B20F1DB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E07802-0D73-89D6-A9D9-01B9B4BDD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35216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8FF9FA-2587-BA16-AD7D-82BACCB28D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B974A6-4AF4-F075-F44A-37069C1F7B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A94773-F84B-E818-0EF6-052FDE0C03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0165361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2C749-CD49-C280-0A80-1E6373FC08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8E87AB-3D3D-321A-7381-8C20E334AB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CF677D-8C39-B695-BD35-7C07FA85ED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085412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843B6A-12DA-A916-89FE-6DF458FFD0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41FCD8-01F1-A6E8-72BC-793B7BD818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FEFEB9D-9A15-E4B9-167F-D55CBE178B0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110466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D3E2B5-B574-0671-916C-E16D9DB0F3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099826-4582-1846-24EF-D688768C63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64BAC7-FDE4-4959-1E9F-0B2FDA16DF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61523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46754C-2C13-23F7-9D88-55E7FCC2D5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80362C-5154-22A4-7761-AF49487549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A7E3E6-863D-2C2F-D18C-2ED07AD614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670752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C32B8D-9D52-9A44-3C67-CAF170BCCD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51AF31-95A2-66C8-CBBB-FD1A2976F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9D91DE-5183-E53A-BE47-8BEC2CFF51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897391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3A133D-F0C6-69E5-2C76-8DF27243AA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B50B19-F3D7-6383-D131-D897C029E0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ADA42AF-4DD3-AE9E-00F9-FCBFD52E22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8953961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B0C1D-1601-A1BF-26B3-4FBF2FCD2C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98AB75-E9FB-4F91-B6AD-0A2A924D22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173565-8872-FD39-7C5D-E82C8C027A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28004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7CA29D-7492-A28D-FD93-914E74AA94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DEAE0E-B773-1EC4-1432-01EF272531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850C2E8-B8FA-F2C9-4B0B-58D2E1E40B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97869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90AC5A-D8BC-6046-D284-93579E4FCB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F7795E5-4A6D-7AA3-98D0-145A880FD1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E8C737D-B38F-CD0F-8195-F5AB1411D7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236858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361C8D-2524-0265-3FAC-1937E94E0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66F5CB-02B8-288C-32DA-BB1FE60B26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D6FB82-FEFC-D2AB-089C-FA8A11C22D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6228089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ED60DE2-85D4-EE3A-AF2C-EAF42D8979F3}"/>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C1CDADA-8CA3-7C95-EB4F-F32BD303361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2F3976DB-20C6-71C1-7299-42DD69AE0A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7319893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361EF9-BA90-1345-B14B-DC170FA746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329FA4-A3E5-5907-0604-1CD14D2809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C79163-36C5-DB9E-95DD-43C1CCE1D8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720302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9F13D6-1CC9-911D-81A1-B19FDD6C19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CEEC3F3-A15F-84F7-9BEF-420692C66B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285E14-208D-DB11-BE23-55C181ACA3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70992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11EA38-BD47-22A2-A407-F678F396D7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E7C2D-BF11-7868-8AFB-9535CF8290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A19A12-FCF5-1335-3F1D-3D4D647E45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790422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AA5F7E-F9B5-8949-BAD8-1C2D456676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17715-18E6-C6B1-4ACE-1951C84247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63AE6F-41B5-7ED4-A98E-6E31CB7890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027204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2C8002-1A47-DE63-75D4-9DB4C2D662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427010-AC24-E981-8FF6-2A1127D216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CDA2FC-4DD3-A1B4-FD07-AAEC248345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595606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253051-CFA1-CB5E-837F-0483B349B2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5FDB27-07B3-09EA-FC0C-659F13E2A2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41F3FB-26C7-904C-383F-EEFAAC2D58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29711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4356CA-44D2-0CE3-653A-CF2944457D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463E22-1319-3E72-5526-4DAAA20945F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4AC8DB4-0C07-B70B-2CC2-BD7526280E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597238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76830-E28E-2D5F-C20E-A9DBB5A13AE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6013F49-DA3B-4488-F46E-D5DD30F10B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D2D9884-DF4A-27F2-2854-1F43AA0B88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8865783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520B157-5651-24A1-8720-CF09CBA292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D62F168-1756-7BF6-E542-5E080C0427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79D3E2F-1CAA-C659-C5EE-8DE64B638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759657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michaelbach.de/ot/" TargetMode="External"/><Relationship Id="rId5" Type="http://schemas.openxmlformats.org/officeDocument/2006/relationships/image" Target="../media/image5.png"/><Relationship Id="rId4" Type="http://schemas.openxmlformats.org/officeDocument/2006/relationships/image" Target="../media/image4.gif"/></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hyperlink" Target="https://visionbook.mit.edu/"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image" Target="../media/image3.png"/><Relationship Id="rId4" Type="http://schemas.openxmlformats.org/officeDocument/2006/relationships/hyperlink" Target="https://isl.stanford.edu/~abbas/ee392b/lect04.pdf"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3.jpeg"/><Relationship Id="rId5" Type="http://schemas.openxmlformats.org/officeDocument/2006/relationships/hyperlink" Target="https://evidentscientific.com/en/microscope-resource/knowledge-hub/digital-imaging/cmosimagesensors" TargetMode="External"/><Relationship Id="rId4" Type="http://schemas.openxmlformats.org/officeDocument/2006/relationships/image" Target="../media/image12.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isl.stanford.edu/~abbas/ee392b/lect04.pdf" TargetMode="Externa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hyperlink" Target="https://en.wikipedia.org/wiki/Bayer_filter" TargetMode="External"/><Relationship Id="rId3" Type="http://schemas.openxmlformats.org/officeDocument/2006/relationships/image" Target="../media/image3.png"/><Relationship Id="rId7" Type="http://schemas.openxmlformats.org/officeDocument/2006/relationships/image" Target="../media/image21.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hyperlink" Target="https://en.wikipedia.org/wiki/Bayer_filter"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hyperlink" Target="https://en.wikipedia.org/wiki/Color_vision" TargetMode="External"/><Relationship Id="rId5" Type="http://schemas.openxmlformats.org/officeDocument/2006/relationships/image" Target="../media/image24.sv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Color_vision" TargetMode="Externa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8" Type="http://schemas.openxmlformats.org/officeDocument/2006/relationships/hyperlink" Target="https://en.wikipedia.org/wiki/HSL_and_HSV#Disadvantages" TargetMode="External"/><Relationship Id="rId3" Type="http://schemas.openxmlformats.org/officeDocument/2006/relationships/image" Target="../media/image3.png"/><Relationship Id="rId7" Type="http://schemas.openxmlformats.org/officeDocument/2006/relationships/image" Target="../media/image33.jpe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32.jpeg"/><Relationship Id="rId5" Type="http://schemas.openxmlformats.org/officeDocument/2006/relationships/image" Target="../media/image31.jpeg"/><Relationship Id="rId4" Type="http://schemas.openxmlformats.org/officeDocument/2006/relationships/image" Target="../media/image30.jpe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hyperlink" Target="https://en.wikipedia.org/wiki/CIELAB_color_space"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hyperlink" Target="https://en.wikipedia.org/wiki/CIELAB_color_space" TargetMode="External"/><Relationship Id="rId5" Type="http://schemas.openxmlformats.org/officeDocument/2006/relationships/image" Target="../media/image35.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2.xml"/><Relationship Id="rId1" Type="http://schemas.openxmlformats.org/officeDocument/2006/relationships/video" Target="https://www.youtube.com/embed/-WRpijIHN3M?feature=oembed" TargetMode="External"/><Relationship Id="rId5" Type="http://schemas.openxmlformats.org/officeDocument/2006/relationships/image" Target="../media/image36.jpe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17: Vision Processing, Cameras, Blob Detection</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Wednesday, March 25</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does RGB stand for?</a:t>
            </a:r>
          </a:p>
          <a:p>
            <a:pPr marL="285750" indent="-285750">
              <a:lnSpc>
                <a:spcPct val="100000"/>
              </a:lnSpc>
              <a:spcBef>
                <a:spcPts val="0"/>
              </a:spcBef>
              <a:buSzPts val="3000"/>
            </a:pPr>
            <a:r>
              <a:rPr lang="en-US" sz="2400" dirty="0">
                <a:latin typeface="Atkinson Hyperlegible Next"/>
                <a:ea typeface="Arial"/>
                <a:cs typeface="Arial"/>
                <a:sym typeface="Arial"/>
              </a:rPr>
              <a:t>How many colors are there? Are the lines straight?</a:t>
            </a: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a:extLst>
              <a:ext uri="{FF2B5EF4-FFF2-40B4-BE49-F238E27FC236}">
                <a16:creationId xmlns:a16="http://schemas.microsoft.com/office/drawing/2014/main" id="{5C9ED0E5-D2F3-6859-05CA-DBB780B2AE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7279" y="2870951"/>
            <a:ext cx="3654112" cy="281366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24A77EEA-1740-B395-D98B-8393E536A5FE}"/>
              </a:ext>
            </a:extLst>
          </p:cNvPr>
          <p:cNvPicPr>
            <a:picLocks noChangeAspect="1"/>
          </p:cNvPicPr>
          <p:nvPr/>
        </p:nvPicPr>
        <p:blipFill>
          <a:blip r:embed="rId5"/>
          <a:stretch>
            <a:fillRect/>
          </a:stretch>
        </p:blipFill>
        <p:spPr>
          <a:xfrm>
            <a:off x="6167022" y="2870951"/>
            <a:ext cx="4118907" cy="2945301"/>
          </a:xfrm>
          <a:prstGeom prst="rect">
            <a:avLst/>
          </a:prstGeom>
        </p:spPr>
      </p:pic>
      <p:sp>
        <p:nvSpPr>
          <p:cNvPr id="5" name="TextBox 4">
            <a:extLst>
              <a:ext uri="{FF2B5EF4-FFF2-40B4-BE49-F238E27FC236}">
                <a16:creationId xmlns:a16="http://schemas.microsoft.com/office/drawing/2014/main" id="{E925A56A-A2DB-7BA7-00B2-27F8A193BF16}"/>
              </a:ext>
            </a:extLst>
          </p:cNvPr>
          <p:cNvSpPr txBox="1"/>
          <p:nvPr/>
        </p:nvSpPr>
        <p:spPr>
          <a:xfrm>
            <a:off x="2973698" y="6101038"/>
            <a:ext cx="5716250" cy="307777"/>
          </a:xfrm>
          <a:prstGeom prst="rect">
            <a:avLst/>
          </a:prstGeom>
          <a:noFill/>
        </p:spPr>
        <p:txBody>
          <a:bodyPr wrap="square">
            <a:spAutoFit/>
          </a:bodyPr>
          <a:lstStyle/>
          <a:p>
            <a:pPr algn="ctr"/>
            <a:r>
              <a:rPr lang="en-US" dirty="0"/>
              <a:t>check out </a:t>
            </a:r>
            <a:r>
              <a:rPr lang="en-US" dirty="0">
                <a:hlinkClick r:id="rId6"/>
              </a:rPr>
              <a:t>https://michaelbach.de/ot/</a:t>
            </a:r>
            <a:r>
              <a:rPr lang="en-US" dirty="0"/>
              <a:t> for a bunch of optical illusions!</a:t>
            </a:r>
          </a:p>
        </p:txBody>
      </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285750" indent="-285750">
              <a:lnSpc>
                <a:spcPct val="100000"/>
              </a:lnSpc>
              <a:spcBef>
                <a:spcPts val="0"/>
              </a:spcBef>
              <a:buSzPts val="3000"/>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Computer Vision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72812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 would </a:t>
            </a:r>
            <a:r>
              <a:rPr lang="en-US" sz="2200" b="1" dirty="0">
                <a:latin typeface="Atkinson Hyperlegible Next"/>
                <a:ea typeface="Arial"/>
                <a:cs typeface="Arial"/>
                <a:sym typeface="Arial"/>
              </a:rPr>
              <a:t>HIGHLY</a:t>
            </a:r>
            <a:r>
              <a:rPr lang="en-US" sz="2200" dirty="0">
                <a:latin typeface="Atkinson Hyperlegible Next"/>
                <a:ea typeface="Arial"/>
                <a:cs typeface="Arial"/>
                <a:sym typeface="Arial"/>
              </a:rPr>
              <a:t> recommend you looking at:</a:t>
            </a:r>
          </a:p>
          <a:p>
            <a:pPr marL="0" indent="0">
              <a:lnSpc>
                <a:spcPct val="100000"/>
              </a:lnSpc>
              <a:spcBef>
                <a:spcPts val="0"/>
              </a:spcBef>
              <a:buSzPts val="3000"/>
              <a:buNone/>
            </a:pPr>
            <a:endParaRPr lang="en-US" sz="22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hlinkClick r:id="rId3"/>
              </a:rPr>
              <a:t>https://visionbook.mit.edu/</a:t>
            </a:r>
            <a:r>
              <a:rPr lang="en-US" sz="2200" dirty="0">
                <a:latin typeface="Atkinson Hyperlegible Next"/>
                <a:ea typeface="Arial"/>
                <a:cs typeface="Arial"/>
                <a:sym typeface="Arial"/>
              </a:rPr>
              <a:t> </a:t>
            </a:r>
          </a:p>
          <a:p>
            <a:pPr marL="342900">
              <a:lnSpc>
                <a:spcPct val="100000"/>
              </a:lnSpc>
              <a:spcBef>
                <a:spcPts val="0"/>
              </a:spcBef>
              <a:buSzPts val="3000"/>
            </a:pPr>
            <a:endParaRPr lang="en-US" sz="22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The webpage is a textbook with all the math, background and information for computer vision. </a:t>
            </a:r>
          </a:p>
          <a:p>
            <a:pPr marL="342900">
              <a:lnSpc>
                <a:spcPct val="100000"/>
              </a:lnSpc>
              <a:spcBef>
                <a:spcPts val="0"/>
              </a:spcBef>
              <a:buSzPts val="3000"/>
            </a:pPr>
            <a:r>
              <a:rPr lang="en-US" sz="2200" dirty="0">
                <a:latin typeface="Atkinson Hyperlegible Next"/>
                <a:ea typeface="Arial"/>
                <a:cs typeface="Arial"/>
                <a:sym typeface="Arial"/>
              </a:rPr>
              <a:t>We will only be doing a tiny portion of this in this lecture (there are whole grad classes for computer vision).</a:t>
            </a:r>
          </a:p>
          <a:p>
            <a:pPr marL="342900">
              <a:lnSpc>
                <a:spcPct val="100000"/>
              </a:lnSpc>
              <a:spcBef>
                <a:spcPts val="0"/>
              </a:spcBef>
              <a:buSzPts val="3000"/>
            </a:pPr>
            <a:r>
              <a:rPr lang="en-US" sz="2200" dirty="0">
                <a:latin typeface="Atkinson Hyperlegible Next"/>
                <a:ea typeface="Arial"/>
                <a:cs typeface="Arial"/>
                <a:sym typeface="Arial"/>
              </a:rPr>
              <a:t>It is containerized very nicely, has lots of pictures, diagrams. Each section takes 5 minutes to read.</a:t>
            </a: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(also, for more CMOS details look at </a:t>
            </a:r>
            <a:r>
              <a:rPr lang="en-US" sz="2200" dirty="0">
                <a:latin typeface="Atkinson Hyperlegible Next"/>
                <a:ea typeface="Arial"/>
                <a:cs typeface="Arial"/>
                <a:sym typeface="Arial"/>
                <a:hlinkClick r:id="rId4"/>
              </a:rPr>
              <a:t>https://isl.stanford.edu/~abbas/ee392b/lect04.pdf</a:t>
            </a:r>
            <a:r>
              <a:rPr lang="en-US" sz="2200" dirty="0">
                <a:latin typeface="Atkinson Hyperlegible Next"/>
                <a:ea typeface="Arial"/>
                <a:cs typeface="Arial"/>
                <a:sym typeface="Arial"/>
              </a:rPr>
              <a:t> )</a:t>
            </a:r>
          </a:p>
          <a:p>
            <a:pPr marL="0" indent="0">
              <a:lnSpc>
                <a:spcPct val="100000"/>
              </a:lnSpc>
              <a:spcBef>
                <a:spcPts val="0"/>
              </a:spcBef>
              <a:buSzPts val="3000"/>
              <a:buNone/>
            </a:pPr>
            <a:r>
              <a:rPr lang="en-US" sz="2200" dirty="0">
                <a:latin typeface="Atkinson Hyperlegible Next"/>
                <a:ea typeface="Arial"/>
                <a:cs typeface="Arial"/>
                <a:sym typeface="Arial"/>
              </a:rPr>
              <a:t> </a:t>
            </a:r>
          </a:p>
          <a:p>
            <a:pPr marL="342900">
              <a:lnSpc>
                <a:spcPct val="100000"/>
              </a:lnSpc>
              <a:spcBef>
                <a:spcPts val="0"/>
              </a:spcBef>
              <a:buSzPts val="3000"/>
            </a:pPr>
            <a:endParaRPr lang="en-US" sz="22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2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Preface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Book Cover">
            <a:extLst>
              <a:ext uri="{FF2B5EF4-FFF2-40B4-BE49-F238E27FC236}">
                <a16:creationId xmlns:a16="http://schemas.microsoft.com/office/drawing/2014/main" id="{16494730-091D-C1B6-F5BD-6F81EF76ADA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77703" y="1711534"/>
            <a:ext cx="3704685" cy="41558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2C81AD-1A6E-D004-B381-602AC33F3AE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6D7903F-4A88-9155-DEE5-0ACBC5381F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Currently we have the LiDAR working and returning points; however, what kind of data are missing from just the LiDAR?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solidFill>
                  <a:schemeClr val="dk1"/>
                </a:solidFill>
                <a:latin typeface="Atkinson Hyperlegible Next"/>
                <a:ea typeface="Arial"/>
                <a:cs typeface="Arial"/>
                <a:sym typeface="Arial"/>
              </a:rPr>
              <a:t>Color, complex shapes, human vision like data</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Vision processing allows a robot to extract rich, high-density data from its environment.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an array of 228 distances (like our LiDAR), a camera gives us millions of data points per frame (RGB per pixel).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primary drawback of having millions of data points per frame in a real-time mechatronic system?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Computational latency; processing takes time, more memory / bandwidth is required to handle processing of the data!</a:t>
            </a:r>
          </a:p>
        </p:txBody>
      </p:sp>
      <p:sp>
        <p:nvSpPr>
          <p:cNvPr id="119" name="Google Shape;119;p29">
            <a:extLst>
              <a:ext uri="{FF2B5EF4-FFF2-40B4-BE49-F238E27FC236}">
                <a16:creationId xmlns:a16="http://schemas.microsoft.com/office/drawing/2014/main" id="{365A57A6-14AA-B374-F8FB-5E158BBEB3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A16E84-BE0D-7BB2-4B0E-C19E6F45F11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541ACED-9C36-202D-23D7-311F30CCF3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83AE1D0-CA64-859A-D8D7-095BDA4E1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FEBDB6-6EA8-F453-A40F-DE4FC23DE5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78A940-625E-BBA2-AC5E-ED630C3A449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4A153F-832E-FA5E-970B-B15C0D5AD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83D903-725F-188F-CD09-34C316ADA5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3746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092B7E-51BB-FC65-FE20-B599D930F9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7E96BB-18D9-716F-5079-19C6785E66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Is a standard camera an active or a passive sensor?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Passive.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does not emit energy; it captures ambient light bouncing off objects.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it is passive, it is highly vulnerable to environmental changes.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sun goes behind a cloud what happens?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The pixel color changes, shadows appears, etc.</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build robust code around this? </a:t>
            </a:r>
          </a:p>
        </p:txBody>
      </p:sp>
      <p:sp>
        <p:nvSpPr>
          <p:cNvPr id="119" name="Google Shape;119;p29">
            <a:extLst>
              <a:ext uri="{FF2B5EF4-FFF2-40B4-BE49-F238E27FC236}">
                <a16:creationId xmlns:a16="http://schemas.microsoft.com/office/drawing/2014/main" id="{AEA9BF49-63B3-6220-8894-5C4A01C95D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1FC65F-811D-9E5B-B046-C805B0487EA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C294F1E-A9C1-68F5-F825-463F286584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BB6AFF-821D-8DF2-BC40-2ABD681AA3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1F7708-3D4A-9DA6-1196-CEA543B41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1A2B8B-1B14-B56C-3E70-3F5BA69443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2ADCFB-430A-B61B-070F-9C6EC8A233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A0FD44-0EE0-1EC2-797E-F014D37B96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50868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8FC24-6FEE-B53E-DF6D-B06641057B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936406-4328-DAE7-E65C-88AF791D3A4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main pipeline that we will follow in this class is the following: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Step 1: The CMOS sensor captures photons and converts them to digital arrays.</a:t>
            </a:r>
          </a:p>
          <a:p>
            <a:pPr marL="0" indent="0">
              <a:lnSpc>
                <a:spcPct val="100000"/>
              </a:lnSpc>
              <a:spcBef>
                <a:spcPts val="0"/>
              </a:spcBef>
              <a:buSzPts val="3000"/>
              <a:buNone/>
            </a:pPr>
            <a:r>
              <a:rPr lang="en-US" sz="1400" dirty="0">
                <a:latin typeface="Atkinson Hyperlegible Next"/>
                <a:ea typeface="Arial"/>
                <a:cs typeface="Arial"/>
                <a:sym typeface="Arial"/>
              </a:rPr>
              <a:t>Step 2: The processor filters the image (e.g., finding specific colors).</a:t>
            </a:r>
          </a:p>
          <a:p>
            <a:pPr marL="0" indent="0">
              <a:lnSpc>
                <a:spcPct val="100000"/>
              </a:lnSpc>
              <a:spcBef>
                <a:spcPts val="0"/>
              </a:spcBef>
              <a:buSzPts val="3000"/>
              <a:buNone/>
            </a:pPr>
            <a:r>
              <a:rPr lang="en-US" sz="1400" dirty="0">
                <a:latin typeface="Atkinson Hyperlegible Next"/>
                <a:ea typeface="Arial"/>
                <a:cs typeface="Arial"/>
                <a:sym typeface="Arial"/>
              </a:rPr>
              <a:t>Step 3: The algorithm calculates the coordinates of the target (Centroid).</a:t>
            </a:r>
          </a:p>
          <a:p>
            <a:pPr marL="0" indent="0">
              <a:lnSpc>
                <a:spcPct val="100000"/>
              </a:lnSpc>
              <a:spcBef>
                <a:spcPts val="0"/>
              </a:spcBef>
              <a:buSzPts val="3000"/>
              <a:buNone/>
            </a:pPr>
            <a:r>
              <a:rPr lang="en-US" sz="1400" dirty="0">
                <a:latin typeface="Atkinson Hyperlegible Next"/>
                <a:ea typeface="Arial"/>
                <a:cs typeface="Arial"/>
                <a:sym typeface="Arial"/>
              </a:rPr>
              <a:t>Step 4: The Cascade Control loop turns the coordinates into wheel velocities.</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752AB9F-64E8-0BAB-3991-3DD5D95641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8CF0202-90E7-D4E7-69D2-F24AA443F7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1385070-E786-B7E8-0475-4C7D65A169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ADCBB4-BC8E-B688-4A9D-A1BC344CB7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33A4F0-689F-8D49-5D7E-57A52C7BB3E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5AE4E45-9568-F880-75DE-6D325A0684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7675D2-499F-2B6A-2AFC-375CF6CA76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89901C-7A46-7EFD-D6E3-659F797B764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13F46CA8-EE1D-75C2-2D7F-5CB72CE2BE3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55035" y="1692271"/>
            <a:ext cx="6681929" cy="3473457"/>
          </a:xfrm>
          <a:prstGeom prst="rect">
            <a:avLst/>
          </a:prstGeom>
        </p:spPr>
      </p:pic>
    </p:spTree>
    <p:extLst>
      <p:ext uri="{BB962C8B-B14F-4D97-AF65-F5344CB8AC3E}">
        <p14:creationId xmlns:p14="http://schemas.microsoft.com/office/powerpoint/2010/main" val="2728360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0E69405-C3FC-2EC0-DFAC-9DBE384FEF6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4D13460-73C7-E962-FBE7-AF45E2446324}"/>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CMOS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D563148F-85A1-824E-16CB-09A3FDE84B0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4F9632D-C2F2-12AD-0306-8CACB0A508D7}"/>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C9D0B51-5108-4F0C-0589-1B98FF31625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25636025-B5E4-C288-D577-082D0394624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9CD3D86-71C2-6AA7-4319-0050BA7C0C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CB5B61B-B5B4-C423-3981-4DB2FCD077F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0A5F840-FAEB-575B-264E-CE9006A2C90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C5899A6-6957-DA49-48EF-04407EC200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E60713-C69D-BE82-3982-08E43AD7D7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174785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373CE13-BD42-B6D3-F295-EF5964D167B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CB52865-C695-CF51-6C5B-2048481859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FBEC08-96C0-86F3-C10A-4FB75E1ABE8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F5C46DE-9015-B6D9-9D7F-3DC552A79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8E7360-DEAF-3490-B665-A86236B2AA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0EBAF3-FC95-88A3-1E92-6B172381B2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3B14B-0010-EFEE-6033-30DD9CB94F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28DB5-EA0C-C580-19C9-76A678B20F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06C697-5485-F679-1818-97A544ADB4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D5130AE9-14BA-F584-28E1-F910A55AB14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145A5D38-587A-C3A9-3E44-D23B81CCD043}"/>
              </a:ext>
            </a:extLst>
          </p:cNvPr>
          <p:cNvSpPr/>
          <p:nvPr/>
        </p:nvSpPr>
        <p:spPr>
          <a:xfrm>
            <a:off x="1125415" y="1956688"/>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99280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2E227C-2AE5-37F3-8346-8FCEE11260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3C338A1-0BAF-412A-7142-D2E70B411BA2}"/>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Most modern robotics vision relies on CMOS (Complementary Metal-Oxide-Semiconductor) sensors.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CMOS sensor contains a massive 2D grid of microscopic photodiodes.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photons strike a photodiode, they excite electrons via the photoelectric effect, creating a measurable voltage.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continuous voltage is sampled and converted into a discrete digital value (usually 0-255 for an 8-bit ADC).</a:t>
            </a:r>
          </a:p>
        </p:txBody>
      </p:sp>
      <p:sp>
        <p:nvSpPr>
          <p:cNvPr id="119" name="Google Shape;119;p29">
            <a:extLst>
              <a:ext uri="{FF2B5EF4-FFF2-40B4-BE49-F238E27FC236}">
                <a16:creationId xmlns:a16="http://schemas.microsoft.com/office/drawing/2014/main" id="{367404CA-E801-FD8F-DCC1-24568A84D62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E89861-4F4B-3942-76BF-26881403B0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290073D-7D1A-E36D-4E3C-8BACD8AE47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255760-B7BC-C211-8343-50B747B050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642F68-EFB3-50EA-DD77-C82D6A9A8E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3EF384-8B6B-DB9F-4ED9-DAA49C76E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35BFE3-7568-2FB8-FE43-DDEB530A8D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1CBFAB-A82A-B593-707E-F8227CEA9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3507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AF34F0-DAC3-ED96-6087-965934AD2F8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D04B90C-7F7E-FD75-CD0D-D61D59EA9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66A014-9097-3DEA-C557-1C0E1B7B664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E1B2A7A-4EE9-90F2-1EA1-CFB3E78699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A60199-153E-D7CD-9299-57337585F6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6F6156-625B-3A59-A856-445D59C31F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847699-D191-02EF-AC9E-3A5D5DD5AF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B93BE2-D7A5-D70E-0346-1B359059C4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9C2582-7401-ABE8-9645-B1012F368B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CMOS Image Sensors: How They Work in Digital Microscopy | Evident">
            <a:extLst>
              <a:ext uri="{FF2B5EF4-FFF2-40B4-BE49-F238E27FC236}">
                <a16:creationId xmlns:a16="http://schemas.microsoft.com/office/drawing/2014/main" id="{CE785DB6-441D-D3F4-8BB7-605AB466907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6807" y="1149901"/>
            <a:ext cx="4737235" cy="413156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DA355D2-018F-3919-63AA-60CC2BED9520}"/>
              </a:ext>
            </a:extLst>
          </p:cNvPr>
          <p:cNvSpPr txBox="1"/>
          <p:nvPr/>
        </p:nvSpPr>
        <p:spPr>
          <a:xfrm>
            <a:off x="376807" y="5392222"/>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sp>
        <p:nvSpPr>
          <p:cNvPr id="7" name="TextBox 6">
            <a:extLst>
              <a:ext uri="{FF2B5EF4-FFF2-40B4-BE49-F238E27FC236}">
                <a16:creationId xmlns:a16="http://schemas.microsoft.com/office/drawing/2014/main" id="{0E3A40FB-47EE-51C1-538A-8D3C89F5692B}"/>
              </a:ext>
            </a:extLst>
          </p:cNvPr>
          <p:cNvSpPr txBox="1"/>
          <p:nvPr/>
        </p:nvSpPr>
        <p:spPr>
          <a:xfrm>
            <a:off x="6285042" y="5309239"/>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pic>
        <p:nvPicPr>
          <p:cNvPr id="4100" name="Picture 4" descr="CCD and CMOS Technology">
            <a:extLst>
              <a:ext uri="{FF2B5EF4-FFF2-40B4-BE49-F238E27FC236}">
                <a16:creationId xmlns:a16="http://schemas.microsoft.com/office/drawing/2014/main" id="{A0F68EDD-8402-D252-610E-D50621D0FAD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629706" y="1667094"/>
            <a:ext cx="5476875" cy="327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93493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D39BDC-B417-2C91-3C41-8669DDDF2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86FBB7-ACE6-F853-8977-F3838F6E894D}"/>
              </a:ext>
            </a:extLst>
          </p:cNvPr>
          <p:cNvSpPr txBox="1">
            <a:spLocks noGrp="1"/>
          </p:cNvSpPr>
          <p:nvPr>
            <p:ph type="body" idx="1"/>
          </p:nvPr>
        </p:nvSpPr>
        <p:spPr>
          <a:xfrm>
            <a:off x="376807" y="5046258"/>
            <a:ext cx="11655171" cy="1362557"/>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Readout performed by transferring one row at a time to the column storage capacitors, then reading out the row, one (or more) pixel at a time, using the column decoder and multiplexer</a:t>
            </a:r>
          </a:p>
          <a:p>
            <a:pPr marL="342900">
              <a:lnSpc>
                <a:spcPct val="100000"/>
              </a:lnSpc>
              <a:spcBef>
                <a:spcPts val="0"/>
              </a:spcBef>
              <a:buSzPts val="3000"/>
            </a:pPr>
            <a:r>
              <a:rPr lang="en-US" sz="2000" dirty="0">
                <a:latin typeface="Atkinson Hyperlegible Next"/>
                <a:ea typeface="Arial"/>
                <a:cs typeface="Arial"/>
                <a:sym typeface="Arial"/>
              </a:rPr>
              <a:t>In many CMOS image sensor architectures, row integration times are </a:t>
            </a:r>
            <a:r>
              <a:rPr lang="en-US" sz="2000" i="1" dirty="0" err="1">
                <a:latin typeface="Atkinson Hyperlegible Next"/>
                <a:ea typeface="Arial"/>
                <a:cs typeface="Arial"/>
                <a:sym typeface="Arial"/>
              </a:rPr>
              <a:t>staggerred</a:t>
            </a:r>
            <a:r>
              <a:rPr lang="en-US" sz="2000" dirty="0">
                <a:latin typeface="Atkinson Hyperlegible Next"/>
                <a:ea typeface="Arial"/>
                <a:cs typeface="Arial"/>
                <a:sym typeface="Arial"/>
              </a:rPr>
              <a:t> by the row / column readout time (scrolling shutter)</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E912862-C259-5403-D979-AA2DF7E305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D2198F7-ACF4-9C07-9D55-F1C96E9323F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21D8DBA-D9F4-D636-8E2F-A72D9C2EE3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449347-39E1-4A07-375D-BEBE44D978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D7A1C0-CBB6-F725-5593-EFBF92998D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13BFA4-DC34-3936-E0FC-835C4C2D58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53DA28-E52B-AF29-98C9-5F5DF1E959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51E22B-18E8-C869-312E-E6D65D1EFA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607017C9-F3C9-CE7F-6ED2-053A21D0935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87591" y="951609"/>
            <a:ext cx="5016817" cy="3841214"/>
          </a:xfrm>
          <a:prstGeom prst="rect">
            <a:avLst/>
          </a:prstGeom>
        </p:spPr>
      </p:pic>
      <p:sp>
        <p:nvSpPr>
          <p:cNvPr id="7" name="TextBox 6">
            <a:extLst>
              <a:ext uri="{FF2B5EF4-FFF2-40B4-BE49-F238E27FC236}">
                <a16:creationId xmlns:a16="http://schemas.microsoft.com/office/drawing/2014/main" id="{DC97B9AE-D1DF-9644-F12A-EA5890DF0F8F}"/>
              </a:ext>
            </a:extLst>
          </p:cNvPr>
          <p:cNvSpPr txBox="1"/>
          <p:nvPr/>
        </p:nvSpPr>
        <p:spPr>
          <a:xfrm>
            <a:off x="4333790" y="4792823"/>
            <a:ext cx="2996065" cy="246221"/>
          </a:xfrm>
          <a:prstGeom prst="rect">
            <a:avLst/>
          </a:prstGeom>
          <a:noFill/>
        </p:spPr>
        <p:txBody>
          <a:bodyPr wrap="square">
            <a:spAutoFit/>
          </a:bodyPr>
          <a:lstStyle/>
          <a:p>
            <a:pPr algn="ctr"/>
            <a:r>
              <a:rPr lang="en-US" sz="1000" dirty="0">
                <a:hlinkClick r:id="rId6"/>
              </a:rPr>
              <a:t>https://isl.stanford.edu/~abbas/ee392b/lect04.pdf</a:t>
            </a:r>
            <a:r>
              <a:rPr lang="en-US" sz="1000" dirty="0"/>
              <a:t> </a:t>
            </a:r>
          </a:p>
        </p:txBody>
      </p:sp>
      <p:sp>
        <p:nvSpPr>
          <p:cNvPr id="10" name="Rectangle 9">
            <a:extLst>
              <a:ext uri="{FF2B5EF4-FFF2-40B4-BE49-F238E27FC236}">
                <a16:creationId xmlns:a16="http://schemas.microsoft.com/office/drawing/2014/main" id="{C9E3879A-FC4D-C2A2-09A8-A80D0C8F9F54}"/>
              </a:ext>
            </a:extLst>
          </p:cNvPr>
          <p:cNvSpPr/>
          <p:nvPr/>
        </p:nvSpPr>
        <p:spPr>
          <a:xfrm>
            <a:off x="4333790" y="104390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6F6F53D-1798-8603-2575-BCE3298FD780}"/>
              </a:ext>
            </a:extLst>
          </p:cNvPr>
          <p:cNvSpPr/>
          <p:nvPr/>
        </p:nvSpPr>
        <p:spPr>
          <a:xfrm>
            <a:off x="4333790" y="123907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5695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25E-6 3.7037E-7 L 0.00039 0.39398 " pathEditMode="relative" rAng="0" ptsTypes="AA">
                                      <p:cBhvr>
                                        <p:cTn id="6" dur="2000" fill="hold"/>
                                        <p:tgtEl>
                                          <p:spTgt spid="10"/>
                                        </p:tgtEl>
                                        <p:attrNameLst>
                                          <p:attrName>ppt_x</p:attrName>
                                          <p:attrName>ppt_y</p:attrName>
                                        </p:attrNameLst>
                                      </p:cBhvr>
                                      <p:rCtr x="13" y="19699"/>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grpId="1" nodeType="clickEffect">
                                  <p:stCondLst>
                                    <p:cond delay="0"/>
                                  </p:stCondLst>
                                  <p:childTnLst>
                                    <p:animMotion origin="layout" path="M 0.00039 0.39398 L -0.00039 0.49398 " pathEditMode="relative" rAng="0" ptsTypes="AA">
                                      <p:cBhvr>
                                        <p:cTn id="10" dur="2000" fill="hold"/>
                                        <p:tgtEl>
                                          <p:spTgt spid="10"/>
                                        </p:tgtEl>
                                        <p:attrNameLst>
                                          <p:attrName>ppt_x</p:attrName>
                                          <p:attrName>ppt_y</p:attrName>
                                        </p:attrNameLst>
                                      </p:cBhvr>
                                      <p:rCtr x="-39" y="5000"/>
                                    </p:animMotion>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2"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ntr" presetSubtype="0" fill="hold" grpId="3"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42" presetClass="path" presetSubtype="0" accel="50000" decel="50000" fill="hold" grpId="0" nodeType="clickEffect">
                                  <p:stCondLst>
                                    <p:cond delay="0"/>
                                  </p:stCondLst>
                                  <p:childTnLst>
                                    <p:animMotion origin="layout" path="M 1.25E-6 -1.85185E-6 L 0.00039 0.36551 " pathEditMode="relative" rAng="0" ptsTypes="AA">
                                      <p:cBhvr>
                                        <p:cTn id="20" dur="2000" fill="hold"/>
                                        <p:tgtEl>
                                          <p:spTgt spid="11"/>
                                        </p:tgtEl>
                                        <p:attrNameLst>
                                          <p:attrName>ppt_x</p:attrName>
                                          <p:attrName>ppt_y</p:attrName>
                                        </p:attrNameLst>
                                      </p:cBhvr>
                                      <p:rCtr x="13" y="18287"/>
                                    </p:animMotion>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1" nodeType="clickEffect">
                                  <p:stCondLst>
                                    <p:cond delay="0"/>
                                  </p:stCondLst>
                                  <p:childTnLst>
                                    <p:animMotion origin="layout" path="M 0.00039 0.36551 L -0.00065 0.46158 " pathEditMode="relative" rAng="0" ptsTypes="AA">
                                      <p:cBhvr>
                                        <p:cTn id="24" dur="2000" fill="hold"/>
                                        <p:tgtEl>
                                          <p:spTgt spid="11"/>
                                        </p:tgtEl>
                                        <p:attrNameLst>
                                          <p:attrName>ppt_x</p:attrName>
                                          <p:attrName>ppt_y</p:attrName>
                                        </p:attrNameLst>
                                      </p:cBhvr>
                                      <p:rCtr x="-52" y="4838"/>
                                    </p:animMotion>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2"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0" grpId="2" animBg="1"/>
      <p:bldP spid="11" grpId="0" animBg="1"/>
      <p:bldP spid="11" grpId="1" animBg="1"/>
      <p:bldP spid="11" grpId="2" animBg="1"/>
      <p:bldP spid="11" grpId="3"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4055B5-1970-C033-140B-50686B844B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9EC995E-165B-415C-918F-AC1037DA9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47CE5F1-C7BA-5C3F-63E4-DB7735F5FF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D5F07E2-EF66-0614-89D1-08A0D24B953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49277E-74F1-FD87-1BB4-8C3D83D778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CE064D-1420-8022-DACD-DD8479CA7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FFD5C-3674-B855-A22A-242E452F5B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23B0BB-D4F7-8334-5EBF-EF8E67BA6BB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91176C-AB86-25CA-D70B-519D34885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a:extLst>
              <a:ext uri="{FF2B5EF4-FFF2-40B4-BE49-F238E27FC236}">
                <a16:creationId xmlns:a16="http://schemas.microsoft.com/office/drawing/2014/main" id="{A7C3B241-1FB8-9B94-5DF3-2792191F22B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68928" y="906290"/>
            <a:ext cx="9325790" cy="5642743"/>
          </a:xfrm>
          <a:prstGeom prst="rect">
            <a:avLst/>
          </a:prstGeom>
        </p:spPr>
      </p:pic>
    </p:spTree>
    <p:extLst>
      <p:ext uri="{BB962C8B-B14F-4D97-AF65-F5344CB8AC3E}">
        <p14:creationId xmlns:p14="http://schemas.microsoft.com/office/powerpoint/2010/main" val="14277161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6D493FA-85DA-1CCB-AAFF-2A9DE25A2A9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DA663CA-C59F-1619-8715-F60A2D6A26C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Color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F3CCF5E-EA36-E338-3F0E-DC3FD7C180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4658FC8-C20C-1E0B-3FD9-6331C603F53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6C4F7F3-E39E-6C38-88D0-CCF6134DEA1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FE62ED8-7B59-55DD-51B0-F3DDF9AF26F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D2F7DF1-BB93-59D8-712E-A7449568D6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F6C0CA7-365D-4652-CCAD-F59886125E8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63AE-DF30-3803-D7D9-1E535F9430E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F4B5853-9129-BCB9-12EF-56E29CEC95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2E6949C-9D63-A913-C56C-B0A972D24E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66604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2CD5B3-5C73-6BCF-9FA2-ED791614FA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F937959-889A-3719-3ADC-A8BA1CCF2CF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995CBE-E033-0297-89E9-86C9FA1608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E84DACE-ED6C-5118-E502-E9955AFAF83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F5D811-2A0F-50D6-FEF8-A91DAAD50E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9F2132-DC6F-668A-8806-5B2B9C4851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012C68-49B7-623D-A02F-3DC3998D5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3D6B-7C61-CD92-3C23-9BDA1736B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48B7A6-9A0D-A8A9-14CC-CB3B5F4C82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45C563A8-9C6C-884F-050B-DCCA4FA58E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AD6DA1D1-B38B-273F-9CA2-BBA2539BCA33}"/>
              </a:ext>
            </a:extLst>
          </p:cNvPr>
          <p:cNvSpPr/>
          <p:nvPr/>
        </p:nvSpPr>
        <p:spPr>
          <a:xfrm>
            <a:off x="1125415" y="3069314"/>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496C64C0-BC46-3B3F-BC84-B56FFBAC7B0C}"/>
              </a:ext>
            </a:extLst>
          </p:cNvPr>
          <p:cNvSpPr/>
          <p:nvPr/>
        </p:nvSpPr>
        <p:spPr>
          <a:xfrm>
            <a:off x="3829183" y="150161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96557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CC968E-6237-666A-D027-4063FBF1255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BF7B1D2-1D7B-18E0-D300-ABF7104C3E1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problem with photodiodes is that they only measure the intensity of light (how many photons hit them).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kind of problem that cause?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They are inherently colorblind; they only produce a grayscale image!</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see a red ball, we need a way to filter out all other wavelengths of light before they hit the photodiode.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make a single sensor array see Red, Green, and Blue simultaneously?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BE5A6DA-D3A9-B791-4CCB-9481B83F87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11BE3D-0BBB-F8BD-3E0B-22A281C3F4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92BE70D-DC9A-F795-7C9B-709ABC66B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F3FB78-D3A5-4AC1-88C7-B7EDC96814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C29F70-4AB7-E33E-93EE-9018FADE88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F1C2F72-1150-02AC-3712-4F80FAB07A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8581D2-5A7D-B5F6-8F0D-8FB647F68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ECDA98-4799-6F2F-D7F3-0A44D8FC99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8556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2C7A530-2384-A583-4E7B-8DEA43EFC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488AB6D-1BB4-0235-15FD-1CAE70156FD8}"/>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achieve color vision, a microscopic color filter is placed over each individual photodiode.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known as a Color Filter Array (CFA), the most common being the Bayer Filter.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assigns each pixel to capture only Red, only Green, or only Blue light.</a:t>
            </a:r>
          </a:p>
        </p:txBody>
      </p:sp>
      <p:sp>
        <p:nvSpPr>
          <p:cNvPr id="119" name="Google Shape;119;p29">
            <a:extLst>
              <a:ext uri="{FF2B5EF4-FFF2-40B4-BE49-F238E27FC236}">
                <a16:creationId xmlns:a16="http://schemas.microsoft.com/office/drawing/2014/main" id="{6B141D5C-1413-2233-B5ED-A7C686627F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C6EF57E-ED04-5F29-CEFC-FF2A5773B6C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2BFD962-28DE-81EF-F91E-B72A012108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C802C2-8720-9847-A023-01DECB2500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1B8F9C9-FA22-2F02-6DBC-8935E5D863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125C8C-58A8-4095-F628-D14724105E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298CC-055D-4140-0F06-3B86F44B09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6B9224F-2CC9-B423-B413-D16930E874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E9F80111-1378-6BC9-2B5D-07F27806A1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3800" y="3026035"/>
            <a:ext cx="5070462" cy="3295800"/>
          </a:xfrm>
          <a:prstGeom prst="rect">
            <a:avLst/>
          </a:prstGeom>
        </p:spPr>
      </p:pic>
      <p:pic>
        <p:nvPicPr>
          <p:cNvPr id="30" name="Graphic 29">
            <a:extLst>
              <a:ext uri="{FF2B5EF4-FFF2-40B4-BE49-F238E27FC236}">
                <a16:creationId xmlns:a16="http://schemas.microsoft.com/office/drawing/2014/main" id="{1D8E7123-8833-59E4-C7E6-F8C1F1E9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09033" y="3016589"/>
            <a:ext cx="5455013" cy="3450179"/>
          </a:xfrm>
          <a:prstGeom prst="rect">
            <a:avLst/>
          </a:prstGeom>
        </p:spPr>
      </p:pic>
      <p:sp>
        <p:nvSpPr>
          <p:cNvPr id="32" name="TextBox 31">
            <a:extLst>
              <a:ext uri="{FF2B5EF4-FFF2-40B4-BE49-F238E27FC236}">
                <a16:creationId xmlns:a16="http://schemas.microsoft.com/office/drawing/2014/main" id="{5602F69F-82F3-38CC-BAB6-B945D84C51C2}"/>
              </a:ext>
            </a:extLst>
          </p:cNvPr>
          <p:cNvSpPr txBox="1"/>
          <p:nvPr/>
        </p:nvSpPr>
        <p:spPr>
          <a:xfrm>
            <a:off x="1897282" y="6328219"/>
            <a:ext cx="2418683" cy="246221"/>
          </a:xfrm>
          <a:prstGeom prst="rect">
            <a:avLst/>
          </a:prstGeom>
          <a:noFill/>
        </p:spPr>
        <p:txBody>
          <a:bodyPr wrap="square">
            <a:spAutoFit/>
          </a:bodyPr>
          <a:lstStyle/>
          <a:p>
            <a:r>
              <a:rPr lang="en-US" sz="1000" dirty="0">
                <a:hlinkClick r:id="rId8"/>
              </a:rPr>
              <a:t>https://en.wikipedia.org/wiki/Bayer_filter</a:t>
            </a:r>
            <a:r>
              <a:rPr lang="en-US" sz="1000" dirty="0"/>
              <a:t> </a:t>
            </a:r>
          </a:p>
        </p:txBody>
      </p:sp>
    </p:spTree>
    <p:extLst>
      <p:ext uri="{BB962C8B-B14F-4D97-AF65-F5344CB8AC3E}">
        <p14:creationId xmlns:p14="http://schemas.microsoft.com/office/powerpoint/2010/main" val="10340844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7BCDD5-6150-E4E8-D27D-3C5B70F88D1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534963-25FE-44FA-EF60-9E5FE4EB0FE1}"/>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Bayer format arranges filters in a repeating </a:t>
                </a:r>
                <a14:m>
                  <m:oMath xmlns:m="http://schemas.openxmlformats.org/officeDocument/2006/math">
                    <m:r>
                      <a:rPr lang="en-US" sz="2000" i="1" dirty="0" smtClean="0">
                        <a:latin typeface="Cambria Math" panose="02040503050406030204" pitchFamily="18" charset="0"/>
                        <a:ea typeface="Arial"/>
                        <a:cs typeface="Arial"/>
                        <a:sym typeface="Arial"/>
                      </a:rPr>
                      <m:t>2 ×2</m:t>
                    </m:r>
                  </m:oMath>
                </a14:m>
                <a:r>
                  <a:rPr lang="en-US" sz="2000" dirty="0">
                    <a:latin typeface="Atkinson Hyperlegible Next"/>
                    <a:ea typeface="Arial"/>
                    <a:cs typeface="Arial"/>
                    <a:sym typeface="Arial"/>
                  </a:rPr>
                  <a:t> grid.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a problem with filtering color?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lose information! This is why most scientific instruments (on Mars for example) are in black and white to ensure capturing all the intensities!</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Notice anything strange about this ratio?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1 Red : 2 Green : 1 Blue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are there twice as many Green pixels as Red or Blue?</a:t>
                </a:r>
              </a:p>
            </p:txBody>
          </p:sp>
        </mc:Choice>
        <mc:Fallback xmlns="">
          <p:sp>
            <p:nvSpPr>
              <p:cNvPr id="118" name="Google Shape;118;p29">
                <a:extLst>
                  <a:ext uri="{FF2B5EF4-FFF2-40B4-BE49-F238E27FC236}">
                    <a16:creationId xmlns:a16="http://schemas.microsoft.com/office/drawing/2014/main" id="{99534963-25FE-44FA-EF60-9E5FE4EB0FE1}"/>
                  </a:ext>
                </a:extLst>
              </p:cNvPr>
              <p:cNvSpPr txBox="1">
                <a:spLocks noGrp="1" noRot="1" noChangeAspect="1" noMove="1" noResize="1" noEditPoints="1" noAdjustHandles="1" noChangeArrowheads="1" noChangeShapeType="1" noTextEdit="1"/>
              </p:cNvSpPr>
              <p:nvPr>
                <p:ph type="body" idx="1"/>
              </p:nvPr>
            </p:nvSpPr>
            <p:spPr>
              <a:xfrm>
                <a:off x="376809" y="1334279"/>
                <a:ext cx="6625065" cy="4821102"/>
              </a:xfrm>
              <a:prstGeom prst="rect">
                <a:avLst/>
              </a:prstGeom>
              <a:blipFill>
                <a:blip r:embed="rId3"/>
                <a:stretch>
                  <a:fillRect l="-1012" t="-632" r="-15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F69237D-4892-5146-7D90-C6FFC4A82D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C44916-7F47-B71E-7EFB-367F053508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7077CA7-47B9-9B80-90AB-73D47D664C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6C66DF5-1748-63CC-C1B2-F08B446B44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8F87EC-7B9A-3861-6FE0-6C4376DA3E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567CE4-5DD6-9A77-CB53-BD71E59FC0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DD70CE-7172-A41B-B389-86C0962294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CF62CC-7736-ACD0-F919-D17DE3F56F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82222B3B-389F-7775-51FF-2BA97B41893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01874" y="1990789"/>
            <a:ext cx="5070462" cy="3295800"/>
          </a:xfrm>
          <a:prstGeom prst="rect">
            <a:avLst/>
          </a:prstGeom>
        </p:spPr>
      </p:pic>
      <p:sp>
        <p:nvSpPr>
          <p:cNvPr id="7" name="TextBox 6">
            <a:extLst>
              <a:ext uri="{FF2B5EF4-FFF2-40B4-BE49-F238E27FC236}">
                <a16:creationId xmlns:a16="http://schemas.microsoft.com/office/drawing/2014/main" id="{A6AEAA92-FD9A-D8C4-5A0B-2E6D2EC5AC74}"/>
              </a:ext>
            </a:extLst>
          </p:cNvPr>
          <p:cNvSpPr txBox="1"/>
          <p:nvPr/>
        </p:nvSpPr>
        <p:spPr>
          <a:xfrm>
            <a:off x="8327763" y="5409368"/>
            <a:ext cx="2418683" cy="246221"/>
          </a:xfrm>
          <a:prstGeom prst="rect">
            <a:avLst/>
          </a:prstGeom>
          <a:noFill/>
        </p:spPr>
        <p:txBody>
          <a:bodyPr wrap="square">
            <a:spAutoFit/>
          </a:bodyPr>
          <a:lstStyle/>
          <a:p>
            <a:r>
              <a:rPr lang="en-US" sz="1000" dirty="0">
                <a:hlinkClick r:id="rId7"/>
              </a:rPr>
              <a:t>https://en.wikipedia.org/wiki/Bayer_filter</a:t>
            </a:r>
            <a:r>
              <a:rPr lang="en-US" sz="1000" dirty="0"/>
              <a:t> </a:t>
            </a:r>
          </a:p>
        </p:txBody>
      </p:sp>
    </p:spTree>
    <p:extLst>
      <p:ext uri="{BB962C8B-B14F-4D97-AF65-F5344CB8AC3E}">
        <p14:creationId xmlns:p14="http://schemas.microsoft.com/office/powerpoint/2010/main" val="1309517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343AD7-193D-266D-A9E4-87355625E1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DFCB42-7D1B-D334-9277-BEF8EF74D967}"/>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use twice as many green filters because the human eye (specifically our cone cells) is most sensitive to green wavelengths (~550 nm).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By over-sampling green, the camera captures luminance (brightness) detail that matches human perception.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However, our raw array is now a mosaic of single colors.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Pixel (0,0) only knows Red.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get RGB values for every pixel?</a:t>
            </a:r>
          </a:p>
        </p:txBody>
      </p:sp>
      <p:sp>
        <p:nvSpPr>
          <p:cNvPr id="119" name="Google Shape;119;p29">
            <a:extLst>
              <a:ext uri="{FF2B5EF4-FFF2-40B4-BE49-F238E27FC236}">
                <a16:creationId xmlns:a16="http://schemas.microsoft.com/office/drawing/2014/main" id="{8E8B27DE-CEEF-1BB2-874A-D538CB3C1D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F014AA-712A-DE43-361B-5A6C6FC1FD6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944764B-31A9-1DC1-C620-4CDA508F76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C67A19-621A-5D6D-8E54-5DB8F52F52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6ABCF1-9B76-7FEE-CA69-E46228A067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688DBB-E47E-333E-448A-42F3DB41379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FAA275-6DD1-F909-5C89-CD81B1C301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1B7A3-1277-5304-38D6-09D0979387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80CC4E5E-E877-37EB-865E-FB15BC4881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01874" y="1772716"/>
            <a:ext cx="5143500" cy="3619500"/>
          </a:xfrm>
          <a:prstGeom prst="rect">
            <a:avLst/>
          </a:prstGeom>
        </p:spPr>
      </p:pic>
      <p:sp>
        <p:nvSpPr>
          <p:cNvPr id="6" name="TextBox 5">
            <a:extLst>
              <a:ext uri="{FF2B5EF4-FFF2-40B4-BE49-F238E27FC236}">
                <a16:creationId xmlns:a16="http://schemas.microsoft.com/office/drawing/2014/main" id="{7774153F-467A-1D4A-A497-E9472CDA09AE}"/>
              </a:ext>
            </a:extLst>
          </p:cNvPr>
          <p:cNvSpPr txBox="1"/>
          <p:nvPr/>
        </p:nvSpPr>
        <p:spPr>
          <a:xfrm>
            <a:off x="7963833" y="5507441"/>
            <a:ext cx="3404519" cy="246221"/>
          </a:xfrm>
          <a:prstGeom prst="rect">
            <a:avLst/>
          </a:prstGeom>
          <a:noFill/>
        </p:spPr>
        <p:txBody>
          <a:bodyPr wrap="square">
            <a:spAutoFit/>
          </a:bodyPr>
          <a:lstStyle/>
          <a:p>
            <a:pPr algn="ctr"/>
            <a:r>
              <a:rPr lang="en-US" sz="1000" dirty="0">
                <a:hlinkClick r:id="rId6"/>
              </a:rPr>
              <a:t>https://en.wikipedia.org/wiki/Color_vision</a:t>
            </a:r>
            <a:r>
              <a:rPr lang="en-US" sz="1000" dirty="0"/>
              <a:t> </a:t>
            </a:r>
          </a:p>
        </p:txBody>
      </p:sp>
    </p:spTree>
    <p:extLst>
      <p:ext uri="{BB962C8B-B14F-4D97-AF65-F5344CB8AC3E}">
        <p14:creationId xmlns:p14="http://schemas.microsoft.com/office/powerpoint/2010/main" val="1802889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EE4C85-C55C-A363-197F-86885DF7D5B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466A6-160B-BA90-320F-53F242E6C4C9}"/>
                  </a:ext>
                </a:extLst>
              </p:cNvPr>
              <p:cNvSpPr txBox="1">
                <a:spLocks noGrp="1"/>
              </p:cNvSpPr>
              <p:nvPr>
                <p:ph type="body" idx="1"/>
              </p:nvPr>
            </p:nvSpPr>
            <p:spPr>
              <a:xfrm>
                <a:off x="376809" y="1334279"/>
                <a:ext cx="950636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err="1">
                    <a:latin typeface="Atkinson Hyperlegible Next"/>
                    <a:ea typeface="Arial"/>
                    <a:cs typeface="Arial"/>
                    <a:sym typeface="Arial"/>
                  </a:rPr>
                  <a:t>Demosaicing</a:t>
                </a:r>
                <a:r>
                  <a:rPr lang="en-US" sz="1800" dirty="0">
                    <a:latin typeface="Atkinson Hyperlegible Next"/>
                    <a:ea typeface="Arial"/>
                    <a:cs typeface="Arial"/>
                    <a:sym typeface="Arial"/>
                  </a:rPr>
                  <a:t> is the mathematical process of guessing the missing color values at each pixel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We use surrounding pixels to calculate an average. To find the missing Green value at a Red pixel:</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a:t>
                </a:r>
                <a14:m>
                  <m:oMath xmlns:m="http://schemas.openxmlformats.org/officeDocument/2006/math">
                    <m:sSub>
                      <m:sSubPr>
                        <m:ctrlPr>
                          <a:rPr lang="en-US" sz="1800" i="1" dirty="0" smtClean="0">
                            <a:latin typeface="Cambria Math" panose="02040503050406030204" pitchFamily="18" charset="0"/>
                            <a:ea typeface="Arial"/>
                            <a:cs typeface="Arial"/>
                            <a:sym typeface="Arial"/>
                          </a:rPr>
                        </m:ctrlPr>
                      </m:sSubPr>
                      <m:e>
                        <m:r>
                          <a:rPr lang="en-US" sz="1800" i="1" dirty="0" smtClean="0">
                            <a:latin typeface="Cambria Math" panose="02040503050406030204" pitchFamily="18" charset="0"/>
                            <a:ea typeface="Arial"/>
                            <a:cs typeface="Arial"/>
                            <a:sym typeface="Arial"/>
                          </a:rPr>
                          <m:t>𝑅</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smtClean="0">
                            <a:latin typeface="Cambria Math" panose="02040503050406030204" pitchFamily="18" charset="0"/>
                            <a:ea typeface="Arial"/>
                            <a:cs typeface="Arial"/>
                            <a:sym typeface="Arial"/>
                          </a:rPr>
                        </m:ctrlPr>
                      </m:sSubPr>
                      <m:e>
                        <m:r>
                          <a:rPr lang="en-US" sz="1800" b="0" i="1" dirty="0" smtClean="0">
                            <a:latin typeface="Cambria Math" panose="02040503050406030204" pitchFamily="18" charset="0"/>
                            <a:ea typeface="Arial"/>
                            <a:cs typeface="Arial"/>
                            <a:sym typeface="Arial"/>
                          </a:rPr>
                          <m:t> </m:t>
                        </m:r>
                        <m:r>
                          <a:rPr lang="en-US" sz="1800" i="1" dirty="0">
                            <a:latin typeface="Cambria Math" panose="02040503050406030204" pitchFamily="18" charset="0"/>
                            <a:ea typeface="Arial"/>
                            <a:cs typeface="Arial"/>
                            <a:sym typeface="Arial"/>
                          </a:rPr>
                          <m:t>𝐺</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f>
                      <m:fPr>
                        <m:ctrlPr>
                          <a:rPr lang="en-US" sz="1800" i="1" dirty="0">
                            <a:latin typeface="Cambria Math" panose="02040503050406030204" pitchFamily="18" charset="0"/>
                            <a:ea typeface="Arial"/>
                            <a:cs typeface="Arial"/>
                            <a:sym typeface="Arial"/>
                          </a:rPr>
                        </m:ctrlPr>
                      </m:fPr>
                      <m:num>
                        <m:r>
                          <a:rPr lang="en-US" sz="1800" i="1" dirty="0">
                            <a:latin typeface="Cambria Math" panose="02040503050406030204" pitchFamily="18" charset="0"/>
                            <a:ea typeface="Arial"/>
                            <a:cs typeface="Arial"/>
                            <a:sym typeface="Arial"/>
                          </a:rPr>
                          <m:t>1</m:t>
                        </m:r>
                      </m:num>
                      <m:den>
                        <m:r>
                          <a:rPr lang="en-US" sz="1800" i="1" dirty="0">
                            <a:latin typeface="Cambria Math" panose="02040503050406030204" pitchFamily="18" charset="0"/>
                            <a:ea typeface="Arial"/>
                            <a:cs typeface="Arial"/>
                            <a:sym typeface="Arial"/>
                          </a:rPr>
                          <m:t>4</m:t>
                        </m:r>
                      </m:den>
                    </m:f>
                    <m:d>
                      <m:dPr>
                        <m:ctrlPr>
                          <a:rPr lang="en-US" sz="1800" i="1" dirty="0">
                            <a:latin typeface="Cambria Math" panose="02040503050406030204" pitchFamily="18" charset="0"/>
                            <a:ea typeface="Arial"/>
                            <a:cs typeface="Arial"/>
                            <a:sym typeface="Arial"/>
                          </a:rPr>
                        </m:ctrlPr>
                      </m:dPr>
                      <m:e>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e>
                    </m:d>
                  </m:oMath>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camera's internal DSP (Digital Signal Processor) usually does this before sending data to the microcontroller.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simple approach works well in areas with constant color or smooth gradients, but it can cause artifacts such as color bleeding in areas where there are abrupt changes in color or brightness especially noticeable along sharp edges in the image.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Because of this, other </a:t>
                </a:r>
                <a:r>
                  <a:rPr lang="en-US" sz="1800" dirty="0" err="1">
                    <a:latin typeface="Atkinson Hyperlegible Next"/>
                    <a:ea typeface="Arial"/>
                    <a:cs typeface="Arial"/>
                    <a:sym typeface="Arial"/>
                  </a:rPr>
                  <a:t>demosaicing</a:t>
                </a:r>
                <a:r>
                  <a:rPr lang="en-US" sz="1800" dirty="0">
                    <a:latin typeface="Atkinson Hyperlegible Next"/>
                    <a:ea typeface="Arial"/>
                    <a:cs typeface="Arial"/>
                    <a:sym typeface="Arial"/>
                  </a:rPr>
                  <a:t> methods attempt to identify high-contrast edges and only interpolate along these edges, but not across them.</a:t>
                </a:r>
              </a:p>
            </p:txBody>
          </p:sp>
        </mc:Choice>
        <mc:Fallback xmlns="">
          <p:sp>
            <p:nvSpPr>
              <p:cNvPr id="118" name="Google Shape;118;p29">
                <a:extLst>
                  <a:ext uri="{FF2B5EF4-FFF2-40B4-BE49-F238E27FC236}">
                    <a16:creationId xmlns:a16="http://schemas.microsoft.com/office/drawing/2014/main" id="{87F466A6-160B-BA90-320F-53F242E6C4C9}"/>
                  </a:ext>
                </a:extLst>
              </p:cNvPr>
              <p:cNvSpPr txBox="1">
                <a:spLocks noGrp="1" noRot="1" noChangeAspect="1" noMove="1" noResize="1" noEditPoints="1" noAdjustHandles="1" noChangeArrowheads="1" noChangeShapeType="1" noTextEdit="1"/>
              </p:cNvSpPr>
              <p:nvPr>
                <p:ph type="body" idx="1"/>
              </p:nvPr>
            </p:nvSpPr>
            <p:spPr>
              <a:xfrm>
                <a:off x="376809" y="1334279"/>
                <a:ext cx="9506367" cy="4821102"/>
              </a:xfrm>
              <a:prstGeom prst="rect">
                <a:avLst/>
              </a:prstGeom>
              <a:blipFill>
                <a:blip r:embed="rId3"/>
                <a:stretch>
                  <a:fillRect l="-577" t="-759" r="-513"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A9906EE-DC3D-4993-9C05-BD16DA3C0B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7E92BC-2724-C331-395C-4181738AD4D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AEE36F5-9C9C-750A-A0FA-665E5D65B0D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CEE85A-4531-C080-189E-2CF31B221A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2EFFC4-90F2-6FF4-B187-79D1303E1F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532086-5AF1-571B-8E1A-D28EAA7EC8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4AEB92-690F-9723-A832-6BB594908B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3CC9D2-E71E-6265-6C8E-BA464EFD85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6" name="TextBox 5">
            <a:extLst>
              <a:ext uri="{FF2B5EF4-FFF2-40B4-BE49-F238E27FC236}">
                <a16:creationId xmlns:a16="http://schemas.microsoft.com/office/drawing/2014/main" id="{67C14D31-4651-ACA9-8042-534989BC48AD}"/>
              </a:ext>
            </a:extLst>
          </p:cNvPr>
          <p:cNvSpPr txBox="1"/>
          <p:nvPr/>
        </p:nvSpPr>
        <p:spPr>
          <a:xfrm>
            <a:off x="7467685" y="6335772"/>
            <a:ext cx="2473415" cy="246221"/>
          </a:xfrm>
          <a:prstGeom prst="rect">
            <a:avLst/>
          </a:prstGeom>
          <a:noFill/>
        </p:spPr>
        <p:txBody>
          <a:bodyPr wrap="square">
            <a:spAutoFit/>
          </a:bodyPr>
          <a:lstStyle/>
          <a:p>
            <a:pPr algn="ctr"/>
            <a:r>
              <a:rPr lang="en-US" sz="1000" dirty="0">
                <a:hlinkClick r:id="rId5"/>
              </a:rPr>
              <a:t>https://en.wikipedia.org/wiki/Color_vision</a:t>
            </a:r>
            <a:r>
              <a:rPr lang="en-US" sz="1000" dirty="0"/>
              <a:t> </a:t>
            </a:r>
          </a:p>
        </p:txBody>
      </p:sp>
      <p:pic>
        <p:nvPicPr>
          <p:cNvPr id="6146" name="Picture 2" descr="undefined">
            <a:extLst>
              <a:ext uri="{FF2B5EF4-FFF2-40B4-BE49-F238E27FC236}">
                <a16:creationId xmlns:a16="http://schemas.microsoft.com/office/drawing/2014/main" id="{FDC5DBA4-DACA-DD70-878D-9351060228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99025" y="899495"/>
            <a:ext cx="1694138" cy="564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07718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544614-C0E6-92FC-6C2E-E2D3B4F2AC1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025FD2B-153B-79B5-FC7B-D014B7DE69BB}"/>
                  </a:ext>
                </a:extLst>
              </p:cNvPr>
              <p:cNvSpPr txBox="1">
                <a:spLocks noGrp="1"/>
              </p:cNvSpPr>
              <p:nvPr>
                <p:ph type="body" idx="1"/>
              </p:nvPr>
            </p:nvSpPr>
            <p:spPr>
              <a:xfrm>
                <a:off x="376809" y="1334279"/>
                <a:ext cx="633731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Once demosaiced, every pixel is an array of three values: </a:t>
                </a:r>
                <a:r>
                  <a:rPr lang="en-US" sz="1800" b="1" dirty="0">
                    <a:latin typeface="Atkinson Hyperlegible Next"/>
                    <a:ea typeface="Arial"/>
                    <a:cs typeface="Arial"/>
                    <a:sym typeface="Arial"/>
                  </a:rPr>
                  <a:t>R, G, B</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RGB is an additive color model used by screens and sensors and each value is represented as an 8-bit value (depends on the ADC of the sensor).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=255</m:t>
                    </m:r>
                  </m:oMath>
                </a14:m>
                <a:r>
                  <a:rPr lang="en-US" sz="1800" dirty="0">
                    <a:latin typeface="Atkinson Hyperlegible Next"/>
                    <a:ea typeface="Arial"/>
                    <a:cs typeface="Arial"/>
                    <a:sym typeface="Arial"/>
                  </a:rPr>
                  <a:t>, what color do we see? </a:t>
                </a:r>
              </a:p>
              <a:p>
                <a:pPr marL="0" indent="0" algn="ctr">
                  <a:lnSpc>
                    <a:spcPct val="100000"/>
                  </a:lnSpc>
                  <a:spcBef>
                    <a:spcPts val="0"/>
                  </a:spcBef>
                  <a:buSzPts val="3000"/>
                  <a:buNone/>
                </a:pPr>
                <a:r>
                  <a:rPr lang="en-US" sz="1800" dirty="0">
                    <a:latin typeface="Atkinson Hyperlegible Next"/>
                    <a:ea typeface="Arial"/>
                    <a:cs typeface="Arial"/>
                    <a:sym typeface="Arial"/>
                  </a:rPr>
                  <a:t>White</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a:t>
                </a:r>
                <a14:m>
                  <m:oMath xmlns:m="http://schemas.openxmlformats.org/officeDocument/2006/math">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=255, </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=0, </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=0</m:t>
                    </m:r>
                  </m:oMath>
                </a14:m>
                <a:r>
                  <a:rPr lang="en-US" sz="1800" dirty="0">
                    <a:latin typeface="Atkinson Hyperlegible Next"/>
                    <a:ea typeface="Arial"/>
                    <a:cs typeface="Arial"/>
                    <a:sym typeface="Arial"/>
                  </a:rPr>
                  <a:t>, what color do we see? </a:t>
                </a:r>
              </a:p>
              <a:p>
                <a:pPr marL="0" indent="0" algn="ctr">
                  <a:lnSpc>
                    <a:spcPct val="100000"/>
                  </a:lnSpc>
                  <a:spcBef>
                    <a:spcPts val="0"/>
                  </a:spcBef>
                  <a:buSzPts val="3000"/>
                  <a:buNone/>
                </a:pPr>
                <a:r>
                  <a:rPr lang="en-US" sz="1800" dirty="0">
                    <a:latin typeface="Atkinson Hyperlegible Next"/>
                    <a:ea typeface="Arial"/>
                    <a:cs typeface="Arial"/>
                    <a:sym typeface="Arial"/>
                  </a:rPr>
                  <a:t>Red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RGB is represented as a 3D Cartesian cube, where </a:t>
                </a:r>
                <a14:m>
                  <m:oMath xmlns:m="http://schemas.openxmlformats.org/officeDocument/2006/math">
                    <m:r>
                      <a:rPr lang="en-US" sz="1800" i="1" dirty="0" smtClean="0">
                        <a:latin typeface="Cambria Math" panose="02040503050406030204" pitchFamily="18" charset="0"/>
                        <a:ea typeface="Arial"/>
                        <a:cs typeface="Arial"/>
                        <a:sym typeface="Arial"/>
                      </a:rPr>
                      <m:t>𝑥</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𝑦</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𝑧</m:t>
                    </m:r>
                  </m:oMath>
                </a14:m>
                <a:r>
                  <a:rPr lang="en-US" sz="1800" dirty="0">
                    <a:latin typeface="Atkinson Hyperlegible Next"/>
                    <a:ea typeface="Arial"/>
                    <a:cs typeface="Arial"/>
                    <a:sym typeface="Arial"/>
                  </a:rPr>
                  <a:t> correspond to Red, Green, and Blue intensities.</a:t>
                </a:r>
              </a:p>
            </p:txBody>
          </p:sp>
        </mc:Choice>
        <mc:Fallback xmlns="">
          <p:sp>
            <p:nvSpPr>
              <p:cNvPr id="118" name="Google Shape;118;p29">
                <a:extLst>
                  <a:ext uri="{FF2B5EF4-FFF2-40B4-BE49-F238E27FC236}">
                    <a16:creationId xmlns:a16="http://schemas.microsoft.com/office/drawing/2014/main" id="{2025FD2B-153B-79B5-FC7B-D014B7DE69BB}"/>
                  </a:ext>
                </a:extLst>
              </p:cNvPr>
              <p:cNvSpPr txBox="1">
                <a:spLocks noGrp="1" noRot="1" noChangeAspect="1" noMove="1" noResize="1" noEditPoints="1" noAdjustHandles="1" noChangeArrowheads="1" noChangeShapeType="1" noTextEdit="1"/>
              </p:cNvSpPr>
              <p:nvPr>
                <p:ph type="body" idx="1"/>
              </p:nvPr>
            </p:nvSpPr>
            <p:spPr>
              <a:xfrm>
                <a:off x="376809" y="1334279"/>
                <a:ext cx="6337317" cy="4821102"/>
              </a:xfrm>
              <a:prstGeom prst="rect">
                <a:avLst/>
              </a:prstGeom>
              <a:blipFill>
                <a:blip r:embed="rId3"/>
                <a:stretch>
                  <a:fillRect l="-866" t="-759" r="-10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37002F5-43A1-3659-46D5-F15510587B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1B69C0-9007-08ED-89B8-1905379CA4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DD85418-C577-7D8F-21A5-30B7A7BAF3E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D58404-BE95-D434-65F2-306FC599D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30CCF0-82F1-3E58-8173-755205865B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EB9C87-70EE-168A-4B90-A0BCAD01C3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9BBFC4-9319-AFC4-DF25-F7275827CF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510C7F-114E-86B2-59ED-B04A35C750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170" name="Picture 2" descr="undefined">
            <a:extLst>
              <a:ext uri="{FF2B5EF4-FFF2-40B4-BE49-F238E27FC236}">
                <a16:creationId xmlns:a16="http://schemas.microsoft.com/office/drawing/2014/main" id="{A838F4B9-F11D-9A10-4905-78818523DE9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83654" y="1818007"/>
            <a:ext cx="5162417" cy="38718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0501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B60C1-85AD-9058-56CC-1E225FCD8A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48A072-B649-CA68-8F40-E55E4DBEC52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Imagine we write code to track a red ball: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rgbClr val="7F0055"/>
                </a:solidFill>
                <a:latin typeface="Consolas" panose="020B0609020204030204" pitchFamily="49" charset="0"/>
              </a:rPr>
              <a:t>if</a:t>
            </a:r>
            <a:r>
              <a:rPr lang="en-US" sz="2400" dirty="0">
                <a:solidFill>
                  <a:srgbClr val="000000"/>
                </a:solidFill>
                <a:latin typeface="Consolas" panose="020B0609020204030204" pitchFamily="49" charset="0"/>
              </a:rPr>
              <a:t> (R &gt; 200 &amp;&amp; G &lt; 50 &amp;&amp; B &lt; 50) { track();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happens when the robot drives under a shadow?</a:t>
            </a:r>
          </a:p>
          <a:p>
            <a:pPr marL="0" indent="0" algn="ctr">
              <a:lnSpc>
                <a:spcPct val="100000"/>
              </a:lnSpc>
              <a:spcBef>
                <a:spcPts val="0"/>
              </a:spcBef>
              <a:buSzPts val="3000"/>
              <a:buNone/>
            </a:pPr>
            <a:r>
              <a:rPr lang="en-US" sz="2400" dirty="0">
                <a:latin typeface="Atkinson Hyperlegible Next"/>
                <a:ea typeface="Arial"/>
                <a:cs typeface="Arial"/>
                <a:sym typeface="Arial"/>
              </a:rPr>
              <a:t>The total light drops. The pixel might become R=100, G=10, B=10. Our code fails!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In RGB, a change in lighting changes all three variables simultaneously. It couples chrominance (color) with luminance (brightness).</a:t>
            </a:r>
          </a:p>
        </p:txBody>
      </p:sp>
      <p:sp>
        <p:nvSpPr>
          <p:cNvPr id="119" name="Google Shape;119;p29">
            <a:extLst>
              <a:ext uri="{FF2B5EF4-FFF2-40B4-BE49-F238E27FC236}">
                <a16:creationId xmlns:a16="http://schemas.microsoft.com/office/drawing/2014/main" id="{1A24E37D-307B-2055-AAD6-5AEC68D2B8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4854A1-C86C-BB07-AD4F-FCA28CEEB15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90E872E-57F9-3E50-3D25-69A05D5545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A802C0-3C44-6E35-D5C9-4AD2CA9B15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FCBD58-039C-9B8A-7AB6-265C5E176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17D9DC-B7B7-758C-7FCC-0C716BE57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566F0-CEAC-6518-8563-DA56A0FC51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7BF16-B3B8-3E77-1FBF-4BDE45BC14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0214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17ED55-03FB-0FFB-E3B4-5473D2EEF37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60AB90-E0F5-8288-7149-F131CCE2EDB6}"/>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To solve the shadow problem, we transform the RGB cube into a cylinder: The </a:t>
            </a:r>
            <a:r>
              <a:rPr lang="en-US" sz="2400" b="1" dirty="0">
                <a:latin typeface="Atkinson Hyperlegible Next"/>
                <a:ea typeface="Arial"/>
                <a:cs typeface="Arial"/>
                <a:sym typeface="Arial"/>
              </a:rPr>
              <a:t>HSV </a:t>
            </a:r>
            <a:r>
              <a:rPr lang="en-US" sz="2400" dirty="0">
                <a:latin typeface="Atkinson Hyperlegible Next"/>
                <a:ea typeface="Arial"/>
                <a:cs typeface="Arial"/>
                <a:sym typeface="Arial"/>
              </a:rPr>
              <a:t>color space.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 = </a:t>
            </a:r>
            <a:r>
              <a:rPr lang="en-US" sz="2400" b="1" dirty="0">
                <a:latin typeface="Atkinson Hyperlegible Next"/>
                <a:ea typeface="Arial"/>
                <a:cs typeface="Arial"/>
                <a:sym typeface="Arial"/>
              </a:rPr>
              <a:t>Hue</a:t>
            </a:r>
            <a:r>
              <a:rPr lang="en-US" sz="2400" dirty="0">
                <a:latin typeface="Atkinson Hyperlegible Next"/>
                <a:ea typeface="Arial"/>
                <a:cs typeface="Arial"/>
                <a:sym typeface="Arial"/>
              </a:rPr>
              <a:t> (The actual color type, e.g., Red, Blue).</a:t>
            </a:r>
          </a:p>
          <a:p>
            <a:pPr marL="0" indent="0">
              <a:lnSpc>
                <a:spcPct val="100000"/>
              </a:lnSpc>
              <a:spcBef>
                <a:spcPts val="0"/>
              </a:spcBef>
              <a:buSzPts val="3000"/>
              <a:buNone/>
            </a:pPr>
            <a:r>
              <a:rPr lang="en-US" sz="2400" dirty="0">
                <a:latin typeface="Atkinson Hyperlegible Next"/>
                <a:ea typeface="Arial"/>
                <a:cs typeface="Arial"/>
                <a:sym typeface="Arial"/>
              </a:rPr>
              <a:t>S = </a:t>
            </a:r>
            <a:r>
              <a:rPr lang="en-US" sz="2400" b="1" dirty="0">
                <a:latin typeface="Atkinson Hyperlegible Next"/>
                <a:ea typeface="Arial"/>
                <a:cs typeface="Arial"/>
                <a:sym typeface="Arial"/>
              </a:rPr>
              <a:t>Saturation</a:t>
            </a:r>
            <a:r>
              <a:rPr lang="en-US" sz="2400" dirty="0">
                <a:latin typeface="Atkinson Hyperlegible Next"/>
                <a:ea typeface="Arial"/>
                <a:cs typeface="Arial"/>
                <a:sym typeface="Arial"/>
              </a:rPr>
              <a:t> (How pure the color is, vs. faded white).</a:t>
            </a:r>
          </a:p>
          <a:p>
            <a:pPr marL="0" indent="0">
              <a:lnSpc>
                <a:spcPct val="100000"/>
              </a:lnSpc>
              <a:spcBef>
                <a:spcPts val="0"/>
              </a:spcBef>
              <a:buSzPts val="3000"/>
              <a:buNone/>
            </a:pPr>
            <a:r>
              <a:rPr lang="en-US" sz="2400" dirty="0">
                <a:latin typeface="Atkinson Hyperlegible Next"/>
                <a:ea typeface="Arial"/>
                <a:cs typeface="Arial"/>
                <a:sym typeface="Arial"/>
              </a:rPr>
              <a:t>V = </a:t>
            </a:r>
            <a:r>
              <a:rPr lang="en-US" sz="2400" b="1" dirty="0">
                <a:latin typeface="Atkinson Hyperlegible Next"/>
                <a:ea typeface="Arial"/>
                <a:cs typeface="Arial"/>
                <a:sym typeface="Arial"/>
              </a:rPr>
              <a:t>Value</a:t>
            </a:r>
            <a:r>
              <a:rPr lang="en-US" sz="2400" dirty="0">
                <a:latin typeface="Atkinson Hyperlegible Next"/>
                <a:ea typeface="Arial"/>
                <a:cs typeface="Arial"/>
                <a:sym typeface="Arial"/>
              </a:rPr>
              <a:t> (How bright or dark the color is).</a:t>
            </a:r>
          </a:p>
        </p:txBody>
      </p:sp>
      <p:sp>
        <p:nvSpPr>
          <p:cNvPr id="119" name="Google Shape;119;p29">
            <a:extLst>
              <a:ext uri="{FF2B5EF4-FFF2-40B4-BE49-F238E27FC236}">
                <a16:creationId xmlns:a16="http://schemas.microsoft.com/office/drawing/2014/main" id="{5B0817FF-F18B-E3FF-4C79-0B77FFC1A8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DA9351C-5389-BAF5-4402-7028D9D075B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A04358E-9F07-9A79-96CF-1D85EF31FC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6830E6-B00B-6704-EC76-1DC71759AF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E0C2F89-9A33-4BF2-D2BE-A270022881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A05458-4860-3297-95D1-C31879519B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524E47-C778-F7F9-D353-5BB43DD93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B093902-8747-E57B-87DB-B173F11FEF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a:extLst>
              <a:ext uri="{FF2B5EF4-FFF2-40B4-BE49-F238E27FC236}">
                <a16:creationId xmlns:a16="http://schemas.microsoft.com/office/drawing/2014/main" id="{2C29C659-83F3-5525-4410-BAC568249F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97CFA33-B747-1FFC-7DC4-C56019937EE3}"/>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2982333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A22B9A-326B-194A-364D-9DBEF6C762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3096CD-535E-BAFB-689D-0824AE698D98}"/>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the HSV cylinder, Hue is an angle from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to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360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t>
                </a:r>
                <a:endParaRPr lang="en-US" sz="2400" i="1" dirty="0">
                  <a:latin typeface="Cambria Math" panose="02040503050406030204" pitchFamily="18" charset="0"/>
                  <a:ea typeface="Arial"/>
                  <a:cs typeface="Arial"/>
                  <a:sym typeface="Arial"/>
                </a:endParaRPr>
              </a:p>
              <a:p>
                <a:pPr marL="342900">
                  <a:lnSpc>
                    <a:spcPct val="100000"/>
                  </a:lnSpc>
                  <a:spcBef>
                    <a:spcPts val="0"/>
                  </a:spcBef>
                  <a:buSzPts val="3000"/>
                </a:pPr>
                <a14:m>
                  <m:oMath xmlns:m="http://schemas.openxmlformats.org/officeDocument/2006/math">
                    <m:sSup>
                      <m:sSupPr>
                        <m:ctrlPr>
                          <a:rPr lang="en-US" sz="2400" i="1" dirty="0">
                            <a:latin typeface="Cambria Math" panose="02040503050406030204" pitchFamily="18" charset="0"/>
                            <a:ea typeface="Arial"/>
                            <a:cs typeface="Arial"/>
                            <a:sym typeface="Arial"/>
                          </a:rPr>
                        </m:ctrlPr>
                      </m:sSupPr>
                      <m:e>
                        <m:r>
                          <a:rPr lang="en-US" sz="2400" i="1" dirty="0">
                            <a:latin typeface="Cambria Math" panose="02040503050406030204" pitchFamily="18" charset="0"/>
                            <a:ea typeface="Arial"/>
                            <a:cs typeface="Arial"/>
                            <a:sym typeface="Arial"/>
                          </a:rPr>
                          <m:t>0</m:t>
                        </m:r>
                      </m:e>
                      <m:sup>
                        <m:r>
                          <a:rPr lang="en-US" sz="2400" i="1" dirty="0">
                            <a:latin typeface="Cambria Math" panose="02040503050406030204" pitchFamily="18" charset="0"/>
                            <a:ea typeface="Arial"/>
                            <a:cs typeface="Arial"/>
                            <a:sym typeface="Arial"/>
                          </a:rPr>
                          <m:t>∘</m:t>
                        </m:r>
                      </m:sup>
                    </m:sSup>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 Red,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120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 Green,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240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 Blue.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Why this is brilliant: If a red ball enters a shadow, its </a:t>
                </a:r>
                <a:r>
                  <a:rPr lang="en-US" sz="2400" b="1" dirty="0">
                    <a:latin typeface="Atkinson Hyperlegible Next"/>
                    <a:ea typeface="Arial"/>
                    <a:cs typeface="Arial"/>
                    <a:sym typeface="Arial"/>
                  </a:rPr>
                  <a:t>Value</a:t>
                </a:r>
                <a:r>
                  <a:rPr lang="en-US" sz="2400" dirty="0">
                    <a:latin typeface="Atkinson Hyperlegible Next"/>
                    <a:ea typeface="Arial"/>
                    <a:cs typeface="Arial"/>
                    <a:sym typeface="Arial"/>
                  </a:rPr>
                  <a:t> </a:t>
                </a:r>
                <a:r>
                  <a:rPr lang="en-US" sz="2400" b="1" dirty="0">
                    <a:latin typeface="Atkinson Hyperlegible Next"/>
                    <a:ea typeface="Arial"/>
                    <a:cs typeface="Arial"/>
                    <a:sym typeface="Arial"/>
                  </a:rPr>
                  <a:t>drops</a:t>
                </a:r>
                <a:r>
                  <a:rPr lang="en-US" sz="2400" dirty="0">
                    <a:latin typeface="Atkinson Hyperlegible Next"/>
                    <a:ea typeface="Arial"/>
                    <a:cs typeface="Arial"/>
                    <a:sym typeface="Arial"/>
                  </a:rPr>
                  <a:t>, but its </a:t>
                </a:r>
                <a:r>
                  <a:rPr lang="en-US" sz="2400" b="1" dirty="0">
                    <a:latin typeface="Atkinson Hyperlegible Next"/>
                    <a:ea typeface="Arial"/>
                    <a:cs typeface="Arial"/>
                    <a:sym typeface="Arial"/>
                  </a:rPr>
                  <a:t>Hue angle remains “exactly” </a:t>
                </a:r>
                <a14:m>
                  <m:oMath xmlns:m="http://schemas.openxmlformats.org/officeDocument/2006/math">
                    <m:sSup>
                      <m:sSupPr>
                        <m:ctrlPr>
                          <a:rPr lang="en-US" sz="2400" b="1" i="1" dirty="0">
                            <a:latin typeface="Cambria Math" panose="02040503050406030204" pitchFamily="18" charset="0"/>
                            <a:ea typeface="Arial"/>
                            <a:cs typeface="Arial"/>
                            <a:sym typeface="Arial"/>
                          </a:rPr>
                        </m:ctrlPr>
                      </m:sSupPr>
                      <m:e>
                        <m:r>
                          <a:rPr lang="en-US" sz="2400" b="1" i="1" dirty="0">
                            <a:latin typeface="Cambria Math" panose="02040503050406030204" pitchFamily="18" charset="0"/>
                            <a:ea typeface="Arial"/>
                            <a:cs typeface="Arial"/>
                            <a:sym typeface="Arial"/>
                          </a:rPr>
                          <m:t>𝟎</m:t>
                        </m:r>
                      </m:e>
                      <m:sup>
                        <m:r>
                          <a:rPr lang="en-US" sz="2400" b="1" i="1" dirty="0">
                            <a:latin typeface="Cambria Math" panose="02040503050406030204" pitchFamily="18" charset="0"/>
                            <a:ea typeface="Arial"/>
                            <a:cs typeface="Arial"/>
                            <a:sym typeface="Arial"/>
                          </a:rPr>
                          <m:t>∘</m:t>
                        </m:r>
                      </m:sup>
                    </m:sSup>
                  </m:oMath>
                </a14:m>
                <a:r>
                  <a:rPr lang="en-US" sz="2400" b="1"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isolates the color from the lighting condition, making our tracking algorithm more robust!</a:t>
                </a:r>
              </a:p>
            </p:txBody>
          </p:sp>
        </mc:Choice>
        <mc:Fallback xmlns="">
          <p:sp>
            <p:nvSpPr>
              <p:cNvPr id="118" name="Google Shape;118;p29">
                <a:extLst>
                  <a:ext uri="{FF2B5EF4-FFF2-40B4-BE49-F238E27FC236}">
                    <a16:creationId xmlns:a16="http://schemas.microsoft.com/office/drawing/2014/main" id="{CB3096CD-535E-BAFB-689D-0824AE698D98}"/>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2049"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BA171B8-7E24-D5CD-6129-037B60E4F7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D5DB623-DF51-91FD-EEFE-5AAAF7527D4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816869F-F56C-15D7-3C4E-37C6C1BB5CA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AF2485-266C-378C-07DB-4A63D0E440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42BB47-4267-D0B1-C60D-B1E3523248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7314A8-3CA3-327D-890E-13B7F4B16B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414B7-30F3-6555-397E-831DC75311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1178C4-A7E4-72A5-FE0F-DE99846740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a:extLst>
              <a:ext uri="{FF2B5EF4-FFF2-40B4-BE49-F238E27FC236}">
                <a16:creationId xmlns:a16="http://schemas.microsoft.com/office/drawing/2014/main" id="{2919FED6-C67F-725D-39A7-7E7B85FE4C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4EE992C-4DFF-C690-F6E5-765961A9F7B6}"/>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29270627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0501AA-4348-DAAE-58E9-9B534A33934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F511F52-AAE8-4CD5-D22B-672540E4BED1}"/>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Saturation is the radius (distance from the center axis).</a:t>
            </a:r>
          </a:p>
          <a:p>
            <a:pPr marL="342900">
              <a:lnSpc>
                <a:spcPct val="100000"/>
              </a:lnSpc>
              <a:spcBef>
                <a:spcPts val="0"/>
              </a:spcBef>
              <a:buSzPts val="3000"/>
            </a:pPr>
            <a:r>
              <a:rPr lang="en-US" sz="2400" b="1" dirty="0">
                <a:latin typeface="Atkinson Hyperlegible Next"/>
                <a:ea typeface="Arial"/>
                <a:cs typeface="Arial"/>
                <a:sym typeface="Arial"/>
              </a:rPr>
              <a:t>S=0%</a:t>
            </a:r>
            <a:r>
              <a:rPr lang="en-US" sz="2400" dirty="0">
                <a:latin typeface="Atkinson Hyperlegible Next"/>
                <a:ea typeface="Arial"/>
                <a:cs typeface="Arial"/>
                <a:sym typeface="Arial"/>
              </a:rPr>
              <a:t> is pure gray/white (center). </a:t>
            </a:r>
          </a:p>
          <a:p>
            <a:pPr marL="342900">
              <a:lnSpc>
                <a:spcPct val="100000"/>
              </a:lnSpc>
              <a:spcBef>
                <a:spcPts val="0"/>
              </a:spcBef>
              <a:buSzPts val="3000"/>
            </a:pPr>
            <a:r>
              <a:rPr lang="en-US" sz="2400" b="1" dirty="0">
                <a:latin typeface="Atkinson Hyperlegible Next"/>
                <a:ea typeface="Arial"/>
                <a:cs typeface="Arial"/>
                <a:sym typeface="Arial"/>
              </a:rPr>
              <a:t>S=100%</a:t>
            </a:r>
            <a:r>
              <a:rPr lang="en-US" sz="2400" dirty="0">
                <a:latin typeface="Atkinson Hyperlegible Next"/>
                <a:ea typeface="Arial"/>
                <a:cs typeface="Arial"/>
                <a:sym typeface="Arial"/>
              </a:rPr>
              <a:t> is a pure, vibrant color (edge).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Value is the height of the cylinder (0 to 100%).</a:t>
            </a:r>
          </a:p>
          <a:p>
            <a:pPr marL="342900">
              <a:lnSpc>
                <a:spcPct val="100000"/>
              </a:lnSpc>
              <a:spcBef>
                <a:spcPts val="0"/>
              </a:spcBef>
              <a:buSzPts val="3000"/>
            </a:pPr>
            <a:r>
              <a:rPr lang="en-US" sz="2400" b="1" dirty="0">
                <a:latin typeface="Atkinson Hyperlegible Next"/>
                <a:ea typeface="Arial"/>
                <a:cs typeface="Arial"/>
                <a:sym typeface="Arial"/>
              </a:rPr>
              <a:t>V=0%</a:t>
            </a:r>
            <a:r>
              <a:rPr lang="en-US" sz="2400" dirty="0">
                <a:latin typeface="Atkinson Hyperlegible Next"/>
                <a:ea typeface="Arial"/>
                <a:cs typeface="Arial"/>
                <a:sym typeface="Arial"/>
              </a:rPr>
              <a:t> is pitch black. </a:t>
            </a:r>
          </a:p>
          <a:p>
            <a:pPr marL="342900">
              <a:lnSpc>
                <a:spcPct val="100000"/>
              </a:lnSpc>
              <a:spcBef>
                <a:spcPts val="0"/>
              </a:spcBef>
              <a:buSzPts val="3000"/>
            </a:pPr>
            <a:r>
              <a:rPr lang="en-US" sz="2400" b="1" dirty="0">
                <a:latin typeface="Atkinson Hyperlegible Next"/>
                <a:ea typeface="Arial"/>
                <a:cs typeface="Arial"/>
                <a:sym typeface="Arial"/>
              </a:rPr>
              <a:t>V=100% </a:t>
            </a:r>
            <a:r>
              <a:rPr lang="en-US" sz="2400" dirty="0">
                <a:latin typeface="Atkinson Hyperlegible Next"/>
                <a:ea typeface="Arial"/>
                <a:cs typeface="Arial"/>
                <a:sym typeface="Arial"/>
              </a:rPr>
              <a:t>is fully illuminated.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track an object, we look for pixels that fall within specific ranges.</a:t>
            </a:r>
          </a:p>
        </p:txBody>
      </p:sp>
      <p:sp>
        <p:nvSpPr>
          <p:cNvPr id="119" name="Google Shape;119;p29">
            <a:extLst>
              <a:ext uri="{FF2B5EF4-FFF2-40B4-BE49-F238E27FC236}">
                <a16:creationId xmlns:a16="http://schemas.microsoft.com/office/drawing/2014/main" id="{711C6FD8-037E-C66E-8F78-4C569DD47C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0363E49-52D5-A2A0-4ADD-805741FFB4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76B8E5F-AFD9-98FE-29E7-59001541FE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4495B9-4E49-1418-CB21-698A503C56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7D4219-531D-2365-F4D9-395A25CECB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031414-D07D-8DC6-CC76-F49276E28A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282DD-5F1E-925F-BAF1-4B172D25D6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2C2D23-AFEA-C01D-7F5B-822F1DBE7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a:extLst>
              <a:ext uri="{FF2B5EF4-FFF2-40B4-BE49-F238E27FC236}">
                <a16:creationId xmlns:a16="http://schemas.microsoft.com/office/drawing/2014/main" id="{D438D219-4CEC-F988-4BF8-AD7BCD28C9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C362953-CBE3-0DAC-E424-2117F88DBD61}"/>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807249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23E82A-1CEC-E410-BF7A-84AF184E636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4237E1B-545F-69C1-D581-FF9F2476C15A}"/>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To convert from RGB to HSV the conversion is simple.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Let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m:t>
                    </m:r>
                  </m:oMath>
                </a14:m>
                <a:r>
                  <a:rPr lang="en-US" sz="1800" dirty="0">
                    <a:latin typeface="Atkinson Hyperlegible Next"/>
                    <a:ea typeface="Arial"/>
                    <a:cs typeface="Arial"/>
                    <a:sym typeface="Arial"/>
                  </a:rPr>
                  <a:t> be normalized values in </a:t>
                </a:r>
                <a14:m>
                  <m:oMath xmlns:m="http://schemas.openxmlformats.org/officeDocument/2006/math">
                    <m:d>
                      <m:dPr>
                        <m:begChr m:val="["/>
                        <m:endChr m:val="]"/>
                        <m:ctrlPr>
                          <a:rPr lang="en-US" sz="1800" i="1" dirty="0" smtClean="0">
                            <a:latin typeface="Cambria Math" panose="02040503050406030204" pitchFamily="18" charset="0"/>
                            <a:ea typeface="Arial"/>
                            <a:cs typeface="Arial"/>
                            <a:sym typeface="Arial"/>
                          </a:rPr>
                        </m:ctrlPr>
                      </m:dPr>
                      <m:e>
                        <m:r>
                          <a:rPr lang="en-US" sz="1800" i="1" dirty="0" smtClean="0">
                            <a:latin typeface="Cambria Math" panose="02040503050406030204" pitchFamily="18" charset="0"/>
                            <a:ea typeface="Arial"/>
                            <a:cs typeface="Arial"/>
                            <a:sym typeface="Arial"/>
                          </a:rPr>
                          <m:t>0,1</m:t>
                        </m:r>
                      </m:e>
                    </m:d>
                  </m:oMath>
                </a14:m>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𝑚𝑎𝑥</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  </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𝑚𝑖𝑛</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0" smtClean="0">
                          <a:latin typeface="Cambria Math" panose="02040503050406030204" pitchFamily="18" charset="0"/>
                          <a:ea typeface="Arial"/>
                          <a:cs typeface="Arial"/>
                          <a:sym typeface="Arial"/>
                        </a:rPr>
                        <m:t>Δ</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Arial"/>
                          <a:cs typeface="Arial"/>
                          <a:sym typeface="Arial"/>
                        </a:rPr>
                        <m:t>𝑉</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dirty="0" smtClean="0">
                          <a:latin typeface="Cambria Math" panose="02040503050406030204" pitchFamily="18" charset="0"/>
                          <a:cs typeface="Arial"/>
                          <a:sym typeface="Arial"/>
                        </a:rPr>
                        <m:t>𝑆</m:t>
                      </m:r>
                      <m:r>
                        <a:rPr lang="en-US" sz="1800" b="0" i="1" dirty="0" smtClean="0">
                          <a:latin typeface="Cambria Math" panose="02040503050406030204" pitchFamily="18" charset="0"/>
                          <a:cs typeface="Arial"/>
                          <a:sym typeface="Arial"/>
                        </a:rPr>
                        <m:t>=</m:t>
                      </m:r>
                      <m:d>
                        <m:dPr>
                          <m:begChr m:val="{"/>
                          <m:endChr m:val=""/>
                          <m:ctrlPr>
                            <a:rPr lang="en-US" sz="1800" i="1" dirty="0" smtClean="0">
                              <a:latin typeface="Cambria Math" panose="02040503050406030204" pitchFamily="18" charset="0"/>
                              <a:cs typeface="Arial"/>
                              <a:sym typeface="Arial"/>
                            </a:rPr>
                          </m:ctrlPr>
                        </m:dPr>
                        <m:e>
                          <m:eqArr>
                            <m:eqArrPr>
                              <m:ctrlPr>
                                <a:rPr lang="en-US" sz="1800" i="1" dirty="0" smtClean="0">
                                  <a:latin typeface="Cambria Math" panose="02040503050406030204" pitchFamily="18" charset="0"/>
                                  <a:cs typeface="Arial"/>
                                  <a:sym typeface="Arial"/>
                                </a:rPr>
                              </m:ctrlPr>
                            </m:eqArrPr>
                            <m:e>
                              <m:r>
                                <a:rPr lang="en-US" sz="1800" b="0" i="1" dirty="0" smtClean="0">
                                  <a:latin typeface="Cambria Math" panose="02040503050406030204" pitchFamily="18" charset="0"/>
                                  <a:cs typeface="Arial"/>
                                  <a:sym typeface="Arial"/>
                                </a:rPr>
                                <m:t>0, </m:t>
                              </m:r>
                              <m:sSub>
                                <m:sSubPr>
                                  <m:ctrlPr>
                                    <a:rPr lang="en-US" sz="1800" b="0" i="1" dirty="0" smtClean="0">
                                      <a:latin typeface="Cambria Math" panose="02040503050406030204" pitchFamily="18" charset="0"/>
                                      <a:cs typeface="Arial"/>
                                      <a:sym typeface="Arial"/>
                                    </a:rPr>
                                  </m:ctrlPr>
                                </m:sSubPr>
                                <m:e>
                                  <m:r>
                                    <a:rPr lang="en-US" sz="1800" b="0" i="1" dirty="0" smtClean="0">
                                      <a:latin typeface="Cambria Math" panose="02040503050406030204" pitchFamily="18" charset="0"/>
                                      <a:cs typeface="Arial"/>
                                      <a:sym typeface="Arial"/>
                                    </a:rPr>
                                    <m:t>𝐶</m:t>
                                  </m:r>
                                </m:e>
                                <m:sub>
                                  <m:r>
                                    <m:rPr>
                                      <m:sty m:val="p"/>
                                    </m:rPr>
                                    <a:rPr lang="en-US" sz="1800" b="0" i="1" dirty="0" smtClean="0">
                                      <a:latin typeface="Cambria Math" panose="02040503050406030204" pitchFamily="18" charset="0"/>
                                      <a:cs typeface="Arial"/>
                                      <a:sym typeface="Arial"/>
                                    </a:rPr>
                                    <m:t>max</m:t>
                                  </m:r>
                                </m:sub>
                              </m:sSub>
                              <m:r>
                                <a:rPr lang="en-US" sz="1800" b="0" i="1" dirty="0" smtClean="0">
                                  <a:latin typeface="Cambria Math" panose="02040503050406030204" pitchFamily="18" charset="0"/>
                                  <a:cs typeface="Arial"/>
                                  <a:sym typeface="Arial"/>
                                </a:rPr>
                                <m:t>=0</m:t>
                              </m:r>
                            </m:e>
                            <m:e>
                              <m:f>
                                <m:fPr>
                                  <m:ctrlPr>
                                    <a:rPr lang="en-US" sz="1800" i="1" dirty="0" smtClean="0">
                                      <a:latin typeface="Cambria Math" panose="02040503050406030204" pitchFamily="18" charset="0"/>
                                      <a:cs typeface="Arial"/>
                                      <a:sym typeface="Arial"/>
                                    </a:rPr>
                                  </m:ctrlPr>
                                </m:fPr>
                                <m:num>
                                  <m:r>
                                    <m:rPr>
                                      <m:sty m:val="p"/>
                                    </m:rPr>
                                    <a:rPr lang="en-US" sz="1800" b="0" i="1" dirty="0" smtClean="0">
                                      <a:latin typeface="Cambria Math" panose="02040503050406030204" pitchFamily="18" charset="0"/>
                                      <a:cs typeface="Arial"/>
                                      <a:sym typeface="Arial"/>
                                    </a:rPr>
                                    <m:t>Δ</m:t>
                                  </m:r>
                                </m:num>
                                <m:den>
                                  <m:sSub>
                                    <m:sSubPr>
                                      <m:ctrlPr>
                                        <a:rPr lang="en-US" sz="1800" i="1" dirty="0">
                                          <a:latin typeface="Cambria Math" panose="02040503050406030204" pitchFamily="18" charset="0"/>
                                          <a:cs typeface="Arial"/>
                                          <a:sym typeface="Arial"/>
                                        </a:rPr>
                                      </m:ctrlPr>
                                    </m:sSubPr>
                                    <m:e>
                                      <m:r>
                                        <a:rPr lang="en-US" sz="1800" i="1" dirty="0">
                                          <a:latin typeface="Cambria Math" panose="02040503050406030204" pitchFamily="18" charset="0"/>
                                          <a:cs typeface="Arial"/>
                                          <a:sym typeface="Arial"/>
                                        </a:rPr>
                                        <m:t>𝐶</m:t>
                                      </m:r>
                                    </m:e>
                                    <m:sub>
                                      <m:r>
                                        <m:rPr>
                                          <m:sty m:val="p"/>
                                        </m:rPr>
                                        <a:rPr lang="en-US" sz="1800" i="1" dirty="0">
                                          <a:latin typeface="Cambria Math" panose="02040503050406030204" pitchFamily="18" charset="0"/>
                                          <a:cs typeface="Arial"/>
                                          <a:sym typeface="Arial"/>
                                        </a:rPr>
                                        <m:t>max</m:t>
                                      </m:r>
                                    </m:sub>
                                  </m:sSub>
                                </m:den>
                              </m:f>
                            </m:e>
                          </m:eqArr>
                          <m:r>
                            <a:rPr lang="en-US" sz="1800" b="0" i="1" dirty="0" smtClean="0">
                              <a:latin typeface="Cambria Math" panose="02040503050406030204" pitchFamily="18" charset="0"/>
                              <a:cs typeface="Arial"/>
                              <a:sym typeface="Arial"/>
                            </a:rPr>
                            <m:t>,</m:t>
                          </m:r>
                        </m:e>
                      </m:d>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cs typeface="Arial"/>
                          <a:sym typeface="Arial"/>
                        </a:rPr>
                        <m:t>H</m:t>
                      </m:r>
                      <m:r>
                        <a:rPr lang="en-US" sz="1800" b="0" i="1" smtClean="0">
                          <a:latin typeface="Cambria Math" panose="02040503050406030204" pitchFamily="18" charset="0"/>
                          <a:cs typeface="Arial"/>
                          <a:sym typeface="Arial"/>
                        </a:rPr>
                        <m:t> = </m:t>
                      </m:r>
                      <m:sSup>
                        <m:sSupPr>
                          <m:ctrlPr>
                            <a:rPr lang="en-US" sz="1800" b="0" i="1" smtClean="0">
                              <a:latin typeface="Cambria Math" panose="02040503050406030204" pitchFamily="18" charset="0"/>
                              <a:cs typeface="Arial"/>
                              <a:sym typeface="Arial"/>
                            </a:rPr>
                          </m:ctrlPr>
                        </m:sSupPr>
                        <m:e>
                          <m:r>
                            <a:rPr lang="en-US" sz="1800" b="0" i="1" smtClean="0">
                              <a:latin typeface="Cambria Math" panose="02040503050406030204" pitchFamily="18" charset="0"/>
                              <a:cs typeface="Arial"/>
                              <a:sym typeface="Arial"/>
                            </a:rPr>
                            <m:t>60</m:t>
                          </m:r>
                        </m:e>
                        <m:sup>
                          <m:r>
                            <a:rPr lang="en-US" sz="1800" b="0" i="1" smtClean="0">
                              <a:latin typeface="Cambria Math" panose="02040503050406030204" pitchFamily="18" charset="0"/>
                              <a:cs typeface="Arial"/>
                              <a:sym typeface="Arial"/>
                            </a:rPr>
                            <m:t>∘</m:t>
                          </m:r>
                        </m:sup>
                      </m:sSup>
                      <m:r>
                        <a:rPr lang="en-US" sz="1800" b="0" i="1" smtClean="0">
                          <a:latin typeface="Cambria Math" panose="02040503050406030204" pitchFamily="18" charset="0"/>
                          <a:cs typeface="Arial"/>
                          <a:sym typeface="Arial"/>
                        </a:rPr>
                        <m:t> ×</m:t>
                      </m:r>
                      <m:d>
                        <m:dPr>
                          <m:begChr m:val="{"/>
                          <m:endChr m:val=""/>
                          <m:ctrlPr>
                            <a:rPr lang="en-US" sz="1800" i="1" smtClean="0">
                              <a:latin typeface="Cambria Math" panose="02040503050406030204" pitchFamily="18" charset="0"/>
                              <a:cs typeface="Arial"/>
                              <a:sym typeface="Arial"/>
                            </a:rPr>
                          </m:ctrlPr>
                        </m:dPr>
                        <m:e>
                          <m:eqArr>
                            <m:eqArrPr>
                              <m:ctrlPr>
                                <a:rPr lang="en-US" sz="1800" i="1" smtClean="0">
                                  <a:latin typeface="Cambria Math" panose="02040503050406030204" pitchFamily="18" charset="0"/>
                                  <a:cs typeface="Arial"/>
                                  <a:sym typeface="Arial"/>
                                </a:rPr>
                              </m:ctrlPr>
                            </m:eqArrPr>
                            <m:e>
                              <m:f>
                                <m:fPr>
                                  <m:ctrlPr>
                                    <a:rPr lang="en-US" sz="180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G</m:t>
                                  </m:r>
                                  <m:r>
                                    <a:rPr lang="en-US" sz="1800" b="0" i="1" smtClean="0">
                                      <a:latin typeface="Cambria Math" panose="02040503050406030204" pitchFamily="18" charset="0"/>
                                      <a:cs typeface="Arial"/>
                                      <a:sym typeface="Arial"/>
                                    </a:rPr>
                                    <m:t> − </m:t>
                                  </m:r>
                                  <m:r>
                                    <m:rPr>
                                      <m:sty m:val="p"/>
                                    </m:rPr>
                                    <a:rPr lang="en-US" sz="1800" b="0" i="1" smtClean="0">
                                      <a:latin typeface="Cambria Math" panose="02040503050406030204" pitchFamily="18" charset="0"/>
                                      <a:cs typeface="Arial"/>
                                      <a:sym typeface="Arial"/>
                                    </a:rPr>
                                    <m:t>B</m:t>
                                  </m:r>
                                </m:num>
                                <m:den>
                                  <m:r>
                                    <m:rPr>
                                      <m:sty m:val="p"/>
                                    </m:rPr>
                                    <a:rPr lang="en-US" sz="1800" b="0" i="1" smtClean="0">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 % 6, </m:t>
                              </m:r>
                              <m:sSub>
                                <m:sSubPr>
                                  <m:ctrlPr>
                                    <a:rPr lang="en-US" sz="1800" b="0" i="1" smtClean="0">
                                      <a:latin typeface="Cambria Math" panose="02040503050406030204" pitchFamily="18" charset="0"/>
                                      <a:cs typeface="Arial"/>
                                      <a:sym typeface="Arial"/>
                                    </a:rPr>
                                  </m:ctrlPr>
                                </m:sSubPr>
                                <m:e>
                                  <m:r>
                                    <a:rPr lang="en-US" sz="1800" b="0" i="1" smtClean="0">
                                      <a:latin typeface="Cambria Math" panose="02040503050406030204" pitchFamily="18" charset="0"/>
                                      <a:cs typeface="Arial"/>
                                      <a:sym typeface="Arial"/>
                                    </a:rPr>
                                    <m:t>𝐶</m:t>
                                  </m:r>
                                </m:e>
                                <m:sub>
                                  <m:r>
                                    <a:rPr lang="en-US" sz="1800" b="0" i="1" smtClean="0">
                                      <a:latin typeface="Cambria Math" panose="02040503050406030204" pitchFamily="18" charset="0"/>
                                      <a:cs typeface="Arial"/>
                                      <a:sym typeface="Arial"/>
                                    </a:rPr>
                                    <m:t>𝑚𝑎𝑥</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R</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B</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R</m:t>
                                  </m:r>
                                </m:num>
                                <m:den>
                                  <m:r>
                                    <m:rPr>
                                      <m:sty m:val="p"/>
                                    </m:rPr>
                                    <a:rPr lang="en-US" sz="1800" i="1">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+2</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G</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R</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G</m:t>
                                  </m:r>
                                </m:num>
                                <m:den>
                                  <m:r>
                                    <m:rPr>
                                      <m:sty m:val="p"/>
                                    </m:rPr>
                                    <a:rPr lang="en-US" sz="1800" i="1">
                                      <a:latin typeface="Cambria Math" panose="02040503050406030204" pitchFamily="18" charset="0"/>
                                      <a:cs typeface="Arial"/>
                                      <a:sym typeface="Arial"/>
                                    </a:rPr>
                                    <m:t>Δ</m:t>
                                  </m:r>
                                </m:den>
                              </m:f>
                              <m:r>
                                <a:rPr lang="en-US" sz="1800" i="1">
                                  <a:latin typeface="Cambria Math" panose="02040503050406030204" pitchFamily="18" charset="0"/>
                                  <a:cs typeface="Arial"/>
                                  <a:sym typeface="Arial"/>
                                </a:rPr>
                                <m:t> </m:t>
                              </m:r>
                              <m:r>
                                <a:rPr lang="en-US" sz="1800" b="0" i="1" smtClean="0">
                                  <a:latin typeface="Cambria Math" panose="02040503050406030204" pitchFamily="18" charset="0"/>
                                  <a:cs typeface="Arial"/>
                                  <a:sym typeface="Arial"/>
                                </a:rPr>
                                <m:t>+4</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B</m:t>
                              </m:r>
                            </m:e>
                          </m:eqArr>
                        </m:e>
                      </m:d>
                    </m:oMath>
                  </m:oMathPara>
                </a14:m>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4237E1B-545F-69C1-D581-FF9F2476C15A}"/>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87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38134D-BC05-A9E4-964E-41BF74069A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893D9E-85E5-0A36-3430-5D37940B90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D0718D8-30AD-D7C5-8A68-6F81DC2D493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5DADCC-EC8A-1D0D-F508-F1D41C0A3E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BB4DD0-56A2-02E0-C285-A85954AA56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81610D-F709-493A-DE83-2F286BC82D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3D08E5-5038-2959-A5E9-10CCA2FFF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86E03F-C716-315F-46CF-58C1165A4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a:extLst>
              <a:ext uri="{FF2B5EF4-FFF2-40B4-BE49-F238E27FC236}">
                <a16:creationId xmlns:a16="http://schemas.microsoft.com/office/drawing/2014/main" id="{AF6EB6C2-AADA-A0B4-39C7-4724DBFA92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A82E01D-94DB-6D53-F0E0-6228D008EAEE}"/>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3160164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9F57E-2DBD-44F8-8454-D286105C147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CEE6F7A-EC74-30A2-88E8-6C2427A9A2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A6D7FB-FAB6-5B85-592C-72EDA4E0B2C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902F8BE-39BA-002E-8EBC-E0225562B69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3CAA6-5617-F536-1F8F-11AFDE6EF4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B43056-5636-DB67-E22A-40AF11E768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240060-6A6A-CBED-E1EF-756E623447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6B047D-03B1-4247-6D6A-E18F7315C41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C0499F-EC99-EB26-DA17-3704012B28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42" name="Picture 2">
            <a:extLst>
              <a:ext uri="{FF2B5EF4-FFF2-40B4-BE49-F238E27FC236}">
                <a16:creationId xmlns:a16="http://schemas.microsoft.com/office/drawing/2014/main" id="{41A7A60A-73DC-DEC4-0C5F-CF88DBAF042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21374" y="889027"/>
            <a:ext cx="3749252" cy="2753357"/>
          </a:xfrm>
          <a:prstGeom prst="rect">
            <a:avLst/>
          </a:prstGeom>
          <a:noFill/>
          <a:extLst>
            <a:ext uri="{909E8E84-426E-40DD-AFC4-6F175D3DCCD1}">
              <a14:hiddenFill xmlns:a14="http://schemas.microsoft.com/office/drawing/2010/main">
                <a:solidFill>
                  <a:srgbClr val="FFFFFF"/>
                </a:solidFill>
              </a14:hiddenFill>
            </a:ext>
          </a:extLst>
        </p:spPr>
      </p:pic>
      <p:pic>
        <p:nvPicPr>
          <p:cNvPr id="10244" name="Picture 4">
            <a:extLst>
              <a:ext uri="{FF2B5EF4-FFF2-40B4-BE49-F238E27FC236}">
                <a16:creationId xmlns:a16="http://schemas.microsoft.com/office/drawing/2014/main" id="{CB2095BA-9684-22C8-ADC8-E825ADD548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78484" y="3707347"/>
            <a:ext cx="3835032" cy="2816352"/>
          </a:xfrm>
          <a:prstGeom prst="rect">
            <a:avLst/>
          </a:prstGeom>
          <a:noFill/>
          <a:extLst>
            <a:ext uri="{909E8E84-426E-40DD-AFC4-6F175D3DCCD1}">
              <a14:hiddenFill xmlns:a14="http://schemas.microsoft.com/office/drawing/2010/main">
                <a:solidFill>
                  <a:srgbClr val="FFFFFF"/>
                </a:solidFill>
              </a14:hiddenFill>
            </a:ext>
          </a:extLst>
        </p:spPr>
      </p:pic>
      <p:pic>
        <p:nvPicPr>
          <p:cNvPr id="10246" name="Picture 6">
            <a:extLst>
              <a:ext uri="{FF2B5EF4-FFF2-40B4-BE49-F238E27FC236}">
                <a16:creationId xmlns:a16="http://schemas.microsoft.com/office/drawing/2014/main" id="{391BBE52-D58B-65EA-4C1E-6779ABB764E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36428" y="3710862"/>
            <a:ext cx="3830246" cy="2812837"/>
          </a:xfrm>
          <a:prstGeom prst="rect">
            <a:avLst/>
          </a:prstGeom>
          <a:noFill/>
          <a:extLst>
            <a:ext uri="{909E8E84-426E-40DD-AFC4-6F175D3DCCD1}">
              <a14:hiddenFill xmlns:a14="http://schemas.microsoft.com/office/drawing/2010/main">
                <a:solidFill>
                  <a:srgbClr val="FFFFFF"/>
                </a:solidFill>
              </a14:hiddenFill>
            </a:ext>
          </a:extLst>
        </p:spPr>
      </p:pic>
      <p:pic>
        <p:nvPicPr>
          <p:cNvPr id="10248" name="Picture 8">
            <a:extLst>
              <a:ext uri="{FF2B5EF4-FFF2-40B4-BE49-F238E27FC236}">
                <a16:creationId xmlns:a16="http://schemas.microsoft.com/office/drawing/2014/main" id="{DCF6C397-C9DD-3CAF-C0CA-D5D1CDA9520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120540" y="3707347"/>
            <a:ext cx="3835032" cy="281635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502BDC6-4AA3-8F50-3C1A-4232B526CCD7}"/>
              </a:ext>
            </a:extLst>
          </p:cNvPr>
          <p:cNvSpPr txBox="1"/>
          <p:nvPr/>
        </p:nvSpPr>
        <p:spPr>
          <a:xfrm>
            <a:off x="485975" y="1164204"/>
            <a:ext cx="2423480" cy="307777"/>
          </a:xfrm>
          <a:prstGeom prst="rect">
            <a:avLst/>
          </a:prstGeom>
          <a:noFill/>
        </p:spPr>
        <p:txBody>
          <a:bodyPr wrap="square" rtlCol="0">
            <a:spAutoFit/>
          </a:bodyPr>
          <a:lstStyle/>
          <a:p>
            <a:r>
              <a:rPr lang="en-US" dirty="0"/>
              <a:t>Which one looks the nicest?</a:t>
            </a:r>
          </a:p>
        </p:txBody>
      </p:sp>
      <p:sp>
        <p:nvSpPr>
          <p:cNvPr id="5" name="TextBox 4">
            <a:extLst>
              <a:ext uri="{FF2B5EF4-FFF2-40B4-BE49-F238E27FC236}">
                <a16:creationId xmlns:a16="http://schemas.microsoft.com/office/drawing/2014/main" id="{0DB40B51-D24E-456A-3FC5-8F2F506542F6}"/>
              </a:ext>
            </a:extLst>
          </p:cNvPr>
          <p:cNvSpPr txBox="1"/>
          <p:nvPr/>
        </p:nvSpPr>
        <p:spPr>
          <a:xfrm>
            <a:off x="939811" y="3368442"/>
            <a:ext cx="2423480" cy="307777"/>
          </a:xfrm>
          <a:prstGeom prst="rect">
            <a:avLst/>
          </a:prstGeom>
          <a:noFill/>
        </p:spPr>
        <p:txBody>
          <a:bodyPr wrap="square" rtlCol="0">
            <a:spAutoFit/>
          </a:bodyPr>
          <a:lstStyle/>
          <a:p>
            <a:pPr algn="ctr"/>
            <a:r>
              <a:rPr lang="en-US" dirty="0"/>
              <a:t>HSV value V</a:t>
            </a:r>
          </a:p>
        </p:txBody>
      </p:sp>
      <p:sp>
        <p:nvSpPr>
          <p:cNvPr id="6" name="TextBox 5">
            <a:extLst>
              <a:ext uri="{FF2B5EF4-FFF2-40B4-BE49-F238E27FC236}">
                <a16:creationId xmlns:a16="http://schemas.microsoft.com/office/drawing/2014/main" id="{D9162660-7C23-8A31-2498-AE252E8517AB}"/>
              </a:ext>
            </a:extLst>
          </p:cNvPr>
          <p:cNvSpPr txBox="1"/>
          <p:nvPr/>
        </p:nvSpPr>
        <p:spPr>
          <a:xfrm>
            <a:off x="8826316" y="3360651"/>
            <a:ext cx="2423480" cy="307777"/>
          </a:xfrm>
          <a:prstGeom prst="rect">
            <a:avLst/>
          </a:prstGeom>
          <a:noFill/>
        </p:spPr>
        <p:txBody>
          <a:bodyPr wrap="square" rtlCol="0">
            <a:spAutoFit/>
          </a:bodyPr>
          <a:lstStyle/>
          <a:p>
            <a:pPr algn="ctr"/>
            <a:r>
              <a:rPr lang="en-US" dirty="0"/>
              <a:t>HSL value L</a:t>
            </a:r>
          </a:p>
        </p:txBody>
      </p:sp>
      <p:sp>
        <p:nvSpPr>
          <p:cNvPr id="7" name="TextBox 6">
            <a:extLst>
              <a:ext uri="{FF2B5EF4-FFF2-40B4-BE49-F238E27FC236}">
                <a16:creationId xmlns:a16="http://schemas.microsoft.com/office/drawing/2014/main" id="{B81FD8A4-9737-503E-F429-C3A056C627A6}"/>
              </a:ext>
            </a:extLst>
          </p:cNvPr>
          <p:cNvSpPr txBox="1"/>
          <p:nvPr/>
        </p:nvSpPr>
        <p:spPr>
          <a:xfrm>
            <a:off x="8013516" y="1010315"/>
            <a:ext cx="1358740" cy="307777"/>
          </a:xfrm>
          <a:prstGeom prst="rect">
            <a:avLst/>
          </a:prstGeom>
          <a:noFill/>
        </p:spPr>
        <p:txBody>
          <a:bodyPr wrap="square" rtlCol="0">
            <a:spAutoFit/>
          </a:bodyPr>
          <a:lstStyle/>
          <a:p>
            <a:pPr algn="ctr"/>
            <a:r>
              <a:rPr lang="en-US" dirty="0"/>
              <a:t>Original Color</a:t>
            </a:r>
          </a:p>
        </p:txBody>
      </p:sp>
      <p:sp>
        <p:nvSpPr>
          <p:cNvPr id="8" name="TextBox 7">
            <a:extLst>
              <a:ext uri="{FF2B5EF4-FFF2-40B4-BE49-F238E27FC236}">
                <a16:creationId xmlns:a16="http://schemas.microsoft.com/office/drawing/2014/main" id="{096DC7E9-FD26-0163-DE3C-886619DDA3A2}"/>
              </a:ext>
            </a:extLst>
          </p:cNvPr>
          <p:cNvSpPr txBox="1"/>
          <p:nvPr/>
        </p:nvSpPr>
        <p:spPr>
          <a:xfrm>
            <a:off x="8013516" y="3360651"/>
            <a:ext cx="1047357" cy="307777"/>
          </a:xfrm>
          <a:prstGeom prst="rect">
            <a:avLst/>
          </a:prstGeom>
          <a:noFill/>
        </p:spPr>
        <p:txBody>
          <a:bodyPr wrap="square" rtlCol="0">
            <a:spAutoFit/>
          </a:bodyPr>
          <a:lstStyle/>
          <a:p>
            <a:pPr algn="ctr"/>
            <a:r>
              <a:rPr lang="en-US" dirty="0"/>
              <a:t>CIELAB L*</a:t>
            </a:r>
          </a:p>
        </p:txBody>
      </p:sp>
      <p:sp>
        <p:nvSpPr>
          <p:cNvPr id="10" name="TextBox 9">
            <a:extLst>
              <a:ext uri="{FF2B5EF4-FFF2-40B4-BE49-F238E27FC236}">
                <a16:creationId xmlns:a16="http://schemas.microsoft.com/office/drawing/2014/main" id="{D3EED8F6-F9E3-FF3A-3C2B-1AFB500DCCE2}"/>
              </a:ext>
            </a:extLst>
          </p:cNvPr>
          <p:cNvSpPr txBox="1"/>
          <p:nvPr/>
        </p:nvSpPr>
        <p:spPr>
          <a:xfrm>
            <a:off x="8169919" y="1275577"/>
            <a:ext cx="3536106" cy="246221"/>
          </a:xfrm>
          <a:prstGeom prst="rect">
            <a:avLst/>
          </a:prstGeom>
          <a:noFill/>
        </p:spPr>
        <p:txBody>
          <a:bodyPr wrap="square">
            <a:spAutoFit/>
          </a:bodyPr>
          <a:lstStyle/>
          <a:p>
            <a:pPr algn="ctr"/>
            <a:r>
              <a:rPr lang="en-US" sz="1000" dirty="0">
                <a:hlinkClick r:id="rId8"/>
              </a:rPr>
              <a:t>https://en.wikipedia.org/wiki/HSL_and_HSV#Disadvantages</a:t>
            </a:r>
            <a:r>
              <a:rPr lang="en-US" sz="1000" dirty="0"/>
              <a:t> </a:t>
            </a:r>
          </a:p>
        </p:txBody>
      </p:sp>
    </p:spTree>
    <p:extLst>
      <p:ext uri="{BB962C8B-B14F-4D97-AF65-F5344CB8AC3E}">
        <p14:creationId xmlns:p14="http://schemas.microsoft.com/office/powerpoint/2010/main" val="250741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DC26FD-BE90-A194-5416-EC1A40F45DD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F32F094-B864-91E5-4C3A-BC5767FE48B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While HSL, HSV, and related spaces serve well enough to, for instance, choose a single color, they ignore much of the complexity of color appearance.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Essentially, they trade off </a:t>
            </a:r>
            <a:r>
              <a:rPr lang="en-US" sz="2000" b="1" dirty="0">
                <a:latin typeface="Atkinson Hyperlegible Next"/>
                <a:ea typeface="Arial"/>
                <a:cs typeface="Arial"/>
                <a:sym typeface="Arial"/>
              </a:rPr>
              <a:t>perceptual relevance </a:t>
            </a:r>
            <a:r>
              <a:rPr lang="en-US" sz="2000" dirty="0">
                <a:latin typeface="Atkinson Hyperlegible Next"/>
                <a:ea typeface="Arial"/>
                <a:cs typeface="Arial"/>
                <a:sym typeface="Arial"/>
              </a:rPr>
              <a:t>for computation speed.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HSL and HSV are simple transformations of RGB which preserve symmetries in the RGB cube unrelated to human perception.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plot the RGB gamut in a more </a:t>
            </a:r>
            <a:r>
              <a:rPr lang="en-US" sz="2000" b="1" dirty="0">
                <a:latin typeface="Atkinson Hyperlegible Next"/>
                <a:ea typeface="Arial"/>
                <a:cs typeface="Arial"/>
                <a:sym typeface="Arial"/>
              </a:rPr>
              <a:t>perceptually-uniform space</a:t>
            </a:r>
            <a:r>
              <a:rPr lang="en-US" sz="2000" dirty="0">
                <a:latin typeface="Atkinson Hyperlegible Next"/>
                <a:ea typeface="Arial"/>
                <a:cs typeface="Arial"/>
                <a:sym typeface="Arial"/>
              </a:rPr>
              <a:t>, such as CIELAB, it becomes immediately clear that the red, green, and blue primaries do not have the same lightness or chroma, or evenly spaced hues.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HSL and HSV are defined purely with reference to some RGB space, they are not absolute color spaces: to specify a color precisely requires reporting not only HSL or HSV values, but also the characteristics of the RGB space they are based on, including the gamma correction in 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8B5D63E-8A1B-A94E-DBD1-37B0B750FC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38C76F-C589-4D4D-78EB-D87E621510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426FD96-823B-DBBC-9E77-D2C54AFC2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C276AA-35F8-F3A2-42A4-1E319E10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15A9D4-5AA6-6E3B-203D-ED4CEF06AE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3136E-F26E-C1E9-6FFD-F2896793F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406811-0793-6F49-D62C-27BCA0742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3C04C7-A328-7814-79E6-BC1910C1E5D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47684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445765-83BA-A583-E0CC-0178C5E754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080A7C0-8A39-FB91-8EB4-DF753F93FC7C}"/>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CIELAB</a:t>
            </a:r>
            <a:r>
              <a:rPr lang="en-US" sz="1800" dirty="0">
                <a:latin typeface="Atkinson Hyperlegible Next"/>
                <a:ea typeface="Arial"/>
                <a:cs typeface="Arial"/>
                <a:sym typeface="Arial"/>
              </a:rPr>
              <a:t> space is three-dimensional and covers the entire gamut (range) of human color perception.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It is based on the opponent model of human vision, where red and green form an opponent pair and blue and yellow form an opponent pair.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lightness value</a:t>
            </a:r>
            <a:r>
              <a:rPr lang="en-US" sz="1800" dirty="0">
                <a:latin typeface="Atkinson Hyperlegible Next"/>
                <a:ea typeface="Arial"/>
                <a:cs typeface="Arial"/>
                <a:sym typeface="Arial"/>
              </a:rPr>
              <a:t>, L* (pronounced "L star"), defines </a:t>
            </a:r>
            <a:r>
              <a:rPr lang="en-US" sz="1800" b="1" dirty="0">
                <a:latin typeface="Atkinson Hyperlegible Next"/>
                <a:ea typeface="Arial"/>
                <a:cs typeface="Arial"/>
                <a:sym typeface="Arial"/>
              </a:rPr>
              <a:t>black</a:t>
            </a:r>
            <a:r>
              <a:rPr lang="en-US" sz="1800" dirty="0">
                <a:latin typeface="Atkinson Hyperlegible Next"/>
                <a:ea typeface="Arial"/>
                <a:cs typeface="Arial"/>
                <a:sym typeface="Arial"/>
              </a:rPr>
              <a:t> at 0 and </a:t>
            </a:r>
            <a:r>
              <a:rPr lang="en-US" sz="1800" b="1" dirty="0">
                <a:latin typeface="Atkinson Hyperlegible Next"/>
                <a:ea typeface="Arial"/>
                <a:cs typeface="Arial"/>
                <a:sym typeface="Arial"/>
              </a:rPr>
              <a:t>white</a:t>
            </a:r>
            <a:r>
              <a:rPr lang="en-US" sz="1800" dirty="0">
                <a:latin typeface="Atkinson Hyperlegible Next"/>
                <a:ea typeface="Arial"/>
                <a:cs typeface="Arial"/>
                <a:sym typeface="Arial"/>
              </a:rPr>
              <a:t> at 100. </a:t>
            </a: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a* axis </a:t>
            </a:r>
            <a:r>
              <a:rPr lang="en-US" sz="1800" dirty="0">
                <a:latin typeface="Atkinson Hyperlegible Next"/>
                <a:ea typeface="Arial"/>
                <a:cs typeface="Arial"/>
                <a:sym typeface="Arial"/>
              </a:rPr>
              <a:t>is relative to the </a:t>
            </a:r>
            <a:r>
              <a:rPr lang="en-US" sz="1800" b="1" dirty="0">
                <a:latin typeface="Atkinson Hyperlegible Next"/>
                <a:ea typeface="Arial"/>
                <a:cs typeface="Arial"/>
                <a:sym typeface="Arial"/>
              </a:rPr>
              <a:t>green–red </a:t>
            </a:r>
            <a:r>
              <a:rPr lang="en-US" sz="1800" dirty="0">
                <a:latin typeface="Atkinson Hyperlegible Next"/>
                <a:ea typeface="Arial"/>
                <a:cs typeface="Arial"/>
                <a:sym typeface="Arial"/>
              </a:rPr>
              <a:t>opponent colors, with negative values toward green and positive values toward red. </a:t>
            </a: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b* axis </a:t>
            </a:r>
            <a:r>
              <a:rPr lang="en-US" sz="1800" dirty="0">
                <a:latin typeface="Atkinson Hyperlegible Next"/>
                <a:ea typeface="Arial"/>
                <a:cs typeface="Arial"/>
                <a:sym typeface="Arial"/>
              </a:rPr>
              <a:t>represents the </a:t>
            </a:r>
            <a:r>
              <a:rPr lang="en-US" sz="1800" b="1" dirty="0">
                <a:latin typeface="Atkinson Hyperlegible Next"/>
                <a:ea typeface="Arial"/>
                <a:cs typeface="Arial"/>
                <a:sym typeface="Arial"/>
              </a:rPr>
              <a:t>blue–yellow </a:t>
            </a:r>
            <a:r>
              <a:rPr lang="en-US" sz="1800" dirty="0">
                <a:latin typeface="Atkinson Hyperlegible Next"/>
                <a:ea typeface="Arial"/>
                <a:cs typeface="Arial"/>
                <a:sym typeface="Arial"/>
              </a:rPr>
              <a:t>opponents, with negative numbers toward blue and positive toward yellow.</a:t>
            </a:r>
          </a:p>
        </p:txBody>
      </p:sp>
      <p:sp>
        <p:nvSpPr>
          <p:cNvPr id="119" name="Google Shape;119;p29">
            <a:extLst>
              <a:ext uri="{FF2B5EF4-FFF2-40B4-BE49-F238E27FC236}">
                <a16:creationId xmlns:a16="http://schemas.microsoft.com/office/drawing/2014/main" id="{1049A639-4B4E-6835-C81D-AAA2225CAF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D081E5-54B3-3924-2B74-D0DDD38B409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E3E7D70-05DD-75EF-5681-1F62D3A776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7139E9-E9E6-7966-915D-2F6A20977F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6FEE00-556A-76D8-1B1A-8031D3A41D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BBBC5-5731-C6AA-4D88-A3E66C67FA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FF90A8-8E09-D66E-B790-A9D3343096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5C59DE-AF37-EC18-B6DD-EB5012A9D7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976D4B0A-9C3F-129F-D0B9-7788788EAC79}"/>
              </a:ext>
            </a:extLst>
          </p:cNvPr>
          <p:cNvSpPr txBox="1"/>
          <p:nvPr/>
        </p:nvSpPr>
        <p:spPr>
          <a:xfrm>
            <a:off x="8124955" y="6355316"/>
            <a:ext cx="2965959" cy="246221"/>
          </a:xfrm>
          <a:prstGeom prst="rect">
            <a:avLst/>
          </a:prstGeom>
          <a:noFill/>
        </p:spPr>
        <p:txBody>
          <a:bodyPr wrap="square">
            <a:spAutoFit/>
          </a:bodyPr>
          <a:lstStyle/>
          <a:p>
            <a:pPr algn="ctr"/>
            <a:r>
              <a:rPr lang="en-US" sz="1000" dirty="0">
                <a:hlinkClick r:id="rId4"/>
              </a:rPr>
              <a:t>https://en.wikipedia.org/wiki/CIELAB_color_space</a:t>
            </a:r>
            <a:r>
              <a:rPr lang="en-US" sz="1000" dirty="0"/>
              <a:t> </a:t>
            </a:r>
          </a:p>
        </p:txBody>
      </p:sp>
      <p:pic>
        <p:nvPicPr>
          <p:cNvPr id="12" name="Picture 11">
            <a:extLst>
              <a:ext uri="{FF2B5EF4-FFF2-40B4-BE49-F238E27FC236}">
                <a16:creationId xmlns:a16="http://schemas.microsoft.com/office/drawing/2014/main" id="{C26F9AA7-B35C-8A6F-B8EB-91A4578A80E6}"/>
              </a:ext>
            </a:extLst>
          </p:cNvPr>
          <p:cNvPicPr>
            <a:picLocks noChangeAspect="1"/>
          </p:cNvPicPr>
          <p:nvPr/>
        </p:nvPicPr>
        <p:blipFill>
          <a:blip r:embed="rId5"/>
          <a:stretch>
            <a:fillRect/>
          </a:stretch>
        </p:blipFill>
        <p:spPr>
          <a:xfrm>
            <a:off x="8124955" y="3624695"/>
            <a:ext cx="2688336" cy="2688336"/>
          </a:xfrm>
          <a:prstGeom prst="rect">
            <a:avLst/>
          </a:prstGeom>
        </p:spPr>
      </p:pic>
      <p:pic>
        <p:nvPicPr>
          <p:cNvPr id="14" name="Picture 13">
            <a:extLst>
              <a:ext uri="{FF2B5EF4-FFF2-40B4-BE49-F238E27FC236}">
                <a16:creationId xmlns:a16="http://schemas.microsoft.com/office/drawing/2014/main" id="{D2AA05EC-F333-E110-32DC-1E4D05FF14F6}"/>
              </a:ext>
            </a:extLst>
          </p:cNvPr>
          <p:cNvPicPr>
            <a:picLocks noChangeAspect="1"/>
          </p:cNvPicPr>
          <p:nvPr/>
        </p:nvPicPr>
        <p:blipFill>
          <a:blip r:embed="rId6"/>
          <a:stretch>
            <a:fillRect/>
          </a:stretch>
        </p:blipFill>
        <p:spPr>
          <a:xfrm>
            <a:off x="8122207" y="900916"/>
            <a:ext cx="2691084" cy="2691084"/>
          </a:xfrm>
          <a:prstGeom prst="rect">
            <a:avLst/>
          </a:prstGeom>
        </p:spPr>
      </p:pic>
    </p:spTree>
    <p:extLst>
      <p:ext uri="{BB962C8B-B14F-4D97-AF65-F5344CB8AC3E}">
        <p14:creationId xmlns:p14="http://schemas.microsoft.com/office/powerpoint/2010/main" val="3562306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1E4BC80-07CC-3006-2306-FDFB1C932C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F36F9C-EB6F-317D-91F6-71C5664D8F4C}"/>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lightness value, L* in CIELAB is calculated using the cube root of the relative luminance with an offset near black.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results in an effective power curve with an exponent of approximately 0.43 which represents the human eye's response to light under daylight (photopic) conditions.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a* and b* axes are unbounded and depending on the reference white they can easily exceed ±150 to cover the human gamut (range).</a:t>
            </a:r>
          </a:p>
          <a:p>
            <a:pPr marL="0" indent="0">
              <a:lnSpc>
                <a:spcPct val="100000"/>
              </a:lnSpc>
              <a:spcBef>
                <a:spcPts val="0"/>
              </a:spcBef>
              <a:buSzPts val="3000"/>
              <a:buNone/>
            </a:pPr>
            <a:r>
              <a:rPr lang="en-US" sz="1800" dirty="0">
                <a:latin typeface="Atkinson Hyperlegible Next"/>
                <a:ea typeface="Arial"/>
                <a:cs typeface="Arial"/>
                <a:sym typeface="Arial"/>
              </a:rPr>
              <a:t> </a:t>
            </a:r>
          </a:p>
          <a:p>
            <a:pPr marL="0" indent="0">
              <a:lnSpc>
                <a:spcPct val="100000"/>
              </a:lnSpc>
              <a:spcBef>
                <a:spcPts val="0"/>
              </a:spcBef>
              <a:buSzPts val="3000"/>
              <a:buNone/>
            </a:pPr>
            <a:r>
              <a:rPr lang="en-US" sz="1800" dirty="0">
                <a:latin typeface="Atkinson Hyperlegible Next"/>
                <a:ea typeface="Arial"/>
                <a:cs typeface="Arial"/>
                <a:sym typeface="Arial"/>
              </a:rPr>
              <a:t>Nevertheless, software implementations often clamp these values for practical reasons. For instance, if integer math is being used it is common to clamp a* and b* in the range of −128 to 127.</a:t>
            </a:r>
          </a:p>
        </p:txBody>
      </p:sp>
      <p:sp>
        <p:nvSpPr>
          <p:cNvPr id="119" name="Google Shape;119;p29">
            <a:extLst>
              <a:ext uri="{FF2B5EF4-FFF2-40B4-BE49-F238E27FC236}">
                <a16:creationId xmlns:a16="http://schemas.microsoft.com/office/drawing/2014/main" id="{1BDB5FEE-EADD-86EE-04E3-5C2FFB60B6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19C998-B051-71F2-9F86-5C079A60300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4DAAE4B-7CB3-E009-7E41-A17D3B4F2E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96A8F0-CF2E-F349-4A33-C66DCFE6FC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B9FF-C05C-49AA-B8DD-13F6EEAF2B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93EDC-87B0-721D-9C78-8B323BE725C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C7DFC9-FE6A-A3FB-4A90-169EE060F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BE4DE2-9BB4-3AD5-B456-CC3D775BF5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Picture 1">
            <a:extLst>
              <a:ext uri="{FF2B5EF4-FFF2-40B4-BE49-F238E27FC236}">
                <a16:creationId xmlns:a16="http://schemas.microsoft.com/office/drawing/2014/main" id="{65C38C90-2230-46A9-529F-C754AA363B8E}"/>
              </a:ext>
            </a:extLst>
          </p:cNvPr>
          <p:cNvPicPr>
            <a:picLocks noChangeAspect="1"/>
          </p:cNvPicPr>
          <p:nvPr/>
        </p:nvPicPr>
        <p:blipFill>
          <a:blip r:embed="rId4"/>
          <a:stretch>
            <a:fillRect/>
          </a:stretch>
        </p:blipFill>
        <p:spPr>
          <a:xfrm>
            <a:off x="8124955" y="3624695"/>
            <a:ext cx="2688336" cy="2688336"/>
          </a:xfrm>
          <a:prstGeom prst="rect">
            <a:avLst/>
          </a:prstGeom>
        </p:spPr>
      </p:pic>
      <p:pic>
        <p:nvPicPr>
          <p:cNvPr id="4" name="Picture 3">
            <a:extLst>
              <a:ext uri="{FF2B5EF4-FFF2-40B4-BE49-F238E27FC236}">
                <a16:creationId xmlns:a16="http://schemas.microsoft.com/office/drawing/2014/main" id="{D1FD9546-DC56-C2E1-82B5-993921386BDC}"/>
              </a:ext>
            </a:extLst>
          </p:cNvPr>
          <p:cNvPicPr>
            <a:picLocks noChangeAspect="1"/>
          </p:cNvPicPr>
          <p:nvPr/>
        </p:nvPicPr>
        <p:blipFill>
          <a:blip r:embed="rId5"/>
          <a:stretch>
            <a:fillRect/>
          </a:stretch>
        </p:blipFill>
        <p:spPr>
          <a:xfrm>
            <a:off x="8122207" y="900916"/>
            <a:ext cx="2691084" cy="2691084"/>
          </a:xfrm>
          <a:prstGeom prst="rect">
            <a:avLst/>
          </a:prstGeom>
        </p:spPr>
      </p:pic>
      <p:sp>
        <p:nvSpPr>
          <p:cNvPr id="5" name="TextBox 4">
            <a:extLst>
              <a:ext uri="{FF2B5EF4-FFF2-40B4-BE49-F238E27FC236}">
                <a16:creationId xmlns:a16="http://schemas.microsoft.com/office/drawing/2014/main" id="{60A72866-12CA-4B31-C655-22FCDED7F17B}"/>
              </a:ext>
            </a:extLst>
          </p:cNvPr>
          <p:cNvSpPr txBox="1"/>
          <p:nvPr/>
        </p:nvSpPr>
        <p:spPr>
          <a:xfrm>
            <a:off x="8124955" y="6355316"/>
            <a:ext cx="2965959" cy="246221"/>
          </a:xfrm>
          <a:prstGeom prst="rect">
            <a:avLst/>
          </a:prstGeom>
          <a:noFill/>
        </p:spPr>
        <p:txBody>
          <a:bodyPr wrap="square">
            <a:spAutoFit/>
          </a:bodyPr>
          <a:lstStyle/>
          <a:p>
            <a:pPr algn="ctr"/>
            <a:r>
              <a:rPr lang="en-US" sz="1000" dirty="0">
                <a:hlinkClick r:id="rId6"/>
              </a:rPr>
              <a:t>https://en.wikipedia.org/wiki/CIELAB_color_space</a:t>
            </a:r>
            <a:r>
              <a:rPr lang="en-US" sz="1000" dirty="0"/>
              <a:t> </a:t>
            </a:r>
          </a:p>
        </p:txBody>
      </p:sp>
    </p:spTree>
    <p:extLst>
      <p:ext uri="{BB962C8B-B14F-4D97-AF65-F5344CB8AC3E}">
        <p14:creationId xmlns:p14="http://schemas.microsoft.com/office/powerpoint/2010/main" val="1005032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484AAD-6462-0D61-8ADB-BFA994E47AE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790E130-4B81-C660-34AD-8BBC83AD20AA}"/>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Blob detection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3379A89-A450-3CEB-99CD-B1E64AEF221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780018A-F4DE-87B2-9957-973EE8C3272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315027-83A9-996B-3680-7B9C72490DA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C547E27-F7EF-DBFE-646A-4FF75CB10A9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738CAC0-9803-C5F1-AC0B-623965C769B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09EA818-0007-440F-B530-158F2ADFDB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CEB08EFC-8792-FED2-E5EB-0C0F02CD572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ADE775-37AD-CBE1-1E73-E282F7273B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4AC5CBA-58A8-512D-3552-64B7E48495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660907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DBAAC9-CCB4-0CF3-4701-6CB8DB392D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83E7DB-1916-A4B9-AE29-357DBA6131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372B080-4D5A-132E-6F00-D991F577AFF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A3B06F3-8B75-3470-1D0F-94BFD0EF57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5C6AAD-CB43-BAD1-BF97-3E1702FF2A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C0F60F8-11F1-2EEB-5B69-2D43999DA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98C5C3E-079C-A4A8-6F6C-DC3FCC9ADF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B9D8A8-242F-CC71-411E-C45167766C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2C249-3295-6AD0-36D1-9BA7DB44C7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AE05105A-68F1-3D08-DB16-EBFF7C5859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2" name="Rectangle 1">
            <a:extLst>
              <a:ext uri="{FF2B5EF4-FFF2-40B4-BE49-F238E27FC236}">
                <a16:creationId xmlns:a16="http://schemas.microsoft.com/office/drawing/2014/main" id="{8AEF13F9-05C9-6C5F-2244-88C424AB71D8}"/>
              </a:ext>
            </a:extLst>
          </p:cNvPr>
          <p:cNvSpPr/>
          <p:nvPr/>
        </p:nvSpPr>
        <p:spPr>
          <a:xfrm>
            <a:off x="6437033" y="152772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23297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9A98158-B07D-286E-4E45-98FB552FCFD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9524A58-95AB-F400-2140-E123DC71BFA7}"/>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Once we convert our image to HSV, we apply a </a:t>
            </a:r>
            <a:r>
              <a:rPr lang="en-US" sz="2400" b="1" dirty="0">
                <a:latin typeface="Atkinson Hyperlegible Next"/>
                <a:ea typeface="Arial"/>
                <a:cs typeface="Arial"/>
                <a:sym typeface="Arial"/>
              </a:rPr>
              <a:t>Threshold. </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evaluate at every single pixel: “Does this pixel’s CIELAB fall within my target red range?”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YES -&gt; Pixel becomes 1 ( Whites)</a:t>
            </a:r>
          </a:p>
          <a:p>
            <a:pPr marL="0" indent="0">
              <a:lnSpc>
                <a:spcPct val="100000"/>
              </a:lnSpc>
              <a:spcBef>
                <a:spcPts val="0"/>
              </a:spcBef>
              <a:buSzPts val="3000"/>
              <a:buNone/>
            </a:pPr>
            <a:r>
              <a:rPr lang="en-US" sz="2400" dirty="0">
                <a:latin typeface="Atkinson Hyperlegible Next"/>
                <a:ea typeface="Arial"/>
                <a:cs typeface="Arial"/>
                <a:sym typeface="Arial"/>
              </a:rPr>
              <a:t>If NO -&gt; Pixel becomes 0 (Black).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result is a </a:t>
            </a:r>
            <a:r>
              <a:rPr lang="en-US" sz="2400" b="1" dirty="0">
                <a:latin typeface="Atkinson Hyperlegible Next"/>
                <a:ea typeface="Arial"/>
                <a:cs typeface="Arial"/>
                <a:sym typeface="Arial"/>
              </a:rPr>
              <a:t>Binary Mask</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have thrown away all useless data and kept only the target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Does thresholding tell us exactly where the ball is?</a:t>
            </a:r>
          </a:p>
        </p:txBody>
      </p:sp>
      <p:sp>
        <p:nvSpPr>
          <p:cNvPr id="119" name="Google Shape;119;p29">
            <a:extLst>
              <a:ext uri="{FF2B5EF4-FFF2-40B4-BE49-F238E27FC236}">
                <a16:creationId xmlns:a16="http://schemas.microsoft.com/office/drawing/2014/main" id="{7F3FCBFC-C24D-0C34-1898-BDC3577E1D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24727E-10EE-2ED1-48D1-5D7468BB28A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234DBF2-9F6A-9983-D94B-AAACC9D6F1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86C32D-8AFB-9C10-256F-D38D45ECA8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F63F3A-7EE7-41EB-8055-F58B3E8BA3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62D6B3-EF47-9C98-7C3A-74C42A74B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E6BDBFA-5368-453B-8298-EA04443157B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23AE2A-562F-5A3A-6A9F-2ACF19174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658096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6482-13BC-80BE-A0AE-5D5B7256183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08B1A1D-904C-8EAA-F960-A5865176E88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"Blob" (Binary Large Object) is a contiguous group of connected white pixels in our binary mask.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Blob detection algorithms scan the image to find these groupings and label them as distinct physical objects.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known computationally as </a:t>
            </a:r>
            <a:r>
              <a:rPr lang="en-US" sz="2400" b="1" dirty="0">
                <a:latin typeface="Atkinson Hyperlegible Next"/>
                <a:ea typeface="Arial"/>
                <a:cs typeface="Arial"/>
                <a:sym typeface="Arial"/>
              </a:rPr>
              <a:t>Connected Component Labeling (CCL)</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simple graph algorithm can you think of could potentially help us?</a:t>
            </a:r>
          </a:p>
        </p:txBody>
      </p:sp>
      <p:sp>
        <p:nvSpPr>
          <p:cNvPr id="119" name="Google Shape;119;p29">
            <a:extLst>
              <a:ext uri="{FF2B5EF4-FFF2-40B4-BE49-F238E27FC236}">
                <a16:creationId xmlns:a16="http://schemas.microsoft.com/office/drawing/2014/main" id="{92CB5E11-4190-944A-9BD4-ABFFE5EED1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057BBB-CD8B-BCA1-728B-A1F56E7856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8619173-5BF3-BAA6-AF67-CD80AEB0BA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C7947-F6E7-801F-13B7-AD37CB487D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A1E7A1-AB23-2BBD-DB63-219C596310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01FE3E-3D2A-A546-C9F3-CEC67C382F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2319C3-103A-9FA2-6F07-6F1D00197C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7934A-01C2-047F-8CAB-7C272834A8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41295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4AEF3C-325B-5939-1225-7EAFAD9DDC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0C34BE-74E1-9C48-EDCB-632207F540F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The simplest implementation of the algorithm for the Connected Components work is as following:</a:t>
            </a:r>
          </a:p>
          <a:p>
            <a:pPr marL="0" indent="0">
              <a:lnSpc>
                <a:spcPct val="100000"/>
              </a:lnSpc>
              <a:spcBef>
                <a:spcPts val="0"/>
              </a:spcBef>
              <a:buSzPts val="3000"/>
              <a:buNone/>
            </a:pPr>
            <a:endParaRPr lang="en-US" sz="24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 algorithm scans the image pixel by pixel (raster scan).</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When it finds a '1', it checks the neighboring pixels (usually 4-connectivity or 8-connectivity).</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If a neighbor is also a '1', it assigns them the same "Label" (e.g., Object A).</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It uses a "Union-Find" data structure to merge labels if two separate groups eventually connect.</a:t>
            </a:r>
          </a:p>
          <a:p>
            <a:pPr indent="-457200">
              <a:lnSpc>
                <a:spcPct val="100000"/>
              </a:lnSpc>
              <a:spcBef>
                <a:spcPts val="0"/>
              </a:spcBef>
              <a:buSzPts val="3000"/>
              <a:buFont typeface="+mj-lt"/>
              <a:buAutoNum type="arabicPeriod"/>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Otherwise, you can think of this as doing BFS (Breadth-First-Search) on every pixel! (The best algorithms do not do this exactly, but this is the simples way to explain)</a:t>
            </a:r>
          </a:p>
        </p:txBody>
      </p:sp>
      <p:sp>
        <p:nvSpPr>
          <p:cNvPr id="119" name="Google Shape;119;p29">
            <a:extLst>
              <a:ext uri="{FF2B5EF4-FFF2-40B4-BE49-F238E27FC236}">
                <a16:creationId xmlns:a16="http://schemas.microsoft.com/office/drawing/2014/main" id="{9087FFCA-7454-0452-CA71-7021B9DC09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F5516C5-528C-8A8C-7C77-023792ABCDF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8BB73C9-D2A5-706C-EAB0-5D68D899A9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8B72B2A-D6D9-7409-B741-39DE066A3D1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62ABA9-4768-AF8A-5E61-304446AAAAF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23AFC3-DC9C-5C87-2D1F-D3E5A2967A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A63B3BE-44A9-C26C-45C2-0B8AAE3461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FD8FC5-F1B4-F678-404C-72EAF11659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69999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D56F10E-8B77-A367-66D0-785A223E79A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CFF1696-8936-47D3-B2DF-8AE28071FE7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Even with the color filtering, we can still get random glare or noise in the background that will create small fake blobs.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 do we write a rule t ignore these false positives?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Filter blob by </a:t>
            </a:r>
            <a:r>
              <a:rPr lang="en-US" sz="2400" b="1" dirty="0">
                <a:latin typeface="Atkinson Hyperlegible Next"/>
                <a:ea typeface="Arial"/>
                <a:cs typeface="Arial"/>
                <a:sym typeface="Arial"/>
              </a:rPr>
              <a:t>Area </a:t>
            </a:r>
            <a:r>
              <a:rPr lang="en-US" sz="2400" dirty="0">
                <a:latin typeface="Atkinson Hyperlegible Next"/>
                <a:ea typeface="Arial"/>
                <a:cs typeface="Arial"/>
                <a:sym typeface="Arial"/>
              </a:rPr>
              <a:t>(total pixel count), filter blob by </a:t>
            </a:r>
            <a:r>
              <a:rPr lang="en-US" sz="2400" b="1" dirty="0">
                <a:latin typeface="Atkinson Hyperlegible Next"/>
                <a:ea typeface="Arial"/>
                <a:cs typeface="Arial"/>
                <a:sym typeface="Arial"/>
              </a:rPr>
              <a:t>shape </a:t>
            </a:r>
            <a:r>
              <a:rPr lang="en-US" sz="2400" dirty="0">
                <a:latin typeface="Atkinson Hyperlegible Next"/>
                <a:ea typeface="Arial"/>
                <a:cs typeface="Arial"/>
                <a:sym typeface="Arial"/>
              </a:rPr>
              <a:t>(the more like a circle the more we want to keep it).</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dirty="0" err="1">
                <a:latin typeface="Atkinson Hyperlegible Next"/>
                <a:ea typeface="Arial"/>
                <a:cs typeface="Arial"/>
                <a:sym typeface="Arial"/>
              </a:rPr>
              <a:t>Blob.Area</a:t>
            </a:r>
            <a:r>
              <a:rPr lang="en-US" sz="2400" dirty="0">
                <a:latin typeface="Atkinson Hyperlegible Next"/>
                <a:ea typeface="Arial"/>
                <a:cs typeface="Arial"/>
                <a:sym typeface="Arial"/>
              </a:rPr>
              <a:t> &lt; MIN_THRESHOLD, we discard it.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only pass the largest valid blob to the next step.</a:t>
            </a:r>
          </a:p>
        </p:txBody>
      </p:sp>
      <p:sp>
        <p:nvSpPr>
          <p:cNvPr id="119" name="Google Shape;119;p29">
            <a:extLst>
              <a:ext uri="{FF2B5EF4-FFF2-40B4-BE49-F238E27FC236}">
                <a16:creationId xmlns:a16="http://schemas.microsoft.com/office/drawing/2014/main" id="{EBA4CA92-F4F9-916B-420E-A312232A4E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4A7935-C3BD-808B-9BCB-FFD0CF3EFEC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13FB241-1BF8-4B57-8719-EB9F417246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9A541E-761D-09D7-0F40-0D8BEA8AD1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2245E14-9E1E-69D0-33D9-3B3B9986D9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4448E7-ABBC-F6D9-D83A-EF0D97DCD7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14D3ED-5AB9-6E1C-C60F-0DD2D7C17B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C21B61-7E83-7146-5E0F-C6D1FB60F3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5883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DF6DF9-122C-7262-22F2-6C8CDB974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8A61CA5-8E51-95E1-8492-071964A72525}"/>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have found the blob representing our red ball, now where is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need its (X, Y) coordinate in the camera frame to steer the robot. We do this by calculating the </a:t>
                </a:r>
                <a:r>
                  <a:rPr lang="en-US" sz="2000" b="1" dirty="0">
                    <a:latin typeface="Atkinson Hyperlegible Next"/>
                    <a:ea typeface="Arial"/>
                    <a:cs typeface="Arial"/>
                    <a:sym typeface="Arial"/>
                  </a:rPr>
                  <a:t>Centroid </a:t>
                </a:r>
                <a:r>
                  <a:rPr lang="en-US" sz="2000" dirty="0">
                    <a:latin typeface="Atkinson Hyperlegible Next"/>
                    <a:ea typeface="Arial"/>
                    <a:cs typeface="Arial"/>
                    <a:sym typeface="Arial"/>
                  </a:rPr>
                  <a:t>(Center of Mass ) of the blob.</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compute this using </a:t>
                </a:r>
                <a:r>
                  <a:rPr lang="en-US" sz="2000" b="1" dirty="0">
                    <a:latin typeface="Atkinson Hyperlegible Next"/>
                    <a:ea typeface="Arial"/>
                    <a:cs typeface="Arial"/>
                    <a:sym typeface="Arial"/>
                  </a:rPr>
                  <a:t>Image Moments</a:t>
                </a:r>
                <a:r>
                  <a:rPr lang="en-US" sz="2000" dirty="0">
                    <a:latin typeface="Atkinson Hyperlegible Next"/>
                    <a:ea typeface="Arial"/>
                    <a:cs typeface="Arial"/>
                    <a:sym typeface="Arial"/>
                  </a:rPr>
                  <a:t>.</a:t>
                </a:r>
              </a:p>
              <a:p>
                <a:pPr marL="0" indent="0">
                  <a:lnSpc>
                    <a:spcPct val="100000"/>
                  </a:lnSpc>
                  <a:spcBef>
                    <a:spcPts val="0"/>
                  </a:spcBef>
                  <a:buSzPts val="3000"/>
                  <a:buNone/>
                </a:pPr>
                <a:r>
                  <a:rPr lang="en-US" sz="2000" dirty="0">
                    <a:latin typeface="Atkinson Hyperlegible Next"/>
                    <a:ea typeface="Arial"/>
                    <a:cs typeface="Arial"/>
                    <a:sym typeface="Arial"/>
                  </a:rPr>
                  <a:t>In computer vision, a discrete image moment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for a binary image </a:t>
                </a:r>
                <a14:m>
                  <m:oMath xmlns:m="http://schemas.openxmlformats.org/officeDocument/2006/math">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oMath>
                </a14:m>
                <a:r>
                  <a:rPr lang="en-US" sz="2000" dirty="0">
                    <a:latin typeface="Atkinson Hyperlegible Next"/>
                    <a:ea typeface="Arial"/>
                    <a:cs typeface="Arial"/>
                    <a:sym typeface="Arial"/>
                  </a:rPr>
                  <a:t> is defined as:</a:t>
                </a: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𝑥</m:t>
                          </m:r>
                        </m:sub>
                        <m:sup/>
                        <m:e>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𝑦</m:t>
                              </m:r>
                            </m:sub>
                            <m:sup/>
                            <m:e>
                              <m:sSup>
                                <m:sSupPr>
                                  <m:ctrlPr>
                                    <a:rPr lang="en-US" sz="2000" i="1" dirty="0" err="1" smtClean="0">
                                      <a:latin typeface="Cambria Math" panose="02040503050406030204" pitchFamily="18" charset="0"/>
                                      <a:ea typeface="Arial"/>
                                      <a:cs typeface="Arial"/>
                                      <a:sym typeface="Arial"/>
                                    </a:rPr>
                                  </m:ctrlPr>
                                </m:sSupPr>
                                <m:e>
                                  <m:r>
                                    <a:rPr lang="en-US" sz="2000" i="1" dirty="0" err="1" smtClean="0">
                                      <a:latin typeface="Cambria Math" panose="02040503050406030204" pitchFamily="18" charset="0"/>
                                      <a:ea typeface="Arial"/>
                                      <a:cs typeface="Arial"/>
                                      <a:sym typeface="Arial"/>
                                    </a:rPr>
                                    <m:t>𝑥</m:t>
                                  </m:r>
                                </m:e>
                                <m:sup>
                                  <m:r>
                                    <a:rPr lang="en-US" sz="2000" i="1" dirty="0" err="1" smtClean="0">
                                      <a:latin typeface="Cambria Math" panose="02040503050406030204" pitchFamily="18" charset="0"/>
                                      <a:ea typeface="Arial"/>
                                      <a:cs typeface="Arial"/>
                                      <a:sym typeface="Arial"/>
                                    </a:rPr>
                                    <m:t>𝑖</m:t>
                                  </m:r>
                                </m:sup>
                              </m:sSup>
                              <m:sSup>
                                <m:sSupPr>
                                  <m:ctrlPr>
                                    <a:rPr lang="en-US" sz="2000" i="1" dirty="0" err="1" smtClean="0">
                                      <a:latin typeface="Cambria Math" panose="02040503050406030204" pitchFamily="18" charset="0"/>
                                      <a:ea typeface="Arial"/>
                                      <a:cs typeface="Arial"/>
                                      <a:sym typeface="Arial"/>
                                    </a:rPr>
                                  </m:ctrlPr>
                                </m:sSupPr>
                                <m:e>
                                  <m:r>
                                    <a:rPr lang="en-US" sz="2000" i="1" dirty="0" err="1" smtClean="0">
                                      <a:latin typeface="Cambria Math" panose="02040503050406030204" pitchFamily="18" charset="0"/>
                                      <a:ea typeface="Arial"/>
                                      <a:cs typeface="Arial"/>
                                      <a:sym typeface="Arial"/>
                                    </a:rPr>
                                    <m:t>𝑦</m:t>
                                  </m:r>
                                </m:e>
                                <m:sup>
                                  <m:r>
                                    <a:rPr lang="en-US" sz="2000" i="1" dirty="0" err="1" smtClean="0">
                                      <a:latin typeface="Cambria Math" panose="02040503050406030204" pitchFamily="18" charset="0"/>
                                      <a:ea typeface="Arial"/>
                                      <a:cs typeface="Arial"/>
                                      <a:sym typeface="Arial"/>
                                    </a:rPr>
                                    <m:t>𝑗</m:t>
                                  </m:r>
                                </m:sup>
                              </m:sSup>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e>
                          </m:nary>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0</a:t>
                </a:r>
                <a:r>
                  <a:rPr lang="en-US" sz="2000" baseline="30000" dirty="0">
                    <a:latin typeface="Atkinson Hyperlegible Next"/>
                    <a:ea typeface="Arial"/>
                    <a:cs typeface="Arial"/>
                    <a:sym typeface="Arial"/>
                  </a:rPr>
                  <a:t>th</a:t>
                </a:r>
                <a:r>
                  <a:rPr lang="en-US" sz="2000" dirty="0">
                    <a:latin typeface="Atkinson Hyperlegible Next"/>
                    <a:ea typeface="Arial"/>
                    <a:cs typeface="Arial"/>
                    <a:sym typeface="Arial"/>
                  </a:rPr>
                  <a:t> moment,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smtClean="0">
                            <a:latin typeface="Cambria Math" panose="02040503050406030204" pitchFamily="18" charset="0"/>
                            <a:ea typeface="Arial"/>
                            <a:cs typeface="Arial"/>
                            <a:sym typeface="Arial"/>
                          </a:rPr>
                          <m:t>00</m:t>
                        </m:r>
                      </m:sub>
                    </m:sSub>
                  </m:oMath>
                </a14:m>
                <a:r>
                  <a:rPr lang="en-US" sz="2000" dirty="0">
                    <a:latin typeface="Atkinson Hyperlegible Next"/>
                    <a:ea typeface="Arial"/>
                    <a:cs typeface="Arial"/>
                    <a:sym typeface="Arial"/>
                  </a:rPr>
                  <a:t>, sets </a:t>
                </a:r>
                <a14:m>
                  <m:oMath xmlns:m="http://schemas.openxmlformats.org/officeDocument/2006/math">
                    <m:r>
                      <a:rPr lang="en-US" sz="2000" i="1" dirty="0" err="1" smtClean="0">
                        <a:latin typeface="Cambria Math" panose="02040503050406030204" pitchFamily="18" charset="0"/>
                        <a:ea typeface="Arial"/>
                        <a:cs typeface="Arial"/>
                        <a:sym typeface="Arial"/>
                      </a:rPr>
                      <m:t>𝑖</m:t>
                    </m:r>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 and </a:t>
                </a:r>
                <a14:m>
                  <m:oMath xmlns:m="http://schemas.openxmlformats.org/officeDocument/2006/math">
                    <m:r>
                      <a:rPr lang="en-US" sz="2000" i="1" dirty="0" smtClean="0">
                        <a:latin typeface="Cambria Math" panose="02040503050406030204" pitchFamily="18" charset="0"/>
                        <a:ea typeface="Arial"/>
                        <a:cs typeface="Arial"/>
                        <a:sym typeface="Arial"/>
                      </a:rPr>
                      <m:t>𝑗</m:t>
                    </m:r>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smtClean="0">
                              <a:latin typeface="Cambria Math" panose="02040503050406030204" pitchFamily="18" charset="0"/>
                              <a:ea typeface="Arial"/>
                              <a:cs typeface="Arial"/>
                              <a:sym typeface="Arial"/>
                            </a:rPr>
                            <m:t>00</m:t>
                          </m:r>
                        </m:sub>
                      </m:sSub>
                      <m:r>
                        <a:rPr lang="en-US" sz="2000" i="1" dirty="0" smtClean="0">
                          <a:latin typeface="Cambria Math" panose="02040503050406030204" pitchFamily="18" charset="0"/>
                          <a:ea typeface="Arial"/>
                          <a:cs typeface="Arial"/>
                          <a:sym typeface="Arial"/>
                        </a:rPr>
                        <m:t>=</m:t>
                      </m:r>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𝑥</m:t>
                          </m:r>
                        </m:sub>
                        <m:sup/>
                        <m:e>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𝑦</m:t>
                              </m:r>
                            </m:sub>
                            <m:sup/>
                            <m:e>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e>
                          </m:nary>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a:t>
                </a:r>
                <a14:m>
                  <m:oMath xmlns:m="http://schemas.openxmlformats.org/officeDocument/2006/math">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a:rPr lang="en-US" sz="2000" i="1" dirty="0" err="1">
                        <a:latin typeface="Cambria Math" panose="02040503050406030204" pitchFamily="18" charset="0"/>
                        <a:ea typeface="Arial"/>
                        <a:cs typeface="Arial"/>
                        <a:sym typeface="Arial"/>
                      </a:rPr>
                      <m:t>𝑥</m:t>
                    </m:r>
                    <m:r>
                      <a:rPr lang="en-US" sz="2000" i="1" dirty="0" err="1">
                        <a:latin typeface="Cambria Math" panose="02040503050406030204" pitchFamily="18" charset="0"/>
                        <a:ea typeface="Arial"/>
                        <a:cs typeface="Arial"/>
                        <a:sym typeface="Arial"/>
                      </a:rPr>
                      <m:t>,</m:t>
                    </m:r>
                    <m:r>
                      <a:rPr lang="en-US" sz="2000" i="1" dirty="0" err="1">
                        <a:latin typeface="Cambria Math" panose="02040503050406030204" pitchFamily="18" charset="0"/>
                        <a:ea typeface="Arial"/>
                        <a:cs typeface="Arial"/>
                        <a:sym typeface="Arial"/>
                      </a:rPr>
                      <m:t>𝑦</m:t>
                    </m:r>
                    <m:r>
                      <a:rPr lang="en-US" sz="2000" i="1" dirty="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is either 1 or 0,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𝑀</m:t>
                        </m:r>
                      </m:e>
                      <m:sub>
                        <m:r>
                          <a:rPr lang="en-US" sz="2000" i="1" dirty="0">
                            <a:latin typeface="Cambria Math" panose="02040503050406030204" pitchFamily="18" charset="0"/>
                            <a:ea typeface="Arial"/>
                            <a:cs typeface="Arial"/>
                            <a:sym typeface="Arial"/>
                          </a:rPr>
                          <m:t>00</m:t>
                        </m:r>
                      </m:sub>
                    </m:sSub>
                  </m:oMath>
                </a14:m>
                <a:r>
                  <a:rPr lang="en-US" sz="2000" dirty="0">
                    <a:latin typeface="Atkinson Hyperlegible Next"/>
                    <a:ea typeface="Arial"/>
                    <a:cs typeface="Arial"/>
                    <a:sym typeface="Arial"/>
                  </a:rPr>
                  <a:t> is simply the total sum of white pixels.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𝑀</m:t>
                        </m:r>
                      </m:e>
                      <m:sub>
                        <m:r>
                          <a:rPr lang="en-US" sz="2000" i="1" dirty="0">
                            <a:latin typeface="Cambria Math" panose="02040503050406030204" pitchFamily="18" charset="0"/>
                            <a:ea typeface="Arial"/>
                            <a:cs typeface="Arial"/>
                            <a:sym typeface="Arial"/>
                          </a:rPr>
                          <m:t>00</m:t>
                        </m:r>
                      </m:sub>
                    </m:sSub>
                    <m:r>
                      <a:rPr lang="en-US" sz="2000" b="0" i="1" dirty="0" smtClean="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Area</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of</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the</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Blob</m:t>
                    </m:r>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E8A61CA5-8E51-95E1-8492-071964A72525}"/>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578"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DE1CF4A-28B7-D263-9F49-1337C2D113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90515D-1860-8C44-D3E5-F37464630AD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358DBA0-4F5F-A797-6787-6CAFBD07617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9244F2-7CA8-166B-F5C1-4F35AB3F5F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B9E5DE-AE46-2F45-EED7-1287D87A1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457993-5AFF-4D30-D1CC-355E5301C7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C2F0F1-28EC-AB06-F0F2-B1483C715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CC67176-3C91-0ACF-CE73-60809F3481E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627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999390-1254-3F29-8C88-274BD88E6D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84AF18-1653-7582-DAA9-ADDC230031EC}"/>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To find the center, we need the 1st order moments,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b="0" i="1" dirty="0" smtClean="0">
                            <a:latin typeface="Cambria Math" panose="02040503050406030204" pitchFamily="18" charset="0"/>
                            <a:ea typeface="Arial"/>
                            <a:cs typeface="Arial"/>
                            <a:sym typeface="Arial"/>
                          </a:rPr>
                          <m:t>10</m:t>
                        </m:r>
                      </m:sub>
                    </m:sSub>
                  </m:oMath>
                </a14:m>
                <a:r>
                  <a:rPr lang="en-US" sz="2400" dirty="0">
                    <a:latin typeface="Atkinson Hyperlegible Next"/>
                    <a:ea typeface="Arial"/>
                    <a:cs typeface="Arial"/>
                    <a:sym typeface="Arial"/>
                  </a:rPr>
                  <a:t> and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b="0" i="1" dirty="0" smtClean="0">
                            <a:latin typeface="Cambria Math" panose="02040503050406030204" pitchFamily="18" charset="0"/>
                            <a:ea typeface="Arial"/>
                            <a:cs typeface="Arial"/>
                            <a:sym typeface="Arial"/>
                          </a:rPr>
                          <m:t>01</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10</m:t>
                        </m:r>
                      </m:sub>
                    </m:sSub>
                    <m:r>
                      <a:rPr lang="en-US" sz="2400" i="1" dirty="0" smtClean="0">
                        <a:latin typeface="Cambria Math" panose="02040503050406030204" pitchFamily="18" charset="0"/>
                        <a:ea typeface="Arial"/>
                        <a:cs typeface="Arial"/>
                        <a:sym typeface="Arial"/>
                      </a:rPr>
                      <m:t>=</m:t>
                    </m:r>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𝑥</m:t>
                        </m:r>
                      </m:sub>
                      <m:sup/>
                      <m:e>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𝑦</m:t>
                            </m:r>
                          </m:sub>
                          <m:sup/>
                          <m:e>
                            <m:r>
                              <a:rPr lang="en-US" sz="2400" i="1" dirty="0" smtClean="0">
                                <a:latin typeface="Cambria Math" panose="02040503050406030204" pitchFamily="18" charset="0"/>
                                <a:ea typeface="Arial"/>
                                <a:cs typeface="Arial"/>
                                <a:sym typeface="Arial"/>
                              </a:rPr>
                              <m:t>𝑥</m:t>
                            </m:r>
                          </m:e>
                        </m:nary>
                      </m:e>
                    </m:nary>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𝐼</m:t>
                    </m:r>
                    <m:d>
                      <m:dPr>
                        <m:ctrlPr>
                          <a:rPr lang="en-US" sz="2400" i="1" dirty="0" smtClean="0">
                            <a:latin typeface="Cambria Math" panose="02040503050406030204" pitchFamily="18" charset="0"/>
                            <a:ea typeface="Arial"/>
                            <a:cs typeface="Arial"/>
                            <a:sym typeface="Arial"/>
                          </a:rPr>
                        </m:ctrlPr>
                      </m:dPr>
                      <m:e>
                        <m:r>
                          <a:rPr lang="en-US" sz="2400" i="1" dirty="0" err="1" smtClean="0">
                            <a:latin typeface="Cambria Math" panose="02040503050406030204" pitchFamily="18" charset="0"/>
                            <a:ea typeface="Arial"/>
                            <a:cs typeface="Arial"/>
                            <a:sym typeface="Arial"/>
                          </a:rPr>
                          <m:t>𝑥</m:t>
                        </m:r>
                        <m:r>
                          <a:rPr lang="en-US" sz="2400" i="1" dirty="0" err="1"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𝑦</m:t>
                        </m:r>
                      </m:e>
                    </m:d>
                  </m:oMath>
                </a14:m>
                <a:r>
                  <a:rPr lang="en-US" sz="2400" dirty="0">
                    <a:latin typeface="Atkinson Hyperlegible Next"/>
                    <a:ea typeface="Arial"/>
                    <a:cs typeface="Arial"/>
                    <a:sym typeface="Arial"/>
                  </a:rPr>
                  <a:t> (This is the sum of all the X-coordinates of the white pixels).</a:t>
                </a:r>
              </a:p>
              <a:p>
                <a:pPr marL="0" indent="0">
                  <a:lnSpc>
                    <a:spcPct val="100000"/>
                  </a:lnSpc>
                  <a:spcBef>
                    <a:spcPts val="0"/>
                  </a:spcBef>
                  <a:buSzPts val="3000"/>
                  <a:buNone/>
                </a:pP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01</m:t>
                        </m:r>
                      </m:sub>
                    </m:sSub>
                    <m:r>
                      <a:rPr lang="en-US" sz="2400" i="1" dirty="0" smtClean="0">
                        <a:latin typeface="Cambria Math" panose="02040503050406030204" pitchFamily="18" charset="0"/>
                        <a:ea typeface="Arial"/>
                        <a:cs typeface="Arial"/>
                        <a:sym typeface="Arial"/>
                      </a:rPr>
                      <m:t>=</m:t>
                    </m:r>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𝑥</m:t>
                        </m:r>
                      </m:sub>
                      <m:sup/>
                      <m:e>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𝑦</m:t>
                            </m:r>
                          </m:sub>
                          <m:sup/>
                          <m:e>
                            <m:r>
                              <a:rPr lang="en-US" sz="2400" i="1" dirty="0" smtClean="0">
                                <a:latin typeface="Cambria Math" panose="02040503050406030204" pitchFamily="18" charset="0"/>
                                <a:ea typeface="Arial"/>
                                <a:cs typeface="Arial"/>
                                <a:sym typeface="Arial"/>
                              </a:rPr>
                              <m:t>𝑦</m:t>
                            </m:r>
                          </m:e>
                        </m:nary>
                      </m:e>
                    </m:nary>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𝐼</m:t>
                    </m:r>
                    <m:d>
                      <m:dPr>
                        <m:ctrlPr>
                          <a:rPr lang="en-US" sz="2400" i="1" dirty="0" smtClean="0">
                            <a:latin typeface="Cambria Math" panose="02040503050406030204" pitchFamily="18" charset="0"/>
                            <a:ea typeface="Arial"/>
                            <a:cs typeface="Arial"/>
                            <a:sym typeface="Arial"/>
                          </a:rPr>
                        </m:ctrlPr>
                      </m:dPr>
                      <m:e>
                        <m:r>
                          <a:rPr lang="en-US" sz="2400" i="1" dirty="0" err="1" smtClean="0">
                            <a:latin typeface="Cambria Math" panose="02040503050406030204" pitchFamily="18" charset="0"/>
                            <a:ea typeface="Arial"/>
                            <a:cs typeface="Arial"/>
                            <a:sym typeface="Arial"/>
                          </a:rPr>
                          <m:t>𝑥</m:t>
                        </m:r>
                        <m:r>
                          <a:rPr lang="en-US" sz="2400" i="1" dirty="0" err="1"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𝑦</m:t>
                        </m:r>
                      </m:e>
                    </m:d>
                  </m:oMath>
                </a14:m>
                <a:r>
                  <a:rPr lang="en-US" sz="2400" dirty="0">
                    <a:latin typeface="Atkinson Hyperlegible Next"/>
                    <a:ea typeface="Arial"/>
                    <a:cs typeface="Arial"/>
                    <a:sym typeface="Arial"/>
                  </a:rPr>
                  <a:t> (This is the sum of all the Y-coordinates of the white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These act as our weighted spatial totals.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find the exact center pixel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d>
                  </m:oMath>
                </a14:m>
                <a:r>
                  <a:rPr lang="en-US" sz="2400" dirty="0">
                    <a:latin typeface="Atkinson Hyperlegible Next"/>
                    <a:ea typeface="Arial"/>
                    <a:cs typeface="Arial"/>
                    <a:sym typeface="Arial"/>
                  </a:rPr>
                  <a:t>, we divide the spatial totals by the total area.</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10</m:t>
                              </m:r>
                            </m:sub>
                          </m:sSub>
                        </m:num>
                        <m:den>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00</m:t>
                              </m:r>
                            </m:sub>
                          </m:sSub>
                        </m:den>
                      </m:f>
                      <m:r>
                        <a:rPr lang="en-US" sz="2400" b="0" i="1" dirty="0" smtClean="0">
                          <a:latin typeface="Cambria Math" panose="02040503050406030204" pitchFamily="18" charset="0"/>
                          <a:ea typeface="Arial"/>
                          <a:cs typeface="Arial"/>
                          <a:sym typeface="Arial"/>
                        </a:rPr>
                        <m:t>,  </m:t>
                      </m:r>
                      <m:acc>
                        <m:accPr>
                          <m:chr m:val="̅"/>
                          <m:ctrlPr>
                            <a:rPr lang="en-US" sz="2400" i="1" dirty="0">
                              <a:latin typeface="Cambria Math" panose="02040503050406030204" pitchFamily="18" charset="0"/>
                              <a:ea typeface="Arial"/>
                              <a:cs typeface="Arial"/>
                              <a:sym typeface="Arial"/>
                            </a:rPr>
                          </m:ctrlPr>
                        </m:accPr>
                        <m:e>
                          <m:r>
                            <a:rPr lang="en-US" sz="2400" i="1" dirty="0">
                              <a:latin typeface="Cambria Math" panose="02040503050406030204" pitchFamily="18" charset="0"/>
                              <a:ea typeface="Arial"/>
                              <a:cs typeface="Arial"/>
                              <a:sym typeface="Arial"/>
                            </a:rPr>
                            <m:t>𝑦</m:t>
                          </m:r>
                        </m:e>
                      </m:acc>
                      <m:r>
                        <a:rPr lang="en-US" sz="2400" i="1" dirty="0">
                          <a:latin typeface="Cambria Math" panose="02040503050406030204" pitchFamily="18" charset="0"/>
                          <a:ea typeface="Arial"/>
                          <a:cs typeface="Arial"/>
                          <a:sym typeface="Arial"/>
                        </a:rPr>
                        <m:t>=</m:t>
                      </m:r>
                      <m:f>
                        <m:fPr>
                          <m:ctrlPr>
                            <a:rPr lang="en-US" sz="2400" i="1" dirty="0">
                              <a:latin typeface="Cambria Math" panose="02040503050406030204" pitchFamily="18" charset="0"/>
                              <a:ea typeface="Arial"/>
                              <a:cs typeface="Arial"/>
                              <a:sym typeface="Arial"/>
                            </a:rPr>
                          </m:ctrlPr>
                        </m:fPr>
                        <m:num>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i="1" dirty="0">
                                  <a:latin typeface="Cambria Math" panose="02040503050406030204" pitchFamily="18" charset="0"/>
                                  <a:ea typeface="Arial"/>
                                  <a:cs typeface="Arial"/>
                                  <a:sym typeface="Arial"/>
                                </a:rPr>
                                <m:t>01</m:t>
                              </m:r>
                            </m:sub>
                          </m:sSub>
                        </m:num>
                        <m:den>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i="1" dirty="0">
                                  <a:latin typeface="Cambria Math" panose="02040503050406030204" pitchFamily="18" charset="0"/>
                                  <a:ea typeface="Arial"/>
                                  <a:cs typeface="Arial"/>
                                  <a:sym typeface="Arial"/>
                                </a:rPr>
                                <m:t>00</m:t>
                              </m:r>
                            </m:sub>
                          </m:sSub>
                        </m:den>
                      </m:f>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484AF18-1653-7582-DAA9-ADDC230031EC}"/>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841"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6AF6E5-C186-0008-21B9-C4755A3249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7C9715-292A-263E-6E4C-06C829E5492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6EE2203-E8AE-5F68-B52F-A0C0D33C4A6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44378-F085-62C5-18F4-D271A722B0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8F780A-83CE-7929-4DB9-957AF6B7B1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F39A78-F1B2-A8AF-2EEE-3F86690D6A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A5FAD2A-EE93-A0D8-6A37-10C41B0D0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7CDD45-7A86-1605-D56A-2D02B4A197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4871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4E4742-1C25-FBBC-11E9-9A0692A696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A19ADA2-69FD-0496-DC38-CC3E2EB7DDAB}"/>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we have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d>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Let's say the image is </a:t>
                </a:r>
                <a14:m>
                  <m:oMath xmlns:m="http://schemas.openxmlformats.org/officeDocument/2006/math">
                    <m:r>
                      <a:rPr lang="en-US" sz="2400" i="1" dirty="0" smtClean="0">
                        <a:latin typeface="Cambria Math" panose="02040503050406030204" pitchFamily="18" charset="0"/>
                        <a:ea typeface="Arial"/>
                        <a:cs typeface="Arial"/>
                        <a:sym typeface="Arial"/>
                      </a:rPr>
                      <m:t>640 ×480</m:t>
                    </m:r>
                  </m:oMath>
                </a14:m>
                <a:r>
                  <a:rPr lang="en-US" sz="2400" dirty="0">
                    <a:latin typeface="Atkinson Hyperlegible Next"/>
                    <a:ea typeface="Arial"/>
                    <a:cs typeface="Arial"/>
                    <a:sym typeface="Arial"/>
                  </a:rPr>
                  <a:t>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center of the camera is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320,240</m:t>
                        </m:r>
                      </m:e>
                    </m:d>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our centroid is at </a:t>
                </a:r>
                <a14:m>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=500</m:t>
                    </m:r>
                  </m:oMath>
                </a14:m>
                <a:r>
                  <a:rPr lang="en-US" sz="2400" dirty="0">
                    <a:latin typeface="Atkinson Hyperlegible Next"/>
                    <a:ea typeface="Arial"/>
                    <a:cs typeface="Arial"/>
                    <a:sym typeface="Arial"/>
                  </a:rPr>
                  <a:t>, where is the ball?</a:t>
                </a:r>
              </a:p>
              <a:p>
                <a:pPr marL="0" indent="0" algn="ctr">
                  <a:lnSpc>
                    <a:spcPct val="100000"/>
                  </a:lnSpc>
                  <a:spcBef>
                    <a:spcPts val="0"/>
                  </a:spcBef>
                  <a:buSzPts val="3000"/>
                  <a:buNone/>
                </a:pPr>
                <a:r>
                  <a:rPr lang="en-US" sz="2400" dirty="0">
                    <a:latin typeface="Atkinson Hyperlegible Next"/>
                    <a:ea typeface="Arial"/>
                    <a:cs typeface="Arial"/>
                    <a:sym typeface="Arial"/>
                  </a:rPr>
                  <a:t>It is to the right of the robot.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calculate the error: </a:t>
                </a:r>
                <a14:m>
                  <m:oMath xmlns:m="http://schemas.openxmlformats.org/officeDocument/2006/math">
                    <m:r>
                      <a:rPr lang="en-US" sz="2400" i="1" dirty="0" smtClean="0">
                        <a:latin typeface="Cambria Math" panose="02040503050406030204" pitchFamily="18" charset="0"/>
                        <a:ea typeface="Arial"/>
                        <a:cs typeface="Arial"/>
                        <a:sym typeface="Arial"/>
                      </a:rPr>
                      <m:t>𝑒</m:t>
                    </m:r>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𝑋</m:t>
                        </m:r>
                      </m:e>
                      <m:sub>
                        <m:r>
                          <a:rPr lang="en-US" sz="2400" i="1" dirty="0" smtClean="0">
                            <a:latin typeface="Cambria Math" panose="02040503050406030204" pitchFamily="18" charset="0"/>
                            <a:ea typeface="Arial"/>
                            <a:cs typeface="Arial"/>
                            <a:sym typeface="Arial"/>
                          </a:rPr>
                          <m:t>𝑐𝑒𝑛𝑡𝑒𝑟</m:t>
                        </m:r>
                      </m:sub>
                    </m:sSub>
                    <m:r>
                      <a:rPr lang="en-US" sz="2400" i="1" dirty="0" smtClean="0">
                        <a:latin typeface="Cambria Math" panose="02040503050406030204" pitchFamily="18" charset="0"/>
                        <a:ea typeface="Arial"/>
                        <a:cs typeface="Arial"/>
                        <a:sym typeface="Arial"/>
                      </a:rPr>
                      <m:t>=500−320=180</m:t>
                    </m:r>
                  </m:oMath>
                </a14:m>
                <a:r>
                  <a:rPr lang="en-US" sz="2400" dirty="0">
                    <a:latin typeface="Atkinson Hyperlegible Next"/>
                    <a:ea typeface="Arial"/>
                    <a:cs typeface="Arial"/>
                    <a:sym typeface="Arial"/>
                  </a:rPr>
                  <a:t>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Given this error, we can pass this as an error to a PI controller to make the robot turn to face the target!</a:t>
                </a:r>
              </a:p>
            </p:txBody>
          </p:sp>
        </mc:Choice>
        <mc:Fallback xmlns="">
          <p:sp>
            <p:nvSpPr>
              <p:cNvPr id="118" name="Google Shape;118;p29">
                <a:extLst>
                  <a:ext uri="{FF2B5EF4-FFF2-40B4-BE49-F238E27FC236}">
                    <a16:creationId xmlns:a16="http://schemas.microsoft.com/office/drawing/2014/main" id="{8A19ADA2-69FD-0496-DC38-CC3E2EB7DDAB}"/>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841"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3F718F-06B8-CEDB-BCA3-EB4873959C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2EB922-1A2B-52F9-CF84-C586E56B61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321CB5C-2AAA-B3DE-FC97-6D5F513804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486268-8F88-DCAA-43EC-B8B4D2CC24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242B90-7418-8E03-9FA1-03FD935C93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41DCADC-512F-2CC9-CBB9-A4A0B2E5353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5E0930-2409-63FF-1F31-4A81715864D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3C98D-3948-31AB-22EC-521EA29740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39238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1A589-6491-0677-5C38-E935FC1B2D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CC0F767-F54E-A0E3-C78E-1DD342D4D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4497FE1-C721-98F9-C81D-EB6ED230E5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04FC050-C463-EBE5-31A9-0EA59B2C71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1E5BDC-A11D-728D-8126-C06DDE278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1E0D8-5B8D-D8EA-7E6C-E49802F597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939C0B-F6FF-28A6-3BF9-54600C2EF28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F44F4C-2A57-3533-92CA-EA0A9EB877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491EB6-E3CA-FA19-AF41-0A617197EE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Online Media 4" title="Computer Vision Blob Detection">
            <a:hlinkClick r:id="" action="ppaction://media"/>
            <a:extLst>
              <a:ext uri="{FF2B5EF4-FFF2-40B4-BE49-F238E27FC236}">
                <a16:creationId xmlns:a16="http://schemas.microsoft.com/office/drawing/2014/main" id="{E8AA5AD8-B95F-8DA2-93C5-F0798C82327D}"/>
              </a:ext>
            </a:extLst>
          </p:cNvPr>
          <p:cNvPicPr>
            <a:picLocks noRot="1" noChangeAspect="1"/>
          </p:cNvPicPr>
          <p:nvPr>
            <a:videoFile r:link="rId1"/>
          </p:nvPr>
        </p:nvPicPr>
        <p:blipFill>
          <a:blip r:embed="rId5"/>
          <a:stretch>
            <a:fillRect/>
          </a:stretch>
        </p:blipFill>
        <p:spPr>
          <a:xfrm>
            <a:off x="1084621" y="903443"/>
            <a:ext cx="10022757" cy="5662871"/>
          </a:xfrm>
          <a:prstGeom prst="rect">
            <a:avLst/>
          </a:prstGeom>
        </p:spPr>
      </p:pic>
    </p:spTree>
    <p:extLst>
      <p:ext uri="{BB962C8B-B14F-4D97-AF65-F5344CB8AC3E}">
        <p14:creationId xmlns:p14="http://schemas.microsoft.com/office/powerpoint/2010/main" val="2993096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1747</TotalTime>
  <Words>3067</Words>
  <Application>Microsoft Office PowerPoint</Application>
  <PresentationFormat>Widescreen</PresentationFormat>
  <Paragraphs>420</Paragraphs>
  <Slides>44</Slides>
  <Notes>44</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181</cp:revision>
  <dcterms:created xsi:type="dcterms:W3CDTF">2019-01-14T22:06:33Z</dcterms:created>
  <dcterms:modified xsi:type="dcterms:W3CDTF">2026-04-01T13:45:25Z</dcterms:modified>
</cp:coreProperties>
</file>