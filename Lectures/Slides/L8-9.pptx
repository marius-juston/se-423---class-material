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310" r:id="rId3"/>
    <p:sldId id="257" r:id="rId4"/>
    <p:sldId id="258" r:id="rId5"/>
    <p:sldId id="311" r:id="rId6"/>
    <p:sldId id="312" r:id="rId7"/>
    <p:sldId id="313" r:id="rId8"/>
    <p:sldId id="316" r:id="rId9"/>
    <p:sldId id="317" r:id="rId10"/>
    <p:sldId id="318" r:id="rId11"/>
    <p:sldId id="321" r:id="rId12"/>
    <p:sldId id="322" r:id="rId13"/>
    <p:sldId id="323" r:id="rId14"/>
    <p:sldId id="324" r:id="rId15"/>
    <p:sldId id="326" r:id="rId16"/>
    <p:sldId id="332" r:id="rId17"/>
    <p:sldId id="333" r:id="rId18"/>
    <p:sldId id="334" r:id="rId19"/>
    <p:sldId id="325" r:id="rId20"/>
    <p:sldId id="320" r:id="rId21"/>
    <p:sldId id="319" r:id="rId22"/>
    <p:sldId id="330" r:id="rId23"/>
    <p:sldId id="331" r:id="rId24"/>
    <p:sldId id="328" r:id="rId25"/>
    <p:sldId id="329" r:id="rId26"/>
    <p:sldId id="314" r:id="rId27"/>
    <p:sldId id="315" r:id="rId28"/>
    <p:sldId id="335" r:id="rId29"/>
    <p:sldId id="336"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49" r:id="rId43"/>
    <p:sldId id="350" r:id="rId44"/>
    <p:sldId id="327" r:id="rId45"/>
    <p:sldId id="271" r:id="rId46"/>
    <p:sldId id="270" r:id="rId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85" autoAdjust="0"/>
  </p:normalViewPr>
  <p:slideViewPr>
    <p:cSldViewPr snapToGrid="0">
      <p:cViewPr varScale="1">
        <p:scale>
          <a:sx n="88" d="100"/>
          <a:sy n="88" d="100"/>
        </p:scale>
        <p:origin x="14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Lectures 8 and 9: FFT and Filters, presented by Marius Juston on Monday, February 16th, 2026. The University of Illinois Urbana-Champaign logo sits above the title on a dark blue background of faint hand-drawn math sketches.</a:t>
            </a:r>
          </a:p>
          <a:p>
            <a:pPr marL="0" lvl="0" indent="0" algn="l" rtl="0">
              <a:spcBef>
                <a:spcPts val="0"/>
              </a:spcBef>
              <a:spcAft>
                <a:spcPts val="600"/>
              </a:spcAft>
              <a:buNone/>
            </a:pPr>
            <a:r>
              <a:rPr lang="en-US" dirty="0"/>
              <a:t>These two lectures cover how to see the frequency content of a sampled signal with the FFT, how to collect samples efficiently with DMA and a ping-pong buffer, and how to remove unwanted frequencies with FIR filters. First, a few reminders.</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week's reminders under four headings: office hours, lab, homeworks and LabVIEW.</a:t>
            </a:r>
          </a:p>
          <a:p>
            <a:pPr marL="0" lvl="0" indent="0" algn="l" rtl="0">
              <a:lnSpc>
                <a:spcPct val="100000"/>
              </a:lnSpc>
              <a:spcBef>
                <a:spcPts val="0"/>
              </a:spcBef>
              <a:spcAft>
                <a:spcPts val="600"/>
              </a:spcAft>
              <a:buSzPts val="1400"/>
              <a:buNone/>
            </a:pPr>
            <a:r>
              <a:rPr lang="en-US" dirty="0"/>
              <a:t>Office hours are Monday 4 to 6 PM with Neel; Tuesday 11 AM to 1 PM with Lakshmi; Tuesday 1 to 3 PM with Samuel; and Tuesday 2 to 5 PM with Dan and Marius.</a:t>
            </a:r>
          </a:p>
          <a:p>
            <a:pPr marL="0" lvl="0" indent="0" algn="l" rtl="0">
              <a:lnSpc>
                <a:spcPct val="100000"/>
              </a:lnSpc>
              <a:spcBef>
                <a:spcPts val="0"/>
              </a:spcBef>
              <a:spcAft>
                <a:spcPts val="600"/>
              </a:spcAft>
              <a:buSzPts val="1400"/>
              <a:buNone/>
            </a:pPr>
            <a:r>
              <a:rPr lang="en-US" dirty="0"/>
              <a:t>In lab, you start Lab 3 this week. It is a two-week lab, so pace yourself.</a:t>
            </a:r>
          </a:p>
          <a:p>
            <a:pPr marL="0" lvl="0" indent="0" algn="l" rtl="0">
              <a:lnSpc>
                <a:spcPct val="100000"/>
              </a:lnSpc>
              <a:spcBef>
                <a:spcPts val="0"/>
              </a:spcBef>
              <a:spcAft>
                <a:spcPts val="600"/>
              </a:spcAft>
              <a:buSzPts val="1400"/>
              <a:buNone/>
            </a:pPr>
            <a:r>
              <a:rPr lang="en-US" dirty="0"/>
              <a:t>Homework 2 has three deadlines, and the words "homework 2" on the slide link to the assignment. Check-offs for exercises 1 and 2 are due February 17 at 5 PM. Check-offs for exercises 3 and 4 are due February 24 at 5 PM. The slide notes that 5 PM is the end of office hours, so a check-off has to happen during an office-hour session, not after it. Your written answers and code submissions for homework 2 are due February 25 at 9 AM.</a:t>
            </a:r>
          </a:p>
          <a:p>
            <a:pPr marL="0" lvl="0" indent="0" algn="l" rtl="0">
              <a:lnSpc>
                <a:spcPct val="100000"/>
              </a:lnSpc>
              <a:spcBef>
                <a:spcPts val="0"/>
              </a:spcBef>
              <a:spcAft>
                <a:spcPts val="600"/>
              </a:spcAft>
              <a:buSzPts val="1400"/>
              <a:buNone/>
            </a:pPr>
            <a:r>
              <a:rPr lang="en-US" dirty="0"/>
              <a:t>For LabVIEW, all check-offs for LabVIEW 2 are due February 26 at 5 PM, and "LabVIEW 2" on the slide links to that assignment.</a:t>
            </a:r>
          </a:p>
          <a:p>
            <a:pPr marL="0" lvl="0" indent="0" algn="l" rtl="0">
              <a:lnSpc>
                <a:spcPct val="100000"/>
              </a:lnSpc>
              <a:spcBef>
                <a:spcPts val="0"/>
              </a:spcBef>
              <a:spcAft>
                <a:spcPts val="600"/>
              </a:spcAft>
              <a:buSzPts val="1400"/>
              <a:buNone/>
            </a:pPr>
            <a:r>
              <a:rPr lang="en-US" dirty="0"/>
              <a:t>Today is Monday, February 16, so the first homework 2 check-off is due tomorrow. Next, there is a chance to ask questions about the homework, lab or LabVIEW before we move into Fourier transforms and the FFT.</a:t>
            </a:r>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pause for questions. It shows the word "Questions?" in large white letters on the dark blue Illinois background, with faint hand-drawn equations and diagrams behind it. Below an orange accent line it asks: Homework, Lab, LabVIEW questions?</a:t>
            </a:r>
          </a:p>
          <a:p>
            <a:pPr marL="0" lvl="0" indent="0" algn="l" rtl="0">
              <a:spcBef>
                <a:spcPts val="0"/>
              </a:spcBef>
              <a:spcAft>
                <a:spcPts val="600"/>
              </a:spcAft>
              <a:buNone/>
            </a:pPr>
            <a:r>
              <a:rPr lang="en-US" dirty="0"/>
              <a:t>Use this moment to raise anything from the reminders you just saw. That includes the homework 2 check-offs, starting Lab 3, which runs for two weeks, and the LabVIEW 2 check-offs. Once questions wrap up, the lecture moves into the background on Fourier transforms and the FFT.</a:t>
            </a: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"Fourier Transforms &amp; FFT: Background" in dark blue on the orange Illinois background, which carries faint hand-drawn math and chemistry sketches as decoration. The footer reads Systems Engineering and Grainger Engineering.</a:t>
            </a:r>
          </a:p>
          <a:p>
            <a:pPr marL="0" lvl="0" indent="0" algn="l" rtl="0">
              <a:spcBef>
                <a:spcPts val="0"/>
              </a:spcBef>
              <a:spcAft>
                <a:spcPts val="600"/>
              </a:spcAft>
              <a:buNone/>
            </a:pPr>
            <a:r>
              <a:rPr lang="en-US" dirty="0"/>
              <a:t>With the reminders and questions done, you start building intuition for frequency analysis. The next two slides link videos: 3Blue1Brown's visual introduction to the Fourier transform, then Reducible's explanation of the Fast Fourier Transform algorithm. This background prepares you to run an FFT on ADC data on the Red Board.</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0A3304-8593-A25D-A9EE-E6471A855F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5817422-B358-E9B4-93FA-4C464E06ED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thumbnail from the 3Blue1Brown video "But what is the Fourier Transform? A visual introduction," at https://www.youtube.com/watch?v=spUNpyF58BY.</a:t>
            </a:r>
          </a:p>
          <a:p>
            <a:pPr marL="0" lvl="0" indent="0" algn="l" rtl="0">
              <a:lnSpc>
                <a:spcPct val="100000"/>
              </a:lnSpc>
              <a:spcBef>
                <a:spcPts val="0"/>
              </a:spcBef>
              <a:spcAft>
                <a:spcPts val="600"/>
              </a:spcAft>
              <a:buSzPts val="1400"/>
              <a:buNone/>
            </a:pPr>
            <a:r>
              <a:rPr lang="en-US" dirty="0"/>
              <a:t>It has three rows. "Signal" is a blue, irregular wave made of several sinusoids added together. "Winding" shows that signal wrapped around a circle at five different winding frequencies. Four of the shapes are smeared, and the boxed middle one is a clean, lopsided loop. "Transform" is a yellow plot with three sharp peaks. A red dot on the middle peak links back to that boxed winding.</a:t>
            </a:r>
          </a:p>
          <a:p>
            <a:pPr marL="0" lvl="0" indent="0" algn="l" rtl="0">
              <a:lnSpc>
                <a:spcPct val="100000"/>
              </a:lnSpc>
              <a:spcBef>
                <a:spcPts val="0"/>
              </a:spcBef>
              <a:spcAft>
                <a:spcPts val="600"/>
              </a:spcAft>
              <a:buSzPts val="1400"/>
              <a:buNone/>
            </a:pPr>
            <a:r>
              <a:rPr lang="en-US" dirty="0"/>
              <a:t>The idea is that when the winding frequency matches a frequency in the signal, the wrapped shape's center of mass shifts off-center and produces a peak. Each peak marks a frequency component.</a:t>
            </a:r>
          </a:p>
          <a:p>
            <a:pPr marL="0" lvl="0" indent="0" algn="l" rtl="0">
              <a:lnSpc>
                <a:spcPct val="100000"/>
              </a:lnSpc>
              <a:spcBef>
                <a:spcPts val="0"/>
              </a:spcBef>
              <a:spcAft>
                <a:spcPts val="600"/>
              </a:spcAft>
              <a:buSzPts val="1400"/>
              <a:buNone/>
            </a:pPr>
            <a:r>
              <a:rPr lang="en-US" dirty="0"/>
              <a:t>Next, you see how the FFT computes this efficiently.</a:t>
            </a:r>
          </a:p>
        </p:txBody>
      </p:sp>
      <p:sp>
        <p:nvSpPr>
          <p:cNvPr id="116" name="Google Shape;116;p29:notes">
            <a:extLst>
              <a:ext uri="{FF2B5EF4-FFF2-40B4-BE49-F238E27FC236}">
                <a16:creationId xmlns:a16="http://schemas.microsoft.com/office/drawing/2014/main" id="{460FB445-45D1-9B88-4A9D-5033DF9515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699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0A3304-8593-A25D-A9EE-E6471A855F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5817422-B358-E9B4-93FA-4C464E06ED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video: "The Fast Fourier Transform (FFT): Most Ingenious Algorithm Ever?" by Reducible, at https://www.youtube.com/watch?v=h7apO7q16V0. The thumbnail shows yellow, green and light blue sinusoids on the left and, on the right, an eight-point FFT butterfly diagram: eight nodes per column, crossing lines between columns.</a:t>
            </a:r>
          </a:p>
          <a:p>
            <a:pPr marL="0" lvl="0" indent="0" algn="l" rtl="0">
              <a:lnSpc>
                <a:spcPct val="100000"/>
              </a:lnSpc>
              <a:spcBef>
                <a:spcPts val="0"/>
              </a:spcBef>
              <a:spcAft>
                <a:spcPts val="600"/>
              </a:spcAft>
              <a:buSzPts val="1400"/>
              <a:buNone/>
            </a:pPr>
            <a:r>
              <a:rPr lang="en-US" dirty="0"/>
              <a:t>The previous video explains what the Fourier transform means. This one shows how the FFT computes it quickly, in about N*log2(N) operations instead of N^2. Next, you use an optimized FFT library on the Red Board.</a:t>
            </a:r>
          </a:p>
        </p:txBody>
      </p:sp>
      <p:sp>
        <p:nvSpPr>
          <p:cNvPr id="116" name="Google Shape;116;p29:notes">
            <a:extLst>
              <a:ext uri="{FF2B5EF4-FFF2-40B4-BE49-F238E27FC236}">
                <a16:creationId xmlns:a16="http://schemas.microsoft.com/office/drawing/2014/main" id="{460FB445-45D1-9B88-4A9D-5033DF9515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0635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CDC9B3F-C73A-95F3-2C1C-D2A642FAB5BE}"/>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1BB095F5-08F9-8747-B1EA-9E39CE7D1B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divider slide. On an orange Illinois background with faint hand-sketched equations and diagrams, the title reads "Fourier Transforms &amp; FFT Code."</a:t>
            </a:r>
          </a:p>
          <a:p>
            <a:pPr marL="0" lvl="0" indent="0" algn="l" rtl="0">
              <a:spcBef>
                <a:spcPts val="0"/>
              </a:spcBef>
              <a:spcAft>
                <a:spcPts val="600"/>
              </a:spcAft>
              <a:buNone/>
            </a:pPr>
            <a:r>
              <a:rPr lang="en-US" dirty="0"/>
              <a:t>You have now seen the background from the two videos: what the Fourier transform does and how the FFT computes it efficiently. This section turns to practice: using an existing, hardware-optimized FFT library on the F28379D, and setting up the buffers it needs to run on real ADC samples.</a:t>
            </a:r>
          </a:p>
        </p:txBody>
      </p:sp>
      <p:sp>
        <p:nvSpPr>
          <p:cNvPr id="102" name="Google Shape;102;p28:notes">
            <a:extLst>
              <a:ext uri="{FF2B5EF4-FFF2-40B4-BE49-F238E27FC236}">
                <a16:creationId xmlns:a16="http://schemas.microsoft.com/office/drawing/2014/main" id="{EEADEE41-52C5-AA8E-E1F2-505D4239DD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6081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831FD86-A459-246B-5598-31CF7F27C3B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91C6A2E-EC39-B884-C5BA-27F1E05C0D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the title "FFT Code" and contains only text, no figures or code. It reminds you that you just watched a couple of videos about what a Fourier transform is and what the FFT, the Fast Fourier Transform, is. It then says "Time to implement it!", immediately follows with "Just joking", and explains that smart people have already implemented the algorithms and optimized them to run as efficiently as possible on this specific hardware. The last line notes that this implementation works in C++ and C.</a:t>
            </a:r>
          </a:p>
          <a:p>
            <a:pPr marL="0" lvl="0" indent="0" algn="l" rtl="0">
              <a:lnSpc>
                <a:spcPct val="100000"/>
              </a:lnSpc>
              <a:spcBef>
                <a:spcPts val="0"/>
              </a:spcBef>
              <a:spcAft>
                <a:spcPts val="600"/>
              </a:spcAft>
              <a:buSzPts val="1400"/>
              <a:buNone/>
            </a:pPr>
            <a:r>
              <a:rPr lang="en-US" dirty="0"/>
              <a:t>The point is that you do not write an FFT from scratch. A naive discrete Fourier transform of N samples takes on the order of N^2 multiply-adds. The FFT reduces that to about N*log2(N). For a 1024-point transform, that is roughly 10,000 operations instead of about a million. A hardware-tuned library goes further by using the F28379D's floating-point unit and precomputed sine and cosine tables, called twiddle factors. Your job is to set up the data correctly and call the library.</a:t>
            </a:r>
          </a:p>
          <a:p>
            <a:pPr marL="0" lvl="0" indent="0" algn="l" rtl="0">
              <a:lnSpc>
                <a:spcPct val="100000"/>
              </a:lnSpc>
              <a:spcBef>
                <a:spcPts val="0"/>
              </a:spcBef>
              <a:spcAft>
                <a:spcPts val="600"/>
              </a:spcAft>
              <a:buSzPts val="1400"/>
              <a:buNone/>
            </a:pPr>
            <a:r>
              <a:rPr lang="en-US" dirty="0"/>
              <a:t>The next slides show what that setup looks like. You will see a 1024-point real FFT configured with RFFT_STAGES = 10, which means 2^10 = 1024 points. You will also see buffers placed in specific memory sections and a structure, RFFT_F32_STRUCT, that tells the library where its input, output and twiddle-factor arrays live.</a:t>
            </a:r>
          </a:p>
          <a:p>
            <a:pPr marL="0" lvl="0" indent="0" algn="l" rtl="0">
              <a:lnSpc>
                <a:spcPct val="100000"/>
              </a:lnSpc>
              <a:spcBef>
                <a:spcPts val="0"/>
              </a:spcBef>
              <a:spcAft>
                <a:spcPts val="600"/>
              </a:spcAft>
              <a:buSzPts val="1400"/>
              <a:buNone/>
            </a:pPr>
            <a:r>
              <a:rPr lang="en-US" dirty="0"/>
              <a:t>A common mistake is assuming "use the library" means "no thinking required." You still have to understand buffer sizes, memory placement and how to read the output spectrum.</a:t>
            </a:r>
          </a:p>
        </p:txBody>
      </p:sp>
      <p:sp>
        <p:nvSpPr>
          <p:cNvPr id="116" name="Google Shape;116;p29:notes">
            <a:extLst>
              <a:ext uri="{FF2B5EF4-FFF2-40B4-BE49-F238E27FC236}">
                <a16:creationId xmlns:a16="http://schemas.microsoft.com/office/drawing/2014/main" id="{B848896C-F32F-58F4-8743-6C2547C79A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4105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D1264B-E729-6656-9A8A-6E083302EEF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B96AFB3-939C-2272-C409-CD9B7F279E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global declarations for the FFT program. The left column is a block of C code; the right column shows the definition of the library's RFFT_F32_STRUCT and its handle type.</a:t>
            </a:r>
          </a:p>
          <a:p>
            <a:pPr marL="0" lvl="0" indent="0" algn="l" rtl="0">
              <a:lnSpc>
                <a:spcPct val="100000"/>
              </a:lnSpc>
              <a:spcBef>
                <a:spcPts val="0"/>
              </a:spcBef>
              <a:spcAft>
                <a:spcPts val="600"/>
              </a:spcAft>
              <a:buSzPts val="1400"/>
              <a:buNone/>
            </a:pPr>
            <a:r>
              <a:rPr lang="en-US" dirty="0"/>
              <a:t>At the top, RFFT_STAGES is defined as 10, and RFFT_SIZE is defined as 1 shifted left by 10 bits, written (1 &lt;&lt; RFFT_STAGES), which equals 1024. A radix-2 Cooley-Tukey FFT breaks the computation into log base 2 of N stages, so N = 1024 points needs exactly 10 stages of butterfly operations. That cuts the work from order N squared, O(N^2), for a naive discrete Fourier transform (DFT) to order N times log base 2 of N, O(N*log2(N)). That saving is what makes real-time FFTs possible in an embedded control loop.</a:t>
            </a:r>
          </a:p>
          <a:p>
            <a:pPr marL="0" lvl="0" indent="0" algn="l" rtl="0">
              <a:lnSpc>
                <a:spcPct val="100000"/>
              </a:lnSpc>
              <a:spcBef>
                <a:spcPts val="0"/>
              </a:spcBef>
              <a:spcAft>
                <a:spcPts val="600"/>
              </a:spcAft>
              <a:buSzPts val="1400"/>
              <a:buNone/>
            </a:pPr>
            <a:r>
              <a:rPr lang="en-US" dirty="0"/>
              <a:t>Each #pragma DATA_SECTION places an array in a named physical RAM block. fft_input goes in "FFT_buffer_1", and the twiddle factors RFFTF32Coef go in "FFT_buffer_2". If both sat in the same block, the CPU would stall on bus contention and need two clock cycles to fetch the two operands. In separate blocks, the DSP core fetches both in one cycle, roughly halving the time spent in the butterfly loops.</a:t>
            </a:r>
          </a:p>
          <a:p>
            <a:pPr marL="0" lvl="0" indent="0" algn="l" rtl="0">
              <a:lnSpc>
                <a:spcPct val="100000"/>
              </a:lnSpc>
              <a:spcBef>
                <a:spcPts val="0"/>
              </a:spcBef>
              <a:spcAft>
                <a:spcPts val="600"/>
              </a:spcAft>
              <a:buSzPts val="1400"/>
              <a:buNone/>
            </a:pPr>
            <a:r>
              <a:rPr lang="en-US" dirty="0"/>
              <a:t>pwrSpec holds only RFFT_SIZE/2 + 1, which is 513, values. For a strictly real input, the spectrum at index N minus k is the complex conjugate of the spectrum at index k, so the magnitudes mirror and the upper half adds nothing new. maxpwr and maxpwrindex track the peak bin.</a:t>
            </a:r>
          </a:p>
          <a:p>
            <a:pPr marL="0" lvl="0" indent="0" algn="l" rtl="0">
              <a:lnSpc>
                <a:spcPct val="100000"/>
              </a:lnSpc>
              <a:spcBef>
                <a:spcPts val="0"/>
              </a:spcBef>
              <a:spcAft>
                <a:spcPts val="600"/>
              </a:spcAft>
              <a:buSzPts val="1400"/>
              <a:buNone/>
            </a:pPr>
            <a:r>
              <a:rPr lang="en-US" dirty="0"/>
              <a:t>AdcPingBufRaw and AdcPongBufRaw are 16-bit raw ADC buffers for double buffering. The DMA (direct memory access) writes ADC samples into one buffer while the CPU runs the real FFT on the other, and then the two swap. This gives zero dropped samples. The flags pingFFT, pongFFT, pingpongFFT and iPingPong, together with the counter DMAcount, manage that swap.</a:t>
            </a:r>
          </a:p>
          <a:p>
            <a:pPr marL="0" lvl="0" indent="0" algn="l" rtl="0">
              <a:lnSpc>
                <a:spcPct val="100000"/>
              </a:lnSpc>
              <a:spcBef>
                <a:spcPts val="0"/>
              </a:spcBef>
              <a:spcAft>
                <a:spcPts val="600"/>
              </a:spcAft>
              <a:buSzPts val="1400"/>
              <a:buNone/>
            </a:pPr>
            <a:r>
              <a:rPr lang="en-US" dirty="0"/>
              <a:t>The struct on the right holds pointers to the input, output, twiddle (CosSinBuf), magnitude and phase buffers, plus FFTSize and FFTStages. hnd_rfft is a pointer to the rfft instance. Next, you hook DMA_ISR into the PIE vector table.</a:t>
            </a:r>
          </a:p>
        </p:txBody>
      </p:sp>
      <p:sp>
        <p:nvSpPr>
          <p:cNvPr id="116" name="Google Shape;116;p29:notes">
            <a:extLst>
              <a:ext uri="{FF2B5EF4-FFF2-40B4-BE49-F238E27FC236}">
                <a16:creationId xmlns:a16="http://schemas.microsoft.com/office/drawing/2014/main" id="{9B8E0CF0-A86D-4D78-C36B-F15054C89E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5588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02690B-26AA-A081-4B85-586111D0983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A8AF466-60AD-39A8-2FA5-9EA5CBB64F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three lines of C code on a plain white background. The first line is EALLOW, with the comment "This is needed to write to EALLOW protected registers." The second line is PieVectTable.DMA_CH1_INT = &amp;DMA_ISR, with DMA_CH1_INT highlighted in blue. The third line is EDIS, with the comment "This is needed to disable write to EALLOW protected registers."</a:t>
            </a:r>
          </a:p>
          <a:p>
            <a:pPr marL="0" lvl="0" indent="0" algn="l" rtl="0">
              <a:lnSpc>
                <a:spcPct val="100000"/>
              </a:lnSpc>
              <a:spcBef>
                <a:spcPts val="0"/>
              </a:spcBef>
              <a:spcAft>
                <a:spcPts val="600"/>
              </a:spcAft>
              <a:buSzPts val="1400"/>
              <a:buNone/>
            </a:pPr>
            <a:r>
              <a:rPr lang="en-US" dirty="0"/>
              <a:t>On the previous slide you saw the prototype __interrupt void DMA_ISR(void). This slide tells the processor to run that function. The PIE, or Peripheral Interrupt Expansion, vector table is a list of function addresses, one for each interrupt source. Writing &amp;DMA_ISR, the address of your function, into the DMA_CH1_INT entry means that when DMA channel 1 raises its interrupt, the CPU jumps to DMA_ISR.</a:t>
            </a:r>
          </a:p>
          <a:p>
            <a:pPr marL="0" lvl="0" indent="0" algn="l" rtl="0">
              <a:lnSpc>
                <a:spcPct val="100000"/>
              </a:lnSpc>
              <a:spcBef>
                <a:spcPts val="0"/>
              </a:spcBef>
              <a:spcAft>
                <a:spcPts val="600"/>
              </a:spcAft>
              <a:buSzPts val="1400"/>
              <a:buNone/>
            </a:pPr>
            <a:r>
              <a:rPr lang="en-US" dirty="0"/>
              <a:t>The PIE vector table is EALLOW protected. Critical registers on the F28379D are write-locked so stray code cannot change them by accident. EALLOW unlocks them. EDIS locks them again right after the write.</a:t>
            </a:r>
          </a:p>
          <a:p>
            <a:pPr marL="0" lvl="0" indent="0" algn="l" rtl="0">
              <a:lnSpc>
                <a:spcPct val="100000"/>
              </a:lnSpc>
              <a:spcBef>
                <a:spcPts val="0"/>
              </a:spcBef>
              <a:spcAft>
                <a:spcPts val="600"/>
              </a:spcAft>
              <a:buSzPts val="1400"/>
              <a:buNone/>
            </a:pPr>
            <a:r>
              <a:rPr lang="en-US" dirty="0"/>
              <a:t>A common mistake is to leave out EALLOW. The write then fails silently and your ISR never runs. Another is to forget EDIS, which leaves the protected registers open. Mapping the vector is also only one step: the interrupt still has to be enabled in the PIE and CPU interrupt enable registers before it will fire.</a:t>
            </a:r>
          </a:p>
          <a:p>
            <a:pPr marL="0" lvl="0" indent="0" algn="l" rtl="0">
              <a:lnSpc>
                <a:spcPct val="100000"/>
              </a:lnSpc>
              <a:spcBef>
                <a:spcPts val="0"/>
              </a:spcBef>
              <a:spcAft>
                <a:spcPts val="600"/>
              </a:spcAft>
              <a:buSzPts val="1400"/>
              <a:buNone/>
            </a:pPr>
            <a:r>
              <a:rPr lang="en-US" dirty="0"/>
              <a:t>Quick check: what happens if DMA channel 1 finishes a transfer but this line was never executed? The interrupt cannot reach your code. That raises the question of what DMA channel 1 is, which the next slides answer.</a:t>
            </a:r>
          </a:p>
        </p:txBody>
      </p:sp>
      <p:sp>
        <p:nvSpPr>
          <p:cNvPr id="116" name="Google Shape;116;p29:notes">
            <a:extLst>
              <a:ext uri="{FF2B5EF4-FFF2-40B4-BE49-F238E27FC236}">
                <a16:creationId xmlns:a16="http://schemas.microsoft.com/office/drawing/2014/main" id="{070C0B39-107A-18E1-43C7-AFFEA71986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4985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88CE4DD-A803-E22B-FA7C-ECC60E93FD1D}"/>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F8CBDF59-F4E4-9C02-B587-76FE0DC1FD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"Direct Memory Access (DMA)," shown on the orange Illinois background with faint hand-drawn equations and diagrams, the block I logo, and the footer "Systems Engineering" and "Grainger Engineering."</a:t>
            </a:r>
          </a:p>
          <a:p>
            <a:pPr marL="0" lvl="0" indent="0" algn="l" rtl="0">
              <a:spcBef>
                <a:spcPts val="0"/>
              </a:spcBef>
              <a:spcAft>
                <a:spcPts val="600"/>
              </a:spcAft>
              <a:buNone/>
            </a:pPr>
            <a:r>
              <a:rPr lang="en-US" dirty="0"/>
              <a:t>On the previous slide you registered DMA_ISR in the PIE vector table, and earlier you declared the ping and pong ADC buffers. Before going further in the FFT code, this section explains what the DMA module is and why it lets the ADC fill those 1024-sample buffers without the CPU copying each value.</a:t>
            </a:r>
          </a:p>
        </p:txBody>
      </p:sp>
      <p:sp>
        <p:nvSpPr>
          <p:cNvPr id="102" name="Google Shape;102;p28:notes">
            <a:extLst>
              <a:ext uri="{FF2B5EF4-FFF2-40B4-BE49-F238E27FC236}">
                <a16:creationId xmlns:a16="http://schemas.microsoft.com/office/drawing/2014/main" id="{1A7C3F36-4C1F-6C2C-56BA-62BD0F74CD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6837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2828B9F-3DFB-FF89-AA12-149D6AF2F59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152E601-CB04-1B10-DFF9-B95A943B2C5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DMA. It defines the direct memory access (DMA) module as a hardware method of moving data between peripherals and/or memory without the CPU's involvement, which frees CPU bandwidth for other work. It then gives the motivation: applications often spend much of their time just moving data, whether from off-chip to on-chip memory, from a peripheral such as the ADC to RAM, or from one peripheral to another. That data also often arrives in a format that is awkward for the CPU to process. The DMA can both offload the copying and rearrange the data into a more convenient pattern. The wording comes from TI's F28379D Technical Reference Manual, which is why it says "this reference guide."</a:t>
            </a:r>
          </a:p>
          <a:p>
            <a:pPr marL="0" lvl="0" indent="0" algn="l" rtl="0">
              <a:lnSpc>
                <a:spcPct val="100000"/>
              </a:lnSpc>
              <a:spcBef>
                <a:spcPts val="0"/>
              </a:spcBef>
              <a:spcAft>
                <a:spcPts val="600"/>
              </a:spcAft>
              <a:buSzPts val="1400"/>
              <a:buNone/>
            </a:pPr>
            <a:r>
              <a:rPr lang="en-US" dirty="0"/>
              <a:t>On the last code slide you registered DMA_ISR in the PIE vector table as the DMA channel 1 interrupt. This slide explains why that interrupt exists. Without DMA, every ADC conversion would interrupt the CPU just so it could copy one result into an array. For an FFT you need hundreds or thousands of samples, so that per-sample overhead adds up quickly. With DMA, the hardware copies each ADC result into your buffer automatically. The CPU only hears about it once, through DMA_ISR, after the whole buffer is full.</a:t>
            </a:r>
          </a:p>
          <a:p>
            <a:pPr marL="0" lvl="0" indent="0" algn="l" rtl="0">
              <a:lnSpc>
                <a:spcPct val="100000"/>
              </a:lnSpc>
              <a:spcBef>
                <a:spcPts val="0"/>
              </a:spcBef>
              <a:spcAft>
                <a:spcPts val="600"/>
              </a:spcAft>
              <a:buSzPts val="1400"/>
              <a:buNone/>
            </a:pPr>
            <a:r>
              <a:rPr lang="en-US" dirty="0"/>
              <a:t>A common misconception is that the DMA ISR runs once per sample. It runs once per completed transfer block. Keep that in mind when you read the ping pong buffer code coming up. Next, you look at the DMA's specific features: its channels, trigger sources and throughput.</a:t>
            </a:r>
          </a:p>
        </p:txBody>
      </p:sp>
      <p:sp>
        <p:nvSpPr>
          <p:cNvPr id="116" name="Google Shape;116;p29:notes">
            <a:extLst>
              <a:ext uri="{FF2B5EF4-FFF2-40B4-BE49-F238E27FC236}">
                <a16:creationId xmlns:a16="http://schemas.microsoft.com/office/drawing/2014/main" id="{BE2B37AB-3733-0952-1B46-EC989CEF66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6731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113DDCC-4E0D-3992-A8A4-F5469FAE2A1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6443E41-C359-ACCB-F4D5-A3E35DBDE9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main features of the F28379D's DMA controller. It is all text: a bulleted list of four features, then a sentence about trigger sources.</a:t>
            </a:r>
          </a:p>
          <a:p>
            <a:pPr marL="0" lvl="0" indent="0" algn="l" rtl="0">
              <a:lnSpc>
                <a:spcPct val="100000"/>
              </a:lnSpc>
              <a:spcBef>
                <a:spcPts val="0"/>
              </a:spcBef>
              <a:spcAft>
                <a:spcPts val="600"/>
              </a:spcAft>
              <a:buSzPts val="1400"/>
              <a:buNone/>
            </a:pPr>
            <a:r>
              <a:rPr lang="en-US" dirty="0"/>
              <a:t>The first feature is six DMA channels, each with its own interrupt into the PIE, the Peripheral Interrupt Expansion block that routes peripheral interrupts to the CPU. Each channel works as an independent mover that can tell the CPU "I'm done" through its own interrupt.</a:t>
            </a:r>
          </a:p>
          <a:p>
            <a:pPr marL="0" lvl="0" indent="0" algn="l" rtl="0">
              <a:lnSpc>
                <a:spcPct val="100000"/>
              </a:lnSpc>
              <a:spcBef>
                <a:spcPts val="0"/>
              </a:spcBef>
              <a:spcAft>
                <a:spcPts val="600"/>
              </a:spcAft>
              <a:buSzPts val="1400"/>
              <a:buNone/>
            </a:pPr>
            <a:r>
              <a:rPr lang="en-US" dirty="0"/>
              <a:t>The second feature is that each channel can be triggered independently from multiple peripheral trigger sources. A trigger is the event that tells the channel to move its next chunk of data. The closing sentence on the slide says the trigger selection is an 8-bit field, quoted as "255 options." The sources include ADC conversions, external interrupts (XINT), ePWM events, CPU timer interrupts, SPI and more.</a:t>
            </a:r>
          </a:p>
          <a:p>
            <a:pPr marL="0" lvl="0" indent="0" algn="l" rtl="0">
              <a:lnSpc>
                <a:spcPct val="100000"/>
              </a:lnSpc>
              <a:spcBef>
                <a:spcPts val="0"/>
              </a:spcBef>
              <a:spcAft>
                <a:spcPts val="600"/>
              </a:spcAft>
              <a:buSzPts val="1400"/>
              <a:buNone/>
            </a:pPr>
            <a:r>
              <a:rPr lang="en-US" dirty="0"/>
              <a:t>The third feature is the word size, which can be 16-bit or 32-bit. SPI transfers are limited to 16-bit.</a:t>
            </a:r>
          </a:p>
          <a:p>
            <a:pPr marL="0" lvl="0" indent="0" algn="l" rtl="0">
              <a:lnSpc>
                <a:spcPct val="100000"/>
              </a:lnSpc>
              <a:spcBef>
                <a:spcPts val="0"/>
              </a:spcBef>
              <a:spcAft>
                <a:spcPts val="600"/>
              </a:spcAft>
              <a:buSzPts val="1400"/>
              <a:buNone/>
            </a:pPr>
            <a:r>
              <a:rPr lang="en-US" dirty="0"/>
              <a:t>The fourth feature is throughput: 3 clock cycles per word without arbitration. Arbitration happens when two bus masters, such as the CPU and the DMA, want the same memory or bus at the same time and one has to wait. If nothing competes, at the Red Board's 200 MHz clock, 3 cycles is about 15 ns per word, all done without CPU instructions.</a:t>
            </a:r>
          </a:p>
          <a:p>
            <a:pPr marL="0" lvl="0" indent="0" algn="l" rtl="0">
              <a:lnSpc>
                <a:spcPct val="100000"/>
              </a:lnSpc>
              <a:spcBef>
                <a:spcPts val="0"/>
              </a:spcBef>
              <a:spcAft>
                <a:spcPts val="600"/>
              </a:spcAft>
              <a:buSzPts val="1400"/>
              <a:buNone/>
            </a:pPr>
            <a:r>
              <a:rPr lang="en-US" dirty="0"/>
              <a:t>On the previous slide you saw why the DMA exists: it moves data so the CPU doesn't have to. Next comes a block diagram showing where these channels and trigger sources connect. After that, the FFT code uses DMA channel 1, triggered by the ADC, to fill sample buffers. Its interrupt is PIE group 7, interrupt 1.</a:t>
            </a:r>
          </a:p>
          <a:p>
            <a:pPr marL="0" lvl="0" indent="0" algn="l" rtl="0">
              <a:lnSpc>
                <a:spcPct val="100000"/>
              </a:lnSpc>
              <a:spcBef>
                <a:spcPts val="0"/>
              </a:spcBef>
              <a:spcAft>
                <a:spcPts val="600"/>
              </a:spcAft>
              <a:buSzPts val="1400"/>
              <a:buNone/>
            </a:pPr>
            <a:r>
              <a:rPr lang="en-US" dirty="0"/>
              <a:t>Quick check: if the DMA moves the ADC samples, what is left for the CPU to do in the DMA interrupt?</a:t>
            </a:r>
          </a:p>
        </p:txBody>
      </p:sp>
      <p:sp>
        <p:nvSpPr>
          <p:cNvPr id="116" name="Google Shape;116;p29:notes">
            <a:extLst>
              <a:ext uri="{FF2B5EF4-FFF2-40B4-BE49-F238E27FC236}">
                <a16:creationId xmlns:a16="http://schemas.microsoft.com/office/drawing/2014/main" id="{F0BAE030-4D68-2646-FBEF-EB8FC5E15D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7357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139CBB-2A97-D5FE-05A4-8D33382D1C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0E4E264-A9D0-FC20-9898-6ED95A0154E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5-1, the DMA Block Diagram from the TI reference manual for the F28379D. It turns the feature list from the previous slide into hardware: where the DMA gets its triggers and which memories and peripherals it can reach.</a:t>
            </a:r>
          </a:p>
          <a:p>
            <a:pPr marL="0" lvl="0" indent="0" algn="l" rtl="0">
              <a:lnSpc>
                <a:spcPct val="100000"/>
              </a:lnSpc>
              <a:spcBef>
                <a:spcPts val="0"/>
              </a:spcBef>
              <a:spcAft>
                <a:spcPts val="600"/>
              </a:spcAft>
              <a:buSzPts val="1400"/>
              <a:buNone/>
            </a:pPr>
            <a:r>
              <a:rPr lang="en-US" dirty="0"/>
              <a:t>The figure is symmetric. In the middle are two "DMA Trigger Source Selection" blocks, one per CPU, each configured by the registers DMACHSRCSEL1.CHx, DMACHSRCSEL2.CHx and CHx.MODE.PERINTSEL for channels x = 1 to 6. Each block feeds a DMA controller, labeled DMA CPU1 or DMA CPU2. Each controller sends its channel interrupts, DMA_CHx (1 to 6), to its own C28x CPU's PIE.</a:t>
            </a:r>
          </a:p>
          <a:p>
            <a:pPr marL="0" lvl="0" indent="0" algn="l" rtl="0">
              <a:lnSpc>
                <a:spcPct val="100000"/>
              </a:lnSpc>
              <a:spcBef>
                <a:spcPts val="0"/>
              </a:spcBef>
              <a:spcAft>
                <a:spcPts val="600"/>
              </a:spcAft>
              <a:buSzPts val="1400"/>
              <a:buNone/>
            </a:pPr>
            <a:r>
              <a:rPr lang="en-US" dirty="0"/>
              <a:t>Dashed arrows are trigger sources: ADC interrupts (ADC INT A to D, 1 to 4), sigma-delta filter flags (SDxFLTy), ePWM SOCA and SOCB (1 to 12), McBSP events, SPI TX and RX (A to C), the external interrupts XINT 1 to 5, and the CPU timers TINT 0 to 2. Solid double arrows are data paths. Four colored buses (CPU1 DMA, CPU1, CPU2 DMA, CPU2) connect the ADC wrapper and result registers, the global shared RAMs GS0 to GS15, the message RAMs, and peripherals such as DAC, CMPSS, eCAP, eQEP, SDFM, ePWM, McBSP, SPI and EMIF1.</a:t>
            </a:r>
          </a:p>
          <a:p>
            <a:pPr marL="0" lvl="0" indent="0" algn="l" rtl="0">
              <a:lnSpc>
                <a:spcPct val="100000"/>
              </a:lnSpc>
              <a:spcBef>
                <a:spcPts val="0"/>
              </a:spcBef>
              <a:spcAft>
                <a:spcPts val="600"/>
              </a:spcAft>
              <a:buSzPts val="1400"/>
              <a:buNone/>
            </a:pPr>
            <a:r>
              <a:rPr lang="en-US" dirty="0"/>
              <a:t>For our FFT, you trace one path. The ADC conversion-complete interrupt triggers DMA channel 1. That channel copies each result register into a RAM buffer, and when the buffer is full it raises DMA_CH1 to the PIE.</a:t>
            </a:r>
          </a:p>
          <a:p>
            <a:pPr marL="0" lvl="0" indent="0" algn="l" rtl="0">
              <a:lnSpc>
                <a:spcPct val="100000"/>
              </a:lnSpc>
              <a:spcBef>
                <a:spcPts val="0"/>
              </a:spcBef>
              <a:spcAft>
                <a:spcPts val="600"/>
              </a:spcAft>
              <a:buSzPts val="1400"/>
              <a:buNone/>
            </a:pPr>
            <a:r>
              <a:rPr lang="en-US" dirty="0"/>
              <a:t>A common mistake is placing the buffer in RAM the DMA cannot reach. The DMA can access the global shared GS RAMs, but not the CPU's local LS RAMs.</a:t>
            </a:r>
          </a:p>
          <a:p>
            <a:pPr marL="0" lvl="0" indent="0" algn="l" rtl="0">
              <a:lnSpc>
                <a:spcPct val="100000"/>
              </a:lnSpc>
              <a:spcBef>
                <a:spcPts val="0"/>
              </a:spcBef>
              <a:spcAft>
                <a:spcPts val="600"/>
              </a:spcAft>
              <a:buSzPts val="1400"/>
              <a:buNone/>
            </a:pPr>
            <a:r>
              <a:rPr lang="en-US" dirty="0"/>
              <a:t>That DMA_CH1 interrupt runs DMA_ISR, PIE 7.1, which you see on the next slide as the ping-pong buffer.</a:t>
            </a:r>
          </a:p>
        </p:txBody>
      </p:sp>
      <p:sp>
        <p:nvSpPr>
          <p:cNvPr id="116" name="Google Shape;116;p29:notes">
            <a:extLst>
              <a:ext uri="{FF2B5EF4-FFF2-40B4-BE49-F238E27FC236}">
                <a16:creationId xmlns:a16="http://schemas.microsoft.com/office/drawing/2014/main" id="{2F774F08-0081-1CB5-0FD8-571A84DD95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2837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DB0A1D2-65E5-9527-AAEA-B392386C15F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36FEC6-0806-0D82-3CBE-8C20CA7278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complete DMA channel 1 interrupt service routine, DMA_ISR, which runs the ping-pong buffer scheme. The comment marks it as PIE interrupt 7.1, vector address 0x000DA0.</a:t>
            </a:r>
          </a:p>
          <a:p>
            <a:pPr marL="0" lvl="0" indent="0" algn="l" rtl="0">
              <a:lnSpc>
                <a:spcPct val="100000"/>
              </a:lnSpc>
              <a:spcBef>
                <a:spcPts val="0"/>
              </a:spcBef>
              <a:spcAft>
                <a:spcPts val="600"/>
              </a:spcAft>
              <a:buSzPts val="1400"/>
              <a:buNone/>
            </a:pPr>
            <a:r>
              <a:rPr lang="en-US" dirty="0"/>
              <a:t>The first line acknowledges PIE group 7 by writing PIEACK_GROUP7 to PieCtrlRegs.PIEACK.all. If you forget this, the PIE never delivers another group 7 interrupt, and your FFT silently stops after one buffer.</a:t>
            </a:r>
          </a:p>
          <a:p>
            <a:pPr marL="0" lvl="0" indent="0" algn="l" rtl="0">
              <a:lnSpc>
                <a:spcPct val="100000"/>
              </a:lnSpc>
              <a:spcBef>
                <a:spcPts val="0"/>
              </a:spcBef>
              <a:spcAft>
                <a:spcPts val="600"/>
              </a:spcAft>
              <a:buSzPts val="1400"/>
              <a:buNone/>
            </a:pPr>
            <a:r>
              <a:rPr lang="en-US" dirty="0"/>
              <a:t>The body branches on the state variable iPingPong. When iPingPong equals 0, the comment reads "Ping buffer filling, process Pong buffer." Inside EALLOW and EDIS, which unlock and relock protected registers, the code writes the address of AdcPongBufRaw into DmaRegs.CH1.DST_ADDR_SHADOW. It sets the flag pingFFT to 1 only if DMAcount is greater than 0, so no FFT runs the first time through. It then sets iPingPong to 1.</a:t>
            </a:r>
          </a:p>
          <a:p>
            <a:pPr marL="0" lvl="0" indent="0" algn="l" rtl="0">
              <a:lnSpc>
                <a:spcPct val="100000"/>
              </a:lnSpc>
              <a:spcBef>
                <a:spcPts val="0"/>
              </a:spcBef>
              <a:spcAft>
                <a:spcPts val="600"/>
              </a:spcAft>
              <a:buSzPts val="1400"/>
              <a:buNone/>
            </a:pPr>
            <a:r>
              <a:rPr lang="en-US" dirty="0"/>
              <a:t>The else branch, "Pong buffer filling, process Ping buffer," mirrors this. It loads the address of AdcPingBufRaw into the shadow destination register, sets pongFFT to 1, and sets iPingPong back to 0. Finally, DMAcount increments on every interrupt.</a:t>
            </a:r>
          </a:p>
          <a:p>
            <a:pPr marL="0" lvl="0" indent="0" algn="l" rtl="0">
              <a:lnSpc>
                <a:spcPct val="100000"/>
              </a:lnSpc>
              <a:spcBef>
                <a:spcPts val="0"/>
              </a:spcBef>
              <a:spcAft>
                <a:spcPts val="600"/>
              </a:spcAft>
              <a:buSzPts val="1400"/>
              <a:buNone/>
            </a:pPr>
            <a:r>
              <a:rPr lang="en-US" dirty="0"/>
              <a:t>Notice that the code writes the shadow register, not the active one. All shadow registers are copied to the active registers when the DMA starts its next transfer. That means you can safely change the destination while the DMA is busy writing the current buffer.</a:t>
            </a:r>
          </a:p>
          <a:p>
            <a:pPr marL="0" lvl="0" indent="0" algn="l" rtl="0">
              <a:lnSpc>
                <a:spcPct val="100000"/>
              </a:lnSpc>
              <a:spcBef>
                <a:spcPts val="0"/>
              </a:spcBef>
              <a:spcAft>
                <a:spcPts val="600"/>
              </a:spcAft>
              <a:buSzPts val="1400"/>
              <a:buNone/>
            </a:pPr>
            <a:r>
              <a:rPr lang="en-US" dirty="0"/>
              <a:t>The ISR does no math itself. It only swaps buffers and raises flags, and the main loop runs the actual FFT. Quick check: why skip the FFT on the very first interrupt? Next, we step back and look at why ping-pong beats a single buffer.</a:t>
            </a:r>
          </a:p>
        </p:txBody>
      </p:sp>
      <p:sp>
        <p:nvSpPr>
          <p:cNvPr id="116" name="Google Shape;116;p29:notes">
            <a:extLst>
              <a:ext uri="{FF2B5EF4-FFF2-40B4-BE49-F238E27FC236}">
                <a16:creationId xmlns:a16="http://schemas.microsoft.com/office/drawing/2014/main" id="{1513B08B-7DFC-2F3B-193E-2097AEA622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6203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4078CD9-CD34-39B9-4CD7-003EDA75D496}"/>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E884537F-2956-8742-0054-A2D7AB7C8F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"Ping Pong Buffer" in large dark blue text on the orange Grainger Engineering background, which has faint hand-drawn equations and sketches as decoration.</a:t>
            </a:r>
          </a:p>
          <a:p>
            <a:pPr marL="0" lvl="0" indent="0" algn="l" rtl="0">
              <a:spcBef>
                <a:spcPts val="0"/>
              </a:spcBef>
              <a:spcAft>
                <a:spcPts val="600"/>
              </a:spcAft>
              <a:buNone/>
            </a:pPr>
            <a:r>
              <a:rPr lang="en-US" dirty="0"/>
              <a:t>You just saw the DMA interrupt code that toggles iPingPong and swaps the DMA destination address. Now we step back to the idea behind it. The next slides show why a single buffer forces sampling and processing to take turns, and how two alternating buffers let the ADC keep sampling while the CPU runs the FFT.</a:t>
            </a:r>
          </a:p>
        </p:txBody>
      </p:sp>
      <p:sp>
        <p:nvSpPr>
          <p:cNvPr id="102" name="Google Shape;102;p28:notes">
            <a:extLst>
              <a:ext uri="{FF2B5EF4-FFF2-40B4-BE49-F238E27FC236}">
                <a16:creationId xmlns:a16="http://schemas.microsoft.com/office/drawing/2014/main" id="{3199D6A4-65DD-D095-2456-9AC96D0B79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8511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56D1CA6-2B23-ED62-E3A7-332E28CE8A5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95DBAC1-A155-E140-8AAA-62A01E6F1C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problem that the ping-pong buffer solves: a single buffer. There are two flowcharts side by side, joined by a large arrow pointing from left to right to show that one phase follows the other. In each flowchart, an analog voltage feeds the ADC, the ADC feeds the DMA controller, and the DMA controller feeds a single data buffer.</a:t>
            </a:r>
          </a:p>
          <a:p>
            <a:pPr marL="0" lvl="0" indent="0" algn="l" rtl="0">
              <a:lnSpc>
                <a:spcPct val="100000"/>
              </a:lnSpc>
              <a:spcBef>
                <a:spcPts val="0"/>
              </a:spcBef>
              <a:spcAft>
                <a:spcPts val="600"/>
              </a:spcAft>
              <a:buSzPts val="1400"/>
              <a:buNone/>
            </a:pPr>
            <a:r>
              <a:rPr lang="en-US" dirty="0"/>
              <a:t>The left phase is labeled "Single Buffer Write." The DMA controller writes ADC samples into the data buffer. A faded arrow on the buffer carries the note that no data processing can occur while the buffer is being written.</a:t>
            </a:r>
          </a:p>
          <a:p>
            <a:pPr marL="0" lvl="0" indent="0" algn="l" rtl="0">
              <a:lnSpc>
                <a:spcPct val="100000"/>
              </a:lnSpc>
              <a:spcBef>
                <a:spcPts val="0"/>
              </a:spcBef>
              <a:spcAft>
                <a:spcPts val="600"/>
              </a:spcAft>
              <a:buSzPts val="1400"/>
              <a:buNone/>
            </a:pPr>
            <a:r>
              <a:rPr lang="en-US" dirty="0"/>
              <a:t>The right phase is labeled "Single Buffer Data Processing." The buffer is now full, and a solid arrow shows that data processing begins. The link from the DMA controller to the buffer is drawn as a dotted line, because the DMA controller has to wait for processing to finish.</a:t>
            </a:r>
          </a:p>
          <a:p>
            <a:pPr marL="0" lvl="0" indent="0" algn="l" rtl="0">
              <a:lnSpc>
                <a:spcPct val="100000"/>
              </a:lnSpc>
              <a:spcBef>
                <a:spcPts val="0"/>
              </a:spcBef>
              <a:spcAft>
                <a:spcPts val="600"/>
              </a:spcAft>
              <a:buSzPts val="1400"/>
              <a:buNone/>
            </a:pPr>
            <a:r>
              <a:rPr lang="en-US" dirty="0"/>
              <a:t>The key idea is that with one buffer, sampling and processing take turns. While the CPU runs the FFT, no new samples are stored, so you get gaps in your signal and lose the steady sample rate the FFT depends on.</a:t>
            </a:r>
          </a:p>
          <a:p>
            <a:pPr marL="0" lvl="0" indent="0" algn="l" rtl="0">
              <a:lnSpc>
                <a:spcPct val="100000"/>
              </a:lnSpc>
              <a:spcBef>
                <a:spcPts val="0"/>
              </a:spcBef>
              <a:spcAft>
                <a:spcPts val="600"/>
              </a:spcAft>
              <a:buSzPts val="1400"/>
              <a:buNone/>
            </a:pPr>
            <a:r>
              <a:rPr lang="en-US" dirty="0"/>
              <a:t>This connects to the ISR on the previous slide. There, you write the next buffer address into DST_ADDR_SHADOW rather than the active register. All shadow registers are copied to active registers when the next DMA transfer starts. That is why the DMA can switch buffers without stopping.</a:t>
            </a:r>
          </a:p>
          <a:p>
            <a:pPr marL="0" lvl="0" indent="0" algn="l" rtl="0">
              <a:lnSpc>
                <a:spcPct val="100000"/>
              </a:lnSpc>
              <a:spcBef>
                <a:spcPts val="0"/>
              </a:spcBef>
              <a:spcAft>
                <a:spcPts val="600"/>
              </a:spcAft>
              <a:buSzPts val="1400"/>
              <a:buNone/>
            </a:pPr>
            <a:r>
              <a:rPr lang="en-US" dirty="0"/>
              <a:t>Next, you see how alternating between two buffers keeps sampling continuous.</a:t>
            </a:r>
          </a:p>
        </p:txBody>
      </p:sp>
      <p:sp>
        <p:nvSpPr>
          <p:cNvPr id="116" name="Google Shape;116;p29:notes">
            <a:extLst>
              <a:ext uri="{FF2B5EF4-FFF2-40B4-BE49-F238E27FC236}">
                <a16:creationId xmlns:a16="http://schemas.microsoft.com/office/drawing/2014/main" id="{66D3DF22-1CDB-D220-44CE-8835BCE526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5497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C6A034B-512B-FF52-8CB1-1812EF2473C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444B81F-96DB-2390-B10A-5C9B60F22E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ping-pong buffer in action as three panels read left to right, joined by large black arrows. A small note in the corner says that if the slide is not animated, the instructor did not have time to animate it, so the three panels show the whole sequence at once.</a:t>
            </a:r>
          </a:p>
          <a:p>
            <a:pPr marL="0" lvl="0" indent="0" algn="l" rtl="0">
              <a:lnSpc>
                <a:spcPct val="100000"/>
              </a:lnSpc>
              <a:spcBef>
                <a:spcPts val="0"/>
              </a:spcBef>
              <a:spcAft>
                <a:spcPts val="600"/>
              </a:spcAft>
              <a:buSzPts val="1400"/>
              <a:buNone/>
            </a:pPr>
            <a:r>
              <a:rPr lang="en-US" dirty="0"/>
              <a:t>Every panel has the same signal chain from top to bottom: an analog voltage feeds the ADC, the ADC feeds the DMA controller, and the DMA controller branches into two orange buffers labeled Ping and Pong. A solid line marks the buffer DMA is writing to, and a dotted line marks the other one.</a:t>
            </a:r>
          </a:p>
          <a:p>
            <a:pPr marL="0" lvl="0" indent="0" algn="l" rtl="0">
              <a:lnSpc>
                <a:spcPct val="100000"/>
              </a:lnSpc>
              <a:spcBef>
                <a:spcPts val="0"/>
              </a:spcBef>
              <a:spcAft>
                <a:spcPts val="600"/>
              </a:spcAft>
              <a:buSzPts val="1400"/>
              <a:buNone/>
            </a:pPr>
            <a:r>
              <a:rPr lang="en-US" dirty="0"/>
              <a:t>In the first panel, labeled Initial State, the DMA controller writes first to the Ping buffer while the Pong buffer is empty. In the second panel, Ping is full and ready for data processing, shown by a green double-headed arrow under it, while DMA writes to Pong. In the third panel the roles swap: DMA writes to Ping again while Pong is processed. The pattern then repeats.</a:t>
            </a:r>
          </a:p>
          <a:p>
            <a:pPr marL="0" lvl="0" indent="0" algn="l" rtl="0">
              <a:lnSpc>
                <a:spcPct val="100000"/>
              </a:lnSpc>
              <a:spcBef>
                <a:spcPts val="0"/>
              </a:spcBef>
              <a:spcAft>
                <a:spcPts val="600"/>
              </a:spcAft>
              <a:buSzPts val="1400"/>
              <a:buNone/>
            </a:pPr>
            <a:r>
              <a:rPr lang="en-US" dirty="0"/>
              <a:t>This fixes the problem from the previous slide. With a single buffer, you could either sample or process, not both. Here the ADC never stops, and the CPU always has one complete buffer to run the FFT on. The constraint is that your processing must finish before DMA fills the other buffer, or you overwrite data you have not used yet.</a:t>
            </a:r>
          </a:p>
          <a:p>
            <a:pPr marL="0" lvl="0" indent="0" algn="l" rtl="0">
              <a:lnSpc>
                <a:spcPct val="100000"/>
              </a:lnSpc>
              <a:spcBef>
                <a:spcPts val="0"/>
              </a:spcBef>
              <a:spcAft>
                <a:spcPts val="600"/>
              </a:spcAft>
              <a:buSzPts val="1400"/>
              <a:buNone/>
            </a:pPr>
            <a:r>
              <a:rPr lang="en-US" dirty="0"/>
              <a:t>The idea mirrors how shadow registers work: all shadow registers are copied to active registers at a defined moment, so you prepare the next values without disturbing the ones currently in use.</a:t>
            </a:r>
          </a:p>
          <a:p>
            <a:pPr marL="0" lvl="0" indent="0" algn="l" rtl="0">
              <a:lnSpc>
                <a:spcPct val="100000"/>
              </a:lnSpc>
              <a:spcBef>
                <a:spcPts val="0"/>
              </a:spcBef>
              <a:spcAft>
                <a:spcPts val="600"/>
              </a:spcAft>
              <a:buSzPts val="1400"/>
              <a:buNone/>
            </a:pPr>
            <a:r>
              <a:rPr lang="en-US" dirty="0"/>
              <a:t>Next, you see the setup code, where EPWM7 acts as the timer that triggers the ADC.</a:t>
            </a:r>
          </a:p>
        </p:txBody>
      </p:sp>
      <p:sp>
        <p:nvSpPr>
          <p:cNvPr id="116" name="Google Shape;116;p29:notes">
            <a:extLst>
              <a:ext uri="{FF2B5EF4-FFF2-40B4-BE49-F238E27FC236}">
                <a16:creationId xmlns:a16="http://schemas.microsoft.com/office/drawing/2014/main" id="{5753F641-DA1A-A5A5-8C77-B8F3213EAF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8894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CC0DCF7-6935-BF50-6343-BE76BB252906}"/>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AC001E81-BF46-6CBF-5104-F1994CC15BB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reads "Fourier Transforms &amp; FFT Code" in dark blue on the orange Illinois background. Faint hand-drawn sketches of equations, a cube, and diagrams fill the background as decoration only.</a:t>
            </a:r>
          </a:p>
          <a:p>
            <a:pPr marL="0" lvl="0" indent="0" algn="l" rtl="0">
              <a:spcBef>
                <a:spcPts val="0"/>
              </a:spcBef>
              <a:spcAft>
                <a:spcPts val="600"/>
              </a:spcAft>
              <a:buNone/>
            </a:pPr>
            <a:r>
              <a:rPr lang="en-US" dirty="0"/>
              <a:t>You now have the ping-pong buffer idea: the DMA fills one buffer while the CPU processes the other. Next you see the setup code that makes it work. ePWM7 acts as a deterministic timer that triggers the ADC every 0.1 ms, and the DMA moves each sample into the buffers for the FFT.</a:t>
            </a:r>
          </a:p>
        </p:txBody>
      </p:sp>
      <p:sp>
        <p:nvSpPr>
          <p:cNvPr id="102" name="Google Shape;102;p28:notes">
            <a:extLst>
              <a:ext uri="{FF2B5EF4-FFF2-40B4-BE49-F238E27FC236}">
                <a16:creationId xmlns:a16="http://schemas.microsoft.com/office/drawing/2014/main" id="{5A466D58-B22B-AE20-47D9-13722C4C66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584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20CF6BF-C1D5-C5DF-BD6E-5759CCE40CB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3DD38DD-934C-45B0-F258-3951D1E543F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the setup code for the FFT example. It configures ePWM7, not to drive a motor, but as a precise timer that tells the ADC when to sample. The code sits between EALLOW and EDIS, which unlock and relock the protected configuration registers.</a:t>
            </a:r>
          </a:p>
          <a:p>
            <a:pPr marL="0" lvl="0" indent="0" algn="l" rtl="0">
              <a:lnSpc>
                <a:spcPct val="100000"/>
              </a:lnSpc>
              <a:spcBef>
                <a:spcPts val="0"/>
              </a:spcBef>
              <a:spcAft>
                <a:spcPts val="600"/>
              </a:spcAft>
              <a:buSzPts val="1400"/>
              <a:buNone/>
            </a:pPr>
            <a:r>
              <a:rPr lang="en-US" dirty="0"/>
              <a:t>Reading the code top to bottom:</a:t>
            </a:r>
          </a:p>
          <a:p>
            <a:pPr marL="0" lvl="0" indent="0" algn="l" rtl="0">
              <a:lnSpc>
                <a:spcPct val="100000"/>
              </a:lnSpc>
              <a:spcBef>
                <a:spcPts val="0"/>
              </a:spcBef>
              <a:spcAft>
                <a:spcPts val="600"/>
              </a:spcAft>
              <a:buSzPts val="1400"/>
              <a:buNone/>
            </a:pPr>
            <a:r>
              <a:rPr lang="en-US" dirty="0"/>
              <a:t>First, SOCAEN = 0 disables the start-of-conversion A signal (SOCA), and CTRMODE = 3 freezes the time-base counter. This keeps the module from firing while you change its settings.</a:t>
            </a:r>
          </a:p>
          <a:p>
            <a:pPr marL="0" lvl="0" indent="0" algn="l" rtl="0">
              <a:lnSpc>
                <a:spcPct val="100000"/>
              </a:lnSpc>
              <a:spcBef>
                <a:spcPts val="0"/>
              </a:spcBef>
              <a:spcAft>
                <a:spcPts val="600"/>
              </a:spcAft>
              <a:buSzPts val="1400"/>
              <a:buNone/>
            </a:pPr>
            <a:r>
              <a:rPr lang="en-US" dirty="0"/>
              <a:t>SOCASEL = 0x2 selects the trigger event: the counter equals the period register, PRD. SOCAPRD = 0x1 generates a SOCA pulse on every first event, so every period produces one trigger.</a:t>
            </a:r>
          </a:p>
          <a:p>
            <a:pPr marL="0" lvl="0" indent="0" algn="l" rtl="0">
              <a:lnSpc>
                <a:spcPct val="100000"/>
              </a:lnSpc>
              <a:spcBef>
                <a:spcPts val="0"/>
              </a:spcBef>
              <a:spcAft>
                <a:spcPts val="600"/>
              </a:spcAft>
              <a:buSzPts val="1400"/>
              <a:buNone/>
            </a:pPr>
            <a:r>
              <a:rPr lang="en-US" dirty="0"/>
              <a:t>TBCTR = 0 clears the counter. TBPHS = 0 and PHSEN = 0 set the phase to zero and disable phase loading, since this PWM is not synchronized to any other module.</a:t>
            </a:r>
          </a:p>
          <a:p>
            <a:pPr marL="0" lvl="0" indent="0" algn="l" rtl="0">
              <a:lnSpc>
                <a:spcPct val="100000"/>
              </a:lnSpc>
              <a:spcBef>
                <a:spcPts val="0"/>
              </a:spcBef>
              <a:spcAft>
                <a:spcPts val="600"/>
              </a:spcAft>
              <a:buSzPts val="1400"/>
              <a:buNone/>
            </a:pPr>
            <a:r>
              <a:rPr lang="en-US" dirty="0"/>
              <a:t>CLKDIV = 0 means the clock is divided by 1, so the counter runs at 50 MHz. TBPRD = 5000 gives 5000 / 50,000,000 = 0.1 ms per period. That is a 10 kHz sample rate, which puts the Nyquist frequency at 5 kHz. Strictly, up-count mode counts from 0 to TBPRD, so the period is (TBPRD+1) ticks. The difference here is negligible.</a:t>
            </a:r>
          </a:p>
          <a:p>
            <a:pPr marL="0" lvl="0" indent="0" algn="l" rtl="0">
              <a:lnSpc>
                <a:spcPct val="100000"/>
              </a:lnSpc>
              <a:spcBef>
                <a:spcPts val="0"/>
              </a:spcBef>
              <a:spcAft>
                <a:spcPts val="600"/>
              </a:spcAft>
              <a:buSzPts val="1400"/>
              <a:buNone/>
            </a:pPr>
            <a:r>
              <a:rPr lang="en-US" dirty="0"/>
              <a:t>Finally, SOCAEN = 1 re-enables SOCA, and CTRMODE = 0 unfreezes the counter in up-count mode. The comment notes that CMPA and CMPB are never set, because no PWM output pin is used.</a:t>
            </a:r>
          </a:p>
          <a:p>
            <a:pPr marL="0" lvl="0" indent="0" algn="l" rtl="0">
              <a:lnSpc>
                <a:spcPct val="100000"/>
              </a:lnSpc>
              <a:spcBef>
                <a:spcPts val="0"/>
              </a:spcBef>
              <a:spcAft>
                <a:spcPts val="600"/>
              </a:spcAft>
              <a:buSzPts val="1400"/>
              <a:buNone/>
            </a:pPr>
            <a:r>
              <a:rPr lang="en-US" dirty="0"/>
              <a:t>A common mistake is to change TBPRD and forget that the FFT frequency bins depend on this sample rate.</a:t>
            </a:r>
          </a:p>
          <a:p>
            <a:pPr marL="0" lvl="0" indent="0" algn="l" rtl="0">
              <a:lnSpc>
                <a:spcPct val="100000"/>
              </a:lnSpc>
              <a:spcBef>
                <a:spcPts val="0"/>
              </a:spcBef>
              <a:spcAft>
                <a:spcPts val="600"/>
              </a:spcAft>
              <a:buSzPts val="1400"/>
              <a:buNone/>
            </a:pPr>
            <a:r>
              <a:rPr lang="en-US" dirty="0"/>
              <a:t>The next slide configures the ADC to respond to this ePWM7 SOCA trigger.</a:t>
            </a:r>
          </a:p>
        </p:txBody>
      </p:sp>
      <p:sp>
        <p:nvSpPr>
          <p:cNvPr id="116" name="Google Shape;116;p29:notes">
            <a:extLst>
              <a:ext uri="{FF2B5EF4-FFF2-40B4-BE49-F238E27FC236}">
                <a16:creationId xmlns:a16="http://schemas.microsoft.com/office/drawing/2014/main" id="{0F61D59B-AE1F-250B-1040-AEA7CA378A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2300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E5B20CD-F785-C227-8385-6E6AB586765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166A633-7C8F-E1F0-1F21-4F21961C4C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second block of setup code, the ADC configuration. It sits between EALLOW and EDIS, which unlock and relock the protected registers, and it ends with a call to InitDma().</a:t>
            </a:r>
          </a:p>
          <a:p>
            <a:pPr marL="0" lvl="0" indent="0" algn="l" rtl="0">
              <a:lnSpc>
                <a:spcPct val="100000"/>
              </a:lnSpc>
              <a:spcBef>
                <a:spcPts val="0"/>
              </a:spcBef>
              <a:spcAft>
                <a:spcPts val="600"/>
              </a:spcAft>
              <a:buSzPts val="1400"/>
              <a:buNone/>
            </a:pPr>
            <a:r>
              <a:rPr lang="en-US" dirty="0"/>
              <a:t>The first section runs the same four lines once for each converter, ADCA, ADCB, ADCC and ADCD. PRESCALE = 6 divides the system clock by 4 to make the ADC clock. AdcSetMode selects 12-bit resolution and single-ended signal mode and also loads the factory calibration values. INTPULSEPOS = 1 makes the end-of-conversion interrupt pulse occur late, after the result has been latched into the result register. ADCPWDNZ = 1 powers up each ADC. DELAY_US(1000) then waits 1 ms so the analog circuitry can settle before you use it.</a:t>
            </a:r>
          </a:p>
          <a:p>
            <a:pPr marL="0" lvl="0" indent="0" algn="l" rtl="0">
              <a:lnSpc>
                <a:spcPct val="100000"/>
              </a:lnSpc>
              <a:spcBef>
                <a:spcPts val="0"/>
              </a:spcBef>
              <a:spcAft>
                <a:spcPts val="600"/>
              </a:spcAft>
              <a:buSzPts val="1400"/>
              <a:buNone/>
            </a:pPr>
            <a:r>
              <a:rPr lang="en-US" dirty="0"/>
              <a:t>The second section configures only ADCB, the converter used for the FFT. CHSEL = 4 makes SOC0 (start of conversion 0) convert input ADCINB4, though you can choose another channel. ACQPS = 99 sets the sample window to 99 + 1 = 100 SYSCLK cycles. At 200 MHz that is 500 ns. TRIGSEL = 0x11 selects ePWM7 SOCA as the trigger, which links this ADC to the 0.1 ms, 10 kHz timer from the previous slide. INT1SEL = 0 makes SOC0, the last conversion in the sequence, set the ADCB INT1 flag, and INT1E = 1 enables that flag. The code then clears the flag. INT1CONT = 1 makes INT1 pulse whether or not the flag has been cleared.</a:t>
            </a:r>
          </a:p>
          <a:p>
            <a:pPr marL="0" lvl="0" indent="0" algn="l" rtl="0">
              <a:lnSpc>
                <a:spcPct val="100000"/>
              </a:lnSpc>
              <a:spcBef>
                <a:spcPts val="0"/>
              </a:spcBef>
              <a:spcAft>
                <a:spcPts val="600"/>
              </a:spcAft>
              <a:buSzPts val="1400"/>
              <a:buNone/>
            </a:pPr>
            <a:r>
              <a:rPr lang="en-US" dirty="0"/>
              <a:t>INT1CONT matters here because in the DMA design no CPU interrupt routine clears the flag. Without continuous mode, the ADC raises INT1 once and then never again, and the buffer stops filling after one sample.</a:t>
            </a:r>
          </a:p>
          <a:p>
            <a:pPr marL="0" lvl="0" indent="0" algn="l" rtl="0">
              <a:lnSpc>
                <a:spcPct val="100000"/>
              </a:lnSpc>
              <a:spcBef>
                <a:spcPts val="0"/>
              </a:spcBef>
              <a:spcAft>
                <a:spcPts val="600"/>
              </a:spcAft>
              <a:buSzPts val="1400"/>
              <a:buNone/>
            </a:pPr>
            <a:r>
              <a:rPr lang="en-US" dirty="0"/>
              <a:t>Check your understanding: on the next slide, the DMA channel's trigger source is set to ADCBINT1. Why must it be ADCB INT1 specifically?</a:t>
            </a:r>
          </a:p>
        </p:txBody>
      </p:sp>
      <p:sp>
        <p:nvSpPr>
          <p:cNvPr id="116" name="Google Shape;116;p29:notes">
            <a:extLst>
              <a:ext uri="{FF2B5EF4-FFF2-40B4-BE49-F238E27FC236}">
                <a16:creationId xmlns:a16="http://schemas.microsoft.com/office/drawing/2014/main" id="{1E380E1E-85D7-2F29-9345-3B570F0BC8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6627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930ECA-12DC-9B42-EDBC-3E7374AA974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FEDAD36-A3B9-302D-10B6-4CC329924E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complete InitDma function, the third setup step after configuring ePWM7 as the sample timer and ADCB as the converter. It configures DMA channel 1 to copy ADC results into memory with no CPU involvement.</a:t>
            </a:r>
          </a:p>
          <a:p>
            <a:pPr marL="0" lvl="0" indent="0" algn="l" rtl="0">
              <a:lnSpc>
                <a:spcPct val="100000"/>
              </a:lnSpc>
              <a:spcBef>
                <a:spcPts val="0"/>
              </a:spcBef>
              <a:spcAft>
                <a:spcPts val="600"/>
              </a:spcAft>
              <a:buSzPts val="1400"/>
              <a:buNone/>
            </a:pPr>
            <a:r>
              <a:rPr lang="en-US" dirty="0"/>
              <a:t>The code runs inside EALLOW and EDIS because DMA registers are protected. First it hard-resets the whole DMA module, followed by one NOP so the reset takes effect. Setting DEBUGCTRL FREE to 1 keeps the DMA running when you halt the debugger, and channel 1 priority mode is turned off.</a:t>
            </a:r>
          </a:p>
          <a:p>
            <a:pPr marL="0" lvl="0" indent="0" algn="l" rtl="0">
              <a:lnSpc>
                <a:spcPct val="100000"/>
              </a:lnSpc>
              <a:spcBef>
                <a:spcPts val="0"/>
              </a:spcBef>
              <a:spcAft>
                <a:spcPts val="600"/>
              </a:spcAft>
              <a:buSzPts val="1400"/>
              <a:buNone/>
            </a:pPr>
            <a:r>
              <a:rPr lang="en-US" dirty="0"/>
              <a:t>CH1.MODE is set to 0x8901, binary 1000 1001 0000 0001. The comments name the set bits. CHINTE enables the channel interrupt. CONTINUOUS re-initializes the channel after each transfer. PERINTE allows a peripheral event to trigger it. The low bits select channel 1.</a:t>
            </a:r>
          </a:p>
          <a:p>
            <a:pPr marL="0" lvl="0" indent="0" algn="l" rtl="0">
              <a:lnSpc>
                <a:spcPct val="100000"/>
              </a:lnSpc>
              <a:spcBef>
                <a:spcPts val="0"/>
              </a:spcBef>
              <a:spcAft>
                <a:spcPts val="600"/>
              </a:spcAft>
              <a:buSzPts val="1400"/>
              <a:buNone/>
            </a:pPr>
            <a:r>
              <a:rPr lang="en-US" dirty="0"/>
              <a:t>The trigger source register, DMACHSRCSEL1 CH1, is set to 6, which means ADCBINT1. The long comment table lists every trigger number, such as 1 for ADCAINT1 and 48 for EPWM7SOCA. Channels 2 through 6 are set to 0, meaning none. The lock bits stay at 0, because writing a 1 locks the selection permanently until reset.</a:t>
            </a:r>
          </a:p>
          <a:p>
            <a:pPr marL="0" lvl="0" indent="0" algn="l" rtl="0">
              <a:lnSpc>
                <a:spcPct val="100000"/>
              </a:lnSpc>
              <a:spcBef>
                <a:spcPts val="0"/>
              </a:spcBef>
              <a:spcAft>
                <a:spcPts val="600"/>
              </a:spcAft>
              <a:buSzPts val="1400"/>
              <a:buNone/>
            </a:pPr>
            <a:r>
              <a:rPr lang="en-US" dirty="0"/>
              <a:t>Next come the sizes. BURSTSIZE = 0 means one 16-bit word per burst. TRANSFER_SIZE = RFFT_SIZE-1 means RFFT_SIZE bursts per transfer. Both registers store "count minus one," and forgetting the minus one is a classic off-by-one bug.</a:t>
            </a:r>
          </a:p>
          <a:p>
            <a:pPr marL="0" lvl="0" indent="0" algn="l" rtl="0">
              <a:lnSpc>
                <a:spcPct val="100000"/>
              </a:lnSpc>
              <a:spcBef>
                <a:spcPts val="0"/>
              </a:spcBef>
              <a:spcAft>
                <a:spcPts val="600"/>
              </a:spcAft>
              <a:buSzPts val="1400"/>
              <a:buNone/>
            </a:pPr>
            <a:r>
              <a:rPr lang="en-US" dirty="0"/>
              <a:t>The source address is ADCRESULT0 with a step of 0, so every burst reads the same result register. The destination is AdcPingBufRaw with a step of 1, so each sample lands in the next array element.</a:t>
            </a:r>
          </a:p>
          <a:p>
            <a:pPr marL="0" lvl="0" indent="0" algn="l" rtl="0">
              <a:lnSpc>
                <a:spcPct val="100000"/>
              </a:lnSpc>
              <a:spcBef>
                <a:spcPts val="0"/>
              </a:spcBef>
              <a:spcAft>
                <a:spcPts val="600"/>
              </a:spcAft>
              <a:buSzPts val="1400"/>
              <a:buNone/>
            </a:pPr>
            <a:r>
              <a:rPr lang="en-US" dirty="0"/>
              <a:t>CONTROL = 0x0091 does three things: ERRCLR clears any sync error, PERINTCLR clears a stale trigger, and RUN starts the channel.</a:t>
            </a:r>
          </a:p>
          <a:p>
            <a:pPr marL="0" lvl="0" indent="0" algn="l" rtl="0">
              <a:lnSpc>
                <a:spcPct val="100000"/>
              </a:lnSpc>
              <a:spcBef>
                <a:spcPts val="0"/>
              </a:spcBef>
              <a:spcAft>
                <a:spcPts val="600"/>
              </a:spcAft>
              <a:buSzPts val="1400"/>
              <a:buNone/>
            </a:pPr>
            <a:r>
              <a:rPr lang="en-US" dirty="0"/>
              <a:t>Finally, PIEIER7 INTx1 and IER |= M_INT7 enable DINTCH1, so the CPU is interrupted once the buffer is full.</a:t>
            </a:r>
          </a:p>
          <a:p>
            <a:pPr marL="0" lvl="0" indent="0" algn="l" rtl="0">
              <a:lnSpc>
                <a:spcPct val="100000"/>
              </a:lnSpc>
              <a:spcBef>
                <a:spcPts val="0"/>
              </a:spcBef>
              <a:spcAft>
                <a:spcPts val="600"/>
              </a:spcAft>
              <a:buSzPts val="1400"/>
              <a:buNone/>
            </a:pPr>
            <a:r>
              <a:rPr lang="en-US" dirty="0"/>
              <a:t>Quick check: why is the source step 0 but the destination step 1?</a:t>
            </a:r>
          </a:p>
        </p:txBody>
      </p:sp>
      <p:sp>
        <p:nvSpPr>
          <p:cNvPr id="116" name="Google Shape;116;p29:notes">
            <a:extLst>
              <a:ext uri="{FF2B5EF4-FFF2-40B4-BE49-F238E27FC236}">
                <a16:creationId xmlns:a16="http://schemas.microsoft.com/office/drawing/2014/main" id="{3E194D00-89C6-15CA-0270-29F0CC706C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2539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1A6478EA-B86C-2AA7-6FF7-C205630DD4D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0E18C18B-1F7A-D4BA-3464-15BEDD8F91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single sentence in large white text on the dark blue course background, which has faint hand-drawn equations and diagrams as decoration. It reads: "All that's really happening is that we use ePWM as a deterministic timer to trigger the ADC, which then feeds into the DMA until the buffer is populated!"</a:t>
            </a:r>
          </a:p>
          <a:p>
            <a:pPr marL="0" lvl="0" indent="0" algn="l" rtl="0">
              <a:spcBef>
                <a:spcPts val="0"/>
              </a:spcBef>
              <a:spcAft>
                <a:spcPts val="600"/>
              </a:spcAft>
              <a:buNone/>
            </a:pPr>
            <a:r>
              <a:rPr lang="en-US" dirty="0"/>
              <a:t>After two slides of dense register code, this is the one-sentence summary. The setup is a hardware chain with three links. First, an ePWM module counts up to its period and then generates a start-of-conversion trigger. Here we are not using it to drive a motor; it is just a precise clock. Second, that trigger starts the ADCB conversion we configured in SOC0. When the conversion finishes, the ADC raises ADCBINT1. Third, DMA channel 1 uses ADCBINT1 as its trigger, which is source 6 in DMACHSRCSEL1. On each trigger it copies the new result into the ping or pong buffer. When a buffer is full, the DMA interrupt fires, and the main loop sees pingFFT or pongFFT set.</a:t>
            </a:r>
          </a:p>
          <a:p>
            <a:pPr marL="0" lvl="0" indent="0" algn="l" rtl="0">
              <a:spcBef>
                <a:spcPts val="0"/>
              </a:spcBef>
              <a:spcAft>
                <a:spcPts val="600"/>
              </a:spcAft>
              <a:buNone/>
            </a:pPr>
            <a:r>
              <a:rPr lang="en-US" dirty="0"/>
              <a:t>"Deterministic" is the key word. The FFT assumes the samples are evenly spaced in time. Because hardware sets the sample period, software timing jitter never enters the data, and the CPU is free to compute the FFT while new samples arrive.</a:t>
            </a:r>
          </a:p>
          <a:p>
            <a:pPr marL="0" lvl="0" indent="0" algn="l" rtl="0">
              <a:spcBef>
                <a:spcPts val="0"/>
              </a:spcBef>
              <a:spcAft>
                <a:spcPts val="600"/>
              </a:spcAft>
              <a:buNone/>
            </a:pPr>
            <a:r>
              <a:rPr lang="en-US" dirty="0"/>
              <a:t>A common mistake is changing the ePWM period without updating samplePeriod (0.0001 s, which is 10 kHz) on the next slide. If they disagree, your frequency bins are labelled wrong.</a:t>
            </a:r>
          </a:p>
          <a:p>
            <a:pPr marL="0" lvl="0" indent="0" algn="l" rtl="0">
              <a:spcBef>
                <a:spcPts val="0"/>
              </a:spcBef>
              <a:spcAft>
                <a:spcPts val="600"/>
              </a:spcAft>
              <a:buNone/>
            </a:pPr>
            <a:r>
              <a:rPr lang="en-US" dirty="0"/>
              <a:t>Next, we look at the main loop that consumes these buffers.</a:t>
            </a:r>
          </a:p>
        </p:txBody>
      </p:sp>
      <p:sp>
        <p:nvSpPr>
          <p:cNvPr id="262" name="Google Shape;262;p37:notes">
            <a:extLst>
              <a:ext uri="{FF2B5EF4-FFF2-40B4-BE49-F238E27FC236}">
                <a16:creationId xmlns:a16="http://schemas.microsoft.com/office/drawing/2014/main" id="{F67C5CB2-5488-F6BA-4EE3-5AA4A3C067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66826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4FDCE0A-72DE-390A-072F-226B0C1D7F2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CCCE7B9-5550-9223-F5F2-556E5944048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first part of main, the one-time setup that runs before the infinite loop. It is C code in a monospace font. It declares a 16-bit integer loop counter i = 0 and a float samplePeriod = 0.0001, which is 0.1 milliseconds, or a 10 kHz sampling rate. That matches the ePWM trigger you configured on the earlier setup slides.</a:t>
            </a:r>
          </a:p>
          <a:p>
            <a:pPr marL="0" lvl="0" indent="0" algn="l" rtl="0">
              <a:lnSpc>
                <a:spcPct val="100000"/>
              </a:lnSpc>
              <a:spcBef>
                <a:spcPts val="0"/>
              </a:spcBef>
              <a:spcAft>
                <a:spcPts val="600"/>
              </a:spcAft>
              <a:buSzPts val="1400"/>
              <a:buNone/>
            </a:pPr>
            <a:r>
              <a:rPr lang="en-US" dirty="0"/>
              <a:t>Next, a for loop sets every element of fft_input, from index 0 to RFFT_SIZE minus 1, to 0.0f. The code then fills in the FFT handle, hnd_rfft. This is a pointer to the configuration structure that TI's C2000 floating-point FFT library uses. FFTSize is set to RFFT_SIZE, 1024 points in our case. FFTStages is set to RFFT_STAGES, the number of butterfly stages, which is log2 of the size, so 10 for 1024. InBuf points to fft_input, OutBuf points to test_output, and MagBuf points to pwrSpec, where the magnitude spectrum will go.</a:t>
            </a:r>
          </a:p>
          <a:p>
            <a:pPr marL="0" lvl="0" indent="0" algn="l" rtl="0">
              <a:lnSpc>
                <a:spcPct val="100000"/>
              </a:lnSpc>
              <a:spcBef>
                <a:spcPts val="0"/>
              </a:spcBef>
              <a:spcAft>
                <a:spcPts val="600"/>
              </a:spcAft>
              <a:buSzPts val="1400"/>
              <a:buNone/>
            </a:pPr>
            <a:r>
              <a:rPr lang="en-US" dirty="0"/>
              <a:t>CosSinBuf points to RFFTF32Coef, the twiddle factor table. Twiddle factors are the precomputed cosine and sine values, cos(2*pi*k/N) and sin(2*pi*k/N), that the FFT multiplies by at each stage. RFFT_f32_sincostable fills this table once at startup, so the loop never recomputes trigonometry.</a:t>
            </a:r>
          </a:p>
          <a:p>
            <a:pPr marL="0" lvl="0" indent="0" algn="l" rtl="0">
              <a:lnSpc>
                <a:spcPct val="100000"/>
              </a:lnSpc>
              <a:spcBef>
                <a:spcPts val="0"/>
              </a:spcBef>
              <a:spcAft>
                <a:spcPts val="600"/>
              </a:spcAft>
              <a:buSzPts val="1400"/>
              <a:buNone/>
            </a:pPr>
            <a:r>
              <a:rPr lang="en-US" dirty="0"/>
              <a:t>Finally, two loops zero test_output and pwrSpec. Notice the second loop uses i &lt;= RFFT_SIZE/2. A real N-point FFT produces N/2 + 1 unique frequency bins, from DC up to the Nyquist frequency. A common mistake is to declare pwrSpec with only N/2 elements, which overruns the array by one.</a:t>
            </a:r>
          </a:p>
          <a:p>
            <a:pPr marL="0" lvl="0" indent="0" algn="l" rtl="0">
              <a:lnSpc>
                <a:spcPct val="100000"/>
              </a:lnSpc>
              <a:spcBef>
                <a:spcPts val="0"/>
              </a:spcBef>
              <a:spcAft>
                <a:spcPts val="600"/>
              </a:spcAft>
              <a:buSzPts val="1400"/>
              <a:buNone/>
            </a:pPr>
            <a:r>
              <a:rPr lang="en-US" dirty="0"/>
              <a:t>With the handle configured, the next slide shows the while loop that fills fft_input from the ping or pong buffer and runs the FFT.</a:t>
            </a:r>
          </a:p>
        </p:txBody>
      </p:sp>
      <p:sp>
        <p:nvSpPr>
          <p:cNvPr id="116" name="Google Shape;116;p29:notes">
            <a:extLst>
              <a:ext uri="{FF2B5EF4-FFF2-40B4-BE49-F238E27FC236}">
                <a16:creationId xmlns:a16="http://schemas.microsoft.com/office/drawing/2014/main" id="{DE96441E-8104-5C71-9BD3-A15217F21A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3159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C44DC48-340E-1781-F39D-458066F911E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4350DE-DEDC-74C0-C595-124FD964CE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main loop of the FFT program, the part that runs after the setup on the previous slide. Inside while(1), the code checks whether pingFFT or pongFFT equals 1. These flags mean the DMA has finished filling one half of the ping-pong buffer.</a:t>
            </a:r>
          </a:p>
          <a:p>
            <a:pPr marL="0" lvl="0" indent="0" algn="l" rtl="0">
              <a:lnSpc>
                <a:spcPct val="100000"/>
              </a:lnSpc>
              <a:spcBef>
                <a:spcPts val="0"/>
              </a:spcBef>
              <a:spcAft>
                <a:spcPts val="600"/>
              </a:spcAft>
              <a:buSzPts val="1400"/>
              <a:buNone/>
            </a:pPr>
            <a:r>
              <a:rPr lang="en-US" dirty="0"/>
              <a:t>If pingFFT is set, the code clears the flag and copies all RFFT_SIZE samples from AdcPingBufRaw into fft_input. Each sample is scaled as AdcPingBufRaw[i]*3.0/4095.0, which converts the 12-bit ADC count (0 to 4095) into volts over the 3.0 V range. If pongFFT is set instead, the same copy and scaling are done from AdcPongBufRaw.</a:t>
            </a:r>
          </a:p>
          <a:p>
            <a:pPr marL="0" lvl="0" indent="0" algn="l" rtl="0">
              <a:lnSpc>
                <a:spcPct val="100000"/>
              </a:lnSpc>
              <a:spcBef>
                <a:spcPts val="0"/>
              </a:spcBef>
              <a:spcAft>
                <a:spcPts val="600"/>
              </a:spcAft>
              <a:buSzPts val="1400"/>
              <a:buNone/>
            </a:pPr>
            <a:r>
              <a:rPr lang="en-US" dirty="0"/>
              <a:t>The code then calls RFFT_f32(hnd_rfft) to compute the real FFT, and RFFT_f32_mag_TMU0(hnd_rfft) to compute the magnitude spectrum into pwrSpec.</a:t>
            </a:r>
          </a:p>
          <a:p>
            <a:pPr marL="0" lvl="0" indent="0" algn="l" rtl="0">
              <a:lnSpc>
                <a:spcPct val="100000"/>
              </a:lnSpc>
              <a:spcBef>
                <a:spcPts val="0"/>
              </a:spcBef>
              <a:spcAft>
                <a:spcPts val="600"/>
              </a:spcAft>
              <a:buSzPts val="1400"/>
              <a:buNone/>
            </a:pPr>
            <a:r>
              <a:rPr lang="en-US" dirty="0"/>
              <a:t>Finally, it resets maxpwr and maxpwrindex to zero and searches from i = 5 up to RFFT_SIZE/2 for the largest bin. Starting at 5 ignores the DC bias and the lowest frequencies. The search stops at N/2 because a real signal's spectrum above Nyquist is a mirror image. To turn the peak index into a frequency, use f = maxpwrindex * fs / N. With a 0.1 ms sample period, fs = 10 kHz and N = 1024, so each bin is about 9.77 Hz wide.</a:t>
            </a:r>
          </a:p>
          <a:p>
            <a:pPr marL="0" lvl="0" indent="0" algn="l" rtl="0">
              <a:lnSpc>
                <a:spcPct val="100000"/>
              </a:lnSpc>
              <a:spcBef>
                <a:spcPts val="0"/>
              </a:spcBef>
              <a:spcAft>
                <a:spcPts val="600"/>
              </a:spcAft>
              <a:buSzPts val="1400"/>
              <a:buNone/>
            </a:pPr>
            <a:r>
              <a:rPr lang="en-US" dirty="0"/>
              <a:t>Why put this in main and not in an interrupt? We don't care that the FFT takes a bit longer and gets interrupted, so it goes in the main loop. Time-critical interrupts can preempt it without harm.</a:t>
            </a:r>
          </a:p>
          <a:p>
            <a:pPr marL="0" lvl="0" indent="0" algn="l" rtl="0">
              <a:lnSpc>
                <a:spcPct val="100000"/>
              </a:lnSpc>
              <a:spcBef>
                <a:spcPts val="0"/>
              </a:spcBef>
              <a:spcAft>
                <a:spcPts val="600"/>
              </a:spcAft>
              <a:buSzPts val="1400"/>
              <a:buNone/>
            </a:pPr>
            <a:r>
              <a:rPr lang="en-US" dirty="0"/>
              <a:t>A common mistake is forgetting to declare pingFFT and pongFFT as volatile. They are set inside an ISR, so without volatile the compiler may never see them change.</a:t>
            </a:r>
          </a:p>
          <a:p>
            <a:pPr marL="0" lvl="0" indent="0" algn="l" rtl="0">
              <a:lnSpc>
                <a:spcPct val="100000"/>
              </a:lnSpc>
              <a:spcBef>
                <a:spcPts val="0"/>
              </a:spcBef>
              <a:spcAft>
                <a:spcPts val="600"/>
              </a:spcAft>
              <a:buSzPts val="1400"/>
              <a:buNone/>
            </a:pPr>
            <a:r>
              <a:rPr lang="en-US" dirty="0"/>
              <a:t>Next, we look at how often this whole pipeline can actually run.</a:t>
            </a:r>
          </a:p>
        </p:txBody>
      </p:sp>
      <p:sp>
        <p:nvSpPr>
          <p:cNvPr id="116" name="Google Shape;116;p29:notes">
            <a:extLst>
              <a:ext uri="{FF2B5EF4-FFF2-40B4-BE49-F238E27FC236}">
                <a16:creationId xmlns:a16="http://schemas.microsoft.com/office/drawing/2014/main" id="{64D1DACF-DB78-CBE6-DD7D-0C767D9D48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91017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A83C62-26BF-516E-C0AB-B981CCB01D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6337985-6CAC-D596-AA03-E910A60738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"FFT Code." It works out how often our FFT pipeline produces a new result. The ePWM triggers the ADC start-of-conversion A, SOCA, every 0.1 ms, and the FFT needs 1024 samples. So filling one buffer takes 1024 * 0.1 ms = 102.4 ms. The slide concludes that the full FFT pipeline runs at approximately 10 Hz.</a:t>
            </a:r>
          </a:p>
          <a:p>
            <a:pPr marL="0" lvl="0" indent="0" algn="l" rtl="0">
              <a:lnSpc>
                <a:spcPct val="100000"/>
              </a:lnSpc>
              <a:spcBef>
                <a:spcPts val="0"/>
              </a:spcBef>
              <a:spcAft>
                <a:spcPts val="600"/>
              </a:spcAft>
              <a:buSzPts val="1400"/>
              <a:buNone/>
            </a:pPr>
            <a:r>
              <a:rPr lang="en-US" dirty="0"/>
              <a:t>Here is where that number comes from. A sample period of 0.1 ms is a sampling frequency of fs = 1 / 0.0001 s = 10,000 Hz. One new spectrum arrives each time a buffer fills, so the update rate is 1 / 0.1024 s, about 9.77 Hz, which rounds to 10 Hz. The FFT math itself is fast compared with this. The bottleneck is waiting for 1024 samples to arrive.</a:t>
            </a:r>
          </a:p>
          <a:p>
            <a:pPr marL="0" lvl="0" indent="0" algn="l" rtl="0">
              <a:lnSpc>
                <a:spcPct val="100000"/>
              </a:lnSpc>
              <a:spcBef>
                <a:spcPts val="0"/>
              </a:spcBef>
              <a:spcAft>
                <a:spcPts val="600"/>
              </a:spcAft>
              <a:buSzPts val="1400"/>
              <a:buNone/>
            </a:pPr>
            <a:r>
              <a:rPr lang="en-US" dirty="0"/>
              <a:t>The ping-pong buffer from the previous slides matters here. While the DMA fills one buffer, the main loop processes the other. That gives you a 102.4 ms budget for the copy, RFFT_f32, the magnitude calculation and the peak search. If your processing ever takes longer, you start missing buffers.</a:t>
            </a:r>
          </a:p>
          <a:p>
            <a:pPr marL="0" lvl="0" indent="0" algn="l" rtl="0">
              <a:lnSpc>
                <a:spcPct val="100000"/>
              </a:lnSpc>
              <a:spcBef>
                <a:spcPts val="0"/>
              </a:spcBef>
              <a:spcAft>
                <a:spcPts val="600"/>
              </a:spcAft>
              <a:buSzPts val="1400"/>
              <a:buNone/>
            </a:pPr>
            <a:r>
              <a:rPr lang="en-US" dirty="0"/>
              <a:t>The same two numbers also set the frequency resolution: fs / N = 10000 / 1024, about 9.77 Hz per bin. To convert the peak index from the main loop into hertz, use f = maxpwrindex * fs / N. That loop starts at i = 5, so it ignores everything below about 49 Hz. The highest frequency you can detect is fs / 2 = 5 kHz, the Nyquist frequency, which returns later in this lecture.</a:t>
            </a:r>
          </a:p>
          <a:p>
            <a:pPr marL="0" lvl="0" indent="0" algn="l" rtl="0">
              <a:lnSpc>
                <a:spcPct val="100000"/>
              </a:lnSpc>
              <a:spcBef>
                <a:spcPts val="0"/>
              </a:spcBef>
              <a:spcAft>
                <a:spcPts val="600"/>
              </a:spcAft>
              <a:buSzPts val="1400"/>
              <a:buNone/>
            </a:pPr>
            <a:r>
              <a:rPr lang="en-US" dirty="0"/>
              <a:t>Quick check: if you halved the sample period to 0.05 ms, what would happen to the update rate and to the bin width?</a:t>
            </a:r>
          </a:p>
          <a:p>
            <a:pPr marL="0" lvl="0" indent="0" algn="l" rtl="0">
              <a:lnSpc>
                <a:spcPct val="100000"/>
              </a:lnSpc>
              <a:spcBef>
                <a:spcPts val="0"/>
              </a:spcBef>
              <a:spcAft>
                <a:spcPts val="600"/>
              </a:spcAft>
              <a:buSzPts val="1400"/>
              <a:buNone/>
            </a:pPr>
            <a:r>
              <a:rPr lang="en-US" dirty="0"/>
              <a:t>The FFT tells you which frequencies are in a signal. Next, FIR filters let you remove the frequencies you don't want.</a:t>
            </a:r>
          </a:p>
        </p:txBody>
      </p:sp>
      <p:sp>
        <p:nvSpPr>
          <p:cNvPr id="116" name="Google Shape;116;p29:notes">
            <a:extLst>
              <a:ext uri="{FF2B5EF4-FFF2-40B4-BE49-F238E27FC236}">
                <a16:creationId xmlns:a16="http://schemas.microsoft.com/office/drawing/2014/main" id="{78E516BA-C090-7997-A0F7-FE0B8BECF1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9403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C99B882-DD10-F4F8-7021-B7E39CBCF04E}"/>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47E4E7F-92E3-FB0E-4C51-5C776484FD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"FIR Filters" in large dark blue text on the orange Illinois background, with faint hand-drawn equations and diagrams as decoration.</a:t>
            </a:r>
          </a:p>
          <a:p>
            <a:pPr marL="0" lvl="0" indent="0" algn="l" rtl="0">
              <a:spcBef>
                <a:spcPts val="0"/>
              </a:spcBef>
              <a:spcAft>
                <a:spcPts val="600"/>
              </a:spcAft>
              <a:buNone/>
            </a:pPr>
            <a:r>
              <a:rPr lang="en-US" dirty="0"/>
              <a:t>You just built the full FFT pipeline: ePWM triggers the ADC, DMA fills ping-pong buffers, and you get a spectrum about 10 times per second. The FFT shows you which frequencies are in a signal. Now you learn to remove the ones you don't want. You start with a simple question: how would you smooth a noisy sensor reading?</a:t>
            </a:r>
          </a:p>
        </p:txBody>
      </p:sp>
      <p:sp>
        <p:nvSpPr>
          <p:cNvPr id="102" name="Google Shape;102;p28:notes">
            <a:extLst>
              <a:ext uri="{FF2B5EF4-FFF2-40B4-BE49-F238E27FC236}">
                <a16:creationId xmlns:a16="http://schemas.microsoft.com/office/drawing/2014/main" id="{AA0C6B37-74E6-DF53-C525-EF360D352E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52081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1D20B4-48FC-B213-C3C2-E5E012EEB35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BD0234B-FC2D-E80A-3A49-F3F45CD0C4B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the FIR filter section with a motivating example. It contains only text under the title "FIR Filter," with no figures. It describes a robot with an analog distance sensor wired into the ADC. Instead of a smooth reading saying the wall is exactly 10 cm away, the ADC output is noisy. The slide asks how you would intuitively smooth that data, thinking simple, and answers: take the average of the last 5 points, and the noise and spikes attenuate.</a:t>
            </a:r>
          </a:p>
          <a:p>
            <a:pPr marL="0" lvl="0" indent="0" algn="l" rtl="0">
              <a:lnSpc>
                <a:spcPct val="100000"/>
              </a:lnSpc>
              <a:spcBef>
                <a:spcPts val="0"/>
              </a:spcBef>
              <a:spcAft>
                <a:spcPts val="600"/>
              </a:spcAft>
              <a:buSzPts val="1400"/>
              <a:buNone/>
            </a:pPr>
            <a:r>
              <a:rPr lang="en-US" dirty="0"/>
              <a:t>We just spent the previous slides using the FFT to see which frequencies are in a signal. Now we want to remove the unwanted ones, and the simplest tool is one you already know: averaging.</a:t>
            </a:r>
          </a:p>
          <a:p>
            <a:pPr marL="0" lvl="0" indent="0" algn="l" rtl="0">
              <a:lnSpc>
                <a:spcPct val="100000"/>
              </a:lnSpc>
              <a:spcBef>
                <a:spcPts val="0"/>
              </a:spcBef>
              <a:spcAft>
                <a:spcPts val="600"/>
              </a:spcAft>
              <a:buSzPts val="1400"/>
              <a:buNone/>
            </a:pPr>
            <a:r>
              <a:rPr lang="en-US" dirty="0"/>
              <a:t>Before reading the answer, pause and think about what you would do. Most people suggest averaging, and that instinct is exactly right. Random noise pushes some samples above 10 cm and some below, so when you add five samples together those errors partly cancel. The true distance, which changes slowly, survives. A single spike gets divided by 5, so a 5 cm glitch shows up as only about a 1 cm bump. This is called a moving average because the five-sample window slides forward each time a new ADC sample arrives.</a:t>
            </a:r>
          </a:p>
          <a:p>
            <a:pPr marL="0" lvl="0" indent="0" algn="l" rtl="0">
              <a:lnSpc>
                <a:spcPct val="100000"/>
              </a:lnSpc>
              <a:spcBef>
                <a:spcPts val="0"/>
              </a:spcBef>
              <a:spcAft>
                <a:spcPts val="600"/>
              </a:spcAft>
              <a:buSzPts val="1400"/>
              <a:buNone/>
            </a:pPr>
            <a:r>
              <a:rPr lang="en-US" dirty="0"/>
              <a:t>Notice the slide says "attenuate," not "eliminate." Spikes are reduced, not removed. Averaging also has a cost: the output responds late when the wall distance really changes. A quick check for you: what happens to that lag if you average 50 points instead of 5?</a:t>
            </a:r>
          </a:p>
          <a:p>
            <a:pPr marL="0" lvl="0" indent="0" algn="l" rtl="0">
              <a:lnSpc>
                <a:spcPct val="100000"/>
              </a:lnSpc>
              <a:spcBef>
                <a:spcPts val="0"/>
              </a:spcBef>
              <a:spcAft>
                <a:spcPts val="600"/>
              </a:spcAft>
              <a:buSzPts val="1400"/>
              <a:buNone/>
            </a:pPr>
            <a:r>
              <a:rPr lang="en-US" dirty="0"/>
              <a:t>On the next slide we write this average as an equation and see that it is your first FIR filter.</a:t>
            </a:r>
          </a:p>
        </p:txBody>
      </p:sp>
      <p:sp>
        <p:nvSpPr>
          <p:cNvPr id="116" name="Google Shape;116;p29:notes">
            <a:extLst>
              <a:ext uri="{FF2B5EF4-FFF2-40B4-BE49-F238E27FC236}">
                <a16:creationId xmlns:a16="http://schemas.microsoft.com/office/drawing/2014/main" id="{DE500C58-0594-77BB-AFFB-2CDD0095A9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72088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F000F68-4270-D9B5-11DA-FCB0F2228B5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78A9B25-083F-2462-3392-F527FD1D22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intuition from the last slide, "average the last five readings," into an equation. The text reads: mathematically, at our current time step n, our filtered output y[n], based on our noisy input x[n], looks like this. The equation reads "y of n equals one fifth x of n, plus one fifth x of n minus 1, plus one fifth x of n minus 2, plus one fifth x of n minus 3, plus one fifth x of n minus 4." In plain text: y[n] = (1/5)*x[n] + (1/5)*x[n-1] + (1/5)*x[n-2] + (1/5)*x[n-3] + (1/5)*x[n-4]. Below it the slide says: without realizing it, you have just designed your first Finite Impulse Response (FIR) filter.</a:t>
            </a:r>
          </a:p>
          <a:p>
            <a:pPr marL="0" lvl="0" indent="0" algn="l" rtl="0">
              <a:lnSpc>
                <a:spcPct val="100000"/>
              </a:lnSpc>
              <a:spcBef>
                <a:spcPts val="0"/>
              </a:spcBef>
              <a:spcAft>
                <a:spcPts val="600"/>
              </a:spcAft>
              <a:buSzPts val="1400"/>
              <a:buNone/>
            </a:pPr>
            <a:r>
              <a:rPr lang="en-US" dirty="0"/>
              <a:t>The square-bracket notation means discrete samples. x[n] is the ADC reading you just took, and x[n-1] is the reading from one sample period earlier. If the ADC runs at 1 kHz, x[n-4] is 4 ms old. Each output is a weighted sum of the current reading and the four before it. To compute it on the Red Board, you must keep those past readings in memory.</a:t>
            </a:r>
          </a:p>
          <a:p>
            <a:pPr marL="0" lvl="0" indent="0" algn="l" rtl="0">
              <a:lnSpc>
                <a:spcPct val="100000"/>
              </a:lnSpc>
              <a:spcBef>
                <a:spcPts val="0"/>
              </a:spcBef>
              <a:spcAft>
                <a:spcPts val="600"/>
              </a:spcAft>
              <a:buSzPts val="1400"/>
              <a:buNone/>
            </a:pPr>
            <a:r>
              <a:rPr lang="en-US" dirty="0"/>
              <a:t>Why is it called "finite impulse response"? Feed in a single spike: x = 1 at one instant and 0 everywhere else. The output is 1/5 for exactly five samples and then returns to zero. The response to an impulse lasts a finite number of samples, set by how many terms are in the sum.</a:t>
            </a:r>
          </a:p>
          <a:p>
            <a:pPr marL="0" lvl="0" indent="0" algn="l" rtl="0">
              <a:lnSpc>
                <a:spcPct val="100000"/>
              </a:lnSpc>
              <a:spcBef>
                <a:spcPts val="0"/>
              </a:spcBef>
              <a:spcAft>
                <a:spcPts val="600"/>
              </a:spcAft>
              <a:buSzPts val="1400"/>
              <a:buNone/>
            </a:pPr>
            <a:r>
              <a:rPr lang="en-US" dirty="0"/>
              <a:t>Quick check: if the wall jumps from 10 cm to 20 cm in one step, how many samples pass before y[n] reads 20 cm? The answer is five. That lag hints at the delay we discuss shortly.</a:t>
            </a:r>
          </a:p>
          <a:p>
            <a:pPr marL="0" lvl="0" indent="0" algn="l" rtl="0">
              <a:lnSpc>
                <a:spcPct val="100000"/>
              </a:lnSpc>
              <a:spcBef>
                <a:spcPts val="0"/>
              </a:spcBef>
              <a:spcAft>
                <a:spcPts val="600"/>
              </a:spcAft>
              <a:buSzPts val="1400"/>
              <a:buNone/>
            </a:pPr>
            <a:r>
              <a:rPr lang="en-US" dirty="0"/>
              <a:t>Next, notice the structure: weights times a history of samples. We generalize that pattern into the FIR filter equation.</a:t>
            </a:r>
          </a:p>
        </p:txBody>
      </p:sp>
      <p:sp>
        <p:nvSpPr>
          <p:cNvPr id="116" name="Google Shape;116;p29:notes">
            <a:extLst>
              <a:ext uri="{FF2B5EF4-FFF2-40B4-BE49-F238E27FC236}">
                <a16:creationId xmlns:a16="http://schemas.microsoft.com/office/drawing/2014/main" id="{2F6AD43E-F955-B52E-57AA-EEB56C2C5F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5042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1ECA547-EC23-4812-217F-BE52FB13C2E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0076270-7264-6E56-A5D7-7CECB6893B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takes the 5-point moving average from the previous slide and generalizes it into the standard FIR filter equation.</a:t>
            </a:r>
          </a:p>
          <a:p>
            <a:pPr marL="0" lvl="0" indent="0" algn="l" rtl="0">
              <a:lnSpc>
                <a:spcPct val="100000"/>
              </a:lnSpc>
              <a:spcBef>
                <a:spcPts val="0"/>
              </a:spcBef>
              <a:spcAft>
                <a:spcPts val="600"/>
              </a:spcAft>
              <a:buSzPts val="1400"/>
              <a:buNone/>
            </a:pPr>
            <a:r>
              <a:rPr lang="en-US" dirty="0"/>
              <a:t>The slide first points out the structure of the moving average. It has a set of weights, and in that case every weight was one fifth. Those weights multiply a history of states, which are your current sensor reading and your past ones. It then says this idea generalizes into the fundamental equation of an FIR filter of order M, shown centered on the slide: y[n] = sum from k = 0 to M of b_k * x[n-k]. In words, the output y at sample n equals the sum, over k from zero to M, of coefficient b sub k times the input x at sample n minus k. The final line says b_k represents the filter coefficients, the "weights."</a:t>
            </a:r>
          </a:p>
          <a:p>
            <a:pPr marL="0" lvl="0" indent="0" algn="l" rtl="0">
              <a:lnSpc>
                <a:spcPct val="100000"/>
              </a:lnSpc>
              <a:spcBef>
                <a:spcPts val="0"/>
              </a:spcBef>
              <a:spcAft>
                <a:spcPts val="600"/>
              </a:spcAft>
              <a:buSzPts val="1400"/>
              <a:buNone/>
            </a:pPr>
            <a:r>
              <a:rPr lang="en-US" dirty="0"/>
              <a:t>Here is how to read it. The index k counts how many samples back you look. When k = 0 you use the newest reading, x[n]. When k = M you use the oldest reading the filter remembers, x[n-M].</a:t>
            </a:r>
          </a:p>
          <a:p>
            <a:pPr marL="0" lvl="0" indent="0" algn="l" rtl="0">
              <a:lnSpc>
                <a:spcPct val="100000"/>
              </a:lnSpc>
              <a:spcBef>
                <a:spcPts val="0"/>
              </a:spcBef>
              <a:spcAft>
                <a:spcPts val="600"/>
              </a:spcAft>
              <a:buSzPts val="1400"/>
              <a:buNone/>
            </a:pPr>
            <a:r>
              <a:rPr lang="en-US" dirty="0"/>
              <a:t>The moving average is the special case M = 4 with every b_k = 1/5. Be careful with the counting: a filter of order M uses M+1 coefficients, also called taps. So "order 4" means five points, not four. This off-by-one error shows up often when you size arrays in C on the Red Board.</a:t>
            </a:r>
          </a:p>
          <a:p>
            <a:pPr marL="0" lvl="0" indent="0" algn="l" rtl="0">
              <a:lnSpc>
                <a:spcPct val="100000"/>
              </a:lnSpc>
              <a:spcBef>
                <a:spcPts val="0"/>
              </a:spcBef>
              <a:spcAft>
                <a:spcPts val="600"/>
              </a:spcAft>
              <a:buSzPts val="1400"/>
              <a:buNone/>
            </a:pPr>
            <a:r>
              <a:rPr lang="en-US" dirty="0"/>
              <a:t>The name "finite impulse response" comes from what happens if you feed in a single spike. It affects the output for only M+1 samples and then disappears.</a:t>
            </a:r>
          </a:p>
          <a:p>
            <a:pPr marL="0" lvl="0" indent="0" algn="l" rtl="0">
              <a:lnSpc>
                <a:spcPct val="100000"/>
              </a:lnSpc>
              <a:spcBef>
                <a:spcPts val="0"/>
              </a:spcBef>
              <a:spcAft>
                <a:spcPts val="600"/>
              </a:spcAft>
              <a:buSzPts val="1400"/>
              <a:buNone/>
            </a:pPr>
            <a:r>
              <a:rPr lang="en-US" dirty="0"/>
              <a:t>Quick check: what do you get with M = 0 and b_0 = 1? The output is just the input, with no filtering at all.</a:t>
            </a:r>
          </a:p>
          <a:p>
            <a:pPr marL="0" lvl="0" indent="0" algn="l" rtl="0">
              <a:lnSpc>
                <a:spcPct val="100000"/>
              </a:lnSpc>
              <a:spcBef>
                <a:spcPts val="0"/>
              </a:spcBef>
              <a:spcAft>
                <a:spcPts val="600"/>
              </a:spcAft>
              <a:buSzPts val="1400"/>
              <a:buNone/>
            </a:pPr>
            <a:r>
              <a:rPr lang="en-US" dirty="0"/>
              <a:t>Next, we look at why FIR filters are worth this attention.</a:t>
            </a:r>
          </a:p>
        </p:txBody>
      </p:sp>
      <p:sp>
        <p:nvSpPr>
          <p:cNvPr id="116" name="Google Shape;116;p29:notes">
            <a:extLst>
              <a:ext uri="{FF2B5EF4-FFF2-40B4-BE49-F238E27FC236}">
                <a16:creationId xmlns:a16="http://schemas.microsoft.com/office/drawing/2014/main" id="{4EE5D076-F672-0531-07A8-06626A495A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4804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A251092-F4B9-29A3-8F98-17AEE4828F6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FAB96C-E0A1-9879-11D9-F6FFBD6616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"FIR Filter." It asks: why use an FIR filter at all? The answer, in bold, is linear phase. When a signal passes through a filter, different frequencies are often delayed by different amounts of time, which distorts the shape of the signal. FIR filters can be designed to have strict linear phase, meaning every frequency is delayed by exactly the same amount of time, so the signal shape is perfectly preserved.</a:t>
            </a:r>
          </a:p>
          <a:p>
            <a:pPr marL="0" lvl="0" indent="0" algn="l" rtl="0">
              <a:lnSpc>
                <a:spcPct val="100000"/>
              </a:lnSpc>
              <a:spcBef>
                <a:spcPts val="0"/>
              </a:spcBef>
              <a:spcAft>
                <a:spcPts val="600"/>
              </a:spcAft>
              <a:buSzPts val="1400"/>
              <a:buNone/>
            </a:pPr>
            <a:r>
              <a:rPr lang="en-US" dirty="0"/>
              <a:t>On the last slide you saw that an FIR filter is just a weighted sum of the current and past N inputs, with coefficients b_k. Here is why that structure is worth caring about. A filter's phase response tells you how much each frequency is shifted. If the phase is a straight line in frequency, phi(f) = -2*pi*f*tau, then every component is delayed by the same time tau. Think of a square pulse: it is built from many sine waves, and if those sines arrive at different times, the edges smear and ring. With linear phase they all arrive together, and the pulse simply shows up a little later.</a:t>
            </a:r>
          </a:p>
          <a:p>
            <a:pPr marL="0" lvl="0" indent="0" algn="l" rtl="0">
              <a:lnSpc>
                <a:spcPct val="100000"/>
              </a:lnSpc>
              <a:spcBef>
                <a:spcPts val="0"/>
              </a:spcBef>
              <a:spcAft>
                <a:spcPts val="600"/>
              </a:spcAft>
              <a:buSzPts val="1400"/>
              <a:buNone/>
            </a:pPr>
            <a:r>
              <a:rPr lang="en-US" dirty="0"/>
              <a:t>The design detail the slide skips is that linear phase comes from symmetric coefficients, b_k = b_(N-k). The delay is then N/2 samples. Your 5-point moving average has order 4 and equal weights, so it is symmetric and delays everything by 2 samples. At an example rate of 1 kHz, that is 2 ms.</a:t>
            </a:r>
          </a:p>
          <a:p>
            <a:pPr marL="0" lvl="0" indent="0" algn="l" rtl="0">
              <a:lnSpc>
                <a:spcPct val="100000"/>
              </a:lnSpc>
              <a:spcBef>
                <a:spcPts val="0"/>
              </a:spcBef>
              <a:spcAft>
                <a:spcPts val="600"/>
              </a:spcAft>
              <a:buSzPts val="1400"/>
              <a:buNone/>
            </a:pPr>
            <a:r>
              <a:rPr lang="en-US" dirty="0"/>
              <a:t>A common mistake is to think linear phase means no delay. It does not. In a feedback loop on the robot, that delay still matters.</a:t>
            </a:r>
          </a:p>
          <a:p>
            <a:pPr marL="0" lvl="0" indent="0" algn="l" rtl="0">
              <a:lnSpc>
                <a:spcPct val="100000"/>
              </a:lnSpc>
              <a:spcBef>
                <a:spcPts val="0"/>
              </a:spcBef>
              <a:spcAft>
                <a:spcPts val="600"/>
              </a:spcAft>
              <a:buSzPts val="1400"/>
              <a:buNone/>
            </a:pPr>
            <a:r>
              <a:rPr lang="en-US" dirty="0"/>
              <a:t>Next, you will design better coefficients than equal weights using MATLAB's fir1.</a:t>
            </a:r>
          </a:p>
        </p:txBody>
      </p:sp>
      <p:sp>
        <p:nvSpPr>
          <p:cNvPr id="116" name="Google Shape;116;p29:notes">
            <a:extLst>
              <a:ext uri="{FF2B5EF4-FFF2-40B4-BE49-F238E27FC236}">
                <a16:creationId xmlns:a16="http://schemas.microsoft.com/office/drawing/2014/main" id="{88402BEC-8CB4-2A94-8BF4-B9DDAE31D0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17933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5B6022-05CB-6ACC-ABCD-F57C3CE9FE8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9A8948B-EF28-BF6C-94B8-716546029C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"FIR Filter." It poses a question: our 5-point moving average works, but what if you want to precisely block high-frequency motor noise while keeping the low-frequency physical movement of the robot? The answer is that you need better coefficients, b_k. The slide says we design those FIR coefficients with the MATLAB function fir1. It also notes that the Signal Processing Toolbox measures frequency on a 0 to 1 scale relative to the Nyquist frequency, the highest frequency your system can represent, which is exactly half your sampling rate.</a:t>
            </a:r>
          </a:p>
          <a:p>
            <a:pPr marL="0" lvl="0" indent="0" algn="l" rtl="0">
              <a:lnSpc>
                <a:spcPct val="100000"/>
              </a:lnSpc>
              <a:spcBef>
                <a:spcPts val="0"/>
              </a:spcBef>
              <a:spcAft>
                <a:spcPts val="600"/>
              </a:spcAft>
              <a:buSzPts val="1400"/>
              <a:buNone/>
            </a:pPr>
            <a:r>
              <a:rPr lang="en-US" dirty="0"/>
              <a:t>Recall the general FIR equation from two slides ago: the output is a weighted sum of the current and past inputs, y_n = sum over k of b_k * x_(n-k). The moving average sets every b_k to 1/5. That is simple, but you have no control over where the cutoff falls or how sharply it rolls off. A tool like fir1 chooses the b_k values so the filter passes the frequencies you want and attenuates the rest. The equation stays the same and only the weights change.</a:t>
            </a:r>
          </a:p>
          <a:p>
            <a:pPr marL="0" lvl="0" indent="0" algn="l" rtl="0">
              <a:lnSpc>
                <a:spcPct val="100000"/>
              </a:lnSpc>
              <a:spcBef>
                <a:spcPts val="0"/>
              </a:spcBef>
              <a:spcAft>
                <a:spcPts val="600"/>
              </a:spcAft>
              <a:buSzPts val="1400"/>
              <a:buNone/>
            </a:pPr>
            <a:r>
              <a:rPr lang="en-US" dirty="0"/>
              <a:t>The normalized frequency is where students most often slip. You do not give fir1 a cutoff in hertz. You give it Wn = f_cutoff / (f_s / 2). For example, if you sample at 1000 Hz, Nyquist is 500 Hz, so a 50 Hz cutoff becomes Wn = 50/500 = 0.1. A common mistake is dividing by f_s instead of f_s/2, which puts the cutoff at twice the frequency you intended. Also note that fir1(n, Wn) returns n+1 coefficients for an order-n filter.</a:t>
            </a:r>
          </a:p>
          <a:p>
            <a:pPr marL="0" lvl="0" indent="0" algn="l" rtl="0">
              <a:lnSpc>
                <a:spcPct val="100000"/>
              </a:lnSpc>
              <a:spcBef>
                <a:spcPts val="0"/>
              </a:spcBef>
              <a:spcAft>
                <a:spcPts val="600"/>
              </a:spcAft>
              <a:buSzPts val="1400"/>
              <a:buNone/>
            </a:pPr>
            <a:r>
              <a:rPr lang="en-US" dirty="0"/>
              <a:t>Next, we look more closely at the Nyquist frequency and what goes wrong, namely aliasing, when you sample too slowly.</a:t>
            </a:r>
          </a:p>
        </p:txBody>
      </p:sp>
      <p:sp>
        <p:nvSpPr>
          <p:cNvPr id="116" name="Google Shape;116;p29:notes">
            <a:extLst>
              <a:ext uri="{FF2B5EF4-FFF2-40B4-BE49-F238E27FC236}">
                <a16:creationId xmlns:a16="http://schemas.microsoft.com/office/drawing/2014/main" id="{37C33949-9457-52E6-76DF-C75BD438C1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67890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E5F14FC-0323-1C9D-E0C6-4CF0A010A1E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D84567-C67A-2200-173B-AD82D42118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states a single rule with an equation. The text says the Nyquist frequency is the MINIMUM frequency, in bold capitals, that you should sample your signal at. Centered below is the equation f_nyquist = 2 × f_highest_analog_frequency, read as "f Nyquist equals two times the highest analog frequency in the signal." The last line warns that if you sample slower than this, you get an aliased output.</a:t>
            </a:r>
          </a:p>
          <a:p>
            <a:pPr marL="0" lvl="0" indent="0" algn="l" rtl="0">
              <a:lnSpc>
                <a:spcPct val="100000"/>
              </a:lnSpc>
              <a:spcBef>
                <a:spcPts val="0"/>
              </a:spcBef>
              <a:spcAft>
                <a:spcPts val="600"/>
              </a:spcAft>
              <a:buSzPts val="1400"/>
              <a:buNone/>
            </a:pPr>
            <a:r>
              <a:rPr lang="en-US" dirty="0"/>
              <a:t>The idea is that to capture an oscillation, you need at least two samples per cycle: roughly one near a peak and one near a trough. With fewer samples, the samples you collect fit a slower sine wave equally well, and that slower wave is called an alias. For example, if the fastest content in your sensor signal is 100 Hz, you must sample at no less than 200 Hz. In practice you sample comfortably faster than that minimum.</a:t>
            </a:r>
          </a:p>
          <a:p>
            <a:pPr marL="0" lvl="0" indent="0" algn="l" rtl="0">
              <a:lnSpc>
                <a:spcPct val="100000"/>
              </a:lnSpc>
              <a:spcBef>
                <a:spcPts val="0"/>
              </a:spcBef>
              <a:spcAft>
                <a:spcPts val="600"/>
              </a:spcAft>
              <a:buSzPts val="1400"/>
              <a:buNone/>
            </a:pPr>
            <a:r>
              <a:rPr lang="en-US" dirty="0"/>
              <a:t>A note on terminology so this matches the previous slide. The value 2 × f_highest is often called the Nyquist rate, the minimum sampling rate. The Nyquist frequency that MATLAB's fir1 uses is the same relationship viewed from the other side: half of your sampling rate, which is the highest frequency you can represent. If you sample at 1 kHz, your Nyquist frequency is 500 Hz, and fir1 treats 500 Hz as 1.0 on its 0-to-1 scale.</a:t>
            </a:r>
          </a:p>
          <a:p>
            <a:pPr marL="0" lvl="0" indent="0" algn="l" rtl="0">
              <a:lnSpc>
                <a:spcPct val="100000"/>
              </a:lnSpc>
              <a:spcBef>
                <a:spcPts val="0"/>
              </a:spcBef>
              <a:spcAft>
                <a:spcPts val="600"/>
              </a:spcAft>
              <a:buSzPts val="1400"/>
              <a:buNone/>
            </a:pPr>
            <a:r>
              <a:rPr lang="en-US" dirty="0"/>
              <a:t>A common mistake is to assume a digital filter can remove aliasing after the fact. Once a signal is aliased, it is indistinguishable from real low-frequency content. You must choose a sampling rate high enough, using the ePWM-triggered ADC rate, before filtering.</a:t>
            </a:r>
          </a:p>
          <a:p>
            <a:pPr marL="0" lvl="0" indent="0" algn="l" rtl="0">
              <a:lnSpc>
                <a:spcPct val="100000"/>
              </a:lnSpc>
              <a:spcBef>
                <a:spcPts val="0"/>
              </a:spcBef>
              <a:spcAft>
                <a:spcPts val="600"/>
              </a:spcAft>
              <a:buSzPts val="1400"/>
              <a:buNone/>
            </a:pPr>
            <a:r>
              <a:rPr lang="en-US" dirty="0"/>
              <a:t>The next two slides show what goes wrong when you sample at 1× and 1.5× the signal frequency.</a:t>
            </a:r>
          </a:p>
        </p:txBody>
      </p:sp>
      <p:sp>
        <p:nvSpPr>
          <p:cNvPr id="116" name="Google Shape;116;p29:notes">
            <a:extLst>
              <a:ext uri="{FF2B5EF4-FFF2-40B4-BE49-F238E27FC236}">
                <a16:creationId xmlns:a16="http://schemas.microsoft.com/office/drawing/2014/main" id="{08D47183-127E-E02D-0250-B23F4ED06A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9855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AEFBEEB-3824-BD60-027C-23AD2B9B4D2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AE7692D-C5E9-C1CA-28F1-CAC04B343A8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simplest and most extreme case of aliasing: sampling a signal at exactly its own frequency.</a:t>
            </a:r>
          </a:p>
          <a:p>
            <a:pPr marL="0" lvl="0" indent="0" algn="l" rtl="0">
              <a:lnSpc>
                <a:spcPct val="100000"/>
              </a:lnSpc>
              <a:spcBef>
                <a:spcPts val="0"/>
              </a:spcBef>
              <a:spcAft>
                <a:spcPts val="600"/>
              </a:spcAft>
              <a:buSzPts val="1400"/>
              <a:buNone/>
            </a:pPr>
            <a:r>
              <a:rPr lang="en-US" dirty="0"/>
              <a:t>The slide has three stacked panels. The top panel, labeled "Original Signal," is a smooth sine wave of frequency f_0 running for about four cycles. The middle panel, labeled "Signal sampled at 1 times f_0," shows the same sine wave with five red star markers, one per cycle. Each marker lands at the same point in the cycle, on a rising zero crossing, and a dashed blue horizontal line connects them. The bottom panel, labeled "Reconstructed Signal," is a flat horizontal blue line.</a:t>
            </a:r>
          </a:p>
          <a:p>
            <a:pPr marL="0" lvl="0" indent="0" algn="l" rtl="0">
              <a:lnSpc>
                <a:spcPct val="100000"/>
              </a:lnSpc>
              <a:spcBef>
                <a:spcPts val="0"/>
              </a:spcBef>
              <a:spcAft>
                <a:spcPts val="600"/>
              </a:spcAft>
              <a:buSzPts val="1400"/>
              <a:buNone/>
            </a:pPr>
            <a:r>
              <a:rPr lang="en-US" dirty="0"/>
              <a:t>Here is why this happens. If you take one sample per period, every sample lands at the same phase of the wave, so every sample has the same value. The samples contain no information that the signal is moving at all, and the best you can reconstruct is a constant.</a:t>
            </a:r>
          </a:p>
          <a:p>
            <a:pPr marL="0" lvl="0" indent="0" algn="l" rtl="0">
              <a:lnSpc>
                <a:spcPct val="100000"/>
              </a:lnSpc>
              <a:spcBef>
                <a:spcPts val="0"/>
              </a:spcBef>
              <a:spcAft>
                <a:spcPts val="600"/>
              </a:spcAft>
              <a:buSzPts val="1400"/>
              <a:buNone/>
            </a:pPr>
            <a:r>
              <a:rPr lang="en-US" dirty="0"/>
              <a:t>Where that constant sits depends only on where the first sample happened to fall. Starting on a peak gives a flat line at the peak value. Starting on a zero crossing gives a flat line at zero. Either way the oscillation has vanished.</a:t>
            </a:r>
          </a:p>
          <a:p>
            <a:pPr marL="0" lvl="0" indent="0" algn="l" rtl="0">
              <a:lnSpc>
                <a:spcPct val="100000"/>
              </a:lnSpc>
              <a:spcBef>
                <a:spcPts val="0"/>
              </a:spcBef>
              <a:spcAft>
                <a:spcPts val="600"/>
              </a:spcAft>
              <a:buSzPts val="1400"/>
              <a:buNone/>
            </a:pPr>
            <a:r>
              <a:rPr lang="en-US" dirty="0"/>
              <a:t>In frequency terms, a tone at f_0 sampled at f_s appears at |f_0 - f_s|. Here that is |f_0 - f_0| = 0, which is DC.</a:t>
            </a:r>
          </a:p>
          <a:p>
            <a:pPr marL="0" lvl="0" indent="0" algn="l" rtl="0">
              <a:lnSpc>
                <a:spcPct val="100000"/>
              </a:lnSpc>
              <a:spcBef>
                <a:spcPts val="0"/>
              </a:spcBef>
              <a:spcAft>
                <a:spcPts val="600"/>
              </a:spcAft>
              <a:buSzPts val="1400"/>
              <a:buNone/>
            </a:pPr>
            <a:r>
              <a:rPr lang="en-US" dirty="0"/>
              <a:t>On the robot, this matters for vibration or PWM noise. If its frequency matches your ADC sampling rate, it does not disappear. It shows up as a steady offset that looks like a real sensor reading, and no digital filter applied afterward can remove it.</a:t>
            </a:r>
          </a:p>
          <a:p>
            <a:pPr marL="0" lvl="0" indent="0" algn="l" rtl="0">
              <a:lnSpc>
                <a:spcPct val="100000"/>
              </a:lnSpc>
              <a:spcBef>
                <a:spcPts val="0"/>
              </a:spcBef>
              <a:spcAft>
                <a:spcPts val="600"/>
              </a:spcAft>
              <a:buSzPts val="1400"/>
              <a:buNone/>
            </a:pPr>
            <a:r>
              <a:rPr lang="en-US" dirty="0"/>
              <a:t>Quick check: what would the reconstructed signal be if you sampled at 2 times f_0? Hold that thought. Next you see 1.5 times f_0, then 2 times f_0.</a:t>
            </a:r>
          </a:p>
        </p:txBody>
      </p:sp>
      <p:sp>
        <p:nvSpPr>
          <p:cNvPr id="116" name="Google Shape;116;p29:notes">
            <a:extLst>
              <a:ext uri="{FF2B5EF4-FFF2-40B4-BE49-F238E27FC236}">
                <a16:creationId xmlns:a16="http://schemas.microsoft.com/office/drawing/2014/main" id="{EC9D019D-641E-3A8A-2076-9108312A28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92858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23F5160-B37E-BE80-88F2-A3ABF031758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75097F0-E588-B0CA-B1BA-33E5BD4CEB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three stacked traces. The top trace, "Original Signal," is a smooth sine wave of frequency f_0, about four full cycles across the slide. The middle trace, "Signal sampled at 1.5x f_0," repeats that sine and marks seven samples with red asterisks, taken one and a half times per cycle and joined by dashed blue lines. The bottom trace, "Reconstructed Signal," draws only those connected samples. It is a solid blue zigzag with just two cycles over the same span.</a:t>
            </a:r>
          </a:p>
          <a:p>
            <a:pPr marL="0" lvl="0" indent="0" algn="l" rtl="0">
              <a:lnSpc>
                <a:spcPct val="100000"/>
              </a:lnSpc>
              <a:spcBef>
                <a:spcPts val="0"/>
              </a:spcBef>
              <a:spcAft>
                <a:spcPts val="600"/>
              </a:spcAft>
              <a:buSzPts val="1400"/>
              <a:buNone/>
            </a:pPr>
            <a:r>
              <a:rPr lang="en-US" dirty="0"/>
              <a:t>On the previous slide, sampling at exactly f_0 put every sample at the same point on the wave, so the reconstruction was a flat line. Here you sample a bit faster, and the result is worse in a subtle way. The samples form a clean, believable wave, but at the wrong frequency. The original has four cycles and the reconstruction has two, so the apparent frequency is 0.5*f_0. This false frequency is called an alias. A quick way to predict it: alias frequency = |f_s - f_0| = |1.5*f_0 - f_0| = 0.5*f_0, which reads as "the absolute value of the sampling frequency minus the signal frequency."</a:t>
            </a:r>
          </a:p>
          <a:p>
            <a:pPr marL="0" lvl="0" indent="0" algn="l" rtl="0">
              <a:lnSpc>
                <a:spcPct val="100000"/>
              </a:lnSpc>
              <a:spcBef>
                <a:spcPts val="0"/>
              </a:spcBef>
              <a:spcAft>
                <a:spcPts val="600"/>
              </a:spcAft>
              <a:buSzPts val="1400"/>
              <a:buNone/>
            </a:pPr>
            <a:r>
              <a:rPr lang="en-US" dirty="0"/>
              <a:t>The dangerous part is that nothing in the sampled data warns you. A plot or an FFT of these samples shows a strong peak at 0.5*f_0 that is not really there. Once the signal is sampled, no digital filter, FIR or otherwise, can undo aliasing.</a:t>
            </a:r>
          </a:p>
          <a:p>
            <a:pPr marL="0" lvl="0" indent="0" algn="l" rtl="0">
              <a:lnSpc>
                <a:spcPct val="100000"/>
              </a:lnSpc>
              <a:spcBef>
                <a:spcPts val="0"/>
              </a:spcBef>
              <a:spcAft>
                <a:spcPts val="600"/>
              </a:spcAft>
              <a:buSzPts val="1400"/>
              <a:buNone/>
            </a:pPr>
            <a:r>
              <a:rPr lang="en-US" dirty="0"/>
              <a:t>In lab, your ePWM timer sets the ADC sample rate, so that rate must be high enough for every frequency present at the input. Next, you see what happens at exactly 2*f_0, the Nyquist rate.</a:t>
            </a:r>
          </a:p>
        </p:txBody>
      </p:sp>
      <p:sp>
        <p:nvSpPr>
          <p:cNvPr id="116" name="Google Shape;116;p29:notes">
            <a:extLst>
              <a:ext uri="{FF2B5EF4-FFF2-40B4-BE49-F238E27FC236}">
                <a16:creationId xmlns:a16="http://schemas.microsoft.com/office/drawing/2014/main" id="{BE8BE728-91C7-2DE4-43D2-0C446ED478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44461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C28928E-A479-6A61-9101-9BF9E1E899C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928291F-B55F-F859-045A-F560DF4E56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"FIR Filter – Nyquist frequency," shows the same three-panel layout as the last two. The top panel, "Original Signal," is a sine wave of frequency f_0 running for about four cycles. The middle panel, "Signal sampled at 2 times f_0," overlays red star markers exactly at every peak and every trough, two samples per cycle, joined by dashed blue straight lines. The bottom panel, "Reconstructed Signal," is a blue triangle wave with the same frequency and amplitude as the original.</a:t>
            </a:r>
          </a:p>
          <a:p>
            <a:pPr marL="0" lvl="0" indent="0" algn="l" rtl="0">
              <a:lnSpc>
                <a:spcPct val="100000"/>
              </a:lnSpc>
              <a:spcBef>
                <a:spcPts val="0"/>
              </a:spcBef>
              <a:spcAft>
                <a:spcPts val="600"/>
              </a:spcAft>
              <a:buSzPts val="1400"/>
              <a:buNone/>
            </a:pPr>
            <a:r>
              <a:rPr lang="en-US" dirty="0"/>
              <a:t>On the previous slide, sampling at 1.5 times f_0 produced a false alias at half the true frequency. Here you sample at 2 times f_0, the Nyquist rate. Now the frequency comes through correctly: one peak and one trough per cycle, so the reconstruction oscillates at f_0. The shape does not survive. Connecting the dots with straight lines turns a smooth sine into a triangle.</a:t>
            </a:r>
          </a:p>
          <a:p>
            <a:pPr marL="0" lvl="0" indent="0" algn="l" rtl="0">
              <a:lnSpc>
                <a:spcPct val="100000"/>
              </a:lnSpc>
              <a:spcBef>
                <a:spcPts val="0"/>
              </a:spcBef>
              <a:spcAft>
                <a:spcPts val="600"/>
              </a:spcAft>
              <a:buSzPts val="1400"/>
              <a:buNone/>
            </a:pPr>
            <a:r>
              <a:rPr lang="en-US" dirty="0"/>
              <a:t>This is the boundary case, and it only works here because the samples happen to land on the peaks. If the same 2 times f_0 samples had landed on the zero crossings, every sample would read zero, and you would get the flat line from two slides back. That is why the sampling theorem requires the sample rate to be strictly greater than twice the highest frequency in the signal. Equivalently, the Nyquist frequency, f_s/2, is the highest frequency you can represent, and in practice you want margin above it.</a:t>
            </a:r>
          </a:p>
          <a:p>
            <a:pPr marL="0" lvl="0" indent="0" algn="l" rtl="0">
              <a:lnSpc>
                <a:spcPct val="100000"/>
              </a:lnSpc>
              <a:spcBef>
                <a:spcPts val="0"/>
              </a:spcBef>
              <a:spcAft>
                <a:spcPts val="600"/>
              </a:spcAft>
              <a:buSzPts val="1400"/>
              <a:buNone/>
            </a:pPr>
            <a:r>
              <a:rPr lang="en-US" dirty="0"/>
              <a:t>Quick check: if the Red Board samples the ADC at 1000 Hz, what is the highest signal frequency you can trust? Next, we sample at 8 times f_0 and see the shape come back.</a:t>
            </a:r>
          </a:p>
        </p:txBody>
      </p:sp>
      <p:sp>
        <p:nvSpPr>
          <p:cNvPr id="116" name="Google Shape;116;p29:notes">
            <a:extLst>
              <a:ext uri="{FF2B5EF4-FFF2-40B4-BE49-F238E27FC236}">
                <a16:creationId xmlns:a16="http://schemas.microsoft.com/office/drawing/2014/main" id="{01D16AB5-0FB6-0665-A3C2-93B9F3D159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56547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52DB659-2319-F347-92CC-484F4010828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16BE6E6-A70A-6884-1E82-43B0122618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the sampling sequence and is titled "FIR Filter – Nyquist frequency." Like the previous two slides, it stacks three traces. The top trace, labeled "Original Signal," is a smooth black sine wave of frequency f_0, about four cycles long. The middle trace, labeled "Signal sampled at 8 times f_0," shows the same sine with red star markers at eight evenly spaced points per cycle, joined by a dashed blue line that almost sits on the black curve. The bottom trace, labeled "Reconstructed Signal," is a solid blue line connecting those samples. It has small corners at the peaks and troughs, but its frequency, amplitude and overall shape closely match the original.</a:t>
            </a:r>
          </a:p>
          <a:p>
            <a:pPr marL="0" lvl="0" indent="0" algn="l" rtl="0">
              <a:lnSpc>
                <a:spcPct val="100000"/>
              </a:lnSpc>
              <a:spcBef>
                <a:spcPts val="0"/>
              </a:spcBef>
              <a:spcAft>
                <a:spcPts val="600"/>
              </a:spcAft>
              <a:buSzPts val="1400"/>
              <a:buNone/>
            </a:pPr>
            <a:r>
              <a:rPr lang="en-US" dirty="0"/>
              <a:t>Compare this with the last two slides. At 1.5 times f_0 the samples produced a false alias at 0.5 times f_0. At exactly 2 times f_0, the Nyquist rate, you kept the frequency but got only a triangle wave. At 8 times f_0 the samples trace the waveform faithfully.</a:t>
            </a:r>
          </a:p>
          <a:p>
            <a:pPr marL="0" lvl="0" indent="0" algn="l" rtl="0">
              <a:lnSpc>
                <a:spcPct val="100000"/>
              </a:lnSpc>
              <a:spcBef>
                <a:spcPts val="0"/>
              </a:spcBef>
              <a:spcAft>
                <a:spcPts val="600"/>
              </a:spcAft>
              <a:buSzPts val="1400"/>
              <a:buNone/>
            </a:pPr>
            <a:r>
              <a:rPr lang="en-US" dirty="0"/>
              <a:t>The takeaway is that the Nyquist rate, f_s &gt; 2*f_max, is a theoretical minimum, not a design target. In practice you sample several times faster than the highest frequency you care about, often 5 to 10 times.</a:t>
            </a:r>
          </a:p>
          <a:p>
            <a:pPr marL="0" lvl="0" indent="0" algn="l" rtl="0">
              <a:lnSpc>
                <a:spcPct val="100000"/>
              </a:lnSpc>
              <a:spcBef>
                <a:spcPts val="0"/>
              </a:spcBef>
              <a:spcAft>
                <a:spcPts val="600"/>
              </a:spcAft>
              <a:buSzPts val="1400"/>
              <a:buNone/>
            </a:pPr>
            <a:r>
              <a:rPr lang="en-US" dirty="0"/>
              <a:t>A common mistake is assuming a digital filter can fix aliasing afterward. Once a frequency above f_s/2 has been sampled, it is indistinguishable from a lower one. You prevent aliasing with a fast enough sample rate, or with an analog anti-aliasing filter before the ADC.</a:t>
            </a:r>
          </a:p>
          <a:p>
            <a:pPr marL="0" lvl="0" indent="0" algn="l" rtl="0">
              <a:lnSpc>
                <a:spcPct val="100000"/>
              </a:lnSpc>
              <a:spcBef>
                <a:spcPts val="0"/>
              </a:spcBef>
              <a:spcAft>
                <a:spcPts val="600"/>
              </a:spcAft>
              <a:buSzPts val="1400"/>
              <a:buNone/>
            </a:pPr>
            <a:r>
              <a:rPr lang="en-US" dirty="0"/>
              <a:t>Next, you apply this idea to real numbers. With a 1000 Hz sample rate, the Nyquist limit is 500 Hz, and you use that limit to design an FIR low-pass filter.</a:t>
            </a:r>
          </a:p>
        </p:txBody>
      </p:sp>
      <p:sp>
        <p:nvSpPr>
          <p:cNvPr id="116" name="Google Shape;116;p29:notes">
            <a:extLst>
              <a:ext uri="{FF2B5EF4-FFF2-40B4-BE49-F238E27FC236}">
                <a16:creationId xmlns:a16="http://schemas.microsoft.com/office/drawing/2014/main" id="{1DF9105D-D82C-0D0D-C1F1-28B9711E97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5199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ABF01B-855B-4A52-7316-5B0A8F61231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2786E77-8A33-76DF-CFBF-F0AB097635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moves from Nyquist theory to a concrete filter design. It says: suppose your system samples at 1000 Hz. The Nyquist limit, the highest frequency you can represent, is half the sampling rate, 500 Hz. Now you want a 21st order FIR low-pass filter with a cutoff of 100 Hz, so you compute the normalized frequency W_n. The equation reads: W_n equals 100 hertz divided by 500 hertz, which equals 0.2. In plain text, W_n = 100 Hz / 500 Hz = 0.2.</a:t>
            </a:r>
          </a:p>
          <a:p>
            <a:pPr marL="0" lvl="0" indent="0" algn="l" rtl="0">
              <a:lnSpc>
                <a:spcPct val="100000"/>
              </a:lnSpc>
              <a:spcBef>
                <a:spcPts val="0"/>
              </a:spcBef>
              <a:spcAft>
                <a:spcPts val="600"/>
              </a:spcAft>
              <a:buSzPts val="1400"/>
              <a:buNone/>
            </a:pPr>
            <a:r>
              <a:rPr lang="en-US" dirty="0"/>
              <a:t>Why normalize? A digital filter has no sense of hertz. It only sees one sample after another, so its behaviour depends on frequency relative to the sampling rate. MATLAB's design functions express that ratio on a scale where 1 means the Nyquist frequency. A cutoff of 0.2 therefore means "20 percent of the way to Nyquist." The same coefficients would give a 200 Hz cutoff if you sampled at 2000 Hz.</a:t>
            </a:r>
          </a:p>
          <a:p>
            <a:pPr marL="0" lvl="0" indent="0" algn="l" rtl="0">
              <a:lnSpc>
                <a:spcPct val="100000"/>
              </a:lnSpc>
              <a:spcBef>
                <a:spcPts val="0"/>
              </a:spcBef>
              <a:spcAft>
                <a:spcPts val="600"/>
              </a:spcAft>
              <a:buSzPts val="1400"/>
              <a:buNone/>
            </a:pPr>
            <a:r>
              <a:rPr lang="en-US" dirty="0"/>
              <a:t>A common mistake is to divide by the sampling frequency instead of the Nyquist frequency. That gives 100/1000 = 0.1, and your filter cuts off at 50 Hz instead of 100 Hz. In MATLAB's fir1, always divide by fs/2.</a:t>
            </a:r>
          </a:p>
          <a:p>
            <a:pPr marL="0" lvl="0" indent="0" algn="l" rtl="0">
              <a:lnSpc>
                <a:spcPct val="100000"/>
              </a:lnSpc>
              <a:spcBef>
                <a:spcPts val="0"/>
              </a:spcBef>
              <a:spcAft>
                <a:spcPts val="600"/>
              </a:spcAft>
              <a:buSzPts val="1400"/>
              <a:buNone/>
            </a:pPr>
            <a:r>
              <a:rPr lang="en-US" dirty="0"/>
              <a:t>The filter order is 21. As the next slide notes, that means 22 coefficients, or weights. Each new output is a weighted sum of the current input sample and the previous 21 samples.</a:t>
            </a:r>
          </a:p>
          <a:p>
            <a:pPr marL="0" lvl="0" indent="0" algn="l" rtl="0">
              <a:lnSpc>
                <a:spcPct val="100000"/>
              </a:lnSpc>
              <a:spcBef>
                <a:spcPts val="0"/>
              </a:spcBef>
              <a:spcAft>
                <a:spcPts val="600"/>
              </a:spcAft>
              <a:buSzPts val="1400"/>
              <a:buNone/>
            </a:pPr>
            <a:r>
              <a:rPr lang="en-US" dirty="0"/>
              <a:t>Quick check: if your ADC samples at 2000 Hz and you want a 100 Hz cutoff, what is W_n? (Answer: 0.1.)</a:t>
            </a:r>
          </a:p>
          <a:p>
            <a:pPr marL="0" lvl="0" indent="0" algn="l" rtl="0">
              <a:lnSpc>
                <a:spcPct val="100000"/>
              </a:lnSpc>
              <a:spcBef>
                <a:spcPts val="0"/>
              </a:spcBef>
              <a:spcAft>
                <a:spcPts val="600"/>
              </a:spcAft>
              <a:buSzPts val="1400"/>
              <a:buNone/>
            </a:pPr>
            <a:r>
              <a:rPr lang="en-US" dirty="0"/>
              <a:t>Next, you plug Order = 21 and Wn = 0.2 into MATLAB to generate those weights.</a:t>
            </a:r>
          </a:p>
        </p:txBody>
      </p:sp>
      <p:sp>
        <p:nvSpPr>
          <p:cNvPr id="116" name="Google Shape;116;p29:notes">
            <a:extLst>
              <a:ext uri="{FF2B5EF4-FFF2-40B4-BE49-F238E27FC236}">
                <a16:creationId xmlns:a16="http://schemas.microsoft.com/office/drawing/2014/main" id="{9CF53CF5-8CC6-A5DB-5758-C3D94B512B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37796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275167B-944E-7272-C8A7-AE8C291B6BD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2F361B6-75B7-6570-3C67-7BE7AE6E79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single line of text: "In MATLAB, generating the 22 weights (a 21st order filter has M + 1 coefficients) is incredibly simple!" The rest of the slide is blank. It bridges the normalized-frequency calculation on the previous slide and the MATLAB code on the next one.</a:t>
            </a:r>
          </a:p>
          <a:p>
            <a:pPr marL="0" lvl="0" indent="0" algn="l" rtl="0">
              <a:lnSpc>
                <a:spcPct val="100000"/>
              </a:lnSpc>
              <a:spcBef>
                <a:spcPts val="0"/>
              </a:spcBef>
              <a:spcAft>
                <a:spcPts val="600"/>
              </a:spcAft>
              <a:buSzPts val="1400"/>
              <a:buNone/>
            </a:pPr>
            <a:r>
              <a:rPr lang="en-US" dirty="0"/>
              <a:t>First, why 22 weights for a 21st order filter? The order M is the number of delays, meaning how far back in time the filter reaches. The output is y[n] = sum from k = 0 to M of b_k * x[n - k], that is, the current sample times b_0, plus the previous sample times b_1, and so on back to x[n - M]. Counting k = 0 through k = 21 gives M + 1 = 22 coefficients, also called weights or taps.</a:t>
            </a:r>
          </a:p>
          <a:p>
            <a:pPr marL="0" lvl="0" indent="0" algn="l" rtl="0">
              <a:lnSpc>
                <a:spcPct val="100000"/>
              </a:lnSpc>
              <a:spcBef>
                <a:spcPts val="0"/>
              </a:spcBef>
              <a:spcAft>
                <a:spcPts val="600"/>
              </a:spcAft>
              <a:buSzPts val="1400"/>
              <a:buNone/>
            </a:pPr>
            <a:r>
              <a:rPr lang="en-US" dirty="0"/>
              <a:t>A common mistake is mixing up order and tap count. When you copy these coefficients into C on the Red Board, your coefficient array and your buffer of past ADC samples must both have length 22, not 21. Getting this wrong silently drops a tap or reads past the end of the array.</a:t>
            </a:r>
          </a:p>
          <a:p>
            <a:pPr marL="0" lvl="0" indent="0" algn="l" rtl="0">
              <a:lnSpc>
                <a:spcPct val="100000"/>
              </a:lnSpc>
              <a:spcBef>
                <a:spcPts val="0"/>
              </a:spcBef>
              <a:spcAft>
                <a:spcPts val="600"/>
              </a:spcAft>
              <a:buSzPts val="1400"/>
              <a:buNone/>
            </a:pPr>
            <a:r>
              <a:rPr lang="en-US" dirty="0"/>
              <a:t>Recall the normalized frequency from the last slide. With a 1000 Hz sample rate, the Nyquist frequency is 500 Hz, so a 100 Hz cutoff normalizes to 100 / 500 = 0.2. MATLAB normalizes to Nyquist, not to the sampling rate.</a:t>
            </a:r>
          </a:p>
          <a:p>
            <a:pPr marL="0" lvl="0" indent="0" algn="l" rtl="0">
              <a:lnSpc>
                <a:spcPct val="100000"/>
              </a:lnSpc>
              <a:spcBef>
                <a:spcPts val="0"/>
              </a:spcBef>
              <a:spcAft>
                <a:spcPts val="600"/>
              </a:spcAft>
              <a:buSzPts val="1400"/>
              <a:buNone/>
            </a:pPr>
            <a:r>
              <a:rPr lang="en-US" dirty="0"/>
              <a:t>Next you see the one-line fir1 call that turns these numbers into the 22 weights.</a:t>
            </a:r>
          </a:p>
        </p:txBody>
      </p:sp>
      <p:sp>
        <p:nvSpPr>
          <p:cNvPr id="116" name="Google Shape;116;p29:notes">
            <a:extLst>
              <a:ext uri="{FF2B5EF4-FFF2-40B4-BE49-F238E27FC236}">
                <a16:creationId xmlns:a16="http://schemas.microsoft.com/office/drawing/2014/main" id="{6F371227-87C5-D4D8-949C-FE95EDEAFA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81548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AC84C9-2D86-CFA5-5294-293D12354D4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75A1A60-68E4-F53C-DEEB-0FDDF1CB12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MATLAB code that turns the previous example into an actual filter, with the frequency response MATLAB plots for it. On the left is the code: a comment reading "21st Order Low-Pass Filter", then Order = 21; Wn = 0.2; b = fir1(Order, Wn, 'low'); and finally freqz(b,1,512).</a:t>
            </a:r>
          </a:p>
          <a:p>
            <a:pPr marL="0" lvl="0" indent="0" algn="l" rtl="0">
              <a:lnSpc>
                <a:spcPct val="100000"/>
              </a:lnSpc>
              <a:spcBef>
                <a:spcPts val="0"/>
              </a:spcBef>
              <a:spcAft>
                <a:spcPts val="600"/>
              </a:spcAft>
              <a:buSzPts val="1400"/>
              <a:buNone/>
            </a:pPr>
            <a:r>
              <a:rPr lang="en-US" dirty="0"/>
              <a:t>Wn = 0.2 is the normalized cutoff from the last slide: 100 Hz divided by the 500 Hz Nyquist frequency. A common mistake is dividing by the 1000 Hz sampling rate instead, which puts the cutoff at half the frequency you intended. The function fir1 returns the vector b of 22 coefficients, one more than the order. By default it uses a Hamming window. The command freqz(b,1,512) plots the response. The 1 is the denominator, because an FIR filter has no feedback terms. The 512 is the number of frequency points to evaluate.</a:t>
            </a:r>
          </a:p>
          <a:p>
            <a:pPr marL="0" lvl="0" indent="0" algn="l" rtl="0">
              <a:lnSpc>
                <a:spcPct val="100000"/>
              </a:lnSpc>
              <a:spcBef>
                <a:spcPts val="0"/>
              </a:spcBef>
              <a:spcAft>
                <a:spcPts val="600"/>
              </a:spcAft>
              <a:buSzPts val="1400"/>
              <a:buNone/>
            </a:pPr>
            <a:r>
              <a:rPr lang="en-US" dirty="0"/>
              <a:t>The top plot is magnitude in dB versus normalized frequency, from 0 to 1 times pi radians per sample. The curve is flat at 0 dB up to about 0.1. It is about minus 6 dB at the 0.2 cutoff, which is how fir1 defines the cutoff. It then drops steeply to a null near 0.37. After that, the stopband sidelobes stay around minus 55 to minus 60 dB.</a:t>
            </a:r>
          </a:p>
          <a:p>
            <a:pPr marL="0" lvl="0" indent="0" algn="l" rtl="0">
              <a:lnSpc>
                <a:spcPct val="100000"/>
              </a:lnSpc>
              <a:spcBef>
                <a:spcPts val="0"/>
              </a:spcBef>
              <a:spcAft>
                <a:spcPts val="600"/>
              </a:spcAft>
              <a:buSzPts val="1400"/>
              <a:buNone/>
            </a:pPr>
            <a:r>
              <a:rPr lang="en-US" dirty="0"/>
              <a:t>The bottom plot is phase in degrees. It falls in a straight line from 0 to about minus 700 degrees near 0.37. In the stopband it then forms a sawtooth, jumping up 180 degrees at each null. That straight line is linear phase, meaning every frequency is delayed by the same amount. Here the delay is Order/2 = 10.5 samples, or 10.5 ms at 1000 Hz.</a:t>
            </a:r>
          </a:p>
          <a:p>
            <a:pPr marL="0" lvl="0" indent="0" algn="l" rtl="0">
              <a:lnSpc>
                <a:spcPct val="100000"/>
              </a:lnSpc>
              <a:spcBef>
                <a:spcPts val="0"/>
              </a:spcBef>
              <a:spcAft>
                <a:spcPts val="600"/>
              </a:spcAft>
              <a:buSzPts val="1400"/>
              <a:buNone/>
            </a:pPr>
            <a:r>
              <a:rPr lang="en-US" dirty="0"/>
              <a:t>Check yourself: what would you change to move the cutoff to 50 Hz? Next, the same tools build a high-pass filter. Note that it uses an even order, 22, because fir1 requires an even order for high-pass designs.</a:t>
            </a:r>
          </a:p>
        </p:txBody>
      </p:sp>
      <p:sp>
        <p:nvSpPr>
          <p:cNvPr id="116" name="Google Shape;116;p29:notes">
            <a:extLst>
              <a:ext uri="{FF2B5EF4-FFF2-40B4-BE49-F238E27FC236}">
                <a16:creationId xmlns:a16="http://schemas.microsoft.com/office/drawing/2014/main" id="{22CC7849-2F9B-9D2B-0F0F-D9010E67EB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10317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85F31E-F8A2-F96F-490D-9FEB5F18ECE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C62BEE7-56EB-D924-DA5C-1BE32B7341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MATLAB code for a high-pass FIR filter, next to its freqz plot. The comment line reads "22st Order High-Pass Filter," which should say 22nd order. The code sets Order = 22 and Wn = 0.3, calls b = fir1(Order, Wn, 'high'), and then calls freqz(b,1,512). As on the previous slide, Wn is normalized to the Nyquist frequency. A value of 0.3 means 0.3 times half the sampling rate, so at a 10 kHz sample rate the cutoff is 1.5 kHz. In freqz, b is the numerator, the denominator is 1 because an FIR filter has no feedback, and 512 is the number of frequency points plotted.</a:t>
            </a:r>
          </a:p>
          <a:p>
            <a:pPr marL="0" lvl="0" indent="0" algn="l" rtl="0">
              <a:lnSpc>
                <a:spcPct val="100000"/>
              </a:lnSpc>
              <a:spcBef>
                <a:spcPts val="0"/>
              </a:spcBef>
              <a:spcAft>
                <a:spcPts val="600"/>
              </a:spcAft>
              <a:buSzPts val="1400"/>
              <a:buNone/>
            </a:pPr>
            <a:r>
              <a:rPr lang="en-US" dirty="0"/>
              <a:t>The top plot shows magnitude in dB against normalized frequency from 0 to 1 times pi radians per sample. Below about 0.15, the stopband sits around minus 50 to minus 60 dB, with nulls near 0.05 and 0.145. The curve rises steeply, passes about minus 6 dB at the 0.3 cutoff (the usual level for fir1), and is flat at 0 dB from about 0.4 up to 1.</a:t>
            </a:r>
          </a:p>
          <a:p>
            <a:pPr marL="0" lvl="0" indent="0" algn="l" rtl="0">
              <a:lnSpc>
                <a:spcPct val="100000"/>
              </a:lnSpc>
              <a:spcBef>
                <a:spcPts val="0"/>
              </a:spcBef>
              <a:spcAft>
                <a:spcPts val="600"/>
              </a:spcAft>
              <a:buSzPts val="1400"/>
              <a:buNone/>
            </a:pPr>
            <a:r>
              <a:rPr lang="en-US" dirty="0"/>
              <a:t>The bottom plot shows phase. It is a straight line falling from 0 to about minus 1600 degrees, with small upward jumps only at the stopband nulls. That straight line is linear phase. Order 22 gives 23 coefficients and a constant delay of 22/2 = 11 samples for every frequency.</a:t>
            </a:r>
          </a:p>
          <a:p>
            <a:pPr marL="0" lvl="0" indent="0" algn="l" rtl="0">
              <a:lnSpc>
                <a:spcPct val="100000"/>
              </a:lnSpc>
              <a:spcBef>
                <a:spcPts val="0"/>
              </a:spcBef>
              <a:spcAft>
                <a:spcPts val="600"/>
              </a:spcAft>
              <a:buSzPts val="1400"/>
              <a:buNone/>
            </a:pPr>
            <a:r>
              <a:rPr lang="en-US" dirty="0"/>
              <a:t>Notice that the order changed from 21 to 22. An odd-order FIR filter with symmetric coefficients always has a zero at Nyquist, so it cannot pass high frequencies. For that reason fir1 requires an even order for high-pass filters, and if you give it an odd order it bumps the order up by one and warns you.</a:t>
            </a:r>
          </a:p>
          <a:p>
            <a:pPr marL="0" lvl="0" indent="0" algn="l" rtl="0">
              <a:lnSpc>
                <a:spcPct val="100000"/>
              </a:lnSpc>
              <a:spcBef>
                <a:spcPts val="0"/>
              </a:spcBef>
              <a:spcAft>
                <a:spcPts val="600"/>
              </a:spcAft>
              <a:buSzPts val="1400"/>
              <a:buNone/>
            </a:pPr>
            <a:r>
              <a:rPr lang="en-US" dirty="0"/>
              <a:t>Quick check: what is the delay in samples for the 21st-order low-pass filter on the previous slide? Next, you see the band-pass version.</a:t>
            </a:r>
          </a:p>
        </p:txBody>
      </p:sp>
      <p:sp>
        <p:nvSpPr>
          <p:cNvPr id="116" name="Google Shape;116;p29:notes">
            <a:extLst>
              <a:ext uri="{FF2B5EF4-FFF2-40B4-BE49-F238E27FC236}">
                <a16:creationId xmlns:a16="http://schemas.microsoft.com/office/drawing/2014/main" id="{6C902BBA-48E1-08F9-BFD0-6F19B541E6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43696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E23ED40-A928-3C51-8F34-BF9E18B02C7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FA34A83-1DA0-2D72-4697-F5C1BC8D0D7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the set of three filter types with a band-pass design. The left side shows MATLAB code. A comment reads "21st Order band-Pass Filter." Then Order = 21; Wn = [0.35 0.65]; b = fir1(Order, Wn, 'bandpass'); and finally freqz(b,1,512).</a:t>
            </a:r>
          </a:p>
          <a:p>
            <a:pPr marL="0" lvl="0" indent="0" algn="l" rtl="0">
              <a:lnSpc>
                <a:spcPct val="100000"/>
              </a:lnSpc>
              <a:spcBef>
                <a:spcPts val="0"/>
              </a:spcBef>
              <a:spcAft>
                <a:spcPts val="600"/>
              </a:spcAft>
              <a:buSzPts val="1400"/>
              <a:buNone/>
            </a:pPr>
            <a:r>
              <a:rPr lang="en-US" dirty="0"/>
              <a:t>The right side shows the freqz output, with two plots against normalized frequency from 0 to 1 times pi radians per sample. The top plot is magnitude in dB. It shows a rounded passband that peaks at 0 dB at 0.5 and falls to about minus 40 dB by 0.2 and by 0.8. Outside the passband, small sidelobes sit between about minus 45 and minus 60 dB, with deep nulls near 0.05, 0.16, 0.82 and 0.91. The bottom plot is phase in degrees. It falls in a straight line from 0 to about minus 1150 degrees and jumps upward only at those magnitude nulls.</a:t>
            </a:r>
          </a:p>
          <a:p>
            <a:pPr marL="0" lvl="0" indent="0" algn="l" rtl="0">
              <a:lnSpc>
                <a:spcPct val="100000"/>
              </a:lnSpc>
              <a:spcBef>
                <a:spcPts val="0"/>
              </a:spcBef>
              <a:spcAft>
                <a:spcPts val="600"/>
              </a:spcAft>
              <a:buSzPts val="1400"/>
              <a:buNone/>
            </a:pPr>
            <a:r>
              <a:rPr lang="en-US" dirty="0"/>
              <a:t>The only change from the last two slides is Wn, which is now a two-element vector holding the lower and upper cutoffs. Remember that 1 means the Nyquist frequency, which is half your sample rate. So 0.35 and 0.65 mean 35 and 65 percent of Nyquist. If you sampled at 2 kHz, the passband would be roughly 350 to 650 Hz.</a:t>
            </a:r>
          </a:p>
          <a:p>
            <a:pPr marL="0" lvl="0" indent="0" algn="l" rtl="0">
              <a:lnSpc>
                <a:spcPct val="100000"/>
              </a:lnSpc>
              <a:spcBef>
                <a:spcPts val="0"/>
              </a:spcBef>
              <a:spcAft>
                <a:spcPts val="600"/>
              </a:spcAft>
              <a:buSzPts val="1400"/>
              <a:buNone/>
            </a:pPr>
            <a:r>
              <a:rPr lang="en-US" dirty="0"/>
              <a:t>As with the low-pass and high-pass designs, fir1 places the minus 6 dB points at the cutoffs. Order 21 gives 22 coefficients. That is a short filter, so the passband edges are rounded rather than sharp. Raising the order narrows the transition bands, but it costs more multiplies per sample and more delay.</a:t>
            </a:r>
          </a:p>
          <a:p>
            <a:pPr marL="0" lvl="0" indent="0" algn="l" rtl="0">
              <a:lnSpc>
                <a:spcPct val="100000"/>
              </a:lnSpc>
              <a:spcBef>
                <a:spcPts val="0"/>
              </a:spcBef>
              <a:spcAft>
                <a:spcPts val="600"/>
              </a:spcAft>
              <a:buSzPts val="1400"/>
              <a:buNone/>
            </a:pPr>
            <a:r>
              <a:rPr lang="en-US" dirty="0"/>
              <a:t>The straight phase line means linear phase. Every frequency is delayed by the same Order/2 = 10.5 samples, so the shape of the signal is preserved.</a:t>
            </a:r>
          </a:p>
          <a:p>
            <a:pPr marL="0" lvl="0" indent="0" algn="l" rtl="0">
              <a:lnSpc>
                <a:spcPct val="100000"/>
              </a:lnSpc>
              <a:spcBef>
                <a:spcPts val="0"/>
              </a:spcBef>
              <a:spcAft>
                <a:spcPts val="600"/>
              </a:spcAft>
              <a:buSzPts val="1400"/>
              <a:buNone/>
            </a:pPr>
            <a:r>
              <a:rPr lang="en-US" dirty="0"/>
              <a:t>On the next slide, you see all three filters applied to a signal made of four tones.</a:t>
            </a:r>
          </a:p>
        </p:txBody>
      </p:sp>
      <p:sp>
        <p:nvSpPr>
          <p:cNvPr id="116" name="Google Shape;116;p29:notes">
            <a:extLst>
              <a:ext uri="{FF2B5EF4-FFF2-40B4-BE49-F238E27FC236}">
                <a16:creationId xmlns:a16="http://schemas.microsoft.com/office/drawing/2014/main" id="{2627E26D-0211-53EF-1522-F60CE15D63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5792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F2788EA-2DF7-2743-908D-85D5B12DF3B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035C6EB-89A0-A4BF-9A4A-14CF2B8EB6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three filters you just designed in MATLAB to work on one test signal. It has four rows. Each row shows a time-domain plot on the left (amplitude versus time, 0 to 150 seconds) and its spectrum on the right (magnitude versus normalized frequency, 0 to 1 times pi radians per sample). The titles of the three filtered rows are hidden behind red boxes, so before reading on, try to name each filter from its spectrum.</a:t>
            </a:r>
          </a:p>
          <a:p>
            <a:pPr marL="0" lvl="0" indent="0" algn="l" rtl="0">
              <a:lnSpc>
                <a:spcPct val="100000"/>
              </a:lnSpc>
              <a:spcBef>
                <a:spcPts val="0"/>
              </a:spcBef>
              <a:spcAft>
                <a:spcPts val="600"/>
              </a:spcAft>
              <a:buSzPts val="1400"/>
              <a:buNone/>
            </a:pPr>
            <a:r>
              <a:rPr lang="en-US" dirty="0"/>
              <a:t>The top row is the input. In black, it swings between about minus 3 and plus 3 and looks like noise. Its spectrum shows that it is really four tones, at 0.1, 0.25, 0.5 and 0.8 pi.</a:t>
            </a:r>
          </a:p>
          <a:p>
            <a:pPr marL="0" lvl="0" indent="0" algn="l" rtl="0">
              <a:lnSpc>
                <a:spcPct val="100000"/>
              </a:lnSpc>
              <a:spcBef>
                <a:spcPts val="0"/>
              </a:spcBef>
              <a:spcAft>
                <a:spcPts val="600"/>
              </a:spcAft>
              <a:buSzPts val="1400"/>
              <a:buNone/>
            </a:pPr>
            <a:r>
              <a:rPr lang="en-US" dirty="0"/>
              <a:t>The second row, in blue, is the low-pass filter. Its passband, 0 to 0.2, is shaded grey. Only the 0.1 tone survives, giving a smooth, slow wave of about plus or minus 1.1.</a:t>
            </a:r>
          </a:p>
          <a:p>
            <a:pPr marL="0" lvl="0" indent="0" algn="l" rtl="0">
              <a:lnSpc>
                <a:spcPct val="100000"/>
              </a:lnSpc>
              <a:spcBef>
                <a:spcPts val="0"/>
              </a:spcBef>
              <a:spcAft>
                <a:spcPts val="600"/>
              </a:spcAft>
              <a:buSzPts val="1400"/>
              <a:buNone/>
            </a:pPr>
            <a:r>
              <a:rPr lang="en-US" dirty="0"/>
              <a:t>The third row, in red, is the high-pass filter, with 0.3 to 1 shaded. The 0.5 and 0.8 tones pass at nearly full height, and the result looks fast and jagged.</a:t>
            </a:r>
          </a:p>
          <a:p>
            <a:pPr marL="0" lvl="0" indent="0" algn="l" rtl="0">
              <a:lnSpc>
                <a:spcPct val="100000"/>
              </a:lnSpc>
              <a:spcBef>
                <a:spcPts val="0"/>
              </a:spcBef>
              <a:spcAft>
                <a:spcPts val="600"/>
              </a:spcAft>
              <a:buSzPts val="1400"/>
              <a:buNone/>
            </a:pPr>
            <a:r>
              <a:rPr lang="en-US" dirty="0"/>
              <a:t>The bottom row, in green, is the band-pass filter, with 0.35 to 0.65 shaded. It keeps only the 0.5 tone, a steady sinusoid of about plus or minus 0.75.</a:t>
            </a:r>
          </a:p>
          <a:p>
            <a:pPr marL="0" lvl="0" indent="0" algn="l" rtl="0">
              <a:lnSpc>
                <a:spcPct val="100000"/>
              </a:lnSpc>
              <a:spcBef>
                <a:spcPts val="0"/>
              </a:spcBef>
              <a:spcAft>
                <a:spcPts val="600"/>
              </a:spcAft>
              <a:buSzPts val="1400"/>
              <a:buNone/>
            </a:pPr>
            <a:r>
              <a:rPr lang="en-US" dirty="0"/>
              <a:t>Notice that a small spike remains at 0.25 in the low-pass and high-pass outputs, and a tiny one in the band-pass output. The 0.25 tone sits in the transition band, between the 0.2 and 0.3 cutoffs. A filter of order 21 or 22 cannot roll off sharply enough to remove it completely. A higher order gives a steeper edge, at the cost of more computation and more delay.</a:t>
            </a:r>
          </a:p>
          <a:p>
            <a:pPr marL="0" lvl="0" indent="0" algn="l" rtl="0">
              <a:lnSpc>
                <a:spcPct val="100000"/>
              </a:lnSpc>
              <a:spcBef>
                <a:spcPts val="0"/>
              </a:spcBef>
              <a:spcAft>
                <a:spcPts val="600"/>
              </a:spcAft>
              <a:buSzPts val="1400"/>
              <a:buNone/>
            </a:pPr>
            <a:r>
              <a:rPr lang="en-US" dirty="0"/>
              <a:t>Each output also begins with a short transient. The filter needs order + 1 samples before its history is full, which is exactly the state you will store when you implement the filter in C next.</a:t>
            </a:r>
          </a:p>
        </p:txBody>
      </p:sp>
      <p:sp>
        <p:nvSpPr>
          <p:cNvPr id="116" name="Google Shape;116;p29:notes">
            <a:extLst>
              <a:ext uri="{FF2B5EF4-FFF2-40B4-BE49-F238E27FC236}">
                <a16:creationId xmlns:a16="http://schemas.microsoft.com/office/drawing/2014/main" id="{9BF05D24-F265-B7EA-A101-566D97CF5C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45335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7836248-61AE-E82E-8CBF-65B0EE19DFD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6BE8E78-C260-2376-C670-377E1AB08D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contains only text, no figures. It makes three points. First, now that MATLAB has generated the filter coefficients, you need to implement the actual filter in your code. Second, while the robot is running you do not need to save the entire history of readings, only the last M states. Third, for an M-order filter you only ever need the current reading and the M previous readings.</a:t>
            </a:r>
          </a:p>
          <a:p>
            <a:pPr marL="0" lvl="0" indent="0" algn="l" rtl="0">
              <a:lnSpc>
                <a:spcPct val="100000"/>
              </a:lnSpc>
              <a:spcBef>
                <a:spcPts val="0"/>
              </a:spcBef>
              <a:spcAft>
                <a:spcPts val="600"/>
              </a:spcAft>
              <a:buSzPts val="1400"/>
              <a:buNone/>
            </a:pPr>
            <a:r>
              <a:rPr lang="en-US" dirty="0"/>
              <a:t>Here is why. An FIR filter of order M computes each output as a weighted sum: y[n] = b_0*x[n] + b_1*x[n-1] + ... + b_M*x[n-M]. In words, the output at sample n is the current input times the first coefficient, plus each earlier input times its matching coefficient, going back M samples. Inputs older than x[n-M] have no coefficient, so they never affect the output. Memory and computation per sample are therefore fixed, no matter how long the robot runs.</a:t>
            </a:r>
          </a:p>
          <a:p>
            <a:pPr marL="0" lvl="0" indent="0" algn="l" rtl="0">
              <a:lnSpc>
                <a:spcPct val="100000"/>
              </a:lnSpc>
              <a:spcBef>
                <a:spcPts val="0"/>
              </a:spcBef>
              <a:spcAft>
                <a:spcPts val="600"/>
              </a:spcAft>
              <a:buSzPts val="1400"/>
              <a:buNone/>
            </a:pPr>
            <a:r>
              <a:rPr lang="en-US" dirty="0"/>
              <a:t>In practice you keep an array of M+1 inputs. Each time a new ADC sample arrives, you shift the old values back one place (or advance a circular-buffer index), insert the new reading, and compute the multiply-and-add sum.</a:t>
            </a:r>
          </a:p>
          <a:p>
            <a:pPr marL="0" lvl="0" indent="0" algn="l" rtl="0">
              <a:lnSpc>
                <a:spcPct val="100000"/>
              </a:lnSpc>
              <a:spcBef>
                <a:spcPts val="0"/>
              </a:spcBef>
              <a:spcAft>
                <a:spcPts val="600"/>
              </a:spcAft>
              <a:buSzPts val="1400"/>
              <a:buNone/>
            </a:pPr>
            <a:r>
              <a:rPr lang="en-US" dirty="0"/>
              <a:t>A common mistake is an off-by-one array size. The 21st-order band-pass filter from fir1 on slide 42 returns 22 coefficients, not 21, so both your coefficient array and your sample buffer need 22 entries.</a:t>
            </a:r>
          </a:p>
          <a:p>
            <a:pPr marL="0" lvl="0" indent="0" algn="l" rtl="0">
              <a:lnSpc>
                <a:spcPct val="100000"/>
              </a:lnSpc>
              <a:spcBef>
                <a:spcPts val="0"/>
              </a:spcBef>
              <a:spcAft>
                <a:spcPts val="600"/>
              </a:spcAft>
              <a:buSzPts val="1400"/>
              <a:buNone/>
            </a:pPr>
            <a:r>
              <a:rPr lang="en-US" dirty="0"/>
              <a:t>To check your understanding: how many past readings does a 21st-order filter store, and how many multiplications does it perform per sample?</a:t>
            </a:r>
          </a:p>
        </p:txBody>
      </p:sp>
      <p:sp>
        <p:nvSpPr>
          <p:cNvPr id="116" name="Google Shape;116;p29:notes">
            <a:extLst>
              <a:ext uri="{FF2B5EF4-FFF2-40B4-BE49-F238E27FC236}">
                <a16:creationId xmlns:a16="http://schemas.microsoft.com/office/drawing/2014/main" id="{C6408BBA-6680-92EE-A6F1-4F75AA26FA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04966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word "Questions?" in large white text, centered on a dark blue background with faint hand-drawn equations and sketches, the orange Illinois "I" logo in the top corner, and the footer "Systems Engineering" and "Grainger Engineering."</a:t>
            </a:r>
          </a:p>
          <a:p>
            <a:pPr marL="0" lvl="0" indent="0" algn="l" rtl="0">
              <a:spcBef>
                <a:spcPts val="0"/>
              </a:spcBef>
              <a:spcAft>
                <a:spcPts val="600"/>
              </a:spcAft>
              <a:buNone/>
            </a:pPr>
            <a:r>
              <a:rPr lang="en-US" dirty="0"/>
              <a:t>We have just finished implementing the FIR filter in code. For an order-N filter you keep only the current reading and the previous N readings, never the whole history. This is a good moment to ask about anything from these two lectures: the FFT, DMA and the ping-pong buffer, ePWM-triggered ADC sampling, the Nyquist frequency, or choosing FIR coefficients in MATLAB.</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marks the end of Lectures 8 and 9. It is the Grainger College of Engineering, University of Illinois Urbana-Champaign, branding slide: the block I logo and college name on an orange background, with faint hand-drawn sketches of a differential volume element with flux equations, a sphere, chemical structures, and a mapping diagram.</a:t>
            </a:r>
          </a:p>
          <a:p>
            <a:pPr marL="0" lvl="0" indent="0" algn="l" rtl="0">
              <a:spcBef>
                <a:spcPts val="0"/>
              </a:spcBef>
              <a:spcAft>
                <a:spcPts val="600"/>
              </a:spcAft>
              <a:buNone/>
            </a:pPr>
            <a:r>
              <a:rPr lang="en-US" dirty="0"/>
              <a:t>You have now seen the FFT, DMA ping-pong buffers fed by an ePWM-timed ADC, and FIR filter design and implementation. Review the FIR code before applying it on your board.</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2.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2.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spUNpyF58BY?feature=oembed" TargetMode="External"/><Relationship Id="rId6" Type="http://schemas.openxmlformats.org/officeDocument/2006/relationships/hyperlink" Target="https://www.youtube.com/watch?v=spUNpyF58BY" TargetMode="External"/><Relationship Id="rId5" Type="http://schemas.openxmlformats.org/officeDocument/2006/relationships/image" Target="../media/image7.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h7apO7q16V0?feature=oembed" TargetMode="External"/><Relationship Id="rId6" Type="http://schemas.openxmlformats.org/officeDocument/2006/relationships/hyperlink" Target="https://www.youtube.com/watch?v=h7apO7q16V0" TargetMode="External"/><Relationship Id="rId5" Type="http://schemas.openxmlformats.org/officeDocument/2006/relationships/image" Target="../media/image8.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6.svg"/><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8-9: FFT and Filters</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Monday, February 16</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3 this week. This a 2-week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1 &amp; 2 are due </a:t>
            </a:r>
            <a:r>
              <a:rPr lang="en-US" sz="1800" b="1" dirty="0">
                <a:latin typeface="Atkinson Hyperlegible Next"/>
                <a:ea typeface="Arial"/>
                <a:cs typeface="Arial"/>
                <a:sym typeface="Arial"/>
              </a:rPr>
              <a:t>February 17,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3 &amp; 4 are due </a:t>
            </a:r>
            <a:r>
              <a:rPr lang="en-US" sz="1800" b="1" dirty="0">
                <a:latin typeface="Atkinson Hyperlegible Next"/>
                <a:ea typeface="Arial"/>
                <a:cs typeface="Arial"/>
                <a:sym typeface="Arial"/>
              </a:rPr>
              <a:t>February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homework 2 are due </a:t>
            </a:r>
            <a:r>
              <a:rPr lang="en-US" sz="1800" b="1">
                <a:latin typeface="Atkinson Hyperlegible Next"/>
                <a:ea typeface="Arial"/>
                <a:cs typeface="Arial"/>
                <a:sym typeface="Arial"/>
              </a:rPr>
              <a:t>February 25, </a:t>
            </a:r>
            <a:r>
              <a:rPr lang="en-US" sz="1800" b="1" dirty="0">
                <a:latin typeface="Atkinson Hyperlegible Next"/>
                <a:ea typeface="Arial"/>
                <a:cs typeface="Arial"/>
                <a:sym typeface="Arial"/>
              </a:rPr>
              <a:t>9AM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LabVIEW:</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4"/>
              </a:rPr>
              <a:t>LabVIEW 2</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26, 5PM</a:t>
            </a:r>
          </a:p>
          <a:p>
            <a:pPr marL="285750" indent="-285750">
              <a:lnSpc>
                <a:spcPct val="100000"/>
              </a:lnSpc>
              <a:spcBef>
                <a:spcPts val="0"/>
              </a:spcBef>
              <a:buSzPts val="3000"/>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CCE647-4D9B-354D-A2E9-718CA28CD750}"/>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D8464153-9B2B-C46F-8B05-77B5225DC43F}"/>
              </a:ext>
            </a:extLst>
          </p:cNvPr>
          <p:cNvGrpSpPr/>
          <p:nvPr/>
        </p:nvGrpSpPr>
        <p:grpSpPr>
          <a:xfrm>
            <a:off x="1441528" y="2296815"/>
            <a:ext cx="9308941" cy="2264370"/>
            <a:chOff x="1441528" y="1491040"/>
            <a:chExt cx="9308941" cy="2264370"/>
          </a:xfrm>
        </p:grpSpPr>
        <p:sp>
          <p:nvSpPr>
            <p:cNvPr id="89" name="Google Shape;89;p27"/>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 questions?</a:t>
              </a:r>
              <a:endParaRPr sz="1800" b="0" i="0" u="none" strike="noStrike" cap="none" dirty="0">
                <a:solidFill>
                  <a:schemeClr val="lt1"/>
                </a:solidFill>
                <a:latin typeface="Atkinson Hyperlegible Next"/>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2879241"/>
            <a:ext cx="9601200" cy="147728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Fourier Transforms &amp; FFT</a:t>
            </a:r>
          </a:p>
          <a:p>
            <a:pPr marL="0" marR="0" lvl="0" indent="0" algn="ctr" rtl="0">
              <a:lnSpc>
                <a:spcPct val="100000"/>
              </a:lnSpc>
              <a:spcBef>
                <a:spcPts val="0"/>
              </a:spcBef>
              <a:spcAft>
                <a:spcPts val="0"/>
              </a:spcAft>
              <a:buClr>
                <a:srgbClr val="000000"/>
              </a:buClr>
              <a:buSzPts val="4500"/>
              <a:buFont typeface="Arial"/>
              <a:buNone/>
            </a:pPr>
            <a:r>
              <a:rPr i="0" lang="en-US" sz="4500" b="1" dirty="0">
                <a:solidFill>
                  <a:srgbClr val="15264B"/>
                </a:solidFill>
              </a:rPr>
              <a:t>Background</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42763B-E2CB-1BF7-BF31-222732464BC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4E8FD42-5E11-5159-08B3-9A651CE2B45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1C1A7EC-B5A8-8C09-E8F7-8142C393EE0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Fourier Transforms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A3A4677-8A66-591A-396B-FD856A457A1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B4B7A9-38EB-C716-D51D-44BC54C0DE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ED241C-E340-F709-6E44-FE09CA71ED9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F603EE4-92AA-B2B8-7860-72DE52E6A4B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5C058FB-01BF-961F-B92E-5F9A9227DA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8A2CE47-359F-6F22-0389-A98A6D59B7D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Online Media 3" title="But what is the Fourier Transform?  A visual introduction." descr="YouTube video: But what is the Fourier Transform?  A visual introduction. (3Blue1Brown)">
            <a:hlinkClick r:id="" action="ppaction://media"/>
            <a:extLst>
              <a:ext uri="{FF2B5EF4-FFF2-40B4-BE49-F238E27FC236}">
                <a16:creationId xmlns:a16="http://schemas.microsoft.com/office/drawing/2014/main" id="{192F0912-D226-7A35-FB2D-C9FC953A3895}"/>
              </a:ext>
            </a:extLst>
          </p:cNvPr>
          <p:cNvPicPr>
            <a:picLocks noRot="1" noChangeAspect="1"/>
          </p:cNvPicPr>
          <p:nvPr>
            <a:videoFile r:link="rId1"/>
          </p:nvPr>
        </p:nvPicPr>
        <p:blipFill>
          <a:blip r:embed="rId5"/>
          <a:stretch>
            <a:fillRect/>
          </a:stretch>
        </p:blipFill>
        <p:spPr>
          <a:xfrm>
            <a:off x="1240790" y="953101"/>
            <a:ext cx="9710420" cy="5486400"/>
          </a:xfrm>
          <a:prstGeom prst="rect">
            <a:avLst/>
          </a:prstGeom>
        </p:spPr>
      </p:pic>
      <p:sp>
        <p:nvSpPr>
          <p:cNvPr id="2" name="TextBox 1">
            <a:extLst>
              <a:ext uri="{FF2B5EF4-FFF2-40B4-BE49-F238E27FC236}">
                <a16:creationId xmlns:a16="http://schemas.microsoft.com/office/drawing/2014/main" id="{2DC780DA-D429-0F83-6F59-0EFE3A19F66F}"/>
              </a:ext>
            </a:extLst>
          </p:cNvPr>
          <p:cNvSpPr txBox="1"/>
          <p:nvPr/>
        </p:nvSpPr>
        <p:spPr>
          <a:xfrm>
            <a:off x="4495800" y="6379854"/>
            <a:ext cx="3200400" cy="261610"/>
          </a:xfrm>
          <a:prstGeom prst="rect">
            <a:avLst/>
          </a:prstGeom>
          <a:noFill/>
        </p:spPr>
        <p:txBody>
          <a:bodyPr wrap="square" rtlCol="0">
            <a:spAutoFit/>
          </a:bodyPr>
          <a:lstStyle/>
          <a:p>
            <a:pPr algn="ctr"/>
            <a:r>
              <a:rPr lang="en-US" sz="1050" dirty="0">
                <a:hlinkClick r:id="rId6"/>
              </a:rPr>
              <a:t>https://www.youtube.com/watch?v=spUNpyF58BY</a:t>
            </a:r>
            <a:r>
              <a:rPr lang="en-US" sz="1050" dirty="0"/>
              <a:t> </a:t>
            </a:r>
          </a:p>
        </p:txBody>
      </p:sp>
    </p:spTree>
    <p:extLst>
      <p:ext uri="{BB962C8B-B14F-4D97-AF65-F5344CB8AC3E}">
        <p14:creationId xmlns:p14="http://schemas.microsoft.com/office/powerpoint/2010/main" val="185340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42763B-E2CB-1BF7-BF31-222732464BC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4E8FD42-5E11-5159-08B3-9A651CE2B45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1C1A7EC-B5A8-8C09-E8F7-8142C393EE0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A3A4677-8A66-591A-396B-FD856A457A1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B4B7A9-38EB-C716-D51D-44BC54C0DE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ED241C-E340-F709-6E44-FE09CA71ED9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F603EE4-92AA-B2B8-7860-72DE52E6A4B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5C058FB-01BF-961F-B92E-5F9A9227DA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8A2CE47-359F-6F22-0389-A98A6D59B7D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Online Media 1" title="The Fast Fourier Transform (FFT): Most Ingenious Algorithm Ever?" descr="YouTube video: The Fast Fourier Transform (FFT): Most Ingenious Algorithm Ever? (Reducible)">
            <a:hlinkClick r:id="" action="ppaction://media"/>
            <a:extLst>
              <a:ext uri="{FF2B5EF4-FFF2-40B4-BE49-F238E27FC236}">
                <a16:creationId xmlns:a16="http://schemas.microsoft.com/office/drawing/2014/main" id="{1266BBF1-2733-ED9E-F089-BF59196593FE}"/>
              </a:ext>
            </a:extLst>
          </p:cNvPr>
          <p:cNvPicPr>
            <a:picLocks noRot="1" noChangeAspect="1"/>
          </p:cNvPicPr>
          <p:nvPr>
            <a:videoFile r:link="rId1"/>
          </p:nvPr>
        </p:nvPicPr>
        <p:blipFill>
          <a:blip r:embed="rId5"/>
          <a:stretch>
            <a:fillRect/>
          </a:stretch>
        </p:blipFill>
        <p:spPr>
          <a:xfrm>
            <a:off x="1240790" y="950660"/>
            <a:ext cx="9710420" cy="5486400"/>
          </a:xfrm>
          <a:prstGeom prst="rect">
            <a:avLst/>
          </a:prstGeom>
        </p:spPr>
      </p:pic>
      <p:sp>
        <p:nvSpPr>
          <p:cNvPr id="3" name="TextBox 2">
            <a:extLst>
              <a:ext uri="{FF2B5EF4-FFF2-40B4-BE49-F238E27FC236}">
                <a16:creationId xmlns:a16="http://schemas.microsoft.com/office/drawing/2014/main" id="{77AC954C-475A-2D9E-75DC-A335B4C4696C}"/>
              </a:ext>
            </a:extLst>
          </p:cNvPr>
          <p:cNvSpPr txBox="1"/>
          <p:nvPr/>
        </p:nvSpPr>
        <p:spPr>
          <a:xfrm>
            <a:off x="4495800" y="6379854"/>
            <a:ext cx="3200400" cy="261610"/>
          </a:xfrm>
          <a:prstGeom prst="rect">
            <a:avLst/>
          </a:prstGeom>
          <a:noFill/>
        </p:spPr>
        <p:txBody>
          <a:bodyPr wrap="square" rtlCol="0">
            <a:spAutoFit/>
          </a:bodyPr>
          <a:lstStyle/>
          <a:p>
            <a:pPr algn="ctr"/>
            <a:r>
              <a:rPr lang="en-US" sz="1050" dirty="0">
                <a:hlinkClick r:id="rId6"/>
              </a:rPr>
              <a:t>https://www.youtube.com/watch?v=h7apO7q16V0</a:t>
            </a:r>
            <a:endParaRPr lang="en-US" sz="1050" dirty="0"/>
          </a:p>
        </p:txBody>
      </p:sp>
    </p:spTree>
    <p:extLst>
      <p:ext uri="{BB962C8B-B14F-4D97-AF65-F5344CB8AC3E}">
        <p14:creationId xmlns:p14="http://schemas.microsoft.com/office/powerpoint/2010/main" val="231040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CF9460F4-D27C-43BD-B6BF-D24B65D7D6A2}"/>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16C1B29-AB65-363F-A940-54B8C6D5C162}"/>
              </a:ext>
            </a:extLst>
          </p:cNvPr>
          <p:cNvSpPr/>
          <p:nvPr>
            <p:ph type="title"/>
          </p:nvPr>
        </p:nvSpPr>
        <p:spPr>
          <a:xfrm>
            <a:off x="1295400" y="2879241"/>
            <a:ext cx="9601200" cy="147728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Fourier Transforms &amp; FFT</a:t>
            </a:r>
          </a:p>
          <a:p>
            <a:pPr marL="0" marR="0" lvl="0" indent="0" algn="ctr" rtl="0">
              <a:lnSpc>
                <a:spcPct val="100000"/>
              </a:lnSpc>
              <a:spcBef>
                <a:spcPts val="0"/>
              </a:spcBef>
              <a:spcAft>
                <a:spcPts val="0"/>
              </a:spcAft>
              <a:buClr>
                <a:srgbClr val="000000"/>
              </a:buClr>
              <a:buSzPts val="4500"/>
              <a:buFont typeface="Arial"/>
              <a:buNone/>
            </a:pPr>
            <a:r>
              <a:rPr i="0" lang="en-US" sz="4500" b="1" dirty="0">
                <a:solidFill>
                  <a:srgbClr val="15264B"/>
                </a:solidFill>
              </a:rPr>
              <a:t>Code (1/2)</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6A025648-97C5-FC37-44BC-46109A437640}"/>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FCB2293F-513D-1ED6-B527-E0D2D626C620}"/>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FDC14660-92E6-6E0D-B9BE-E1A56A49DC47}"/>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DE6BC663-3A69-F081-6202-70254534BE17}"/>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9F7B5DE6-8E3C-E4B3-F44B-D3917CECF7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6112376-7AB1-A2F0-9889-11A0CAEC4FEA}"/>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19C13250-5B7D-B5A4-75BB-743650F5004F}"/>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16180856-B6E3-D359-5A41-2FEDE01863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525E4714-6589-78EA-B2B5-9C91B72D270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90904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69DAC36-BC62-ED26-4792-66FC2F9B142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87BC777-59CD-B642-EABF-5E0A1F647B2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dirty="0">
                <a:solidFill>
                  <a:schemeClr val="tx1"/>
                </a:solidFill>
                <a:latin typeface="Atkinson Hyperlegible Next"/>
                <a:ea typeface="Arial"/>
                <a:cs typeface="Arial"/>
                <a:sym typeface="Arial"/>
              </a:rPr>
              <a:t>You just watched a couple of videos all about what a Fourier transform is, and what the FFT is…</a:t>
            </a:r>
          </a:p>
          <a:p>
            <a:pPr marL="0" lvl="0" indent="0">
              <a:lnSpc>
                <a:spcPct val="100000"/>
              </a:lnSpc>
              <a:spcBef>
                <a:spcPts val="0"/>
              </a:spcBef>
              <a:buSzPts val="2000"/>
              <a:buNone/>
            </a:pPr>
            <a:endParaRPr lang="en-US" dirty="0">
              <a:solidFill>
                <a:schemeClr val="tx1"/>
              </a:solidFill>
              <a:latin typeface="Atkinson Hyperlegible Next"/>
              <a:cs typeface="Arial"/>
              <a:sym typeface="Arial"/>
            </a:endParaRPr>
          </a:p>
          <a:p>
            <a:pPr marL="0" lvl="0" indent="0">
              <a:lnSpc>
                <a:spcPct val="100000"/>
              </a:lnSpc>
              <a:spcBef>
                <a:spcPts val="0"/>
              </a:spcBef>
              <a:buSzPts val="2000"/>
              <a:buNone/>
            </a:pPr>
            <a:r>
              <a:rPr lang="en-US" dirty="0">
                <a:solidFill>
                  <a:schemeClr val="tx1"/>
                </a:solidFill>
                <a:latin typeface="Atkinson Hyperlegible Next"/>
                <a:cs typeface="Arial"/>
                <a:sym typeface="Arial"/>
              </a:rPr>
              <a:t>Time to implement it!</a:t>
            </a:r>
          </a:p>
          <a:p>
            <a:pPr marL="0" lvl="0" indent="0">
              <a:lnSpc>
                <a:spcPct val="100000"/>
              </a:lnSpc>
              <a:spcBef>
                <a:spcPts val="0"/>
              </a:spcBef>
              <a:buSzPts val="2000"/>
              <a:buNone/>
            </a:pPr>
            <a:endParaRPr lang="en-US" dirty="0">
              <a:solidFill>
                <a:schemeClr val="tx1"/>
              </a:solidFill>
              <a:latin typeface="Atkinson Hyperlegible Next"/>
              <a:cs typeface="Arial"/>
              <a:sym typeface="Arial"/>
            </a:endParaRPr>
          </a:p>
          <a:p>
            <a:pPr marL="0" lvl="0" indent="0">
              <a:lnSpc>
                <a:spcPct val="100000"/>
              </a:lnSpc>
              <a:spcBef>
                <a:spcPts val="0"/>
              </a:spcBef>
              <a:buSzPts val="2000"/>
              <a:buNone/>
            </a:pPr>
            <a:r>
              <a:rPr lang="en-US" dirty="0">
                <a:solidFill>
                  <a:schemeClr val="tx1"/>
                </a:solidFill>
                <a:latin typeface="Atkinson Hyperlegible Next"/>
                <a:cs typeface="Arial"/>
                <a:sym typeface="Arial"/>
              </a:rPr>
              <a:t>Just joking, smart people have already implemented the algorithms and optimized it to work with this specific hardware to be as efficient as possible.</a:t>
            </a:r>
          </a:p>
          <a:p>
            <a:pPr marL="0" lvl="0" indent="0">
              <a:lnSpc>
                <a:spcPct val="100000"/>
              </a:lnSpc>
              <a:spcBef>
                <a:spcPts val="0"/>
              </a:spcBef>
              <a:buSzPts val="2000"/>
              <a:buNone/>
            </a:pPr>
            <a:endParaRPr lang="en-US" dirty="0">
              <a:solidFill>
                <a:schemeClr val="tx1"/>
              </a:solidFill>
              <a:latin typeface="Atkinson Hyperlegible Next"/>
              <a:cs typeface="Arial"/>
              <a:sym typeface="Arial"/>
            </a:endParaRPr>
          </a:p>
          <a:p>
            <a:pPr marL="0" lvl="0" indent="0">
              <a:lnSpc>
                <a:spcPct val="100000"/>
              </a:lnSpc>
              <a:spcBef>
                <a:spcPts val="0"/>
              </a:spcBef>
              <a:buSzPts val="2000"/>
              <a:buNone/>
            </a:pPr>
            <a:r>
              <a:rPr lang="en-US" dirty="0">
                <a:solidFill>
                  <a:schemeClr val="tx1"/>
                </a:solidFill>
                <a:latin typeface="Atkinson Hyperlegible Next"/>
                <a:cs typeface="Arial"/>
                <a:sym typeface="Arial"/>
              </a:rPr>
              <a:t>This one was implemented to work in C++ and C.</a:t>
            </a:r>
          </a:p>
        </p:txBody>
      </p:sp>
      <p:sp>
        <p:nvSpPr>
          <p:cNvPr id="119" name="Google Shape;119;p29">
            <a:extLst>
              <a:ext uri="{FF2B5EF4-FFF2-40B4-BE49-F238E27FC236}">
                <a16:creationId xmlns:a16="http://schemas.microsoft.com/office/drawing/2014/main" id="{A4EB0BF0-B27E-1F1E-2C09-BFA2949717E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60DE49B-53D7-3285-AD02-28FD9B6C1E4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(1/5)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05F33A1-B0A0-E540-B49E-687B4377079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37B5BF9-D07F-CA63-007B-01C048994EA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CE80AFD-7EC7-2029-E504-139A90E8537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61960E2-C6E4-83C0-9112-E1ED630C319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8FD223C-A2F3-4418-0ECC-DF4DFE96F1C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328AA8-8C5F-5B40-C212-60F1EB3B10C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7713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4AB861-F1B4-3501-8981-6DC533D5EF7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EDDD6A1-5546-F26C-8667-40B361B37A22}"/>
              </a:ext>
            </a:extLst>
          </p:cNvPr>
          <p:cNvSpPr txBox="1">
            <a:spLocks noGrp="1"/>
          </p:cNvSpPr>
          <p:nvPr>
            <p:ph type="body" idx="1"/>
          </p:nvPr>
        </p:nvSpPr>
        <p:spPr>
          <a:xfrm>
            <a:off x="376809" y="1334279"/>
            <a:ext cx="5719191" cy="4821102"/>
          </a:xfrm>
          <a:prstGeom prst="rect">
            <a:avLst/>
          </a:prstGeom>
          <a:noFill/>
          <a:ln>
            <a:noFill/>
          </a:ln>
        </p:spPr>
        <p:txBody>
          <a:bodyPr spcFirstLastPara="1" wrap="square" lIns="91425" tIns="45700" rIns="91425" bIns="45700" anchor="ctr" anchorCtr="0">
            <a:noAutofit/>
          </a:bodyPr>
          <a:lstStyle/>
          <a:p>
            <a:pPr marL="114300" indent="0">
              <a:spcBef>
                <a:spcPts val="0"/>
              </a:spcBef>
              <a:buNone/>
            </a:pPr>
            <a:r>
              <a:rPr lang="en-US" sz="1050" dirty="0">
                <a:solidFill>
                  <a:srgbClr val="7F0055"/>
                </a:solidFill>
                <a:latin typeface="Consolas" panose="020B0609020204030204" pitchFamily="49" charset="0"/>
              </a:rPr>
              <a:t>#define</a:t>
            </a:r>
            <a:r>
              <a:rPr lang="en-US" sz="1050" dirty="0">
                <a:solidFill>
                  <a:srgbClr val="000000"/>
                </a:solidFill>
                <a:latin typeface="Consolas" panose="020B0609020204030204" pitchFamily="49" charset="0"/>
              </a:rPr>
              <a:t> RFFT_STAGES     10</a:t>
            </a:r>
          </a:p>
          <a:p>
            <a:pPr marL="114300" indent="0">
              <a:spcBef>
                <a:spcPts val="0"/>
              </a:spcBef>
              <a:buNone/>
            </a:pPr>
            <a:r>
              <a:rPr lang="de-DE" sz="1050" dirty="0">
                <a:solidFill>
                  <a:srgbClr val="7F0055"/>
                </a:solidFill>
                <a:latin typeface="Consolas" panose="020B0609020204030204" pitchFamily="49" charset="0"/>
              </a:rPr>
              <a:t>#define</a:t>
            </a:r>
            <a:r>
              <a:rPr lang="de-DE" sz="1050" dirty="0">
                <a:solidFill>
                  <a:srgbClr val="000000"/>
                </a:solidFill>
                <a:latin typeface="Consolas" panose="020B0609020204030204" pitchFamily="49" charset="0"/>
              </a:rPr>
              <a:t> RFFT_SIZE       (1 &lt;&lt; RFFT_STAGES)           </a:t>
            </a:r>
            <a:r>
              <a:rPr lang="en-US" sz="1050" dirty="0">
                <a:solidFill>
                  <a:srgbClr val="3F7F5F"/>
                </a:solidFill>
                <a:latin typeface="Consolas" panose="020B0609020204030204" pitchFamily="49" charset="0"/>
              </a:rPr>
              <a:t>// 1024</a:t>
            </a:r>
            <a:endParaRPr lang="de-DE" sz="1050" dirty="0">
              <a:solidFill>
                <a:srgbClr val="000000"/>
              </a:solidFill>
              <a:latin typeface="Consolas" panose="020B0609020204030204" pitchFamily="49" charset="0"/>
            </a:endParaRP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7F0055"/>
                </a:solidFill>
                <a:latin typeface="Consolas" panose="020B0609020204030204" pitchFamily="49" charset="0"/>
              </a:rPr>
              <a:t>#pragma</a:t>
            </a:r>
            <a:r>
              <a:rPr lang="en-US" sz="1050" dirty="0">
                <a:solidFill>
                  <a:srgbClr val="000000"/>
                </a:solidFill>
                <a:latin typeface="Consolas" panose="020B0609020204030204" pitchFamily="49" charset="0"/>
              </a:rPr>
              <a:t> DATA_SECTION(</a:t>
            </a:r>
            <a:r>
              <a:rPr lang="en-US" sz="1050" dirty="0" err="1">
                <a:solidFill>
                  <a:srgbClr val="000000"/>
                </a:solidFill>
                <a:latin typeface="Consolas" panose="020B0609020204030204" pitchFamily="49" charset="0"/>
              </a:rPr>
              <a:t>pwrSpec</a:t>
            </a:r>
            <a:r>
              <a:rPr lang="en-US" sz="1050" dirty="0">
                <a:solidFill>
                  <a:srgbClr val="000000"/>
                </a:solidFill>
                <a:latin typeface="Consolas" panose="020B0609020204030204" pitchFamily="49" charset="0"/>
              </a:rPr>
              <a:t>, </a:t>
            </a:r>
            <a:r>
              <a:rPr lang="en-US" sz="1050" dirty="0">
                <a:solidFill>
                  <a:srgbClr val="2A00FF"/>
                </a:solidFill>
                <a:latin typeface="Consolas" panose="020B0609020204030204" pitchFamily="49" charset="0"/>
              </a:rPr>
              <a:t>"FFT_buffer_2"</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pwrSpec</a:t>
            </a:r>
            <a:r>
              <a:rPr lang="en-US" sz="1050" dirty="0">
                <a:solidFill>
                  <a:srgbClr val="000000"/>
                </a:solidFill>
                <a:latin typeface="Consolas" panose="020B0609020204030204" pitchFamily="49" charset="0"/>
              </a:rPr>
              <a:t>[(RFFT_SIZE/2)+1];</a:t>
            </a:r>
          </a:p>
          <a:p>
            <a:pPr marL="114300" indent="0">
              <a:spcBef>
                <a:spcPts val="0"/>
              </a:spcBef>
              <a:buNone/>
            </a:pP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maxpwr</a:t>
            </a:r>
            <a:r>
              <a:rPr lang="en-US" sz="1050" dirty="0">
                <a:solidFill>
                  <a:srgbClr val="000000"/>
                </a:solidFill>
                <a:latin typeface="Consolas" panose="020B0609020204030204" pitchFamily="49" charset="0"/>
              </a:rPr>
              <a:t> = 0;</a:t>
            </a:r>
          </a:p>
          <a:p>
            <a:pPr marL="114300" indent="0">
              <a:spcBef>
                <a:spcPts val="0"/>
              </a:spcBef>
              <a:buNone/>
            </a:pPr>
            <a:r>
              <a:rPr lang="en-US" sz="1050" dirty="0">
                <a:solidFill>
                  <a:srgbClr val="005032"/>
                </a:solidFill>
                <a:latin typeface="Consolas" panose="020B0609020204030204" pitchFamily="49" charset="0"/>
              </a:rPr>
              <a:t>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maxpwrindex</a:t>
            </a:r>
            <a:r>
              <a:rPr lang="en-US" sz="1050" dirty="0">
                <a:solidFill>
                  <a:srgbClr val="000000"/>
                </a:solidFill>
                <a:latin typeface="Consolas" panose="020B0609020204030204" pitchFamily="49" charset="0"/>
              </a:rPr>
              <a:t> = 0;</a:t>
            </a: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7F0055"/>
                </a:solidFill>
                <a:latin typeface="Consolas" panose="020B0609020204030204" pitchFamily="49" charset="0"/>
              </a:rPr>
              <a:t>#pragma</a:t>
            </a:r>
            <a:r>
              <a:rPr lang="en-US" sz="1050" dirty="0">
                <a:solidFill>
                  <a:srgbClr val="000000"/>
                </a:solidFill>
                <a:latin typeface="Consolas" panose="020B0609020204030204" pitchFamily="49" charset="0"/>
              </a:rPr>
              <a:t> DATA_SECTION(</a:t>
            </a:r>
            <a:r>
              <a:rPr lang="en-US" sz="1050" dirty="0" err="1">
                <a:solidFill>
                  <a:srgbClr val="000000"/>
                </a:solidFill>
                <a:latin typeface="Consolas" panose="020B0609020204030204" pitchFamily="49" charset="0"/>
              </a:rPr>
              <a:t>test_output</a:t>
            </a:r>
            <a:r>
              <a:rPr lang="en-US" sz="1050" dirty="0">
                <a:solidFill>
                  <a:srgbClr val="000000"/>
                </a:solidFill>
                <a:latin typeface="Consolas" panose="020B0609020204030204" pitchFamily="49" charset="0"/>
              </a:rPr>
              <a:t>, </a:t>
            </a:r>
            <a:r>
              <a:rPr lang="en-US" sz="1050" dirty="0">
                <a:solidFill>
                  <a:srgbClr val="2A00FF"/>
                </a:solidFill>
                <a:latin typeface="Consolas" panose="020B0609020204030204" pitchFamily="49" charset="0"/>
              </a:rPr>
              <a:t>"FFT_buffer_2"</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test_output</a:t>
            </a:r>
            <a:r>
              <a:rPr lang="en-US" sz="1050" dirty="0">
                <a:solidFill>
                  <a:srgbClr val="000000"/>
                </a:solidFill>
                <a:latin typeface="Consolas" panose="020B0609020204030204" pitchFamily="49" charset="0"/>
              </a:rPr>
              <a:t>[RFFT_SIZE];</a:t>
            </a: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7F0055"/>
                </a:solidFill>
                <a:latin typeface="Consolas" panose="020B0609020204030204" pitchFamily="49" charset="0"/>
              </a:rPr>
              <a:t>#pragma</a:t>
            </a:r>
            <a:r>
              <a:rPr lang="en-US" sz="1050" dirty="0">
                <a:solidFill>
                  <a:srgbClr val="000000"/>
                </a:solidFill>
                <a:latin typeface="Consolas" panose="020B0609020204030204" pitchFamily="49" charset="0"/>
              </a:rPr>
              <a:t> DATA_SECTION(</a:t>
            </a:r>
            <a:r>
              <a:rPr lang="en-US" sz="1050" dirty="0" err="1">
                <a:solidFill>
                  <a:srgbClr val="000000"/>
                </a:solidFill>
                <a:latin typeface="Consolas" panose="020B0609020204030204" pitchFamily="49" charset="0"/>
              </a:rPr>
              <a:t>fft_input</a:t>
            </a:r>
            <a:r>
              <a:rPr lang="en-US" sz="1050" dirty="0">
                <a:solidFill>
                  <a:srgbClr val="000000"/>
                </a:solidFill>
                <a:latin typeface="Consolas" panose="020B0609020204030204" pitchFamily="49" charset="0"/>
              </a:rPr>
              <a:t>, </a:t>
            </a:r>
            <a:r>
              <a:rPr lang="en-US" sz="1050" dirty="0">
                <a:solidFill>
                  <a:srgbClr val="2A00FF"/>
                </a:solidFill>
                <a:latin typeface="Consolas" panose="020B0609020204030204" pitchFamily="49" charset="0"/>
              </a:rPr>
              <a:t>"FFT_buffer_1"</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fft_input</a:t>
            </a:r>
            <a:r>
              <a:rPr lang="en-US" sz="1050" dirty="0">
                <a:solidFill>
                  <a:srgbClr val="000000"/>
                </a:solidFill>
                <a:latin typeface="Consolas" panose="020B0609020204030204" pitchFamily="49" charset="0"/>
              </a:rPr>
              <a:t>[RFFT_SIZE];</a:t>
            </a: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7F0055"/>
                </a:solidFill>
                <a:latin typeface="Consolas" panose="020B0609020204030204" pitchFamily="49" charset="0"/>
              </a:rPr>
              <a:t>#pragma</a:t>
            </a:r>
            <a:r>
              <a:rPr lang="en-US" sz="1050" dirty="0">
                <a:solidFill>
                  <a:srgbClr val="000000"/>
                </a:solidFill>
                <a:latin typeface="Consolas" panose="020B0609020204030204" pitchFamily="49" charset="0"/>
              </a:rPr>
              <a:t> DATA_SECTION(RFFTF32Coef,</a:t>
            </a:r>
            <a:r>
              <a:rPr lang="en-US" sz="1050" dirty="0">
                <a:solidFill>
                  <a:srgbClr val="2A00FF"/>
                </a:solidFill>
                <a:latin typeface="Consolas" panose="020B0609020204030204" pitchFamily="49" charset="0"/>
              </a:rPr>
              <a:t>"FFT_buffer_2"</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RFFTF32Coef[RFFT_SIZE];</a:t>
            </a: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7F0055"/>
                </a:solidFill>
                <a:latin typeface="Consolas" panose="020B0609020204030204" pitchFamily="49" charset="0"/>
              </a:rPr>
              <a:t>#pragma</a:t>
            </a:r>
            <a:r>
              <a:rPr lang="en-US" sz="1050" dirty="0">
                <a:solidFill>
                  <a:srgbClr val="000000"/>
                </a:solidFill>
                <a:latin typeface="Consolas" panose="020B0609020204030204" pitchFamily="49" charset="0"/>
              </a:rPr>
              <a:t> DATA_SECTION(</a:t>
            </a:r>
            <a:r>
              <a:rPr lang="en-US" sz="1050" dirty="0" err="1">
                <a:solidFill>
                  <a:srgbClr val="000000"/>
                </a:solidFill>
                <a:latin typeface="Consolas" panose="020B0609020204030204" pitchFamily="49" charset="0"/>
              </a:rPr>
              <a:t>AdcPingBufRaw</a:t>
            </a:r>
            <a:r>
              <a:rPr lang="en-US" sz="1050" dirty="0">
                <a:solidFill>
                  <a:srgbClr val="000000"/>
                </a:solidFill>
                <a:latin typeface="Consolas" panose="020B0609020204030204" pitchFamily="49" charset="0"/>
              </a:rPr>
              <a:t>, </a:t>
            </a:r>
            <a:r>
              <a:rPr lang="en-US" sz="1050" dirty="0">
                <a:solidFill>
                  <a:srgbClr val="2A00FF"/>
                </a:solidFill>
                <a:latin typeface="Consolas" panose="020B0609020204030204" pitchFamily="49" charset="0"/>
              </a:rPr>
              <a:t>"FFT_buffer_2"</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AdcPingBufRaw</a:t>
            </a:r>
            <a:r>
              <a:rPr lang="en-US" sz="1050" dirty="0">
                <a:solidFill>
                  <a:srgbClr val="000000"/>
                </a:solidFill>
                <a:latin typeface="Consolas" panose="020B0609020204030204" pitchFamily="49" charset="0"/>
              </a:rPr>
              <a:t>[RFFT_SIZE];</a:t>
            </a: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7F0055"/>
                </a:solidFill>
                <a:latin typeface="Consolas" panose="020B0609020204030204" pitchFamily="49" charset="0"/>
              </a:rPr>
              <a:t>#pragma</a:t>
            </a:r>
            <a:r>
              <a:rPr lang="en-US" sz="1050" dirty="0">
                <a:solidFill>
                  <a:srgbClr val="000000"/>
                </a:solidFill>
                <a:latin typeface="Consolas" panose="020B0609020204030204" pitchFamily="49" charset="0"/>
              </a:rPr>
              <a:t> DATA_SECTION(</a:t>
            </a:r>
            <a:r>
              <a:rPr lang="en-US" sz="1050" dirty="0" err="1">
                <a:solidFill>
                  <a:srgbClr val="000000"/>
                </a:solidFill>
                <a:latin typeface="Consolas" panose="020B0609020204030204" pitchFamily="49" charset="0"/>
              </a:rPr>
              <a:t>AdcPongBufRaw</a:t>
            </a:r>
            <a:r>
              <a:rPr lang="en-US" sz="1050" dirty="0">
                <a:solidFill>
                  <a:srgbClr val="000000"/>
                </a:solidFill>
                <a:latin typeface="Consolas" panose="020B0609020204030204" pitchFamily="49" charset="0"/>
              </a:rPr>
              <a:t>, </a:t>
            </a:r>
            <a:r>
              <a:rPr lang="en-US" sz="1050" dirty="0">
                <a:solidFill>
                  <a:srgbClr val="2A00FF"/>
                </a:solidFill>
                <a:latin typeface="Consolas" panose="020B0609020204030204" pitchFamily="49" charset="0"/>
              </a:rPr>
              <a:t>"FFT_buffer_2"</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AdcPongBufRaw</a:t>
            </a:r>
            <a:r>
              <a:rPr lang="en-US" sz="1050" dirty="0">
                <a:solidFill>
                  <a:srgbClr val="000000"/>
                </a:solidFill>
                <a:latin typeface="Consolas" panose="020B0609020204030204" pitchFamily="49" charset="0"/>
              </a:rPr>
              <a:t>[RFFT_SIZE];</a:t>
            </a:r>
          </a:p>
          <a:p>
            <a:pPr marL="114300" indent="0">
              <a:spcBef>
                <a:spcPts val="0"/>
              </a:spcBef>
              <a:buNone/>
            </a:pPr>
            <a:endParaRPr lang="en-US" sz="1050" dirty="0">
              <a:latin typeface="Consolas" panose="020B0609020204030204" pitchFamily="49" charset="0"/>
            </a:endParaRPr>
          </a:p>
          <a:p>
            <a:pPr marL="114300" indent="0">
              <a:spcBef>
                <a:spcPts val="0"/>
              </a:spcBef>
              <a:buNone/>
            </a:pPr>
            <a:r>
              <a:rPr lang="en-US" sz="1050" dirty="0">
                <a:solidFill>
                  <a:srgbClr val="005032"/>
                </a:solidFill>
                <a:latin typeface="Consolas" panose="020B0609020204030204" pitchFamily="49" charset="0"/>
              </a:rPr>
              <a:t>RFFT_F32_STRUCT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rfft</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005032"/>
                </a:solidFill>
                <a:latin typeface="Consolas" panose="020B0609020204030204" pitchFamily="49" charset="0"/>
              </a:rPr>
              <a:t>RFFT_F32_STRUCT_Handle</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hnd_rfft</a:t>
            </a:r>
            <a:r>
              <a:rPr lang="en-US" sz="1050" dirty="0">
                <a:solidFill>
                  <a:srgbClr val="000000"/>
                </a:solidFill>
                <a:latin typeface="Consolas" panose="020B0609020204030204" pitchFamily="49" charset="0"/>
              </a:rPr>
              <a:t> = &amp;</a:t>
            </a:r>
            <a:r>
              <a:rPr lang="en-US" sz="1050" dirty="0" err="1">
                <a:solidFill>
                  <a:srgbClr val="000000"/>
                </a:solidFill>
                <a:latin typeface="Consolas" panose="020B0609020204030204" pitchFamily="49" charset="0"/>
              </a:rPr>
              <a:t>rfft</a:t>
            </a:r>
            <a:r>
              <a:rPr lang="en-US" sz="1050" dirty="0">
                <a:solidFill>
                  <a:srgbClr val="000000"/>
                </a:solidFill>
                <a:latin typeface="Consolas" panose="020B0609020204030204" pitchFamily="49" charset="0"/>
              </a:rPr>
              <a:t>;</a:t>
            </a:r>
          </a:p>
          <a:p>
            <a:pPr marL="114300" indent="0">
              <a:spcBef>
                <a:spcPts val="0"/>
              </a:spcBef>
              <a:buNone/>
            </a:pP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pingFFT</a:t>
            </a:r>
            <a:r>
              <a:rPr lang="en-US" sz="1050" dirty="0">
                <a:solidFill>
                  <a:srgbClr val="000000"/>
                </a:solidFill>
                <a:latin typeface="Consolas" panose="020B0609020204030204" pitchFamily="49" charset="0"/>
              </a:rPr>
              <a:t> = 0;</a:t>
            </a:r>
          </a:p>
          <a:p>
            <a:pPr marL="114300" indent="0">
              <a:spcBef>
                <a:spcPts val="0"/>
              </a:spcBef>
              <a:buNone/>
            </a:pP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pongFFT</a:t>
            </a:r>
            <a:r>
              <a:rPr lang="en-US" sz="1050" dirty="0">
                <a:solidFill>
                  <a:srgbClr val="000000"/>
                </a:solidFill>
                <a:latin typeface="Consolas" panose="020B0609020204030204" pitchFamily="49" charset="0"/>
              </a:rPr>
              <a:t> = 0;</a:t>
            </a:r>
          </a:p>
          <a:p>
            <a:pPr marL="114300" indent="0">
              <a:spcBef>
                <a:spcPts val="0"/>
              </a:spcBef>
              <a:buNone/>
            </a:pP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pingpongFFT</a:t>
            </a:r>
            <a:r>
              <a:rPr lang="en-US" sz="1050" dirty="0">
                <a:solidFill>
                  <a:srgbClr val="000000"/>
                </a:solidFill>
                <a:latin typeface="Consolas" panose="020B0609020204030204" pitchFamily="49" charset="0"/>
              </a:rPr>
              <a:t> = 1;</a:t>
            </a:r>
          </a:p>
          <a:p>
            <a:pPr marL="114300" indent="0">
              <a:spcBef>
                <a:spcPts val="0"/>
              </a:spcBef>
              <a:buNone/>
            </a:pP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iPingPong</a:t>
            </a:r>
            <a:r>
              <a:rPr lang="en-US" sz="1050" dirty="0">
                <a:solidFill>
                  <a:srgbClr val="000000"/>
                </a:solidFill>
                <a:latin typeface="Consolas" panose="020B0609020204030204" pitchFamily="49" charset="0"/>
              </a:rPr>
              <a:t> = 0;</a:t>
            </a:r>
          </a:p>
          <a:p>
            <a:pPr marL="114300" indent="0">
              <a:spcBef>
                <a:spcPts val="0"/>
              </a:spcBef>
              <a:buNone/>
            </a:pPr>
            <a:r>
              <a:rPr lang="en-US" sz="1050" dirty="0">
                <a:solidFill>
                  <a:srgbClr val="005032"/>
                </a:solidFill>
                <a:latin typeface="Consolas" panose="020B0609020204030204" pitchFamily="49" charset="0"/>
              </a:rPr>
              <a:t>int16_t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DMAcount</a:t>
            </a:r>
            <a:r>
              <a:rPr lang="en-US" sz="1050" dirty="0">
                <a:solidFill>
                  <a:srgbClr val="000000"/>
                </a:solidFill>
                <a:latin typeface="Consolas" panose="020B0609020204030204" pitchFamily="49" charset="0"/>
              </a:rPr>
              <a:t> = 0;</a:t>
            </a:r>
          </a:p>
          <a:p>
            <a:pPr marL="114300" indent="0">
              <a:spcBef>
                <a:spcPts val="0"/>
              </a:spcBef>
              <a:buNone/>
            </a:pPr>
            <a:r>
              <a:rPr lang="de-DE" sz="1050" dirty="0">
                <a:solidFill>
                  <a:srgbClr val="000000"/>
                </a:solidFill>
                <a:latin typeface="Consolas" panose="020B0609020204030204" pitchFamily="49" charset="0"/>
              </a:rPr>
              <a:t>__interrupt </a:t>
            </a:r>
            <a:r>
              <a:rPr lang="de-DE" sz="1050" dirty="0">
                <a:solidFill>
                  <a:srgbClr val="7F0055"/>
                </a:solidFill>
                <a:latin typeface="Consolas" panose="020B0609020204030204" pitchFamily="49" charset="0"/>
              </a:rPr>
              <a:t>void</a:t>
            </a:r>
            <a:r>
              <a:rPr lang="de-DE" sz="1050" dirty="0">
                <a:solidFill>
                  <a:srgbClr val="000000"/>
                </a:solidFill>
                <a:latin typeface="Consolas" panose="020B0609020204030204" pitchFamily="49" charset="0"/>
              </a:rPr>
              <a:t> DMA_ISR(</a:t>
            </a:r>
            <a:r>
              <a:rPr lang="de-DE" sz="1050" dirty="0">
                <a:solidFill>
                  <a:srgbClr val="7F0055"/>
                </a:solidFill>
                <a:latin typeface="Consolas" panose="020B0609020204030204" pitchFamily="49" charset="0"/>
              </a:rPr>
              <a:t>void</a:t>
            </a:r>
            <a:r>
              <a:rPr lang="de-DE" sz="1050" dirty="0">
                <a:solidFill>
                  <a:srgbClr val="000000"/>
                </a:solidFill>
                <a:latin typeface="Consolas" panose="020B0609020204030204" pitchFamily="49" charset="0"/>
              </a:rPr>
              <a:t>);</a:t>
            </a:r>
          </a:p>
          <a:p>
            <a:pPr marL="114300" indent="0">
              <a:spcBef>
                <a:spcPts val="0"/>
              </a:spcBef>
              <a:buNone/>
            </a:pPr>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InitDma</a:t>
            </a:r>
            <a:r>
              <a:rPr lang="en-US" sz="1050" dirty="0">
                <a:solidFill>
                  <a:srgbClr val="000000"/>
                </a:solidFill>
                <a:latin typeface="Consolas" panose="020B0609020204030204" pitchFamily="49" charset="0"/>
              </a:rPr>
              <a:t>(</a:t>
            </a:r>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a:t>
            </a:r>
            <a:endParaRPr lang="en-US" sz="1050" dirty="0">
              <a:solidFill>
                <a:schemeClr val="tx1"/>
              </a:solidFill>
              <a:latin typeface="Atkinson Hyperlegible Next"/>
              <a:cs typeface="Arial"/>
              <a:sym typeface="Arial"/>
            </a:endParaRPr>
          </a:p>
        </p:txBody>
      </p:sp>
      <p:sp>
        <p:nvSpPr>
          <p:cNvPr id="119" name="Google Shape;119;p29">
            <a:extLst>
              <a:ext uri="{FF2B5EF4-FFF2-40B4-BE49-F238E27FC236}">
                <a16:creationId xmlns:a16="http://schemas.microsoft.com/office/drawing/2014/main" id="{56E6CE3B-DB35-713F-A824-4F813F17244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2A397F3-E1C0-524A-B93C-8D1253109DC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(2/5)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FF9DC27-A494-0490-4BDD-E4AFDE5BCFF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792C39-E371-BBD2-C98A-7FD086E5FA3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241B66-6633-B164-0E05-ABF2075100F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3698982-8F38-1B75-29D8-D7E9643457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CFC9F4C-4E6C-60F2-E356-EDA864767F2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A957D6A-8DFA-ECF1-88F7-0A4F77D4E07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Google Shape;118;p29">
            <a:extLst>
              <a:ext uri="{FF2B5EF4-FFF2-40B4-BE49-F238E27FC236}">
                <a16:creationId xmlns:a16="http://schemas.microsoft.com/office/drawing/2014/main" id="{22F1CEFF-3E29-31A9-A18D-5622AB7CFD7C}"/>
              </a:ext>
            </a:extLst>
          </p:cNvPr>
          <p:cNvSpPr txBox="1">
            <a:spLocks/>
          </p:cNvSpPr>
          <p:nvPr/>
        </p:nvSpPr>
        <p:spPr>
          <a:xfrm>
            <a:off x="6096000" y="1350467"/>
            <a:ext cx="5719191" cy="482110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lgn="l">
              <a:spcBef>
                <a:spcPts val="0"/>
              </a:spcBef>
              <a:buNone/>
            </a:pPr>
            <a:r>
              <a:rPr lang="en-US" sz="1050" dirty="0">
                <a:solidFill>
                  <a:srgbClr val="7F0055"/>
                </a:solidFill>
                <a:latin typeface="Consolas" panose="020B0609020204030204" pitchFamily="49" charset="0"/>
              </a:rPr>
              <a:t>typedef</a:t>
            </a: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struct</a:t>
            </a: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InBuf</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Pointer to the input buffer</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OutBuf</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Pointer to the output buffer</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CosSinBuf</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Pointer to the twiddle factors</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MagBuf</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Pointer to the magnitude buffer</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PhaseBuf</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Pointer to the phase buffer</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FFTSize</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Size of the FFT (number of real data points)</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005032"/>
                </a:solidFill>
                <a:latin typeface="Consolas" panose="020B0609020204030204" pitchFamily="49" charset="0"/>
              </a:rPr>
              <a:t>uint16_t</a:t>
            </a:r>
            <a:r>
              <a:rPr lang="en-US" sz="1050" dirty="0">
                <a:solidFill>
                  <a:srgbClr val="000000"/>
                </a:solidFill>
                <a:latin typeface="Consolas" panose="020B0609020204030204" pitchFamily="49" charset="0"/>
              </a:rPr>
              <a:t>   </a:t>
            </a:r>
            <a:r>
              <a:rPr lang="en-US" sz="1050" dirty="0" err="1">
                <a:solidFill>
                  <a:srgbClr val="0000C0"/>
                </a:solidFill>
                <a:latin typeface="Consolas" panose="020B0609020204030204" pitchFamily="49" charset="0"/>
              </a:rPr>
              <a:t>FFTStages</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//!&lt; Number of FFT stages</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005032"/>
                </a:solidFill>
                <a:latin typeface="Consolas" panose="020B0609020204030204" pitchFamily="49" charset="0"/>
              </a:rPr>
              <a:t>RFFT_F32_STRUCT</a:t>
            </a:r>
            <a:r>
              <a:rPr lang="en-US" sz="1050" dirty="0">
                <a:solidFill>
                  <a:srgbClr val="000000"/>
                </a:solidFill>
                <a:latin typeface="Consolas" panose="020B0609020204030204" pitchFamily="49" charset="0"/>
              </a:rPr>
              <a:t>;</a:t>
            </a:r>
          </a:p>
          <a:p>
            <a:pPr marL="114300" indent="0" algn="l">
              <a:spcBef>
                <a:spcPts val="0"/>
              </a:spcBef>
              <a:buNone/>
            </a:pPr>
            <a:endParaRPr lang="en-US" sz="1050" dirty="0">
              <a:solidFill>
                <a:srgbClr val="000000"/>
              </a:solidFill>
              <a:latin typeface="Consolas" panose="020B0609020204030204" pitchFamily="49" charset="0"/>
              <a:cs typeface="Arial"/>
              <a:sym typeface="Arial"/>
            </a:endParaRPr>
          </a:p>
          <a:p>
            <a:pPr marL="114300" indent="0" algn="l">
              <a:spcBef>
                <a:spcPts val="0"/>
              </a:spcBef>
              <a:buNone/>
            </a:pPr>
            <a:endParaRPr lang="en-US" sz="1050" dirty="0">
              <a:solidFill>
                <a:srgbClr val="000000"/>
              </a:solidFill>
              <a:latin typeface="Consolas" panose="020B0609020204030204" pitchFamily="49" charset="0"/>
              <a:cs typeface="Arial"/>
              <a:sym typeface="Arial"/>
            </a:endParaRPr>
          </a:p>
          <a:p>
            <a:pPr marL="114300" indent="0" algn="l">
              <a:spcBef>
                <a:spcPts val="0"/>
              </a:spcBef>
              <a:buNone/>
            </a:pPr>
            <a:r>
              <a:rPr lang="en-US" sz="1050" dirty="0">
                <a:solidFill>
                  <a:srgbClr val="7F0055"/>
                </a:solidFill>
                <a:latin typeface="Consolas" panose="020B0609020204030204" pitchFamily="49" charset="0"/>
              </a:rPr>
              <a:t>typedef</a:t>
            </a:r>
            <a:r>
              <a:rPr lang="en-US" sz="1050" dirty="0">
                <a:solidFill>
                  <a:srgbClr val="000000"/>
                </a:solidFill>
                <a:latin typeface="Consolas" panose="020B0609020204030204" pitchFamily="49" charset="0"/>
              </a:rPr>
              <a:t> </a:t>
            </a:r>
            <a:r>
              <a:rPr lang="en-US" sz="1050" dirty="0">
                <a:solidFill>
                  <a:srgbClr val="005032"/>
                </a:solidFill>
                <a:latin typeface="Consolas" panose="020B0609020204030204" pitchFamily="49" charset="0"/>
              </a:rPr>
              <a:t>RFFT_F32_STRUCT</a:t>
            </a:r>
            <a:r>
              <a:rPr lang="en-US" sz="1050" dirty="0">
                <a:solidFill>
                  <a:srgbClr val="000000"/>
                </a:solidFill>
                <a:latin typeface="Consolas" panose="020B0609020204030204" pitchFamily="49" charset="0"/>
              </a:rPr>
              <a:t>* </a:t>
            </a:r>
            <a:r>
              <a:rPr lang="en-US" sz="1050" dirty="0">
                <a:solidFill>
                  <a:srgbClr val="005032"/>
                </a:solidFill>
                <a:latin typeface="Consolas" panose="020B0609020204030204" pitchFamily="49" charset="0"/>
              </a:rPr>
              <a:t>RFFT_F32_STRUCT_Handle</a:t>
            </a:r>
            <a:r>
              <a:rPr lang="en-US" sz="1050" dirty="0">
                <a:solidFill>
                  <a:srgbClr val="000000"/>
                </a:solidFill>
                <a:latin typeface="Consolas" panose="020B0609020204030204" pitchFamily="49" charset="0"/>
              </a:rPr>
              <a:t>;</a:t>
            </a:r>
            <a:endParaRPr lang="en-US" sz="1050" dirty="0">
              <a:solidFill>
                <a:schemeClr val="tx1"/>
              </a:solidFill>
              <a:latin typeface="Atkinson Hyperlegible Next"/>
              <a:cs typeface="Arial"/>
              <a:sym typeface="Arial"/>
            </a:endParaRPr>
          </a:p>
        </p:txBody>
      </p:sp>
    </p:spTree>
    <p:extLst>
      <p:ext uri="{BB962C8B-B14F-4D97-AF65-F5344CB8AC3E}">
        <p14:creationId xmlns:p14="http://schemas.microsoft.com/office/powerpoint/2010/main" val="273449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3F02F54-F375-C55B-08A7-1336F4D6772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5742FE2-C6BF-479D-78EB-0834A37AB665}"/>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ctr" anchorCtr="0">
            <a:noAutofit/>
          </a:bodyPr>
          <a:lstStyle/>
          <a:p>
            <a:pPr marL="114300" indent="0" algn="l">
              <a:buNone/>
            </a:pPr>
            <a:r>
              <a:rPr lang="en-US" sz="2000" dirty="0">
                <a:solidFill>
                  <a:srgbClr val="000000"/>
                </a:solidFill>
                <a:latin typeface="Consolas" panose="020B0609020204030204" pitchFamily="49" charset="0"/>
              </a:rPr>
              <a:t>EALLOW;  </a:t>
            </a:r>
            <a:r>
              <a:rPr lang="en-US" sz="2000" dirty="0">
                <a:solidFill>
                  <a:srgbClr val="3F7F5F"/>
                </a:solidFill>
                <a:latin typeface="Consolas" panose="020B0609020204030204" pitchFamily="49" charset="0"/>
              </a:rPr>
              <a:t>// This is needed to write to EALLOW protected registers</a:t>
            </a:r>
          </a:p>
          <a:p>
            <a:pPr marL="114300" indent="0" algn="l">
              <a:buNone/>
            </a:pPr>
            <a:r>
              <a:rPr lang="en-US" sz="2000" dirty="0">
                <a:solidFill>
                  <a:srgbClr val="000000"/>
                </a:solidFill>
                <a:latin typeface="Consolas" panose="020B0609020204030204" pitchFamily="49" charset="0"/>
              </a:rPr>
              <a:t>PieVectTable.</a:t>
            </a:r>
            <a:r>
              <a:rPr lang="en-US" sz="2000" dirty="0">
                <a:solidFill>
                  <a:srgbClr val="0000C0"/>
                </a:solidFill>
                <a:latin typeface="Consolas" panose="020B0609020204030204" pitchFamily="49" charset="0"/>
              </a:rPr>
              <a:t>DMA_CH1_INT</a:t>
            </a:r>
            <a:r>
              <a:rPr lang="en-US" sz="2000" dirty="0">
                <a:solidFill>
                  <a:srgbClr val="000000"/>
                </a:solidFill>
                <a:latin typeface="Consolas" panose="020B0609020204030204" pitchFamily="49" charset="0"/>
              </a:rPr>
              <a:t> = &amp;DMA_ISR;</a:t>
            </a:r>
          </a:p>
          <a:p>
            <a:pPr marL="114300" indent="0" algn="l">
              <a:buNone/>
            </a:pPr>
            <a:r>
              <a:rPr lang="en-US" sz="2000" dirty="0">
                <a:solidFill>
                  <a:srgbClr val="000000"/>
                </a:solidFill>
                <a:latin typeface="Consolas" panose="020B0609020204030204" pitchFamily="49" charset="0"/>
              </a:rPr>
              <a:t>EDIS;    </a:t>
            </a:r>
            <a:r>
              <a:rPr lang="en-US" sz="2000" dirty="0">
                <a:solidFill>
                  <a:srgbClr val="3F7F5F"/>
                </a:solidFill>
                <a:latin typeface="Consolas" panose="020B0609020204030204" pitchFamily="49" charset="0"/>
              </a:rPr>
              <a:t>// This is needed to disable write to EALLOW protected registers</a:t>
            </a:r>
            <a:endParaRPr lang="en-US" sz="2000" dirty="0">
              <a:solidFill>
                <a:srgbClr val="3F7F5F"/>
              </a:solidFill>
              <a:latin typeface="Consolas" panose="020B0609020204030204" pitchFamily="49" charset="0"/>
              <a:cs typeface="Arial"/>
              <a:sym typeface="Arial"/>
            </a:endParaRPr>
          </a:p>
        </p:txBody>
      </p:sp>
      <p:sp>
        <p:nvSpPr>
          <p:cNvPr id="119" name="Google Shape;119;p29">
            <a:extLst>
              <a:ext uri="{FF2B5EF4-FFF2-40B4-BE49-F238E27FC236}">
                <a16:creationId xmlns:a16="http://schemas.microsoft.com/office/drawing/2014/main" id="{0F024988-C610-A71B-F3D1-B221B09CF29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1A7CF49-E4E7-F339-E37B-77F4FFE3D7D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(3/5)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A05B286-23F0-C168-B692-019698743EE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D1741B8-2344-524B-1F81-6E29A3E0FE2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C6F0037-97DD-BE75-96A2-132ABCFFAB2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A212DDF-9CD6-4B8F-A30D-500F6C06CB3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4AD500F-5A05-C394-77C2-5423CD5856C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82E0776-F499-1359-2F9A-9C5F0E77A2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63715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1940C99-7681-94FD-F24E-2ED729E9836E}"/>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E64730EB-9107-5493-53B5-75D709447B42}"/>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Direct Memory Access (DMA)</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276545AA-903F-9C2D-B692-01E686C13366}"/>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498BCAAF-2632-EF26-CAA6-3AB816F4B9B8}"/>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2D6DEE66-20CD-221E-859D-93D4A98E18D1}"/>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05F3E593-57D1-6778-DD0A-EF387A40A0A4}"/>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10F217EC-3636-31B1-7F9D-CE2F7A320D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251CDBA0-D238-8CE4-8513-6F430CDF3709}"/>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084C0F08-2F72-D954-D7CF-13AC1243E58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9644DD6F-222F-8F23-50AA-97757A56C2D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64A74847-55C8-CA00-A645-F08D4D2628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75436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79BE419-3339-153E-85DB-DBFE59847B8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9177095-7BE7-902F-D8D4-52A90374406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000" dirty="0"/>
              <a:t>The direct memory access (DMA) module provides a hardware method of transferring data between peripherals and/or memory without intervention from the CPU, thereby freeing up bandwidth for other system functions. </a:t>
            </a:r>
          </a:p>
          <a:p>
            <a:pPr marL="0" lvl="0" indent="0">
              <a:lnSpc>
                <a:spcPct val="100000"/>
              </a:lnSpc>
              <a:spcBef>
                <a:spcPts val="0"/>
              </a:spcBef>
              <a:buSzPts val="2000"/>
              <a:buNone/>
            </a:pPr>
            <a:endParaRPr lang="en-US" sz="2000" dirty="0"/>
          </a:p>
          <a:p>
            <a:pPr marL="0" lvl="0" indent="0">
              <a:lnSpc>
                <a:spcPct val="100000"/>
              </a:lnSpc>
              <a:spcBef>
                <a:spcPts val="0"/>
              </a:spcBef>
              <a:buSzPts val="2000"/>
              <a:buNone/>
            </a:pPr>
            <a:r>
              <a:rPr lang="en-US" sz="2000" dirty="0"/>
              <a:t>Many times, applications spend a significant amount of their bandwidth moving </a:t>
            </a:r>
            <a:r>
              <a:rPr lang="en-US" sz="2000" dirty="0" err="1"/>
              <a:t>data,whether</a:t>
            </a:r>
            <a:r>
              <a:rPr lang="en-US" sz="2000" dirty="0"/>
              <a:t> it is from off-chip memory to on-chip memory, or from a peripheral such as an analog-to-digital converter (ADC) to RAM, or even from one peripheral to another. </a:t>
            </a:r>
          </a:p>
          <a:p>
            <a:pPr marL="0" lvl="0" indent="0">
              <a:lnSpc>
                <a:spcPct val="100000"/>
              </a:lnSpc>
              <a:spcBef>
                <a:spcPts val="0"/>
              </a:spcBef>
              <a:buSzPts val="2000"/>
              <a:buNone/>
            </a:pPr>
            <a:endParaRPr lang="en-US" sz="2000" dirty="0"/>
          </a:p>
          <a:p>
            <a:pPr marL="0" lvl="0" indent="0">
              <a:lnSpc>
                <a:spcPct val="100000"/>
              </a:lnSpc>
              <a:spcBef>
                <a:spcPts val="0"/>
              </a:spcBef>
              <a:buSzPts val="2000"/>
              <a:buNone/>
            </a:pPr>
            <a:r>
              <a:rPr lang="en-US" sz="2000" dirty="0"/>
              <a:t>Furthermore, many times this data comes in a format that is not conducive to the optimum processing powers of the CPU. </a:t>
            </a:r>
          </a:p>
          <a:p>
            <a:pPr marL="0" lvl="0" indent="0">
              <a:lnSpc>
                <a:spcPct val="100000"/>
              </a:lnSpc>
              <a:spcBef>
                <a:spcPts val="0"/>
              </a:spcBef>
              <a:buSzPts val="2000"/>
              <a:buNone/>
            </a:pPr>
            <a:endParaRPr lang="en-US" sz="2000" dirty="0"/>
          </a:p>
          <a:p>
            <a:pPr marL="0" lvl="0" indent="0">
              <a:lnSpc>
                <a:spcPct val="100000"/>
              </a:lnSpc>
              <a:spcBef>
                <a:spcPts val="0"/>
              </a:spcBef>
              <a:buSzPts val="2000"/>
              <a:buNone/>
            </a:pPr>
            <a:r>
              <a:rPr lang="en-US" sz="2000" dirty="0"/>
              <a:t>The DMA module described in this reference guide can free up CPU bandwidth and rearrange the data into a pattern for more streamlined processing.</a:t>
            </a:r>
          </a:p>
        </p:txBody>
      </p:sp>
      <p:sp>
        <p:nvSpPr>
          <p:cNvPr id="119" name="Google Shape;119;p29">
            <a:extLst>
              <a:ext uri="{FF2B5EF4-FFF2-40B4-BE49-F238E27FC236}">
                <a16:creationId xmlns:a16="http://schemas.microsoft.com/office/drawing/2014/main" id="{2431BC1D-7C37-C6EB-EBD9-2FC7A70B298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BECEF0D-08B8-DE09-57C0-592C45017F0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DMA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7D320FC-5B25-782B-6DB2-02958EEF52D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3C2B5C0-4BAC-1F91-6785-3C842F27FE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E5F0B24-865D-252C-5CA5-CC883858C81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556EF8D-CD83-8977-3CED-0A53781F6F6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B3DA97E-40E8-A78F-A718-267927C58EA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EECE0DC-3DC9-9F57-F551-853AFE92E0C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56869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6B5DAAE-FD21-56F9-E38F-2045FD17F0B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4681AAF-76F3-D1C8-352A-C459938E94D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000" dirty="0"/>
              <a:t>DMA features include:</a:t>
            </a:r>
          </a:p>
          <a:p>
            <a:pPr marL="342900">
              <a:lnSpc>
                <a:spcPct val="100000"/>
              </a:lnSpc>
              <a:spcBef>
                <a:spcPts val="0"/>
              </a:spcBef>
              <a:buSzPts val="2000"/>
            </a:pPr>
            <a:r>
              <a:rPr lang="en-US" sz="2000" dirty="0"/>
              <a:t>Six channels with independent PIE interrupts</a:t>
            </a:r>
          </a:p>
          <a:p>
            <a:pPr marL="342900">
              <a:lnSpc>
                <a:spcPct val="100000"/>
              </a:lnSpc>
              <a:spcBef>
                <a:spcPts val="0"/>
              </a:spcBef>
              <a:buSzPts val="2000"/>
            </a:pPr>
            <a:r>
              <a:rPr lang="en-US" sz="2000" dirty="0"/>
              <a:t>Each DMA channel can be triggered from multiple peripheral trigger sources independently</a:t>
            </a:r>
          </a:p>
          <a:p>
            <a:pPr marL="342900">
              <a:lnSpc>
                <a:spcPct val="100000"/>
              </a:lnSpc>
              <a:spcBef>
                <a:spcPts val="0"/>
              </a:spcBef>
              <a:buSzPts val="2000"/>
            </a:pPr>
            <a:r>
              <a:rPr lang="en-US" sz="2000" dirty="0"/>
              <a:t>Word Size: 16-bit or 32-bit (SPI limited to 16-bit)</a:t>
            </a:r>
          </a:p>
          <a:p>
            <a:pPr marL="342900">
              <a:lnSpc>
                <a:spcPct val="100000"/>
              </a:lnSpc>
              <a:spcBef>
                <a:spcPts val="0"/>
              </a:spcBef>
              <a:buSzPts val="2000"/>
            </a:pPr>
            <a:r>
              <a:rPr lang="en-US" sz="2000" dirty="0"/>
              <a:t>Throughput: 3 cycles/word without arbitration</a:t>
            </a:r>
          </a:p>
          <a:p>
            <a:pPr marL="342900">
              <a:lnSpc>
                <a:spcPct val="100000"/>
              </a:lnSpc>
              <a:spcBef>
                <a:spcPts val="0"/>
              </a:spcBef>
              <a:buSzPts val="2000"/>
            </a:pPr>
            <a:endParaRPr lang="en-US" sz="2000" dirty="0"/>
          </a:p>
          <a:p>
            <a:pPr marL="342900">
              <a:lnSpc>
                <a:spcPct val="100000"/>
              </a:lnSpc>
              <a:spcBef>
                <a:spcPts val="0"/>
              </a:spcBef>
              <a:buSzPts val="2000"/>
            </a:pPr>
            <a:endParaRPr lang="en-US" sz="2000" dirty="0"/>
          </a:p>
          <a:p>
            <a:pPr marL="0" indent="0">
              <a:lnSpc>
                <a:spcPct val="100000"/>
              </a:lnSpc>
              <a:spcBef>
                <a:spcPts val="0"/>
              </a:spcBef>
              <a:buSzPts val="2000"/>
              <a:buNone/>
            </a:pPr>
            <a:r>
              <a:rPr lang="en-US" sz="2000" dirty="0"/>
              <a:t>The DMA has an 8-bit trigger source selection (“255 options”). The trigger sources range from the ADC, XINT, </a:t>
            </a:r>
            <a:r>
              <a:rPr lang="en-US" sz="2000" dirty="0" err="1"/>
              <a:t>ePWM</a:t>
            </a:r>
            <a:r>
              <a:rPr lang="en-US" sz="2000" dirty="0"/>
              <a:t>, Timer interrupts, SPI and more.</a:t>
            </a:r>
          </a:p>
        </p:txBody>
      </p:sp>
      <p:sp>
        <p:nvSpPr>
          <p:cNvPr id="119" name="Google Shape;119;p29">
            <a:extLst>
              <a:ext uri="{FF2B5EF4-FFF2-40B4-BE49-F238E27FC236}">
                <a16:creationId xmlns:a16="http://schemas.microsoft.com/office/drawing/2014/main" id="{0A4A5C99-8D4E-FB9F-13A8-22F22C4A445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00FB1C4-F9FA-6630-E844-E290E173D9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DMA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2E7E8E1-FA2C-8BE2-1097-B1A9C9B8055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B05B98-6524-BCB1-E366-60A28D873B6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B9669A3-4279-FBE5-71DD-25C2889901B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E6AEDE5-31A0-4F50-3596-6E0D61B9682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A960B7A-49DF-7D58-E18A-544248B8E6C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C5DE61-670A-72A7-06DE-06131013A97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99675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24F84D9-768F-9EA7-5959-9EBFE0ABA33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D21F40A-7C90-4107-2D65-1E4013B712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4994184-1926-3C61-A08E-F4F0C8D5A8E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(4/5)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89BFA2D-CE34-A957-9687-175B86B45CD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19B6F80-0F27-CBE7-47DC-5CB9508F40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3B37FB-FFA7-FE5C-DFA7-168EC4804FF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614DAD0-F2F6-A187-59A9-F9DA21E23D9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46D28F5-780A-B678-5612-5AA577A889F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BE3BCBF-C345-CFFA-01B0-E6FDA963CD2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of the dual-core TI C2000 DMA system. Each CPU has its own DMA controller with six channels. Trigger sources include ADC interrupts, SDFM flags, ePWM SOCA/SOCB, McBSP and SPI events, XINT inputs and CPU timers, chosen through DMACHSRCSEL registers. Separate DMA buses give each DMA a data path to ADC results, the global shared and message RAMs, McBSP, SPI, SDFM, ePWM and EMIF, alongside each CPU's own bus. DMA channel interrupts one through six go to each CPU's PIE.">
            <a:extLst>
              <a:ext uri="{FF2B5EF4-FFF2-40B4-BE49-F238E27FC236}">
                <a16:creationId xmlns:a16="http://schemas.microsoft.com/office/drawing/2014/main" id="{AE5AE88A-ED40-2A09-B15C-C1F13F87F1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38661" y="963463"/>
            <a:ext cx="6914678" cy="5547458"/>
          </a:xfrm>
          <a:prstGeom prst="rect">
            <a:avLst/>
          </a:prstGeom>
        </p:spPr>
      </p:pic>
    </p:spTree>
    <p:extLst>
      <p:ext uri="{BB962C8B-B14F-4D97-AF65-F5344CB8AC3E}">
        <p14:creationId xmlns:p14="http://schemas.microsoft.com/office/powerpoint/2010/main" val="2466118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1C646A3-2C82-AEE1-1A9D-40E8F66247A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4266141-71DC-C5AC-02F1-79FE2521A205}"/>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050" dirty="0">
                <a:solidFill>
                  <a:srgbClr val="000000"/>
                </a:solidFill>
                <a:latin typeface="Consolas" panose="020B0609020204030204" pitchFamily="49" charset="0"/>
              </a:rPr>
              <a:t>__interrupt </a:t>
            </a:r>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DMA_ISR(</a:t>
            </a:r>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PIE7.1 @ 0x000DA0  DMA channel 1 interrupt</a:t>
            </a:r>
          </a:p>
          <a:p>
            <a:pPr marL="114300" indent="0" algn="l">
              <a:spcBef>
                <a:spcPts val="0"/>
              </a:spcBef>
              <a:buNone/>
            </a:pPr>
            <a:r>
              <a:rPr lang="en-US" sz="1050" dirty="0">
                <a:solidFill>
                  <a:srgbClr val="000000"/>
                </a:solidFill>
                <a:latin typeface="Consolas" panose="020B0609020204030204" pitchFamily="49" charset="0"/>
              </a:rPr>
              <a:t>{</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PieCtrlRegs.</a:t>
            </a:r>
            <a:r>
              <a:rPr lang="en-US" sz="1050" dirty="0" err="1">
                <a:solidFill>
                  <a:srgbClr val="0000C0"/>
                </a:solidFill>
                <a:latin typeface="Consolas" panose="020B0609020204030204" pitchFamily="49" charset="0"/>
              </a:rPr>
              <a:t>PIEACK</a:t>
            </a:r>
            <a:r>
              <a:rPr lang="en-US" sz="1050" dirty="0" err="1">
                <a:solidFill>
                  <a:srgbClr val="000000"/>
                </a:solidFill>
                <a:latin typeface="Consolas" panose="020B0609020204030204" pitchFamily="49" charset="0"/>
              </a:rPr>
              <a:t>.</a:t>
            </a:r>
            <a:r>
              <a:rPr lang="en-US" sz="1050" dirty="0" err="1">
                <a:solidFill>
                  <a:srgbClr val="0000C0"/>
                </a:solidFill>
                <a:latin typeface="Consolas" panose="020B0609020204030204" pitchFamily="49" charset="0"/>
              </a:rPr>
              <a:t>all</a:t>
            </a:r>
            <a:r>
              <a:rPr lang="en-US" sz="1050" dirty="0">
                <a:solidFill>
                  <a:srgbClr val="000000"/>
                </a:solidFill>
                <a:latin typeface="Consolas" panose="020B0609020204030204" pitchFamily="49" charset="0"/>
              </a:rPr>
              <a:t> = PIEACK_GROUP7;         </a:t>
            </a:r>
            <a:r>
              <a:rPr lang="en-US" sz="1050" dirty="0">
                <a:solidFill>
                  <a:srgbClr val="3F7F5F"/>
                </a:solidFill>
                <a:latin typeface="Consolas" panose="020B0609020204030204" pitchFamily="49" charset="0"/>
              </a:rPr>
              <a:t>// Must acknowledge the PIE group</a:t>
            </a:r>
          </a:p>
          <a:p>
            <a:pPr marL="114300" indent="0" algn="l">
              <a:spcBef>
                <a:spcPts val="0"/>
              </a:spcBef>
              <a:buNone/>
            </a:pPr>
            <a:endParaRPr lang="en-US" sz="1050" dirty="0">
              <a:latin typeface="Consolas" panose="020B0609020204030204" pitchFamily="49" charset="0"/>
            </a:endParaRP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Process the ADC data</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if</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iPingPong</a:t>
            </a:r>
            <a:r>
              <a:rPr lang="en-US" sz="1050" dirty="0">
                <a:solidFill>
                  <a:srgbClr val="000000"/>
                </a:solidFill>
                <a:latin typeface="Consolas" panose="020B0609020204030204" pitchFamily="49" charset="0"/>
              </a:rPr>
              <a:t> == 0)  </a:t>
            </a:r>
            <a:r>
              <a:rPr lang="en-US" sz="1050" dirty="0">
                <a:solidFill>
                  <a:srgbClr val="3F7F5F"/>
                </a:solidFill>
                <a:latin typeface="Consolas" panose="020B0609020204030204" pitchFamily="49" charset="0"/>
              </a:rPr>
              <a:t>// Ping buffer filling, process Pong buffer</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Manage the DMA registers</a:t>
            </a:r>
          </a:p>
          <a:p>
            <a:pPr marL="114300" indent="0" algn="l">
              <a:spcBef>
                <a:spcPts val="0"/>
              </a:spcBef>
              <a:buNone/>
            </a:pPr>
            <a:r>
              <a:rPr lang="en-US" sz="1050" dirty="0">
                <a:solidFill>
                  <a:srgbClr val="000000"/>
                </a:solidFill>
                <a:latin typeface="Consolas" panose="020B0609020204030204" pitchFamily="49" charset="0"/>
              </a:rPr>
              <a:t>        EALLOW;                                                     </a:t>
            </a:r>
            <a:r>
              <a:rPr lang="en-US" sz="1050" dirty="0">
                <a:solidFill>
                  <a:srgbClr val="3F7F5F"/>
                </a:solidFill>
                <a:latin typeface="Consolas" panose="020B0609020204030204" pitchFamily="49" charset="0"/>
              </a:rPr>
              <a:t>// Enable EALLOW protected register access</a:t>
            </a:r>
          </a:p>
          <a:p>
            <a:pPr marL="114300" indent="0" algn="l">
              <a:spcBef>
                <a:spcPts val="0"/>
              </a:spcBef>
              <a:buNone/>
            </a:pPr>
            <a:r>
              <a:rPr lang="en-US" sz="1050" dirty="0">
                <a:solidFill>
                  <a:srgbClr val="000000"/>
                </a:solidFill>
                <a:latin typeface="Consolas" panose="020B0609020204030204" pitchFamily="49" charset="0"/>
              </a:rPr>
              <a:t>        DmaRegs.</a:t>
            </a:r>
            <a:r>
              <a:rPr lang="en-US" sz="1050" dirty="0">
                <a:solidFill>
                  <a:srgbClr val="0000C0"/>
                </a:solidFill>
                <a:latin typeface="Consolas" panose="020B0609020204030204" pitchFamily="49" charset="0"/>
              </a:rPr>
              <a:t>CH1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DST_ADDR_SHADOW</a:t>
            </a:r>
            <a:r>
              <a:rPr lang="en-US" sz="1050" dirty="0">
                <a:solidFill>
                  <a:srgbClr val="000000"/>
                </a:solidFill>
                <a:latin typeface="Consolas" panose="020B0609020204030204" pitchFamily="49" charset="0"/>
              </a:rPr>
              <a:t> = (</a:t>
            </a:r>
            <a:r>
              <a:rPr lang="en-US" sz="1050" dirty="0">
                <a:solidFill>
                  <a:srgbClr val="005032"/>
                </a:solidFill>
                <a:latin typeface="Consolas" panose="020B0609020204030204" pitchFamily="49" charset="0"/>
              </a:rPr>
              <a:t>Uint32</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AdcPongBufRaw</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Adjust DST start address for Pong buffer</a:t>
            </a:r>
          </a:p>
          <a:p>
            <a:pPr marL="114300" indent="0" algn="l">
              <a:spcBef>
                <a:spcPts val="0"/>
              </a:spcBef>
              <a:buNone/>
            </a:pPr>
            <a:r>
              <a:rPr lang="en-US" sz="1050" dirty="0">
                <a:solidFill>
                  <a:srgbClr val="000000"/>
                </a:solidFill>
                <a:latin typeface="Consolas" panose="020B0609020204030204" pitchFamily="49" charset="0"/>
              </a:rPr>
              <a:t>        EDIS;                                                       </a:t>
            </a:r>
            <a:r>
              <a:rPr lang="en-US" sz="1050" dirty="0">
                <a:solidFill>
                  <a:srgbClr val="3F7F5F"/>
                </a:solidFill>
                <a:latin typeface="Consolas" panose="020B0609020204030204" pitchFamily="49" charset="0"/>
              </a:rPr>
              <a:t>// Disable EALLOW protected register access</a:t>
            </a:r>
          </a:p>
          <a:p>
            <a:pPr marL="114300" indent="0" algn="l">
              <a:spcBef>
                <a:spcPts val="0"/>
              </a:spcBef>
              <a:buNone/>
            </a:pPr>
            <a:endParaRPr lang="en-US" sz="1050" dirty="0">
              <a:latin typeface="Consolas" panose="020B0609020204030204" pitchFamily="49" charset="0"/>
            </a:endParaRP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Don't run ping FFT first time around</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if</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DMAcount</a:t>
            </a:r>
            <a:r>
              <a:rPr lang="en-US" sz="1050" dirty="0">
                <a:solidFill>
                  <a:srgbClr val="000000"/>
                </a:solidFill>
                <a:latin typeface="Consolas" panose="020B0609020204030204" pitchFamily="49" charset="0"/>
              </a:rPr>
              <a:t> &gt; 0) {</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pingFFT</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iPingPong</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else</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Pong buffer filling, process Ping buffer</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Manage the DMA registers</a:t>
            </a:r>
          </a:p>
          <a:p>
            <a:pPr marL="114300" indent="0" algn="l">
              <a:spcBef>
                <a:spcPts val="0"/>
              </a:spcBef>
              <a:buNone/>
            </a:pPr>
            <a:r>
              <a:rPr lang="en-US" sz="1050" dirty="0">
                <a:solidFill>
                  <a:srgbClr val="000000"/>
                </a:solidFill>
                <a:latin typeface="Consolas" panose="020B0609020204030204" pitchFamily="49" charset="0"/>
              </a:rPr>
              <a:t>        EALLOW;                                                     </a:t>
            </a:r>
            <a:r>
              <a:rPr lang="en-US" sz="1050" dirty="0">
                <a:solidFill>
                  <a:srgbClr val="3F7F5F"/>
                </a:solidFill>
                <a:latin typeface="Consolas" panose="020B0609020204030204" pitchFamily="49" charset="0"/>
              </a:rPr>
              <a:t>// Enable EALLOW protected register access</a:t>
            </a:r>
          </a:p>
          <a:p>
            <a:pPr marL="114300" indent="0" algn="l">
              <a:spcBef>
                <a:spcPts val="0"/>
              </a:spcBef>
              <a:buNone/>
            </a:pPr>
            <a:r>
              <a:rPr lang="en-US" sz="1050" dirty="0">
                <a:solidFill>
                  <a:srgbClr val="000000"/>
                </a:solidFill>
                <a:latin typeface="Consolas" panose="020B0609020204030204" pitchFamily="49" charset="0"/>
              </a:rPr>
              <a:t>        DmaRegs.</a:t>
            </a:r>
            <a:r>
              <a:rPr lang="en-US" sz="1050" dirty="0">
                <a:solidFill>
                  <a:srgbClr val="0000C0"/>
                </a:solidFill>
                <a:latin typeface="Consolas" panose="020B0609020204030204" pitchFamily="49" charset="0"/>
              </a:rPr>
              <a:t>CH1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DST_ADDR_SHADOW</a:t>
            </a:r>
            <a:r>
              <a:rPr lang="en-US" sz="1050" dirty="0">
                <a:solidFill>
                  <a:srgbClr val="000000"/>
                </a:solidFill>
                <a:latin typeface="Consolas" panose="020B0609020204030204" pitchFamily="49" charset="0"/>
              </a:rPr>
              <a:t> = (</a:t>
            </a:r>
            <a:r>
              <a:rPr lang="en-US" sz="1050" dirty="0">
                <a:solidFill>
                  <a:srgbClr val="005032"/>
                </a:solidFill>
                <a:latin typeface="Consolas" panose="020B0609020204030204" pitchFamily="49" charset="0"/>
              </a:rPr>
              <a:t>Uint32</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AdcPingBufRaw</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Adjust DST start address for Ping buffer</a:t>
            </a:r>
          </a:p>
          <a:p>
            <a:pPr marL="114300" indent="0" algn="l">
              <a:spcBef>
                <a:spcPts val="0"/>
              </a:spcBef>
              <a:buNone/>
            </a:pPr>
            <a:r>
              <a:rPr lang="en-US" sz="1050" dirty="0">
                <a:solidFill>
                  <a:srgbClr val="000000"/>
                </a:solidFill>
                <a:latin typeface="Consolas" panose="020B0609020204030204" pitchFamily="49" charset="0"/>
              </a:rPr>
              <a:t>        EDIS;                                                       </a:t>
            </a:r>
            <a:r>
              <a:rPr lang="en-US" sz="1050" dirty="0">
                <a:solidFill>
                  <a:srgbClr val="3F7F5F"/>
                </a:solidFill>
                <a:latin typeface="Consolas" panose="020B0609020204030204" pitchFamily="49" charset="0"/>
              </a:rPr>
              <a:t>// Disable EALLOW protected register access</a:t>
            </a:r>
          </a:p>
          <a:p>
            <a:pPr marL="114300" indent="0" algn="l">
              <a:spcBef>
                <a:spcPts val="0"/>
              </a:spcBef>
              <a:buNone/>
            </a:pPr>
            <a:endParaRPr lang="en-US" sz="1050" dirty="0">
              <a:latin typeface="Consolas" panose="020B0609020204030204" pitchFamily="49" charset="0"/>
            </a:endParaRP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pongFFT</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iPingPong</a:t>
            </a:r>
            <a:r>
              <a:rPr lang="en-US" sz="1050" dirty="0">
                <a:solidFill>
                  <a:srgbClr val="000000"/>
                </a:solidFill>
                <a:latin typeface="Consolas" panose="020B0609020204030204" pitchFamily="49" charset="0"/>
              </a:rPr>
              <a:t> = 0;</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endParaRPr lang="en-US" sz="1050" dirty="0">
              <a:latin typeface="Consolas" panose="020B0609020204030204" pitchFamily="49" charset="0"/>
            </a:endParaRP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DMAcount</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t>
            </a:r>
            <a:endParaRPr lang="en-US" sz="1050" dirty="0">
              <a:solidFill>
                <a:srgbClr val="3F7F5F"/>
              </a:solidFill>
              <a:latin typeface="Consolas" panose="020B0609020204030204" pitchFamily="49" charset="0"/>
              <a:cs typeface="Arial"/>
              <a:sym typeface="Arial"/>
            </a:endParaRPr>
          </a:p>
        </p:txBody>
      </p:sp>
      <p:sp>
        <p:nvSpPr>
          <p:cNvPr id="119" name="Google Shape;119;p29">
            <a:extLst>
              <a:ext uri="{FF2B5EF4-FFF2-40B4-BE49-F238E27FC236}">
                <a16:creationId xmlns:a16="http://schemas.microsoft.com/office/drawing/2014/main" id="{29E42BBF-F967-1B50-F75B-6EF02796EE3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B3FA3F5-4DB1-46AD-7865-DD128914458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 Ping Pong Buffer (1/3)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8D44BA4-56BB-32BA-3CEF-805A274D87B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566BFD7-6227-2777-9492-8D8D9114FC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7393F00-3B22-1776-2222-CCF573B05DC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6616A5F-6460-6BF2-2A1E-D3E5DF7C1CA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33A3D6F-8D5A-3D04-8224-A201A085495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2C89B1A-9A71-DC5C-DED0-62E40F93E23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37840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558096FB-3319-ED5E-1826-87DAAC973B93}"/>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F497FD98-C8E4-852B-A4E6-5568B2FDA85D}"/>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Ping Pong Buffer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48B759DD-5591-BEB9-AAE5-DEDA337C344A}"/>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E3FB2DEB-9D43-35B9-2150-1A8B0077C251}"/>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F31A3BED-06B9-1575-48EA-0EF2131E442C}"/>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F548679E-2114-FB51-A548-2C67541C5536}"/>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6FBAD344-7EDE-C52B-811B-7BEA77976A0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7739DDBE-42E7-37EF-D5A0-2A261AB5C2D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91E12D3F-C62F-22A0-A4A1-31C7A47CC456}"/>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5639165A-858E-2FB8-F424-178183C011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C7437F64-1F9A-6C50-C387-740908A8D4B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6278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46F995F-D700-D245-A322-F9C2C7BC731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4CB1CC9-8BD7-205F-7413-FBA74FE48B6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B54CB0E-A535-6959-EDC4-B14A21C1ECA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 Ping Pong Buffer (2/3)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5E73F4D-39B2-5A33-3EE6-F859B5263B4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BF4D006-A1C8-3A3F-6FD4-C5967DEA0B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5E5DA9A-423C-12B8-654B-81A7E01CD20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2DFFE95-5515-AEFC-E5AA-C26062D58F9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41352E8-FCBB-1135-6A90-56A84D72526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73AC54F-D433-E15D-E114-072FB7C1523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 name="Graphic 7" descr="Diagram: the single-buffer scheme that a ping-pong buffer improves on, shown as two phases. In both, an analog voltage feeds the ADC, then the DMA controller, then one data buffer. In phase one (write), the DMA controller fills the buffer and no data processing can occur. In phase two (processing), the full buffer is processed while the DMA controller waits, so sampling and processing cannot overlap.">
            <a:extLst>
              <a:ext uri="{FF2B5EF4-FFF2-40B4-BE49-F238E27FC236}">
                <a16:creationId xmlns:a16="http://schemas.microsoft.com/office/drawing/2014/main" id="{C58E5A04-20EC-B639-8403-26357B70BF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7815" y="1042858"/>
            <a:ext cx="9336370" cy="5384041"/>
          </a:xfrm>
          <a:prstGeom prst="rect">
            <a:avLst/>
          </a:prstGeom>
        </p:spPr>
      </p:pic>
    </p:spTree>
    <p:extLst>
      <p:ext uri="{BB962C8B-B14F-4D97-AF65-F5344CB8AC3E}">
        <p14:creationId xmlns:p14="http://schemas.microsoft.com/office/powerpoint/2010/main" val="2910017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205C7BF-ABDB-E34F-40B7-8D1F7DBC053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157D52C-358D-7EF1-C005-34F51AF3D2D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7799CAD-8B07-BAFB-0E19-8832030E680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 Ping Pong Buffer (3/3)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FF581DC-A98C-6CE2-8870-E3BA8D16906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8EE3C49-6910-C4F7-DADE-2176CFADC45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5E0609-BA03-0EF1-1DD9-7E6868C2966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85586AD-D697-1055-2824-3F868392976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F03B292-4873-452D-F53A-6EE2E6F4323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1922603-E706-67B0-E29D-BB8538BA5B3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hree-stage ping-pong buffering sequence: analog voltage feeds an ADC, whose samples go through a DMA controller into one of two buffers, Ping or Pong. Initially, DMA fills the Ping buffer while Pong is empty. Next, Ping is full and handed off for data processing while DMA writes to Pong. Then Pong is ready for processing while DMA writes to Ping again. The roles keep alternating, so sampling continues uninterrupted while the CPU processes the other buffer.">
            <a:extLst>
              <a:ext uri="{FF2B5EF4-FFF2-40B4-BE49-F238E27FC236}">
                <a16:creationId xmlns:a16="http://schemas.microsoft.com/office/drawing/2014/main" id="{871DE840-7AA5-524D-AE85-F2576F8B6F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9876" y="1890050"/>
            <a:ext cx="11892248" cy="3612501"/>
          </a:xfrm>
          <a:prstGeom prst="rect">
            <a:avLst/>
          </a:prstGeom>
        </p:spPr>
      </p:pic>
      <p:sp>
        <p:nvSpPr>
          <p:cNvPr id="4" name="TextBox 3">
            <a:extLst>
              <a:ext uri="{FF2B5EF4-FFF2-40B4-BE49-F238E27FC236}">
                <a16:creationId xmlns:a16="http://schemas.microsoft.com/office/drawing/2014/main" id="{F00F3888-AFE4-7B88-2714-D6F26D43F7D5}"/>
              </a:ext>
            </a:extLst>
          </p:cNvPr>
          <p:cNvSpPr txBox="1"/>
          <p:nvPr/>
        </p:nvSpPr>
        <p:spPr>
          <a:xfrm>
            <a:off x="9404722" y="5848036"/>
            <a:ext cx="2637402" cy="523220"/>
          </a:xfrm>
          <a:prstGeom prst="rect">
            <a:avLst/>
          </a:prstGeom>
          <a:noFill/>
        </p:spPr>
        <p:txBody>
          <a:bodyPr wrap="square" rtlCol="0">
            <a:spAutoFit/>
          </a:bodyPr>
          <a:lstStyle/>
          <a:p>
            <a:r>
              <a:rPr lang="en-US" dirty="0"/>
              <a:t>If this is not animated, I did not have the time to create it.</a:t>
            </a:r>
          </a:p>
        </p:txBody>
      </p:sp>
    </p:spTree>
    <p:extLst>
      <p:ext uri="{BB962C8B-B14F-4D97-AF65-F5344CB8AC3E}">
        <p14:creationId xmlns:p14="http://schemas.microsoft.com/office/powerpoint/2010/main" val="818033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8284BE5-4723-53EF-580B-1611FEE1F6FD}"/>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F23B3021-D7C4-1259-21A8-80E6BC26FF38}"/>
              </a:ext>
            </a:extLst>
          </p:cNvPr>
          <p:cNvSpPr/>
          <p:nvPr>
            <p:ph type="title"/>
          </p:nvPr>
        </p:nvSpPr>
        <p:spPr>
          <a:xfrm>
            <a:off x="1295400" y="2879241"/>
            <a:ext cx="9601200" cy="147728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Fourier Transforms &amp; FFT</a:t>
            </a:r>
          </a:p>
          <a:p>
            <a:pPr marL="0" marR="0" lvl="0" indent="0" algn="ctr" rtl="0">
              <a:lnSpc>
                <a:spcPct val="100000"/>
              </a:lnSpc>
              <a:spcBef>
                <a:spcPts val="0"/>
              </a:spcBef>
              <a:spcAft>
                <a:spcPts val="0"/>
              </a:spcAft>
              <a:buClr>
                <a:srgbClr val="000000"/>
              </a:buClr>
              <a:buSzPts val="4500"/>
              <a:buFont typeface="Arial"/>
              <a:buNone/>
            </a:pPr>
            <a:r>
              <a:rPr i="0" lang="en-US" sz="4500" b="1" dirty="0">
                <a:solidFill>
                  <a:srgbClr val="15264B"/>
                </a:solidFill>
              </a:rPr>
              <a:t>Code (2/2)</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817B8C69-22A6-C6E5-1569-3E129A61DA88}"/>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F2F26E17-1237-FFFC-CC4C-52C3E77A0ED9}"/>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C770F48F-B82E-C950-AD8A-980605322B24}"/>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CEF7C153-9BFF-39CE-5852-767B03BC6BA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A2DCC03-6B98-25FC-9ED1-490EDC7DBBF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C8FC484D-C040-B032-BCA5-F2914EAAA8A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905F365B-229F-7BC5-5D5A-8A48C6B468B2}"/>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F53976F-FD14-0FAF-C10B-42F41AEC14D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D8344786-3C6D-EA28-FCAF-DAFBB7008C1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56698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192855-FA41-EE4C-661D-4F6DB8A1789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4351AF2-CF72-2F46-2375-EEE96997B803}"/>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ctr" anchorCtr="0">
            <a:noAutofit/>
          </a:bodyPr>
          <a:lstStyle/>
          <a:p>
            <a:pPr marL="114300" indent="0">
              <a:spcBef>
                <a:spcPts val="0"/>
              </a:spcBef>
              <a:buNone/>
            </a:pPr>
            <a:r>
              <a:rPr lang="en-US" sz="2000" dirty="0">
                <a:solidFill>
                  <a:srgbClr val="000000"/>
                </a:solidFill>
                <a:latin typeface="Consolas" panose="020B0609020204030204" pitchFamily="49" charset="0"/>
              </a:rPr>
              <a:t>EALLOW;</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ETSEL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SOCAEN</a:t>
            </a:r>
            <a:r>
              <a:rPr lang="en-US" sz="2000" dirty="0">
                <a:solidFill>
                  <a:srgbClr val="000000"/>
                </a:solidFill>
                <a:latin typeface="Consolas" panose="020B0609020204030204" pitchFamily="49" charset="0"/>
              </a:rPr>
              <a:t> = 0; </a:t>
            </a:r>
            <a:r>
              <a:rPr lang="en-US" sz="2000" dirty="0">
                <a:solidFill>
                  <a:srgbClr val="3F7F5F"/>
                </a:solidFill>
                <a:latin typeface="Consolas" panose="020B0609020204030204" pitchFamily="49" charset="0"/>
              </a:rPr>
              <a:t>// Disable SOC on A group</a:t>
            </a:r>
          </a:p>
          <a:p>
            <a:pPr marL="114300" indent="0">
              <a:spcBef>
                <a:spcPts val="0"/>
              </a:spcBef>
              <a:buNone/>
            </a:pPr>
            <a:endParaRPr lang="en-US" sz="2000" dirty="0">
              <a:solidFill>
                <a:srgbClr val="3F7F5F"/>
              </a:solidFill>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TBCTL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CTRMODE</a:t>
            </a:r>
            <a:r>
              <a:rPr lang="en-US" sz="2000" dirty="0">
                <a:solidFill>
                  <a:srgbClr val="000000"/>
                </a:solidFill>
                <a:latin typeface="Consolas" panose="020B0609020204030204" pitchFamily="49" charset="0"/>
              </a:rPr>
              <a:t> = 3; </a:t>
            </a:r>
            <a:r>
              <a:rPr lang="en-US" sz="2000" dirty="0">
                <a:solidFill>
                  <a:srgbClr val="3F7F5F"/>
                </a:solidFill>
                <a:latin typeface="Consolas" panose="020B0609020204030204" pitchFamily="49" charset="0"/>
              </a:rPr>
              <a:t>// freeze counter</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ETSEL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SOCASEL</a:t>
            </a:r>
            <a:r>
              <a:rPr lang="en-US" sz="2000" dirty="0">
                <a:solidFill>
                  <a:srgbClr val="000000"/>
                </a:solidFill>
                <a:latin typeface="Consolas" panose="020B0609020204030204" pitchFamily="49" charset="0"/>
              </a:rPr>
              <a:t> = 0x2; </a:t>
            </a:r>
            <a:r>
              <a:rPr lang="en-US" sz="2000" dirty="0">
                <a:solidFill>
                  <a:srgbClr val="3F7F5F"/>
                </a:solidFill>
                <a:latin typeface="Consolas" panose="020B0609020204030204" pitchFamily="49" charset="0"/>
              </a:rPr>
              <a:t>// Select Event when counter equal to PRD</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ETPS</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SOCAPRD</a:t>
            </a:r>
            <a:r>
              <a:rPr lang="en-US" sz="2000" dirty="0">
                <a:solidFill>
                  <a:srgbClr val="000000"/>
                </a:solidFill>
                <a:latin typeface="Consolas" panose="020B0609020204030204" pitchFamily="49" charset="0"/>
              </a:rPr>
              <a:t> = 0x1; </a:t>
            </a:r>
            <a:r>
              <a:rPr lang="en-US" sz="2000" dirty="0">
                <a:solidFill>
                  <a:srgbClr val="3F7F5F"/>
                </a:solidFill>
                <a:latin typeface="Consolas" panose="020B0609020204030204" pitchFamily="49" charset="0"/>
              </a:rPr>
              <a:t>// Generate pulse on 1st event</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TBCTR</a:t>
            </a:r>
            <a:r>
              <a:rPr lang="en-US" sz="2000" dirty="0">
                <a:solidFill>
                  <a:srgbClr val="000000"/>
                </a:solidFill>
                <a:latin typeface="Consolas" panose="020B0609020204030204" pitchFamily="49" charset="0"/>
              </a:rPr>
              <a:t> = 0x0; </a:t>
            </a:r>
            <a:r>
              <a:rPr lang="en-US" sz="2000" dirty="0">
                <a:solidFill>
                  <a:srgbClr val="3F7F5F"/>
                </a:solidFill>
                <a:latin typeface="Consolas" panose="020B0609020204030204" pitchFamily="49" charset="0"/>
              </a:rPr>
              <a:t>// Clear counter</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TBPHS</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TBPHS</a:t>
            </a:r>
            <a:r>
              <a:rPr lang="en-US" sz="2000" dirty="0">
                <a:solidFill>
                  <a:srgbClr val="000000"/>
                </a:solidFill>
                <a:latin typeface="Consolas" panose="020B0609020204030204" pitchFamily="49" charset="0"/>
              </a:rPr>
              <a:t> = 0x0000; </a:t>
            </a:r>
            <a:r>
              <a:rPr lang="en-US" sz="2000" dirty="0">
                <a:solidFill>
                  <a:srgbClr val="3F7F5F"/>
                </a:solidFill>
                <a:latin typeface="Consolas" panose="020B0609020204030204" pitchFamily="49" charset="0"/>
              </a:rPr>
              <a:t>// Phase is 0</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TBCTL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PHSEN</a:t>
            </a:r>
            <a:r>
              <a:rPr lang="en-US" sz="2000" dirty="0">
                <a:solidFill>
                  <a:srgbClr val="000000"/>
                </a:solidFill>
                <a:latin typeface="Consolas" panose="020B0609020204030204" pitchFamily="49" charset="0"/>
              </a:rPr>
              <a:t> = 0; </a:t>
            </a:r>
            <a:r>
              <a:rPr lang="en-US" sz="2000" dirty="0">
                <a:solidFill>
                  <a:srgbClr val="3F7F5F"/>
                </a:solidFill>
                <a:latin typeface="Consolas" panose="020B0609020204030204" pitchFamily="49" charset="0"/>
              </a:rPr>
              <a:t>// Disable phase loading</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TBCTL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CLKDIV</a:t>
            </a:r>
            <a:r>
              <a:rPr lang="en-US" sz="2000" dirty="0">
                <a:solidFill>
                  <a:srgbClr val="000000"/>
                </a:solidFill>
                <a:latin typeface="Consolas" panose="020B0609020204030204" pitchFamily="49" charset="0"/>
              </a:rPr>
              <a:t> = 0; </a:t>
            </a:r>
            <a:r>
              <a:rPr lang="en-US" sz="2000" dirty="0">
                <a:solidFill>
                  <a:srgbClr val="3F7F5F"/>
                </a:solidFill>
                <a:latin typeface="Consolas" panose="020B0609020204030204" pitchFamily="49" charset="0"/>
              </a:rPr>
              <a:t>// divide by 1 50Mhz Clock</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5000; </a:t>
            </a:r>
            <a:r>
              <a:rPr lang="en-US" sz="2000" dirty="0">
                <a:solidFill>
                  <a:srgbClr val="3F7F5F"/>
                </a:solidFill>
                <a:latin typeface="Consolas" panose="020B0609020204030204" pitchFamily="49" charset="0"/>
              </a:rPr>
              <a:t>// Set Period to 0.1ms sample. Input clock is 50MHz.</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ETSEL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SOCAEN</a:t>
            </a:r>
            <a:r>
              <a:rPr lang="en-US" sz="2000" dirty="0">
                <a:solidFill>
                  <a:srgbClr val="000000"/>
                </a:solidFill>
                <a:latin typeface="Consolas" panose="020B0609020204030204" pitchFamily="49" charset="0"/>
              </a:rPr>
              <a:t> = 1; </a:t>
            </a:r>
            <a:r>
              <a:rPr lang="en-US" sz="2000" dirty="0">
                <a:solidFill>
                  <a:srgbClr val="3F7F5F"/>
                </a:solidFill>
                <a:latin typeface="Consolas" panose="020B0609020204030204" pitchFamily="49" charset="0"/>
              </a:rPr>
              <a:t>// Enable SOC on A group</a:t>
            </a:r>
          </a:p>
          <a:p>
            <a:pPr marL="114300" indent="0">
              <a:spcBef>
                <a:spcPts val="0"/>
              </a:spcBef>
              <a:buNone/>
            </a:pPr>
            <a:r>
              <a:rPr lang="en-US" sz="2000" dirty="0">
                <a:solidFill>
                  <a:srgbClr val="3F7F5F"/>
                </a:solidFill>
                <a:latin typeface="Consolas" panose="020B0609020204030204" pitchFamily="49" charset="0"/>
              </a:rPr>
              <a:t>// Notice here that we are not setting CMPA or CMPB because we are not using the PWM signal EPwm7Regs.ETSEL.bit.SOCAEN = 1; //enable SOCA</a:t>
            </a:r>
          </a:p>
          <a:p>
            <a:pPr marL="114300" indent="0">
              <a:spcBef>
                <a:spcPts val="0"/>
              </a:spcBef>
              <a:buNone/>
            </a:pPr>
            <a:r>
              <a:rPr lang="en-US" sz="2000" dirty="0">
                <a:solidFill>
                  <a:srgbClr val="000000"/>
                </a:solidFill>
                <a:latin typeface="Consolas" panose="020B0609020204030204" pitchFamily="49" charset="0"/>
              </a:rPr>
              <a:t>EPwm7Regs.</a:t>
            </a:r>
            <a:r>
              <a:rPr lang="en-US" sz="2000" dirty="0">
                <a:solidFill>
                  <a:srgbClr val="0000C0"/>
                </a:solidFill>
                <a:latin typeface="Consolas" panose="020B0609020204030204" pitchFamily="49" charset="0"/>
              </a:rPr>
              <a:t>TBCTL</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CTRMODE</a:t>
            </a:r>
            <a:r>
              <a:rPr lang="en-US" sz="2000" dirty="0">
                <a:solidFill>
                  <a:srgbClr val="000000"/>
                </a:solidFill>
                <a:latin typeface="Consolas" panose="020B0609020204030204" pitchFamily="49" charset="0"/>
              </a:rPr>
              <a:t> = 0x00; </a:t>
            </a:r>
            <a:r>
              <a:rPr lang="en-US" sz="2000" dirty="0">
                <a:solidFill>
                  <a:srgbClr val="3F7F5F"/>
                </a:solidFill>
                <a:latin typeface="Consolas" panose="020B0609020204030204" pitchFamily="49" charset="0"/>
              </a:rPr>
              <a:t>//unfreeze, and enter up count mode</a:t>
            </a:r>
          </a:p>
          <a:p>
            <a:pPr marL="114300" indent="0">
              <a:spcBef>
                <a:spcPts val="0"/>
              </a:spcBef>
              <a:buNone/>
            </a:pPr>
            <a:r>
              <a:rPr lang="en-US" sz="2000" dirty="0">
                <a:solidFill>
                  <a:srgbClr val="000000"/>
                </a:solidFill>
                <a:latin typeface="Consolas" panose="020B0609020204030204" pitchFamily="49" charset="0"/>
              </a:rPr>
              <a:t>EDIS;</a:t>
            </a:r>
            <a:endParaRPr lang="en-US" sz="2000" dirty="0">
              <a:solidFill>
                <a:schemeClr val="tx1"/>
              </a:solidFill>
              <a:latin typeface="Atkinson Hyperlegible Next"/>
              <a:cs typeface="Arial"/>
              <a:sym typeface="Arial"/>
            </a:endParaRPr>
          </a:p>
        </p:txBody>
      </p:sp>
      <p:sp>
        <p:nvSpPr>
          <p:cNvPr id="119" name="Google Shape;119;p29">
            <a:extLst>
              <a:ext uri="{FF2B5EF4-FFF2-40B4-BE49-F238E27FC236}">
                <a16:creationId xmlns:a16="http://schemas.microsoft.com/office/drawing/2014/main" id="{C3A5C257-07A9-4EE3-A1C4-1EB09944739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A134DBF-1B71-BC3D-098A-63916CF4614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FFT Code</a:t>
            </a:r>
            <a:r>
              <a:rPr i="0" b="0" lang="en-US" sz="2400" dirty="0">
                <a:solidFill>
                  <a:schemeClr val="lt1"/>
                </a:solidFill>
              </a:rPr>
              <a:t> - Setup (1/3)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E92F33-CDD5-4291-3FA7-F065867737C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8F780C2-F4CD-C434-0857-052FD62953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758738-2B05-9FB3-0C95-081412E8DDB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253A38D-4A41-73CB-E1E8-CE67BB1B06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74113B1-C684-BD26-61FE-01715C1897F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A049C8-2633-6283-201E-EF71A1515A8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85115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56BB21-8E38-9EC1-613A-19C9345FA85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90D5EA2-302F-6B41-5065-7957DA22E207}"/>
              </a:ext>
            </a:extLst>
          </p:cNvPr>
          <p:cNvSpPr txBox="1">
            <a:spLocks noGrp="1"/>
          </p:cNvSpPr>
          <p:nvPr>
            <p:ph type="body" idx="1"/>
          </p:nvPr>
        </p:nvSpPr>
        <p:spPr>
          <a:xfrm>
            <a:off x="376809" y="1172487"/>
            <a:ext cx="11452008" cy="4982893"/>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050" dirty="0">
                <a:solidFill>
                  <a:srgbClr val="000000"/>
                </a:solidFill>
                <a:latin typeface="Consolas" panose="020B0609020204030204" pitchFamily="49" charset="0"/>
              </a:rPr>
              <a:t>EALLOW;</a:t>
            </a:r>
          </a:p>
          <a:p>
            <a:pPr marL="114300" indent="0" algn="l">
              <a:spcBef>
                <a:spcPts val="0"/>
              </a:spcBef>
              <a:buNone/>
            </a:pPr>
            <a:r>
              <a:rPr lang="en-US" sz="1050" dirty="0">
                <a:solidFill>
                  <a:srgbClr val="3F7F5F"/>
                </a:solidFill>
                <a:latin typeface="Consolas" panose="020B0609020204030204" pitchFamily="49" charset="0"/>
              </a:rPr>
              <a:t>//write configurations for all ADCs ADCA, ADCB, ADCC, ADCD</a:t>
            </a:r>
          </a:p>
          <a:p>
            <a:pPr marL="114300" indent="0" algn="l">
              <a:spcBef>
                <a:spcPts val="0"/>
              </a:spcBef>
              <a:buNone/>
            </a:pPr>
            <a:r>
              <a:rPr lang="en-US" sz="1050" dirty="0">
                <a:solidFill>
                  <a:srgbClr val="000000"/>
                </a:solidFill>
                <a:latin typeface="Consolas" panose="020B0609020204030204" pitchFamily="49" charset="0"/>
              </a:rPr>
              <a:t>AdcaRegs.</a:t>
            </a:r>
            <a:r>
              <a:rPr lang="en-US" sz="1050" dirty="0">
                <a:solidFill>
                  <a:srgbClr val="0000C0"/>
                </a:solidFill>
                <a:latin typeface="Consolas" panose="020B0609020204030204" pitchFamily="49" charset="0"/>
              </a:rPr>
              <a:t>ADCCTL2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PRESCALE</a:t>
            </a:r>
            <a:r>
              <a:rPr lang="en-US" sz="1050" dirty="0">
                <a:solidFill>
                  <a:srgbClr val="000000"/>
                </a:solidFill>
                <a:latin typeface="Consolas" panose="020B0609020204030204" pitchFamily="49" charset="0"/>
              </a:rPr>
              <a:t> = 6; </a:t>
            </a:r>
            <a:r>
              <a:rPr lang="en-US" sz="1050" dirty="0">
                <a:solidFill>
                  <a:srgbClr val="3F7F5F"/>
                </a:solidFill>
                <a:latin typeface="Consolas" panose="020B0609020204030204" pitchFamily="49" charset="0"/>
              </a:rPr>
              <a:t>//set ADCCLK divider to /4</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ADCCTL2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PRESCALE</a:t>
            </a:r>
            <a:r>
              <a:rPr lang="en-US" sz="1050" dirty="0">
                <a:solidFill>
                  <a:srgbClr val="000000"/>
                </a:solidFill>
                <a:latin typeface="Consolas" panose="020B0609020204030204" pitchFamily="49" charset="0"/>
              </a:rPr>
              <a:t> = 6; </a:t>
            </a:r>
            <a:r>
              <a:rPr lang="en-US" sz="1050" dirty="0">
                <a:solidFill>
                  <a:srgbClr val="3F7F5F"/>
                </a:solidFill>
                <a:latin typeface="Consolas" panose="020B0609020204030204" pitchFamily="49" charset="0"/>
              </a:rPr>
              <a:t>//set ADCCLK divider to /4</a:t>
            </a:r>
          </a:p>
          <a:p>
            <a:pPr marL="114300" indent="0" algn="l">
              <a:spcBef>
                <a:spcPts val="0"/>
              </a:spcBef>
              <a:buNone/>
            </a:pPr>
            <a:r>
              <a:rPr lang="en-US" sz="1050" dirty="0">
                <a:solidFill>
                  <a:srgbClr val="000000"/>
                </a:solidFill>
                <a:latin typeface="Consolas" panose="020B0609020204030204" pitchFamily="49" charset="0"/>
              </a:rPr>
              <a:t>AdccRegs.</a:t>
            </a:r>
            <a:r>
              <a:rPr lang="en-US" sz="1050" dirty="0">
                <a:solidFill>
                  <a:srgbClr val="0000C0"/>
                </a:solidFill>
                <a:latin typeface="Consolas" panose="020B0609020204030204" pitchFamily="49" charset="0"/>
              </a:rPr>
              <a:t>ADCCTL2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PRESCALE</a:t>
            </a:r>
            <a:r>
              <a:rPr lang="en-US" sz="1050" dirty="0">
                <a:solidFill>
                  <a:srgbClr val="000000"/>
                </a:solidFill>
                <a:latin typeface="Consolas" panose="020B0609020204030204" pitchFamily="49" charset="0"/>
              </a:rPr>
              <a:t> = 6; </a:t>
            </a:r>
            <a:r>
              <a:rPr lang="en-US" sz="1050" dirty="0">
                <a:solidFill>
                  <a:srgbClr val="3F7F5F"/>
                </a:solidFill>
                <a:latin typeface="Consolas" panose="020B0609020204030204" pitchFamily="49" charset="0"/>
              </a:rPr>
              <a:t>//set ADCCLK divider to /4</a:t>
            </a:r>
          </a:p>
          <a:p>
            <a:pPr marL="114300" indent="0" algn="l">
              <a:spcBef>
                <a:spcPts val="0"/>
              </a:spcBef>
              <a:buNone/>
            </a:pPr>
            <a:r>
              <a:rPr lang="en-US" sz="1050" dirty="0">
                <a:solidFill>
                  <a:srgbClr val="000000"/>
                </a:solidFill>
                <a:latin typeface="Consolas" panose="020B0609020204030204" pitchFamily="49" charset="0"/>
              </a:rPr>
              <a:t>AdcdRegs.</a:t>
            </a:r>
            <a:r>
              <a:rPr lang="en-US" sz="1050" dirty="0">
                <a:solidFill>
                  <a:srgbClr val="0000C0"/>
                </a:solidFill>
                <a:latin typeface="Consolas" panose="020B0609020204030204" pitchFamily="49" charset="0"/>
              </a:rPr>
              <a:t>ADCCTL2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PRESCALE</a:t>
            </a:r>
            <a:r>
              <a:rPr lang="en-US" sz="1050" dirty="0">
                <a:solidFill>
                  <a:srgbClr val="000000"/>
                </a:solidFill>
                <a:latin typeface="Consolas" panose="020B0609020204030204" pitchFamily="49" charset="0"/>
              </a:rPr>
              <a:t> = 6; </a:t>
            </a:r>
            <a:r>
              <a:rPr lang="en-US" sz="1050" dirty="0">
                <a:solidFill>
                  <a:srgbClr val="3F7F5F"/>
                </a:solidFill>
                <a:latin typeface="Consolas" panose="020B0609020204030204" pitchFamily="49" charset="0"/>
              </a:rPr>
              <a:t>//set ADCCLK divider to /4</a:t>
            </a:r>
          </a:p>
          <a:p>
            <a:pPr marL="114300" indent="0" algn="l">
              <a:spcBef>
                <a:spcPts val="0"/>
              </a:spcBef>
              <a:buNone/>
            </a:pPr>
            <a:endParaRPr lang="en-US" sz="1050" dirty="0">
              <a:solidFill>
                <a:srgbClr val="3F7F5F"/>
              </a:solidFill>
              <a:latin typeface="Consolas" panose="020B0609020204030204" pitchFamily="49" charset="0"/>
            </a:endParaRPr>
          </a:p>
          <a:p>
            <a:pPr marL="114300" indent="0" algn="l">
              <a:spcBef>
                <a:spcPts val="0"/>
              </a:spcBef>
              <a:buNone/>
            </a:pPr>
            <a:r>
              <a:rPr lang="en-US" sz="1050" dirty="0" err="1">
                <a:solidFill>
                  <a:srgbClr val="642880"/>
                </a:solidFill>
                <a:latin typeface="Consolas" panose="020B0609020204030204" pitchFamily="49" charset="0"/>
              </a:rPr>
              <a:t>AdcSetMode</a:t>
            </a:r>
            <a:r>
              <a:rPr lang="en-US" sz="1050" dirty="0">
                <a:solidFill>
                  <a:srgbClr val="000000"/>
                </a:solidFill>
                <a:latin typeface="Consolas" panose="020B0609020204030204" pitchFamily="49" charset="0"/>
              </a:rPr>
              <a:t>(ADC_ADCA, </a:t>
            </a:r>
            <a:r>
              <a:rPr lang="en-US" sz="1050" i="1" dirty="0">
                <a:solidFill>
                  <a:srgbClr val="0000C0"/>
                </a:solidFill>
                <a:latin typeface="Consolas" panose="020B0609020204030204" pitchFamily="49" charset="0"/>
              </a:rPr>
              <a:t>ADC_RESOLUTION_12BIT</a:t>
            </a:r>
            <a:r>
              <a:rPr lang="en-US" sz="1050" i="1" dirty="0">
                <a:solidFill>
                  <a:srgbClr val="000000"/>
                </a:solidFill>
                <a:latin typeface="Consolas" panose="020B0609020204030204" pitchFamily="49" charset="0"/>
              </a:rPr>
              <a:t>, ADC_SIGNALMODE_SINGLE); </a:t>
            </a:r>
            <a:r>
              <a:rPr lang="en-US" sz="1050" i="1" dirty="0">
                <a:solidFill>
                  <a:srgbClr val="3F7F5F"/>
                </a:solidFill>
                <a:latin typeface="Consolas" panose="020B0609020204030204" pitchFamily="49" charset="0"/>
              </a:rPr>
              <a:t>//read calibration settings</a:t>
            </a:r>
          </a:p>
          <a:p>
            <a:pPr marL="114300" indent="0" algn="l">
              <a:spcBef>
                <a:spcPts val="0"/>
              </a:spcBef>
              <a:buNone/>
            </a:pPr>
            <a:r>
              <a:rPr lang="en-US" sz="1050" dirty="0" err="1">
                <a:solidFill>
                  <a:srgbClr val="642880"/>
                </a:solidFill>
                <a:latin typeface="Consolas" panose="020B0609020204030204" pitchFamily="49" charset="0"/>
              </a:rPr>
              <a:t>AdcSetMode</a:t>
            </a:r>
            <a:r>
              <a:rPr lang="en-US" sz="1050" dirty="0">
                <a:solidFill>
                  <a:srgbClr val="000000"/>
                </a:solidFill>
                <a:latin typeface="Consolas" panose="020B0609020204030204" pitchFamily="49" charset="0"/>
              </a:rPr>
              <a:t>(ADC_ADCB, </a:t>
            </a:r>
            <a:r>
              <a:rPr lang="en-US" sz="1050" i="1" dirty="0">
                <a:solidFill>
                  <a:srgbClr val="0000C0"/>
                </a:solidFill>
                <a:latin typeface="Consolas" panose="020B0609020204030204" pitchFamily="49" charset="0"/>
              </a:rPr>
              <a:t>ADC_RESOLUTION_12BIT</a:t>
            </a:r>
            <a:r>
              <a:rPr lang="en-US" sz="1050" i="1" dirty="0">
                <a:solidFill>
                  <a:srgbClr val="000000"/>
                </a:solidFill>
                <a:latin typeface="Consolas" panose="020B0609020204030204" pitchFamily="49" charset="0"/>
              </a:rPr>
              <a:t>, ADC_SIGNALMODE_SINGLE); </a:t>
            </a:r>
            <a:r>
              <a:rPr lang="en-US" sz="1050" i="1" dirty="0">
                <a:solidFill>
                  <a:srgbClr val="3F7F5F"/>
                </a:solidFill>
                <a:latin typeface="Consolas" panose="020B0609020204030204" pitchFamily="49" charset="0"/>
              </a:rPr>
              <a:t>//read calibration settings</a:t>
            </a:r>
          </a:p>
          <a:p>
            <a:pPr marL="114300" indent="0" algn="l">
              <a:spcBef>
                <a:spcPts val="0"/>
              </a:spcBef>
              <a:buNone/>
            </a:pPr>
            <a:r>
              <a:rPr lang="en-US" sz="1050" dirty="0" err="1">
                <a:solidFill>
                  <a:srgbClr val="642880"/>
                </a:solidFill>
                <a:latin typeface="Consolas" panose="020B0609020204030204" pitchFamily="49" charset="0"/>
              </a:rPr>
              <a:t>AdcSetMode</a:t>
            </a:r>
            <a:r>
              <a:rPr lang="en-US" sz="1050" dirty="0">
                <a:solidFill>
                  <a:srgbClr val="000000"/>
                </a:solidFill>
                <a:latin typeface="Consolas" panose="020B0609020204030204" pitchFamily="49" charset="0"/>
              </a:rPr>
              <a:t>(ADC_ADCC, </a:t>
            </a:r>
            <a:r>
              <a:rPr lang="en-US" sz="1050" i="1" dirty="0">
                <a:solidFill>
                  <a:srgbClr val="0000C0"/>
                </a:solidFill>
                <a:latin typeface="Consolas" panose="020B0609020204030204" pitchFamily="49" charset="0"/>
              </a:rPr>
              <a:t>ADC_RESOLUTION_12BIT</a:t>
            </a:r>
            <a:r>
              <a:rPr lang="en-US" sz="1050" i="1" dirty="0">
                <a:solidFill>
                  <a:srgbClr val="000000"/>
                </a:solidFill>
                <a:latin typeface="Consolas" panose="020B0609020204030204" pitchFamily="49" charset="0"/>
              </a:rPr>
              <a:t>, ADC_SIGNALMODE_SINGLE); </a:t>
            </a:r>
            <a:r>
              <a:rPr lang="en-US" sz="1050" i="1" dirty="0">
                <a:solidFill>
                  <a:srgbClr val="3F7F5F"/>
                </a:solidFill>
                <a:latin typeface="Consolas" panose="020B0609020204030204" pitchFamily="49" charset="0"/>
              </a:rPr>
              <a:t>//read calibration settings</a:t>
            </a:r>
          </a:p>
          <a:p>
            <a:pPr marL="114300" indent="0" algn="l">
              <a:spcBef>
                <a:spcPts val="0"/>
              </a:spcBef>
              <a:buNone/>
            </a:pPr>
            <a:r>
              <a:rPr lang="en-US" sz="1050" dirty="0" err="1">
                <a:solidFill>
                  <a:srgbClr val="642880"/>
                </a:solidFill>
                <a:latin typeface="Consolas" panose="020B0609020204030204" pitchFamily="49" charset="0"/>
              </a:rPr>
              <a:t>AdcSetMode</a:t>
            </a:r>
            <a:r>
              <a:rPr lang="en-US" sz="1050" dirty="0">
                <a:solidFill>
                  <a:srgbClr val="000000"/>
                </a:solidFill>
                <a:latin typeface="Consolas" panose="020B0609020204030204" pitchFamily="49" charset="0"/>
              </a:rPr>
              <a:t>(ADC_ADCD, </a:t>
            </a:r>
            <a:r>
              <a:rPr lang="en-US" sz="1050" i="1" dirty="0">
                <a:solidFill>
                  <a:srgbClr val="0000C0"/>
                </a:solidFill>
                <a:latin typeface="Consolas" panose="020B0609020204030204" pitchFamily="49" charset="0"/>
              </a:rPr>
              <a:t>ADC_RESOLUTION_12BIT</a:t>
            </a:r>
            <a:r>
              <a:rPr lang="en-US" sz="1050" i="1" dirty="0">
                <a:solidFill>
                  <a:srgbClr val="000000"/>
                </a:solidFill>
                <a:latin typeface="Consolas" panose="020B0609020204030204" pitchFamily="49" charset="0"/>
              </a:rPr>
              <a:t>, ADC_SIGNALMODE_SINGLE); </a:t>
            </a:r>
            <a:r>
              <a:rPr lang="en-US" sz="1050" i="1" dirty="0">
                <a:solidFill>
                  <a:srgbClr val="3F7F5F"/>
                </a:solidFill>
                <a:latin typeface="Consolas" panose="020B0609020204030204" pitchFamily="49" charset="0"/>
              </a:rPr>
              <a:t>//read calibration settings</a:t>
            </a:r>
          </a:p>
          <a:p>
            <a:pPr marL="114300" indent="0" algn="l">
              <a:spcBef>
                <a:spcPts val="0"/>
              </a:spcBef>
              <a:buNone/>
            </a:pPr>
            <a:endParaRPr lang="en-US" sz="1050" i="1" dirty="0">
              <a:solidFill>
                <a:srgbClr val="3F7F5F"/>
              </a:solidFill>
              <a:latin typeface="Consolas" panose="020B0609020204030204" pitchFamily="49" charset="0"/>
            </a:endParaRPr>
          </a:p>
          <a:p>
            <a:pPr marL="114300" indent="0" algn="l">
              <a:spcBef>
                <a:spcPts val="0"/>
              </a:spcBef>
              <a:buNone/>
            </a:pPr>
            <a:r>
              <a:rPr lang="en-US" sz="1050" dirty="0">
                <a:solidFill>
                  <a:srgbClr val="3F7F5F"/>
                </a:solidFill>
                <a:latin typeface="Consolas" panose="020B0609020204030204" pitchFamily="49" charset="0"/>
              </a:rPr>
              <a:t>//Set pulse positions to late</a:t>
            </a:r>
          </a:p>
          <a:p>
            <a:pPr marL="114300" indent="0" algn="l">
              <a:spcBef>
                <a:spcPts val="0"/>
              </a:spcBef>
              <a:buNone/>
            </a:pPr>
            <a:r>
              <a:rPr lang="en-US" sz="1050" dirty="0">
                <a:solidFill>
                  <a:srgbClr val="000000"/>
                </a:solidFill>
                <a:latin typeface="Consolas" panose="020B0609020204030204" pitchFamily="49" charset="0"/>
              </a:rPr>
              <a:t>AdcaRegs.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INTPULSEPOS</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INTPULSEPOS</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AdccRegs.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INTPULSEPOS</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AdcdRegs.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INTPULSEPOS</a:t>
            </a:r>
            <a:r>
              <a:rPr lang="en-US" sz="1050" dirty="0">
                <a:solidFill>
                  <a:srgbClr val="000000"/>
                </a:solidFill>
                <a:latin typeface="Consolas" panose="020B0609020204030204" pitchFamily="49" charset="0"/>
              </a:rPr>
              <a:t> = 1;   </a:t>
            </a:r>
            <a:r>
              <a:rPr lang="en-US" sz="1050" dirty="0">
                <a:solidFill>
                  <a:srgbClr val="3F7F5F"/>
                </a:solidFill>
                <a:latin typeface="Consolas" panose="020B0609020204030204" pitchFamily="49" charset="0"/>
              </a:rPr>
              <a:t>//power up the ADCs</a:t>
            </a:r>
          </a:p>
          <a:p>
            <a:pPr marL="114300" indent="0" algn="l">
              <a:spcBef>
                <a:spcPts val="0"/>
              </a:spcBef>
              <a:buNone/>
            </a:pPr>
            <a:r>
              <a:rPr lang="en-US" sz="1050" dirty="0">
                <a:solidFill>
                  <a:srgbClr val="000000"/>
                </a:solidFill>
                <a:latin typeface="Consolas" panose="020B0609020204030204" pitchFamily="49" charset="0"/>
              </a:rPr>
              <a:t>AdcaRegs.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ADCPWDNZ</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ADCPWDNZ</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AdccRegs.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ADCPWDNZ</a:t>
            </a:r>
            <a:r>
              <a:rPr lang="en-US" sz="1050" dirty="0">
                <a:solidFill>
                  <a:srgbClr val="000000"/>
                </a:solidFill>
                <a:latin typeface="Consolas" panose="020B0609020204030204" pitchFamily="49" charset="0"/>
              </a:rPr>
              <a:t> = 1;</a:t>
            </a:r>
          </a:p>
          <a:p>
            <a:pPr marL="114300" indent="0" algn="l">
              <a:spcBef>
                <a:spcPts val="0"/>
              </a:spcBef>
              <a:buNone/>
            </a:pPr>
            <a:r>
              <a:rPr lang="en-US" sz="1050" dirty="0">
                <a:solidFill>
                  <a:srgbClr val="000000"/>
                </a:solidFill>
                <a:latin typeface="Consolas" panose="020B0609020204030204" pitchFamily="49" charset="0"/>
              </a:rPr>
              <a:t>AdcdRegs.</a:t>
            </a:r>
            <a:r>
              <a:rPr lang="en-US" sz="1050" dirty="0">
                <a:solidFill>
                  <a:srgbClr val="0000C0"/>
                </a:solidFill>
                <a:latin typeface="Consolas" panose="020B0609020204030204" pitchFamily="49" charset="0"/>
              </a:rPr>
              <a:t>ADCCTL1</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ADCPWDNZ</a:t>
            </a:r>
            <a:r>
              <a:rPr lang="en-US" sz="1050" dirty="0">
                <a:solidFill>
                  <a:srgbClr val="000000"/>
                </a:solidFill>
                <a:latin typeface="Consolas" panose="020B0609020204030204" pitchFamily="49" charset="0"/>
              </a:rPr>
              <a:t> = 1;      </a:t>
            </a:r>
            <a:r>
              <a:rPr lang="en-US" sz="1050" dirty="0">
                <a:solidFill>
                  <a:srgbClr val="3F7F5F"/>
                </a:solidFill>
                <a:latin typeface="Consolas" panose="020B0609020204030204" pitchFamily="49" charset="0"/>
              </a:rPr>
              <a:t>//delay for 1ms to allow ADC time to power up</a:t>
            </a:r>
          </a:p>
          <a:p>
            <a:pPr marL="114300" indent="0" algn="l">
              <a:spcBef>
                <a:spcPts val="0"/>
              </a:spcBef>
              <a:buNone/>
            </a:pPr>
            <a:r>
              <a:rPr lang="en-US" sz="1050" dirty="0">
                <a:solidFill>
                  <a:srgbClr val="000000"/>
                </a:solidFill>
                <a:latin typeface="Consolas" panose="020B0609020204030204" pitchFamily="49" charset="0"/>
              </a:rPr>
              <a:t>DELAY_US(1000);</a:t>
            </a:r>
          </a:p>
          <a:p>
            <a:pPr marL="114300" indent="0" algn="l">
              <a:spcBef>
                <a:spcPts val="0"/>
              </a:spcBef>
              <a:buNone/>
            </a:pPr>
            <a:endParaRPr lang="en-US" sz="1050" dirty="0">
              <a:solidFill>
                <a:srgbClr val="000000"/>
              </a:solidFill>
              <a:latin typeface="Consolas" panose="020B0609020204030204" pitchFamily="49" charset="0"/>
            </a:endParaRPr>
          </a:p>
          <a:p>
            <a:pPr marL="114300" indent="0" algn="l">
              <a:spcBef>
                <a:spcPts val="0"/>
              </a:spcBef>
              <a:buNone/>
            </a:pPr>
            <a:r>
              <a:rPr lang="en-US" sz="1050" dirty="0">
                <a:solidFill>
                  <a:srgbClr val="3F7F5F"/>
                </a:solidFill>
                <a:latin typeface="Consolas" panose="020B0609020204030204" pitchFamily="49" charset="0"/>
              </a:rPr>
              <a:t>//ADCB</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ADCSOC0CTL</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CHSEL</a:t>
            </a:r>
            <a:r>
              <a:rPr lang="en-US" sz="1050" dirty="0">
                <a:solidFill>
                  <a:srgbClr val="000000"/>
                </a:solidFill>
                <a:latin typeface="Consolas" panose="020B0609020204030204" pitchFamily="49" charset="0"/>
              </a:rPr>
              <a:t> = 4;      </a:t>
            </a:r>
            <a:r>
              <a:rPr lang="en-US" sz="1050" dirty="0">
                <a:solidFill>
                  <a:srgbClr val="3F7F5F"/>
                </a:solidFill>
                <a:latin typeface="Consolas" panose="020B0609020204030204" pitchFamily="49" charset="0"/>
              </a:rPr>
              <a:t>//SOC0 will convert Channel you choose Does not have to be B0, ADCIN4 </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ADCSOC0CTL</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ACQPS</a:t>
            </a:r>
            <a:r>
              <a:rPr lang="en-US" sz="1050" dirty="0">
                <a:solidFill>
                  <a:srgbClr val="000000"/>
                </a:solidFill>
                <a:latin typeface="Consolas" panose="020B0609020204030204" pitchFamily="49" charset="0"/>
              </a:rPr>
              <a:t> = 99;     </a:t>
            </a:r>
            <a:r>
              <a:rPr lang="en-US" sz="1050" dirty="0">
                <a:solidFill>
                  <a:srgbClr val="3F7F5F"/>
                </a:solidFill>
                <a:latin typeface="Consolas" panose="020B0609020204030204" pitchFamily="49" charset="0"/>
              </a:rPr>
              <a:t>//sample window is </a:t>
            </a:r>
            <a:r>
              <a:rPr lang="en-US" sz="1050" dirty="0" err="1">
                <a:solidFill>
                  <a:srgbClr val="3F7F5F"/>
                </a:solidFill>
                <a:latin typeface="Consolas" panose="020B0609020204030204" pitchFamily="49" charset="0"/>
              </a:rPr>
              <a:t>acqps</a:t>
            </a:r>
            <a:r>
              <a:rPr lang="en-US" sz="1050" dirty="0">
                <a:solidFill>
                  <a:srgbClr val="3F7F5F"/>
                </a:solidFill>
                <a:latin typeface="Consolas" panose="020B0609020204030204" pitchFamily="49" charset="0"/>
              </a:rPr>
              <a:t> + 1 SYSCLK cycles = 500ns</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ADCSOC0CTL</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TRIGSEL</a:t>
            </a:r>
            <a:r>
              <a:rPr lang="en-US" sz="1050" dirty="0">
                <a:solidFill>
                  <a:srgbClr val="000000"/>
                </a:solidFill>
                <a:latin typeface="Consolas" panose="020B0609020204030204" pitchFamily="49" charset="0"/>
              </a:rPr>
              <a:t> = 0x11; </a:t>
            </a:r>
            <a:r>
              <a:rPr lang="en-US" sz="1050" dirty="0">
                <a:solidFill>
                  <a:srgbClr val="3F7F5F"/>
                </a:solidFill>
                <a:latin typeface="Consolas" panose="020B0609020204030204" pitchFamily="49" charset="0"/>
              </a:rPr>
              <a:t>// EPWM7 ADCSOCA or another trigger you choose will trigger SOC0</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ADCINTSEL1N2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INT1SEL</a:t>
            </a:r>
            <a:r>
              <a:rPr lang="en-US" sz="1050" dirty="0">
                <a:solidFill>
                  <a:srgbClr val="000000"/>
                </a:solidFill>
                <a:latin typeface="Consolas" panose="020B0609020204030204" pitchFamily="49" charset="0"/>
              </a:rPr>
              <a:t> = 0;  </a:t>
            </a:r>
            <a:r>
              <a:rPr lang="en-US" sz="1050" dirty="0">
                <a:solidFill>
                  <a:srgbClr val="3F7F5F"/>
                </a:solidFill>
                <a:latin typeface="Consolas" panose="020B0609020204030204" pitchFamily="49" charset="0"/>
              </a:rPr>
              <a:t>//set to last SOC that is converted and it will set INT1 flag ADCB1</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ADCINTSEL1N2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INT1E</a:t>
            </a:r>
            <a:r>
              <a:rPr lang="en-US" sz="1050" dirty="0">
                <a:solidFill>
                  <a:srgbClr val="000000"/>
                </a:solidFill>
                <a:latin typeface="Consolas" panose="020B0609020204030204" pitchFamily="49" charset="0"/>
              </a:rPr>
              <a:t> = 1;    </a:t>
            </a:r>
            <a:r>
              <a:rPr lang="en-US" sz="1050" dirty="0">
                <a:solidFill>
                  <a:srgbClr val="3F7F5F"/>
                </a:solidFill>
                <a:latin typeface="Consolas" panose="020B0609020204030204" pitchFamily="49" charset="0"/>
              </a:rPr>
              <a:t>//enable INT1 flag, originally = 1 (need to set to 1 for non-DMA)</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ADCINTFLGCLR</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ADCINT1</a:t>
            </a:r>
            <a:r>
              <a:rPr lang="en-US" sz="1050" dirty="0">
                <a:solidFill>
                  <a:srgbClr val="000000"/>
                </a:solidFill>
                <a:latin typeface="Consolas" panose="020B0609020204030204" pitchFamily="49" charset="0"/>
              </a:rPr>
              <a:t> = 1;  </a:t>
            </a:r>
            <a:r>
              <a:rPr lang="en-US" sz="1050" dirty="0">
                <a:solidFill>
                  <a:srgbClr val="3F7F5F"/>
                </a:solidFill>
                <a:latin typeface="Consolas" panose="020B0609020204030204" pitchFamily="49" charset="0"/>
              </a:rPr>
              <a:t>//make sure INT1 flag is cleared</a:t>
            </a:r>
          </a:p>
          <a:p>
            <a:pPr marL="114300" indent="0" algn="l">
              <a:spcBef>
                <a:spcPts val="0"/>
              </a:spcBef>
              <a:buNone/>
            </a:pPr>
            <a:r>
              <a:rPr lang="en-US" sz="1050" dirty="0">
                <a:solidFill>
                  <a:srgbClr val="000000"/>
                </a:solidFill>
                <a:latin typeface="Consolas" panose="020B0609020204030204" pitchFamily="49" charset="0"/>
              </a:rPr>
              <a:t>AdcbRegs.</a:t>
            </a:r>
            <a:r>
              <a:rPr lang="en-US" sz="1050" dirty="0">
                <a:solidFill>
                  <a:srgbClr val="0000C0"/>
                </a:solidFill>
                <a:latin typeface="Consolas" panose="020B0609020204030204" pitchFamily="49" charset="0"/>
              </a:rPr>
              <a:t>ADCINTSEL1N2</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bit</a:t>
            </a:r>
            <a:r>
              <a:rPr lang="en-US" sz="1050" dirty="0">
                <a:solidFill>
                  <a:srgbClr val="000000"/>
                </a:solidFill>
                <a:latin typeface="Consolas" panose="020B0609020204030204" pitchFamily="49" charset="0"/>
              </a:rPr>
              <a:t>.</a:t>
            </a:r>
            <a:r>
              <a:rPr lang="en-US" sz="1050" dirty="0">
                <a:solidFill>
                  <a:srgbClr val="0000C0"/>
                </a:solidFill>
                <a:latin typeface="Consolas" panose="020B0609020204030204" pitchFamily="49" charset="0"/>
              </a:rPr>
              <a:t>INT1CONT</a:t>
            </a:r>
            <a:r>
              <a:rPr lang="en-US" sz="1050" dirty="0">
                <a:solidFill>
                  <a:srgbClr val="000000"/>
                </a:solidFill>
                <a:latin typeface="Consolas" panose="020B0609020204030204" pitchFamily="49" charset="0"/>
              </a:rPr>
              <a:t> = 1; </a:t>
            </a:r>
            <a:r>
              <a:rPr lang="en-US" sz="1050" dirty="0">
                <a:solidFill>
                  <a:srgbClr val="3F7F5F"/>
                </a:solidFill>
                <a:latin typeface="Consolas" panose="020B0609020204030204" pitchFamily="49" charset="0"/>
              </a:rPr>
              <a:t>// Interrupt pulses regardless of flag state</a:t>
            </a:r>
          </a:p>
          <a:p>
            <a:pPr marL="114300" indent="0" algn="l">
              <a:spcBef>
                <a:spcPts val="0"/>
              </a:spcBef>
              <a:buNone/>
            </a:pPr>
            <a:r>
              <a:rPr lang="en-US" sz="1050" dirty="0">
                <a:solidFill>
                  <a:srgbClr val="000000"/>
                </a:solidFill>
                <a:latin typeface="Consolas" panose="020B0609020204030204" pitchFamily="49" charset="0"/>
              </a:rPr>
              <a:t>EDIS;</a:t>
            </a:r>
          </a:p>
          <a:p>
            <a:pPr marL="114300" indent="0" algn="l">
              <a:spcBef>
                <a:spcPts val="0"/>
              </a:spcBef>
              <a:buNone/>
            </a:pPr>
            <a:r>
              <a:rPr lang="en-US" sz="1050" dirty="0">
                <a:solidFill>
                  <a:srgbClr val="3F7F5F"/>
                </a:solidFill>
                <a:latin typeface="Consolas" panose="020B0609020204030204" pitchFamily="49" charset="0"/>
              </a:rPr>
              <a:t>// Initialize DMA</a:t>
            </a:r>
          </a:p>
          <a:p>
            <a:pPr marL="114300" indent="0" algn="l">
              <a:spcBef>
                <a:spcPts val="0"/>
              </a:spcBef>
              <a:buNone/>
            </a:pPr>
            <a:r>
              <a:rPr lang="en-US" sz="1050" dirty="0" err="1">
                <a:solidFill>
                  <a:srgbClr val="000000"/>
                </a:solidFill>
                <a:latin typeface="Consolas" panose="020B0609020204030204" pitchFamily="49" charset="0"/>
              </a:rPr>
              <a:t>InitDma</a:t>
            </a:r>
            <a:r>
              <a:rPr lang="en-US" sz="1050" dirty="0">
                <a:solidFill>
                  <a:srgbClr val="000000"/>
                </a:solidFill>
                <a:latin typeface="Consolas" panose="020B0609020204030204" pitchFamily="49" charset="0"/>
              </a:rPr>
              <a:t>();</a:t>
            </a:r>
            <a:endParaRPr lang="en-US" sz="1050" dirty="0">
              <a:solidFill>
                <a:schemeClr val="tx1"/>
              </a:solidFill>
              <a:latin typeface="Atkinson Hyperlegible Next"/>
              <a:cs typeface="Arial"/>
              <a:sym typeface="Arial"/>
            </a:endParaRPr>
          </a:p>
        </p:txBody>
      </p:sp>
      <p:sp>
        <p:nvSpPr>
          <p:cNvPr id="119" name="Google Shape;119;p29">
            <a:extLst>
              <a:ext uri="{FF2B5EF4-FFF2-40B4-BE49-F238E27FC236}">
                <a16:creationId xmlns:a16="http://schemas.microsoft.com/office/drawing/2014/main" id="{C2EA16CD-85B2-D711-E6C6-F64FD45D44A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EF700B6-0CBA-9A2E-7645-27B0DEF8016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FFT Code</a:t>
            </a:r>
            <a:r>
              <a:rPr i="0" b="0" lang="en-US" sz="2400" dirty="0">
                <a:solidFill>
                  <a:schemeClr val="lt1"/>
                </a:solidFill>
              </a:rPr>
              <a:t> - Setup (2/3)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067647C-FBF0-0CCE-C045-17E38F42EB1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18A414E-211D-F0C8-80C7-06EDA19CD7F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962A39-5B1E-5E79-BF5C-906E662B96F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73E3AB5-E12E-8AB5-2286-A2840C4AD2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C8AE6D2-0C10-549B-0460-A3B8305CA87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989284A-E8AA-B193-41D7-667A2FD50C3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42210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5400190-883D-F254-E665-7716F48560B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74E70FA-A29F-DE63-6C7D-ADAF71F3F54B}"/>
              </a:ext>
            </a:extLst>
          </p:cNvPr>
          <p:cNvSpPr txBox="1">
            <a:spLocks noGrp="1"/>
          </p:cNvSpPr>
          <p:nvPr>
            <p:ph type="body" idx="1"/>
          </p:nvPr>
        </p:nvSpPr>
        <p:spPr>
          <a:xfrm>
            <a:off x="376809" y="1172487"/>
            <a:ext cx="11452008" cy="4982893"/>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650" dirty="0">
                <a:solidFill>
                  <a:srgbClr val="7F0055"/>
                </a:solidFill>
                <a:latin typeface="Consolas" panose="020B0609020204030204" pitchFamily="49" charset="0"/>
              </a:rPr>
              <a:t>void</a:t>
            </a:r>
            <a:r>
              <a:rPr lang="en-US" sz="650" dirty="0">
                <a:solidFill>
                  <a:srgbClr val="000000"/>
                </a:solidFill>
                <a:latin typeface="Consolas" panose="020B0609020204030204" pitchFamily="49" charset="0"/>
              </a:rPr>
              <a:t> </a:t>
            </a:r>
            <a:r>
              <a:rPr lang="en-US" sz="650" dirty="0" err="1">
                <a:solidFill>
                  <a:srgbClr val="000000"/>
                </a:solidFill>
                <a:latin typeface="Consolas" panose="020B0609020204030204" pitchFamily="49" charset="0"/>
              </a:rPr>
              <a:t>InitDma</a:t>
            </a:r>
            <a:r>
              <a:rPr lang="en-US" sz="650" dirty="0">
                <a:solidFill>
                  <a:srgbClr val="000000"/>
                </a:solidFill>
                <a:latin typeface="Consolas" panose="020B0609020204030204" pitchFamily="49" charset="0"/>
              </a:rPr>
              <a:t>(</a:t>
            </a:r>
            <a:r>
              <a:rPr lang="en-US" sz="650" dirty="0">
                <a:solidFill>
                  <a:srgbClr val="7F0055"/>
                </a:solidFill>
                <a:latin typeface="Consolas" panose="020B0609020204030204" pitchFamily="49" charset="0"/>
              </a:rPr>
              <a:t>void</a:t>
            </a:r>
            <a:r>
              <a:rPr lang="en-US" sz="650" dirty="0">
                <a:solidFill>
                  <a:srgbClr val="000000"/>
                </a:solidFill>
                <a:latin typeface="Consolas" panose="020B0609020204030204" pitchFamily="49" charset="0"/>
              </a:rPr>
              <a:t>)</a:t>
            </a:r>
          </a:p>
          <a:p>
            <a:pPr marL="114300" indent="0" algn="l">
              <a:spcBef>
                <a:spcPts val="0"/>
              </a:spcBef>
              <a:buNone/>
            </a:pPr>
            <a:r>
              <a:rPr lang="en-US" sz="650" dirty="0">
                <a:solidFill>
                  <a:srgbClr val="000000"/>
                </a:solidFill>
                <a:latin typeface="Consolas" panose="020B0609020204030204" pitchFamily="49" charset="0"/>
              </a:rPr>
              <a:t>{</a:t>
            </a:r>
          </a:p>
          <a:p>
            <a:pPr marL="114300" indent="0" algn="l">
              <a:spcBef>
                <a:spcPts val="0"/>
              </a:spcBef>
              <a:buNone/>
            </a:pPr>
            <a:r>
              <a:rPr lang="en-US" sz="650" dirty="0">
                <a:solidFill>
                  <a:srgbClr val="000000"/>
                </a:solidFill>
                <a:latin typeface="Consolas" panose="020B0609020204030204" pitchFamily="49" charset="0"/>
              </a:rPr>
              <a:t>    EALLOW;</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3F7F5F"/>
                </a:solidFill>
                <a:latin typeface="Consolas" panose="020B0609020204030204" pitchFamily="49" charset="0"/>
              </a:rPr>
              <a:t>    //--- Overall DMA setup</a:t>
            </a:r>
          </a:p>
          <a:p>
            <a:pPr marL="114300" indent="0" algn="l">
              <a:spcBef>
                <a:spcPts val="0"/>
              </a:spcBef>
              <a:buNone/>
            </a:pPr>
            <a:r>
              <a:rPr lang="en-US" sz="650" dirty="0">
                <a:solidFill>
                  <a:srgbClr val="000000"/>
                </a:solidFill>
                <a:latin typeface="Consolas" panose="020B0609020204030204" pitchFamily="49" charset="0"/>
              </a:rPr>
              <a:t>    </a:t>
            </a:r>
            <a:r>
              <a:rPr lang="en-US" sz="650" dirty="0" err="1">
                <a:solidFill>
                  <a:srgbClr val="000000"/>
                </a:solidFill>
                <a:latin typeface="Consolas" panose="020B0609020204030204" pitchFamily="49" charset="0"/>
              </a:rPr>
              <a:t>DmaRegs.</a:t>
            </a:r>
            <a:r>
              <a:rPr lang="en-US" sz="650" dirty="0" err="1">
                <a:solidFill>
                  <a:srgbClr val="0000C0"/>
                </a:solidFill>
                <a:latin typeface="Consolas" panose="020B0609020204030204" pitchFamily="49" charset="0"/>
              </a:rPr>
              <a:t>DMACTRL</a:t>
            </a:r>
            <a:r>
              <a:rPr lang="en-US" sz="650" dirty="0" err="1">
                <a:solidFill>
                  <a:srgbClr val="000000"/>
                </a:solidFill>
                <a:latin typeface="Consolas" panose="020B0609020204030204" pitchFamily="49" charset="0"/>
              </a:rPr>
              <a:t>.</a:t>
            </a:r>
            <a:r>
              <a:rPr lang="en-US" sz="650" dirty="0" err="1">
                <a:solidFill>
                  <a:srgbClr val="0000C0"/>
                </a:solidFill>
                <a:latin typeface="Consolas" panose="020B0609020204030204" pitchFamily="49" charset="0"/>
              </a:rPr>
              <a:t>bit</a:t>
            </a:r>
            <a:r>
              <a:rPr lang="en-US" sz="650" dirty="0" err="1">
                <a:solidFill>
                  <a:srgbClr val="000000"/>
                </a:solidFill>
                <a:latin typeface="Consolas" panose="020B0609020204030204" pitchFamily="49" charset="0"/>
              </a:rPr>
              <a:t>.</a:t>
            </a:r>
            <a:r>
              <a:rPr lang="en-US" sz="650" dirty="0" err="1">
                <a:solidFill>
                  <a:srgbClr val="0000C0"/>
                </a:solidFill>
                <a:latin typeface="Consolas" panose="020B0609020204030204" pitchFamily="49" charset="0"/>
              </a:rPr>
              <a:t>HARDRESET</a:t>
            </a:r>
            <a:r>
              <a:rPr lang="en-US" sz="650" dirty="0">
                <a:solidFill>
                  <a:srgbClr val="000000"/>
                </a:solidFill>
                <a:latin typeface="Consolas" panose="020B0609020204030204" pitchFamily="49" charset="0"/>
              </a:rPr>
              <a:t> = 1;          </a:t>
            </a:r>
            <a:r>
              <a:rPr lang="en-US" sz="650" dirty="0">
                <a:solidFill>
                  <a:srgbClr val="3F7F5F"/>
                </a:solidFill>
                <a:latin typeface="Consolas" panose="020B0609020204030204" pitchFamily="49" charset="0"/>
              </a:rPr>
              <a:t>// Reset entire DMA module</a:t>
            </a:r>
          </a:p>
          <a:p>
            <a:pPr marL="114300" indent="0" algn="l">
              <a:spcBef>
                <a:spcPts val="0"/>
              </a:spcBef>
              <a:buNone/>
            </a:pPr>
            <a:r>
              <a:rPr lang="en-US" sz="650" dirty="0">
                <a:solidFill>
                  <a:srgbClr val="000000"/>
                </a:solidFill>
                <a:latin typeface="Consolas" panose="020B0609020204030204" pitchFamily="49" charset="0"/>
              </a:rPr>
              <a:t>    </a:t>
            </a:r>
            <a:r>
              <a:rPr lang="en-US" sz="650" dirty="0" err="1">
                <a:solidFill>
                  <a:srgbClr val="7F0055"/>
                </a:solidFill>
                <a:latin typeface="Consolas" panose="020B0609020204030204" pitchFamily="49" charset="0"/>
              </a:rPr>
              <a:t>asm</a:t>
            </a:r>
            <a:r>
              <a:rPr lang="en-US" sz="650" dirty="0">
                <a:solidFill>
                  <a:srgbClr val="000000"/>
                </a:solidFill>
                <a:latin typeface="Consolas" panose="020B0609020204030204" pitchFamily="49" charset="0"/>
              </a:rPr>
              <a:t>(</a:t>
            </a:r>
            <a:r>
              <a:rPr lang="en-US" sz="650" dirty="0">
                <a:solidFill>
                  <a:srgbClr val="2A00FF"/>
                </a:solidFill>
                <a:latin typeface="Consolas" panose="020B0609020204030204" pitchFamily="49" charset="0"/>
              </a:rPr>
              <a:t>" NOP"</a:t>
            </a: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1 cycle delay for HARDRESET to take effect</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a:t>
            </a:r>
            <a:r>
              <a:rPr lang="en-US" sz="650" dirty="0" err="1">
                <a:solidFill>
                  <a:srgbClr val="000000"/>
                </a:solidFill>
                <a:latin typeface="Consolas" panose="020B0609020204030204" pitchFamily="49" charset="0"/>
              </a:rPr>
              <a:t>DmaRegs.</a:t>
            </a:r>
            <a:r>
              <a:rPr lang="en-US" sz="650" dirty="0" err="1">
                <a:solidFill>
                  <a:srgbClr val="0000C0"/>
                </a:solidFill>
                <a:latin typeface="Consolas" panose="020B0609020204030204" pitchFamily="49" charset="0"/>
              </a:rPr>
              <a:t>DEBUGCTRL</a:t>
            </a:r>
            <a:r>
              <a:rPr lang="en-US" sz="650" dirty="0" err="1">
                <a:solidFill>
                  <a:srgbClr val="000000"/>
                </a:solidFill>
                <a:latin typeface="Consolas" panose="020B0609020204030204" pitchFamily="49" charset="0"/>
              </a:rPr>
              <a:t>.</a:t>
            </a:r>
            <a:r>
              <a:rPr lang="en-US" sz="650" dirty="0" err="1">
                <a:solidFill>
                  <a:srgbClr val="0000C0"/>
                </a:solidFill>
                <a:latin typeface="Consolas" panose="020B0609020204030204" pitchFamily="49" charset="0"/>
              </a:rPr>
              <a:t>bit</a:t>
            </a:r>
            <a:r>
              <a:rPr lang="en-US" sz="650" dirty="0" err="1">
                <a:solidFill>
                  <a:srgbClr val="000000"/>
                </a:solidFill>
                <a:latin typeface="Consolas" panose="020B0609020204030204" pitchFamily="49" charset="0"/>
              </a:rPr>
              <a:t>.</a:t>
            </a:r>
            <a:r>
              <a:rPr lang="en-US" sz="650" dirty="0" err="1">
                <a:solidFill>
                  <a:srgbClr val="0000C0"/>
                </a:solidFill>
                <a:latin typeface="Consolas" panose="020B0609020204030204" pitchFamily="49" charset="0"/>
              </a:rPr>
              <a:t>FREE</a:t>
            </a:r>
            <a:r>
              <a:rPr lang="en-US" sz="650" dirty="0">
                <a:solidFill>
                  <a:srgbClr val="000000"/>
                </a:solidFill>
                <a:latin typeface="Consolas" panose="020B0609020204030204" pitchFamily="49" charset="0"/>
              </a:rPr>
              <a:t> = 1;             </a:t>
            </a:r>
            <a:r>
              <a:rPr lang="en-US" sz="650" dirty="0">
                <a:solidFill>
                  <a:srgbClr val="3F7F5F"/>
                </a:solidFill>
                <a:latin typeface="Consolas" panose="020B0609020204030204" pitchFamily="49" charset="0"/>
              </a:rPr>
              <a:t>// 1 = DMA unaffected by emulation halt</a:t>
            </a: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PRIORITYCTRL1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CH1PRIORITY</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Not using CH1 Priority mode</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3F7F5F"/>
                </a:solidFill>
                <a:latin typeface="Consolas" panose="020B0609020204030204" pitchFamily="49" charset="0"/>
              </a:rPr>
              <a:t>    //--- Configure DMA channel 1 to read the ADC results</a:t>
            </a: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MODE</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all</a:t>
            </a:r>
            <a:r>
              <a:rPr lang="en-US" sz="650" dirty="0">
                <a:solidFill>
                  <a:srgbClr val="000000"/>
                </a:solidFill>
                <a:latin typeface="Consolas" panose="020B0609020204030204" pitchFamily="49" charset="0"/>
              </a:rPr>
              <a:t> = 0x8901; </a:t>
            </a:r>
            <a:r>
              <a:rPr lang="en-US" sz="650" dirty="0">
                <a:solidFill>
                  <a:srgbClr val="3F7F5F"/>
                </a:solidFill>
                <a:latin typeface="Consolas" panose="020B0609020204030204" pitchFamily="49" charset="0"/>
              </a:rPr>
              <a:t>//good</a:t>
            </a:r>
          </a:p>
          <a:p>
            <a:pPr marL="114300" indent="0" algn="l">
              <a:spcBef>
                <a:spcPts val="0"/>
              </a:spcBef>
              <a:buNone/>
            </a:pPr>
            <a:r>
              <a:rPr lang="en-US" sz="650" dirty="0">
                <a:solidFill>
                  <a:srgbClr val="3F7F5F"/>
                </a:solidFill>
                <a:latin typeface="Consolas" panose="020B0609020204030204" pitchFamily="49" charset="0"/>
              </a:rPr>
              <a:t>    // 0x8901 = 1000 1001 0000 0001</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CHINTE = interrupt enabled</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CONTINUOUS = re-</a:t>
            </a:r>
            <a:r>
              <a:rPr lang="en-US" sz="650" dirty="0" err="1">
                <a:solidFill>
                  <a:srgbClr val="3F7F5F"/>
                </a:solidFill>
                <a:latin typeface="Consolas" panose="020B0609020204030204" pitchFamily="49" charset="0"/>
              </a:rPr>
              <a:t>init</a:t>
            </a:r>
            <a:r>
              <a:rPr lang="en-US" sz="650" dirty="0">
                <a:solidFill>
                  <a:srgbClr val="3F7F5F"/>
                </a:solidFill>
                <a:latin typeface="Consolas" panose="020B0609020204030204" pitchFamily="49" charset="0"/>
              </a:rPr>
              <a:t> after transfer complete</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PERINTE = peripheral interrupt trigger enabled</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Set Channel 1</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Select DMA interrupt source                 /******** TRIGGER SOURCE FOR EACH DMA CHANNEL (unlisted numbers are reserved) ********/</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 = 6;    </a:t>
            </a:r>
            <a:r>
              <a:rPr lang="en-US" sz="650" dirty="0">
                <a:solidFill>
                  <a:srgbClr val="3F7F5F"/>
                </a:solidFill>
                <a:latin typeface="Consolas" panose="020B0609020204030204" pitchFamily="49" charset="0"/>
              </a:rPr>
              <a:t>// 0=none       6=ADCBINT1  12=ADCCINT2  18=ADCDINT3  32=XINT4      40=EPWM3SOCA  46=EPWM6SOCA  52=EPWM9SOCA   58=EPWM12SOCA  72=MREVTA    98=SD1FLT4    110=SPIRXDMAA     132=USBA_EPx_TX1</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CH2</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1=ADCAINT1   7=ADCBINT2  13=ADCCINT3  19=ADCDINT4  33=XINT5      41=EPWM3SOCB  47=EPWM6SOCB  53=EPWM9SOCB   59=EPWM12SOCB  73=MXEVTB    99=SD2FLT1    111=SPITXDMAB     133=USBA_EPx_RX2</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CH3</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2=ADCAINT2   8=ADCBINT3  14=ADCCINT4  20=ADCDEVT   36=EPWM1SOCA  42=EPWM4SOCA  48=EPWM7SOCA  54=EPWM10SOCA  68=TINT0       74=MREVTB   100=SD2FLT2    112=SPIRXDMAB     134=USBA_EPx_TX2</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CH4</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3=ADCAINT3   9=ADCBINT4  15=ADCCEVT   29=XINT1     37=EPWM1SOCB  43=EPWM4SOCB  49=EPWM7SOCB  55=EPWM10SOCB  69=TINT1       95=SD1FLT1  101=SD2FLT3    113=SPITXDMAC     135=USBA_EPx_RX3</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DMACHSRCSEL2</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CH5</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4=ADCAINT4  10=ADCBEVT   16=ADCDINT1  30=XINT2     38=EPWM2SOCA  44=EPWM5SOCA  50=EPWM8SOCA  56=EPWM11SOCA  70=TINT2       96=SD1FLT2  102=SD2FLT4    114=SPIRXDMAC     136=USBA_EPx_TX3</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DMACHSRCSEL2</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CH6</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5=ADCAEVT   11=ADCCINT1  17=ADCDINT2  31=XINT3     39=EPWM2SOCB  45=EPWM5SOCB  51=EPWM8SOCB  57=EPWM11SOCB  71=MXEVTA      97=SD1FLT3  109=SPITXDMAA  131=USBA_EPx_RX1</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DMA trigger source lock</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DMACHSRCSELLOCK</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DMACHSRCSEL1</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Write a 1 to lock (cannot be cleared once set)</a:t>
            </a:r>
          </a:p>
          <a:p>
            <a:pPr marL="114300" indent="0" algn="l">
              <a:spcBef>
                <a:spcPts val="0"/>
              </a:spcBef>
              <a:buNone/>
            </a:pPr>
            <a:r>
              <a:rPr lang="en-US" sz="650" dirty="0">
                <a:solidFill>
                  <a:srgbClr val="000000"/>
                </a:solidFill>
                <a:latin typeface="Consolas" panose="020B0609020204030204" pitchFamily="49" charset="0"/>
              </a:rPr>
              <a:t>    DmaClaSrcSelRegs.</a:t>
            </a:r>
            <a:r>
              <a:rPr lang="en-US" sz="650" dirty="0">
                <a:solidFill>
                  <a:srgbClr val="0000C0"/>
                </a:solidFill>
                <a:latin typeface="Consolas" panose="020B0609020204030204" pitchFamily="49" charset="0"/>
              </a:rPr>
              <a:t>DMACHSRCSELLOCK</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DMACHSRCSEL2</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Write a 1 to lock (cannot be cleared once set)</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BURST_SIZE</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BURSTSIZE</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0 means 1 word per burst</a:t>
            </a: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TRANSFER_SIZE</a:t>
            </a:r>
            <a:r>
              <a:rPr lang="en-US" sz="650" dirty="0">
                <a:solidFill>
                  <a:srgbClr val="000000"/>
                </a:solidFill>
                <a:latin typeface="Consolas" panose="020B0609020204030204" pitchFamily="49" charset="0"/>
              </a:rPr>
              <a:t> = RFFT_SIZE-1;                            </a:t>
            </a:r>
            <a:r>
              <a:rPr lang="en-US" sz="650" dirty="0">
                <a:solidFill>
                  <a:srgbClr val="3F7F5F"/>
                </a:solidFill>
                <a:latin typeface="Consolas" panose="020B0609020204030204" pitchFamily="49" charset="0"/>
              </a:rPr>
              <a:t>// RFFT_SIZE bursts per transfer</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SRC_TRANSFER_STEP</a:t>
            </a:r>
            <a:r>
              <a:rPr lang="en-US" sz="650" dirty="0">
                <a:solidFill>
                  <a:srgbClr val="000000"/>
                </a:solidFill>
                <a:latin typeface="Consolas" panose="020B0609020204030204" pitchFamily="49" charset="0"/>
              </a:rPr>
              <a:t> = 0;                                  </a:t>
            </a:r>
            <a:r>
              <a:rPr lang="en-US" sz="650" dirty="0">
                <a:solidFill>
                  <a:srgbClr val="3F7F5F"/>
                </a:solidFill>
                <a:latin typeface="Consolas" panose="020B0609020204030204" pitchFamily="49" charset="0"/>
              </a:rPr>
              <a:t>// 0 means add 0 to pointer each burst in a transfer</a:t>
            </a: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SRC_ADDR_SHADOW</a:t>
            </a:r>
            <a:r>
              <a:rPr lang="en-US" sz="650" dirty="0">
                <a:solidFill>
                  <a:srgbClr val="000000"/>
                </a:solidFill>
                <a:latin typeface="Consolas" panose="020B0609020204030204" pitchFamily="49" charset="0"/>
              </a:rPr>
              <a:t> = (</a:t>
            </a:r>
            <a:r>
              <a:rPr lang="en-US" sz="650" dirty="0">
                <a:solidFill>
                  <a:srgbClr val="005032"/>
                </a:solidFill>
                <a:latin typeface="Consolas" panose="020B0609020204030204" pitchFamily="49" charset="0"/>
              </a:rPr>
              <a:t>Uint32</a:t>
            </a:r>
            <a:r>
              <a:rPr lang="en-US" sz="650" dirty="0">
                <a:solidFill>
                  <a:srgbClr val="000000"/>
                </a:solidFill>
                <a:latin typeface="Consolas" panose="020B0609020204030204" pitchFamily="49" charset="0"/>
              </a:rPr>
              <a:t>)&amp;AdcbResultRegs.</a:t>
            </a:r>
            <a:r>
              <a:rPr lang="en-US" sz="650" dirty="0">
                <a:solidFill>
                  <a:srgbClr val="0000C0"/>
                </a:solidFill>
                <a:latin typeface="Consolas" panose="020B0609020204030204" pitchFamily="49" charset="0"/>
              </a:rPr>
              <a:t>ADCRESULT0</a:t>
            </a: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SRC start address</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DST_TRANSFER_STEP</a:t>
            </a:r>
            <a:r>
              <a:rPr lang="en-US" sz="650" dirty="0">
                <a:solidFill>
                  <a:srgbClr val="000000"/>
                </a:solidFill>
                <a:latin typeface="Consolas" panose="020B0609020204030204" pitchFamily="49" charset="0"/>
              </a:rPr>
              <a:t> = 1;                                  </a:t>
            </a:r>
            <a:r>
              <a:rPr lang="en-US" sz="650" dirty="0">
                <a:solidFill>
                  <a:srgbClr val="3F7F5F"/>
                </a:solidFill>
                <a:latin typeface="Consolas" panose="020B0609020204030204" pitchFamily="49" charset="0"/>
              </a:rPr>
              <a:t>// 1 = add 1 to pointer each burst in a transfer</a:t>
            </a: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DST_ADDR_SHADOW</a:t>
            </a:r>
            <a:r>
              <a:rPr lang="en-US" sz="650" dirty="0">
                <a:solidFill>
                  <a:srgbClr val="000000"/>
                </a:solidFill>
                <a:latin typeface="Consolas" panose="020B0609020204030204" pitchFamily="49" charset="0"/>
              </a:rPr>
              <a:t> = (</a:t>
            </a:r>
            <a:r>
              <a:rPr lang="en-US" sz="650" dirty="0">
                <a:solidFill>
                  <a:srgbClr val="005032"/>
                </a:solidFill>
                <a:latin typeface="Consolas" panose="020B0609020204030204" pitchFamily="49" charset="0"/>
              </a:rPr>
              <a:t>Uint32</a:t>
            </a:r>
            <a:r>
              <a:rPr lang="en-US" sz="650" dirty="0">
                <a:solidFill>
                  <a:srgbClr val="000000"/>
                </a:solidFill>
                <a:latin typeface="Consolas" panose="020B0609020204030204" pitchFamily="49" charset="0"/>
              </a:rPr>
              <a:t>)</a:t>
            </a:r>
            <a:r>
              <a:rPr lang="en-US" sz="650" dirty="0" err="1">
                <a:solidFill>
                  <a:srgbClr val="000000"/>
                </a:solidFill>
                <a:latin typeface="Consolas" panose="020B0609020204030204" pitchFamily="49" charset="0"/>
              </a:rPr>
              <a:t>AdcPingBufRaw</a:t>
            </a: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DST start address Ping buffer</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DmaRegs.</a:t>
            </a:r>
            <a:r>
              <a:rPr lang="en-US" sz="650" dirty="0">
                <a:solidFill>
                  <a:srgbClr val="0000C0"/>
                </a:solidFill>
                <a:latin typeface="Consolas" panose="020B0609020204030204" pitchFamily="49" charset="0"/>
              </a:rPr>
              <a:t>CH1</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CONTROL</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all</a:t>
            </a:r>
            <a:r>
              <a:rPr lang="en-US" sz="650" dirty="0">
                <a:solidFill>
                  <a:srgbClr val="000000"/>
                </a:solidFill>
                <a:latin typeface="Consolas" panose="020B0609020204030204" pitchFamily="49" charset="0"/>
              </a:rPr>
              <a:t> = 0x0091; </a:t>
            </a:r>
            <a:r>
              <a:rPr lang="en-US" sz="650" dirty="0">
                <a:solidFill>
                  <a:srgbClr val="3F7F5F"/>
                </a:solidFill>
                <a:latin typeface="Consolas" panose="020B0609020204030204" pitchFamily="49" charset="0"/>
              </a:rPr>
              <a:t>//good</a:t>
            </a:r>
          </a:p>
          <a:p>
            <a:pPr marL="114300" indent="0" algn="l">
              <a:spcBef>
                <a:spcPts val="0"/>
              </a:spcBef>
              <a:buNone/>
            </a:pPr>
            <a:r>
              <a:rPr lang="en-US" sz="650" dirty="0">
                <a:solidFill>
                  <a:srgbClr val="3F7F5F"/>
                </a:solidFill>
                <a:latin typeface="Consolas" panose="020B0609020204030204" pitchFamily="49" charset="0"/>
              </a:rPr>
              <a:t>    // 0x0091 = 1001 0001</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ERRCLR = clear SYNCERR bit</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PERINTCLR = clear </a:t>
            </a:r>
            <a:r>
              <a:rPr lang="en-US" sz="650" u="sng" dirty="0" err="1">
                <a:solidFill>
                  <a:srgbClr val="3F7F5F"/>
                </a:solidFill>
                <a:latin typeface="Consolas" panose="020B0609020204030204" pitchFamily="49" charset="0"/>
              </a:rPr>
              <a:t>periph</a:t>
            </a:r>
            <a:r>
              <a:rPr lang="en-US" sz="650" u="sng" dirty="0">
                <a:solidFill>
                  <a:srgbClr val="3F7F5F"/>
                </a:solidFill>
                <a:latin typeface="Consolas" panose="020B0609020204030204" pitchFamily="49" charset="0"/>
              </a:rPr>
              <a:t> event</a:t>
            </a: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RUN = Enable channel</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a:t>
            </a:r>
            <a:r>
              <a:rPr lang="en-US" sz="650" dirty="0">
                <a:solidFill>
                  <a:srgbClr val="3F7F5F"/>
                </a:solidFill>
                <a:latin typeface="Consolas" panose="020B0609020204030204" pitchFamily="49" charset="0"/>
              </a:rPr>
              <a:t>//--- Finish up</a:t>
            </a:r>
          </a:p>
          <a:p>
            <a:pPr marL="114300" indent="0" algn="l">
              <a:spcBef>
                <a:spcPts val="0"/>
              </a:spcBef>
              <a:buNone/>
            </a:pPr>
            <a:r>
              <a:rPr lang="en-US" sz="650" dirty="0">
                <a:solidFill>
                  <a:srgbClr val="000000"/>
                </a:solidFill>
                <a:latin typeface="Consolas" panose="020B0609020204030204" pitchFamily="49" charset="0"/>
              </a:rPr>
              <a:t>    EDIS;</a:t>
            </a:r>
          </a:p>
          <a:p>
            <a:pPr marL="114300" indent="0" algn="l">
              <a:spcBef>
                <a:spcPts val="0"/>
              </a:spcBef>
              <a:buNone/>
            </a:pP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    PieCtrlRegs.</a:t>
            </a:r>
            <a:r>
              <a:rPr lang="en-US" sz="650" dirty="0">
                <a:solidFill>
                  <a:srgbClr val="0000C0"/>
                </a:solidFill>
                <a:latin typeface="Consolas" panose="020B0609020204030204" pitchFamily="49" charset="0"/>
              </a:rPr>
              <a:t>PIEIER7</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bit</a:t>
            </a:r>
            <a:r>
              <a:rPr lang="en-US" sz="650" dirty="0">
                <a:solidFill>
                  <a:srgbClr val="000000"/>
                </a:solidFill>
                <a:latin typeface="Consolas" panose="020B0609020204030204" pitchFamily="49" charset="0"/>
              </a:rPr>
              <a:t>.</a:t>
            </a:r>
            <a:r>
              <a:rPr lang="en-US" sz="650" dirty="0">
                <a:solidFill>
                  <a:srgbClr val="0000C0"/>
                </a:solidFill>
                <a:latin typeface="Consolas" panose="020B0609020204030204" pitchFamily="49" charset="0"/>
              </a:rPr>
              <a:t>INTx1</a:t>
            </a:r>
            <a:r>
              <a:rPr lang="en-US" sz="650" dirty="0">
                <a:solidFill>
                  <a:srgbClr val="000000"/>
                </a:solidFill>
                <a:latin typeface="Consolas" panose="020B0609020204030204" pitchFamily="49" charset="0"/>
              </a:rPr>
              <a:t> = 1;  </a:t>
            </a:r>
            <a:r>
              <a:rPr lang="en-US" sz="650" dirty="0">
                <a:solidFill>
                  <a:srgbClr val="3F7F5F"/>
                </a:solidFill>
                <a:latin typeface="Consolas" panose="020B0609020204030204" pitchFamily="49" charset="0"/>
              </a:rPr>
              <a:t>// Enable DINTCH1 in PIE group 7</a:t>
            </a:r>
          </a:p>
          <a:p>
            <a:pPr marL="114300" indent="0" algn="l">
              <a:spcBef>
                <a:spcPts val="0"/>
              </a:spcBef>
              <a:buNone/>
            </a:pPr>
            <a:r>
              <a:rPr lang="en-US" sz="650" dirty="0">
                <a:solidFill>
                  <a:srgbClr val="000000"/>
                </a:solidFill>
                <a:latin typeface="Consolas" panose="020B0609020204030204" pitchFamily="49" charset="0"/>
              </a:rPr>
              <a:t>    IER |= M_INT7;                      </a:t>
            </a:r>
            <a:r>
              <a:rPr lang="en-US" sz="650" dirty="0">
                <a:solidFill>
                  <a:srgbClr val="3F7F5F"/>
                </a:solidFill>
                <a:latin typeface="Consolas" panose="020B0609020204030204" pitchFamily="49" charset="0"/>
              </a:rPr>
              <a:t>// Enable INT7 in IER to enable PIE group</a:t>
            </a:r>
            <a:endParaRPr lang="en-US" sz="650" dirty="0">
              <a:latin typeface="Consolas" panose="020B0609020204030204" pitchFamily="49" charset="0"/>
            </a:endParaRPr>
          </a:p>
          <a:p>
            <a:pPr marL="114300" indent="0" algn="l">
              <a:spcBef>
                <a:spcPts val="0"/>
              </a:spcBef>
              <a:buNone/>
            </a:pPr>
            <a:r>
              <a:rPr lang="en-US" sz="650" dirty="0">
                <a:solidFill>
                  <a:srgbClr val="000000"/>
                </a:solidFill>
                <a:latin typeface="Consolas" panose="020B0609020204030204" pitchFamily="49" charset="0"/>
              </a:rPr>
              <a:t>}</a:t>
            </a:r>
            <a:endParaRPr lang="en-US" sz="650" dirty="0">
              <a:solidFill>
                <a:schemeClr val="tx1"/>
              </a:solidFill>
              <a:latin typeface="Atkinson Hyperlegible Next"/>
              <a:cs typeface="Arial"/>
              <a:sym typeface="Arial"/>
            </a:endParaRPr>
          </a:p>
        </p:txBody>
      </p:sp>
      <p:sp>
        <p:nvSpPr>
          <p:cNvPr id="119" name="Google Shape;119;p29">
            <a:extLst>
              <a:ext uri="{FF2B5EF4-FFF2-40B4-BE49-F238E27FC236}">
                <a16:creationId xmlns:a16="http://schemas.microsoft.com/office/drawing/2014/main" id="{9F8559D3-A721-EEFF-24F7-6B8CF6B91B8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EAA1A60-A0F9-5976-1662-D67650F2CD9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 Setup (3/3)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BAF46EA-8873-7920-9979-5B2CE5003C7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DD3E721-470D-B30A-4306-511BB5D839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36F5B39-8BB2-B41C-12DD-421C6020642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BB26AD4-4059-5777-B408-9A02F0F288A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39D35C-2C68-3D3D-E41B-C86E2A0D9C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80AD54-6AD7-F664-7488-328D5FE5E2B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23610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21EFC660-AB20-D2F7-17A7-CBB2311016D2}"/>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C4B0BCE8-817D-6DB8-2C03-2DEF1419A603}"/>
              </a:ext>
            </a:extLst>
          </p:cNvPr>
          <p:cNvSpPr/>
          <p:nvPr>
            <p:ph type="title"/>
          </p:nvPr>
        </p:nvSpPr>
        <p:spPr>
          <a:xfrm>
            <a:off x="589449" y="687697"/>
            <a:ext cx="10602506" cy="5274796"/>
          </a:xfrm>
          <a:prstGeom prst="rect">
            <a:avLst/>
          </a:prstGeom>
          <a:noFill/>
          <a:ln>
            <a:noFill/>
          </a:ln>
        </p:spPr>
        <p:txBody>
          <a:bodyPr spcFirstLastPara="1" wrap="square" lIns="91425" tIns="45700" rIns="91425" bIns="45700" anchor="ctr" anchorCtr="0">
            <a:noAutofit/>
          </a:bodyPr>
          <a:lstStyle/>
          <a:p>
            <a:pPr lvl="0" algn="ctr">
              <a:lnSpc>
                <a:spcPct val="100000"/>
              </a:lnSpc>
              <a:spcBef>
                <a:spcPts val="0"/>
              </a:spcBef>
              <a:spcAft>
                <a:spcPts val="0"/>
              </a:spcAft>
            </a:pPr>
            <a:r>
              <a:rPr i="0" lang="en-US" sz="4000" b="1" dirty="0">
                <a:solidFill>
                  <a:schemeClr val="lt1"/>
                </a:solidFill>
              </a:rPr>
              <a:t>All that’s really happening is that we u</a:t>
            </a:r>
            <a:r>
              <a:rPr i="0" lang="en-US" sz="4000" b="1" dirty="0">
                <a:solidFill>
                  <a:schemeClr val="bg1"/>
                </a:solidFill>
              </a:rPr>
              <a:t>se </a:t>
            </a:r>
            <a:r>
              <a:rPr i="0" lang="en-US" sz="4000" b="1" dirty="0" err="1">
                <a:solidFill>
                  <a:schemeClr val="bg1"/>
                </a:solidFill>
              </a:rPr>
              <a:t>ePWM</a:t>
            </a:r>
            <a:r>
              <a:rPr i="0" lang="en-US" sz="4000" b="1" dirty="0">
                <a:solidFill>
                  <a:schemeClr val="bg1"/>
                </a:solidFill>
              </a:rPr>
              <a:t> as a deterministic timer to trigger the ADC, which then feeds into the DMA until the buffer is populated!</a:t>
            </a:r>
            <a:endParaRPr i="0" lang="en-US" sz="3200" b="1" dirty="0">
              <a:solidFill>
                <a:schemeClr val="bg1"/>
              </a:solidFill>
            </a:endParaRP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21F686F3-535F-4CB4-F985-CB16F7E816E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18D13090-8966-E1A3-79FD-CFE861E6B3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1D1EFC61-A0C1-46CB-7643-2E8383DD0D9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C0DF0D97-0E72-1171-56ED-1640C5D7E5B0}"/>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F83459AA-7F5A-29B9-DA37-D96BA53E515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C3E9608-C00B-A03F-B8D1-08C98846A189}"/>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478556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1F3C5B9-E0F4-BB26-D61A-D0732DC631E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4E44202-8AB7-0DFF-75FA-2D9EB37802D5}"/>
              </a:ext>
            </a:extLst>
          </p:cNvPr>
          <p:cNvSpPr txBox="1">
            <a:spLocks noGrp="1"/>
          </p:cNvSpPr>
          <p:nvPr>
            <p:ph type="body" idx="1"/>
          </p:nvPr>
        </p:nvSpPr>
        <p:spPr>
          <a:xfrm>
            <a:off x="376809" y="1172487"/>
            <a:ext cx="11452008" cy="4982893"/>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400" dirty="0">
                <a:solidFill>
                  <a:srgbClr val="005032"/>
                </a:solidFill>
                <a:latin typeface="Consolas" panose="020B0609020204030204" pitchFamily="49" charset="0"/>
              </a:rPr>
              <a:t>int16_t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 0;</a:t>
            </a:r>
          </a:p>
          <a:p>
            <a:pPr marL="114300" indent="0" algn="l">
              <a:spcBef>
                <a:spcPts val="0"/>
              </a:spcBef>
              <a:buNone/>
            </a:pPr>
            <a:r>
              <a:rPr lang="en-US" sz="1400" dirty="0">
                <a:solidFill>
                  <a:srgbClr val="7F0055"/>
                </a:solidFill>
                <a:latin typeface="Consolas" panose="020B0609020204030204" pitchFamily="49" charset="0"/>
              </a:rPr>
              <a:t>float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samplePeriod</a:t>
            </a:r>
            <a:r>
              <a:rPr lang="en-US" sz="1400" dirty="0">
                <a:solidFill>
                  <a:srgbClr val="000000"/>
                </a:solidFill>
                <a:latin typeface="Consolas" panose="020B0609020204030204" pitchFamily="49" charset="0"/>
              </a:rPr>
              <a:t> = 0.0001;</a:t>
            </a:r>
          </a:p>
          <a:p>
            <a:pPr marL="114300" indent="0" algn="l">
              <a:spcBef>
                <a:spcPts val="0"/>
              </a:spcBef>
              <a:buNone/>
            </a:pPr>
            <a:endParaRPr lang="en-US" sz="1400" dirty="0">
              <a:latin typeface="Consolas" panose="020B0609020204030204" pitchFamily="49" charset="0"/>
            </a:endParaRPr>
          </a:p>
          <a:p>
            <a:pPr marL="114300" indent="0" algn="l">
              <a:spcBef>
                <a:spcPts val="0"/>
              </a:spcBef>
              <a:buNone/>
            </a:pPr>
            <a:r>
              <a:rPr lang="en-US" sz="1400" dirty="0">
                <a:solidFill>
                  <a:srgbClr val="3F7F5F"/>
                </a:solidFill>
                <a:latin typeface="Consolas" panose="020B0609020204030204" pitchFamily="49" charset="0"/>
              </a:rPr>
              <a:t>// Clear input buffers:</a:t>
            </a:r>
          </a:p>
          <a:p>
            <a:pPr marL="114300" indent="0" algn="l">
              <a:spcBef>
                <a:spcPts val="0"/>
              </a:spcBef>
              <a:buNone/>
            </a:pPr>
            <a:r>
              <a:rPr lang="en-US" sz="1400" dirty="0">
                <a:solidFill>
                  <a:srgbClr val="7F0055"/>
                </a:solidFill>
                <a:latin typeface="Consolas" panose="020B0609020204030204" pitchFamily="49" charset="0"/>
              </a:rPr>
              <a:t>for</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=0;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&lt; RFFT_SIZE;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fft_input</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 0.0f;</a:t>
            </a:r>
          </a:p>
          <a:p>
            <a:pPr marL="114300" indent="0" algn="l">
              <a:spcBef>
                <a:spcPts val="0"/>
              </a:spcBef>
              <a:buNone/>
            </a:pPr>
            <a:r>
              <a:rPr lang="en-US" sz="1400" dirty="0">
                <a:solidFill>
                  <a:srgbClr val="000000"/>
                </a:solidFill>
                <a:latin typeface="Consolas" panose="020B0609020204030204" pitchFamily="49" charset="0"/>
              </a:rPr>
              <a:t>}</a:t>
            </a:r>
          </a:p>
          <a:p>
            <a:pPr marL="114300" indent="0" algn="l">
              <a:spcBef>
                <a:spcPts val="0"/>
              </a:spcBef>
              <a:buNone/>
            </a:pPr>
            <a:endParaRPr lang="en-US" sz="1400" dirty="0">
              <a:solidFill>
                <a:srgbClr val="000000"/>
              </a:solidFill>
              <a:latin typeface="Consolas" panose="020B0609020204030204" pitchFamily="49" charset="0"/>
            </a:endParaRPr>
          </a:p>
          <a:p>
            <a:pPr marL="114300" indent="0" algn="l">
              <a:spcBef>
                <a:spcPts val="0"/>
              </a:spcBef>
              <a:buNone/>
            </a:pPr>
            <a:r>
              <a:rPr lang="en-US" sz="1400" dirty="0" err="1">
                <a:solidFill>
                  <a:srgbClr val="000000"/>
                </a:solidFill>
                <a:latin typeface="Consolas" panose="020B0609020204030204" pitchFamily="49" charset="0"/>
              </a:rPr>
              <a:t>hnd_rfft</a:t>
            </a:r>
            <a:r>
              <a:rPr lang="en-US" sz="1400" dirty="0">
                <a:solidFill>
                  <a:srgbClr val="000000"/>
                </a:solidFill>
                <a:latin typeface="Consolas" panose="020B0609020204030204" pitchFamily="49" charset="0"/>
              </a:rPr>
              <a:t>-&gt;</a:t>
            </a:r>
            <a:r>
              <a:rPr lang="en-US" sz="1400" dirty="0" err="1">
                <a:solidFill>
                  <a:srgbClr val="0000C0"/>
                </a:solidFill>
                <a:latin typeface="Consolas" panose="020B0609020204030204" pitchFamily="49" charset="0"/>
              </a:rPr>
              <a:t>FFTSize</a:t>
            </a:r>
            <a:r>
              <a:rPr lang="en-US" sz="1400" dirty="0">
                <a:solidFill>
                  <a:srgbClr val="000000"/>
                </a:solidFill>
                <a:latin typeface="Consolas" panose="020B0609020204030204" pitchFamily="49" charset="0"/>
              </a:rPr>
              <a:t>   = RFFT_SIZE;</a:t>
            </a:r>
          </a:p>
          <a:p>
            <a:pPr marL="114300" indent="0" algn="l">
              <a:spcBef>
                <a:spcPts val="0"/>
              </a:spcBef>
              <a:buNone/>
            </a:pPr>
            <a:r>
              <a:rPr lang="de-DE" sz="1400" dirty="0">
                <a:solidFill>
                  <a:srgbClr val="000000"/>
                </a:solidFill>
                <a:latin typeface="Consolas" panose="020B0609020204030204" pitchFamily="49" charset="0"/>
              </a:rPr>
              <a:t>hnd_rfft-&gt;</a:t>
            </a:r>
            <a:r>
              <a:rPr lang="de-DE" sz="1400" dirty="0">
                <a:solidFill>
                  <a:srgbClr val="0000C0"/>
                </a:solidFill>
                <a:latin typeface="Consolas" panose="020B0609020204030204" pitchFamily="49" charset="0"/>
              </a:rPr>
              <a:t>FFTStages</a:t>
            </a:r>
            <a:r>
              <a:rPr lang="de-DE" sz="1400" dirty="0">
                <a:solidFill>
                  <a:srgbClr val="000000"/>
                </a:solidFill>
                <a:latin typeface="Consolas" panose="020B0609020204030204" pitchFamily="49" charset="0"/>
              </a:rPr>
              <a:t> = RFFT_STAGES;</a:t>
            </a:r>
          </a:p>
          <a:p>
            <a:pPr marL="114300" indent="0" algn="l">
              <a:spcBef>
                <a:spcPts val="0"/>
              </a:spcBef>
              <a:buNone/>
            </a:pPr>
            <a:r>
              <a:rPr lang="en-US" sz="1400" dirty="0" err="1">
                <a:solidFill>
                  <a:srgbClr val="000000"/>
                </a:solidFill>
                <a:latin typeface="Consolas" panose="020B0609020204030204" pitchFamily="49" charset="0"/>
              </a:rPr>
              <a:t>hnd_rfft</a:t>
            </a:r>
            <a:r>
              <a:rPr lang="en-US" sz="1400" dirty="0">
                <a:solidFill>
                  <a:srgbClr val="000000"/>
                </a:solidFill>
                <a:latin typeface="Consolas" panose="020B0609020204030204" pitchFamily="49" charset="0"/>
              </a:rPr>
              <a:t>-&gt;</a:t>
            </a:r>
            <a:r>
              <a:rPr lang="en-US" sz="1400" dirty="0" err="1">
                <a:solidFill>
                  <a:srgbClr val="0000C0"/>
                </a:solidFill>
                <a:latin typeface="Consolas" panose="020B0609020204030204" pitchFamily="49" charset="0"/>
              </a:rPr>
              <a:t>InBuf</a:t>
            </a:r>
            <a:r>
              <a:rPr lang="en-US" sz="1400" dirty="0">
                <a:solidFill>
                  <a:srgbClr val="000000"/>
                </a:solidFill>
                <a:latin typeface="Consolas" panose="020B0609020204030204" pitchFamily="49" charset="0"/>
              </a:rPr>
              <a:t>     = &amp;</a:t>
            </a:r>
            <a:r>
              <a:rPr lang="en-US" sz="1400" dirty="0" err="1">
                <a:solidFill>
                  <a:srgbClr val="000000"/>
                </a:solidFill>
                <a:latin typeface="Consolas" panose="020B0609020204030204" pitchFamily="49" charset="0"/>
              </a:rPr>
              <a:t>fft_input</a:t>
            </a:r>
            <a:r>
              <a:rPr lang="en-US" sz="1400" dirty="0">
                <a:solidFill>
                  <a:srgbClr val="000000"/>
                </a:solidFill>
                <a:latin typeface="Consolas" panose="020B0609020204030204" pitchFamily="49" charset="0"/>
              </a:rPr>
              <a:t>[0];    </a:t>
            </a:r>
            <a:r>
              <a:rPr lang="en-US" sz="1400" dirty="0">
                <a:solidFill>
                  <a:srgbClr val="3F7F5F"/>
                </a:solidFill>
                <a:latin typeface="Consolas" panose="020B0609020204030204" pitchFamily="49" charset="0"/>
              </a:rPr>
              <a:t>//Input buffer</a:t>
            </a:r>
          </a:p>
          <a:p>
            <a:pPr marL="114300" indent="0" algn="l">
              <a:spcBef>
                <a:spcPts val="0"/>
              </a:spcBef>
              <a:buNone/>
            </a:pPr>
            <a:r>
              <a:rPr lang="en-US" sz="1400" dirty="0" err="1">
                <a:solidFill>
                  <a:srgbClr val="000000"/>
                </a:solidFill>
                <a:latin typeface="Consolas" panose="020B0609020204030204" pitchFamily="49" charset="0"/>
              </a:rPr>
              <a:t>hnd_rfft</a:t>
            </a:r>
            <a:r>
              <a:rPr lang="en-US" sz="1400" dirty="0">
                <a:solidFill>
                  <a:srgbClr val="000000"/>
                </a:solidFill>
                <a:latin typeface="Consolas" panose="020B0609020204030204" pitchFamily="49" charset="0"/>
              </a:rPr>
              <a:t>-&gt;</a:t>
            </a:r>
            <a:r>
              <a:rPr lang="en-US" sz="1400" dirty="0" err="1">
                <a:solidFill>
                  <a:srgbClr val="0000C0"/>
                </a:solidFill>
                <a:latin typeface="Consolas" panose="020B0609020204030204" pitchFamily="49" charset="0"/>
              </a:rPr>
              <a:t>OutBuf</a:t>
            </a:r>
            <a:r>
              <a:rPr lang="en-US" sz="1400" dirty="0">
                <a:solidFill>
                  <a:srgbClr val="000000"/>
                </a:solidFill>
                <a:latin typeface="Consolas" panose="020B0609020204030204" pitchFamily="49" charset="0"/>
              </a:rPr>
              <a:t>    = &amp;</a:t>
            </a:r>
            <a:r>
              <a:rPr lang="en-US" sz="1400" dirty="0" err="1">
                <a:solidFill>
                  <a:srgbClr val="000000"/>
                </a:solidFill>
                <a:latin typeface="Consolas" panose="020B0609020204030204" pitchFamily="49" charset="0"/>
              </a:rPr>
              <a:t>test_output</a:t>
            </a:r>
            <a:r>
              <a:rPr lang="en-US" sz="1400" dirty="0">
                <a:solidFill>
                  <a:srgbClr val="000000"/>
                </a:solidFill>
                <a:latin typeface="Consolas" panose="020B0609020204030204" pitchFamily="49" charset="0"/>
              </a:rPr>
              <a:t>[0];  </a:t>
            </a:r>
            <a:r>
              <a:rPr lang="en-US" sz="1400" dirty="0">
                <a:solidFill>
                  <a:srgbClr val="3F7F5F"/>
                </a:solidFill>
                <a:latin typeface="Consolas" panose="020B0609020204030204" pitchFamily="49" charset="0"/>
              </a:rPr>
              <a:t>//Output buffer</a:t>
            </a:r>
          </a:p>
          <a:p>
            <a:pPr marL="114300" indent="0" algn="l">
              <a:spcBef>
                <a:spcPts val="0"/>
              </a:spcBef>
              <a:buNone/>
            </a:pPr>
            <a:r>
              <a:rPr lang="en-US" sz="1400" dirty="0" err="1">
                <a:solidFill>
                  <a:srgbClr val="000000"/>
                </a:solidFill>
                <a:latin typeface="Consolas" panose="020B0609020204030204" pitchFamily="49" charset="0"/>
              </a:rPr>
              <a:t>hnd_rfft</a:t>
            </a:r>
            <a:r>
              <a:rPr lang="en-US" sz="1400" dirty="0">
                <a:solidFill>
                  <a:srgbClr val="000000"/>
                </a:solidFill>
                <a:latin typeface="Consolas" panose="020B0609020204030204" pitchFamily="49" charset="0"/>
              </a:rPr>
              <a:t>-&gt;</a:t>
            </a:r>
            <a:r>
              <a:rPr lang="en-US" sz="1400" dirty="0" err="1">
                <a:solidFill>
                  <a:srgbClr val="0000C0"/>
                </a:solidFill>
                <a:latin typeface="Consolas" panose="020B0609020204030204" pitchFamily="49" charset="0"/>
              </a:rPr>
              <a:t>MagBuf</a:t>
            </a:r>
            <a:r>
              <a:rPr lang="en-US" sz="1400" dirty="0">
                <a:solidFill>
                  <a:srgbClr val="000000"/>
                </a:solidFill>
                <a:latin typeface="Consolas" panose="020B0609020204030204" pitchFamily="49" charset="0"/>
              </a:rPr>
              <a:t>    = &amp;</a:t>
            </a:r>
            <a:r>
              <a:rPr lang="en-US" sz="1400" dirty="0" err="1">
                <a:solidFill>
                  <a:srgbClr val="000000"/>
                </a:solidFill>
                <a:latin typeface="Consolas" panose="020B0609020204030204" pitchFamily="49" charset="0"/>
              </a:rPr>
              <a:t>pwrSpec</a:t>
            </a:r>
            <a:r>
              <a:rPr lang="en-US" sz="1400" dirty="0">
                <a:solidFill>
                  <a:srgbClr val="000000"/>
                </a:solidFill>
                <a:latin typeface="Consolas" panose="020B0609020204030204" pitchFamily="49" charset="0"/>
              </a:rPr>
              <a:t>[0];      </a:t>
            </a:r>
            <a:r>
              <a:rPr lang="en-US" sz="1400" dirty="0">
                <a:solidFill>
                  <a:srgbClr val="3F7F5F"/>
                </a:solidFill>
                <a:latin typeface="Consolas" panose="020B0609020204030204" pitchFamily="49" charset="0"/>
              </a:rPr>
              <a:t>//Magnitude buffer</a:t>
            </a:r>
          </a:p>
          <a:p>
            <a:pPr marL="114300" indent="0" algn="l">
              <a:spcBef>
                <a:spcPts val="0"/>
              </a:spcBef>
              <a:buNone/>
            </a:pPr>
            <a:endParaRPr lang="en-US" sz="1400" dirty="0">
              <a:latin typeface="Consolas" panose="020B0609020204030204" pitchFamily="49" charset="0"/>
            </a:endParaRPr>
          </a:p>
          <a:p>
            <a:pPr marL="114300" indent="0" algn="l">
              <a:spcBef>
                <a:spcPts val="0"/>
              </a:spcBef>
              <a:buNone/>
            </a:pPr>
            <a:r>
              <a:rPr lang="en-US" sz="1400" dirty="0" err="1">
                <a:solidFill>
                  <a:srgbClr val="000000"/>
                </a:solidFill>
                <a:latin typeface="Consolas" panose="020B0609020204030204" pitchFamily="49" charset="0"/>
              </a:rPr>
              <a:t>hnd_rfft</a:t>
            </a:r>
            <a:r>
              <a:rPr lang="en-US" sz="1400" dirty="0">
                <a:solidFill>
                  <a:srgbClr val="000000"/>
                </a:solidFill>
                <a:latin typeface="Consolas" panose="020B0609020204030204" pitchFamily="49" charset="0"/>
              </a:rPr>
              <a:t>-&gt;</a:t>
            </a:r>
            <a:r>
              <a:rPr lang="en-US" sz="1400" dirty="0" err="1">
                <a:solidFill>
                  <a:srgbClr val="0000C0"/>
                </a:solidFill>
                <a:latin typeface="Consolas" panose="020B0609020204030204" pitchFamily="49" charset="0"/>
              </a:rPr>
              <a:t>CosSinBuf</a:t>
            </a:r>
            <a:r>
              <a:rPr lang="en-US" sz="1400" dirty="0">
                <a:solidFill>
                  <a:srgbClr val="000000"/>
                </a:solidFill>
                <a:latin typeface="Consolas" panose="020B0609020204030204" pitchFamily="49" charset="0"/>
              </a:rPr>
              <a:t> = &amp;RFFTF32Coef[0];  </a:t>
            </a:r>
            <a:r>
              <a:rPr lang="en-US" sz="1400" dirty="0">
                <a:solidFill>
                  <a:srgbClr val="3F7F5F"/>
                </a:solidFill>
                <a:latin typeface="Consolas" panose="020B0609020204030204" pitchFamily="49" charset="0"/>
              </a:rPr>
              <a:t>//Twiddle factor buffer</a:t>
            </a:r>
          </a:p>
          <a:p>
            <a:pPr marL="114300" indent="0" algn="l">
              <a:spcBef>
                <a:spcPts val="0"/>
              </a:spcBef>
              <a:buNone/>
            </a:pPr>
            <a:r>
              <a:rPr lang="en-US" sz="1400" dirty="0">
                <a:solidFill>
                  <a:srgbClr val="642880"/>
                </a:solidFill>
                <a:latin typeface="Consolas" panose="020B0609020204030204" pitchFamily="49" charset="0"/>
              </a:rPr>
              <a:t>RFFT_f32_sincostable</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hnd_rfft</a:t>
            </a: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//Calculate twiddle factor</a:t>
            </a:r>
          </a:p>
          <a:p>
            <a:pPr marL="114300" indent="0" algn="l">
              <a:spcBef>
                <a:spcPts val="0"/>
              </a:spcBef>
              <a:buNone/>
            </a:pPr>
            <a:endParaRPr lang="en-US" sz="1400" dirty="0">
              <a:latin typeface="Consolas" panose="020B0609020204030204" pitchFamily="49" charset="0"/>
            </a:endParaRPr>
          </a:p>
          <a:p>
            <a:pPr marL="114300" indent="0" algn="l">
              <a:spcBef>
                <a:spcPts val="0"/>
              </a:spcBef>
              <a:buNone/>
            </a:pPr>
            <a:r>
              <a:rPr lang="en-US" sz="1400" dirty="0">
                <a:solidFill>
                  <a:srgbClr val="7F0055"/>
                </a:solidFill>
                <a:latin typeface="Consolas" panose="020B0609020204030204" pitchFamily="49" charset="0"/>
              </a:rPr>
              <a:t>for</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=0;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&lt; RFFT_SIZE;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test_output</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//Clean up output buffer</a:t>
            </a:r>
          </a:p>
          <a:p>
            <a:pPr marL="114300" indent="0" algn="l">
              <a:spcBef>
                <a:spcPts val="0"/>
              </a:spcBef>
              <a:buNone/>
            </a:pPr>
            <a:r>
              <a:rPr lang="en-US" sz="1400" dirty="0">
                <a:solidFill>
                  <a:srgbClr val="000000"/>
                </a:solidFill>
                <a:latin typeface="Consolas" panose="020B0609020204030204" pitchFamily="49" charset="0"/>
              </a:rPr>
              <a:t>}</a:t>
            </a:r>
          </a:p>
          <a:p>
            <a:pPr marL="114300" indent="0" algn="l">
              <a:spcBef>
                <a:spcPts val="0"/>
              </a:spcBef>
              <a:buNone/>
            </a:pPr>
            <a:endParaRPr lang="en-US" sz="1400" dirty="0">
              <a:latin typeface="Consolas" panose="020B0609020204030204" pitchFamily="49" charset="0"/>
            </a:endParaRPr>
          </a:p>
          <a:p>
            <a:pPr marL="114300" indent="0" algn="l">
              <a:spcBef>
                <a:spcPts val="0"/>
              </a:spcBef>
              <a:buNone/>
            </a:pPr>
            <a:r>
              <a:rPr lang="en-US" sz="1400" dirty="0">
                <a:solidFill>
                  <a:srgbClr val="7F0055"/>
                </a:solidFill>
                <a:latin typeface="Consolas" panose="020B0609020204030204" pitchFamily="49" charset="0"/>
              </a:rPr>
              <a:t>for</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=0;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&lt;= RFFT_SIZE/2;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pwrSpec</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//Clean up magnitude buffer</a:t>
            </a:r>
          </a:p>
          <a:p>
            <a:pPr marL="114300" indent="0" algn="l">
              <a:spcBef>
                <a:spcPts val="0"/>
              </a:spcBef>
              <a:buNone/>
            </a:pPr>
            <a:r>
              <a:rPr lang="en-US" sz="1400" dirty="0">
                <a:solidFill>
                  <a:srgbClr val="000000"/>
                </a:solidFill>
                <a:latin typeface="Consolas" panose="020B0609020204030204" pitchFamily="49" charset="0"/>
              </a:rPr>
              <a:t>}</a:t>
            </a:r>
            <a:endParaRPr lang="en-US" sz="1400" dirty="0">
              <a:solidFill>
                <a:schemeClr val="tx1"/>
              </a:solidFill>
              <a:latin typeface="Atkinson Hyperlegible Next"/>
              <a:cs typeface="Arial"/>
              <a:sym typeface="Arial"/>
            </a:endParaRPr>
          </a:p>
        </p:txBody>
      </p:sp>
      <p:sp>
        <p:nvSpPr>
          <p:cNvPr id="119" name="Google Shape;119;p29">
            <a:extLst>
              <a:ext uri="{FF2B5EF4-FFF2-40B4-BE49-F238E27FC236}">
                <a16:creationId xmlns:a16="http://schemas.microsoft.com/office/drawing/2014/main" id="{C6826D1A-F604-5149-C931-6432A1DA919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CA11AE3-3627-1B6D-76A7-64204644F88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 Main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D3EF529-7B5D-C398-305E-FAD5519FEBF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A13C6E3-1454-C152-3ECF-79EE4A7CEE8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102055-6129-D256-301A-6DABD2EC4D3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D231F97-DA16-38A0-C9D9-98BED612E64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5D10B14-230C-9223-BDE3-D3CAB293357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10C1C93-9766-56C3-E8A2-68C905C2D7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94034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C0629C4-242A-EA36-118F-7A9189C199B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AA41BBA-3A28-62C9-9846-D51805A96271}"/>
              </a:ext>
            </a:extLst>
          </p:cNvPr>
          <p:cNvSpPr txBox="1">
            <a:spLocks noGrp="1"/>
          </p:cNvSpPr>
          <p:nvPr>
            <p:ph type="body" idx="1"/>
          </p:nvPr>
        </p:nvSpPr>
        <p:spPr>
          <a:xfrm>
            <a:off x="376809" y="1172487"/>
            <a:ext cx="11452008" cy="4982893"/>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050" dirty="0">
                <a:solidFill>
                  <a:srgbClr val="7F0055"/>
                </a:solidFill>
                <a:latin typeface="Consolas" panose="020B0609020204030204" pitchFamily="49" charset="0"/>
              </a:rPr>
              <a:t>while</a:t>
            </a:r>
            <a:r>
              <a:rPr lang="en-US" sz="1050" dirty="0">
                <a:solidFill>
                  <a:srgbClr val="000000"/>
                </a:solidFill>
                <a:latin typeface="Consolas" panose="020B0609020204030204" pitchFamily="49" charset="0"/>
              </a:rPr>
              <a:t>(1)</a:t>
            </a:r>
          </a:p>
          <a:p>
            <a:pPr marL="114300" indent="0" algn="l">
              <a:spcBef>
                <a:spcPts val="0"/>
              </a:spcBef>
              <a:buNone/>
            </a:pPr>
            <a:r>
              <a:rPr lang="en-US" sz="1050" dirty="0">
                <a:solidFill>
                  <a:srgbClr val="000000"/>
                </a:solidFill>
                <a:latin typeface="Consolas" panose="020B0609020204030204" pitchFamily="49" charset="0"/>
              </a:rPr>
              <a:t>{</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if</a:t>
            </a:r>
            <a:r>
              <a:rPr lang="en-US" sz="1050" dirty="0">
                <a:solidFill>
                  <a:srgbClr val="000000"/>
                </a:solidFill>
                <a:latin typeface="Consolas" panose="020B0609020204030204" pitchFamily="49" charset="0"/>
              </a:rPr>
              <a:t> ( (</a:t>
            </a:r>
            <a:r>
              <a:rPr lang="en-US" sz="1050" dirty="0" err="1">
                <a:solidFill>
                  <a:srgbClr val="000000"/>
                </a:solidFill>
                <a:latin typeface="Consolas" panose="020B0609020204030204" pitchFamily="49" charset="0"/>
              </a:rPr>
              <a:t>pingFFT</a:t>
            </a:r>
            <a:r>
              <a:rPr lang="en-US" sz="1050" dirty="0">
                <a:solidFill>
                  <a:srgbClr val="000000"/>
                </a:solidFill>
                <a:latin typeface="Consolas" panose="020B0609020204030204" pitchFamily="49" charset="0"/>
              </a:rPr>
              <a:t> == 1) || (</a:t>
            </a:r>
            <a:r>
              <a:rPr lang="en-US" sz="1050" dirty="0" err="1">
                <a:solidFill>
                  <a:srgbClr val="000000"/>
                </a:solidFill>
                <a:latin typeface="Consolas" panose="020B0609020204030204" pitchFamily="49" charset="0"/>
              </a:rPr>
              <a:t>pongFFT</a:t>
            </a:r>
            <a:r>
              <a:rPr lang="en-US" sz="1050" dirty="0">
                <a:solidFill>
                  <a:srgbClr val="000000"/>
                </a:solidFill>
                <a:latin typeface="Consolas" panose="020B0609020204030204" pitchFamily="49" charset="0"/>
              </a:rPr>
              <a:t> == 1) )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if</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pingFFT</a:t>
            </a:r>
            <a:r>
              <a:rPr lang="en-US" sz="1050" dirty="0">
                <a:solidFill>
                  <a:srgbClr val="000000"/>
                </a:solidFill>
                <a:latin typeface="Consolas" panose="020B0609020204030204" pitchFamily="49" charset="0"/>
              </a:rPr>
              <a:t> == 1) {</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pingFFT</a:t>
            </a:r>
            <a:r>
              <a:rPr lang="en-US" sz="1050" dirty="0">
                <a:solidFill>
                  <a:srgbClr val="000000"/>
                </a:solidFill>
                <a:latin typeface="Consolas" panose="020B0609020204030204" pitchFamily="49" charset="0"/>
              </a:rPr>
              <a:t> = 0;</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Raw ADC data</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for</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=0; </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&lt;RFFT_SIZE; </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Read the ADC results:</a:t>
            </a:r>
          </a:p>
          <a:p>
            <a:pPr marL="114300" indent="0" algn="l">
              <a:spcBef>
                <a:spcPts val="0"/>
              </a:spcBef>
              <a:buNone/>
            </a:pPr>
            <a:r>
              <a:rPr lang="nn-NO" sz="1050" dirty="0">
                <a:solidFill>
                  <a:srgbClr val="000000"/>
                </a:solidFill>
                <a:latin typeface="Consolas" panose="020B0609020204030204" pitchFamily="49" charset="0"/>
              </a:rPr>
              <a:t>                fft_input[i] = AdcPingBufRaw[i]*3.0/4095.0;  </a:t>
            </a:r>
            <a:r>
              <a:rPr lang="nn-NO" sz="1050" dirty="0">
                <a:solidFill>
                  <a:srgbClr val="3F7F5F"/>
                </a:solidFill>
                <a:latin typeface="Consolas" panose="020B0609020204030204" pitchFamily="49" charset="0"/>
              </a:rPr>
              <a:t>// ping data</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 </a:t>
            </a:r>
            <a:r>
              <a:rPr lang="en-US" sz="1050" dirty="0">
                <a:solidFill>
                  <a:srgbClr val="7F0055"/>
                </a:solidFill>
                <a:latin typeface="Consolas" panose="020B0609020204030204" pitchFamily="49" charset="0"/>
              </a:rPr>
              <a:t>else</a:t>
            </a: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if</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pongFFT</a:t>
            </a:r>
            <a:r>
              <a:rPr lang="en-US" sz="1050" dirty="0">
                <a:solidFill>
                  <a:srgbClr val="000000"/>
                </a:solidFill>
                <a:latin typeface="Consolas" panose="020B0609020204030204" pitchFamily="49" charset="0"/>
              </a:rPr>
              <a:t> == 1) {</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pongFFT</a:t>
            </a:r>
            <a:r>
              <a:rPr lang="en-US" sz="1050" dirty="0">
                <a:solidFill>
                  <a:srgbClr val="000000"/>
                </a:solidFill>
                <a:latin typeface="Consolas" panose="020B0609020204030204" pitchFamily="49" charset="0"/>
              </a:rPr>
              <a:t> = 0;</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Raw ADC data</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for</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=0; </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&lt;RFFT_SIZE; </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Read the ADC result:</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fft_input</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 </a:t>
            </a:r>
            <a:r>
              <a:rPr lang="en-US" sz="1050" dirty="0" err="1">
                <a:solidFill>
                  <a:srgbClr val="000000"/>
                </a:solidFill>
                <a:latin typeface="Consolas" panose="020B0609020204030204" pitchFamily="49" charset="0"/>
              </a:rPr>
              <a:t>AdcPongBufRaw</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]*3.0/4095.0;  </a:t>
            </a:r>
            <a:r>
              <a:rPr lang="en-US" sz="1050" dirty="0">
                <a:solidFill>
                  <a:srgbClr val="3F7F5F"/>
                </a:solidFill>
                <a:latin typeface="Consolas" panose="020B0609020204030204" pitchFamily="49" charset="0"/>
              </a:rPr>
              <a:t>// pong data</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642880"/>
                </a:solidFill>
                <a:latin typeface="Consolas" panose="020B0609020204030204" pitchFamily="49" charset="0"/>
              </a:rPr>
              <a:t>RFFT_f32</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hnd_rfft</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Send the </a:t>
            </a:r>
            <a:r>
              <a:rPr lang="en-US" sz="1050" dirty="0" err="1">
                <a:solidFill>
                  <a:srgbClr val="3F7F5F"/>
                </a:solidFill>
                <a:latin typeface="Consolas" panose="020B0609020204030204" pitchFamily="49" charset="0"/>
              </a:rPr>
              <a:t>fft</a:t>
            </a:r>
            <a:r>
              <a:rPr lang="en-US" sz="1050" dirty="0">
                <a:solidFill>
                  <a:srgbClr val="3F7F5F"/>
                </a:solidFill>
                <a:latin typeface="Consolas" panose="020B0609020204030204" pitchFamily="49" charset="0"/>
              </a:rPr>
              <a:t> data to be calculated</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642880"/>
                </a:solidFill>
                <a:latin typeface="Consolas" panose="020B0609020204030204" pitchFamily="49" charset="0"/>
              </a:rPr>
              <a:t>RFFT_f32_mag_TMU0</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hnd_rfft</a:t>
            </a: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//Calculate magnitude</a:t>
            </a:r>
          </a:p>
          <a:p>
            <a:pPr marL="114300" indent="0" algn="l">
              <a:spcBef>
                <a:spcPts val="0"/>
              </a:spcBef>
              <a:buNone/>
            </a:pPr>
            <a:endParaRPr lang="en-US" sz="1050" dirty="0">
              <a:latin typeface="Consolas" panose="020B0609020204030204" pitchFamily="49" charset="0"/>
            </a:endParaRP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maxpwr</a:t>
            </a:r>
            <a:r>
              <a:rPr lang="en-US" sz="1050" dirty="0">
                <a:solidFill>
                  <a:srgbClr val="000000"/>
                </a:solidFill>
                <a:latin typeface="Consolas" panose="020B0609020204030204" pitchFamily="49" charset="0"/>
              </a:rPr>
              <a:t> = 0;</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maxpwrindex</a:t>
            </a:r>
            <a:r>
              <a:rPr lang="en-US" sz="1050" dirty="0">
                <a:solidFill>
                  <a:srgbClr val="000000"/>
                </a:solidFill>
                <a:latin typeface="Consolas" panose="020B0609020204030204" pitchFamily="49" charset="0"/>
              </a:rPr>
              <a:t> = 0;</a:t>
            </a:r>
          </a:p>
          <a:p>
            <a:pPr marL="114300" indent="0" algn="l">
              <a:spcBef>
                <a:spcPts val="0"/>
              </a:spcBef>
              <a:buNone/>
            </a:pPr>
            <a:endParaRPr lang="en-US" sz="1050" dirty="0">
              <a:latin typeface="Consolas" panose="020B0609020204030204" pitchFamily="49" charset="0"/>
            </a:endParaRP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3F7F5F"/>
                </a:solidFill>
                <a:latin typeface="Consolas" panose="020B0609020204030204" pitchFamily="49" charset="0"/>
              </a:rPr>
              <a:t>// Ignore the bias ( low frequencies) and find the next max frequency</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for</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=5;i&lt;(RFFT_SIZE/2);</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a:solidFill>
                  <a:srgbClr val="7F0055"/>
                </a:solidFill>
                <a:latin typeface="Consolas" panose="020B0609020204030204" pitchFamily="49" charset="0"/>
              </a:rPr>
              <a:t>if</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pwrSpec</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]&gt;</a:t>
            </a:r>
            <a:r>
              <a:rPr lang="en-US" sz="1050" dirty="0" err="1">
                <a:solidFill>
                  <a:srgbClr val="000000"/>
                </a:solidFill>
                <a:latin typeface="Consolas" panose="020B0609020204030204" pitchFamily="49" charset="0"/>
              </a:rPr>
              <a:t>maxpwr</a:t>
            </a: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maxpwr</a:t>
            </a:r>
            <a:r>
              <a:rPr lang="en-US" sz="1050" dirty="0">
                <a:solidFill>
                  <a:srgbClr val="000000"/>
                </a:solidFill>
                <a:latin typeface="Consolas" panose="020B0609020204030204" pitchFamily="49" charset="0"/>
              </a:rPr>
              <a:t> = </a:t>
            </a:r>
            <a:r>
              <a:rPr lang="en-US" sz="1050" dirty="0" err="1">
                <a:solidFill>
                  <a:srgbClr val="000000"/>
                </a:solidFill>
                <a:latin typeface="Consolas" panose="020B0609020204030204" pitchFamily="49" charset="0"/>
              </a:rPr>
              <a:t>pwrSpec</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a:t>
            </a:r>
          </a:p>
          <a:p>
            <a:pPr marL="114300" indent="0" algn="l">
              <a:spcBef>
                <a:spcPts val="0"/>
              </a:spcBef>
              <a:buNone/>
            </a:pP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maxpwrindex</a:t>
            </a:r>
            <a:r>
              <a:rPr lang="en-US" sz="1050" dirty="0">
                <a:solidFill>
                  <a:srgbClr val="000000"/>
                </a:solidFill>
                <a:latin typeface="Consolas" panose="020B0609020204030204" pitchFamily="49" charset="0"/>
              </a:rPr>
              <a:t> = </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    }</a:t>
            </a:r>
          </a:p>
          <a:p>
            <a:pPr marL="114300" indent="0" algn="l">
              <a:spcBef>
                <a:spcPts val="0"/>
              </a:spcBef>
              <a:buNone/>
            </a:pPr>
            <a:r>
              <a:rPr lang="en-US" sz="1050" dirty="0">
                <a:solidFill>
                  <a:srgbClr val="000000"/>
                </a:solidFill>
                <a:latin typeface="Consolas" panose="020B0609020204030204" pitchFamily="49" charset="0"/>
              </a:rPr>
              <a:t>}</a:t>
            </a:r>
            <a:endParaRPr lang="en-US" sz="1050" dirty="0">
              <a:solidFill>
                <a:schemeClr val="tx1"/>
              </a:solidFill>
              <a:latin typeface="Atkinson Hyperlegible Next"/>
              <a:cs typeface="Arial"/>
              <a:sym typeface="Arial"/>
            </a:endParaRPr>
          </a:p>
        </p:txBody>
      </p:sp>
      <p:sp>
        <p:nvSpPr>
          <p:cNvPr id="119" name="Google Shape;119;p29">
            <a:extLst>
              <a:ext uri="{FF2B5EF4-FFF2-40B4-BE49-F238E27FC236}">
                <a16:creationId xmlns:a16="http://schemas.microsoft.com/office/drawing/2014/main" id="{6BE6D19A-5452-2B18-C85C-51F6DEF0E0E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93879E4-8F0A-EAF2-5154-7ED80C26087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FFT Code</a:t>
            </a:r>
            <a:r>
              <a:rPr i="0" b="0" lang="en-US" sz="2400" dirty="0">
                <a:solidFill>
                  <a:schemeClr val="lt1"/>
                </a:solidFill>
              </a:rPr>
              <a:t> - Main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102D66E-7393-F64A-E28A-F642F2AC066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BB81ECE-13ED-310C-2F32-EE0F8ED48D5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658935D-5E4C-4AEC-A4B1-D5ED76D61B1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A607A72-92E8-B8B7-EE96-9CCF630A73F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4ACFF2B-B211-F229-FBD1-BDA1D1D41A8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E42D4EF-43B9-21DF-F9DA-B7A3C68CE0B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01608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76DE42A-F20F-C1A1-C618-722C23195F2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7BE4398-DABB-154A-33E7-9AF4925D2D7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400" dirty="0"/>
              <a:t>Given that we have the </a:t>
            </a:r>
            <a:r>
              <a:rPr lang="en-US" sz="2400" dirty="0" err="1"/>
              <a:t>ePWM</a:t>
            </a:r>
            <a:r>
              <a:rPr lang="en-US" sz="2400" dirty="0"/>
              <a:t> trigger the SOCA every 0.1ms and the FFT requires 1024 values, it thus takes 102.4ms for the data to fully be loaded into the buffers. </a:t>
            </a:r>
          </a:p>
          <a:p>
            <a:pPr marL="0" lvl="0" indent="0">
              <a:lnSpc>
                <a:spcPct val="100000"/>
              </a:lnSpc>
              <a:spcBef>
                <a:spcPts val="0"/>
              </a:spcBef>
              <a:buSzPts val="2000"/>
              <a:buNone/>
            </a:pPr>
            <a:endParaRPr lang="en-US" sz="2400" dirty="0"/>
          </a:p>
          <a:p>
            <a:pPr marL="0" lvl="0" indent="0">
              <a:lnSpc>
                <a:spcPct val="100000"/>
              </a:lnSpc>
              <a:spcBef>
                <a:spcPts val="0"/>
              </a:spcBef>
              <a:buSzPts val="2000"/>
              <a:buNone/>
            </a:pPr>
            <a:r>
              <a:rPr lang="en-US" sz="2400" dirty="0"/>
              <a:t>Thus, to compute the FFT’s full pipeline it takes approximately 10Hz!</a:t>
            </a:r>
          </a:p>
        </p:txBody>
      </p:sp>
      <p:sp>
        <p:nvSpPr>
          <p:cNvPr id="119" name="Google Shape;119;p29">
            <a:extLst>
              <a:ext uri="{FF2B5EF4-FFF2-40B4-BE49-F238E27FC236}">
                <a16:creationId xmlns:a16="http://schemas.microsoft.com/office/drawing/2014/main" id="{54643988-F678-D425-3BD4-7585145F51B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DFBF429-F955-86D0-8083-A9FAB1D7637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FFT Code (5/5)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8159945-3D66-7903-6E66-7B943390293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E75CFC1-1D15-B365-A2AF-7713F8970AF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7B215CE-AEFA-8D62-F131-805B10DFE24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3A7A4ED-4E3E-015D-0BC3-6EDF5495A87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9D3F5EC-F133-69BD-FBBD-90B47565E1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21F260F-D310-6BC5-AC97-769799A6398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06909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EC638A4-F765-FEFC-3482-D8326604041C}"/>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F9972CC1-6DF8-C140-C0AD-26D8DDFBDAFC}"/>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FIR Filters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F31B6DEE-FD88-5270-5207-5AD806407B09}"/>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09AA2069-069B-2F17-657B-BFFDDABFF01A}"/>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A681EE2C-173F-9BE0-497A-96F0E114B9E6}"/>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741B976F-231B-489E-9CEF-714084DB8B3E}"/>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01BC63CD-BF15-40E8-7AFC-3CB305A7A1C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D1E599DF-5A3F-C139-F991-698A6267585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5F30FCCD-F8C8-7EA2-011E-BE1AD7FD4FBA}"/>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11D64D91-7B46-E35D-E635-66B21AF7DA1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036A8A30-1259-8DDB-B6F5-A0C284376D0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59306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1A120AC-2D20-9FCC-03E3-64935AF72AF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4357D04-8CAC-6E2F-38FC-90FEF45B86F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dirty="0">
                <a:latin typeface="+mj-lt"/>
                <a:cs typeface="Arial"/>
                <a:sym typeface="Arial"/>
              </a:rPr>
              <a:t>Imagine you are building a robot that has an analog distance sensor, you feed it into your ADC and look at the output.</a:t>
            </a:r>
          </a:p>
          <a:p>
            <a:pPr marL="0" lvl="0" indent="0">
              <a:lnSpc>
                <a:spcPct val="100000"/>
              </a:lnSpc>
              <a:spcBef>
                <a:spcPts val="0"/>
              </a:spcBef>
              <a:buSzPts val="2000"/>
              <a:buNone/>
            </a:pPr>
            <a:endParaRPr lang="en-US" dirty="0">
              <a:latin typeface="+mj-lt"/>
              <a:cs typeface="Arial"/>
              <a:sym typeface="Arial"/>
            </a:endParaRPr>
          </a:p>
          <a:p>
            <a:pPr marL="0" lvl="0" indent="0">
              <a:lnSpc>
                <a:spcPct val="100000"/>
              </a:lnSpc>
              <a:spcBef>
                <a:spcPts val="0"/>
              </a:spcBef>
              <a:buSzPts val="2000"/>
              <a:buNone/>
            </a:pPr>
            <a:r>
              <a:rPr lang="en-US" dirty="0">
                <a:latin typeface="+mj-lt"/>
                <a:cs typeface="Arial"/>
                <a:sym typeface="Arial"/>
              </a:rPr>
              <a:t>Instead of a smooth line telling you the wall is exactly 10cm away, the signal looks noisy.</a:t>
            </a:r>
          </a:p>
          <a:p>
            <a:pPr marL="0" lvl="0" indent="0">
              <a:lnSpc>
                <a:spcPct val="100000"/>
              </a:lnSpc>
              <a:spcBef>
                <a:spcPts val="0"/>
              </a:spcBef>
              <a:buSzPts val="2000"/>
              <a:buNone/>
            </a:pPr>
            <a:endParaRPr lang="en-US" dirty="0">
              <a:latin typeface="+mj-lt"/>
              <a:cs typeface="Arial"/>
              <a:sym typeface="Arial"/>
            </a:endParaRPr>
          </a:p>
          <a:p>
            <a:pPr marL="0" lvl="0" indent="0">
              <a:lnSpc>
                <a:spcPct val="100000"/>
              </a:lnSpc>
              <a:spcBef>
                <a:spcPts val="0"/>
              </a:spcBef>
              <a:buSzPts val="2000"/>
              <a:buNone/>
            </a:pPr>
            <a:r>
              <a:rPr lang="en-US" dirty="0">
                <a:latin typeface="+mj-lt"/>
              </a:rPr>
              <a:t>Intuitively</a:t>
            </a:r>
            <a:r>
              <a:rPr lang="en-US" dirty="0">
                <a:latin typeface="+mj-lt"/>
                <a:cs typeface="Arial"/>
                <a:sym typeface="Arial"/>
              </a:rPr>
              <a:t> how would you smooth that data (think simple)?</a:t>
            </a:r>
          </a:p>
          <a:p>
            <a:pPr marL="0" lvl="0" indent="0">
              <a:lnSpc>
                <a:spcPct val="100000"/>
              </a:lnSpc>
              <a:spcBef>
                <a:spcPts val="0"/>
              </a:spcBef>
              <a:buSzPts val="2000"/>
              <a:buNone/>
            </a:pPr>
            <a:endParaRPr lang="en-US" dirty="0">
              <a:latin typeface="+mj-lt"/>
              <a:cs typeface="Arial"/>
              <a:sym typeface="Arial"/>
            </a:endParaRPr>
          </a:p>
          <a:p>
            <a:pPr marL="0" lvl="0" indent="0">
              <a:lnSpc>
                <a:spcPct val="100000"/>
              </a:lnSpc>
              <a:spcBef>
                <a:spcPts val="0"/>
              </a:spcBef>
              <a:buSzPts val="2000"/>
              <a:buNone/>
            </a:pPr>
            <a:r>
              <a:rPr lang="en-US" dirty="0">
                <a:latin typeface="+mj-lt"/>
                <a:cs typeface="Arial"/>
                <a:sym typeface="Arial"/>
              </a:rPr>
              <a:t>You can just take the average of the last 5 points and the noise, spikes will attenuate!</a:t>
            </a:r>
            <a:endParaRPr lang="en-US" dirty="0">
              <a:latin typeface="+mj-lt"/>
            </a:endParaRPr>
          </a:p>
        </p:txBody>
      </p:sp>
      <p:sp>
        <p:nvSpPr>
          <p:cNvPr id="119" name="Google Shape;119;p29">
            <a:extLst>
              <a:ext uri="{FF2B5EF4-FFF2-40B4-BE49-F238E27FC236}">
                <a16:creationId xmlns:a16="http://schemas.microsoft.com/office/drawing/2014/main" id="{70DD9B02-892E-ED37-8755-51E765C06D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3459597-2113-2076-9C08-E130E0609B1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FIR Filter (1/5)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39DAADA-EC94-6652-B755-75735C586B4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7EC4B05-6FCA-DEC4-830C-4F6E86BECF3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5A0992B-0743-78A4-2DBE-676B191BD0D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44DCFF6-0041-3427-173B-980164462DB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B38ED6-8EDA-CECD-390E-374296B0F43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59B5B17-596E-49A3-DBC0-7DAE074D074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8705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FE22ADC-56DC-2E50-0698-A77C1FC20F1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E62B5A9-5F3A-0AD9-E9B9-94F79E775C9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dirty="0">
                    <a:latin typeface="+mj-lt"/>
                  </a:rPr>
                  <a:t>Mathematically, at our current time step </a:t>
                </a:r>
                <a14:m>
                  <m:oMath xmlns:m="http://schemas.openxmlformats.org/officeDocument/2006/math">
                    <m:r>
                      <m:rPr>
                        <m:sty m:val="p"/>
                      </m:rPr>
                      <a:rPr lang="en-US" b="0" i="1" smtClean="0">
                        <a:latin typeface="Cambria Math" panose="02040503050406030204" pitchFamily="18" charset="0"/>
                      </a:rPr>
                      <m:t>n</m:t>
                    </m:r>
                  </m:oMath>
                </a14:m>
                <a:r>
                  <a:rPr lang="en-US" dirty="0">
                    <a:latin typeface="+mj-lt"/>
                  </a:rPr>
                  <a:t>, our filtered output </a:t>
                </a:r>
                <a14:m>
                  <m:oMath xmlns:m="http://schemas.openxmlformats.org/officeDocument/2006/math">
                    <m:r>
                      <m:rPr>
                        <m:sty m:val="p"/>
                      </m:rPr>
                      <a:rPr lang="en-US" b="0" i="1" smtClean="0">
                        <a:latin typeface="Cambria Math" panose="02040503050406030204" pitchFamily="18" charset="0"/>
                      </a:rPr>
                      <m:t>y</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m:t>
                    </m:r>
                  </m:oMath>
                </a14:m>
                <a:r>
                  <a:rPr lang="en-US" dirty="0">
                    <a:latin typeface="+mj-lt"/>
                  </a:rPr>
                  <a:t> based on our noisy input's </a:t>
                </a:r>
                <a14:m>
                  <m:oMath xmlns:m="http://schemas.openxmlformats.org/officeDocument/2006/math">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m:t>
                    </m:r>
                  </m:oMath>
                </a14:m>
                <a:r>
                  <a:rPr lang="en-US" dirty="0">
                    <a:latin typeface="+mj-lt"/>
                  </a:rPr>
                  <a:t> looks like this:</a:t>
                </a:r>
              </a:p>
              <a:p>
                <a:pPr marL="0" lvl="0" indent="0">
                  <a:lnSpc>
                    <a:spcPct val="100000"/>
                  </a:lnSpc>
                  <a:spcBef>
                    <a:spcPts val="0"/>
                  </a:spcBef>
                  <a:buSzPts val="2000"/>
                  <a:buNone/>
                </a:pPr>
                <a:endParaRPr lang="en-US" dirty="0">
                  <a:latin typeface="+mj-lt"/>
                </a:endParaRPr>
              </a:p>
              <a:p>
                <a:pPr marL="0" lvl="0" indent="0">
                  <a:lnSpc>
                    <a:spcPct val="100000"/>
                  </a:lnSpc>
                  <a:spcBef>
                    <a:spcPts val="0"/>
                  </a:spcBef>
                  <a:buSzPts val="2000"/>
                  <a:buNone/>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y</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5</m:t>
                          </m:r>
                        </m:den>
                      </m:f>
                      <m:r>
                        <m:rPr>
                          <m:sty m:val="p"/>
                        </m:rPr>
                        <a:rPr lang="en-US" i="1">
                          <a:latin typeface="Cambria Math" panose="02040503050406030204" pitchFamily="18" charset="0"/>
                        </a:rPr>
                        <m:t>x</m:t>
                      </m:r>
                      <m:r>
                        <a:rPr lang="en-US" i="1">
                          <a:latin typeface="Cambria Math" panose="02040503050406030204" pitchFamily="18" charset="0"/>
                        </a:rPr>
                        <m:t>[</m:t>
                      </m:r>
                      <m:r>
                        <m:rPr>
                          <m:sty m:val="p"/>
                        </m:rPr>
                        <a:rPr lang="en-US" i="1">
                          <a:latin typeface="Cambria Math" panose="02040503050406030204" pitchFamily="18" charset="0"/>
                        </a:rPr>
                        <m:t>n</m:t>
                      </m:r>
                      <m:r>
                        <a:rPr lang="en-US" b="0" i="1" smtClean="0">
                          <a:latin typeface="Cambria Math" panose="02040503050406030204" pitchFamily="18" charset="0"/>
                        </a:rPr>
                        <m:t>−1</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5</m:t>
                          </m:r>
                        </m:den>
                      </m:f>
                      <m:r>
                        <m:rPr>
                          <m:sty m:val="p"/>
                        </m:rPr>
                        <a:rPr lang="en-US" i="1">
                          <a:latin typeface="Cambria Math" panose="02040503050406030204" pitchFamily="18" charset="0"/>
                        </a:rPr>
                        <m:t>x</m:t>
                      </m:r>
                      <m:r>
                        <a:rPr lang="en-US" i="1">
                          <a:latin typeface="Cambria Math" panose="02040503050406030204" pitchFamily="18" charset="0"/>
                        </a:rPr>
                        <m:t>[</m:t>
                      </m:r>
                      <m:r>
                        <m:rPr>
                          <m:sty m:val="p"/>
                        </m:rPr>
                        <a:rPr lang="en-US" i="1">
                          <a:latin typeface="Cambria Math" panose="02040503050406030204" pitchFamily="18" charset="0"/>
                        </a:rPr>
                        <m:t>n</m:t>
                      </m:r>
                      <m:r>
                        <a:rPr lang="en-US" b="0" i="1" smtClean="0">
                          <a:latin typeface="Cambria Math" panose="02040503050406030204" pitchFamily="18" charset="0"/>
                        </a:rPr>
                        <m:t>−2</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5</m:t>
                          </m:r>
                        </m:den>
                      </m:f>
                      <m:r>
                        <m:rPr>
                          <m:sty m:val="p"/>
                        </m:rPr>
                        <a:rPr lang="en-US" i="1">
                          <a:latin typeface="Cambria Math" panose="02040503050406030204" pitchFamily="18" charset="0"/>
                        </a:rPr>
                        <m:t>x</m:t>
                      </m:r>
                      <m:r>
                        <a:rPr lang="en-US" i="1">
                          <a:latin typeface="Cambria Math" panose="02040503050406030204" pitchFamily="18" charset="0"/>
                        </a:rPr>
                        <m:t>[</m:t>
                      </m:r>
                      <m:r>
                        <m:rPr>
                          <m:sty m:val="p"/>
                        </m:rPr>
                        <a:rPr lang="en-US" i="1">
                          <a:latin typeface="Cambria Math" panose="02040503050406030204" pitchFamily="18" charset="0"/>
                        </a:rPr>
                        <m:t>n</m:t>
                      </m:r>
                      <m:r>
                        <a:rPr lang="en-US" b="0" i="1" smtClean="0">
                          <a:latin typeface="Cambria Math" panose="02040503050406030204" pitchFamily="18" charset="0"/>
                        </a:rPr>
                        <m:t>−3</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5</m:t>
                          </m:r>
                        </m:den>
                      </m:f>
                      <m:r>
                        <m:rPr>
                          <m:sty m:val="p"/>
                        </m:rPr>
                        <a:rPr lang="en-US" i="1">
                          <a:latin typeface="Cambria Math" panose="02040503050406030204" pitchFamily="18" charset="0"/>
                        </a:rPr>
                        <m:t>x</m:t>
                      </m:r>
                      <m:r>
                        <a:rPr lang="en-US" i="1">
                          <a:latin typeface="Cambria Math" panose="02040503050406030204" pitchFamily="18" charset="0"/>
                        </a:rPr>
                        <m:t>[</m:t>
                      </m:r>
                      <m:r>
                        <m:rPr>
                          <m:sty m:val="p"/>
                        </m:rPr>
                        <a:rPr lang="en-US" i="1">
                          <a:latin typeface="Cambria Math" panose="02040503050406030204" pitchFamily="18" charset="0"/>
                        </a:rPr>
                        <m:t>n</m:t>
                      </m:r>
                      <m:r>
                        <a:rPr lang="en-US" b="0" i="1" smtClean="0">
                          <a:latin typeface="Cambria Math" panose="02040503050406030204" pitchFamily="18" charset="0"/>
                        </a:rPr>
                        <m:t>−4</m:t>
                      </m:r>
                      <m:r>
                        <a:rPr lang="en-US" i="1">
                          <a:latin typeface="Cambria Math" panose="02040503050406030204" pitchFamily="18" charset="0"/>
                        </a:rPr>
                        <m:t>]</m:t>
                      </m:r>
                    </m:oMath>
                  </m:oMathPara>
                </a14:m>
                <a:endParaRPr lang="en-US" dirty="0">
                  <a:latin typeface="+mj-lt"/>
                </a:endParaRPr>
              </a:p>
              <a:p>
                <a:pPr marL="0" lvl="0" indent="0">
                  <a:lnSpc>
                    <a:spcPct val="100000"/>
                  </a:lnSpc>
                  <a:spcBef>
                    <a:spcPts val="0"/>
                  </a:spcBef>
                  <a:buSzPts val="2000"/>
                  <a:buNone/>
                </a:pPr>
                <a:endParaRPr lang="en-US" dirty="0">
                  <a:latin typeface="+mj-lt"/>
                </a:endParaRPr>
              </a:p>
              <a:p>
                <a:pPr marL="0" lvl="0" indent="0">
                  <a:lnSpc>
                    <a:spcPct val="100000"/>
                  </a:lnSpc>
                  <a:spcBef>
                    <a:spcPts val="0"/>
                  </a:spcBef>
                  <a:buSzPts val="2000"/>
                  <a:buNone/>
                </a:pPr>
                <a:r>
                  <a:rPr lang="en-US" dirty="0">
                    <a:latin typeface="+mj-lt"/>
                  </a:rPr>
                  <a:t>Without realizing it, you have just designed your first Finite Impulse Response (FIR) Filter!</a:t>
                </a:r>
              </a:p>
            </p:txBody>
          </p:sp>
        </mc:Choice>
        <mc:Fallback xmlns="">
          <p:sp>
            <p:nvSpPr>
              <p:cNvPr id="118" name="Google Shape;118;p29">
                <a:extLst>
                  <a:ext uri="{FF2B5EF4-FFF2-40B4-BE49-F238E27FC236}">
                    <a16:creationId xmlns:a16="http://schemas.microsoft.com/office/drawing/2014/main" id="{9E62B5A9-5F3A-0AD9-E9B9-94F79E775C9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13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2EAF1FD-B92F-EA09-3B9C-73417E0ADE8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143ABF0-C76A-551B-62BB-3D90715B9AC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FIR Filter (2/5)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3EFA88D-DFBD-23F0-EEA9-DC7DF7D8940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766D10C-65C2-3BBE-B89C-9795D01E4A3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4DDD29A-A526-EAA4-8460-33AC2B4365C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1AA880B-6C7B-6345-7079-D46C9725FB2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42560E0-4067-0993-2AD3-FF1505CB289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1E6DEA3-77BC-789E-DEAA-1436866A767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2495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76BBB7A-42D0-7A47-1A9F-6CD1D0C1A87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5BEE2C8-082C-27F7-023B-19E92135B6E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000" dirty="0">
                    <a:latin typeface="+mj-lt"/>
                  </a:rPr>
                  <a:t>Note the structure, we have a set of </a:t>
                </a:r>
                <a:r>
                  <a:rPr lang="en-US" sz="2000" b="1" dirty="0">
                    <a:latin typeface="+mj-lt"/>
                  </a:rPr>
                  <a:t>weights </a:t>
                </a:r>
                <a:r>
                  <a:rPr lang="en-US" sz="2000" dirty="0">
                    <a:latin typeface="+mj-lt"/>
                  </a:rPr>
                  <a:t>(in the previous case, every weight was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5</m:t>
                        </m:r>
                      </m:den>
                    </m:f>
                  </m:oMath>
                </a14:m>
                <a:r>
                  <a:rPr lang="en-US" sz="2000" dirty="0">
                    <a:latin typeface="+mj-lt"/>
                  </a:rPr>
                  <a:t> ) multiplied by a history of </a:t>
                </a:r>
                <a:r>
                  <a:rPr lang="en-US" sz="2000" b="1" dirty="0">
                    <a:latin typeface="+mj-lt"/>
                  </a:rPr>
                  <a:t>states </a:t>
                </a:r>
                <a:r>
                  <a:rPr lang="en-US" sz="2000" dirty="0">
                    <a:latin typeface="+mj-lt"/>
                  </a:rPr>
                  <a:t>(our current and past sensor readings). </a:t>
                </a:r>
              </a:p>
              <a:p>
                <a:pPr marL="0" lvl="0" indent="0">
                  <a:lnSpc>
                    <a:spcPct val="100000"/>
                  </a:lnSpc>
                  <a:spcBef>
                    <a:spcPts val="0"/>
                  </a:spcBef>
                  <a:buSzPts val="2000"/>
                  <a:buNone/>
                </a:pPr>
                <a:endParaRPr lang="en-US" sz="2000" dirty="0">
                  <a:latin typeface="+mj-lt"/>
                </a:endParaRPr>
              </a:p>
              <a:p>
                <a:pPr marL="0" lvl="0" indent="0">
                  <a:lnSpc>
                    <a:spcPct val="100000"/>
                  </a:lnSpc>
                  <a:spcBef>
                    <a:spcPts val="0"/>
                  </a:spcBef>
                  <a:buSzPts val="2000"/>
                  <a:buNone/>
                </a:pPr>
                <a:r>
                  <a:rPr lang="en-US" sz="2000" dirty="0">
                    <a:latin typeface="+mj-lt"/>
                  </a:rPr>
                  <a:t>We can generalize this idea into the fundamental equation of an FIR filter of order </a:t>
                </a:r>
                <a14:m>
                  <m:oMath xmlns:m="http://schemas.openxmlformats.org/officeDocument/2006/math">
                    <m:r>
                      <m:rPr>
                        <m:sty m:val="p"/>
                      </m:rPr>
                      <a:rPr lang="en-US" sz="2000" b="0" i="1" smtClean="0">
                        <a:latin typeface="Cambria Math" panose="02040503050406030204" pitchFamily="18" charset="0"/>
                      </a:rPr>
                      <m:t>M</m:t>
                    </m:r>
                  </m:oMath>
                </a14:m>
                <a:r>
                  <a:rPr lang="en-US" sz="2000" dirty="0">
                    <a:latin typeface="+mj-lt"/>
                  </a:rPr>
                  <a:t>.</a:t>
                </a:r>
              </a:p>
              <a:p>
                <a:pPr marL="0" lvl="0" indent="0">
                  <a:lnSpc>
                    <a:spcPct val="100000"/>
                  </a:lnSpc>
                  <a:spcBef>
                    <a:spcPts val="0"/>
                  </a:spcBef>
                  <a:buSzPts val="2000"/>
                  <a:buNone/>
                </a:pPr>
                <a:endParaRPr lang="en-US" sz="2000" dirty="0">
                  <a:latin typeface="+mj-lt"/>
                </a:endParaRPr>
              </a:p>
              <a:p>
                <a:pPr marL="0" lvl="0" indent="0">
                  <a:lnSpc>
                    <a:spcPct val="100000"/>
                  </a:lnSpc>
                  <a:spcBef>
                    <a:spcPts val="0"/>
                  </a:spcBef>
                  <a:buSzPts val="2000"/>
                  <a:buNone/>
                </a:pPr>
                <a:endParaRPr lang="en-US" sz="2000" dirty="0">
                  <a:latin typeface="+mj-lt"/>
                </a:endParaRPr>
              </a:p>
              <a:p>
                <a:pPr marL="0" lvl="0" indent="0">
                  <a:lnSpc>
                    <a:spcPct val="100000"/>
                  </a:lnSpc>
                  <a:spcBef>
                    <a:spcPts val="0"/>
                  </a:spcBef>
                  <a:buSzPts val="2000"/>
                  <a:buNone/>
                </a:pPr>
                <a14:m>
                  <m:oMathPara xmlns:m="http://schemas.openxmlformats.org/officeDocument/2006/math">
                    <m:oMathParaPr>
                      <m:jc m:val="centerGroup"/>
                    </m:oMathParaPr>
                    <m:oMath xmlns:m="http://schemas.openxmlformats.org/officeDocument/2006/math">
                      <m:r>
                        <m:rPr>
                          <m:sty m:val="p"/>
                        </m:rPr>
                        <a:rPr lang="en-US" sz="2000" b="0" i="1" smtClean="0">
                          <a:latin typeface="Cambria Math" panose="02040503050406030204" pitchFamily="18" charset="0"/>
                        </a:rPr>
                        <m:t>y</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n</m:t>
                      </m:r>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sty m:val="p"/>
                              <m:brk m:alnAt="23"/>
                            </m:rPr>
                            <a:rPr lang="en-US" sz="2000" b="0" i="1" smtClean="0">
                              <a:latin typeface="Cambria Math" panose="02040503050406030204" pitchFamily="18" charset="0"/>
                            </a:rPr>
                            <m:t>k</m:t>
                          </m:r>
                          <m:r>
                            <a:rPr lang="en-US" sz="2000" b="0" i="1" smtClean="0">
                              <a:latin typeface="Cambria Math" panose="02040503050406030204" pitchFamily="18" charset="0"/>
                            </a:rPr>
                            <m:t>=0</m:t>
                          </m:r>
                        </m:sub>
                        <m:sup>
                          <m:r>
                            <m:rPr>
                              <m:sty m:val="p"/>
                            </m:rPr>
                            <a:rPr lang="en-US" sz="2000" b="0" i="1" smtClean="0">
                              <a:latin typeface="Cambria Math" panose="02040503050406030204" pitchFamily="18" charset="0"/>
                            </a:rPr>
                            <m:t>M</m:t>
                          </m:r>
                        </m:sup>
                        <m:e>
                          <m:sSub>
                            <m:sSubPr>
                              <m:ctrlPr>
                                <a:rPr lang="en-US" sz="2000" b="0" i="1" smtClean="0">
                                  <a:latin typeface="Cambria Math" panose="02040503050406030204" pitchFamily="18" charset="0"/>
                                </a:rPr>
                              </m:ctrlPr>
                            </m:sSubPr>
                            <m:e>
                              <m:r>
                                <m:rPr>
                                  <m:sty m:val="p"/>
                                </m:rPr>
                                <a:rPr lang="en-US" sz="2000" b="0" i="1" smtClean="0">
                                  <a:latin typeface="Cambria Math" panose="02040503050406030204" pitchFamily="18" charset="0"/>
                                </a:rPr>
                                <m:t>b</m:t>
                              </m:r>
                            </m:e>
                            <m:sub>
                              <m:r>
                                <m:rPr>
                                  <m:sty m:val="p"/>
                                </m:rPr>
                                <a:rPr lang="en-US" sz="2000" b="0" i="1" smtClean="0">
                                  <a:latin typeface="Cambria Math" panose="02040503050406030204" pitchFamily="18" charset="0"/>
                                </a:rPr>
                                <m:t>k</m:t>
                              </m:r>
                            </m:sub>
                          </m:sSub>
                          <m:r>
                            <m:rPr>
                              <m:sty m:val="p"/>
                            </m:rPr>
                            <a:rPr lang="en-US" sz="2000" b="0" i="1" smtClean="0">
                              <a:latin typeface="Cambria Math" panose="02040503050406030204" pitchFamily="18" charset="0"/>
                            </a:rPr>
                            <m:t>x</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n</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k</m:t>
                          </m:r>
                          <m:r>
                            <a:rPr lang="en-US" sz="2000" b="0" i="1" smtClean="0">
                              <a:latin typeface="Cambria Math" panose="02040503050406030204" pitchFamily="18" charset="0"/>
                            </a:rPr>
                            <m:t>]</m:t>
                          </m:r>
                        </m:e>
                      </m:nary>
                    </m:oMath>
                  </m:oMathPara>
                </a14:m>
                <a:endParaRPr lang="en-US" sz="2000" dirty="0">
                  <a:latin typeface="+mj-lt"/>
                </a:endParaRPr>
              </a:p>
              <a:p>
                <a:pPr marL="0" lvl="0" indent="0">
                  <a:lnSpc>
                    <a:spcPct val="100000"/>
                  </a:lnSpc>
                  <a:spcBef>
                    <a:spcPts val="0"/>
                  </a:spcBef>
                  <a:buSzPts val="2000"/>
                  <a:buNone/>
                </a:pPr>
                <a:endParaRPr lang="en-US" sz="2000" dirty="0">
                  <a:latin typeface="+mj-lt"/>
                </a:endParaRPr>
              </a:p>
              <a:p>
                <a:pPr marL="0" lvl="0" indent="0">
                  <a:lnSpc>
                    <a:spcPct val="100000"/>
                  </a:lnSpc>
                  <a:spcBef>
                    <a:spcPts val="0"/>
                  </a:spcBef>
                  <a:buSzPts val="2000"/>
                  <a:buNone/>
                </a:pPr>
                <a:endParaRPr lang="en-US" sz="2000" dirty="0">
                  <a:latin typeface="+mj-lt"/>
                </a:endParaRPr>
              </a:p>
              <a:p>
                <a:pPr marL="0" lvl="0" indent="0">
                  <a:lnSpc>
                    <a:spcPct val="100000"/>
                  </a:lnSpc>
                  <a:spcBef>
                    <a:spcPts val="0"/>
                  </a:spcBef>
                  <a:buSzPts val="2000"/>
                  <a:buNone/>
                </a:pPr>
                <a:r>
                  <a:rPr lang="en-US" sz="2000" dirty="0">
                    <a:latin typeface="+mj-lt"/>
                  </a:rPr>
                  <a:t>Here, </a:t>
                </a:r>
                <a14:m>
                  <m:oMath xmlns:m="http://schemas.openxmlformats.org/officeDocument/2006/math">
                    <m:sSub>
                      <m:sSubPr>
                        <m:ctrlPr>
                          <a:rPr lang="en-US" sz="2000" i="1">
                            <a:latin typeface="Cambria Math" panose="02040503050406030204" pitchFamily="18" charset="0"/>
                          </a:rPr>
                        </m:ctrlPr>
                      </m:sSubPr>
                      <m:e>
                        <m:r>
                          <m:rPr>
                            <m:sty m:val="p"/>
                          </m:rPr>
                          <a:rPr lang="en-US" sz="2000" i="1">
                            <a:latin typeface="Cambria Math" panose="02040503050406030204" pitchFamily="18" charset="0"/>
                          </a:rPr>
                          <m:t>b</m:t>
                        </m:r>
                      </m:e>
                      <m:sub>
                        <m:r>
                          <m:rPr>
                            <m:sty m:val="p"/>
                          </m:rPr>
                          <a:rPr lang="en-US" sz="2000" i="1">
                            <a:latin typeface="Cambria Math" panose="02040503050406030204" pitchFamily="18" charset="0"/>
                          </a:rPr>
                          <m:t>k</m:t>
                        </m:r>
                      </m:sub>
                    </m:sSub>
                  </m:oMath>
                </a14:m>
                <a:r>
                  <a:rPr lang="en-US" sz="2000" dirty="0">
                    <a:latin typeface="+mj-lt"/>
                  </a:rPr>
                  <a:t> represents our filter coefficients (the “weights”).</a:t>
                </a:r>
              </a:p>
            </p:txBody>
          </p:sp>
        </mc:Choice>
        <mc:Fallback xmlns="">
          <p:sp>
            <p:nvSpPr>
              <p:cNvPr id="118" name="Google Shape;118;p29">
                <a:extLst>
                  <a:ext uri="{FF2B5EF4-FFF2-40B4-BE49-F238E27FC236}">
                    <a16:creationId xmlns:a16="http://schemas.microsoft.com/office/drawing/2014/main" id="{D5BEE2C8-082C-27F7-023B-19E92135B6E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r="-1037"/>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88F0DCC-E58A-7208-FB5B-6928739D47A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1795F52-EE2D-E6C7-8281-9576874AE36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FIR Filter (3/5)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443A8D-2287-7AC0-9142-8EDFE740177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59BCCF7-C964-2974-81C5-CEE474A0A35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DA12F2C-2470-9C46-026F-6CF0051E08A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A230D2D-BDC9-874D-41BF-29C6DFBA02A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01C309-3228-2D59-0C8C-DEC2D8EE898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F882B15-7F68-4C3E-00F9-F63E6120F6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14246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E213F9D-ED65-42F1-0BD5-97757509D69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B3178A7-2357-3010-4DC1-18D858648DA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2400" dirty="0">
                <a:latin typeface="+mj-lt"/>
              </a:rPr>
              <a:t>But why use a FIR filter?</a:t>
            </a:r>
          </a:p>
          <a:p>
            <a:pPr marL="114300" indent="0">
              <a:buNone/>
            </a:pPr>
            <a:endParaRPr lang="en-US" sz="2400" dirty="0">
              <a:latin typeface="+mj-lt"/>
            </a:endParaRPr>
          </a:p>
          <a:p>
            <a:pPr marL="114300" indent="0">
              <a:buNone/>
            </a:pPr>
            <a:r>
              <a:rPr lang="en-US" sz="2400" dirty="0">
                <a:latin typeface="+mj-lt"/>
              </a:rPr>
              <a:t>You might wonder why we care so much about FIR filters specifically. </a:t>
            </a:r>
          </a:p>
          <a:p>
            <a:pPr marL="114300" indent="0">
              <a:buNone/>
            </a:pPr>
            <a:r>
              <a:rPr lang="en-US" sz="2400" dirty="0">
                <a:latin typeface="+mj-lt"/>
              </a:rPr>
              <a:t>The answer is </a:t>
            </a:r>
            <a:r>
              <a:rPr lang="en-US" sz="2400" b="1" dirty="0">
                <a:latin typeface="+mj-lt"/>
              </a:rPr>
              <a:t>Linear Phase</a:t>
            </a:r>
            <a:r>
              <a:rPr lang="en-US" sz="2400" dirty="0">
                <a:latin typeface="+mj-lt"/>
              </a:rPr>
              <a:t>.</a:t>
            </a:r>
          </a:p>
          <a:p>
            <a:pPr marL="114300" indent="0">
              <a:buNone/>
            </a:pPr>
            <a:endParaRPr lang="en-US" sz="2400" dirty="0">
              <a:latin typeface="+mj-lt"/>
            </a:endParaRPr>
          </a:p>
          <a:p>
            <a:pPr marL="114300" indent="0">
              <a:buNone/>
            </a:pPr>
            <a:r>
              <a:rPr lang="en-US" sz="2400" dirty="0">
                <a:latin typeface="+mj-lt"/>
              </a:rPr>
              <a:t>When a signal passes through a filter, different frequencies are often delayed by different amounts of time, which </a:t>
            </a:r>
            <a:r>
              <a:rPr lang="en-US" sz="2400" b="1" dirty="0">
                <a:latin typeface="+mj-lt"/>
              </a:rPr>
              <a:t>distorts</a:t>
            </a:r>
            <a:r>
              <a:rPr lang="en-US" sz="2400" dirty="0">
                <a:latin typeface="+mj-lt"/>
              </a:rPr>
              <a:t> the shape of the signal. </a:t>
            </a:r>
          </a:p>
          <a:p>
            <a:pPr marL="114300" indent="0">
              <a:buNone/>
            </a:pPr>
            <a:r>
              <a:rPr lang="en-US" sz="2400" dirty="0">
                <a:latin typeface="+mj-lt"/>
              </a:rPr>
              <a:t>FIR filters can be designed to have </a:t>
            </a:r>
            <a:r>
              <a:rPr lang="en-US" sz="2400" i="1" dirty="0">
                <a:latin typeface="+mj-lt"/>
              </a:rPr>
              <a:t>strict linear phase</a:t>
            </a:r>
            <a:r>
              <a:rPr lang="en-US" sz="2400" dirty="0">
                <a:latin typeface="+mj-lt"/>
              </a:rPr>
              <a:t>, meaning every frequency is delayed by the </a:t>
            </a:r>
            <a:r>
              <a:rPr lang="en-US" sz="2400" b="1" dirty="0">
                <a:latin typeface="+mj-lt"/>
              </a:rPr>
              <a:t>exact same </a:t>
            </a:r>
            <a:r>
              <a:rPr lang="en-US" sz="2400" dirty="0">
                <a:latin typeface="+mj-lt"/>
              </a:rPr>
              <a:t>amount of time. The signal shape is perfectly preserved.</a:t>
            </a:r>
          </a:p>
        </p:txBody>
      </p:sp>
      <p:sp>
        <p:nvSpPr>
          <p:cNvPr id="119" name="Google Shape;119;p29">
            <a:extLst>
              <a:ext uri="{FF2B5EF4-FFF2-40B4-BE49-F238E27FC236}">
                <a16:creationId xmlns:a16="http://schemas.microsoft.com/office/drawing/2014/main" id="{E31870D3-8731-A426-83DB-5DF02C419B1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925F102-1E0B-8990-A5D5-BCF28343B94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FIR Filter (4/5)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9CBEBB6-0B65-79F5-E819-E89B0D06CD3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B02072C-BCB1-B672-E76C-9848D142D8C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6718046-B0AC-C977-39A9-39CE600DE96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D1A854B-955F-C285-BB4E-5ED31B2CB13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DCCD424-35FA-1F37-CAAC-A27974F153B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C5C8B6C-578E-BEAF-FEFF-21A4E4F89CD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38202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278C123-F36F-9339-63C9-D606FAF2635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CF8F502-A874-4135-2D22-5E0F91545CA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2400" dirty="0">
                    <a:latin typeface="+mj-lt"/>
                  </a:rPr>
                  <a:t>Our 5-point moving average is great, but what if we want to precisely block high-frequency motor noise but keep our low-frequency physical movements? </a:t>
                </a:r>
              </a:p>
              <a:p>
                <a:pPr marL="114300" indent="0">
                  <a:buNone/>
                </a:pPr>
                <a:endParaRPr lang="en-US" sz="2400" dirty="0">
                  <a:latin typeface="+mj-lt"/>
                </a:endParaRPr>
              </a:p>
              <a:p>
                <a:pPr marL="114300" indent="0">
                  <a:buNone/>
                </a:pPr>
                <a:r>
                  <a:rPr lang="en-US" sz="2400" dirty="0">
                    <a:latin typeface="+mj-lt"/>
                  </a:rPr>
                  <a:t>We need better coefficients (</a:t>
                </a:r>
                <a14:m>
                  <m:oMath xmlns:m="http://schemas.openxmlformats.org/officeDocument/2006/math">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b</m:t>
                        </m:r>
                      </m:e>
                      <m:sub>
                        <m:r>
                          <m:rPr>
                            <m:sty m:val="p"/>
                          </m:rPr>
                          <a:rPr lang="en-US" sz="2400" i="1">
                            <a:latin typeface="Cambria Math" panose="02040503050406030204" pitchFamily="18" charset="0"/>
                          </a:rPr>
                          <m:t>k</m:t>
                        </m:r>
                      </m:sub>
                    </m:sSub>
                  </m:oMath>
                </a14:m>
                <a:r>
                  <a:rPr lang="en-US" sz="2400" dirty="0">
                    <a:latin typeface="+mj-lt"/>
                  </a:rPr>
                  <a:t>)!</a:t>
                </a:r>
              </a:p>
              <a:p>
                <a:pPr marL="114300" indent="0">
                  <a:buNone/>
                </a:pPr>
                <a:endParaRPr lang="en-US" sz="2400" dirty="0">
                  <a:latin typeface="+mj-lt"/>
                </a:endParaRPr>
              </a:p>
              <a:p>
                <a:pPr marL="114300" indent="0">
                  <a:buNone/>
                </a:pPr>
                <a:r>
                  <a:rPr lang="en-US" sz="2400" dirty="0">
                    <a:latin typeface="+mj-lt"/>
                  </a:rPr>
                  <a:t>We use FIR filters and thus the </a:t>
                </a:r>
                <a:r>
                  <a:rPr lang="en-US" sz="2400" b="1" dirty="0">
                    <a:latin typeface="+mj-lt"/>
                  </a:rPr>
                  <a:t>fir1</a:t>
                </a:r>
                <a:r>
                  <a:rPr lang="en-US" sz="2400" dirty="0">
                    <a:latin typeface="+mj-lt"/>
                  </a:rPr>
                  <a:t> function to design those in MATLAB. </a:t>
                </a:r>
              </a:p>
              <a:p>
                <a:pPr marL="114300" indent="0">
                  <a:buNone/>
                </a:pPr>
                <a:endParaRPr lang="en-US" sz="2400" dirty="0">
                  <a:latin typeface="+mj-lt"/>
                </a:endParaRPr>
              </a:p>
              <a:p>
                <a:pPr marL="114300" indent="0">
                  <a:buNone/>
                </a:pPr>
                <a:r>
                  <a:rPr lang="en-US" sz="2400" dirty="0">
                    <a:latin typeface="+mj-lt"/>
                  </a:rPr>
                  <a:t>The Signal Processing Toolbox scales frequencies on a 0-1 scale relative to the Nyquist frequency. The Nyquist frequency is the absolute highest frequency your system can mathematically perceive, which is exactly half of your sampling rate.</a:t>
                </a:r>
              </a:p>
            </p:txBody>
          </p:sp>
        </mc:Choice>
        <mc:Fallback xmlns="">
          <p:sp>
            <p:nvSpPr>
              <p:cNvPr id="118" name="Google Shape;118;p29">
                <a:extLst>
                  <a:ext uri="{FF2B5EF4-FFF2-40B4-BE49-F238E27FC236}">
                    <a16:creationId xmlns:a16="http://schemas.microsoft.com/office/drawing/2014/main" id="{8CF8F502-A874-4135-2D22-5E0F91545CA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r="-54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DC4D278-B64C-254E-AAFE-CD5087310DE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F9E21A8-CFBC-5612-AFE1-8A4588E4D2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FIR Filter (5/5)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8C91851-AF55-9A14-09ED-6F60C906A67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B346B8-AAF5-CDEE-609F-711DED40A3D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2D61F79-F69C-5712-E958-33801C811D0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C623EB-39FE-AEC6-50D3-161459EEEA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907EBA4-B621-31E1-83DC-FA5A92568A0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9041CDE-F6A3-9393-C420-C75972BD7A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43667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4632E89-6527-7408-7311-047E879CE34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F8038F3-43C1-8266-3C36-E03FE4A55CD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2400" dirty="0">
                    <a:latin typeface="+mj-lt"/>
                  </a:rPr>
                  <a:t>The Nyquist frequency is the </a:t>
                </a:r>
                <a:r>
                  <a:rPr lang="en-US" sz="2400" b="1" dirty="0">
                    <a:latin typeface="+mj-lt"/>
                  </a:rPr>
                  <a:t>MINIMUM</a:t>
                </a:r>
                <a:r>
                  <a:rPr lang="en-US" sz="2400" dirty="0">
                    <a:latin typeface="+mj-lt"/>
                  </a:rPr>
                  <a:t> frequency you should be sampling your signal at.</a:t>
                </a:r>
              </a:p>
              <a:p>
                <a:pPr marL="114300" indent="0">
                  <a:buNone/>
                </a:pPr>
                <a:endParaRPr lang="en-US" sz="2400" dirty="0">
                  <a:latin typeface="+mj-lt"/>
                </a:endParaRPr>
              </a:p>
              <a:p>
                <a:pPr marL="11430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f</m:t>
                          </m:r>
                        </m:e>
                        <m:sub>
                          <m:r>
                            <m:rPr>
                              <m:sty m:val="p"/>
                            </m:rPr>
                            <a:rPr lang="en-US" sz="2400" b="0" i="1" smtClean="0">
                              <a:latin typeface="Cambria Math" panose="02040503050406030204" pitchFamily="18" charset="0"/>
                            </a:rPr>
                            <m:t>nyquist</m:t>
                          </m:r>
                        </m:sub>
                      </m:sSub>
                      <m:r>
                        <a:rPr lang="en-US" sz="2400" b="0" i="1" smtClean="0">
                          <a:latin typeface="Cambria Math" panose="02040503050406030204" pitchFamily="18" charset="0"/>
                        </a:rPr>
                        <m:t>=2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m:t>
                          </m:r>
                          <m:r>
                            <m:rPr>
                              <m:sty m:val="p"/>
                            </m:rPr>
                            <a:rPr lang="en-US" sz="2400" b="0" i="1" smtClean="0">
                              <a:latin typeface="Cambria Math" panose="02040503050406030204" pitchFamily="18" charset="0"/>
                            </a:rPr>
                            <m:t>f</m:t>
                          </m:r>
                        </m:e>
                        <m:sub>
                          <m:r>
                            <m:rPr>
                              <m:sty m:val="p"/>
                            </m:rPr>
                            <a:rPr lang="en-US" sz="2400" b="0" i="1" smtClean="0">
                              <a:latin typeface="Cambria Math" panose="02040503050406030204" pitchFamily="18" charset="0"/>
                            </a:rPr>
                            <m:t>highest</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analog</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frequency</m:t>
                          </m:r>
                        </m:sub>
                      </m:sSub>
                    </m:oMath>
                  </m:oMathPara>
                </a14:m>
                <a:endParaRPr lang="en-US" sz="2400" dirty="0">
                  <a:latin typeface="+mj-lt"/>
                </a:endParaRPr>
              </a:p>
              <a:p>
                <a:pPr marL="114300" indent="0">
                  <a:buNone/>
                </a:pPr>
                <a:endParaRPr lang="en-US" sz="2400" dirty="0">
                  <a:latin typeface="+mj-lt"/>
                </a:endParaRPr>
              </a:p>
              <a:p>
                <a:pPr marL="114300" indent="0">
                  <a:buNone/>
                </a:pPr>
                <a:r>
                  <a:rPr lang="en-US" sz="2400" dirty="0">
                    <a:latin typeface="+mj-lt"/>
                  </a:rPr>
                  <a:t>Otherwise, you will get into problems of getting an aliased output.</a:t>
                </a:r>
              </a:p>
            </p:txBody>
          </p:sp>
        </mc:Choice>
        <mc:Fallback xmlns="">
          <p:sp>
            <p:nvSpPr>
              <p:cNvPr id="118" name="Google Shape;118;p29">
                <a:extLst>
                  <a:ext uri="{FF2B5EF4-FFF2-40B4-BE49-F238E27FC236}">
                    <a16:creationId xmlns:a16="http://schemas.microsoft.com/office/drawing/2014/main" id="{CF8038F3-43C1-8266-3C36-E03FE4A55CD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2C474D6-43B6-9CD0-6E0D-4A26CF21190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930C2C-13AA-562D-0391-9B4276D29C1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FIR Filter – Nyquist frequency (1/5)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F02F94E-1944-B9BF-46AD-87D97CF62EA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C91025F-9EED-6332-A111-E9343E8171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8FD6BF0-3271-A54E-06DA-1F446C33F2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DF57172-B6C4-1689-2CAB-714C42D1854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1C49D6D-7F17-44F9-183B-3D7530FFC7B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E46E614-6888-8D92-641A-EF0CF0D391D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15668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80C26F4-B3FF-11C2-54F4-AD22E1C17FC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AB08B5A-3D5F-982F-8F54-35EF3A2BBE3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C8FFA24-55A8-E915-26ED-46CD3EC3DDC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FIR Filter – Nyquist frequency (2/5)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6E2AE81-8E55-1683-9CA2-AD13BBC8BB3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6A0D1A1-A451-DA5F-3960-9C882235274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27A05A8-A37A-B746-9418-29A3FF42791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FDC0464-A930-E715-6488-938426535FC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EBFAFEC-EFFC-2360-BDD1-836725C6B53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627F574-9F39-DB2F-29D8-B820A980C22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1" name="Graphic 10" descr="Three stacked panels illustrating aliasing. Top: an original sine wave of about four cycles. Middle: the same wave sampled at 1 times f sub 0, once per cycle, so every sample lands at the same point (a rising zero crossing) and all samples have the same value. Bottom: the reconstructed signal is a flat horizontal line, showing that sampling at the signal's own frequency loses the oscillation entirely.">
            <a:extLst>
              <a:ext uri="{FF2B5EF4-FFF2-40B4-BE49-F238E27FC236}">
                <a16:creationId xmlns:a16="http://schemas.microsoft.com/office/drawing/2014/main" id="{7E6D07FB-281B-5369-B2CC-6745E735844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2399" y="1098670"/>
            <a:ext cx="11567201" cy="5483323"/>
          </a:xfrm>
          <a:prstGeom prst="rect">
            <a:avLst/>
          </a:prstGeom>
        </p:spPr>
      </p:pic>
    </p:spTree>
    <p:extLst>
      <p:ext uri="{BB962C8B-B14F-4D97-AF65-F5344CB8AC3E}">
        <p14:creationId xmlns:p14="http://schemas.microsoft.com/office/powerpoint/2010/main" val="33286351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25FD7FF-9018-ACE9-0A32-437D822D1D7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5BF3CB9-90A4-6471-4C02-3531D2A4CA1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369B28B-415A-F642-2ECA-03AA44A9E65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FIR Filter – Nyquist frequency (3/5)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3423507-4841-BE91-ABE3-5443F8767DB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EBC336D-0586-7353-BC91-B2109A3031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CEF85EC-73F3-DB12-3392-A621F826B7D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A4FC865-A7C3-2712-4D83-BFF9DD6960D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75E5789-9E9F-2A56-9FD3-FFCDBFD6ED2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E8E2082-014E-9274-DEC3-D8987F4AB9C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Three stacked traces illustrating aliasing. Top: original sine wave, about four cycles. Middle: the same sine sampled at 1.5 times f sub 0, below the Nyquist rate of 2 times f sub 0, giving only seven samples (red markers) joined by straight lines. Bottom: the reconstructed signal from those samples, a zigzag with only two cycles over the same span, so it appears at half the original frequency (0.5 times f sub 0), a false alias rather than the true signal.">
            <a:extLst>
              <a:ext uri="{FF2B5EF4-FFF2-40B4-BE49-F238E27FC236}">
                <a16:creationId xmlns:a16="http://schemas.microsoft.com/office/drawing/2014/main" id="{D2B56D98-8223-63CC-C4A6-83798BF36B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38" y="1095594"/>
            <a:ext cx="10948524" cy="5486400"/>
          </a:xfrm>
          <a:prstGeom prst="rect">
            <a:avLst/>
          </a:prstGeom>
        </p:spPr>
      </p:pic>
    </p:spTree>
    <p:extLst>
      <p:ext uri="{BB962C8B-B14F-4D97-AF65-F5344CB8AC3E}">
        <p14:creationId xmlns:p14="http://schemas.microsoft.com/office/powerpoint/2010/main" val="2354104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91C9AB5-B35D-BBFD-68DB-3F723ABDA8D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71F42A2-BA71-150F-9697-6554DE65907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96DB2EE-9962-EDA4-AEEB-DD0D0F55E10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FIR Filter – Nyquist frequency (4/5)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2D1105D-DD97-0809-3B7B-2D841DD3EF2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F307667-0225-DFBA-BADA-53816AE7243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FA64C7-7B2F-55CF-7987-CB1EC1D5FF5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A07537C-67D9-56DB-5C83-A9066507F7B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F046B63-EC6D-E032-0BF1-41E915C6FD3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6AFF448-ADB6-3699-4C70-31913189D4D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9" name="Graphic 8" descr="Three stacked plots illustrating sampling at the Nyquist rate. Top, &quot;Original Signal&quot;: a sine wave of frequency f sub 0 over about four cycles. Middle, &quot;Signal sampled at 2 times f sub 0&quot;: the same sine with two samples per cycle, one at each peak and one at each trough, joined by straight lines. Bottom, &quot;Reconstructed Signal&quot;: a triangle wave with the same frequency and amplitude, showing that the frequency is preserved but the smooth shape is only roughly approximated.">
            <a:extLst>
              <a:ext uri="{FF2B5EF4-FFF2-40B4-BE49-F238E27FC236}">
                <a16:creationId xmlns:a16="http://schemas.microsoft.com/office/drawing/2014/main" id="{97A5600B-470C-EF18-9074-FC62F93CAE5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231" y="1068326"/>
            <a:ext cx="10521538" cy="5486400"/>
          </a:xfrm>
          <a:prstGeom prst="rect">
            <a:avLst/>
          </a:prstGeom>
        </p:spPr>
      </p:pic>
    </p:spTree>
    <p:extLst>
      <p:ext uri="{BB962C8B-B14F-4D97-AF65-F5344CB8AC3E}">
        <p14:creationId xmlns:p14="http://schemas.microsoft.com/office/powerpoint/2010/main" val="1464236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8BEC171-2342-4816-7DE1-FBF43515D9B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DB784E0-5635-0ECE-5417-FC9DDBDB88B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93C6725-AFEB-6F5C-7235-2011E0045DA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FIR Filter – Nyquist frequency (5/5)</a:t>
            </a:r>
            <a:endParaRPr lang="en-US"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F7102D2-CD43-62FD-1CD6-23841FD2B51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5AF052C-F578-AE88-5EC1-996C055DA87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1332649-9FD4-A7E2-73A7-2B158E8D042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F986A7E-F74A-E551-64C1-7822828CFDC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17596A8-E076-94AD-FEB6-A0A952A408D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BFB6E3D-04B1-2F4E-6CFF-24E08B70CDF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Three stacked plots illustrating sampling well above the Nyquist rate. Top: original sinusoid of frequency f sub 0, about four cycles. Middle: the same sinusoid sampled at 8 times f sub 0, with eight sample points per cycle marked on the curve. Bottom: the reconstructed signal, formed by connecting the samples with straight lines, is slightly angular but closely matches the original's shape and frequency, showing that sampling far above twice f sub 0 preserves the signal.">
            <a:extLst>
              <a:ext uri="{FF2B5EF4-FFF2-40B4-BE49-F238E27FC236}">
                <a16:creationId xmlns:a16="http://schemas.microsoft.com/office/drawing/2014/main" id="{8C0CD861-BA5F-BE9F-4574-1903F0B82A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231" y="1068326"/>
            <a:ext cx="10521538" cy="5486400"/>
          </a:xfrm>
          <a:prstGeom prst="rect">
            <a:avLst/>
          </a:prstGeom>
        </p:spPr>
      </p:pic>
    </p:spTree>
    <p:extLst>
      <p:ext uri="{BB962C8B-B14F-4D97-AF65-F5344CB8AC3E}">
        <p14:creationId xmlns:p14="http://schemas.microsoft.com/office/powerpoint/2010/main" val="3186476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5CFD248-FBC5-93FE-B26E-29E00AFB0BD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736D65E-DC40-2E1E-B34B-E258CB03F90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400" dirty="0">
                    <a:latin typeface="Atkinson Hyperlegible Next"/>
                    <a:cs typeface="Arial"/>
                    <a:sym typeface="Arial"/>
                  </a:rPr>
                  <a:t>Let’s say your system is sampling at 1000 Hz; the cutoff frequency for the Nyquist limit is, </a:t>
                </a:r>
              </a:p>
              <a:p>
                <a:pPr marL="0" lvl="0" indent="0">
                  <a:lnSpc>
                    <a:spcPct val="100000"/>
                  </a:lnSpc>
                  <a:spcBef>
                    <a:spcPts val="0"/>
                  </a:spcBef>
                  <a:buSzPts val="2000"/>
                  <a:buNone/>
                </a:pPr>
                <a:endParaRPr lang="en-US" sz="2400" dirty="0">
                  <a:latin typeface="Atkinson Hyperlegible Next"/>
                  <a:cs typeface="Arial"/>
                  <a:sym typeface="Arial"/>
                </a:endParaRPr>
              </a:p>
              <a:p>
                <a:pPr marL="0" lvl="0" indent="0" algn="ctr">
                  <a:lnSpc>
                    <a:spcPct val="100000"/>
                  </a:lnSpc>
                  <a:spcBef>
                    <a:spcPts val="0"/>
                  </a:spcBef>
                  <a:buSzPts val="2000"/>
                  <a:buNone/>
                </a:pPr>
                <a:r>
                  <a:rPr lang="en-US" sz="2400" dirty="0">
                    <a:latin typeface="Atkinson Hyperlegible Next"/>
                    <a:cs typeface="Arial"/>
                    <a:sym typeface="Arial"/>
                  </a:rPr>
                  <a:t>500 Hz,</a:t>
                </a:r>
              </a:p>
              <a:p>
                <a:pPr marL="0" lvl="0" indent="0">
                  <a:lnSpc>
                    <a:spcPct val="100000"/>
                  </a:lnSpc>
                  <a:spcBef>
                    <a:spcPts val="0"/>
                  </a:spcBef>
                  <a:buSzPts val="2000"/>
                  <a:buNone/>
                </a:pPr>
                <a:endParaRPr lang="en-US" sz="2400" dirty="0">
                  <a:latin typeface="Atkinson Hyperlegible Next"/>
                  <a:cs typeface="Arial"/>
                  <a:sym typeface="Arial"/>
                </a:endParaRPr>
              </a:p>
              <a:p>
                <a:pPr marL="0" lvl="0" indent="0">
                  <a:lnSpc>
                    <a:spcPct val="100000"/>
                  </a:lnSpc>
                  <a:spcBef>
                    <a:spcPts val="0"/>
                  </a:spcBef>
                  <a:buSzPts val="2000"/>
                  <a:buNone/>
                </a:pPr>
                <a:r>
                  <a:rPr lang="en-US" sz="2400" dirty="0">
                    <a:latin typeface="Atkinson Hyperlegible Next"/>
                    <a:cs typeface="Arial"/>
                    <a:sym typeface="Arial"/>
                  </a:rPr>
                  <a:t>If we want to do an FIR frequency design and do a 21</a:t>
                </a:r>
                <a:r>
                  <a:rPr lang="en-US" sz="2400" baseline="30000" dirty="0">
                    <a:latin typeface="Atkinson Hyperlegible Next"/>
                    <a:cs typeface="Arial"/>
                    <a:sym typeface="Arial"/>
                  </a:rPr>
                  <a:t>st</a:t>
                </a:r>
                <a:r>
                  <a:rPr lang="en-US" sz="2400" dirty="0">
                    <a:latin typeface="Atkinson Hyperlegible Next"/>
                    <a:cs typeface="Arial"/>
                    <a:sym typeface="Arial"/>
                  </a:rPr>
                  <a:t> order filter with a low-pass cutoff of 100 Hz, we calculate the normalized frequency </a:t>
                </a:r>
                <a14:m>
                  <m:oMath xmlns:m="http://schemas.openxmlformats.org/officeDocument/2006/math">
                    <m:sSub>
                      <m:sSubPr>
                        <m:ctrlPr>
                          <a:rPr lang="en-US" sz="240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W</m:t>
                        </m:r>
                      </m:e>
                      <m:sub>
                        <m:r>
                          <m:rPr>
                            <m:sty m:val="p"/>
                          </m:rPr>
                          <a:rPr lang="en-US" sz="2400" b="0" i="1" smtClean="0">
                            <a:latin typeface="Cambria Math" panose="02040503050406030204" pitchFamily="18" charset="0"/>
                            <a:cs typeface="Arial"/>
                            <a:sym typeface="Arial"/>
                          </a:rPr>
                          <m:t>n</m:t>
                        </m:r>
                      </m:sub>
                    </m:sSub>
                  </m:oMath>
                </a14:m>
                <a:endParaRPr lang="en-US" sz="2400" dirty="0"/>
              </a:p>
              <a:p>
                <a:pPr marL="0" lvl="0" indent="0">
                  <a:lnSpc>
                    <a:spcPct val="100000"/>
                  </a:lnSpc>
                  <a:spcBef>
                    <a:spcPts val="0"/>
                  </a:spcBef>
                  <a:buSzPts val="2000"/>
                  <a:buNone/>
                </a:pPr>
                <a:endParaRPr lang="en-US" sz="2400" dirty="0"/>
              </a:p>
              <a:p>
                <a:pPr marL="0" lvl="0" indent="0">
                  <a:lnSpc>
                    <a:spcPct val="100000"/>
                  </a:lnSpc>
                  <a:spcBef>
                    <a:spcPts val="0"/>
                  </a:spcBef>
                  <a:buSzPts val="200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1" smtClean="0">
                              <a:latin typeface="Cambria Math" panose="02040503050406030204" pitchFamily="18" charset="0"/>
                            </a:rPr>
                            <m:t>W</m:t>
                          </m:r>
                        </m:e>
                        <m:sub>
                          <m:r>
                            <m:rPr>
                              <m:sty m:val="p"/>
                            </m:rPr>
                            <a:rPr lang="en-US" sz="2400" b="0" i="1" smtClean="0">
                              <a:latin typeface="Cambria Math" panose="02040503050406030204" pitchFamily="18" charset="0"/>
                            </a:rPr>
                            <m:t>n</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100 </m:t>
                          </m:r>
                          <m:r>
                            <m:rPr>
                              <m:sty m:val="p"/>
                            </m:rPr>
                            <a:rPr lang="en-US" sz="2400" b="0" i="1" smtClean="0">
                              <a:latin typeface="Cambria Math" panose="02040503050406030204" pitchFamily="18" charset="0"/>
                            </a:rPr>
                            <m:t>Hz</m:t>
                          </m:r>
                        </m:num>
                        <m:den>
                          <m:r>
                            <a:rPr lang="en-US" sz="2400" b="0" i="1" smtClean="0">
                              <a:latin typeface="Cambria Math" panose="02040503050406030204" pitchFamily="18" charset="0"/>
                            </a:rPr>
                            <m:t>500 </m:t>
                          </m:r>
                          <m:r>
                            <m:rPr>
                              <m:sty m:val="p"/>
                            </m:rPr>
                            <a:rPr lang="en-US" sz="2400" b="0" i="1" smtClean="0">
                              <a:latin typeface="Cambria Math" panose="02040503050406030204" pitchFamily="18" charset="0"/>
                            </a:rPr>
                            <m:t>Hz</m:t>
                          </m:r>
                        </m:den>
                      </m:f>
                      <m:r>
                        <a:rPr lang="en-US" sz="2400" b="0" i="1" smtClean="0">
                          <a:latin typeface="Cambria Math" panose="02040503050406030204" pitchFamily="18" charset="0"/>
                        </a:rPr>
                        <m:t> = 0.2</m:t>
                      </m:r>
                    </m:oMath>
                  </m:oMathPara>
                </a14:m>
                <a:endParaRPr lang="en-US" sz="2400" dirty="0"/>
              </a:p>
            </p:txBody>
          </p:sp>
        </mc:Choice>
        <mc:Fallback xmlns="">
          <p:sp>
            <p:nvSpPr>
              <p:cNvPr id="118" name="Google Shape;118;p29">
                <a:extLst>
                  <a:ext uri="{FF2B5EF4-FFF2-40B4-BE49-F238E27FC236}">
                    <a16:creationId xmlns:a16="http://schemas.microsoft.com/office/drawing/2014/main" id="{7736D65E-DC40-2E1E-B34B-E258CB03F90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AD54D58-ED15-DA2C-805A-54FA6BC6DB3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0DC509-AE1F-7964-22B6-DD4771779F1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(1/7)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24ECC65-F83F-7F80-E818-DBF2B2E4836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21A7D26-23FA-4E71-EFC4-E8E95E07089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5318956-8BAF-BC2C-166F-7B411461B5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2CF4299-0DDE-BECF-486B-4F6461EB95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0458893-9BEC-BF70-17BA-F714FF7F451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C28EBCD-5CB8-447B-C2C9-306FE51AB75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7385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1DD8805-B224-ECFF-D0FD-C2B5B6B01E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3422162-46D0-A2D2-378B-6D379450162A}"/>
                  </a:ext>
                </a:extLst>
              </p:cNvPr>
              <p:cNvSpPr txBox="1">
                <a:spLocks noGrp="1"/>
              </p:cNvSpPr>
              <p:nvPr>
                <p:ph type="body" idx="1"/>
              </p:nvPr>
            </p:nvSpPr>
            <p:spPr>
              <a:xfrm>
                <a:off x="376809" y="1334279"/>
                <a:ext cx="11177401" cy="102605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400" dirty="0">
                    <a:latin typeface="Atkinson Hyperlegible Next"/>
                    <a:cs typeface="Arial"/>
                    <a:sym typeface="Arial"/>
                  </a:rPr>
                  <a:t>In MATLAB, generating the 22 weights ( a 21</a:t>
                </a:r>
                <a:r>
                  <a:rPr lang="en-US" sz="2400" baseline="30000" dirty="0">
                    <a:latin typeface="Atkinson Hyperlegible Next"/>
                    <a:cs typeface="Arial"/>
                    <a:sym typeface="Arial"/>
                  </a:rPr>
                  <a:t>st</a:t>
                </a:r>
                <a:r>
                  <a:rPr lang="en-US" sz="2400" dirty="0">
                    <a:latin typeface="Atkinson Hyperlegible Next"/>
                    <a:cs typeface="Arial"/>
                    <a:sym typeface="Arial"/>
                  </a:rPr>
                  <a:t> has </a:t>
                </a:r>
                <a14:m>
                  <m:oMath xmlns:m="http://schemas.openxmlformats.org/officeDocument/2006/math">
                    <m:r>
                      <m:rPr>
                        <m:sty m:val="p"/>
                      </m:rPr>
                      <a:rPr lang="en-US" sz="2400" b="0" i="1" smtClean="0">
                        <a:latin typeface="Cambria Math" panose="02040503050406030204" pitchFamily="18" charset="0"/>
                        <a:cs typeface="Arial"/>
                        <a:sym typeface="Arial"/>
                      </a:rPr>
                      <m:t>M</m:t>
                    </m:r>
                    <m:r>
                      <a:rPr lang="en-US" sz="2400" b="0" i="1" smtClean="0">
                        <a:latin typeface="Cambria Math" panose="02040503050406030204" pitchFamily="18" charset="0"/>
                        <a:cs typeface="Arial"/>
                        <a:sym typeface="Arial"/>
                      </a:rPr>
                      <m:t> + 1</m:t>
                    </m:r>
                  </m:oMath>
                </a14:m>
                <a:r>
                  <a:rPr lang="en-US" sz="2400" dirty="0"/>
                  <a:t> coefficients) is incredibly simple!</a:t>
                </a:r>
              </a:p>
              <a:p>
                <a:pPr marL="0" lvl="0" indent="0">
                  <a:lnSpc>
                    <a:spcPct val="100000"/>
                  </a:lnSpc>
                  <a:spcBef>
                    <a:spcPts val="0"/>
                  </a:spcBef>
                  <a:buSzPts val="2000"/>
                  <a:buNone/>
                </a:pPr>
                <a:endParaRPr lang="en-US" sz="2400" dirty="0"/>
              </a:p>
              <a:p>
                <a:pPr marL="0" lvl="0" indent="0">
                  <a:lnSpc>
                    <a:spcPct val="100000"/>
                  </a:lnSpc>
                  <a:spcBef>
                    <a:spcPts val="0"/>
                  </a:spcBef>
                  <a:buSzPts val="2000"/>
                  <a:buNone/>
                </a:pPr>
                <a:endParaRPr lang="en-US" sz="2400" dirty="0"/>
              </a:p>
            </p:txBody>
          </p:sp>
        </mc:Choice>
        <mc:Fallback xmlns="">
          <p:sp>
            <p:nvSpPr>
              <p:cNvPr id="118" name="Google Shape;118;p29">
                <a:extLst>
                  <a:ext uri="{FF2B5EF4-FFF2-40B4-BE49-F238E27FC236}">
                    <a16:creationId xmlns:a16="http://schemas.microsoft.com/office/drawing/2014/main" id="{63422162-46D0-A2D2-378B-6D379450162A}"/>
                  </a:ext>
                </a:extLst>
              </p:cNvPr>
              <p:cNvSpPr txBox="1">
                <a:spLocks noGrp="1" noRot="1" noChangeAspect="1" noMove="1" noResize="1" noEditPoints="1" noAdjustHandles="1" noChangeArrowheads="1" noChangeShapeType="1" noTextEdit="1"/>
              </p:cNvSpPr>
              <p:nvPr>
                <p:ph type="body" idx="1"/>
              </p:nvPr>
            </p:nvSpPr>
            <p:spPr>
              <a:xfrm>
                <a:off x="376809" y="1334279"/>
                <a:ext cx="11177401" cy="1026052"/>
              </a:xfrm>
              <a:prstGeom prst="rect">
                <a:avLst/>
              </a:prstGeom>
              <a:blipFill>
                <a:blip r:embed="rId3"/>
                <a:stretch>
                  <a:fillRect l="-873" t="-5357" r="-1037"/>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62C944F-B390-72ED-9879-742E2E5C25A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3C245C-9B8F-3B10-0806-5179D40C53A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(2/7)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C4C5CA3-5F5F-E350-0048-5C21E5D5786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0642A52-3C04-34B2-C842-D88E903CB12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03801F0-7779-D52B-55C2-798979885C9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111DBE1-F699-A862-0C7E-536936C8016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E4A7949-7AE6-1C51-928B-FED4CEE3731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FBBA6D1-2264-9AF4-23F2-4D7FEE4CE85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18249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F742FC-EF77-DD07-18DB-495EE5FF772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0FD1C6C-BF01-1664-460E-01868E2ED4A7}"/>
              </a:ext>
            </a:extLst>
          </p:cNvPr>
          <p:cNvSpPr txBox="1">
            <a:spLocks noGrp="1"/>
          </p:cNvSpPr>
          <p:nvPr>
            <p:ph type="body" idx="1"/>
          </p:nvPr>
        </p:nvSpPr>
        <p:spPr>
          <a:xfrm>
            <a:off x="376809" y="1334279"/>
            <a:ext cx="2867289" cy="4987556"/>
          </a:xfrm>
          <a:prstGeom prst="rect">
            <a:avLst/>
          </a:prstGeom>
          <a:noFill/>
          <a:ln>
            <a:noFill/>
          </a:ln>
        </p:spPr>
        <p:txBody>
          <a:bodyPr spcFirstLastPara="1" wrap="square" lIns="91425" tIns="45700" rIns="91425" bIns="45700" anchor="ctr" anchorCtr="0">
            <a:noAutofit/>
          </a:bodyPr>
          <a:lstStyle/>
          <a:p>
            <a:pPr>
              <a:lnSpc>
                <a:spcPts val="1350"/>
              </a:lnSpc>
              <a:buNone/>
            </a:pPr>
            <a:r>
              <a:rPr lang="en-US" sz="1600" b="0" i="0" u="none" strike="noStrike" dirty="0">
                <a:solidFill>
                  <a:srgbClr val="008013"/>
                </a:solidFill>
                <a:effectLst/>
                <a:latin typeface="Menlo"/>
              </a:rPr>
              <a:t>% 21st Order Low-Pass Filter</a:t>
            </a:r>
            <a:endParaRPr lang="en-US" sz="1600" b="0" i="0" dirty="0">
              <a:solidFill>
                <a:srgbClr val="212121"/>
              </a:solidFill>
              <a:effectLst/>
              <a:latin typeface="Menlo"/>
            </a:endParaRPr>
          </a:p>
          <a:p>
            <a:pPr>
              <a:lnSpc>
                <a:spcPts val="1350"/>
              </a:lnSpc>
              <a:buNone/>
            </a:pPr>
            <a:r>
              <a:rPr lang="en-US" sz="1600" b="0" i="0" dirty="0">
                <a:solidFill>
                  <a:srgbClr val="212121"/>
                </a:solidFill>
                <a:effectLst/>
                <a:latin typeface="Menlo"/>
              </a:rPr>
              <a:t>Order = 21; </a:t>
            </a:r>
          </a:p>
          <a:p>
            <a:pPr>
              <a:lnSpc>
                <a:spcPts val="1350"/>
              </a:lnSpc>
              <a:buNone/>
            </a:pPr>
            <a:r>
              <a:rPr lang="en-US" sz="1600" b="0" i="0" dirty="0" err="1">
                <a:solidFill>
                  <a:srgbClr val="212121"/>
                </a:solidFill>
                <a:effectLst/>
                <a:latin typeface="Menlo"/>
              </a:rPr>
              <a:t>Wn</a:t>
            </a:r>
            <a:r>
              <a:rPr lang="en-US" sz="1600" b="0" i="0" dirty="0">
                <a:solidFill>
                  <a:srgbClr val="212121"/>
                </a:solidFill>
                <a:effectLst/>
                <a:latin typeface="Menlo"/>
              </a:rPr>
              <a:t> = 0.2; </a:t>
            </a:r>
          </a:p>
          <a:p>
            <a:pPr>
              <a:lnSpc>
                <a:spcPts val="1350"/>
              </a:lnSpc>
              <a:buNone/>
            </a:pPr>
            <a:r>
              <a:rPr lang="en-US" sz="1600" b="0" i="0" dirty="0">
                <a:solidFill>
                  <a:srgbClr val="212121"/>
                </a:solidFill>
                <a:effectLst/>
                <a:latin typeface="Menlo"/>
              </a:rPr>
              <a:t>b = fir1(Order, </a:t>
            </a:r>
            <a:r>
              <a:rPr lang="en-US" sz="1600" b="0" i="0" dirty="0" err="1">
                <a:solidFill>
                  <a:srgbClr val="212121"/>
                </a:solidFill>
                <a:effectLst/>
                <a:latin typeface="Menlo"/>
              </a:rPr>
              <a:t>Wn</a:t>
            </a:r>
            <a:r>
              <a:rPr lang="en-US" sz="1600" b="0" i="0" dirty="0">
                <a:solidFill>
                  <a:srgbClr val="212121"/>
                </a:solidFill>
                <a:effectLst/>
                <a:latin typeface="Menlo"/>
              </a:rPr>
              <a:t>, </a:t>
            </a:r>
            <a:r>
              <a:rPr lang="en-US" sz="1600" b="0" i="0" u="none" strike="noStrike" dirty="0">
                <a:solidFill>
                  <a:srgbClr val="A709F5"/>
                </a:solidFill>
                <a:effectLst/>
                <a:latin typeface="Menlo"/>
              </a:rPr>
              <a:t>'low'</a:t>
            </a:r>
            <a:r>
              <a:rPr lang="en-US" sz="1600" b="0" i="0" dirty="0">
                <a:solidFill>
                  <a:srgbClr val="212121"/>
                </a:solidFill>
                <a:effectLst/>
                <a:latin typeface="Menlo"/>
              </a:rPr>
              <a:t>);</a:t>
            </a:r>
          </a:p>
          <a:p>
            <a:pPr>
              <a:lnSpc>
                <a:spcPts val="1350"/>
              </a:lnSpc>
              <a:buNone/>
            </a:pPr>
            <a:r>
              <a:rPr lang="en-US" sz="1600" b="0" i="0" dirty="0" err="1">
                <a:solidFill>
                  <a:srgbClr val="212121"/>
                </a:solidFill>
                <a:effectLst/>
                <a:latin typeface="Menlo"/>
              </a:rPr>
              <a:t>freqz</a:t>
            </a:r>
            <a:r>
              <a:rPr lang="en-US" sz="1600" b="0" i="0" dirty="0">
                <a:solidFill>
                  <a:srgbClr val="212121"/>
                </a:solidFill>
                <a:effectLst/>
                <a:latin typeface="Menlo"/>
              </a:rPr>
              <a:t>(b,1,512)</a:t>
            </a:r>
          </a:p>
        </p:txBody>
      </p:sp>
      <p:sp>
        <p:nvSpPr>
          <p:cNvPr id="119" name="Google Shape;119;p29">
            <a:extLst>
              <a:ext uri="{FF2B5EF4-FFF2-40B4-BE49-F238E27FC236}">
                <a16:creationId xmlns:a16="http://schemas.microsoft.com/office/drawing/2014/main" id="{66ED9460-B9E4-18E2-F522-C8148A32F62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483C96F-D843-03A9-8435-54491FC1463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(3/7)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DC5538F-C651-20D7-6084-F4C7A3289A6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F3F755-0C66-1B57-7F32-00F097075A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16CC1F3-1B68-1A04-C20B-230C2B30B3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B26C5BD-4AD6-7655-E0CC-D6BA5F4706A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9174A47-B944-427F-5A25-73118753F76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36C39F0-1E31-46CD-3A0E-6ADA75274BD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freqz frequency response of the 21st-order FIR low-pass filter, with normalized frequency from 0 to 1 times pi radians per sample. Magnitude stays near 0 dB up to about 0.1, is about minus 6 dB at the 0.2 cutoff, and falls steeply to a null near 0.37. Stopband sidelobes stay near minus 55 to minus 60 dB. Phase decreases linearly from 0 to about minus 700 degrees, showing linear phase in the passband, then jumps about 180 degrees at each stopband null, forming a sawtooth.">
            <a:extLst>
              <a:ext uri="{FF2B5EF4-FFF2-40B4-BE49-F238E27FC236}">
                <a16:creationId xmlns:a16="http://schemas.microsoft.com/office/drawing/2014/main" id="{F3E860BC-900A-E531-DFB6-C2F79FAC75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44098" y="1002028"/>
            <a:ext cx="8787882" cy="5319807"/>
          </a:xfrm>
          <a:prstGeom prst="rect">
            <a:avLst/>
          </a:prstGeom>
        </p:spPr>
      </p:pic>
    </p:spTree>
    <p:extLst>
      <p:ext uri="{BB962C8B-B14F-4D97-AF65-F5344CB8AC3E}">
        <p14:creationId xmlns:p14="http://schemas.microsoft.com/office/powerpoint/2010/main" val="4026809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FDCBCFB-3D14-98AB-3409-76F4F18C03B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25AB836-5083-AE03-09AA-989610EC8B16}"/>
              </a:ext>
            </a:extLst>
          </p:cNvPr>
          <p:cNvSpPr txBox="1">
            <a:spLocks noGrp="1"/>
          </p:cNvSpPr>
          <p:nvPr>
            <p:ph type="body" idx="1"/>
          </p:nvPr>
        </p:nvSpPr>
        <p:spPr>
          <a:xfrm>
            <a:off x="376809" y="1334279"/>
            <a:ext cx="2867289" cy="4987556"/>
          </a:xfrm>
          <a:prstGeom prst="rect">
            <a:avLst/>
          </a:prstGeom>
          <a:noFill/>
          <a:ln>
            <a:noFill/>
          </a:ln>
        </p:spPr>
        <p:txBody>
          <a:bodyPr spcFirstLastPara="1" wrap="square" lIns="91425" tIns="45700" rIns="91425" bIns="45700" anchor="ctr" anchorCtr="0">
            <a:noAutofit/>
          </a:bodyPr>
          <a:lstStyle/>
          <a:p>
            <a:pPr>
              <a:lnSpc>
                <a:spcPts val="1350"/>
              </a:lnSpc>
              <a:buNone/>
            </a:pPr>
            <a:r>
              <a:rPr lang="en-US" sz="1600" b="0" i="0" u="none" strike="noStrike" dirty="0">
                <a:solidFill>
                  <a:srgbClr val="008013"/>
                </a:solidFill>
                <a:effectLst/>
                <a:latin typeface="Menlo"/>
              </a:rPr>
              <a:t>% 22st Order High-Pass Filter</a:t>
            </a:r>
            <a:endParaRPr lang="en-US" sz="1600" b="0" i="0" dirty="0">
              <a:solidFill>
                <a:srgbClr val="212121"/>
              </a:solidFill>
              <a:effectLst/>
              <a:latin typeface="Menlo"/>
            </a:endParaRPr>
          </a:p>
          <a:p>
            <a:pPr>
              <a:lnSpc>
                <a:spcPts val="1350"/>
              </a:lnSpc>
              <a:buNone/>
            </a:pPr>
            <a:r>
              <a:rPr lang="en-US" sz="1600" b="0" i="0" dirty="0">
                <a:solidFill>
                  <a:srgbClr val="212121"/>
                </a:solidFill>
                <a:effectLst/>
                <a:latin typeface="Menlo"/>
              </a:rPr>
              <a:t>Order = 22; </a:t>
            </a:r>
          </a:p>
          <a:p>
            <a:pPr>
              <a:lnSpc>
                <a:spcPts val="1350"/>
              </a:lnSpc>
              <a:buNone/>
            </a:pPr>
            <a:r>
              <a:rPr lang="en-US" sz="1600" b="0" i="0" dirty="0" err="1">
                <a:solidFill>
                  <a:srgbClr val="212121"/>
                </a:solidFill>
                <a:effectLst/>
                <a:latin typeface="Menlo"/>
              </a:rPr>
              <a:t>Wn</a:t>
            </a:r>
            <a:r>
              <a:rPr lang="en-US" sz="1600" b="0" i="0" dirty="0">
                <a:solidFill>
                  <a:srgbClr val="212121"/>
                </a:solidFill>
                <a:effectLst/>
                <a:latin typeface="Menlo"/>
              </a:rPr>
              <a:t> = 0.3; </a:t>
            </a:r>
          </a:p>
          <a:p>
            <a:pPr>
              <a:lnSpc>
                <a:spcPts val="1350"/>
              </a:lnSpc>
              <a:buNone/>
            </a:pPr>
            <a:r>
              <a:rPr lang="en-US" sz="1600" b="0" i="0" dirty="0">
                <a:solidFill>
                  <a:srgbClr val="212121"/>
                </a:solidFill>
                <a:effectLst/>
                <a:latin typeface="Menlo"/>
              </a:rPr>
              <a:t>b = fir1(Order, </a:t>
            </a:r>
            <a:r>
              <a:rPr lang="en-US" sz="1600" b="0" i="0" dirty="0" err="1">
                <a:solidFill>
                  <a:srgbClr val="212121"/>
                </a:solidFill>
                <a:effectLst/>
                <a:latin typeface="Menlo"/>
              </a:rPr>
              <a:t>Wn</a:t>
            </a:r>
            <a:r>
              <a:rPr lang="en-US" sz="1600" b="0" i="0" dirty="0">
                <a:solidFill>
                  <a:srgbClr val="212121"/>
                </a:solidFill>
                <a:effectLst/>
                <a:latin typeface="Menlo"/>
              </a:rPr>
              <a:t>, </a:t>
            </a:r>
            <a:r>
              <a:rPr lang="en-US" sz="1600" b="0" i="0" u="none" strike="noStrike" dirty="0">
                <a:solidFill>
                  <a:srgbClr val="A709F5"/>
                </a:solidFill>
                <a:effectLst/>
                <a:latin typeface="Menlo"/>
              </a:rPr>
              <a:t>'high'</a:t>
            </a:r>
            <a:r>
              <a:rPr lang="en-US" sz="1600" b="0" i="0" dirty="0">
                <a:solidFill>
                  <a:srgbClr val="212121"/>
                </a:solidFill>
                <a:effectLst/>
                <a:latin typeface="Menlo"/>
              </a:rPr>
              <a:t>);</a:t>
            </a:r>
          </a:p>
          <a:p>
            <a:pPr>
              <a:lnSpc>
                <a:spcPts val="1350"/>
              </a:lnSpc>
              <a:buNone/>
            </a:pPr>
            <a:r>
              <a:rPr lang="en-US" sz="1600" b="0" i="0" dirty="0" err="1">
                <a:solidFill>
                  <a:srgbClr val="212121"/>
                </a:solidFill>
                <a:effectLst/>
                <a:latin typeface="Menlo"/>
              </a:rPr>
              <a:t>freqz</a:t>
            </a:r>
            <a:r>
              <a:rPr lang="en-US" sz="1600" b="0" i="0" dirty="0">
                <a:solidFill>
                  <a:srgbClr val="212121"/>
                </a:solidFill>
                <a:effectLst/>
                <a:latin typeface="Menlo"/>
              </a:rPr>
              <a:t>(b,1,512)</a:t>
            </a:r>
          </a:p>
        </p:txBody>
      </p:sp>
      <p:sp>
        <p:nvSpPr>
          <p:cNvPr id="119" name="Google Shape;119;p29">
            <a:extLst>
              <a:ext uri="{FF2B5EF4-FFF2-40B4-BE49-F238E27FC236}">
                <a16:creationId xmlns:a16="http://schemas.microsoft.com/office/drawing/2014/main" id="{54F4E946-5533-25F7-AF4C-25A1A2AFFB1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E238DB5-95BA-7022-AC04-D7599E08358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(4/7)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D3656BE-ADFE-771D-4AD3-D6FE868D81F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2BE1FEE-C4FF-445D-C225-8FD7D8877E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74BB098-87C6-723D-A38E-FEDE319E367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1796350-BF75-B2E7-5948-E0868A819EB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8088515-F452-49F9-30C4-2505CF27EF5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1DC459D-657B-7418-D69F-CB1939C1D4C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freqz magnitude and phase response of the 22nd-order high-pass FIR filter versus normalized frequency, 0 to 1 times pi radians per sample. Magnitude: a stopband below about 0.15 sits near minus 50 to minus 60 dB, with nulls near 0.05 and 0.145. The response rises steeply through about minus 6 dB at the 0.3 cutoff and is flat at 0 dB from about 0.4 to 1. Phase: a straight line falling from 0 to about minus 1600 degrees, showing linear phase, with small upward jumps only at the stopband nulls.">
            <a:extLst>
              <a:ext uri="{FF2B5EF4-FFF2-40B4-BE49-F238E27FC236}">
                <a16:creationId xmlns:a16="http://schemas.microsoft.com/office/drawing/2014/main" id="{CF1F19BB-E830-CCE8-E20C-E1E4D21FB1E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44098" y="1002028"/>
            <a:ext cx="8787881" cy="5319807"/>
          </a:xfrm>
          <a:prstGeom prst="rect">
            <a:avLst/>
          </a:prstGeom>
        </p:spPr>
      </p:pic>
    </p:spTree>
    <p:extLst>
      <p:ext uri="{BB962C8B-B14F-4D97-AF65-F5344CB8AC3E}">
        <p14:creationId xmlns:p14="http://schemas.microsoft.com/office/powerpoint/2010/main" val="366579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3F96260-B057-BA64-8C2A-384CD33E739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2800E13-66DC-684F-2E80-E9F448E086C9}"/>
              </a:ext>
            </a:extLst>
          </p:cNvPr>
          <p:cNvSpPr txBox="1">
            <a:spLocks noGrp="1"/>
          </p:cNvSpPr>
          <p:nvPr>
            <p:ph type="body" idx="1"/>
          </p:nvPr>
        </p:nvSpPr>
        <p:spPr>
          <a:xfrm>
            <a:off x="376809" y="1334279"/>
            <a:ext cx="3023852" cy="4987556"/>
          </a:xfrm>
          <a:prstGeom prst="rect">
            <a:avLst/>
          </a:prstGeom>
          <a:noFill/>
          <a:ln>
            <a:noFill/>
          </a:ln>
        </p:spPr>
        <p:txBody>
          <a:bodyPr spcFirstLastPara="1" wrap="square" lIns="91425" tIns="45700" rIns="91425" bIns="45700" anchor="ctr" anchorCtr="0">
            <a:noAutofit/>
          </a:bodyPr>
          <a:lstStyle/>
          <a:p>
            <a:pPr>
              <a:lnSpc>
                <a:spcPts val="1350"/>
              </a:lnSpc>
              <a:buNone/>
            </a:pPr>
            <a:r>
              <a:rPr lang="en-US" sz="1600" b="0" i="0" u="none" strike="noStrike" dirty="0">
                <a:solidFill>
                  <a:srgbClr val="008013"/>
                </a:solidFill>
                <a:effectLst/>
                <a:latin typeface="Menlo"/>
              </a:rPr>
              <a:t>% 21st Order band-Pass Filter</a:t>
            </a:r>
            <a:endParaRPr lang="en-US" sz="1600" b="0" i="0" dirty="0">
              <a:solidFill>
                <a:srgbClr val="212121"/>
              </a:solidFill>
              <a:effectLst/>
              <a:latin typeface="Menlo"/>
            </a:endParaRPr>
          </a:p>
          <a:p>
            <a:pPr>
              <a:lnSpc>
                <a:spcPts val="1350"/>
              </a:lnSpc>
              <a:buNone/>
            </a:pPr>
            <a:r>
              <a:rPr lang="en-US" sz="1600" b="0" i="0" dirty="0">
                <a:solidFill>
                  <a:srgbClr val="212121"/>
                </a:solidFill>
                <a:effectLst/>
                <a:latin typeface="Menlo"/>
              </a:rPr>
              <a:t>Order = 21; </a:t>
            </a:r>
          </a:p>
          <a:p>
            <a:pPr>
              <a:lnSpc>
                <a:spcPts val="1350"/>
              </a:lnSpc>
              <a:buNone/>
            </a:pPr>
            <a:r>
              <a:rPr lang="en-US" sz="1600" b="0" i="0" dirty="0" err="1">
                <a:solidFill>
                  <a:srgbClr val="212121"/>
                </a:solidFill>
                <a:effectLst/>
                <a:latin typeface="Menlo"/>
              </a:rPr>
              <a:t>Wn</a:t>
            </a:r>
            <a:r>
              <a:rPr lang="en-US" sz="1600" b="0" i="0" dirty="0">
                <a:solidFill>
                  <a:srgbClr val="212121"/>
                </a:solidFill>
                <a:effectLst/>
                <a:latin typeface="Menlo"/>
              </a:rPr>
              <a:t> = [0.35 0.65]; </a:t>
            </a:r>
          </a:p>
          <a:p>
            <a:pPr>
              <a:lnSpc>
                <a:spcPts val="1350"/>
              </a:lnSpc>
              <a:buNone/>
            </a:pPr>
            <a:r>
              <a:rPr lang="en-US" sz="1600" b="0" i="0" dirty="0">
                <a:solidFill>
                  <a:srgbClr val="212121"/>
                </a:solidFill>
                <a:effectLst/>
                <a:latin typeface="Menlo"/>
              </a:rPr>
              <a:t>b = fir1(Order, </a:t>
            </a:r>
            <a:r>
              <a:rPr lang="en-US" sz="1600" b="0" i="0" dirty="0" err="1">
                <a:solidFill>
                  <a:srgbClr val="212121"/>
                </a:solidFill>
                <a:effectLst/>
                <a:latin typeface="Menlo"/>
              </a:rPr>
              <a:t>Wn</a:t>
            </a:r>
            <a:r>
              <a:rPr lang="en-US" sz="1600" dirty="0">
                <a:solidFill>
                  <a:srgbClr val="212121"/>
                </a:solidFill>
                <a:latin typeface="Menlo"/>
              </a:rPr>
              <a:t> , </a:t>
            </a:r>
            <a:r>
              <a:rPr lang="en-US" sz="1600" dirty="0">
                <a:solidFill>
                  <a:srgbClr val="A709F5"/>
                </a:solidFill>
                <a:latin typeface="Menlo"/>
              </a:rPr>
              <a:t>‘bandpass'</a:t>
            </a:r>
            <a:r>
              <a:rPr lang="en-US" sz="1600" dirty="0">
                <a:solidFill>
                  <a:srgbClr val="212121"/>
                </a:solidFill>
                <a:latin typeface="Menlo"/>
              </a:rPr>
              <a:t>);</a:t>
            </a:r>
            <a:endParaRPr lang="en-US" sz="1600" b="0" i="0" dirty="0">
              <a:solidFill>
                <a:srgbClr val="212121"/>
              </a:solidFill>
              <a:effectLst/>
              <a:latin typeface="Menlo"/>
            </a:endParaRPr>
          </a:p>
          <a:p>
            <a:pPr>
              <a:lnSpc>
                <a:spcPts val="1350"/>
              </a:lnSpc>
              <a:buNone/>
            </a:pPr>
            <a:r>
              <a:rPr lang="en-US" sz="1600" b="0" i="0" dirty="0" err="1">
                <a:solidFill>
                  <a:srgbClr val="212121"/>
                </a:solidFill>
                <a:effectLst/>
                <a:latin typeface="Menlo"/>
              </a:rPr>
              <a:t>freqz</a:t>
            </a:r>
            <a:r>
              <a:rPr lang="en-US" sz="1600" b="0" i="0" dirty="0">
                <a:solidFill>
                  <a:srgbClr val="212121"/>
                </a:solidFill>
                <a:effectLst/>
                <a:latin typeface="Menlo"/>
              </a:rPr>
              <a:t>(b,1,512)</a:t>
            </a:r>
          </a:p>
        </p:txBody>
      </p:sp>
      <p:sp>
        <p:nvSpPr>
          <p:cNvPr id="119" name="Google Shape;119;p29">
            <a:extLst>
              <a:ext uri="{FF2B5EF4-FFF2-40B4-BE49-F238E27FC236}">
                <a16:creationId xmlns:a16="http://schemas.microsoft.com/office/drawing/2014/main" id="{96D8FAF5-E601-7DD0-C335-42746231A49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3073EFA-9386-6DFC-9A97-8F27B21F472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(5/7)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97D7071-A0A9-DF1D-37A7-5EDDFAE656F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0770E1C-B8B5-F0CC-948F-B5411B650FA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BC0DF78-9D87-5AD8-0B6E-D107CB2FD5E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66899E4-6741-363E-06A5-7E3EC2A9477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A2C9EFC-C3A1-44B9-9912-029E5343C75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F8E98EB-4514-5A86-B870-EB30EC0380A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freqz output for the 21st-order band-pass FIR filter. Magnitude in dB versus normalized frequency, 0 to 1 times pi: a rounded passband peaking at 0 dB at 0.5, falling to about minus 40 dB by 0.2 and 0.8, with stopband sidelobes near minus 45 to minus 60 dB. Phase falls linearly from 0 to about minus 1150 degrees, with small upward jumps at the magnitude nulls near 0.05, 0.16, 0.82 and 0.91, confirming linear phase.">
            <a:extLst>
              <a:ext uri="{FF2B5EF4-FFF2-40B4-BE49-F238E27FC236}">
                <a16:creationId xmlns:a16="http://schemas.microsoft.com/office/drawing/2014/main" id="{6C01899C-96C7-0F8F-9DA0-082A41A7EB6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44098" y="1002028"/>
            <a:ext cx="8787881" cy="5319807"/>
          </a:xfrm>
          <a:prstGeom prst="rect">
            <a:avLst/>
          </a:prstGeom>
        </p:spPr>
      </p:pic>
    </p:spTree>
    <p:extLst>
      <p:ext uri="{BB962C8B-B14F-4D97-AF65-F5344CB8AC3E}">
        <p14:creationId xmlns:p14="http://schemas.microsoft.com/office/powerpoint/2010/main" val="6272518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D28A45F-8D49-8B94-A97F-B2DB703A297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0187DD5-EFF1-4075-621E-E781E6E6E2D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FBBAADD-D5C8-A6DC-E4FE-9F89FAF6775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(6/7)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43480B8-D63E-9CE3-0F0A-91D3F32D317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857C750-626F-21E5-CC8F-2E880DB13E9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815F25F-636E-A9F1-E225-818E9C6E955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6867C7-1F57-77C9-9CFA-9FB455B3C9B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E7D2218-9AB8-54B5-0ABC-FFBE1C3790D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7456D2-165F-B413-32FC-19DD4AB1AD4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 name="Graphic 7" descr="Plots: an FIR filter demo in four rows, with the time-domain signal (amplitude versus time, 0 to 150 s) on the left and the spectrum (normalized frequency, 0 to 1 times pi rad per sample) on the right. The input mixes tones at 0.1, 0.25, 0.5 and 0.8 pi. The low-pass filter (passband 0 to 0.2) keeps 0.1 and gives a smooth wave. The high-pass filter (0.3 to 1) keeps 0.5 and 0.8. The band-pass filter (0.35 to 0.65) keeps only 0.5, a steady sinusoid. Each output starts with a brief transient.">
            <a:extLst>
              <a:ext uri="{FF2B5EF4-FFF2-40B4-BE49-F238E27FC236}">
                <a16:creationId xmlns:a16="http://schemas.microsoft.com/office/drawing/2014/main" id="{735C8AA8-01BD-5878-5893-1F532B467A5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42948" y="935620"/>
            <a:ext cx="6706104" cy="5588420"/>
          </a:xfrm>
          <a:prstGeom prst="rect">
            <a:avLst/>
          </a:prstGeom>
        </p:spPr>
      </p:pic>
      <p:grpSp>
        <p:nvGrpSpPr>
          <p:cNvPr id="11" name="Group 10">
            <a:extLst>
              <a:ext uri="{FF2B5EF4-FFF2-40B4-BE49-F238E27FC236}">
                <a16:creationId xmlns:a16="http://schemas.microsoft.com/office/drawing/2014/main" id="{1C3ACFBF-C254-A84C-AF4E-F04B2A0C8855}"/>
              </a:ext>
            </a:extLst>
          </p:cNvPr>
          <p:cNvGrpSpPr/>
          <p:nvPr/>
        </p:nvGrpSpPr>
        <p:grpSpPr>
          <a:xfrm>
            <a:off x="4495799" y="2371725"/>
            <a:ext cx="3924302" cy="114300"/>
            <a:chOff x="4495799" y="2371725"/>
            <a:chExt cx="3924302" cy="114300"/>
          </a:xfrm>
        </p:grpSpPr>
        <p:sp>
          <p:nvSpPr>
            <p:cNvPr id="9" name="Rectangle 8">
              <a:extLst>
                <a:ext uri="{FF2B5EF4-FFF2-40B4-BE49-F238E27FC236}">
                  <a16:creationId xmlns:a16="http://schemas.microsoft.com/office/drawing/2014/main" id="{8F3466B4-0F4E-E877-E198-4301DA234A5C}"/>
                </a:ext>
              </a:extLst>
            </p:cNvPr>
            <p:cNvSpPr/>
            <p:nvPr/>
          </p:nvSpPr>
          <p:spPr>
            <a:xfrm>
              <a:off x="4495799" y="2371725"/>
              <a:ext cx="609600" cy="1143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CECEC8F-3D91-87FD-4F8A-C6AF8FAB3291}"/>
                </a:ext>
              </a:extLst>
            </p:cNvPr>
            <p:cNvSpPr/>
            <p:nvPr/>
          </p:nvSpPr>
          <p:spPr>
            <a:xfrm>
              <a:off x="7734301" y="2371725"/>
              <a:ext cx="685800" cy="1143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E438F526-C15B-EB77-4E2E-98A4721D7166}"/>
              </a:ext>
            </a:extLst>
          </p:cNvPr>
          <p:cNvGrpSpPr/>
          <p:nvPr/>
        </p:nvGrpSpPr>
        <p:grpSpPr>
          <a:xfrm>
            <a:off x="4495799" y="3729830"/>
            <a:ext cx="3924302" cy="114300"/>
            <a:chOff x="4495799" y="2371725"/>
            <a:chExt cx="3924302" cy="114300"/>
          </a:xfrm>
        </p:grpSpPr>
        <p:sp>
          <p:nvSpPr>
            <p:cNvPr id="13" name="Rectangle 12">
              <a:extLst>
                <a:ext uri="{FF2B5EF4-FFF2-40B4-BE49-F238E27FC236}">
                  <a16:creationId xmlns:a16="http://schemas.microsoft.com/office/drawing/2014/main" id="{249C39C8-CCE1-3749-CBD3-373EC6FA6BD0}"/>
                </a:ext>
              </a:extLst>
            </p:cNvPr>
            <p:cNvSpPr/>
            <p:nvPr/>
          </p:nvSpPr>
          <p:spPr>
            <a:xfrm>
              <a:off x="4495799" y="2371725"/>
              <a:ext cx="609600" cy="1143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A9641A2-B49C-4FBC-6586-D89F98E8DE44}"/>
                </a:ext>
              </a:extLst>
            </p:cNvPr>
            <p:cNvSpPr/>
            <p:nvPr/>
          </p:nvSpPr>
          <p:spPr>
            <a:xfrm>
              <a:off x="7700963" y="2371725"/>
              <a:ext cx="719138" cy="1143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9BE00FE9-02B9-32E9-275B-CA45FD152F4A}"/>
              </a:ext>
            </a:extLst>
          </p:cNvPr>
          <p:cNvGrpSpPr/>
          <p:nvPr/>
        </p:nvGrpSpPr>
        <p:grpSpPr>
          <a:xfrm>
            <a:off x="4500562" y="5102222"/>
            <a:ext cx="3924302" cy="114300"/>
            <a:chOff x="4495799" y="2371725"/>
            <a:chExt cx="3924302" cy="114300"/>
          </a:xfrm>
        </p:grpSpPr>
        <p:sp>
          <p:nvSpPr>
            <p:cNvPr id="16" name="Rectangle 15">
              <a:extLst>
                <a:ext uri="{FF2B5EF4-FFF2-40B4-BE49-F238E27FC236}">
                  <a16:creationId xmlns:a16="http://schemas.microsoft.com/office/drawing/2014/main" id="{75A77658-3BE3-5AFA-8A56-846DCE3118FD}"/>
                </a:ext>
              </a:extLst>
            </p:cNvPr>
            <p:cNvSpPr/>
            <p:nvPr/>
          </p:nvSpPr>
          <p:spPr>
            <a:xfrm>
              <a:off x="4495799" y="2371725"/>
              <a:ext cx="609600" cy="1143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7020C2A-CC6A-84B5-CCB0-3756D8424A00}"/>
                </a:ext>
              </a:extLst>
            </p:cNvPr>
            <p:cNvSpPr/>
            <p:nvPr/>
          </p:nvSpPr>
          <p:spPr>
            <a:xfrm>
              <a:off x="7700963" y="2371725"/>
              <a:ext cx="719138" cy="1143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9189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4F44BA-C30F-7EDD-5DA4-F19B63E2569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DFD6567-E66D-E43C-201F-4B7CBE263BB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400" dirty="0">
                    <a:latin typeface="Atkinson Hyperlegible Next"/>
                    <a:cs typeface="Arial"/>
                    <a:sym typeface="Arial"/>
                  </a:rPr>
                  <a:t>Now that we used MATLAB to generate the coefficients, we need to implement the actual filter in the code.</a:t>
                </a:r>
              </a:p>
              <a:p>
                <a:pPr marL="0" lvl="0" indent="0">
                  <a:lnSpc>
                    <a:spcPct val="100000"/>
                  </a:lnSpc>
                  <a:spcBef>
                    <a:spcPts val="0"/>
                  </a:spcBef>
                  <a:buSzPts val="2000"/>
                  <a:buNone/>
                </a:pPr>
                <a:endParaRPr lang="en-US" sz="2400" dirty="0">
                  <a:latin typeface="Atkinson Hyperlegible Next"/>
                  <a:cs typeface="Arial"/>
                  <a:sym typeface="Arial"/>
                </a:endParaRPr>
              </a:p>
              <a:p>
                <a:pPr marL="0" lvl="0" indent="0">
                  <a:lnSpc>
                    <a:spcPct val="100000"/>
                  </a:lnSpc>
                  <a:spcBef>
                    <a:spcPts val="0"/>
                  </a:spcBef>
                  <a:buSzPts val="2000"/>
                  <a:buNone/>
                </a:pPr>
                <a:r>
                  <a:rPr lang="en-US" sz="2400" dirty="0">
                    <a:latin typeface="Atkinson Hyperlegible Next"/>
                    <a:cs typeface="Arial"/>
                    <a:sym typeface="Arial"/>
                  </a:rPr>
                  <a:t>We do not need to save all the history when the robot is running only the running </a:t>
                </a:r>
                <a14:m>
                  <m:oMath xmlns:m="http://schemas.openxmlformats.org/officeDocument/2006/math">
                    <m:r>
                      <m:rPr>
                        <m:sty m:val="p"/>
                      </m:rPr>
                      <a:rPr lang="en-US" sz="2400" b="0" i="1" dirty="0" smtClean="0">
                        <a:latin typeface="Cambria Math" panose="02040503050406030204" pitchFamily="18" charset="0"/>
                        <a:cs typeface="Arial"/>
                        <a:sym typeface="Arial"/>
                      </a:rPr>
                      <m:t>M</m:t>
                    </m:r>
                    <m:r>
                      <a:rPr lang="en-US" sz="2400" b="0" i="1" dirty="0" smtClean="0">
                        <a:latin typeface="Cambria Math" panose="02040503050406030204" pitchFamily="18" charset="0"/>
                        <a:cs typeface="Arial"/>
                        <a:sym typeface="Arial"/>
                      </a:rPr>
                      <m:t> </m:t>
                    </m:r>
                  </m:oMath>
                </a14:m>
                <a:r>
                  <a:rPr lang="en-US" sz="2400" dirty="0"/>
                  <a:t> last states!</a:t>
                </a:r>
              </a:p>
              <a:p>
                <a:pPr marL="0" lvl="0" indent="0">
                  <a:lnSpc>
                    <a:spcPct val="100000"/>
                  </a:lnSpc>
                  <a:spcBef>
                    <a:spcPts val="0"/>
                  </a:spcBef>
                  <a:buSzPts val="2000"/>
                  <a:buNone/>
                </a:pPr>
                <a:endParaRPr lang="en-US" sz="2400" dirty="0"/>
              </a:p>
              <a:p>
                <a:pPr marL="0" lvl="0" indent="0">
                  <a:lnSpc>
                    <a:spcPct val="100000"/>
                  </a:lnSpc>
                  <a:spcBef>
                    <a:spcPts val="0"/>
                  </a:spcBef>
                  <a:buSzPts val="2000"/>
                  <a:buNone/>
                </a:pPr>
                <a:r>
                  <a:rPr lang="en-US" sz="2400" dirty="0"/>
                  <a:t>For a </a:t>
                </a:r>
                <a14:m>
                  <m:oMath xmlns:m="http://schemas.openxmlformats.org/officeDocument/2006/math">
                    <m:r>
                      <m:rPr>
                        <m:sty m:val="p"/>
                      </m:rPr>
                      <a:rPr lang="en-US" sz="2400" i="1" dirty="0">
                        <a:latin typeface="Cambria Math" panose="02040503050406030204" pitchFamily="18" charset="0"/>
                        <a:cs typeface="Arial"/>
                        <a:sym typeface="Arial"/>
                      </a:rPr>
                      <m:t>M</m:t>
                    </m:r>
                  </m:oMath>
                </a14:m>
                <a:r>
                  <a:rPr lang="en-US" sz="2400" dirty="0"/>
                  <a:t>-order filter, we only ever need the </a:t>
                </a:r>
                <a:r>
                  <a:rPr lang="en-US" sz="2400" i="1" dirty="0"/>
                  <a:t>current </a:t>
                </a:r>
                <a:r>
                  <a:rPr lang="en-US" sz="2400" dirty="0"/>
                  <a:t>reading and the </a:t>
                </a:r>
                <a14:m>
                  <m:oMath xmlns:m="http://schemas.openxmlformats.org/officeDocument/2006/math">
                    <m:r>
                      <m:rPr>
                        <m:sty m:val="p"/>
                      </m:rPr>
                      <a:rPr lang="en-US" sz="2400" i="1" dirty="0">
                        <a:latin typeface="Cambria Math" panose="02040503050406030204" pitchFamily="18" charset="0"/>
                        <a:cs typeface="Arial"/>
                        <a:sym typeface="Arial"/>
                      </a:rPr>
                      <m:t>M</m:t>
                    </m:r>
                  </m:oMath>
                </a14:m>
                <a:r>
                  <a:rPr lang="en-US" sz="2400" i="1" dirty="0"/>
                  <a:t> previous readings</a:t>
                </a:r>
                <a:r>
                  <a:rPr lang="en-US" sz="2400" dirty="0"/>
                  <a:t>!</a:t>
                </a:r>
                <a:endParaRPr lang="en-US" sz="2400" i="1" dirty="0"/>
              </a:p>
              <a:p>
                <a:pPr marL="0" lvl="0" indent="0">
                  <a:lnSpc>
                    <a:spcPct val="100000"/>
                  </a:lnSpc>
                  <a:spcBef>
                    <a:spcPts val="0"/>
                  </a:spcBef>
                  <a:buSzPts val="2000"/>
                  <a:buNone/>
                </a:pPr>
                <a:endParaRPr lang="en-US" sz="2400" i="1" dirty="0"/>
              </a:p>
            </p:txBody>
          </p:sp>
        </mc:Choice>
        <mc:Fallback xmlns="">
          <p:sp>
            <p:nvSpPr>
              <p:cNvPr id="118" name="Google Shape;118;p29">
                <a:extLst>
                  <a:ext uri="{FF2B5EF4-FFF2-40B4-BE49-F238E27FC236}">
                    <a16:creationId xmlns:a16="http://schemas.microsoft.com/office/drawing/2014/main" id="{4DFD6567-E66D-E43C-201F-4B7CBE263BB2}"/>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43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0C0A666-C89D-AFF3-539D-FC0DC3EA671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79285A9-095C-D65C-7D07-D5D2E8A185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FIR Code (7/7)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993D9B6-58AC-809D-5DC4-E440D19F77A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9485DE-66D1-8111-773F-DD861DD58B3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0F06014-4857-06CC-E03E-F3D2B0D4BD3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6A0F921-70DC-ADF5-B15B-DDE263F1138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CEDC28D-0B00-22E5-DE07-B5BE4589933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8875F7A-FD00-FFF1-2EAD-18CF1845073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36197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Lectures 8–9</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2171</TotalTime>
  <Words>4255</Words>
  <Application>Microsoft Office PowerPoint</Application>
  <PresentationFormat>Widescreen</PresentationFormat>
  <Paragraphs>502</Paragraphs>
  <Slides>46</Slides>
  <Notes>46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Cambria Math</vt:lpstr>
      <vt:lpstr>Consolas</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149</cp:revision>
  <dcterms:created xsi:type="dcterms:W3CDTF">2019-01-14T22:06:33Z</dcterms:created>
  <dcterms:modified xsi:type="dcterms:W3CDTF">2026-02-19T19:48:30Z</dcterms:modified>
  <dc:title>SE 423 Lecture 8-9: FFT and Filters</dc:title>
</cp:coreProperties>
</file>