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310" r:id="rId3"/>
    <p:sldId id="257" r:id="rId4"/>
    <p:sldId id="258" r:id="rId5"/>
    <p:sldId id="311" r:id="rId6"/>
    <p:sldId id="312" r:id="rId7"/>
    <p:sldId id="313" r:id="rId8"/>
    <p:sldId id="316" r:id="rId9"/>
    <p:sldId id="317" r:id="rId10"/>
    <p:sldId id="318" r:id="rId11"/>
    <p:sldId id="321" r:id="rId12"/>
    <p:sldId id="322" r:id="rId13"/>
    <p:sldId id="323" r:id="rId14"/>
    <p:sldId id="324" r:id="rId15"/>
    <p:sldId id="326" r:id="rId16"/>
    <p:sldId id="332" r:id="rId17"/>
    <p:sldId id="333" r:id="rId18"/>
    <p:sldId id="334" r:id="rId19"/>
    <p:sldId id="325" r:id="rId20"/>
    <p:sldId id="320" r:id="rId21"/>
    <p:sldId id="319" r:id="rId22"/>
    <p:sldId id="330" r:id="rId23"/>
    <p:sldId id="331" r:id="rId24"/>
    <p:sldId id="328" r:id="rId25"/>
    <p:sldId id="329" r:id="rId26"/>
    <p:sldId id="314" r:id="rId27"/>
    <p:sldId id="315" r:id="rId28"/>
    <p:sldId id="335" r:id="rId29"/>
    <p:sldId id="336" r:id="rId30"/>
    <p:sldId id="337" r:id="rId31"/>
    <p:sldId id="338" r:id="rId32"/>
    <p:sldId id="339" r:id="rId33"/>
    <p:sldId id="340" r:id="rId34"/>
    <p:sldId id="341" r:id="rId35"/>
    <p:sldId id="342" r:id="rId36"/>
    <p:sldId id="343" r:id="rId37"/>
    <p:sldId id="344" r:id="rId38"/>
    <p:sldId id="345" r:id="rId39"/>
    <p:sldId id="346" r:id="rId40"/>
    <p:sldId id="347" r:id="rId41"/>
    <p:sldId id="348" r:id="rId42"/>
    <p:sldId id="349" r:id="rId43"/>
    <p:sldId id="350" r:id="rId44"/>
    <p:sldId id="32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185" autoAdjust="0"/>
  </p:normalViewPr>
  <p:slideViewPr>
    <p:cSldViewPr snapToGrid="0">
      <p:cViewPr varScale="1">
        <p:scale>
          <a:sx n="88" d="100"/>
          <a:sy n="88" d="100"/>
        </p:scale>
        <p:origin x="14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699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0635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CDC9B3F-C73A-95F3-2C1C-D2A642FAB5B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BB095F5-08F9-8747-B1EA-9E39CE7D1B4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EADEE41-52C5-AA8E-E1F2-505D4239DD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60815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831FD86-A459-246B-5598-31CF7F27C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1C6A2E-EC39-B884-C5BA-27F1E05C0D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48896C-F32F-58F4-8743-6C2547C79A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41058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1264B-E729-6656-9A8A-6E083302EE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96AFB3-939C-2272-C409-CD9B7F279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In a standard Radix-2 Cooley-Tukey algorithm, the computation is broken down into </a:t>
            </a:r>
            <a:r>
              <a:rPr lang="en-US" sz="1200" b="0" i="0" u="none" strike="noStrike" cap="none" dirty="0">
                <a:solidFill>
                  <a:schemeClr val="dk1"/>
                </a:solidFill>
                <a:effectLst/>
                <a:latin typeface="Atkinson Hyperlegible Next"/>
                <a:ea typeface="Calibri"/>
                <a:cs typeface="Calibri"/>
                <a:sym typeface="Calibri"/>
              </a:rPr>
              <a:t>$\log_2(N)$</a:t>
            </a:r>
            <a:r>
              <a:rPr lang="en-US" dirty="0"/>
              <a:t> stages. Thus, an </a:t>
            </a:r>
            <a:r>
              <a:rPr lang="en-US" sz="1200" b="0" i="0" u="none" strike="noStrike" cap="none" dirty="0">
                <a:solidFill>
                  <a:schemeClr val="dk1"/>
                </a:solidFill>
                <a:effectLst/>
                <a:latin typeface="Atkinson Hyperlegible Next"/>
                <a:ea typeface="Calibri"/>
                <a:cs typeface="Calibri"/>
                <a:sym typeface="Calibri"/>
              </a:rPr>
              <a:t>$N=1024$</a:t>
            </a:r>
            <a:r>
              <a:rPr lang="en-US" dirty="0"/>
              <a:t> point FFT requires exactly 10 stages of butterfly operations. This reduces the computational complexity from </a:t>
            </a:r>
            <a:r>
              <a:rPr lang="en-US" sz="1200" b="0" i="0" u="none" strike="noStrike" cap="none" dirty="0">
                <a:solidFill>
                  <a:schemeClr val="dk1"/>
                </a:solidFill>
                <a:effectLst/>
                <a:latin typeface="Atkinson Hyperlegible Next"/>
                <a:ea typeface="Calibri"/>
                <a:cs typeface="Calibri"/>
                <a:sym typeface="Calibri"/>
              </a:rPr>
              <a:t>$O(N^2)$</a:t>
            </a:r>
            <a:r>
              <a:rPr lang="en-US" dirty="0"/>
              <a:t> for a naive Discrete Fourier Transform (DFT) to </a:t>
            </a:r>
            <a:r>
              <a:rPr lang="en-US" sz="1200" b="0" i="0" u="none" strike="noStrike" cap="none" dirty="0">
                <a:solidFill>
                  <a:schemeClr val="dk1"/>
                </a:solidFill>
                <a:effectLst/>
                <a:latin typeface="Atkinson Hyperlegible Next"/>
                <a:ea typeface="Calibri"/>
                <a:cs typeface="Calibri"/>
                <a:sym typeface="Calibri"/>
              </a:rPr>
              <a:t>$O(N \log_2 N)$</a:t>
            </a:r>
            <a:r>
              <a:rPr lang="en-US" dirty="0"/>
              <a:t>, which is mathematically necessary for real-time latency constraints in embedded control systems</a:t>
            </a:r>
          </a:p>
          <a:p>
            <a:pPr marL="0" lvl="0" indent="0" algn="l" rtl="0">
              <a:lnSpc>
                <a:spcPct val="100000"/>
              </a:lnSpc>
              <a:spcBef>
                <a:spcPts val="0"/>
              </a:spcBef>
              <a:spcAft>
                <a:spcPts val="0"/>
              </a:spcAft>
              <a:buSzPts val="1400"/>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The pragma puts the specific data into different distinct physical RAM blocks. If </a:t>
            </a:r>
            <a:r>
              <a:rPr lang="en-US" sz="1200" b="0" i="0" u="none" strike="noStrike" cap="none" dirty="0" err="1">
                <a:solidFill>
                  <a:schemeClr val="dk1"/>
                </a:solidFill>
                <a:latin typeface="Atkinson Hyperlegible Next"/>
                <a:ea typeface="Calibri"/>
                <a:cs typeface="Calibri"/>
                <a:sym typeface="Calibri"/>
              </a:rPr>
              <a:t>fft_input</a:t>
            </a:r>
            <a:r>
              <a:rPr lang="en-US" dirty="0"/>
              <a:t> and </a:t>
            </a:r>
            <a:r>
              <a:rPr lang="en-US" sz="1200" b="0" i="0" u="none" strike="noStrike" cap="none" dirty="0">
                <a:solidFill>
                  <a:schemeClr val="dk1"/>
                </a:solidFill>
                <a:latin typeface="Atkinson Hyperlegible Next"/>
                <a:ea typeface="Calibri"/>
                <a:cs typeface="Calibri"/>
                <a:sym typeface="Calibri"/>
              </a:rPr>
              <a:t>RFFTF32Coef</a:t>
            </a:r>
            <a:r>
              <a:rPr lang="en-US" dirty="0"/>
              <a:t> (the twiddle factors) were in the same memory block, the CPU would stall due to bus contention, requiring two clock cycles to fetch the operands. By placing them in separate blocks, the DSP core can fetch both operands in a single clock cycle, effectively halving the execution time of the butterfly loops.</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only need to store N/2 + 1 points because for the strictly real-valued inputs the spectrum is mirrored at index N-k, because you have the complex conjugate, the magnitudes are the same.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have ping pong buffers, for establishing double-buffering, the </a:t>
            </a:r>
            <a:r>
              <a:rPr lang="en-US" dirty="0" err="1"/>
              <a:t>peripherials</a:t>
            </a:r>
            <a:r>
              <a:rPr lang="en-US" dirty="0"/>
              <a:t> write using Direct Memory Access  DMA) the raw ADC data to the buffer, and the CPU does the RFFT on the data in the second buffer. You keep on switching buffers. Allowing zero dropped samples.</a:t>
            </a:r>
            <a:endParaRPr dirty="0"/>
          </a:p>
        </p:txBody>
      </p:sp>
      <p:sp>
        <p:nvSpPr>
          <p:cNvPr id="116" name="Google Shape;116;p29:notes">
            <a:extLst>
              <a:ext uri="{FF2B5EF4-FFF2-40B4-BE49-F238E27FC236}">
                <a16:creationId xmlns:a16="http://schemas.microsoft.com/office/drawing/2014/main" id="{9B8E0CF0-A86D-4D78-C36B-F15054C89E4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5588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2690B-26AA-A081-4B85-586111D098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8AF466-60AD-39A8-2FA5-9EA5CBB64F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70C0B39-107A-18E1-43C7-AFFEA7198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4985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88CE4DD-A803-E22B-FA7C-ECC60E93FD1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8CBDF59-F4E4-9C02-B587-76FE0DC1FD1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7C3F36-4C1F-6C2C-56BA-62BD0F74C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6837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828B9F-3DFB-FF89-AA12-149D6AF2F5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52E601-CB04-1B10-DFF9-B95A943B2C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2B37AB-3733-0952-1B46-EC989CEF66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67317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3DDCC-4E0D-3992-A8A4-F5469FAE2A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443E41-C359-ACCB-F4D5-A3E35DBDE9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BAE030-4D68-2646-FBEF-EB8FC5E15D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7357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139CBB-2A97-D5FE-05A4-8D33382D1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E4E264-A9D0-FC20-9898-6ED95A0154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774F08-0081-1CB5-0FD8-571A84DD95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28377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B0A1D2-65E5-9527-AAEA-B392386C15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36FEC6-0806-0D82-3CBE-8C20CA7278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1513B08B-7DFC-2F3B-193E-2097AEA62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62033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4078CD9-CD34-39B9-4CD7-003EDA75D49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884537F-2956-8742-0054-A2D7AB7C8F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199D6A4-65DD-D095-2456-9AC96D0B79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5114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6D1CA6-2B23-ED62-E3A7-332E28CE8A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5DBAC1-A155-E140-8AAA-62A01E6F1C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66D3DF22-1CDB-D220-44CE-8835BCE526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854978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34B-512B-FF52-8CB1-1812EF2473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44B81F-96DB-2390-B10A-5C9B60F22E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5753F641-DA1A-A5A5-8C77-B8F3213EAF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88944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CC0DCF7-6935-BF50-6343-BE76BB25290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C001E81-BF46-6CBF-5104-F1994CC15BB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5A466D58-B22B-AE20-47D9-13722C4C66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95846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0CF6BF-C1D5-C5DF-BD6E-5759CCE40C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3DD38DD-934C-45B0-F258-3951D1E543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F61D59B-AE1F-250B-1040-AEA7CA378A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23001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5B20CD-F785-C227-8385-6E6AB5867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A633-7C8F-E1F0-1F21-4F21961C4C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E380E1E-85D7-2F29-9345-3B570F0BC8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66272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930ECA-12DC-9B42-EDBC-3E7374AA97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EDAD36-A3B9-302D-10B6-4CC329924E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E194D00-89C6-15CA-0270-29F0CC706C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2539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1A6478EA-B86C-2AA7-6FF7-C205630DD4D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0E18C18B-1F7A-D4BA-3464-15BEDD8F91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67C5CB2-5488-F6BA-4EE3-5AA4A3C067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66826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FDCE0A-72DE-390A-072F-226B0C1D7F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CCE7B9-5550-9223-F5F2-556E594404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E96441E-8104-5C71-9BD3-A15217F21A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31595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44DC48-340E-1781-F39D-458066F911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4350DE-DEDC-74C0-C595-124FD964C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We don’t care that the FFT will take a bit longer and get interrupted, so we just put it in the main loop</a:t>
            </a:r>
            <a:endParaRPr dirty="0"/>
          </a:p>
        </p:txBody>
      </p:sp>
      <p:sp>
        <p:nvSpPr>
          <p:cNvPr id="116" name="Google Shape;116;p29:notes">
            <a:extLst>
              <a:ext uri="{FF2B5EF4-FFF2-40B4-BE49-F238E27FC236}">
                <a16:creationId xmlns:a16="http://schemas.microsoft.com/office/drawing/2014/main" id="{64D1DACF-DB78-CBE6-DD7D-0C767D9D48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991017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A83C62-26BF-516E-C0AB-B981CCB01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337985-6CAC-D596-AA03-E910A60738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E516BA-C090-7997-A0F7-FE0B8BECF1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94034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99B882-DD10-F4F8-7021-B7E39CBCF04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47E4E7F-92E3-FB0E-4C51-5C776484FD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A0C6B37-74E6-DF53-C525-EF360D352E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08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1D20B4-48FC-B213-C3C2-E5E012EEB3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D0234B-FC2D-E80A-3A49-F3F45CD0C4B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500C58-0594-77BB-AFFB-2CDD0095A9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972088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000F68-4270-D9B5-11DA-FCB0F2228B5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A9B25-083F-2462-3392-F527FD1D22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6AD43E-F955-B52E-57AA-EEB56C2C5F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504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ECA547-EC23-4812-217F-BE52FB13C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076270-7264-6E56-A5D7-7CECB6893B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EE5D076-F672-0531-07A8-06626A495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48042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251092-F4B9-29A3-8F98-17AEE4828F6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FAB96C-E0A1-9879-11D9-F6FFBD6616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02BEC-8CB4-2A94-8BF4-B9DDAE31D0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17933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B6022-05CB-6ACC-ABCD-F57C3CE9FE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A8948B-EF28-BF6C-94B8-716546029C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C33949-9457-52E6-76DF-C75BD438C1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167890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5F14FC-0323-1C9D-E0C6-4CF0A010A1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D84567-C67A-2200-173B-AD82D4211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D47183-127E-E02D-0250-B23F4ED06A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8559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EFBEEB-3824-BD60-027C-23AD2B9B4D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E7692D-C5E9-C1CA-28F1-CAC04B343A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9D019D-641E-3A8A-2076-9108312A28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92858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3F5160-B37E-BE80-88F2-A3ABF0317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5097F0-E588-B0CA-B1BA-33E5BD4CEB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8BE728-91C7-2DE4-43D2-0C446ED478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44461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C28928E-A479-6A61-9101-9BF9E1E899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928291F-B55F-F859-045A-F560DF4E56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1D16AB5-0FB6-0665-A3C2-93B9F3D159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6565473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2DB659-2319-F347-92CC-484F401082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6BE6E6-A70A-6884-1E82-43B012261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DF9105D-D82C-0D0D-C1F1-28B9711E97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51999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BF01B-855B-4A52-7316-5B0A8F6123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786E77-8A33-76DF-CFBF-F0AB0976357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F53CF5-8CC6-A5DB-5758-C3D94B512B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37796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75167B-944E-7272-C8A7-AE8C291B6B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F361B6-75B7-6570-3C67-7BE7AE6E79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371227-87C5-D4D8-949C-FE95EDEAF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581548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AC84C9-2D86-CFA5-5294-293D12354D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A1A60-68E4-F53C-DEEB-0FDDF1CB12A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CC7849-2F9B-9D2B-0F0F-D9010E67EB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0317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85F31E-F8A2-F96F-490D-9FEB5F18EC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62BEE7-56EB-D924-DA5C-1BE32B7341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902BBA-48E1-08F9-BFD0-6F19B541E6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6436962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3ED40-A928-3C51-8F34-BF9E18B02C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FA34A83-1DA0-2D72-4697-F5C1BC8D0D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27E26D-0211-53EF-1522-F60CE15D63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5792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788EA-2DF7-2743-908D-85D5B12DF3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35C6EB-89A0-A4BF-9A4A-14CF2B8EB6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F05D24-F265-B7EA-A101-566D97CF5C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453353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836248-61AE-E82E-8CBF-65B0EE19DF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BE8E78-C260-2376-C670-377E1AB08D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408BBA-6680-92EE-A6F1-4F75AA26F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904966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ideo" Target="https://www.youtube.com/embed/spUNpyF58BY?feature=oembed" TargetMode="External"/><Relationship Id="rId6" Type="http://schemas.openxmlformats.org/officeDocument/2006/relationships/hyperlink" Target="https://www.youtube.com/watch?v=spUNpyF58BY" TargetMode="External"/><Relationship Id="rId5" Type="http://schemas.openxmlformats.org/officeDocument/2006/relationships/image" Target="../media/image7.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ideo" Target="https://www.youtube.com/embed/h7apO7q16V0?feature=oembed" TargetMode="External"/><Relationship Id="rId6" Type="http://schemas.openxmlformats.org/officeDocument/2006/relationships/hyperlink" Target="https://www.youtube.com/watch?v=h7apO7q16V0" TargetMode="External"/><Relationship Id="rId5" Type="http://schemas.openxmlformats.org/officeDocument/2006/relationships/image" Target="../media/image8.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4.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8-9: FFT and Filters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16</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3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1 &amp; 2 are due </a:t>
            </a:r>
            <a:r>
              <a:rPr lang="en-US" sz="1800" b="1" dirty="0">
                <a:latin typeface="Atkinson Hyperlegible Next"/>
                <a:ea typeface="Arial"/>
                <a:cs typeface="Arial"/>
                <a:sym typeface="Arial"/>
              </a:rPr>
              <a:t>February 17,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a:latin typeface="Atkinson Hyperlegible Next"/>
                <a:ea typeface="Arial"/>
                <a:cs typeface="Arial"/>
                <a:sym typeface="Arial"/>
              </a:rPr>
              <a:t>February 25, </a:t>
            </a:r>
            <a:r>
              <a:rPr lang="en-US" sz="1800" b="1" dirty="0">
                <a:latin typeface="Atkinson Hyperlegible Next"/>
                <a:ea typeface="Arial"/>
                <a:cs typeface="Arial"/>
                <a:sym typeface="Arial"/>
              </a:rPr>
              <a:t>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D8464153-9B2B-C46F-8B05-77B5225DC43F}"/>
              </a:ext>
            </a:extLst>
          </p:cNvPr>
          <p:cNvGrpSpPr/>
          <p:nvPr/>
        </p:nvGrpSpPr>
        <p:grpSpPr>
          <a:xfrm>
            <a:off x="1441528" y="2296815"/>
            <a:ext cx="9308941" cy="2264370"/>
            <a:chOff x="1441528" y="1491040"/>
            <a:chExt cx="9308941" cy="226437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Background</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Fourier Transforms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But what is the Fourier Transform?  A visual introduction.">
            <a:hlinkClick r:id="" action="ppaction://media"/>
            <a:extLst>
              <a:ext uri="{FF2B5EF4-FFF2-40B4-BE49-F238E27FC236}">
                <a16:creationId xmlns:a16="http://schemas.microsoft.com/office/drawing/2014/main" id="{192F0912-D226-7A35-FB2D-C9FC953A3895}"/>
              </a:ext>
            </a:extLst>
          </p:cNvPr>
          <p:cNvPicPr>
            <a:picLocks noRot="1" noChangeAspect="1"/>
          </p:cNvPicPr>
          <p:nvPr>
            <a:videoFile r:link="rId1"/>
          </p:nvPr>
        </p:nvPicPr>
        <p:blipFill>
          <a:blip r:embed="rId5"/>
          <a:stretch>
            <a:fillRect/>
          </a:stretch>
        </p:blipFill>
        <p:spPr>
          <a:xfrm>
            <a:off x="1240790" y="953101"/>
            <a:ext cx="9710420" cy="5486400"/>
          </a:xfrm>
          <a:prstGeom prst="rect">
            <a:avLst/>
          </a:prstGeom>
        </p:spPr>
      </p:pic>
      <p:sp>
        <p:nvSpPr>
          <p:cNvPr id="2" name="TextBox 1">
            <a:extLst>
              <a:ext uri="{FF2B5EF4-FFF2-40B4-BE49-F238E27FC236}">
                <a16:creationId xmlns:a16="http://schemas.microsoft.com/office/drawing/2014/main" id="{2DC780DA-D429-0F83-6F59-0EFE3A19F66F}"/>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https://www.youtube.com/watch?v=spUNpyF58BY</a:t>
            </a:r>
            <a:r>
              <a:rPr lang="en-US" sz="1050" dirty="0"/>
              <a:t> </a:t>
            </a:r>
          </a:p>
        </p:txBody>
      </p:sp>
    </p:spTree>
    <p:extLst>
      <p:ext uri="{BB962C8B-B14F-4D97-AF65-F5344CB8AC3E}">
        <p14:creationId xmlns:p14="http://schemas.microsoft.com/office/powerpoint/2010/main" val="1853406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The Fast Fourier Transform (FFT): Most Ingenious Algorithm Ever?">
            <a:hlinkClick r:id="" action="ppaction://media"/>
            <a:extLst>
              <a:ext uri="{FF2B5EF4-FFF2-40B4-BE49-F238E27FC236}">
                <a16:creationId xmlns:a16="http://schemas.microsoft.com/office/drawing/2014/main" id="{1266BBF1-2733-ED9E-F089-BF59196593FE}"/>
              </a:ext>
            </a:extLst>
          </p:cNvPr>
          <p:cNvPicPr>
            <a:picLocks noRot="1" noChangeAspect="1"/>
          </p:cNvPicPr>
          <p:nvPr>
            <a:videoFile r:link="rId1"/>
          </p:nvPr>
        </p:nvPicPr>
        <p:blipFill>
          <a:blip r:embed="rId5"/>
          <a:stretch>
            <a:fillRect/>
          </a:stretch>
        </p:blipFill>
        <p:spPr>
          <a:xfrm>
            <a:off x="1240790" y="950660"/>
            <a:ext cx="9710420" cy="5486400"/>
          </a:xfrm>
          <a:prstGeom prst="rect">
            <a:avLst/>
          </a:prstGeom>
        </p:spPr>
      </p:pic>
      <p:sp>
        <p:nvSpPr>
          <p:cNvPr id="3" name="TextBox 2">
            <a:extLst>
              <a:ext uri="{FF2B5EF4-FFF2-40B4-BE49-F238E27FC236}">
                <a16:creationId xmlns:a16="http://schemas.microsoft.com/office/drawing/2014/main" id="{77AC954C-475A-2D9E-75DC-A335B4C4696C}"/>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https://www.youtube.com/watch?v=h7apO7q16V0</a:t>
            </a:r>
            <a:endParaRPr lang="en-US" sz="1050" dirty="0"/>
          </a:p>
        </p:txBody>
      </p:sp>
    </p:spTree>
    <p:extLst>
      <p:ext uri="{BB962C8B-B14F-4D97-AF65-F5344CB8AC3E}">
        <p14:creationId xmlns:p14="http://schemas.microsoft.com/office/powerpoint/2010/main" val="231040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CF9460F4-D27C-43BD-B6BF-D24B65D7D6A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16C1B29-AB65-363F-A940-54B8C6D5C162}"/>
              </a:ext>
            </a:extLst>
          </p:cNvPr>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Code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A025648-97C5-FC37-44BC-46109A43764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CB2293F-513D-1ED6-B527-E0D2D626C62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DC14660-92E6-6E0D-B9BE-E1A56A49DC4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E6BC663-3A69-F081-6202-70254534BE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F7B5DE6-8E3C-E4B3-F44B-D3917CECF7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6112376-7AB1-A2F0-9889-11A0CAEC4FE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9C13250-5B7D-B5A4-75BB-743650F5004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6180856-B6E3-D359-5A41-2FEDE01863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5E4714-6589-78EA-B2B5-9C91B72D27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909043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9DAC36-BC62-ED26-4792-66FC2F9B142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87BC777-59CD-B642-EABF-5E0A1F647B2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solidFill>
                  <a:schemeClr val="tx1"/>
                </a:solidFill>
                <a:latin typeface="Atkinson Hyperlegible Next"/>
                <a:ea typeface="Arial"/>
                <a:cs typeface="Arial"/>
                <a:sym typeface="Arial"/>
              </a:rPr>
              <a:t>You just watched a couple of videos all about what a Fourier transform is, and what the FFT is…</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Time to implement it!</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Just joking, smart people have already implemented the algorithms and optimized it to work with this specific hardware to be as efficient as possible.</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This one was implemented to work in C++ and C.</a:t>
            </a:r>
          </a:p>
        </p:txBody>
      </p:sp>
      <p:sp>
        <p:nvSpPr>
          <p:cNvPr id="119" name="Google Shape;119;p29">
            <a:extLst>
              <a:ext uri="{FF2B5EF4-FFF2-40B4-BE49-F238E27FC236}">
                <a16:creationId xmlns:a16="http://schemas.microsoft.com/office/drawing/2014/main" id="{A4EB0BF0-B27E-1F1E-2C09-BFA2949717E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0DE49B-53D7-3285-AD02-28FD9B6C1E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05F33A1-B0A0-E540-B49E-687B4377079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7B5BF9-D07F-CA63-007B-01C048994E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E80AFD-7EC7-2029-E504-139A90E853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960E2-C6E4-83C0-9112-E1ED630C3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FD223C-A2F3-4418-0ECC-DF4DFE96F1C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328AA8-8C5F-5B40-C212-60F1EB3B10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771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4AB861-F1B4-3501-8981-6DC533D5EF7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DDD6A1-5546-F26C-8667-40B361B37A22}"/>
              </a:ext>
            </a:extLst>
          </p:cNvPr>
          <p:cNvSpPr txBox="1">
            <a:spLocks noGrp="1"/>
          </p:cNvSpPr>
          <p:nvPr>
            <p:ph type="body" idx="1"/>
          </p:nvPr>
        </p:nvSpPr>
        <p:spPr>
          <a:xfrm>
            <a:off x="376809" y="1334279"/>
            <a:ext cx="5719191"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1050" dirty="0">
                <a:solidFill>
                  <a:srgbClr val="7F0055"/>
                </a:solidFill>
                <a:latin typeface="Consolas" panose="020B0609020204030204" pitchFamily="49" charset="0"/>
              </a:rPr>
              <a:t>#define</a:t>
            </a:r>
            <a:r>
              <a:rPr lang="en-US" sz="1050" dirty="0">
                <a:solidFill>
                  <a:srgbClr val="000000"/>
                </a:solidFill>
                <a:latin typeface="Consolas" panose="020B0609020204030204" pitchFamily="49" charset="0"/>
              </a:rPr>
              <a:t> RFFT_STAGES     10</a:t>
            </a:r>
          </a:p>
          <a:p>
            <a:pPr marL="114300" indent="0">
              <a:spcBef>
                <a:spcPts val="0"/>
              </a:spcBef>
              <a:buNone/>
            </a:pPr>
            <a:r>
              <a:rPr lang="de-DE" sz="1050" dirty="0">
                <a:solidFill>
                  <a:srgbClr val="7F0055"/>
                </a:solidFill>
                <a:latin typeface="Consolas" panose="020B0609020204030204" pitchFamily="49" charset="0"/>
              </a:rPr>
              <a:t>#define</a:t>
            </a:r>
            <a:r>
              <a:rPr lang="de-DE" sz="1050" dirty="0">
                <a:solidFill>
                  <a:srgbClr val="000000"/>
                </a:solidFill>
                <a:latin typeface="Consolas" panose="020B0609020204030204" pitchFamily="49" charset="0"/>
              </a:rPr>
              <a:t> RFFT_SIZE       (1 &lt;&lt; RFFT_STAGES)           </a:t>
            </a:r>
            <a:r>
              <a:rPr lang="en-US" sz="1050" dirty="0">
                <a:solidFill>
                  <a:srgbClr val="3F7F5F"/>
                </a:solidFill>
                <a:latin typeface="Consolas" panose="020B0609020204030204" pitchFamily="49" charset="0"/>
              </a:rPr>
              <a:t>// 1024</a:t>
            </a:r>
            <a:endParaRPr lang="de-DE" sz="1050" dirty="0">
              <a:solidFill>
                <a:srgbClr val="000000"/>
              </a:solidFill>
              <a:latin typeface="Consolas" panose="020B0609020204030204" pitchFamily="49" charset="0"/>
            </a:endParaRP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[(RFFT_SIZE/2)+1];</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"FFT_buffer_1"</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DATA_SECTION(RFFTF32Coef,</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RFFTF32Coef[RFFT_SIZE];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 &amp;</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pingpongFFT</a:t>
            </a:r>
            <a:r>
              <a:rPr lang="en-US" sz="1050" dirty="0">
                <a:solidFill>
                  <a:srgbClr val="000000"/>
                </a:solidFill>
                <a:latin typeface="Consolas" panose="020B0609020204030204" pitchFamily="49" charset="0"/>
              </a:rPr>
              <a:t> = 1;</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0;</a:t>
            </a:r>
          </a:p>
          <a:p>
            <a:pPr marL="114300" indent="0">
              <a:spcBef>
                <a:spcPts val="0"/>
              </a:spcBef>
              <a:buNone/>
            </a:pPr>
            <a:r>
              <a:rPr lang="de-DE" sz="1050" dirty="0">
                <a:solidFill>
                  <a:srgbClr val="000000"/>
                </a:solidFill>
                <a:latin typeface="Consolas" panose="020B0609020204030204" pitchFamily="49" charset="0"/>
              </a:rPr>
              <a:t>__interrupt </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 DMA_ISR(</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56E6CE3B-DB35-713F-A824-4F813F1724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A397F3-E1C0-524A-B93C-8D1253109D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FF9DC27-A494-0490-4BDD-E4AFDE5BCFF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792C39-E371-BBD2-C98A-7FD086E5FA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241B66-6633-B164-0E05-ABF2075100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98982-8F38-1B75-29D8-D7E9643457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CFC9F4C-4E6C-60F2-E356-EDA864767F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A957D6A-8DFA-ECF1-88F7-0A4F77D4E0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22F1CEFF-3E29-31A9-A18D-5622AB7CFD7C}"/>
              </a:ext>
            </a:extLst>
          </p:cNvPr>
          <p:cNvSpPr txBox="1">
            <a:spLocks/>
          </p:cNvSpPr>
          <p:nvPr/>
        </p:nvSpPr>
        <p:spPr>
          <a:xfrm>
            <a:off x="6096000" y="1350467"/>
            <a:ext cx="5719191" cy="4821102"/>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struct</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input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OutBuf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output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CosSinBuf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twiddle factors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MagBuf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magnitude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PhaseBuf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phase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FFTSize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Size of the FFT (number of real data points)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FFTStages</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Number of FFT stages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a:t>
            </a: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Tree>
    <p:extLst>
      <p:ext uri="{BB962C8B-B14F-4D97-AF65-F5344CB8AC3E}">
        <p14:creationId xmlns:p14="http://schemas.microsoft.com/office/powerpoint/2010/main" val="27344932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F02F54-F375-C55B-08A7-1336F4D677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742FE2-C6BF-479D-78EB-0834A37AB66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2000" dirty="0">
                <a:solidFill>
                  <a:srgbClr val="000000"/>
                </a:solidFill>
                <a:latin typeface="Consolas" panose="020B0609020204030204" pitchFamily="49" charset="0"/>
              </a:rPr>
              <a:t>EALLOW;  </a:t>
            </a:r>
            <a:r>
              <a:rPr lang="en-US" sz="2000" dirty="0">
                <a:solidFill>
                  <a:srgbClr val="3F7F5F"/>
                </a:solidFill>
                <a:latin typeface="Consolas" panose="020B0609020204030204" pitchFamily="49" charset="0"/>
              </a:rPr>
              <a:t>// This is needed to write to EALLOW protected registers</a:t>
            </a:r>
          </a:p>
          <a:p>
            <a:pPr marL="114300" indent="0" algn="l">
              <a:buNone/>
            </a:pPr>
            <a:r>
              <a:rPr lang="en-US" sz="2000" dirty="0">
                <a:solidFill>
                  <a:srgbClr val="000000"/>
                </a:solidFill>
                <a:latin typeface="Consolas" panose="020B0609020204030204" pitchFamily="49" charset="0"/>
              </a:rPr>
              <a:t>PieVectTable.</a:t>
            </a:r>
            <a:r>
              <a:rPr lang="en-US" sz="2000" dirty="0">
                <a:solidFill>
                  <a:srgbClr val="0000C0"/>
                </a:solidFill>
                <a:latin typeface="Consolas" panose="020B0609020204030204" pitchFamily="49" charset="0"/>
              </a:rPr>
              <a:t>DMA_CH1_INT</a:t>
            </a:r>
            <a:r>
              <a:rPr lang="en-US" sz="2000" dirty="0">
                <a:solidFill>
                  <a:srgbClr val="000000"/>
                </a:solidFill>
                <a:latin typeface="Consolas" panose="020B0609020204030204" pitchFamily="49" charset="0"/>
              </a:rPr>
              <a:t> = &amp;DMA_ISR;</a:t>
            </a:r>
          </a:p>
          <a:p>
            <a:pPr marL="114300" indent="0" algn="l">
              <a:buNone/>
            </a:pPr>
            <a:r>
              <a:rPr lang="en-US" sz="2000" dirty="0">
                <a:solidFill>
                  <a:srgbClr val="000000"/>
                </a:solidFill>
                <a:latin typeface="Consolas" panose="020B0609020204030204" pitchFamily="49" charset="0"/>
              </a:rPr>
              <a:t>EDIS;    </a:t>
            </a:r>
            <a:r>
              <a:rPr lang="en-US" sz="2000" dirty="0">
                <a:solidFill>
                  <a:srgbClr val="3F7F5F"/>
                </a:solidFill>
                <a:latin typeface="Consolas" panose="020B0609020204030204" pitchFamily="49" charset="0"/>
              </a:rPr>
              <a:t>// This is needed to disable write to EALLOW protected registers</a:t>
            </a:r>
            <a:endParaRPr lang="en-US" sz="200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0F024988-C610-A71B-F3D1-B221B09CF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A7CF49-E4E7-F339-E37B-77F4FFE3D7D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A05B286-23F0-C168-B692-019698743E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1741B8-2344-524B-1F81-6E29A3E0FE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6F0037-97DD-BE75-96A2-132ABCFFAB2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212DDF-9CD6-4B8F-A30D-500F6C06CB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AD500F-5A05-C394-77C2-5423CD585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2E0776-F499-1359-2F9A-9C5F0E77A2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63715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940C99-7681-94FD-F24E-2ED729E9836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64730EB-9107-5493-53B5-75D709447B42}"/>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Direct Memory Access (DMA)</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276545AA-903F-9C2D-B692-01E686C1336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498BCAAF-2632-EF26-CAA6-3AB816F4B9B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D6DEE66-20CD-221E-859D-93D4A98E18D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5F3E593-57D1-6778-DD0A-EF387A40A0A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0F217EC-3636-31B1-7F9D-CE2F7A320D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51CDBA0-D238-8CE4-8513-6F430CDF370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84C0F08-2F72-D954-D7CF-13AC1243E5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644DD6F-222F-8F23-50AA-97757A56C2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4A74847-55C8-CA00-A645-F08D4D2628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75436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9BE419-3339-153E-85DB-DBFE59847B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177095-7BE7-902F-D8D4-52A9037440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The direct memory access (DMA) module provides a hardware method of transferring data between peripherals and/or memory without intervention from the CPU, thereby freeing up bandwidth for other system functions.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Many times, applications spend a significant amount of their bandwidth moving </a:t>
            </a:r>
            <a:r>
              <a:rPr lang="en-US" sz="2000" dirty="0" err="1"/>
              <a:t>data,whether</a:t>
            </a:r>
            <a:r>
              <a:rPr lang="en-US" sz="2000" dirty="0"/>
              <a:t> it is from off-chip memory to on-chip memory, or from a peripheral such as an analog-to-digital converter (ADC) to RAM, or even from one peripheral to another.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Furthermore, many times this data comes in a format that is not conducive to the optimum processing powers of the CPU.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The DMA module described in this reference guide can free up CPU bandwidth and rearrange the data into a pattern for more streamlined processing.</a:t>
            </a:r>
          </a:p>
        </p:txBody>
      </p:sp>
      <p:sp>
        <p:nvSpPr>
          <p:cNvPr id="119" name="Google Shape;119;p29">
            <a:extLst>
              <a:ext uri="{FF2B5EF4-FFF2-40B4-BE49-F238E27FC236}">
                <a16:creationId xmlns:a16="http://schemas.microsoft.com/office/drawing/2014/main" id="{2431BC1D-7C37-C6EB-EBD9-2FC7A70B29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BECEF0D-08B8-DE09-57C0-592C45017F0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DMA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7D320FC-5B25-782B-6DB2-02958EEF52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C2B5C0-4BAC-1F91-6785-3C842F27FE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5F0B24-865D-252C-5CA5-CC883858C8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56EF8D-CD83-8977-3CED-0A53781F6F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3DA97E-40E8-A78F-A718-267927C58E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EECE0DC-3DC9-9F57-F551-853AFE92E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568693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B5DAAE-FD21-56F9-E38F-2045FD17F0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4681AAF-76F3-D1C8-352A-C459938E94D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DMA features include:</a:t>
            </a:r>
          </a:p>
          <a:p>
            <a:pPr marL="342900">
              <a:lnSpc>
                <a:spcPct val="100000"/>
              </a:lnSpc>
              <a:spcBef>
                <a:spcPts val="0"/>
              </a:spcBef>
              <a:buSzPts val="2000"/>
            </a:pPr>
            <a:r>
              <a:rPr lang="en-US" sz="2000" dirty="0"/>
              <a:t>Six channels with independent PIE interrupts</a:t>
            </a:r>
          </a:p>
          <a:p>
            <a:pPr marL="342900">
              <a:lnSpc>
                <a:spcPct val="100000"/>
              </a:lnSpc>
              <a:spcBef>
                <a:spcPts val="0"/>
              </a:spcBef>
              <a:buSzPts val="2000"/>
            </a:pPr>
            <a:r>
              <a:rPr lang="en-US" sz="2000" dirty="0"/>
              <a:t>Each DMA channel can be triggered from multiple peripheral trigger sources independently</a:t>
            </a:r>
          </a:p>
          <a:p>
            <a:pPr marL="342900">
              <a:lnSpc>
                <a:spcPct val="100000"/>
              </a:lnSpc>
              <a:spcBef>
                <a:spcPts val="0"/>
              </a:spcBef>
              <a:buSzPts val="2000"/>
            </a:pPr>
            <a:r>
              <a:rPr lang="en-US" sz="2000" dirty="0"/>
              <a:t>Word Size: 16-bit or 32-bit (SPI limited to 16-bit)</a:t>
            </a:r>
          </a:p>
          <a:p>
            <a:pPr marL="342900">
              <a:lnSpc>
                <a:spcPct val="100000"/>
              </a:lnSpc>
              <a:spcBef>
                <a:spcPts val="0"/>
              </a:spcBef>
              <a:buSzPts val="2000"/>
            </a:pPr>
            <a:r>
              <a:rPr lang="en-US" sz="2000" dirty="0"/>
              <a:t>Throughput: 3 cycles/word without arbitration</a:t>
            </a:r>
          </a:p>
          <a:p>
            <a:pPr marL="342900">
              <a:lnSpc>
                <a:spcPct val="100000"/>
              </a:lnSpc>
              <a:spcBef>
                <a:spcPts val="0"/>
              </a:spcBef>
              <a:buSzPts val="2000"/>
            </a:pPr>
            <a:endParaRPr lang="en-US" sz="2000" dirty="0"/>
          </a:p>
          <a:p>
            <a:pPr marL="342900">
              <a:lnSpc>
                <a:spcPct val="100000"/>
              </a:lnSpc>
              <a:spcBef>
                <a:spcPts val="0"/>
              </a:spcBef>
              <a:buSzPts val="2000"/>
            </a:pPr>
            <a:endParaRPr lang="en-US" sz="2000" dirty="0"/>
          </a:p>
          <a:p>
            <a:pPr marL="0" indent="0">
              <a:lnSpc>
                <a:spcPct val="100000"/>
              </a:lnSpc>
              <a:spcBef>
                <a:spcPts val="0"/>
              </a:spcBef>
              <a:buSzPts val="2000"/>
              <a:buNone/>
            </a:pPr>
            <a:r>
              <a:rPr lang="en-US" sz="2000" dirty="0"/>
              <a:t>The DMA has an 8-bit trigger source selection (“255 options”). The trigger sources range from the ADC, XINT, </a:t>
            </a:r>
            <a:r>
              <a:rPr lang="en-US" sz="2000" dirty="0" err="1"/>
              <a:t>ePWM</a:t>
            </a:r>
            <a:r>
              <a:rPr lang="en-US" sz="2000" dirty="0"/>
              <a:t>, Timer interrupts, SPI and more.</a:t>
            </a:r>
          </a:p>
        </p:txBody>
      </p:sp>
      <p:sp>
        <p:nvSpPr>
          <p:cNvPr id="119" name="Google Shape;119;p29">
            <a:extLst>
              <a:ext uri="{FF2B5EF4-FFF2-40B4-BE49-F238E27FC236}">
                <a16:creationId xmlns:a16="http://schemas.microsoft.com/office/drawing/2014/main" id="{0A4A5C99-8D4E-FB9F-13A8-22F22C4A4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00FB1C4-F9FA-6630-E844-E290E173D9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DMA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2E7E8E1-FA2C-8BE2-1097-B1A9C9B805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B05B98-6524-BCB1-E366-60A28D873B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9669A3-4279-FBE5-71DD-25C2889901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6AEDE5-31A0-4F50-3596-6E0D61B968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960B7A-49DF-7D58-E18A-544248B8E6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C5DE61-670A-72A7-06DE-06131013A9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996757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24F84D9-768F-9EA7-5959-9EBFE0ABA3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D21F40A-7C90-4107-2D65-1E4013B712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994184-1926-3C61-A08E-F4F0C8D5A8E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89BFA2D-CE34-A957-9687-175B86B45C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9B6F80-0F27-CBE7-47DC-5CB9508F40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B37FB-FFA7-FE5C-DFA7-168EC4804F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14DAD0-F2F6-A187-59A9-F9DA21E23D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6D28F5-780A-B678-5612-5AA577A889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E3BCBF-C345-CFFA-01B0-E6FDA963CD2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AE5AE88A-ED40-2A09-B15C-C1F13F87F1E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38661" y="963463"/>
            <a:ext cx="6914678" cy="5547458"/>
          </a:xfrm>
          <a:prstGeom prst="rect">
            <a:avLst/>
          </a:prstGeom>
        </p:spPr>
      </p:pic>
    </p:spTree>
    <p:extLst>
      <p:ext uri="{BB962C8B-B14F-4D97-AF65-F5344CB8AC3E}">
        <p14:creationId xmlns:p14="http://schemas.microsoft.com/office/powerpoint/2010/main" val="2466118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C646A3-2C82-AEE1-1A9D-40E8F66247A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266141-71DC-C5AC-02F1-79FE2521A20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__interrupt </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DMA_ISR(</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PIE7.1 @ 0x000DA0  DMA channel 1 interrupt</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PieCtrlRegs.</a:t>
            </a:r>
            <a:r>
              <a:rPr lang="en-US" sz="1050" dirty="0" err="1">
                <a:solidFill>
                  <a:srgbClr val="0000C0"/>
                </a:solidFill>
                <a:latin typeface="Consolas" panose="020B0609020204030204" pitchFamily="49" charset="0"/>
              </a:rPr>
              <a:t>PIEACK</a:t>
            </a:r>
            <a:r>
              <a:rPr lang="en-US" sz="1050" dirty="0" err="1">
                <a:solidFill>
                  <a:srgbClr val="000000"/>
                </a:solidFill>
                <a:latin typeface="Consolas" panose="020B0609020204030204" pitchFamily="49" charset="0"/>
              </a:rPr>
              <a:t>.</a:t>
            </a:r>
            <a:r>
              <a:rPr lang="en-US" sz="1050" dirty="0" err="1">
                <a:solidFill>
                  <a:srgbClr val="0000C0"/>
                </a:solidFill>
                <a:latin typeface="Consolas" panose="020B0609020204030204" pitchFamily="49" charset="0"/>
              </a:rPr>
              <a:t>all</a:t>
            </a:r>
            <a:r>
              <a:rPr lang="en-US" sz="1050" dirty="0">
                <a:solidFill>
                  <a:srgbClr val="000000"/>
                </a:solidFill>
                <a:latin typeface="Consolas" panose="020B0609020204030204" pitchFamily="49" charset="0"/>
              </a:rPr>
              <a:t> = PIEACK_GROUP7;         </a:t>
            </a:r>
            <a:r>
              <a:rPr lang="en-US" sz="1050" dirty="0">
                <a:solidFill>
                  <a:srgbClr val="3F7F5F"/>
                </a:solidFill>
                <a:latin typeface="Consolas" panose="020B0609020204030204" pitchFamily="49" charset="0"/>
              </a:rPr>
              <a:t>// Must acknowledge the PIE group</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Process the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 Ping buffer filling, process Pong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Pong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Don't run ping FFT first time around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&gt; 0)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Pong buffer filling, process Ping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Ping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29E42BBF-F967-1B50-F75B-6EF02796E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3FA3F5-4DB1-46AD-7865-DD128914458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8D44BA4-56BB-32BA-3CEF-805A274D87B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66BFD7-6227-2777-9492-8D8D9114FC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393F00-3B22-1776-2222-CCF573B05D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616A5F-6460-6BF2-2A1E-D3E5DF7C1C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3A3D6F-8D5A-3D04-8224-A201A08549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2C89B1A-9A71-DC5C-DED0-62E40F93E2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7840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58096FB-3319-ED5E-1826-87DAAC973B9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497FD98-C8E4-852B-A4E6-5568B2FDA85D}"/>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Ping Pong Buffer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48B759DD-5591-BEB9-AAE5-DEDA337C344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3FB2DEB-9D43-35B9-2150-1A8B0077C2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31A3BED-06B9-1575-48EA-0EF2131E442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548679E-2114-FB51-A548-2C67541C553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FBAD344-7EDE-C52B-811B-7BEA77976A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739DDBE-42E7-37EF-D5A0-2A261AB5C2D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1E12D3F-C62F-22A0-A4A1-31C7A47CC45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639165A-858E-2FB8-F424-178183C011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7437F64-1F9A-6C50-C387-740908A8D4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62782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6F995F-D700-D245-A322-F9C2C7BC731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CB1CC9-8BD7-205F-7413-FBA74FE48B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54CB0E-A535-6959-EDC4-B14A21C1ECA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5E73F4D-39B2-5A33-3EE6-F859B5263B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F4D006-A1C8-3A3F-6FD4-C5967DEA0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E5DA9A-423C-12B8-654B-81A7E01CD2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DFFE95-5515-AEFC-E5AA-C26062D58F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1352E8-FCBB-1135-6A90-56A84D7252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3AC54F-D433-E15D-E114-072FB7C152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a:extLst>
              <a:ext uri="{FF2B5EF4-FFF2-40B4-BE49-F238E27FC236}">
                <a16:creationId xmlns:a16="http://schemas.microsoft.com/office/drawing/2014/main" id="{C58E5A04-20EC-B639-8403-26357B70BF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7815" y="1042858"/>
            <a:ext cx="9336370" cy="5384041"/>
          </a:xfrm>
          <a:prstGeom prst="rect">
            <a:avLst/>
          </a:prstGeom>
        </p:spPr>
      </p:pic>
    </p:spTree>
    <p:extLst>
      <p:ext uri="{BB962C8B-B14F-4D97-AF65-F5344CB8AC3E}">
        <p14:creationId xmlns:p14="http://schemas.microsoft.com/office/powerpoint/2010/main" val="2910017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5C7BF-ABDB-E34F-40B7-8D1F7DBC053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57D52C-358D-7EF1-C005-34F51AF3D2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799CAD-8B07-BAFB-0E19-8832030E68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FF581DC-A98C-6CE2-8870-E3BA8D1690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EE3C49-6910-C4F7-DADE-2176CFADC4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5E0609-BA03-0EF1-1DD9-7E6868C29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5586AD-D697-1055-2824-3F86839297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03B292-4873-452D-F53A-6EE2E6F4323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922603-E706-67B0-E29D-BB8538BA5B3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871DE840-7AA5-524D-AE85-F2576F8B6F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9876" y="1890050"/>
            <a:ext cx="11892248" cy="3612501"/>
          </a:xfrm>
          <a:prstGeom prst="rect">
            <a:avLst/>
          </a:prstGeom>
        </p:spPr>
      </p:pic>
      <p:sp>
        <p:nvSpPr>
          <p:cNvPr id="4" name="TextBox 3">
            <a:extLst>
              <a:ext uri="{FF2B5EF4-FFF2-40B4-BE49-F238E27FC236}">
                <a16:creationId xmlns:a16="http://schemas.microsoft.com/office/drawing/2014/main" id="{F00F3888-AFE4-7B88-2714-D6F26D43F7D5}"/>
              </a:ext>
            </a:extLst>
          </p:cNvPr>
          <p:cNvSpPr txBox="1"/>
          <p:nvPr/>
        </p:nvSpPr>
        <p:spPr>
          <a:xfrm>
            <a:off x="9404722" y="5848036"/>
            <a:ext cx="2637402" cy="523220"/>
          </a:xfrm>
          <a:prstGeom prst="rect">
            <a:avLst/>
          </a:prstGeom>
          <a:noFill/>
        </p:spPr>
        <p:txBody>
          <a:bodyPr wrap="square" rtlCol="0">
            <a:spAutoFit/>
          </a:bodyPr>
          <a:lstStyle/>
          <a:p>
            <a:r>
              <a:rPr lang="en-US" dirty="0"/>
              <a:t>If this is not animated, I did not have the time to create it.</a:t>
            </a:r>
          </a:p>
        </p:txBody>
      </p:sp>
    </p:spTree>
    <p:extLst>
      <p:ext uri="{BB962C8B-B14F-4D97-AF65-F5344CB8AC3E}">
        <p14:creationId xmlns:p14="http://schemas.microsoft.com/office/powerpoint/2010/main" val="8180335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8284BE5-4723-53EF-580B-1611FEE1F6F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23B3021-D7C4-1259-21A8-80E6BC26FF38}"/>
              </a:ext>
            </a:extLst>
          </p:cNvPr>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Code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817B8C69-22A6-C6E5-1569-3E129A61DA8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2F26E17-1237-FFFC-CC4C-52C3E77A0ED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770F48F-B82E-C950-AD8A-980605322B2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EF7C153-9BFF-39CE-5852-767B03BC6BA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A2DCC03-6B98-25FC-9ED1-490EDC7DBB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C8FC484D-C040-B032-BCA5-F2914EAAA8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5F365B-229F-7BC5-5D5A-8A48C6B468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F53976F-FD14-0FAF-C10B-42F41AEC14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8344786-3C6D-EA28-FCAF-DAFBB7008C1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66985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192855-FA41-EE4C-661D-4F6DB8A1789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4351AF2-CF72-2F46-2375-EEE96997B80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2000" dirty="0">
                <a:solidFill>
                  <a:srgbClr val="000000"/>
                </a:solidFill>
                <a:latin typeface="Consolas" panose="020B0609020204030204" pitchFamily="49" charset="0"/>
              </a:rPr>
              <a:t>EALLOW;</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SOC on A group</a:t>
            </a:r>
          </a:p>
          <a:p>
            <a:pPr marL="114300" indent="0">
              <a:spcBef>
                <a:spcPts val="0"/>
              </a:spcBef>
              <a:buNone/>
            </a:pP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3; </a:t>
            </a:r>
            <a:r>
              <a:rPr lang="en-US" sz="2000" dirty="0">
                <a:solidFill>
                  <a:srgbClr val="3F7F5F"/>
                </a:solidFill>
                <a:latin typeface="Consolas" panose="020B0609020204030204" pitchFamily="49" charset="0"/>
              </a:rPr>
              <a:t>// freeze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SOCASEL</a:t>
            </a:r>
            <a:r>
              <a:rPr lang="en-US" sz="2000" dirty="0">
                <a:solidFill>
                  <a:srgbClr val="000000"/>
                </a:solidFill>
                <a:latin typeface="Consolas" panose="020B0609020204030204" pitchFamily="49" charset="0"/>
              </a:rPr>
              <a:t> = 0x2; </a:t>
            </a:r>
            <a:r>
              <a:rPr lang="en-US" sz="2000" dirty="0">
                <a:solidFill>
                  <a:srgbClr val="3F7F5F"/>
                </a:solidFill>
                <a:latin typeface="Consolas" panose="020B0609020204030204" pitchFamily="49" charset="0"/>
              </a:rPr>
              <a:t>// Select Event when counter equal to PRD</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ETPS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SOCAPRD</a:t>
            </a:r>
            <a:r>
              <a:rPr lang="en-US" sz="2000" dirty="0">
                <a:solidFill>
                  <a:srgbClr val="000000"/>
                </a:solidFill>
                <a:latin typeface="Consolas" panose="020B0609020204030204" pitchFamily="49" charset="0"/>
              </a:rPr>
              <a:t> = 0x1; </a:t>
            </a:r>
            <a:r>
              <a:rPr lang="en-US" sz="2000" dirty="0">
                <a:solidFill>
                  <a:srgbClr val="3F7F5F"/>
                </a:solidFill>
                <a:latin typeface="Consolas" panose="020B0609020204030204" pitchFamily="49" charset="0"/>
              </a:rPr>
              <a:t>// Generate pulse on 1st event</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TBCTR</a:t>
            </a:r>
            <a:r>
              <a:rPr lang="en-US" sz="2000" dirty="0">
                <a:solidFill>
                  <a:srgbClr val="000000"/>
                </a:solidFill>
                <a:latin typeface="Consolas" panose="020B0609020204030204" pitchFamily="49" charset="0"/>
              </a:rPr>
              <a:t> = 0x0; </a:t>
            </a:r>
            <a:r>
              <a:rPr lang="en-US" sz="2000" dirty="0">
                <a:solidFill>
                  <a:srgbClr val="3F7F5F"/>
                </a:solidFill>
                <a:latin typeface="Consolas" panose="020B0609020204030204" pitchFamily="49" charset="0"/>
              </a:rPr>
              <a:t>// Clear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 = 0x0000; </a:t>
            </a:r>
            <a:r>
              <a:rPr lang="en-US" sz="2000" dirty="0">
                <a:solidFill>
                  <a:srgbClr val="3F7F5F"/>
                </a:solidFill>
                <a:latin typeface="Consolas" panose="020B0609020204030204" pitchFamily="49" charset="0"/>
              </a:rPr>
              <a:t>// Phase is 0</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PHSEN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phase loading</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CLKDIV</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divide by 1 50Mhz Clock</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5000; </a:t>
            </a:r>
            <a:r>
              <a:rPr lang="en-US" sz="2000" dirty="0">
                <a:solidFill>
                  <a:srgbClr val="3F7F5F"/>
                </a:solidFill>
                <a:latin typeface="Consolas" panose="020B0609020204030204" pitchFamily="49" charset="0"/>
              </a:rPr>
              <a:t>// Set Period to 0.1ms sample. Input clock is 50MHz.</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1; </a:t>
            </a:r>
            <a:r>
              <a:rPr lang="en-US" sz="2000" dirty="0">
                <a:solidFill>
                  <a:srgbClr val="3F7F5F"/>
                </a:solidFill>
                <a:latin typeface="Consolas" panose="020B0609020204030204" pitchFamily="49" charset="0"/>
              </a:rPr>
              <a:t>// Enable SOC on A group</a:t>
            </a:r>
          </a:p>
          <a:p>
            <a:pPr marL="114300" indent="0">
              <a:spcBef>
                <a:spcPts val="0"/>
              </a:spcBef>
              <a:buNone/>
            </a:pPr>
            <a:r>
              <a:rPr lang="en-US" sz="2000" dirty="0">
                <a:solidFill>
                  <a:srgbClr val="3F7F5F"/>
                </a:solidFill>
                <a:latin typeface="Consolas" panose="020B0609020204030204" pitchFamily="49" charset="0"/>
              </a:rPr>
              <a:t>// Notice here that we are not setting CMPA or CMPB because we are not using the PWM signal EPwm7Regs.ETSEL.bit.SOCAEN = 1; //enable SOCA</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0x00; </a:t>
            </a:r>
            <a:r>
              <a:rPr lang="en-US" sz="2000" dirty="0">
                <a:solidFill>
                  <a:srgbClr val="3F7F5F"/>
                </a:solidFill>
                <a:latin typeface="Consolas" panose="020B0609020204030204" pitchFamily="49" charset="0"/>
              </a:rPr>
              <a:t>//unfreeze, and enter up count mode</a:t>
            </a:r>
          </a:p>
          <a:p>
            <a:pPr marL="114300" indent="0">
              <a:spcBef>
                <a:spcPts val="0"/>
              </a:spcBef>
              <a:buNone/>
            </a:pPr>
            <a:r>
              <a:rPr lang="en-US" sz="2000" dirty="0">
                <a:solidFill>
                  <a:srgbClr val="000000"/>
                </a:solidFill>
                <a:latin typeface="Consolas" panose="020B0609020204030204" pitchFamily="49" charset="0"/>
              </a:rPr>
              <a:t>EDIS;</a:t>
            </a:r>
            <a:endParaRPr lang="en-US" sz="200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3A5C257-07A9-4EE3-A1C4-1EB0994473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134DBF-1B71-BC3D-098A-63916CF4614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tkinson Hyperlegible Next"/>
                <a:ea typeface="Arial"/>
                <a:cs typeface="Arial"/>
                <a:sym typeface="Arial"/>
              </a:rPr>
              <a:t>FFT Code</a:t>
            </a:r>
            <a:r>
              <a:rPr lang="en-US" sz="2400" dirty="0">
                <a:solidFill>
                  <a:schemeClr val="lt1"/>
                </a:solidFill>
              </a:rPr>
              <a:t> - Setup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2E92F33-CDD5-4291-3FA7-F065867737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F780C2-F4CD-C434-0857-052FD6295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58738-2B05-9FB3-0C95-081412E8DDB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53A38D-4A41-73CB-E1E8-CE67BB1B06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4113B1-C684-BD26-61FE-01715C1897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049C8-2633-6283-201E-EF71A1515A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85115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56BB21-8E38-9EC1-613A-19C9345FA85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90D5EA2-302F-6B41-5065-7957DA22E207}"/>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EALLOW;</a:t>
            </a:r>
          </a:p>
          <a:p>
            <a:pPr marL="114300" indent="0" algn="l">
              <a:spcBef>
                <a:spcPts val="0"/>
              </a:spcBef>
              <a:buNone/>
            </a:pPr>
            <a:r>
              <a:rPr lang="en-US" sz="1050" dirty="0">
                <a:solidFill>
                  <a:srgbClr val="3F7F5F"/>
                </a:solidFill>
                <a:latin typeface="Consolas" panose="020B0609020204030204" pitchFamily="49" charset="0"/>
              </a:rPr>
              <a:t>//write configurations for all ADCs ADCA, ADCB, ADCC, ADCD</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endParaRPr lang="en-US" sz="1050" dirty="0">
              <a:solidFill>
                <a:srgbClr val="3F7F5F"/>
              </a:solidFill>
              <a:latin typeface="Consolas" panose="020B0609020204030204" pitchFamily="49" charset="0"/>
            </a:endParaRP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(ADC_ADCA,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(ADC_ADCB,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(ADC_ADCC,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(ADC_ADCD,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endParaRPr lang="en-US" sz="1050" i="1" dirty="0">
              <a:solidFill>
                <a:srgbClr val="3F7F5F"/>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//Set pulse positions to late</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//power up the ADCs</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//delay for 1ms to allow ADC time to power up</a:t>
            </a:r>
          </a:p>
          <a:p>
            <a:pPr marL="114300" indent="0" algn="l">
              <a:spcBef>
                <a:spcPts val="0"/>
              </a:spcBef>
              <a:buNone/>
            </a:pPr>
            <a:r>
              <a:rPr lang="en-US" sz="1050" dirty="0">
                <a:solidFill>
                  <a:srgbClr val="000000"/>
                </a:solidFill>
                <a:latin typeface="Consolas" panose="020B0609020204030204" pitchFamily="49" charset="0"/>
              </a:rPr>
              <a:t>DELAY_US(1000);</a:t>
            </a:r>
          </a:p>
          <a:p>
            <a:pPr marL="114300" indent="0" algn="l">
              <a:spcBef>
                <a:spcPts val="0"/>
              </a:spcBef>
              <a:buNone/>
            </a:pPr>
            <a:endParaRPr lang="en-US" sz="1050" dirty="0">
              <a:solidFill>
                <a:srgbClr val="000000"/>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//ADCB</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CHSEL</a:t>
            </a:r>
            <a:r>
              <a:rPr lang="en-US" sz="1050" dirty="0">
                <a:solidFill>
                  <a:srgbClr val="000000"/>
                </a:solidFill>
                <a:latin typeface="Consolas" panose="020B0609020204030204" pitchFamily="49" charset="0"/>
              </a:rPr>
              <a:t> = 4;      </a:t>
            </a:r>
            <a:r>
              <a:rPr lang="en-US" sz="1050" dirty="0">
                <a:solidFill>
                  <a:srgbClr val="3F7F5F"/>
                </a:solidFill>
                <a:latin typeface="Consolas" panose="020B0609020204030204" pitchFamily="49" charset="0"/>
              </a:rPr>
              <a:t>//SOC0 will convert Channel you choose Does not have to be B0, ADCIN4 </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ACQPS</a:t>
            </a:r>
            <a:r>
              <a:rPr lang="en-US" sz="1050" dirty="0">
                <a:solidFill>
                  <a:srgbClr val="000000"/>
                </a:solidFill>
                <a:latin typeface="Consolas" panose="020B0609020204030204" pitchFamily="49" charset="0"/>
              </a:rPr>
              <a:t> = 99;     </a:t>
            </a:r>
            <a:r>
              <a:rPr lang="en-US" sz="1050" dirty="0">
                <a:solidFill>
                  <a:srgbClr val="3F7F5F"/>
                </a:solidFill>
                <a:latin typeface="Consolas" panose="020B0609020204030204" pitchFamily="49" charset="0"/>
              </a:rPr>
              <a:t>//sample window is </a:t>
            </a:r>
            <a:r>
              <a:rPr lang="en-US" sz="1050" dirty="0" err="1">
                <a:solidFill>
                  <a:srgbClr val="3F7F5F"/>
                </a:solidFill>
                <a:latin typeface="Consolas" panose="020B0609020204030204" pitchFamily="49" charset="0"/>
              </a:rPr>
              <a:t>acqps</a:t>
            </a:r>
            <a:r>
              <a:rPr lang="en-US" sz="1050" dirty="0">
                <a:solidFill>
                  <a:srgbClr val="3F7F5F"/>
                </a:solidFill>
                <a:latin typeface="Consolas" panose="020B0609020204030204" pitchFamily="49" charset="0"/>
              </a:rPr>
              <a:t> + 1 SYSCLK cycles = 500ns</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TRIGSEL</a:t>
            </a:r>
            <a:r>
              <a:rPr lang="en-US" sz="1050" dirty="0">
                <a:solidFill>
                  <a:srgbClr val="000000"/>
                </a:solidFill>
                <a:latin typeface="Consolas" panose="020B0609020204030204" pitchFamily="49" charset="0"/>
              </a:rPr>
              <a:t> = 0x11; </a:t>
            </a:r>
            <a:r>
              <a:rPr lang="en-US" sz="1050" dirty="0">
                <a:solidFill>
                  <a:srgbClr val="3F7F5F"/>
                </a:solidFill>
                <a:latin typeface="Consolas" panose="020B0609020204030204" pitchFamily="49" charset="0"/>
              </a:rPr>
              <a:t>// EPWM7 ADCSOCA or another trigger you choose will trigger SOC0</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INT1SEL</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//set to last SOC that is converted and it will set INT1 flag ADCB1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INT1E</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//enable INT1 flag, originally = 1 (need to set to 1 for non-DMA)</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ADCINTFLGCLR</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ADCINT1</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//make sure INT1 flag is cleared</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INT1CONT</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 Interrupt pulses regardless of flag state</a:t>
            </a:r>
          </a:p>
          <a:p>
            <a:pPr marL="114300" indent="0" algn="l">
              <a:spcBef>
                <a:spcPts val="0"/>
              </a:spcBef>
              <a:buNone/>
            </a:pPr>
            <a:r>
              <a:rPr lang="en-US" sz="1050" dirty="0">
                <a:solidFill>
                  <a:srgbClr val="000000"/>
                </a:solidFill>
                <a:latin typeface="Consolas" panose="020B0609020204030204" pitchFamily="49" charset="0"/>
              </a:rPr>
              <a:t>EDIS;</a:t>
            </a:r>
          </a:p>
          <a:p>
            <a:pPr marL="114300" indent="0" algn="l">
              <a:spcBef>
                <a:spcPts val="0"/>
              </a:spcBef>
              <a:buNone/>
            </a:pPr>
            <a:r>
              <a:rPr lang="en-US" sz="1050" dirty="0">
                <a:solidFill>
                  <a:srgbClr val="3F7F5F"/>
                </a:solidFill>
                <a:latin typeface="Consolas" panose="020B0609020204030204" pitchFamily="49" charset="0"/>
              </a:rPr>
              <a:t>// Initialize DMA</a:t>
            </a:r>
          </a:p>
          <a:p>
            <a:pPr marL="114300" indent="0" algn="l">
              <a:spcBef>
                <a:spcPts val="0"/>
              </a:spcBef>
              <a:buNone/>
            </a:pP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2EA16CD-85B2-D711-E6C6-F64FD45D44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F700B6-0CBA-9A2E-7645-27B0DEF8016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tkinson Hyperlegible Next"/>
                <a:ea typeface="Arial"/>
                <a:cs typeface="Arial"/>
                <a:sym typeface="Arial"/>
              </a:rPr>
              <a:t>FFT Code</a:t>
            </a:r>
            <a:r>
              <a:rPr lang="en-US" sz="2400" dirty="0">
                <a:solidFill>
                  <a:schemeClr val="lt1"/>
                </a:solidFill>
              </a:rPr>
              <a:t> - Setup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067647C-FBF0-0CCE-C045-17E38F42E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8A414E-211D-F0C8-80C7-06EDA19CD7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962A39-5B1E-5E79-BF5C-906E662B96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3E3AB5-E12E-8AB5-2286-A2840C4AD2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8AE6D2-0C10-549B-0460-A3B8305CA8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9284A-E8AA-B193-41D7-667A2FD50C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42210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400190-883D-F254-E665-7716F48560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4E70FA-A29F-DE63-6C7D-ADAF71F3F54B}"/>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InitDma</a:t>
            </a:r>
            <a:r>
              <a:rPr lang="en-US" sz="650" dirty="0">
                <a:solidFill>
                  <a:srgbClr val="000000"/>
                </a:solidFill>
                <a:latin typeface="Consolas" panose="020B0609020204030204" pitchFamily="49" charset="0"/>
              </a:rPr>
              <a:t>(</a:t>
            </a: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    EALLOW;</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Overall DMA setup</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DMACTRL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HARDRESET</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Reset entire DMA module</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7F0055"/>
                </a:solidFill>
                <a:latin typeface="Consolas" panose="020B0609020204030204" pitchFamily="49" charset="0"/>
              </a:rPr>
              <a:t>asm</a:t>
            </a:r>
            <a:r>
              <a:rPr lang="en-US" sz="650" dirty="0">
                <a:solidFill>
                  <a:srgbClr val="000000"/>
                </a:solidFill>
                <a:latin typeface="Consolas" panose="020B0609020204030204" pitchFamily="49" charset="0"/>
              </a:rPr>
              <a:t>(</a:t>
            </a:r>
            <a:r>
              <a:rPr lang="en-US" sz="650" dirty="0">
                <a:solidFill>
                  <a:srgbClr val="2A00FF"/>
                </a:solidFill>
                <a:latin typeface="Consolas" panose="020B0609020204030204" pitchFamily="49" charset="0"/>
              </a:rPr>
              <a:t>" NOP"</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1 cycle delay for HARDRESET to take effect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DEBUGCTRL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FREE</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DMA unaffected by emulation halt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PRIORITYCTRL1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CH1PRIORITY</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Not using CH1 Priority mode</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Configure DMA channel 1 to read the ADC results</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MODE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0x8901;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0x8901 = 1000 1001 0000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CHINTE = interrupt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CONTINUOUS = re-</a:t>
            </a:r>
            <a:r>
              <a:rPr lang="en-US" sz="650" dirty="0" err="1">
                <a:solidFill>
                  <a:srgbClr val="3F7F5F"/>
                </a:solidFill>
                <a:latin typeface="Consolas" panose="020B0609020204030204" pitchFamily="49" charset="0"/>
              </a:rPr>
              <a:t>init</a:t>
            </a:r>
            <a:r>
              <a:rPr lang="en-US" sz="650" dirty="0">
                <a:solidFill>
                  <a:srgbClr val="3F7F5F"/>
                </a:solidFill>
                <a:latin typeface="Consolas" panose="020B0609020204030204" pitchFamily="49" charset="0"/>
              </a:rPr>
              <a:t> after transfer complete</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PERINTE = peripheral interrupt trigger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Set Channel 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Select DMA interrupt source                 /******** TRIGGER SOURCE FOR EACH DMA CHANNEL (unlisted numbers are reserved) ********/</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 = 6;    </a:t>
            </a:r>
            <a:r>
              <a:rPr lang="en-US" sz="650" dirty="0">
                <a:solidFill>
                  <a:srgbClr val="3F7F5F"/>
                </a:solidFill>
                <a:latin typeface="Consolas" panose="020B0609020204030204" pitchFamily="49" charset="0"/>
              </a:rPr>
              <a:t>// 0=none       6=ADCBINT1  12=ADCCINT2  18=ADCDINT3  32=XINT4      40=EPWM3SOCA  46=EPWM6SOCA  52=EPWM9SOCA   58=EPWM12SOCA  72=MREVTA    98=SD1FLT4    110=SPIRXDMAA     132=USBA_EPx_TX1</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1=ADCAINT1   7=ADCBINT2  13=ADCCINT3  19=ADCDINT4  33=XINT5      41=EPWM3SOCB  47=EPWM6SOCB  53=EPWM9SOCB   59=EPWM12SOCB  73=MXEVTB    99=SD2FLT1    111=SPITXDMAB     133=USBA_EPx_RX2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CH3</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2=ADCAINT2   8=ADCBINT3  14=ADCCINT4  20=ADCDEVT   36=EPWM1SOCA  42=EPWM4SOCA  48=EPWM7SOCA  54=EPWM10SOCA  68=TINT0       74=MREVTB   100=SD2FLT2    112=SPIRXDMAB     134=USBA_EPx_TX2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CH4</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3=ADCAINT3   9=ADCBINT4  15=ADCCEVT   29=XINT1     37=EPWM1SOCB  43=EPWM4SOCB  49=EPWM7SOCB  55=EPWM10SOCB  69=TINT1       95=SD1FLT1  101=SD2FLT3    113=SPITXDMAC     135=USBA_EPx_RX3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CH5</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4=ADCAINT4  10=ADCBEVT   16=ADCDINT1  30=XINT2     38=EPWM2SOCA  44=EPWM5SOCA  50=EPWM8SOCA  56=EPWM11SOCA  70=TINT2       96=SD1FLT2  102=SD2FLT4    114=SPIRXDMAC     136=USBA_EPx_TX3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CH6</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5=ADCAEVT   11=ADCCINT1  17=ADCDINT2  31=XINT3     39=EPWM2SOCB  45=EPWM5SOCB  51=EPWM8SOCB  57=EPWM11SOCB  71=MXEVTA      97=SD1FLT3  109=SPITXDMAA  131=USBA_EPx_RX1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DMA trigger source lock</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BURST_SIZE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BURSTSIZE</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1 word per burst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TRANSFER_SIZE</a:t>
            </a:r>
            <a:r>
              <a:rPr lang="en-US" sz="650" dirty="0">
                <a:solidFill>
                  <a:srgbClr val="000000"/>
                </a:solidFill>
                <a:latin typeface="Consolas" panose="020B0609020204030204" pitchFamily="49" charset="0"/>
              </a:rPr>
              <a:t> = RFFT_SIZE-1;                            </a:t>
            </a:r>
            <a:r>
              <a:rPr lang="en-US" sz="650" dirty="0">
                <a:solidFill>
                  <a:srgbClr val="3F7F5F"/>
                </a:solidFill>
                <a:latin typeface="Consolas" panose="020B0609020204030204" pitchFamily="49" charset="0"/>
              </a:rPr>
              <a:t>// RFFT_SIZE bursts per transfer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SRC_TRANSFER_STEP</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add 0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)&amp;AdcbResultRegs.</a:t>
            </a:r>
            <a:r>
              <a:rPr lang="en-US" sz="650" dirty="0">
                <a:solidFill>
                  <a:srgbClr val="0000C0"/>
                </a:solidFill>
                <a:latin typeface="Consolas" panose="020B0609020204030204" pitchFamily="49" charset="0"/>
              </a:rPr>
              <a:t>ADCRESULT0</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SRC start address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DST_TRANSFER_STEP</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add 1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t>
            </a:r>
            <a:r>
              <a:rPr lang="en-US" sz="650" dirty="0" err="1">
                <a:solidFill>
                  <a:srgbClr val="000000"/>
                </a:solidFill>
                <a:latin typeface="Consolas" panose="020B0609020204030204" pitchFamily="49" charset="0"/>
              </a:rPr>
              <a:t>AdcPingBufRaw</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DST start address Ping buffer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CONTROL</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0x0091;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0x0091 = 1001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ERRCLR = clear SYNCERR bit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PERINTCLR = clear </a:t>
            </a:r>
            <a:r>
              <a:rPr lang="en-US" sz="650" u="sng" dirty="0" err="1">
                <a:solidFill>
                  <a:srgbClr val="3F7F5F"/>
                </a:solidFill>
                <a:latin typeface="Consolas" panose="020B0609020204030204" pitchFamily="49" charset="0"/>
              </a:rPr>
              <a:t>periph</a:t>
            </a:r>
            <a:r>
              <a:rPr lang="en-US" sz="650" u="sng" dirty="0">
                <a:solidFill>
                  <a:srgbClr val="3F7F5F"/>
                </a:solidFill>
                <a:latin typeface="Consolas" panose="020B0609020204030204" pitchFamily="49" charset="0"/>
              </a:rPr>
              <a:t> event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RUN = Enable channel</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Finish up</a:t>
            </a:r>
          </a:p>
          <a:p>
            <a:pPr marL="114300" indent="0" algn="l">
              <a:spcBef>
                <a:spcPts val="0"/>
              </a:spcBef>
              <a:buNone/>
            </a:pPr>
            <a:r>
              <a:rPr lang="en-US" sz="650" dirty="0">
                <a:solidFill>
                  <a:srgbClr val="000000"/>
                </a:solidFill>
                <a:latin typeface="Consolas" panose="020B0609020204030204" pitchFamily="49" charset="0"/>
              </a:rPr>
              <a:t>    EDIS;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PieCtrlRegs.</a:t>
            </a:r>
            <a:r>
              <a:rPr lang="en-US" sz="650" dirty="0">
                <a:solidFill>
                  <a:srgbClr val="0000C0"/>
                </a:solidFill>
                <a:latin typeface="Consolas" panose="020B0609020204030204" pitchFamily="49" charset="0"/>
              </a:rPr>
              <a:t>PIEIER7</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INTx1</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Enable DINTCH1 in PIE group 7</a:t>
            </a:r>
          </a:p>
          <a:p>
            <a:pPr marL="114300" indent="0" algn="l">
              <a:spcBef>
                <a:spcPts val="0"/>
              </a:spcBef>
              <a:buNone/>
            </a:pPr>
            <a:r>
              <a:rPr lang="en-US" sz="650" dirty="0">
                <a:solidFill>
                  <a:srgbClr val="000000"/>
                </a:solidFill>
                <a:latin typeface="Consolas" panose="020B0609020204030204" pitchFamily="49" charset="0"/>
              </a:rPr>
              <a:t>    IER |= M_INT7;                      </a:t>
            </a:r>
            <a:r>
              <a:rPr lang="en-US" sz="650" dirty="0">
                <a:solidFill>
                  <a:srgbClr val="3F7F5F"/>
                </a:solidFill>
                <a:latin typeface="Consolas" panose="020B0609020204030204" pitchFamily="49" charset="0"/>
              </a:rPr>
              <a:t>// Enable INT7 in IER to enable PIE group</a:t>
            </a: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a:t>
            </a:r>
            <a:endParaRPr lang="en-US" sz="6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9F8559D3-A721-EEFF-24F7-6B8CF6B91B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EAA1A60-A0F9-5976-1662-D67650F2CD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Setup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BAF46EA-8873-7920-9979-5B2CE5003C7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D3E721-470D-B30A-4306-511BB5D83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6F5B39-8BB2-B41C-12DD-421C602064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B26AD4-4059-5777-B408-9A02F0F288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9D35C-2C68-3D3D-E41B-C86E2A0D9C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80AD54-6AD7-F664-7488-328D5FE5E2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36108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21EFC660-AB20-D2F7-17A7-CBB2311016D2}"/>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C4B0BCE8-817D-6DB8-2C03-2DEF1419A603}"/>
              </a:ext>
            </a:extLst>
          </p:cNvPr>
          <p:cNvSpPr txBox="1"/>
          <p:nvPr/>
        </p:nvSpPr>
        <p:spPr>
          <a:xfrm>
            <a:off x="589449" y="687697"/>
            <a:ext cx="10602506" cy="5274796"/>
          </a:xfrm>
          <a:prstGeom prst="rect">
            <a:avLst/>
          </a:prstGeom>
          <a:noFill/>
          <a:ln>
            <a:noFill/>
          </a:ln>
        </p:spPr>
        <p:txBody>
          <a:bodyPr spcFirstLastPara="1" wrap="square" lIns="91425" tIns="45700" rIns="91425" bIns="45700" anchor="ctr" anchorCtr="0">
            <a:noAutofit/>
          </a:bodyPr>
          <a:lstStyle/>
          <a:p>
            <a:pPr lvl="0" algn="ctr"/>
            <a:r>
              <a:rPr lang="en-US" sz="4000" b="1" dirty="0">
                <a:solidFill>
                  <a:schemeClr val="lt1"/>
                </a:solidFill>
              </a:rPr>
              <a:t>All that’s really happening is that we u</a:t>
            </a:r>
            <a:r>
              <a:rPr lang="en-US" sz="4000" b="1" dirty="0">
                <a:solidFill>
                  <a:schemeClr val="bg1"/>
                </a:solidFill>
              </a:rPr>
              <a:t>se </a:t>
            </a:r>
            <a:r>
              <a:rPr lang="en-US" sz="4000" b="1" dirty="0" err="1">
                <a:solidFill>
                  <a:schemeClr val="bg1"/>
                </a:solidFill>
              </a:rPr>
              <a:t>ePWM</a:t>
            </a:r>
            <a:r>
              <a:rPr lang="en-US" sz="4000" b="1" dirty="0">
                <a:solidFill>
                  <a:schemeClr val="bg1"/>
                </a:solidFill>
              </a:rPr>
              <a:t> as a deterministic timer to trigger the ADC, which then feeds into the DMA until the buffer is populated!</a:t>
            </a:r>
            <a:endParaRPr lang="en-US" sz="3200" b="1" dirty="0">
              <a:solidFill>
                <a:schemeClr val="bg1"/>
              </a:solidFill>
            </a:endParaRPr>
          </a:p>
        </p:txBody>
      </p:sp>
      <p:pic>
        <p:nvPicPr>
          <p:cNvPr id="265" name="Google Shape;265;p37">
            <a:extLst>
              <a:ext uri="{FF2B5EF4-FFF2-40B4-BE49-F238E27FC236}">
                <a16:creationId xmlns:a16="http://schemas.microsoft.com/office/drawing/2014/main" id="{21F686F3-535F-4CB4-F985-CB16F7E816E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18D13090-8966-E1A3-79FD-CFE861E6B3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1D1EFC61-A0C1-46CB-7643-2E8383DD0D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C0DF0D97-0E72-1171-56ED-1640C5D7E5B0}"/>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F83459AA-7F5A-29B9-DA37-D96BA53E515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C3E9608-C00B-A03F-B8D1-08C98846A189}"/>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4785565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F3C5B9-E0F4-BB26-D61A-D0732DC631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E44202-8AB7-0DFF-75FA-2D9EB37802D5}"/>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005032"/>
                </a:solidFill>
                <a:latin typeface="Consolas" panose="020B0609020204030204" pitchFamily="49" charset="0"/>
              </a:rPr>
              <a:t>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a:t>
            </a:r>
          </a:p>
          <a:p>
            <a:pPr marL="114300" indent="0" algn="l">
              <a:spcBef>
                <a:spcPts val="0"/>
              </a:spcBef>
              <a:buNone/>
            </a:pPr>
            <a:r>
              <a:rPr lang="en-US" sz="1400" dirty="0">
                <a:solidFill>
                  <a:srgbClr val="7F0055"/>
                </a:solidFill>
                <a:latin typeface="Consolas" panose="020B0609020204030204" pitchFamily="49" charset="0"/>
              </a:rPr>
              <a:t>float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samplePeriod</a:t>
            </a:r>
            <a:r>
              <a:rPr lang="en-US" sz="1400" dirty="0">
                <a:solidFill>
                  <a:srgbClr val="000000"/>
                </a:solidFill>
                <a:latin typeface="Consolas" panose="020B0609020204030204" pitchFamily="49" charset="0"/>
              </a:rPr>
              <a:t> = 0.0001;</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3F7F5F"/>
                </a:solidFill>
                <a:latin typeface="Consolas" panose="020B0609020204030204" pitchFamily="49" charset="0"/>
              </a:rPr>
              <a:t>// Clear input buffers:</a:t>
            </a: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0.0f;</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FFTSize</a:t>
            </a:r>
            <a:r>
              <a:rPr lang="en-US" sz="1400" dirty="0">
                <a:solidFill>
                  <a:srgbClr val="000000"/>
                </a:solidFill>
                <a:latin typeface="Consolas" panose="020B0609020204030204" pitchFamily="49" charset="0"/>
              </a:rPr>
              <a:t>   = RFFT_SIZE;</a:t>
            </a:r>
          </a:p>
          <a:p>
            <a:pPr marL="114300" indent="0" algn="l">
              <a:spcBef>
                <a:spcPts val="0"/>
              </a:spcBef>
              <a:buNone/>
            </a:pPr>
            <a:r>
              <a:rPr lang="de-DE" sz="1400" dirty="0">
                <a:solidFill>
                  <a:srgbClr val="000000"/>
                </a:solidFill>
                <a:latin typeface="Consolas" panose="020B0609020204030204" pitchFamily="49" charset="0"/>
              </a:rPr>
              <a:t>hnd_rfft-&gt;</a:t>
            </a:r>
            <a:r>
              <a:rPr lang="de-DE" sz="1400" dirty="0">
                <a:solidFill>
                  <a:srgbClr val="0000C0"/>
                </a:solidFill>
                <a:latin typeface="Consolas" panose="020B0609020204030204" pitchFamily="49" charset="0"/>
              </a:rPr>
              <a:t>FFTStages</a:t>
            </a:r>
            <a:r>
              <a:rPr lang="de-DE" sz="1400" dirty="0">
                <a:solidFill>
                  <a:srgbClr val="000000"/>
                </a:solidFill>
                <a:latin typeface="Consolas" panose="020B0609020204030204" pitchFamily="49" charset="0"/>
              </a:rPr>
              <a:t> = RFFT_STAGES;</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InBuf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//Input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OutBuf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//Output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MagBuf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//Magnitude buffer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CosSinBuf</a:t>
            </a:r>
            <a:r>
              <a:rPr lang="en-US" sz="1400" dirty="0">
                <a:solidFill>
                  <a:srgbClr val="000000"/>
                </a:solidFill>
                <a:latin typeface="Consolas" panose="020B0609020204030204" pitchFamily="49" charset="0"/>
              </a:rPr>
              <a:t> = &amp;RFFTF32Coef[0];  </a:t>
            </a:r>
            <a:r>
              <a:rPr lang="en-US" sz="1400" dirty="0">
                <a:solidFill>
                  <a:srgbClr val="3F7F5F"/>
                </a:solidFill>
                <a:latin typeface="Consolas" panose="020B0609020204030204" pitchFamily="49" charset="0"/>
              </a:rPr>
              <a:t>//Twiddle factor buffer</a:t>
            </a:r>
          </a:p>
          <a:p>
            <a:pPr marL="114300" indent="0" algn="l">
              <a:spcBef>
                <a:spcPts val="0"/>
              </a:spcBef>
              <a:buNone/>
            </a:pPr>
            <a:r>
              <a:rPr lang="en-US" sz="1400" dirty="0">
                <a:solidFill>
                  <a:srgbClr val="642880"/>
                </a:solidFill>
                <a:latin typeface="Consolas" panose="020B0609020204030204" pitchFamily="49" charset="0"/>
              </a:rPr>
              <a:t>RFFT_f32_sincostable</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//Calculate twiddle factor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output buffer</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RFFT_SIZE/2;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magnitude buffer</a:t>
            </a:r>
          </a:p>
          <a:p>
            <a:pPr marL="114300" indent="0" algn="l">
              <a:spcBef>
                <a:spcPts val="0"/>
              </a:spcBef>
              <a:buNone/>
            </a:pPr>
            <a:r>
              <a:rPr lang="en-US" sz="1400" dirty="0">
                <a:solidFill>
                  <a:srgbClr val="000000"/>
                </a:solidFill>
                <a:latin typeface="Consolas" panose="020B0609020204030204" pitchFamily="49" charset="0"/>
              </a:rPr>
              <a:t>}</a:t>
            </a:r>
            <a:endParaRPr lang="en-US" sz="140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6826D1A-F604-5149-C931-6432A1DA91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A11AE3-3627-1B6D-76A7-64204644F88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Main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D3EF529-7B5D-C398-305E-FAD5519FEBF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13C6E3-1454-C152-3ECF-79EE4A7CEE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102055-6129-D256-301A-6DABD2EC4D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D231F97-DA16-38A0-C9D9-98BED612E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D10B14-230C-9223-BDE3-D3CAB29335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0C1C93-9766-56C3-E8A2-68C905C2D7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94034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0629C4-242A-EA36-118F-7A9189C199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AA41BBA-3A28-62C9-9846-D51805A96271}"/>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7F0055"/>
                </a:solidFill>
                <a:latin typeface="Consolas" panose="020B0609020204030204" pitchFamily="49" charset="0"/>
              </a:rPr>
              <a:t>while</a:t>
            </a:r>
            <a:r>
              <a:rPr lang="en-US" sz="1050" dirty="0">
                <a:solidFill>
                  <a:srgbClr val="000000"/>
                </a:solidFill>
                <a:latin typeface="Consolas" panose="020B0609020204030204" pitchFamily="49" charset="0"/>
              </a:rPr>
              <a:t>(1)</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results:</a:t>
            </a:r>
          </a:p>
          <a:p>
            <a:pPr marL="114300" indent="0" algn="l">
              <a:spcBef>
                <a:spcPts val="0"/>
              </a:spcBef>
              <a:buNone/>
            </a:pPr>
            <a:r>
              <a:rPr lang="nn-NO" sz="1050" dirty="0">
                <a:solidFill>
                  <a:srgbClr val="000000"/>
                </a:solidFill>
                <a:latin typeface="Consolas" panose="020B0609020204030204" pitchFamily="49" charset="0"/>
              </a:rPr>
              <a:t>                fft_input[i] = AdcPingBufRaw[i]*3.0/4095.0;  </a:t>
            </a:r>
            <a:r>
              <a:rPr lang="nn-NO" sz="1050" dirty="0">
                <a:solidFill>
                  <a:srgbClr val="3F7F5F"/>
                </a:solidFill>
                <a:latin typeface="Consolas" panose="020B0609020204030204" pitchFamily="49" charset="0"/>
              </a:rPr>
              <a:t>// ping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]*3.0/4095.0;  </a:t>
            </a:r>
            <a:r>
              <a:rPr lang="en-US" sz="1050" dirty="0">
                <a:solidFill>
                  <a:srgbClr val="3F7F5F"/>
                </a:solidFill>
                <a:latin typeface="Consolas" panose="020B0609020204030204" pitchFamily="49" charset="0"/>
              </a:rPr>
              <a:t>// pong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Send the </a:t>
            </a:r>
            <a:r>
              <a:rPr lang="en-US" sz="1050" dirty="0" err="1">
                <a:solidFill>
                  <a:srgbClr val="3F7F5F"/>
                </a:solidFill>
                <a:latin typeface="Consolas" panose="020B0609020204030204" pitchFamily="49" charset="0"/>
              </a:rPr>
              <a:t>fft</a:t>
            </a:r>
            <a:r>
              <a:rPr lang="en-US" sz="1050" dirty="0">
                <a:solidFill>
                  <a:srgbClr val="3F7F5F"/>
                </a:solidFill>
                <a:latin typeface="Consolas" panose="020B0609020204030204" pitchFamily="49" charset="0"/>
              </a:rPr>
              <a:t> data to be calculated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RFFT_f32_mag_TMU0</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//Calculate magnitude</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Ignore the bias ( low frequencies) and find the next max frequency</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=5;i&lt;(RFFT_SIZE/2);</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]&gt;</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6BE6D19A-5452-2B18-C85C-51F6DEF0E0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3879E4-8F0A-EAF2-5154-7ED80C2608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tkinson Hyperlegible Next"/>
                <a:ea typeface="Arial"/>
                <a:cs typeface="Arial"/>
                <a:sym typeface="Arial"/>
              </a:rPr>
              <a:t>FFT Code</a:t>
            </a:r>
            <a:r>
              <a:rPr lang="en-US" sz="2400" dirty="0">
                <a:solidFill>
                  <a:schemeClr val="lt1"/>
                </a:solidFill>
              </a:rPr>
              <a:t> - Main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102D66E-7393-F64A-E28A-F642F2AC06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B81ECE-13ED-310C-2F32-EE0F8ED48D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58935D-5E4C-4AEC-A4B1-D5ED76D61B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607A72-92E8-B8B7-EE96-9CCF630A73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ACFF2B-B211-F229-FBD1-BDA1D1D41A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42D4EF-43B9-21DF-F9DA-B7A3C68CE0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016087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6DE42A-F20F-C1A1-C618-722C23195F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BE4398-DABB-154A-33E7-9AF4925D2D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t>Given that we have the </a:t>
            </a:r>
            <a:r>
              <a:rPr lang="en-US" sz="2400" dirty="0" err="1"/>
              <a:t>ePWM</a:t>
            </a:r>
            <a:r>
              <a:rPr lang="en-US" sz="2400" dirty="0"/>
              <a:t> trigger the SOCA every 0.1ms and the FFT requires 1024 values, it thus takes 102.4ms for the data to fully be loaded into the buffers. </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Thus, to compute the FFT’s full pipeline it takes approximately 10Hz!</a:t>
            </a:r>
          </a:p>
        </p:txBody>
      </p:sp>
      <p:sp>
        <p:nvSpPr>
          <p:cNvPr id="119" name="Google Shape;119;p29">
            <a:extLst>
              <a:ext uri="{FF2B5EF4-FFF2-40B4-BE49-F238E27FC236}">
                <a16:creationId xmlns:a16="http://schemas.microsoft.com/office/drawing/2014/main" id="{54643988-F678-D425-3BD4-7585145F51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FBF429-F955-86D0-8083-A9FAB1D763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8159945-3D66-7903-6E66-7B94339029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75CFC1-1D15-B365-A2AF-7713F8970A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B215CE-AEFA-8D62-F131-805B10DFE2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7A4ED-4E3E-015D-0BC3-6EDF5495A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9D3F5EC-F133-69BD-FBBD-90B47565E1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1F260F-D310-6BC5-AC97-769799A639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6909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C638A4-F765-FEFC-3482-D8326604041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972CC1-6DF8-C140-C0AD-26D8DDFBDAF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FIR Filters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31B6DEE-FD88-5270-5207-5AD806407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9AA2069-069B-2F17-657B-BFFDDABFF01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681EE2C-173F-9BE0-497A-96F0E114B9E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41B976F-231B-489E-9CEF-714084DB8B3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BC63CD-BF15-40E8-7AFC-3CB305A7A1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1E599DF-5A3F-C139-F991-698A6267585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F30FCCD-F8C8-7EA2-011E-BE1AD7FD4FB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1D64D91-7B46-E35D-E635-66B21AF7DA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6A8A30-1259-8DDB-B6F5-A0C284376D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59306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A120AC-2D20-9FCC-03E3-64935AF72A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4357D04-8CAC-6E2F-38FC-90FEF45B86F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cs typeface="Arial"/>
                <a:sym typeface="Arial"/>
              </a:rPr>
              <a:t>Imagine you are building a robot that has an analog distance sensor, you feed it into your ADC and look at the output.</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Instead of a smooth line telling you the wall is exactly 10cm away, the signal looks noisy.</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rPr>
              <a:t>Intuitively</a:t>
            </a:r>
            <a:r>
              <a:rPr lang="en-US" dirty="0">
                <a:latin typeface="+mj-lt"/>
                <a:cs typeface="Arial"/>
                <a:sym typeface="Arial"/>
              </a:rPr>
              <a:t> how would you smooth that data (think simple)?</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You can just take the average of the last 5 points and the noise, spikes will attenuate!</a:t>
            </a:r>
            <a:endParaRPr lang="en-US" dirty="0">
              <a:latin typeface="+mj-lt"/>
            </a:endParaRPr>
          </a:p>
        </p:txBody>
      </p:sp>
      <p:sp>
        <p:nvSpPr>
          <p:cNvPr id="119" name="Google Shape;119;p29">
            <a:extLst>
              <a:ext uri="{FF2B5EF4-FFF2-40B4-BE49-F238E27FC236}">
                <a16:creationId xmlns:a16="http://schemas.microsoft.com/office/drawing/2014/main" id="{70DD9B02-892E-ED37-8755-51E765C06D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459597-2113-2076-9C08-E130E0609B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39DAADA-EC94-6652-B755-75735C586B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EC4B05-6FCA-DEC4-830C-4F6E86BECF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A0992B-0743-78A4-2DBE-676B191BD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4DCFF6-0041-3427-173B-980164462D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B38ED6-8EDA-CECD-390E-374296B0F4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9B5B17-596E-49A3-DBC0-7DAE074D07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8705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E22ADC-56DC-2E50-0698-A77C1FC20F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62B5A9-5F3A-0AD9-E9B9-94F79E775C9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rPr>
                  <a:t>Mathematically, at our current time step </a:t>
                </a:r>
                <a14:m>
                  <m:oMath xmlns:m="http://schemas.openxmlformats.org/officeDocument/2006/math">
                    <m:r>
                      <m:rPr>
                        <m:sty m:val="p"/>
                      </m:rPr>
                      <a:rPr lang="en-US" b="0" i="1" smtClean="0">
                        <a:latin typeface="Cambria Math" panose="02040503050406030204" pitchFamily="18" charset="0"/>
                      </a:rPr>
                      <m:t>n</m:t>
                    </m:r>
                  </m:oMath>
                </a14:m>
                <a:r>
                  <a:rPr lang="en-US" dirty="0">
                    <a:latin typeface="+mj-lt"/>
                  </a:rPr>
                  <a:t>, our filtered output </a:t>
                </a:r>
                <a14:m>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based on our noisy input's </a:t>
                </a:r>
                <a14:m>
                  <m:oMath xmlns:m="http://schemas.openxmlformats.org/officeDocument/2006/math">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looks like this:</a:t>
                </a: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5</m:t>
                          </m:r>
                        </m:den>
                      </m:f>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−1</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−2</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−3</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−4</m:t>
                      </m:r>
                      <m:r>
                        <a:rPr lang="en-US" i="1">
                          <a:latin typeface="Cambria Math" panose="02040503050406030204" pitchFamily="18" charset="0"/>
                        </a:rPr>
                        <m:t>]</m:t>
                      </m:r>
                    </m:oMath>
                  </m:oMathPara>
                </a14:m>
                <a:endParaRPr lang="en-US" dirty="0">
                  <a:latin typeface="+mj-lt"/>
                </a:endParaRP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r>
                  <a:rPr lang="en-US" dirty="0">
                    <a:latin typeface="+mj-lt"/>
                  </a:rPr>
                  <a:t>Without realizing it, you have just designed your first Finite Impulse Response (FIR) Filter!</a:t>
                </a:r>
              </a:p>
            </p:txBody>
          </p:sp>
        </mc:Choice>
        <mc:Fallback xmlns="">
          <p:sp>
            <p:nvSpPr>
              <p:cNvPr id="118" name="Google Shape;118;p29">
                <a:extLst>
                  <a:ext uri="{FF2B5EF4-FFF2-40B4-BE49-F238E27FC236}">
                    <a16:creationId xmlns:a16="http://schemas.microsoft.com/office/drawing/2014/main" id="{9E62B5A9-5F3A-0AD9-E9B9-94F79E775C9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13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EAF1FD-B92F-EA09-3B9C-73417E0AD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43ABF0-C76A-551B-62BB-3D90715B9AC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3EFA88D-DFBD-23F0-EEA9-DC7DF7D894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766D10C-65C2-3BBE-B89C-9795D01E4A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DDD29A-A526-EAA4-8460-33AC2B4365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AA880B-6C7B-6345-7079-D46C9725FB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2560E0-4067-0993-2AD3-FF1505CB28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6DEA3-77BC-789E-DEAA-1436866A76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24951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6BBB7A-42D0-7A47-1A9F-6CD1D0C1A87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5BEE2C8-082C-27F7-023B-19E92135B6E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latin typeface="+mj-lt"/>
                  </a:rPr>
                  <a:t>Note the structure, we have a set of </a:t>
                </a:r>
                <a:r>
                  <a:rPr lang="en-US" sz="2000" b="1" dirty="0">
                    <a:latin typeface="+mj-lt"/>
                  </a:rPr>
                  <a:t>weights </a:t>
                </a:r>
                <a:r>
                  <a:rPr lang="en-US" sz="2000" dirty="0">
                    <a:latin typeface="+mj-lt"/>
                  </a:rPr>
                  <a:t>(in the previous case, every weight was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5</m:t>
                        </m:r>
                      </m:den>
                    </m:f>
                  </m:oMath>
                </a14:m>
                <a:r>
                  <a:rPr lang="en-US" sz="2000" dirty="0">
                    <a:latin typeface="+mj-lt"/>
                  </a:rPr>
                  <a:t> ) multiplied by a history of </a:t>
                </a:r>
                <a:r>
                  <a:rPr lang="en-US" sz="2000" b="1" dirty="0">
                    <a:latin typeface="+mj-lt"/>
                  </a:rPr>
                  <a:t>states </a:t>
                </a:r>
                <a:r>
                  <a:rPr lang="en-US" sz="2000" dirty="0">
                    <a:latin typeface="+mj-lt"/>
                  </a:rPr>
                  <a:t>(our current and past sensor readings). </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We can generalize this idea into the fundamental equation of an FIR filter of order </a:t>
                </a:r>
                <a14:m>
                  <m:oMath xmlns:m="http://schemas.openxmlformats.org/officeDocument/2006/math">
                    <m:r>
                      <m:rPr>
                        <m:sty m:val="p"/>
                      </m:rPr>
                      <a:rPr lang="en-US" sz="2000" b="0" i="1" smtClean="0">
                        <a:latin typeface="Cambria Math" panose="02040503050406030204" pitchFamily="18" charset="0"/>
                      </a:rPr>
                      <m:t>M</m:t>
                    </m:r>
                  </m:oMath>
                </a14:m>
                <a:r>
                  <a:rPr lang="en-US" sz="2000" dirty="0">
                    <a:latin typeface="+mj-lt"/>
                  </a:rPr>
                  <a:t>.</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rPr>
                        <m:t>y</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sty m:val="p"/>
                              <m:brk m:alnAt="23"/>
                            </m:rPr>
                            <a:rPr lang="en-US" sz="2000" b="0" i="1" smtClean="0">
                              <a:latin typeface="Cambria Math" panose="02040503050406030204" pitchFamily="18" charset="0"/>
                            </a:rPr>
                            <m:t>k</m:t>
                          </m:r>
                          <m:r>
                            <a:rPr lang="en-US" sz="2000" b="0" i="1" smtClean="0">
                              <a:latin typeface="Cambria Math" panose="02040503050406030204" pitchFamily="18" charset="0"/>
                            </a:rPr>
                            <m:t>=0</m:t>
                          </m:r>
                        </m:sub>
                        <m:sup>
                          <m:r>
                            <m:rPr>
                              <m:sty m:val="p"/>
                            </m:rPr>
                            <a:rPr lang="en-US" sz="2000" b="0" i="1" smtClean="0">
                              <a:latin typeface="Cambria Math" panose="02040503050406030204" pitchFamily="18" charset="0"/>
                            </a:rPr>
                            <m:t>M</m:t>
                          </m:r>
                        </m:sup>
                        <m:e>
                          <m:sSub>
                            <m:sSubPr>
                              <m:ctrlPr>
                                <a:rPr lang="en-US" sz="2000" b="0" i="1" smtClean="0">
                                  <a:latin typeface="Cambria Math" panose="02040503050406030204" pitchFamily="18" charset="0"/>
                                </a:rPr>
                              </m:ctrlPr>
                            </m:sSubPr>
                            <m:e>
                              <m:r>
                                <m:rPr>
                                  <m:sty m:val="p"/>
                                </m:rPr>
                                <a:rPr lang="en-US" sz="2000" b="0" i="1" smtClean="0">
                                  <a:latin typeface="Cambria Math" panose="02040503050406030204" pitchFamily="18" charset="0"/>
                                </a:rPr>
                                <m:t>b</m:t>
                              </m:r>
                            </m:e>
                            <m:sub>
                              <m:r>
                                <m:rPr>
                                  <m:sty m:val="p"/>
                                </m:rPr>
                                <a:rPr lang="en-US" sz="2000" b="0" i="1" smtClean="0">
                                  <a:latin typeface="Cambria Math" panose="02040503050406030204" pitchFamily="18" charset="0"/>
                                </a:rPr>
                                <m:t>k</m:t>
                              </m:r>
                            </m:sub>
                          </m:sSub>
                          <m:r>
                            <m:rPr>
                              <m:sty m:val="p"/>
                            </m:rPr>
                            <a:rPr lang="en-US" sz="2000" b="0" i="1" smtClean="0">
                              <a:latin typeface="Cambria Math" panose="02040503050406030204" pitchFamily="18" charset="0"/>
                            </a:rPr>
                            <m:t>x</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k</m:t>
                          </m:r>
                          <m:r>
                            <a:rPr lang="en-US" sz="2000" b="0" i="1" smtClean="0">
                              <a:latin typeface="Cambria Math" panose="02040503050406030204" pitchFamily="18" charset="0"/>
                            </a:rPr>
                            <m:t>]</m:t>
                          </m:r>
                        </m:e>
                      </m:nary>
                    </m:oMath>
                  </m:oMathPara>
                </a14:m>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Here, </a:t>
                </a:r>
                <a14:m>
                  <m:oMath xmlns:m="http://schemas.openxmlformats.org/officeDocument/2006/math">
                    <m:sSub>
                      <m:sSubPr>
                        <m:ctrlPr>
                          <a:rPr lang="en-US" sz="2000" i="1">
                            <a:latin typeface="Cambria Math" panose="02040503050406030204" pitchFamily="18" charset="0"/>
                          </a:rPr>
                        </m:ctrlPr>
                      </m:sSubPr>
                      <m:e>
                        <m:r>
                          <m:rPr>
                            <m:sty m:val="p"/>
                          </m:rPr>
                          <a:rPr lang="en-US" sz="2000" i="1">
                            <a:latin typeface="Cambria Math" panose="02040503050406030204" pitchFamily="18" charset="0"/>
                          </a:rPr>
                          <m:t>b</m:t>
                        </m:r>
                      </m:e>
                      <m:sub>
                        <m:r>
                          <m:rPr>
                            <m:sty m:val="p"/>
                          </m:rPr>
                          <a:rPr lang="en-US" sz="2000" i="1">
                            <a:latin typeface="Cambria Math" panose="02040503050406030204" pitchFamily="18" charset="0"/>
                          </a:rPr>
                          <m:t>k</m:t>
                        </m:r>
                      </m:sub>
                    </m:sSub>
                  </m:oMath>
                </a14:m>
                <a:r>
                  <a:rPr lang="en-US" sz="2000" dirty="0">
                    <a:latin typeface="+mj-lt"/>
                  </a:rPr>
                  <a:t> represents our filter coefficients (the “weights”).</a:t>
                </a:r>
              </a:p>
            </p:txBody>
          </p:sp>
        </mc:Choice>
        <mc:Fallback xmlns="">
          <p:sp>
            <p:nvSpPr>
              <p:cNvPr id="118" name="Google Shape;118;p29">
                <a:extLst>
                  <a:ext uri="{FF2B5EF4-FFF2-40B4-BE49-F238E27FC236}">
                    <a16:creationId xmlns:a16="http://schemas.microsoft.com/office/drawing/2014/main" id="{D5BEE2C8-082C-27F7-023B-19E92135B6E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88F0DCC-E58A-7208-FB5B-6928739D47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795F52-EE2D-E6C7-8281-9576874AE3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8443A8D-2287-7AC0-9142-8EDFE740177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59BCCF7-C964-2974-81C5-CEE474A0A3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A12F2C-2470-9C46-026F-6CF0051E08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230D2D-BDC9-874D-41BF-29C6DFBA02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01C309-3228-2D59-0C8C-DEC2D8EE89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F882B15-7F68-4C3E-00F9-F63E6120F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142464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213F9D-ED65-42F1-0BD5-97757509D6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B3178A7-2357-3010-4DC1-18D858648D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But why use a FIR filter?</a:t>
            </a:r>
          </a:p>
          <a:p>
            <a:pPr marL="114300" indent="0">
              <a:buNone/>
            </a:pPr>
            <a:endParaRPr lang="en-US" sz="2400" dirty="0">
              <a:latin typeface="+mj-lt"/>
            </a:endParaRPr>
          </a:p>
          <a:p>
            <a:pPr marL="114300" indent="0">
              <a:buNone/>
            </a:pPr>
            <a:r>
              <a:rPr lang="en-US" sz="2400" dirty="0">
                <a:latin typeface="+mj-lt"/>
              </a:rPr>
              <a:t>You might wonder why we care so much about FIR filters specifically. </a:t>
            </a:r>
          </a:p>
          <a:p>
            <a:pPr marL="114300" indent="0">
              <a:buNone/>
            </a:pPr>
            <a:r>
              <a:rPr lang="en-US" sz="2400" dirty="0">
                <a:latin typeface="+mj-lt"/>
              </a:rPr>
              <a:t>The answer is </a:t>
            </a:r>
            <a:r>
              <a:rPr lang="en-US" sz="2400" b="1" dirty="0">
                <a:latin typeface="+mj-lt"/>
              </a:rPr>
              <a:t>Linear Phase</a:t>
            </a:r>
            <a:r>
              <a:rPr lang="en-US" sz="2400" dirty="0">
                <a:latin typeface="+mj-lt"/>
              </a:rPr>
              <a:t>.</a:t>
            </a:r>
          </a:p>
          <a:p>
            <a:pPr marL="114300" indent="0">
              <a:buNone/>
            </a:pPr>
            <a:endParaRPr lang="en-US" sz="2400" dirty="0">
              <a:latin typeface="+mj-lt"/>
            </a:endParaRPr>
          </a:p>
          <a:p>
            <a:pPr marL="114300" indent="0">
              <a:buNone/>
            </a:pPr>
            <a:r>
              <a:rPr lang="en-US" sz="2400" dirty="0">
                <a:latin typeface="+mj-lt"/>
              </a:rPr>
              <a:t>When a signal passes through a filter, different frequencies are often delayed by different amounts of time, which </a:t>
            </a:r>
            <a:r>
              <a:rPr lang="en-US" sz="2400" b="1" dirty="0">
                <a:latin typeface="+mj-lt"/>
              </a:rPr>
              <a:t>distorts</a:t>
            </a:r>
            <a:r>
              <a:rPr lang="en-US" sz="2400" dirty="0">
                <a:latin typeface="+mj-lt"/>
              </a:rPr>
              <a:t> the shape of the signal. </a:t>
            </a:r>
          </a:p>
          <a:p>
            <a:pPr marL="114300" indent="0">
              <a:buNone/>
            </a:pPr>
            <a:r>
              <a:rPr lang="en-US" sz="2400" dirty="0">
                <a:latin typeface="+mj-lt"/>
              </a:rPr>
              <a:t>FIR filters can be designed to have </a:t>
            </a:r>
            <a:r>
              <a:rPr lang="en-US" sz="2400" i="1" dirty="0">
                <a:latin typeface="+mj-lt"/>
              </a:rPr>
              <a:t>strict linear phase</a:t>
            </a:r>
            <a:r>
              <a:rPr lang="en-US" sz="2400" dirty="0">
                <a:latin typeface="+mj-lt"/>
              </a:rPr>
              <a:t>, meaning every frequency is delayed by the </a:t>
            </a:r>
            <a:r>
              <a:rPr lang="en-US" sz="2400" b="1" dirty="0">
                <a:latin typeface="+mj-lt"/>
              </a:rPr>
              <a:t>exact same </a:t>
            </a:r>
            <a:r>
              <a:rPr lang="en-US" sz="2400" dirty="0">
                <a:latin typeface="+mj-lt"/>
              </a:rPr>
              <a:t>amount of time. The signal shape is perfectly preserved.</a:t>
            </a:r>
          </a:p>
        </p:txBody>
      </p:sp>
      <p:sp>
        <p:nvSpPr>
          <p:cNvPr id="119" name="Google Shape;119;p29">
            <a:extLst>
              <a:ext uri="{FF2B5EF4-FFF2-40B4-BE49-F238E27FC236}">
                <a16:creationId xmlns:a16="http://schemas.microsoft.com/office/drawing/2014/main" id="{E31870D3-8731-A426-83DB-5DF02C419B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925F102-1E0B-8990-A5D5-BCF28343B9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9CBEBB6-0B65-79F5-E819-E89B0D06CD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02072C-BCB1-B672-E76C-9848D142D8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718046-B0AC-C977-39A9-39CE600DE9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1A854B-955F-C285-BB4E-5ED31B2CB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CCD424-35FA-1F37-CAAC-A27974F153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5C8B6C-578E-BEAF-FEFF-21A4E4F89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38202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78C123-F36F-9339-63C9-D606FAF263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F8F502-A874-4135-2D22-5E0F91545C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Our 5-point moving average is great, but what if we want to precisely block high-frequency motor noise but keep our low-frequency physical movements? </a:t>
                </a:r>
              </a:p>
              <a:p>
                <a:pPr marL="114300" indent="0">
                  <a:buNone/>
                </a:pPr>
                <a:endParaRPr lang="en-US" sz="2400" dirty="0">
                  <a:latin typeface="+mj-lt"/>
                </a:endParaRPr>
              </a:p>
              <a:p>
                <a:pPr marL="114300" indent="0">
                  <a:buNone/>
                </a:pPr>
                <a:r>
                  <a:rPr lang="en-US" sz="2400" dirty="0">
                    <a:latin typeface="+mj-lt"/>
                  </a:rPr>
                  <a:t>We need better coefficients (</a:t>
                </a:r>
                <a14:m>
                  <m:oMath xmlns:m="http://schemas.openxmlformats.org/officeDocument/2006/math">
                    <m:sSub>
                      <m:sSubPr>
                        <m:ctrlPr>
                          <a:rPr lang="en-US" sz="2400" i="1">
                            <a:latin typeface="Cambria Math" panose="02040503050406030204" pitchFamily="18" charset="0"/>
                          </a:rPr>
                        </m:ctrlPr>
                      </m:sSubPr>
                      <m:e>
                        <m:r>
                          <m:rPr>
                            <m:sty m:val="p"/>
                          </m:rPr>
                          <a:rPr lang="en-US" sz="2400" i="1">
                            <a:latin typeface="Cambria Math" panose="02040503050406030204" pitchFamily="18" charset="0"/>
                          </a:rPr>
                          <m:t>b</m:t>
                        </m:r>
                      </m:e>
                      <m:sub>
                        <m:r>
                          <m:rPr>
                            <m:sty m:val="p"/>
                          </m:rPr>
                          <a:rPr lang="en-US" sz="2400" i="1">
                            <a:latin typeface="Cambria Math" panose="02040503050406030204" pitchFamily="18" charset="0"/>
                          </a:rPr>
                          <m:t>k</m:t>
                        </m:r>
                      </m:sub>
                    </m:sSub>
                  </m:oMath>
                </a14:m>
                <a:r>
                  <a:rPr lang="en-US" sz="2400" dirty="0">
                    <a:latin typeface="+mj-lt"/>
                  </a:rPr>
                  <a:t>)!</a:t>
                </a:r>
              </a:p>
              <a:p>
                <a:pPr marL="114300" indent="0">
                  <a:buNone/>
                </a:pPr>
                <a:endParaRPr lang="en-US" sz="2400" dirty="0">
                  <a:latin typeface="+mj-lt"/>
                </a:endParaRPr>
              </a:p>
              <a:p>
                <a:pPr marL="114300" indent="0">
                  <a:buNone/>
                </a:pPr>
                <a:r>
                  <a:rPr lang="en-US" sz="2400" dirty="0">
                    <a:latin typeface="+mj-lt"/>
                  </a:rPr>
                  <a:t>We use FIR filters and thus the </a:t>
                </a:r>
                <a:r>
                  <a:rPr lang="en-US" sz="2400" b="1" dirty="0">
                    <a:latin typeface="+mj-lt"/>
                  </a:rPr>
                  <a:t>fir1</a:t>
                </a:r>
                <a:r>
                  <a:rPr lang="en-US" sz="2400" dirty="0">
                    <a:latin typeface="+mj-lt"/>
                  </a:rPr>
                  <a:t> function to design those in MATLAB. </a:t>
                </a:r>
              </a:p>
              <a:p>
                <a:pPr marL="114300" indent="0">
                  <a:buNone/>
                </a:pPr>
                <a:endParaRPr lang="en-US" sz="2400" dirty="0">
                  <a:latin typeface="+mj-lt"/>
                </a:endParaRPr>
              </a:p>
              <a:p>
                <a:pPr marL="114300" indent="0">
                  <a:buNone/>
                </a:pPr>
                <a:r>
                  <a:rPr lang="en-US" sz="2400" dirty="0">
                    <a:latin typeface="+mj-lt"/>
                  </a:rPr>
                  <a:t>The Signal Processing Toolbox scales frequencies on a 0-1 scale relative to the Nyquist frequency. The Nyquist frequency is the absolute highest frequency your system can mathematically perceive, which is exactly half of your sampling rate.</a:t>
                </a:r>
              </a:p>
            </p:txBody>
          </p:sp>
        </mc:Choice>
        <mc:Fallback xmlns="">
          <p:sp>
            <p:nvSpPr>
              <p:cNvPr id="118" name="Google Shape;118;p29">
                <a:extLst>
                  <a:ext uri="{FF2B5EF4-FFF2-40B4-BE49-F238E27FC236}">
                    <a16:creationId xmlns:a16="http://schemas.microsoft.com/office/drawing/2014/main" id="{8CF8F502-A874-4135-2D22-5E0F91545C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DC4D278-B64C-254E-AAFE-CD5087310D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9E21A8-CFBC-5612-AFE1-8A4588E4D2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8C91851-AF55-9A14-09ED-6F60C906A6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346B8-AAF5-CDEE-609F-711DED40A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D61F79-F69C-5712-E958-33801C811D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C623EB-39FE-AEC6-50D3-161459EEEA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07EBA4-B621-31E1-83DC-FA5A92568A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041CDE-F6A3-9393-C420-C75972BD7A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436676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632E89-6527-7408-7311-047E879CE34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F8038F3-43C1-8266-3C36-E03FE4A55C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The Nyquist frequency is the </a:t>
                </a:r>
                <a:r>
                  <a:rPr lang="en-US" sz="2400" b="1" dirty="0">
                    <a:latin typeface="+mj-lt"/>
                  </a:rPr>
                  <a:t>MINIMUM</a:t>
                </a:r>
                <a:r>
                  <a:rPr lang="en-US" sz="2400" dirty="0">
                    <a:latin typeface="+mj-lt"/>
                  </a:rPr>
                  <a:t> frequency you should be sampling your signal at.</a:t>
                </a:r>
              </a:p>
              <a:p>
                <a:pPr marL="114300" indent="0">
                  <a:buNone/>
                </a:pPr>
                <a:endParaRPr lang="en-US" sz="2400" dirty="0">
                  <a:latin typeface="+mj-lt"/>
                </a:endParaRPr>
              </a:p>
              <a:p>
                <a:pPr marL="11430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nyquist</m:t>
                          </m:r>
                        </m:sub>
                      </m:sSub>
                      <m:r>
                        <a:rPr lang="en-US" sz="2400" b="0" i="1" smtClean="0">
                          <a:latin typeface="Cambria Math" panose="02040503050406030204" pitchFamily="18" charset="0"/>
                        </a:rPr>
                        <m:t>=2</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m:t>
                          </m:r>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highest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analog</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frequency</m:t>
                          </m:r>
                        </m:sub>
                      </m:sSub>
                    </m:oMath>
                  </m:oMathPara>
                </a14:m>
                <a:endParaRPr lang="en-US" sz="2400" dirty="0">
                  <a:latin typeface="+mj-lt"/>
                </a:endParaRPr>
              </a:p>
              <a:p>
                <a:pPr marL="114300" indent="0">
                  <a:buNone/>
                </a:pPr>
                <a:endParaRPr lang="en-US" sz="2400" dirty="0">
                  <a:latin typeface="+mj-lt"/>
                </a:endParaRPr>
              </a:p>
              <a:p>
                <a:pPr marL="114300" indent="0">
                  <a:buNone/>
                </a:pPr>
                <a:r>
                  <a:rPr lang="en-US" sz="2400" dirty="0">
                    <a:latin typeface="+mj-lt"/>
                  </a:rPr>
                  <a:t>Otherwise, you will get into problems of getting an aliased output.</a:t>
                </a:r>
              </a:p>
            </p:txBody>
          </p:sp>
        </mc:Choice>
        <mc:Fallback xmlns="">
          <p:sp>
            <p:nvSpPr>
              <p:cNvPr id="118" name="Google Shape;118;p29">
                <a:extLst>
                  <a:ext uri="{FF2B5EF4-FFF2-40B4-BE49-F238E27FC236}">
                    <a16:creationId xmlns:a16="http://schemas.microsoft.com/office/drawing/2014/main" id="{CF8038F3-43C1-8266-3C36-E03FE4A55CD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C474D6-43B6-9CD0-6E0D-4A26CF2119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930C2C-13AA-562D-0391-9B4276D29C1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F02F94E-1944-B9BF-46AD-87D97CF62EA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91025F-9EED-6332-A111-E9343E8171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8FD6BF0-3271-A54E-06DA-1F446C33F2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57172-B6C4-1689-2CAB-714C42D185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C49D6D-7F17-44F9-183B-3D7530FFC7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46E614-6888-8D92-641A-EF0CF0D391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15668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0C26F4-B3FF-11C2-54F4-AD22E1C17F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B08B5A-3D5F-982F-8F54-35EF3A2BBE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8FFA24-55A8-E915-26ED-46CD3EC3DDC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6E2AE81-8E55-1683-9CA2-AD13BBC8BB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A0D1A1-A451-DA5F-3960-9C88223527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7A05A8-A37A-B746-9418-29A3FF4279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DC0464-A930-E715-6488-938426535F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BFAFEC-EFFC-2360-BDD1-836725C6B5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F574-9F39-DB2F-29D8-B820A980C2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1" name="Graphic 10">
            <a:extLst>
              <a:ext uri="{FF2B5EF4-FFF2-40B4-BE49-F238E27FC236}">
                <a16:creationId xmlns:a16="http://schemas.microsoft.com/office/drawing/2014/main" id="{7E6D07FB-281B-5369-B2CC-6745E735844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2399" y="1098670"/>
            <a:ext cx="11567201" cy="5483323"/>
          </a:xfrm>
          <a:prstGeom prst="rect">
            <a:avLst/>
          </a:prstGeom>
        </p:spPr>
      </p:pic>
    </p:spTree>
    <p:extLst>
      <p:ext uri="{BB962C8B-B14F-4D97-AF65-F5344CB8AC3E}">
        <p14:creationId xmlns:p14="http://schemas.microsoft.com/office/powerpoint/2010/main" val="33286351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5FD7FF-9018-ACE9-0A32-437D822D1D7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5BF3CB9-90A4-6471-4C02-3531D2A4CA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69B28B-415A-F642-2ECA-03AA44A9E6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3423507-4841-BE91-ABE3-5443F8767D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BC336D-0586-7353-BC91-B2109A3031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CEF85EC-73F3-DB12-3392-A621F826B7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4FC865-A7C3-2712-4D83-BFF9DD6960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5E5789-9E9F-2A56-9FD3-FFCDBFD6ED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8E2082-014E-9274-DEC3-D8987F4AB9C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a:extLst>
              <a:ext uri="{FF2B5EF4-FFF2-40B4-BE49-F238E27FC236}">
                <a16:creationId xmlns:a16="http://schemas.microsoft.com/office/drawing/2014/main" id="{D2B56D98-8223-63CC-C4A6-83798BF36BC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1738" y="1095594"/>
            <a:ext cx="10948524" cy="5486400"/>
          </a:xfrm>
          <a:prstGeom prst="rect">
            <a:avLst/>
          </a:prstGeom>
        </p:spPr>
      </p:pic>
    </p:spTree>
    <p:extLst>
      <p:ext uri="{BB962C8B-B14F-4D97-AF65-F5344CB8AC3E}">
        <p14:creationId xmlns:p14="http://schemas.microsoft.com/office/powerpoint/2010/main" val="23541043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1C9AB5-B35D-BBFD-68DB-3F723ABDA8D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1F42A2-BA71-150F-9697-6554DE65907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6DB2EE-9962-EDA4-AEEB-DD0D0F55E10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2D1105D-DD97-0809-3B7B-2D841DD3EF2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307667-0225-DFBA-BADA-53816AE724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FA64C7-7B2F-55CF-7987-CB1EC1D5FF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07537C-67D9-56DB-5C83-A9066507F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046B63-EC6D-E032-0BF1-41E915C6FD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FF448-ADB6-3699-4C70-31913189D4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a:extLst>
              <a:ext uri="{FF2B5EF4-FFF2-40B4-BE49-F238E27FC236}">
                <a16:creationId xmlns:a16="http://schemas.microsoft.com/office/drawing/2014/main" id="{97A5600B-470C-EF18-9074-FC62F93CAE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1464236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BEC171-2342-4816-7DE1-FBF43515D9B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B784E0-5635-0ECE-5417-FC9DDBDB88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3C6725-AFEB-6F5C-7235-2011E0045DA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F7102D2-CD43-62FD-1CD6-23841FD2B5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AF052C-F578-AE88-5EC1-996C055DA8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332649-9FD4-A7E2-73A7-2B158E8D0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986A7E-F74A-E551-64C1-7822828CFD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7596A8-E076-94AD-FEB6-A0A952A408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B6E3D-04B1-2F4E-6CFF-24E08B70CD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8C0CD861-BA5F-BE9F-4574-1903F0B82AD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31864763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CFD248-FBC5-93FE-B26E-29E00AFB0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736D65E-DC40-2E1E-B34B-E258CB03F90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Let’s say your system is sampling at 1000 Hz; the cutoff frequency for the Nyquist limit is, </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gn="ctr">
                  <a:lnSpc>
                    <a:spcPct val="100000"/>
                  </a:lnSpc>
                  <a:spcBef>
                    <a:spcPts val="0"/>
                  </a:spcBef>
                  <a:buSzPts val="2000"/>
                  <a:buNone/>
                </a:pPr>
                <a:r>
                  <a:rPr lang="en-US" sz="2400" dirty="0">
                    <a:latin typeface="Atkinson Hyperlegible Next"/>
                    <a:cs typeface="Arial"/>
                    <a:sym typeface="Arial"/>
                  </a:rPr>
                  <a:t>500 Hz,</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nSpc>
                    <a:spcPct val="100000"/>
                  </a:lnSpc>
                  <a:spcBef>
                    <a:spcPts val="0"/>
                  </a:spcBef>
                  <a:buSzPts val="2000"/>
                  <a:buNone/>
                </a:pPr>
                <a:r>
                  <a:rPr lang="en-US" sz="2400" dirty="0">
                    <a:latin typeface="Atkinson Hyperlegible Next"/>
                    <a:cs typeface="Arial"/>
                    <a:sym typeface="Arial"/>
                  </a:rPr>
                  <a:t>If we want to do an FIR frequency design and do a 21</a:t>
                </a:r>
                <a:r>
                  <a:rPr lang="en-US" sz="2400" baseline="30000" dirty="0">
                    <a:latin typeface="Atkinson Hyperlegible Next"/>
                    <a:cs typeface="Arial"/>
                    <a:sym typeface="Arial"/>
                  </a:rPr>
                  <a:t>st</a:t>
                </a:r>
                <a:r>
                  <a:rPr lang="en-US" sz="2400" dirty="0">
                    <a:latin typeface="Atkinson Hyperlegible Next"/>
                    <a:cs typeface="Arial"/>
                    <a:sym typeface="Arial"/>
                  </a:rPr>
                  <a:t> order filter with a low-pass cutoff of 100 Hz, we calculate the normalized frequency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W</m:t>
                        </m:r>
                      </m:e>
                      <m:sub>
                        <m:r>
                          <m:rPr>
                            <m:sty m:val="p"/>
                          </m:rPr>
                          <a:rPr lang="en-US" sz="2400" b="0" i="1" smtClean="0">
                            <a:latin typeface="Cambria Math" panose="02040503050406030204" pitchFamily="18" charset="0"/>
                            <a:cs typeface="Arial"/>
                            <a:sym typeface="Arial"/>
                          </a:rPr>
                          <m:t>n</m:t>
                        </m:r>
                      </m:sub>
                    </m:sSub>
                  </m:oMath>
                </a14:m>
                <a:endParaRPr lang="en-US" sz="2400" dirty="0"/>
              </a:p>
              <a:p>
                <a:pPr marL="0" lvl="0" indent="0">
                  <a:lnSpc>
                    <a:spcPct val="100000"/>
                  </a:lnSpc>
                  <a:spcBef>
                    <a:spcPts val="0"/>
                  </a:spcBef>
                  <a:buSzPts val="2000"/>
                  <a:buNone/>
                </a:pPr>
                <a:endParaRPr lang="en-US" sz="2400" dirty="0"/>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en-US" sz="2400" b="0" i="1" smtClean="0">
                              <a:latin typeface="Cambria Math" panose="02040503050406030204" pitchFamily="18" charset="0"/>
                            </a:rPr>
                            <m:t>W</m:t>
                          </m:r>
                        </m:e>
                        <m:sub>
                          <m:r>
                            <m:rPr>
                              <m:sty m:val="p"/>
                            </m:rPr>
                            <a:rPr lang="en-US" sz="2400" b="0" i="1" smtClean="0">
                              <a:latin typeface="Cambria Math" panose="02040503050406030204" pitchFamily="18" charset="0"/>
                            </a:rPr>
                            <m:t>n</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100 </m:t>
                          </m:r>
                          <m:r>
                            <m:rPr>
                              <m:sty m:val="p"/>
                            </m:rPr>
                            <a:rPr lang="en-US" sz="2400" b="0" i="1" smtClean="0">
                              <a:latin typeface="Cambria Math" panose="02040503050406030204" pitchFamily="18" charset="0"/>
                            </a:rPr>
                            <m:t>Hz</m:t>
                          </m:r>
                        </m:num>
                        <m:den>
                          <m:r>
                            <a:rPr lang="en-US" sz="2400" b="0" i="1" smtClean="0">
                              <a:latin typeface="Cambria Math" panose="02040503050406030204" pitchFamily="18" charset="0"/>
                            </a:rPr>
                            <m:t>500 </m:t>
                          </m:r>
                          <m:r>
                            <m:rPr>
                              <m:sty m:val="p"/>
                            </m:rPr>
                            <a:rPr lang="en-US" sz="2400" b="0" i="1" smtClean="0">
                              <a:latin typeface="Cambria Math" panose="02040503050406030204" pitchFamily="18" charset="0"/>
                            </a:rPr>
                            <m:t>Hz</m:t>
                          </m:r>
                        </m:den>
                      </m:f>
                      <m:r>
                        <a:rPr lang="en-US" sz="2400" b="0" i="1" smtClean="0">
                          <a:latin typeface="Cambria Math" panose="02040503050406030204" pitchFamily="18" charset="0"/>
                        </a:rPr>
                        <m:t> = 0.2</m:t>
                      </m:r>
                    </m:oMath>
                  </m:oMathPara>
                </a14:m>
                <a:endParaRPr lang="en-US" sz="2400" dirty="0"/>
              </a:p>
            </p:txBody>
          </p:sp>
        </mc:Choice>
        <mc:Fallback xmlns="">
          <p:sp>
            <p:nvSpPr>
              <p:cNvPr id="118" name="Google Shape;118;p29">
                <a:extLst>
                  <a:ext uri="{FF2B5EF4-FFF2-40B4-BE49-F238E27FC236}">
                    <a16:creationId xmlns:a16="http://schemas.microsoft.com/office/drawing/2014/main" id="{7736D65E-DC40-2E1E-B34B-E258CB03F90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D54D58-ED15-DA2C-805A-54FA6BC6DB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0DC509-AE1F-7964-22B6-DD4771779F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24ECC65-F83F-7F80-E818-DBF2B2E483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1A7D26-23FA-4E71-EFC4-E8E95E0708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318956-8BAF-BC2C-166F-7B411461B5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CF4299-0DDE-BECF-486B-4F6461EB9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458893-9BEC-BF70-17BA-F714FF7F45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C28EBCD-5CB8-447B-C2C9-306FE51AB7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385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DD8805-B224-ECFF-D0FD-C2B5B6B01E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3422162-46D0-A2D2-378B-6D379450162A}"/>
                  </a:ext>
                </a:extLst>
              </p:cNvPr>
              <p:cNvSpPr txBox="1">
                <a:spLocks noGrp="1"/>
              </p:cNvSpPr>
              <p:nvPr>
                <p:ph type="body" idx="1"/>
              </p:nvPr>
            </p:nvSpPr>
            <p:spPr>
              <a:xfrm>
                <a:off x="376809" y="1334279"/>
                <a:ext cx="11177401" cy="102605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In MATLAB, generating the 22 weights ( a 21</a:t>
                </a:r>
                <a:r>
                  <a:rPr lang="en-US" sz="2400" baseline="30000" dirty="0">
                    <a:latin typeface="Atkinson Hyperlegible Next"/>
                    <a:cs typeface="Arial"/>
                    <a:sym typeface="Arial"/>
                  </a:rPr>
                  <a:t>st</a:t>
                </a:r>
                <a:r>
                  <a:rPr lang="en-US" sz="2400" dirty="0">
                    <a:latin typeface="Atkinson Hyperlegible Next"/>
                    <a:cs typeface="Arial"/>
                    <a:sym typeface="Arial"/>
                  </a:rPr>
                  <a:t> has </a:t>
                </a:r>
                <a14:m>
                  <m:oMath xmlns:m="http://schemas.openxmlformats.org/officeDocument/2006/math">
                    <m:r>
                      <m:rPr>
                        <m:sty m:val="p"/>
                      </m:rPr>
                      <a:rPr lang="en-US" sz="2400" b="0" i="1" smtClean="0">
                        <a:latin typeface="Cambria Math" panose="02040503050406030204" pitchFamily="18" charset="0"/>
                        <a:cs typeface="Arial"/>
                        <a:sym typeface="Arial"/>
                      </a:rPr>
                      <m:t>M</m:t>
                    </m:r>
                    <m:r>
                      <a:rPr lang="en-US" sz="2400" b="0" i="1" smtClean="0">
                        <a:latin typeface="Cambria Math" panose="02040503050406030204" pitchFamily="18" charset="0"/>
                        <a:cs typeface="Arial"/>
                        <a:sym typeface="Arial"/>
                      </a:rPr>
                      <m:t> + 1</m:t>
                    </m:r>
                  </m:oMath>
                </a14:m>
                <a:r>
                  <a:rPr lang="en-US" sz="2400" dirty="0"/>
                  <a:t> coefficients) is incredibly simple!</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endParaRPr lang="en-US" sz="2400" dirty="0"/>
              </a:p>
            </p:txBody>
          </p:sp>
        </mc:Choice>
        <mc:Fallback xmlns="">
          <p:sp>
            <p:nvSpPr>
              <p:cNvPr id="118" name="Google Shape;118;p29">
                <a:extLst>
                  <a:ext uri="{FF2B5EF4-FFF2-40B4-BE49-F238E27FC236}">
                    <a16:creationId xmlns:a16="http://schemas.microsoft.com/office/drawing/2014/main" id="{63422162-46D0-A2D2-378B-6D379450162A}"/>
                  </a:ext>
                </a:extLst>
              </p:cNvPr>
              <p:cNvSpPr txBox="1">
                <a:spLocks noGrp="1" noRot="1" noChangeAspect="1" noMove="1" noResize="1" noEditPoints="1" noAdjustHandles="1" noChangeArrowheads="1" noChangeShapeType="1" noTextEdit="1"/>
              </p:cNvSpPr>
              <p:nvPr>
                <p:ph type="body" idx="1"/>
              </p:nvPr>
            </p:nvSpPr>
            <p:spPr>
              <a:xfrm>
                <a:off x="376809" y="1334279"/>
                <a:ext cx="11177401" cy="1026052"/>
              </a:xfrm>
              <a:prstGeom prst="rect">
                <a:avLst/>
              </a:prstGeom>
              <a:blipFill>
                <a:blip r:embed="rId3"/>
                <a:stretch>
                  <a:fillRect l="-873" t="-5357"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62C944F-B390-72ED-9879-742E2E5C25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C245C-9B8F-3B10-0806-5179D40C53A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C4C5CA3-5F5F-E350-0048-5C21E5D578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642A52-3C04-34B2-C842-D88E903CB1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3801F0-7779-D52B-55C2-798979885C9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11DBE1-F699-A862-0C7E-536936C801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4A7949-7AE6-1C51-928B-FED4CEE373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BBA6D1-2264-9AF4-23F2-4D7FEE4CE8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182491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F742FC-EF77-DD07-18DB-495EE5FF77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FD1C6C-BF01-1664-460E-01868E2ED4A7}"/>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Low-Pass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0.2;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'low'</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66ED9460-B9E4-18E2-F522-C8148A32F6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483C96F-D843-03A9-8435-54491FC1463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DC5538F-C651-20D7-6084-F4C7A3289A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F3F755-0C66-1B57-7F32-00F097075A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6CC1F3-1B68-1A04-C20B-230C2B30B3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26C5BD-4AD6-7655-E0CC-D6BA5F4706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174A47-B944-427F-5A25-73118753F7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36C39F0-1E31-46CD-3A0E-6ADA75274B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F3E860BC-900A-E531-DFB6-C2F79FAC75E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44098" y="1002028"/>
            <a:ext cx="8787882" cy="5319807"/>
          </a:xfrm>
          <a:prstGeom prst="rect">
            <a:avLst/>
          </a:prstGeom>
        </p:spPr>
      </p:pic>
    </p:spTree>
    <p:extLst>
      <p:ext uri="{BB962C8B-B14F-4D97-AF65-F5344CB8AC3E}">
        <p14:creationId xmlns:p14="http://schemas.microsoft.com/office/powerpoint/2010/main" val="4026809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DCBCFB-3D14-98AB-3409-76F4F18C03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25AB836-5083-AE03-09AA-989610EC8B16}"/>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22st Order High-Pass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22;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'high'</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54F4E946-5533-25F7-AF4C-25A1A2AFFB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238DB5-95BA-7022-AC04-D7599E08358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D3656BE-ADFE-771D-4AD3-D6FE868D81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BE1FEE-C4FF-445D-C225-8FD7D8877E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4BB098-87C6-723D-A38E-FEDE319E36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96350-BF75-B2E7-5948-E0868A819E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088515-F452-49F9-30C4-2505CF27EF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DC459D-657B-7418-D69F-CB1939C1D4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CF1F19BB-E830-CCE8-E20C-E1E4D21FB1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3665790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F96260-B057-BA64-8C2A-384CD33E73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800E13-66DC-684F-2E80-E9F448E086C9}"/>
              </a:ext>
            </a:extLst>
          </p:cNvPr>
          <p:cNvSpPr txBox="1">
            <a:spLocks noGrp="1"/>
          </p:cNvSpPr>
          <p:nvPr>
            <p:ph type="body" idx="1"/>
          </p:nvPr>
        </p:nvSpPr>
        <p:spPr>
          <a:xfrm>
            <a:off x="376809" y="1334279"/>
            <a:ext cx="3023852"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band-Pass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[0.35 0.65];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dirty="0">
                <a:solidFill>
                  <a:srgbClr val="212121"/>
                </a:solidFill>
                <a:latin typeface="Menlo"/>
              </a:rPr>
              <a:t> , </a:t>
            </a:r>
            <a:r>
              <a:rPr lang="en-US" sz="1600" dirty="0">
                <a:solidFill>
                  <a:srgbClr val="A709F5"/>
                </a:solidFill>
                <a:latin typeface="Menlo"/>
              </a:rPr>
              <a:t>‘bandpass'</a:t>
            </a:r>
            <a:r>
              <a:rPr lang="en-US" sz="1600" dirty="0">
                <a:solidFill>
                  <a:srgbClr val="212121"/>
                </a:solidFill>
                <a:latin typeface="Menlo"/>
              </a:rPr>
              <a:t>);</a:t>
            </a:r>
            <a:endParaRPr lang="en-US" sz="1600" b="0" i="0" dirty="0">
              <a:solidFill>
                <a:srgbClr val="212121"/>
              </a:solidFill>
              <a:effectLst/>
              <a:latin typeface="Menlo"/>
            </a:endParaRP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96D8FAF5-E601-7DD0-C335-42746231A4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073EFA-9386-6DFC-9A97-8F27B21F472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97D7071-A0A9-DF1D-37A7-5EDDFAE656F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0770E1C-B8B5-F0CC-948F-B5411B650F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C0DF78-9D87-5AD8-0B6E-D107CB2FD5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6899E4-6741-363E-06A5-7E3EC2A947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A2C9EFC-C3A1-44B9-9912-029E5343C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8E98EB-4514-5A86-B870-EB30EC0380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6C01899C-96C7-0F8F-9DA0-082A41A7EB6D}"/>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6272518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D28A45F-8D49-8B94-A97F-B2DB703A297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187DD5-EFF1-4075-621E-E781E6E6E2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FBBAADD-D5C8-A6DC-E4FE-9F89FAF6775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43480B8-D63E-9CE3-0F0A-91D3F32D31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57C750-626F-21E5-CC8F-2E880DB13E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15F25F-636E-A9F1-E225-818E9C6E95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6867C7-1F57-77C9-9CFA-9FB455B3C9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7D2218-9AB8-54B5-0ABC-FFBE1C3790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7456D2-165F-B413-32FC-19DD4AB1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a:extLst>
              <a:ext uri="{FF2B5EF4-FFF2-40B4-BE49-F238E27FC236}">
                <a16:creationId xmlns:a16="http://schemas.microsoft.com/office/drawing/2014/main" id="{735C8AA8-01BD-5878-5893-1F532B467A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2948" y="935620"/>
            <a:ext cx="6706104" cy="5588420"/>
          </a:xfrm>
          <a:prstGeom prst="rect">
            <a:avLst/>
          </a:prstGeom>
        </p:spPr>
      </p:pic>
      <p:grpSp>
        <p:nvGrpSpPr>
          <p:cNvPr id="11" name="Group 10">
            <a:extLst>
              <a:ext uri="{FF2B5EF4-FFF2-40B4-BE49-F238E27FC236}">
                <a16:creationId xmlns:a16="http://schemas.microsoft.com/office/drawing/2014/main" id="{1C3ACFBF-C254-A84C-AF4E-F04B2A0C8855}"/>
              </a:ext>
            </a:extLst>
          </p:cNvPr>
          <p:cNvGrpSpPr/>
          <p:nvPr/>
        </p:nvGrpSpPr>
        <p:grpSpPr>
          <a:xfrm>
            <a:off x="4495799" y="2371725"/>
            <a:ext cx="3924302" cy="114300"/>
            <a:chOff x="4495799" y="2371725"/>
            <a:chExt cx="3924302" cy="114300"/>
          </a:xfrm>
        </p:grpSpPr>
        <p:sp>
          <p:nvSpPr>
            <p:cNvPr id="9" name="Rectangle 8">
              <a:extLst>
                <a:ext uri="{FF2B5EF4-FFF2-40B4-BE49-F238E27FC236}">
                  <a16:creationId xmlns:a16="http://schemas.microsoft.com/office/drawing/2014/main" id="{8F3466B4-0F4E-E877-E198-4301DA234A5C}"/>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CECEC8F-3D91-87FD-4F8A-C6AF8FAB3291}"/>
                </a:ext>
              </a:extLst>
            </p:cNvPr>
            <p:cNvSpPr/>
            <p:nvPr/>
          </p:nvSpPr>
          <p:spPr>
            <a:xfrm>
              <a:off x="7734301" y="2371725"/>
              <a:ext cx="6858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11">
            <a:extLst>
              <a:ext uri="{FF2B5EF4-FFF2-40B4-BE49-F238E27FC236}">
                <a16:creationId xmlns:a16="http://schemas.microsoft.com/office/drawing/2014/main" id="{E438F526-C15B-EB77-4E2E-98A4721D7166}"/>
              </a:ext>
            </a:extLst>
          </p:cNvPr>
          <p:cNvGrpSpPr/>
          <p:nvPr/>
        </p:nvGrpSpPr>
        <p:grpSpPr>
          <a:xfrm>
            <a:off x="4495799" y="3729830"/>
            <a:ext cx="3924302" cy="114300"/>
            <a:chOff x="4495799" y="2371725"/>
            <a:chExt cx="3924302" cy="114300"/>
          </a:xfrm>
        </p:grpSpPr>
        <p:sp>
          <p:nvSpPr>
            <p:cNvPr id="13" name="Rectangle 12">
              <a:extLst>
                <a:ext uri="{FF2B5EF4-FFF2-40B4-BE49-F238E27FC236}">
                  <a16:creationId xmlns:a16="http://schemas.microsoft.com/office/drawing/2014/main" id="{249C39C8-CCE1-3749-CBD3-373EC6FA6BD0}"/>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A9641A2-B49C-4FBC-6586-D89F98E8DE44}"/>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9BE00FE9-02B9-32E9-275B-CA45FD152F4A}"/>
              </a:ext>
            </a:extLst>
          </p:cNvPr>
          <p:cNvGrpSpPr/>
          <p:nvPr/>
        </p:nvGrpSpPr>
        <p:grpSpPr>
          <a:xfrm>
            <a:off x="4500562" y="5102222"/>
            <a:ext cx="3924302" cy="114300"/>
            <a:chOff x="4495799" y="2371725"/>
            <a:chExt cx="3924302" cy="114300"/>
          </a:xfrm>
        </p:grpSpPr>
        <p:sp>
          <p:nvSpPr>
            <p:cNvPr id="16" name="Rectangle 15">
              <a:extLst>
                <a:ext uri="{FF2B5EF4-FFF2-40B4-BE49-F238E27FC236}">
                  <a16:creationId xmlns:a16="http://schemas.microsoft.com/office/drawing/2014/main" id="{75A77658-3BE3-5AFA-8A56-846DCE3118FD}"/>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7020C2A-CC6A-84B5-CCB0-3756D8424A00}"/>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91894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1"/>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4F44BA-C30F-7EDD-5DA4-F19B63E2569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FD6567-E66D-E43C-201F-4B7CBE263B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Now that we used MATLAB to generate the coefficients, we need to implement the actual filter in the code.</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nSpc>
                    <a:spcPct val="100000"/>
                  </a:lnSpc>
                  <a:spcBef>
                    <a:spcPts val="0"/>
                  </a:spcBef>
                  <a:buSzPts val="2000"/>
                  <a:buNone/>
                </a:pPr>
                <a:r>
                  <a:rPr lang="en-US" sz="2400" dirty="0">
                    <a:latin typeface="Atkinson Hyperlegible Next"/>
                    <a:cs typeface="Arial"/>
                    <a:sym typeface="Arial"/>
                  </a:rPr>
                  <a:t>We do not need to save all the history when the robot is running only the running </a:t>
                </a:r>
                <a14:m>
                  <m:oMath xmlns:m="http://schemas.openxmlformats.org/officeDocument/2006/math">
                    <m:r>
                      <m:rPr>
                        <m:sty m:val="p"/>
                      </m:rPr>
                      <a:rPr lang="en-US" sz="2400" b="0" i="1" dirty="0" smtClean="0">
                        <a:latin typeface="Cambria Math" panose="02040503050406030204" pitchFamily="18" charset="0"/>
                        <a:cs typeface="Arial"/>
                        <a:sym typeface="Arial"/>
                      </a:rPr>
                      <m:t>M</m:t>
                    </m:r>
                    <m:r>
                      <a:rPr lang="en-US" sz="2400" b="0" i="1" dirty="0" smtClean="0">
                        <a:latin typeface="Cambria Math" panose="02040503050406030204" pitchFamily="18" charset="0"/>
                        <a:cs typeface="Arial"/>
                        <a:sym typeface="Arial"/>
                      </a:rPr>
                      <m:t> </m:t>
                    </m:r>
                  </m:oMath>
                </a14:m>
                <a:r>
                  <a:rPr lang="en-US" sz="2400" dirty="0"/>
                  <a:t> last states!</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For a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dirty="0"/>
                  <a:t>-order filter, we only ever need the </a:t>
                </a:r>
                <a:r>
                  <a:rPr lang="en-US" sz="2400" i="1" dirty="0"/>
                  <a:t>current </a:t>
                </a:r>
                <a:r>
                  <a:rPr lang="en-US" sz="2400" dirty="0"/>
                  <a:t>reading and the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i="1" dirty="0"/>
                  <a:t> previous readings</a:t>
                </a:r>
                <a:r>
                  <a:rPr lang="en-US" sz="2400" dirty="0"/>
                  <a:t>!</a:t>
                </a:r>
                <a:endParaRPr lang="en-US" sz="2400" i="1" dirty="0"/>
              </a:p>
              <a:p>
                <a:pPr marL="0" lvl="0" indent="0">
                  <a:lnSpc>
                    <a:spcPct val="100000"/>
                  </a:lnSpc>
                  <a:spcBef>
                    <a:spcPts val="0"/>
                  </a:spcBef>
                  <a:buSzPts val="2000"/>
                  <a:buNone/>
                </a:pPr>
                <a:endParaRPr lang="en-US" sz="2400" i="1" dirty="0"/>
              </a:p>
            </p:txBody>
          </p:sp>
        </mc:Choice>
        <mc:Fallback xmlns="">
          <p:sp>
            <p:nvSpPr>
              <p:cNvPr id="118" name="Google Shape;118;p29">
                <a:extLst>
                  <a:ext uri="{FF2B5EF4-FFF2-40B4-BE49-F238E27FC236}">
                    <a16:creationId xmlns:a16="http://schemas.microsoft.com/office/drawing/2014/main" id="{4DFD6567-E66D-E43C-201F-4B7CBE263BB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C0A666-C89D-AFF3-539D-FC0DC3EA67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9285A9-095C-D65C-7D07-D5D2E8A185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993D9B6-58AC-809D-5DC4-E440D19F77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9485DE-66D1-8111-773F-DD861DD58B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F06014-4857-06CC-E03E-F3D2B0D4BD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A0F921-70DC-ADF5-B15B-DDE263F1138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EDC28D-0B00-22E5-DE07-B5BE458993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875F7A-FD00-FFF1-2EAD-18CF184507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36197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2171</TotalTime>
  <Words>4255</Words>
  <Application>Microsoft Office PowerPoint</Application>
  <PresentationFormat>Widescreen</PresentationFormat>
  <Paragraphs>502</Paragraphs>
  <Slides>46</Slides>
  <Notes>46</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46</vt:i4>
      </vt:variant>
    </vt:vector>
  </HeadingPairs>
  <TitlesOfParts>
    <vt:vector size="52" baseType="lpstr">
      <vt:lpstr>Arial</vt:lpstr>
      <vt:lpstr>Calibri</vt:lpstr>
      <vt:lpstr>Cambria Math</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149</cp:revision>
  <dcterms:created xsi:type="dcterms:W3CDTF">2019-01-14T22:06:33Z</dcterms:created>
  <dcterms:modified xsi:type="dcterms:W3CDTF">2026-02-19T19:48:30Z</dcterms:modified>
</cp:coreProperties>
</file>