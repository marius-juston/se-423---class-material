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ppt/metadata" ContentType="application/binary"/>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saveSubsetFonts="1" autoCompressPictures="0">
  <p:sldMasterIdLst>
    <p:sldMasterId id="2147483648" r:id="rId1"/>
  </p:sldMasterIdLst>
  <p:notesMasterIdLst>
    <p:notesMasterId r:id="rId48"/>
  </p:notesMasterIdLst>
  <p:sldIdLst>
    <p:sldId id="256" r:id="rId2"/>
    <p:sldId id="310" r:id="rId3"/>
    <p:sldId id="257" r:id="rId4"/>
    <p:sldId id="258" r:id="rId5"/>
    <p:sldId id="311" r:id="rId6"/>
    <p:sldId id="312" r:id="rId7"/>
    <p:sldId id="313" r:id="rId8"/>
    <p:sldId id="316" r:id="rId9"/>
    <p:sldId id="317" r:id="rId10"/>
    <p:sldId id="318" r:id="rId11"/>
    <p:sldId id="321" r:id="rId12"/>
    <p:sldId id="322" r:id="rId13"/>
    <p:sldId id="323" r:id="rId14"/>
    <p:sldId id="324" r:id="rId15"/>
    <p:sldId id="326" r:id="rId16"/>
    <p:sldId id="332" r:id="rId17"/>
    <p:sldId id="333" r:id="rId18"/>
    <p:sldId id="334" r:id="rId19"/>
    <p:sldId id="325" r:id="rId20"/>
    <p:sldId id="320" r:id="rId21"/>
    <p:sldId id="319" r:id="rId22"/>
    <p:sldId id="330" r:id="rId23"/>
    <p:sldId id="331" r:id="rId24"/>
    <p:sldId id="328" r:id="rId25"/>
    <p:sldId id="329" r:id="rId26"/>
    <p:sldId id="314" r:id="rId27"/>
    <p:sldId id="315" r:id="rId28"/>
    <p:sldId id="335" r:id="rId29"/>
    <p:sldId id="336" r:id="rId30"/>
    <p:sldId id="337" r:id="rId31"/>
    <p:sldId id="338" r:id="rId32"/>
    <p:sldId id="339" r:id="rId33"/>
    <p:sldId id="340" r:id="rId34"/>
    <p:sldId id="341" r:id="rId35"/>
    <p:sldId id="342" r:id="rId36"/>
    <p:sldId id="343" r:id="rId37"/>
    <p:sldId id="344" r:id="rId38"/>
    <p:sldId id="345" r:id="rId39"/>
    <p:sldId id="346" r:id="rId40"/>
    <p:sldId id="347" r:id="rId41"/>
    <p:sldId id="348" r:id="rId42"/>
    <p:sldId id="349" r:id="rId43"/>
    <p:sldId id="350" r:id="rId44"/>
    <p:sldId id="327" r:id="rId45"/>
    <p:sldId id="271" r:id="rId46"/>
    <p:sldId id="270" r:id="rId47"/>
  </p:sldIdLst>
  <p:sldSz cx="12192000" cy="6858000"/>
  <p:notesSz cx="6858000" cy="9144000"/>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9pPr>
  </p:defaultTextStyle>
  <p:extLst>
    <p:ext uri="{EFAFB233-063F-42B5-8137-9DF3F51BA10A}">
      <p15:sldGuideLst xmlns:p15="http://schemas.microsoft.com/office/powerpoint/2012/main"/>
    </p:ext>
    <p:ext uri="http://customooxmlschemas.google.com/">
      <go:slidesCustomData xmlns:go="http://customooxmlschemas.google.com/" xmlns:ahyp="http://schemas.microsoft.com/office/drawing/2018/hyperlinkcolor" xmlns:p15="http://schemas.microsoft.com/office/powerpoint/2012/main" xmlns:p14="http://schemas.microsoft.com/office/powerpoint/2010/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mc="http://schemas.openxmlformats.org/markup-compatibility/2006" xmlns="" r:id="rId49" roundtripDataSignature="AMtx7mjKkk5wOoQj6sDPPETbbKgHU96Dzg=="/>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80185" autoAdjust="0"/>
  </p:normalViewPr>
  <p:slideViewPr>
    <p:cSldViewPr snapToGrid="0">
      <p:cViewPr varScale="1">
        <p:scale>
          <a:sx n="88" d="100"/>
          <a:sy n="88" d="100"/>
        </p:scale>
        <p:origin x="1434" y="96"/>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slide" Target="slides/slide46.xml"/><Relationship Id="rId50" Type="http://schemas.openxmlformats.org/officeDocument/2006/relationships/presProps" Target="presProps.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3" Type="http://schemas.openxmlformats.org/officeDocument/2006/relationships/tableStyles" Target="tableStyles.xml"/><Relationship Id="rId5" Type="http://schemas.openxmlformats.org/officeDocument/2006/relationships/slide" Target="slides/slide4.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theme" Target="theme/theme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notesMaster" Target="notesMasters/notesMaster1.xml"/><Relationship Id="rId8" Type="http://schemas.openxmlformats.org/officeDocument/2006/relationships/slide" Target="slides/slide7.xml"/><Relationship Id="rId51" Type="http://schemas.openxmlformats.org/officeDocument/2006/relationships/viewProps" Target="viewProps.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20" Type="http://schemas.openxmlformats.org/officeDocument/2006/relationships/slide" Target="slides/slide19.xml"/><Relationship Id="rId41" Type="http://schemas.openxmlformats.org/officeDocument/2006/relationships/slide" Target="slides/slide40.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customschemas.google.com/relationships/presentationmetadata" Target="metadata"/></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2"/>
        <p:cNvGrpSpPr/>
        <p:nvPr/>
      </p:nvGrpSpPr>
      <p:grpSpPr>
        <a:xfrm>
          <a:off x="0" y="0"/>
          <a:ext cx="0" cy="0"/>
          <a:chOff x="0" y="0"/>
          <a:chExt cx="0" cy="0"/>
        </a:xfrm>
      </p:grpSpPr>
      <p:sp>
        <p:nvSpPr>
          <p:cNvPr id="3" name="Google Shape;3;n"/>
          <p:cNvSpPr txBox="1">
            <a:spLocks noGrp="1"/>
          </p:cNvSpPr>
          <p:nvPr>
            <p:ph type="hdr" idx="2"/>
          </p:nvPr>
        </p:nvSpPr>
        <p:spPr>
          <a:xfrm>
            <a:off x="0" y="0"/>
            <a:ext cx="2971800" cy="458788"/>
          </a:xfrm>
          <a:prstGeom prst="rect">
            <a:avLst/>
          </a:prstGeom>
          <a:noFill/>
          <a:ln>
            <a:noFill/>
          </a:ln>
        </p:spPr>
        <p:txBody>
          <a:bodyPr spcFirstLastPara="1" wrap="square" lIns="91425" tIns="45700" rIns="91425" bIns="45700" anchor="t" anchorCtr="0">
            <a:noAutofit/>
          </a:bodyPr>
          <a:lstStyle>
            <a:lvl1pPr marR="0" lvl="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tkinson Hyperlegible Next"/>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9pPr>
          </a:lstStyle>
          <a:p>
            <a:endParaRPr/>
          </a:p>
        </p:txBody>
      </p:sp>
      <p:sp>
        <p:nvSpPr>
          <p:cNvPr id="4" name="Google Shape;4;n"/>
          <p:cNvSpPr txBox="1">
            <a:spLocks noGrp="1"/>
          </p:cNvSpPr>
          <p:nvPr>
            <p:ph type="dt" idx="10"/>
          </p:nvPr>
        </p:nvSpPr>
        <p:spPr>
          <a:xfrm>
            <a:off x="3884613" y="0"/>
            <a:ext cx="2971800" cy="458788"/>
          </a:xfrm>
          <a:prstGeom prst="rect">
            <a:avLst/>
          </a:prstGeom>
          <a:noFill/>
          <a:ln>
            <a:noFill/>
          </a:ln>
        </p:spPr>
        <p:txBody>
          <a:bodyPr spcFirstLastPara="1" wrap="square" lIns="91425" tIns="45700" rIns="91425" bIns="45700" anchor="t" anchorCtr="0">
            <a:noAutofit/>
          </a:bodyPr>
          <a:lstStyle>
            <a:lvl1pPr marR="0" lvl="0" algn="r"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tkinson Hyperlegible Next"/>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9pPr>
          </a:lstStyle>
          <a:p>
            <a:endParaRPr/>
          </a:p>
        </p:txBody>
      </p:sp>
      <p:sp>
        <p:nvSpPr>
          <p:cNvPr id="5" name="Google Shape;5;n"/>
          <p:cNvSpPr>
            <a:spLocks noGrp="1" noRot="1" noChangeAspect="1"/>
          </p:cNvSpPr>
          <p:nvPr>
            <p:ph type="sldImg" idx="3"/>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6" name="Google Shape;6;n"/>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lvl1pPr marL="457200" marR="0" lvl="0"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tkinson Hyperlegible Next"/>
                <a:ea typeface="Calibri"/>
                <a:cs typeface="Calibri"/>
                <a:sym typeface="Calibri"/>
              </a:defRPr>
            </a:lvl1pPr>
            <a:lvl2pPr marL="914400" marR="0" lvl="1"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tkinson Hyperlegible Next"/>
                <a:ea typeface="Calibri"/>
                <a:cs typeface="Calibri"/>
                <a:sym typeface="Calibri"/>
              </a:defRPr>
            </a:lvl2pPr>
            <a:lvl3pPr marL="1371600" marR="0" lvl="2"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tkinson Hyperlegible Next"/>
                <a:ea typeface="Calibri"/>
                <a:cs typeface="Calibri"/>
                <a:sym typeface="Calibri"/>
              </a:defRPr>
            </a:lvl3pPr>
            <a:lvl4pPr marL="1828800" marR="0" lvl="3"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tkinson Hyperlegible Next"/>
                <a:ea typeface="Calibri"/>
                <a:cs typeface="Calibri"/>
                <a:sym typeface="Calibri"/>
              </a:defRPr>
            </a:lvl4pPr>
            <a:lvl5pPr marL="2286000" marR="0" lvl="4"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tkinson Hyperlegible Next"/>
                <a:ea typeface="Calibri"/>
                <a:cs typeface="Calibri"/>
                <a:sym typeface="Calibri"/>
              </a:defRPr>
            </a:lvl5pPr>
            <a:lvl6pPr marL="2743200" marR="0" lvl="5"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tkinson Hyperlegible Next"/>
                <a:ea typeface="Calibri"/>
                <a:cs typeface="Calibri"/>
                <a:sym typeface="Calibri"/>
              </a:defRPr>
            </a:lvl6pPr>
            <a:lvl7pPr marL="3200400" marR="0" lvl="6"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tkinson Hyperlegible Next"/>
                <a:ea typeface="Calibri"/>
                <a:cs typeface="Calibri"/>
                <a:sym typeface="Calibri"/>
              </a:defRPr>
            </a:lvl7pPr>
            <a:lvl8pPr marL="3657600" marR="0" lvl="7"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tkinson Hyperlegible Next"/>
                <a:ea typeface="Calibri"/>
                <a:cs typeface="Calibri"/>
                <a:sym typeface="Calibri"/>
              </a:defRPr>
            </a:lvl8pPr>
            <a:lvl9pPr marL="4114800" marR="0" lvl="8"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tkinson Hyperlegible Next"/>
                <a:ea typeface="Calibri"/>
                <a:cs typeface="Calibri"/>
                <a:sym typeface="Calibri"/>
              </a:defRPr>
            </a:lvl9pPr>
          </a:lstStyle>
          <a:p>
            <a:endParaRPr/>
          </a:p>
        </p:txBody>
      </p:sp>
      <p:sp>
        <p:nvSpPr>
          <p:cNvPr id="7" name="Google Shape;7;n"/>
          <p:cNvSpPr txBox="1">
            <a:spLocks noGrp="1"/>
          </p:cNvSpPr>
          <p:nvPr>
            <p:ph type="ftr" idx="11"/>
          </p:nvPr>
        </p:nvSpPr>
        <p:spPr>
          <a:xfrm>
            <a:off x="0" y="8685213"/>
            <a:ext cx="2971800" cy="458787"/>
          </a:xfrm>
          <a:prstGeom prst="rect">
            <a:avLst/>
          </a:prstGeom>
          <a:noFill/>
          <a:ln>
            <a:noFill/>
          </a:ln>
        </p:spPr>
        <p:txBody>
          <a:bodyPr spcFirstLastPara="1" wrap="square" lIns="91425" tIns="45700" rIns="91425" bIns="45700" anchor="b" anchorCtr="0">
            <a:noAutofit/>
          </a:bodyPr>
          <a:lstStyle>
            <a:lvl1pPr marR="0" lvl="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tkinson Hyperlegible Next"/>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9pPr>
          </a:lstStyle>
          <a:p>
            <a:endParaRPr/>
          </a:p>
        </p:txBody>
      </p:sp>
      <p:sp>
        <p:nvSpPr>
          <p:cNvPr id="8" name="Google Shape;8;n"/>
          <p:cNvSpPr txBox="1">
            <a:spLocks noGrp="1"/>
          </p:cNvSpPr>
          <p:nvPr>
            <p:ph type="sldNum" idx="12"/>
          </p:nvPr>
        </p:nvSpPr>
        <p:spPr>
          <a:xfrm>
            <a:off x="3884613" y="8685213"/>
            <a:ext cx="2971800" cy="458787"/>
          </a:xfrm>
          <a:prstGeom prst="rect">
            <a:avLst/>
          </a:prstGeom>
          <a:noFill/>
          <a:ln>
            <a:noFill/>
          </a:ln>
        </p:spPr>
        <p:txBody>
          <a:bodyPr spcFirstLastPara="1" wrap="square" lIns="91425" tIns="45700" rIns="91425" bIns="45700" anchor="b" anchorCtr="0">
            <a:noAutofit/>
          </a:bodyPr>
          <a:lstStyle/>
          <a:p>
            <a:pPr marL="0" marR="0" lvl="0" indent="0" algn="r" rtl="0">
              <a:lnSpc>
                <a:spcPct val="100000"/>
              </a:lnSpc>
              <a:spcBef>
                <a:spcPts val="0"/>
              </a:spcBef>
              <a:spcAft>
                <a:spcPts val="0"/>
              </a:spcAft>
              <a:buClr>
                <a:srgbClr val="000000"/>
              </a:buClr>
              <a:buSzPts val="1200"/>
              <a:buFont typeface="Arial"/>
              <a:buNone/>
            </a:pPr>
            <a:fld id="{00000000-1234-1234-1234-123412341234}" type="slidenum">
              <a:rPr lang="en-US" sz="1200" b="0" i="0" u="none" strike="noStrike" cap="none">
                <a:solidFill>
                  <a:schemeClr val="dk1"/>
                </a:solidFill>
                <a:latin typeface="Atkinson Hyperlegible Next"/>
                <a:ea typeface="Calibri"/>
                <a:cs typeface="Calibri"/>
                <a:sym typeface="Calibri"/>
              </a:rPr>
              <a:t>‹#›</a:t>
            </a:fld>
            <a:endParaRPr sz="1200" b="0" i="0" u="none" strike="noStrike" cap="none">
              <a:solidFill>
                <a:schemeClr val="dk1"/>
              </a:solidFill>
              <a:latin typeface="Atkinson Hyperlegible Next"/>
              <a:ea typeface="Calibri"/>
              <a:cs typeface="Calibri"/>
              <a:sym typeface="Calibri"/>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8"/>
        <p:cNvGrpSpPr/>
        <p:nvPr/>
      </p:nvGrpSpPr>
      <p:grpSpPr>
        <a:xfrm>
          <a:off x="0" y="0"/>
          <a:ext cx="0" cy="0"/>
          <a:chOff x="0" y="0"/>
          <a:chExt cx="0" cy="0"/>
        </a:xfrm>
      </p:grpSpPr>
      <p:sp>
        <p:nvSpPr>
          <p:cNvPr id="79" name="Google Shape;79;p26: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80" name="Google Shape;80;p26: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811560CD-FFDE-70C6-6183-A453F3E98164}"/>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E57E4E91-ED9F-DE16-BEB6-F07455961AC1}"/>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dirty="0"/>
          </a:p>
        </p:txBody>
      </p:sp>
      <p:sp>
        <p:nvSpPr>
          <p:cNvPr id="116" name="Google Shape;116;p29:notes">
            <a:extLst>
              <a:ext uri="{FF2B5EF4-FFF2-40B4-BE49-F238E27FC236}">
                <a16:creationId xmlns:a16="http://schemas.microsoft.com/office/drawing/2014/main" id="{063A7F12-DA54-6672-271A-7F884E56D747}"/>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499943449"/>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
        <p:cNvGrpSpPr/>
        <p:nvPr/>
      </p:nvGrpSpPr>
      <p:grpSpPr>
        <a:xfrm>
          <a:off x="0" y="0"/>
          <a:ext cx="0" cy="0"/>
          <a:chOff x="0" y="0"/>
          <a:chExt cx="0" cy="0"/>
        </a:xfrm>
      </p:grpSpPr>
      <p:sp>
        <p:nvSpPr>
          <p:cNvPr id="86" name="Google Shape;86;p27: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87" name="Google Shape;87;p27: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0"/>
        <p:cNvGrpSpPr/>
        <p:nvPr/>
      </p:nvGrpSpPr>
      <p:grpSpPr>
        <a:xfrm>
          <a:off x="0" y="0"/>
          <a:ext cx="0" cy="0"/>
          <a:chOff x="0" y="0"/>
          <a:chExt cx="0" cy="0"/>
        </a:xfrm>
      </p:grpSpPr>
      <p:sp>
        <p:nvSpPr>
          <p:cNvPr id="101" name="Google Shape;101;p28: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02" name="Google Shape;102;p28: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3A0A3304-8593-A25D-A9EE-E6471A855F2D}"/>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05817422-B358-E9B4-93FA-4C464E06ED00}"/>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460FB445-45D1-9B88-4A9D-5033DF95156C}"/>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59699855"/>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3A0A3304-8593-A25D-A9EE-E6471A855F2D}"/>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05817422-B358-E9B4-93FA-4C464E06ED00}"/>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460FB445-45D1-9B88-4A9D-5033DF95156C}"/>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680635285"/>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0">
          <a:extLst>
            <a:ext uri="{FF2B5EF4-FFF2-40B4-BE49-F238E27FC236}">
              <a16:creationId xmlns:a16="http://schemas.microsoft.com/office/drawing/2014/main" id="{6CDC9B3F-C73A-95F3-2C1C-D2A642FAB5BE}"/>
            </a:ext>
          </a:extLst>
        </p:cNvPr>
        <p:cNvGrpSpPr/>
        <p:nvPr/>
      </p:nvGrpSpPr>
      <p:grpSpPr>
        <a:xfrm>
          <a:off x="0" y="0"/>
          <a:ext cx="0" cy="0"/>
          <a:chOff x="0" y="0"/>
          <a:chExt cx="0" cy="0"/>
        </a:xfrm>
      </p:grpSpPr>
      <p:sp>
        <p:nvSpPr>
          <p:cNvPr id="101" name="Google Shape;101;p28:notes">
            <a:extLst>
              <a:ext uri="{FF2B5EF4-FFF2-40B4-BE49-F238E27FC236}">
                <a16:creationId xmlns:a16="http://schemas.microsoft.com/office/drawing/2014/main" id="{1BB095F5-08F9-8747-B1EA-9E39CE7D1B4A}"/>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02" name="Google Shape;102;p28:notes">
            <a:extLst>
              <a:ext uri="{FF2B5EF4-FFF2-40B4-BE49-F238E27FC236}">
                <a16:creationId xmlns:a16="http://schemas.microsoft.com/office/drawing/2014/main" id="{EEADEE41-52C5-AA8E-E1F2-505D4239DDD2}"/>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266081579"/>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C831FD86-A459-246B-5598-31CF7F27C3B8}"/>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B91C6A2E-EC39-B884-C5BA-27F1E05C0DBD}"/>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B848896C-F32F-58F4-8743-6C2547C79AC1}"/>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194105894"/>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3AD1264B-E729-6656-9A8A-6E083302EEFD}"/>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6B96AFB3-939C-2272-C409-CD9B7F279EF8}"/>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r>
              <a:rPr lang="en-US" dirty="0"/>
              <a:t>In a standard Radix-2 Cooley-Tukey algorithm, the computation is broken down into </a:t>
            </a:r>
            <a:r>
              <a:rPr lang="en-US" sz="1200" b="0" i="0" u="none" strike="noStrike" cap="none" dirty="0">
                <a:solidFill>
                  <a:schemeClr val="dk1"/>
                </a:solidFill>
                <a:effectLst/>
                <a:latin typeface="Atkinson Hyperlegible Next"/>
                <a:ea typeface="Calibri"/>
                <a:cs typeface="Calibri"/>
                <a:sym typeface="Calibri"/>
              </a:rPr>
              <a:t>$\log_2(N)$</a:t>
            </a:r>
            <a:r>
              <a:rPr lang="en-US" dirty="0"/>
              <a:t> stages. Thus, an </a:t>
            </a:r>
            <a:r>
              <a:rPr lang="en-US" sz="1200" b="0" i="0" u="none" strike="noStrike" cap="none" dirty="0">
                <a:solidFill>
                  <a:schemeClr val="dk1"/>
                </a:solidFill>
                <a:effectLst/>
                <a:latin typeface="Atkinson Hyperlegible Next"/>
                <a:ea typeface="Calibri"/>
                <a:cs typeface="Calibri"/>
                <a:sym typeface="Calibri"/>
              </a:rPr>
              <a:t>$N=1024$</a:t>
            </a:r>
            <a:r>
              <a:rPr lang="en-US" dirty="0"/>
              <a:t> point FFT requires exactly 10 stages of butterfly operations. This reduces the computational complexity from </a:t>
            </a:r>
            <a:r>
              <a:rPr lang="en-US" sz="1200" b="0" i="0" u="none" strike="noStrike" cap="none" dirty="0">
                <a:solidFill>
                  <a:schemeClr val="dk1"/>
                </a:solidFill>
                <a:effectLst/>
                <a:latin typeface="Atkinson Hyperlegible Next"/>
                <a:ea typeface="Calibri"/>
                <a:cs typeface="Calibri"/>
                <a:sym typeface="Calibri"/>
              </a:rPr>
              <a:t>$O(N^2)$</a:t>
            </a:r>
            <a:r>
              <a:rPr lang="en-US" dirty="0"/>
              <a:t> for a naive Discrete Fourier Transform (DFT) to </a:t>
            </a:r>
            <a:r>
              <a:rPr lang="en-US" sz="1200" b="0" i="0" u="none" strike="noStrike" cap="none" dirty="0">
                <a:solidFill>
                  <a:schemeClr val="dk1"/>
                </a:solidFill>
                <a:effectLst/>
                <a:latin typeface="Atkinson Hyperlegible Next"/>
                <a:ea typeface="Calibri"/>
                <a:cs typeface="Calibri"/>
                <a:sym typeface="Calibri"/>
              </a:rPr>
              <a:t>$O(N \log_2 N)$</a:t>
            </a:r>
            <a:r>
              <a:rPr lang="en-US" dirty="0"/>
              <a:t>, which is mathematically necessary for real-time latency constraints in embedded control systems</a:t>
            </a:r>
          </a:p>
          <a:p>
            <a:pPr marL="0" lvl="0" indent="0" algn="l" rtl="0">
              <a:lnSpc>
                <a:spcPct val="100000"/>
              </a:lnSpc>
              <a:spcBef>
                <a:spcPts val="0"/>
              </a:spcBef>
              <a:spcAft>
                <a:spcPts val="0"/>
              </a:spcAft>
              <a:buSzPts val="1400"/>
              <a:buNone/>
            </a:pPr>
            <a:endParaRPr lang="en-US" dirty="0"/>
          </a:p>
          <a:p>
            <a:pPr marL="0" marR="0" lvl="0" indent="0" algn="l" defTabSz="914400" rtl="0" eaLnBrk="1" fontAlgn="auto" latinLnBrk="0" hangingPunct="1">
              <a:lnSpc>
                <a:spcPct val="100000"/>
              </a:lnSpc>
              <a:spcBef>
                <a:spcPts val="0"/>
              </a:spcBef>
              <a:spcAft>
                <a:spcPts val="0"/>
              </a:spcAft>
              <a:buClr>
                <a:srgbClr val="000000"/>
              </a:buClr>
              <a:buSzPts val="1400"/>
              <a:buFont typeface="Arial"/>
              <a:buNone/>
              <a:tabLst/>
              <a:defRPr/>
            </a:pPr>
            <a:r>
              <a:rPr lang="en-US" dirty="0"/>
              <a:t>The pragma puts the specific data into different distinct physical RAM blocks. If </a:t>
            </a:r>
            <a:r>
              <a:rPr lang="en-US" sz="1200" b="0" i="0" u="none" strike="noStrike" cap="none" dirty="0" err="1">
                <a:solidFill>
                  <a:schemeClr val="dk1"/>
                </a:solidFill>
                <a:latin typeface="Atkinson Hyperlegible Next"/>
                <a:ea typeface="Calibri"/>
                <a:cs typeface="Calibri"/>
                <a:sym typeface="Calibri"/>
              </a:rPr>
              <a:t>fft_input</a:t>
            </a:r>
            <a:r>
              <a:rPr lang="en-US" dirty="0"/>
              <a:t> and </a:t>
            </a:r>
            <a:r>
              <a:rPr lang="en-US" sz="1200" b="0" i="0" u="none" strike="noStrike" cap="none" dirty="0">
                <a:solidFill>
                  <a:schemeClr val="dk1"/>
                </a:solidFill>
                <a:latin typeface="Atkinson Hyperlegible Next"/>
                <a:ea typeface="Calibri"/>
                <a:cs typeface="Calibri"/>
                <a:sym typeface="Calibri"/>
              </a:rPr>
              <a:t>RFFTF32Coef</a:t>
            </a:r>
            <a:r>
              <a:rPr lang="en-US" dirty="0"/>
              <a:t> (the twiddle factors) were in the same memory block, the CPU would stall due to bus contention, requiring two clock cycles to fetch the operands. By placing them in separate blocks, the DSP core can fetch both operands in a single clock cycle, effectively halving the execution time of the butterfly loops.</a:t>
            </a:r>
          </a:p>
          <a:p>
            <a:pPr marL="0" lvl="0" indent="0" algn="l" rtl="0">
              <a:lnSpc>
                <a:spcPct val="100000"/>
              </a:lnSpc>
              <a:spcBef>
                <a:spcPts val="0"/>
              </a:spcBef>
              <a:spcAft>
                <a:spcPts val="0"/>
              </a:spcAft>
              <a:buSzPts val="1400"/>
              <a:buNone/>
            </a:pPr>
            <a:endParaRPr lang="en-US" dirty="0"/>
          </a:p>
          <a:p>
            <a:pPr marL="0" lvl="0" indent="0" algn="l" rtl="0">
              <a:lnSpc>
                <a:spcPct val="100000"/>
              </a:lnSpc>
              <a:spcBef>
                <a:spcPts val="0"/>
              </a:spcBef>
              <a:spcAft>
                <a:spcPts val="0"/>
              </a:spcAft>
              <a:buSzPts val="1400"/>
              <a:buNone/>
            </a:pPr>
            <a:r>
              <a:rPr lang="en-US" dirty="0"/>
              <a:t>We only need to store N/2 + 1 points because for the strictly real-valued inputs the spectrum is mirrored at index N-k, because you have the complex conjugate, the magnitudes are the same.</a:t>
            </a:r>
          </a:p>
          <a:p>
            <a:pPr marL="0" lvl="0" indent="0" algn="l" rtl="0">
              <a:lnSpc>
                <a:spcPct val="100000"/>
              </a:lnSpc>
              <a:spcBef>
                <a:spcPts val="0"/>
              </a:spcBef>
              <a:spcAft>
                <a:spcPts val="0"/>
              </a:spcAft>
              <a:buSzPts val="1400"/>
              <a:buNone/>
            </a:pPr>
            <a:endParaRPr lang="en-US" dirty="0"/>
          </a:p>
          <a:p>
            <a:pPr marL="0" lvl="0" indent="0" algn="l" rtl="0">
              <a:lnSpc>
                <a:spcPct val="100000"/>
              </a:lnSpc>
              <a:spcBef>
                <a:spcPts val="0"/>
              </a:spcBef>
              <a:spcAft>
                <a:spcPts val="0"/>
              </a:spcAft>
              <a:buSzPts val="1400"/>
              <a:buNone/>
            </a:pPr>
            <a:r>
              <a:rPr lang="en-US" dirty="0"/>
              <a:t>We have ping pong buffers, for establishing double-buffering, the </a:t>
            </a:r>
            <a:r>
              <a:rPr lang="en-US" dirty="0" err="1"/>
              <a:t>peripherials</a:t>
            </a:r>
            <a:r>
              <a:rPr lang="en-US" dirty="0"/>
              <a:t> write using Direct Memory Access  DMA) the raw ADC data to the buffer, and the CPU does the RFFT on the data in the second buffer. You keep on switching buffers. Allowing zero dropped samples.</a:t>
            </a:r>
            <a:endParaRPr dirty="0"/>
          </a:p>
        </p:txBody>
      </p:sp>
      <p:sp>
        <p:nvSpPr>
          <p:cNvPr id="116" name="Google Shape;116;p29:notes">
            <a:extLst>
              <a:ext uri="{FF2B5EF4-FFF2-40B4-BE49-F238E27FC236}">
                <a16:creationId xmlns:a16="http://schemas.microsoft.com/office/drawing/2014/main" id="{9B8E0CF0-A86D-4D78-C36B-F15054C89E41}"/>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915588396"/>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FF02690B-26AA-A081-4B85-586111D09839}"/>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EA8AF466-60AD-39A8-2FA5-9EA5CBB64FE5}"/>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dirty="0"/>
          </a:p>
        </p:txBody>
      </p:sp>
      <p:sp>
        <p:nvSpPr>
          <p:cNvPr id="116" name="Google Shape;116;p29:notes">
            <a:extLst>
              <a:ext uri="{FF2B5EF4-FFF2-40B4-BE49-F238E27FC236}">
                <a16:creationId xmlns:a16="http://schemas.microsoft.com/office/drawing/2014/main" id="{070C0B39-107A-18E1-43C7-AFFEA7198624}"/>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874985076"/>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0">
          <a:extLst>
            <a:ext uri="{FF2B5EF4-FFF2-40B4-BE49-F238E27FC236}">
              <a16:creationId xmlns:a16="http://schemas.microsoft.com/office/drawing/2014/main" id="{688CE4DD-A803-E22B-FA7C-ECC60E93FD1D}"/>
            </a:ext>
          </a:extLst>
        </p:cNvPr>
        <p:cNvGrpSpPr/>
        <p:nvPr/>
      </p:nvGrpSpPr>
      <p:grpSpPr>
        <a:xfrm>
          <a:off x="0" y="0"/>
          <a:ext cx="0" cy="0"/>
          <a:chOff x="0" y="0"/>
          <a:chExt cx="0" cy="0"/>
        </a:xfrm>
      </p:grpSpPr>
      <p:sp>
        <p:nvSpPr>
          <p:cNvPr id="101" name="Google Shape;101;p28:notes">
            <a:extLst>
              <a:ext uri="{FF2B5EF4-FFF2-40B4-BE49-F238E27FC236}">
                <a16:creationId xmlns:a16="http://schemas.microsoft.com/office/drawing/2014/main" id="{F8CBDF59-F4E4-9C02-B587-76FE0DC1FD13}"/>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02" name="Google Shape;102;p28:notes">
            <a:extLst>
              <a:ext uri="{FF2B5EF4-FFF2-40B4-BE49-F238E27FC236}">
                <a16:creationId xmlns:a16="http://schemas.microsoft.com/office/drawing/2014/main" id="{1A7C3F36-4C1F-6C2C-56BA-62BD0F74CD86}"/>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096837322"/>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62828B9F-3DFB-FF89-AA12-149D6AF2F59E}"/>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8152E601-CB04-1B10-DFF9-B95A943B2C56}"/>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BE2B37AB-3733-0952-1B46-EC989CEF6669}"/>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996731774"/>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5113DDCC-4E0D-3992-A8A4-F5469FAE2A1A}"/>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C6443E41-C359-ACCB-F4D5-A3E35DBDE9A3}"/>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F0BAE030-4D68-2646-FBEF-EB8FC5E15D80}"/>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427357468"/>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9E139CBB-2A97-D5FE-05A4-8D33382D1C78}"/>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40E4E264-A9D0-FC20-9898-6ED95A0154E0}"/>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2F774F08-0081-1CB5-0FD8-571A84DD95C1}"/>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382837716"/>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0DB0A1D2-65E5-9527-AAEA-B392386C15F0}"/>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3836FEC6-0806-0D82-3CBE-8C20CA7278FE}"/>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r>
              <a:rPr lang="en-US" dirty="0"/>
              <a:t>All shadow registers are copied to active registers.</a:t>
            </a:r>
            <a:endParaRPr dirty="0"/>
          </a:p>
        </p:txBody>
      </p:sp>
      <p:sp>
        <p:nvSpPr>
          <p:cNvPr id="116" name="Google Shape;116;p29:notes">
            <a:extLst>
              <a:ext uri="{FF2B5EF4-FFF2-40B4-BE49-F238E27FC236}">
                <a16:creationId xmlns:a16="http://schemas.microsoft.com/office/drawing/2014/main" id="{1513B08B-7DFC-2F3B-193E-2097AEA62275}"/>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106203318"/>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0">
          <a:extLst>
            <a:ext uri="{FF2B5EF4-FFF2-40B4-BE49-F238E27FC236}">
              <a16:creationId xmlns:a16="http://schemas.microsoft.com/office/drawing/2014/main" id="{A4078CD9-CD34-39B9-4CD7-003EDA75D496}"/>
            </a:ext>
          </a:extLst>
        </p:cNvPr>
        <p:cNvGrpSpPr/>
        <p:nvPr/>
      </p:nvGrpSpPr>
      <p:grpSpPr>
        <a:xfrm>
          <a:off x="0" y="0"/>
          <a:ext cx="0" cy="0"/>
          <a:chOff x="0" y="0"/>
          <a:chExt cx="0" cy="0"/>
        </a:xfrm>
      </p:grpSpPr>
      <p:sp>
        <p:nvSpPr>
          <p:cNvPr id="101" name="Google Shape;101;p28:notes">
            <a:extLst>
              <a:ext uri="{FF2B5EF4-FFF2-40B4-BE49-F238E27FC236}">
                <a16:creationId xmlns:a16="http://schemas.microsoft.com/office/drawing/2014/main" id="{E884537F-2956-8742-0054-A2D7AB7C8FCE}"/>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02" name="Google Shape;102;p28:notes">
            <a:extLst>
              <a:ext uri="{FF2B5EF4-FFF2-40B4-BE49-F238E27FC236}">
                <a16:creationId xmlns:a16="http://schemas.microsoft.com/office/drawing/2014/main" id="{3199D6A4-65DD-D095-2456-9AC96D0B79C7}"/>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04851143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A56D1CA6-2B23-ED62-E3A7-332E28CE8A5C}"/>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C95DBAC1-A155-E140-8AAA-62A01E6F1C76}"/>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r>
              <a:rPr lang="en-US" dirty="0"/>
              <a:t>All shadow registers are copied to active registers.</a:t>
            </a:r>
            <a:endParaRPr dirty="0"/>
          </a:p>
        </p:txBody>
      </p:sp>
      <p:sp>
        <p:nvSpPr>
          <p:cNvPr id="116" name="Google Shape;116;p29:notes">
            <a:extLst>
              <a:ext uri="{FF2B5EF4-FFF2-40B4-BE49-F238E27FC236}">
                <a16:creationId xmlns:a16="http://schemas.microsoft.com/office/drawing/2014/main" id="{66D3DF22-1CDB-D220-44CE-8835BCE526C7}"/>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185497890"/>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CC6A034B-512B-FF52-8CB1-1812EF2473C2}"/>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1444B81F-96DB-2390-B10A-5C9B60F22E09}"/>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r>
              <a:rPr lang="en-US" dirty="0"/>
              <a:t>All shadow registers are copied to active registers.</a:t>
            </a:r>
            <a:endParaRPr dirty="0"/>
          </a:p>
        </p:txBody>
      </p:sp>
      <p:sp>
        <p:nvSpPr>
          <p:cNvPr id="116" name="Google Shape;116;p29:notes">
            <a:extLst>
              <a:ext uri="{FF2B5EF4-FFF2-40B4-BE49-F238E27FC236}">
                <a16:creationId xmlns:a16="http://schemas.microsoft.com/office/drawing/2014/main" id="{5753F641-DA1A-A5A5-8C77-B8F3213EAF0F}"/>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4278894430"/>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0">
          <a:extLst>
            <a:ext uri="{FF2B5EF4-FFF2-40B4-BE49-F238E27FC236}">
              <a16:creationId xmlns:a16="http://schemas.microsoft.com/office/drawing/2014/main" id="{FCC0DCF7-6935-BF50-6343-BE76BB252906}"/>
            </a:ext>
          </a:extLst>
        </p:cNvPr>
        <p:cNvGrpSpPr/>
        <p:nvPr/>
      </p:nvGrpSpPr>
      <p:grpSpPr>
        <a:xfrm>
          <a:off x="0" y="0"/>
          <a:ext cx="0" cy="0"/>
          <a:chOff x="0" y="0"/>
          <a:chExt cx="0" cy="0"/>
        </a:xfrm>
      </p:grpSpPr>
      <p:sp>
        <p:nvSpPr>
          <p:cNvPr id="101" name="Google Shape;101;p28:notes">
            <a:extLst>
              <a:ext uri="{FF2B5EF4-FFF2-40B4-BE49-F238E27FC236}">
                <a16:creationId xmlns:a16="http://schemas.microsoft.com/office/drawing/2014/main" id="{AC001E81-BF46-6CBF-5104-F1994CC15BB8}"/>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02" name="Google Shape;102;p28:notes">
            <a:extLst>
              <a:ext uri="{FF2B5EF4-FFF2-40B4-BE49-F238E27FC236}">
                <a16:creationId xmlns:a16="http://schemas.microsoft.com/office/drawing/2014/main" id="{5A466D58-B22B-AE20-47D9-13722C4C6665}"/>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89584687"/>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B20CF6BF-C1D5-C5DF-BD6E-5759CCE40CB6}"/>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83DD38DD-934C-45B0-F258-3951D1E543F7}"/>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dirty="0"/>
          </a:p>
        </p:txBody>
      </p:sp>
      <p:sp>
        <p:nvSpPr>
          <p:cNvPr id="116" name="Google Shape;116;p29:notes">
            <a:extLst>
              <a:ext uri="{FF2B5EF4-FFF2-40B4-BE49-F238E27FC236}">
                <a16:creationId xmlns:a16="http://schemas.microsoft.com/office/drawing/2014/main" id="{0F61D59B-AE1F-250B-1040-AEA7CA378AF9}"/>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312300108"/>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1E5B20CD-F785-C227-8385-6E6AB5867650}"/>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C166A633-7C8F-E1F0-1F21-4F21961C4C98}"/>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dirty="0"/>
          </a:p>
        </p:txBody>
      </p:sp>
      <p:sp>
        <p:nvSpPr>
          <p:cNvPr id="116" name="Google Shape;116;p29:notes">
            <a:extLst>
              <a:ext uri="{FF2B5EF4-FFF2-40B4-BE49-F238E27FC236}">
                <a16:creationId xmlns:a16="http://schemas.microsoft.com/office/drawing/2014/main" id="{1E380E1E-85D7-2F29-9345-3B570F0BC882}"/>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4226627230"/>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12930ECA-12DC-9B42-EDBC-3E7374AA9744}"/>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BFEDAD36-A3B9-302D-10B6-4CC329924E26}"/>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dirty="0"/>
          </a:p>
        </p:txBody>
      </p:sp>
      <p:sp>
        <p:nvSpPr>
          <p:cNvPr id="116" name="Google Shape;116;p29:notes">
            <a:extLst>
              <a:ext uri="{FF2B5EF4-FFF2-40B4-BE49-F238E27FC236}">
                <a16:creationId xmlns:a16="http://schemas.microsoft.com/office/drawing/2014/main" id="{3E194D00-89C6-15CA-0270-29F0CC706C8B}"/>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742539680"/>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60">
          <a:extLst>
            <a:ext uri="{FF2B5EF4-FFF2-40B4-BE49-F238E27FC236}">
              <a16:creationId xmlns:a16="http://schemas.microsoft.com/office/drawing/2014/main" id="{1A6478EA-B86C-2AA7-6FF7-C205630DD4D2}"/>
            </a:ext>
          </a:extLst>
        </p:cNvPr>
        <p:cNvGrpSpPr/>
        <p:nvPr/>
      </p:nvGrpSpPr>
      <p:grpSpPr>
        <a:xfrm>
          <a:off x="0" y="0"/>
          <a:ext cx="0" cy="0"/>
          <a:chOff x="0" y="0"/>
          <a:chExt cx="0" cy="0"/>
        </a:xfrm>
      </p:grpSpPr>
      <p:sp>
        <p:nvSpPr>
          <p:cNvPr id="261" name="Google Shape;261;p37:notes">
            <a:extLst>
              <a:ext uri="{FF2B5EF4-FFF2-40B4-BE49-F238E27FC236}">
                <a16:creationId xmlns:a16="http://schemas.microsoft.com/office/drawing/2014/main" id="{0E18C18B-1F7A-D4BA-3464-15BEDD8F9154}"/>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62" name="Google Shape;262;p37:notes">
            <a:extLst>
              <a:ext uri="{FF2B5EF4-FFF2-40B4-BE49-F238E27FC236}">
                <a16:creationId xmlns:a16="http://schemas.microsoft.com/office/drawing/2014/main" id="{F67C5CB2-5488-F6BA-4EE3-5AA4A3C06737}"/>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196682609"/>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74FDCE0A-72DE-390A-072F-226B0C1D7F2F}"/>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DCCCE7B9-5550-9223-F5F2-556E59440483}"/>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dirty="0"/>
          </a:p>
        </p:txBody>
      </p:sp>
      <p:sp>
        <p:nvSpPr>
          <p:cNvPr id="116" name="Google Shape;116;p29:notes">
            <a:extLst>
              <a:ext uri="{FF2B5EF4-FFF2-40B4-BE49-F238E27FC236}">
                <a16:creationId xmlns:a16="http://schemas.microsoft.com/office/drawing/2014/main" id="{DE96441E-8104-5C71-9BD3-A15217F21AFA}"/>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4293159549"/>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4C44DC48-340E-1781-F39D-458066F911E1}"/>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EE4350DE-DEDC-74C0-C595-124FD964CECD}"/>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r>
              <a:rPr lang="en-US" dirty="0"/>
              <a:t>We don’t care that the FFT will take a bit longer and get interrupted, so we just put it in the main loop</a:t>
            </a:r>
            <a:endParaRPr dirty="0"/>
          </a:p>
        </p:txBody>
      </p:sp>
      <p:sp>
        <p:nvSpPr>
          <p:cNvPr id="116" name="Google Shape;116;p29:notes">
            <a:extLst>
              <a:ext uri="{FF2B5EF4-FFF2-40B4-BE49-F238E27FC236}">
                <a16:creationId xmlns:a16="http://schemas.microsoft.com/office/drawing/2014/main" id="{64D1DACF-DB78-CBE6-DD7D-0C767D9D489D}"/>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999101716"/>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07A83C62-26BF-516E-C0AB-B981CCB01DD8}"/>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96337985-6CAC-D596-AA03-E910A6073805}"/>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78E516BA-C090-7997-A0F7-FE0B8BECF129}"/>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479403484"/>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0">
          <a:extLst>
            <a:ext uri="{FF2B5EF4-FFF2-40B4-BE49-F238E27FC236}">
              <a16:creationId xmlns:a16="http://schemas.microsoft.com/office/drawing/2014/main" id="{5C99B882-DD10-F4F8-7021-B7E39CBCF04E}"/>
            </a:ext>
          </a:extLst>
        </p:cNvPr>
        <p:cNvGrpSpPr/>
        <p:nvPr/>
      </p:nvGrpSpPr>
      <p:grpSpPr>
        <a:xfrm>
          <a:off x="0" y="0"/>
          <a:ext cx="0" cy="0"/>
          <a:chOff x="0" y="0"/>
          <a:chExt cx="0" cy="0"/>
        </a:xfrm>
      </p:grpSpPr>
      <p:sp>
        <p:nvSpPr>
          <p:cNvPr id="101" name="Google Shape;101;p28:notes">
            <a:extLst>
              <a:ext uri="{FF2B5EF4-FFF2-40B4-BE49-F238E27FC236}">
                <a16:creationId xmlns:a16="http://schemas.microsoft.com/office/drawing/2014/main" id="{747E4E7F-92E3-FB0E-4C51-5C776484FDD8}"/>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02" name="Google Shape;102;p28:notes">
            <a:extLst>
              <a:ext uri="{FF2B5EF4-FFF2-40B4-BE49-F238E27FC236}">
                <a16:creationId xmlns:a16="http://schemas.microsoft.com/office/drawing/2014/main" id="{AA0C6B37-74E6-DF53-C525-EF360D352E45}"/>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975208153"/>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FF1D20B4-48FC-B213-C3C2-E5E012EEB35C}"/>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6BD0234B-FC2D-E80A-3A49-F3F45CD0C4BE}"/>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DE500C58-0594-77BB-AFFB-2CDD0095A9C3}"/>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797208824"/>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9F000F68-4270-D9B5-11DA-FCB0F2228B5E}"/>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C78A9B25-083F-2462-3392-F527FD1D22E8}"/>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2F6AD43E-F955-B52E-57AA-EEB56C2C5FF7}"/>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2350428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C1ECA547-EC23-4812-217F-BE52FB13C2E0}"/>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20076270-7264-6E56-A5D7-7CECB6893BFB}"/>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4EE5D076-F672-0531-07A8-06626A495ADD}"/>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734804284"/>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AA251092-F4B9-29A3-8F98-17AEE4828F67}"/>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34FAB96C-E0A1-9879-11D9-F6FFBD6616B9}"/>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88402BEC-8CB4-2A94-8BF4-B9DDAE31D0DA}"/>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831793395"/>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D15B6022-05CB-6ACC-ABCD-F57C3CE9FE83}"/>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89A8948B-EF28-BF6C-94B8-716546029CC0}"/>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37C33949-9457-52E6-76DF-C75BD438C15E}"/>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516789037"/>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DE5F14FC-0323-1C9D-E0C6-4CF0A010A1E5}"/>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DBD84567-C67A-2200-173B-AD82D4211822}"/>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08D47183-127E-E02D-0250-B23F4ED06A95}"/>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339855927"/>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8AEFBEEB-3824-BD60-027C-23AD2B9B4D23}"/>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1AE7692D-C5E9-C1CA-28F1-CAC04B343A84}"/>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EC9D019D-641E-3A8A-2076-9108312A28B5}"/>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269285895"/>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423F5160-B37E-BE80-88F2-A3ABF0317583}"/>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C75097F0-E588-B0CA-B1BA-33E5BD4CEBC3}"/>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BE8BE728-91C7-2DE4-43D2-0C446ED478DB}"/>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844446165"/>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EC28928E-A479-6A61-9101-9BF9E1E899C1}"/>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D928291F-B55F-F859-045A-F560DF4E56A3}"/>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01D16AB5-0FB6-0665-A3C2-93B9F3D159EE}"/>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406565473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D52DB659-2319-F347-92CC-484F40108287}"/>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916BE6E6-A70A-6884-1E82-43B01226183C}"/>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1DF9105D-D82C-0D0D-C1F1-28B9711E971D}"/>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4115199912"/>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02ABF01B-855B-4A52-7316-5B0A8F612318}"/>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42786E77-8A33-76DF-CFBF-F0AB09763579}"/>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9CF53CF5-8CC6-A5DB-5758-C3D94B512B65}"/>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4003779670"/>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C275167B-944E-7272-C8A7-AE8C291B6BDB}"/>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02F361B6-75B7-6570-3C67-7BE7AE6E797C}"/>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6F371227-87C5-D4D8-949C-FE95EDEAFA96}"/>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058154812"/>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B9AC84C9-2D86-CFA5-5294-293D12354D4A}"/>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475A1A60-68E4-F53C-DEEB-0FDDF1CB12A5}"/>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22CC7849-2F9B-9D2B-0F0F-D9010E67EBC7}"/>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281031748"/>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7B85F31E-F8A2-F96F-490D-9FEB5F18ECE2}"/>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4C62BEE7-56EB-D924-DA5C-1BE32B734161}"/>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6C902BBA-48E1-08F9-BFD0-6F19B541E60B}"/>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664369629"/>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0E23ED40-A928-3C51-8F34-BF9E18B02C75}"/>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2FA34A83-1DA0-2D72-4697-F5C1BC8D0D7E}"/>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2627E26D-0211-53EF-1522-F60CE15D6372}"/>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037579297"/>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7F2788EA-2DF7-2743-908D-85D5B12DF3BD}"/>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5035C6EB-89A0-A4BF-9A4A-14CF2B8EB60B}"/>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9BF05D24-F265-B7EA-A101-566D97CF5C6C}"/>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024533532"/>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A7836248-61AE-E82E-8CBF-65B0EE19DFD2}"/>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26BE8E78-C260-2376-C670-377E1AB08DE6}"/>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C6408BBA-6680-92EE-A6F1-4F75AA26FAED}"/>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190496608"/>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60">
          <a:extLst>
            <a:ext uri="{FF2B5EF4-FFF2-40B4-BE49-F238E27FC236}">
              <a16:creationId xmlns:a16="http://schemas.microsoft.com/office/drawing/2014/main" id="{ED6D95D0-49C4-BE65-6DB0-A8408AD9A1A2}"/>
            </a:ext>
          </a:extLst>
        </p:cNvPr>
        <p:cNvGrpSpPr/>
        <p:nvPr/>
      </p:nvGrpSpPr>
      <p:grpSpPr>
        <a:xfrm>
          <a:off x="0" y="0"/>
          <a:ext cx="0" cy="0"/>
          <a:chOff x="0" y="0"/>
          <a:chExt cx="0" cy="0"/>
        </a:xfrm>
      </p:grpSpPr>
      <p:sp>
        <p:nvSpPr>
          <p:cNvPr id="261" name="Google Shape;261;p37:notes">
            <a:extLst>
              <a:ext uri="{FF2B5EF4-FFF2-40B4-BE49-F238E27FC236}">
                <a16:creationId xmlns:a16="http://schemas.microsoft.com/office/drawing/2014/main" id="{D5BF9D20-A937-E031-5ACD-4B566F245A56}"/>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62" name="Google Shape;262;p37:notes">
            <a:extLst>
              <a:ext uri="{FF2B5EF4-FFF2-40B4-BE49-F238E27FC236}">
                <a16:creationId xmlns:a16="http://schemas.microsoft.com/office/drawing/2014/main" id="{1666A96F-D523-1F0C-00D5-14D5F35E2C2F}"/>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88882365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71"/>
        <p:cNvGrpSpPr/>
        <p:nvPr/>
      </p:nvGrpSpPr>
      <p:grpSpPr>
        <a:xfrm>
          <a:off x="0" y="0"/>
          <a:ext cx="0" cy="0"/>
          <a:chOff x="0" y="0"/>
          <a:chExt cx="0" cy="0"/>
        </a:xfrm>
      </p:grpSpPr>
      <p:sp>
        <p:nvSpPr>
          <p:cNvPr id="272" name="Google Shape;272;p38: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73" name="Google Shape;273;p38: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Blank" type="blank">
  <p:cSld name="BLANK">
    <p:spTree>
      <p:nvGrpSpPr>
        <p:cNvPr id="1" name="Shape 15"/>
        <p:cNvGrpSpPr/>
        <p:nvPr/>
      </p:nvGrpSpPr>
      <p:grpSpPr>
        <a:xfrm>
          <a:off x="0" y="0"/>
          <a:ext cx="0" cy="0"/>
          <a:chOff x="0" y="0"/>
          <a:chExt cx="0" cy="0"/>
        </a:xfrm>
      </p:grpSpPr>
      <p:sp>
        <p:nvSpPr>
          <p:cNvPr id="16" name="Google Shape;16;p21"/>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17" name="Google Shape;17;p21"/>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18" name="Google Shape;18;p21"/>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Title and Content" type="obj">
  <p:cSld name="OBJECT">
    <p:spTree>
      <p:nvGrpSpPr>
        <p:cNvPr id="1" name="Shape 19"/>
        <p:cNvGrpSpPr/>
        <p:nvPr/>
      </p:nvGrpSpPr>
      <p:grpSpPr>
        <a:xfrm>
          <a:off x="0" y="0"/>
          <a:ext cx="0" cy="0"/>
          <a:chOff x="0" y="0"/>
          <a:chExt cx="0" cy="0"/>
        </a:xfrm>
      </p:grpSpPr>
      <p:sp>
        <p:nvSpPr>
          <p:cNvPr id="20" name="Google Shape;20;p16"/>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21" name="Google Shape;21;p16"/>
          <p:cNvSpPr txBox="1">
            <a:spLocks noGrp="1"/>
          </p:cNvSpPr>
          <p:nvPr>
            <p:ph type="body" idx="1"/>
          </p:nvPr>
        </p:nvSpPr>
        <p:spPr>
          <a:xfrm>
            <a:off x="838200" y="1825625"/>
            <a:ext cx="10515600" cy="435133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22" name="Google Shape;22;p16"/>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23" name="Google Shape;23;p16"/>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24" name="Google Shape;24;p16"/>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Section Header" type="secHead">
  <p:cSld name="SECTION_HEADER">
    <p:spTree>
      <p:nvGrpSpPr>
        <p:cNvPr id="1" name="Shape 25"/>
        <p:cNvGrpSpPr/>
        <p:nvPr/>
      </p:nvGrpSpPr>
      <p:grpSpPr>
        <a:xfrm>
          <a:off x="0" y="0"/>
          <a:ext cx="0" cy="0"/>
          <a:chOff x="0" y="0"/>
          <a:chExt cx="0" cy="0"/>
        </a:xfrm>
      </p:grpSpPr>
      <p:sp>
        <p:nvSpPr>
          <p:cNvPr id="26" name="Google Shape;26;p17"/>
          <p:cNvSpPr txBox="1">
            <a:spLocks noGrp="1"/>
          </p:cNvSpPr>
          <p:nvPr>
            <p:ph type="title"/>
          </p:nvPr>
        </p:nvSpPr>
        <p:spPr>
          <a:xfrm>
            <a:off x="831850" y="1709738"/>
            <a:ext cx="10515600" cy="2852737"/>
          </a:xfrm>
          <a:prstGeom prst="rect">
            <a:avLst/>
          </a:prstGeom>
          <a:noFill/>
          <a:ln>
            <a:noFill/>
          </a:ln>
        </p:spPr>
        <p:txBody>
          <a:bodyPr spcFirstLastPara="1" wrap="square" lIns="91425" tIns="45700" rIns="91425" bIns="45700" anchor="b" anchorCtr="0">
            <a:normAutofit/>
          </a:bodyPr>
          <a:lstStyle>
            <a:lvl1pPr lvl="0" algn="l">
              <a:lnSpc>
                <a:spcPct val="90000"/>
              </a:lnSpc>
              <a:spcBef>
                <a:spcPts val="0"/>
              </a:spcBef>
              <a:spcAft>
                <a:spcPts val="0"/>
              </a:spcAft>
              <a:buClr>
                <a:schemeClr val="dk1"/>
              </a:buClr>
              <a:buSzPts val="6000"/>
              <a:buFont typeface="Calibri"/>
              <a:buNone/>
              <a:defRPr sz="6000"/>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27" name="Google Shape;27;p17"/>
          <p:cNvSpPr txBox="1">
            <a:spLocks noGrp="1"/>
          </p:cNvSpPr>
          <p:nvPr>
            <p:ph type="body" idx="1"/>
          </p:nvPr>
        </p:nvSpPr>
        <p:spPr>
          <a:xfrm>
            <a:off x="831850" y="4589463"/>
            <a:ext cx="10515600" cy="1500187"/>
          </a:xfrm>
          <a:prstGeom prst="rect">
            <a:avLst/>
          </a:prstGeom>
          <a:noFill/>
          <a:ln>
            <a:noFill/>
          </a:ln>
        </p:spPr>
        <p:txBody>
          <a:bodyPr spcFirstLastPara="1" wrap="square" lIns="91425" tIns="45700" rIns="91425" bIns="45700" anchor="t" anchorCtr="0">
            <a:normAutofit/>
          </a:bodyPr>
          <a:lstStyle>
            <a:lvl1pPr marL="457200" lvl="0" indent="-228600" algn="l">
              <a:lnSpc>
                <a:spcPct val="90000"/>
              </a:lnSpc>
              <a:spcBef>
                <a:spcPts val="1000"/>
              </a:spcBef>
              <a:spcAft>
                <a:spcPts val="0"/>
              </a:spcAft>
              <a:buClr>
                <a:srgbClr val="888888"/>
              </a:buClr>
              <a:buSzPts val="2400"/>
              <a:buNone/>
              <a:defRPr sz="2400">
                <a:solidFill>
                  <a:srgbClr val="888888"/>
                </a:solidFill>
              </a:defRPr>
            </a:lvl1pPr>
            <a:lvl2pPr marL="914400" lvl="1" indent="-228600" algn="l">
              <a:lnSpc>
                <a:spcPct val="90000"/>
              </a:lnSpc>
              <a:spcBef>
                <a:spcPts val="500"/>
              </a:spcBef>
              <a:spcAft>
                <a:spcPts val="0"/>
              </a:spcAft>
              <a:buClr>
                <a:srgbClr val="888888"/>
              </a:buClr>
              <a:buSzPts val="2000"/>
              <a:buNone/>
              <a:defRPr sz="2000">
                <a:solidFill>
                  <a:srgbClr val="888888"/>
                </a:solidFill>
              </a:defRPr>
            </a:lvl2pPr>
            <a:lvl3pPr marL="1371600" lvl="2" indent="-228600" algn="l">
              <a:lnSpc>
                <a:spcPct val="90000"/>
              </a:lnSpc>
              <a:spcBef>
                <a:spcPts val="500"/>
              </a:spcBef>
              <a:spcAft>
                <a:spcPts val="0"/>
              </a:spcAft>
              <a:buClr>
                <a:srgbClr val="888888"/>
              </a:buClr>
              <a:buSzPts val="1800"/>
              <a:buNone/>
              <a:defRPr sz="1800">
                <a:solidFill>
                  <a:srgbClr val="888888"/>
                </a:solidFill>
              </a:defRPr>
            </a:lvl3pPr>
            <a:lvl4pPr marL="1828800" lvl="3" indent="-228600" algn="l">
              <a:lnSpc>
                <a:spcPct val="90000"/>
              </a:lnSpc>
              <a:spcBef>
                <a:spcPts val="500"/>
              </a:spcBef>
              <a:spcAft>
                <a:spcPts val="0"/>
              </a:spcAft>
              <a:buClr>
                <a:srgbClr val="888888"/>
              </a:buClr>
              <a:buSzPts val="1600"/>
              <a:buNone/>
              <a:defRPr sz="1600">
                <a:solidFill>
                  <a:srgbClr val="888888"/>
                </a:solidFill>
              </a:defRPr>
            </a:lvl4pPr>
            <a:lvl5pPr marL="2286000" lvl="4" indent="-228600" algn="l">
              <a:lnSpc>
                <a:spcPct val="90000"/>
              </a:lnSpc>
              <a:spcBef>
                <a:spcPts val="500"/>
              </a:spcBef>
              <a:spcAft>
                <a:spcPts val="0"/>
              </a:spcAft>
              <a:buClr>
                <a:srgbClr val="888888"/>
              </a:buClr>
              <a:buSzPts val="1600"/>
              <a:buNone/>
              <a:defRPr sz="1600">
                <a:solidFill>
                  <a:srgbClr val="888888"/>
                </a:solidFill>
              </a:defRPr>
            </a:lvl5pPr>
            <a:lvl6pPr marL="2743200" lvl="5" indent="-228600" algn="l">
              <a:lnSpc>
                <a:spcPct val="90000"/>
              </a:lnSpc>
              <a:spcBef>
                <a:spcPts val="500"/>
              </a:spcBef>
              <a:spcAft>
                <a:spcPts val="0"/>
              </a:spcAft>
              <a:buClr>
                <a:srgbClr val="888888"/>
              </a:buClr>
              <a:buSzPts val="1600"/>
              <a:buNone/>
              <a:defRPr sz="1600">
                <a:solidFill>
                  <a:srgbClr val="888888"/>
                </a:solidFill>
              </a:defRPr>
            </a:lvl6pPr>
            <a:lvl7pPr marL="3200400" lvl="6" indent="-228600" algn="l">
              <a:lnSpc>
                <a:spcPct val="90000"/>
              </a:lnSpc>
              <a:spcBef>
                <a:spcPts val="500"/>
              </a:spcBef>
              <a:spcAft>
                <a:spcPts val="0"/>
              </a:spcAft>
              <a:buClr>
                <a:srgbClr val="888888"/>
              </a:buClr>
              <a:buSzPts val="1600"/>
              <a:buNone/>
              <a:defRPr sz="1600">
                <a:solidFill>
                  <a:srgbClr val="888888"/>
                </a:solidFill>
              </a:defRPr>
            </a:lvl7pPr>
            <a:lvl8pPr marL="3657600" lvl="7" indent="-228600" algn="l">
              <a:lnSpc>
                <a:spcPct val="90000"/>
              </a:lnSpc>
              <a:spcBef>
                <a:spcPts val="500"/>
              </a:spcBef>
              <a:spcAft>
                <a:spcPts val="0"/>
              </a:spcAft>
              <a:buClr>
                <a:srgbClr val="888888"/>
              </a:buClr>
              <a:buSzPts val="1600"/>
              <a:buNone/>
              <a:defRPr sz="1600">
                <a:solidFill>
                  <a:srgbClr val="888888"/>
                </a:solidFill>
              </a:defRPr>
            </a:lvl8pPr>
            <a:lvl9pPr marL="4114800" lvl="8" indent="-228600" algn="l">
              <a:lnSpc>
                <a:spcPct val="90000"/>
              </a:lnSpc>
              <a:spcBef>
                <a:spcPts val="500"/>
              </a:spcBef>
              <a:spcAft>
                <a:spcPts val="0"/>
              </a:spcAft>
              <a:buClr>
                <a:srgbClr val="888888"/>
              </a:buClr>
              <a:buSzPts val="1600"/>
              <a:buNone/>
              <a:defRPr sz="1600">
                <a:solidFill>
                  <a:srgbClr val="888888"/>
                </a:solidFill>
              </a:defRPr>
            </a:lvl9pPr>
          </a:lstStyle>
          <a:p>
            <a:endParaRPr/>
          </a:p>
        </p:txBody>
      </p:sp>
      <p:sp>
        <p:nvSpPr>
          <p:cNvPr id="28" name="Google Shape;28;p17"/>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29" name="Google Shape;29;p17"/>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30" name="Google Shape;30;p17"/>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Two Content" type="twoObj">
  <p:cSld name="TWO_OBJECTS">
    <p:spTree>
      <p:nvGrpSpPr>
        <p:cNvPr id="1" name="Shape 31"/>
        <p:cNvGrpSpPr/>
        <p:nvPr/>
      </p:nvGrpSpPr>
      <p:grpSpPr>
        <a:xfrm>
          <a:off x="0" y="0"/>
          <a:ext cx="0" cy="0"/>
          <a:chOff x="0" y="0"/>
          <a:chExt cx="0" cy="0"/>
        </a:xfrm>
      </p:grpSpPr>
      <p:sp>
        <p:nvSpPr>
          <p:cNvPr id="32" name="Google Shape;32;p18"/>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33" name="Google Shape;33;p18"/>
          <p:cNvSpPr txBox="1">
            <a:spLocks noGrp="1"/>
          </p:cNvSpPr>
          <p:nvPr>
            <p:ph type="body" idx="1"/>
          </p:nvPr>
        </p:nvSpPr>
        <p:spPr>
          <a:xfrm>
            <a:off x="838200" y="1825625"/>
            <a:ext cx="5181600" cy="435133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34" name="Google Shape;34;p18"/>
          <p:cNvSpPr txBox="1">
            <a:spLocks noGrp="1"/>
          </p:cNvSpPr>
          <p:nvPr>
            <p:ph type="body" idx="2"/>
          </p:nvPr>
        </p:nvSpPr>
        <p:spPr>
          <a:xfrm>
            <a:off x="6172200" y="1825625"/>
            <a:ext cx="5181600" cy="435133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35" name="Google Shape;35;p18"/>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36" name="Google Shape;36;p18"/>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37" name="Google Shape;37;p18"/>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Comparison" type="twoTxTwoObj">
  <p:cSld name="TWO_OBJECTS_WITH_TEXT">
    <p:spTree>
      <p:nvGrpSpPr>
        <p:cNvPr id="1" name="Shape 38"/>
        <p:cNvGrpSpPr/>
        <p:nvPr/>
      </p:nvGrpSpPr>
      <p:grpSpPr>
        <a:xfrm>
          <a:off x="0" y="0"/>
          <a:ext cx="0" cy="0"/>
          <a:chOff x="0" y="0"/>
          <a:chExt cx="0" cy="0"/>
        </a:xfrm>
      </p:grpSpPr>
      <p:sp>
        <p:nvSpPr>
          <p:cNvPr id="39" name="Google Shape;39;p19"/>
          <p:cNvSpPr txBox="1">
            <a:spLocks noGrp="1"/>
          </p:cNvSpPr>
          <p:nvPr>
            <p:ph type="title"/>
          </p:nvPr>
        </p:nvSpPr>
        <p:spPr>
          <a:xfrm>
            <a:off x="839788"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40" name="Google Shape;40;p19"/>
          <p:cNvSpPr txBox="1">
            <a:spLocks noGrp="1"/>
          </p:cNvSpPr>
          <p:nvPr>
            <p:ph type="body" idx="1"/>
          </p:nvPr>
        </p:nvSpPr>
        <p:spPr>
          <a:xfrm>
            <a:off x="839788" y="1681163"/>
            <a:ext cx="5157787" cy="823912"/>
          </a:xfrm>
          <a:prstGeom prst="rect">
            <a:avLst/>
          </a:prstGeom>
          <a:noFill/>
          <a:ln>
            <a:noFill/>
          </a:ln>
        </p:spPr>
        <p:txBody>
          <a:bodyPr spcFirstLastPara="1" wrap="square" lIns="91425" tIns="45700" rIns="91425" bIns="45700" anchor="b" anchorCtr="0">
            <a:normAutofit/>
          </a:bodyPr>
          <a:lstStyle>
            <a:lvl1pPr marL="457200" lvl="0" indent="-228600" algn="l">
              <a:lnSpc>
                <a:spcPct val="90000"/>
              </a:lnSpc>
              <a:spcBef>
                <a:spcPts val="1000"/>
              </a:spcBef>
              <a:spcAft>
                <a:spcPts val="0"/>
              </a:spcAft>
              <a:buClr>
                <a:schemeClr val="dk1"/>
              </a:buClr>
              <a:buSzPts val="2400"/>
              <a:buNone/>
              <a:defRPr sz="2400" b="1"/>
            </a:lvl1pPr>
            <a:lvl2pPr marL="914400" lvl="1" indent="-228600" algn="l">
              <a:lnSpc>
                <a:spcPct val="90000"/>
              </a:lnSpc>
              <a:spcBef>
                <a:spcPts val="500"/>
              </a:spcBef>
              <a:spcAft>
                <a:spcPts val="0"/>
              </a:spcAft>
              <a:buClr>
                <a:schemeClr val="dk1"/>
              </a:buClr>
              <a:buSzPts val="2000"/>
              <a:buNone/>
              <a:defRPr sz="2000" b="1"/>
            </a:lvl2pPr>
            <a:lvl3pPr marL="1371600" lvl="2" indent="-228600" algn="l">
              <a:lnSpc>
                <a:spcPct val="90000"/>
              </a:lnSpc>
              <a:spcBef>
                <a:spcPts val="500"/>
              </a:spcBef>
              <a:spcAft>
                <a:spcPts val="0"/>
              </a:spcAft>
              <a:buClr>
                <a:schemeClr val="dk1"/>
              </a:buClr>
              <a:buSzPts val="1800"/>
              <a:buNone/>
              <a:defRPr sz="1800" b="1"/>
            </a:lvl3pPr>
            <a:lvl4pPr marL="1828800" lvl="3" indent="-228600" algn="l">
              <a:lnSpc>
                <a:spcPct val="90000"/>
              </a:lnSpc>
              <a:spcBef>
                <a:spcPts val="500"/>
              </a:spcBef>
              <a:spcAft>
                <a:spcPts val="0"/>
              </a:spcAft>
              <a:buClr>
                <a:schemeClr val="dk1"/>
              </a:buClr>
              <a:buSzPts val="1600"/>
              <a:buNone/>
              <a:defRPr sz="1600" b="1"/>
            </a:lvl4pPr>
            <a:lvl5pPr marL="2286000" lvl="4" indent="-228600" algn="l">
              <a:lnSpc>
                <a:spcPct val="90000"/>
              </a:lnSpc>
              <a:spcBef>
                <a:spcPts val="500"/>
              </a:spcBef>
              <a:spcAft>
                <a:spcPts val="0"/>
              </a:spcAft>
              <a:buClr>
                <a:schemeClr val="dk1"/>
              </a:buClr>
              <a:buSzPts val="1600"/>
              <a:buNone/>
              <a:defRPr sz="1600" b="1"/>
            </a:lvl5pPr>
            <a:lvl6pPr marL="2743200" lvl="5" indent="-228600" algn="l">
              <a:lnSpc>
                <a:spcPct val="90000"/>
              </a:lnSpc>
              <a:spcBef>
                <a:spcPts val="500"/>
              </a:spcBef>
              <a:spcAft>
                <a:spcPts val="0"/>
              </a:spcAft>
              <a:buClr>
                <a:schemeClr val="dk1"/>
              </a:buClr>
              <a:buSzPts val="1600"/>
              <a:buNone/>
              <a:defRPr sz="1600" b="1"/>
            </a:lvl6pPr>
            <a:lvl7pPr marL="3200400" lvl="6" indent="-228600" algn="l">
              <a:lnSpc>
                <a:spcPct val="90000"/>
              </a:lnSpc>
              <a:spcBef>
                <a:spcPts val="500"/>
              </a:spcBef>
              <a:spcAft>
                <a:spcPts val="0"/>
              </a:spcAft>
              <a:buClr>
                <a:schemeClr val="dk1"/>
              </a:buClr>
              <a:buSzPts val="1600"/>
              <a:buNone/>
              <a:defRPr sz="1600" b="1"/>
            </a:lvl7pPr>
            <a:lvl8pPr marL="3657600" lvl="7" indent="-228600" algn="l">
              <a:lnSpc>
                <a:spcPct val="90000"/>
              </a:lnSpc>
              <a:spcBef>
                <a:spcPts val="500"/>
              </a:spcBef>
              <a:spcAft>
                <a:spcPts val="0"/>
              </a:spcAft>
              <a:buClr>
                <a:schemeClr val="dk1"/>
              </a:buClr>
              <a:buSzPts val="1600"/>
              <a:buNone/>
              <a:defRPr sz="1600" b="1"/>
            </a:lvl8pPr>
            <a:lvl9pPr marL="4114800" lvl="8" indent="-228600" algn="l">
              <a:lnSpc>
                <a:spcPct val="90000"/>
              </a:lnSpc>
              <a:spcBef>
                <a:spcPts val="500"/>
              </a:spcBef>
              <a:spcAft>
                <a:spcPts val="0"/>
              </a:spcAft>
              <a:buClr>
                <a:schemeClr val="dk1"/>
              </a:buClr>
              <a:buSzPts val="1600"/>
              <a:buNone/>
              <a:defRPr sz="1600" b="1"/>
            </a:lvl9pPr>
          </a:lstStyle>
          <a:p>
            <a:endParaRPr/>
          </a:p>
        </p:txBody>
      </p:sp>
      <p:sp>
        <p:nvSpPr>
          <p:cNvPr id="41" name="Google Shape;41;p19"/>
          <p:cNvSpPr txBox="1">
            <a:spLocks noGrp="1"/>
          </p:cNvSpPr>
          <p:nvPr>
            <p:ph type="body" idx="2"/>
          </p:nvPr>
        </p:nvSpPr>
        <p:spPr>
          <a:xfrm>
            <a:off x="839788" y="2505075"/>
            <a:ext cx="5157787" cy="368458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42" name="Google Shape;42;p19"/>
          <p:cNvSpPr txBox="1">
            <a:spLocks noGrp="1"/>
          </p:cNvSpPr>
          <p:nvPr>
            <p:ph type="body" idx="3"/>
          </p:nvPr>
        </p:nvSpPr>
        <p:spPr>
          <a:xfrm>
            <a:off x="6172200" y="1681163"/>
            <a:ext cx="5183188" cy="823912"/>
          </a:xfrm>
          <a:prstGeom prst="rect">
            <a:avLst/>
          </a:prstGeom>
          <a:noFill/>
          <a:ln>
            <a:noFill/>
          </a:ln>
        </p:spPr>
        <p:txBody>
          <a:bodyPr spcFirstLastPara="1" wrap="square" lIns="91425" tIns="45700" rIns="91425" bIns="45700" anchor="b" anchorCtr="0">
            <a:normAutofit/>
          </a:bodyPr>
          <a:lstStyle>
            <a:lvl1pPr marL="457200" lvl="0" indent="-228600" algn="l">
              <a:lnSpc>
                <a:spcPct val="90000"/>
              </a:lnSpc>
              <a:spcBef>
                <a:spcPts val="1000"/>
              </a:spcBef>
              <a:spcAft>
                <a:spcPts val="0"/>
              </a:spcAft>
              <a:buClr>
                <a:schemeClr val="dk1"/>
              </a:buClr>
              <a:buSzPts val="2400"/>
              <a:buNone/>
              <a:defRPr sz="2400" b="1"/>
            </a:lvl1pPr>
            <a:lvl2pPr marL="914400" lvl="1" indent="-228600" algn="l">
              <a:lnSpc>
                <a:spcPct val="90000"/>
              </a:lnSpc>
              <a:spcBef>
                <a:spcPts val="500"/>
              </a:spcBef>
              <a:spcAft>
                <a:spcPts val="0"/>
              </a:spcAft>
              <a:buClr>
                <a:schemeClr val="dk1"/>
              </a:buClr>
              <a:buSzPts val="2000"/>
              <a:buNone/>
              <a:defRPr sz="2000" b="1"/>
            </a:lvl2pPr>
            <a:lvl3pPr marL="1371600" lvl="2" indent="-228600" algn="l">
              <a:lnSpc>
                <a:spcPct val="90000"/>
              </a:lnSpc>
              <a:spcBef>
                <a:spcPts val="500"/>
              </a:spcBef>
              <a:spcAft>
                <a:spcPts val="0"/>
              </a:spcAft>
              <a:buClr>
                <a:schemeClr val="dk1"/>
              </a:buClr>
              <a:buSzPts val="1800"/>
              <a:buNone/>
              <a:defRPr sz="1800" b="1"/>
            </a:lvl3pPr>
            <a:lvl4pPr marL="1828800" lvl="3" indent="-228600" algn="l">
              <a:lnSpc>
                <a:spcPct val="90000"/>
              </a:lnSpc>
              <a:spcBef>
                <a:spcPts val="500"/>
              </a:spcBef>
              <a:spcAft>
                <a:spcPts val="0"/>
              </a:spcAft>
              <a:buClr>
                <a:schemeClr val="dk1"/>
              </a:buClr>
              <a:buSzPts val="1600"/>
              <a:buNone/>
              <a:defRPr sz="1600" b="1"/>
            </a:lvl4pPr>
            <a:lvl5pPr marL="2286000" lvl="4" indent="-228600" algn="l">
              <a:lnSpc>
                <a:spcPct val="90000"/>
              </a:lnSpc>
              <a:spcBef>
                <a:spcPts val="500"/>
              </a:spcBef>
              <a:spcAft>
                <a:spcPts val="0"/>
              </a:spcAft>
              <a:buClr>
                <a:schemeClr val="dk1"/>
              </a:buClr>
              <a:buSzPts val="1600"/>
              <a:buNone/>
              <a:defRPr sz="1600" b="1"/>
            </a:lvl5pPr>
            <a:lvl6pPr marL="2743200" lvl="5" indent="-228600" algn="l">
              <a:lnSpc>
                <a:spcPct val="90000"/>
              </a:lnSpc>
              <a:spcBef>
                <a:spcPts val="500"/>
              </a:spcBef>
              <a:spcAft>
                <a:spcPts val="0"/>
              </a:spcAft>
              <a:buClr>
                <a:schemeClr val="dk1"/>
              </a:buClr>
              <a:buSzPts val="1600"/>
              <a:buNone/>
              <a:defRPr sz="1600" b="1"/>
            </a:lvl6pPr>
            <a:lvl7pPr marL="3200400" lvl="6" indent="-228600" algn="l">
              <a:lnSpc>
                <a:spcPct val="90000"/>
              </a:lnSpc>
              <a:spcBef>
                <a:spcPts val="500"/>
              </a:spcBef>
              <a:spcAft>
                <a:spcPts val="0"/>
              </a:spcAft>
              <a:buClr>
                <a:schemeClr val="dk1"/>
              </a:buClr>
              <a:buSzPts val="1600"/>
              <a:buNone/>
              <a:defRPr sz="1600" b="1"/>
            </a:lvl7pPr>
            <a:lvl8pPr marL="3657600" lvl="7" indent="-228600" algn="l">
              <a:lnSpc>
                <a:spcPct val="90000"/>
              </a:lnSpc>
              <a:spcBef>
                <a:spcPts val="500"/>
              </a:spcBef>
              <a:spcAft>
                <a:spcPts val="0"/>
              </a:spcAft>
              <a:buClr>
                <a:schemeClr val="dk1"/>
              </a:buClr>
              <a:buSzPts val="1600"/>
              <a:buNone/>
              <a:defRPr sz="1600" b="1"/>
            </a:lvl8pPr>
            <a:lvl9pPr marL="4114800" lvl="8" indent="-228600" algn="l">
              <a:lnSpc>
                <a:spcPct val="90000"/>
              </a:lnSpc>
              <a:spcBef>
                <a:spcPts val="500"/>
              </a:spcBef>
              <a:spcAft>
                <a:spcPts val="0"/>
              </a:spcAft>
              <a:buClr>
                <a:schemeClr val="dk1"/>
              </a:buClr>
              <a:buSzPts val="1600"/>
              <a:buNone/>
              <a:defRPr sz="1600" b="1"/>
            </a:lvl9pPr>
          </a:lstStyle>
          <a:p>
            <a:endParaRPr/>
          </a:p>
        </p:txBody>
      </p:sp>
      <p:sp>
        <p:nvSpPr>
          <p:cNvPr id="43" name="Google Shape;43;p19"/>
          <p:cNvSpPr txBox="1">
            <a:spLocks noGrp="1"/>
          </p:cNvSpPr>
          <p:nvPr>
            <p:ph type="body" idx="4"/>
          </p:nvPr>
        </p:nvSpPr>
        <p:spPr>
          <a:xfrm>
            <a:off x="6172200" y="2505075"/>
            <a:ext cx="5183188" cy="368458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44" name="Google Shape;44;p19"/>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45" name="Google Shape;45;p19"/>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46" name="Google Shape;46;p19"/>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Title Only" type="titleOnly">
  <p:cSld name="TITLE_ONLY">
    <p:spTree>
      <p:nvGrpSpPr>
        <p:cNvPr id="1" name="Shape 47"/>
        <p:cNvGrpSpPr/>
        <p:nvPr/>
      </p:nvGrpSpPr>
      <p:grpSpPr>
        <a:xfrm>
          <a:off x="0" y="0"/>
          <a:ext cx="0" cy="0"/>
          <a:chOff x="0" y="0"/>
          <a:chExt cx="0" cy="0"/>
        </a:xfrm>
      </p:grpSpPr>
      <p:sp>
        <p:nvSpPr>
          <p:cNvPr id="48" name="Google Shape;48;p20"/>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49" name="Google Shape;49;p20"/>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50" name="Google Shape;50;p20"/>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51" name="Google Shape;51;p20"/>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Content with Caption" type="objTx">
  <p:cSld name="OBJECT_WITH_CAPTION_TEXT">
    <p:spTree>
      <p:nvGrpSpPr>
        <p:cNvPr id="1" name="Shape 52"/>
        <p:cNvGrpSpPr/>
        <p:nvPr/>
      </p:nvGrpSpPr>
      <p:grpSpPr>
        <a:xfrm>
          <a:off x="0" y="0"/>
          <a:ext cx="0" cy="0"/>
          <a:chOff x="0" y="0"/>
          <a:chExt cx="0" cy="0"/>
        </a:xfrm>
      </p:grpSpPr>
      <p:sp>
        <p:nvSpPr>
          <p:cNvPr id="53" name="Google Shape;53;p22"/>
          <p:cNvSpPr txBox="1">
            <a:spLocks noGrp="1"/>
          </p:cNvSpPr>
          <p:nvPr>
            <p:ph type="title"/>
          </p:nvPr>
        </p:nvSpPr>
        <p:spPr>
          <a:xfrm>
            <a:off x="839788" y="457200"/>
            <a:ext cx="3932237" cy="1600200"/>
          </a:xfrm>
          <a:prstGeom prst="rect">
            <a:avLst/>
          </a:prstGeom>
          <a:noFill/>
          <a:ln>
            <a:noFill/>
          </a:ln>
        </p:spPr>
        <p:txBody>
          <a:bodyPr spcFirstLastPara="1" wrap="square" lIns="91425" tIns="45700" rIns="91425" bIns="45700" anchor="b" anchorCtr="0">
            <a:normAutofit/>
          </a:bodyPr>
          <a:lstStyle>
            <a:lvl1pPr lvl="0" algn="l">
              <a:lnSpc>
                <a:spcPct val="90000"/>
              </a:lnSpc>
              <a:spcBef>
                <a:spcPts val="0"/>
              </a:spcBef>
              <a:spcAft>
                <a:spcPts val="0"/>
              </a:spcAft>
              <a:buClr>
                <a:schemeClr val="dk1"/>
              </a:buClr>
              <a:buSzPts val="3200"/>
              <a:buFont typeface="Calibri"/>
              <a:buNone/>
              <a:defRPr sz="3200"/>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54" name="Google Shape;54;p22"/>
          <p:cNvSpPr txBox="1">
            <a:spLocks noGrp="1"/>
          </p:cNvSpPr>
          <p:nvPr>
            <p:ph type="body" idx="1"/>
          </p:nvPr>
        </p:nvSpPr>
        <p:spPr>
          <a:xfrm>
            <a:off x="5183188" y="987425"/>
            <a:ext cx="6172200" cy="4873625"/>
          </a:xfrm>
          <a:prstGeom prst="rect">
            <a:avLst/>
          </a:prstGeom>
          <a:noFill/>
          <a:ln>
            <a:noFill/>
          </a:ln>
        </p:spPr>
        <p:txBody>
          <a:bodyPr spcFirstLastPara="1" wrap="square" lIns="91425" tIns="45700" rIns="91425" bIns="45700" anchor="t" anchorCtr="0">
            <a:normAutofit/>
          </a:bodyPr>
          <a:lstStyle>
            <a:lvl1pPr marL="457200" lvl="0" indent="-431800" algn="l">
              <a:lnSpc>
                <a:spcPct val="90000"/>
              </a:lnSpc>
              <a:spcBef>
                <a:spcPts val="1000"/>
              </a:spcBef>
              <a:spcAft>
                <a:spcPts val="0"/>
              </a:spcAft>
              <a:buClr>
                <a:schemeClr val="dk1"/>
              </a:buClr>
              <a:buSzPts val="3200"/>
              <a:buChar char="•"/>
              <a:defRPr sz="3200"/>
            </a:lvl1pPr>
            <a:lvl2pPr marL="914400" lvl="1" indent="-406400" algn="l">
              <a:lnSpc>
                <a:spcPct val="90000"/>
              </a:lnSpc>
              <a:spcBef>
                <a:spcPts val="500"/>
              </a:spcBef>
              <a:spcAft>
                <a:spcPts val="0"/>
              </a:spcAft>
              <a:buClr>
                <a:schemeClr val="dk1"/>
              </a:buClr>
              <a:buSzPts val="2800"/>
              <a:buChar char="•"/>
              <a:defRPr sz="2800"/>
            </a:lvl2pPr>
            <a:lvl3pPr marL="1371600" lvl="2" indent="-381000" algn="l">
              <a:lnSpc>
                <a:spcPct val="90000"/>
              </a:lnSpc>
              <a:spcBef>
                <a:spcPts val="500"/>
              </a:spcBef>
              <a:spcAft>
                <a:spcPts val="0"/>
              </a:spcAft>
              <a:buClr>
                <a:schemeClr val="dk1"/>
              </a:buClr>
              <a:buSzPts val="2400"/>
              <a:buChar char="•"/>
              <a:defRPr sz="2400"/>
            </a:lvl3pPr>
            <a:lvl4pPr marL="1828800" lvl="3" indent="-355600" algn="l">
              <a:lnSpc>
                <a:spcPct val="90000"/>
              </a:lnSpc>
              <a:spcBef>
                <a:spcPts val="500"/>
              </a:spcBef>
              <a:spcAft>
                <a:spcPts val="0"/>
              </a:spcAft>
              <a:buClr>
                <a:schemeClr val="dk1"/>
              </a:buClr>
              <a:buSzPts val="2000"/>
              <a:buChar char="•"/>
              <a:defRPr sz="2000"/>
            </a:lvl4pPr>
            <a:lvl5pPr marL="2286000" lvl="4" indent="-355600" algn="l">
              <a:lnSpc>
                <a:spcPct val="90000"/>
              </a:lnSpc>
              <a:spcBef>
                <a:spcPts val="500"/>
              </a:spcBef>
              <a:spcAft>
                <a:spcPts val="0"/>
              </a:spcAft>
              <a:buClr>
                <a:schemeClr val="dk1"/>
              </a:buClr>
              <a:buSzPts val="2000"/>
              <a:buChar char="•"/>
              <a:defRPr sz="2000"/>
            </a:lvl5pPr>
            <a:lvl6pPr marL="2743200" lvl="5" indent="-355600" algn="l">
              <a:lnSpc>
                <a:spcPct val="90000"/>
              </a:lnSpc>
              <a:spcBef>
                <a:spcPts val="500"/>
              </a:spcBef>
              <a:spcAft>
                <a:spcPts val="0"/>
              </a:spcAft>
              <a:buClr>
                <a:schemeClr val="dk1"/>
              </a:buClr>
              <a:buSzPts val="2000"/>
              <a:buChar char="•"/>
              <a:defRPr sz="2000"/>
            </a:lvl6pPr>
            <a:lvl7pPr marL="3200400" lvl="6" indent="-355600" algn="l">
              <a:lnSpc>
                <a:spcPct val="90000"/>
              </a:lnSpc>
              <a:spcBef>
                <a:spcPts val="500"/>
              </a:spcBef>
              <a:spcAft>
                <a:spcPts val="0"/>
              </a:spcAft>
              <a:buClr>
                <a:schemeClr val="dk1"/>
              </a:buClr>
              <a:buSzPts val="2000"/>
              <a:buChar char="•"/>
              <a:defRPr sz="2000"/>
            </a:lvl7pPr>
            <a:lvl8pPr marL="3657600" lvl="7" indent="-355600" algn="l">
              <a:lnSpc>
                <a:spcPct val="90000"/>
              </a:lnSpc>
              <a:spcBef>
                <a:spcPts val="500"/>
              </a:spcBef>
              <a:spcAft>
                <a:spcPts val="0"/>
              </a:spcAft>
              <a:buClr>
                <a:schemeClr val="dk1"/>
              </a:buClr>
              <a:buSzPts val="2000"/>
              <a:buChar char="•"/>
              <a:defRPr sz="2000"/>
            </a:lvl8pPr>
            <a:lvl9pPr marL="4114800" lvl="8" indent="-355600" algn="l">
              <a:lnSpc>
                <a:spcPct val="90000"/>
              </a:lnSpc>
              <a:spcBef>
                <a:spcPts val="500"/>
              </a:spcBef>
              <a:spcAft>
                <a:spcPts val="0"/>
              </a:spcAft>
              <a:buClr>
                <a:schemeClr val="dk1"/>
              </a:buClr>
              <a:buSzPts val="2000"/>
              <a:buChar char="•"/>
              <a:defRPr sz="2000"/>
            </a:lvl9pPr>
          </a:lstStyle>
          <a:p>
            <a:endParaRPr/>
          </a:p>
        </p:txBody>
      </p:sp>
      <p:sp>
        <p:nvSpPr>
          <p:cNvPr id="55" name="Google Shape;55;p22"/>
          <p:cNvSpPr txBox="1">
            <a:spLocks noGrp="1"/>
          </p:cNvSpPr>
          <p:nvPr>
            <p:ph type="body" idx="2"/>
          </p:nvPr>
        </p:nvSpPr>
        <p:spPr>
          <a:xfrm>
            <a:off x="839788" y="2057400"/>
            <a:ext cx="3932237" cy="3811588"/>
          </a:xfrm>
          <a:prstGeom prst="rect">
            <a:avLst/>
          </a:prstGeom>
          <a:noFill/>
          <a:ln>
            <a:noFill/>
          </a:ln>
        </p:spPr>
        <p:txBody>
          <a:bodyPr spcFirstLastPara="1" wrap="square" lIns="91425" tIns="45700" rIns="91425" bIns="45700" anchor="t" anchorCtr="0">
            <a:normAutofit/>
          </a:bodyPr>
          <a:lstStyle>
            <a:lvl1pPr marL="457200" lvl="0" indent="-228600" algn="l">
              <a:lnSpc>
                <a:spcPct val="90000"/>
              </a:lnSpc>
              <a:spcBef>
                <a:spcPts val="1000"/>
              </a:spcBef>
              <a:spcAft>
                <a:spcPts val="0"/>
              </a:spcAft>
              <a:buClr>
                <a:schemeClr val="dk1"/>
              </a:buClr>
              <a:buSzPts val="1600"/>
              <a:buNone/>
              <a:defRPr sz="1600"/>
            </a:lvl1pPr>
            <a:lvl2pPr marL="914400" lvl="1" indent="-228600" algn="l">
              <a:lnSpc>
                <a:spcPct val="90000"/>
              </a:lnSpc>
              <a:spcBef>
                <a:spcPts val="500"/>
              </a:spcBef>
              <a:spcAft>
                <a:spcPts val="0"/>
              </a:spcAft>
              <a:buClr>
                <a:schemeClr val="dk1"/>
              </a:buClr>
              <a:buSzPts val="1400"/>
              <a:buNone/>
              <a:defRPr sz="1400"/>
            </a:lvl2pPr>
            <a:lvl3pPr marL="1371600" lvl="2" indent="-228600" algn="l">
              <a:lnSpc>
                <a:spcPct val="90000"/>
              </a:lnSpc>
              <a:spcBef>
                <a:spcPts val="500"/>
              </a:spcBef>
              <a:spcAft>
                <a:spcPts val="0"/>
              </a:spcAft>
              <a:buClr>
                <a:schemeClr val="dk1"/>
              </a:buClr>
              <a:buSzPts val="1200"/>
              <a:buNone/>
              <a:defRPr sz="1200"/>
            </a:lvl3pPr>
            <a:lvl4pPr marL="1828800" lvl="3" indent="-228600" algn="l">
              <a:lnSpc>
                <a:spcPct val="90000"/>
              </a:lnSpc>
              <a:spcBef>
                <a:spcPts val="500"/>
              </a:spcBef>
              <a:spcAft>
                <a:spcPts val="0"/>
              </a:spcAft>
              <a:buClr>
                <a:schemeClr val="dk1"/>
              </a:buClr>
              <a:buSzPts val="1000"/>
              <a:buNone/>
              <a:defRPr sz="1000"/>
            </a:lvl4pPr>
            <a:lvl5pPr marL="2286000" lvl="4" indent="-228600" algn="l">
              <a:lnSpc>
                <a:spcPct val="90000"/>
              </a:lnSpc>
              <a:spcBef>
                <a:spcPts val="500"/>
              </a:spcBef>
              <a:spcAft>
                <a:spcPts val="0"/>
              </a:spcAft>
              <a:buClr>
                <a:schemeClr val="dk1"/>
              </a:buClr>
              <a:buSzPts val="1000"/>
              <a:buNone/>
              <a:defRPr sz="1000"/>
            </a:lvl5pPr>
            <a:lvl6pPr marL="2743200" lvl="5" indent="-228600" algn="l">
              <a:lnSpc>
                <a:spcPct val="90000"/>
              </a:lnSpc>
              <a:spcBef>
                <a:spcPts val="500"/>
              </a:spcBef>
              <a:spcAft>
                <a:spcPts val="0"/>
              </a:spcAft>
              <a:buClr>
                <a:schemeClr val="dk1"/>
              </a:buClr>
              <a:buSzPts val="1000"/>
              <a:buNone/>
              <a:defRPr sz="1000"/>
            </a:lvl6pPr>
            <a:lvl7pPr marL="3200400" lvl="6" indent="-228600" algn="l">
              <a:lnSpc>
                <a:spcPct val="90000"/>
              </a:lnSpc>
              <a:spcBef>
                <a:spcPts val="500"/>
              </a:spcBef>
              <a:spcAft>
                <a:spcPts val="0"/>
              </a:spcAft>
              <a:buClr>
                <a:schemeClr val="dk1"/>
              </a:buClr>
              <a:buSzPts val="1000"/>
              <a:buNone/>
              <a:defRPr sz="1000"/>
            </a:lvl7pPr>
            <a:lvl8pPr marL="3657600" lvl="7" indent="-228600" algn="l">
              <a:lnSpc>
                <a:spcPct val="90000"/>
              </a:lnSpc>
              <a:spcBef>
                <a:spcPts val="500"/>
              </a:spcBef>
              <a:spcAft>
                <a:spcPts val="0"/>
              </a:spcAft>
              <a:buClr>
                <a:schemeClr val="dk1"/>
              </a:buClr>
              <a:buSzPts val="1000"/>
              <a:buNone/>
              <a:defRPr sz="1000"/>
            </a:lvl8pPr>
            <a:lvl9pPr marL="4114800" lvl="8" indent="-228600" algn="l">
              <a:lnSpc>
                <a:spcPct val="90000"/>
              </a:lnSpc>
              <a:spcBef>
                <a:spcPts val="500"/>
              </a:spcBef>
              <a:spcAft>
                <a:spcPts val="0"/>
              </a:spcAft>
              <a:buClr>
                <a:schemeClr val="dk1"/>
              </a:buClr>
              <a:buSzPts val="1000"/>
              <a:buNone/>
              <a:defRPr sz="1000"/>
            </a:lvl9pPr>
          </a:lstStyle>
          <a:p>
            <a:endParaRPr/>
          </a:p>
        </p:txBody>
      </p:sp>
      <p:sp>
        <p:nvSpPr>
          <p:cNvPr id="56" name="Google Shape;56;p22"/>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57" name="Google Shape;57;p22"/>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58" name="Google Shape;58;p22"/>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Picture with Caption" type="picTx">
  <p:cSld name="PICTURE_WITH_CAPTION_TEXT">
    <p:spTree>
      <p:nvGrpSpPr>
        <p:cNvPr id="1" name="Shape 59"/>
        <p:cNvGrpSpPr/>
        <p:nvPr/>
      </p:nvGrpSpPr>
      <p:grpSpPr>
        <a:xfrm>
          <a:off x="0" y="0"/>
          <a:ext cx="0" cy="0"/>
          <a:chOff x="0" y="0"/>
          <a:chExt cx="0" cy="0"/>
        </a:xfrm>
      </p:grpSpPr>
      <p:sp>
        <p:nvSpPr>
          <p:cNvPr id="60" name="Google Shape;60;p23"/>
          <p:cNvSpPr txBox="1">
            <a:spLocks noGrp="1"/>
          </p:cNvSpPr>
          <p:nvPr>
            <p:ph type="title"/>
          </p:nvPr>
        </p:nvSpPr>
        <p:spPr>
          <a:xfrm>
            <a:off x="839788" y="457200"/>
            <a:ext cx="3932237" cy="1600200"/>
          </a:xfrm>
          <a:prstGeom prst="rect">
            <a:avLst/>
          </a:prstGeom>
          <a:noFill/>
          <a:ln>
            <a:noFill/>
          </a:ln>
        </p:spPr>
        <p:txBody>
          <a:bodyPr spcFirstLastPara="1" wrap="square" lIns="91425" tIns="45700" rIns="91425" bIns="45700" anchor="b" anchorCtr="0">
            <a:normAutofit/>
          </a:bodyPr>
          <a:lstStyle>
            <a:lvl1pPr lvl="0" algn="l">
              <a:lnSpc>
                <a:spcPct val="90000"/>
              </a:lnSpc>
              <a:spcBef>
                <a:spcPts val="0"/>
              </a:spcBef>
              <a:spcAft>
                <a:spcPts val="0"/>
              </a:spcAft>
              <a:buClr>
                <a:schemeClr val="dk1"/>
              </a:buClr>
              <a:buSzPts val="3200"/>
              <a:buFont typeface="Calibri"/>
              <a:buNone/>
              <a:defRPr sz="3200"/>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61" name="Google Shape;61;p23"/>
          <p:cNvSpPr>
            <a:spLocks noGrp="1"/>
          </p:cNvSpPr>
          <p:nvPr>
            <p:ph type="pic" idx="2"/>
          </p:nvPr>
        </p:nvSpPr>
        <p:spPr>
          <a:xfrm>
            <a:off x="5183188" y="987425"/>
            <a:ext cx="6172200" cy="4873625"/>
          </a:xfrm>
          <a:prstGeom prst="rect">
            <a:avLst/>
          </a:prstGeom>
          <a:noFill/>
          <a:ln>
            <a:noFill/>
          </a:ln>
        </p:spPr>
      </p:sp>
      <p:sp>
        <p:nvSpPr>
          <p:cNvPr id="62" name="Google Shape;62;p23"/>
          <p:cNvSpPr txBox="1">
            <a:spLocks noGrp="1"/>
          </p:cNvSpPr>
          <p:nvPr>
            <p:ph type="body" idx="1"/>
          </p:nvPr>
        </p:nvSpPr>
        <p:spPr>
          <a:xfrm>
            <a:off x="839788" y="2057400"/>
            <a:ext cx="3932237" cy="3811588"/>
          </a:xfrm>
          <a:prstGeom prst="rect">
            <a:avLst/>
          </a:prstGeom>
          <a:noFill/>
          <a:ln>
            <a:noFill/>
          </a:ln>
        </p:spPr>
        <p:txBody>
          <a:bodyPr spcFirstLastPara="1" wrap="square" lIns="91425" tIns="45700" rIns="91425" bIns="45700" anchor="t" anchorCtr="0">
            <a:normAutofit/>
          </a:bodyPr>
          <a:lstStyle>
            <a:lvl1pPr marL="457200" lvl="0" indent="-228600" algn="l">
              <a:lnSpc>
                <a:spcPct val="90000"/>
              </a:lnSpc>
              <a:spcBef>
                <a:spcPts val="1000"/>
              </a:spcBef>
              <a:spcAft>
                <a:spcPts val="0"/>
              </a:spcAft>
              <a:buClr>
                <a:schemeClr val="dk1"/>
              </a:buClr>
              <a:buSzPts val="1600"/>
              <a:buNone/>
              <a:defRPr sz="1600"/>
            </a:lvl1pPr>
            <a:lvl2pPr marL="914400" lvl="1" indent="-228600" algn="l">
              <a:lnSpc>
                <a:spcPct val="90000"/>
              </a:lnSpc>
              <a:spcBef>
                <a:spcPts val="500"/>
              </a:spcBef>
              <a:spcAft>
                <a:spcPts val="0"/>
              </a:spcAft>
              <a:buClr>
                <a:schemeClr val="dk1"/>
              </a:buClr>
              <a:buSzPts val="1400"/>
              <a:buNone/>
              <a:defRPr sz="1400"/>
            </a:lvl2pPr>
            <a:lvl3pPr marL="1371600" lvl="2" indent="-228600" algn="l">
              <a:lnSpc>
                <a:spcPct val="90000"/>
              </a:lnSpc>
              <a:spcBef>
                <a:spcPts val="500"/>
              </a:spcBef>
              <a:spcAft>
                <a:spcPts val="0"/>
              </a:spcAft>
              <a:buClr>
                <a:schemeClr val="dk1"/>
              </a:buClr>
              <a:buSzPts val="1200"/>
              <a:buNone/>
              <a:defRPr sz="1200"/>
            </a:lvl3pPr>
            <a:lvl4pPr marL="1828800" lvl="3" indent="-228600" algn="l">
              <a:lnSpc>
                <a:spcPct val="90000"/>
              </a:lnSpc>
              <a:spcBef>
                <a:spcPts val="500"/>
              </a:spcBef>
              <a:spcAft>
                <a:spcPts val="0"/>
              </a:spcAft>
              <a:buClr>
                <a:schemeClr val="dk1"/>
              </a:buClr>
              <a:buSzPts val="1000"/>
              <a:buNone/>
              <a:defRPr sz="1000"/>
            </a:lvl4pPr>
            <a:lvl5pPr marL="2286000" lvl="4" indent="-228600" algn="l">
              <a:lnSpc>
                <a:spcPct val="90000"/>
              </a:lnSpc>
              <a:spcBef>
                <a:spcPts val="500"/>
              </a:spcBef>
              <a:spcAft>
                <a:spcPts val="0"/>
              </a:spcAft>
              <a:buClr>
                <a:schemeClr val="dk1"/>
              </a:buClr>
              <a:buSzPts val="1000"/>
              <a:buNone/>
              <a:defRPr sz="1000"/>
            </a:lvl5pPr>
            <a:lvl6pPr marL="2743200" lvl="5" indent="-228600" algn="l">
              <a:lnSpc>
                <a:spcPct val="90000"/>
              </a:lnSpc>
              <a:spcBef>
                <a:spcPts val="500"/>
              </a:spcBef>
              <a:spcAft>
                <a:spcPts val="0"/>
              </a:spcAft>
              <a:buClr>
                <a:schemeClr val="dk1"/>
              </a:buClr>
              <a:buSzPts val="1000"/>
              <a:buNone/>
              <a:defRPr sz="1000"/>
            </a:lvl6pPr>
            <a:lvl7pPr marL="3200400" lvl="6" indent="-228600" algn="l">
              <a:lnSpc>
                <a:spcPct val="90000"/>
              </a:lnSpc>
              <a:spcBef>
                <a:spcPts val="500"/>
              </a:spcBef>
              <a:spcAft>
                <a:spcPts val="0"/>
              </a:spcAft>
              <a:buClr>
                <a:schemeClr val="dk1"/>
              </a:buClr>
              <a:buSzPts val="1000"/>
              <a:buNone/>
              <a:defRPr sz="1000"/>
            </a:lvl7pPr>
            <a:lvl8pPr marL="3657600" lvl="7" indent="-228600" algn="l">
              <a:lnSpc>
                <a:spcPct val="90000"/>
              </a:lnSpc>
              <a:spcBef>
                <a:spcPts val="500"/>
              </a:spcBef>
              <a:spcAft>
                <a:spcPts val="0"/>
              </a:spcAft>
              <a:buClr>
                <a:schemeClr val="dk1"/>
              </a:buClr>
              <a:buSzPts val="1000"/>
              <a:buNone/>
              <a:defRPr sz="1000"/>
            </a:lvl8pPr>
            <a:lvl9pPr marL="4114800" lvl="8" indent="-228600" algn="l">
              <a:lnSpc>
                <a:spcPct val="90000"/>
              </a:lnSpc>
              <a:spcBef>
                <a:spcPts val="500"/>
              </a:spcBef>
              <a:spcAft>
                <a:spcPts val="0"/>
              </a:spcAft>
              <a:buClr>
                <a:schemeClr val="dk1"/>
              </a:buClr>
              <a:buSzPts val="1000"/>
              <a:buNone/>
              <a:defRPr sz="1000"/>
            </a:lvl9pPr>
          </a:lstStyle>
          <a:p>
            <a:endParaRPr/>
          </a:p>
        </p:txBody>
      </p:sp>
      <p:sp>
        <p:nvSpPr>
          <p:cNvPr id="63" name="Google Shape;63;p23"/>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64" name="Google Shape;64;p23"/>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65" name="Google Shape;65;p23"/>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Title and Vertical Text" type="vertTx">
  <p:cSld name="VERTICAL_TEXT">
    <p:spTree>
      <p:nvGrpSpPr>
        <p:cNvPr id="1" name="Shape 66"/>
        <p:cNvGrpSpPr/>
        <p:nvPr/>
      </p:nvGrpSpPr>
      <p:grpSpPr>
        <a:xfrm>
          <a:off x="0" y="0"/>
          <a:ext cx="0" cy="0"/>
          <a:chOff x="0" y="0"/>
          <a:chExt cx="0" cy="0"/>
        </a:xfrm>
      </p:grpSpPr>
      <p:sp>
        <p:nvSpPr>
          <p:cNvPr id="67" name="Google Shape;67;p24"/>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68" name="Google Shape;68;p24"/>
          <p:cNvSpPr txBox="1">
            <a:spLocks noGrp="1"/>
          </p:cNvSpPr>
          <p:nvPr>
            <p:ph type="body" idx="1"/>
          </p:nvPr>
        </p:nvSpPr>
        <p:spPr>
          <a:xfrm rot="5400000">
            <a:off x="3920331" y="-1256506"/>
            <a:ext cx="4351338" cy="10515600"/>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69" name="Google Shape;69;p24"/>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70" name="Google Shape;70;p24"/>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71" name="Google Shape;71;p24"/>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Vertical Title and Text" type="vertTitleAndTx">
  <p:cSld name="VERTICAL_TITLE_AND_VERTICAL_TEXT">
    <p:spTree>
      <p:nvGrpSpPr>
        <p:cNvPr id="1" name="Shape 72"/>
        <p:cNvGrpSpPr/>
        <p:nvPr/>
      </p:nvGrpSpPr>
      <p:grpSpPr>
        <a:xfrm>
          <a:off x="0" y="0"/>
          <a:ext cx="0" cy="0"/>
          <a:chOff x="0" y="0"/>
          <a:chExt cx="0" cy="0"/>
        </a:xfrm>
      </p:grpSpPr>
      <p:sp>
        <p:nvSpPr>
          <p:cNvPr id="73" name="Google Shape;73;p25"/>
          <p:cNvSpPr txBox="1">
            <a:spLocks noGrp="1"/>
          </p:cNvSpPr>
          <p:nvPr>
            <p:ph type="title"/>
          </p:nvPr>
        </p:nvSpPr>
        <p:spPr>
          <a:xfrm rot="5400000">
            <a:off x="7133431" y="1956594"/>
            <a:ext cx="5811838" cy="2628900"/>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74" name="Google Shape;74;p25"/>
          <p:cNvSpPr txBox="1">
            <a:spLocks noGrp="1"/>
          </p:cNvSpPr>
          <p:nvPr>
            <p:ph type="body" idx="1"/>
          </p:nvPr>
        </p:nvSpPr>
        <p:spPr>
          <a:xfrm rot="5400000">
            <a:off x="1799431" y="-596106"/>
            <a:ext cx="5811838" cy="7734300"/>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75" name="Google Shape;75;p25"/>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76" name="Google Shape;76;p25"/>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77" name="Google Shape;77;p25"/>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theme" Target="../theme/theme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9"/>
        <p:cNvGrpSpPr/>
        <p:nvPr/>
      </p:nvGrpSpPr>
      <p:grpSpPr>
        <a:xfrm>
          <a:off x="0" y="0"/>
          <a:ext cx="0" cy="0"/>
          <a:chOff x="0" y="0"/>
          <a:chExt cx="0" cy="0"/>
        </a:xfrm>
      </p:grpSpPr>
      <p:sp>
        <p:nvSpPr>
          <p:cNvPr id="10" name="Google Shape;10;p14"/>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marR="0" lvl="0" algn="l" rtl="0">
              <a:lnSpc>
                <a:spcPct val="90000"/>
              </a:lnSpc>
              <a:spcBef>
                <a:spcPts val="0"/>
              </a:spcBef>
              <a:spcAft>
                <a:spcPts val="0"/>
              </a:spcAft>
              <a:buClr>
                <a:schemeClr val="dk1"/>
              </a:buClr>
              <a:buSzPts val="4400"/>
              <a:buFont typeface="Calibri"/>
              <a:buNone/>
              <a:defRPr sz="4400" b="0" i="0" u="none" strike="noStrike" cap="none">
                <a:solidFill>
                  <a:schemeClr val="dk1"/>
                </a:solidFill>
                <a:latin typeface="Atkinson Hyperlegible Next"/>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tkinson Hyperlegible Next"/>
                <a:ea typeface="Arial"/>
                <a:cs typeface="Arial"/>
                <a:sym typeface="Arial"/>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tkinson Hyperlegible Next"/>
                <a:ea typeface="Arial"/>
                <a:cs typeface="Arial"/>
                <a:sym typeface="Arial"/>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tkinson Hyperlegible Next"/>
                <a:ea typeface="Arial"/>
                <a:cs typeface="Arial"/>
                <a:sym typeface="Arial"/>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tkinson Hyperlegible Next"/>
                <a:ea typeface="Arial"/>
                <a:cs typeface="Arial"/>
                <a:sym typeface="Arial"/>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tkinson Hyperlegible Next"/>
                <a:ea typeface="Arial"/>
                <a:cs typeface="Arial"/>
                <a:sym typeface="Arial"/>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tkinson Hyperlegible Next"/>
                <a:ea typeface="Arial"/>
                <a:cs typeface="Arial"/>
                <a:sym typeface="Arial"/>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tkinson Hyperlegible Next"/>
                <a:ea typeface="Arial"/>
                <a:cs typeface="Arial"/>
                <a:sym typeface="Arial"/>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tkinson Hyperlegible Next"/>
                <a:ea typeface="Arial"/>
                <a:cs typeface="Arial"/>
                <a:sym typeface="Arial"/>
              </a:defRPr>
            </a:lvl9pPr>
          </a:lstStyle>
          <a:p>
            <a:endParaRPr/>
          </a:p>
        </p:txBody>
      </p:sp>
      <p:sp>
        <p:nvSpPr>
          <p:cNvPr id="11" name="Google Shape;11;p14"/>
          <p:cNvSpPr txBox="1">
            <a:spLocks noGrp="1"/>
          </p:cNvSpPr>
          <p:nvPr>
            <p:ph type="body" idx="1"/>
          </p:nvPr>
        </p:nvSpPr>
        <p:spPr>
          <a:xfrm>
            <a:off x="838200" y="1825625"/>
            <a:ext cx="10515600" cy="4351338"/>
          </a:xfrm>
          <a:prstGeom prst="rect">
            <a:avLst/>
          </a:prstGeom>
          <a:noFill/>
          <a:ln>
            <a:noFill/>
          </a:ln>
        </p:spPr>
        <p:txBody>
          <a:bodyPr spcFirstLastPara="1" wrap="square" lIns="91425" tIns="45700" rIns="91425" bIns="45700" anchor="t" anchorCtr="0">
            <a:normAutofit/>
          </a:bodyPr>
          <a:lstStyle>
            <a:lvl1pPr marL="457200" marR="0" lvl="0" indent="-406400" algn="l" rtl="0">
              <a:lnSpc>
                <a:spcPct val="90000"/>
              </a:lnSpc>
              <a:spcBef>
                <a:spcPts val="1000"/>
              </a:spcBef>
              <a:spcAft>
                <a:spcPts val="0"/>
              </a:spcAft>
              <a:buClr>
                <a:schemeClr val="dk1"/>
              </a:buClr>
              <a:buSzPts val="2800"/>
              <a:buFont typeface="Arial"/>
              <a:buChar char="•"/>
              <a:defRPr sz="2800" b="0" i="0" u="none" strike="noStrike" cap="none">
                <a:solidFill>
                  <a:schemeClr val="dk1"/>
                </a:solidFill>
                <a:latin typeface="Atkinson Hyperlegible Next"/>
                <a:ea typeface="Calibri"/>
                <a:cs typeface="Calibri"/>
                <a:sym typeface="Calibri"/>
              </a:defRPr>
            </a:lvl1pPr>
            <a:lvl2pPr marL="914400" marR="0" lvl="1" indent="-381000" algn="l" rtl="0">
              <a:lnSpc>
                <a:spcPct val="90000"/>
              </a:lnSpc>
              <a:spcBef>
                <a:spcPts val="500"/>
              </a:spcBef>
              <a:spcAft>
                <a:spcPts val="0"/>
              </a:spcAft>
              <a:buClr>
                <a:schemeClr val="dk1"/>
              </a:buClr>
              <a:buSzPts val="2400"/>
              <a:buFont typeface="Arial"/>
              <a:buChar char="•"/>
              <a:defRPr sz="2400" b="0" i="0" u="none" strike="noStrike" cap="none">
                <a:solidFill>
                  <a:schemeClr val="dk1"/>
                </a:solidFill>
                <a:latin typeface="Atkinson Hyperlegible Next"/>
                <a:ea typeface="Calibri"/>
                <a:cs typeface="Calibri"/>
                <a:sym typeface="Calibri"/>
              </a:defRPr>
            </a:lvl2pPr>
            <a:lvl3pPr marL="1371600" marR="0" lvl="2"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Atkinson Hyperlegible Next"/>
                <a:ea typeface="Calibri"/>
                <a:cs typeface="Calibri"/>
                <a:sym typeface="Calibri"/>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tkinson Hyperlegible Next"/>
                <a:ea typeface="Calibri"/>
                <a:cs typeface="Calibri"/>
                <a:sym typeface="Calibri"/>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tkinson Hyperlegible Next"/>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tkinson Hyperlegible Next"/>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tkinson Hyperlegible Next"/>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tkinson Hyperlegible Next"/>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tkinson Hyperlegible Next"/>
                <a:ea typeface="Calibri"/>
                <a:cs typeface="Calibri"/>
                <a:sym typeface="Calibri"/>
              </a:defRPr>
            </a:lvl9pPr>
          </a:lstStyle>
          <a:p>
            <a:endParaRPr/>
          </a:p>
        </p:txBody>
      </p:sp>
      <p:sp>
        <p:nvSpPr>
          <p:cNvPr id="12" name="Google Shape;12;p14"/>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marR="0" lvl="0" algn="l" rtl="0">
              <a:lnSpc>
                <a:spcPct val="100000"/>
              </a:lnSpc>
              <a:spcBef>
                <a:spcPts val="0"/>
              </a:spcBef>
              <a:spcAft>
                <a:spcPts val="0"/>
              </a:spcAft>
              <a:buClr>
                <a:srgbClr val="000000"/>
              </a:buClr>
              <a:buSzPts val="1400"/>
              <a:buFont typeface="Arial"/>
              <a:buNone/>
              <a:defRPr sz="1200" b="0" i="0" u="none" strike="noStrike" cap="none">
                <a:solidFill>
                  <a:srgbClr val="888888"/>
                </a:solidFill>
                <a:latin typeface="Atkinson Hyperlegible Next"/>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9pPr>
          </a:lstStyle>
          <a:p>
            <a:endParaRPr/>
          </a:p>
        </p:txBody>
      </p:sp>
      <p:sp>
        <p:nvSpPr>
          <p:cNvPr id="13" name="Google Shape;13;p14"/>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marR="0" lvl="0" algn="ctr" rtl="0">
              <a:lnSpc>
                <a:spcPct val="100000"/>
              </a:lnSpc>
              <a:spcBef>
                <a:spcPts val="0"/>
              </a:spcBef>
              <a:spcAft>
                <a:spcPts val="0"/>
              </a:spcAft>
              <a:buClr>
                <a:srgbClr val="000000"/>
              </a:buClr>
              <a:buSzPts val="1400"/>
              <a:buFont typeface="Arial"/>
              <a:buNone/>
              <a:defRPr sz="1200" b="0" i="0" u="none" strike="noStrike" cap="none">
                <a:solidFill>
                  <a:srgbClr val="888888"/>
                </a:solidFill>
                <a:latin typeface="Atkinson Hyperlegible Next"/>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tkinson Hyperlegible Next"/>
                <a:ea typeface="Calibri"/>
                <a:cs typeface="Calibri"/>
                <a:sym typeface="Calibri"/>
              </a:defRPr>
            </a:lvl9pPr>
          </a:lstStyle>
          <a:p>
            <a:endParaRPr/>
          </a:p>
        </p:txBody>
      </p:sp>
      <p:sp>
        <p:nvSpPr>
          <p:cNvPr id="14" name="Google Shape;14;p14"/>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1pPr>
            <a:lvl2pPr marL="0" marR="0" lvl="1"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2pPr>
            <a:lvl3pPr marL="0" marR="0" lvl="2"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3pPr>
            <a:lvl4pPr marL="0" marR="0" lvl="3"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4pPr>
            <a:lvl5pPr marL="0" marR="0" lvl="4"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5pPr>
            <a:lvl6pPr marL="0" marR="0" lvl="5"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6pPr>
            <a:lvl7pPr marL="0" marR="0" lvl="6"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7pPr>
            <a:lvl8pPr marL="0" marR="0" lvl="7"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8pPr>
            <a:lvl9pPr marL="0" marR="0" lvl="8"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Atkinson Hyperlegible Next"/>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 bg1="lt1" tx1="dk1" bg2="dk2" tx2="lt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tkinson Hyperlegible Next"/>
          <a:ea typeface="Arial"/>
          <a:cs typeface="Arial"/>
          <a:sym typeface="Arial"/>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jpg"/><Relationship Id="rId2" Type="http://schemas.openxmlformats.org/officeDocument/2006/relationships/notesSlide" Target="../notesSlides/notesSlide1.xml"/><Relationship Id="rId1" Type="http://schemas.openxmlformats.org/officeDocument/2006/relationships/slideLayout" Target="../slideLayouts/slideLayout1.xml"/><Relationship Id="rId4" Type="http://schemas.openxmlformats.org/officeDocument/2006/relationships/image" Target="../media/image2.png"/></Relationships>
</file>

<file path=ppt/slides/_rels/slide2.xml.rels><?xml version="1.0" encoding="UTF-8" standalone="yes"?>
<Relationships xmlns="http://schemas.openxmlformats.org/package/2006/relationships"><Relationship Id="rId3" Type="http://schemas.openxmlformats.org/officeDocument/2006/relationships/hyperlink" Target="https://marius-juston.github.io/SE-423---Class-Material/Homeworks/HW2.pdf" TargetMode="External"/><Relationship Id="rId2" Type="http://schemas.openxmlformats.org/officeDocument/2006/relationships/notesSlide" Target="../notesSlides/notesSlide2.xml"/><Relationship Id="rId1" Type="http://schemas.openxmlformats.org/officeDocument/2006/relationships/slideLayout" Target="../slideLayouts/slideLayout2.xml"/><Relationship Id="rId5" Type="http://schemas.openxmlformats.org/officeDocument/2006/relationships/image" Target="../media/image3.png"/><Relationship Id="rId4" Type="http://schemas.openxmlformats.org/officeDocument/2006/relationships/hyperlink" Target="https://marius-juston.github.io/SE-423---Class-Material/Homeworks/LabVIEW2.pdf" TargetMode="External"/></Relationships>
</file>

<file path=ppt/slides/_rels/slide3.xml.rels><?xml version="1.0" encoding="UTF-8" standalone="yes"?>
<Relationships xmlns="http://schemas.openxmlformats.org/package/2006/relationships"><Relationship Id="rId3" Type="http://schemas.openxmlformats.org/officeDocument/2006/relationships/image" Target="../media/image4.jpg"/><Relationship Id="rId2" Type="http://schemas.openxmlformats.org/officeDocument/2006/relationships/notesSlide" Target="../notesSlides/notesSlide3.xml"/><Relationship Id="rId1" Type="http://schemas.openxmlformats.org/officeDocument/2006/relationships/slideLayout" Target="../slideLayouts/slideLayout1.xml"/><Relationship Id="rId4" Type="http://schemas.openxmlformats.org/officeDocument/2006/relationships/image" Target="../media/image3.png"/></Relationships>
</file>

<file path=ppt/slides/_rels/slide4.xml.rels><?xml version="1.0" encoding="UTF-8" standalone="yes"?>
<Relationships xmlns="http://schemas.openxmlformats.org/package/2006/relationships"><Relationship Id="rId3" Type="http://schemas.openxmlformats.org/officeDocument/2006/relationships/image" Target="../media/image5.jpg"/><Relationship Id="rId2" Type="http://schemas.openxmlformats.org/officeDocument/2006/relationships/notesSlide" Target="../notesSlides/notesSlide4.xml"/><Relationship Id="rId1" Type="http://schemas.openxmlformats.org/officeDocument/2006/relationships/slideLayout" Target="../slideLayouts/slideLayout1.xml"/><Relationship Id="rId4" Type="http://schemas.openxmlformats.org/officeDocument/2006/relationships/image" Target="../media/image6.png"/></Relationships>
</file>

<file path=ppt/slides/_rels/slide5.xml.rels><?xml version="1.0" encoding="UTF-8" standalone="yes"?>
<Relationships xmlns="http://schemas.openxmlformats.org/package/2006/relationships"><Relationship Id="rId3" Type="http://schemas.openxmlformats.org/officeDocument/2006/relationships/notesSlide" Target="../notesSlides/notesSlide5.xml"/><Relationship Id="rId2" Type="http://schemas.openxmlformats.org/officeDocument/2006/relationships/slideLayout" Target="../slideLayouts/slideLayout2.xml"/><Relationship Id="rId1" Type="http://schemas.openxmlformats.org/officeDocument/2006/relationships/video" Target="https://www.youtube.com/embed/spUNpyF58BY?feature=oembed" TargetMode="External"/><Relationship Id="rId6" Type="http://schemas.openxmlformats.org/officeDocument/2006/relationships/hyperlink" Target="https://www.youtube.com/watch?v=spUNpyF58BY" TargetMode="External"/><Relationship Id="rId5" Type="http://schemas.openxmlformats.org/officeDocument/2006/relationships/image" Target="../media/image7.jpeg"/><Relationship Id="rId4" Type="http://schemas.openxmlformats.org/officeDocument/2006/relationships/image" Target="../media/image3.png"/></Relationships>
</file>

<file path=ppt/slides/_rels/slide6.xml.rels><?xml version="1.0" encoding="UTF-8" standalone="yes"?>
<Relationships xmlns="http://schemas.openxmlformats.org/package/2006/relationships"><Relationship Id="rId3" Type="http://schemas.openxmlformats.org/officeDocument/2006/relationships/notesSlide" Target="../notesSlides/notesSlide6.xml"/><Relationship Id="rId2" Type="http://schemas.openxmlformats.org/officeDocument/2006/relationships/slideLayout" Target="../slideLayouts/slideLayout2.xml"/><Relationship Id="rId1" Type="http://schemas.openxmlformats.org/officeDocument/2006/relationships/video" Target="https://www.youtube.com/embed/h7apO7q16V0?feature=oembed" TargetMode="External"/><Relationship Id="rId6" Type="http://schemas.openxmlformats.org/officeDocument/2006/relationships/hyperlink" Target="https://www.youtube.com/watch?v=h7apO7q16V0" TargetMode="External"/><Relationship Id="rId5" Type="http://schemas.openxmlformats.org/officeDocument/2006/relationships/image" Target="../media/image8.jpeg"/><Relationship Id="rId4" Type="http://schemas.openxmlformats.org/officeDocument/2006/relationships/image" Target="../media/image3.png"/></Relationships>
</file>

<file path=ppt/slides/_rels/slide7.xml.rels><?xml version="1.0" encoding="UTF-8" standalone="yes"?>
<Relationships xmlns="http://schemas.openxmlformats.org/package/2006/relationships"><Relationship Id="rId3" Type="http://schemas.openxmlformats.org/officeDocument/2006/relationships/image" Target="../media/image5.jpg"/><Relationship Id="rId2" Type="http://schemas.openxmlformats.org/officeDocument/2006/relationships/notesSlide" Target="../notesSlides/notesSlide7.xml"/><Relationship Id="rId1" Type="http://schemas.openxmlformats.org/officeDocument/2006/relationships/slideLayout" Target="../slideLayouts/slideLayout1.xml"/><Relationship Id="rId4" Type="http://schemas.openxmlformats.org/officeDocument/2006/relationships/image" Target="../media/image6.png"/></Relationships>
</file>

<file path=ppt/slides/_rels/slide8.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3" Type="http://schemas.openxmlformats.org/officeDocument/2006/relationships/image" Target="../media/image5.jpg"/><Relationship Id="rId2" Type="http://schemas.openxmlformats.org/officeDocument/2006/relationships/notesSlide" Target="../notesSlides/notesSlide11.xml"/><Relationship Id="rId1" Type="http://schemas.openxmlformats.org/officeDocument/2006/relationships/slideLayout" Target="../slideLayouts/slideLayout1.xml"/><Relationship Id="rId4" Type="http://schemas.openxmlformats.org/officeDocument/2006/relationships/image" Target="../media/image6.png"/></Relationships>
</file>

<file path=ppt/slides/_rels/slide1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4.xml"/><Relationship Id="rId1" Type="http://schemas.openxmlformats.org/officeDocument/2006/relationships/slideLayout" Target="../slideLayouts/slideLayout2.xml"/><Relationship Id="rId5" Type="http://schemas.openxmlformats.org/officeDocument/2006/relationships/image" Target="../media/image10.svg"/><Relationship Id="rId4" Type="http://schemas.openxmlformats.org/officeDocument/2006/relationships/image" Target="../media/image9.png"/></Relationships>
</file>

<file path=ppt/slides/_rels/slide1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5.xml"/><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3" Type="http://schemas.openxmlformats.org/officeDocument/2006/relationships/image" Target="../media/image5.jpg"/><Relationship Id="rId2" Type="http://schemas.openxmlformats.org/officeDocument/2006/relationships/notesSlide" Target="../notesSlides/notesSlide16.xml"/><Relationship Id="rId1" Type="http://schemas.openxmlformats.org/officeDocument/2006/relationships/slideLayout" Target="../slideLayouts/slideLayout1.xml"/><Relationship Id="rId4" Type="http://schemas.openxmlformats.org/officeDocument/2006/relationships/image" Target="../media/image6.png"/></Relationships>
</file>

<file path=ppt/slides/_rels/slide17.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7.xml"/><Relationship Id="rId1" Type="http://schemas.openxmlformats.org/officeDocument/2006/relationships/slideLayout" Target="../slideLayouts/slideLayout2.xml"/><Relationship Id="rId5" Type="http://schemas.openxmlformats.org/officeDocument/2006/relationships/image" Target="../media/image12.svg"/><Relationship Id="rId4" Type="http://schemas.openxmlformats.org/officeDocument/2006/relationships/image" Target="../media/image11.png"/></Relationships>
</file>

<file path=ppt/slides/_rels/slide18.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8.xml"/><Relationship Id="rId1" Type="http://schemas.openxmlformats.org/officeDocument/2006/relationships/slideLayout" Target="../slideLayouts/slideLayout2.xml"/><Relationship Id="rId5" Type="http://schemas.openxmlformats.org/officeDocument/2006/relationships/image" Target="../media/image14.svg"/><Relationship Id="rId4" Type="http://schemas.openxmlformats.org/officeDocument/2006/relationships/image" Target="../media/image13.png"/></Relationships>
</file>

<file path=ppt/slides/_rels/slide19.xml.rels><?xml version="1.0" encoding="UTF-8" standalone="yes"?>
<Relationships xmlns="http://schemas.openxmlformats.org/package/2006/relationships"><Relationship Id="rId3" Type="http://schemas.openxmlformats.org/officeDocument/2006/relationships/image" Target="../media/image5.jpg"/><Relationship Id="rId2" Type="http://schemas.openxmlformats.org/officeDocument/2006/relationships/notesSlide" Target="../notesSlides/notesSlide19.xml"/><Relationship Id="rId1" Type="http://schemas.openxmlformats.org/officeDocument/2006/relationships/slideLayout" Target="../slideLayouts/slideLayout1.xml"/><Relationship Id="rId4" Type="http://schemas.openxmlformats.org/officeDocument/2006/relationships/image" Target="../media/image6.png"/></Relationships>
</file>

<file path=ppt/slides/_rels/slide20.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0.xml"/><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1.xml"/><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2.xml"/><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3" Type="http://schemas.openxmlformats.org/officeDocument/2006/relationships/image" Target="../media/image4.jpg"/><Relationship Id="rId2" Type="http://schemas.openxmlformats.org/officeDocument/2006/relationships/notesSlide" Target="../notesSlides/notesSlide23.xml"/><Relationship Id="rId1" Type="http://schemas.openxmlformats.org/officeDocument/2006/relationships/slideLayout" Target="../slideLayouts/slideLayout1.xml"/><Relationship Id="rId4" Type="http://schemas.openxmlformats.org/officeDocument/2006/relationships/image" Target="../media/image3.png"/></Relationships>
</file>

<file path=ppt/slides/_rels/slide2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4.xml"/><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5.xml"/><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6.xml"/><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3" Type="http://schemas.openxmlformats.org/officeDocument/2006/relationships/image" Target="../media/image5.jpg"/><Relationship Id="rId2" Type="http://schemas.openxmlformats.org/officeDocument/2006/relationships/notesSlide" Target="../notesSlides/notesSlide27.xml"/><Relationship Id="rId1" Type="http://schemas.openxmlformats.org/officeDocument/2006/relationships/slideLayout" Target="../slideLayouts/slideLayout1.xml"/><Relationship Id="rId4" Type="http://schemas.openxmlformats.org/officeDocument/2006/relationships/image" Target="../media/image6.png"/></Relationships>
</file>

<file path=ppt/slides/_rels/slide28.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8.xml"/><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29.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30.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30.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31.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1.xml"/><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notesSlide" Target="../notesSlides/notesSlide32.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33.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notesSlide" Target="../notesSlides/notesSlide33.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3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4.xml"/><Relationship Id="rId1" Type="http://schemas.openxmlformats.org/officeDocument/2006/relationships/slideLayout" Target="../slideLayouts/slideLayout2.xml"/><Relationship Id="rId5" Type="http://schemas.openxmlformats.org/officeDocument/2006/relationships/image" Target="../media/image20.svg"/><Relationship Id="rId4" Type="http://schemas.openxmlformats.org/officeDocument/2006/relationships/image" Target="../media/image19.png"/></Relationships>
</file>

<file path=ppt/slides/_rels/slide3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5.xml"/><Relationship Id="rId1" Type="http://schemas.openxmlformats.org/officeDocument/2006/relationships/slideLayout" Target="../slideLayouts/slideLayout2.xml"/><Relationship Id="rId5" Type="http://schemas.openxmlformats.org/officeDocument/2006/relationships/image" Target="../media/image22.svg"/><Relationship Id="rId4" Type="http://schemas.openxmlformats.org/officeDocument/2006/relationships/image" Target="../media/image21.png"/></Relationships>
</file>

<file path=ppt/slides/_rels/slide36.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6.xml"/><Relationship Id="rId1" Type="http://schemas.openxmlformats.org/officeDocument/2006/relationships/slideLayout" Target="../slideLayouts/slideLayout2.xml"/><Relationship Id="rId5" Type="http://schemas.openxmlformats.org/officeDocument/2006/relationships/image" Target="../media/image24.svg"/><Relationship Id="rId4" Type="http://schemas.openxmlformats.org/officeDocument/2006/relationships/image" Target="../media/image23.png"/></Relationships>
</file>

<file path=ppt/slides/_rels/slide37.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7.xml"/><Relationship Id="rId1" Type="http://schemas.openxmlformats.org/officeDocument/2006/relationships/slideLayout" Target="../slideLayouts/slideLayout2.xml"/><Relationship Id="rId5" Type="http://schemas.openxmlformats.org/officeDocument/2006/relationships/image" Target="../media/image26.svg"/><Relationship Id="rId4" Type="http://schemas.openxmlformats.org/officeDocument/2006/relationships/image" Target="../media/image25.png"/></Relationships>
</file>

<file path=ppt/slides/_rels/slide38.xml.rels><?xml version="1.0" encoding="UTF-8" standalone="yes"?>
<Relationships xmlns="http://schemas.openxmlformats.org/package/2006/relationships"><Relationship Id="rId3" Type="http://schemas.openxmlformats.org/officeDocument/2006/relationships/image" Target="../media/image27.png"/><Relationship Id="rId2" Type="http://schemas.openxmlformats.org/officeDocument/2006/relationships/notesSlide" Target="../notesSlides/notesSlide38.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39.xml.rels><?xml version="1.0" encoding="UTF-8" standalone="yes"?>
<Relationships xmlns="http://schemas.openxmlformats.org/package/2006/relationships"><Relationship Id="rId3" Type="http://schemas.openxmlformats.org/officeDocument/2006/relationships/image" Target="../media/image28.png"/><Relationship Id="rId2" Type="http://schemas.openxmlformats.org/officeDocument/2006/relationships/notesSlide" Target="../notesSlides/notesSlide39.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40.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40.xml"/><Relationship Id="rId1" Type="http://schemas.openxmlformats.org/officeDocument/2006/relationships/slideLayout" Target="../slideLayouts/slideLayout2.xml"/><Relationship Id="rId5" Type="http://schemas.openxmlformats.org/officeDocument/2006/relationships/image" Target="../media/image30.svg"/><Relationship Id="rId4" Type="http://schemas.openxmlformats.org/officeDocument/2006/relationships/image" Target="../media/image29.png"/></Relationships>
</file>

<file path=ppt/slides/_rels/slide41.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41.xml"/><Relationship Id="rId1" Type="http://schemas.openxmlformats.org/officeDocument/2006/relationships/slideLayout" Target="../slideLayouts/slideLayout2.xml"/><Relationship Id="rId5" Type="http://schemas.openxmlformats.org/officeDocument/2006/relationships/image" Target="../media/image32.svg"/><Relationship Id="rId4" Type="http://schemas.openxmlformats.org/officeDocument/2006/relationships/image" Target="../media/image31.png"/></Relationships>
</file>

<file path=ppt/slides/_rels/slide4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42.xml"/><Relationship Id="rId1" Type="http://schemas.openxmlformats.org/officeDocument/2006/relationships/slideLayout" Target="../slideLayouts/slideLayout2.xml"/><Relationship Id="rId5" Type="http://schemas.openxmlformats.org/officeDocument/2006/relationships/image" Target="../media/image34.svg"/><Relationship Id="rId4" Type="http://schemas.openxmlformats.org/officeDocument/2006/relationships/image" Target="../media/image33.png"/></Relationships>
</file>

<file path=ppt/slides/_rels/slide4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43.xml"/><Relationship Id="rId1" Type="http://schemas.openxmlformats.org/officeDocument/2006/relationships/slideLayout" Target="../slideLayouts/slideLayout2.xml"/><Relationship Id="rId5" Type="http://schemas.openxmlformats.org/officeDocument/2006/relationships/image" Target="../media/image36.svg"/><Relationship Id="rId4" Type="http://schemas.openxmlformats.org/officeDocument/2006/relationships/image" Target="../media/image35.png"/></Relationships>
</file>

<file path=ppt/slides/_rels/slide44.xml.rels><?xml version="1.0" encoding="UTF-8" standalone="yes"?>
<Relationships xmlns="http://schemas.openxmlformats.org/package/2006/relationships"><Relationship Id="rId3" Type="http://schemas.openxmlformats.org/officeDocument/2006/relationships/image" Target="../media/image350.png"/><Relationship Id="rId2" Type="http://schemas.openxmlformats.org/officeDocument/2006/relationships/notesSlide" Target="../notesSlides/notesSlide44.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45.xml.rels><?xml version="1.0" encoding="UTF-8" standalone="yes"?>
<Relationships xmlns="http://schemas.openxmlformats.org/package/2006/relationships"><Relationship Id="rId3" Type="http://schemas.openxmlformats.org/officeDocument/2006/relationships/image" Target="../media/image4.jpg"/><Relationship Id="rId2" Type="http://schemas.openxmlformats.org/officeDocument/2006/relationships/notesSlide" Target="../notesSlides/notesSlide45.xml"/><Relationship Id="rId1" Type="http://schemas.openxmlformats.org/officeDocument/2006/relationships/slideLayout" Target="../slideLayouts/slideLayout1.xml"/><Relationship Id="rId4" Type="http://schemas.openxmlformats.org/officeDocument/2006/relationships/image" Target="../media/image3.png"/></Relationships>
</file>

<file path=ppt/slides/_rels/slide46.xml.rels><?xml version="1.0" encoding="UTF-8" standalone="yes"?>
<Relationships xmlns="http://schemas.openxmlformats.org/package/2006/relationships"><Relationship Id="rId3" Type="http://schemas.openxmlformats.org/officeDocument/2006/relationships/image" Target="../media/image5.jpg"/><Relationship Id="rId2" Type="http://schemas.openxmlformats.org/officeDocument/2006/relationships/notesSlide" Target="../notesSlides/notesSlide46.xml"/><Relationship Id="rId1" Type="http://schemas.openxmlformats.org/officeDocument/2006/relationships/slideLayout" Target="../slideLayouts/slideLayout1.xml"/><Relationship Id="rId4" Type="http://schemas.openxmlformats.org/officeDocument/2006/relationships/image" Target="../media/image37.png"/></Relationships>
</file>

<file path=ppt/slides/slide1.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81"/>
        <p:cNvGrpSpPr/>
        <p:nvPr/>
      </p:nvGrpSpPr>
      <p:grpSpPr>
        <a:xfrm>
          <a:off x="0" y="0"/>
          <a:ext cx="0" cy="0"/>
          <a:chOff x="0" y="0"/>
          <a:chExt cx="0" cy="0"/>
        </a:xfrm>
      </p:grpSpPr>
      <p:sp>
        <p:nvSpPr>
          <p:cNvPr id="82" name="Google Shape;82;p26"/>
          <p:cNvSpPr/>
          <p:nvPr>
            <p:ph type="title"/>
          </p:nvPr>
        </p:nvSpPr>
        <p:spPr>
          <a:xfrm>
            <a:off x="1134035" y="2553964"/>
            <a:ext cx="9924000" cy="2723782"/>
          </a:xfrm>
          <a:prstGeom prst="rect">
            <a:avLst/>
          </a:prstGeom>
          <a:noFill/>
          <a:ln>
            <a:noFill/>
          </a:ln>
        </p:spPr>
        <p:txBody>
          <a:bodyPr spcFirstLastPara="1" wrap="square" lIns="91425" tIns="45700" rIns="91425" bIns="45700" anchor="t" anchorCtr="0">
            <a:spAutoFit/>
          </a:bodyPr>
          <a:lstStyle/>
          <a:p>
            <a:pPr lvl="0" algn="ctr">
              <a:lnSpc>
                <a:spcPct val="100000"/>
              </a:lnSpc>
              <a:spcBef>
                <a:spcPts val="600"/>
              </a:spcBef>
              <a:spcAft>
                <a:spcPts val="0"/>
              </a:spcAft>
              <a:buSzPts val="4500"/>
            </a:pPr>
            <a:r>
              <a:rPr i="0" lang="en-US" sz="4500" b="1" dirty="0">
                <a:solidFill>
                  <a:schemeClr val="lt1"/>
                </a:solidFill>
              </a:rPr>
              <a:t>SE 423: Introduction to Mechatronics</a:t>
            </a:r>
            <a:endParaRPr i="0" b="0" lang="en-US" sz="4500" dirty="0">
              <a:solidFill>
                <a:srgbClr val="000000"/>
              </a:solidFill>
            </a:endParaRPr>
          </a:p>
          <a:p>
            <a:pPr marL="0" marR="0" lvl="0" indent="0" algn="ctr" rtl="0">
              <a:lnSpc>
                <a:spcPct val="100000"/>
              </a:lnSpc>
              <a:spcBef>
                <a:spcPts val="600"/>
              </a:spcBef>
              <a:spcAft>
                <a:spcPts val="0"/>
              </a:spcAft>
              <a:buNone/>
            </a:pPr>
            <a:r>
              <a:rPr i="0" b="0" lang="en-US" sz="2500" dirty="0">
                <a:solidFill>
                  <a:schemeClr val="lt1"/>
                </a:solidFill>
              </a:rPr>
              <a:t>Lecture 8-9: FFT and Filters</a:t>
            </a:r>
            <a:endParaRPr i="0" b="0" sz="1400" dirty="0">
              <a:solidFill>
                <a:srgbClr val="000000"/>
              </a:solidFill>
            </a:endParaRPr>
          </a:p>
          <a:p>
            <a:pPr marL="0" marR="0" lvl="0" indent="0" algn="ctr" rtl="0">
              <a:lnSpc>
                <a:spcPct val="100000"/>
              </a:lnSpc>
              <a:spcBef>
                <a:spcPts val="600"/>
              </a:spcBef>
              <a:spcAft>
                <a:spcPts val="0"/>
              </a:spcAft>
              <a:buNone/>
            </a:pPr>
            <a:endParaRPr sz="1800" b="0" i="0" u="none" strike="noStrike" cap="none" dirty="0">
              <a:solidFill>
                <a:schemeClr val="lt1"/>
              </a:solidFill>
              <a:latin typeface="Atkinson Hyperlegible Next"/>
              <a:ea typeface="Arial"/>
              <a:cs typeface="Arial"/>
              <a:sym typeface="Arial"/>
            </a:endParaRPr>
          </a:p>
          <a:p>
            <a:pPr marL="0" marR="0" lvl="0" indent="0" algn="ctr" rtl="0">
              <a:lnSpc>
                <a:spcPct val="100000"/>
              </a:lnSpc>
              <a:spcBef>
                <a:spcPts val="600"/>
              </a:spcBef>
              <a:spcAft>
                <a:spcPts val="0"/>
              </a:spcAft>
              <a:buNone/>
            </a:pPr>
            <a:r>
              <a:rPr lang="en-US" sz="1800" b="0" i="0" u="none" strike="noStrike" cap="none" dirty="0">
                <a:solidFill>
                  <a:schemeClr val="lt1"/>
                </a:solidFill>
                <a:latin typeface="Atkinson Hyperlegible Next"/>
                <a:ea typeface="Arial"/>
                <a:cs typeface="Arial"/>
                <a:sym typeface="Arial"/>
              </a:rPr>
              <a:t>Marius Juston</a:t>
            </a:r>
            <a:endParaRPr sz="1800" b="0" i="0" u="none" strike="noStrike" cap="none" dirty="0">
              <a:solidFill>
                <a:srgbClr val="000000"/>
              </a:solidFill>
              <a:latin typeface="Atkinson Hyperlegible Next"/>
              <a:ea typeface="Arial"/>
              <a:cs typeface="Arial"/>
              <a:sym typeface="Arial"/>
            </a:endParaRPr>
          </a:p>
        </p:txBody>
      </p:sp>
      <p:sp>
        <p:nvSpPr>
          <p:cNvPr id="83" name="Google Shape;83;p26"/>
          <p:cNvSpPr txBox="1"/>
          <p:nvPr/>
        </p:nvSpPr>
        <p:spPr>
          <a:xfrm>
            <a:off x="3922059" y="5413888"/>
            <a:ext cx="4347882" cy="369291"/>
          </a:xfrm>
          <a:prstGeom prst="rect">
            <a:avLst/>
          </a:prstGeom>
          <a:noFill/>
          <a:ln>
            <a:noFill/>
          </a:ln>
        </p:spPr>
        <p:txBody>
          <a:bodyPr spcFirstLastPara="1" wrap="square" lIns="91425" tIns="45700" rIns="91425" bIns="45700" anchor="t" anchorCtr="0">
            <a:spAutoFit/>
          </a:bodyPr>
          <a:lstStyle/>
          <a:p>
            <a:pPr marL="0" marR="0" lvl="0" indent="0" algn="ctr" rtl="0">
              <a:lnSpc>
                <a:spcPct val="100000"/>
              </a:lnSpc>
              <a:spcBef>
                <a:spcPts val="0"/>
              </a:spcBef>
              <a:spcAft>
                <a:spcPts val="0"/>
              </a:spcAft>
              <a:buClr>
                <a:srgbClr val="000000"/>
              </a:buClr>
              <a:buSzPts val="1800"/>
              <a:buFont typeface="Arial"/>
              <a:buNone/>
            </a:pPr>
            <a:r>
              <a:rPr lang="en-US" sz="1800" b="0" i="0" u="none" strike="noStrike" cap="none" dirty="0">
                <a:solidFill>
                  <a:schemeClr val="lt1"/>
                </a:solidFill>
                <a:latin typeface="Atkinson Hyperlegible Next"/>
                <a:ea typeface="Arial"/>
                <a:cs typeface="Arial"/>
                <a:sym typeface="Arial"/>
              </a:rPr>
              <a:t>Monday, February 16</a:t>
            </a:r>
            <a:r>
              <a:rPr lang="en-US" sz="1800" b="0" i="0" u="none" strike="noStrike" cap="none" baseline="30000" dirty="0">
                <a:solidFill>
                  <a:schemeClr val="lt1"/>
                </a:solidFill>
                <a:latin typeface="Atkinson Hyperlegible Next"/>
                <a:ea typeface="Arial"/>
                <a:cs typeface="Arial"/>
                <a:sym typeface="Arial"/>
              </a:rPr>
              <a:t>th</a:t>
            </a:r>
            <a:r>
              <a:rPr lang="en-US" sz="1800" b="0" i="0" u="none" strike="noStrike" cap="none" dirty="0">
                <a:solidFill>
                  <a:schemeClr val="lt1"/>
                </a:solidFill>
                <a:latin typeface="Atkinson Hyperlegible Next"/>
                <a:ea typeface="Arial"/>
                <a:cs typeface="Arial"/>
                <a:sym typeface="Arial"/>
              </a:rPr>
              <a:t>, 2026</a:t>
            </a:r>
            <a:endParaRPr sz="1800" b="0" i="0" u="none" strike="noStrike" cap="none" dirty="0">
              <a:solidFill>
                <a:schemeClr val="lt1"/>
              </a:solidFill>
              <a:latin typeface="Atkinson Hyperlegible Next"/>
              <a:ea typeface="Arial"/>
              <a:cs typeface="Arial"/>
              <a:sym typeface="Arial"/>
            </a:endParaRPr>
          </a:p>
        </p:txBody>
      </p:sp>
      <p:pic>
        <p:nvPicPr>
          <p:cNvPr id="84" name="Google Shape;84;p26">
            <a:extLst>
              <a:ext uri="{C183D7F6-B498-43B3-948B-1728B52AA6E4}">
                <adec:decorative xmlns:adec="http://schemas.microsoft.com/office/drawing/2017/decorative" val="1"/>
              </a:ext>
            </a:extLst>
          </p:cNvPr>
          <p:cNvPicPr preferRelativeResize="0"/>
          <p:nvPr/>
        </p:nvPicPr>
        <p:blipFill rotWithShape="1">
          <a:blip r:embed="rId4">
            <a:alphaModFix/>
          </a:blip>
          <a:srcRect/>
          <a:stretch/>
        </p:blipFill>
        <p:spPr>
          <a:xfrm>
            <a:off x="4641007" y="1004743"/>
            <a:ext cx="2909982" cy="754664"/>
          </a:xfrm>
          <a:prstGeom prst="rect">
            <a:avLst/>
          </a:prstGeom>
          <a:noFill/>
          <a:ln>
            <a:noFill/>
          </a:ln>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781D3E48-EB5B-86EE-C4D9-54116487B2DB}"/>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3BCC2F8C-3A4A-AD98-3682-D9499379E419}"/>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3000"/>
              <a:buNone/>
            </a:pPr>
            <a:r>
              <a:rPr lang="en-US" sz="1800" b="1" dirty="0">
                <a:solidFill>
                  <a:srgbClr val="D83B27"/>
                </a:solidFill>
                <a:latin typeface="Atkinson Hyperlegible Next"/>
                <a:ea typeface="Arial"/>
                <a:cs typeface="Arial"/>
                <a:sym typeface="Arial"/>
              </a:rPr>
              <a:t>Office Hours:</a:t>
            </a:r>
            <a:endParaRPr lang="en-US" sz="2600" b="1" dirty="0">
              <a:solidFill>
                <a:srgbClr val="E84B36"/>
              </a:solidFill>
              <a:latin typeface="Atkinson Hyperlegible Next"/>
              <a:ea typeface="Arial"/>
              <a:cs typeface="Arial"/>
              <a:sym typeface="Arial"/>
            </a:endParaRPr>
          </a:p>
          <a:p>
            <a:pPr marL="285750" indent="-285750">
              <a:lnSpc>
                <a:spcPct val="100000"/>
              </a:lnSpc>
              <a:spcBef>
                <a:spcPts val="0"/>
              </a:spcBef>
              <a:buSzPts val="3000"/>
            </a:pPr>
            <a:r>
              <a:rPr lang="en-US" sz="1800" b="1" dirty="0">
                <a:solidFill>
                  <a:schemeClr val="dk1"/>
                </a:solidFill>
                <a:latin typeface="Atkinson Hyperlegible Next"/>
                <a:ea typeface="Arial"/>
                <a:cs typeface="Arial"/>
                <a:sym typeface="Arial"/>
              </a:rPr>
              <a:t>Monday: </a:t>
            </a:r>
            <a:r>
              <a:rPr lang="en-US" sz="1800" dirty="0">
                <a:solidFill>
                  <a:schemeClr val="dk1"/>
                </a:solidFill>
                <a:latin typeface="Atkinson Hyperlegible Next"/>
                <a:ea typeface="Arial"/>
                <a:cs typeface="Arial"/>
                <a:sym typeface="Arial"/>
              </a:rPr>
              <a:t>4-6 PM</a:t>
            </a:r>
            <a:r>
              <a:rPr lang="en-US" sz="1800" b="1" dirty="0">
                <a:solidFill>
                  <a:schemeClr val="dk1"/>
                </a:solidFill>
                <a:latin typeface="Atkinson Hyperlegible Next"/>
                <a:ea typeface="Arial"/>
                <a:cs typeface="Arial"/>
                <a:sym typeface="Arial"/>
              </a:rPr>
              <a:t>, </a:t>
            </a:r>
            <a:r>
              <a:rPr lang="en-US" sz="1800" dirty="0">
                <a:solidFill>
                  <a:schemeClr val="dk1"/>
                </a:solidFill>
                <a:latin typeface="Atkinson Hyperlegible Next"/>
                <a:ea typeface="Arial"/>
                <a:cs typeface="Arial"/>
                <a:sym typeface="Arial"/>
              </a:rPr>
              <a:t>Neel</a:t>
            </a:r>
          </a:p>
          <a:p>
            <a:pPr marL="285750" indent="-285750">
              <a:lnSpc>
                <a:spcPct val="100000"/>
              </a:lnSpc>
              <a:spcBef>
                <a:spcPts val="0"/>
              </a:spcBef>
              <a:buSzPts val="3000"/>
            </a:pPr>
            <a:r>
              <a:rPr lang="en-US" sz="1800" b="1" dirty="0">
                <a:latin typeface="Atkinson Hyperlegible Next"/>
                <a:ea typeface="Arial"/>
                <a:cs typeface="Arial"/>
                <a:sym typeface="Arial"/>
              </a:rPr>
              <a:t>Tuesday: </a:t>
            </a:r>
            <a:r>
              <a:rPr lang="en-US" sz="1800" dirty="0">
                <a:latin typeface="Atkinson Hyperlegible Next"/>
                <a:ea typeface="Arial"/>
                <a:cs typeface="Arial"/>
                <a:sym typeface="Arial"/>
              </a:rPr>
              <a:t>11-1 PM</a:t>
            </a:r>
            <a:r>
              <a:rPr lang="en-US" sz="1800" b="1" dirty="0">
                <a:latin typeface="Atkinson Hyperlegible Next"/>
                <a:ea typeface="Arial"/>
                <a:cs typeface="Arial"/>
                <a:sym typeface="Arial"/>
              </a:rPr>
              <a:t>, </a:t>
            </a:r>
            <a:r>
              <a:rPr lang="en-US" sz="1800" dirty="0">
                <a:latin typeface="Atkinson Hyperlegible Next"/>
                <a:ea typeface="Arial"/>
                <a:cs typeface="Arial"/>
                <a:sym typeface="Arial"/>
              </a:rPr>
              <a:t>Lakshmi</a:t>
            </a:r>
          </a:p>
          <a:p>
            <a:pPr marL="285750" indent="-285750">
              <a:lnSpc>
                <a:spcPct val="100000"/>
              </a:lnSpc>
              <a:spcBef>
                <a:spcPts val="0"/>
              </a:spcBef>
              <a:buSzPts val="3000"/>
            </a:pPr>
            <a:r>
              <a:rPr lang="en-US" sz="1800" b="1" dirty="0">
                <a:solidFill>
                  <a:schemeClr val="dk1"/>
                </a:solidFill>
                <a:latin typeface="Atkinson Hyperlegible Next"/>
                <a:ea typeface="Arial"/>
                <a:cs typeface="Arial"/>
                <a:sym typeface="Arial"/>
              </a:rPr>
              <a:t>Tuesday: </a:t>
            </a:r>
            <a:r>
              <a:rPr lang="en-US" sz="1800" dirty="0">
                <a:latin typeface="Atkinson Hyperlegible Next"/>
                <a:ea typeface="Arial"/>
                <a:cs typeface="Arial"/>
                <a:sym typeface="Arial"/>
              </a:rPr>
              <a:t>1-3 PM</a:t>
            </a:r>
            <a:r>
              <a:rPr lang="en-US" sz="1800" b="1" dirty="0">
                <a:latin typeface="Atkinson Hyperlegible Next"/>
                <a:ea typeface="Arial"/>
                <a:cs typeface="Arial"/>
                <a:sym typeface="Arial"/>
              </a:rPr>
              <a:t>, </a:t>
            </a:r>
            <a:r>
              <a:rPr lang="en-US" sz="1800" dirty="0">
                <a:latin typeface="Atkinson Hyperlegible Next"/>
                <a:ea typeface="Arial"/>
                <a:cs typeface="Arial"/>
                <a:sym typeface="Arial"/>
              </a:rPr>
              <a:t>Samuel</a:t>
            </a:r>
          </a:p>
          <a:p>
            <a:pPr marL="285750" indent="-285750">
              <a:lnSpc>
                <a:spcPct val="100000"/>
              </a:lnSpc>
              <a:spcBef>
                <a:spcPts val="0"/>
              </a:spcBef>
              <a:buSzPts val="3000"/>
            </a:pPr>
            <a:r>
              <a:rPr lang="en-US" sz="1800" b="1" dirty="0">
                <a:solidFill>
                  <a:schemeClr val="dk1"/>
                </a:solidFill>
                <a:latin typeface="Atkinson Hyperlegible Next"/>
                <a:ea typeface="Arial"/>
                <a:cs typeface="Arial"/>
                <a:sym typeface="Arial"/>
              </a:rPr>
              <a:t>Tuesday: </a:t>
            </a:r>
            <a:r>
              <a:rPr lang="en-US" sz="1800" dirty="0">
                <a:solidFill>
                  <a:schemeClr val="dk1"/>
                </a:solidFill>
                <a:latin typeface="Atkinson Hyperlegible Next"/>
                <a:ea typeface="Arial"/>
                <a:cs typeface="Arial"/>
                <a:sym typeface="Arial"/>
              </a:rPr>
              <a:t>2-5 PM</a:t>
            </a:r>
            <a:r>
              <a:rPr lang="en-US" sz="1800" b="1" dirty="0">
                <a:solidFill>
                  <a:schemeClr val="dk1"/>
                </a:solidFill>
                <a:latin typeface="Atkinson Hyperlegible Next"/>
                <a:ea typeface="Arial"/>
                <a:cs typeface="Arial"/>
                <a:sym typeface="Arial"/>
              </a:rPr>
              <a:t>, </a:t>
            </a:r>
            <a:r>
              <a:rPr lang="en-US" sz="1800" dirty="0">
                <a:solidFill>
                  <a:schemeClr val="dk1"/>
                </a:solidFill>
                <a:latin typeface="Atkinson Hyperlegible Next"/>
                <a:ea typeface="Arial"/>
                <a:cs typeface="Arial"/>
                <a:sym typeface="Arial"/>
              </a:rPr>
              <a:t>Dan &amp; Marius</a:t>
            </a:r>
          </a:p>
          <a:p>
            <a:pPr marL="285750" indent="-285750">
              <a:lnSpc>
                <a:spcPct val="100000"/>
              </a:lnSpc>
              <a:spcBef>
                <a:spcPts val="0"/>
              </a:spcBef>
              <a:buSzPts val="3000"/>
            </a:pPr>
            <a:endParaRPr lang="en-US" sz="1800" b="1" dirty="0">
              <a:latin typeface="Atkinson Hyperlegible Next"/>
              <a:ea typeface="Arial"/>
              <a:cs typeface="Arial"/>
              <a:sym typeface="Arial"/>
            </a:endParaRPr>
          </a:p>
          <a:p>
            <a:pPr marL="0" indent="0">
              <a:lnSpc>
                <a:spcPct val="100000"/>
              </a:lnSpc>
              <a:spcBef>
                <a:spcPts val="0"/>
              </a:spcBef>
              <a:buSzPts val="3000"/>
              <a:buNone/>
            </a:pPr>
            <a:r>
              <a:rPr lang="en-US" sz="1800" b="1" dirty="0">
                <a:solidFill>
                  <a:srgbClr val="D83B27"/>
                </a:solidFill>
                <a:latin typeface="Atkinson Hyperlegible Next"/>
                <a:ea typeface="Arial"/>
                <a:cs typeface="Arial"/>
                <a:sym typeface="Arial"/>
              </a:rPr>
              <a:t>Lab: </a:t>
            </a:r>
            <a:r>
              <a:rPr lang="en-US" sz="1800" dirty="0">
                <a:latin typeface="Atkinson Hyperlegible Next"/>
                <a:ea typeface="Arial"/>
                <a:cs typeface="Arial"/>
                <a:sym typeface="Arial"/>
              </a:rPr>
              <a:t>Starting Lab 3 this week. This a 2-week lab!</a:t>
            </a:r>
            <a:endParaRPr lang="en-US" sz="1800" dirty="0">
              <a:solidFill>
                <a:srgbClr val="E84B36"/>
              </a:solidFill>
              <a:latin typeface="Atkinson Hyperlegible Next"/>
              <a:ea typeface="Arial"/>
              <a:cs typeface="Arial"/>
              <a:sym typeface="Arial"/>
            </a:endParaRPr>
          </a:p>
          <a:p>
            <a:pPr marL="0" indent="0">
              <a:lnSpc>
                <a:spcPct val="100000"/>
              </a:lnSpc>
              <a:spcBef>
                <a:spcPts val="0"/>
              </a:spcBef>
              <a:buSzPts val="3000"/>
              <a:buNone/>
            </a:pPr>
            <a:endParaRPr lang="en-US" sz="1800" b="1" dirty="0">
              <a:solidFill>
                <a:srgbClr val="E84B36"/>
              </a:solidFill>
              <a:latin typeface="Atkinson Hyperlegible Next"/>
              <a:ea typeface="Arial"/>
              <a:cs typeface="Arial"/>
              <a:sym typeface="Arial"/>
            </a:endParaRPr>
          </a:p>
          <a:p>
            <a:pPr marL="0" indent="0">
              <a:lnSpc>
                <a:spcPct val="100000"/>
              </a:lnSpc>
              <a:spcBef>
                <a:spcPts val="0"/>
              </a:spcBef>
              <a:buSzPts val="3000"/>
              <a:buNone/>
            </a:pPr>
            <a:r>
              <a:rPr lang="en-US" sz="1800" b="1" dirty="0" err="1">
                <a:solidFill>
                  <a:srgbClr val="D83B27"/>
                </a:solidFill>
                <a:latin typeface="Atkinson Hyperlegible Next"/>
                <a:ea typeface="Arial"/>
                <a:cs typeface="Arial"/>
                <a:sym typeface="Arial"/>
              </a:rPr>
              <a:t>Homeworks</a:t>
            </a:r>
            <a:r>
              <a:rPr lang="en-US" sz="1800" b="1" dirty="0">
                <a:solidFill>
                  <a:srgbClr val="D83B27"/>
                </a:solidFill>
                <a:latin typeface="Atkinson Hyperlegible Next"/>
                <a:ea typeface="Arial"/>
                <a:cs typeface="Arial"/>
                <a:sym typeface="Arial"/>
              </a:rPr>
              <a:t>:</a:t>
            </a:r>
          </a:p>
          <a:p>
            <a:pPr marL="285750" indent="-285750">
              <a:lnSpc>
                <a:spcPct val="100000"/>
              </a:lnSpc>
              <a:spcBef>
                <a:spcPts val="0"/>
              </a:spcBef>
              <a:buSzPts val="3000"/>
            </a:pPr>
            <a:r>
              <a:rPr lang="en-US" sz="1800" dirty="0">
                <a:latin typeface="Atkinson Hyperlegible Next"/>
                <a:ea typeface="Arial"/>
                <a:cs typeface="Arial"/>
                <a:sym typeface="Arial"/>
              </a:rPr>
              <a:t>Check-offs for </a:t>
            </a:r>
            <a:r>
              <a:rPr lang="en-US" sz="1800" dirty="0">
                <a:latin typeface="Atkinson Hyperlegible Next"/>
                <a:ea typeface="Arial"/>
                <a:cs typeface="Arial"/>
                <a:sym typeface="Arial"/>
                <a:hlinkClick r:id="rId3"/>
              </a:rPr>
              <a:t>homework 2</a:t>
            </a:r>
            <a:r>
              <a:rPr lang="en-US" sz="1800" dirty="0">
                <a:latin typeface="Atkinson Hyperlegible Next"/>
                <a:ea typeface="Arial"/>
                <a:cs typeface="Arial"/>
                <a:sym typeface="Arial"/>
              </a:rPr>
              <a:t> Ex 1 &amp; 2 are due </a:t>
            </a:r>
            <a:r>
              <a:rPr lang="en-US" sz="1800" b="1" dirty="0">
                <a:latin typeface="Atkinson Hyperlegible Next"/>
                <a:ea typeface="Arial"/>
                <a:cs typeface="Arial"/>
                <a:sym typeface="Arial"/>
              </a:rPr>
              <a:t>February 17, 5PM (The end of office hours)</a:t>
            </a:r>
          </a:p>
          <a:p>
            <a:pPr marL="285750" indent="-285750">
              <a:lnSpc>
                <a:spcPct val="100000"/>
              </a:lnSpc>
              <a:spcBef>
                <a:spcPts val="0"/>
              </a:spcBef>
              <a:buSzPts val="3000"/>
            </a:pPr>
            <a:r>
              <a:rPr lang="en-US" sz="1800" dirty="0">
                <a:latin typeface="Atkinson Hyperlegible Next"/>
                <a:ea typeface="Arial"/>
                <a:cs typeface="Arial"/>
                <a:sym typeface="Arial"/>
              </a:rPr>
              <a:t>Check-offs for </a:t>
            </a:r>
            <a:r>
              <a:rPr lang="en-US" sz="1800" dirty="0">
                <a:latin typeface="Atkinson Hyperlegible Next"/>
                <a:ea typeface="Arial"/>
                <a:cs typeface="Arial"/>
                <a:sym typeface="Arial"/>
                <a:hlinkClick r:id="rId3"/>
              </a:rPr>
              <a:t>homework 2</a:t>
            </a:r>
            <a:r>
              <a:rPr lang="en-US" sz="1800" dirty="0">
                <a:latin typeface="Atkinson Hyperlegible Next"/>
                <a:ea typeface="Arial"/>
                <a:cs typeface="Arial"/>
                <a:sym typeface="Arial"/>
              </a:rPr>
              <a:t> Ex 3 &amp; 4 are due </a:t>
            </a:r>
            <a:r>
              <a:rPr lang="en-US" sz="1800" b="1" dirty="0">
                <a:latin typeface="Atkinson Hyperlegible Next"/>
                <a:ea typeface="Arial"/>
                <a:cs typeface="Arial"/>
                <a:sym typeface="Arial"/>
              </a:rPr>
              <a:t>February 24, 5PM (The end of office hours)</a:t>
            </a:r>
            <a:endParaRPr lang="en-US" sz="1800" dirty="0">
              <a:latin typeface="Atkinson Hyperlegible Next"/>
              <a:ea typeface="Arial"/>
              <a:cs typeface="Arial"/>
              <a:sym typeface="Arial"/>
            </a:endParaRPr>
          </a:p>
          <a:p>
            <a:pPr marL="285750" indent="-285750">
              <a:lnSpc>
                <a:spcPct val="100000"/>
              </a:lnSpc>
              <a:spcBef>
                <a:spcPts val="0"/>
              </a:spcBef>
              <a:buSzPts val="3000"/>
            </a:pPr>
            <a:r>
              <a:rPr lang="en-US" sz="1800" dirty="0">
                <a:latin typeface="Atkinson Hyperlegible Next"/>
                <a:ea typeface="Arial"/>
                <a:cs typeface="Arial"/>
                <a:sym typeface="Arial"/>
              </a:rPr>
              <a:t>Answers and code submissions for homework 2 are due </a:t>
            </a:r>
            <a:r>
              <a:rPr lang="en-US" sz="1800" b="1">
                <a:latin typeface="Atkinson Hyperlegible Next"/>
                <a:ea typeface="Arial"/>
                <a:cs typeface="Arial"/>
                <a:sym typeface="Arial"/>
              </a:rPr>
              <a:t>February 25, </a:t>
            </a:r>
            <a:r>
              <a:rPr lang="en-US" sz="1800" b="1" dirty="0">
                <a:latin typeface="Atkinson Hyperlegible Next"/>
                <a:ea typeface="Arial"/>
                <a:cs typeface="Arial"/>
                <a:sym typeface="Arial"/>
              </a:rPr>
              <a:t>9AM</a:t>
            </a:r>
          </a:p>
          <a:p>
            <a:pPr marL="285750" indent="-285750">
              <a:lnSpc>
                <a:spcPct val="100000"/>
              </a:lnSpc>
              <a:spcBef>
                <a:spcPts val="0"/>
              </a:spcBef>
              <a:buSzPts val="3000"/>
            </a:pPr>
            <a:endParaRPr lang="en-US" sz="1800" dirty="0">
              <a:latin typeface="Atkinson Hyperlegible Next"/>
              <a:ea typeface="Arial"/>
              <a:cs typeface="Arial"/>
              <a:sym typeface="Arial"/>
            </a:endParaRPr>
          </a:p>
          <a:p>
            <a:pPr marL="0" indent="0">
              <a:lnSpc>
                <a:spcPct val="100000"/>
              </a:lnSpc>
              <a:spcBef>
                <a:spcPts val="0"/>
              </a:spcBef>
              <a:buSzPts val="3000"/>
              <a:buNone/>
            </a:pPr>
            <a:r>
              <a:rPr lang="en-US" sz="1800" b="1" dirty="0">
                <a:solidFill>
                  <a:srgbClr val="D83B27"/>
                </a:solidFill>
                <a:latin typeface="Atkinson Hyperlegible Next"/>
                <a:ea typeface="Arial"/>
                <a:cs typeface="Arial"/>
                <a:sym typeface="Arial"/>
              </a:rPr>
              <a:t>LabVIEW:</a:t>
            </a:r>
          </a:p>
          <a:p>
            <a:pPr marL="285750" indent="-285750">
              <a:lnSpc>
                <a:spcPct val="100000"/>
              </a:lnSpc>
              <a:spcBef>
                <a:spcPts val="0"/>
              </a:spcBef>
              <a:buSzPts val="3000"/>
            </a:pPr>
            <a:r>
              <a:rPr lang="en-US" sz="1800" dirty="0">
                <a:latin typeface="Atkinson Hyperlegible Next"/>
                <a:ea typeface="Arial"/>
                <a:cs typeface="Arial"/>
                <a:sym typeface="Arial"/>
              </a:rPr>
              <a:t>All check-offs for </a:t>
            </a:r>
            <a:r>
              <a:rPr lang="en-US" sz="1800" dirty="0">
                <a:latin typeface="Atkinson Hyperlegible Next"/>
                <a:ea typeface="Arial"/>
                <a:cs typeface="Arial"/>
                <a:sym typeface="Arial"/>
                <a:hlinkClick r:id="rId4"/>
              </a:rPr>
              <a:t>LabVIEW 2</a:t>
            </a:r>
            <a:r>
              <a:rPr lang="en-US" sz="1800" dirty="0">
                <a:latin typeface="Atkinson Hyperlegible Next"/>
                <a:ea typeface="Arial"/>
                <a:cs typeface="Arial"/>
                <a:sym typeface="Arial"/>
              </a:rPr>
              <a:t> are due </a:t>
            </a:r>
            <a:r>
              <a:rPr lang="en-US" sz="1800" b="1" dirty="0">
                <a:latin typeface="Atkinson Hyperlegible Next"/>
                <a:ea typeface="Arial"/>
                <a:cs typeface="Arial"/>
                <a:sym typeface="Arial"/>
              </a:rPr>
              <a:t>February 26, 5PM</a:t>
            </a:r>
          </a:p>
          <a:p>
            <a:pPr marL="285750" indent="-285750">
              <a:lnSpc>
                <a:spcPct val="100000"/>
              </a:lnSpc>
              <a:spcBef>
                <a:spcPts val="0"/>
              </a:spcBef>
              <a:buSzPts val="3000"/>
            </a:pPr>
            <a:endParaRPr lang="en-US" sz="1800" b="1" dirty="0">
              <a:latin typeface="Atkinson Hyperlegible Next"/>
              <a:ea typeface="Arial"/>
              <a:cs typeface="Arial"/>
              <a:sym typeface="Arial"/>
            </a:endParaRPr>
          </a:p>
        </p:txBody>
      </p:sp>
      <p:sp>
        <p:nvSpPr>
          <p:cNvPr id="119" name="Google Shape;119;p29">
            <a:extLst>
              <a:ext uri="{FF2B5EF4-FFF2-40B4-BE49-F238E27FC236}">
                <a16:creationId xmlns:a16="http://schemas.microsoft.com/office/drawing/2014/main" id="{19848B8C-9075-59EA-79FA-AF5B8BFAF8D4}"/>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6AE21486-AEEC-E367-96A5-81B49AD32D6A}"/>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Reminders</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28CCE647-4D9B-354D-A2E9-718CA28CD750}"/>
              </a:ext>
            </a:extLst>
          </p:cNvPr>
          <p:cNvPicPr preferRelativeResize="0"/>
          <p:nvPr/>
        </p:nvPicPr>
        <p:blipFill rotWithShape="1">
          <a:blip r:embed="rId5">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FAC87A64-580A-4863-38B3-4D1504C83F5F}"/>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23649EAB-2DB3-2DA4-9AD9-5D94AEE695E1}"/>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D41F8E2C-2780-2776-E8ED-542B082247FE}"/>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1D628D6E-10A9-03E9-659C-F8F2D0023C66}"/>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7BEB3CD3-0F72-FD08-8FA5-00AD37965F20}"/>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3795841031"/>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88"/>
        <p:cNvGrpSpPr/>
        <p:nvPr/>
      </p:nvGrpSpPr>
      <p:grpSpPr>
        <a:xfrm>
          <a:off x="0" y="0"/>
          <a:ext cx="0" cy="0"/>
          <a:chOff x="0" y="0"/>
          <a:chExt cx="0" cy="0"/>
        </a:xfrm>
      </p:grpSpPr>
      <p:grpSp>
        <p:nvGrpSpPr>
          <p:cNvPr id="2" name="Group 1">
            <a:extLst>
              <a:ext uri="{FF2B5EF4-FFF2-40B4-BE49-F238E27FC236}">
                <a16:creationId xmlns:a16="http://schemas.microsoft.com/office/drawing/2014/main" id="{D8464153-9B2B-C46F-8B05-77B5225DC43F}"/>
              </a:ext>
            </a:extLst>
          </p:cNvPr>
          <p:cNvGrpSpPr/>
          <p:nvPr/>
        </p:nvGrpSpPr>
        <p:grpSpPr>
          <a:xfrm>
            <a:off x="1441528" y="2296815"/>
            <a:ext cx="9308941" cy="2264370"/>
            <a:chOff x="1441528" y="1491040"/>
            <a:chExt cx="9308941" cy="2264370"/>
          </a:xfrm>
        </p:grpSpPr>
        <p:sp>
          <p:nvSpPr>
            <p:cNvPr id="89" name="Google Shape;89;p27"/>
            <p:cNvSpPr/>
            <p:nvPr>
              <p:ph type="title"/>
            </p:nvPr>
          </p:nvSpPr>
          <p:spPr>
            <a:xfrm>
              <a:off x="2206906" y="1491040"/>
              <a:ext cx="7778187" cy="1015663"/>
            </a:xfrm>
            <a:prstGeom prst="rect">
              <a:avLst/>
            </a:prstGeom>
            <a:noFill/>
            <a:ln>
              <a:noFill/>
            </a:ln>
          </p:spPr>
          <p:txBody>
            <a:bodyPr spcFirstLastPara="1" wrap="square" lIns="91425" tIns="45700" rIns="91425" bIns="45700" anchor="t" anchorCtr="0">
              <a:spAutoFit/>
            </a:bodyPr>
            <a:lstStyle/>
            <a:p>
              <a:pPr marL="0" marR="0" lvl="0" indent="0" algn="ctr" rtl="0">
                <a:lnSpc>
                  <a:spcPct val="100000"/>
                </a:lnSpc>
                <a:spcBef>
                  <a:spcPts val="0"/>
                </a:spcBef>
                <a:spcAft>
                  <a:spcPts val="0"/>
                </a:spcAft>
                <a:buClr>
                  <a:srgbClr val="000000"/>
                </a:buClr>
                <a:buSzPts val="6000"/>
                <a:buFont typeface="Arial"/>
                <a:buNone/>
              </a:pPr>
              <a:r>
                <a:rPr lang="en-US" sz="6000" b="1" i="0" u="none" strike="noStrike" cap="none" dirty="0">
                  <a:solidFill>
                    <a:schemeClr val="lt1"/>
                  </a:solidFill>
                  <a:latin typeface="Atkinson Hyperlegible Next"/>
                  <a:ea typeface="Arial"/>
                  <a:cs typeface="Arial"/>
                  <a:sym typeface="Arial"/>
                </a:rPr>
                <a:t>Questions?</a:t>
              </a:r>
              <a:endParaRPr sz="1400" b="0" i="0" u="none" strike="noStrike" cap="none" dirty="0">
                <a:solidFill>
                  <a:srgbClr val="000000"/>
                </a:solidFill>
                <a:latin typeface="Atkinson Hyperlegible Next"/>
                <a:ea typeface="Arial"/>
                <a:cs typeface="Arial"/>
                <a:sym typeface="Arial"/>
              </a:endParaRPr>
            </a:p>
          </p:txBody>
        </p:sp>
        <p:sp>
          <p:nvSpPr>
            <p:cNvPr id="90" name="Google Shape;90;p27"/>
            <p:cNvSpPr txBox="1"/>
            <p:nvPr/>
          </p:nvSpPr>
          <p:spPr>
            <a:xfrm>
              <a:off x="1441528" y="3232230"/>
              <a:ext cx="9308941" cy="523180"/>
            </a:xfrm>
            <a:prstGeom prst="rect">
              <a:avLst/>
            </a:prstGeom>
            <a:noFill/>
            <a:ln>
              <a:noFill/>
            </a:ln>
          </p:spPr>
          <p:txBody>
            <a:bodyPr spcFirstLastPara="1" wrap="square" lIns="91425" tIns="45700" rIns="91425" bIns="45700" anchor="t" anchorCtr="0">
              <a:spAutoFit/>
            </a:bodyPr>
            <a:lstStyle/>
            <a:p>
              <a:pPr marL="0" marR="0" lvl="0" indent="0" algn="ctr" rtl="0">
                <a:lnSpc>
                  <a:spcPct val="100000"/>
                </a:lnSpc>
                <a:spcBef>
                  <a:spcPts val="0"/>
                </a:spcBef>
                <a:spcAft>
                  <a:spcPts val="0"/>
                </a:spcAft>
                <a:buClr>
                  <a:srgbClr val="000000"/>
                </a:buClr>
                <a:buSzPts val="2800"/>
                <a:buFont typeface="Arial"/>
                <a:buNone/>
              </a:pPr>
              <a:r>
                <a:rPr lang="en-US" sz="2800" b="0" i="0" u="none" strike="noStrike" cap="none" dirty="0">
                  <a:solidFill>
                    <a:schemeClr val="lt1"/>
                  </a:solidFill>
                  <a:latin typeface="Atkinson Hyperlegible Next"/>
                  <a:ea typeface="Arial"/>
                  <a:cs typeface="Arial"/>
                  <a:sym typeface="Arial"/>
                </a:rPr>
                <a:t>Homework, Lab, LabVIEW questions?</a:t>
              </a:r>
              <a:endParaRPr sz="1800" b="0" i="0" u="none" strike="noStrike" cap="none" dirty="0">
                <a:solidFill>
                  <a:schemeClr val="lt1"/>
                </a:solidFill>
                <a:latin typeface="Atkinson Hyperlegible Next"/>
                <a:ea typeface="Arial"/>
                <a:cs typeface="Arial"/>
                <a:sym typeface="Arial"/>
              </a:endParaRPr>
            </a:p>
          </p:txBody>
        </p:sp>
        <p:grpSp>
          <p:nvGrpSpPr>
            <p:cNvPr id="91" name="Google Shape;91;p27"/>
            <p:cNvGrpSpPr/>
            <p:nvPr/>
          </p:nvGrpSpPr>
          <p:grpSpPr>
            <a:xfrm>
              <a:off x="3943790" y="2676939"/>
              <a:ext cx="3861740" cy="322845"/>
              <a:chOff x="3943790" y="2676939"/>
              <a:chExt cx="3861740" cy="322845"/>
            </a:xfrm>
          </p:grpSpPr>
          <p:cxnSp>
            <p:nvCxnSpPr>
              <p:cNvPr id="92" name="Google Shape;92;p27"/>
              <p:cNvCxnSpPr/>
              <p:nvPr/>
            </p:nvCxnSpPr>
            <p:spPr>
              <a:xfrm>
                <a:off x="4426226" y="2676939"/>
                <a:ext cx="3379304" cy="0"/>
              </a:xfrm>
              <a:prstGeom prst="straightConnector1">
                <a:avLst/>
              </a:prstGeom>
              <a:noFill/>
              <a:ln w="19050" cap="flat" cmpd="sng">
                <a:solidFill>
                  <a:srgbClr val="E84B36"/>
                </a:solidFill>
                <a:prstDash val="solid"/>
                <a:round/>
                <a:headEnd type="none" w="sm" len="sm"/>
                <a:tailEnd type="none" w="sm" len="sm"/>
              </a:ln>
            </p:spPr>
          </p:cxnSp>
          <p:cxnSp>
            <p:nvCxnSpPr>
              <p:cNvPr id="93" name="Google Shape;93;p27"/>
              <p:cNvCxnSpPr/>
              <p:nvPr/>
            </p:nvCxnSpPr>
            <p:spPr>
              <a:xfrm rot="10800000" flipH="1">
                <a:off x="3943790" y="2676939"/>
                <a:ext cx="482436" cy="322845"/>
              </a:xfrm>
              <a:prstGeom prst="straightConnector1">
                <a:avLst/>
              </a:prstGeom>
              <a:noFill/>
              <a:ln w="19050" cap="flat" cmpd="sng">
                <a:solidFill>
                  <a:srgbClr val="E84B36"/>
                </a:solidFill>
                <a:prstDash val="solid"/>
                <a:round/>
                <a:headEnd type="none" w="sm" len="sm"/>
                <a:tailEnd type="none" w="sm" len="sm"/>
              </a:ln>
            </p:spPr>
          </p:cxnSp>
        </p:grpSp>
      </p:grpSp>
      <p:pic>
        <p:nvPicPr>
          <p:cNvPr id="94" name="Google Shape;94;p27">
            <a:extLst>
              <a:ext uri="{C183D7F6-B498-43B3-948B-1728B52AA6E4}">
                <adec:decorative xmlns:adec="http://schemas.microsoft.com/office/drawing/2017/decorative" val="1"/>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95" name="Google Shape;95;p27"/>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chemeClr val="lt1"/>
                </a:solidFill>
                <a:latin typeface="Atkinson Hyperlegible Next"/>
                <a:ea typeface="Arial"/>
                <a:cs typeface="Arial"/>
                <a:sym typeface="Arial"/>
              </a:rPr>
              <a:t>GRAINGER ENGINEERING</a:t>
            </a:r>
            <a:endParaRPr/>
          </a:p>
        </p:txBody>
      </p:sp>
      <p:sp>
        <p:nvSpPr>
          <p:cNvPr id="96" name="Google Shape;96;p27"/>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chemeClr val="lt1"/>
                </a:solidFill>
              </a:rPr>
              <a:t>SYSTEMS ENGINEERING </a:t>
            </a:r>
            <a:endParaRPr dirty="0"/>
          </a:p>
        </p:txBody>
      </p:sp>
      <p:grpSp>
        <p:nvGrpSpPr>
          <p:cNvPr id="97" name="Google Shape;97;p27"/>
          <p:cNvGrpSpPr/>
          <p:nvPr/>
        </p:nvGrpSpPr>
        <p:grpSpPr>
          <a:xfrm>
            <a:off x="4066674" y="6601537"/>
            <a:ext cx="5233412" cy="70446"/>
            <a:chOff x="4033424" y="6601537"/>
            <a:chExt cx="5233412" cy="70446"/>
          </a:xfrm>
        </p:grpSpPr>
        <p:cxnSp>
          <p:nvCxnSpPr>
            <p:cNvPr id="98" name="Google Shape;98;p27"/>
            <p:cNvCxnSpPr/>
            <p:nvPr/>
          </p:nvCxnSpPr>
          <p:spPr>
            <a:xfrm rot="10800000">
              <a:off x="4033424" y="6639606"/>
              <a:ext cx="5164651" cy="0"/>
            </a:xfrm>
            <a:prstGeom prst="straightConnector1">
              <a:avLst/>
            </a:prstGeom>
            <a:noFill/>
            <a:ln w="9525" cap="flat" cmpd="sng">
              <a:solidFill>
                <a:schemeClr val="lt1"/>
              </a:solidFill>
              <a:prstDash val="solid"/>
              <a:round/>
              <a:headEnd type="none" w="sm" len="sm"/>
              <a:tailEnd type="none" w="sm" len="sm"/>
            </a:ln>
          </p:spPr>
        </p:cxnSp>
        <p:sp>
          <p:nvSpPr>
            <p:cNvPr id="99" name="Google Shape;99;p27"/>
            <p:cNvSpPr/>
            <p:nvPr/>
          </p:nvSpPr>
          <p:spPr>
            <a:xfrm>
              <a:off x="9196390" y="6601537"/>
              <a:ext cx="70446" cy="70446"/>
            </a:xfrm>
            <a:prstGeom prst="ellipse">
              <a:avLst/>
            </a:prstGeom>
            <a:solidFill>
              <a:schemeClr val="lt1"/>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chemeClr val="lt1"/>
                </a:solidFill>
                <a:latin typeface="Atkinson Hyperlegible Next"/>
                <a:ea typeface="Arial"/>
                <a:cs typeface="Arial"/>
                <a:sym typeface="Arial"/>
              </a:endParaRPr>
            </a:p>
          </p:txBody>
        </p:sp>
      </p:gr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103"/>
        <p:cNvGrpSpPr/>
        <p:nvPr/>
      </p:nvGrpSpPr>
      <p:grpSpPr>
        <a:xfrm>
          <a:off x="0" y="0"/>
          <a:ext cx="0" cy="0"/>
          <a:chOff x="0" y="0"/>
          <a:chExt cx="0" cy="0"/>
        </a:xfrm>
      </p:grpSpPr>
      <p:sp>
        <p:nvSpPr>
          <p:cNvPr id="104" name="Google Shape;104;p28"/>
          <p:cNvSpPr/>
          <p:nvPr>
            <p:ph type="title"/>
          </p:nvPr>
        </p:nvSpPr>
        <p:spPr>
          <a:xfrm>
            <a:off x="1295400" y="2879241"/>
            <a:ext cx="9601200" cy="1477287"/>
          </a:xfrm>
          <a:prstGeom prst="rect">
            <a:avLst/>
          </a:prstGeom>
          <a:noFill/>
          <a:ln>
            <a:noFill/>
          </a:ln>
        </p:spPr>
        <p:txBody>
          <a:bodyPr spcFirstLastPara="1" wrap="square" lIns="91425" tIns="45700" rIns="91425" bIns="45700" anchor="ctr" anchorCtr="0">
            <a:spAutoFit/>
          </a:bodyPr>
          <a:lstStyle/>
          <a:p>
            <a:pPr marL="0" marR="0" lvl="0" indent="0" algn="ctr" rtl="0">
              <a:lnSpc>
                <a:spcPct val="100000"/>
              </a:lnSpc>
              <a:spcBef>
                <a:spcPts val="0"/>
              </a:spcBef>
              <a:spcAft>
                <a:spcPts val="0"/>
              </a:spcAft>
              <a:buClr>
                <a:srgbClr val="000000"/>
              </a:buClr>
              <a:buSzPts val="4500"/>
              <a:buFont typeface="Arial"/>
              <a:buNone/>
            </a:pPr>
            <a:r>
              <a:rPr lang="en-US" sz="4500" b="1" i="0" u="none" strike="noStrike" cap="none" dirty="0">
                <a:solidFill>
                  <a:srgbClr val="15264B"/>
                </a:solidFill>
                <a:latin typeface="Atkinson Hyperlegible Next"/>
                <a:ea typeface="Arial"/>
                <a:cs typeface="Arial"/>
                <a:sym typeface="Arial"/>
              </a:rPr>
              <a:t>Fourier Transforms &amp; FFT</a:t>
            </a:r>
          </a:p>
          <a:p>
            <a:pPr marL="0" marR="0" lvl="0" indent="0" algn="ctr" rtl="0">
              <a:lnSpc>
                <a:spcPct val="100000"/>
              </a:lnSpc>
              <a:spcBef>
                <a:spcPts val="0"/>
              </a:spcBef>
              <a:spcAft>
                <a:spcPts val="0"/>
              </a:spcAft>
              <a:buClr>
                <a:srgbClr val="000000"/>
              </a:buClr>
              <a:buSzPts val="4500"/>
              <a:buFont typeface="Arial"/>
              <a:buNone/>
            </a:pPr>
            <a:r>
              <a:rPr i="0" lang="en-US" sz="4500" b="1" dirty="0">
                <a:solidFill>
                  <a:srgbClr val="15264B"/>
                </a:solidFill>
              </a:rPr>
              <a:t>Background</a:t>
            </a:r>
            <a:endParaRPr sz="1800" b="0" i="0" u="none" strike="noStrike" cap="none" dirty="0">
              <a:solidFill>
                <a:srgbClr val="15264B"/>
              </a:solidFill>
              <a:latin typeface="Atkinson Hyperlegible Next"/>
              <a:ea typeface="Arial"/>
              <a:cs typeface="Arial"/>
              <a:sym typeface="Arial"/>
            </a:endParaRPr>
          </a:p>
        </p:txBody>
      </p:sp>
      <p:grpSp>
        <p:nvGrpSpPr>
          <p:cNvPr id="105" name="Google Shape;105;p28"/>
          <p:cNvGrpSpPr/>
          <p:nvPr/>
        </p:nvGrpSpPr>
        <p:grpSpPr>
          <a:xfrm>
            <a:off x="3943790" y="2676939"/>
            <a:ext cx="3861740" cy="322845"/>
            <a:chOff x="3943790" y="2676939"/>
            <a:chExt cx="3861740" cy="322845"/>
          </a:xfrm>
        </p:grpSpPr>
        <p:cxnSp>
          <p:nvCxnSpPr>
            <p:cNvPr id="106" name="Google Shape;106;p28"/>
            <p:cNvCxnSpPr/>
            <p:nvPr/>
          </p:nvCxnSpPr>
          <p:spPr>
            <a:xfrm>
              <a:off x="4426226" y="2676939"/>
              <a:ext cx="3379304" cy="0"/>
            </a:xfrm>
            <a:prstGeom prst="straightConnector1">
              <a:avLst/>
            </a:prstGeom>
            <a:noFill/>
            <a:ln w="19050" cap="flat" cmpd="sng">
              <a:solidFill>
                <a:schemeClr val="lt1"/>
              </a:solidFill>
              <a:prstDash val="solid"/>
              <a:round/>
              <a:headEnd type="none" w="sm" len="sm"/>
              <a:tailEnd type="none" w="sm" len="sm"/>
            </a:ln>
          </p:spPr>
        </p:cxnSp>
        <p:cxnSp>
          <p:nvCxnSpPr>
            <p:cNvPr id="107" name="Google Shape;107;p28"/>
            <p:cNvCxnSpPr/>
            <p:nvPr/>
          </p:nvCxnSpPr>
          <p:spPr>
            <a:xfrm rot="10800000" flipH="1">
              <a:off x="3943790" y="2676939"/>
              <a:ext cx="482436" cy="322845"/>
            </a:xfrm>
            <a:prstGeom prst="straightConnector1">
              <a:avLst/>
            </a:prstGeom>
            <a:noFill/>
            <a:ln w="19050" cap="flat" cmpd="sng">
              <a:solidFill>
                <a:schemeClr val="lt1"/>
              </a:solidFill>
              <a:prstDash val="solid"/>
              <a:round/>
              <a:headEnd type="none" w="sm" len="sm"/>
              <a:tailEnd type="none" w="sm" len="sm"/>
            </a:ln>
          </p:spPr>
        </p:cxnSp>
      </p:grpSp>
      <p:pic>
        <p:nvPicPr>
          <p:cNvPr id="108" name="Google Shape;108;p28">
            <a:extLst>
              <a:ext uri="{C183D7F6-B498-43B3-948B-1728B52AA6E4}">
                <adec:decorative xmlns:adec="http://schemas.microsoft.com/office/drawing/2017/decorative" val="1"/>
              </a:ext>
            </a:extLst>
          </p:cNvPr>
          <p:cNvPicPr preferRelativeResize="0"/>
          <p:nvPr/>
        </p:nvPicPr>
        <p:blipFill rotWithShape="1">
          <a:blip r:embed="rId4">
            <a:alphaModFix/>
          </a:blip>
          <a:srcRect/>
          <a:stretch/>
        </p:blipFill>
        <p:spPr>
          <a:xfrm>
            <a:off x="11557509" y="233819"/>
            <a:ext cx="271308" cy="389811"/>
          </a:xfrm>
          <a:prstGeom prst="rect">
            <a:avLst/>
          </a:prstGeom>
          <a:noFill/>
          <a:ln>
            <a:noFill/>
          </a:ln>
        </p:spPr>
      </p:pic>
      <p:sp>
        <p:nvSpPr>
          <p:cNvPr id="109" name="Google Shape;109;p28"/>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10" name="Google Shape;110;p28"/>
          <p:cNvSpPr txBox="1"/>
          <p:nvPr/>
        </p:nvSpPr>
        <p:spPr>
          <a:xfrm>
            <a:off x="376807" y="6524381"/>
            <a:ext cx="7991400" cy="230700"/>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a:t>
            </a:r>
            <a:endParaRPr dirty="0"/>
          </a:p>
        </p:txBody>
      </p:sp>
      <p:grpSp>
        <p:nvGrpSpPr>
          <p:cNvPr id="111" name="Google Shape;111;p28"/>
          <p:cNvGrpSpPr/>
          <p:nvPr/>
        </p:nvGrpSpPr>
        <p:grpSpPr>
          <a:xfrm>
            <a:off x="4066674" y="6601537"/>
            <a:ext cx="5233412" cy="70446"/>
            <a:chOff x="4033424" y="6601537"/>
            <a:chExt cx="5233412" cy="70446"/>
          </a:xfrm>
        </p:grpSpPr>
        <p:cxnSp>
          <p:nvCxnSpPr>
            <p:cNvPr id="112" name="Google Shape;112;p28"/>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13" name="Google Shape;113;p28"/>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EE42763B-E2CB-1BF7-BF31-222732464BCD}"/>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84E8FD42-5E11-5159-08B3-9A651CE2B45F}"/>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11C1A7EC-B5A8-8C09-E8F7-8142C393EE07}"/>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Fourier Transforms</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9A3A4677-8A66-591A-396B-FD856A457A17}"/>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FCB4B7A9-38EB-C716-D51D-44BC54C0DEA0}"/>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AAED241C-E340-F709-6E44-FE09CA71ED97}"/>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9F603EE4-92AA-B2B8-7860-72DE52E6A4B5}"/>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25C058FB-01BF-961F-B92E-5F9A9227DA03}"/>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18A2CE47-359F-6F22-0389-A98A6D59B7DB}"/>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4" name="Online Media 3" title="But what is the Fourier Transform?  A visual introduction." descr="YouTube video: But what is the Fourier Transform?  A visual introduction. (3Blue1Brown)">
            <a:hlinkClick r:id="" action="ppaction://media"/>
            <a:extLst>
              <a:ext uri="{FF2B5EF4-FFF2-40B4-BE49-F238E27FC236}">
                <a16:creationId xmlns:a16="http://schemas.microsoft.com/office/drawing/2014/main" id="{192F0912-D226-7A35-FB2D-C9FC953A3895}"/>
              </a:ext>
            </a:extLst>
          </p:cNvPr>
          <p:cNvPicPr>
            <a:picLocks noRot="1" noChangeAspect="1"/>
          </p:cNvPicPr>
          <p:nvPr>
            <a:videoFile r:link="rId1"/>
          </p:nvPr>
        </p:nvPicPr>
        <p:blipFill>
          <a:blip r:embed="rId5"/>
          <a:stretch>
            <a:fillRect/>
          </a:stretch>
        </p:blipFill>
        <p:spPr>
          <a:xfrm>
            <a:off x="1240790" y="953101"/>
            <a:ext cx="9710420" cy="5486400"/>
          </a:xfrm>
          <a:prstGeom prst="rect">
            <a:avLst/>
          </a:prstGeom>
        </p:spPr>
      </p:pic>
      <p:sp>
        <p:nvSpPr>
          <p:cNvPr id="2" name="TextBox 1">
            <a:extLst>
              <a:ext uri="{FF2B5EF4-FFF2-40B4-BE49-F238E27FC236}">
                <a16:creationId xmlns:a16="http://schemas.microsoft.com/office/drawing/2014/main" id="{2DC780DA-D429-0F83-6F59-0EFE3A19F66F}"/>
              </a:ext>
            </a:extLst>
          </p:cNvPr>
          <p:cNvSpPr txBox="1"/>
          <p:nvPr/>
        </p:nvSpPr>
        <p:spPr>
          <a:xfrm>
            <a:off x="4495800" y="6379854"/>
            <a:ext cx="3200400" cy="261610"/>
          </a:xfrm>
          <a:prstGeom prst="rect">
            <a:avLst/>
          </a:prstGeom>
          <a:noFill/>
        </p:spPr>
        <p:txBody>
          <a:bodyPr wrap="square" rtlCol="0">
            <a:spAutoFit/>
          </a:bodyPr>
          <a:lstStyle/>
          <a:p>
            <a:pPr algn="ctr"/>
            <a:r>
              <a:rPr lang="en-US" sz="1050" dirty="0">
                <a:hlinkClick r:id="rId6"/>
              </a:rPr>
              <a:t>https://www.youtube.com/watch?v=spUNpyF58BY</a:t>
            </a:r>
            <a:r>
              <a:rPr lang="en-US" sz="1050" dirty="0"/>
              <a:t> </a:t>
            </a:r>
          </a:p>
        </p:txBody>
      </p:sp>
    </p:spTree>
    <p:extLst>
      <p:ext uri="{BB962C8B-B14F-4D97-AF65-F5344CB8AC3E}">
        <p14:creationId xmlns:p14="http://schemas.microsoft.com/office/powerpoint/2010/main" val="185340649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mediacall" presetSubtype="0" fill="hold" nodeType="clickEffect">
                                  <p:stCondLst>
                                    <p:cond delay="0"/>
                                  </p:stCondLst>
                                  <p:childTnLst>
                                    <p:cmd type="call" cmd="playFrom(0.0)">
                                      <p:cBhvr>
                                        <p:cTn id="6" dur="1" fill="hold"/>
                                        <p:tgtEl>
                                          <p:spTgt spid="4"/>
                                        </p:tgtEl>
                                      </p:cBhvr>
                                    </p:cmd>
                                  </p:childTnLst>
                                </p:cTn>
                              </p:par>
                            </p:childTnLst>
                          </p:cTn>
                        </p:par>
                      </p:childTnLst>
                    </p:cTn>
                  </p:par>
                </p:childTnLst>
              </p:cTn>
              <p:prevCondLst>
                <p:cond evt="onPrev" delay="0">
                  <p:tgtEl>
                    <p:sldTgt/>
                  </p:tgtEl>
                </p:cond>
              </p:prevCondLst>
              <p:nextCondLst>
                <p:cond evt="onNext" delay="0">
                  <p:tgtEl>
                    <p:sldTgt/>
                  </p:tgtEl>
                </p:cond>
              </p:nextCondLst>
            </p:seq>
            <p:video>
              <p:cMediaNode vol="80000">
                <p:cTn id="7" fill="hold" display="0">
                  <p:stCondLst>
                    <p:cond delay="indefinite"/>
                  </p:stCondLst>
                </p:cTn>
                <p:tgtEl>
                  <p:spTgt spid="4"/>
                </p:tgtEl>
              </p:cMediaNode>
            </p:video>
            <p:seq concurrent="1" nextAc="seek">
              <p:cTn id="8" restart="whenNotActive" fill="hold" evtFilter="cancelBubble" nodeType="interactiveSeq">
                <p:stCondLst>
                  <p:cond evt="onClick" delay="0">
                    <p:tgtEl>
                      <p:spTgt spid="4"/>
                    </p:tgtEl>
                  </p:cond>
                </p:stCondLst>
                <p:endSync evt="end" delay="0">
                  <p:rtn val="all"/>
                </p:endSync>
                <p:childTnLst>
                  <p:par>
                    <p:cTn id="9" fill="hold">
                      <p:stCondLst>
                        <p:cond delay="0"/>
                      </p:stCondLst>
                      <p:childTnLst>
                        <p:par>
                          <p:cTn id="10" fill="hold">
                            <p:stCondLst>
                              <p:cond delay="0"/>
                            </p:stCondLst>
                            <p:childTnLst>
                              <p:par>
                                <p:cTn id="11" presetID="2" presetClass="mediacall" presetSubtype="0" fill="hold" nodeType="clickEffect">
                                  <p:stCondLst>
                                    <p:cond delay="0"/>
                                  </p:stCondLst>
                                  <p:childTnLst>
                                    <p:cmd type="call" cmd="togglePause">
                                      <p:cBhvr>
                                        <p:cTn id="12" dur="1" fill="hold"/>
                                        <p:tgtEl>
                                          <p:spTgt spid="4"/>
                                        </p:tgtEl>
                                      </p:cBhvr>
                                    </p:cmd>
                                  </p:childTnLst>
                                </p:cTn>
                              </p:par>
                            </p:childTnLst>
                          </p:cTn>
                        </p:par>
                      </p:childTnLst>
                    </p:cTn>
                  </p:par>
                </p:childTnLst>
              </p:cTn>
              <p:nextCondLst>
                <p:cond evt="onClick" delay="0">
                  <p:tgtEl>
                    <p:spTgt spid="4"/>
                  </p:tgtEl>
                </p:cond>
              </p:nextCondLst>
            </p:seq>
          </p:childTnLst>
        </p:cTn>
      </p:par>
    </p:tn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EE42763B-E2CB-1BF7-BF31-222732464BCD}"/>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84E8FD42-5E11-5159-08B3-9A651CE2B45F}"/>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11C1A7EC-B5A8-8C09-E8F7-8142C393EE07}"/>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FFT</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9A3A4677-8A66-591A-396B-FD856A457A17}"/>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FCB4B7A9-38EB-C716-D51D-44BC54C0DEA0}"/>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AAED241C-E340-F709-6E44-FE09CA71ED97}"/>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9F603EE4-92AA-B2B8-7860-72DE52E6A4B5}"/>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25C058FB-01BF-961F-B92E-5F9A9227DA03}"/>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18A2CE47-359F-6F22-0389-A98A6D59B7DB}"/>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2" name="Online Media 1" title="The Fast Fourier Transform (FFT): Most Ingenious Algorithm Ever?" descr="YouTube video: The Fast Fourier Transform (FFT): Most Ingenious Algorithm Ever? (Reducible)">
            <a:hlinkClick r:id="" action="ppaction://media"/>
            <a:extLst>
              <a:ext uri="{FF2B5EF4-FFF2-40B4-BE49-F238E27FC236}">
                <a16:creationId xmlns:a16="http://schemas.microsoft.com/office/drawing/2014/main" id="{1266BBF1-2733-ED9E-F089-BF59196593FE}"/>
              </a:ext>
            </a:extLst>
          </p:cNvPr>
          <p:cNvPicPr>
            <a:picLocks noRot="1" noChangeAspect="1"/>
          </p:cNvPicPr>
          <p:nvPr>
            <a:videoFile r:link="rId1"/>
          </p:nvPr>
        </p:nvPicPr>
        <p:blipFill>
          <a:blip r:embed="rId5"/>
          <a:stretch>
            <a:fillRect/>
          </a:stretch>
        </p:blipFill>
        <p:spPr>
          <a:xfrm>
            <a:off x="1240790" y="950660"/>
            <a:ext cx="9710420" cy="5486400"/>
          </a:xfrm>
          <a:prstGeom prst="rect">
            <a:avLst/>
          </a:prstGeom>
        </p:spPr>
      </p:pic>
      <p:sp>
        <p:nvSpPr>
          <p:cNvPr id="3" name="TextBox 2">
            <a:extLst>
              <a:ext uri="{FF2B5EF4-FFF2-40B4-BE49-F238E27FC236}">
                <a16:creationId xmlns:a16="http://schemas.microsoft.com/office/drawing/2014/main" id="{77AC954C-475A-2D9E-75DC-A335B4C4696C}"/>
              </a:ext>
            </a:extLst>
          </p:cNvPr>
          <p:cNvSpPr txBox="1"/>
          <p:nvPr/>
        </p:nvSpPr>
        <p:spPr>
          <a:xfrm>
            <a:off x="4495800" y="6379854"/>
            <a:ext cx="3200400" cy="261610"/>
          </a:xfrm>
          <a:prstGeom prst="rect">
            <a:avLst/>
          </a:prstGeom>
          <a:noFill/>
        </p:spPr>
        <p:txBody>
          <a:bodyPr wrap="square" rtlCol="0">
            <a:spAutoFit/>
          </a:bodyPr>
          <a:lstStyle/>
          <a:p>
            <a:pPr algn="ctr"/>
            <a:r>
              <a:rPr lang="en-US" sz="1050" dirty="0">
                <a:hlinkClick r:id="rId6"/>
              </a:rPr>
              <a:t>https://www.youtube.com/watch?v=h7apO7q16V0</a:t>
            </a:r>
            <a:endParaRPr lang="en-US" sz="1050" dirty="0"/>
          </a:p>
        </p:txBody>
      </p:sp>
    </p:spTree>
    <p:extLst>
      <p:ext uri="{BB962C8B-B14F-4D97-AF65-F5344CB8AC3E}">
        <p14:creationId xmlns:p14="http://schemas.microsoft.com/office/powerpoint/2010/main" val="231040429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mediacall" presetSubtype="0" fill="hold" nodeType="clickEffect">
                                  <p:stCondLst>
                                    <p:cond delay="0"/>
                                  </p:stCondLst>
                                  <p:childTnLst>
                                    <p:cmd type="call" cmd="playFrom(0.0)">
                                      <p:cBhvr>
                                        <p:cTn id="6" dur="1" fill="hold"/>
                                        <p:tgtEl>
                                          <p:spTgt spid="2"/>
                                        </p:tgtEl>
                                      </p:cBhvr>
                                    </p:cmd>
                                  </p:childTnLst>
                                </p:cTn>
                              </p:par>
                            </p:childTnLst>
                          </p:cTn>
                        </p:par>
                      </p:childTnLst>
                    </p:cTn>
                  </p:par>
                </p:childTnLst>
              </p:cTn>
              <p:prevCondLst>
                <p:cond evt="onPrev" delay="0">
                  <p:tgtEl>
                    <p:sldTgt/>
                  </p:tgtEl>
                </p:cond>
              </p:prevCondLst>
              <p:nextCondLst>
                <p:cond evt="onNext" delay="0">
                  <p:tgtEl>
                    <p:sldTgt/>
                  </p:tgtEl>
                </p:cond>
              </p:nextCondLst>
            </p:seq>
            <p:video>
              <p:cMediaNode vol="80000">
                <p:cTn id="7" fill="hold" display="0">
                  <p:stCondLst>
                    <p:cond delay="indefinite"/>
                  </p:stCondLst>
                </p:cTn>
                <p:tgtEl>
                  <p:spTgt spid="2"/>
                </p:tgtEl>
              </p:cMediaNode>
            </p:video>
            <p:seq concurrent="1" nextAc="seek">
              <p:cTn id="8" restart="whenNotActive" fill="hold" evtFilter="cancelBubble" nodeType="interactiveSeq">
                <p:stCondLst>
                  <p:cond evt="onClick" delay="0">
                    <p:tgtEl>
                      <p:spTgt spid="2"/>
                    </p:tgtEl>
                  </p:cond>
                </p:stCondLst>
                <p:endSync evt="end" delay="0">
                  <p:rtn val="all"/>
                </p:endSync>
                <p:childTnLst>
                  <p:par>
                    <p:cTn id="9" fill="hold">
                      <p:stCondLst>
                        <p:cond delay="0"/>
                      </p:stCondLst>
                      <p:childTnLst>
                        <p:par>
                          <p:cTn id="10" fill="hold">
                            <p:stCondLst>
                              <p:cond delay="0"/>
                            </p:stCondLst>
                            <p:childTnLst>
                              <p:par>
                                <p:cTn id="11" presetID="2" presetClass="mediacall" presetSubtype="0" fill="hold" nodeType="clickEffect">
                                  <p:stCondLst>
                                    <p:cond delay="0"/>
                                  </p:stCondLst>
                                  <p:childTnLst>
                                    <p:cmd type="call" cmd="togglePause">
                                      <p:cBhvr>
                                        <p:cTn id="12" dur="1" fill="hold"/>
                                        <p:tgtEl>
                                          <p:spTgt spid="2"/>
                                        </p:tgtEl>
                                      </p:cBhvr>
                                    </p:cmd>
                                  </p:childTnLst>
                                </p:cTn>
                              </p:par>
                            </p:childTnLst>
                          </p:cTn>
                        </p:par>
                      </p:childTnLst>
                    </p:cTn>
                  </p:par>
                </p:childTnLst>
              </p:cTn>
              <p:nextCondLst>
                <p:cond evt="onClick" delay="0">
                  <p:tgtEl>
                    <p:spTgt spid="2"/>
                  </p:tgtEl>
                </p:cond>
              </p:nextCondLst>
            </p:seq>
          </p:childTnLst>
        </p:cTn>
      </p:par>
    </p:tnLst>
  </p:timing>
</p:sld>
</file>

<file path=ppt/slides/slide7.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103">
          <a:extLst>
            <a:ext uri="{FF2B5EF4-FFF2-40B4-BE49-F238E27FC236}">
              <a16:creationId xmlns:a16="http://schemas.microsoft.com/office/drawing/2014/main" id="{CF9460F4-D27C-43BD-B6BF-D24B65D7D6A2}"/>
            </a:ext>
          </a:extLst>
        </p:cNvPr>
        <p:cNvGrpSpPr/>
        <p:nvPr/>
      </p:nvGrpSpPr>
      <p:grpSpPr>
        <a:xfrm>
          <a:off x="0" y="0"/>
          <a:ext cx="0" cy="0"/>
          <a:chOff x="0" y="0"/>
          <a:chExt cx="0" cy="0"/>
        </a:xfrm>
      </p:grpSpPr>
      <p:sp>
        <p:nvSpPr>
          <p:cNvPr id="104" name="Google Shape;104;p28">
            <a:extLst>
              <a:ext uri="{FF2B5EF4-FFF2-40B4-BE49-F238E27FC236}">
                <a16:creationId xmlns:a16="http://schemas.microsoft.com/office/drawing/2014/main" id="{116C1B29-AB65-363F-A940-54B8C6D5C162}"/>
              </a:ext>
            </a:extLst>
          </p:cNvPr>
          <p:cNvSpPr/>
          <p:nvPr>
            <p:ph type="title"/>
          </p:nvPr>
        </p:nvSpPr>
        <p:spPr>
          <a:xfrm>
            <a:off x="1295400" y="2879241"/>
            <a:ext cx="9601200" cy="1477287"/>
          </a:xfrm>
          <a:prstGeom prst="rect">
            <a:avLst/>
          </a:prstGeom>
          <a:noFill/>
          <a:ln>
            <a:noFill/>
          </a:ln>
        </p:spPr>
        <p:txBody>
          <a:bodyPr spcFirstLastPara="1" wrap="square" lIns="91425" tIns="45700" rIns="91425" bIns="45700" anchor="ctr" anchorCtr="0">
            <a:spAutoFit/>
          </a:bodyPr>
          <a:lstStyle/>
          <a:p>
            <a:pPr marL="0" marR="0" lvl="0" indent="0" algn="ctr" rtl="0">
              <a:lnSpc>
                <a:spcPct val="100000"/>
              </a:lnSpc>
              <a:spcBef>
                <a:spcPts val="0"/>
              </a:spcBef>
              <a:spcAft>
                <a:spcPts val="0"/>
              </a:spcAft>
              <a:buClr>
                <a:srgbClr val="000000"/>
              </a:buClr>
              <a:buSzPts val="4500"/>
              <a:buFont typeface="Arial"/>
              <a:buNone/>
            </a:pPr>
            <a:r>
              <a:rPr lang="en-US" sz="4500" b="1" i="0" u="none" strike="noStrike" cap="none" dirty="0">
                <a:solidFill>
                  <a:srgbClr val="15264B"/>
                </a:solidFill>
                <a:latin typeface="Atkinson Hyperlegible Next"/>
                <a:ea typeface="Arial"/>
                <a:cs typeface="Arial"/>
                <a:sym typeface="Arial"/>
              </a:rPr>
              <a:t>Fourier Transforms &amp; FFT</a:t>
            </a:r>
          </a:p>
          <a:p>
            <a:pPr marL="0" marR="0" lvl="0" indent="0" algn="ctr" rtl="0">
              <a:lnSpc>
                <a:spcPct val="100000"/>
              </a:lnSpc>
              <a:spcBef>
                <a:spcPts val="0"/>
              </a:spcBef>
              <a:spcAft>
                <a:spcPts val="0"/>
              </a:spcAft>
              <a:buClr>
                <a:srgbClr val="000000"/>
              </a:buClr>
              <a:buSzPts val="4500"/>
              <a:buFont typeface="Arial"/>
              <a:buNone/>
            </a:pPr>
            <a:r>
              <a:rPr i="0" lang="en-US" sz="4500" b="1" dirty="0">
                <a:solidFill>
                  <a:srgbClr val="15264B"/>
                </a:solidFill>
              </a:rPr>
              <a:t>Code</a:t>
            </a:r>
            <a:endParaRPr sz="1800" b="0" i="0" u="none" strike="noStrike" cap="none" dirty="0">
              <a:solidFill>
                <a:srgbClr val="15264B"/>
              </a:solidFill>
              <a:latin typeface="Atkinson Hyperlegible Next"/>
              <a:ea typeface="Arial"/>
              <a:cs typeface="Arial"/>
              <a:sym typeface="Arial"/>
            </a:endParaRPr>
          </a:p>
        </p:txBody>
      </p:sp>
      <p:grpSp>
        <p:nvGrpSpPr>
          <p:cNvPr id="105" name="Google Shape;105;p28">
            <a:extLst>
              <a:ext uri="{FF2B5EF4-FFF2-40B4-BE49-F238E27FC236}">
                <a16:creationId xmlns:a16="http://schemas.microsoft.com/office/drawing/2014/main" id="{6A025648-97C5-FC37-44BC-46109A437640}"/>
              </a:ext>
            </a:extLst>
          </p:cNvPr>
          <p:cNvGrpSpPr/>
          <p:nvPr/>
        </p:nvGrpSpPr>
        <p:grpSpPr>
          <a:xfrm>
            <a:off x="3943790" y="2676939"/>
            <a:ext cx="3861740" cy="322845"/>
            <a:chOff x="3943790" y="2676939"/>
            <a:chExt cx="3861740" cy="322845"/>
          </a:xfrm>
        </p:grpSpPr>
        <p:cxnSp>
          <p:nvCxnSpPr>
            <p:cNvPr id="106" name="Google Shape;106;p28">
              <a:extLst>
                <a:ext uri="{FF2B5EF4-FFF2-40B4-BE49-F238E27FC236}">
                  <a16:creationId xmlns:a16="http://schemas.microsoft.com/office/drawing/2014/main" id="{FCB2293F-513D-1ED6-B527-E0D2D626C620}"/>
                </a:ext>
              </a:extLst>
            </p:cNvPr>
            <p:cNvCxnSpPr/>
            <p:nvPr/>
          </p:nvCxnSpPr>
          <p:spPr>
            <a:xfrm>
              <a:off x="4426226" y="2676939"/>
              <a:ext cx="3379304" cy="0"/>
            </a:xfrm>
            <a:prstGeom prst="straightConnector1">
              <a:avLst/>
            </a:prstGeom>
            <a:noFill/>
            <a:ln w="19050" cap="flat" cmpd="sng">
              <a:solidFill>
                <a:schemeClr val="lt1"/>
              </a:solidFill>
              <a:prstDash val="solid"/>
              <a:round/>
              <a:headEnd type="none" w="sm" len="sm"/>
              <a:tailEnd type="none" w="sm" len="sm"/>
            </a:ln>
          </p:spPr>
        </p:cxnSp>
        <p:cxnSp>
          <p:nvCxnSpPr>
            <p:cNvPr id="107" name="Google Shape;107;p28">
              <a:extLst>
                <a:ext uri="{FF2B5EF4-FFF2-40B4-BE49-F238E27FC236}">
                  <a16:creationId xmlns:a16="http://schemas.microsoft.com/office/drawing/2014/main" id="{FDC14660-92E6-6E0D-B9BE-E1A56A49DC47}"/>
                </a:ext>
              </a:extLst>
            </p:cNvPr>
            <p:cNvCxnSpPr/>
            <p:nvPr/>
          </p:nvCxnSpPr>
          <p:spPr>
            <a:xfrm rot="10800000" flipH="1">
              <a:off x="3943790" y="2676939"/>
              <a:ext cx="482436" cy="322845"/>
            </a:xfrm>
            <a:prstGeom prst="straightConnector1">
              <a:avLst/>
            </a:prstGeom>
            <a:noFill/>
            <a:ln w="19050" cap="flat" cmpd="sng">
              <a:solidFill>
                <a:schemeClr val="lt1"/>
              </a:solidFill>
              <a:prstDash val="solid"/>
              <a:round/>
              <a:headEnd type="none" w="sm" len="sm"/>
              <a:tailEnd type="none" w="sm" len="sm"/>
            </a:ln>
          </p:spPr>
        </p:cxnSp>
      </p:grpSp>
      <p:pic>
        <p:nvPicPr>
          <p:cNvPr id="108" name="Google Shape;108;p28">
            <a:extLst>
              <a:ext uri="{C183D7F6-B498-43B3-948B-1728B52AA6E4}">
                <adec:decorative xmlns:adec="http://schemas.microsoft.com/office/drawing/2017/decorative" val="1"/>
              </a:ext>
              <a:ext uri="{FF2B5EF4-FFF2-40B4-BE49-F238E27FC236}">
                <a16:creationId xmlns:a16="http://schemas.microsoft.com/office/drawing/2014/main" id="{DE6BC663-3A69-F081-6202-70254534BE17}"/>
              </a:ext>
            </a:extLst>
          </p:cNvPr>
          <p:cNvPicPr preferRelativeResize="0"/>
          <p:nvPr/>
        </p:nvPicPr>
        <p:blipFill rotWithShape="1">
          <a:blip r:embed="rId4">
            <a:alphaModFix/>
          </a:blip>
          <a:srcRect/>
          <a:stretch/>
        </p:blipFill>
        <p:spPr>
          <a:xfrm>
            <a:off x="11557509" y="233819"/>
            <a:ext cx="271308" cy="389811"/>
          </a:xfrm>
          <a:prstGeom prst="rect">
            <a:avLst/>
          </a:prstGeom>
          <a:noFill/>
          <a:ln>
            <a:noFill/>
          </a:ln>
        </p:spPr>
      </p:pic>
      <p:sp>
        <p:nvSpPr>
          <p:cNvPr id="109" name="Google Shape;109;p28">
            <a:extLst>
              <a:ext uri="{FF2B5EF4-FFF2-40B4-BE49-F238E27FC236}">
                <a16:creationId xmlns:a16="http://schemas.microsoft.com/office/drawing/2014/main" id="{9F7B5DE6-8E3C-E4B3-F44B-D3917CECF71F}"/>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10" name="Google Shape;110;p28">
            <a:extLst>
              <a:ext uri="{FF2B5EF4-FFF2-40B4-BE49-F238E27FC236}">
                <a16:creationId xmlns:a16="http://schemas.microsoft.com/office/drawing/2014/main" id="{46112376-7AB1-A2F0-9889-11A0CAEC4FEA}"/>
              </a:ext>
            </a:extLst>
          </p:cNvPr>
          <p:cNvSpPr txBox="1"/>
          <p:nvPr/>
        </p:nvSpPr>
        <p:spPr>
          <a:xfrm>
            <a:off x="376807" y="6524381"/>
            <a:ext cx="7991400" cy="230700"/>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a:t>
            </a:r>
            <a:endParaRPr dirty="0"/>
          </a:p>
        </p:txBody>
      </p:sp>
      <p:grpSp>
        <p:nvGrpSpPr>
          <p:cNvPr id="111" name="Google Shape;111;p28">
            <a:extLst>
              <a:ext uri="{FF2B5EF4-FFF2-40B4-BE49-F238E27FC236}">
                <a16:creationId xmlns:a16="http://schemas.microsoft.com/office/drawing/2014/main" id="{19C13250-5B7D-B5A4-75BB-743650F5004F}"/>
              </a:ext>
            </a:extLst>
          </p:cNvPr>
          <p:cNvGrpSpPr/>
          <p:nvPr/>
        </p:nvGrpSpPr>
        <p:grpSpPr>
          <a:xfrm>
            <a:off x="4066674" y="6601537"/>
            <a:ext cx="5233412" cy="70446"/>
            <a:chOff x="4033424" y="6601537"/>
            <a:chExt cx="5233412" cy="70446"/>
          </a:xfrm>
        </p:grpSpPr>
        <p:cxnSp>
          <p:nvCxnSpPr>
            <p:cNvPr id="112" name="Google Shape;112;p28">
              <a:extLst>
                <a:ext uri="{FF2B5EF4-FFF2-40B4-BE49-F238E27FC236}">
                  <a16:creationId xmlns:a16="http://schemas.microsoft.com/office/drawing/2014/main" id="{16180856-B6E3-D359-5A41-2FEDE0186362}"/>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13" name="Google Shape;113;p28">
              <a:extLst>
                <a:ext uri="{FF2B5EF4-FFF2-40B4-BE49-F238E27FC236}">
                  <a16:creationId xmlns:a16="http://schemas.microsoft.com/office/drawing/2014/main" id="{525E4714-6589-78EA-B2B5-9C91B72D270A}"/>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1590904303"/>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D69DAC36-BC62-ED26-4792-66FC2F9B142F}"/>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787BC777-59CD-B642-EABF-5E0A1F647B2B}"/>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lvl="0" indent="0">
              <a:lnSpc>
                <a:spcPct val="100000"/>
              </a:lnSpc>
              <a:spcBef>
                <a:spcPts val="0"/>
              </a:spcBef>
              <a:buSzPts val="2000"/>
              <a:buNone/>
            </a:pPr>
            <a:r>
              <a:rPr lang="en-US" dirty="0">
                <a:solidFill>
                  <a:schemeClr val="tx1"/>
                </a:solidFill>
                <a:latin typeface="Atkinson Hyperlegible Next"/>
                <a:ea typeface="Arial"/>
                <a:cs typeface="Arial"/>
                <a:sym typeface="Arial"/>
              </a:rPr>
              <a:t>You just watched a couple of videos all about what a Fourier transform is, and what the FFT is…</a:t>
            </a:r>
          </a:p>
          <a:p>
            <a:pPr marL="0" lvl="0" indent="0">
              <a:lnSpc>
                <a:spcPct val="100000"/>
              </a:lnSpc>
              <a:spcBef>
                <a:spcPts val="0"/>
              </a:spcBef>
              <a:buSzPts val="2000"/>
              <a:buNone/>
            </a:pPr>
            <a:endParaRPr lang="en-US" dirty="0">
              <a:solidFill>
                <a:schemeClr val="tx1"/>
              </a:solidFill>
              <a:latin typeface="Atkinson Hyperlegible Next"/>
              <a:cs typeface="Arial"/>
              <a:sym typeface="Arial"/>
            </a:endParaRPr>
          </a:p>
          <a:p>
            <a:pPr marL="0" lvl="0" indent="0">
              <a:lnSpc>
                <a:spcPct val="100000"/>
              </a:lnSpc>
              <a:spcBef>
                <a:spcPts val="0"/>
              </a:spcBef>
              <a:buSzPts val="2000"/>
              <a:buNone/>
            </a:pPr>
            <a:r>
              <a:rPr lang="en-US" dirty="0">
                <a:solidFill>
                  <a:schemeClr val="tx1"/>
                </a:solidFill>
                <a:latin typeface="Atkinson Hyperlegible Next"/>
                <a:cs typeface="Arial"/>
                <a:sym typeface="Arial"/>
              </a:rPr>
              <a:t>Time to implement it!</a:t>
            </a:r>
          </a:p>
          <a:p>
            <a:pPr marL="0" lvl="0" indent="0">
              <a:lnSpc>
                <a:spcPct val="100000"/>
              </a:lnSpc>
              <a:spcBef>
                <a:spcPts val="0"/>
              </a:spcBef>
              <a:buSzPts val="2000"/>
              <a:buNone/>
            </a:pPr>
            <a:endParaRPr lang="en-US" dirty="0">
              <a:solidFill>
                <a:schemeClr val="tx1"/>
              </a:solidFill>
              <a:latin typeface="Atkinson Hyperlegible Next"/>
              <a:cs typeface="Arial"/>
              <a:sym typeface="Arial"/>
            </a:endParaRPr>
          </a:p>
          <a:p>
            <a:pPr marL="0" lvl="0" indent="0">
              <a:lnSpc>
                <a:spcPct val="100000"/>
              </a:lnSpc>
              <a:spcBef>
                <a:spcPts val="0"/>
              </a:spcBef>
              <a:buSzPts val="2000"/>
              <a:buNone/>
            </a:pPr>
            <a:r>
              <a:rPr lang="en-US" dirty="0">
                <a:solidFill>
                  <a:schemeClr val="tx1"/>
                </a:solidFill>
                <a:latin typeface="Atkinson Hyperlegible Next"/>
                <a:cs typeface="Arial"/>
                <a:sym typeface="Arial"/>
              </a:rPr>
              <a:t>Just joking, smart people have already implemented the algorithms and optimized it to work with this specific hardware to be as efficient as possible.</a:t>
            </a:r>
          </a:p>
          <a:p>
            <a:pPr marL="0" lvl="0" indent="0">
              <a:lnSpc>
                <a:spcPct val="100000"/>
              </a:lnSpc>
              <a:spcBef>
                <a:spcPts val="0"/>
              </a:spcBef>
              <a:buSzPts val="2000"/>
              <a:buNone/>
            </a:pPr>
            <a:endParaRPr lang="en-US" dirty="0">
              <a:solidFill>
                <a:schemeClr val="tx1"/>
              </a:solidFill>
              <a:latin typeface="Atkinson Hyperlegible Next"/>
              <a:cs typeface="Arial"/>
              <a:sym typeface="Arial"/>
            </a:endParaRPr>
          </a:p>
          <a:p>
            <a:pPr marL="0" lvl="0" indent="0">
              <a:lnSpc>
                <a:spcPct val="100000"/>
              </a:lnSpc>
              <a:spcBef>
                <a:spcPts val="0"/>
              </a:spcBef>
              <a:buSzPts val="2000"/>
              <a:buNone/>
            </a:pPr>
            <a:r>
              <a:rPr lang="en-US" dirty="0">
                <a:solidFill>
                  <a:schemeClr val="tx1"/>
                </a:solidFill>
                <a:latin typeface="Atkinson Hyperlegible Next"/>
                <a:cs typeface="Arial"/>
                <a:sym typeface="Arial"/>
              </a:rPr>
              <a:t>This one was implemented to work in C++ and C.</a:t>
            </a:r>
          </a:p>
        </p:txBody>
      </p:sp>
      <p:sp>
        <p:nvSpPr>
          <p:cNvPr id="119" name="Google Shape;119;p29">
            <a:extLst>
              <a:ext uri="{FF2B5EF4-FFF2-40B4-BE49-F238E27FC236}">
                <a16:creationId xmlns:a16="http://schemas.microsoft.com/office/drawing/2014/main" id="{A4EB0BF0-B27E-1F1E-2C09-BFA2949717E3}"/>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460DE49B-53D7-3285-AD02-28FD9B6C1E45}"/>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FFT Code</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205F33A1-B0A0-E540-B49E-687B4377079F}"/>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D37B5BF9-D07F-CA63-007B-01C048994EA6}"/>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0CE80AFD-7EC7-2029-E504-139A90E8537D}"/>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961960E2-C6E4-83C0-9112-E1ED630C3191}"/>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A8FD223C-A2F3-4418-0ECC-DF4DFE96F1CE}"/>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CD328AA8-8C5F-5B40-C212-60F1EB3B10C0}"/>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47713091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8">
                                            <p:txEl>
                                              <p:pRg st="4" end="4"/>
                                            </p:txEl>
                                          </p:spTgt>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8" grpId="0" uiExpand="1" build="p"/>
    </p:bld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294AB861-F1B4-3501-8981-6DC533D5EF7C}"/>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0EDDD6A1-5546-F26C-8667-40B361B37A22}"/>
              </a:ext>
            </a:extLst>
          </p:cNvPr>
          <p:cNvSpPr txBox="1">
            <a:spLocks noGrp="1"/>
          </p:cNvSpPr>
          <p:nvPr>
            <p:ph type="body" idx="1"/>
          </p:nvPr>
        </p:nvSpPr>
        <p:spPr>
          <a:xfrm>
            <a:off x="376809" y="1334279"/>
            <a:ext cx="5719191" cy="4821102"/>
          </a:xfrm>
          <a:prstGeom prst="rect">
            <a:avLst/>
          </a:prstGeom>
          <a:noFill/>
          <a:ln>
            <a:noFill/>
          </a:ln>
        </p:spPr>
        <p:txBody>
          <a:bodyPr spcFirstLastPara="1" wrap="square" lIns="91425" tIns="45700" rIns="91425" bIns="45700" anchor="ctr" anchorCtr="0">
            <a:noAutofit/>
          </a:bodyPr>
          <a:lstStyle/>
          <a:p>
            <a:pPr marL="114300" indent="0">
              <a:spcBef>
                <a:spcPts val="0"/>
              </a:spcBef>
              <a:buNone/>
            </a:pPr>
            <a:r>
              <a:rPr lang="en-US" sz="1050" dirty="0">
                <a:solidFill>
                  <a:srgbClr val="7F0055"/>
                </a:solidFill>
                <a:latin typeface="Consolas" panose="020B0609020204030204" pitchFamily="49" charset="0"/>
              </a:rPr>
              <a:t>#define</a:t>
            </a:r>
            <a:r>
              <a:rPr lang="en-US" sz="1050" dirty="0">
                <a:solidFill>
                  <a:srgbClr val="000000"/>
                </a:solidFill>
                <a:latin typeface="Consolas" panose="020B0609020204030204" pitchFamily="49" charset="0"/>
              </a:rPr>
              <a:t> RFFT_STAGES     10</a:t>
            </a:r>
          </a:p>
          <a:p>
            <a:pPr marL="114300" indent="0">
              <a:spcBef>
                <a:spcPts val="0"/>
              </a:spcBef>
              <a:buNone/>
            </a:pPr>
            <a:r>
              <a:rPr lang="de-DE" sz="1050" dirty="0">
                <a:solidFill>
                  <a:srgbClr val="7F0055"/>
                </a:solidFill>
                <a:latin typeface="Consolas" panose="020B0609020204030204" pitchFamily="49" charset="0"/>
              </a:rPr>
              <a:t>#define</a:t>
            </a:r>
            <a:r>
              <a:rPr lang="de-DE" sz="1050" dirty="0">
                <a:solidFill>
                  <a:srgbClr val="000000"/>
                </a:solidFill>
                <a:latin typeface="Consolas" panose="020B0609020204030204" pitchFamily="49" charset="0"/>
              </a:rPr>
              <a:t> RFFT_SIZE       (1 &lt;&lt; RFFT_STAGES)           </a:t>
            </a:r>
            <a:r>
              <a:rPr lang="en-US" sz="1050" dirty="0">
                <a:solidFill>
                  <a:srgbClr val="3F7F5F"/>
                </a:solidFill>
                <a:latin typeface="Consolas" panose="020B0609020204030204" pitchFamily="49" charset="0"/>
              </a:rPr>
              <a:t>// 1024</a:t>
            </a:r>
            <a:endParaRPr lang="de-DE" sz="1050" dirty="0">
              <a:solidFill>
                <a:srgbClr val="000000"/>
              </a:solidFill>
              <a:latin typeface="Consolas" panose="020B0609020204030204" pitchFamily="49" charset="0"/>
            </a:endParaRPr>
          </a:p>
          <a:p>
            <a:pPr marL="114300" indent="0">
              <a:spcBef>
                <a:spcPts val="0"/>
              </a:spcBef>
              <a:buNone/>
            </a:pPr>
            <a:endParaRPr lang="en-US" sz="1050" dirty="0">
              <a:latin typeface="Consolas" panose="020B0609020204030204" pitchFamily="49" charset="0"/>
            </a:endParaRPr>
          </a:p>
          <a:p>
            <a:pPr marL="114300" indent="0">
              <a:spcBef>
                <a:spcPts val="0"/>
              </a:spcBef>
              <a:buNone/>
            </a:pPr>
            <a:r>
              <a:rPr lang="en-US" sz="1050" dirty="0">
                <a:solidFill>
                  <a:srgbClr val="7F0055"/>
                </a:solidFill>
                <a:latin typeface="Consolas" panose="020B0609020204030204" pitchFamily="49" charset="0"/>
              </a:rPr>
              <a:t>#pragma</a:t>
            </a:r>
            <a:r>
              <a:rPr lang="en-US" sz="1050" dirty="0">
                <a:solidFill>
                  <a:srgbClr val="000000"/>
                </a:solidFill>
                <a:latin typeface="Consolas" panose="020B0609020204030204" pitchFamily="49" charset="0"/>
              </a:rPr>
              <a:t> DATA_SECTION(</a:t>
            </a:r>
            <a:r>
              <a:rPr lang="en-US" sz="1050" dirty="0" err="1">
                <a:solidFill>
                  <a:srgbClr val="000000"/>
                </a:solidFill>
                <a:latin typeface="Consolas" panose="020B0609020204030204" pitchFamily="49" charset="0"/>
              </a:rPr>
              <a:t>pwrSpec</a:t>
            </a:r>
            <a:r>
              <a:rPr lang="en-US" sz="1050" dirty="0">
                <a:solidFill>
                  <a:srgbClr val="000000"/>
                </a:solidFill>
                <a:latin typeface="Consolas" panose="020B0609020204030204" pitchFamily="49" charset="0"/>
              </a:rPr>
              <a:t>, </a:t>
            </a:r>
            <a:r>
              <a:rPr lang="en-US" sz="1050" dirty="0">
                <a:solidFill>
                  <a:srgbClr val="2A00FF"/>
                </a:solidFill>
                <a:latin typeface="Consolas" panose="020B0609020204030204" pitchFamily="49" charset="0"/>
              </a:rPr>
              <a:t>"FFT_buffer_2"</a:t>
            </a:r>
            <a:r>
              <a:rPr lang="en-US" sz="1050" dirty="0">
                <a:solidFill>
                  <a:srgbClr val="000000"/>
                </a:solidFill>
                <a:latin typeface="Consolas" panose="020B0609020204030204" pitchFamily="49" charset="0"/>
              </a:rPr>
              <a:t>)</a:t>
            </a:r>
          </a:p>
          <a:p>
            <a:pPr marL="114300" indent="0">
              <a:spcBef>
                <a:spcPts val="0"/>
              </a:spcBef>
              <a:buNone/>
            </a:pPr>
            <a:r>
              <a:rPr lang="en-US" sz="1050" dirty="0">
                <a:solidFill>
                  <a:srgbClr val="7F0055"/>
                </a:solidFill>
                <a:latin typeface="Consolas" panose="020B0609020204030204" pitchFamily="49" charset="0"/>
              </a:rPr>
              <a:t>float</a:t>
            </a:r>
            <a:r>
              <a:rPr lang="en-US" sz="1050" dirty="0">
                <a:solidFill>
                  <a:srgbClr val="000000"/>
                </a:solidFill>
                <a:latin typeface="Consolas" panose="020B0609020204030204" pitchFamily="49" charset="0"/>
              </a:rPr>
              <a:t> </a:t>
            </a:r>
            <a:r>
              <a:rPr lang="en-US" sz="1050" dirty="0" err="1">
                <a:solidFill>
                  <a:srgbClr val="000000"/>
                </a:solidFill>
                <a:latin typeface="Consolas" panose="020B0609020204030204" pitchFamily="49" charset="0"/>
              </a:rPr>
              <a:t>pwrSpec</a:t>
            </a:r>
            <a:r>
              <a:rPr lang="en-US" sz="1050" dirty="0">
                <a:solidFill>
                  <a:srgbClr val="000000"/>
                </a:solidFill>
                <a:latin typeface="Consolas" panose="020B0609020204030204" pitchFamily="49" charset="0"/>
              </a:rPr>
              <a:t>[(RFFT_SIZE/2)+1];</a:t>
            </a:r>
          </a:p>
          <a:p>
            <a:pPr marL="114300" indent="0">
              <a:spcBef>
                <a:spcPts val="0"/>
              </a:spcBef>
              <a:buNone/>
            </a:pPr>
            <a:r>
              <a:rPr lang="en-US" sz="1050" dirty="0">
                <a:solidFill>
                  <a:srgbClr val="7F0055"/>
                </a:solidFill>
                <a:latin typeface="Consolas" panose="020B0609020204030204" pitchFamily="49" charset="0"/>
              </a:rPr>
              <a:t>float</a:t>
            </a:r>
            <a:r>
              <a:rPr lang="en-US" sz="1050" dirty="0">
                <a:solidFill>
                  <a:srgbClr val="000000"/>
                </a:solidFill>
                <a:latin typeface="Consolas" panose="020B0609020204030204" pitchFamily="49" charset="0"/>
              </a:rPr>
              <a:t> </a:t>
            </a:r>
            <a:r>
              <a:rPr lang="en-US" sz="1050" dirty="0" err="1">
                <a:solidFill>
                  <a:srgbClr val="000000"/>
                </a:solidFill>
                <a:latin typeface="Consolas" panose="020B0609020204030204" pitchFamily="49" charset="0"/>
              </a:rPr>
              <a:t>maxpwr</a:t>
            </a:r>
            <a:r>
              <a:rPr lang="en-US" sz="1050" dirty="0">
                <a:solidFill>
                  <a:srgbClr val="000000"/>
                </a:solidFill>
                <a:latin typeface="Consolas" panose="020B0609020204030204" pitchFamily="49" charset="0"/>
              </a:rPr>
              <a:t> = 0;</a:t>
            </a:r>
          </a:p>
          <a:p>
            <a:pPr marL="114300" indent="0">
              <a:spcBef>
                <a:spcPts val="0"/>
              </a:spcBef>
              <a:buNone/>
            </a:pPr>
            <a:r>
              <a:rPr lang="en-US" sz="1050" dirty="0">
                <a:solidFill>
                  <a:srgbClr val="005032"/>
                </a:solidFill>
                <a:latin typeface="Consolas" panose="020B0609020204030204" pitchFamily="49" charset="0"/>
              </a:rPr>
              <a:t>int16_t</a:t>
            </a:r>
            <a:r>
              <a:rPr lang="en-US" sz="1050" dirty="0">
                <a:solidFill>
                  <a:srgbClr val="000000"/>
                </a:solidFill>
                <a:latin typeface="Consolas" panose="020B0609020204030204" pitchFamily="49" charset="0"/>
              </a:rPr>
              <a:t> </a:t>
            </a:r>
            <a:r>
              <a:rPr lang="en-US" sz="1050" dirty="0" err="1">
                <a:solidFill>
                  <a:srgbClr val="000000"/>
                </a:solidFill>
                <a:latin typeface="Consolas" panose="020B0609020204030204" pitchFamily="49" charset="0"/>
              </a:rPr>
              <a:t>maxpwrindex</a:t>
            </a:r>
            <a:r>
              <a:rPr lang="en-US" sz="1050" dirty="0">
                <a:solidFill>
                  <a:srgbClr val="000000"/>
                </a:solidFill>
                <a:latin typeface="Consolas" panose="020B0609020204030204" pitchFamily="49" charset="0"/>
              </a:rPr>
              <a:t> = 0;</a:t>
            </a:r>
          </a:p>
          <a:p>
            <a:pPr marL="114300" indent="0">
              <a:spcBef>
                <a:spcPts val="0"/>
              </a:spcBef>
              <a:buNone/>
            </a:pPr>
            <a:endParaRPr lang="en-US" sz="1050" dirty="0">
              <a:latin typeface="Consolas" panose="020B0609020204030204" pitchFamily="49" charset="0"/>
            </a:endParaRPr>
          </a:p>
          <a:p>
            <a:pPr marL="114300" indent="0">
              <a:spcBef>
                <a:spcPts val="0"/>
              </a:spcBef>
              <a:buNone/>
            </a:pPr>
            <a:r>
              <a:rPr lang="en-US" sz="1050" dirty="0">
                <a:solidFill>
                  <a:srgbClr val="7F0055"/>
                </a:solidFill>
                <a:latin typeface="Consolas" panose="020B0609020204030204" pitchFamily="49" charset="0"/>
              </a:rPr>
              <a:t>#pragma</a:t>
            </a:r>
            <a:r>
              <a:rPr lang="en-US" sz="1050" dirty="0">
                <a:solidFill>
                  <a:srgbClr val="000000"/>
                </a:solidFill>
                <a:latin typeface="Consolas" panose="020B0609020204030204" pitchFamily="49" charset="0"/>
              </a:rPr>
              <a:t> DATA_SECTION(</a:t>
            </a:r>
            <a:r>
              <a:rPr lang="en-US" sz="1050" dirty="0" err="1">
                <a:solidFill>
                  <a:srgbClr val="000000"/>
                </a:solidFill>
                <a:latin typeface="Consolas" panose="020B0609020204030204" pitchFamily="49" charset="0"/>
              </a:rPr>
              <a:t>test_output</a:t>
            </a:r>
            <a:r>
              <a:rPr lang="en-US" sz="1050" dirty="0">
                <a:solidFill>
                  <a:srgbClr val="000000"/>
                </a:solidFill>
                <a:latin typeface="Consolas" panose="020B0609020204030204" pitchFamily="49" charset="0"/>
              </a:rPr>
              <a:t>, </a:t>
            </a:r>
            <a:r>
              <a:rPr lang="en-US" sz="1050" dirty="0">
                <a:solidFill>
                  <a:srgbClr val="2A00FF"/>
                </a:solidFill>
                <a:latin typeface="Consolas" panose="020B0609020204030204" pitchFamily="49" charset="0"/>
              </a:rPr>
              <a:t>"FFT_buffer_2"</a:t>
            </a:r>
            <a:r>
              <a:rPr lang="en-US" sz="1050" dirty="0">
                <a:solidFill>
                  <a:srgbClr val="000000"/>
                </a:solidFill>
                <a:latin typeface="Consolas" panose="020B0609020204030204" pitchFamily="49" charset="0"/>
              </a:rPr>
              <a:t>)</a:t>
            </a:r>
          </a:p>
          <a:p>
            <a:pPr marL="114300" indent="0">
              <a:spcBef>
                <a:spcPts val="0"/>
              </a:spcBef>
              <a:buNone/>
            </a:pPr>
            <a:r>
              <a:rPr lang="en-US" sz="1050" dirty="0">
                <a:solidFill>
                  <a:srgbClr val="7F0055"/>
                </a:solidFill>
                <a:latin typeface="Consolas" panose="020B0609020204030204" pitchFamily="49" charset="0"/>
              </a:rPr>
              <a:t>float</a:t>
            </a:r>
            <a:r>
              <a:rPr lang="en-US" sz="1050" dirty="0">
                <a:solidFill>
                  <a:srgbClr val="000000"/>
                </a:solidFill>
                <a:latin typeface="Consolas" panose="020B0609020204030204" pitchFamily="49" charset="0"/>
              </a:rPr>
              <a:t> </a:t>
            </a:r>
            <a:r>
              <a:rPr lang="en-US" sz="1050" dirty="0" err="1">
                <a:solidFill>
                  <a:srgbClr val="000000"/>
                </a:solidFill>
                <a:latin typeface="Consolas" panose="020B0609020204030204" pitchFamily="49" charset="0"/>
              </a:rPr>
              <a:t>test_output</a:t>
            </a:r>
            <a:r>
              <a:rPr lang="en-US" sz="1050" dirty="0">
                <a:solidFill>
                  <a:srgbClr val="000000"/>
                </a:solidFill>
                <a:latin typeface="Consolas" panose="020B0609020204030204" pitchFamily="49" charset="0"/>
              </a:rPr>
              <a:t>[RFFT_SIZE];</a:t>
            </a:r>
          </a:p>
          <a:p>
            <a:pPr marL="114300" indent="0">
              <a:spcBef>
                <a:spcPts val="0"/>
              </a:spcBef>
              <a:buNone/>
            </a:pPr>
            <a:endParaRPr lang="en-US" sz="1050" dirty="0">
              <a:latin typeface="Consolas" panose="020B0609020204030204" pitchFamily="49" charset="0"/>
            </a:endParaRPr>
          </a:p>
          <a:p>
            <a:pPr marL="114300" indent="0">
              <a:spcBef>
                <a:spcPts val="0"/>
              </a:spcBef>
              <a:buNone/>
            </a:pPr>
            <a:r>
              <a:rPr lang="en-US" sz="1050" dirty="0">
                <a:solidFill>
                  <a:srgbClr val="7F0055"/>
                </a:solidFill>
                <a:latin typeface="Consolas" panose="020B0609020204030204" pitchFamily="49" charset="0"/>
              </a:rPr>
              <a:t>#pragma</a:t>
            </a:r>
            <a:r>
              <a:rPr lang="en-US" sz="1050" dirty="0">
                <a:solidFill>
                  <a:srgbClr val="000000"/>
                </a:solidFill>
                <a:latin typeface="Consolas" panose="020B0609020204030204" pitchFamily="49" charset="0"/>
              </a:rPr>
              <a:t> DATA_SECTION(</a:t>
            </a:r>
            <a:r>
              <a:rPr lang="en-US" sz="1050" dirty="0" err="1">
                <a:solidFill>
                  <a:srgbClr val="000000"/>
                </a:solidFill>
                <a:latin typeface="Consolas" panose="020B0609020204030204" pitchFamily="49" charset="0"/>
              </a:rPr>
              <a:t>fft_input</a:t>
            </a:r>
            <a:r>
              <a:rPr lang="en-US" sz="1050" dirty="0">
                <a:solidFill>
                  <a:srgbClr val="000000"/>
                </a:solidFill>
                <a:latin typeface="Consolas" panose="020B0609020204030204" pitchFamily="49" charset="0"/>
              </a:rPr>
              <a:t>, </a:t>
            </a:r>
            <a:r>
              <a:rPr lang="en-US" sz="1050" dirty="0">
                <a:solidFill>
                  <a:srgbClr val="2A00FF"/>
                </a:solidFill>
                <a:latin typeface="Consolas" panose="020B0609020204030204" pitchFamily="49" charset="0"/>
              </a:rPr>
              <a:t>"FFT_buffer_1"</a:t>
            </a:r>
            <a:r>
              <a:rPr lang="en-US" sz="1050" dirty="0">
                <a:solidFill>
                  <a:srgbClr val="000000"/>
                </a:solidFill>
                <a:latin typeface="Consolas" panose="020B0609020204030204" pitchFamily="49" charset="0"/>
              </a:rPr>
              <a:t>)</a:t>
            </a:r>
          </a:p>
          <a:p>
            <a:pPr marL="114300" indent="0">
              <a:spcBef>
                <a:spcPts val="0"/>
              </a:spcBef>
              <a:buNone/>
            </a:pPr>
            <a:r>
              <a:rPr lang="en-US" sz="1050" dirty="0">
                <a:solidFill>
                  <a:srgbClr val="7F0055"/>
                </a:solidFill>
                <a:latin typeface="Consolas" panose="020B0609020204030204" pitchFamily="49" charset="0"/>
              </a:rPr>
              <a:t>float</a:t>
            </a:r>
            <a:r>
              <a:rPr lang="en-US" sz="1050" dirty="0">
                <a:solidFill>
                  <a:srgbClr val="000000"/>
                </a:solidFill>
                <a:latin typeface="Consolas" panose="020B0609020204030204" pitchFamily="49" charset="0"/>
              </a:rPr>
              <a:t> </a:t>
            </a:r>
            <a:r>
              <a:rPr lang="en-US" sz="1050" dirty="0" err="1">
                <a:solidFill>
                  <a:srgbClr val="000000"/>
                </a:solidFill>
                <a:latin typeface="Consolas" panose="020B0609020204030204" pitchFamily="49" charset="0"/>
              </a:rPr>
              <a:t>fft_input</a:t>
            </a:r>
            <a:r>
              <a:rPr lang="en-US" sz="1050" dirty="0">
                <a:solidFill>
                  <a:srgbClr val="000000"/>
                </a:solidFill>
                <a:latin typeface="Consolas" panose="020B0609020204030204" pitchFamily="49" charset="0"/>
              </a:rPr>
              <a:t>[RFFT_SIZE];</a:t>
            </a:r>
          </a:p>
          <a:p>
            <a:pPr marL="114300" indent="0">
              <a:spcBef>
                <a:spcPts val="0"/>
              </a:spcBef>
              <a:buNone/>
            </a:pPr>
            <a:endParaRPr lang="en-US" sz="1050" dirty="0">
              <a:latin typeface="Consolas" panose="020B0609020204030204" pitchFamily="49" charset="0"/>
            </a:endParaRPr>
          </a:p>
          <a:p>
            <a:pPr marL="114300" indent="0">
              <a:spcBef>
                <a:spcPts val="0"/>
              </a:spcBef>
              <a:buNone/>
            </a:pPr>
            <a:r>
              <a:rPr lang="en-US" sz="1050" dirty="0">
                <a:solidFill>
                  <a:srgbClr val="7F0055"/>
                </a:solidFill>
                <a:latin typeface="Consolas" panose="020B0609020204030204" pitchFamily="49" charset="0"/>
              </a:rPr>
              <a:t>#pragma</a:t>
            </a:r>
            <a:r>
              <a:rPr lang="en-US" sz="1050" dirty="0">
                <a:solidFill>
                  <a:srgbClr val="000000"/>
                </a:solidFill>
                <a:latin typeface="Consolas" panose="020B0609020204030204" pitchFamily="49" charset="0"/>
              </a:rPr>
              <a:t> DATA_SECTION(RFFTF32Coef,</a:t>
            </a:r>
            <a:r>
              <a:rPr lang="en-US" sz="1050" dirty="0">
                <a:solidFill>
                  <a:srgbClr val="2A00FF"/>
                </a:solidFill>
                <a:latin typeface="Consolas" panose="020B0609020204030204" pitchFamily="49" charset="0"/>
              </a:rPr>
              <a:t>"FFT_buffer_2"</a:t>
            </a:r>
            <a:r>
              <a:rPr lang="en-US" sz="1050" dirty="0">
                <a:solidFill>
                  <a:srgbClr val="000000"/>
                </a:solidFill>
                <a:latin typeface="Consolas" panose="020B0609020204030204" pitchFamily="49" charset="0"/>
              </a:rPr>
              <a:t>)</a:t>
            </a:r>
          </a:p>
          <a:p>
            <a:pPr marL="114300" indent="0">
              <a:spcBef>
                <a:spcPts val="0"/>
              </a:spcBef>
              <a:buNone/>
            </a:pPr>
            <a:r>
              <a:rPr lang="en-US" sz="1050" dirty="0">
                <a:solidFill>
                  <a:srgbClr val="7F0055"/>
                </a:solidFill>
                <a:latin typeface="Consolas" panose="020B0609020204030204" pitchFamily="49" charset="0"/>
              </a:rPr>
              <a:t>float</a:t>
            </a:r>
            <a:r>
              <a:rPr lang="en-US" sz="1050" dirty="0">
                <a:solidFill>
                  <a:srgbClr val="000000"/>
                </a:solidFill>
                <a:latin typeface="Consolas" panose="020B0609020204030204" pitchFamily="49" charset="0"/>
              </a:rPr>
              <a:t> RFFTF32Coef[RFFT_SIZE];</a:t>
            </a:r>
          </a:p>
          <a:p>
            <a:pPr marL="114300" indent="0">
              <a:spcBef>
                <a:spcPts val="0"/>
              </a:spcBef>
              <a:buNone/>
            </a:pPr>
            <a:endParaRPr lang="en-US" sz="1050" dirty="0">
              <a:latin typeface="Consolas" panose="020B0609020204030204" pitchFamily="49" charset="0"/>
            </a:endParaRPr>
          </a:p>
          <a:p>
            <a:pPr marL="114300" indent="0">
              <a:spcBef>
                <a:spcPts val="0"/>
              </a:spcBef>
              <a:buNone/>
            </a:pPr>
            <a:r>
              <a:rPr lang="en-US" sz="1050" dirty="0">
                <a:solidFill>
                  <a:srgbClr val="7F0055"/>
                </a:solidFill>
                <a:latin typeface="Consolas" panose="020B0609020204030204" pitchFamily="49" charset="0"/>
              </a:rPr>
              <a:t>#pragma</a:t>
            </a:r>
            <a:r>
              <a:rPr lang="en-US" sz="1050" dirty="0">
                <a:solidFill>
                  <a:srgbClr val="000000"/>
                </a:solidFill>
                <a:latin typeface="Consolas" panose="020B0609020204030204" pitchFamily="49" charset="0"/>
              </a:rPr>
              <a:t> DATA_SECTION(</a:t>
            </a:r>
            <a:r>
              <a:rPr lang="en-US" sz="1050" dirty="0" err="1">
                <a:solidFill>
                  <a:srgbClr val="000000"/>
                </a:solidFill>
                <a:latin typeface="Consolas" panose="020B0609020204030204" pitchFamily="49" charset="0"/>
              </a:rPr>
              <a:t>AdcPingBufRaw</a:t>
            </a:r>
            <a:r>
              <a:rPr lang="en-US" sz="1050" dirty="0">
                <a:solidFill>
                  <a:srgbClr val="000000"/>
                </a:solidFill>
                <a:latin typeface="Consolas" panose="020B0609020204030204" pitchFamily="49" charset="0"/>
              </a:rPr>
              <a:t>, </a:t>
            </a:r>
            <a:r>
              <a:rPr lang="en-US" sz="1050" dirty="0">
                <a:solidFill>
                  <a:srgbClr val="2A00FF"/>
                </a:solidFill>
                <a:latin typeface="Consolas" panose="020B0609020204030204" pitchFamily="49" charset="0"/>
              </a:rPr>
              <a:t>"FFT_buffer_2"</a:t>
            </a:r>
            <a:r>
              <a:rPr lang="en-US" sz="1050" dirty="0">
                <a:solidFill>
                  <a:srgbClr val="000000"/>
                </a:solidFill>
                <a:latin typeface="Consolas" panose="020B0609020204030204" pitchFamily="49" charset="0"/>
              </a:rPr>
              <a:t>)</a:t>
            </a:r>
          </a:p>
          <a:p>
            <a:pPr marL="114300" indent="0">
              <a:spcBef>
                <a:spcPts val="0"/>
              </a:spcBef>
              <a:buNone/>
            </a:pPr>
            <a:r>
              <a:rPr lang="en-US" sz="1050" dirty="0">
                <a:solidFill>
                  <a:srgbClr val="005032"/>
                </a:solidFill>
                <a:latin typeface="Consolas" panose="020B0609020204030204" pitchFamily="49" charset="0"/>
              </a:rPr>
              <a:t>uint16_t</a:t>
            </a:r>
            <a:r>
              <a:rPr lang="en-US" sz="1050" dirty="0">
                <a:solidFill>
                  <a:srgbClr val="000000"/>
                </a:solidFill>
                <a:latin typeface="Consolas" panose="020B0609020204030204" pitchFamily="49" charset="0"/>
              </a:rPr>
              <a:t> </a:t>
            </a:r>
            <a:r>
              <a:rPr lang="en-US" sz="1050" dirty="0" err="1">
                <a:solidFill>
                  <a:srgbClr val="000000"/>
                </a:solidFill>
                <a:latin typeface="Consolas" panose="020B0609020204030204" pitchFamily="49" charset="0"/>
              </a:rPr>
              <a:t>AdcPingBufRaw</a:t>
            </a:r>
            <a:r>
              <a:rPr lang="en-US" sz="1050" dirty="0">
                <a:solidFill>
                  <a:srgbClr val="000000"/>
                </a:solidFill>
                <a:latin typeface="Consolas" panose="020B0609020204030204" pitchFamily="49" charset="0"/>
              </a:rPr>
              <a:t>[RFFT_SIZE];</a:t>
            </a:r>
          </a:p>
          <a:p>
            <a:pPr marL="114300" indent="0">
              <a:spcBef>
                <a:spcPts val="0"/>
              </a:spcBef>
              <a:buNone/>
            </a:pPr>
            <a:endParaRPr lang="en-US" sz="1050" dirty="0">
              <a:latin typeface="Consolas" panose="020B0609020204030204" pitchFamily="49" charset="0"/>
            </a:endParaRPr>
          </a:p>
          <a:p>
            <a:pPr marL="114300" indent="0">
              <a:spcBef>
                <a:spcPts val="0"/>
              </a:spcBef>
              <a:buNone/>
            </a:pPr>
            <a:r>
              <a:rPr lang="en-US" sz="1050" dirty="0">
                <a:solidFill>
                  <a:srgbClr val="7F0055"/>
                </a:solidFill>
                <a:latin typeface="Consolas" panose="020B0609020204030204" pitchFamily="49" charset="0"/>
              </a:rPr>
              <a:t>#pragma</a:t>
            </a:r>
            <a:r>
              <a:rPr lang="en-US" sz="1050" dirty="0">
                <a:solidFill>
                  <a:srgbClr val="000000"/>
                </a:solidFill>
                <a:latin typeface="Consolas" panose="020B0609020204030204" pitchFamily="49" charset="0"/>
              </a:rPr>
              <a:t> DATA_SECTION(</a:t>
            </a:r>
            <a:r>
              <a:rPr lang="en-US" sz="1050" dirty="0" err="1">
                <a:solidFill>
                  <a:srgbClr val="000000"/>
                </a:solidFill>
                <a:latin typeface="Consolas" panose="020B0609020204030204" pitchFamily="49" charset="0"/>
              </a:rPr>
              <a:t>AdcPongBufRaw</a:t>
            </a:r>
            <a:r>
              <a:rPr lang="en-US" sz="1050" dirty="0">
                <a:solidFill>
                  <a:srgbClr val="000000"/>
                </a:solidFill>
                <a:latin typeface="Consolas" panose="020B0609020204030204" pitchFamily="49" charset="0"/>
              </a:rPr>
              <a:t>, </a:t>
            </a:r>
            <a:r>
              <a:rPr lang="en-US" sz="1050" dirty="0">
                <a:solidFill>
                  <a:srgbClr val="2A00FF"/>
                </a:solidFill>
                <a:latin typeface="Consolas" panose="020B0609020204030204" pitchFamily="49" charset="0"/>
              </a:rPr>
              <a:t>"FFT_buffer_2"</a:t>
            </a:r>
            <a:r>
              <a:rPr lang="en-US" sz="1050" dirty="0">
                <a:solidFill>
                  <a:srgbClr val="000000"/>
                </a:solidFill>
                <a:latin typeface="Consolas" panose="020B0609020204030204" pitchFamily="49" charset="0"/>
              </a:rPr>
              <a:t>)</a:t>
            </a:r>
          </a:p>
          <a:p>
            <a:pPr marL="114300" indent="0">
              <a:spcBef>
                <a:spcPts val="0"/>
              </a:spcBef>
              <a:buNone/>
            </a:pPr>
            <a:r>
              <a:rPr lang="en-US" sz="1050" dirty="0">
                <a:solidFill>
                  <a:srgbClr val="005032"/>
                </a:solidFill>
                <a:latin typeface="Consolas" panose="020B0609020204030204" pitchFamily="49" charset="0"/>
              </a:rPr>
              <a:t>uint16_t</a:t>
            </a:r>
            <a:r>
              <a:rPr lang="en-US" sz="1050" dirty="0">
                <a:solidFill>
                  <a:srgbClr val="000000"/>
                </a:solidFill>
                <a:latin typeface="Consolas" panose="020B0609020204030204" pitchFamily="49" charset="0"/>
              </a:rPr>
              <a:t> </a:t>
            </a:r>
            <a:r>
              <a:rPr lang="en-US" sz="1050" dirty="0" err="1">
                <a:solidFill>
                  <a:srgbClr val="000000"/>
                </a:solidFill>
                <a:latin typeface="Consolas" panose="020B0609020204030204" pitchFamily="49" charset="0"/>
              </a:rPr>
              <a:t>AdcPongBufRaw</a:t>
            </a:r>
            <a:r>
              <a:rPr lang="en-US" sz="1050" dirty="0">
                <a:solidFill>
                  <a:srgbClr val="000000"/>
                </a:solidFill>
                <a:latin typeface="Consolas" panose="020B0609020204030204" pitchFamily="49" charset="0"/>
              </a:rPr>
              <a:t>[RFFT_SIZE];</a:t>
            </a:r>
          </a:p>
          <a:p>
            <a:pPr marL="114300" indent="0">
              <a:spcBef>
                <a:spcPts val="0"/>
              </a:spcBef>
              <a:buNone/>
            </a:pPr>
            <a:endParaRPr lang="en-US" sz="1050" dirty="0">
              <a:latin typeface="Consolas" panose="020B0609020204030204" pitchFamily="49" charset="0"/>
            </a:endParaRPr>
          </a:p>
          <a:p>
            <a:pPr marL="114300" indent="0">
              <a:spcBef>
                <a:spcPts val="0"/>
              </a:spcBef>
              <a:buNone/>
            </a:pPr>
            <a:r>
              <a:rPr lang="en-US" sz="1050" dirty="0">
                <a:solidFill>
                  <a:srgbClr val="005032"/>
                </a:solidFill>
                <a:latin typeface="Consolas" panose="020B0609020204030204" pitchFamily="49" charset="0"/>
              </a:rPr>
              <a:t>RFFT_F32_STRUCT</a:t>
            </a:r>
            <a:r>
              <a:rPr lang="en-US" sz="1050" dirty="0">
                <a:solidFill>
                  <a:srgbClr val="000000"/>
                </a:solidFill>
                <a:latin typeface="Consolas" panose="020B0609020204030204" pitchFamily="49" charset="0"/>
              </a:rPr>
              <a:t> </a:t>
            </a:r>
            <a:r>
              <a:rPr lang="en-US" sz="1050" dirty="0" err="1">
                <a:solidFill>
                  <a:srgbClr val="000000"/>
                </a:solidFill>
                <a:latin typeface="Consolas" panose="020B0609020204030204" pitchFamily="49" charset="0"/>
              </a:rPr>
              <a:t>rfft</a:t>
            </a:r>
            <a:r>
              <a:rPr lang="en-US" sz="1050" dirty="0">
                <a:solidFill>
                  <a:srgbClr val="000000"/>
                </a:solidFill>
                <a:latin typeface="Consolas" panose="020B0609020204030204" pitchFamily="49" charset="0"/>
              </a:rPr>
              <a:t>;</a:t>
            </a:r>
          </a:p>
          <a:p>
            <a:pPr marL="114300" indent="0">
              <a:spcBef>
                <a:spcPts val="0"/>
              </a:spcBef>
              <a:buNone/>
            </a:pPr>
            <a:r>
              <a:rPr lang="en-US" sz="1050" dirty="0">
                <a:solidFill>
                  <a:srgbClr val="005032"/>
                </a:solidFill>
                <a:latin typeface="Consolas" panose="020B0609020204030204" pitchFamily="49" charset="0"/>
              </a:rPr>
              <a:t>RFFT_F32_STRUCT_Handle</a:t>
            </a:r>
            <a:r>
              <a:rPr lang="en-US" sz="1050" dirty="0">
                <a:solidFill>
                  <a:srgbClr val="000000"/>
                </a:solidFill>
                <a:latin typeface="Consolas" panose="020B0609020204030204" pitchFamily="49" charset="0"/>
              </a:rPr>
              <a:t> </a:t>
            </a:r>
            <a:r>
              <a:rPr lang="en-US" sz="1050" dirty="0" err="1">
                <a:solidFill>
                  <a:srgbClr val="000000"/>
                </a:solidFill>
                <a:latin typeface="Consolas" panose="020B0609020204030204" pitchFamily="49" charset="0"/>
              </a:rPr>
              <a:t>hnd_rfft</a:t>
            </a:r>
            <a:r>
              <a:rPr lang="en-US" sz="1050" dirty="0">
                <a:solidFill>
                  <a:srgbClr val="000000"/>
                </a:solidFill>
                <a:latin typeface="Consolas" panose="020B0609020204030204" pitchFamily="49" charset="0"/>
              </a:rPr>
              <a:t> = &amp;</a:t>
            </a:r>
            <a:r>
              <a:rPr lang="en-US" sz="1050" dirty="0" err="1">
                <a:solidFill>
                  <a:srgbClr val="000000"/>
                </a:solidFill>
                <a:latin typeface="Consolas" panose="020B0609020204030204" pitchFamily="49" charset="0"/>
              </a:rPr>
              <a:t>rfft</a:t>
            </a:r>
            <a:r>
              <a:rPr lang="en-US" sz="1050" dirty="0">
                <a:solidFill>
                  <a:srgbClr val="000000"/>
                </a:solidFill>
                <a:latin typeface="Consolas" panose="020B0609020204030204" pitchFamily="49" charset="0"/>
              </a:rPr>
              <a:t>;</a:t>
            </a:r>
          </a:p>
          <a:p>
            <a:pPr marL="114300" indent="0">
              <a:spcBef>
                <a:spcPts val="0"/>
              </a:spcBef>
              <a:buNone/>
            </a:pPr>
            <a:r>
              <a:rPr lang="en-US" sz="1050" dirty="0">
                <a:solidFill>
                  <a:srgbClr val="005032"/>
                </a:solidFill>
                <a:latin typeface="Consolas" panose="020B0609020204030204" pitchFamily="49" charset="0"/>
              </a:rPr>
              <a:t>uint16_t</a:t>
            </a:r>
            <a:r>
              <a:rPr lang="en-US" sz="1050" dirty="0">
                <a:solidFill>
                  <a:srgbClr val="000000"/>
                </a:solidFill>
                <a:latin typeface="Consolas" panose="020B0609020204030204" pitchFamily="49" charset="0"/>
              </a:rPr>
              <a:t> </a:t>
            </a:r>
            <a:r>
              <a:rPr lang="en-US" sz="1050" dirty="0" err="1">
                <a:solidFill>
                  <a:srgbClr val="000000"/>
                </a:solidFill>
                <a:latin typeface="Consolas" panose="020B0609020204030204" pitchFamily="49" charset="0"/>
              </a:rPr>
              <a:t>pingFFT</a:t>
            </a:r>
            <a:r>
              <a:rPr lang="en-US" sz="1050" dirty="0">
                <a:solidFill>
                  <a:srgbClr val="000000"/>
                </a:solidFill>
                <a:latin typeface="Consolas" panose="020B0609020204030204" pitchFamily="49" charset="0"/>
              </a:rPr>
              <a:t> = 0;</a:t>
            </a:r>
          </a:p>
          <a:p>
            <a:pPr marL="114300" indent="0">
              <a:spcBef>
                <a:spcPts val="0"/>
              </a:spcBef>
              <a:buNone/>
            </a:pPr>
            <a:r>
              <a:rPr lang="en-US" sz="1050" dirty="0">
                <a:solidFill>
                  <a:srgbClr val="005032"/>
                </a:solidFill>
                <a:latin typeface="Consolas" panose="020B0609020204030204" pitchFamily="49" charset="0"/>
              </a:rPr>
              <a:t>uint16_t</a:t>
            </a:r>
            <a:r>
              <a:rPr lang="en-US" sz="1050" dirty="0">
                <a:solidFill>
                  <a:srgbClr val="000000"/>
                </a:solidFill>
                <a:latin typeface="Consolas" panose="020B0609020204030204" pitchFamily="49" charset="0"/>
              </a:rPr>
              <a:t> </a:t>
            </a:r>
            <a:r>
              <a:rPr lang="en-US" sz="1050" dirty="0" err="1">
                <a:solidFill>
                  <a:srgbClr val="000000"/>
                </a:solidFill>
                <a:latin typeface="Consolas" panose="020B0609020204030204" pitchFamily="49" charset="0"/>
              </a:rPr>
              <a:t>pongFFT</a:t>
            </a:r>
            <a:r>
              <a:rPr lang="en-US" sz="1050" dirty="0">
                <a:solidFill>
                  <a:srgbClr val="000000"/>
                </a:solidFill>
                <a:latin typeface="Consolas" panose="020B0609020204030204" pitchFamily="49" charset="0"/>
              </a:rPr>
              <a:t> = 0;</a:t>
            </a:r>
          </a:p>
          <a:p>
            <a:pPr marL="114300" indent="0">
              <a:spcBef>
                <a:spcPts val="0"/>
              </a:spcBef>
              <a:buNone/>
            </a:pPr>
            <a:r>
              <a:rPr lang="en-US" sz="1050" dirty="0">
                <a:solidFill>
                  <a:srgbClr val="005032"/>
                </a:solidFill>
                <a:latin typeface="Consolas" panose="020B0609020204030204" pitchFamily="49" charset="0"/>
              </a:rPr>
              <a:t>uint16_t</a:t>
            </a:r>
            <a:r>
              <a:rPr lang="en-US" sz="1050" dirty="0">
                <a:solidFill>
                  <a:srgbClr val="000000"/>
                </a:solidFill>
                <a:latin typeface="Consolas" panose="020B0609020204030204" pitchFamily="49" charset="0"/>
              </a:rPr>
              <a:t> </a:t>
            </a:r>
            <a:r>
              <a:rPr lang="en-US" sz="1050" dirty="0" err="1">
                <a:solidFill>
                  <a:srgbClr val="000000"/>
                </a:solidFill>
                <a:latin typeface="Consolas" panose="020B0609020204030204" pitchFamily="49" charset="0"/>
              </a:rPr>
              <a:t>pingpongFFT</a:t>
            </a:r>
            <a:r>
              <a:rPr lang="en-US" sz="1050" dirty="0">
                <a:solidFill>
                  <a:srgbClr val="000000"/>
                </a:solidFill>
                <a:latin typeface="Consolas" panose="020B0609020204030204" pitchFamily="49" charset="0"/>
              </a:rPr>
              <a:t> = 1;</a:t>
            </a:r>
          </a:p>
          <a:p>
            <a:pPr marL="114300" indent="0">
              <a:spcBef>
                <a:spcPts val="0"/>
              </a:spcBef>
              <a:buNone/>
            </a:pPr>
            <a:r>
              <a:rPr lang="en-US" sz="1050" dirty="0">
                <a:solidFill>
                  <a:srgbClr val="005032"/>
                </a:solidFill>
                <a:latin typeface="Consolas" panose="020B0609020204030204" pitchFamily="49" charset="0"/>
              </a:rPr>
              <a:t>uint16_t</a:t>
            </a:r>
            <a:r>
              <a:rPr lang="en-US" sz="1050" dirty="0">
                <a:solidFill>
                  <a:srgbClr val="000000"/>
                </a:solidFill>
                <a:latin typeface="Consolas" panose="020B0609020204030204" pitchFamily="49" charset="0"/>
              </a:rPr>
              <a:t> </a:t>
            </a:r>
            <a:r>
              <a:rPr lang="en-US" sz="1050" dirty="0" err="1">
                <a:solidFill>
                  <a:srgbClr val="000000"/>
                </a:solidFill>
                <a:latin typeface="Consolas" panose="020B0609020204030204" pitchFamily="49" charset="0"/>
              </a:rPr>
              <a:t>iPingPong</a:t>
            </a:r>
            <a:r>
              <a:rPr lang="en-US" sz="1050" dirty="0">
                <a:solidFill>
                  <a:srgbClr val="000000"/>
                </a:solidFill>
                <a:latin typeface="Consolas" panose="020B0609020204030204" pitchFamily="49" charset="0"/>
              </a:rPr>
              <a:t> = 0;</a:t>
            </a:r>
          </a:p>
          <a:p>
            <a:pPr marL="114300" indent="0">
              <a:spcBef>
                <a:spcPts val="0"/>
              </a:spcBef>
              <a:buNone/>
            </a:pPr>
            <a:r>
              <a:rPr lang="en-US" sz="1050" dirty="0">
                <a:solidFill>
                  <a:srgbClr val="005032"/>
                </a:solidFill>
                <a:latin typeface="Consolas" panose="020B0609020204030204" pitchFamily="49" charset="0"/>
              </a:rPr>
              <a:t>int16_t</a:t>
            </a:r>
            <a:r>
              <a:rPr lang="en-US" sz="1050" dirty="0">
                <a:solidFill>
                  <a:srgbClr val="000000"/>
                </a:solidFill>
                <a:latin typeface="Consolas" panose="020B0609020204030204" pitchFamily="49" charset="0"/>
              </a:rPr>
              <a:t> </a:t>
            </a:r>
            <a:r>
              <a:rPr lang="en-US" sz="1050" dirty="0" err="1">
                <a:solidFill>
                  <a:srgbClr val="000000"/>
                </a:solidFill>
                <a:latin typeface="Consolas" panose="020B0609020204030204" pitchFamily="49" charset="0"/>
              </a:rPr>
              <a:t>DMAcount</a:t>
            </a:r>
            <a:r>
              <a:rPr lang="en-US" sz="1050" dirty="0">
                <a:solidFill>
                  <a:srgbClr val="000000"/>
                </a:solidFill>
                <a:latin typeface="Consolas" panose="020B0609020204030204" pitchFamily="49" charset="0"/>
              </a:rPr>
              <a:t> = 0;</a:t>
            </a:r>
          </a:p>
          <a:p>
            <a:pPr marL="114300" indent="0">
              <a:spcBef>
                <a:spcPts val="0"/>
              </a:spcBef>
              <a:buNone/>
            </a:pPr>
            <a:r>
              <a:rPr lang="de-DE" sz="1050" dirty="0">
                <a:solidFill>
                  <a:srgbClr val="000000"/>
                </a:solidFill>
                <a:latin typeface="Consolas" panose="020B0609020204030204" pitchFamily="49" charset="0"/>
              </a:rPr>
              <a:t>__interrupt </a:t>
            </a:r>
            <a:r>
              <a:rPr lang="de-DE" sz="1050" dirty="0">
                <a:solidFill>
                  <a:srgbClr val="7F0055"/>
                </a:solidFill>
                <a:latin typeface="Consolas" panose="020B0609020204030204" pitchFamily="49" charset="0"/>
              </a:rPr>
              <a:t>void</a:t>
            </a:r>
            <a:r>
              <a:rPr lang="de-DE" sz="1050" dirty="0">
                <a:solidFill>
                  <a:srgbClr val="000000"/>
                </a:solidFill>
                <a:latin typeface="Consolas" panose="020B0609020204030204" pitchFamily="49" charset="0"/>
              </a:rPr>
              <a:t> DMA_ISR(</a:t>
            </a:r>
            <a:r>
              <a:rPr lang="de-DE" sz="1050" dirty="0">
                <a:solidFill>
                  <a:srgbClr val="7F0055"/>
                </a:solidFill>
                <a:latin typeface="Consolas" panose="020B0609020204030204" pitchFamily="49" charset="0"/>
              </a:rPr>
              <a:t>void</a:t>
            </a:r>
            <a:r>
              <a:rPr lang="de-DE" sz="1050" dirty="0">
                <a:solidFill>
                  <a:srgbClr val="000000"/>
                </a:solidFill>
                <a:latin typeface="Consolas" panose="020B0609020204030204" pitchFamily="49" charset="0"/>
              </a:rPr>
              <a:t>);</a:t>
            </a:r>
          </a:p>
          <a:p>
            <a:pPr marL="114300" indent="0">
              <a:spcBef>
                <a:spcPts val="0"/>
              </a:spcBef>
              <a:buNone/>
            </a:pPr>
            <a:r>
              <a:rPr lang="en-US" sz="1050" dirty="0">
                <a:solidFill>
                  <a:srgbClr val="7F0055"/>
                </a:solidFill>
                <a:latin typeface="Consolas" panose="020B0609020204030204" pitchFamily="49" charset="0"/>
              </a:rPr>
              <a:t>void</a:t>
            </a:r>
            <a:r>
              <a:rPr lang="en-US" sz="1050" dirty="0">
                <a:solidFill>
                  <a:srgbClr val="000000"/>
                </a:solidFill>
                <a:latin typeface="Consolas" panose="020B0609020204030204" pitchFamily="49" charset="0"/>
              </a:rPr>
              <a:t> </a:t>
            </a:r>
            <a:r>
              <a:rPr lang="en-US" sz="1050" dirty="0" err="1">
                <a:solidFill>
                  <a:srgbClr val="000000"/>
                </a:solidFill>
                <a:latin typeface="Consolas" panose="020B0609020204030204" pitchFamily="49" charset="0"/>
              </a:rPr>
              <a:t>InitDma</a:t>
            </a:r>
            <a:r>
              <a:rPr lang="en-US" sz="1050" dirty="0">
                <a:solidFill>
                  <a:srgbClr val="000000"/>
                </a:solidFill>
                <a:latin typeface="Consolas" panose="020B0609020204030204" pitchFamily="49" charset="0"/>
              </a:rPr>
              <a:t>(</a:t>
            </a:r>
            <a:r>
              <a:rPr lang="en-US" sz="1050" dirty="0">
                <a:solidFill>
                  <a:srgbClr val="7F0055"/>
                </a:solidFill>
                <a:latin typeface="Consolas" panose="020B0609020204030204" pitchFamily="49" charset="0"/>
              </a:rPr>
              <a:t>void</a:t>
            </a:r>
            <a:r>
              <a:rPr lang="en-US" sz="1050" dirty="0">
                <a:solidFill>
                  <a:srgbClr val="000000"/>
                </a:solidFill>
                <a:latin typeface="Consolas" panose="020B0609020204030204" pitchFamily="49" charset="0"/>
              </a:rPr>
              <a:t>);</a:t>
            </a:r>
            <a:endParaRPr lang="en-US" sz="1050" dirty="0">
              <a:solidFill>
                <a:schemeClr val="tx1"/>
              </a:solidFill>
              <a:latin typeface="Atkinson Hyperlegible Next"/>
              <a:cs typeface="Arial"/>
              <a:sym typeface="Arial"/>
            </a:endParaRPr>
          </a:p>
        </p:txBody>
      </p:sp>
      <p:sp>
        <p:nvSpPr>
          <p:cNvPr id="119" name="Google Shape;119;p29">
            <a:extLst>
              <a:ext uri="{FF2B5EF4-FFF2-40B4-BE49-F238E27FC236}">
                <a16:creationId xmlns:a16="http://schemas.microsoft.com/office/drawing/2014/main" id="{56E6CE3B-DB35-713F-A824-4F813F172448}"/>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92A397F3-E1C0-524A-B93C-8D1253109DC0}"/>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FFT Code</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5FF9DC27-A494-0490-4BDD-E4AFDE5BCFF6}"/>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7B792C39-E371-BBD2-C98A-7FD086E5FA3F}"/>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FB241B66-6633-B164-0E05-ABF2075100FC}"/>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D3698982-8F38-1B75-29D8-D7E96434575F}"/>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3CFC9F4C-4E6C-60F2-E356-EDA864767F2C}"/>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1A957D6A-8DFA-ECF1-88F7-0A4F77D4E07F}"/>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
        <p:nvSpPr>
          <p:cNvPr id="2" name="Google Shape;118;p29">
            <a:extLst>
              <a:ext uri="{FF2B5EF4-FFF2-40B4-BE49-F238E27FC236}">
                <a16:creationId xmlns:a16="http://schemas.microsoft.com/office/drawing/2014/main" id="{22F1CEFF-3E29-31A9-A18D-5622AB7CFD7C}"/>
              </a:ext>
            </a:extLst>
          </p:cNvPr>
          <p:cNvSpPr txBox="1">
            <a:spLocks/>
          </p:cNvSpPr>
          <p:nvPr/>
        </p:nvSpPr>
        <p:spPr>
          <a:xfrm>
            <a:off x="6096000" y="1350467"/>
            <a:ext cx="5719191" cy="4821102"/>
          </a:xfrm>
          <a:prstGeom prst="rect">
            <a:avLst/>
          </a:prstGeom>
          <a:no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L="457200" marR="0" lvl="0" indent="-342900" algn="l" rtl="0">
              <a:lnSpc>
                <a:spcPct val="90000"/>
              </a:lnSpc>
              <a:spcBef>
                <a:spcPts val="1000"/>
              </a:spcBef>
              <a:spcAft>
                <a:spcPts val="0"/>
              </a:spcAft>
              <a:buClr>
                <a:schemeClr val="dk1"/>
              </a:buClr>
              <a:buSzPts val="1800"/>
              <a:buFont typeface="Arial"/>
              <a:buChar char="•"/>
              <a:defRPr sz="2800" b="0" i="0" u="none" strike="noStrike" cap="none">
                <a:solidFill>
                  <a:schemeClr val="dk1"/>
                </a:solidFill>
                <a:latin typeface="Atkinson Hyperlegible Next"/>
                <a:ea typeface="Calibri"/>
                <a:cs typeface="Calibri"/>
                <a:sym typeface="Calibri"/>
              </a:defRPr>
            </a:lvl1pPr>
            <a:lvl2pPr marL="914400" marR="0" lvl="1" indent="-342900" algn="l" rtl="0">
              <a:lnSpc>
                <a:spcPct val="90000"/>
              </a:lnSpc>
              <a:spcBef>
                <a:spcPts val="500"/>
              </a:spcBef>
              <a:spcAft>
                <a:spcPts val="0"/>
              </a:spcAft>
              <a:buClr>
                <a:schemeClr val="dk1"/>
              </a:buClr>
              <a:buSzPts val="1800"/>
              <a:buFont typeface="Arial"/>
              <a:buChar char="•"/>
              <a:defRPr sz="2400" b="0" i="0" u="none" strike="noStrike" cap="none">
                <a:solidFill>
                  <a:schemeClr val="dk1"/>
                </a:solidFill>
                <a:latin typeface="Atkinson Hyperlegible Next"/>
                <a:ea typeface="Calibri"/>
                <a:cs typeface="Calibri"/>
                <a:sym typeface="Calibri"/>
              </a:defRPr>
            </a:lvl2pPr>
            <a:lvl3pPr marL="1371600" marR="0" lvl="2" indent="-342900" algn="l" rtl="0">
              <a:lnSpc>
                <a:spcPct val="90000"/>
              </a:lnSpc>
              <a:spcBef>
                <a:spcPts val="500"/>
              </a:spcBef>
              <a:spcAft>
                <a:spcPts val="0"/>
              </a:spcAft>
              <a:buClr>
                <a:schemeClr val="dk1"/>
              </a:buClr>
              <a:buSzPts val="1800"/>
              <a:buFont typeface="Arial"/>
              <a:buChar char="•"/>
              <a:defRPr sz="2000" b="0" i="0" u="none" strike="noStrike" cap="none">
                <a:solidFill>
                  <a:schemeClr val="dk1"/>
                </a:solidFill>
                <a:latin typeface="Atkinson Hyperlegible Next"/>
                <a:ea typeface="Calibri"/>
                <a:cs typeface="Calibri"/>
                <a:sym typeface="Calibri"/>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tkinson Hyperlegible Next"/>
                <a:ea typeface="Calibri"/>
                <a:cs typeface="Calibri"/>
                <a:sym typeface="Calibri"/>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tkinson Hyperlegible Next"/>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tkinson Hyperlegible Next"/>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tkinson Hyperlegible Next"/>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tkinson Hyperlegible Next"/>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tkinson Hyperlegible Next"/>
                <a:ea typeface="Calibri"/>
                <a:cs typeface="Calibri"/>
                <a:sym typeface="Calibri"/>
              </a:defRPr>
            </a:lvl9pPr>
          </a:lstStyle>
          <a:p>
            <a:pPr marL="114300" indent="0" algn="l">
              <a:spcBef>
                <a:spcPts val="0"/>
              </a:spcBef>
              <a:buNone/>
            </a:pPr>
            <a:r>
              <a:rPr lang="en-US" sz="1050" dirty="0">
                <a:solidFill>
                  <a:srgbClr val="7F0055"/>
                </a:solidFill>
                <a:latin typeface="Consolas" panose="020B0609020204030204" pitchFamily="49" charset="0"/>
              </a:rPr>
              <a:t>typedef</a:t>
            </a:r>
            <a:r>
              <a:rPr lang="en-US" sz="1050" dirty="0">
                <a:solidFill>
                  <a:srgbClr val="000000"/>
                </a:solidFill>
                <a:latin typeface="Consolas" panose="020B0609020204030204" pitchFamily="49" charset="0"/>
              </a:rPr>
              <a:t> </a:t>
            </a:r>
            <a:r>
              <a:rPr lang="en-US" sz="1050" dirty="0">
                <a:solidFill>
                  <a:srgbClr val="7F0055"/>
                </a:solidFill>
                <a:latin typeface="Consolas" panose="020B0609020204030204" pitchFamily="49" charset="0"/>
              </a:rPr>
              <a:t>struct</a:t>
            </a:r>
            <a:r>
              <a:rPr lang="en-US" sz="1050" dirty="0">
                <a:solidFill>
                  <a:srgbClr val="000000"/>
                </a:solidFill>
                <a:latin typeface="Consolas" panose="020B0609020204030204" pitchFamily="49" charset="0"/>
              </a:rPr>
              <a:t> {</a:t>
            </a:r>
          </a:p>
          <a:p>
            <a:pPr marL="114300" indent="0" algn="l">
              <a:spcBef>
                <a:spcPts val="0"/>
              </a:spcBef>
              <a:buNone/>
            </a:pPr>
            <a:r>
              <a:rPr lang="en-US" sz="1050" dirty="0">
                <a:solidFill>
                  <a:srgbClr val="000000"/>
                </a:solidFill>
                <a:latin typeface="Consolas" panose="020B0609020204030204" pitchFamily="49" charset="0"/>
              </a:rPr>
              <a:t>  </a:t>
            </a:r>
            <a:r>
              <a:rPr lang="en-US" sz="1050" dirty="0">
                <a:solidFill>
                  <a:srgbClr val="7F0055"/>
                </a:solidFill>
                <a:latin typeface="Consolas" panose="020B0609020204030204" pitchFamily="49" charset="0"/>
              </a:rPr>
              <a:t>float</a:t>
            </a:r>
            <a:r>
              <a:rPr lang="en-US" sz="1050" dirty="0">
                <a:solidFill>
                  <a:srgbClr val="000000"/>
                </a:solidFill>
                <a:latin typeface="Consolas" panose="020B0609020204030204" pitchFamily="49" charset="0"/>
              </a:rPr>
              <a:t>  *</a:t>
            </a:r>
            <a:r>
              <a:rPr lang="en-US" sz="1050" dirty="0" err="1">
                <a:solidFill>
                  <a:srgbClr val="0000C0"/>
                </a:solidFill>
                <a:latin typeface="Consolas" panose="020B0609020204030204" pitchFamily="49" charset="0"/>
              </a:rPr>
              <a:t>InBuf</a:t>
            </a:r>
            <a:r>
              <a:rPr lang="en-US" sz="1050" dirty="0">
                <a:solidFill>
                  <a:srgbClr val="000000"/>
                </a:solidFill>
                <a:latin typeface="Consolas" panose="020B0609020204030204" pitchFamily="49" charset="0"/>
              </a:rPr>
              <a:t>;        </a:t>
            </a:r>
            <a:r>
              <a:rPr lang="en-US" sz="1050" dirty="0">
                <a:solidFill>
                  <a:srgbClr val="3F7F5F"/>
                </a:solidFill>
                <a:latin typeface="Consolas" panose="020B0609020204030204" pitchFamily="49" charset="0"/>
              </a:rPr>
              <a:t>//!&lt; Pointer to the input buffer</a:t>
            </a:r>
          </a:p>
          <a:p>
            <a:pPr marL="114300" indent="0" algn="l">
              <a:spcBef>
                <a:spcPts val="0"/>
              </a:spcBef>
              <a:buNone/>
            </a:pPr>
            <a:r>
              <a:rPr lang="en-US" sz="1050" dirty="0">
                <a:solidFill>
                  <a:srgbClr val="000000"/>
                </a:solidFill>
                <a:latin typeface="Consolas" panose="020B0609020204030204" pitchFamily="49" charset="0"/>
              </a:rPr>
              <a:t>  </a:t>
            </a:r>
            <a:r>
              <a:rPr lang="en-US" sz="1050" dirty="0">
                <a:solidFill>
                  <a:srgbClr val="7F0055"/>
                </a:solidFill>
                <a:latin typeface="Consolas" panose="020B0609020204030204" pitchFamily="49" charset="0"/>
              </a:rPr>
              <a:t>float</a:t>
            </a:r>
            <a:r>
              <a:rPr lang="en-US" sz="1050" dirty="0">
                <a:solidFill>
                  <a:srgbClr val="000000"/>
                </a:solidFill>
                <a:latin typeface="Consolas" panose="020B0609020204030204" pitchFamily="49" charset="0"/>
              </a:rPr>
              <a:t>  *</a:t>
            </a:r>
            <a:r>
              <a:rPr lang="en-US" sz="1050" dirty="0" err="1">
                <a:solidFill>
                  <a:srgbClr val="0000C0"/>
                </a:solidFill>
                <a:latin typeface="Consolas" panose="020B0609020204030204" pitchFamily="49" charset="0"/>
              </a:rPr>
              <a:t>OutBuf</a:t>
            </a:r>
            <a:r>
              <a:rPr lang="en-US" sz="1050" dirty="0">
                <a:solidFill>
                  <a:srgbClr val="000000"/>
                </a:solidFill>
                <a:latin typeface="Consolas" panose="020B0609020204030204" pitchFamily="49" charset="0"/>
              </a:rPr>
              <a:t>;       </a:t>
            </a:r>
            <a:r>
              <a:rPr lang="en-US" sz="1050" dirty="0">
                <a:solidFill>
                  <a:srgbClr val="3F7F5F"/>
                </a:solidFill>
                <a:latin typeface="Consolas" panose="020B0609020204030204" pitchFamily="49" charset="0"/>
              </a:rPr>
              <a:t>//!&lt; Pointer to the output buffer</a:t>
            </a:r>
          </a:p>
          <a:p>
            <a:pPr marL="114300" indent="0" algn="l">
              <a:spcBef>
                <a:spcPts val="0"/>
              </a:spcBef>
              <a:buNone/>
            </a:pPr>
            <a:r>
              <a:rPr lang="en-US" sz="1050" dirty="0">
                <a:solidFill>
                  <a:srgbClr val="000000"/>
                </a:solidFill>
                <a:latin typeface="Consolas" panose="020B0609020204030204" pitchFamily="49" charset="0"/>
              </a:rPr>
              <a:t>  </a:t>
            </a:r>
            <a:r>
              <a:rPr lang="en-US" sz="1050" dirty="0">
                <a:solidFill>
                  <a:srgbClr val="7F0055"/>
                </a:solidFill>
                <a:latin typeface="Consolas" panose="020B0609020204030204" pitchFamily="49" charset="0"/>
              </a:rPr>
              <a:t>float</a:t>
            </a:r>
            <a:r>
              <a:rPr lang="en-US" sz="1050" dirty="0">
                <a:solidFill>
                  <a:srgbClr val="000000"/>
                </a:solidFill>
                <a:latin typeface="Consolas" panose="020B0609020204030204" pitchFamily="49" charset="0"/>
              </a:rPr>
              <a:t>  *</a:t>
            </a:r>
            <a:r>
              <a:rPr lang="en-US" sz="1050" dirty="0" err="1">
                <a:solidFill>
                  <a:srgbClr val="0000C0"/>
                </a:solidFill>
                <a:latin typeface="Consolas" panose="020B0609020204030204" pitchFamily="49" charset="0"/>
              </a:rPr>
              <a:t>CosSinBuf</a:t>
            </a:r>
            <a:r>
              <a:rPr lang="en-US" sz="1050" dirty="0">
                <a:solidFill>
                  <a:srgbClr val="000000"/>
                </a:solidFill>
                <a:latin typeface="Consolas" panose="020B0609020204030204" pitchFamily="49" charset="0"/>
              </a:rPr>
              <a:t>;    </a:t>
            </a:r>
            <a:r>
              <a:rPr lang="en-US" sz="1050" dirty="0">
                <a:solidFill>
                  <a:srgbClr val="3F7F5F"/>
                </a:solidFill>
                <a:latin typeface="Consolas" panose="020B0609020204030204" pitchFamily="49" charset="0"/>
              </a:rPr>
              <a:t>//!&lt; Pointer to the twiddle factors</a:t>
            </a:r>
          </a:p>
          <a:p>
            <a:pPr marL="114300" indent="0" algn="l">
              <a:spcBef>
                <a:spcPts val="0"/>
              </a:spcBef>
              <a:buNone/>
            </a:pPr>
            <a:r>
              <a:rPr lang="en-US" sz="1050" dirty="0">
                <a:solidFill>
                  <a:srgbClr val="000000"/>
                </a:solidFill>
                <a:latin typeface="Consolas" panose="020B0609020204030204" pitchFamily="49" charset="0"/>
              </a:rPr>
              <a:t>  </a:t>
            </a:r>
            <a:r>
              <a:rPr lang="en-US" sz="1050" dirty="0">
                <a:solidFill>
                  <a:srgbClr val="7F0055"/>
                </a:solidFill>
                <a:latin typeface="Consolas" panose="020B0609020204030204" pitchFamily="49" charset="0"/>
              </a:rPr>
              <a:t>float</a:t>
            </a:r>
            <a:r>
              <a:rPr lang="en-US" sz="1050" dirty="0">
                <a:solidFill>
                  <a:srgbClr val="000000"/>
                </a:solidFill>
                <a:latin typeface="Consolas" panose="020B0609020204030204" pitchFamily="49" charset="0"/>
              </a:rPr>
              <a:t>  *</a:t>
            </a:r>
            <a:r>
              <a:rPr lang="en-US" sz="1050" dirty="0" err="1">
                <a:solidFill>
                  <a:srgbClr val="0000C0"/>
                </a:solidFill>
                <a:latin typeface="Consolas" panose="020B0609020204030204" pitchFamily="49" charset="0"/>
              </a:rPr>
              <a:t>MagBuf</a:t>
            </a:r>
            <a:r>
              <a:rPr lang="en-US" sz="1050" dirty="0">
                <a:solidFill>
                  <a:srgbClr val="000000"/>
                </a:solidFill>
                <a:latin typeface="Consolas" panose="020B0609020204030204" pitchFamily="49" charset="0"/>
              </a:rPr>
              <a:t>;       </a:t>
            </a:r>
            <a:r>
              <a:rPr lang="en-US" sz="1050" dirty="0">
                <a:solidFill>
                  <a:srgbClr val="3F7F5F"/>
                </a:solidFill>
                <a:latin typeface="Consolas" panose="020B0609020204030204" pitchFamily="49" charset="0"/>
              </a:rPr>
              <a:t>//!&lt; Pointer to the magnitude buffer</a:t>
            </a:r>
          </a:p>
          <a:p>
            <a:pPr marL="114300" indent="0" algn="l">
              <a:spcBef>
                <a:spcPts val="0"/>
              </a:spcBef>
              <a:buNone/>
            </a:pPr>
            <a:r>
              <a:rPr lang="en-US" sz="1050" dirty="0">
                <a:solidFill>
                  <a:srgbClr val="000000"/>
                </a:solidFill>
                <a:latin typeface="Consolas" panose="020B0609020204030204" pitchFamily="49" charset="0"/>
              </a:rPr>
              <a:t>  </a:t>
            </a:r>
            <a:r>
              <a:rPr lang="en-US" sz="1050" dirty="0">
                <a:solidFill>
                  <a:srgbClr val="7F0055"/>
                </a:solidFill>
                <a:latin typeface="Consolas" panose="020B0609020204030204" pitchFamily="49" charset="0"/>
              </a:rPr>
              <a:t>float</a:t>
            </a:r>
            <a:r>
              <a:rPr lang="en-US" sz="1050" dirty="0">
                <a:solidFill>
                  <a:srgbClr val="000000"/>
                </a:solidFill>
                <a:latin typeface="Consolas" panose="020B0609020204030204" pitchFamily="49" charset="0"/>
              </a:rPr>
              <a:t>  *</a:t>
            </a:r>
            <a:r>
              <a:rPr lang="en-US" sz="1050" dirty="0" err="1">
                <a:solidFill>
                  <a:srgbClr val="0000C0"/>
                </a:solidFill>
                <a:latin typeface="Consolas" panose="020B0609020204030204" pitchFamily="49" charset="0"/>
              </a:rPr>
              <a:t>PhaseBuf</a:t>
            </a:r>
            <a:r>
              <a:rPr lang="en-US" sz="1050" dirty="0">
                <a:solidFill>
                  <a:srgbClr val="000000"/>
                </a:solidFill>
                <a:latin typeface="Consolas" panose="020B0609020204030204" pitchFamily="49" charset="0"/>
              </a:rPr>
              <a:t>;     </a:t>
            </a:r>
            <a:r>
              <a:rPr lang="en-US" sz="1050" dirty="0">
                <a:solidFill>
                  <a:srgbClr val="3F7F5F"/>
                </a:solidFill>
                <a:latin typeface="Consolas" panose="020B0609020204030204" pitchFamily="49" charset="0"/>
              </a:rPr>
              <a:t>//!&lt; Pointer to the phase buffer</a:t>
            </a:r>
          </a:p>
          <a:p>
            <a:pPr marL="114300" indent="0" algn="l">
              <a:spcBef>
                <a:spcPts val="0"/>
              </a:spcBef>
              <a:buNone/>
            </a:pPr>
            <a:r>
              <a:rPr lang="en-US" sz="1050" dirty="0">
                <a:solidFill>
                  <a:srgbClr val="000000"/>
                </a:solidFill>
                <a:latin typeface="Consolas" panose="020B0609020204030204" pitchFamily="49" charset="0"/>
              </a:rPr>
              <a:t>  </a:t>
            </a:r>
            <a:r>
              <a:rPr lang="en-US" sz="1050" dirty="0">
                <a:solidFill>
                  <a:srgbClr val="005032"/>
                </a:solidFill>
                <a:latin typeface="Consolas" panose="020B0609020204030204" pitchFamily="49" charset="0"/>
              </a:rPr>
              <a:t>uint16_t</a:t>
            </a:r>
            <a:r>
              <a:rPr lang="en-US" sz="1050" dirty="0">
                <a:solidFill>
                  <a:srgbClr val="000000"/>
                </a:solidFill>
                <a:latin typeface="Consolas" panose="020B0609020204030204" pitchFamily="49" charset="0"/>
              </a:rPr>
              <a:t>   </a:t>
            </a:r>
            <a:r>
              <a:rPr lang="en-US" sz="1050" dirty="0" err="1">
                <a:solidFill>
                  <a:srgbClr val="0000C0"/>
                </a:solidFill>
                <a:latin typeface="Consolas" panose="020B0609020204030204" pitchFamily="49" charset="0"/>
              </a:rPr>
              <a:t>FFTSize</a:t>
            </a:r>
            <a:r>
              <a:rPr lang="en-US" sz="1050" dirty="0">
                <a:solidFill>
                  <a:srgbClr val="000000"/>
                </a:solidFill>
                <a:latin typeface="Consolas" panose="020B0609020204030204" pitchFamily="49" charset="0"/>
              </a:rPr>
              <a:t>;   </a:t>
            </a:r>
            <a:r>
              <a:rPr lang="en-US" sz="1050" dirty="0">
                <a:solidFill>
                  <a:srgbClr val="3F7F5F"/>
                </a:solidFill>
                <a:latin typeface="Consolas" panose="020B0609020204030204" pitchFamily="49" charset="0"/>
              </a:rPr>
              <a:t>//!&lt; Size of the FFT (number of real data points)</a:t>
            </a:r>
          </a:p>
          <a:p>
            <a:pPr marL="114300" indent="0" algn="l">
              <a:spcBef>
                <a:spcPts val="0"/>
              </a:spcBef>
              <a:buNone/>
            </a:pPr>
            <a:r>
              <a:rPr lang="en-US" sz="1050" dirty="0">
                <a:solidFill>
                  <a:srgbClr val="000000"/>
                </a:solidFill>
                <a:latin typeface="Consolas" panose="020B0609020204030204" pitchFamily="49" charset="0"/>
              </a:rPr>
              <a:t>  </a:t>
            </a:r>
            <a:r>
              <a:rPr lang="en-US" sz="1050" dirty="0">
                <a:solidFill>
                  <a:srgbClr val="005032"/>
                </a:solidFill>
                <a:latin typeface="Consolas" panose="020B0609020204030204" pitchFamily="49" charset="0"/>
              </a:rPr>
              <a:t>uint16_t</a:t>
            </a:r>
            <a:r>
              <a:rPr lang="en-US" sz="1050" dirty="0">
                <a:solidFill>
                  <a:srgbClr val="000000"/>
                </a:solidFill>
                <a:latin typeface="Consolas" panose="020B0609020204030204" pitchFamily="49" charset="0"/>
              </a:rPr>
              <a:t>   </a:t>
            </a:r>
            <a:r>
              <a:rPr lang="en-US" sz="1050" dirty="0" err="1">
                <a:solidFill>
                  <a:srgbClr val="0000C0"/>
                </a:solidFill>
                <a:latin typeface="Consolas" panose="020B0609020204030204" pitchFamily="49" charset="0"/>
              </a:rPr>
              <a:t>FFTStages</a:t>
            </a:r>
            <a:r>
              <a:rPr lang="en-US" sz="1050" dirty="0">
                <a:solidFill>
                  <a:srgbClr val="000000"/>
                </a:solidFill>
                <a:latin typeface="Consolas" panose="020B0609020204030204" pitchFamily="49" charset="0"/>
              </a:rPr>
              <a:t>; </a:t>
            </a:r>
            <a:r>
              <a:rPr lang="en-US" sz="1050" dirty="0">
                <a:solidFill>
                  <a:srgbClr val="3F7F5F"/>
                </a:solidFill>
                <a:latin typeface="Consolas" panose="020B0609020204030204" pitchFamily="49" charset="0"/>
              </a:rPr>
              <a:t>//!&lt; Number of FFT stages</a:t>
            </a:r>
          </a:p>
          <a:p>
            <a:pPr marL="114300" indent="0" algn="l">
              <a:spcBef>
                <a:spcPts val="0"/>
              </a:spcBef>
              <a:buNone/>
            </a:pPr>
            <a:r>
              <a:rPr lang="en-US" sz="1050" dirty="0">
                <a:solidFill>
                  <a:srgbClr val="000000"/>
                </a:solidFill>
                <a:latin typeface="Consolas" panose="020B0609020204030204" pitchFamily="49" charset="0"/>
              </a:rPr>
              <a:t>} </a:t>
            </a:r>
            <a:r>
              <a:rPr lang="en-US" sz="1050" dirty="0">
                <a:solidFill>
                  <a:srgbClr val="005032"/>
                </a:solidFill>
                <a:latin typeface="Consolas" panose="020B0609020204030204" pitchFamily="49" charset="0"/>
              </a:rPr>
              <a:t>RFFT_F32_STRUCT</a:t>
            </a:r>
            <a:r>
              <a:rPr lang="en-US" sz="1050" dirty="0">
                <a:solidFill>
                  <a:srgbClr val="000000"/>
                </a:solidFill>
                <a:latin typeface="Consolas" panose="020B0609020204030204" pitchFamily="49" charset="0"/>
              </a:rPr>
              <a:t>;</a:t>
            </a:r>
          </a:p>
          <a:p>
            <a:pPr marL="114300" indent="0" algn="l">
              <a:spcBef>
                <a:spcPts val="0"/>
              </a:spcBef>
              <a:buNone/>
            </a:pPr>
            <a:endParaRPr lang="en-US" sz="1050" dirty="0">
              <a:solidFill>
                <a:srgbClr val="000000"/>
              </a:solidFill>
              <a:latin typeface="Consolas" panose="020B0609020204030204" pitchFamily="49" charset="0"/>
              <a:cs typeface="Arial"/>
              <a:sym typeface="Arial"/>
            </a:endParaRPr>
          </a:p>
          <a:p>
            <a:pPr marL="114300" indent="0" algn="l">
              <a:spcBef>
                <a:spcPts val="0"/>
              </a:spcBef>
              <a:buNone/>
            </a:pPr>
            <a:endParaRPr lang="en-US" sz="1050" dirty="0">
              <a:solidFill>
                <a:srgbClr val="000000"/>
              </a:solidFill>
              <a:latin typeface="Consolas" panose="020B0609020204030204" pitchFamily="49" charset="0"/>
              <a:cs typeface="Arial"/>
              <a:sym typeface="Arial"/>
            </a:endParaRPr>
          </a:p>
          <a:p>
            <a:pPr marL="114300" indent="0" algn="l">
              <a:spcBef>
                <a:spcPts val="0"/>
              </a:spcBef>
              <a:buNone/>
            </a:pPr>
            <a:r>
              <a:rPr lang="en-US" sz="1050" dirty="0">
                <a:solidFill>
                  <a:srgbClr val="7F0055"/>
                </a:solidFill>
                <a:latin typeface="Consolas" panose="020B0609020204030204" pitchFamily="49" charset="0"/>
              </a:rPr>
              <a:t>typedef</a:t>
            </a:r>
            <a:r>
              <a:rPr lang="en-US" sz="1050" dirty="0">
                <a:solidFill>
                  <a:srgbClr val="000000"/>
                </a:solidFill>
                <a:latin typeface="Consolas" panose="020B0609020204030204" pitchFamily="49" charset="0"/>
              </a:rPr>
              <a:t> </a:t>
            </a:r>
            <a:r>
              <a:rPr lang="en-US" sz="1050" dirty="0">
                <a:solidFill>
                  <a:srgbClr val="005032"/>
                </a:solidFill>
                <a:latin typeface="Consolas" panose="020B0609020204030204" pitchFamily="49" charset="0"/>
              </a:rPr>
              <a:t>RFFT_F32_STRUCT</a:t>
            </a:r>
            <a:r>
              <a:rPr lang="en-US" sz="1050" dirty="0">
                <a:solidFill>
                  <a:srgbClr val="000000"/>
                </a:solidFill>
                <a:latin typeface="Consolas" panose="020B0609020204030204" pitchFamily="49" charset="0"/>
              </a:rPr>
              <a:t>* </a:t>
            </a:r>
            <a:r>
              <a:rPr lang="en-US" sz="1050" dirty="0">
                <a:solidFill>
                  <a:srgbClr val="005032"/>
                </a:solidFill>
                <a:latin typeface="Consolas" panose="020B0609020204030204" pitchFamily="49" charset="0"/>
              </a:rPr>
              <a:t>RFFT_F32_STRUCT_Handle</a:t>
            </a:r>
            <a:r>
              <a:rPr lang="en-US" sz="1050" dirty="0">
                <a:solidFill>
                  <a:srgbClr val="000000"/>
                </a:solidFill>
                <a:latin typeface="Consolas" panose="020B0609020204030204" pitchFamily="49" charset="0"/>
              </a:rPr>
              <a:t>;</a:t>
            </a:r>
            <a:endParaRPr lang="en-US" sz="1050" dirty="0">
              <a:solidFill>
                <a:schemeClr val="tx1"/>
              </a:solidFill>
              <a:latin typeface="Atkinson Hyperlegible Next"/>
              <a:cs typeface="Arial"/>
              <a:sym typeface="Arial"/>
            </a:endParaRPr>
          </a:p>
        </p:txBody>
      </p:sp>
    </p:spTree>
    <p:extLst>
      <p:ext uri="{BB962C8B-B14F-4D97-AF65-F5344CB8AC3E}">
        <p14:creationId xmlns:p14="http://schemas.microsoft.com/office/powerpoint/2010/main" val="2734493284"/>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C3F02F54-F375-C55B-08A7-1336F4D67728}"/>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55742FE2-C6BF-479D-78EB-0834A37AB665}"/>
              </a:ext>
            </a:extLst>
          </p:cNvPr>
          <p:cNvSpPr txBox="1">
            <a:spLocks noGrp="1"/>
          </p:cNvSpPr>
          <p:nvPr>
            <p:ph type="body" idx="1"/>
          </p:nvPr>
        </p:nvSpPr>
        <p:spPr>
          <a:xfrm>
            <a:off x="376809" y="1334279"/>
            <a:ext cx="11452008" cy="4821102"/>
          </a:xfrm>
          <a:prstGeom prst="rect">
            <a:avLst/>
          </a:prstGeom>
          <a:noFill/>
          <a:ln>
            <a:noFill/>
          </a:ln>
        </p:spPr>
        <p:txBody>
          <a:bodyPr spcFirstLastPara="1" wrap="square" lIns="91425" tIns="45700" rIns="91425" bIns="45700" anchor="ctr" anchorCtr="0">
            <a:noAutofit/>
          </a:bodyPr>
          <a:lstStyle/>
          <a:p>
            <a:pPr marL="114300" indent="0" algn="l">
              <a:buNone/>
            </a:pPr>
            <a:r>
              <a:rPr lang="en-US" sz="2000" dirty="0">
                <a:solidFill>
                  <a:srgbClr val="000000"/>
                </a:solidFill>
                <a:latin typeface="Consolas" panose="020B0609020204030204" pitchFamily="49" charset="0"/>
              </a:rPr>
              <a:t>EALLOW;  </a:t>
            </a:r>
            <a:r>
              <a:rPr lang="en-US" sz="2000" dirty="0">
                <a:solidFill>
                  <a:srgbClr val="3F7F5F"/>
                </a:solidFill>
                <a:latin typeface="Consolas" panose="020B0609020204030204" pitchFamily="49" charset="0"/>
              </a:rPr>
              <a:t>// This is needed to write to EALLOW protected registers</a:t>
            </a:r>
          </a:p>
          <a:p>
            <a:pPr marL="114300" indent="0" algn="l">
              <a:buNone/>
            </a:pPr>
            <a:r>
              <a:rPr lang="en-US" sz="2000" dirty="0">
                <a:solidFill>
                  <a:srgbClr val="000000"/>
                </a:solidFill>
                <a:latin typeface="Consolas" panose="020B0609020204030204" pitchFamily="49" charset="0"/>
              </a:rPr>
              <a:t>PieVectTable.</a:t>
            </a:r>
            <a:r>
              <a:rPr lang="en-US" sz="2000" dirty="0">
                <a:solidFill>
                  <a:srgbClr val="0000C0"/>
                </a:solidFill>
                <a:latin typeface="Consolas" panose="020B0609020204030204" pitchFamily="49" charset="0"/>
              </a:rPr>
              <a:t>DMA_CH1_INT</a:t>
            </a:r>
            <a:r>
              <a:rPr lang="en-US" sz="2000" dirty="0">
                <a:solidFill>
                  <a:srgbClr val="000000"/>
                </a:solidFill>
                <a:latin typeface="Consolas" panose="020B0609020204030204" pitchFamily="49" charset="0"/>
              </a:rPr>
              <a:t> = &amp;DMA_ISR;</a:t>
            </a:r>
          </a:p>
          <a:p>
            <a:pPr marL="114300" indent="0" algn="l">
              <a:buNone/>
            </a:pPr>
            <a:r>
              <a:rPr lang="en-US" sz="2000" dirty="0">
                <a:solidFill>
                  <a:srgbClr val="000000"/>
                </a:solidFill>
                <a:latin typeface="Consolas" panose="020B0609020204030204" pitchFamily="49" charset="0"/>
              </a:rPr>
              <a:t>EDIS;    </a:t>
            </a:r>
            <a:r>
              <a:rPr lang="en-US" sz="2000" dirty="0">
                <a:solidFill>
                  <a:srgbClr val="3F7F5F"/>
                </a:solidFill>
                <a:latin typeface="Consolas" panose="020B0609020204030204" pitchFamily="49" charset="0"/>
              </a:rPr>
              <a:t>// This is needed to disable write to EALLOW protected registers</a:t>
            </a:r>
            <a:endParaRPr lang="en-US" sz="2000" dirty="0">
              <a:solidFill>
                <a:srgbClr val="3F7F5F"/>
              </a:solidFill>
              <a:latin typeface="Consolas" panose="020B0609020204030204" pitchFamily="49" charset="0"/>
              <a:cs typeface="Arial"/>
              <a:sym typeface="Arial"/>
            </a:endParaRPr>
          </a:p>
        </p:txBody>
      </p:sp>
      <p:sp>
        <p:nvSpPr>
          <p:cNvPr id="119" name="Google Shape;119;p29">
            <a:extLst>
              <a:ext uri="{FF2B5EF4-FFF2-40B4-BE49-F238E27FC236}">
                <a16:creationId xmlns:a16="http://schemas.microsoft.com/office/drawing/2014/main" id="{0F024988-C610-A71B-F3D1-B221B09CF297}"/>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C1A7CF49-E4E7-F339-E37B-77F4FFE3D7D0}"/>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FFT Code</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2A05B286-23F0-C168-B692-019698743EE7}"/>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AD1741B8-2344-524B-1F81-6E29A3E0FE21}"/>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6C6F0037-97DD-BE75-96A2-132ABCFFAB28}"/>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AA212DDF-9CD6-4B8F-A30D-500F6C06CB33}"/>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D4AD500F-5A05-C394-77C2-5423CD5856CD}"/>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282E0776-F499-1359-2F9A-9C5F0E77A233}"/>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1263715870"/>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103">
          <a:extLst>
            <a:ext uri="{FF2B5EF4-FFF2-40B4-BE49-F238E27FC236}">
              <a16:creationId xmlns:a16="http://schemas.microsoft.com/office/drawing/2014/main" id="{71940C99-7681-94FD-F24E-2ED729E9836E}"/>
            </a:ext>
          </a:extLst>
        </p:cNvPr>
        <p:cNvGrpSpPr/>
        <p:nvPr/>
      </p:nvGrpSpPr>
      <p:grpSpPr>
        <a:xfrm>
          <a:off x="0" y="0"/>
          <a:ext cx="0" cy="0"/>
          <a:chOff x="0" y="0"/>
          <a:chExt cx="0" cy="0"/>
        </a:xfrm>
      </p:grpSpPr>
      <p:sp>
        <p:nvSpPr>
          <p:cNvPr id="104" name="Google Shape;104;p28">
            <a:extLst>
              <a:ext uri="{FF2B5EF4-FFF2-40B4-BE49-F238E27FC236}">
                <a16:creationId xmlns:a16="http://schemas.microsoft.com/office/drawing/2014/main" id="{E64730EB-9107-5493-53B5-75D709447B42}"/>
              </a:ext>
            </a:extLst>
          </p:cNvPr>
          <p:cNvSpPr/>
          <p:nvPr>
            <p:ph type="title"/>
          </p:nvPr>
        </p:nvSpPr>
        <p:spPr>
          <a:xfrm>
            <a:off x="1295400" y="3225489"/>
            <a:ext cx="9601200" cy="784790"/>
          </a:xfrm>
          <a:prstGeom prst="rect">
            <a:avLst/>
          </a:prstGeom>
          <a:noFill/>
          <a:ln>
            <a:noFill/>
          </a:ln>
        </p:spPr>
        <p:txBody>
          <a:bodyPr spcFirstLastPara="1" wrap="square" lIns="91425" tIns="45700" rIns="91425" bIns="45700" anchor="ctr" anchorCtr="0">
            <a:spAutoFit/>
          </a:bodyPr>
          <a:lstStyle/>
          <a:p>
            <a:pPr marL="0" marR="0" lvl="0" indent="0" algn="ctr" rtl="0">
              <a:lnSpc>
                <a:spcPct val="100000"/>
              </a:lnSpc>
              <a:spcBef>
                <a:spcPts val="0"/>
              </a:spcBef>
              <a:spcAft>
                <a:spcPts val="0"/>
              </a:spcAft>
              <a:buClr>
                <a:srgbClr val="000000"/>
              </a:buClr>
              <a:buSzPts val="4500"/>
              <a:buFont typeface="Arial"/>
              <a:buNone/>
            </a:pPr>
            <a:r>
              <a:rPr lang="en-US" sz="4500" b="1" i="0" u="none" strike="noStrike" cap="none" dirty="0">
                <a:solidFill>
                  <a:srgbClr val="15264B"/>
                </a:solidFill>
                <a:latin typeface="Atkinson Hyperlegible Next"/>
                <a:ea typeface="Arial"/>
                <a:cs typeface="Arial"/>
                <a:sym typeface="Arial"/>
              </a:rPr>
              <a:t>Direct Memory Access (DMA)</a:t>
            </a:r>
            <a:endParaRPr sz="1800" b="0" i="0" u="none" strike="noStrike" cap="none" dirty="0">
              <a:solidFill>
                <a:srgbClr val="15264B"/>
              </a:solidFill>
              <a:latin typeface="Atkinson Hyperlegible Next"/>
              <a:ea typeface="Arial"/>
              <a:cs typeface="Arial"/>
              <a:sym typeface="Arial"/>
            </a:endParaRPr>
          </a:p>
        </p:txBody>
      </p:sp>
      <p:grpSp>
        <p:nvGrpSpPr>
          <p:cNvPr id="105" name="Google Shape;105;p28">
            <a:extLst>
              <a:ext uri="{FF2B5EF4-FFF2-40B4-BE49-F238E27FC236}">
                <a16:creationId xmlns:a16="http://schemas.microsoft.com/office/drawing/2014/main" id="{276545AA-903F-9C2D-B692-01E686C13366}"/>
              </a:ext>
            </a:extLst>
          </p:cNvPr>
          <p:cNvGrpSpPr/>
          <p:nvPr/>
        </p:nvGrpSpPr>
        <p:grpSpPr>
          <a:xfrm>
            <a:off x="3943790" y="2676939"/>
            <a:ext cx="3861740" cy="322845"/>
            <a:chOff x="3943790" y="2676939"/>
            <a:chExt cx="3861740" cy="322845"/>
          </a:xfrm>
        </p:grpSpPr>
        <p:cxnSp>
          <p:nvCxnSpPr>
            <p:cNvPr id="106" name="Google Shape;106;p28">
              <a:extLst>
                <a:ext uri="{FF2B5EF4-FFF2-40B4-BE49-F238E27FC236}">
                  <a16:creationId xmlns:a16="http://schemas.microsoft.com/office/drawing/2014/main" id="{498BCAAF-2632-EF26-CAA6-3AB816F4B9B8}"/>
                </a:ext>
              </a:extLst>
            </p:cNvPr>
            <p:cNvCxnSpPr/>
            <p:nvPr/>
          </p:nvCxnSpPr>
          <p:spPr>
            <a:xfrm>
              <a:off x="4426226" y="2676939"/>
              <a:ext cx="3379304" cy="0"/>
            </a:xfrm>
            <a:prstGeom prst="straightConnector1">
              <a:avLst/>
            </a:prstGeom>
            <a:noFill/>
            <a:ln w="19050" cap="flat" cmpd="sng">
              <a:solidFill>
                <a:schemeClr val="lt1"/>
              </a:solidFill>
              <a:prstDash val="solid"/>
              <a:round/>
              <a:headEnd type="none" w="sm" len="sm"/>
              <a:tailEnd type="none" w="sm" len="sm"/>
            </a:ln>
          </p:spPr>
        </p:cxnSp>
        <p:cxnSp>
          <p:nvCxnSpPr>
            <p:cNvPr id="107" name="Google Shape;107;p28">
              <a:extLst>
                <a:ext uri="{FF2B5EF4-FFF2-40B4-BE49-F238E27FC236}">
                  <a16:creationId xmlns:a16="http://schemas.microsoft.com/office/drawing/2014/main" id="{2D6DEE66-20CD-221E-859D-93D4A98E18D1}"/>
                </a:ext>
              </a:extLst>
            </p:cNvPr>
            <p:cNvCxnSpPr/>
            <p:nvPr/>
          </p:nvCxnSpPr>
          <p:spPr>
            <a:xfrm rot="10800000" flipH="1">
              <a:off x="3943790" y="2676939"/>
              <a:ext cx="482436" cy="322845"/>
            </a:xfrm>
            <a:prstGeom prst="straightConnector1">
              <a:avLst/>
            </a:prstGeom>
            <a:noFill/>
            <a:ln w="19050" cap="flat" cmpd="sng">
              <a:solidFill>
                <a:schemeClr val="lt1"/>
              </a:solidFill>
              <a:prstDash val="solid"/>
              <a:round/>
              <a:headEnd type="none" w="sm" len="sm"/>
              <a:tailEnd type="none" w="sm" len="sm"/>
            </a:ln>
          </p:spPr>
        </p:cxnSp>
      </p:grpSp>
      <p:pic>
        <p:nvPicPr>
          <p:cNvPr id="108" name="Google Shape;108;p28">
            <a:extLst>
              <a:ext uri="{C183D7F6-B498-43B3-948B-1728B52AA6E4}">
                <adec:decorative xmlns:adec="http://schemas.microsoft.com/office/drawing/2017/decorative" val="1"/>
              </a:ext>
              <a:ext uri="{FF2B5EF4-FFF2-40B4-BE49-F238E27FC236}">
                <a16:creationId xmlns:a16="http://schemas.microsoft.com/office/drawing/2014/main" id="{05F3E593-57D1-6778-DD0A-EF387A40A0A4}"/>
              </a:ext>
            </a:extLst>
          </p:cNvPr>
          <p:cNvPicPr preferRelativeResize="0"/>
          <p:nvPr/>
        </p:nvPicPr>
        <p:blipFill rotWithShape="1">
          <a:blip r:embed="rId4">
            <a:alphaModFix/>
          </a:blip>
          <a:srcRect/>
          <a:stretch/>
        </p:blipFill>
        <p:spPr>
          <a:xfrm>
            <a:off x="11557509" y="233819"/>
            <a:ext cx="271308" cy="389811"/>
          </a:xfrm>
          <a:prstGeom prst="rect">
            <a:avLst/>
          </a:prstGeom>
          <a:noFill/>
          <a:ln>
            <a:noFill/>
          </a:ln>
        </p:spPr>
      </p:pic>
      <p:sp>
        <p:nvSpPr>
          <p:cNvPr id="109" name="Google Shape;109;p28">
            <a:extLst>
              <a:ext uri="{FF2B5EF4-FFF2-40B4-BE49-F238E27FC236}">
                <a16:creationId xmlns:a16="http://schemas.microsoft.com/office/drawing/2014/main" id="{10F217EC-3636-31B1-7F9D-CE2F7A320D8C}"/>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10" name="Google Shape;110;p28">
            <a:extLst>
              <a:ext uri="{FF2B5EF4-FFF2-40B4-BE49-F238E27FC236}">
                <a16:creationId xmlns:a16="http://schemas.microsoft.com/office/drawing/2014/main" id="{251CDBA0-D238-8CE4-8513-6F430CDF3709}"/>
              </a:ext>
            </a:extLst>
          </p:cNvPr>
          <p:cNvSpPr txBox="1"/>
          <p:nvPr/>
        </p:nvSpPr>
        <p:spPr>
          <a:xfrm>
            <a:off x="376807" y="6524381"/>
            <a:ext cx="7991400" cy="230700"/>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a:t>
            </a:r>
            <a:endParaRPr dirty="0"/>
          </a:p>
        </p:txBody>
      </p:sp>
      <p:grpSp>
        <p:nvGrpSpPr>
          <p:cNvPr id="111" name="Google Shape;111;p28">
            <a:extLst>
              <a:ext uri="{FF2B5EF4-FFF2-40B4-BE49-F238E27FC236}">
                <a16:creationId xmlns:a16="http://schemas.microsoft.com/office/drawing/2014/main" id="{084C0F08-2F72-D954-D7CF-13AC1243E58C}"/>
              </a:ext>
            </a:extLst>
          </p:cNvPr>
          <p:cNvGrpSpPr/>
          <p:nvPr/>
        </p:nvGrpSpPr>
        <p:grpSpPr>
          <a:xfrm>
            <a:off x="4066674" y="6601537"/>
            <a:ext cx="5233412" cy="70446"/>
            <a:chOff x="4033424" y="6601537"/>
            <a:chExt cx="5233412" cy="70446"/>
          </a:xfrm>
        </p:grpSpPr>
        <p:cxnSp>
          <p:nvCxnSpPr>
            <p:cNvPr id="112" name="Google Shape;112;p28">
              <a:extLst>
                <a:ext uri="{FF2B5EF4-FFF2-40B4-BE49-F238E27FC236}">
                  <a16:creationId xmlns:a16="http://schemas.microsoft.com/office/drawing/2014/main" id="{9644DD6F-222F-8F23-50AA-97757A56C2D4}"/>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13" name="Google Shape;113;p28">
              <a:extLst>
                <a:ext uri="{FF2B5EF4-FFF2-40B4-BE49-F238E27FC236}">
                  <a16:creationId xmlns:a16="http://schemas.microsoft.com/office/drawing/2014/main" id="{64A74847-55C8-CA00-A645-F08D4D26283E}"/>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1275436432"/>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579BE419-3339-153E-85DB-DBFE59847B81}"/>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09177095-7BE7-902F-D8D4-52A903744067}"/>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lvl="0" indent="0">
              <a:lnSpc>
                <a:spcPct val="100000"/>
              </a:lnSpc>
              <a:spcBef>
                <a:spcPts val="0"/>
              </a:spcBef>
              <a:buSzPts val="2000"/>
              <a:buNone/>
            </a:pPr>
            <a:r>
              <a:rPr lang="en-US" sz="2000" dirty="0"/>
              <a:t>The direct memory access (DMA) module provides a hardware method of transferring data between peripherals and/or memory without intervention from the CPU, thereby freeing up bandwidth for other system functions. </a:t>
            </a:r>
          </a:p>
          <a:p>
            <a:pPr marL="0" lvl="0" indent="0">
              <a:lnSpc>
                <a:spcPct val="100000"/>
              </a:lnSpc>
              <a:spcBef>
                <a:spcPts val="0"/>
              </a:spcBef>
              <a:buSzPts val="2000"/>
              <a:buNone/>
            </a:pPr>
            <a:endParaRPr lang="en-US" sz="2000" dirty="0"/>
          </a:p>
          <a:p>
            <a:pPr marL="0" lvl="0" indent="0">
              <a:lnSpc>
                <a:spcPct val="100000"/>
              </a:lnSpc>
              <a:spcBef>
                <a:spcPts val="0"/>
              </a:spcBef>
              <a:buSzPts val="2000"/>
              <a:buNone/>
            </a:pPr>
            <a:r>
              <a:rPr lang="en-US" sz="2000" dirty="0"/>
              <a:t>Many times, applications spend a significant amount of their bandwidth moving </a:t>
            </a:r>
            <a:r>
              <a:rPr lang="en-US" sz="2000" dirty="0" err="1"/>
              <a:t>data,whether</a:t>
            </a:r>
            <a:r>
              <a:rPr lang="en-US" sz="2000" dirty="0"/>
              <a:t> it is from off-chip memory to on-chip memory, or from a peripheral such as an analog-to-digital converter (ADC) to RAM, or even from one peripheral to another. </a:t>
            </a:r>
          </a:p>
          <a:p>
            <a:pPr marL="0" lvl="0" indent="0">
              <a:lnSpc>
                <a:spcPct val="100000"/>
              </a:lnSpc>
              <a:spcBef>
                <a:spcPts val="0"/>
              </a:spcBef>
              <a:buSzPts val="2000"/>
              <a:buNone/>
            </a:pPr>
            <a:endParaRPr lang="en-US" sz="2000" dirty="0"/>
          </a:p>
          <a:p>
            <a:pPr marL="0" lvl="0" indent="0">
              <a:lnSpc>
                <a:spcPct val="100000"/>
              </a:lnSpc>
              <a:spcBef>
                <a:spcPts val="0"/>
              </a:spcBef>
              <a:buSzPts val="2000"/>
              <a:buNone/>
            </a:pPr>
            <a:r>
              <a:rPr lang="en-US" sz="2000" dirty="0"/>
              <a:t>Furthermore, many times this data comes in a format that is not conducive to the optimum processing powers of the CPU. </a:t>
            </a:r>
          </a:p>
          <a:p>
            <a:pPr marL="0" lvl="0" indent="0">
              <a:lnSpc>
                <a:spcPct val="100000"/>
              </a:lnSpc>
              <a:spcBef>
                <a:spcPts val="0"/>
              </a:spcBef>
              <a:buSzPts val="2000"/>
              <a:buNone/>
            </a:pPr>
            <a:endParaRPr lang="en-US" sz="2000" dirty="0"/>
          </a:p>
          <a:p>
            <a:pPr marL="0" lvl="0" indent="0">
              <a:lnSpc>
                <a:spcPct val="100000"/>
              </a:lnSpc>
              <a:spcBef>
                <a:spcPts val="0"/>
              </a:spcBef>
              <a:buSzPts val="2000"/>
              <a:buNone/>
            </a:pPr>
            <a:r>
              <a:rPr lang="en-US" sz="2000" dirty="0"/>
              <a:t>The DMA module described in this reference guide can free up CPU bandwidth and rearrange the data into a pattern for more streamlined processing.</a:t>
            </a:r>
          </a:p>
        </p:txBody>
      </p:sp>
      <p:sp>
        <p:nvSpPr>
          <p:cNvPr id="119" name="Google Shape;119;p29">
            <a:extLst>
              <a:ext uri="{FF2B5EF4-FFF2-40B4-BE49-F238E27FC236}">
                <a16:creationId xmlns:a16="http://schemas.microsoft.com/office/drawing/2014/main" id="{2431BC1D-7C37-C6EB-EBD9-2FC7A70B2985}"/>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DBECEF0D-08B8-DE09-57C0-592C45017F0D}"/>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DMA</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77D320FC-5B25-782B-6DB2-02958EEF52DA}"/>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73C2B5C0-4BAC-1F91-6785-3C842F27FEF2}"/>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4E5F0B24-865D-252C-5CA5-CC883858C818}"/>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E556EF8D-CD83-8977-3CED-0A53781F6F61}"/>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0B3DA97E-40E8-A78F-A718-267927C58EA6}"/>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CEECE0DC-3DC9-9F57-F551-853AFE92E0C6}"/>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3556869367"/>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76B5DAAE-FD21-56F9-E38F-2045FD17F0B3}"/>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B4681AAF-76F3-D1C8-352A-C459938E94DC}"/>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lvl="0" indent="0">
              <a:lnSpc>
                <a:spcPct val="100000"/>
              </a:lnSpc>
              <a:spcBef>
                <a:spcPts val="0"/>
              </a:spcBef>
              <a:buSzPts val="2000"/>
              <a:buNone/>
            </a:pPr>
            <a:r>
              <a:rPr lang="en-US" sz="2000" dirty="0"/>
              <a:t>DMA features include:</a:t>
            </a:r>
          </a:p>
          <a:p>
            <a:pPr marL="342900">
              <a:lnSpc>
                <a:spcPct val="100000"/>
              </a:lnSpc>
              <a:spcBef>
                <a:spcPts val="0"/>
              </a:spcBef>
              <a:buSzPts val="2000"/>
            </a:pPr>
            <a:r>
              <a:rPr lang="en-US" sz="2000" dirty="0"/>
              <a:t>Six channels with independent PIE interrupts</a:t>
            </a:r>
          </a:p>
          <a:p>
            <a:pPr marL="342900">
              <a:lnSpc>
                <a:spcPct val="100000"/>
              </a:lnSpc>
              <a:spcBef>
                <a:spcPts val="0"/>
              </a:spcBef>
              <a:buSzPts val="2000"/>
            </a:pPr>
            <a:r>
              <a:rPr lang="en-US" sz="2000" dirty="0"/>
              <a:t>Each DMA channel can be triggered from multiple peripheral trigger sources independently</a:t>
            </a:r>
          </a:p>
          <a:p>
            <a:pPr marL="342900">
              <a:lnSpc>
                <a:spcPct val="100000"/>
              </a:lnSpc>
              <a:spcBef>
                <a:spcPts val="0"/>
              </a:spcBef>
              <a:buSzPts val="2000"/>
            </a:pPr>
            <a:r>
              <a:rPr lang="en-US" sz="2000" dirty="0"/>
              <a:t>Word Size: 16-bit or 32-bit (SPI limited to 16-bit)</a:t>
            </a:r>
          </a:p>
          <a:p>
            <a:pPr marL="342900">
              <a:lnSpc>
                <a:spcPct val="100000"/>
              </a:lnSpc>
              <a:spcBef>
                <a:spcPts val="0"/>
              </a:spcBef>
              <a:buSzPts val="2000"/>
            </a:pPr>
            <a:r>
              <a:rPr lang="en-US" sz="2000" dirty="0"/>
              <a:t>Throughput: 3 cycles/word without arbitration</a:t>
            </a:r>
          </a:p>
          <a:p>
            <a:pPr marL="342900">
              <a:lnSpc>
                <a:spcPct val="100000"/>
              </a:lnSpc>
              <a:spcBef>
                <a:spcPts val="0"/>
              </a:spcBef>
              <a:buSzPts val="2000"/>
            </a:pPr>
            <a:endParaRPr lang="en-US" sz="2000" dirty="0"/>
          </a:p>
          <a:p>
            <a:pPr marL="342900">
              <a:lnSpc>
                <a:spcPct val="100000"/>
              </a:lnSpc>
              <a:spcBef>
                <a:spcPts val="0"/>
              </a:spcBef>
              <a:buSzPts val="2000"/>
            </a:pPr>
            <a:endParaRPr lang="en-US" sz="2000" dirty="0"/>
          </a:p>
          <a:p>
            <a:pPr marL="0" indent="0">
              <a:lnSpc>
                <a:spcPct val="100000"/>
              </a:lnSpc>
              <a:spcBef>
                <a:spcPts val="0"/>
              </a:spcBef>
              <a:buSzPts val="2000"/>
              <a:buNone/>
            </a:pPr>
            <a:r>
              <a:rPr lang="en-US" sz="2000" dirty="0"/>
              <a:t>The DMA has an 8-bit trigger source selection (“255 options”). The trigger sources range from the ADC, XINT, </a:t>
            </a:r>
            <a:r>
              <a:rPr lang="en-US" sz="2000" dirty="0" err="1"/>
              <a:t>ePWM</a:t>
            </a:r>
            <a:r>
              <a:rPr lang="en-US" sz="2000" dirty="0"/>
              <a:t>, Timer interrupts, SPI and more.</a:t>
            </a:r>
          </a:p>
        </p:txBody>
      </p:sp>
      <p:sp>
        <p:nvSpPr>
          <p:cNvPr id="119" name="Google Shape;119;p29">
            <a:extLst>
              <a:ext uri="{FF2B5EF4-FFF2-40B4-BE49-F238E27FC236}">
                <a16:creationId xmlns:a16="http://schemas.microsoft.com/office/drawing/2014/main" id="{0A4A5C99-8D4E-FB9F-13A8-22F22C4A4453}"/>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F00FB1C4-F9FA-6630-E844-E290E173D9C6}"/>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DMA</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C2E7E8E1-FA2C-8BE2-1097-B1A9C9B8055C}"/>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54B05B98-6524-BCB1-E366-60A28D873B61}"/>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BB9669A3-4279-FBE5-71DD-25C2889901B7}"/>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EE6AEDE5-31A0-4F50-3596-6E0D61B9682D}"/>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6A960B7A-49DF-7D58-E18A-544248B8E6C8}"/>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ACC5DE61-670A-72A7-06DE-06131013A97F}"/>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3199675731"/>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724F84D9-768F-9EA7-5959-9EBFE0ABA336}"/>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CD21F40A-7C90-4107-2D65-1E4013B712FB}"/>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A4994184-1926-3C61-A08E-F4F0C8D5A8E8}"/>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FFT Code</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389BFA2D-CE34-A957-9687-175B86B45CDD}"/>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B19B6F80-0F27-CBE7-47DC-5CB9508F401A}"/>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093B37FB-FFA7-FE5C-DFA7-168EC4804FF9}"/>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C614DAD0-F2F6-A187-59A9-F9DA21E23D9E}"/>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F46D28F5-780A-B678-5612-5AA577A889F5}"/>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6BE3BCBF-C345-CFFA-01B0-E6FDA963CD2C}"/>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5" name="Graphic 4" descr="Block diagram of the dual-core TI C2000 DMA system. Each CPU has its own DMA controller with six channels. Trigger sources include ADC interrupts, SDFM flags, ePWM SOCA/SOCB, McBSP and SPI events, XINT inputs and CPU timers, chosen through DMACHSRCSEL registers. Separate DMA buses give each DMA a data path to ADC results, the global shared and message RAMs, McBSP, SPI, SDFM, ePWM and EMIF, alongside each CPU's own bus. DMA channel interrupts one through six go to each CPU's PIE.">
            <a:extLst>
              <a:ext uri="{FF2B5EF4-FFF2-40B4-BE49-F238E27FC236}">
                <a16:creationId xmlns:a16="http://schemas.microsoft.com/office/drawing/2014/main" id="{AE5AE88A-ED40-2A09-B15C-C1F13F87F1E3}"/>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2638661" y="963463"/>
            <a:ext cx="6914678" cy="5547458"/>
          </a:xfrm>
          <a:prstGeom prst="rect">
            <a:avLst/>
          </a:prstGeom>
        </p:spPr>
      </p:pic>
    </p:spTree>
    <p:extLst>
      <p:ext uri="{BB962C8B-B14F-4D97-AF65-F5344CB8AC3E}">
        <p14:creationId xmlns:p14="http://schemas.microsoft.com/office/powerpoint/2010/main" val="2466118872"/>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01C646A3-2C82-AEE1-1A9D-40E8F66247A1}"/>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34266141-71DC-C5AC-02F1-79FE2521A205}"/>
              </a:ext>
            </a:extLst>
          </p:cNvPr>
          <p:cNvSpPr txBox="1">
            <a:spLocks noGrp="1"/>
          </p:cNvSpPr>
          <p:nvPr>
            <p:ph type="body" idx="1"/>
          </p:nvPr>
        </p:nvSpPr>
        <p:spPr>
          <a:xfrm>
            <a:off x="376809" y="1334279"/>
            <a:ext cx="11452008" cy="4821102"/>
          </a:xfrm>
          <a:prstGeom prst="rect">
            <a:avLst/>
          </a:prstGeom>
          <a:noFill/>
          <a:ln>
            <a:noFill/>
          </a:ln>
        </p:spPr>
        <p:txBody>
          <a:bodyPr spcFirstLastPara="1" wrap="square" lIns="91425" tIns="45700" rIns="91425" bIns="45700" anchor="ctr" anchorCtr="0">
            <a:noAutofit/>
          </a:bodyPr>
          <a:lstStyle/>
          <a:p>
            <a:pPr marL="114300" indent="0" algn="l">
              <a:spcBef>
                <a:spcPts val="0"/>
              </a:spcBef>
              <a:buNone/>
            </a:pPr>
            <a:r>
              <a:rPr lang="en-US" sz="1050" dirty="0">
                <a:solidFill>
                  <a:srgbClr val="000000"/>
                </a:solidFill>
                <a:latin typeface="Consolas" panose="020B0609020204030204" pitchFamily="49" charset="0"/>
              </a:rPr>
              <a:t>__interrupt </a:t>
            </a:r>
            <a:r>
              <a:rPr lang="en-US" sz="1050" dirty="0">
                <a:solidFill>
                  <a:srgbClr val="7F0055"/>
                </a:solidFill>
                <a:latin typeface="Consolas" panose="020B0609020204030204" pitchFamily="49" charset="0"/>
              </a:rPr>
              <a:t>void</a:t>
            </a:r>
            <a:r>
              <a:rPr lang="en-US" sz="1050" dirty="0">
                <a:solidFill>
                  <a:srgbClr val="000000"/>
                </a:solidFill>
                <a:latin typeface="Consolas" panose="020B0609020204030204" pitchFamily="49" charset="0"/>
              </a:rPr>
              <a:t> DMA_ISR(</a:t>
            </a:r>
            <a:r>
              <a:rPr lang="en-US" sz="1050" dirty="0">
                <a:solidFill>
                  <a:srgbClr val="7F0055"/>
                </a:solidFill>
                <a:latin typeface="Consolas" panose="020B0609020204030204" pitchFamily="49" charset="0"/>
              </a:rPr>
              <a:t>void</a:t>
            </a:r>
            <a:r>
              <a:rPr lang="en-US" sz="1050" dirty="0">
                <a:solidFill>
                  <a:srgbClr val="000000"/>
                </a:solidFill>
                <a:latin typeface="Consolas" panose="020B0609020204030204" pitchFamily="49" charset="0"/>
              </a:rPr>
              <a:t>)                    </a:t>
            </a:r>
            <a:r>
              <a:rPr lang="en-US" sz="1050" dirty="0">
                <a:solidFill>
                  <a:srgbClr val="3F7F5F"/>
                </a:solidFill>
                <a:latin typeface="Consolas" panose="020B0609020204030204" pitchFamily="49" charset="0"/>
              </a:rPr>
              <a:t>// PIE7.1 @ 0x000DA0  DMA channel 1 interrupt</a:t>
            </a:r>
          </a:p>
          <a:p>
            <a:pPr marL="114300" indent="0" algn="l">
              <a:spcBef>
                <a:spcPts val="0"/>
              </a:spcBef>
              <a:buNone/>
            </a:pPr>
            <a:r>
              <a:rPr lang="en-US" sz="1050" dirty="0">
                <a:solidFill>
                  <a:srgbClr val="000000"/>
                </a:solidFill>
                <a:latin typeface="Consolas" panose="020B0609020204030204" pitchFamily="49" charset="0"/>
              </a:rPr>
              <a:t>{</a:t>
            </a:r>
          </a:p>
          <a:p>
            <a:pPr marL="114300" indent="0" algn="l">
              <a:spcBef>
                <a:spcPts val="0"/>
              </a:spcBef>
              <a:buNone/>
            </a:pPr>
            <a:r>
              <a:rPr lang="en-US" sz="1050" dirty="0">
                <a:solidFill>
                  <a:srgbClr val="000000"/>
                </a:solidFill>
                <a:latin typeface="Consolas" panose="020B0609020204030204" pitchFamily="49" charset="0"/>
              </a:rPr>
              <a:t>    </a:t>
            </a:r>
            <a:r>
              <a:rPr lang="en-US" sz="1050" dirty="0" err="1">
                <a:solidFill>
                  <a:srgbClr val="000000"/>
                </a:solidFill>
                <a:latin typeface="Consolas" panose="020B0609020204030204" pitchFamily="49" charset="0"/>
              </a:rPr>
              <a:t>PieCtrlRegs.</a:t>
            </a:r>
            <a:r>
              <a:rPr lang="en-US" sz="1050" dirty="0" err="1">
                <a:solidFill>
                  <a:srgbClr val="0000C0"/>
                </a:solidFill>
                <a:latin typeface="Consolas" panose="020B0609020204030204" pitchFamily="49" charset="0"/>
              </a:rPr>
              <a:t>PIEACK</a:t>
            </a:r>
            <a:r>
              <a:rPr lang="en-US" sz="1050" dirty="0" err="1">
                <a:solidFill>
                  <a:srgbClr val="000000"/>
                </a:solidFill>
                <a:latin typeface="Consolas" panose="020B0609020204030204" pitchFamily="49" charset="0"/>
              </a:rPr>
              <a:t>.</a:t>
            </a:r>
            <a:r>
              <a:rPr lang="en-US" sz="1050" dirty="0" err="1">
                <a:solidFill>
                  <a:srgbClr val="0000C0"/>
                </a:solidFill>
                <a:latin typeface="Consolas" panose="020B0609020204030204" pitchFamily="49" charset="0"/>
              </a:rPr>
              <a:t>all</a:t>
            </a:r>
            <a:r>
              <a:rPr lang="en-US" sz="1050" dirty="0">
                <a:solidFill>
                  <a:srgbClr val="000000"/>
                </a:solidFill>
                <a:latin typeface="Consolas" panose="020B0609020204030204" pitchFamily="49" charset="0"/>
              </a:rPr>
              <a:t> = PIEACK_GROUP7;         </a:t>
            </a:r>
            <a:r>
              <a:rPr lang="en-US" sz="1050" dirty="0">
                <a:solidFill>
                  <a:srgbClr val="3F7F5F"/>
                </a:solidFill>
                <a:latin typeface="Consolas" panose="020B0609020204030204" pitchFamily="49" charset="0"/>
              </a:rPr>
              <a:t>// Must acknowledge the PIE group</a:t>
            </a:r>
          </a:p>
          <a:p>
            <a:pPr marL="114300" indent="0" algn="l">
              <a:spcBef>
                <a:spcPts val="0"/>
              </a:spcBef>
              <a:buNone/>
            </a:pPr>
            <a:endParaRPr lang="en-US" sz="1050" dirty="0">
              <a:latin typeface="Consolas" panose="020B0609020204030204" pitchFamily="49" charset="0"/>
            </a:endParaRPr>
          </a:p>
          <a:p>
            <a:pPr marL="114300" indent="0" algn="l">
              <a:spcBef>
                <a:spcPts val="0"/>
              </a:spcBef>
              <a:buNone/>
            </a:pPr>
            <a:r>
              <a:rPr lang="en-US" sz="1050" dirty="0">
                <a:solidFill>
                  <a:srgbClr val="000000"/>
                </a:solidFill>
                <a:latin typeface="Consolas" panose="020B0609020204030204" pitchFamily="49" charset="0"/>
              </a:rPr>
              <a:t>    </a:t>
            </a:r>
            <a:r>
              <a:rPr lang="en-US" sz="1050" dirty="0">
                <a:solidFill>
                  <a:srgbClr val="3F7F5F"/>
                </a:solidFill>
                <a:latin typeface="Consolas" panose="020B0609020204030204" pitchFamily="49" charset="0"/>
              </a:rPr>
              <a:t>//--- Process the ADC data</a:t>
            </a:r>
          </a:p>
          <a:p>
            <a:pPr marL="114300" indent="0" algn="l">
              <a:spcBef>
                <a:spcPts val="0"/>
              </a:spcBef>
              <a:buNone/>
            </a:pPr>
            <a:r>
              <a:rPr lang="en-US" sz="1050" dirty="0">
                <a:solidFill>
                  <a:srgbClr val="000000"/>
                </a:solidFill>
                <a:latin typeface="Consolas" panose="020B0609020204030204" pitchFamily="49" charset="0"/>
              </a:rPr>
              <a:t>    </a:t>
            </a:r>
            <a:r>
              <a:rPr lang="en-US" sz="1050" dirty="0">
                <a:solidFill>
                  <a:srgbClr val="7F0055"/>
                </a:solidFill>
                <a:latin typeface="Consolas" panose="020B0609020204030204" pitchFamily="49" charset="0"/>
              </a:rPr>
              <a:t>if</a:t>
            </a:r>
            <a:r>
              <a:rPr lang="en-US" sz="1050" dirty="0">
                <a:solidFill>
                  <a:srgbClr val="000000"/>
                </a:solidFill>
                <a:latin typeface="Consolas" panose="020B0609020204030204" pitchFamily="49" charset="0"/>
              </a:rPr>
              <a:t>(</a:t>
            </a:r>
            <a:r>
              <a:rPr lang="en-US" sz="1050" dirty="0" err="1">
                <a:solidFill>
                  <a:srgbClr val="000000"/>
                </a:solidFill>
                <a:latin typeface="Consolas" panose="020B0609020204030204" pitchFamily="49" charset="0"/>
              </a:rPr>
              <a:t>iPingPong</a:t>
            </a:r>
            <a:r>
              <a:rPr lang="en-US" sz="1050" dirty="0">
                <a:solidFill>
                  <a:srgbClr val="000000"/>
                </a:solidFill>
                <a:latin typeface="Consolas" panose="020B0609020204030204" pitchFamily="49" charset="0"/>
              </a:rPr>
              <a:t> == 0)  </a:t>
            </a:r>
            <a:r>
              <a:rPr lang="en-US" sz="1050" dirty="0">
                <a:solidFill>
                  <a:srgbClr val="3F7F5F"/>
                </a:solidFill>
                <a:latin typeface="Consolas" panose="020B0609020204030204" pitchFamily="49" charset="0"/>
              </a:rPr>
              <a:t>// Ping buffer filling, process Pong buffer</a:t>
            </a:r>
          </a:p>
          <a:p>
            <a:pPr marL="114300" indent="0" algn="l">
              <a:spcBef>
                <a:spcPts val="0"/>
              </a:spcBef>
              <a:buNone/>
            </a:pPr>
            <a:r>
              <a:rPr lang="en-US" sz="1050" dirty="0">
                <a:solidFill>
                  <a:srgbClr val="000000"/>
                </a:solidFill>
                <a:latin typeface="Consolas" panose="020B0609020204030204" pitchFamily="49" charset="0"/>
              </a:rPr>
              <a:t>    {</a:t>
            </a:r>
          </a:p>
          <a:p>
            <a:pPr marL="114300" indent="0" algn="l">
              <a:spcBef>
                <a:spcPts val="0"/>
              </a:spcBef>
              <a:buNone/>
            </a:pPr>
            <a:r>
              <a:rPr lang="en-US" sz="1050" dirty="0">
                <a:solidFill>
                  <a:srgbClr val="000000"/>
                </a:solidFill>
                <a:latin typeface="Consolas" panose="020B0609020204030204" pitchFamily="49" charset="0"/>
              </a:rPr>
              <a:t>        </a:t>
            </a:r>
            <a:r>
              <a:rPr lang="en-US" sz="1050" dirty="0">
                <a:solidFill>
                  <a:srgbClr val="3F7F5F"/>
                </a:solidFill>
                <a:latin typeface="Consolas" panose="020B0609020204030204" pitchFamily="49" charset="0"/>
              </a:rPr>
              <a:t>// Manage the DMA registers</a:t>
            </a:r>
          </a:p>
          <a:p>
            <a:pPr marL="114300" indent="0" algn="l">
              <a:spcBef>
                <a:spcPts val="0"/>
              </a:spcBef>
              <a:buNone/>
            </a:pPr>
            <a:r>
              <a:rPr lang="en-US" sz="1050" dirty="0">
                <a:solidFill>
                  <a:srgbClr val="000000"/>
                </a:solidFill>
                <a:latin typeface="Consolas" panose="020B0609020204030204" pitchFamily="49" charset="0"/>
              </a:rPr>
              <a:t>        EALLOW;                                                     </a:t>
            </a:r>
            <a:r>
              <a:rPr lang="en-US" sz="1050" dirty="0">
                <a:solidFill>
                  <a:srgbClr val="3F7F5F"/>
                </a:solidFill>
                <a:latin typeface="Consolas" panose="020B0609020204030204" pitchFamily="49" charset="0"/>
              </a:rPr>
              <a:t>// Enable EALLOW protected register access</a:t>
            </a:r>
          </a:p>
          <a:p>
            <a:pPr marL="114300" indent="0" algn="l">
              <a:spcBef>
                <a:spcPts val="0"/>
              </a:spcBef>
              <a:buNone/>
            </a:pPr>
            <a:r>
              <a:rPr lang="en-US" sz="1050" dirty="0">
                <a:solidFill>
                  <a:srgbClr val="000000"/>
                </a:solidFill>
                <a:latin typeface="Consolas" panose="020B0609020204030204" pitchFamily="49" charset="0"/>
              </a:rPr>
              <a:t>        DmaRegs.</a:t>
            </a:r>
            <a:r>
              <a:rPr lang="en-US" sz="1050" dirty="0">
                <a:solidFill>
                  <a:srgbClr val="0000C0"/>
                </a:solidFill>
                <a:latin typeface="Consolas" panose="020B0609020204030204" pitchFamily="49" charset="0"/>
              </a:rPr>
              <a:t>CH1</a:t>
            </a:r>
            <a:r>
              <a:rPr lang="en-US" sz="1050" dirty="0">
                <a:solidFill>
                  <a:srgbClr val="000000"/>
                </a:solidFill>
                <a:latin typeface="Consolas" panose="020B0609020204030204" pitchFamily="49" charset="0"/>
              </a:rPr>
              <a:t>.</a:t>
            </a:r>
            <a:r>
              <a:rPr lang="en-US" sz="1050" dirty="0">
                <a:solidFill>
                  <a:srgbClr val="0000C0"/>
                </a:solidFill>
                <a:latin typeface="Consolas" panose="020B0609020204030204" pitchFamily="49" charset="0"/>
              </a:rPr>
              <a:t>DST_ADDR_SHADOW</a:t>
            </a:r>
            <a:r>
              <a:rPr lang="en-US" sz="1050" dirty="0">
                <a:solidFill>
                  <a:srgbClr val="000000"/>
                </a:solidFill>
                <a:latin typeface="Consolas" panose="020B0609020204030204" pitchFamily="49" charset="0"/>
              </a:rPr>
              <a:t> = (</a:t>
            </a:r>
            <a:r>
              <a:rPr lang="en-US" sz="1050" dirty="0">
                <a:solidFill>
                  <a:srgbClr val="005032"/>
                </a:solidFill>
                <a:latin typeface="Consolas" panose="020B0609020204030204" pitchFamily="49" charset="0"/>
              </a:rPr>
              <a:t>Uint32</a:t>
            </a:r>
            <a:r>
              <a:rPr lang="en-US" sz="1050" dirty="0">
                <a:solidFill>
                  <a:srgbClr val="000000"/>
                </a:solidFill>
                <a:latin typeface="Consolas" panose="020B0609020204030204" pitchFamily="49" charset="0"/>
              </a:rPr>
              <a:t>)</a:t>
            </a:r>
            <a:r>
              <a:rPr lang="en-US" sz="1050" dirty="0" err="1">
                <a:solidFill>
                  <a:srgbClr val="000000"/>
                </a:solidFill>
                <a:latin typeface="Consolas" panose="020B0609020204030204" pitchFamily="49" charset="0"/>
              </a:rPr>
              <a:t>AdcPongBufRaw</a:t>
            </a:r>
            <a:r>
              <a:rPr lang="en-US" sz="1050" dirty="0">
                <a:solidFill>
                  <a:srgbClr val="000000"/>
                </a:solidFill>
                <a:latin typeface="Consolas" panose="020B0609020204030204" pitchFamily="49" charset="0"/>
              </a:rPr>
              <a:t>;        </a:t>
            </a:r>
            <a:r>
              <a:rPr lang="en-US" sz="1050" dirty="0">
                <a:solidFill>
                  <a:srgbClr val="3F7F5F"/>
                </a:solidFill>
                <a:latin typeface="Consolas" panose="020B0609020204030204" pitchFamily="49" charset="0"/>
              </a:rPr>
              <a:t>// Adjust DST start address for Pong buffer</a:t>
            </a:r>
          </a:p>
          <a:p>
            <a:pPr marL="114300" indent="0" algn="l">
              <a:spcBef>
                <a:spcPts val="0"/>
              </a:spcBef>
              <a:buNone/>
            </a:pPr>
            <a:r>
              <a:rPr lang="en-US" sz="1050" dirty="0">
                <a:solidFill>
                  <a:srgbClr val="000000"/>
                </a:solidFill>
                <a:latin typeface="Consolas" panose="020B0609020204030204" pitchFamily="49" charset="0"/>
              </a:rPr>
              <a:t>        EDIS;                                                       </a:t>
            </a:r>
            <a:r>
              <a:rPr lang="en-US" sz="1050" dirty="0">
                <a:solidFill>
                  <a:srgbClr val="3F7F5F"/>
                </a:solidFill>
                <a:latin typeface="Consolas" panose="020B0609020204030204" pitchFamily="49" charset="0"/>
              </a:rPr>
              <a:t>// Disable EALLOW protected register access</a:t>
            </a:r>
          </a:p>
          <a:p>
            <a:pPr marL="114300" indent="0" algn="l">
              <a:spcBef>
                <a:spcPts val="0"/>
              </a:spcBef>
              <a:buNone/>
            </a:pPr>
            <a:endParaRPr lang="en-US" sz="1050" dirty="0">
              <a:latin typeface="Consolas" panose="020B0609020204030204" pitchFamily="49" charset="0"/>
            </a:endParaRPr>
          </a:p>
          <a:p>
            <a:pPr marL="114300" indent="0" algn="l">
              <a:spcBef>
                <a:spcPts val="0"/>
              </a:spcBef>
              <a:buNone/>
            </a:pPr>
            <a:r>
              <a:rPr lang="en-US" sz="1050" dirty="0">
                <a:solidFill>
                  <a:srgbClr val="000000"/>
                </a:solidFill>
                <a:latin typeface="Consolas" panose="020B0609020204030204" pitchFamily="49" charset="0"/>
              </a:rPr>
              <a:t>        </a:t>
            </a:r>
            <a:r>
              <a:rPr lang="en-US" sz="1050" dirty="0">
                <a:solidFill>
                  <a:srgbClr val="3F7F5F"/>
                </a:solidFill>
                <a:latin typeface="Consolas" panose="020B0609020204030204" pitchFamily="49" charset="0"/>
              </a:rPr>
              <a:t>// Don't run ping FFT first time around</a:t>
            </a:r>
          </a:p>
          <a:p>
            <a:pPr marL="114300" indent="0" algn="l">
              <a:spcBef>
                <a:spcPts val="0"/>
              </a:spcBef>
              <a:buNone/>
            </a:pPr>
            <a:r>
              <a:rPr lang="en-US" sz="1050" dirty="0">
                <a:solidFill>
                  <a:srgbClr val="000000"/>
                </a:solidFill>
                <a:latin typeface="Consolas" panose="020B0609020204030204" pitchFamily="49" charset="0"/>
              </a:rPr>
              <a:t>        </a:t>
            </a:r>
            <a:r>
              <a:rPr lang="en-US" sz="1050" dirty="0">
                <a:solidFill>
                  <a:srgbClr val="7F0055"/>
                </a:solidFill>
                <a:latin typeface="Consolas" panose="020B0609020204030204" pitchFamily="49" charset="0"/>
              </a:rPr>
              <a:t>if</a:t>
            </a:r>
            <a:r>
              <a:rPr lang="en-US" sz="1050" dirty="0">
                <a:solidFill>
                  <a:srgbClr val="000000"/>
                </a:solidFill>
                <a:latin typeface="Consolas" panose="020B0609020204030204" pitchFamily="49" charset="0"/>
              </a:rPr>
              <a:t> (</a:t>
            </a:r>
            <a:r>
              <a:rPr lang="en-US" sz="1050" dirty="0" err="1">
                <a:solidFill>
                  <a:srgbClr val="000000"/>
                </a:solidFill>
                <a:latin typeface="Consolas" panose="020B0609020204030204" pitchFamily="49" charset="0"/>
              </a:rPr>
              <a:t>DMAcount</a:t>
            </a:r>
            <a:r>
              <a:rPr lang="en-US" sz="1050" dirty="0">
                <a:solidFill>
                  <a:srgbClr val="000000"/>
                </a:solidFill>
                <a:latin typeface="Consolas" panose="020B0609020204030204" pitchFamily="49" charset="0"/>
              </a:rPr>
              <a:t> &gt; 0) {</a:t>
            </a:r>
          </a:p>
          <a:p>
            <a:pPr marL="114300" indent="0" algn="l">
              <a:spcBef>
                <a:spcPts val="0"/>
              </a:spcBef>
              <a:buNone/>
            </a:pPr>
            <a:r>
              <a:rPr lang="en-US" sz="1050" dirty="0">
                <a:solidFill>
                  <a:srgbClr val="000000"/>
                </a:solidFill>
                <a:latin typeface="Consolas" panose="020B0609020204030204" pitchFamily="49" charset="0"/>
              </a:rPr>
              <a:t>            </a:t>
            </a:r>
            <a:r>
              <a:rPr lang="en-US" sz="1050" dirty="0" err="1">
                <a:solidFill>
                  <a:srgbClr val="000000"/>
                </a:solidFill>
                <a:latin typeface="Consolas" panose="020B0609020204030204" pitchFamily="49" charset="0"/>
              </a:rPr>
              <a:t>pingFFT</a:t>
            </a:r>
            <a:r>
              <a:rPr lang="en-US" sz="1050" dirty="0">
                <a:solidFill>
                  <a:srgbClr val="000000"/>
                </a:solidFill>
                <a:latin typeface="Consolas" panose="020B0609020204030204" pitchFamily="49" charset="0"/>
              </a:rPr>
              <a:t> = 1;</a:t>
            </a:r>
          </a:p>
          <a:p>
            <a:pPr marL="114300" indent="0" algn="l">
              <a:spcBef>
                <a:spcPts val="0"/>
              </a:spcBef>
              <a:buNone/>
            </a:pPr>
            <a:r>
              <a:rPr lang="en-US" sz="1050" dirty="0">
                <a:solidFill>
                  <a:srgbClr val="000000"/>
                </a:solidFill>
                <a:latin typeface="Consolas" panose="020B0609020204030204" pitchFamily="49" charset="0"/>
              </a:rPr>
              <a:t>        }</a:t>
            </a:r>
          </a:p>
          <a:p>
            <a:pPr marL="114300" indent="0" algn="l">
              <a:spcBef>
                <a:spcPts val="0"/>
              </a:spcBef>
              <a:buNone/>
            </a:pPr>
            <a:r>
              <a:rPr lang="en-US" sz="1050" dirty="0">
                <a:solidFill>
                  <a:srgbClr val="000000"/>
                </a:solidFill>
                <a:latin typeface="Consolas" panose="020B0609020204030204" pitchFamily="49" charset="0"/>
              </a:rPr>
              <a:t>        </a:t>
            </a:r>
            <a:r>
              <a:rPr lang="en-US" sz="1050" dirty="0" err="1">
                <a:solidFill>
                  <a:srgbClr val="000000"/>
                </a:solidFill>
                <a:latin typeface="Consolas" panose="020B0609020204030204" pitchFamily="49" charset="0"/>
              </a:rPr>
              <a:t>iPingPong</a:t>
            </a:r>
            <a:r>
              <a:rPr lang="en-US" sz="1050" dirty="0">
                <a:solidFill>
                  <a:srgbClr val="000000"/>
                </a:solidFill>
                <a:latin typeface="Consolas" panose="020B0609020204030204" pitchFamily="49" charset="0"/>
              </a:rPr>
              <a:t> = 1;</a:t>
            </a:r>
          </a:p>
          <a:p>
            <a:pPr marL="114300" indent="0" algn="l">
              <a:spcBef>
                <a:spcPts val="0"/>
              </a:spcBef>
              <a:buNone/>
            </a:pPr>
            <a:r>
              <a:rPr lang="en-US" sz="1050" dirty="0">
                <a:solidFill>
                  <a:srgbClr val="000000"/>
                </a:solidFill>
                <a:latin typeface="Consolas" panose="020B0609020204030204" pitchFamily="49" charset="0"/>
              </a:rPr>
              <a:t>    }</a:t>
            </a:r>
          </a:p>
          <a:p>
            <a:pPr marL="114300" indent="0" algn="l">
              <a:spcBef>
                <a:spcPts val="0"/>
              </a:spcBef>
              <a:buNone/>
            </a:pPr>
            <a:r>
              <a:rPr lang="en-US" sz="1050" dirty="0">
                <a:solidFill>
                  <a:srgbClr val="000000"/>
                </a:solidFill>
                <a:latin typeface="Consolas" panose="020B0609020204030204" pitchFamily="49" charset="0"/>
              </a:rPr>
              <a:t>    </a:t>
            </a:r>
            <a:r>
              <a:rPr lang="en-US" sz="1050" dirty="0">
                <a:solidFill>
                  <a:srgbClr val="7F0055"/>
                </a:solidFill>
                <a:latin typeface="Consolas" panose="020B0609020204030204" pitchFamily="49" charset="0"/>
              </a:rPr>
              <a:t>else</a:t>
            </a:r>
            <a:r>
              <a:rPr lang="en-US" sz="1050" dirty="0">
                <a:solidFill>
                  <a:srgbClr val="000000"/>
                </a:solidFill>
                <a:latin typeface="Consolas" panose="020B0609020204030204" pitchFamily="49" charset="0"/>
              </a:rPr>
              <a:t>    </a:t>
            </a:r>
            <a:r>
              <a:rPr lang="en-US" sz="1050" dirty="0">
                <a:solidFill>
                  <a:srgbClr val="3F7F5F"/>
                </a:solidFill>
                <a:latin typeface="Consolas" panose="020B0609020204030204" pitchFamily="49" charset="0"/>
              </a:rPr>
              <a:t>// Pong buffer filling, process Ping buffer</a:t>
            </a:r>
          </a:p>
          <a:p>
            <a:pPr marL="114300" indent="0" algn="l">
              <a:spcBef>
                <a:spcPts val="0"/>
              </a:spcBef>
              <a:buNone/>
            </a:pPr>
            <a:r>
              <a:rPr lang="en-US" sz="1050" dirty="0">
                <a:solidFill>
                  <a:srgbClr val="000000"/>
                </a:solidFill>
                <a:latin typeface="Consolas" panose="020B0609020204030204" pitchFamily="49" charset="0"/>
              </a:rPr>
              <a:t>    {</a:t>
            </a:r>
          </a:p>
          <a:p>
            <a:pPr marL="114300" indent="0" algn="l">
              <a:spcBef>
                <a:spcPts val="0"/>
              </a:spcBef>
              <a:buNone/>
            </a:pPr>
            <a:r>
              <a:rPr lang="en-US" sz="1050" dirty="0">
                <a:solidFill>
                  <a:srgbClr val="000000"/>
                </a:solidFill>
                <a:latin typeface="Consolas" panose="020B0609020204030204" pitchFamily="49" charset="0"/>
              </a:rPr>
              <a:t>        </a:t>
            </a:r>
            <a:r>
              <a:rPr lang="en-US" sz="1050" dirty="0">
                <a:solidFill>
                  <a:srgbClr val="3F7F5F"/>
                </a:solidFill>
                <a:latin typeface="Consolas" panose="020B0609020204030204" pitchFamily="49" charset="0"/>
              </a:rPr>
              <a:t>// Manage the DMA registers</a:t>
            </a:r>
          </a:p>
          <a:p>
            <a:pPr marL="114300" indent="0" algn="l">
              <a:spcBef>
                <a:spcPts val="0"/>
              </a:spcBef>
              <a:buNone/>
            </a:pPr>
            <a:r>
              <a:rPr lang="en-US" sz="1050" dirty="0">
                <a:solidFill>
                  <a:srgbClr val="000000"/>
                </a:solidFill>
                <a:latin typeface="Consolas" panose="020B0609020204030204" pitchFamily="49" charset="0"/>
              </a:rPr>
              <a:t>        EALLOW;                                                     </a:t>
            </a:r>
            <a:r>
              <a:rPr lang="en-US" sz="1050" dirty="0">
                <a:solidFill>
                  <a:srgbClr val="3F7F5F"/>
                </a:solidFill>
                <a:latin typeface="Consolas" panose="020B0609020204030204" pitchFamily="49" charset="0"/>
              </a:rPr>
              <a:t>// Enable EALLOW protected register access</a:t>
            </a:r>
          </a:p>
          <a:p>
            <a:pPr marL="114300" indent="0" algn="l">
              <a:spcBef>
                <a:spcPts val="0"/>
              </a:spcBef>
              <a:buNone/>
            </a:pPr>
            <a:r>
              <a:rPr lang="en-US" sz="1050" dirty="0">
                <a:solidFill>
                  <a:srgbClr val="000000"/>
                </a:solidFill>
                <a:latin typeface="Consolas" panose="020B0609020204030204" pitchFamily="49" charset="0"/>
              </a:rPr>
              <a:t>        DmaRegs.</a:t>
            </a:r>
            <a:r>
              <a:rPr lang="en-US" sz="1050" dirty="0">
                <a:solidFill>
                  <a:srgbClr val="0000C0"/>
                </a:solidFill>
                <a:latin typeface="Consolas" panose="020B0609020204030204" pitchFamily="49" charset="0"/>
              </a:rPr>
              <a:t>CH1</a:t>
            </a:r>
            <a:r>
              <a:rPr lang="en-US" sz="1050" dirty="0">
                <a:solidFill>
                  <a:srgbClr val="000000"/>
                </a:solidFill>
                <a:latin typeface="Consolas" panose="020B0609020204030204" pitchFamily="49" charset="0"/>
              </a:rPr>
              <a:t>.</a:t>
            </a:r>
            <a:r>
              <a:rPr lang="en-US" sz="1050" dirty="0">
                <a:solidFill>
                  <a:srgbClr val="0000C0"/>
                </a:solidFill>
                <a:latin typeface="Consolas" panose="020B0609020204030204" pitchFamily="49" charset="0"/>
              </a:rPr>
              <a:t>DST_ADDR_SHADOW</a:t>
            </a:r>
            <a:r>
              <a:rPr lang="en-US" sz="1050" dirty="0">
                <a:solidFill>
                  <a:srgbClr val="000000"/>
                </a:solidFill>
                <a:latin typeface="Consolas" panose="020B0609020204030204" pitchFamily="49" charset="0"/>
              </a:rPr>
              <a:t> = (</a:t>
            </a:r>
            <a:r>
              <a:rPr lang="en-US" sz="1050" dirty="0">
                <a:solidFill>
                  <a:srgbClr val="005032"/>
                </a:solidFill>
                <a:latin typeface="Consolas" panose="020B0609020204030204" pitchFamily="49" charset="0"/>
              </a:rPr>
              <a:t>Uint32</a:t>
            </a:r>
            <a:r>
              <a:rPr lang="en-US" sz="1050" dirty="0">
                <a:solidFill>
                  <a:srgbClr val="000000"/>
                </a:solidFill>
                <a:latin typeface="Consolas" panose="020B0609020204030204" pitchFamily="49" charset="0"/>
              </a:rPr>
              <a:t>)</a:t>
            </a:r>
            <a:r>
              <a:rPr lang="en-US" sz="1050" dirty="0" err="1">
                <a:solidFill>
                  <a:srgbClr val="000000"/>
                </a:solidFill>
                <a:latin typeface="Consolas" panose="020B0609020204030204" pitchFamily="49" charset="0"/>
              </a:rPr>
              <a:t>AdcPingBufRaw</a:t>
            </a:r>
            <a:r>
              <a:rPr lang="en-US" sz="1050" dirty="0">
                <a:solidFill>
                  <a:srgbClr val="000000"/>
                </a:solidFill>
                <a:latin typeface="Consolas" panose="020B0609020204030204" pitchFamily="49" charset="0"/>
              </a:rPr>
              <a:t>;        </a:t>
            </a:r>
            <a:r>
              <a:rPr lang="en-US" sz="1050" dirty="0">
                <a:solidFill>
                  <a:srgbClr val="3F7F5F"/>
                </a:solidFill>
                <a:latin typeface="Consolas" panose="020B0609020204030204" pitchFamily="49" charset="0"/>
              </a:rPr>
              <a:t>// Adjust DST start address for Ping buffer</a:t>
            </a:r>
          </a:p>
          <a:p>
            <a:pPr marL="114300" indent="0" algn="l">
              <a:spcBef>
                <a:spcPts val="0"/>
              </a:spcBef>
              <a:buNone/>
            </a:pPr>
            <a:r>
              <a:rPr lang="en-US" sz="1050" dirty="0">
                <a:solidFill>
                  <a:srgbClr val="000000"/>
                </a:solidFill>
                <a:latin typeface="Consolas" panose="020B0609020204030204" pitchFamily="49" charset="0"/>
              </a:rPr>
              <a:t>        EDIS;                                                       </a:t>
            </a:r>
            <a:r>
              <a:rPr lang="en-US" sz="1050" dirty="0">
                <a:solidFill>
                  <a:srgbClr val="3F7F5F"/>
                </a:solidFill>
                <a:latin typeface="Consolas" panose="020B0609020204030204" pitchFamily="49" charset="0"/>
              </a:rPr>
              <a:t>// Disable EALLOW protected register access</a:t>
            </a:r>
          </a:p>
          <a:p>
            <a:pPr marL="114300" indent="0" algn="l">
              <a:spcBef>
                <a:spcPts val="0"/>
              </a:spcBef>
              <a:buNone/>
            </a:pPr>
            <a:endParaRPr lang="en-US" sz="1050" dirty="0">
              <a:latin typeface="Consolas" panose="020B0609020204030204" pitchFamily="49" charset="0"/>
            </a:endParaRPr>
          </a:p>
          <a:p>
            <a:pPr marL="114300" indent="0" algn="l">
              <a:spcBef>
                <a:spcPts val="0"/>
              </a:spcBef>
              <a:buNone/>
            </a:pPr>
            <a:r>
              <a:rPr lang="en-US" sz="1050" dirty="0">
                <a:solidFill>
                  <a:srgbClr val="000000"/>
                </a:solidFill>
                <a:latin typeface="Consolas" panose="020B0609020204030204" pitchFamily="49" charset="0"/>
              </a:rPr>
              <a:t>        </a:t>
            </a:r>
            <a:r>
              <a:rPr lang="en-US" sz="1050" dirty="0" err="1">
                <a:solidFill>
                  <a:srgbClr val="000000"/>
                </a:solidFill>
                <a:latin typeface="Consolas" panose="020B0609020204030204" pitchFamily="49" charset="0"/>
              </a:rPr>
              <a:t>pongFFT</a:t>
            </a:r>
            <a:r>
              <a:rPr lang="en-US" sz="1050" dirty="0">
                <a:solidFill>
                  <a:srgbClr val="000000"/>
                </a:solidFill>
                <a:latin typeface="Consolas" panose="020B0609020204030204" pitchFamily="49" charset="0"/>
              </a:rPr>
              <a:t> = 1;</a:t>
            </a:r>
          </a:p>
          <a:p>
            <a:pPr marL="114300" indent="0" algn="l">
              <a:spcBef>
                <a:spcPts val="0"/>
              </a:spcBef>
              <a:buNone/>
            </a:pPr>
            <a:r>
              <a:rPr lang="en-US" sz="1050" dirty="0">
                <a:solidFill>
                  <a:srgbClr val="000000"/>
                </a:solidFill>
                <a:latin typeface="Consolas" panose="020B0609020204030204" pitchFamily="49" charset="0"/>
              </a:rPr>
              <a:t>        </a:t>
            </a:r>
            <a:r>
              <a:rPr lang="en-US" sz="1050" dirty="0" err="1">
                <a:solidFill>
                  <a:srgbClr val="000000"/>
                </a:solidFill>
                <a:latin typeface="Consolas" panose="020B0609020204030204" pitchFamily="49" charset="0"/>
              </a:rPr>
              <a:t>iPingPong</a:t>
            </a:r>
            <a:r>
              <a:rPr lang="en-US" sz="1050" dirty="0">
                <a:solidFill>
                  <a:srgbClr val="000000"/>
                </a:solidFill>
                <a:latin typeface="Consolas" panose="020B0609020204030204" pitchFamily="49" charset="0"/>
              </a:rPr>
              <a:t> = 0;</a:t>
            </a:r>
          </a:p>
          <a:p>
            <a:pPr marL="114300" indent="0" algn="l">
              <a:spcBef>
                <a:spcPts val="0"/>
              </a:spcBef>
              <a:buNone/>
            </a:pPr>
            <a:r>
              <a:rPr lang="en-US" sz="1050" dirty="0">
                <a:solidFill>
                  <a:srgbClr val="000000"/>
                </a:solidFill>
                <a:latin typeface="Consolas" panose="020B0609020204030204" pitchFamily="49" charset="0"/>
              </a:rPr>
              <a:t>    }</a:t>
            </a:r>
          </a:p>
          <a:p>
            <a:pPr marL="114300" indent="0" algn="l">
              <a:spcBef>
                <a:spcPts val="0"/>
              </a:spcBef>
              <a:buNone/>
            </a:pPr>
            <a:endParaRPr lang="en-US" sz="1050" dirty="0">
              <a:latin typeface="Consolas" panose="020B0609020204030204" pitchFamily="49" charset="0"/>
            </a:endParaRPr>
          </a:p>
          <a:p>
            <a:pPr marL="114300" indent="0" algn="l">
              <a:spcBef>
                <a:spcPts val="0"/>
              </a:spcBef>
              <a:buNone/>
            </a:pPr>
            <a:r>
              <a:rPr lang="en-US" sz="1050" dirty="0">
                <a:solidFill>
                  <a:srgbClr val="000000"/>
                </a:solidFill>
                <a:latin typeface="Consolas" panose="020B0609020204030204" pitchFamily="49" charset="0"/>
              </a:rPr>
              <a:t>    </a:t>
            </a:r>
            <a:r>
              <a:rPr lang="en-US" sz="1050" dirty="0" err="1">
                <a:solidFill>
                  <a:srgbClr val="000000"/>
                </a:solidFill>
                <a:latin typeface="Consolas" panose="020B0609020204030204" pitchFamily="49" charset="0"/>
              </a:rPr>
              <a:t>DMAcount</a:t>
            </a:r>
            <a:r>
              <a:rPr lang="en-US" sz="1050" dirty="0">
                <a:solidFill>
                  <a:srgbClr val="000000"/>
                </a:solidFill>
                <a:latin typeface="Consolas" panose="020B0609020204030204" pitchFamily="49" charset="0"/>
              </a:rPr>
              <a:t> += 1;</a:t>
            </a:r>
          </a:p>
          <a:p>
            <a:pPr marL="114300" indent="0" algn="l">
              <a:spcBef>
                <a:spcPts val="0"/>
              </a:spcBef>
              <a:buNone/>
            </a:pPr>
            <a:r>
              <a:rPr lang="en-US" sz="1050" dirty="0">
                <a:solidFill>
                  <a:srgbClr val="000000"/>
                </a:solidFill>
                <a:latin typeface="Consolas" panose="020B0609020204030204" pitchFamily="49" charset="0"/>
              </a:rPr>
              <a:t>}</a:t>
            </a:r>
            <a:endParaRPr lang="en-US" sz="1050" dirty="0">
              <a:solidFill>
                <a:srgbClr val="3F7F5F"/>
              </a:solidFill>
              <a:latin typeface="Consolas" panose="020B0609020204030204" pitchFamily="49" charset="0"/>
              <a:cs typeface="Arial"/>
              <a:sym typeface="Arial"/>
            </a:endParaRPr>
          </a:p>
        </p:txBody>
      </p:sp>
      <p:sp>
        <p:nvSpPr>
          <p:cNvPr id="119" name="Google Shape;119;p29">
            <a:extLst>
              <a:ext uri="{FF2B5EF4-FFF2-40B4-BE49-F238E27FC236}">
                <a16:creationId xmlns:a16="http://schemas.microsoft.com/office/drawing/2014/main" id="{29E42BBF-F967-1B50-F75B-6EF02796EE36}"/>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FB3FA3F5-4DB1-46AD-7865-DD1289144583}"/>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FFT Code – Ping Pong Buffer</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48D44BA4-56BB-32BA-3CEF-805A274D87BC}"/>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B566BFD7-6227-2777-9492-8D8D9114FC40}"/>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47393F00-3B22-1776-2222-CCF573B05DC7}"/>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96616A5F-6460-6BF2-2A1E-D3E5DF7C1CA9}"/>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D33A3D6F-8D5A-3D04-8224-A201A0854951}"/>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42C89B1A-9A71-DC5C-DED0-62E40F93E235}"/>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2237840397"/>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103">
          <a:extLst>
            <a:ext uri="{FF2B5EF4-FFF2-40B4-BE49-F238E27FC236}">
              <a16:creationId xmlns:a16="http://schemas.microsoft.com/office/drawing/2014/main" id="{558096FB-3319-ED5E-1826-87DAAC973B93}"/>
            </a:ext>
          </a:extLst>
        </p:cNvPr>
        <p:cNvGrpSpPr/>
        <p:nvPr/>
      </p:nvGrpSpPr>
      <p:grpSpPr>
        <a:xfrm>
          <a:off x="0" y="0"/>
          <a:ext cx="0" cy="0"/>
          <a:chOff x="0" y="0"/>
          <a:chExt cx="0" cy="0"/>
        </a:xfrm>
      </p:grpSpPr>
      <p:sp>
        <p:nvSpPr>
          <p:cNvPr id="104" name="Google Shape;104;p28">
            <a:extLst>
              <a:ext uri="{FF2B5EF4-FFF2-40B4-BE49-F238E27FC236}">
                <a16:creationId xmlns:a16="http://schemas.microsoft.com/office/drawing/2014/main" id="{F497FD98-C8E4-852B-A4E6-5568B2FDA85D}"/>
              </a:ext>
            </a:extLst>
          </p:cNvPr>
          <p:cNvSpPr/>
          <p:nvPr>
            <p:ph type="title"/>
          </p:nvPr>
        </p:nvSpPr>
        <p:spPr>
          <a:xfrm>
            <a:off x="1295400" y="3225489"/>
            <a:ext cx="9601200" cy="784790"/>
          </a:xfrm>
          <a:prstGeom prst="rect">
            <a:avLst/>
          </a:prstGeom>
          <a:noFill/>
          <a:ln>
            <a:noFill/>
          </a:ln>
        </p:spPr>
        <p:txBody>
          <a:bodyPr spcFirstLastPara="1" wrap="square" lIns="91425" tIns="45700" rIns="91425" bIns="45700" anchor="ctr" anchorCtr="0">
            <a:spAutoFit/>
          </a:bodyPr>
          <a:lstStyle/>
          <a:p>
            <a:pPr marL="0" marR="0" lvl="0" indent="0" algn="ctr" rtl="0">
              <a:lnSpc>
                <a:spcPct val="100000"/>
              </a:lnSpc>
              <a:spcBef>
                <a:spcPts val="0"/>
              </a:spcBef>
              <a:spcAft>
                <a:spcPts val="0"/>
              </a:spcAft>
              <a:buClr>
                <a:srgbClr val="000000"/>
              </a:buClr>
              <a:buSzPts val="4500"/>
              <a:buFont typeface="Arial"/>
              <a:buNone/>
            </a:pPr>
            <a:r>
              <a:rPr lang="en-US" sz="4500" b="1" i="0" u="none" strike="noStrike" cap="none" dirty="0">
                <a:solidFill>
                  <a:srgbClr val="15264B"/>
                </a:solidFill>
                <a:latin typeface="Atkinson Hyperlegible Next"/>
                <a:ea typeface="Arial"/>
                <a:cs typeface="Arial"/>
                <a:sym typeface="Arial"/>
              </a:rPr>
              <a:t>Ping Pong Buffer</a:t>
            </a:r>
            <a:endParaRPr sz="1800" b="0" i="0" u="none" strike="noStrike" cap="none" dirty="0">
              <a:solidFill>
                <a:srgbClr val="15264B"/>
              </a:solidFill>
              <a:latin typeface="Atkinson Hyperlegible Next"/>
              <a:ea typeface="Arial"/>
              <a:cs typeface="Arial"/>
              <a:sym typeface="Arial"/>
            </a:endParaRPr>
          </a:p>
        </p:txBody>
      </p:sp>
      <p:grpSp>
        <p:nvGrpSpPr>
          <p:cNvPr id="105" name="Google Shape;105;p28">
            <a:extLst>
              <a:ext uri="{FF2B5EF4-FFF2-40B4-BE49-F238E27FC236}">
                <a16:creationId xmlns:a16="http://schemas.microsoft.com/office/drawing/2014/main" id="{48B759DD-5591-BEB9-AAE5-DEDA337C344A}"/>
              </a:ext>
            </a:extLst>
          </p:cNvPr>
          <p:cNvGrpSpPr/>
          <p:nvPr/>
        </p:nvGrpSpPr>
        <p:grpSpPr>
          <a:xfrm>
            <a:off x="3943790" y="2676939"/>
            <a:ext cx="3861740" cy="322845"/>
            <a:chOff x="3943790" y="2676939"/>
            <a:chExt cx="3861740" cy="322845"/>
          </a:xfrm>
        </p:grpSpPr>
        <p:cxnSp>
          <p:nvCxnSpPr>
            <p:cNvPr id="106" name="Google Shape;106;p28">
              <a:extLst>
                <a:ext uri="{FF2B5EF4-FFF2-40B4-BE49-F238E27FC236}">
                  <a16:creationId xmlns:a16="http://schemas.microsoft.com/office/drawing/2014/main" id="{E3FB2DEB-9D43-35B9-2150-1A8B0077C251}"/>
                </a:ext>
              </a:extLst>
            </p:cNvPr>
            <p:cNvCxnSpPr/>
            <p:nvPr/>
          </p:nvCxnSpPr>
          <p:spPr>
            <a:xfrm>
              <a:off x="4426226" y="2676939"/>
              <a:ext cx="3379304" cy="0"/>
            </a:xfrm>
            <a:prstGeom prst="straightConnector1">
              <a:avLst/>
            </a:prstGeom>
            <a:noFill/>
            <a:ln w="19050" cap="flat" cmpd="sng">
              <a:solidFill>
                <a:schemeClr val="lt1"/>
              </a:solidFill>
              <a:prstDash val="solid"/>
              <a:round/>
              <a:headEnd type="none" w="sm" len="sm"/>
              <a:tailEnd type="none" w="sm" len="sm"/>
            </a:ln>
          </p:spPr>
        </p:cxnSp>
        <p:cxnSp>
          <p:nvCxnSpPr>
            <p:cNvPr id="107" name="Google Shape;107;p28">
              <a:extLst>
                <a:ext uri="{FF2B5EF4-FFF2-40B4-BE49-F238E27FC236}">
                  <a16:creationId xmlns:a16="http://schemas.microsoft.com/office/drawing/2014/main" id="{F31A3BED-06B9-1575-48EA-0EF2131E442C}"/>
                </a:ext>
              </a:extLst>
            </p:cNvPr>
            <p:cNvCxnSpPr/>
            <p:nvPr/>
          </p:nvCxnSpPr>
          <p:spPr>
            <a:xfrm rot="10800000" flipH="1">
              <a:off x="3943790" y="2676939"/>
              <a:ext cx="482436" cy="322845"/>
            </a:xfrm>
            <a:prstGeom prst="straightConnector1">
              <a:avLst/>
            </a:prstGeom>
            <a:noFill/>
            <a:ln w="19050" cap="flat" cmpd="sng">
              <a:solidFill>
                <a:schemeClr val="lt1"/>
              </a:solidFill>
              <a:prstDash val="solid"/>
              <a:round/>
              <a:headEnd type="none" w="sm" len="sm"/>
              <a:tailEnd type="none" w="sm" len="sm"/>
            </a:ln>
          </p:spPr>
        </p:cxnSp>
      </p:grpSp>
      <p:pic>
        <p:nvPicPr>
          <p:cNvPr id="108" name="Google Shape;108;p28">
            <a:extLst>
              <a:ext uri="{C183D7F6-B498-43B3-948B-1728B52AA6E4}">
                <adec:decorative xmlns:adec="http://schemas.microsoft.com/office/drawing/2017/decorative" val="1"/>
              </a:ext>
              <a:ext uri="{FF2B5EF4-FFF2-40B4-BE49-F238E27FC236}">
                <a16:creationId xmlns:a16="http://schemas.microsoft.com/office/drawing/2014/main" id="{F548679E-2114-FB51-A548-2C67541C5536}"/>
              </a:ext>
            </a:extLst>
          </p:cNvPr>
          <p:cNvPicPr preferRelativeResize="0"/>
          <p:nvPr/>
        </p:nvPicPr>
        <p:blipFill rotWithShape="1">
          <a:blip r:embed="rId4">
            <a:alphaModFix/>
          </a:blip>
          <a:srcRect/>
          <a:stretch/>
        </p:blipFill>
        <p:spPr>
          <a:xfrm>
            <a:off x="11557509" y="233819"/>
            <a:ext cx="271308" cy="389811"/>
          </a:xfrm>
          <a:prstGeom prst="rect">
            <a:avLst/>
          </a:prstGeom>
          <a:noFill/>
          <a:ln>
            <a:noFill/>
          </a:ln>
        </p:spPr>
      </p:pic>
      <p:sp>
        <p:nvSpPr>
          <p:cNvPr id="109" name="Google Shape;109;p28">
            <a:extLst>
              <a:ext uri="{FF2B5EF4-FFF2-40B4-BE49-F238E27FC236}">
                <a16:creationId xmlns:a16="http://schemas.microsoft.com/office/drawing/2014/main" id="{6FBAD344-7EDE-C52B-811B-7BEA77976A08}"/>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10" name="Google Shape;110;p28">
            <a:extLst>
              <a:ext uri="{FF2B5EF4-FFF2-40B4-BE49-F238E27FC236}">
                <a16:creationId xmlns:a16="http://schemas.microsoft.com/office/drawing/2014/main" id="{7739DDBE-42E7-37EF-D5A0-2A261AB5C2D6}"/>
              </a:ext>
            </a:extLst>
          </p:cNvPr>
          <p:cNvSpPr txBox="1"/>
          <p:nvPr/>
        </p:nvSpPr>
        <p:spPr>
          <a:xfrm>
            <a:off x="376807" y="6524381"/>
            <a:ext cx="7991400" cy="230700"/>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a:t>
            </a:r>
            <a:endParaRPr dirty="0"/>
          </a:p>
        </p:txBody>
      </p:sp>
      <p:grpSp>
        <p:nvGrpSpPr>
          <p:cNvPr id="111" name="Google Shape;111;p28">
            <a:extLst>
              <a:ext uri="{FF2B5EF4-FFF2-40B4-BE49-F238E27FC236}">
                <a16:creationId xmlns:a16="http://schemas.microsoft.com/office/drawing/2014/main" id="{91E12D3F-C62F-22A0-A4A1-31C7A47CC456}"/>
              </a:ext>
            </a:extLst>
          </p:cNvPr>
          <p:cNvGrpSpPr/>
          <p:nvPr/>
        </p:nvGrpSpPr>
        <p:grpSpPr>
          <a:xfrm>
            <a:off x="4066674" y="6601537"/>
            <a:ext cx="5233412" cy="70446"/>
            <a:chOff x="4033424" y="6601537"/>
            <a:chExt cx="5233412" cy="70446"/>
          </a:xfrm>
        </p:grpSpPr>
        <p:cxnSp>
          <p:nvCxnSpPr>
            <p:cNvPr id="112" name="Google Shape;112;p28">
              <a:extLst>
                <a:ext uri="{FF2B5EF4-FFF2-40B4-BE49-F238E27FC236}">
                  <a16:creationId xmlns:a16="http://schemas.microsoft.com/office/drawing/2014/main" id="{5639165A-858E-2FB8-F424-178183C01154}"/>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13" name="Google Shape;113;p28">
              <a:extLst>
                <a:ext uri="{FF2B5EF4-FFF2-40B4-BE49-F238E27FC236}">
                  <a16:creationId xmlns:a16="http://schemas.microsoft.com/office/drawing/2014/main" id="{C7437F64-1F9A-6C50-C387-740908A8D4B1}"/>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286278228"/>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B46F995F-D700-D245-A322-F9C2C7BC7313}"/>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B4CB1CC9-8BD7-205F-7413-FBA74FE48B63}"/>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EB54CB0E-A535-6959-EDC4-B14A21C1ECA1}"/>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FFT Code – Ping Pong Buffer</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C5E73F4D-39B2-5A33-3EE6-F859B5263B42}"/>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EBF4D006-A1C8-3A3F-6FD4-C5967DEA0B09}"/>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A5E5DA9A-423C-12B8-654B-81A7E01CD20A}"/>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A2DFFE95-5515-AEFC-E5AA-C26062D58F9E}"/>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C41352E8-FCBB-1135-6A90-56A84D72526B}"/>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873AC54F-D433-E15D-E114-072FB7C1523D}"/>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8" name="Graphic 7" descr="Diagram: the single-buffer scheme that a ping-pong buffer improves on, shown as two phases. In both, an analog voltage feeds the ADC, then the DMA controller, then one data buffer. In phase one (write), the DMA controller fills the buffer and no data processing can occur. In phase two (processing), the full buffer is processed while the DMA controller waits, so sampling and processing cannot overlap.">
            <a:extLst>
              <a:ext uri="{FF2B5EF4-FFF2-40B4-BE49-F238E27FC236}">
                <a16:creationId xmlns:a16="http://schemas.microsoft.com/office/drawing/2014/main" id="{C58E5A04-20EC-B639-8403-26357B70BFBB}"/>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1427815" y="1042858"/>
            <a:ext cx="9336370" cy="5384041"/>
          </a:xfrm>
          <a:prstGeom prst="rect">
            <a:avLst/>
          </a:prstGeom>
        </p:spPr>
      </p:pic>
    </p:spTree>
    <p:extLst>
      <p:ext uri="{BB962C8B-B14F-4D97-AF65-F5344CB8AC3E}">
        <p14:creationId xmlns:p14="http://schemas.microsoft.com/office/powerpoint/2010/main" val="2910017537"/>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A205C7BF-ABDB-E34F-40B7-8D1F7DBC0538}"/>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C157D52C-358D-7EF1-C005-34F51AF3D2DA}"/>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F7799CAD-8B07-BAFB-0E19-8832030E6807}"/>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FFT Code – Ping Pong Buffer</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0FF581DC-A98C-6CE2-8870-E3BA8D169063}"/>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28EE3C49-6910-C4F7-DADE-2176CFADC457}"/>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145E0609-BA03-0EF1-1DD9-7E6868C29660}"/>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185586AD-D697-1055-2824-3F8683929766}"/>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AF03B292-4873-452D-F53A-6EE2E6F43238}"/>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71922603-E706-67B0-E29D-BB8538BA5B3C}"/>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3" name="Graphic 2" descr="Three-stage ping-pong buffering sequence: analog voltage feeds an ADC, whose samples go through a DMA controller into one of two buffers, Ping or Pong. Initially, DMA fills the Ping buffer while Pong is empty. Next, Ping is full and handed off for data processing while DMA writes to Pong. Then Pong is ready for processing while DMA writes to Ping again. The roles keep alternating, so sampling continues uninterrupted while the CPU processes the other buffer.">
            <a:extLst>
              <a:ext uri="{FF2B5EF4-FFF2-40B4-BE49-F238E27FC236}">
                <a16:creationId xmlns:a16="http://schemas.microsoft.com/office/drawing/2014/main" id="{871DE840-7AA5-524D-AE85-F2576F8B6FBD}"/>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149876" y="1890050"/>
            <a:ext cx="11892248" cy="3612501"/>
          </a:xfrm>
          <a:prstGeom prst="rect">
            <a:avLst/>
          </a:prstGeom>
        </p:spPr>
      </p:pic>
      <p:sp>
        <p:nvSpPr>
          <p:cNvPr id="4" name="TextBox 3">
            <a:extLst>
              <a:ext uri="{FF2B5EF4-FFF2-40B4-BE49-F238E27FC236}">
                <a16:creationId xmlns:a16="http://schemas.microsoft.com/office/drawing/2014/main" id="{F00F3888-AFE4-7B88-2714-D6F26D43F7D5}"/>
              </a:ext>
            </a:extLst>
          </p:cNvPr>
          <p:cNvSpPr txBox="1"/>
          <p:nvPr/>
        </p:nvSpPr>
        <p:spPr>
          <a:xfrm>
            <a:off x="9404722" y="5848036"/>
            <a:ext cx="2637402" cy="523220"/>
          </a:xfrm>
          <a:prstGeom prst="rect">
            <a:avLst/>
          </a:prstGeom>
          <a:noFill/>
        </p:spPr>
        <p:txBody>
          <a:bodyPr wrap="square" rtlCol="0">
            <a:spAutoFit/>
          </a:bodyPr>
          <a:lstStyle/>
          <a:p>
            <a:r>
              <a:rPr lang="en-US" dirty="0"/>
              <a:t>If this is not animated, I did not have the time to create it.</a:t>
            </a:r>
          </a:p>
        </p:txBody>
      </p:sp>
    </p:spTree>
    <p:extLst>
      <p:ext uri="{BB962C8B-B14F-4D97-AF65-F5344CB8AC3E}">
        <p14:creationId xmlns:p14="http://schemas.microsoft.com/office/powerpoint/2010/main" val="818033583"/>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103">
          <a:extLst>
            <a:ext uri="{FF2B5EF4-FFF2-40B4-BE49-F238E27FC236}">
              <a16:creationId xmlns:a16="http://schemas.microsoft.com/office/drawing/2014/main" id="{78284BE5-4723-53EF-580B-1611FEE1F6FD}"/>
            </a:ext>
          </a:extLst>
        </p:cNvPr>
        <p:cNvGrpSpPr/>
        <p:nvPr/>
      </p:nvGrpSpPr>
      <p:grpSpPr>
        <a:xfrm>
          <a:off x="0" y="0"/>
          <a:ext cx="0" cy="0"/>
          <a:chOff x="0" y="0"/>
          <a:chExt cx="0" cy="0"/>
        </a:xfrm>
      </p:grpSpPr>
      <p:sp>
        <p:nvSpPr>
          <p:cNvPr id="104" name="Google Shape;104;p28">
            <a:extLst>
              <a:ext uri="{FF2B5EF4-FFF2-40B4-BE49-F238E27FC236}">
                <a16:creationId xmlns:a16="http://schemas.microsoft.com/office/drawing/2014/main" id="{F23B3021-D7C4-1259-21A8-80E6BC26FF38}"/>
              </a:ext>
            </a:extLst>
          </p:cNvPr>
          <p:cNvSpPr/>
          <p:nvPr>
            <p:ph type="title"/>
          </p:nvPr>
        </p:nvSpPr>
        <p:spPr>
          <a:xfrm>
            <a:off x="1295400" y="2879241"/>
            <a:ext cx="9601200" cy="1477287"/>
          </a:xfrm>
          <a:prstGeom prst="rect">
            <a:avLst/>
          </a:prstGeom>
          <a:noFill/>
          <a:ln>
            <a:noFill/>
          </a:ln>
        </p:spPr>
        <p:txBody>
          <a:bodyPr spcFirstLastPara="1" wrap="square" lIns="91425" tIns="45700" rIns="91425" bIns="45700" anchor="ctr" anchorCtr="0">
            <a:spAutoFit/>
          </a:bodyPr>
          <a:lstStyle/>
          <a:p>
            <a:pPr marL="0" marR="0" lvl="0" indent="0" algn="ctr" rtl="0">
              <a:lnSpc>
                <a:spcPct val="100000"/>
              </a:lnSpc>
              <a:spcBef>
                <a:spcPts val="0"/>
              </a:spcBef>
              <a:spcAft>
                <a:spcPts val="0"/>
              </a:spcAft>
              <a:buClr>
                <a:srgbClr val="000000"/>
              </a:buClr>
              <a:buSzPts val="4500"/>
              <a:buFont typeface="Arial"/>
              <a:buNone/>
            </a:pPr>
            <a:r>
              <a:rPr lang="en-US" sz="4500" b="1" i="0" u="none" strike="noStrike" cap="none" dirty="0">
                <a:solidFill>
                  <a:srgbClr val="15264B"/>
                </a:solidFill>
                <a:latin typeface="Atkinson Hyperlegible Next"/>
                <a:ea typeface="Arial"/>
                <a:cs typeface="Arial"/>
                <a:sym typeface="Arial"/>
              </a:rPr>
              <a:t>Fourier Transforms &amp; FFT</a:t>
            </a:r>
          </a:p>
          <a:p>
            <a:pPr marL="0" marR="0" lvl="0" indent="0" algn="ctr" rtl="0">
              <a:lnSpc>
                <a:spcPct val="100000"/>
              </a:lnSpc>
              <a:spcBef>
                <a:spcPts val="0"/>
              </a:spcBef>
              <a:spcAft>
                <a:spcPts val="0"/>
              </a:spcAft>
              <a:buClr>
                <a:srgbClr val="000000"/>
              </a:buClr>
              <a:buSzPts val="4500"/>
              <a:buFont typeface="Arial"/>
              <a:buNone/>
            </a:pPr>
            <a:r>
              <a:rPr i="0" lang="en-US" sz="4500" b="1" dirty="0">
                <a:solidFill>
                  <a:srgbClr val="15264B"/>
                </a:solidFill>
              </a:rPr>
              <a:t>Code</a:t>
            </a:r>
            <a:endParaRPr sz="1800" b="0" i="0" u="none" strike="noStrike" cap="none" dirty="0">
              <a:solidFill>
                <a:srgbClr val="15264B"/>
              </a:solidFill>
              <a:latin typeface="Atkinson Hyperlegible Next"/>
              <a:ea typeface="Arial"/>
              <a:cs typeface="Arial"/>
              <a:sym typeface="Arial"/>
            </a:endParaRPr>
          </a:p>
        </p:txBody>
      </p:sp>
      <p:grpSp>
        <p:nvGrpSpPr>
          <p:cNvPr id="105" name="Google Shape;105;p28">
            <a:extLst>
              <a:ext uri="{FF2B5EF4-FFF2-40B4-BE49-F238E27FC236}">
                <a16:creationId xmlns:a16="http://schemas.microsoft.com/office/drawing/2014/main" id="{817B8C69-22A6-C6E5-1569-3E129A61DA88}"/>
              </a:ext>
            </a:extLst>
          </p:cNvPr>
          <p:cNvGrpSpPr/>
          <p:nvPr/>
        </p:nvGrpSpPr>
        <p:grpSpPr>
          <a:xfrm>
            <a:off x="3943790" y="2676939"/>
            <a:ext cx="3861740" cy="322845"/>
            <a:chOff x="3943790" y="2676939"/>
            <a:chExt cx="3861740" cy="322845"/>
          </a:xfrm>
        </p:grpSpPr>
        <p:cxnSp>
          <p:nvCxnSpPr>
            <p:cNvPr id="106" name="Google Shape;106;p28">
              <a:extLst>
                <a:ext uri="{FF2B5EF4-FFF2-40B4-BE49-F238E27FC236}">
                  <a16:creationId xmlns:a16="http://schemas.microsoft.com/office/drawing/2014/main" id="{F2F26E17-1237-FFFC-CC4C-52C3E77A0ED9}"/>
                </a:ext>
              </a:extLst>
            </p:cNvPr>
            <p:cNvCxnSpPr/>
            <p:nvPr/>
          </p:nvCxnSpPr>
          <p:spPr>
            <a:xfrm>
              <a:off x="4426226" y="2676939"/>
              <a:ext cx="3379304" cy="0"/>
            </a:xfrm>
            <a:prstGeom prst="straightConnector1">
              <a:avLst/>
            </a:prstGeom>
            <a:noFill/>
            <a:ln w="19050" cap="flat" cmpd="sng">
              <a:solidFill>
                <a:schemeClr val="lt1"/>
              </a:solidFill>
              <a:prstDash val="solid"/>
              <a:round/>
              <a:headEnd type="none" w="sm" len="sm"/>
              <a:tailEnd type="none" w="sm" len="sm"/>
            </a:ln>
          </p:spPr>
        </p:cxnSp>
        <p:cxnSp>
          <p:nvCxnSpPr>
            <p:cNvPr id="107" name="Google Shape;107;p28">
              <a:extLst>
                <a:ext uri="{FF2B5EF4-FFF2-40B4-BE49-F238E27FC236}">
                  <a16:creationId xmlns:a16="http://schemas.microsoft.com/office/drawing/2014/main" id="{C770F48F-B82E-C950-AD8A-980605322B24}"/>
                </a:ext>
              </a:extLst>
            </p:cNvPr>
            <p:cNvCxnSpPr/>
            <p:nvPr/>
          </p:nvCxnSpPr>
          <p:spPr>
            <a:xfrm rot="10800000" flipH="1">
              <a:off x="3943790" y="2676939"/>
              <a:ext cx="482436" cy="322845"/>
            </a:xfrm>
            <a:prstGeom prst="straightConnector1">
              <a:avLst/>
            </a:prstGeom>
            <a:noFill/>
            <a:ln w="19050" cap="flat" cmpd="sng">
              <a:solidFill>
                <a:schemeClr val="lt1"/>
              </a:solidFill>
              <a:prstDash val="solid"/>
              <a:round/>
              <a:headEnd type="none" w="sm" len="sm"/>
              <a:tailEnd type="none" w="sm" len="sm"/>
            </a:ln>
          </p:spPr>
        </p:cxnSp>
      </p:grpSp>
      <p:pic>
        <p:nvPicPr>
          <p:cNvPr id="108" name="Google Shape;108;p28">
            <a:extLst>
              <a:ext uri="{C183D7F6-B498-43B3-948B-1728B52AA6E4}">
                <adec:decorative xmlns:adec="http://schemas.microsoft.com/office/drawing/2017/decorative" val="1"/>
              </a:ext>
              <a:ext uri="{FF2B5EF4-FFF2-40B4-BE49-F238E27FC236}">
                <a16:creationId xmlns:a16="http://schemas.microsoft.com/office/drawing/2014/main" id="{CEF7C153-9BFF-39CE-5852-767B03BC6BAF}"/>
              </a:ext>
            </a:extLst>
          </p:cNvPr>
          <p:cNvPicPr preferRelativeResize="0"/>
          <p:nvPr/>
        </p:nvPicPr>
        <p:blipFill rotWithShape="1">
          <a:blip r:embed="rId4">
            <a:alphaModFix/>
          </a:blip>
          <a:srcRect/>
          <a:stretch/>
        </p:blipFill>
        <p:spPr>
          <a:xfrm>
            <a:off x="11557509" y="233819"/>
            <a:ext cx="271308" cy="389811"/>
          </a:xfrm>
          <a:prstGeom prst="rect">
            <a:avLst/>
          </a:prstGeom>
          <a:noFill/>
          <a:ln>
            <a:noFill/>
          </a:ln>
        </p:spPr>
      </p:pic>
      <p:sp>
        <p:nvSpPr>
          <p:cNvPr id="109" name="Google Shape;109;p28">
            <a:extLst>
              <a:ext uri="{FF2B5EF4-FFF2-40B4-BE49-F238E27FC236}">
                <a16:creationId xmlns:a16="http://schemas.microsoft.com/office/drawing/2014/main" id="{4A2DCC03-6B98-25FC-9ED1-490EDC7DBBF1}"/>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10" name="Google Shape;110;p28">
            <a:extLst>
              <a:ext uri="{FF2B5EF4-FFF2-40B4-BE49-F238E27FC236}">
                <a16:creationId xmlns:a16="http://schemas.microsoft.com/office/drawing/2014/main" id="{C8FC484D-C040-B032-BCA5-F2914EAAA8A2}"/>
              </a:ext>
            </a:extLst>
          </p:cNvPr>
          <p:cNvSpPr txBox="1"/>
          <p:nvPr/>
        </p:nvSpPr>
        <p:spPr>
          <a:xfrm>
            <a:off x="376807" y="6524381"/>
            <a:ext cx="7991400" cy="230700"/>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a:t>
            </a:r>
            <a:endParaRPr dirty="0"/>
          </a:p>
        </p:txBody>
      </p:sp>
      <p:grpSp>
        <p:nvGrpSpPr>
          <p:cNvPr id="111" name="Google Shape;111;p28">
            <a:extLst>
              <a:ext uri="{FF2B5EF4-FFF2-40B4-BE49-F238E27FC236}">
                <a16:creationId xmlns:a16="http://schemas.microsoft.com/office/drawing/2014/main" id="{905F365B-229F-7BC5-5D5A-8A48C6B468B2}"/>
              </a:ext>
            </a:extLst>
          </p:cNvPr>
          <p:cNvGrpSpPr/>
          <p:nvPr/>
        </p:nvGrpSpPr>
        <p:grpSpPr>
          <a:xfrm>
            <a:off x="4066674" y="6601537"/>
            <a:ext cx="5233412" cy="70446"/>
            <a:chOff x="4033424" y="6601537"/>
            <a:chExt cx="5233412" cy="70446"/>
          </a:xfrm>
        </p:grpSpPr>
        <p:cxnSp>
          <p:nvCxnSpPr>
            <p:cNvPr id="112" name="Google Shape;112;p28">
              <a:extLst>
                <a:ext uri="{FF2B5EF4-FFF2-40B4-BE49-F238E27FC236}">
                  <a16:creationId xmlns:a16="http://schemas.microsoft.com/office/drawing/2014/main" id="{0F53976F-FD14-0FAF-C10B-42F41AEC14D8}"/>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13" name="Google Shape;113;p28">
              <a:extLst>
                <a:ext uri="{FF2B5EF4-FFF2-40B4-BE49-F238E27FC236}">
                  <a16:creationId xmlns:a16="http://schemas.microsoft.com/office/drawing/2014/main" id="{D8344786-3C6D-EA28-FCAF-DAFBB7008C17}"/>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656698507"/>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2B192855-FA41-EE4C-661D-4F6DB8A17897}"/>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D4351AF2-CF72-2F46-2375-EEE96997B803}"/>
              </a:ext>
            </a:extLst>
          </p:cNvPr>
          <p:cNvSpPr txBox="1">
            <a:spLocks noGrp="1"/>
          </p:cNvSpPr>
          <p:nvPr>
            <p:ph type="body" idx="1"/>
          </p:nvPr>
        </p:nvSpPr>
        <p:spPr>
          <a:xfrm>
            <a:off x="376809" y="1334279"/>
            <a:ext cx="11452008" cy="4821102"/>
          </a:xfrm>
          <a:prstGeom prst="rect">
            <a:avLst/>
          </a:prstGeom>
          <a:noFill/>
          <a:ln>
            <a:noFill/>
          </a:ln>
        </p:spPr>
        <p:txBody>
          <a:bodyPr spcFirstLastPara="1" wrap="square" lIns="91425" tIns="45700" rIns="91425" bIns="45700" anchor="ctr" anchorCtr="0">
            <a:noAutofit/>
          </a:bodyPr>
          <a:lstStyle/>
          <a:p>
            <a:pPr marL="114300" indent="0">
              <a:spcBef>
                <a:spcPts val="0"/>
              </a:spcBef>
              <a:buNone/>
            </a:pPr>
            <a:r>
              <a:rPr lang="en-US" sz="2000" dirty="0">
                <a:solidFill>
                  <a:srgbClr val="000000"/>
                </a:solidFill>
                <a:latin typeface="Consolas" panose="020B0609020204030204" pitchFamily="49" charset="0"/>
              </a:rPr>
              <a:t>EALLOW;</a:t>
            </a:r>
          </a:p>
          <a:p>
            <a:pPr marL="114300" indent="0">
              <a:spcBef>
                <a:spcPts val="0"/>
              </a:spcBef>
              <a:buNone/>
            </a:pPr>
            <a:r>
              <a:rPr lang="en-US" sz="2000" dirty="0">
                <a:solidFill>
                  <a:srgbClr val="000000"/>
                </a:solidFill>
                <a:latin typeface="Consolas" panose="020B0609020204030204" pitchFamily="49" charset="0"/>
              </a:rPr>
              <a:t>EPwm7Regs.</a:t>
            </a:r>
            <a:r>
              <a:rPr lang="en-US" sz="2000" dirty="0">
                <a:solidFill>
                  <a:srgbClr val="0000C0"/>
                </a:solidFill>
                <a:latin typeface="Consolas" panose="020B0609020204030204" pitchFamily="49" charset="0"/>
              </a:rPr>
              <a:t>ETSEL</a:t>
            </a:r>
            <a:r>
              <a:rPr lang="en-US" sz="2000" dirty="0">
                <a:solidFill>
                  <a:srgbClr val="000000"/>
                </a:solidFill>
                <a:latin typeface="Consolas" panose="020B0609020204030204" pitchFamily="49" charset="0"/>
              </a:rPr>
              <a:t>.</a:t>
            </a:r>
            <a:r>
              <a:rPr lang="en-US" sz="2000" dirty="0">
                <a:solidFill>
                  <a:srgbClr val="0000C0"/>
                </a:solidFill>
                <a:latin typeface="Consolas" panose="020B0609020204030204" pitchFamily="49" charset="0"/>
              </a:rPr>
              <a:t>bit</a:t>
            </a:r>
            <a:r>
              <a:rPr lang="en-US" sz="2000" dirty="0">
                <a:solidFill>
                  <a:srgbClr val="000000"/>
                </a:solidFill>
                <a:latin typeface="Consolas" panose="020B0609020204030204" pitchFamily="49" charset="0"/>
              </a:rPr>
              <a:t>.</a:t>
            </a:r>
            <a:r>
              <a:rPr lang="en-US" sz="2000" dirty="0">
                <a:solidFill>
                  <a:srgbClr val="0000C0"/>
                </a:solidFill>
                <a:latin typeface="Consolas" panose="020B0609020204030204" pitchFamily="49" charset="0"/>
              </a:rPr>
              <a:t>SOCAEN</a:t>
            </a:r>
            <a:r>
              <a:rPr lang="en-US" sz="2000" dirty="0">
                <a:solidFill>
                  <a:srgbClr val="000000"/>
                </a:solidFill>
                <a:latin typeface="Consolas" panose="020B0609020204030204" pitchFamily="49" charset="0"/>
              </a:rPr>
              <a:t> = 0; </a:t>
            </a:r>
            <a:r>
              <a:rPr lang="en-US" sz="2000" dirty="0">
                <a:solidFill>
                  <a:srgbClr val="3F7F5F"/>
                </a:solidFill>
                <a:latin typeface="Consolas" panose="020B0609020204030204" pitchFamily="49" charset="0"/>
              </a:rPr>
              <a:t>// Disable SOC on A group</a:t>
            </a:r>
          </a:p>
          <a:p>
            <a:pPr marL="114300" indent="0">
              <a:spcBef>
                <a:spcPts val="0"/>
              </a:spcBef>
              <a:buNone/>
            </a:pPr>
            <a:endParaRPr lang="en-US" sz="2000" dirty="0">
              <a:solidFill>
                <a:srgbClr val="3F7F5F"/>
              </a:solidFill>
              <a:latin typeface="Consolas" panose="020B0609020204030204" pitchFamily="49" charset="0"/>
            </a:endParaRPr>
          </a:p>
          <a:p>
            <a:pPr marL="114300" indent="0">
              <a:spcBef>
                <a:spcPts val="0"/>
              </a:spcBef>
              <a:buNone/>
            </a:pPr>
            <a:r>
              <a:rPr lang="en-US" sz="2000" dirty="0">
                <a:solidFill>
                  <a:srgbClr val="000000"/>
                </a:solidFill>
                <a:latin typeface="Consolas" panose="020B0609020204030204" pitchFamily="49" charset="0"/>
              </a:rPr>
              <a:t>EPwm7Regs.</a:t>
            </a:r>
            <a:r>
              <a:rPr lang="en-US" sz="2000" dirty="0">
                <a:solidFill>
                  <a:srgbClr val="0000C0"/>
                </a:solidFill>
                <a:latin typeface="Consolas" panose="020B0609020204030204" pitchFamily="49" charset="0"/>
              </a:rPr>
              <a:t>TBCTL</a:t>
            </a:r>
            <a:r>
              <a:rPr lang="en-US" sz="2000" dirty="0">
                <a:solidFill>
                  <a:srgbClr val="000000"/>
                </a:solidFill>
                <a:latin typeface="Consolas" panose="020B0609020204030204" pitchFamily="49" charset="0"/>
              </a:rPr>
              <a:t>.</a:t>
            </a:r>
            <a:r>
              <a:rPr lang="en-US" sz="2000" dirty="0">
                <a:solidFill>
                  <a:srgbClr val="0000C0"/>
                </a:solidFill>
                <a:latin typeface="Consolas" panose="020B0609020204030204" pitchFamily="49" charset="0"/>
              </a:rPr>
              <a:t>bit</a:t>
            </a:r>
            <a:r>
              <a:rPr lang="en-US" sz="2000" dirty="0">
                <a:solidFill>
                  <a:srgbClr val="000000"/>
                </a:solidFill>
                <a:latin typeface="Consolas" panose="020B0609020204030204" pitchFamily="49" charset="0"/>
              </a:rPr>
              <a:t>.</a:t>
            </a:r>
            <a:r>
              <a:rPr lang="en-US" sz="2000" dirty="0">
                <a:solidFill>
                  <a:srgbClr val="0000C0"/>
                </a:solidFill>
                <a:latin typeface="Consolas" panose="020B0609020204030204" pitchFamily="49" charset="0"/>
              </a:rPr>
              <a:t>CTRMODE</a:t>
            </a:r>
            <a:r>
              <a:rPr lang="en-US" sz="2000" dirty="0">
                <a:solidFill>
                  <a:srgbClr val="000000"/>
                </a:solidFill>
                <a:latin typeface="Consolas" panose="020B0609020204030204" pitchFamily="49" charset="0"/>
              </a:rPr>
              <a:t> = 3; </a:t>
            </a:r>
            <a:r>
              <a:rPr lang="en-US" sz="2000" dirty="0">
                <a:solidFill>
                  <a:srgbClr val="3F7F5F"/>
                </a:solidFill>
                <a:latin typeface="Consolas" panose="020B0609020204030204" pitchFamily="49" charset="0"/>
              </a:rPr>
              <a:t>// freeze counter</a:t>
            </a:r>
          </a:p>
          <a:p>
            <a:pPr marL="114300" indent="0">
              <a:spcBef>
                <a:spcPts val="0"/>
              </a:spcBef>
              <a:buNone/>
            </a:pPr>
            <a:r>
              <a:rPr lang="en-US" sz="2000" dirty="0">
                <a:solidFill>
                  <a:srgbClr val="000000"/>
                </a:solidFill>
                <a:latin typeface="Consolas" panose="020B0609020204030204" pitchFamily="49" charset="0"/>
              </a:rPr>
              <a:t>EPwm7Regs.</a:t>
            </a:r>
            <a:r>
              <a:rPr lang="en-US" sz="2000" dirty="0">
                <a:solidFill>
                  <a:srgbClr val="0000C0"/>
                </a:solidFill>
                <a:latin typeface="Consolas" panose="020B0609020204030204" pitchFamily="49" charset="0"/>
              </a:rPr>
              <a:t>ETSEL</a:t>
            </a:r>
            <a:r>
              <a:rPr lang="en-US" sz="2000" dirty="0">
                <a:solidFill>
                  <a:srgbClr val="000000"/>
                </a:solidFill>
                <a:latin typeface="Consolas" panose="020B0609020204030204" pitchFamily="49" charset="0"/>
              </a:rPr>
              <a:t>.</a:t>
            </a:r>
            <a:r>
              <a:rPr lang="en-US" sz="2000" dirty="0">
                <a:solidFill>
                  <a:srgbClr val="0000C0"/>
                </a:solidFill>
                <a:latin typeface="Consolas" panose="020B0609020204030204" pitchFamily="49" charset="0"/>
              </a:rPr>
              <a:t>bit</a:t>
            </a:r>
            <a:r>
              <a:rPr lang="en-US" sz="2000" dirty="0">
                <a:solidFill>
                  <a:srgbClr val="000000"/>
                </a:solidFill>
                <a:latin typeface="Consolas" panose="020B0609020204030204" pitchFamily="49" charset="0"/>
              </a:rPr>
              <a:t>.</a:t>
            </a:r>
            <a:r>
              <a:rPr lang="en-US" sz="2000" dirty="0">
                <a:solidFill>
                  <a:srgbClr val="0000C0"/>
                </a:solidFill>
                <a:latin typeface="Consolas" panose="020B0609020204030204" pitchFamily="49" charset="0"/>
              </a:rPr>
              <a:t>SOCASEL</a:t>
            </a:r>
            <a:r>
              <a:rPr lang="en-US" sz="2000" dirty="0">
                <a:solidFill>
                  <a:srgbClr val="000000"/>
                </a:solidFill>
                <a:latin typeface="Consolas" panose="020B0609020204030204" pitchFamily="49" charset="0"/>
              </a:rPr>
              <a:t> = 0x2; </a:t>
            </a:r>
            <a:r>
              <a:rPr lang="en-US" sz="2000" dirty="0">
                <a:solidFill>
                  <a:srgbClr val="3F7F5F"/>
                </a:solidFill>
                <a:latin typeface="Consolas" panose="020B0609020204030204" pitchFamily="49" charset="0"/>
              </a:rPr>
              <a:t>// Select Event when counter equal to PRD</a:t>
            </a:r>
          </a:p>
          <a:p>
            <a:pPr marL="114300" indent="0">
              <a:spcBef>
                <a:spcPts val="0"/>
              </a:spcBef>
              <a:buNone/>
            </a:pPr>
            <a:r>
              <a:rPr lang="en-US" sz="2000" dirty="0">
                <a:solidFill>
                  <a:srgbClr val="000000"/>
                </a:solidFill>
                <a:latin typeface="Consolas" panose="020B0609020204030204" pitchFamily="49" charset="0"/>
              </a:rPr>
              <a:t>EPwm7Regs.</a:t>
            </a:r>
            <a:r>
              <a:rPr lang="en-US" sz="2000" dirty="0">
                <a:solidFill>
                  <a:srgbClr val="0000C0"/>
                </a:solidFill>
                <a:latin typeface="Consolas" panose="020B0609020204030204" pitchFamily="49" charset="0"/>
              </a:rPr>
              <a:t>ETPS</a:t>
            </a:r>
            <a:r>
              <a:rPr lang="en-US" sz="2000" dirty="0">
                <a:solidFill>
                  <a:srgbClr val="000000"/>
                </a:solidFill>
                <a:latin typeface="Consolas" panose="020B0609020204030204" pitchFamily="49" charset="0"/>
              </a:rPr>
              <a:t>.</a:t>
            </a:r>
            <a:r>
              <a:rPr lang="en-US" sz="2000" dirty="0">
                <a:solidFill>
                  <a:srgbClr val="0000C0"/>
                </a:solidFill>
                <a:latin typeface="Consolas" panose="020B0609020204030204" pitchFamily="49" charset="0"/>
              </a:rPr>
              <a:t>bit</a:t>
            </a:r>
            <a:r>
              <a:rPr lang="en-US" sz="2000" dirty="0">
                <a:solidFill>
                  <a:srgbClr val="000000"/>
                </a:solidFill>
                <a:latin typeface="Consolas" panose="020B0609020204030204" pitchFamily="49" charset="0"/>
              </a:rPr>
              <a:t>.</a:t>
            </a:r>
            <a:r>
              <a:rPr lang="en-US" sz="2000" dirty="0">
                <a:solidFill>
                  <a:srgbClr val="0000C0"/>
                </a:solidFill>
                <a:latin typeface="Consolas" panose="020B0609020204030204" pitchFamily="49" charset="0"/>
              </a:rPr>
              <a:t>SOCAPRD</a:t>
            </a:r>
            <a:r>
              <a:rPr lang="en-US" sz="2000" dirty="0">
                <a:solidFill>
                  <a:srgbClr val="000000"/>
                </a:solidFill>
                <a:latin typeface="Consolas" panose="020B0609020204030204" pitchFamily="49" charset="0"/>
              </a:rPr>
              <a:t> = 0x1; </a:t>
            </a:r>
            <a:r>
              <a:rPr lang="en-US" sz="2000" dirty="0">
                <a:solidFill>
                  <a:srgbClr val="3F7F5F"/>
                </a:solidFill>
                <a:latin typeface="Consolas" panose="020B0609020204030204" pitchFamily="49" charset="0"/>
              </a:rPr>
              <a:t>// Generate pulse on 1st event</a:t>
            </a:r>
          </a:p>
          <a:p>
            <a:pPr marL="114300" indent="0">
              <a:spcBef>
                <a:spcPts val="0"/>
              </a:spcBef>
              <a:buNone/>
            </a:pPr>
            <a:r>
              <a:rPr lang="en-US" sz="2000" dirty="0">
                <a:solidFill>
                  <a:srgbClr val="000000"/>
                </a:solidFill>
                <a:latin typeface="Consolas" panose="020B0609020204030204" pitchFamily="49" charset="0"/>
              </a:rPr>
              <a:t>EPwm7Regs.</a:t>
            </a:r>
            <a:r>
              <a:rPr lang="en-US" sz="2000" dirty="0">
                <a:solidFill>
                  <a:srgbClr val="0000C0"/>
                </a:solidFill>
                <a:latin typeface="Consolas" panose="020B0609020204030204" pitchFamily="49" charset="0"/>
              </a:rPr>
              <a:t>TBCTR</a:t>
            </a:r>
            <a:r>
              <a:rPr lang="en-US" sz="2000" dirty="0">
                <a:solidFill>
                  <a:srgbClr val="000000"/>
                </a:solidFill>
                <a:latin typeface="Consolas" panose="020B0609020204030204" pitchFamily="49" charset="0"/>
              </a:rPr>
              <a:t> = 0x0; </a:t>
            </a:r>
            <a:r>
              <a:rPr lang="en-US" sz="2000" dirty="0">
                <a:solidFill>
                  <a:srgbClr val="3F7F5F"/>
                </a:solidFill>
                <a:latin typeface="Consolas" panose="020B0609020204030204" pitchFamily="49" charset="0"/>
              </a:rPr>
              <a:t>// Clear counter</a:t>
            </a:r>
          </a:p>
          <a:p>
            <a:pPr marL="114300" indent="0">
              <a:spcBef>
                <a:spcPts val="0"/>
              </a:spcBef>
              <a:buNone/>
            </a:pPr>
            <a:r>
              <a:rPr lang="en-US" sz="2000" dirty="0">
                <a:solidFill>
                  <a:srgbClr val="000000"/>
                </a:solidFill>
                <a:latin typeface="Consolas" panose="020B0609020204030204" pitchFamily="49" charset="0"/>
              </a:rPr>
              <a:t>EPwm7Regs.</a:t>
            </a:r>
            <a:r>
              <a:rPr lang="en-US" sz="2000" dirty="0">
                <a:solidFill>
                  <a:srgbClr val="0000C0"/>
                </a:solidFill>
                <a:latin typeface="Consolas" panose="020B0609020204030204" pitchFamily="49" charset="0"/>
              </a:rPr>
              <a:t>TBPHS</a:t>
            </a:r>
            <a:r>
              <a:rPr lang="en-US" sz="2000" dirty="0">
                <a:solidFill>
                  <a:srgbClr val="000000"/>
                </a:solidFill>
                <a:latin typeface="Consolas" panose="020B0609020204030204" pitchFamily="49" charset="0"/>
              </a:rPr>
              <a:t>.</a:t>
            </a:r>
            <a:r>
              <a:rPr lang="en-US" sz="2000" dirty="0">
                <a:solidFill>
                  <a:srgbClr val="0000C0"/>
                </a:solidFill>
                <a:latin typeface="Consolas" panose="020B0609020204030204" pitchFamily="49" charset="0"/>
              </a:rPr>
              <a:t>bit</a:t>
            </a:r>
            <a:r>
              <a:rPr lang="en-US" sz="2000" dirty="0">
                <a:solidFill>
                  <a:srgbClr val="000000"/>
                </a:solidFill>
                <a:latin typeface="Consolas" panose="020B0609020204030204" pitchFamily="49" charset="0"/>
              </a:rPr>
              <a:t>.</a:t>
            </a:r>
            <a:r>
              <a:rPr lang="en-US" sz="2000" dirty="0">
                <a:solidFill>
                  <a:srgbClr val="0000C0"/>
                </a:solidFill>
                <a:latin typeface="Consolas" panose="020B0609020204030204" pitchFamily="49" charset="0"/>
              </a:rPr>
              <a:t>TBPHS</a:t>
            </a:r>
            <a:r>
              <a:rPr lang="en-US" sz="2000" dirty="0">
                <a:solidFill>
                  <a:srgbClr val="000000"/>
                </a:solidFill>
                <a:latin typeface="Consolas" panose="020B0609020204030204" pitchFamily="49" charset="0"/>
              </a:rPr>
              <a:t> = 0x0000; </a:t>
            </a:r>
            <a:r>
              <a:rPr lang="en-US" sz="2000" dirty="0">
                <a:solidFill>
                  <a:srgbClr val="3F7F5F"/>
                </a:solidFill>
                <a:latin typeface="Consolas" panose="020B0609020204030204" pitchFamily="49" charset="0"/>
              </a:rPr>
              <a:t>// Phase is 0</a:t>
            </a:r>
          </a:p>
          <a:p>
            <a:pPr marL="114300" indent="0">
              <a:spcBef>
                <a:spcPts val="0"/>
              </a:spcBef>
              <a:buNone/>
            </a:pPr>
            <a:r>
              <a:rPr lang="en-US" sz="2000" dirty="0">
                <a:solidFill>
                  <a:srgbClr val="000000"/>
                </a:solidFill>
                <a:latin typeface="Consolas" panose="020B0609020204030204" pitchFamily="49" charset="0"/>
              </a:rPr>
              <a:t>EPwm7Regs.</a:t>
            </a:r>
            <a:r>
              <a:rPr lang="en-US" sz="2000" dirty="0">
                <a:solidFill>
                  <a:srgbClr val="0000C0"/>
                </a:solidFill>
                <a:latin typeface="Consolas" panose="020B0609020204030204" pitchFamily="49" charset="0"/>
              </a:rPr>
              <a:t>TBCTL</a:t>
            </a:r>
            <a:r>
              <a:rPr lang="en-US" sz="2000" dirty="0">
                <a:solidFill>
                  <a:srgbClr val="000000"/>
                </a:solidFill>
                <a:latin typeface="Consolas" panose="020B0609020204030204" pitchFamily="49" charset="0"/>
              </a:rPr>
              <a:t>.</a:t>
            </a:r>
            <a:r>
              <a:rPr lang="en-US" sz="2000" dirty="0">
                <a:solidFill>
                  <a:srgbClr val="0000C0"/>
                </a:solidFill>
                <a:latin typeface="Consolas" panose="020B0609020204030204" pitchFamily="49" charset="0"/>
              </a:rPr>
              <a:t>bit</a:t>
            </a:r>
            <a:r>
              <a:rPr lang="en-US" sz="2000" dirty="0">
                <a:solidFill>
                  <a:srgbClr val="000000"/>
                </a:solidFill>
                <a:latin typeface="Consolas" panose="020B0609020204030204" pitchFamily="49" charset="0"/>
              </a:rPr>
              <a:t>.</a:t>
            </a:r>
            <a:r>
              <a:rPr lang="en-US" sz="2000" dirty="0">
                <a:solidFill>
                  <a:srgbClr val="0000C0"/>
                </a:solidFill>
                <a:latin typeface="Consolas" panose="020B0609020204030204" pitchFamily="49" charset="0"/>
              </a:rPr>
              <a:t>PHSEN</a:t>
            </a:r>
            <a:r>
              <a:rPr lang="en-US" sz="2000" dirty="0">
                <a:solidFill>
                  <a:srgbClr val="000000"/>
                </a:solidFill>
                <a:latin typeface="Consolas" panose="020B0609020204030204" pitchFamily="49" charset="0"/>
              </a:rPr>
              <a:t> = 0; </a:t>
            </a:r>
            <a:r>
              <a:rPr lang="en-US" sz="2000" dirty="0">
                <a:solidFill>
                  <a:srgbClr val="3F7F5F"/>
                </a:solidFill>
                <a:latin typeface="Consolas" panose="020B0609020204030204" pitchFamily="49" charset="0"/>
              </a:rPr>
              <a:t>// Disable phase loading</a:t>
            </a:r>
          </a:p>
          <a:p>
            <a:pPr marL="114300" indent="0">
              <a:spcBef>
                <a:spcPts val="0"/>
              </a:spcBef>
              <a:buNone/>
            </a:pPr>
            <a:r>
              <a:rPr lang="en-US" sz="2000" dirty="0">
                <a:solidFill>
                  <a:srgbClr val="000000"/>
                </a:solidFill>
                <a:latin typeface="Consolas" panose="020B0609020204030204" pitchFamily="49" charset="0"/>
              </a:rPr>
              <a:t>EPwm7Regs.</a:t>
            </a:r>
            <a:r>
              <a:rPr lang="en-US" sz="2000" dirty="0">
                <a:solidFill>
                  <a:srgbClr val="0000C0"/>
                </a:solidFill>
                <a:latin typeface="Consolas" panose="020B0609020204030204" pitchFamily="49" charset="0"/>
              </a:rPr>
              <a:t>TBCTL</a:t>
            </a:r>
            <a:r>
              <a:rPr lang="en-US" sz="2000" dirty="0">
                <a:solidFill>
                  <a:srgbClr val="000000"/>
                </a:solidFill>
                <a:latin typeface="Consolas" panose="020B0609020204030204" pitchFamily="49" charset="0"/>
              </a:rPr>
              <a:t>.</a:t>
            </a:r>
            <a:r>
              <a:rPr lang="en-US" sz="2000" dirty="0">
                <a:solidFill>
                  <a:srgbClr val="0000C0"/>
                </a:solidFill>
                <a:latin typeface="Consolas" panose="020B0609020204030204" pitchFamily="49" charset="0"/>
              </a:rPr>
              <a:t>bit</a:t>
            </a:r>
            <a:r>
              <a:rPr lang="en-US" sz="2000" dirty="0">
                <a:solidFill>
                  <a:srgbClr val="000000"/>
                </a:solidFill>
                <a:latin typeface="Consolas" panose="020B0609020204030204" pitchFamily="49" charset="0"/>
              </a:rPr>
              <a:t>.</a:t>
            </a:r>
            <a:r>
              <a:rPr lang="en-US" sz="2000" dirty="0">
                <a:solidFill>
                  <a:srgbClr val="0000C0"/>
                </a:solidFill>
                <a:latin typeface="Consolas" panose="020B0609020204030204" pitchFamily="49" charset="0"/>
              </a:rPr>
              <a:t>CLKDIV</a:t>
            </a:r>
            <a:r>
              <a:rPr lang="en-US" sz="2000" dirty="0">
                <a:solidFill>
                  <a:srgbClr val="000000"/>
                </a:solidFill>
                <a:latin typeface="Consolas" panose="020B0609020204030204" pitchFamily="49" charset="0"/>
              </a:rPr>
              <a:t> = 0; </a:t>
            </a:r>
            <a:r>
              <a:rPr lang="en-US" sz="2000" dirty="0">
                <a:solidFill>
                  <a:srgbClr val="3F7F5F"/>
                </a:solidFill>
                <a:latin typeface="Consolas" panose="020B0609020204030204" pitchFamily="49" charset="0"/>
              </a:rPr>
              <a:t>// divide by 1 50Mhz Clock</a:t>
            </a:r>
          </a:p>
          <a:p>
            <a:pPr marL="114300" indent="0">
              <a:spcBef>
                <a:spcPts val="0"/>
              </a:spcBef>
              <a:buNone/>
            </a:pPr>
            <a:r>
              <a:rPr lang="en-US" sz="2000" dirty="0">
                <a:solidFill>
                  <a:srgbClr val="000000"/>
                </a:solidFill>
                <a:latin typeface="Consolas" panose="020B0609020204030204" pitchFamily="49" charset="0"/>
              </a:rPr>
              <a:t>EPwm7Regs.</a:t>
            </a:r>
            <a:r>
              <a:rPr lang="en-US" sz="2000" dirty="0">
                <a:solidFill>
                  <a:srgbClr val="0000C0"/>
                </a:solidFill>
                <a:latin typeface="Consolas" panose="020B0609020204030204" pitchFamily="49" charset="0"/>
              </a:rPr>
              <a:t>TBPRD</a:t>
            </a:r>
            <a:r>
              <a:rPr lang="en-US" sz="2000" dirty="0">
                <a:solidFill>
                  <a:srgbClr val="000000"/>
                </a:solidFill>
                <a:latin typeface="Consolas" panose="020B0609020204030204" pitchFamily="49" charset="0"/>
              </a:rPr>
              <a:t> = 5000; </a:t>
            </a:r>
            <a:r>
              <a:rPr lang="en-US" sz="2000" dirty="0">
                <a:solidFill>
                  <a:srgbClr val="3F7F5F"/>
                </a:solidFill>
                <a:latin typeface="Consolas" panose="020B0609020204030204" pitchFamily="49" charset="0"/>
              </a:rPr>
              <a:t>// Set Period to 0.1ms sample. Input clock is 50MHz.</a:t>
            </a:r>
          </a:p>
          <a:p>
            <a:pPr marL="114300" indent="0">
              <a:spcBef>
                <a:spcPts val="0"/>
              </a:spcBef>
              <a:buNone/>
            </a:pPr>
            <a:r>
              <a:rPr lang="en-US" sz="2000" dirty="0">
                <a:solidFill>
                  <a:srgbClr val="000000"/>
                </a:solidFill>
                <a:latin typeface="Consolas" panose="020B0609020204030204" pitchFamily="49" charset="0"/>
              </a:rPr>
              <a:t>EPwm7Regs.</a:t>
            </a:r>
            <a:r>
              <a:rPr lang="en-US" sz="2000" dirty="0">
                <a:solidFill>
                  <a:srgbClr val="0000C0"/>
                </a:solidFill>
                <a:latin typeface="Consolas" panose="020B0609020204030204" pitchFamily="49" charset="0"/>
              </a:rPr>
              <a:t>ETSEL</a:t>
            </a:r>
            <a:r>
              <a:rPr lang="en-US" sz="2000" dirty="0">
                <a:solidFill>
                  <a:srgbClr val="000000"/>
                </a:solidFill>
                <a:latin typeface="Consolas" panose="020B0609020204030204" pitchFamily="49" charset="0"/>
              </a:rPr>
              <a:t>.</a:t>
            </a:r>
            <a:r>
              <a:rPr lang="en-US" sz="2000" dirty="0">
                <a:solidFill>
                  <a:srgbClr val="0000C0"/>
                </a:solidFill>
                <a:latin typeface="Consolas" panose="020B0609020204030204" pitchFamily="49" charset="0"/>
              </a:rPr>
              <a:t>bit</a:t>
            </a:r>
            <a:r>
              <a:rPr lang="en-US" sz="2000" dirty="0">
                <a:solidFill>
                  <a:srgbClr val="000000"/>
                </a:solidFill>
                <a:latin typeface="Consolas" panose="020B0609020204030204" pitchFamily="49" charset="0"/>
              </a:rPr>
              <a:t>.</a:t>
            </a:r>
            <a:r>
              <a:rPr lang="en-US" sz="2000" dirty="0">
                <a:solidFill>
                  <a:srgbClr val="0000C0"/>
                </a:solidFill>
                <a:latin typeface="Consolas" panose="020B0609020204030204" pitchFamily="49" charset="0"/>
              </a:rPr>
              <a:t>SOCAEN</a:t>
            </a:r>
            <a:r>
              <a:rPr lang="en-US" sz="2000" dirty="0">
                <a:solidFill>
                  <a:srgbClr val="000000"/>
                </a:solidFill>
                <a:latin typeface="Consolas" panose="020B0609020204030204" pitchFamily="49" charset="0"/>
              </a:rPr>
              <a:t> = 1; </a:t>
            </a:r>
            <a:r>
              <a:rPr lang="en-US" sz="2000" dirty="0">
                <a:solidFill>
                  <a:srgbClr val="3F7F5F"/>
                </a:solidFill>
                <a:latin typeface="Consolas" panose="020B0609020204030204" pitchFamily="49" charset="0"/>
              </a:rPr>
              <a:t>// Enable SOC on A group</a:t>
            </a:r>
          </a:p>
          <a:p>
            <a:pPr marL="114300" indent="0">
              <a:spcBef>
                <a:spcPts val="0"/>
              </a:spcBef>
              <a:buNone/>
            </a:pPr>
            <a:r>
              <a:rPr lang="en-US" sz="2000" dirty="0">
                <a:solidFill>
                  <a:srgbClr val="3F7F5F"/>
                </a:solidFill>
                <a:latin typeface="Consolas" panose="020B0609020204030204" pitchFamily="49" charset="0"/>
              </a:rPr>
              <a:t>// Notice here that we are not setting CMPA or CMPB because we are not using the PWM signal EPwm7Regs.ETSEL.bit.SOCAEN = 1; //enable SOCA</a:t>
            </a:r>
          </a:p>
          <a:p>
            <a:pPr marL="114300" indent="0">
              <a:spcBef>
                <a:spcPts val="0"/>
              </a:spcBef>
              <a:buNone/>
            </a:pPr>
            <a:r>
              <a:rPr lang="en-US" sz="2000" dirty="0">
                <a:solidFill>
                  <a:srgbClr val="000000"/>
                </a:solidFill>
                <a:latin typeface="Consolas" panose="020B0609020204030204" pitchFamily="49" charset="0"/>
              </a:rPr>
              <a:t>EPwm7Regs.</a:t>
            </a:r>
            <a:r>
              <a:rPr lang="en-US" sz="2000" dirty="0">
                <a:solidFill>
                  <a:srgbClr val="0000C0"/>
                </a:solidFill>
                <a:latin typeface="Consolas" panose="020B0609020204030204" pitchFamily="49" charset="0"/>
              </a:rPr>
              <a:t>TBCTL</a:t>
            </a:r>
            <a:r>
              <a:rPr lang="en-US" sz="2000" dirty="0">
                <a:solidFill>
                  <a:srgbClr val="000000"/>
                </a:solidFill>
                <a:latin typeface="Consolas" panose="020B0609020204030204" pitchFamily="49" charset="0"/>
              </a:rPr>
              <a:t>.</a:t>
            </a:r>
            <a:r>
              <a:rPr lang="en-US" sz="2000" dirty="0">
                <a:solidFill>
                  <a:srgbClr val="0000C0"/>
                </a:solidFill>
                <a:latin typeface="Consolas" panose="020B0609020204030204" pitchFamily="49" charset="0"/>
              </a:rPr>
              <a:t>bit</a:t>
            </a:r>
            <a:r>
              <a:rPr lang="en-US" sz="2000" dirty="0">
                <a:solidFill>
                  <a:srgbClr val="000000"/>
                </a:solidFill>
                <a:latin typeface="Consolas" panose="020B0609020204030204" pitchFamily="49" charset="0"/>
              </a:rPr>
              <a:t>.</a:t>
            </a:r>
            <a:r>
              <a:rPr lang="en-US" sz="2000" dirty="0">
                <a:solidFill>
                  <a:srgbClr val="0000C0"/>
                </a:solidFill>
                <a:latin typeface="Consolas" panose="020B0609020204030204" pitchFamily="49" charset="0"/>
              </a:rPr>
              <a:t>CTRMODE</a:t>
            </a:r>
            <a:r>
              <a:rPr lang="en-US" sz="2000" dirty="0">
                <a:solidFill>
                  <a:srgbClr val="000000"/>
                </a:solidFill>
                <a:latin typeface="Consolas" panose="020B0609020204030204" pitchFamily="49" charset="0"/>
              </a:rPr>
              <a:t> = 0x00; </a:t>
            </a:r>
            <a:r>
              <a:rPr lang="en-US" sz="2000" dirty="0">
                <a:solidFill>
                  <a:srgbClr val="3F7F5F"/>
                </a:solidFill>
                <a:latin typeface="Consolas" panose="020B0609020204030204" pitchFamily="49" charset="0"/>
              </a:rPr>
              <a:t>//unfreeze, and enter up count mode</a:t>
            </a:r>
          </a:p>
          <a:p>
            <a:pPr marL="114300" indent="0">
              <a:spcBef>
                <a:spcPts val="0"/>
              </a:spcBef>
              <a:buNone/>
            </a:pPr>
            <a:r>
              <a:rPr lang="en-US" sz="2000" dirty="0">
                <a:solidFill>
                  <a:srgbClr val="000000"/>
                </a:solidFill>
                <a:latin typeface="Consolas" panose="020B0609020204030204" pitchFamily="49" charset="0"/>
              </a:rPr>
              <a:t>EDIS;</a:t>
            </a:r>
            <a:endParaRPr lang="en-US" sz="2000" dirty="0">
              <a:solidFill>
                <a:schemeClr val="tx1"/>
              </a:solidFill>
              <a:latin typeface="Atkinson Hyperlegible Next"/>
              <a:cs typeface="Arial"/>
              <a:sym typeface="Arial"/>
            </a:endParaRPr>
          </a:p>
        </p:txBody>
      </p:sp>
      <p:sp>
        <p:nvSpPr>
          <p:cNvPr id="119" name="Google Shape;119;p29">
            <a:extLst>
              <a:ext uri="{FF2B5EF4-FFF2-40B4-BE49-F238E27FC236}">
                <a16:creationId xmlns:a16="http://schemas.microsoft.com/office/drawing/2014/main" id="{C3A5C257-07A9-4EE3-A1C4-1EB09944739B}"/>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9A134DBF-1B71-BC3D-098A-63916CF4614D}"/>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algn="l" lvl="0">
              <a:lnSpc>
                <a:spcPct val="100000"/>
              </a:lnSpc>
              <a:spcBef>
                <a:spcPts val="0"/>
              </a:spcBef>
              <a:spcAft>
                <a:spcPts val="0"/>
              </a:spcAft>
              <a:buSzPts val="2400"/>
            </a:pPr>
            <a:r>
              <a:rPr lang="en-US" sz="2400" b="0" i="0" u="none" strike="noStrike" cap="none" dirty="0">
                <a:solidFill>
                  <a:schemeClr val="lt1"/>
                </a:solidFill>
                <a:latin typeface="Atkinson Hyperlegible Next"/>
                <a:ea typeface="Arial"/>
                <a:cs typeface="Arial"/>
                <a:sym typeface="Arial"/>
              </a:rPr>
              <a:t>FFT Code</a:t>
            </a:r>
            <a:r>
              <a:rPr i="0" b="0" lang="en-US" sz="2400" dirty="0">
                <a:solidFill>
                  <a:schemeClr val="lt1"/>
                </a:solidFill>
              </a:rPr>
              <a:t> - Setup</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52E92F33-CDD5-4291-3FA7-F065867737CA}"/>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58F780C2-F4CD-C434-0857-052FD629532F}"/>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8D758738-2B05-9FB3-0C95-081412E8DDB9}"/>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9253A38D-4A41-73CB-E1E8-CE67BB1B06C3}"/>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974113B1-C684-BD26-61FE-01715C1897FE}"/>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ACA049C8-2633-6283-201E-EF71A1515A8F}"/>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2985115136"/>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B756BB21-8E38-9EC1-613A-19C9345FA85C}"/>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E90D5EA2-302F-6B41-5065-7957DA22E207}"/>
              </a:ext>
            </a:extLst>
          </p:cNvPr>
          <p:cNvSpPr txBox="1">
            <a:spLocks noGrp="1"/>
          </p:cNvSpPr>
          <p:nvPr>
            <p:ph type="body" idx="1"/>
          </p:nvPr>
        </p:nvSpPr>
        <p:spPr>
          <a:xfrm>
            <a:off x="376809" y="1172487"/>
            <a:ext cx="11452008" cy="4982893"/>
          </a:xfrm>
          <a:prstGeom prst="rect">
            <a:avLst/>
          </a:prstGeom>
          <a:noFill/>
          <a:ln>
            <a:noFill/>
          </a:ln>
        </p:spPr>
        <p:txBody>
          <a:bodyPr spcFirstLastPara="1" wrap="square" lIns="91425" tIns="45700" rIns="91425" bIns="45700" anchor="ctr" anchorCtr="0">
            <a:noAutofit/>
          </a:bodyPr>
          <a:lstStyle/>
          <a:p>
            <a:pPr marL="114300" indent="0" algn="l">
              <a:spcBef>
                <a:spcPts val="0"/>
              </a:spcBef>
              <a:buNone/>
            </a:pPr>
            <a:r>
              <a:rPr lang="en-US" sz="1050" dirty="0">
                <a:solidFill>
                  <a:srgbClr val="000000"/>
                </a:solidFill>
                <a:latin typeface="Consolas" panose="020B0609020204030204" pitchFamily="49" charset="0"/>
              </a:rPr>
              <a:t>EALLOW;</a:t>
            </a:r>
          </a:p>
          <a:p>
            <a:pPr marL="114300" indent="0" algn="l">
              <a:spcBef>
                <a:spcPts val="0"/>
              </a:spcBef>
              <a:buNone/>
            </a:pPr>
            <a:r>
              <a:rPr lang="en-US" sz="1050" dirty="0">
                <a:solidFill>
                  <a:srgbClr val="3F7F5F"/>
                </a:solidFill>
                <a:latin typeface="Consolas" panose="020B0609020204030204" pitchFamily="49" charset="0"/>
              </a:rPr>
              <a:t>//write configurations for all ADCs ADCA, ADCB, ADCC, ADCD</a:t>
            </a:r>
          </a:p>
          <a:p>
            <a:pPr marL="114300" indent="0" algn="l">
              <a:spcBef>
                <a:spcPts val="0"/>
              </a:spcBef>
              <a:buNone/>
            </a:pPr>
            <a:r>
              <a:rPr lang="en-US" sz="1050" dirty="0">
                <a:solidFill>
                  <a:srgbClr val="000000"/>
                </a:solidFill>
                <a:latin typeface="Consolas" panose="020B0609020204030204" pitchFamily="49" charset="0"/>
              </a:rPr>
              <a:t>AdcaRegs.</a:t>
            </a:r>
            <a:r>
              <a:rPr lang="en-US" sz="1050" dirty="0">
                <a:solidFill>
                  <a:srgbClr val="0000C0"/>
                </a:solidFill>
                <a:latin typeface="Consolas" panose="020B0609020204030204" pitchFamily="49" charset="0"/>
              </a:rPr>
              <a:t>ADCCTL2</a:t>
            </a:r>
            <a:r>
              <a:rPr lang="en-US" sz="1050" dirty="0">
                <a:solidFill>
                  <a:srgbClr val="000000"/>
                </a:solidFill>
                <a:latin typeface="Consolas" panose="020B0609020204030204" pitchFamily="49" charset="0"/>
              </a:rPr>
              <a:t>.</a:t>
            </a:r>
            <a:r>
              <a:rPr lang="en-US" sz="1050" dirty="0">
                <a:solidFill>
                  <a:srgbClr val="0000C0"/>
                </a:solidFill>
                <a:latin typeface="Consolas" panose="020B0609020204030204" pitchFamily="49" charset="0"/>
              </a:rPr>
              <a:t>bit</a:t>
            </a:r>
            <a:r>
              <a:rPr lang="en-US" sz="1050" dirty="0">
                <a:solidFill>
                  <a:srgbClr val="000000"/>
                </a:solidFill>
                <a:latin typeface="Consolas" panose="020B0609020204030204" pitchFamily="49" charset="0"/>
              </a:rPr>
              <a:t>.</a:t>
            </a:r>
            <a:r>
              <a:rPr lang="en-US" sz="1050" dirty="0">
                <a:solidFill>
                  <a:srgbClr val="0000C0"/>
                </a:solidFill>
                <a:latin typeface="Consolas" panose="020B0609020204030204" pitchFamily="49" charset="0"/>
              </a:rPr>
              <a:t>PRESCALE</a:t>
            </a:r>
            <a:r>
              <a:rPr lang="en-US" sz="1050" dirty="0">
                <a:solidFill>
                  <a:srgbClr val="000000"/>
                </a:solidFill>
                <a:latin typeface="Consolas" panose="020B0609020204030204" pitchFamily="49" charset="0"/>
              </a:rPr>
              <a:t> = 6; </a:t>
            </a:r>
            <a:r>
              <a:rPr lang="en-US" sz="1050" dirty="0">
                <a:solidFill>
                  <a:srgbClr val="3F7F5F"/>
                </a:solidFill>
                <a:latin typeface="Consolas" panose="020B0609020204030204" pitchFamily="49" charset="0"/>
              </a:rPr>
              <a:t>//set ADCCLK divider to /4</a:t>
            </a:r>
          </a:p>
          <a:p>
            <a:pPr marL="114300" indent="0" algn="l">
              <a:spcBef>
                <a:spcPts val="0"/>
              </a:spcBef>
              <a:buNone/>
            </a:pPr>
            <a:r>
              <a:rPr lang="en-US" sz="1050" dirty="0">
                <a:solidFill>
                  <a:srgbClr val="000000"/>
                </a:solidFill>
                <a:latin typeface="Consolas" panose="020B0609020204030204" pitchFamily="49" charset="0"/>
              </a:rPr>
              <a:t>AdcbRegs.</a:t>
            </a:r>
            <a:r>
              <a:rPr lang="en-US" sz="1050" dirty="0">
                <a:solidFill>
                  <a:srgbClr val="0000C0"/>
                </a:solidFill>
                <a:latin typeface="Consolas" panose="020B0609020204030204" pitchFamily="49" charset="0"/>
              </a:rPr>
              <a:t>ADCCTL2</a:t>
            </a:r>
            <a:r>
              <a:rPr lang="en-US" sz="1050" dirty="0">
                <a:solidFill>
                  <a:srgbClr val="000000"/>
                </a:solidFill>
                <a:latin typeface="Consolas" panose="020B0609020204030204" pitchFamily="49" charset="0"/>
              </a:rPr>
              <a:t>.</a:t>
            </a:r>
            <a:r>
              <a:rPr lang="en-US" sz="1050" dirty="0">
                <a:solidFill>
                  <a:srgbClr val="0000C0"/>
                </a:solidFill>
                <a:latin typeface="Consolas" panose="020B0609020204030204" pitchFamily="49" charset="0"/>
              </a:rPr>
              <a:t>bit</a:t>
            </a:r>
            <a:r>
              <a:rPr lang="en-US" sz="1050" dirty="0">
                <a:solidFill>
                  <a:srgbClr val="000000"/>
                </a:solidFill>
                <a:latin typeface="Consolas" panose="020B0609020204030204" pitchFamily="49" charset="0"/>
              </a:rPr>
              <a:t>.</a:t>
            </a:r>
            <a:r>
              <a:rPr lang="en-US" sz="1050" dirty="0">
                <a:solidFill>
                  <a:srgbClr val="0000C0"/>
                </a:solidFill>
                <a:latin typeface="Consolas" panose="020B0609020204030204" pitchFamily="49" charset="0"/>
              </a:rPr>
              <a:t>PRESCALE</a:t>
            </a:r>
            <a:r>
              <a:rPr lang="en-US" sz="1050" dirty="0">
                <a:solidFill>
                  <a:srgbClr val="000000"/>
                </a:solidFill>
                <a:latin typeface="Consolas" panose="020B0609020204030204" pitchFamily="49" charset="0"/>
              </a:rPr>
              <a:t> = 6; </a:t>
            </a:r>
            <a:r>
              <a:rPr lang="en-US" sz="1050" dirty="0">
                <a:solidFill>
                  <a:srgbClr val="3F7F5F"/>
                </a:solidFill>
                <a:latin typeface="Consolas" panose="020B0609020204030204" pitchFamily="49" charset="0"/>
              </a:rPr>
              <a:t>//set ADCCLK divider to /4</a:t>
            </a:r>
          </a:p>
          <a:p>
            <a:pPr marL="114300" indent="0" algn="l">
              <a:spcBef>
                <a:spcPts val="0"/>
              </a:spcBef>
              <a:buNone/>
            </a:pPr>
            <a:r>
              <a:rPr lang="en-US" sz="1050" dirty="0">
                <a:solidFill>
                  <a:srgbClr val="000000"/>
                </a:solidFill>
                <a:latin typeface="Consolas" panose="020B0609020204030204" pitchFamily="49" charset="0"/>
              </a:rPr>
              <a:t>AdccRegs.</a:t>
            </a:r>
            <a:r>
              <a:rPr lang="en-US" sz="1050" dirty="0">
                <a:solidFill>
                  <a:srgbClr val="0000C0"/>
                </a:solidFill>
                <a:latin typeface="Consolas" panose="020B0609020204030204" pitchFamily="49" charset="0"/>
              </a:rPr>
              <a:t>ADCCTL2</a:t>
            </a:r>
            <a:r>
              <a:rPr lang="en-US" sz="1050" dirty="0">
                <a:solidFill>
                  <a:srgbClr val="000000"/>
                </a:solidFill>
                <a:latin typeface="Consolas" panose="020B0609020204030204" pitchFamily="49" charset="0"/>
              </a:rPr>
              <a:t>.</a:t>
            </a:r>
            <a:r>
              <a:rPr lang="en-US" sz="1050" dirty="0">
                <a:solidFill>
                  <a:srgbClr val="0000C0"/>
                </a:solidFill>
                <a:latin typeface="Consolas" panose="020B0609020204030204" pitchFamily="49" charset="0"/>
              </a:rPr>
              <a:t>bit</a:t>
            </a:r>
            <a:r>
              <a:rPr lang="en-US" sz="1050" dirty="0">
                <a:solidFill>
                  <a:srgbClr val="000000"/>
                </a:solidFill>
                <a:latin typeface="Consolas" panose="020B0609020204030204" pitchFamily="49" charset="0"/>
              </a:rPr>
              <a:t>.</a:t>
            </a:r>
            <a:r>
              <a:rPr lang="en-US" sz="1050" dirty="0">
                <a:solidFill>
                  <a:srgbClr val="0000C0"/>
                </a:solidFill>
                <a:latin typeface="Consolas" panose="020B0609020204030204" pitchFamily="49" charset="0"/>
              </a:rPr>
              <a:t>PRESCALE</a:t>
            </a:r>
            <a:r>
              <a:rPr lang="en-US" sz="1050" dirty="0">
                <a:solidFill>
                  <a:srgbClr val="000000"/>
                </a:solidFill>
                <a:latin typeface="Consolas" panose="020B0609020204030204" pitchFamily="49" charset="0"/>
              </a:rPr>
              <a:t> = 6; </a:t>
            </a:r>
            <a:r>
              <a:rPr lang="en-US" sz="1050" dirty="0">
                <a:solidFill>
                  <a:srgbClr val="3F7F5F"/>
                </a:solidFill>
                <a:latin typeface="Consolas" panose="020B0609020204030204" pitchFamily="49" charset="0"/>
              </a:rPr>
              <a:t>//set ADCCLK divider to /4</a:t>
            </a:r>
          </a:p>
          <a:p>
            <a:pPr marL="114300" indent="0" algn="l">
              <a:spcBef>
                <a:spcPts val="0"/>
              </a:spcBef>
              <a:buNone/>
            </a:pPr>
            <a:r>
              <a:rPr lang="en-US" sz="1050" dirty="0">
                <a:solidFill>
                  <a:srgbClr val="000000"/>
                </a:solidFill>
                <a:latin typeface="Consolas" panose="020B0609020204030204" pitchFamily="49" charset="0"/>
              </a:rPr>
              <a:t>AdcdRegs.</a:t>
            </a:r>
            <a:r>
              <a:rPr lang="en-US" sz="1050" dirty="0">
                <a:solidFill>
                  <a:srgbClr val="0000C0"/>
                </a:solidFill>
                <a:latin typeface="Consolas" panose="020B0609020204030204" pitchFamily="49" charset="0"/>
              </a:rPr>
              <a:t>ADCCTL2</a:t>
            </a:r>
            <a:r>
              <a:rPr lang="en-US" sz="1050" dirty="0">
                <a:solidFill>
                  <a:srgbClr val="000000"/>
                </a:solidFill>
                <a:latin typeface="Consolas" panose="020B0609020204030204" pitchFamily="49" charset="0"/>
              </a:rPr>
              <a:t>.</a:t>
            </a:r>
            <a:r>
              <a:rPr lang="en-US" sz="1050" dirty="0">
                <a:solidFill>
                  <a:srgbClr val="0000C0"/>
                </a:solidFill>
                <a:latin typeface="Consolas" panose="020B0609020204030204" pitchFamily="49" charset="0"/>
              </a:rPr>
              <a:t>bit</a:t>
            </a:r>
            <a:r>
              <a:rPr lang="en-US" sz="1050" dirty="0">
                <a:solidFill>
                  <a:srgbClr val="000000"/>
                </a:solidFill>
                <a:latin typeface="Consolas" panose="020B0609020204030204" pitchFamily="49" charset="0"/>
              </a:rPr>
              <a:t>.</a:t>
            </a:r>
            <a:r>
              <a:rPr lang="en-US" sz="1050" dirty="0">
                <a:solidFill>
                  <a:srgbClr val="0000C0"/>
                </a:solidFill>
                <a:latin typeface="Consolas" panose="020B0609020204030204" pitchFamily="49" charset="0"/>
              </a:rPr>
              <a:t>PRESCALE</a:t>
            </a:r>
            <a:r>
              <a:rPr lang="en-US" sz="1050" dirty="0">
                <a:solidFill>
                  <a:srgbClr val="000000"/>
                </a:solidFill>
                <a:latin typeface="Consolas" panose="020B0609020204030204" pitchFamily="49" charset="0"/>
              </a:rPr>
              <a:t> = 6; </a:t>
            </a:r>
            <a:r>
              <a:rPr lang="en-US" sz="1050" dirty="0">
                <a:solidFill>
                  <a:srgbClr val="3F7F5F"/>
                </a:solidFill>
                <a:latin typeface="Consolas" panose="020B0609020204030204" pitchFamily="49" charset="0"/>
              </a:rPr>
              <a:t>//set ADCCLK divider to /4</a:t>
            </a:r>
          </a:p>
          <a:p>
            <a:pPr marL="114300" indent="0" algn="l">
              <a:spcBef>
                <a:spcPts val="0"/>
              </a:spcBef>
              <a:buNone/>
            </a:pPr>
            <a:endParaRPr lang="en-US" sz="1050" dirty="0">
              <a:solidFill>
                <a:srgbClr val="3F7F5F"/>
              </a:solidFill>
              <a:latin typeface="Consolas" panose="020B0609020204030204" pitchFamily="49" charset="0"/>
            </a:endParaRPr>
          </a:p>
          <a:p>
            <a:pPr marL="114300" indent="0" algn="l">
              <a:spcBef>
                <a:spcPts val="0"/>
              </a:spcBef>
              <a:buNone/>
            </a:pPr>
            <a:r>
              <a:rPr lang="en-US" sz="1050" dirty="0" err="1">
                <a:solidFill>
                  <a:srgbClr val="642880"/>
                </a:solidFill>
                <a:latin typeface="Consolas" panose="020B0609020204030204" pitchFamily="49" charset="0"/>
              </a:rPr>
              <a:t>AdcSetMode</a:t>
            </a:r>
            <a:r>
              <a:rPr lang="en-US" sz="1050" dirty="0">
                <a:solidFill>
                  <a:srgbClr val="000000"/>
                </a:solidFill>
                <a:latin typeface="Consolas" panose="020B0609020204030204" pitchFamily="49" charset="0"/>
              </a:rPr>
              <a:t>(ADC_ADCA, </a:t>
            </a:r>
            <a:r>
              <a:rPr lang="en-US" sz="1050" i="1" dirty="0">
                <a:solidFill>
                  <a:srgbClr val="0000C0"/>
                </a:solidFill>
                <a:latin typeface="Consolas" panose="020B0609020204030204" pitchFamily="49" charset="0"/>
              </a:rPr>
              <a:t>ADC_RESOLUTION_12BIT</a:t>
            </a:r>
            <a:r>
              <a:rPr lang="en-US" sz="1050" i="1" dirty="0">
                <a:solidFill>
                  <a:srgbClr val="000000"/>
                </a:solidFill>
                <a:latin typeface="Consolas" panose="020B0609020204030204" pitchFamily="49" charset="0"/>
              </a:rPr>
              <a:t>, ADC_SIGNALMODE_SINGLE); </a:t>
            </a:r>
            <a:r>
              <a:rPr lang="en-US" sz="1050" i="1" dirty="0">
                <a:solidFill>
                  <a:srgbClr val="3F7F5F"/>
                </a:solidFill>
                <a:latin typeface="Consolas" panose="020B0609020204030204" pitchFamily="49" charset="0"/>
              </a:rPr>
              <a:t>//read calibration settings</a:t>
            </a:r>
          </a:p>
          <a:p>
            <a:pPr marL="114300" indent="0" algn="l">
              <a:spcBef>
                <a:spcPts val="0"/>
              </a:spcBef>
              <a:buNone/>
            </a:pPr>
            <a:r>
              <a:rPr lang="en-US" sz="1050" dirty="0" err="1">
                <a:solidFill>
                  <a:srgbClr val="642880"/>
                </a:solidFill>
                <a:latin typeface="Consolas" panose="020B0609020204030204" pitchFamily="49" charset="0"/>
              </a:rPr>
              <a:t>AdcSetMode</a:t>
            </a:r>
            <a:r>
              <a:rPr lang="en-US" sz="1050" dirty="0">
                <a:solidFill>
                  <a:srgbClr val="000000"/>
                </a:solidFill>
                <a:latin typeface="Consolas" panose="020B0609020204030204" pitchFamily="49" charset="0"/>
              </a:rPr>
              <a:t>(ADC_ADCB, </a:t>
            </a:r>
            <a:r>
              <a:rPr lang="en-US" sz="1050" i="1" dirty="0">
                <a:solidFill>
                  <a:srgbClr val="0000C0"/>
                </a:solidFill>
                <a:latin typeface="Consolas" panose="020B0609020204030204" pitchFamily="49" charset="0"/>
              </a:rPr>
              <a:t>ADC_RESOLUTION_12BIT</a:t>
            </a:r>
            <a:r>
              <a:rPr lang="en-US" sz="1050" i="1" dirty="0">
                <a:solidFill>
                  <a:srgbClr val="000000"/>
                </a:solidFill>
                <a:latin typeface="Consolas" panose="020B0609020204030204" pitchFamily="49" charset="0"/>
              </a:rPr>
              <a:t>, ADC_SIGNALMODE_SINGLE); </a:t>
            </a:r>
            <a:r>
              <a:rPr lang="en-US" sz="1050" i="1" dirty="0">
                <a:solidFill>
                  <a:srgbClr val="3F7F5F"/>
                </a:solidFill>
                <a:latin typeface="Consolas" panose="020B0609020204030204" pitchFamily="49" charset="0"/>
              </a:rPr>
              <a:t>//read calibration settings</a:t>
            </a:r>
          </a:p>
          <a:p>
            <a:pPr marL="114300" indent="0" algn="l">
              <a:spcBef>
                <a:spcPts val="0"/>
              </a:spcBef>
              <a:buNone/>
            </a:pPr>
            <a:r>
              <a:rPr lang="en-US" sz="1050" dirty="0" err="1">
                <a:solidFill>
                  <a:srgbClr val="642880"/>
                </a:solidFill>
                <a:latin typeface="Consolas" panose="020B0609020204030204" pitchFamily="49" charset="0"/>
              </a:rPr>
              <a:t>AdcSetMode</a:t>
            </a:r>
            <a:r>
              <a:rPr lang="en-US" sz="1050" dirty="0">
                <a:solidFill>
                  <a:srgbClr val="000000"/>
                </a:solidFill>
                <a:latin typeface="Consolas" panose="020B0609020204030204" pitchFamily="49" charset="0"/>
              </a:rPr>
              <a:t>(ADC_ADCC, </a:t>
            </a:r>
            <a:r>
              <a:rPr lang="en-US" sz="1050" i="1" dirty="0">
                <a:solidFill>
                  <a:srgbClr val="0000C0"/>
                </a:solidFill>
                <a:latin typeface="Consolas" panose="020B0609020204030204" pitchFamily="49" charset="0"/>
              </a:rPr>
              <a:t>ADC_RESOLUTION_12BIT</a:t>
            </a:r>
            <a:r>
              <a:rPr lang="en-US" sz="1050" i="1" dirty="0">
                <a:solidFill>
                  <a:srgbClr val="000000"/>
                </a:solidFill>
                <a:latin typeface="Consolas" panose="020B0609020204030204" pitchFamily="49" charset="0"/>
              </a:rPr>
              <a:t>, ADC_SIGNALMODE_SINGLE); </a:t>
            </a:r>
            <a:r>
              <a:rPr lang="en-US" sz="1050" i="1" dirty="0">
                <a:solidFill>
                  <a:srgbClr val="3F7F5F"/>
                </a:solidFill>
                <a:latin typeface="Consolas" panose="020B0609020204030204" pitchFamily="49" charset="0"/>
              </a:rPr>
              <a:t>//read calibration settings</a:t>
            </a:r>
          </a:p>
          <a:p>
            <a:pPr marL="114300" indent="0" algn="l">
              <a:spcBef>
                <a:spcPts val="0"/>
              </a:spcBef>
              <a:buNone/>
            </a:pPr>
            <a:r>
              <a:rPr lang="en-US" sz="1050" dirty="0" err="1">
                <a:solidFill>
                  <a:srgbClr val="642880"/>
                </a:solidFill>
                <a:latin typeface="Consolas" panose="020B0609020204030204" pitchFamily="49" charset="0"/>
              </a:rPr>
              <a:t>AdcSetMode</a:t>
            </a:r>
            <a:r>
              <a:rPr lang="en-US" sz="1050" dirty="0">
                <a:solidFill>
                  <a:srgbClr val="000000"/>
                </a:solidFill>
                <a:latin typeface="Consolas" panose="020B0609020204030204" pitchFamily="49" charset="0"/>
              </a:rPr>
              <a:t>(ADC_ADCD, </a:t>
            </a:r>
            <a:r>
              <a:rPr lang="en-US" sz="1050" i="1" dirty="0">
                <a:solidFill>
                  <a:srgbClr val="0000C0"/>
                </a:solidFill>
                <a:latin typeface="Consolas" panose="020B0609020204030204" pitchFamily="49" charset="0"/>
              </a:rPr>
              <a:t>ADC_RESOLUTION_12BIT</a:t>
            </a:r>
            <a:r>
              <a:rPr lang="en-US" sz="1050" i="1" dirty="0">
                <a:solidFill>
                  <a:srgbClr val="000000"/>
                </a:solidFill>
                <a:latin typeface="Consolas" panose="020B0609020204030204" pitchFamily="49" charset="0"/>
              </a:rPr>
              <a:t>, ADC_SIGNALMODE_SINGLE); </a:t>
            </a:r>
            <a:r>
              <a:rPr lang="en-US" sz="1050" i="1" dirty="0">
                <a:solidFill>
                  <a:srgbClr val="3F7F5F"/>
                </a:solidFill>
                <a:latin typeface="Consolas" panose="020B0609020204030204" pitchFamily="49" charset="0"/>
              </a:rPr>
              <a:t>//read calibration settings</a:t>
            </a:r>
          </a:p>
          <a:p>
            <a:pPr marL="114300" indent="0" algn="l">
              <a:spcBef>
                <a:spcPts val="0"/>
              </a:spcBef>
              <a:buNone/>
            </a:pPr>
            <a:endParaRPr lang="en-US" sz="1050" i="1" dirty="0">
              <a:solidFill>
                <a:srgbClr val="3F7F5F"/>
              </a:solidFill>
              <a:latin typeface="Consolas" panose="020B0609020204030204" pitchFamily="49" charset="0"/>
            </a:endParaRPr>
          </a:p>
          <a:p>
            <a:pPr marL="114300" indent="0" algn="l">
              <a:spcBef>
                <a:spcPts val="0"/>
              </a:spcBef>
              <a:buNone/>
            </a:pPr>
            <a:r>
              <a:rPr lang="en-US" sz="1050" dirty="0">
                <a:solidFill>
                  <a:srgbClr val="3F7F5F"/>
                </a:solidFill>
                <a:latin typeface="Consolas" panose="020B0609020204030204" pitchFamily="49" charset="0"/>
              </a:rPr>
              <a:t>//Set pulse positions to late</a:t>
            </a:r>
          </a:p>
          <a:p>
            <a:pPr marL="114300" indent="0" algn="l">
              <a:spcBef>
                <a:spcPts val="0"/>
              </a:spcBef>
              <a:buNone/>
            </a:pPr>
            <a:r>
              <a:rPr lang="en-US" sz="1050" dirty="0">
                <a:solidFill>
                  <a:srgbClr val="000000"/>
                </a:solidFill>
                <a:latin typeface="Consolas" panose="020B0609020204030204" pitchFamily="49" charset="0"/>
              </a:rPr>
              <a:t>AdcaRegs.</a:t>
            </a:r>
            <a:r>
              <a:rPr lang="en-US" sz="1050" dirty="0">
                <a:solidFill>
                  <a:srgbClr val="0000C0"/>
                </a:solidFill>
                <a:latin typeface="Consolas" panose="020B0609020204030204" pitchFamily="49" charset="0"/>
              </a:rPr>
              <a:t>ADCCTL1</a:t>
            </a:r>
            <a:r>
              <a:rPr lang="en-US" sz="1050" dirty="0">
                <a:solidFill>
                  <a:srgbClr val="000000"/>
                </a:solidFill>
                <a:latin typeface="Consolas" panose="020B0609020204030204" pitchFamily="49" charset="0"/>
              </a:rPr>
              <a:t>.</a:t>
            </a:r>
            <a:r>
              <a:rPr lang="en-US" sz="1050" dirty="0">
                <a:solidFill>
                  <a:srgbClr val="0000C0"/>
                </a:solidFill>
                <a:latin typeface="Consolas" panose="020B0609020204030204" pitchFamily="49" charset="0"/>
              </a:rPr>
              <a:t>bit</a:t>
            </a:r>
            <a:r>
              <a:rPr lang="en-US" sz="1050" dirty="0">
                <a:solidFill>
                  <a:srgbClr val="000000"/>
                </a:solidFill>
                <a:latin typeface="Consolas" panose="020B0609020204030204" pitchFamily="49" charset="0"/>
              </a:rPr>
              <a:t>.</a:t>
            </a:r>
            <a:r>
              <a:rPr lang="en-US" sz="1050" dirty="0">
                <a:solidFill>
                  <a:srgbClr val="0000C0"/>
                </a:solidFill>
                <a:latin typeface="Consolas" panose="020B0609020204030204" pitchFamily="49" charset="0"/>
              </a:rPr>
              <a:t>INTPULSEPOS</a:t>
            </a:r>
            <a:r>
              <a:rPr lang="en-US" sz="1050" dirty="0">
                <a:solidFill>
                  <a:srgbClr val="000000"/>
                </a:solidFill>
                <a:latin typeface="Consolas" panose="020B0609020204030204" pitchFamily="49" charset="0"/>
              </a:rPr>
              <a:t> = 1;</a:t>
            </a:r>
          </a:p>
          <a:p>
            <a:pPr marL="114300" indent="0" algn="l">
              <a:spcBef>
                <a:spcPts val="0"/>
              </a:spcBef>
              <a:buNone/>
            </a:pPr>
            <a:r>
              <a:rPr lang="en-US" sz="1050" dirty="0">
                <a:solidFill>
                  <a:srgbClr val="000000"/>
                </a:solidFill>
                <a:latin typeface="Consolas" panose="020B0609020204030204" pitchFamily="49" charset="0"/>
              </a:rPr>
              <a:t>AdcbRegs.</a:t>
            </a:r>
            <a:r>
              <a:rPr lang="en-US" sz="1050" dirty="0">
                <a:solidFill>
                  <a:srgbClr val="0000C0"/>
                </a:solidFill>
                <a:latin typeface="Consolas" panose="020B0609020204030204" pitchFamily="49" charset="0"/>
              </a:rPr>
              <a:t>ADCCTL1</a:t>
            </a:r>
            <a:r>
              <a:rPr lang="en-US" sz="1050" dirty="0">
                <a:solidFill>
                  <a:srgbClr val="000000"/>
                </a:solidFill>
                <a:latin typeface="Consolas" panose="020B0609020204030204" pitchFamily="49" charset="0"/>
              </a:rPr>
              <a:t>.</a:t>
            </a:r>
            <a:r>
              <a:rPr lang="en-US" sz="1050" dirty="0">
                <a:solidFill>
                  <a:srgbClr val="0000C0"/>
                </a:solidFill>
                <a:latin typeface="Consolas" panose="020B0609020204030204" pitchFamily="49" charset="0"/>
              </a:rPr>
              <a:t>bit</a:t>
            </a:r>
            <a:r>
              <a:rPr lang="en-US" sz="1050" dirty="0">
                <a:solidFill>
                  <a:srgbClr val="000000"/>
                </a:solidFill>
                <a:latin typeface="Consolas" panose="020B0609020204030204" pitchFamily="49" charset="0"/>
              </a:rPr>
              <a:t>.</a:t>
            </a:r>
            <a:r>
              <a:rPr lang="en-US" sz="1050" dirty="0">
                <a:solidFill>
                  <a:srgbClr val="0000C0"/>
                </a:solidFill>
                <a:latin typeface="Consolas" panose="020B0609020204030204" pitchFamily="49" charset="0"/>
              </a:rPr>
              <a:t>INTPULSEPOS</a:t>
            </a:r>
            <a:r>
              <a:rPr lang="en-US" sz="1050" dirty="0">
                <a:solidFill>
                  <a:srgbClr val="000000"/>
                </a:solidFill>
                <a:latin typeface="Consolas" panose="020B0609020204030204" pitchFamily="49" charset="0"/>
              </a:rPr>
              <a:t> = 1;</a:t>
            </a:r>
          </a:p>
          <a:p>
            <a:pPr marL="114300" indent="0" algn="l">
              <a:spcBef>
                <a:spcPts val="0"/>
              </a:spcBef>
              <a:buNone/>
            </a:pPr>
            <a:r>
              <a:rPr lang="en-US" sz="1050" dirty="0">
                <a:solidFill>
                  <a:srgbClr val="000000"/>
                </a:solidFill>
                <a:latin typeface="Consolas" panose="020B0609020204030204" pitchFamily="49" charset="0"/>
              </a:rPr>
              <a:t>AdccRegs.</a:t>
            </a:r>
            <a:r>
              <a:rPr lang="en-US" sz="1050" dirty="0">
                <a:solidFill>
                  <a:srgbClr val="0000C0"/>
                </a:solidFill>
                <a:latin typeface="Consolas" panose="020B0609020204030204" pitchFamily="49" charset="0"/>
              </a:rPr>
              <a:t>ADCCTL1</a:t>
            </a:r>
            <a:r>
              <a:rPr lang="en-US" sz="1050" dirty="0">
                <a:solidFill>
                  <a:srgbClr val="000000"/>
                </a:solidFill>
                <a:latin typeface="Consolas" panose="020B0609020204030204" pitchFamily="49" charset="0"/>
              </a:rPr>
              <a:t>.</a:t>
            </a:r>
            <a:r>
              <a:rPr lang="en-US" sz="1050" dirty="0">
                <a:solidFill>
                  <a:srgbClr val="0000C0"/>
                </a:solidFill>
                <a:latin typeface="Consolas" panose="020B0609020204030204" pitchFamily="49" charset="0"/>
              </a:rPr>
              <a:t>bit</a:t>
            </a:r>
            <a:r>
              <a:rPr lang="en-US" sz="1050" dirty="0">
                <a:solidFill>
                  <a:srgbClr val="000000"/>
                </a:solidFill>
                <a:latin typeface="Consolas" panose="020B0609020204030204" pitchFamily="49" charset="0"/>
              </a:rPr>
              <a:t>.</a:t>
            </a:r>
            <a:r>
              <a:rPr lang="en-US" sz="1050" dirty="0">
                <a:solidFill>
                  <a:srgbClr val="0000C0"/>
                </a:solidFill>
                <a:latin typeface="Consolas" panose="020B0609020204030204" pitchFamily="49" charset="0"/>
              </a:rPr>
              <a:t>INTPULSEPOS</a:t>
            </a:r>
            <a:r>
              <a:rPr lang="en-US" sz="1050" dirty="0">
                <a:solidFill>
                  <a:srgbClr val="000000"/>
                </a:solidFill>
                <a:latin typeface="Consolas" panose="020B0609020204030204" pitchFamily="49" charset="0"/>
              </a:rPr>
              <a:t> = 1;</a:t>
            </a:r>
          </a:p>
          <a:p>
            <a:pPr marL="114300" indent="0" algn="l">
              <a:spcBef>
                <a:spcPts val="0"/>
              </a:spcBef>
              <a:buNone/>
            </a:pPr>
            <a:r>
              <a:rPr lang="en-US" sz="1050" dirty="0">
                <a:solidFill>
                  <a:srgbClr val="000000"/>
                </a:solidFill>
                <a:latin typeface="Consolas" panose="020B0609020204030204" pitchFamily="49" charset="0"/>
              </a:rPr>
              <a:t>AdcdRegs.</a:t>
            </a:r>
            <a:r>
              <a:rPr lang="en-US" sz="1050" dirty="0">
                <a:solidFill>
                  <a:srgbClr val="0000C0"/>
                </a:solidFill>
                <a:latin typeface="Consolas" panose="020B0609020204030204" pitchFamily="49" charset="0"/>
              </a:rPr>
              <a:t>ADCCTL1</a:t>
            </a:r>
            <a:r>
              <a:rPr lang="en-US" sz="1050" dirty="0">
                <a:solidFill>
                  <a:srgbClr val="000000"/>
                </a:solidFill>
                <a:latin typeface="Consolas" panose="020B0609020204030204" pitchFamily="49" charset="0"/>
              </a:rPr>
              <a:t>.</a:t>
            </a:r>
            <a:r>
              <a:rPr lang="en-US" sz="1050" dirty="0">
                <a:solidFill>
                  <a:srgbClr val="0000C0"/>
                </a:solidFill>
                <a:latin typeface="Consolas" panose="020B0609020204030204" pitchFamily="49" charset="0"/>
              </a:rPr>
              <a:t>bit</a:t>
            </a:r>
            <a:r>
              <a:rPr lang="en-US" sz="1050" dirty="0">
                <a:solidFill>
                  <a:srgbClr val="000000"/>
                </a:solidFill>
                <a:latin typeface="Consolas" panose="020B0609020204030204" pitchFamily="49" charset="0"/>
              </a:rPr>
              <a:t>.</a:t>
            </a:r>
            <a:r>
              <a:rPr lang="en-US" sz="1050" dirty="0">
                <a:solidFill>
                  <a:srgbClr val="0000C0"/>
                </a:solidFill>
                <a:latin typeface="Consolas" panose="020B0609020204030204" pitchFamily="49" charset="0"/>
              </a:rPr>
              <a:t>INTPULSEPOS</a:t>
            </a:r>
            <a:r>
              <a:rPr lang="en-US" sz="1050" dirty="0">
                <a:solidFill>
                  <a:srgbClr val="000000"/>
                </a:solidFill>
                <a:latin typeface="Consolas" panose="020B0609020204030204" pitchFamily="49" charset="0"/>
              </a:rPr>
              <a:t> = 1;   </a:t>
            </a:r>
            <a:r>
              <a:rPr lang="en-US" sz="1050" dirty="0">
                <a:solidFill>
                  <a:srgbClr val="3F7F5F"/>
                </a:solidFill>
                <a:latin typeface="Consolas" panose="020B0609020204030204" pitchFamily="49" charset="0"/>
              </a:rPr>
              <a:t>//power up the ADCs</a:t>
            </a:r>
          </a:p>
          <a:p>
            <a:pPr marL="114300" indent="0" algn="l">
              <a:spcBef>
                <a:spcPts val="0"/>
              </a:spcBef>
              <a:buNone/>
            </a:pPr>
            <a:r>
              <a:rPr lang="en-US" sz="1050" dirty="0">
                <a:solidFill>
                  <a:srgbClr val="000000"/>
                </a:solidFill>
                <a:latin typeface="Consolas" panose="020B0609020204030204" pitchFamily="49" charset="0"/>
              </a:rPr>
              <a:t>AdcaRegs.</a:t>
            </a:r>
            <a:r>
              <a:rPr lang="en-US" sz="1050" dirty="0">
                <a:solidFill>
                  <a:srgbClr val="0000C0"/>
                </a:solidFill>
                <a:latin typeface="Consolas" panose="020B0609020204030204" pitchFamily="49" charset="0"/>
              </a:rPr>
              <a:t>ADCCTL1</a:t>
            </a:r>
            <a:r>
              <a:rPr lang="en-US" sz="1050" dirty="0">
                <a:solidFill>
                  <a:srgbClr val="000000"/>
                </a:solidFill>
                <a:latin typeface="Consolas" panose="020B0609020204030204" pitchFamily="49" charset="0"/>
              </a:rPr>
              <a:t>.</a:t>
            </a:r>
            <a:r>
              <a:rPr lang="en-US" sz="1050" dirty="0">
                <a:solidFill>
                  <a:srgbClr val="0000C0"/>
                </a:solidFill>
                <a:latin typeface="Consolas" panose="020B0609020204030204" pitchFamily="49" charset="0"/>
              </a:rPr>
              <a:t>bit</a:t>
            </a:r>
            <a:r>
              <a:rPr lang="en-US" sz="1050" dirty="0">
                <a:solidFill>
                  <a:srgbClr val="000000"/>
                </a:solidFill>
                <a:latin typeface="Consolas" panose="020B0609020204030204" pitchFamily="49" charset="0"/>
              </a:rPr>
              <a:t>.</a:t>
            </a:r>
            <a:r>
              <a:rPr lang="en-US" sz="1050" dirty="0">
                <a:solidFill>
                  <a:srgbClr val="0000C0"/>
                </a:solidFill>
                <a:latin typeface="Consolas" panose="020B0609020204030204" pitchFamily="49" charset="0"/>
              </a:rPr>
              <a:t>ADCPWDNZ</a:t>
            </a:r>
            <a:r>
              <a:rPr lang="en-US" sz="1050" dirty="0">
                <a:solidFill>
                  <a:srgbClr val="000000"/>
                </a:solidFill>
                <a:latin typeface="Consolas" panose="020B0609020204030204" pitchFamily="49" charset="0"/>
              </a:rPr>
              <a:t> = 1;</a:t>
            </a:r>
          </a:p>
          <a:p>
            <a:pPr marL="114300" indent="0" algn="l">
              <a:spcBef>
                <a:spcPts val="0"/>
              </a:spcBef>
              <a:buNone/>
            </a:pPr>
            <a:r>
              <a:rPr lang="en-US" sz="1050" dirty="0">
                <a:solidFill>
                  <a:srgbClr val="000000"/>
                </a:solidFill>
                <a:latin typeface="Consolas" panose="020B0609020204030204" pitchFamily="49" charset="0"/>
              </a:rPr>
              <a:t>AdcbRegs.</a:t>
            </a:r>
            <a:r>
              <a:rPr lang="en-US" sz="1050" dirty="0">
                <a:solidFill>
                  <a:srgbClr val="0000C0"/>
                </a:solidFill>
                <a:latin typeface="Consolas" panose="020B0609020204030204" pitchFamily="49" charset="0"/>
              </a:rPr>
              <a:t>ADCCTL1</a:t>
            </a:r>
            <a:r>
              <a:rPr lang="en-US" sz="1050" dirty="0">
                <a:solidFill>
                  <a:srgbClr val="000000"/>
                </a:solidFill>
                <a:latin typeface="Consolas" panose="020B0609020204030204" pitchFamily="49" charset="0"/>
              </a:rPr>
              <a:t>.</a:t>
            </a:r>
            <a:r>
              <a:rPr lang="en-US" sz="1050" dirty="0">
                <a:solidFill>
                  <a:srgbClr val="0000C0"/>
                </a:solidFill>
                <a:latin typeface="Consolas" panose="020B0609020204030204" pitchFamily="49" charset="0"/>
              </a:rPr>
              <a:t>bit</a:t>
            </a:r>
            <a:r>
              <a:rPr lang="en-US" sz="1050" dirty="0">
                <a:solidFill>
                  <a:srgbClr val="000000"/>
                </a:solidFill>
                <a:latin typeface="Consolas" panose="020B0609020204030204" pitchFamily="49" charset="0"/>
              </a:rPr>
              <a:t>.</a:t>
            </a:r>
            <a:r>
              <a:rPr lang="en-US" sz="1050" dirty="0">
                <a:solidFill>
                  <a:srgbClr val="0000C0"/>
                </a:solidFill>
                <a:latin typeface="Consolas" panose="020B0609020204030204" pitchFamily="49" charset="0"/>
              </a:rPr>
              <a:t>ADCPWDNZ</a:t>
            </a:r>
            <a:r>
              <a:rPr lang="en-US" sz="1050" dirty="0">
                <a:solidFill>
                  <a:srgbClr val="000000"/>
                </a:solidFill>
                <a:latin typeface="Consolas" panose="020B0609020204030204" pitchFamily="49" charset="0"/>
              </a:rPr>
              <a:t> = 1;</a:t>
            </a:r>
          </a:p>
          <a:p>
            <a:pPr marL="114300" indent="0" algn="l">
              <a:spcBef>
                <a:spcPts val="0"/>
              </a:spcBef>
              <a:buNone/>
            </a:pPr>
            <a:r>
              <a:rPr lang="en-US" sz="1050" dirty="0">
                <a:solidFill>
                  <a:srgbClr val="000000"/>
                </a:solidFill>
                <a:latin typeface="Consolas" panose="020B0609020204030204" pitchFamily="49" charset="0"/>
              </a:rPr>
              <a:t>AdccRegs.</a:t>
            </a:r>
            <a:r>
              <a:rPr lang="en-US" sz="1050" dirty="0">
                <a:solidFill>
                  <a:srgbClr val="0000C0"/>
                </a:solidFill>
                <a:latin typeface="Consolas" panose="020B0609020204030204" pitchFamily="49" charset="0"/>
              </a:rPr>
              <a:t>ADCCTL1</a:t>
            </a:r>
            <a:r>
              <a:rPr lang="en-US" sz="1050" dirty="0">
                <a:solidFill>
                  <a:srgbClr val="000000"/>
                </a:solidFill>
                <a:latin typeface="Consolas" panose="020B0609020204030204" pitchFamily="49" charset="0"/>
              </a:rPr>
              <a:t>.</a:t>
            </a:r>
            <a:r>
              <a:rPr lang="en-US" sz="1050" dirty="0">
                <a:solidFill>
                  <a:srgbClr val="0000C0"/>
                </a:solidFill>
                <a:latin typeface="Consolas" panose="020B0609020204030204" pitchFamily="49" charset="0"/>
              </a:rPr>
              <a:t>bit</a:t>
            </a:r>
            <a:r>
              <a:rPr lang="en-US" sz="1050" dirty="0">
                <a:solidFill>
                  <a:srgbClr val="000000"/>
                </a:solidFill>
                <a:latin typeface="Consolas" panose="020B0609020204030204" pitchFamily="49" charset="0"/>
              </a:rPr>
              <a:t>.</a:t>
            </a:r>
            <a:r>
              <a:rPr lang="en-US" sz="1050" dirty="0">
                <a:solidFill>
                  <a:srgbClr val="0000C0"/>
                </a:solidFill>
                <a:latin typeface="Consolas" panose="020B0609020204030204" pitchFamily="49" charset="0"/>
              </a:rPr>
              <a:t>ADCPWDNZ</a:t>
            </a:r>
            <a:r>
              <a:rPr lang="en-US" sz="1050" dirty="0">
                <a:solidFill>
                  <a:srgbClr val="000000"/>
                </a:solidFill>
                <a:latin typeface="Consolas" panose="020B0609020204030204" pitchFamily="49" charset="0"/>
              </a:rPr>
              <a:t> = 1;</a:t>
            </a:r>
          </a:p>
          <a:p>
            <a:pPr marL="114300" indent="0" algn="l">
              <a:spcBef>
                <a:spcPts val="0"/>
              </a:spcBef>
              <a:buNone/>
            </a:pPr>
            <a:r>
              <a:rPr lang="en-US" sz="1050" dirty="0">
                <a:solidFill>
                  <a:srgbClr val="000000"/>
                </a:solidFill>
                <a:latin typeface="Consolas" panose="020B0609020204030204" pitchFamily="49" charset="0"/>
              </a:rPr>
              <a:t>AdcdRegs.</a:t>
            </a:r>
            <a:r>
              <a:rPr lang="en-US" sz="1050" dirty="0">
                <a:solidFill>
                  <a:srgbClr val="0000C0"/>
                </a:solidFill>
                <a:latin typeface="Consolas" panose="020B0609020204030204" pitchFamily="49" charset="0"/>
              </a:rPr>
              <a:t>ADCCTL1</a:t>
            </a:r>
            <a:r>
              <a:rPr lang="en-US" sz="1050" dirty="0">
                <a:solidFill>
                  <a:srgbClr val="000000"/>
                </a:solidFill>
                <a:latin typeface="Consolas" panose="020B0609020204030204" pitchFamily="49" charset="0"/>
              </a:rPr>
              <a:t>.</a:t>
            </a:r>
            <a:r>
              <a:rPr lang="en-US" sz="1050" dirty="0">
                <a:solidFill>
                  <a:srgbClr val="0000C0"/>
                </a:solidFill>
                <a:latin typeface="Consolas" panose="020B0609020204030204" pitchFamily="49" charset="0"/>
              </a:rPr>
              <a:t>bit</a:t>
            </a:r>
            <a:r>
              <a:rPr lang="en-US" sz="1050" dirty="0">
                <a:solidFill>
                  <a:srgbClr val="000000"/>
                </a:solidFill>
                <a:latin typeface="Consolas" panose="020B0609020204030204" pitchFamily="49" charset="0"/>
              </a:rPr>
              <a:t>.</a:t>
            </a:r>
            <a:r>
              <a:rPr lang="en-US" sz="1050" dirty="0">
                <a:solidFill>
                  <a:srgbClr val="0000C0"/>
                </a:solidFill>
                <a:latin typeface="Consolas" panose="020B0609020204030204" pitchFamily="49" charset="0"/>
              </a:rPr>
              <a:t>ADCPWDNZ</a:t>
            </a:r>
            <a:r>
              <a:rPr lang="en-US" sz="1050" dirty="0">
                <a:solidFill>
                  <a:srgbClr val="000000"/>
                </a:solidFill>
                <a:latin typeface="Consolas" panose="020B0609020204030204" pitchFamily="49" charset="0"/>
              </a:rPr>
              <a:t> = 1;      </a:t>
            </a:r>
            <a:r>
              <a:rPr lang="en-US" sz="1050" dirty="0">
                <a:solidFill>
                  <a:srgbClr val="3F7F5F"/>
                </a:solidFill>
                <a:latin typeface="Consolas" panose="020B0609020204030204" pitchFamily="49" charset="0"/>
              </a:rPr>
              <a:t>//delay for 1ms to allow ADC time to power up</a:t>
            </a:r>
          </a:p>
          <a:p>
            <a:pPr marL="114300" indent="0" algn="l">
              <a:spcBef>
                <a:spcPts val="0"/>
              </a:spcBef>
              <a:buNone/>
            </a:pPr>
            <a:r>
              <a:rPr lang="en-US" sz="1050" dirty="0">
                <a:solidFill>
                  <a:srgbClr val="000000"/>
                </a:solidFill>
                <a:latin typeface="Consolas" panose="020B0609020204030204" pitchFamily="49" charset="0"/>
              </a:rPr>
              <a:t>DELAY_US(1000);</a:t>
            </a:r>
          </a:p>
          <a:p>
            <a:pPr marL="114300" indent="0" algn="l">
              <a:spcBef>
                <a:spcPts val="0"/>
              </a:spcBef>
              <a:buNone/>
            </a:pPr>
            <a:endParaRPr lang="en-US" sz="1050" dirty="0">
              <a:solidFill>
                <a:srgbClr val="000000"/>
              </a:solidFill>
              <a:latin typeface="Consolas" panose="020B0609020204030204" pitchFamily="49" charset="0"/>
            </a:endParaRPr>
          </a:p>
          <a:p>
            <a:pPr marL="114300" indent="0" algn="l">
              <a:spcBef>
                <a:spcPts val="0"/>
              </a:spcBef>
              <a:buNone/>
            </a:pPr>
            <a:r>
              <a:rPr lang="en-US" sz="1050" dirty="0">
                <a:solidFill>
                  <a:srgbClr val="3F7F5F"/>
                </a:solidFill>
                <a:latin typeface="Consolas" panose="020B0609020204030204" pitchFamily="49" charset="0"/>
              </a:rPr>
              <a:t>//ADCB</a:t>
            </a:r>
          </a:p>
          <a:p>
            <a:pPr marL="114300" indent="0" algn="l">
              <a:spcBef>
                <a:spcPts val="0"/>
              </a:spcBef>
              <a:buNone/>
            </a:pPr>
            <a:r>
              <a:rPr lang="en-US" sz="1050" dirty="0">
                <a:solidFill>
                  <a:srgbClr val="000000"/>
                </a:solidFill>
                <a:latin typeface="Consolas" panose="020B0609020204030204" pitchFamily="49" charset="0"/>
              </a:rPr>
              <a:t>AdcbRegs.</a:t>
            </a:r>
            <a:r>
              <a:rPr lang="en-US" sz="1050" dirty="0">
                <a:solidFill>
                  <a:srgbClr val="0000C0"/>
                </a:solidFill>
                <a:latin typeface="Consolas" panose="020B0609020204030204" pitchFamily="49" charset="0"/>
              </a:rPr>
              <a:t>ADCSOC0CTL</a:t>
            </a:r>
            <a:r>
              <a:rPr lang="en-US" sz="1050" dirty="0">
                <a:solidFill>
                  <a:srgbClr val="000000"/>
                </a:solidFill>
                <a:latin typeface="Consolas" panose="020B0609020204030204" pitchFamily="49" charset="0"/>
              </a:rPr>
              <a:t>.</a:t>
            </a:r>
            <a:r>
              <a:rPr lang="en-US" sz="1050" dirty="0">
                <a:solidFill>
                  <a:srgbClr val="0000C0"/>
                </a:solidFill>
                <a:latin typeface="Consolas" panose="020B0609020204030204" pitchFamily="49" charset="0"/>
              </a:rPr>
              <a:t>bit</a:t>
            </a:r>
            <a:r>
              <a:rPr lang="en-US" sz="1050" dirty="0">
                <a:solidFill>
                  <a:srgbClr val="000000"/>
                </a:solidFill>
                <a:latin typeface="Consolas" panose="020B0609020204030204" pitchFamily="49" charset="0"/>
              </a:rPr>
              <a:t>.</a:t>
            </a:r>
            <a:r>
              <a:rPr lang="en-US" sz="1050" dirty="0">
                <a:solidFill>
                  <a:srgbClr val="0000C0"/>
                </a:solidFill>
                <a:latin typeface="Consolas" panose="020B0609020204030204" pitchFamily="49" charset="0"/>
              </a:rPr>
              <a:t>CHSEL</a:t>
            </a:r>
            <a:r>
              <a:rPr lang="en-US" sz="1050" dirty="0">
                <a:solidFill>
                  <a:srgbClr val="000000"/>
                </a:solidFill>
                <a:latin typeface="Consolas" panose="020B0609020204030204" pitchFamily="49" charset="0"/>
              </a:rPr>
              <a:t> = 4;      </a:t>
            </a:r>
            <a:r>
              <a:rPr lang="en-US" sz="1050" dirty="0">
                <a:solidFill>
                  <a:srgbClr val="3F7F5F"/>
                </a:solidFill>
                <a:latin typeface="Consolas" panose="020B0609020204030204" pitchFamily="49" charset="0"/>
              </a:rPr>
              <a:t>//SOC0 will convert Channel you choose Does not have to be B0, ADCIN4 </a:t>
            </a:r>
          </a:p>
          <a:p>
            <a:pPr marL="114300" indent="0" algn="l">
              <a:spcBef>
                <a:spcPts val="0"/>
              </a:spcBef>
              <a:buNone/>
            </a:pPr>
            <a:r>
              <a:rPr lang="en-US" sz="1050" dirty="0">
                <a:solidFill>
                  <a:srgbClr val="000000"/>
                </a:solidFill>
                <a:latin typeface="Consolas" panose="020B0609020204030204" pitchFamily="49" charset="0"/>
              </a:rPr>
              <a:t>AdcbRegs.</a:t>
            </a:r>
            <a:r>
              <a:rPr lang="en-US" sz="1050" dirty="0">
                <a:solidFill>
                  <a:srgbClr val="0000C0"/>
                </a:solidFill>
                <a:latin typeface="Consolas" panose="020B0609020204030204" pitchFamily="49" charset="0"/>
              </a:rPr>
              <a:t>ADCSOC0CTL</a:t>
            </a:r>
            <a:r>
              <a:rPr lang="en-US" sz="1050" dirty="0">
                <a:solidFill>
                  <a:srgbClr val="000000"/>
                </a:solidFill>
                <a:latin typeface="Consolas" panose="020B0609020204030204" pitchFamily="49" charset="0"/>
              </a:rPr>
              <a:t>.</a:t>
            </a:r>
            <a:r>
              <a:rPr lang="en-US" sz="1050" dirty="0">
                <a:solidFill>
                  <a:srgbClr val="0000C0"/>
                </a:solidFill>
                <a:latin typeface="Consolas" panose="020B0609020204030204" pitchFamily="49" charset="0"/>
              </a:rPr>
              <a:t>bit</a:t>
            </a:r>
            <a:r>
              <a:rPr lang="en-US" sz="1050" dirty="0">
                <a:solidFill>
                  <a:srgbClr val="000000"/>
                </a:solidFill>
                <a:latin typeface="Consolas" panose="020B0609020204030204" pitchFamily="49" charset="0"/>
              </a:rPr>
              <a:t>.</a:t>
            </a:r>
            <a:r>
              <a:rPr lang="en-US" sz="1050" dirty="0">
                <a:solidFill>
                  <a:srgbClr val="0000C0"/>
                </a:solidFill>
                <a:latin typeface="Consolas" panose="020B0609020204030204" pitchFamily="49" charset="0"/>
              </a:rPr>
              <a:t>ACQPS</a:t>
            </a:r>
            <a:r>
              <a:rPr lang="en-US" sz="1050" dirty="0">
                <a:solidFill>
                  <a:srgbClr val="000000"/>
                </a:solidFill>
                <a:latin typeface="Consolas" panose="020B0609020204030204" pitchFamily="49" charset="0"/>
              </a:rPr>
              <a:t> = 99;     </a:t>
            </a:r>
            <a:r>
              <a:rPr lang="en-US" sz="1050" dirty="0">
                <a:solidFill>
                  <a:srgbClr val="3F7F5F"/>
                </a:solidFill>
                <a:latin typeface="Consolas" panose="020B0609020204030204" pitchFamily="49" charset="0"/>
              </a:rPr>
              <a:t>//sample window is </a:t>
            </a:r>
            <a:r>
              <a:rPr lang="en-US" sz="1050" dirty="0" err="1">
                <a:solidFill>
                  <a:srgbClr val="3F7F5F"/>
                </a:solidFill>
                <a:latin typeface="Consolas" panose="020B0609020204030204" pitchFamily="49" charset="0"/>
              </a:rPr>
              <a:t>acqps</a:t>
            </a:r>
            <a:r>
              <a:rPr lang="en-US" sz="1050" dirty="0">
                <a:solidFill>
                  <a:srgbClr val="3F7F5F"/>
                </a:solidFill>
                <a:latin typeface="Consolas" panose="020B0609020204030204" pitchFamily="49" charset="0"/>
              </a:rPr>
              <a:t> + 1 SYSCLK cycles = 500ns</a:t>
            </a:r>
          </a:p>
          <a:p>
            <a:pPr marL="114300" indent="0" algn="l">
              <a:spcBef>
                <a:spcPts val="0"/>
              </a:spcBef>
              <a:buNone/>
            </a:pPr>
            <a:r>
              <a:rPr lang="en-US" sz="1050" dirty="0">
                <a:solidFill>
                  <a:srgbClr val="000000"/>
                </a:solidFill>
                <a:latin typeface="Consolas" panose="020B0609020204030204" pitchFamily="49" charset="0"/>
              </a:rPr>
              <a:t>AdcbRegs.</a:t>
            </a:r>
            <a:r>
              <a:rPr lang="en-US" sz="1050" dirty="0">
                <a:solidFill>
                  <a:srgbClr val="0000C0"/>
                </a:solidFill>
                <a:latin typeface="Consolas" panose="020B0609020204030204" pitchFamily="49" charset="0"/>
              </a:rPr>
              <a:t>ADCSOC0CTL</a:t>
            </a:r>
            <a:r>
              <a:rPr lang="en-US" sz="1050" dirty="0">
                <a:solidFill>
                  <a:srgbClr val="000000"/>
                </a:solidFill>
                <a:latin typeface="Consolas" panose="020B0609020204030204" pitchFamily="49" charset="0"/>
              </a:rPr>
              <a:t>.</a:t>
            </a:r>
            <a:r>
              <a:rPr lang="en-US" sz="1050" dirty="0">
                <a:solidFill>
                  <a:srgbClr val="0000C0"/>
                </a:solidFill>
                <a:latin typeface="Consolas" panose="020B0609020204030204" pitchFamily="49" charset="0"/>
              </a:rPr>
              <a:t>bit</a:t>
            </a:r>
            <a:r>
              <a:rPr lang="en-US" sz="1050" dirty="0">
                <a:solidFill>
                  <a:srgbClr val="000000"/>
                </a:solidFill>
                <a:latin typeface="Consolas" panose="020B0609020204030204" pitchFamily="49" charset="0"/>
              </a:rPr>
              <a:t>.</a:t>
            </a:r>
            <a:r>
              <a:rPr lang="en-US" sz="1050" dirty="0">
                <a:solidFill>
                  <a:srgbClr val="0000C0"/>
                </a:solidFill>
                <a:latin typeface="Consolas" panose="020B0609020204030204" pitchFamily="49" charset="0"/>
              </a:rPr>
              <a:t>TRIGSEL</a:t>
            </a:r>
            <a:r>
              <a:rPr lang="en-US" sz="1050" dirty="0">
                <a:solidFill>
                  <a:srgbClr val="000000"/>
                </a:solidFill>
                <a:latin typeface="Consolas" panose="020B0609020204030204" pitchFamily="49" charset="0"/>
              </a:rPr>
              <a:t> = 0x11; </a:t>
            </a:r>
            <a:r>
              <a:rPr lang="en-US" sz="1050" dirty="0">
                <a:solidFill>
                  <a:srgbClr val="3F7F5F"/>
                </a:solidFill>
                <a:latin typeface="Consolas" panose="020B0609020204030204" pitchFamily="49" charset="0"/>
              </a:rPr>
              <a:t>// EPWM7 ADCSOCA or another trigger you choose will trigger SOC0</a:t>
            </a:r>
          </a:p>
          <a:p>
            <a:pPr marL="114300" indent="0" algn="l">
              <a:spcBef>
                <a:spcPts val="0"/>
              </a:spcBef>
              <a:buNone/>
            </a:pPr>
            <a:r>
              <a:rPr lang="en-US" sz="1050" dirty="0">
                <a:solidFill>
                  <a:srgbClr val="000000"/>
                </a:solidFill>
                <a:latin typeface="Consolas" panose="020B0609020204030204" pitchFamily="49" charset="0"/>
              </a:rPr>
              <a:t>AdcbRegs.</a:t>
            </a:r>
            <a:r>
              <a:rPr lang="en-US" sz="1050" dirty="0">
                <a:solidFill>
                  <a:srgbClr val="0000C0"/>
                </a:solidFill>
                <a:latin typeface="Consolas" panose="020B0609020204030204" pitchFamily="49" charset="0"/>
              </a:rPr>
              <a:t>ADCINTSEL1N2</a:t>
            </a:r>
            <a:r>
              <a:rPr lang="en-US" sz="1050" dirty="0">
                <a:solidFill>
                  <a:srgbClr val="000000"/>
                </a:solidFill>
                <a:latin typeface="Consolas" panose="020B0609020204030204" pitchFamily="49" charset="0"/>
              </a:rPr>
              <a:t>.</a:t>
            </a:r>
            <a:r>
              <a:rPr lang="en-US" sz="1050" dirty="0">
                <a:solidFill>
                  <a:srgbClr val="0000C0"/>
                </a:solidFill>
                <a:latin typeface="Consolas" panose="020B0609020204030204" pitchFamily="49" charset="0"/>
              </a:rPr>
              <a:t>bit</a:t>
            </a:r>
            <a:r>
              <a:rPr lang="en-US" sz="1050" dirty="0">
                <a:solidFill>
                  <a:srgbClr val="000000"/>
                </a:solidFill>
                <a:latin typeface="Consolas" panose="020B0609020204030204" pitchFamily="49" charset="0"/>
              </a:rPr>
              <a:t>.</a:t>
            </a:r>
            <a:r>
              <a:rPr lang="en-US" sz="1050" dirty="0">
                <a:solidFill>
                  <a:srgbClr val="0000C0"/>
                </a:solidFill>
                <a:latin typeface="Consolas" panose="020B0609020204030204" pitchFamily="49" charset="0"/>
              </a:rPr>
              <a:t>INT1SEL</a:t>
            </a:r>
            <a:r>
              <a:rPr lang="en-US" sz="1050" dirty="0">
                <a:solidFill>
                  <a:srgbClr val="000000"/>
                </a:solidFill>
                <a:latin typeface="Consolas" panose="020B0609020204030204" pitchFamily="49" charset="0"/>
              </a:rPr>
              <a:t> = 0;  </a:t>
            </a:r>
            <a:r>
              <a:rPr lang="en-US" sz="1050" dirty="0">
                <a:solidFill>
                  <a:srgbClr val="3F7F5F"/>
                </a:solidFill>
                <a:latin typeface="Consolas" panose="020B0609020204030204" pitchFamily="49" charset="0"/>
              </a:rPr>
              <a:t>//set to last SOC that is converted and it will set INT1 flag ADCB1</a:t>
            </a:r>
          </a:p>
          <a:p>
            <a:pPr marL="114300" indent="0" algn="l">
              <a:spcBef>
                <a:spcPts val="0"/>
              </a:spcBef>
              <a:buNone/>
            </a:pPr>
            <a:r>
              <a:rPr lang="en-US" sz="1050" dirty="0">
                <a:solidFill>
                  <a:srgbClr val="000000"/>
                </a:solidFill>
                <a:latin typeface="Consolas" panose="020B0609020204030204" pitchFamily="49" charset="0"/>
              </a:rPr>
              <a:t>AdcbRegs.</a:t>
            </a:r>
            <a:r>
              <a:rPr lang="en-US" sz="1050" dirty="0">
                <a:solidFill>
                  <a:srgbClr val="0000C0"/>
                </a:solidFill>
                <a:latin typeface="Consolas" panose="020B0609020204030204" pitchFamily="49" charset="0"/>
              </a:rPr>
              <a:t>ADCINTSEL1N2</a:t>
            </a:r>
            <a:r>
              <a:rPr lang="en-US" sz="1050" dirty="0">
                <a:solidFill>
                  <a:srgbClr val="000000"/>
                </a:solidFill>
                <a:latin typeface="Consolas" panose="020B0609020204030204" pitchFamily="49" charset="0"/>
              </a:rPr>
              <a:t>.</a:t>
            </a:r>
            <a:r>
              <a:rPr lang="en-US" sz="1050" dirty="0">
                <a:solidFill>
                  <a:srgbClr val="0000C0"/>
                </a:solidFill>
                <a:latin typeface="Consolas" panose="020B0609020204030204" pitchFamily="49" charset="0"/>
              </a:rPr>
              <a:t>bit</a:t>
            </a:r>
            <a:r>
              <a:rPr lang="en-US" sz="1050" dirty="0">
                <a:solidFill>
                  <a:srgbClr val="000000"/>
                </a:solidFill>
                <a:latin typeface="Consolas" panose="020B0609020204030204" pitchFamily="49" charset="0"/>
              </a:rPr>
              <a:t>.</a:t>
            </a:r>
            <a:r>
              <a:rPr lang="en-US" sz="1050" dirty="0">
                <a:solidFill>
                  <a:srgbClr val="0000C0"/>
                </a:solidFill>
                <a:latin typeface="Consolas" panose="020B0609020204030204" pitchFamily="49" charset="0"/>
              </a:rPr>
              <a:t>INT1E</a:t>
            </a:r>
            <a:r>
              <a:rPr lang="en-US" sz="1050" dirty="0">
                <a:solidFill>
                  <a:srgbClr val="000000"/>
                </a:solidFill>
                <a:latin typeface="Consolas" panose="020B0609020204030204" pitchFamily="49" charset="0"/>
              </a:rPr>
              <a:t> = 1;    </a:t>
            </a:r>
            <a:r>
              <a:rPr lang="en-US" sz="1050" dirty="0">
                <a:solidFill>
                  <a:srgbClr val="3F7F5F"/>
                </a:solidFill>
                <a:latin typeface="Consolas" panose="020B0609020204030204" pitchFamily="49" charset="0"/>
              </a:rPr>
              <a:t>//enable INT1 flag, originally = 1 (need to set to 1 for non-DMA)</a:t>
            </a:r>
          </a:p>
          <a:p>
            <a:pPr marL="114300" indent="0" algn="l">
              <a:spcBef>
                <a:spcPts val="0"/>
              </a:spcBef>
              <a:buNone/>
            </a:pPr>
            <a:r>
              <a:rPr lang="en-US" sz="1050" dirty="0">
                <a:solidFill>
                  <a:srgbClr val="000000"/>
                </a:solidFill>
                <a:latin typeface="Consolas" panose="020B0609020204030204" pitchFamily="49" charset="0"/>
              </a:rPr>
              <a:t>AdcbRegs.</a:t>
            </a:r>
            <a:r>
              <a:rPr lang="en-US" sz="1050" dirty="0">
                <a:solidFill>
                  <a:srgbClr val="0000C0"/>
                </a:solidFill>
                <a:latin typeface="Consolas" panose="020B0609020204030204" pitchFamily="49" charset="0"/>
              </a:rPr>
              <a:t>ADCINTFLGCLR</a:t>
            </a:r>
            <a:r>
              <a:rPr lang="en-US" sz="1050" dirty="0">
                <a:solidFill>
                  <a:srgbClr val="000000"/>
                </a:solidFill>
                <a:latin typeface="Consolas" panose="020B0609020204030204" pitchFamily="49" charset="0"/>
              </a:rPr>
              <a:t>.</a:t>
            </a:r>
            <a:r>
              <a:rPr lang="en-US" sz="1050" dirty="0">
                <a:solidFill>
                  <a:srgbClr val="0000C0"/>
                </a:solidFill>
                <a:latin typeface="Consolas" panose="020B0609020204030204" pitchFamily="49" charset="0"/>
              </a:rPr>
              <a:t>bit</a:t>
            </a:r>
            <a:r>
              <a:rPr lang="en-US" sz="1050" dirty="0">
                <a:solidFill>
                  <a:srgbClr val="000000"/>
                </a:solidFill>
                <a:latin typeface="Consolas" panose="020B0609020204030204" pitchFamily="49" charset="0"/>
              </a:rPr>
              <a:t>.</a:t>
            </a:r>
            <a:r>
              <a:rPr lang="en-US" sz="1050" dirty="0">
                <a:solidFill>
                  <a:srgbClr val="0000C0"/>
                </a:solidFill>
                <a:latin typeface="Consolas" panose="020B0609020204030204" pitchFamily="49" charset="0"/>
              </a:rPr>
              <a:t>ADCINT1</a:t>
            </a:r>
            <a:r>
              <a:rPr lang="en-US" sz="1050" dirty="0">
                <a:solidFill>
                  <a:srgbClr val="000000"/>
                </a:solidFill>
                <a:latin typeface="Consolas" panose="020B0609020204030204" pitchFamily="49" charset="0"/>
              </a:rPr>
              <a:t> = 1;  </a:t>
            </a:r>
            <a:r>
              <a:rPr lang="en-US" sz="1050" dirty="0">
                <a:solidFill>
                  <a:srgbClr val="3F7F5F"/>
                </a:solidFill>
                <a:latin typeface="Consolas" panose="020B0609020204030204" pitchFamily="49" charset="0"/>
              </a:rPr>
              <a:t>//make sure INT1 flag is cleared</a:t>
            </a:r>
          </a:p>
          <a:p>
            <a:pPr marL="114300" indent="0" algn="l">
              <a:spcBef>
                <a:spcPts val="0"/>
              </a:spcBef>
              <a:buNone/>
            </a:pPr>
            <a:r>
              <a:rPr lang="en-US" sz="1050" dirty="0">
                <a:solidFill>
                  <a:srgbClr val="000000"/>
                </a:solidFill>
                <a:latin typeface="Consolas" panose="020B0609020204030204" pitchFamily="49" charset="0"/>
              </a:rPr>
              <a:t>AdcbRegs.</a:t>
            </a:r>
            <a:r>
              <a:rPr lang="en-US" sz="1050" dirty="0">
                <a:solidFill>
                  <a:srgbClr val="0000C0"/>
                </a:solidFill>
                <a:latin typeface="Consolas" panose="020B0609020204030204" pitchFamily="49" charset="0"/>
              </a:rPr>
              <a:t>ADCINTSEL1N2</a:t>
            </a:r>
            <a:r>
              <a:rPr lang="en-US" sz="1050" dirty="0">
                <a:solidFill>
                  <a:srgbClr val="000000"/>
                </a:solidFill>
                <a:latin typeface="Consolas" panose="020B0609020204030204" pitchFamily="49" charset="0"/>
              </a:rPr>
              <a:t>.</a:t>
            </a:r>
            <a:r>
              <a:rPr lang="en-US" sz="1050" dirty="0">
                <a:solidFill>
                  <a:srgbClr val="0000C0"/>
                </a:solidFill>
                <a:latin typeface="Consolas" panose="020B0609020204030204" pitchFamily="49" charset="0"/>
              </a:rPr>
              <a:t>bit</a:t>
            </a:r>
            <a:r>
              <a:rPr lang="en-US" sz="1050" dirty="0">
                <a:solidFill>
                  <a:srgbClr val="000000"/>
                </a:solidFill>
                <a:latin typeface="Consolas" panose="020B0609020204030204" pitchFamily="49" charset="0"/>
              </a:rPr>
              <a:t>.</a:t>
            </a:r>
            <a:r>
              <a:rPr lang="en-US" sz="1050" dirty="0">
                <a:solidFill>
                  <a:srgbClr val="0000C0"/>
                </a:solidFill>
                <a:latin typeface="Consolas" panose="020B0609020204030204" pitchFamily="49" charset="0"/>
              </a:rPr>
              <a:t>INT1CONT</a:t>
            </a:r>
            <a:r>
              <a:rPr lang="en-US" sz="1050" dirty="0">
                <a:solidFill>
                  <a:srgbClr val="000000"/>
                </a:solidFill>
                <a:latin typeface="Consolas" panose="020B0609020204030204" pitchFamily="49" charset="0"/>
              </a:rPr>
              <a:t> = 1; </a:t>
            </a:r>
            <a:r>
              <a:rPr lang="en-US" sz="1050" dirty="0">
                <a:solidFill>
                  <a:srgbClr val="3F7F5F"/>
                </a:solidFill>
                <a:latin typeface="Consolas" panose="020B0609020204030204" pitchFamily="49" charset="0"/>
              </a:rPr>
              <a:t>// Interrupt pulses regardless of flag state</a:t>
            </a:r>
          </a:p>
          <a:p>
            <a:pPr marL="114300" indent="0" algn="l">
              <a:spcBef>
                <a:spcPts val="0"/>
              </a:spcBef>
              <a:buNone/>
            </a:pPr>
            <a:r>
              <a:rPr lang="en-US" sz="1050" dirty="0">
                <a:solidFill>
                  <a:srgbClr val="000000"/>
                </a:solidFill>
                <a:latin typeface="Consolas" panose="020B0609020204030204" pitchFamily="49" charset="0"/>
              </a:rPr>
              <a:t>EDIS;</a:t>
            </a:r>
          </a:p>
          <a:p>
            <a:pPr marL="114300" indent="0" algn="l">
              <a:spcBef>
                <a:spcPts val="0"/>
              </a:spcBef>
              <a:buNone/>
            </a:pPr>
            <a:r>
              <a:rPr lang="en-US" sz="1050" dirty="0">
                <a:solidFill>
                  <a:srgbClr val="3F7F5F"/>
                </a:solidFill>
                <a:latin typeface="Consolas" panose="020B0609020204030204" pitchFamily="49" charset="0"/>
              </a:rPr>
              <a:t>// Initialize DMA</a:t>
            </a:r>
          </a:p>
          <a:p>
            <a:pPr marL="114300" indent="0" algn="l">
              <a:spcBef>
                <a:spcPts val="0"/>
              </a:spcBef>
              <a:buNone/>
            </a:pPr>
            <a:r>
              <a:rPr lang="en-US" sz="1050" dirty="0" err="1">
                <a:solidFill>
                  <a:srgbClr val="000000"/>
                </a:solidFill>
                <a:latin typeface="Consolas" panose="020B0609020204030204" pitchFamily="49" charset="0"/>
              </a:rPr>
              <a:t>InitDma</a:t>
            </a:r>
            <a:r>
              <a:rPr lang="en-US" sz="1050" dirty="0">
                <a:solidFill>
                  <a:srgbClr val="000000"/>
                </a:solidFill>
                <a:latin typeface="Consolas" panose="020B0609020204030204" pitchFamily="49" charset="0"/>
              </a:rPr>
              <a:t>();</a:t>
            </a:r>
            <a:endParaRPr lang="en-US" sz="1050" dirty="0">
              <a:solidFill>
                <a:schemeClr val="tx1"/>
              </a:solidFill>
              <a:latin typeface="Atkinson Hyperlegible Next"/>
              <a:cs typeface="Arial"/>
              <a:sym typeface="Arial"/>
            </a:endParaRPr>
          </a:p>
        </p:txBody>
      </p:sp>
      <p:sp>
        <p:nvSpPr>
          <p:cNvPr id="119" name="Google Shape;119;p29">
            <a:extLst>
              <a:ext uri="{FF2B5EF4-FFF2-40B4-BE49-F238E27FC236}">
                <a16:creationId xmlns:a16="http://schemas.microsoft.com/office/drawing/2014/main" id="{C2EA16CD-85B2-D711-E6C6-F64FD45D44A9}"/>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0EF700B6-0CBA-9A2E-7645-27B0DEF80161}"/>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algn="l" lvl="0">
              <a:lnSpc>
                <a:spcPct val="100000"/>
              </a:lnSpc>
              <a:spcBef>
                <a:spcPts val="0"/>
              </a:spcBef>
              <a:spcAft>
                <a:spcPts val="0"/>
              </a:spcAft>
              <a:buSzPts val="2400"/>
            </a:pPr>
            <a:r>
              <a:rPr lang="en-US" sz="2400" b="0" i="0" u="none" strike="noStrike" cap="none" dirty="0">
                <a:solidFill>
                  <a:schemeClr val="lt1"/>
                </a:solidFill>
                <a:latin typeface="Atkinson Hyperlegible Next"/>
                <a:ea typeface="Arial"/>
                <a:cs typeface="Arial"/>
                <a:sym typeface="Arial"/>
              </a:rPr>
              <a:t>FFT Code</a:t>
            </a:r>
            <a:r>
              <a:rPr i="0" b="0" lang="en-US" sz="2400" dirty="0">
                <a:solidFill>
                  <a:schemeClr val="lt1"/>
                </a:solidFill>
              </a:rPr>
              <a:t> - Setup</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D067647C-FBF0-0CCE-C045-17E38F42EB15}"/>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B18A414E-211D-F0C8-80C7-06EDA19CD7FA}"/>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08962A39-5B1E-5E79-BF5C-906E662B96FA}"/>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F73E3AB5-E12E-8AB5-2286-A2840C4AD25E}"/>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4C8AE6D2-0C10-549B-0460-A3B8305CA872}"/>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9989284A-E8AA-B193-41D7-667A2FD50C35}"/>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3442210108"/>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75400190-883D-F254-E665-7716F48560B1}"/>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D74E70FA-A29F-DE63-6C7D-ADAF71F3F54B}"/>
              </a:ext>
            </a:extLst>
          </p:cNvPr>
          <p:cNvSpPr txBox="1">
            <a:spLocks noGrp="1"/>
          </p:cNvSpPr>
          <p:nvPr>
            <p:ph type="body" idx="1"/>
          </p:nvPr>
        </p:nvSpPr>
        <p:spPr>
          <a:xfrm>
            <a:off x="376809" y="1172487"/>
            <a:ext cx="11452008" cy="4982893"/>
          </a:xfrm>
          <a:prstGeom prst="rect">
            <a:avLst/>
          </a:prstGeom>
          <a:noFill/>
          <a:ln>
            <a:noFill/>
          </a:ln>
        </p:spPr>
        <p:txBody>
          <a:bodyPr spcFirstLastPara="1" wrap="square" lIns="91425" tIns="45700" rIns="91425" bIns="45700" anchor="ctr" anchorCtr="0">
            <a:noAutofit/>
          </a:bodyPr>
          <a:lstStyle/>
          <a:p>
            <a:pPr marL="114300" indent="0" algn="l">
              <a:spcBef>
                <a:spcPts val="0"/>
              </a:spcBef>
              <a:buNone/>
            </a:pPr>
            <a:r>
              <a:rPr lang="en-US" sz="650" dirty="0">
                <a:solidFill>
                  <a:srgbClr val="7F0055"/>
                </a:solidFill>
                <a:latin typeface="Consolas" panose="020B0609020204030204" pitchFamily="49" charset="0"/>
              </a:rPr>
              <a:t>void</a:t>
            </a:r>
            <a:r>
              <a:rPr lang="en-US" sz="650" dirty="0">
                <a:solidFill>
                  <a:srgbClr val="000000"/>
                </a:solidFill>
                <a:latin typeface="Consolas" panose="020B0609020204030204" pitchFamily="49" charset="0"/>
              </a:rPr>
              <a:t> </a:t>
            </a:r>
            <a:r>
              <a:rPr lang="en-US" sz="650" dirty="0" err="1">
                <a:solidFill>
                  <a:srgbClr val="000000"/>
                </a:solidFill>
                <a:latin typeface="Consolas" panose="020B0609020204030204" pitchFamily="49" charset="0"/>
              </a:rPr>
              <a:t>InitDma</a:t>
            </a:r>
            <a:r>
              <a:rPr lang="en-US" sz="650" dirty="0">
                <a:solidFill>
                  <a:srgbClr val="000000"/>
                </a:solidFill>
                <a:latin typeface="Consolas" panose="020B0609020204030204" pitchFamily="49" charset="0"/>
              </a:rPr>
              <a:t>(</a:t>
            </a:r>
            <a:r>
              <a:rPr lang="en-US" sz="650" dirty="0">
                <a:solidFill>
                  <a:srgbClr val="7F0055"/>
                </a:solidFill>
                <a:latin typeface="Consolas" panose="020B0609020204030204" pitchFamily="49" charset="0"/>
              </a:rPr>
              <a:t>void</a:t>
            </a:r>
            <a:r>
              <a:rPr lang="en-US" sz="650" dirty="0">
                <a:solidFill>
                  <a:srgbClr val="000000"/>
                </a:solidFill>
                <a:latin typeface="Consolas" panose="020B0609020204030204" pitchFamily="49" charset="0"/>
              </a:rPr>
              <a:t>)</a:t>
            </a:r>
          </a:p>
          <a:p>
            <a:pPr marL="114300" indent="0" algn="l">
              <a:spcBef>
                <a:spcPts val="0"/>
              </a:spcBef>
              <a:buNone/>
            </a:pPr>
            <a:r>
              <a:rPr lang="en-US" sz="650" dirty="0">
                <a:solidFill>
                  <a:srgbClr val="000000"/>
                </a:solidFill>
                <a:latin typeface="Consolas" panose="020B0609020204030204" pitchFamily="49" charset="0"/>
              </a:rPr>
              <a:t>{</a:t>
            </a:r>
          </a:p>
          <a:p>
            <a:pPr marL="114300" indent="0" algn="l">
              <a:spcBef>
                <a:spcPts val="0"/>
              </a:spcBef>
              <a:buNone/>
            </a:pPr>
            <a:r>
              <a:rPr lang="en-US" sz="650" dirty="0">
                <a:solidFill>
                  <a:srgbClr val="000000"/>
                </a:solidFill>
                <a:latin typeface="Consolas" panose="020B0609020204030204" pitchFamily="49" charset="0"/>
              </a:rPr>
              <a:t>    EALLOW;</a:t>
            </a:r>
          </a:p>
          <a:p>
            <a:pPr marL="114300" indent="0" algn="l">
              <a:spcBef>
                <a:spcPts val="0"/>
              </a:spcBef>
              <a:buNone/>
            </a:pPr>
            <a:endParaRPr lang="en-US" sz="650" dirty="0">
              <a:latin typeface="Consolas" panose="020B0609020204030204" pitchFamily="49" charset="0"/>
            </a:endParaRPr>
          </a:p>
          <a:p>
            <a:pPr marL="114300" indent="0" algn="l">
              <a:spcBef>
                <a:spcPts val="0"/>
              </a:spcBef>
              <a:buNone/>
            </a:pPr>
            <a:r>
              <a:rPr lang="en-US" sz="650" dirty="0">
                <a:solidFill>
                  <a:srgbClr val="3F7F5F"/>
                </a:solidFill>
                <a:latin typeface="Consolas" panose="020B0609020204030204" pitchFamily="49" charset="0"/>
              </a:rPr>
              <a:t>    //--- Overall DMA setup</a:t>
            </a:r>
          </a:p>
          <a:p>
            <a:pPr marL="114300" indent="0" algn="l">
              <a:spcBef>
                <a:spcPts val="0"/>
              </a:spcBef>
              <a:buNone/>
            </a:pPr>
            <a:r>
              <a:rPr lang="en-US" sz="650" dirty="0">
                <a:solidFill>
                  <a:srgbClr val="000000"/>
                </a:solidFill>
                <a:latin typeface="Consolas" panose="020B0609020204030204" pitchFamily="49" charset="0"/>
              </a:rPr>
              <a:t>    </a:t>
            </a:r>
            <a:r>
              <a:rPr lang="en-US" sz="650" dirty="0" err="1">
                <a:solidFill>
                  <a:srgbClr val="000000"/>
                </a:solidFill>
                <a:latin typeface="Consolas" panose="020B0609020204030204" pitchFamily="49" charset="0"/>
              </a:rPr>
              <a:t>DmaRegs.</a:t>
            </a:r>
            <a:r>
              <a:rPr lang="en-US" sz="650" dirty="0" err="1">
                <a:solidFill>
                  <a:srgbClr val="0000C0"/>
                </a:solidFill>
                <a:latin typeface="Consolas" panose="020B0609020204030204" pitchFamily="49" charset="0"/>
              </a:rPr>
              <a:t>DMACTRL</a:t>
            </a:r>
            <a:r>
              <a:rPr lang="en-US" sz="650" dirty="0" err="1">
                <a:solidFill>
                  <a:srgbClr val="000000"/>
                </a:solidFill>
                <a:latin typeface="Consolas" panose="020B0609020204030204" pitchFamily="49" charset="0"/>
              </a:rPr>
              <a:t>.</a:t>
            </a:r>
            <a:r>
              <a:rPr lang="en-US" sz="650" dirty="0" err="1">
                <a:solidFill>
                  <a:srgbClr val="0000C0"/>
                </a:solidFill>
                <a:latin typeface="Consolas" panose="020B0609020204030204" pitchFamily="49" charset="0"/>
              </a:rPr>
              <a:t>bit</a:t>
            </a:r>
            <a:r>
              <a:rPr lang="en-US" sz="650" dirty="0" err="1">
                <a:solidFill>
                  <a:srgbClr val="000000"/>
                </a:solidFill>
                <a:latin typeface="Consolas" panose="020B0609020204030204" pitchFamily="49" charset="0"/>
              </a:rPr>
              <a:t>.</a:t>
            </a:r>
            <a:r>
              <a:rPr lang="en-US" sz="650" dirty="0" err="1">
                <a:solidFill>
                  <a:srgbClr val="0000C0"/>
                </a:solidFill>
                <a:latin typeface="Consolas" panose="020B0609020204030204" pitchFamily="49" charset="0"/>
              </a:rPr>
              <a:t>HARDRESET</a:t>
            </a:r>
            <a:r>
              <a:rPr lang="en-US" sz="650" dirty="0">
                <a:solidFill>
                  <a:srgbClr val="000000"/>
                </a:solidFill>
                <a:latin typeface="Consolas" panose="020B0609020204030204" pitchFamily="49" charset="0"/>
              </a:rPr>
              <a:t> = 1;          </a:t>
            </a:r>
            <a:r>
              <a:rPr lang="en-US" sz="650" dirty="0">
                <a:solidFill>
                  <a:srgbClr val="3F7F5F"/>
                </a:solidFill>
                <a:latin typeface="Consolas" panose="020B0609020204030204" pitchFamily="49" charset="0"/>
              </a:rPr>
              <a:t>// Reset entire DMA module</a:t>
            </a:r>
          </a:p>
          <a:p>
            <a:pPr marL="114300" indent="0" algn="l">
              <a:spcBef>
                <a:spcPts val="0"/>
              </a:spcBef>
              <a:buNone/>
            </a:pPr>
            <a:r>
              <a:rPr lang="en-US" sz="650" dirty="0">
                <a:solidFill>
                  <a:srgbClr val="000000"/>
                </a:solidFill>
                <a:latin typeface="Consolas" panose="020B0609020204030204" pitchFamily="49" charset="0"/>
              </a:rPr>
              <a:t>    </a:t>
            </a:r>
            <a:r>
              <a:rPr lang="en-US" sz="650" dirty="0" err="1">
                <a:solidFill>
                  <a:srgbClr val="7F0055"/>
                </a:solidFill>
                <a:latin typeface="Consolas" panose="020B0609020204030204" pitchFamily="49" charset="0"/>
              </a:rPr>
              <a:t>asm</a:t>
            </a:r>
            <a:r>
              <a:rPr lang="en-US" sz="650" dirty="0">
                <a:solidFill>
                  <a:srgbClr val="000000"/>
                </a:solidFill>
                <a:latin typeface="Consolas" panose="020B0609020204030204" pitchFamily="49" charset="0"/>
              </a:rPr>
              <a:t>(</a:t>
            </a:r>
            <a:r>
              <a:rPr lang="en-US" sz="650" dirty="0">
                <a:solidFill>
                  <a:srgbClr val="2A00FF"/>
                </a:solidFill>
                <a:latin typeface="Consolas" panose="020B0609020204030204" pitchFamily="49" charset="0"/>
              </a:rPr>
              <a:t>" NOP"</a:t>
            </a:r>
            <a:r>
              <a:rPr lang="en-US" sz="650" dirty="0">
                <a:solidFill>
                  <a:srgbClr val="000000"/>
                </a:solidFill>
                <a:latin typeface="Consolas" panose="020B0609020204030204" pitchFamily="49" charset="0"/>
              </a:rPr>
              <a:t>);                                </a:t>
            </a:r>
            <a:r>
              <a:rPr lang="en-US" sz="650" dirty="0">
                <a:solidFill>
                  <a:srgbClr val="3F7F5F"/>
                </a:solidFill>
                <a:latin typeface="Consolas" panose="020B0609020204030204" pitchFamily="49" charset="0"/>
              </a:rPr>
              <a:t>// 1 cycle delay for HARDRESET to take effect</a:t>
            </a:r>
          </a:p>
          <a:p>
            <a:pPr marL="114300" indent="0" algn="l">
              <a:spcBef>
                <a:spcPts val="0"/>
              </a:spcBef>
              <a:buNone/>
            </a:pPr>
            <a:endParaRPr lang="en-US" sz="650" dirty="0">
              <a:latin typeface="Consolas" panose="020B0609020204030204" pitchFamily="49" charset="0"/>
            </a:endParaRPr>
          </a:p>
          <a:p>
            <a:pPr marL="114300" indent="0" algn="l">
              <a:spcBef>
                <a:spcPts val="0"/>
              </a:spcBef>
              <a:buNone/>
            </a:pPr>
            <a:r>
              <a:rPr lang="en-US" sz="650" dirty="0">
                <a:solidFill>
                  <a:srgbClr val="000000"/>
                </a:solidFill>
                <a:latin typeface="Consolas" panose="020B0609020204030204" pitchFamily="49" charset="0"/>
              </a:rPr>
              <a:t>    </a:t>
            </a:r>
            <a:r>
              <a:rPr lang="en-US" sz="650" dirty="0" err="1">
                <a:solidFill>
                  <a:srgbClr val="000000"/>
                </a:solidFill>
                <a:latin typeface="Consolas" panose="020B0609020204030204" pitchFamily="49" charset="0"/>
              </a:rPr>
              <a:t>DmaRegs.</a:t>
            </a:r>
            <a:r>
              <a:rPr lang="en-US" sz="650" dirty="0" err="1">
                <a:solidFill>
                  <a:srgbClr val="0000C0"/>
                </a:solidFill>
                <a:latin typeface="Consolas" panose="020B0609020204030204" pitchFamily="49" charset="0"/>
              </a:rPr>
              <a:t>DEBUGCTRL</a:t>
            </a:r>
            <a:r>
              <a:rPr lang="en-US" sz="650" dirty="0" err="1">
                <a:solidFill>
                  <a:srgbClr val="000000"/>
                </a:solidFill>
                <a:latin typeface="Consolas" panose="020B0609020204030204" pitchFamily="49" charset="0"/>
              </a:rPr>
              <a:t>.</a:t>
            </a:r>
            <a:r>
              <a:rPr lang="en-US" sz="650" dirty="0" err="1">
                <a:solidFill>
                  <a:srgbClr val="0000C0"/>
                </a:solidFill>
                <a:latin typeface="Consolas" panose="020B0609020204030204" pitchFamily="49" charset="0"/>
              </a:rPr>
              <a:t>bit</a:t>
            </a:r>
            <a:r>
              <a:rPr lang="en-US" sz="650" dirty="0" err="1">
                <a:solidFill>
                  <a:srgbClr val="000000"/>
                </a:solidFill>
                <a:latin typeface="Consolas" panose="020B0609020204030204" pitchFamily="49" charset="0"/>
              </a:rPr>
              <a:t>.</a:t>
            </a:r>
            <a:r>
              <a:rPr lang="en-US" sz="650" dirty="0" err="1">
                <a:solidFill>
                  <a:srgbClr val="0000C0"/>
                </a:solidFill>
                <a:latin typeface="Consolas" panose="020B0609020204030204" pitchFamily="49" charset="0"/>
              </a:rPr>
              <a:t>FREE</a:t>
            </a:r>
            <a:r>
              <a:rPr lang="en-US" sz="650" dirty="0">
                <a:solidFill>
                  <a:srgbClr val="000000"/>
                </a:solidFill>
                <a:latin typeface="Consolas" panose="020B0609020204030204" pitchFamily="49" charset="0"/>
              </a:rPr>
              <a:t> = 1;             </a:t>
            </a:r>
            <a:r>
              <a:rPr lang="en-US" sz="650" dirty="0">
                <a:solidFill>
                  <a:srgbClr val="3F7F5F"/>
                </a:solidFill>
                <a:latin typeface="Consolas" panose="020B0609020204030204" pitchFamily="49" charset="0"/>
              </a:rPr>
              <a:t>// 1 = DMA unaffected by emulation halt</a:t>
            </a:r>
          </a:p>
          <a:p>
            <a:pPr marL="114300" indent="0" algn="l">
              <a:spcBef>
                <a:spcPts val="0"/>
              </a:spcBef>
              <a:buNone/>
            </a:pPr>
            <a:r>
              <a:rPr lang="en-US" sz="650" dirty="0">
                <a:solidFill>
                  <a:srgbClr val="000000"/>
                </a:solidFill>
                <a:latin typeface="Consolas" panose="020B0609020204030204" pitchFamily="49" charset="0"/>
              </a:rPr>
              <a:t>    DmaRegs.</a:t>
            </a:r>
            <a:r>
              <a:rPr lang="en-US" sz="650" dirty="0">
                <a:solidFill>
                  <a:srgbClr val="0000C0"/>
                </a:solidFill>
                <a:latin typeface="Consolas" panose="020B0609020204030204" pitchFamily="49" charset="0"/>
              </a:rPr>
              <a:t>PRIORITYCTRL1</a:t>
            </a:r>
            <a:r>
              <a:rPr lang="en-US" sz="650" dirty="0">
                <a:solidFill>
                  <a:srgbClr val="000000"/>
                </a:solidFill>
                <a:latin typeface="Consolas" panose="020B0609020204030204" pitchFamily="49" charset="0"/>
              </a:rPr>
              <a:t>.</a:t>
            </a:r>
            <a:r>
              <a:rPr lang="en-US" sz="650" dirty="0">
                <a:solidFill>
                  <a:srgbClr val="0000C0"/>
                </a:solidFill>
                <a:latin typeface="Consolas" panose="020B0609020204030204" pitchFamily="49" charset="0"/>
              </a:rPr>
              <a:t>bit</a:t>
            </a:r>
            <a:r>
              <a:rPr lang="en-US" sz="650" dirty="0">
                <a:solidFill>
                  <a:srgbClr val="000000"/>
                </a:solidFill>
                <a:latin typeface="Consolas" panose="020B0609020204030204" pitchFamily="49" charset="0"/>
              </a:rPr>
              <a:t>.</a:t>
            </a:r>
            <a:r>
              <a:rPr lang="en-US" sz="650" dirty="0">
                <a:solidFill>
                  <a:srgbClr val="0000C0"/>
                </a:solidFill>
                <a:latin typeface="Consolas" panose="020B0609020204030204" pitchFamily="49" charset="0"/>
              </a:rPr>
              <a:t>CH1PRIORITY</a:t>
            </a:r>
            <a:r>
              <a:rPr lang="en-US" sz="650" dirty="0">
                <a:solidFill>
                  <a:srgbClr val="000000"/>
                </a:solidFill>
                <a:latin typeface="Consolas" panose="020B0609020204030204" pitchFamily="49" charset="0"/>
              </a:rPr>
              <a:t> = 0;  </a:t>
            </a:r>
            <a:r>
              <a:rPr lang="en-US" sz="650" dirty="0">
                <a:solidFill>
                  <a:srgbClr val="3F7F5F"/>
                </a:solidFill>
                <a:latin typeface="Consolas" panose="020B0609020204030204" pitchFamily="49" charset="0"/>
              </a:rPr>
              <a:t>// Not using CH1 Priority mode</a:t>
            </a:r>
          </a:p>
          <a:p>
            <a:pPr marL="114300" indent="0" algn="l">
              <a:spcBef>
                <a:spcPts val="0"/>
              </a:spcBef>
              <a:buNone/>
            </a:pPr>
            <a:endParaRPr lang="en-US" sz="650" dirty="0">
              <a:latin typeface="Consolas" panose="020B0609020204030204" pitchFamily="49" charset="0"/>
            </a:endParaRPr>
          </a:p>
          <a:p>
            <a:pPr marL="114300" indent="0" algn="l">
              <a:spcBef>
                <a:spcPts val="0"/>
              </a:spcBef>
              <a:buNone/>
            </a:pPr>
            <a:r>
              <a:rPr lang="en-US" sz="650" dirty="0">
                <a:solidFill>
                  <a:srgbClr val="3F7F5F"/>
                </a:solidFill>
                <a:latin typeface="Consolas" panose="020B0609020204030204" pitchFamily="49" charset="0"/>
              </a:rPr>
              <a:t>    //--- Configure DMA channel 1 to read the ADC results</a:t>
            </a:r>
          </a:p>
          <a:p>
            <a:pPr marL="114300" indent="0" algn="l">
              <a:spcBef>
                <a:spcPts val="0"/>
              </a:spcBef>
              <a:buNone/>
            </a:pPr>
            <a:r>
              <a:rPr lang="en-US" sz="650" dirty="0">
                <a:solidFill>
                  <a:srgbClr val="000000"/>
                </a:solidFill>
                <a:latin typeface="Consolas" panose="020B0609020204030204" pitchFamily="49" charset="0"/>
              </a:rPr>
              <a:t>    DmaRegs.</a:t>
            </a:r>
            <a:r>
              <a:rPr lang="en-US" sz="650" dirty="0">
                <a:solidFill>
                  <a:srgbClr val="0000C0"/>
                </a:solidFill>
                <a:latin typeface="Consolas" panose="020B0609020204030204" pitchFamily="49" charset="0"/>
              </a:rPr>
              <a:t>CH1</a:t>
            </a:r>
            <a:r>
              <a:rPr lang="en-US" sz="650" dirty="0">
                <a:solidFill>
                  <a:srgbClr val="000000"/>
                </a:solidFill>
                <a:latin typeface="Consolas" panose="020B0609020204030204" pitchFamily="49" charset="0"/>
              </a:rPr>
              <a:t>.</a:t>
            </a:r>
            <a:r>
              <a:rPr lang="en-US" sz="650" dirty="0">
                <a:solidFill>
                  <a:srgbClr val="0000C0"/>
                </a:solidFill>
                <a:latin typeface="Consolas" panose="020B0609020204030204" pitchFamily="49" charset="0"/>
              </a:rPr>
              <a:t>MODE</a:t>
            </a:r>
            <a:r>
              <a:rPr lang="en-US" sz="650" dirty="0">
                <a:solidFill>
                  <a:srgbClr val="000000"/>
                </a:solidFill>
                <a:latin typeface="Consolas" panose="020B0609020204030204" pitchFamily="49" charset="0"/>
              </a:rPr>
              <a:t>.</a:t>
            </a:r>
            <a:r>
              <a:rPr lang="en-US" sz="650" dirty="0">
                <a:solidFill>
                  <a:srgbClr val="0000C0"/>
                </a:solidFill>
                <a:latin typeface="Consolas" panose="020B0609020204030204" pitchFamily="49" charset="0"/>
              </a:rPr>
              <a:t>all</a:t>
            </a:r>
            <a:r>
              <a:rPr lang="en-US" sz="650" dirty="0">
                <a:solidFill>
                  <a:srgbClr val="000000"/>
                </a:solidFill>
                <a:latin typeface="Consolas" panose="020B0609020204030204" pitchFamily="49" charset="0"/>
              </a:rPr>
              <a:t> = 0x8901; </a:t>
            </a:r>
            <a:r>
              <a:rPr lang="en-US" sz="650" dirty="0">
                <a:solidFill>
                  <a:srgbClr val="3F7F5F"/>
                </a:solidFill>
                <a:latin typeface="Consolas" panose="020B0609020204030204" pitchFamily="49" charset="0"/>
              </a:rPr>
              <a:t>//good</a:t>
            </a:r>
          </a:p>
          <a:p>
            <a:pPr marL="114300" indent="0" algn="l">
              <a:spcBef>
                <a:spcPts val="0"/>
              </a:spcBef>
              <a:buNone/>
            </a:pPr>
            <a:r>
              <a:rPr lang="en-US" sz="650" dirty="0">
                <a:solidFill>
                  <a:srgbClr val="3F7F5F"/>
                </a:solidFill>
                <a:latin typeface="Consolas" panose="020B0609020204030204" pitchFamily="49" charset="0"/>
              </a:rPr>
              <a:t>    // 0x8901 = 1000 1001 0000 0001</a:t>
            </a:r>
          </a:p>
          <a:p>
            <a:pPr marL="114300" indent="0" algn="l">
              <a:spcBef>
                <a:spcPts val="0"/>
              </a:spcBef>
              <a:buNone/>
            </a:pPr>
            <a:r>
              <a:rPr lang="en-US" sz="650" dirty="0">
                <a:solidFill>
                  <a:srgbClr val="000000"/>
                </a:solidFill>
                <a:latin typeface="Consolas" panose="020B0609020204030204" pitchFamily="49" charset="0"/>
              </a:rPr>
              <a:t>    </a:t>
            </a:r>
            <a:r>
              <a:rPr lang="en-US" sz="650" dirty="0">
                <a:solidFill>
                  <a:srgbClr val="3F7F5F"/>
                </a:solidFill>
                <a:latin typeface="Consolas" panose="020B0609020204030204" pitchFamily="49" charset="0"/>
              </a:rPr>
              <a:t>// CHINTE = interrupt enabled</a:t>
            </a:r>
          </a:p>
          <a:p>
            <a:pPr marL="114300" indent="0" algn="l">
              <a:spcBef>
                <a:spcPts val="0"/>
              </a:spcBef>
              <a:buNone/>
            </a:pPr>
            <a:r>
              <a:rPr lang="en-US" sz="650" dirty="0">
                <a:solidFill>
                  <a:srgbClr val="000000"/>
                </a:solidFill>
                <a:latin typeface="Consolas" panose="020B0609020204030204" pitchFamily="49" charset="0"/>
              </a:rPr>
              <a:t>    </a:t>
            </a:r>
            <a:r>
              <a:rPr lang="en-US" sz="650" dirty="0">
                <a:solidFill>
                  <a:srgbClr val="3F7F5F"/>
                </a:solidFill>
                <a:latin typeface="Consolas" panose="020B0609020204030204" pitchFamily="49" charset="0"/>
              </a:rPr>
              <a:t>// CONTINUOUS = re-</a:t>
            </a:r>
            <a:r>
              <a:rPr lang="en-US" sz="650" dirty="0" err="1">
                <a:solidFill>
                  <a:srgbClr val="3F7F5F"/>
                </a:solidFill>
                <a:latin typeface="Consolas" panose="020B0609020204030204" pitchFamily="49" charset="0"/>
              </a:rPr>
              <a:t>init</a:t>
            </a:r>
            <a:r>
              <a:rPr lang="en-US" sz="650" dirty="0">
                <a:solidFill>
                  <a:srgbClr val="3F7F5F"/>
                </a:solidFill>
                <a:latin typeface="Consolas" panose="020B0609020204030204" pitchFamily="49" charset="0"/>
              </a:rPr>
              <a:t> after transfer complete</a:t>
            </a:r>
          </a:p>
          <a:p>
            <a:pPr marL="114300" indent="0" algn="l">
              <a:spcBef>
                <a:spcPts val="0"/>
              </a:spcBef>
              <a:buNone/>
            </a:pPr>
            <a:r>
              <a:rPr lang="en-US" sz="650" dirty="0">
                <a:solidFill>
                  <a:srgbClr val="000000"/>
                </a:solidFill>
                <a:latin typeface="Consolas" panose="020B0609020204030204" pitchFamily="49" charset="0"/>
              </a:rPr>
              <a:t>    </a:t>
            </a:r>
            <a:r>
              <a:rPr lang="en-US" sz="650" dirty="0">
                <a:solidFill>
                  <a:srgbClr val="3F7F5F"/>
                </a:solidFill>
                <a:latin typeface="Consolas" panose="020B0609020204030204" pitchFamily="49" charset="0"/>
              </a:rPr>
              <a:t>// PERINTE = peripheral interrupt trigger enabled</a:t>
            </a:r>
          </a:p>
          <a:p>
            <a:pPr marL="114300" indent="0" algn="l">
              <a:spcBef>
                <a:spcPts val="0"/>
              </a:spcBef>
              <a:buNone/>
            </a:pPr>
            <a:r>
              <a:rPr lang="en-US" sz="650" dirty="0">
                <a:solidFill>
                  <a:srgbClr val="000000"/>
                </a:solidFill>
                <a:latin typeface="Consolas" panose="020B0609020204030204" pitchFamily="49" charset="0"/>
              </a:rPr>
              <a:t>    </a:t>
            </a:r>
            <a:r>
              <a:rPr lang="en-US" sz="650" dirty="0">
                <a:solidFill>
                  <a:srgbClr val="3F7F5F"/>
                </a:solidFill>
                <a:latin typeface="Consolas" panose="020B0609020204030204" pitchFamily="49" charset="0"/>
              </a:rPr>
              <a:t>// Set Channel 1</a:t>
            </a:r>
          </a:p>
          <a:p>
            <a:pPr marL="114300" indent="0" algn="l">
              <a:spcBef>
                <a:spcPts val="0"/>
              </a:spcBef>
              <a:buNone/>
            </a:pPr>
            <a:endParaRPr lang="en-US" sz="650" dirty="0">
              <a:latin typeface="Consolas" panose="020B0609020204030204" pitchFamily="49" charset="0"/>
            </a:endParaRPr>
          </a:p>
          <a:p>
            <a:pPr marL="114300" indent="0" algn="l">
              <a:spcBef>
                <a:spcPts val="0"/>
              </a:spcBef>
              <a:buNone/>
            </a:pPr>
            <a:r>
              <a:rPr lang="en-US" sz="650" dirty="0">
                <a:solidFill>
                  <a:srgbClr val="000000"/>
                </a:solidFill>
                <a:latin typeface="Consolas" panose="020B0609020204030204" pitchFamily="49" charset="0"/>
              </a:rPr>
              <a:t>    </a:t>
            </a:r>
            <a:r>
              <a:rPr lang="en-US" sz="650" dirty="0">
                <a:solidFill>
                  <a:srgbClr val="3F7F5F"/>
                </a:solidFill>
                <a:latin typeface="Consolas" panose="020B0609020204030204" pitchFamily="49" charset="0"/>
              </a:rPr>
              <a:t>//--- Select DMA interrupt source                 /******** TRIGGER SOURCE FOR EACH DMA CHANNEL (unlisted numbers are reserved) ********/</a:t>
            </a:r>
          </a:p>
          <a:p>
            <a:pPr marL="114300" indent="0" algn="l">
              <a:spcBef>
                <a:spcPts val="0"/>
              </a:spcBef>
              <a:buNone/>
            </a:pPr>
            <a:r>
              <a:rPr lang="en-US" sz="650" dirty="0">
                <a:solidFill>
                  <a:srgbClr val="000000"/>
                </a:solidFill>
                <a:latin typeface="Consolas" panose="020B0609020204030204" pitchFamily="49" charset="0"/>
              </a:rPr>
              <a:t>    DmaClaSrcSelRegs.</a:t>
            </a:r>
            <a:r>
              <a:rPr lang="en-US" sz="650" dirty="0">
                <a:solidFill>
                  <a:srgbClr val="0000C0"/>
                </a:solidFill>
                <a:latin typeface="Consolas" panose="020B0609020204030204" pitchFamily="49" charset="0"/>
              </a:rPr>
              <a:t>DMACHSRCSEL1</a:t>
            </a:r>
            <a:r>
              <a:rPr lang="en-US" sz="650" dirty="0">
                <a:solidFill>
                  <a:srgbClr val="000000"/>
                </a:solidFill>
                <a:latin typeface="Consolas" panose="020B0609020204030204" pitchFamily="49" charset="0"/>
              </a:rPr>
              <a:t>.</a:t>
            </a:r>
            <a:r>
              <a:rPr lang="en-US" sz="650" dirty="0">
                <a:solidFill>
                  <a:srgbClr val="0000C0"/>
                </a:solidFill>
                <a:latin typeface="Consolas" panose="020B0609020204030204" pitchFamily="49" charset="0"/>
              </a:rPr>
              <a:t>bit</a:t>
            </a:r>
            <a:r>
              <a:rPr lang="en-US" sz="650" dirty="0">
                <a:solidFill>
                  <a:srgbClr val="000000"/>
                </a:solidFill>
                <a:latin typeface="Consolas" panose="020B0609020204030204" pitchFamily="49" charset="0"/>
              </a:rPr>
              <a:t>.</a:t>
            </a:r>
            <a:r>
              <a:rPr lang="en-US" sz="650" dirty="0">
                <a:solidFill>
                  <a:srgbClr val="0000C0"/>
                </a:solidFill>
                <a:latin typeface="Consolas" panose="020B0609020204030204" pitchFamily="49" charset="0"/>
              </a:rPr>
              <a:t>CH1</a:t>
            </a:r>
            <a:r>
              <a:rPr lang="en-US" sz="650" dirty="0">
                <a:solidFill>
                  <a:srgbClr val="000000"/>
                </a:solidFill>
                <a:latin typeface="Consolas" panose="020B0609020204030204" pitchFamily="49" charset="0"/>
              </a:rPr>
              <a:t> = 6;    </a:t>
            </a:r>
            <a:r>
              <a:rPr lang="en-US" sz="650" dirty="0">
                <a:solidFill>
                  <a:srgbClr val="3F7F5F"/>
                </a:solidFill>
                <a:latin typeface="Consolas" panose="020B0609020204030204" pitchFamily="49" charset="0"/>
              </a:rPr>
              <a:t>// 0=none       6=ADCBINT1  12=ADCCINT2  18=ADCDINT3  32=XINT4      40=EPWM3SOCA  46=EPWM6SOCA  52=EPWM9SOCA   58=EPWM12SOCA  72=MREVTA    98=SD1FLT4    110=SPIRXDMAA     132=USBA_EPx_TX1</a:t>
            </a:r>
          </a:p>
          <a:p>
            <a:pPr marL="114300" indent="0" algn="l">
              <a:spcBef>
                <a:spcPts val="0"/>
              </a:spcBef>
              <a:buNone/>
            </a:pPr>
            <a:r>
              <a:rPr lang="en-US" sz="650" dirty="0">
                <a:solidFill>
                  <a:srgbClr val="000000"/>
                </a:solidFill>
                <a:latin typeface="Consolas" panose="020B0609020204030204" pitchFamily="49" charset="0"/>
              </a:rPr>
              <a:t>    DmaClaSrcSelRegs.</a:t>
            </a:r>
            <a:r>
              <a:rPr lang="en-US" sz="650" dirty="0">
                <a:solidFill>
                  <a:srgbClr val="0000C0"/>
                </a:solidFill>
                <a:latin typeface="Consolas" panose="020B0609020204030204" pitchFamily="49" charset="0"/>
              </a:rPr>
              <a:t>DMACHSRCSEL1</a:t>
            </a:r>
            <a:r>
              <a:rPr lang="en-US" sz="650" dirty="0">
                <a:solidFill>
                  <a:srgbClr val="000000"/>
                </a:solidFill>
                <a:latin typeface="Consolas" panose="020B0609020204030204" pitchFamily="49" charset="0"/>
              </a:rPr>
              <a:t>.</a:t>
            </a:r>
            <a:r>
              <a:rPr lang="en-US" sz="650" dirty="0">
                <a:solidFill>
                  <a:srgbClr val="0000C0"/>
                </a:solidFill>
                <a:latin typeface="Consolas" panose="020B0609020204030204" pitchFamily="49" charset="0"/>
              </a:rPr>
              <a:t>bit</a:t>
            </a:r>
            <a:r>
              <a:rPr lang="en-US" sz="650" dirty="0">
                <a:solidFill>
                  <a:srgbClr val="000000"/>
                </a:solidFill>
                <a:latin typeface="Consolas" panose="020B0609020204030204" pitchFamily="49" charset="0"/>
              </a:rPr>
              <a:t>.</a:t>
            </a:r>
            <a:r>
              <a:rPr lang="en-US" sz="650" dirty="0">
                <a:solidFill>
                  <a:srgbClr val="0000C0"/>
                </a:solidFill>
                <a:latin typeface="Consolas" panose="020B0609020204030204" pitchFamily="49" charset="0"/>
              </a:rPr>
              <a:t>CH2</a:t>
            </a:r>
            <a:r>
              <a:rPr lang="en-US" sz="650" dirty="0">
                <a:solidFill>
                  <a:srgbClr val="000000"/>
                </a:solidFill>
                <a:latin typeface="Consolas" panose="020B0609020204030204" pitchFamily="49" charset="0"/>
              </a:rPr>
              <a:t> = 0;    </a:t>
            </a:r>
            <a:r>
              <a:rPr lang="en-US" sz="650" dirty="0">
                <a:solidFill>
                  <a:srgbClr val="3F7F5F"/>
                </a:solidFill>
                <a:latin typeface="Consolas" panose="020B0609020204030204" pitchFamily="49" charset="0"/>
              </a:rPr>
              <a:t>// 1=ADCAINT1   7=ADCBINT2  13=ADCCINT3  19=ADCDINT4  33=XINT5      41=EPWM3SOCB  47=EPWM6SOCB  53=EPWM9SOCB   59=EPWM12SOCB  73=MXEVTB    99=SD2FLT1    111=SPITXDMAB     133=USBA_EPx_RX2</a:t>
            </a:r>
          </a:p>
          <a:p>
            <a:pPr marL="114300" indent="0" algn="l">
              <a:spcBef>
                <a:spcPts val="0"/>
              </a:spcBef>
              <a:buNone/>
            </a:pPr>
            <a:r>
              <a:rPr lang="en-US" sz="650" dirty="0">
                <a:solidFill>
                  <a:srgbClr val="000000"/>
                </a:solidFill>
                <a:latin typeface="Consolas" panose="020B0609020204030204" pitchFamily="49" charset="0"/>
              </a:rPr>
              <a:t>    DmaClaSrcSelRegs.</a:t>
            </a:r>
            <a:r>
              <a:rPr lang="en-US" sz="650" dirty="0">
                <a:solidFill>
                  <a:srgbClr val="0000C0"/>
                </a:solidFill>
                <a:latin typeface="Consolas" panose="020B0609020204030204" pitchFamily="49" charset="0"/>
              </a:rPr>
              <a:t>DMACHSRCSEL1</a:t>
            </a:r>
            <a:r>
              <a:rPr lang="en-US" sz="650" dirty="0">
                <a:solidFill>
                  <a:srgbClr val="000000"/>
                </a:solidFill>
                <a:latin typeface="Consolas" panose="020B0609020204030204" pitchFamily="49" charset="0"/>
              </a:rPr>
              <a:t>.</a:t>
            </a:r>
            <a:r>
              <a:rPr lang="en-US" sz="650" dirty="0">
                <a:solidFill>
                  <a:srgbClr val="0000C0"/>
                </a:solidFill>
                <a:latin typeface="Consolas" panose="020B0609020204030204" pitchFamily="49" charset="0"/>
              </a:rPr>
              <a:t>bit</a:t>
            </a:r>
            <a:r>
              <a:rPr lang="en-US" sz="650" dirty="0">
                <a:solidFill>
                  <a:srgbClr val="000000"/>
                </a:solidFill>
                <a:latin typeface="Consolas" panose="020B0609020204030204" pitchFamily="49" charset="0"/>
              </a:rPr>
              <a:t>.</a:t>
            </a:r>
            <a:r>
              <a:rPr lang="en-US" sz="650" dirty="0">
                <a:solidFill>
                  <a:srgbClr val="0000C0"/>
                </a:solidFill>
                <a:latin typeface="Consolas" panose="020B0609020204030204" pitchFamily="49" charset="0"/>
              </a:rPr>
              <a:t>CH3</a:t>
            </a:r>
            <a:r>
              <a:rPr lang="en-US" sz="650" dirty="0">
                <a:solidFill>
                  <a:srgbClr val="000000"/>
                </a:solidFill>
                <a:latin typeface="Consolas" panose="020B0609020204030204" pitchFamily="49" charset="0"/>
              </a:rPr>
              <a:t> = 0;    </a:t>
            </a:r>
            <a:r>
              <a:rPr lang="en-US" sz="650" dirty="0">
                <a:solidFill>
                  <a:srgbClr val="3F7F5F"/>
                </a:solidFill>
                <a:latin typeface="Consolas" panose="020B0609020204030204" pitchFamily="49" charset="0"/>
              </a:rPr>
              <a:t>// 2=ADCAINT2   8=ADCBINT3  14=ADCCINT4  20=ADCDEVT   36=EPWM1SOCA  42=EPWM4SOCA  48=EPWM7SOCA  54=EPWM10SOCA  68=TINT0       74=MREVTB   100=SD2FLT2    112=SPIRXDMAB     134=USBA_EPx_TX2</a:t>
            </a:r>
          </a:p>
          <a:p>
            <a:pPr marL="114300" indent="0" algn="l">
              <a:spcBef>
                <a:spcPts val="0"/>
              </a:spcBef>
              <a:buNone/>
            </a:pPr>
            <a:r>
              <a:rPr lang="en-US" sz="650" dirty="0">
                <a:solidFill>
                  <a:srgbClr val="000000"/>
                </a:solidFill>
                <a:latin typeface="Consolas" panose="020B0609020204030204" pitchFamily="49" charset="0"/>
              </a:rPr>
              <a:t>    DmaClaSrcSelRegs.</a:t>
            </a:r>
            <a:r>
              <a:rPr lang="en-US" sz="650" dirty="0">
                <a:solidFill>
                  <a:srgbClr val="0000C0"/>
                </a:solidFill>
                <a:latin typeface="Consolas" panose="020B0609020204030204" pitchFamily="49" charset="0"/>
              </a:rPr>
              <a:t>DMACHSRCSEL1</a:t>
            </a:r>
            <a:r>
              <a:rPr lang="en-US" sz="650" dirty="0">
                <a:solidFill>
                  <a:srgbClr val="000000"/>
                </a:solidFill>
                <a:latin typeface="Consolas" panose="020B0609020204030204" pitchFamily="49" charset="0"/>
              </a:rPr>
              <a:t>.</a:t>
            </a:r>
            <a:r>
              <a:rPr lang="en-US" sz="650" dirty="0">
                <a:solidFill>
                  <a:srgbClr val="0000C0"/>
                </a:solidFill>
                <a:latin typeface="Consolas" panose="020B0609020204030204" pitchFamily="49" charset="0"/>
              </a:rPr>
              <a:t>bit</a:t>
            </a:r>
            <a:r>
              <a:rPr lang="en-US" sz="650" dirty="0">
                <a:solidFill>
                  <a:srgbClr val="000000"/>
                </a:solidFill>
                <a:latin typeface="Consolas" panose="020B0609020204030204" pitchFamily="49" charset="0"/>
              </a:rPr>
              <a:t>.</a:t>
            </a:r>
            <a:r>
              <a:rPr lang="en-US" sz="650" dirty="0">
                <a:solidFill>
                  <a:srgbClr val="0000C0"/>
                </a:solidFill>
                <a:latin typeface="Consolas" panose="020B0609020204030204" pitchFamily="49" charset="0"/>
              </a:rPr>
              <a:t>CH4</a:t>
            </a:r>
            <a:r>
              <a:rPr lang="en-US" sz="650" dirty="0">
                <a:solidFill>
                  <a:srgbClr val="000000"/>
                </a:solidFill>
                <a:latin typeface="Consolas" panose="020B0609020204030204" pitchFamily="49" charset="0"/>
              </a:rPr>
              <a:t> = 0;    </a:t>
            </a:r>
            <a:r>
              <a:rPr lang="en-US" sz="650" dirty="0">
                <a:solidFill>
                  <a:srgbClr val="3F7F5F"/>
                </a:solidFill>
                <a:latin typeface="Consolas" panose="020B0609020204030204" pitchFamily="49" charset="0"/>
              </a:rPr>
              <a:t>// 3=ADCAINT3   9=ADCBINT4  15=ADCCEVT   29=XINT1     37=EPWM1SOCB  43=EPWM4SOCB  49=EPWM7SOCB  55=EPWM10SOCB  69=TINT1       95=SD1FLT1  101=SD2FLT3    113=SPITXDMAC     135=USBA_EPx_RX3</a:t>
            </a:r>
          </a:p>
          <a:p>
            <a:pPr marL="114300" indent="0" algn="l">
              <a:spcBef>
                <a:spcPts val="0"/>
              </a:spcBef>
              <a:buNone/>
            </a:pPr>
            <a:r>
              <a:rPr lang="en-US" sz="650" dirty="0">
                <a:solidFill>
                  <a:srgbClr val="000000"/>
                </a:solidFill>
                <a:latin typeface="Consolas" panose="020B0609020204030204" pitchFamily="49" charset="0"/>
              </a:rPr>
              <a:t>    DmaClaSrcSelRegs.</a:t>
            </a:r>
            <a:r>
              <a:rPr lang="en-US" sz="650" dirty="0">
                <a:solidFill>
                  <a:srgbClr val="0000C0"/>
                </a:solidFill>
                <a:latin typeface="Consolas" panose="020B0609020204030204" pitchFamily="49" charset="0"/>
              </a:rPr>
              <a:t>DMACHSRCSEL2</a:t>
            </a:r>
            <a:r>
              <a:rPr lang="en-US" sz="650" dirty="0">
                <a:solidFill>
                  <a:srgbClr val="000000"/>
                </a:solidFill>
                <a:latin typeface="Consolas" panose="020B0609020204030204" pitchFamily="49" charset="0"/>
              </a:rPr>
              <a:t>.</a:t>
            </a:r>
            <a:r>
              <a:rPr lang="en-US" sz="650" dirty="0">
                <a:solidFill>
                  <a:srgbClr val="0000C0"/>
                </a:solidFill>
                <a:latin typeface="Consolas" panose="020B0609020204030204" pitchFamily="49" charset="0"/>
              </a:rPr>
              <a:t>bit</a:t>
            </a:r>
            <a:r>
              <a:rPr lang="en-US" sz="650" dirty="0">
                <a:solidFill>
                  <a:srgbClr val="000000"/>
                </a:solidFill>
                <a:latin typeface="Consolas" panose="020B0609020204030204" pitchFamily="49" charset="0"/>
              </a:rPr>
              <a:t>.</a:t>
            </a:r>
            <a:r>
              <a:rPr lang="en-US" sz="650" dirty="0">
                <a:solidFill>
                  <a:srgbClr val="0000C0"/>
                </a:solidFill>
                <a:latin typeface="Consolas" panose="020B0609020204030204" pitchFamily="49" charset="0"/>
              </a:rPr>
              <a:t>CH5</a:t>
            </a:r>
            <a:r>
              <a:rPr lang="en-US" sz="650" dirty="0">
                <a:solidFill>
                  <a:srgbClr val="000000"/>
                </a:solidFill>
                <a:latin typeface="Consolas" panose="020B0609020204030204" pitchFamily="49" charset="0"/>
              </a:rPr>
              <a:t> = 0;    </a:t>
            </a:r>
            <a:r>
              <a:rPr lang="en-US" sz="650" dirty="0">
                <a:solidFill>
                  <a:srgbClr val="3F7F5F"/>
                </a:solidFill>
                <a:latin typeface="Consolas" panose="020B0609020204030204" pitchFamily="49" charset="0"/>
              </a:rPr>
              <a:t>// 4=ADCAINT4  10=ADCBEVT   16=ADCDINT1  30=XINT2     38=EPWM2SOCA  44=EPWM5SOCA  50=EPWM8SOCA  56=EPWM11SOCA  70=TINT2       96=SD1FLT2  102=SD2FLT4    114=SPIRXDMAC     136=USBA_EPx_TX3</a:t>
            </a:r>
          </a:p>
          <a:p>
            <a:pPr marL="114300" indent="0" algn="l">
              <a:spcBef>
                <a:spcPts val="0"/>
              </a:spcBef>
              <a:buNone/>
            </a:pPr>
            <a:r>
              <a:rPr lang="en-US" sz="650" dirty="0">
                <a:solidFill>
                  <a:srgbClr val="000000"/>
                </a:solidFill>
                <a:latin typeface="Consolas" panose="020B0609020204030204" pitchFamily="49" charset="0"/>
              </a:rPr>
              <a:t>    DmaClaSrcSelRegs.</a:t>
            </a:r>
            <a:r>
              <a:rPr lang="en-US" sz="650" dirty="0">
                <a:solidFill>
                  <a:srgbClr val="0000C0"/>
                </a:solidFill>
                <a:latin typeface="Consolas" panose="020B0609020204030204" pitchFamily="49" charset="0"/>
              </a:rPr>
              <a:t>DMACHSRCSEL2</a:t>
            </a:r>
            <a:r>
              <a:rPr lang="en-US" sz="650" dirty="0">
                <a:solidFill>
                  <a:srgbClr val="000000"/>
                </a:solidFill>
                <a:latin typeface="Consolas" panose="020B0609020204030204" pitchFamily="49" charset="0"/>
              </a:rPr>
              <a:t>.</a:t>
            </a:r>
            <a:r>
              <a:rPr lang="en-US" sz="650" dirty="0">
                <a:solidFill>
                  <a:srgbClr val="0000C0"/>
                </a:solidFill>
                <a:latin typeface="Consolas" panose="020B0609020204030204" pitchFamily="49" charset="0"/>
              </a:rPr>
              <a:t>bit</a:t>
            </a:r>
            <a:r>
              <a:rPr lang="en-US" sz="650" dirty="0">
                <a:solidFill>
                  <a:srgbClr val="000000"/>
                </a:solidFill>
                <a:latin typeface="Consolas" panose="020B0609020204030204" pitchFamily="49" charset="0"/>
              </a:rPr>
              <a:t>.</a:t>
            </a:r>
            <a:r>
              <a:rPr lang="en-US" sz="650" dirty="0">
                <a:solidFill>
                  <a:srgbClr val="0000C0"/>
                </a:solidFill>
                <a:latin typeface="Consolas" panose="020B0609020204030204" pitchFamily="49" charset="0"/>
              </a:rPr>
              <a:t>CH6</a:t>
            </a:r>
            <a:r>
              <a:rPr lang="en-US" sz="650" dirty="0">
                <a:solidFill>
                  <a:srgbClr val="000000"/>
                </a:solidFill>
                <a:latin typeface="Consolas" panose="020B0609020204030204" pitchFamily="49" charset="0"/>
              </a:rPr>
              <a:t> = 0;    </a:t>
            </a:r>
            <a:r>
              <a:rPr lang="en-US" sz="650" dirty="0">
                <a:solidFill>
                  <a:srgbClr val="3F7F5F"/>
                </a:solidFill>
                <a:latin typeface="Consolas" panose="020B0609020204030204" pitchFamily="49" charset="0"/>
              </a:rPr>
              <a:t>// 5=ADCAEVT   11=ADCCINT1  17=ADCDINT2  31=XINT3     39=EPWM2SOCB  45=EPWM5SOCB  51=EPWM8SOCB  57=EPWM11SOCB  71=MXEVTA      97=SD1FLT3  109=SPITXDMAA  131=USBA_EPx_RX1</a:t>
            </a:r>
          </a:p>
          <a:p>
            <a:pPr marL="114300" indent="0" algn="l">
              <a:spcBef>
                <a:spcPts val="0"/>
              </a:spcBef>
              <a:buNone/>
            </a:pPr>
            <a:endParaRPr lang="en-US" sz="650" dirty="0">
              <a:latin typeface="Consolas" panose="020B0609020204030204" pitchFamily="49" charset="0"/>
            </a:endParaRPr>
          </a:p>
          <a:p>
            <a:pPr marL="114300" indent="0" algn="l">
              <a:spcBef>
                <a:spcPts val="0"/>
              </a:spcBef>
              <a:buNone/>
            </a:pPr>
            <a:r>
              <a:rPr lang="en-US" sz="650" dirty="0">
                <a:solidFill>
                  <a:srgbClr val="000000"/>
                </a:solidFill>
                <a:latin typeface="Consolas" panose="020B0609020204030204" pitchFamily="49" charset="0"/>
              </a:rPr>
              <a:t>    </a:t>
            </a:r>
            <a:r>
              <a:rPr lang="en-US" sz="650" dirty="0">
                <a:solidFill>
                  <a:srgbClr val="3F7F5F"/>
                </a:solidFill>
                <a:latin typeface="Consolas" panose="020B0609020204030204" pitchFamily="49" charset="0"/>
              </a:rPr>
              <a:t>//--- DMA trigger source lock</a:t>
            </a:r>
          </a:p>
          <a:p>
            <a:pPr marL="114300" indent="0" algn="l">
              <a:spcBef>
                <a:spcPts val="0"/>
              </a:spcBef>
              <a:buNone/>
            </a:pPr>
            <a:r>
              <a:rPr lang="en-US" sz="650" dirty="0">
                <a:solidFill>
                  <a:srgbClr val="000000"/>
                </a:solidFill>
                <a:latin typeface="Consolas" panose="020B0609020204030204" pitchFamily="49" charset="0"/>
              </a:rPr>
              <a:t>    DmaClaSrcSelRegs.</a:t>
            </a:r>
            <a:r>
              <a:rPr lang="en-US" sz="650" dirty="0">
                <a:solidFill>
                  <a:srgbClr val="0000C0"/>
                </a:solidFill>
                <a:latin typeface="Consolas" panose="020B0609020204030204" pitchFamily="49" charset="0"/>
              </a:rPr>
              <a:t>DMACHSRCSELLOCK</a:t>
            </a:r>
            <a:r>
              <a:rPr lang="en-US" sz="650" dirty="0">
                <a:solidFill>
                  <a:srgbClr val="000000"/>
                </a:solidFill>
                <a:latin typeface="Consolas" panose="020B0609020204030204" pitchFamily="49" charset="0"/>
              </a:rPr>
              <a:t>.</a:t>
            </a:r>
            <a:r>
              <a:rPr lang="en-US" sz="650" dirty="0">
                <a:solidFill>
                  <a:srgbClr val="0000C0"/>
                </a:solidFill>
                <a:latin typeface="Consolas" panose="020B0609020204030204" pitchFamily="49" charset="0"/>
              </a:rPr>
              <a:t>bit</a:t>
            </a:r>
            <a:r>
              <a:rPr lang="en-US" sz="650" dirty="0">
                <a:solidFill>
                  <a:srgbClr val="000000"/>
                </a:solidFill>
                <a:latin typeface="Consolas" panose="020B0609020204030204" pitchFamily="49" charset="0"/>
              </a:rPr>
              <a:t>.</a:t>
            </a:r>
            <a:r>
              <a:rPr lang="en-US" sz="650" dirty="0">
                <a:solidFill>
                  <a:srgbClr val="0000C0"/>
                </a:solidFill>
                <a:latin typeface="Consolas" panose="020B0609020204030204" pitchFamily="49" charset="0"/>
              </a:rPr>
              <a:t>DMACHSRCSEL1</a:t>
            </a:r>
            <a:r>
              <a:rPr lang="en-US" sz="650" dirty="0">
                <a:solidFill>
                  <a:srgbClr val="000000"/>
                </a:solidFill>
                <a:latin typeface="Consolas" panose="020B0609020204030204" pitchFamily="49" charset="0"/>
              </a:rPr>
              <a:t> = 0;              </a:t>
            </a:r>
            <a:r>
              <a:rPr lang="en-US" sz="650" dirty="0">
                <a:solidFill>
                  <a:srgbClr val="3F7F5F"/>
                </a:solidFill>
                <a:latin typeface="Consolas" panose="020B0609020204030204" pitchFamily="49" charset="0"/>
              </a:rPr>
              <a:t>// Write a 1 to lock (cannot be cleared once set)</a:t>
            </a:r>
          </a:p>
          <a:p>
            <a:pPr marL="114300" indent="0" algn="l">
              <a:spcBef>
                <a:spcPts val="0"/>
              </a:spcBef>
              <a:buNone/>
            </a:pPr>
            <a:r>
              <a:rPr lang="en-US" sz="650" dirty="0">
                <a:solidFill>
                  <a:srgbClr val="000000"/>
                </a:solidFill>
                <a:latin typeface="Consolas" panose="020B0609020204030204" pitchFamily="49" charset="0"/>
              </a:rPr>
              <a:t>    DmaClaSrcSelRegs.</a:t>
            </a:r>
            <a:r>
              <a:rPr lang="en-US" sz="650" dirty="0">
                <a:solidFill>
                  <a:srgbClr val="0000C0"/>
                </a:solidFill>
                <a:latin typeface="Consolas" panose="020B0609020204030204" pitchFamily="49" charset="0"/>
              </a:rPr>
              <a:t>DMACHSRCSELLOCK</a:t>
            </a:r>
            <a:r>
              <a:rPr lang="en-US" sz="650" dirty="0">
                <a:solidFill>
                  <a:srgbClr val="000000"/>
                </a:solidFill>
                <a:latin typeface="Consolas" panose="020B0609020204030204" pitchFamily="49" charset="0"/>
              </a:rPr>
              <a:t>.</a:t>
            </a:r>
            <a:r>
              <a:rPr lang="en-US" sz="650" dirty="0">
                <a:solidFill>
                  <a:srgbClr val="0000C0"/>
                </a:solidFill>
                <a:latin typeface="Consolas" panose="020B0609020204030204" pitchFamily="49" charset="0"/>
              </a:rPr>
              <a:t>bit</a:t>
            </a:r>
            <a:r>
              <a:rPr lang="en-US" sz="650" dirty="0">
                <a:solidFill>
                  <a:srgbClr val="000000"/>
                </a:solidFill>
                <a:latin typeface="Consolas" panose="020B0609020204030204" pitchFamily="49" charset="0"/>
              </a:rPr>
              <a:t>.</a:t>
            </a:r>
            <a:r>
              <a:rPr lang="en-US" sz="650" dirty="0">
                <a:solidFill>
                  <a:srgbClr val="0000C0"/>
                </a:solidFill>
                <a:latin typeface="Consolas" panose="020B0609020204030204" pitchFamily="49" charset="0"/>
              </a:rPr>
              <a:t>DMACHSRCSEL2</a:t>
            </a:r>
            <a:r>
              <a:rPr lang="en-US" sz="650" dirty="0">
                <a:solidFill>
                  <a:srgbClr val="000000"/>
                </a:solidFill>
                <a:latin typeface="Consolas" panose="020B0609020204030204" pitchFamily="49" charset="0"/>
              </a:rPr>
              <a:t> = 0;              </a:t>
            </a:r>
            <a:r>
              <a:rPr lang="en-US" sz="650" dirty="0">
                <a:solidFill>
                  <a:srgbClr val="3F7F5F"/>
                </a:solidFill>
                <a:latin typeface="Consolas" panose="020B0609020204030204" pitchFamily="49" charset="0"/>
              </a:rPr>
              <a:t>// Write a 1 to lock (cannot be cleared once set)</a:t>
            </a:r>
          </a:p>
          <a:p>
            <a:pPr marL="114300" indent="0" algn="l">
              <a:spcBef>
                <a:spcPts val="0"/>
              </a:spcBef>
              <a:buNone/>
            </a:pPr>
            <a:endParaRPr lang="en-US" sz="650" dirty="0">
              <a:latin typeface="Consolas" panose="020B0609020204030204" pitchFamily="49" charset="0"/>
            </a:endParaRPr>
          </a:p>
          <a:p>
            <a:pPr marL="114300" indent="0" algn="l">
              <a:spcBef>
                <a:spcPts val="0"/>
              </a:spcBef>
              <a:buNone/>
            </a:pPr>
            <a:endParaRPr lang="en-US" sz="650" dirty="0">
              <a:latin typeface="Consolas" panose="020B0609020204030204" pitchFamily="49" charset="0"/>
            </a:endParaRPr>
          </a:p>
          <a:p>
            <a:pPr marL="114300" indent="0" algn="l">
              <a:spcBef>
                <a:spcPts val="0"/>
              </a:spcBef>
              <a:buNone/>
            </a:pPr>
            <a:r>
              <a:rPr lang="en-US" sz="650" dirty="0">
                <a:solidFill>
                  <a:srgbClr val="000000"/>
                </a:solidFill>
                <a:latin typeface="Consolas" panose="020B0609020204030204" pitchFamily="49" charset="0"/>
              </a:rPr>
              <a:t>    DmaRegs.</a:t>
            </a:r>
            <a:r>
              <a:rPr lang="en-US" sz="650" dirty="0">
                <a:solidFill>
                  <a:srgbClr val="0000C0"/>
                </a:solidFill>
                <a:latin typeface="Consolas" panose="020B0609020204030204" pitchFamily="49" charset="0"/>
              </a:rPr>
              <a:t>CH1</a:t>
            </a:r>
            <a:r>
              <a:rPr lang="en-US" sz="650" dirty="0">
                <a:solidFill>
                  <a:srgbClr val="000000"/>
                </a:solidFill>
                <a:latin typeface="Consolas" panose="020B0609020204030204" pitchFamily="49" charset="0"/>
              </a:rPr>
              <a:t>.</a:t>
            </a:r>
            <a:r>
              <a:rPr lang="en-US" sz="650" dirty="0">
                <a:solidFill>
                  <a:srgbClr val="0000C0"/>
                </a:solidFill>
                <a:latin typeface="Consolas" panose="020B0609020204030204" pitchFamily="49" charset="0"/>
              </a:rPr>
              <a:t>BURST_SIZE</a:t>
            </a:r>
            <a:r>
              <a:rPr lang="en-US" sz="650" dirty="0">
                <a:solidFill>
                  <a:srgbClr val="000000"/>
                </a:solidFill>
                <a:latin typeface="Consolas" panose="020B0609020204030204" pitchFamily="49" charset="0"/>
              </a:rPr>
              <a:t>.</a:t>
            </a:r>
            <a:r>
              <a:rPr lang="en-US" sz="650" dirty="0">
                <a:solidFill>
                  <a:srgbClr val="0000C0"/>
                </a:solidFill>
                <a:latin typeface="Consolas" panose="020B0609020204030204" pitchFamily="49" charset="0"/>
              </a:rPr>
              <a:t>bit</a:t>
            </a:r>
            <a:r>
              <a:rPr lang="en-US" sz="650" dirty="0">
                <a:solidFill>
                  <a:srgbClr val="000000"/>
                </a:solidFill>
                <a:latin typeface="Consolas" panose="020B0609020204030204" pitchFamily="49" charset="0"/>
              </a:rPr>
              <a:t>.</a:t>
            </a:r>
            <a:r>
              <a:rPr lang="en-US" sz="650" dirty="0">
                <a:solidFill>
                  <a:srgbClr val="0000C0"/>
                </a:solidFill>
                <a:latin typeface="Consolas" panose="020B0609020204030204" pitchFamily="49" charset="0"/>
              </a:rPr>
              <a:t>BURSTSIZE</a:t>
            </a:r>
            <a:r>
              <a:rPr lang="en-US" sz="650" dirty="0">
                <a:solidFill>
                  <a:srgbClr val="000000"/>
                </a:solidFill>
                <a:latin typeface="Consolas" panose="020B0609020204030204" pitchFamily="49" charset="0"/>
              </a:rPr>
              <a:t> = 0;                           </a:t>
            </a:r>
            <a:r>
              <a:rPr lang="en-US" sz="650" dirty="0">
                <a:solidFill>
                  <a:srgbClr val="3F7F5F"/>
                </a:solidFill>
                <a:latin typeface="Consolas" panose="020B0609020204030204" pitchFamily="49" charset="0"/>
              </a:rPr>
              <a:t>// 0 means 1 word per burst</a:t>
            </a:r>
          </a:p>
          <a:p>
            <a:pPr marL="114300" indent="0" algn="l">
              <a:spcBef>
                <a:spcPts val="0"/>
              </a:spcBef>
              <a:buNone/>
            </a:pPr>
            <a:r>
              <a:rPr lang="en-US" sz="650" dirty="0">
                <a:solidFill>
                  <a:srgbClr val="000000"/>
                </a:solidFill>
                <a:latin typeface="Consolas" panose="020B0609020204030204" pitchFamily="49" charset="0"/>
              </a:rPr>
              <a:t>    DmaRegs.</a:t>
            </a:r>
            <a:r>
              <a:rPr lang="en-US" sz="650" dirty="0">
                <a:solidFill>
                  <a:srgbClr val="0000C0"/>
                </a:solidFill>
                <a:latin typeface="Consolas" panose="020B0609020204030204" pitchFamily="49" charset="0"/>
              </a:rPr>
              <a:t>CH1</a:t>
            </a:r>
            <a:r>
              <a:rPr lang="en-US" sz="650" dirty="0">
                <a:solidFill>
                  <a:srgbClr val="000000"/>
                </a:solidFill>
                <a:latin typeface="Consolas" panose="020B0609020204030204" pitchFamily="49" charset="0"/>
              </a:rPr>
              <a:t>.</a:t>
            </a:r>
            <a:r>
              <a:rPr lang="en-US" sz="650" dirty="0">
                <a:solidFill>
                  <a:srgbClr val="0000C0"/>
                </a:solidFill>
                <a:latin typeface="Consolas" panose="020B0609020204030204" pitchFamily="49" charset="0"/>
              </a:rPr>
              <a:t>TRANSFER_SIZE</a:t>
            </a:r>
            <a:r>
              <a:rPr lang="en-US" sz="650" dirty="0">
                <a:solidFill>
                  <a:srgbClr val="000000"/>
                </a:solidFill>
                <a:latin typeface="Consolas" panose="020B0609020204030204" pitchFamily="49" charset="0"/>
              </a:rPr>
              <a:t> = RFFT_SIZE-1;                            </a:t>
            </a:r>
            <a:r>
              <a:rPr lang="en-US" sz="650" dirty="0">
                <a:solidFill>
                  <a:srgbClr val="3F7F5F"/>
                </a:solidFill>
                <a:latin typeface="Consolas" panose="020B0609020204030204" pitchFamily="49" charset="0"/>
              </a:rPr>
              <a:t>// RFFT_SIZE bursts per transfer</a:t>
            </a:r>
          </a:p>
          <a:p>
            <a:pPr marL="114300" indent="0" algn="l">
              <a:spcBef>
                <a:spcPts val="0"/>
              </a:spcBef>
              <a:buNone/>
            </a:pPr>
            <a:endParaRPr lang="en-US" sz="650" dirty="0">
              <a:latin typeface="Consolas" panose="020B0609020204030204" pitchFamily="49" charset="0"/>
            </a:endParaRPr>
          </a:p>
          <a:p>
            <a:pPr marL="114300" indent="0" algn="l">
              <a:spcBef>
                <a:spcPts val="0"/>
              </a:spcBef>
              <a:buNone/>
            </a:pPr>
            <a:r>
              <a:rPr lang="en-US" sz="650" dirty="0">
                <a:solidFill>
                  <a:srgbClr val="000000"/>
                </a:solidFill>
                <a:latin typeface="Consolas" panose="020B0609020204030204" pitchFamily="49" charset="0"/>
              </a:rPr>
              <a:t>    DmaRegs.</a:t>
            </a:r>
            <a:r>
              <a:rPr lang="en-US" sz="650" dirty="0">
                <a:solidFill>
                  <a:srgbClr val="0000C0"/>
                </a:solidFill>
                <a:latin typeface="Consolas" panose="020B0609020204030204" pitchFamily="49" charset="0"/>
              </a:rPr>
              <a:t>CH1</a:t>
            </a:r>
            <a:r>
              <a:rPr lang="en-US" sz="650" dirty="0">
                <a:solidFill>
                  <a:srgbClr val="000000"/>
                </a:solidFill>
                <a:latin typeface="Consolas" panose="020B0609020204030204" pitchFamily="49" charset="0"/>
              </a:rPr>
              <a:t>.</a:t>
            </a:r>
            <a:r>
              <a:rPr lang="en-US" sz="650" dirty="0">
                <a:solidFill>
                  <a:srgbClr val="0000C0"/>
                </a:solidFill>
                <a:latin typeface="Consolas" panose="020B0609020204030204" pitchFamily="49" charset="0"/>
              </a:rPr>
              <a:t>SRC_TRANSFER_STEP</a:t>
            </a:r>
            <a:r>
              <a:rPr lang="en-US" sz="650" dirty="0">
                <a:solidFill>
                  <a:srgbClr val="000000"/>
                </a:solidFill>
                <a:latin typeface="Consolas" panose="020B0609020204030204" pitchFamily="49" charset="0"/>
              </a:rPr>
              <a:t> = 0;                                  </a:t>
            </a:r>
            <a:r>
              <a:rPr lang="en-US" sz="650" dirty="0">
                <a:solidFill>
                  <a:srgbClr val="3F7F5F"/>
                </a:solidFill>
                <a:latin typeface="Consolas" panose="020B0609020204030204" pitchFamily="49" charset="0"/>
              </a:rPr>
              <a:t>// 0 means add 0 to pointer each burst in a transfer</a:t>
            </a:r>
          </a:p>
          <a:p>
            <a:pPr marL="114300" indent="0" algn="l">
              <a:spcBef>
                <a:spcPts val="0"/>
              </a:spcBef>
              <a:buNone/>
            </a:pPr>
            <a:r>
              <a:rPr lang="en-US" sz="650" dirty="0">
                <a:solidFill>
                  <a:srgbClr val="000000"/>
                </a:solidFill>
                <a:latin typeface="Consolas" panose="020B0609020204030204" pitchFamily="49" charset="0"/>
              </a:rPr>
              <a:t>    DmaRegs.</a:t>
            </a:r>
            <a:r>
              <a:rPr lang="en-US" sz="650" dirty="0">
                <a:solidFill>
                  <a:srgbClr val="0000C0"/>
                </a:solidFill>
                <a:latin typeface="Consolas" panose="020B0609020204030204" pitchFamily="49" charset="0"/>
              </a:rPr>
              <a:t>CH1</a:t>
            </a:r>
            <a:r>
              <a:rPr lang="en-US" sz="650" dirty="0">
                <a:solidFill>
                  <a:srgbClr val="000000"/>
                </a:solidFill>
                <a:latin typeface="Consolas" panose="020B0609020204030204" pitchFamily="49" charset="0"/>
              </a:rPr>
              <a:t>.</a:t>
            </a:r>
            <a:r>
              <a:rPr lang="en-US" sz="650" dirty="0">
                <a:solidFill>
                  <a:srgbClr val="0000C0"/>
                </a:solidFill>
                <a:latin typeface="Consolas" panose="020B0609020204030204" pitchFamily="49" charset="0"/>
              </a:rPr>
              <a:t>SRC_ADDR_SHADOW</a:t>
            </a:r>
            <a:r>
              <a:rPr lang="en-US" sz="650" dirty="0">
                <a:solidFill>
                  <a:srgbClr val="000000"/>
                </a:solidFill>
                <a:latin typeface="Consolas" panose="020B0609020204030204" pitchFamily="49" charset="0"/>
              </a:rPr>
              <a:t> = (</a:t>
            </a:r>
            <a:r>
              <a:rPr lang="en-US" sz="650" dirty="0">
                <a:solidFill>
                  <a:srgbClr val="005032"/>
                </a:solidFill>
                <a:latin typeface="Consolas" panose="020B0609020204030204" pitchFamily="49" charset="0"/>
              </a:rPr>
              <a:t>Uint32</a:t>
            </a:r>
            <a:r>
              <a:rPr lang="en-US" sz="650" dirty="0">
                <a:solidFill>
                  <a:srgbClr val="000000"/>
                </a:solidFill>
                <a:latin typeface="Consolas" panose="020B0609020204030204" pitchFamily="49" charset="0"/>
              </a:rPr>
              <a:t>)&amp;AdcbResultRegs.</a:t>
            </a:r>
            <a:r>
              <a:rPr lang="en-US" sz="650" dirty="0">
                <a:solidFill>
                  <a:srgbClr val="0000C0"/>
                </a:solidFill>
                <a:latin typeface="Consolas" panose="020B0609020204030204" pitchFamily="49" charset="0"/>
              </a:rPr>
              <a:t>ADCRESULT0</a:t>
            </a:r>
            <a:r>
              <a:rPr lang="en-US" sz="650" dirty="0">
                <a:solidFill>
                  <a:srgbClr val="000000"/>
                </a:solidFill>
                <a:latin typeface="Consolas" panose="020B0609020204030204" pitchFamily="49" charset="0"/>
              </a:rPr>
              <a:t>;   </a:t>
            </a:r>
            <a:r>
              <a:rPr lang="en-US" sz="650" dirty="0">
                <a:solidFill>
                  <a:srgbClr val="3F7F5F"/>
                </a:solidFill>
                <a:latin typeface="Consolas" panose="020B0609020204030204" pitchFamily="49" charset="0"/>
              </a:rPr>
              <a:t>// SRC start address</a:t>
            </a:r>
          </a:p>
          <a:p>
            <a:pPr marL="114300" indent="0" algn="l">
              <a:spcBef>
                <a:spcPts val="0"/>
              </a:spcBef>
              <a:buNone/>
            </a:pPr>
            <a:endParaRPr lang="en-US" sz="650" dirty="0">
              <a:latin typeface="Consolas" panose="020B0609020204030204" pitchFamily="49" charset="0"/>
            </a:endParaRPr>
          </a:p>
          <a:p>
            <a:pPr marL="114300" indent="0" algn="l">
              <a:spcBef>
                <a:spcPts val="0"/>
              </a:spcBef>
              <a:buNone/>
            </a:pPr>
            <a:r>
              <a:rPr lang="en-US" sz="650" dirty="0">
                <a:solidFill>
                  <a:srgbClr val="000000"/>
                </a:solidFill>
                <a:latin typeface="Consolas" panose="020B0609020204030204" pitchFamily="49" charset="0"/>
              </a:rPr>
              <a:t>    DmaRegs.</a:t>
            </a:r>
            <a:r>
              <a:rPr lang="en-US" sz="650" dirty="0">
                <a:solidFill>
                  <a:srgbClr val="0000C0"/>
                </a:solidFill>
                <a:latin typeface="Consolas" panose="020B0609020204030204" pitchFamily="49" charset="0"/>
              </a:rPr>
              <a:t>CH1</a:t>
            </a:r>
            <a:r>
              <a:rPr lang="en-US" sz="650" dirty="0">
                <a:solidFill>
                  <a:srgbClr val="000000"/>
                </a:solidFill>
                <a:latin typeface="Consolas" panose="020B0609020204030204" pitchFamily="49" charset="0"/>
              </a:rPr>
              <a:t>.</a:t>
            </a:r>
            <a:r>
              <a:rPr lang="en-US" sz="650" dirty="0">
                <a:solidFill>
                  <a:srgbClr val="0000C0"/>
                </a:solidFill>
                <a:latin typeface="Consolas" panose="020B0609020204030204" pitchFamily="49" charset="0"/>
              </a:rPr>
              <a:t>DST_TRANSFER_STEP</a:t>
            </a:r>
            <a:r>
              <a:rPr lang="en-US" sz="650" dirty="0">
                <a:solidFill>
                  <a:srgbClr val="000000"/>
                </a:solidFill>
                <a:latin typeface="Consolas" panose="020B0609020204030204" pitchFamily="49" charset="0"/>
              </a:rPr>
              <a:t> = 1;                                  </a:t>
            </a:r>
            <a:r>
              <a:rPr lang="en-US" sz="650" dirty="0">
                <a:solidFill>
                  <a:srgbClr val="3F7F5F"/>
                </a:solidFill>
                <a:latin typeface="Consolas" panose="020B0609020204030204" pitchFamily="49" charset="0"/>
              </a:rPr>
              <a:t>// 1 = add 1 to pointer each burst in a transfer</a:t>
            </a:r>
          </a:p>
          <a:p>
            <a:pPr marL="114300" indent="0" algn="l">
              <a:spcBef>
                <a:spcPts val="0"/>
              </a:spcBef>
              <a:buNone/>
            </a:pPr>
            <a:r>
              <a:rPr lang="en-US" sz="650" dirty="0">
                <a:solidFill>
                  <a:srgbClr val="000000"/>
                </a:solidFill>
                <a:latin typeface="Consolas" panose="020B0609020204030204" pitchFamily="49" charset="0"/>
              </a:rPr>
              <a:t>    DmaRegs.</a:t>
            </a:r>
            <a:r>
              <a:rPr lang="en-US" sz="650" dirty="0">
                <a:solidFill>
                  <a:srgbClr val="0000C0"/>
                </a:solidFill>
                <a:latin typeface="Consolas" panose="020B0609020204030204" pitchFamily="49" charset="0"/>
              </a:rPr>
              <a:t>CH1</a:t>
            </a:r>
            <a:r>
              <a:rPr lang="en-US" sz="650" dirty="0">
                <a:solidFill>
                  <a:srgbClr val="000000"/>
                </a:solidFill>
                <a:latin typeface="Consolas" panose="020B0609020204030204" pitchFamily="49" charset="0"/>
              </a:rPr>
              <a:t>.</a:t>
            </a:r>
            <a:r>
              <a:rPr lang="en-US" sz="650" dirty="0">
                <a:solidFill>
                  <a:srgbClr val="0000C0"/>
                </a:solidFill>
                <a:latin typeface="Consolas" panose="020B0609020204030204" pitchFamily="49" charset="0"/>
              </a:rPr>
              <a:t>DST_ADDR_SHADOW</a:t>
            </a:r>
            <a:r>
              <a:rPr lang="en-US" sz="650" dirty="0">
                <a:solidFill>
                  <a:srgbClr val="000000"/>
                </a:solidFill>
                <a:latin typeface="Consolas" panose="020B0609020204030204" pitchFamily="49" charset="0"/>
              </a:rPr>
              <a:t> = (</a:t>
            </a:r>
            <a:r>
              <a:rPr lang="en-US" sz="650" dirty="0">
                <a:solidFill>
                  <a:srgbClr val="005032"/>
                </a:solidFill>
                <a:latin typeface="Consolas" panose="020B0609020204030204" pitchFamily="49" charset="0"/>
              </a:rPr>
              <a:t>Uint32</a:t>
            </a:r>
            <a:r>
              <a:rPr lang="en-US" sz="650" dirty="0">
                <a:solidFill>
                  <a:srgbClr val="000000"/>
                </a:solidFill>
                <a:latin typeface="Consolas" panose="020B0609020204030204" pitchFamily="49" charset="0"/>
              </a:rPr>
              <a:t>)</a:t>
            </a:r>
            <a:r>
              <a:rPr lang="en-US" sz="650" dirty="0" err="1">
                <a:solidFill>
                  <a:srgbClr val="000000"/>
                </a:solidFill>
                <a:latin typeface="Consolas" panose="020B0609020204030204" pitchFamily="49" charset="0"/>
              </a:rPr>
              <a:t>AdcPingBufRaw</a:t>
            </a:r>
            <a:r>
              <a:rPr lang="en-US" sz="650" dirty="0">
                <a:solidFill>
                  <a:srgbClr val="000000"/>
                </a:solidFill>
                <a:latin typeface="Consolas" panose="020B0609020204030204" pitchFamily="49" charset="0"/>
              </a:rPr>
              <a:t>;                </a:t>
            </a:r>
            <a:r>
              <a:rPr lang="en-US" sz="650" dirty="0">
                <a:solidFill>
                  <a:srgbClr val="3F7F5F"/>
                </a:solidFill>
                <a:latin typeface="Consolas" panose="020B0609020204030204" pitchFamily="49" charset="0"/>
              </a:rPr>
              <a:t>// DST start address Ping buffer</a:t>
            </a:r>
          </a:p>
          <a:p>
            <a:pPr marL="114300" indent="0" algn="l">
              <a:spcBef>
                <a:spcPts val="0"/>
              </a:spcBef>
              <a:buNone/>
            </a:pPr>
            <a:endParaRPr lang="en-US" sz="650" dirty="0">
              <a:latin typeface="Consolas" panose="020B0609020204030204" pitchFamily="49" charset="0"/>
            </a:endParaRPr>
          </a:p>
          <a:p>
            <a:pPr marL="114300" indent="0" algn="l">
              <a:spcBef>
                <a:spcPts val="0"/>
              </a:spcBef>
              <a:buNone/>
            </a:pPr>
            <a:endParaRPr lang="en-US" sz="650" dirty="0">
              <a:latin typeface="Consolas" panose="020B0609020204030204" pitchFamily="49" charset="0"/>
            </a:endParaRPr>
          </a:p>
          <a:p>
            <a:pPr marL="114300" indent="0" algn="l">
              <a:spcBef>
                <a:spcPts val="0"/>
              </a:spcBef>
              <a:buNone/>
            </a:pPr>
            <a:r>
              <a:rPr lang="en-US" sz="650" dirty="0">
                <a:solidFill>
                  <a:srgbClr val="000000"/>
                </a:solidFill>
                <a:latin typeface="Consolas" panose="020B0609020204030204" pitchFamily="49" charset="0"/>
              </a:rPr>
              <a:t>    DmaRegs.</a:t>
            </a:r>
            <a:r>
              <a:rPr lang="en-US" sz="650" dirty="0">
                <a:solidFill>
                  <a:srgbClr val="0000C0"/>
                </a:solidFill>
                <a:latin typeface="Consolas" panose="020B0609020204030204" pitchFamily="49" charset="0"/>
              </a:rPr>
              <a:t>CH1</a:t>
            </a:r>
            <a:r>
              <a:rPr lang="en-US" sz="650" dirty="0">
                <a:solidFill>
                  <a:srgbClr val="000000"/>
                </a:solidFill>
                <a:latin typeface="Consolas" panose="020B0609020204030204" pitchFamily="49" charset="0"/>
              </a:rPr>
              <a:t>.</a:t>
            </a:r>
            <a:r>
              <a:rPr lang="en-US" sz="650" dirty="0">
                <a:solidFill>
                  <a:srgbClr val="0000C0"/>
                </a:solidFill>
                <a:latin typeface="Consolas" panose="020B0609020204030204" pitchFamily="49" charset="0"/>
              </a:rPr>
              <a:t>CONTROL</a:t>
            </a:r>
            <a:r>
              <a:rPr lang="en-US" sz="650" dirty="0">
                <a:solidFill>
                  <a:srgbClr val="000000"/>
                </a:solidFill>
                <a:latin typeface="Consolas" panose="020B0609020204030204" pitchFamily="49" charset="0"/>
              </a:rPr>
              <a:t>.</a:t>
            </a:r>
            <a:r>
              <a:rPr lang="en-US" sz="650" dirty="0">
                <a:solidFill>
                  <a:srgbClr val="0000C0"/>
                </a:solidFill>
                <a:latin typeface="Consolas" panose="020B0609020204030204" pitchFamily="49" charset="0"/>
              </a:rPr>
              <a:t>all</a:t>
            </a:r>
            <a:r>
              <a:rPr lang="en-US" sz="650" dirty="0">
                <a:solidFill>
                  <a:srgbClr val="000000"/>
                </a:solidFill>
                <a:latin typeface="Consolas" panose="020B0609020204030204" pitchFamily="49" charset="0"/>
              </a:rPr>
              <a:t> = 0x0091; </a:t>
            </a:r>
            <a:r>
              <a:rPr lang="en-US" sz="650" dirty="0">
                <a:solidFill>
                  <a:srgbClr val="3F7F5F"/>
                </a:solidFill>
                <a:latin typeface="Consolas" panose="020B0609020204030204" pitchFamily="49" charset="0"/>
              </a:rPr>
              <a:t>//good</a:t>
            </a:r>
          </a:p>
          <a:p>
            <a:pPr marL="114300" indent="0" algn="l">
              <a:spcBef>
                <a:spcPts val="0"/>
              </a:spcBef>
              <a:buNone/>
            </a:pPr>
            <a:r>
              <a:rPr lang="en-US" sz="650" dirty="0">
                <a:solidFill>
                  <a:srgbClr val="3F7F5F"/>
                </a:solidFill>
                <a:latin typeface="Consolas" panose="020B0609020204030204" pitchFamily="49" charset="0"/>
              </a:rPr>
              <a:t>    // 0x0091 = 1001 0001</a:t>
            </a:r>
          </a:p>
          <a:p>
            <a:pPr marL="114300" indent="0" algn="l">
              <a:spcBef>
                <a:spcPts val="0"/>
              </a:spcBef>
              <a:buNone/>
            </a:pPr>
            <a:r>
              <a:rPr lang="en-US" sz="650" dirty="0">
                <a:solidFill>
                  <a:srgbClr val="000000"/>
                </a:solidFill>
                <a:latin typeface="Consolas" panose="020B0609020204030204" pitchFamily="49" charset="0"/>
              </a:rPr>
              <a:t>    </a:t>
            </a:r>
            <a:r>
              <a:rPr lang="en-US" sz="650" dirty="0">
                <a:solidFill>
                  <a:srgbClr val="3F7F5F"/>
                </a:solidFill>
                <a:latin typeface="Consolas" panose="020B0609020204030204" pitchFamily="49" charset="0"/>
              </a:rPr>
              <a:t>// ERRCLR = clear SYNCERR bit</a:t>
            </a:r>
          </a:p>
          <a:p>
            <a:pPr marL="114300" indent="0" algn="l">
              <a:spcBef>
                <a:spcPts val="0"/>
              </a:spcBef>
              <a:buNone/>
            </a:pPr>
            <a:r>
              <a:rPr lang="en-US" sz="650" dirty="0">
                <a:solidFill>
                  <a:srgbClr val="000000"/>
                </a:solidFill>
                <a:latin typeface="Consolas" panose="020B0609020204030204" pitchFamily="49" charset="0"/>
              </a:rPr>
              <a:t>    </a:t>
            </a:r>
            <a:r>
              <a:rPr lang="en-US" sz="650" dirty="0">
                <a:solidFill>
                  <a:srgbClr val="3F7F5F"/>
                </a:solidFill>
                <a:latin typeface="Consolas" panose="020B0609020204030204" pitchFamily="49" charset="0"/>
              </a:rPr>
              <a:t>// PERINTCLR = clear </a:t>
            </a:r>
            <a:r>
              <a:rPr lang="en-US" sz="650" u="sng" dirty="0" err="1">
                <a:solidFill>
                  <a:srgbClr val="3F7F5F"/>
                </a:solidFill>
                <a:latin typeface="Consolas" panose="020B0609020204030204" pitchFamily="49" charset="0"/>
              </a:rPr>
              <a:t>periph</a:t>
            </a:r>
            <a:r>
              <a:rPr lang="en-US" sz="650" u="sng" dirty="0">
                <a:solidFill>
                  <a:srgbClr val="3F7F5F"/>
                </a:solidFill>
                <a:latin typeface="Consolas" panose="020B0609020204030204" pitchFamily="49" charset="0"/>
              </a:rPr>
              <a:t> event</a:t>
            </a:r>
          </a:p>
          <a:p>
            <a:pPr marL="114300" indent="0" algn="l">
              <a:spcBef>
                <a:spcPts val="0"/>
              </a:spcBef>
              <a:buNone/>
            </a:pPr>
            <a:r>
              <a:rPr lang="en-US" sz="650" dirty="0">
                <a:solidFill>
                  <a:srgbClr val="000000"/>
                </a:solidFill>
                <a:latin typeface="Consolas" panose="020B0609020204030204" pitchFamily="49" charset="0"/>
              </a:rPr>
              <a:t>    </a:t>
            </a:r>
            <a:r>
              <a:rPr lang="en-US" sz="650" dirty="0">
                <a:solidFill>
                  <a:srgbClr val="3F7F5F"/>
                </a:solidFill>
                <a:latin typeface="Consolas" panose="020B0609020204030204" pitchFamily="49" charset="0"/>
              </a:rPr>
              <a:t>// RUN = Enable channel</a:t>
            </a:r>
          </a:p>
          <a:p>
            <a:pPr marL="114300" indent="0" algn="l">
              <a:spcBef>
                <a:spcPts val="0"/>
              </a:spcBef>
              <a:buNone/>
            </a:pPr>
            <a:endParaRPr lang="en-US" sz="650" dirty="0">
              <a:latin typeface="Consolas" panose="020B0609020204030204" pitchFamily="49" charset="0"/>
            </a:endParaRPr>
          </a:p>
          <a:p>
            <a:pPr marL="114300" indent="0" algn="l">
              <a:spcBef>
                <a:spcPts val="0"/>
              </a:spcBef>
              <a:buNone/>
            </a:pPr>
            <a:r>
              <a:rPr lang="en-US" sz="650" dirty="0">
                <a:solidFill>
                  <a:srgbClr val="000000"/>
                </a:solidFill>
                <a:latin typeface="Consolas" panose="020B0609020204030204" pitchFamily="49" charset="0"/>
              </a:rPr>
              <a:t>    </a:t>
            </a:r>
            <a:r>
              <a:rPr lang="en-US" sz="650" dirty="0">
                <a:solidFill>
                  <a:srgbClr val="3F7F5F"/>
                </a:solidFill>
                <a:latin typeface="Consolas" panose="020B0609020204030204" pitchFamily="49" charset="0"/>
              </a:rPr>
              <a:t>//--- Finish up</a:t>
            </a:r>
          </a:p>
          <a:p>
            <a:pPr marL="114300" indent="0" algn="l">
              <a:spcBef>
                <a:spcPts val="0"/>
              </a:spcBef>
              <a:buNone/>
            </a:pPr>
            <a:r>
              <a:rPr lang="en-US" sz="650" dirty="0">
                <a:solidFill>
                  <a:srgbClr val="000000"/>
                </a:solidFill>
                <a:latin typeface="Consolas" panose="020B0609020204030204" pitchFamily="49" charset="0"/>
              </a:rPr>
              <a:t>    EDIS;</a:t>
            </a:r>
          </a:p>
          <a:p>
            <a:pPr marL="114300" indent="0" algn="l">
              <a:spcBef>
                <a:spcPts val="0"/>
              </a:spcBef>
              <a:buNone/>
            </a:pPr>
            <a:endParaRPr lang="en-US" sz="650" dirty="0">
              <a:latin typeface="Consolas" panose="020B0609020204030204" pitchFamily="49" charset="0"/>
            </a:endParaRPr>
          </a:p>
          <a:p>
            <a:pPr marL="114300" indent="0" algn="l">
              <a:spcBef>
                <a:spcPts val="0"/>
              </a:spcBef>
              <a:buNone/>
            </a:pPr>
            <a:r>
              <a:rPr lang="en-US" sz="650" dirty="0">
                <a:solidFill>
                  <a:srgbClr val="000000"/>
                </a:solidFill>
                <a:latin typeface="Consolas" panose="020B0609020204030204" pitchFamily="49" charset="0"/>
              </a:rPr>
              <a:t>    PieCtrlRegs.</a:t>
            </a:r>
            <a:r>
              <a:rPr lang="en-US" sz="650" dirty="0">
                <a:solidFill>
                  <a:srgbClr val="0000C0"/>
                </a:solidFill>
                <a:latin typeface="Consolas" panose="020B0609020204030204" pitchFamily="49" charset="0"/>
              </a:rPr>
              <a:t>PIEIER7</a:t>
            </a:r>
            <a:r>
              <a:rPr lang="en-US" sz="650" dirty="0">
                <a:solidFill>
                  <a:srgbClr val="000000"/>
                </a:solidFill>
                <a:latin typeface="Consolas" panose="020B0609020204030204" pitchFamily="49" charset="0"/>
              </a:rPr>
              <a:t>.</a:t>
            </a:r>
            <a:r>
              <a:rPr lang="en-US" sz="650" dirty="0">
                <a:solidFill>
                  <a:srgbClr val="0000C0"/>
                </a:solidFill>
                <a:latin typeface="Consolas" panose="020B0609020204030204" pitchFamily="49" charset="0"/>
              </a:rPr>
              <a:t>bit</a:t>
            </a:r>
            <a:r>
              <a:rPr lang="en-US" sz="650" dirty="0">
                <a:solidFill>
                  <a:srgbClr val="000000"/>
                </a:solidFill>
                <a:latin typeface="Consolas" panose="020B0609020204030204" pitchFamily="49" charset="0"/>
              </a:rPr>
              <a:t>.</a:t>
            </a:r>
            <a:r>
              <a:rPr lang="en-US" sz="650" dirty="0">
                <a:solidFill>
                  <a:srgbClr val="0000C0"/>
                </a:solidFill>
                <a:latin typeface="Consolas" panose="020B0609020204030204" pitchFamily="49" charset="0"/>
              </a:rPr>
              <a:t>INTx1</a:t>
            </a:r>
            <a:r>
              <a:rPr lang="en-US" sz="650" dirty="0">
                <a:solidFill>
                  <a:srgbClr val="000000"/>
                </a:solidFill>
                <a:latin typeface="Consolas" panose="020B0609020204030204" pitchFamily="49" charset="0"/>
              </a:rPr>
              <a:t> = 1;  </a:t>
            </a:r>
            <a:r>
              <a:rPr lang="en-US" sz="650" dirty="0">
                <a:solidFill>
                  <a:srgbClr val="3F7F5F"/>
                </a:solidFill>
                <a:latin typeface="Consolas" panose="020B0609020204030204" pitchFamily="49" charset="0"/>
              </a:rPr>
              <a:t>// Enable DINTCH1 in PIE group 7</a:t>
            </a:r>
          </a:p>
          <a:p>
            <a:pPr marL="114300" indent="0" algn="l">
              <a:spcBef>
                <a:spcPts val="0"/>
              </a:spcBef>
              <a:buNone/>
            </a:pPr>
            <a:r>
              <a:rPr lang="en-US" sz="650" dirty="0">
                <a:solidFill>
                  <a:srgbClr val="000000"/>
                </a:solidFill>
                <a:latin typeface="Consolas" panose="020B0609020204030204" pitchFamily="49" charset="0"/>
              </a:rPr>
              <a:t>    IER |= M_INT7;                      </a:t>
            </a:r>
            <a:r>
              <a:rPr lang="en-US" sz="650" dirty="0">
                <a:solidFill>
                  <a:srgbClr val="3F7F5F"/>
                </a:solidFill>
                <a:latin typeface="Consolas" panose="020B0609020204030204" pitchFamily="49" charset="0"/>
              </a:rPr>
              <a:t>// Enable INT7 in IER to enable PIE group</a:t>
            </a:r>
            <a:endParaRPr lang="en-US" sz="650" dirty="0">
              <a:latin typeface="Consolas" panose="020B0609020204030204" pitchFamily="49" charset="0"/>
            </a:endParaRPr>
          </a:p>
          <a:p>
            <a:pPr marL="114300" indent="0" algn="l">
              <a:spcBef>
                <a:spcPts val="0"/>
              </a:spcBef>
              <a:buNone/>
            </a:pPr>
            <a:r>
              <a:rPr lang="en-US" sz="650" dirty="0">
                <a:solidFill>
                  <a:srgbClr val="000000"/>
                </a:solidFill>
                <a:latin typeface="Consolas" panose="020B0609020204030204" pitchFamily="49" charset="0"/>
              </a:rPr>
              <a:t>}</a:t>
            </a:r>
            <a:endParaRPr lang="en-US" sz="650" dirty="0">
              <a:solidFill>
                <a:schemeClr val="tx1"/>
              </a:solidFill>
              <a:latin typeface="Atkinson Hyperlegible Next"/>
              <a:cs typeface="Arial"/>
              <a:sym typeface="Arial"/>
            </a:endParaRPr>
          </a:p>
        </p:txBody>
      </p:sp>
      <p:sp>
        <p:nvSpPr>
          <p:cNvPr id="119" name="Google Shape;119;p29">
            <a:extLst>
              <a:ext uri="{FF2B5EF4-FFF2-40B4-BE49-F238E27FC236}">
                <a16:creationId xmlns:a16="http://schemas.microsoft.com/office/drawing/2014/main" id="{9F8559D3-A721-EEFF-24F7-6B8CF6B91B8F}"/>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DEAA1A60-A0F9-5976-1662-D67650F2CD9C}"/>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FFT Code - Setup</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7BAF46EA-8873-7920-9979-5B2CE5003C75}"/>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ADD3E721-470D-B30A-4306-511BB5D839B5}"/>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736F5B39-8BB2-B41C-12DD-421C6020642A}"/>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EBB26AD4-4059-5777-B408-9A02F0F288A9}"/>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AC39D35C-2C68-3D3D-E41B-C86E2A0D9C75}"/>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2380AD54-6AD7-F664-7488-328D5FE5E2BC}"/>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923610801"/>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263">
          <a:extLst>
            <a:ext uri="{FF2B5EF4-FFF2-40B4-BE49-F238E27FC236}">
              <a16:creationId xmlns:a16="http://schemas.microsoft.com/office/drawing/2014/main" id="{21EFC660-AB20-D2F7-17A7-CBB2311016D2}"/>
            </a:ext>
          </a:extLst>
        </p:cNvPr>
        <p:cNvGrpSpPr/>
        <p:nvPr/>
      </p:nvGrpSpPr>
      <p:grpSpPr>
        <a:xfrm>
          <a:off x="0" y="0"/>
          <a:ext cx="0" cy="0"/>
          <a:chOff x="0" y="0"/>
          <a:chExt cx="0" cy="0"/>
        </a:xfrm>
      </p:grpSpPr>
      <p:sp>
        <p:nvSpPr>
          <p:cNvPr id="264" name="Google Shape;264;p37">
            <a:extLst>
              <a:ext uri="{FF2B5EF4-FFF2-40B4-BE49-F238E27FC236}">
                <a16:creationId xmlns:a16="http://schemas.microsoft.com/office/drawing/2014/main" id="{C4B0BCE8-817D-6DB8-2C03-2DEF1419A603}"/>
              </a:ext>
            </a:extLst>
          </p:cNvPr>
          <p:cNvSpPr/>
          <p:nvPr>
            <p:ph type="title"/>
          </p:nvPr>
        </p:nvSpPr>
        <p:spPr>
          <a:xfrm>
            <a:off x="589449" y="687697"/>
            <a:ext cx="10602506" cy="5274796"/>
          </a:xfrm>
          <a:prstGeom prst="rect">
            <a:avLst/>
          </a:prstGeom>
          <a:noFill/>
          <a:ln>
            <a:noFill/>
          </a:ln>
        </p:spPr>
        <p:txBody>
          <a:bodyPr spcFirstLastPara="1" wrap="square" lIns="91425" tIns="45700" rIns="91425" bIns="45700" anchor="ctr" anchorCtr="0">
            <a:noAutofit/>
          </a:bodyPr>
          <a:lstStyle/>
          <a:p>
            <a:pPr lvl="0" algn="ctr">
              <a:lnSpc>
                <a:spcPct val="100000"/>
              </a:lnSpc>
              <a:spcBef>
                <a:spcPts val="0"/>
              </a:spcBef>
              <a:spcAft>
                <a:spcPts val="0"/>
              </a:spcAft>
            </a:pPr>
            <a:r>
              <a:rPr i="0" lang="en-US" sz="4000" b="1" dirty="0">
                <a:solidFill>
                  <a:schemeClr val="lt1"/>
                </a:solidFill>
              </a:rPr>
              <a:t>All that’s really happening is that we u</a:t>
            </a:r>
            <a:r>
              <a:rPr i="0" lang="en-US" sz="4000" b="1" dirty="0">
                <a:solidFill>
                  <a:schemeClr val="bg1"/>
                </a:solidFill>
              </a:rPr>
              <a:t>se </a:t>
            </a:r>
            <a:r>
              <a:rPr i="0" lang="en-US" sz="4000" b="1" dirty="0" err="1">
                <a:solidFill>
                  <a:schemeClr val="bg1"/>
                </a:solidFill>
              </a:rPr>
              <a:t>ePWM</a:t>
            </a:r>
            <a:r>
              <a:rPr i="0" lang="en-US" sz="4000" b="1" dirty="0">
                <a:solidFill>
                  <a:schemeClr val="bg1"/>
                </a:solidFill>
              </a:rPr>
              <a:t> as a deterministic timer to trigger the ADC, which then feeds into the DMA until the buffer is populated!</a:t>
            </a:r>
            <a:endParaRPr i="0" lang="en-US" sz="3200" b="1" dirty="0">
              <a:solidFill>
                <a:schemeClr val="bg1"/>
              </a:solidFill>
            </a:endParaRPr>
          </a:p>
        </p:txBody>
      </p:sp>
      <p:pic>
        <p:nvPicPr>
          <p:cNvPr id="265" name="Google Shape;265;p37">
            <a:extLst>
              <a:ext uri="{C183D7F6-B498-43B3-948B-1728B52AA6E4}">
                <adec:decorative xmlns:adec="http://schemas.microsoft.com/office/drawing/2017/decorative" val="1"/>
              </a:ext>
              <a:ext uri="{FF2B5EF4-FFF2-40B4-BE49-F238E27FC236}">
                <a16:creationId xmlns:a16="http://schemas.microsoft.com/office/drawing/2014/main" id="{21F686F3-535F-4CB4-F985-CB16F7E816E4}"/>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266" name="Google Shape;266;p37">
            <a:extLst>
              <a:ext uri="{FF2B5EF4-FFF2-40B4-BE49-F238E27FC236}">
                <a16:creationId xmlns:a16="http://schemas.microsoft.com/office/drawing/2014/main" id="{18D13090-8966-E1A3-79FD-CFE861E6B36A}"/>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chemeClr val="lt1"/>
                </a:solidFill>
                <a:latin typeface="Atkinson Hyperlegible Next"/>
                <a:ea typeface="Arial"/>
                <a:cs typeface="Arial"/>
                <a:sym typeface="Arial"/>
              </a:rPr>
              <a:t>GRAINGER ENGINEERING</a:t>
            </a:r>
            <a:endParaRPr/>
          </a:p>
        </p:txBody>
      </p:sp>
      <p:sp>
        <p:nvSpPr>
          <p:cNvPr id="267" name="Google Shape;267;p37">
            <a:extLst>
              <a:ext uri="{FF2B5EF4-FFF2-40B4-BE49-F238E27FC236}">
                <a16:creationId xmlns:a16="http://schemas.microsoft.com/office/drawing/2014/main" id="{1D1EFC61-A0C1-46CB-7643-2E8383DD0D93}"/>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chemeClr val="lt1"/>
                </a:solidFill>
              </a:rPr>
              <a:t>SYSTEMS ENGINEERING </a:t>
            </a:r>
            <a:endParaRPr dirty="0"/>
          </a:p>
        </p:txBody>
      </p:sp>
      <p:grpSp>
        <p:nvGrpSpPr>
          <p:cNvPr id="268" name="Google Shape;268;p37">
            <a:extLst>
              <a:ext uri="{FF2B5EF4-FFF2-40B4-BE49-F238E27FC236}">
                <a16:creationId xmlns:a16="http://schemas.microsoft.com/office/drawing/2014/main" id="{C0DF0D97-0E72-1171-56ED-1640C5D7E5B0}"/>
              </a:ext>
            </a:extLst>
          </p:cNvPr>
          <p:cNvGrpSpPr/>
          <p:nvPr/>
        </p:nvGrpSpPr>
        <p:grpSpPr>
          <a:xfrm>
            <a:off x="4066674" y="6601537"/>
            <a:ext cx="5233412" cy="70446"/>
            <a:chOff x="4033424" y="6601537"/>
            <a:chExt cx="5233412" cy="70446"/>
          </a:xfrm>
        </p:grpSpPr>
        <p:cxnSp>
          <p:nvCxnSpPr>
            <p:cNvPr id="269" name="Google Shape;269;p37">
              <a:extLst>
                <a:ext uri="{FF2B5EF4-FFF2-40B4-BE49-F238E27FC236}">
                  <a16:creationId xmlns:a16="http://schemas.microsoft.com/office/drawing/2014/main" id="{F83459AA-7F5A-29B9-DA37-D96BA53E5155}"/>
                </a:ext>
              </a:extLst>
            </p:cNvPr>
            <p:cNvCxnSpPr/>
            <p:nvPr/>
          </p:nvCxnSpPr>
          <p:spPr>
            <a:xfrm rot="10800000">
              <a:off x="4033424" y="6639606"/>
              <a:ext cx="5164651" cy="0"/>
            </a:xfrm>
            <a:prstGeom prst="straightConnector1">
              <a:avLst/>
            </a:prstGeom>
            <a:noFill/>
            <a:ln w="9525" cap="flat" cmpd="sng">
              <a:solidFill>
                <a:schemeClr val="lt1"/>
              </a:solidFill>
              <a:prstDash val="solid"/>
              <a:round/>
              <a:headEnd type="none" w="sm" len="sm"/>
              <a:tailEnd type="none" w="sm" len="sm"/>
            </a:ln>
          </p:spPr>
        </p:cxnSp>
        <p:sp>
          <p:nvSpPr>
            <p:cNvPr id="270" name="Google Shape;270;p37">
              <a:extLst>
                <a:ext uri="{FF2B5EF4-FFF2-40B4-BE49-F238E27FC236}">
                  <a16:creationId xmlns:a16="http://schemas.microsoft.com/office/drawing/2014/main" id="{BC3E9608-C00B-A03F-B8D1-08C98846A189}"/>
                </a:ext>
              </a:extLst>
            </p:cNvPr>
            <p:cNvSpPr/>
            <p:nvPr/>
          </p:nvSpPr>
          <p:spPr>
            <a:xfrm>
              <a:off x="9196390" y="6601537"/>
              <a:ext cx="70446" cy="70446"/>
            </a:xfrm>
            <a:prstGeom prst="ellipse">
              <a:avLst/>
            </a:prstGeom>
            <a:solidFill>
              <a:schemeClr val="lt1"/>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chemeClr val="lt1"/>
                </a:solidFill>
                <a:latin typeface="Atkinson Hyperlegible Next"/>
                <a:ea typeface="Arial"/>
                <a:cs typeface="Arial"/>
                <a:sym typeface="Arial"/>
              </a:endParaRPr>
            </a:p>
          </p:txBody>
        </p:sp>
      </p:grpSp>
    </p:spTree>
    <p:extLst>
      <p:ext uri="{BB962C8B-B14F-4D97-AF65-F5344CB8AC3E}">
        <p14:creationId xmlns:p14="http://schemas.microsoft.com/office/powerpoint/2010/main" val="2478556549"/>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31F3C5B9-E0F4-BB26-D61A-D0732DC631EE}"/>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34E44202-8AB7-0DFF-75FA-2D9EB37802D5}"/>
              </a:ext>
            </a:extLst>
          </p:cNvPr>
          <p:cNvSpPr txBox="1">
            <a:spLocks noGrp="1"/>
          </p:cNvSpPr>
          <p:nvPr>
            <p:ph type="body" idx="1"/>
          </p:nvPr>
        </p:nvSpPr>
        <p:spPr>
          <a:xfrm>
            <a:off x="376809" y="1172487"/>
            <a:ext cx="11452008" cy="4982893"/>
          </a:xfrm>
          <a:prstGeom prst="rect">
            <a:avLst/>
          </a:prstGeom>
          <a:noFill/>
          <a:ln>
            <a:noFill/>
          </a:ln>
        </p:spPr>
        <p:txBody>
          <a:bodyPr spcFirstLastPara="1" wrap="square" lIns="91425" tIns="45700" rIns="91425" bIns="45700" anchor="ctr" anchorCtr="0">
            <a:noAutofit/>
          </a:bodyPr>
          <a:lstStyle/>
          <a:p>
            <a:pPr marL="114300" indent="0" algn="l">
              <a:spcBef>
                <a:spcPts val="0"/>
              </a:spcBef>
              <a:buNone/>
            </a:pPr>
            <a:r>
              <a:rPr lang="en-US" sz="1400" dirty="0">
                <a:solidFill>
                  <a:srgbClr val="005032"/>
                </a:solidFill>
                <a:latin typeface="Consolas" panose="020B0609020204030204" pitchFamily="49" charset="0"/>
              </a:rPr>
              <a:t>int16_t</a:t>
            </a:r>
            <a:r>
              <a:rPr lang="en-US" sz="1400" dirty="0">
                <a:solidFill>
                  <a:srgbClr val="000000"/>
                </a:solidFill>
                <a:latin typeface="Consolas" panose="020B0609020204030204" pitchFamily="49" charset="0"/>
              </a:rPr>
              <a:t> </a:t>
            </a:r>
            <a:r>
              <a:rPr lang="en-US" sz="1400" dirty="0" err="1">
                <a:solidFill>
                  <a:srgbClr val="000000"/>
                </a:solidFill>
                <a:latin typeface="Consolas" panose="020B0609020204030204" pitchFamily="49" charset="0"/>
              </a:rPr>
              <a:t>i</a:t>
            </a:r>
            <a:r>
              <a:rPr lang="en-US" sz="1400" dirty="0">
                <a:solidFill>
                  <a:srgbClr val="000000"/>
                </a:solidFill>
                <a:latin typeface="Consolas" panose="020B0609020204030204" pitchFamily="49" charset="0"/>
              </a:rPr>
              <a:t> = 0;</a:t>
            </a:r>
          </a:p>
          <a:p>
            <a:pPr marL="114300" indent="0" algn="l">
              <a:spcBef>
                <a:spcPts val="0"/>
              </a:spcBef>
              <a:buNone/>
            </a:pPr>
            <a:r>
              <a:rPr lang="en-US" sz="1400" dirty="0">
                <a:solidFill>
                  <a:srgbClr val="7F0055"/>
                </a:solidFill>
                <a:latin typeface="Consolas" panose="020B0609020204030204" pitchFamily="49" charset="0"/>
              </a:rPr>
              <a:t>float</a:t>
            </a:r>
            <a:r>
              <a:rPr lang="en-US" sz="1400" dirty="0">
                <a:solidFill>
                  <a:srgbClr val="000000"/>
                </a:solidFill>
                <a:latin typeface="Consolas" panose="020B0609020204030204" pitchFamily="49" charset="0"/>
              </a:rPr>
              <a:t> </a:t>
            </a:r>
            <a:r>
              <a:rPr lang="en-US" sz="1400" dirty="0" err="1">
                <a:solidFill>
                  <a:srgbClr val="000000"/>
                </a:solidFill>
                <a:latin typeface="Consolas" panose="020B0609020204030204" pitchFamily="49" charset="0"/>
              </a:rPr>
              <a:t>samplePeriod</a:t>
            </a:r>
            <a:r>
              <a:rPr lang="en-US" sz="1400" dirty="0">
                <a:solidFill>
                  <a:srgbClr val="000000"/>
                </a:solidFill>
                <a:latin typeface="Consolas" panose="020B0609020204030204" pitchFamily="49" charset="0"/>
              </a:rPr>
              <a:t> = 0.0001;</a:t>
            </a:r>
          </a:p>
          <a:p>
            <a:pPr marL="114300" indent="0" algn="l">
              <a:spcBef>
                <a:spcPts val="0"/>
              </a:spcBef>
              <a:buNone/>
            </a:pPr>
            <a:endParaRPr lang="en-US" sz="1400" dirty="0">
              <a:latin typeface="Consolas" panose="020B0609020204030204" pitchFamily="49" charset="0"/>
            </a:endParaRPr>
          </a:p>
          <a:p>
            <a:pPr marL="114300" indent="0" algn="l">
              <a:spcBef>
                <a:spcPts val="0"/>
              </a:spcBef>
              <a:buNone/>
            </a:pPr>
            <a:r>
              <a:rPr lang="en-US" sz="1400" dirty="0">
                <a:solidFill>
                  <a:srgbClr val="3F7F5F"/>
                </a:solidFill>
                <a:latin typeface="Consolas" panose="020B0609020204030204" pitchFamily="49" charset="0"/>
              </a:rPr>
              <a:t>// Clear input buffers:</a:t>
            </a:r>
          </a:p>
          <a:p>
            <a:pPr marL="114300" indent="0" algn="l">
              <a:spcBef>
                <a:spcPts val="0"/>
              </a:spcBef>
              <a:buNone/>
            </a:pPr>
            <a:r>
              <a:rPr lang="en-US" sz="1400" dirty="0">
                <a:solidFill>
                  <a:srgbClr val="7F0055"/>
                </a:solidFill>
                <a:latin typeface="Consolas" panose="020B0609020204030204" pitchFamily="49" charset="0"/>
              </a:rPr>
              <a:t>for</a:t>
            </a:r>
            <a:r>
              <a:rPr lang="en-US" sz="1400" dirty="0">
                <a:solidFill>
                  <a:srgbClr val="000000"/>
                </a:solidFill>
                <a:latin typeface="Consolas" panose="020B0609020204030204" pitchFamily="49" charset="0"/>
              </a:rPr>
              <a:t>(</a:t>
            </a:r>
            <a:r>
              <a:rPr lang="en-US" sz="1400" dirty="0" err="1">
                <a:solidFill>
                  <a:srgbClr val="000000"/>
                </a:solidFill>
                <a:latin typeface="Consolas" panose="020B0609020204030204" pitchFamily="49" charset="0"/>
              </a:rPr>
              <a:t>i</a:t>
            </a:r>
            <a:r>
              <a:rPr lang="en-US" sz="1400" dirty="0">
                <a:solidFill>
                  <a:srgbClr val="000000"/>
                </a:solidFill>
                <a:latin typeface="Consolas" panose="020B0609020204030204" pitchFamily="49" charset="0"/>
              </a:rPr>
              <a:t>=0; </a:t>
            </a:r>
            <a:r>
              <a:rPr lang="en-US" sz="1400" dirty="0" err="1">
                <a:solidFill>
                  <a:srgbClr val="000000"/>
                </a:solidFill>
                <a:latin typeface="Consolas" panose="020B0609020204030204" pitchFamily="49" charset="0"/>
              </a:rPr>
              <a:t>i</a:t>
            </a:r>
            <a:r>
              <a:rPr lang="en-US" sz="1400" dirty="0">
                <a:solidFill>
                  <a:srgbClr val="000000"/>
                </a:solidFill>
                <a:latin typeface="Consolas" panose="020B0609020204030204" pitchFamily="49" charset="0"/>
              </a:rPr>
              <a:t> &lt; RFFT_SIZE; </a:t>
            </a:r>
            <a:r>
              <a:rPr lang="en-US" sz="1400" dirty="0" err="1">
                <a:solidFill>
                  <a:srgbClr val="000000"/>
                </a:solidFill>
                <a:latin typeface="Consolas" panose="020B0609020204030204" pitchFamily="49" charset="0"/>
              </a:rPr>
              <a:t>i</a:t>
            </a:r>
            <a:r>
              <a:rPr lang="en-US" sz="1400" dirty="0">
                <a:solidFill>
                  <a:srgbClr val="000000"/>
                </a:solidFill>
                <a:latin typeface="Consolas" panose="020B0609020204030204" pitchFamily="49" charset="0"/>
              </a:rPr>
              <a:t>++){</a:t>
            </a:r>
          </a:p>
          <a:p>
            <a:pPr marL="114300" indent="0" algn="l">
              <a:spcBef>
                <a:spcPts val="0"/>
              </a:spcBef>
              <a:buNone/>
            </a:pPr>
            <a:r>
              <a:rPr lang="en-US" sz="1400" dirty="0">
                <a:solidFill>
                  <a:srgbClr val="000000"/>
                </a:solidFill>
                <a:latin typeface="Consolas" panose="020B0609020204030204" pitchFamily="49" charset="0"/>
              </a:rPr>
              <a:t>    </a:t>
            </a:r>
            <a:r>
              <a:rPr lang="en-US" sz="1400" dirty="0" err="1">
                <a:solidFill>
                  <a:srgbClr val="000000"/>
                </a:solidFill>
                <a:latin typeface="Consolas" panose="020B0609020204030204" pitchFamily="49" charset="0"/>
              </a:rPr>
              <a:t>fft_input</a:t>
            </a:r>
            <a:r>
              <a:rPr lang="en-US" sz="1400" dirty="0">
                <a:solidFill>
                  <a:srgbClr val="000000"/>
                </a:solidFill>
                <a:latin typeface="Consolas" panose="020B0609020204030204" pitchFamily="49" charset="0"/>
              </a:rPr>
              <a:t>[</a:t>
            </a:r>
            <a:r>
              <a:rPr lang="en-US" sz="1400" dirty="0" err="1">
                <a:solidFill>
                  <a:srgbClr val="000000"/>
                </a:solidFill>
                <a:latin typeface="Consolas" panose="020B0609020204030204" pitchFamily="49" charset="0"/>
              </a:rPr>
              <a:t>i</a:t>
            </a:r>
            <a:r>
              <a:rPr lang="en-US" sz="1400" dirty="0">
                <a:solidFill>
                  <a:srgbClr val="000000"/>
                </a:solidFill>
                <a:latin typeface="Consolas" panose="020B0609020204030204" pitchFamily="49" charset="0"/>
              </a:rPr>
              <a:t>] = 0.0f;</a:t>
            </a:r>
          </a:p>
          <a:p>
            <a:pPr marL="114300" indent="0" algn="l">
              <a:spcBef>
                <a:spcPts val="0"/>
              </a:spcBef>
              <a:buNone/>
            </a:pPr>
            <a:r>
              <a:rPr lang="en-US" sz="1400" dirty="0">
                <a:solidFill>
                  <a:srgbClr val="000000"/>
                </a:solidFill>
                <a:latin typeface="Consolas" panose="020B0609020204030204" pitchFamily="49" charset="0"/>
              </a:rPr>
              <a:t>}</a:t>
            </a:r>
          </a:p>
          <a:p>
            <a:pPr marL="114300" indent="0" algn="l">
              <a:spcBef>
                <a:spcPts val="0"/>
              </a:spcBef>
              <a:buNone/>
            </a:pPr>
            <a:endParaRPr lang="en-US" sz="1400" dirty="0">
              <a:solidFill>
                <a:srgbClr val="000000"/>
              </a:solidFill>
              <a:latin typeface="Consolas" panose="020B0609020204030204" pitchFamily="49" charset="0"/>
            </a:endParaRPr>
          </a:p>
          <a:p>
            <a:pPr marL="114300" indent="0" algn="l">
              <a:spcBef>
                <a:spcPts val="0"/>
              </a:spcBef>
              <a:buNone/>
            </a:pPr>
            <a:r>
              <a:rPr lang="en-US" sz="1400" dirty="0" err="1">
                <a:solidFill>
                  <a:srgbClr val="000000"/>
                </a:solidFill>
                <a:latin typeface="Consolas" panose="020B0609020204030204" pitchFamily="49" charset="0"/>
              </a:rPr>
              <a:t>hnd_rfft</a:t>
            </a:r>
            <a:r>
              <a:rPr lang="en-US" sz="1400" dirty="0">
                <a:solidFill>
                  <a:srgbClr val="000000"/>
                </a:solidFill>
                <a:latin typeface="Consolas" panose="020B0609020204030204" pitchFamily="49" charset="0"/>
              </a:rPr>
              <a:t>-&gt;</a:t>
            </a:r>
            <a:r>
              <a:rPr lang="en-US" sz="1400" dirty="0" err="1">
                <a:solidFill>
                  <a:srgbClr val="0000C0"/>
                </a:solidFill>
                <a:latin typeface="Consolas" panose="020B0609020204030204" pitchFamily="49" charset="0"/>
              </a:rPr>
              <a:t>FFTSize</a:t>
            </a:r>
            <a:r>
              <a:rPr lang="en-US" sz="1400" dirty="0">
                <a:solidFill>
                  <a:srgbClr val="000000"/>
                </a:solidFill>
                <a:latin typeface="Consolas" panose="020B0609020204030204" pitchFamily="49" charset="0"/>
              </a:rPr>
              <a:t>   = RFFT_SIZE;</a:t>
            </a:r>
          </a:p>
          <a:p>
            <a:pPr marL="114300" indent="0" algn="l">
              <a:spcBef>
                <a:spcPts val="0"/>
              </a:spcBef>
              <a:buNone/>
            </a:pPr>
            <a:r>
              <a:rPr lang="de-DE" sz="1400" dirty="0">
                <a:solidFill>
                  <a:srgbClr val="000000"/>
                </a:solidFill>
                <a:latin typeface="Consolas" panose="020B0609020204030204" pitchFamily="49" charset="0"/>
              </a:rPr>
              <a:t>hnd_rfft-&gt;</a:t>
            </a:r>
            <a:r>
              <a:rPr lang="de-DE" sz="1400" dirty="0">
                <a:solidFill>
                  <a:srgbClr val="0000C0"/>
                </a:solidFill>
                <a:latin typeface="Consolas" panose="020B0609020204030204" pitchFamily="49" charset="0"/>
              </a:rPr>
              <a:t>FFTStages</a:t>
            </a:r>
            <a:r>
              <a:rPr lang="de-DE" sz="1400" dirty="0">
                <a:solidFill>
                  <a:srgbClr val="000000"/>
                </a:solidFill>
                <a:latin typeface="Consolas" panose="020B0609020204030204" pitchFamily="49" charset="0"/>
              </a:rPr>
              <a:t> = RFFT_STAGES;</a:t>
            </a:r>
          </a:p>
          <a:p>
            <a:pPr marL="114300" indent="0" algn="l">
              <a:spcBef>
                <a:spcPts val="0"/>
              </a:spcBef>
              <a:buNone/>
            </a:pPr>
            <a:r>
              <a:rPr lang="en-US" sz="1400" dirty="0" err="1">
                <a:solidFill>
                  <a:srgbClr val="000000"/>
                </a:solidFill>
                <a:latin typeface="Consolas" panose="020B0609020204030204" pitchFamily="49" charset="0"/>
              </a:rPr>
              <a:t>hnd_rfft</a:t>
            </a:r>
            <a:r>
              <a:rPr lang="en-US" sz="1400" dirty="0">
                <a:solidFill>
                  <a:srgbClr val="000000"/>
                </a:solidFill>
                <a:latin typeface="Consolas" panose="020B0609020204030204" pitchFamily="49" charset="0"/>
              </a:rPr>
              <a:t>-&gt;</a:t>
            </a:r>
            <a:r>
              <a:rPr lang="en-US" sz="1400" dirty="0" err="1">
                <a:solidFill>
                  <a:srgbClr val="0000C0"/>
                </a:solidFill>
                <a:latin typeface="Consolas" panose="020B0609020204030204" pitchFamily="49" charset="0"/>
              </a:rPr>
              <a:t>InBuf</a:t>
            </a:r>
            <a:r>
              <a:rPr lang="en-US" sz="1400" dirty="0">
                <a:solidFill>
                  <a:srgbClr val="000000"/>
                </a:solidFill>
                <a:latin typeface="Consolas" panose="020B0609020204030204" pitchFamily="49" charset="0"/>
              </a:rPr>
              <a:t>     = &amp;</a:t>
            </a:r>
            <a:r>
              <a:rPr lang="en-US" sz="1400" dirty="0" err="1">
                <a:solidFill>
                  <a:srgbClr val="000000"/>
                </a:solidFill>
                <a:latin typeface="Consolas" panose="020B0609020204030204" pitchFamily="49" charset="0"/>
              </a:rPr>
              <a:t>fft_input</a:t>
            </a:r>
            <a:r>
              <a:rPr lang="en-US" sz="1400" dirty="0">
                <a:solidFill>
                  <a:srgbClr val="000000"/>
                </a:solidFill>
                <a:latin typeface="Consolas" panose="020B0609020204030204" pitchFamily="49" charset="0"/>
              </a:rPr>
              <a:t>[0];    </a:t>
            </a:r>
            <a:r>
              <a:rPr lang="en-US" sz="1400" dirty="0">
                <a:solidFill>
                  <a:srgbClr val="3F7F5F"/>
                </a:solidFill>
                <a:latin typeface="Consolas" panose="020B0609020204030204" pitchFamily="49" charset="0"/>
              </a:rPr>
              <a:t>//Input buffer</a:t>
            </a:r>
          </a:p>
          <a:p>
            <a:pPr marL="114300" indent="0" algn="l">
              <a:spcBef>
                <a:spcPts val="0"/>
              </a:spcBef>
              <a:buNone/>
            </a:pPr>
            <a:r>
              <a:rPr lang="en-US" sz="1400" dirty="0" err="1">
                <a:solidFill>
                  <a:srgbClr val="000000"/>
                </a:solidFill>
                <a:latin typeface="Consolas" panose="020B0609020204030204" pitchFamily="49" charset="0"/>
              </a:rPr>
              <a:t>hnd_rfft</a:t>
            </a:r>
            <a:r>
              <a:rPr lang="en-US" sz="1400" dirty="0">
                <a:solidFill>
                  <a:srgbClr val="000000"/>
                </a:solidFill>
                <a:latin typeface="Consolas" panose="020B0609020204030204" pitchFamily="49" charset="0"/>
              </a:rPr>
              <a:t>-&gt;</a:t>
            </a:r>
            <a:r>
              <a:rPr lang="en-US" sz="1400" dirty="0" err="1">
                <a:solidFill>
                  <a:srgbClr val="0000C0"/>
                </a:solidFill>
                <a:latin typeface="Consolas" panose="020B0609020204030204" pitchFamily="49" charset="0"/>
              </a:rPr>
              <a:t>OutBuf</a:t>
            </a:r>
            <a:r>
              <a:rPr lang="en-US" sz="1400" dirty="0">
                <a:solidFill>
                  <a:srgbClr val="000000"/>
                </a:solidFill>
                <a:latin typeface="Consolas" panose="020B0609020204030204" pitchFamily="49" charset="0"/>
              </a:rPr>
              <a:t>    = &amp;</a:t>
            </a:r>
            <a:r>
              <a:rPr lang="en-US" sz="1400" dirty="0" err="1">
                <a:solidFill>
                  <a:srgbClr val="000000"/>
                </a:solidFill>
                <a:latin typeface="Consolas" panose="020B0609020204030204" pitchFamily="49" charset="0"/>
              </a:rPr>
              <a:t>test_output</a:t>
            </a:r>
            <a:r>
              <a:rPr lang="en-US" sz="1400" dirty="0">
                <a:solidFill>
                  <a:srgbClr val="000000"/>
                </a:solidFill>
                <a:latin typeface="Consolas" panose="020B0609020204030204" pitchFamily="49" charset="0"/>
              </a:rPr>
              <a:t>[0];  </a:t>
            </a:r>
            <a:r>
              <a:rPr lang="en-US" sz="1400" dirty="0">
                <a:solidFill>
                  <a:srgbClr val="3F7F5F"/>
                </a:solidFill>
                <a:latin typeface="Consolas" panose="020B0609020204030204" pitchFamily="49" charset="0"/>
              </a:rPr>
              <a:t>//Output buffer</a:t>
            </a:r>
          </a:p>
          <a:p>
            <a:pPr marL="114300" indent="0" algn="l">
              <a:spcBef>
                <a:spcPts val="0"/>
              </a:spcBef>
              <a:buNone/>
            </a:pPr>
            <a:r>
              <a:rPr lang="en-US" sz="1400" dirty="0" err="1">
                <a:solidFill>
                  <a:srgbClr val="000000"/>
                </a:solidFill>
                <a:latin typeface="Consolas" panose="020B0609020204030204" pitchFamily="49" charset="0"/>
              </a:rPr>
              <a:t>hnd_rfft</a:t>
            </a:r>
            <a:r>
              <a:rPr lang="en-US" sz="1400" dirty="0">
                <a:solidFill>
                  <a:srgbClr val="000000"/>
                </a:solidFill>
                <a:latin typeface="Consolas" panose="020B0609020204030204" pitchFamily="49" charset="0"/>
              </a:rPr>
              <a:t>-&gt;</a:t>
            </a:r>
            <a:r>
              <a:rPr lang="en-US" sz="1400" dirty="0" err="1">
                <a:solidFill>
                  <a:srgbClr val="0000C0"/>
                </a:solidFill>
                <a:latin typeface="Consolas" panose="020B0609020204030204" pitchFamily="49" charset="0"/>
              </a:rPr>
              <a:t>MagBuf</a:t>
            </a:r>
            <a:r>
              <a:rPr lang="en-US" sz="1400" dirty="0">
                <a:solidFill>
                  <a:srgbClr val="000000"/>
                </a:solidFill>
                <a:latin typeface="Consolas" panose="020B0609020204030204" pitchFamily="49" charset="0"/>
              </a:rPr>
              <a:t>    = &amp;</a:t>
            </a:r>
            <a:r>
              <a:rPr lang="en-US" sz="1400" dirty="0" err="1">
                <a:solidFill>
                  <a:srgbClr val="000000"/>
                </a:solidFill>
                <a:latin typeface="Consolas" panose="020B0609020204030204" pitchFamily="49" charset="0"/>
              </a:rPr>
              <a:t>pwrSpec</a:t>
            </a:r>
            <a:r>
              <a:rPr lang="en-US" sz="1400" dirty="0">
                <a:solidFill>
                  <a:srgbClr val="000000"/>
                </a:solidFill>
                <a:latin typeface="Consolas" panose="020B0609020204030204" pitchFamily="49" charset="0"/>
              </a:rPr>
              <a:t>[0];      </a:t>
            </a:r>
            <a:r>
              <a:rPr lang="en-US" sz="1400" dirty="0">
                <a:solidFill>
                  <a:srgbClr val="3F7F5F"/>
                </a:solidFill>
                <a:latin typeface="Consolas" panose="020B0609020204030204" pitchFamily="49" charset="0"/>
              </a:rPr>
              <a:t>//Magnitude buffer</a:t>
            </a:r>
          </a:p>
          <a:p>
            <a:pPr marL="114300" indent="0" algn="l">
              <a:spcBef>
                <a:spcPts val="0"/>
              </a:spcBef>
              <a:buNone/>
            </a:pPr>
            <a:endParaRPr lang="en-US" sz="1400" dirty="0">
              <a:latin typeface="Consolas" panose="020B0609020204030204" pitchFamily="49" charset="0"/>
            </a:endParaRPr>
          </a:p>
          <a:p>
            <a:pPr marL="114300" indent="0" algn="l">
              <a:spcBef>
                <a:spcPts val="0"/>
              </a:spcBef>
              <a:buNone/>
            </a:pPr>
            <a:r>
              <a:rPr lang="en-US" sz="1400" dirty="0" err="1">
                <a:solidFill>
                  <a:srgbClr val="000000"/>
                </a:solidFill>
                <a:latin typeface="Consolas" panose="020B0609020204030204" pitchFamily="49" charset="0"/>
              </a:rPr>
              <a:t>hnd_rfft</a:t>
            </a:r>
            <a:r>
              <a:rPr lang="en-US" sz="1400" dirty="0">
                <a:solidFill>
                  <a:srgbClr val="000000"/>
                </a:solidFill>
                <a:latin typeface="Consolas" panose="020B0609020204030204" pitchFamily="49" charset="0"/>
              </a:rPr>
              <a:t>-&gt;</a:t>
            </a:r>
            <a:r>
              <a:rPr lang="en-US" sz="1400" dirty="0" err="1">
                <a:solidFill>
                  <a:srgbClr val="0000C0"/>
                </a:solidFill>
                <a:latin typeface="Consolas" panose="020B0609020204030204" pitchFamily="49" charset="0"/>
              </a:rPr>
              <a:t>CosSinBuf</a:t>
            </a:r>
            <a:r>
              <a:rPr lang="en-US" sz="1400" dirty="0">
                <a:solidFill>
                  <a:srgbClr val="000000"/>
                </a:solidFill>
                <a:latin typeface="Consolas" panose="020B0609020204030204" pitchFamily="49" charset="0"/>
              </a:rPr>
              <a:t> = &amp;RFFTF32Coef[0];  </a:t>
            </a:r>
            <a:r>
              <a:rPr lang="en-US" sz="1400" dirty="0">
                <a:solidFill>
                  <a:srgbClr val="3F7F5F"/>
                </a:solidFill>
                <a:latin typeface="Consolas" panose="020B0609020204030204" pitchFamily="49" charset="0"/>
              </a:rPr>
              <a:t>//Twiddle factor buffer</a:t>
            </a:r>
          </a:p>
          <a:p>
            <a:pPr marL="114300" indent="0" algn="l">
              <a:spcBef>
                <a:spcPts val="0"/>
              </a:spcBef>
              <a:buNone/>
            </a:pPr>
            <a:r>
              <a:rPr lang="en-US" sz="1400" dirty="0">
                <a:solidFill>
                  <a:srgbClr val="642880"/>
                </a:solidFill>
                <a:latin typeface="Consolas" panose="020B0609020204030204" pitchFamily="49" charset="0"/>
              </a:rPr>
              <a:t>RFFT_f32_sincostable</a:t>
            </a:r>
            <a:r>
              <a:rPr lang="en-US" sz="1400" dirty="0">
                <a:solidFill>
                  <a:srgbClr val="000000"/>
                </a:solidFill>
                <a:latin typeface="Consolas" panose="020B0609020204030204" pitchFamily="49" charset="0"/>
              </a:rPr>
              <a:t>(</a:t>
            </a:r>
            <a:r>
              <a:rPr lang="en-US" sz="1400" dirty="0" err="1">
                <a:solidFill>
                  <a:srgbClr val="000000"/>
                </a:solidFill>
                <a:latin typeface="Consolas" panose="020B0609020204030204" pitchFamily="49" charset="0"/>
              </a:rPr>
              <a:t>hnd_rfft</a:t>
            </a:r>
            <a:r>
              <a:rPr lang="en-US" sz="1400" dirty="0">
                <a:solidFill>
                  <a:srgbClr val="000000"/>
                </a:solidFill>
                <a:latin typeface="Consolas" panose="020B0609020204030204" pitchFamily="49" charset="0"/>
              </a:rPr>
              <a:t>);         </a:t>
            </a:r>
            <a:r>
              <a:rPr lang="en-US" sz="1400" dirty="0">
                <a:solidFill>
                  <a:srgbClr val="3F7F5F"/>
                </a:solidFill>
                <a:latin typeface="Consolas" panose="020B0609020204030204" pitchFamily="49" charset="0"/>
              </a:rPr>
              <a:t>//Calculate twiddle factor</a:t>
            </a:r>
          </a:p>
          <a:p>
            <a:pPr marL="114300" indent="0" algn="l">
              <a:spcBef>
                <a:spcPts val="0"/>
              </a:spcBef>
              <a:buNone/>
            </a:pPr>
            <a:endParaRPr lang="en-US" sz="1400" dirty="0">
              <a:latin typeface="Consolas" panose="020B0609020204030204" pitchFamily="49" charset="0"/>
            </a:endParaRPr>
          </a:p>
          <a:p>
            <a:pPr marL="114300" indent="0" algn="l">
              <a:spcBef>
                <a:spcPts val="0"/>
              </a:spcBef>
              <a:buNone/>
            </a:pPr>
            <a:r>
              <a:rPr lang="en-US" sz="1400" dirty="0">
                <a:solidFill>
                  <a:srgbClr val="7F0055"/>
                </a:solidFill>
                <a:latin typeface="Consolas" panose="020B0609020204030204" pitchFamily="49" charset="0"/>
              </a:rPr>
              <a:t>for</a:t>
            </a:r>
            <a:r>
              <a:rPr lang="en-US" sz="1400" dirty="0">
                <a:solidFill>
                  <a:srgbClr val="000000"/>
                </a:solidFill>
                <a:latin typeface="Consolas" panose="020B0609020204030204" pitchFamily="49" charset="0"/>
              </a:rPr>
              <a:t> (</a:t>
            </a:r>
            <a:r>
              <a:rPr lang="en-US" sz="1400" dirty="0" err="1">
                <a:solidFill>
                  <a:srgbClr val="000000"/>
                </a:solidFill>
                <a:latin typeface="Consolas" panose="020B0609020204030204" pitchFamily="49" charset="0"/>
              </a:rPr>
              <a:t>i</a:t>
            </a:r>
            <a:r>
              <a:rPr lang="en-US" sz="1400" dirty="0">
                <a:solidFill>
                  <a:srgbClr val="000000"/>
                </a:solidFill>
                <a:latin typeface="Consolas" panose="020B0609020204030204" pitchFamily="49" charset="0"/>
              </a:rPr>
              <a:t>=0; </a:t>
            </a:r>
            <a:r>
              <a:rPr lang="en-US" sz="1400" dirty="0" err="1">
                <a:solidFill>
                  <a:srgbClr val="000000"/>
                </a:solidFill>
                <a:latin typeface="Consolas" panose="020B0609020204030204" pitchFamily="49" charset="0"/>
              </a:rPr>
              <a:t>i</a:t>
            </a:r>
            <a:r>
              <a:rPr lang="en-US" sz="1400" dirty="0">
                <a:solidFill>
                  <a:srgbClr val="000000"/>
                </a:solidFill>
                <a:latin typeface="Consolas" panose="020B0609020204030204" pitchFamily="49" charset="0"/>
              </a:rPr>
              <a:t> &lt; RFFT_SIZE; </a:t>
            </a:r>
            <a:r>
              <a:rPr lang="en-US" sz="1400" dirty="0" err="1">
                <a:solidFill>
                  <a:srgbClr val="000000"/>
                </a:solidFill>
                <a:latin typeface="Consolas" panose="020B0609020204030204" pitchFamily="49" charset="0"/>
              </a:rPr>
              <a:t>i</a:t>
            </a:r>
            <a:r>
              <a:rPr lang="en-US" sz="1400" dirty="0">
                <a:solidFill>
                  <a:srgbClr val="000000"/>
                </a:solidFill>
                <a:latin typeface="Consolas" panose="020B0609020204030204" pitchFamily="49" charset="0"/>
              </a:rPr>
              <a:t>++){</a:t>
            </a:r>
          </a:p>
          <a:p>
            <a:pPr marL="114300" indent="0" algn="l">
              <a:spcBef>
                <a:spcPts val="0"/>
              </a:spcBef>
              <a:buNone/>
            </a:pPr>
            <a:r>
              <a:rPr lang="en-US" sz="1400" dirty="0">
                <a:solidFill>
                  <a:srgbClr val="000000"/>
                </a:solidFill>
                <a:latin typeface="Consolas" panose="020B0609020204030204" pitchFamily="49" charset="0"/>
              </a:rPr>
              <a:t>      </a:t>
            </a:r>
            <a:r>
              <a:rPr lang="en-US" sz="1400" dirty="0" err="1">
                <a:solidFill>
                  <a:srgbClr val="000000"/>
                </a:solidFill>
                <a:latin typeface="Consolas" panose="020B0609020204030204" pitchFamily="49" charset="0"/>
              </a:rPr>
              <a:t>test_output</a:t>
            </a:r>
            <a:r>
              <a:rPr lang="en-US" sz="1400" dirty="0">
                <a:solidFill>
                  <a:srgbClr val="000000"/>
                </a:solidFill>
                <a:latin typeface="Consolas" panose="020B0609020204030204" pitchFamily="49" charset="0"/>
              </a:rPr>
              <a:t>[</a:t>
            </a:r>
            <a:r>
              <a:rPr lang="en-US" sz="1400" dirty="0" err="1">
                <a:solidFill>
                  <a:srgbClr val="000000"/>
                </a:solidFill>
                <a:latin typeface="Consolas" panose="020B0609020204030204" pitchFamily="49" charset="0"/>
              </a:rPr>
              <a:t>i</a:t>
            </a:r>
            <a:r>
              <a:rPr lang="en-US" sz="1400" dirty="0">
                <a:solidFill>
                  <a:srgbClr val="000000"/>
                </a:solidFill>
                <a:latin typeface="Consolas" panose="020B0609020204030204" pitchFamily="49" charset="0"/>
              </a:rPr>
              <a:t>] = 0;               </a:t>
            </a:r>
            <a:r>
              <a:rPr lang="en-US" sz="1400" dirty="0">
                <a:solidFill>
                  <a:srgbClr val="3F7F5F"/>
                </a:solidFill>
                <a:latin typeface="Consolas" panose="020B0609020204030204" pitchFamily="49" charset="0"/>
              </a:rPr>
              <a:t>//Clean up output buffer</a:t>
            </a:r>
          </a:p>
          <a:p>
            <a:pPr marL="114300" indent="0" algn="l">
              <a:spcBef>
                <a:spcPts val="0"/>
              </a:spcBef>
              <a:buNone/>
            </a:pPr>
            <a:r>
              <a:rPr lang="en-US" sz="1400" dirty="0">
                <a:solidFill>
                  <a:srgbClr val="000000"/>
                </a:solidFill>
                <a:latin typeface="Consolas" panose="020B0609020204030204" pitchFamily="49" charset="0"/>
              </a:rPr>
              <a:t>}</a:t>
            </a:r>
          </a:p>
          <a:p>
            <a:pPr marL="114300" indent="0" algn="l">
              <a:spcBef>
                <a:spcPts val="0"/>
              </a:spcBef>
              <a:buNone/>
            </a:pPr>
            <a:endParaRPr lang="en-US" sz="1400" dirty="0">
              <a:latin typeface="Consolas" panose="020B0609020204030204" pitchFamily="49" charset="0"/>
            </a:endParaRPr>
          </a:p>
          <a:p>
            <a:pPr marL="114300" indent="0" algn="l">
              <a:spcBef>
                <a:spcPts val="0"/>
              </a:spcBef>
              <a:buNone/>
            </a:pPr>
            <a:r>
              <a:rPr lang="en-US" sz="1400" dirty="0">
                <a:solidFill>
                  <a:srgbClr val="7F0055"/>
                </a:solidFill>
                <a:latin typeface="Consolas" panose="020B0609020204030204" pitchFamily="49" charset="0"/>
              </a:rPr>
              <a:t>for</a:t>
            </a:r>
            <a:r>
              <a:rPr lang="en-US" sz="1400" dirty="0">
                <a:solidFill>
                  <a:srgbClr val="000000"/>
                </a:solidFill>
                <a:latin typeface="Consolas" panose="020B0609020204030204" pitchFamily="49" charset="0"/>
              </a:rPr>
              <a:t> (</a:t>
            </a:r>
            <a:r>
              <a:rPr lang="en-US" sz="1400" dirty="0" err="1">
                <a:solidFill>
                  <a:srgbClr val="000000"/>
                </a:solidFill>
                <a:latin typeface="Consolas" panose="020B0609020204030204" pitchFamily="49" charset="0"/>
              </a:rPr>
              <a:t>i</a:t>
            </a:r>
            <a:r>
              <a:rPr lang="en-US" sz="1400" dirty="0">
                <a:solidFill>
                  <a:srgbClr val="000000"/>
                </a:solidFill>
                <a:latin typeface="Consolas" panose="020B0609020204030204" pitchFamily="49" charset="0"/>
              </a:rPr>
              <a:t>=0; </a:t>
            </a:r>
            <a:r>
              <a:rPr lang="en-US" sz="1400" dirty="0" err="1">
                <a:solidFill>
                  <a:srgbClr val="000000"/>
                </a:solidFill>
                <a:latin typeface="Consolas" panose="020B0609020204030204" pitchFamily="49" charset="0"/>
              </a:rPr>
              <a:t>i</a:t>
            </a:r>
            <a:r>
              <a:rPr lang="en-US" sz="1400" dirty="0">
                <a:solidFill>
                  <a:srgbClr val="000000"/>
                </a:solidFill>
                <a:latin typeface="Consolas" panose="020B0609020204030204" pitchFamily="49" charset="0"/>
              </a:rPr>
              <a:t> &lt;= RFFT_SIZE/2; </a:t>
            </a:r>
            <a:r>
              <a:rPr lang="en-US" sz="1400" dirty="0" err="1">
                <a:solidFill>
                  <a:srgbClr val="000000"/>
                </a:solidFill>
                <a:latin typeface="Consolas" panose="020B0609020204030204" pitchFamily="49" charset="0"/>
              </a:rPr>
              <a:t>i</a:t>
            </a:r>
            <a:r>
              <a:rPr lang="en-US" sz="1400" dirty="0">
                <a:solidFill>
                  <a:srgbClr val="000000"/>
                </a:solidFill>
                <a:latin typeface="Consolas" panose="020B0609020204030204" pitchFamily="49" charset="0"/>
              </a:rPr>
              <a:t>++){</a:t>
            </a:r>
          </a:p>
          <a:p>
            <a:pPr marL="114300" indent="0" algn="l">
              <a:spcBef>
                <a:spcPts val="0"/>
              </a:spcBef>
              <a:buNone/>
            </a:pPr>
            <a:r>
              <a:rPr lang="en-US" sz="1400" dirty="0">
                <a:solidFill>
                  <a:srgbClr val="000000"/>
                </a:solidFill>
                <a:latin typeface="Consolas" panose="020B0609020204030204" pitchFamily="49" charset="0"/>
              </a:rPr>
              <a:t>     </a:t>
            </a:r>
            <a:r>
              <a:rPr lang="en-US" sz="1400" dirty="0" err="1">
                <a:solidFill>
                  <a:srgbClr val="000000"/>
                </a:solidFill>
                <a:latin typeface="Consolas" panose="020B0609020204030204" pitchFamily="49" charset="0"/>
              </a:rPr>
              <a:t>pwrSpec</a:t>
            </a:r>
            <a:r>
              <a:rPr lang="en-US" sz="1400" dirty="0">
                <a:solidFill>
                  <a:srgbClr val="000000"/>
                </a:solidFill>
                <a:latin typeface="Consolas" panose="020B0609020204030204" pitchFamily="49" charset="0"/>
              </a:rPr>
              <a:t>[</a:t>
            </a:r>
            <a:r>
              <a:rPr lang="en-US" sz="1400" dirty="0" err="1">
                <a:solidFill>
                  <a:srgbClr val="000000"/>
                </a:solidFill>
                <a:latin typeface="Consolas" panose="020B0609020204030204" pitchFamily="49" charset="0"/>
              </a:rPr>
              <a:t>i</a:t>
            </a:r>
            <a:r>
              <a:rPr lang="en-US" sz="1400" dirty="0">
                <a:solidFill>
                  <a:srgbClr val="000000"/>
                </a:solidFill>
                <a:latin typeface="Consolas" panose="020B0609020204030204" pitchFamily="49" charset="0"/>
              </a:rPr>
              <a:t>] = 0;                    </a:t>
            </a:r>
            <a:r>
              <a:rPr lang="en-US" sz="1400" dirty="0">
                <a:solidFill>
                  <a:srgbClr val="3F7F5F"/>
                </a:solidFill>
                <a:latin typeface="Consolas" panose="020B0609020204030204" pitchFamily="49" charset="0"/>
              </a:rPr>
              <a:t>//Clean up magnitude buffer</a:t>
            </a:r>
          </a:p>
          <a:p>
            <a:pPr marL="114300" indent="0" algn="l">
              <a:spcBef>
                <a:spcPts val="0"/>
              </a:spcBef>
              <a:buNone/>
            </a:pPr>
            <a:r>
              <a:rPr lang="en-US" sz="1400" dirty="0">
                <a:solidFill>
                  <a:srgbClr val="000000"/>
                </a:solidFill>
                <a:latin typeface="Consolas" panose="020B0609020204030204" pitchFamily="49" charset="0"/>
              </a:rPr>
              <a:t>}</a:t>
            </a:r>
            <a:endParaRPr lang="en-US" sz="1400" dirty="0">
              <a:solidFill>
                <a:schemeClr val="tx1"/>
              </a:solidFill>
              <a:latin typeface="Atkinson Hyperlegible Next"/>
              <a:cs typeface="Arial"/>
              <a:sym typeface="Arial"/>
            </a:endParaRPr>
          </a:p>
        </p:txBody>
      </p:sp>
      <p:sp>
        <p:nvSpPr>
          <p:cNvPr id="119" name="Google Shape;119;p29">
            <a:extLst>
              <a:ext uri="{FF2B5EF4-FFF2-40B4-BE49-F238E27FC236}">
                <a16:creationId xmlns:a16="http://schemas.microsoft.com/office/drawing/2014/main" id="{C6826D1A-F604-5149-C931-6432A1DA9194}"/>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CCA11AE3-3627-1B6D-76A7-64204644F88B}"/>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FFT Code - Main</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4D3EF529-7B5D-C398-305E-FAD5519FEBF7}"/>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8A13C6E3-1454-C152-3ECF-79EE4A7CEE88}"/>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14102055-6129-D256-301A-6DABD2EC4D35}"/>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2D231F97-DA16-38A0-C9D9-98BED612E64B}"/>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15D10B14-230C-9223-BDE3-D3CAB2933578}"/>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E10C1C93-9766-56C3-E8A2-68C905C2D7D0}"/>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794034015"/>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CC0629C4-242A-EA36-118F-7A9189C199B9}"/>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7AA41BBA-3A28-62C9-9846-D51805A96271}"/>
              </a:ext>
            </a:extLst>
          </p:cNvPr>
          <p:cNvSpPr txBox="1">
            <a:spLocks noGrp="1"/>
          </p:cNvSpPr>
          <p:nvPr>
            <p:ph type="body" idx="1"/>
          </p:nvPr>
        </p:nvSpPr>
        <p:spPr>
          <a:xfrm>
            <a:off x="376809" y="1172487"/>
            <a:ext cx="11452008" cy="4982893"/>
          </a:xfrm>
          <a:prstGeom prst="rect">
            <a:avLst/>
          </a:prstGeom>
          <a:noFill/>
          <a:ln>
            <a:noFill/>
          </a:ln>
        </p:spPr>
        <p:txBody>
          <a:bodyPr spcFirstLastPara="1" wrap="square" lIns="91425" tIns="45700" rIns="91425" bIns="45700" anchor="ctr" anchorCtr="0">
            <a:noAutofit/>
          </a:bodyPr>
          <a:lstStyle/>
          <a:p>
            <a:pPr marL="114300" indent="0" algn="l">
              <a:spcBef>
                <a:spcPts val="0"/>
              </a:spcBef>
              <a:buNone/>
            </a:pPr>
            <a:r>
              <a:rPr lang="en-US" sz="1050" dirty="0">
                <a:solidFill>
                  <a:srgbClr val="7F0055"/>
                </a:solidFill>
                <a:latin typeface="Consolas" panose="020B0609020204030204" pitchFamily="49" charset="0"/>
              </a:rPr>
              <a:t>while</a:t>
            </a:r>
            <a:r>
              <a:rPr lang="en-US" sz="1050" dirty="0">
                <a:solidFill>
                  <a:srgbClr val="000000"/>
                </a:solidFill>
                <a:latin typeface="Consolas" panose="020B0609020204030204" pitchFamily="49" charset="0"/>
              </a:rPr>
              <a:t>(1)</a:t>
            </a:r>
          </a:p>
          <a:p>
            <a:pPr marL="114300" indent="0" algn="l">
              <a:spcBef>
                <a:spcPts val="0"/>
              </a:spcBef>
              <a:buNone/>
            </a:pPr>
            <a:r>
              <a:rPr lang="en-US" sz="1050" dirty="0">
                <a:solidFill>
                  <a:srgbClr val="000000"/>
                </a:solidFill>
                <a:latin typeface="Consolas" panose="020B0609020204030204" pitchFamily="49" charset="0"/>
              </a:rPr>
              <a:t>{</a:t>
            </a:r>
          </a:p>
          <a:p>
            <a:pPr marL="114300" indent="0" algn="l">
              <a:spcBef>
                <a:spcPts val="0"/>
              </a:spcBef>
              <a:buNone/>
            </a:pPr>
            <a:r>
              <a:rPr lang="en-US" sz="1050" dirty="0">
                <a:solidFill>
                  <a:srgbClr val="000000"/>
                </a:solidFill>
                <a:latin typeface="Consolas" panose="020B0609020204030204" pitchFamily="49" charset="0"/>
              </a:rPr>
              <a:t>    </a:t>
            </a:r>
            <a:r>
              <a:rPr lang="en-US" sz="1050" dirty="0">
                <a:solidFill>
                  <a:srgbClr val="7F0055"/>
                </a:solidFill>
                <a:latin typeface="Consolas" panose="020B0609020204030204" pitchFamily="49" charset="0"/>
              </a:rPr>
              <a:t>if</a:t>
            </a:r>
            <a:r>
              <a:rPr lang="en-US" sz="1050" dirty="0">
                <a:solidFill>
                  <a:srgbClr val="000000"/>
                </a:solidFill>
                <a:latin typeface="Consolas" panose="020B0609020204030204" pitchFamily="49" charset="0"/>
              </a:rPr>
              <a:t> ( (</a:t>
            </a:r>
            <a:r>
              <a:rPr lang="en-US" sz="1050" dirty="0" err="1">
                <a:solidFill>
                  <a:srgbClr val="000000"/>
                </a:solidFill>
                <a:latin typeface="Consolas" panose="020B0609020204030204" pitchFamily="49" charset="0"/>
              </a:rPr>
              <a:t>pingFFT</a:t>
            </a:r>
            <a:r>
              <a:rPr lang="en-US" sz="1050" dirty="0">
                <a:solidFill>
                  <a:srgbClr val="000000"/>
                </a:solidFill>
                <a:latin typeface="Consolas" panose="020B0609020204030204" pitchFamily="49" charset="0"/>
              </a:rPr>
              <a:t> == 1) || (</a:t>
            </a:r>
            <a:r>
              <a:rPr lang="en-US" sz="1050" dirty="0" err="1">
                <a:solidFill>
                  <a:srgbClr val="000000"/>
                </a:solidFill>
                <a:latin typeface="Consolas" panose="020B0609020204030204" pitchFamily="49" charset="0"/>
              </a:rPr>
              <a:t>pongFFT</a:t>
            </a:r>
            <a:r>
              <a:rPr lang="en-US" sz="1050" dirty="0">
                <a:solidFill>
                  <a:srgbClr val="000000"/>
                </a:solidFill>
                <a:latin typeface="Consolas" panose="020B0609020204030204" pitchFamily="49" charset="0"/>
              </a:rPr>
              <a:t> == 1) ) {</a:t>
            </a:r>
          </a:p>
          <a:p>
            <a:pPr marL="114300" indent="0" algn="l">
              <a:spcBef>
                <a:spcPts val="0"/>
              </a:spcBef>
              <a:buNone/>
            </a:pPr>
            <a:r>
              <a:rPr lang="en-US" sz="1050" dirty="0">
                <a:solidFill>
                  <a:srgbClr val="000000"/>
                </a:solidFill>
                <a:latin typeface="Consolas" panose="020B0609020204030204" pitchFamily="49" charset="0"/>
              </a:rPr>
              <a:t>        </a:t>
            </a:r>
            <a:r>
              <a:rPr lang="en-US" sz="1050" dirty="0">
                <a:solidFill>
                  <a:srgbClr val="7F0055"/>
                </a:solidFill>
                <a:latin typeface="Consolas" panose="020B0609020204030204" pitchFamily="49" charset="0"/>
              </a:rPr>
              <a:t>if</a:t>
            </a:r>
            <a:r>
              <a:rPr lang="en-US" sz="1050" dirty="0">
                <a:solidFill>
                  <a:srgbClr val="000000"/>
                </a:solidFill>
                <a:latin typeface="Consolas" panose="020B0609020204030204" pitchFamily="49" charset="0"/>
              </a:rPr>
              <a:t> (</a:t>
            </a:r>
            <a:r>
              <a:rPr lang="en-US" sz="1050" dirty="0" err="1">
                <a:solidFill>
                  <a:srgbClr val="000000"/>
                </a:solidFill>
                <a:latin typeface="Consolas" panose="020B0609020204030204" pitchFamily="49" charset="0"/>
              </a:rPr>
              <a:t>pingFFT</a:t>
            </a:r>
            <a:r>
              <a:rPr lang="en-US" sz="1050" dirty="0">
                <a:solidFill>
                  <a:srgbClr val="000000"/>
                </a:solidFill>
                <a:latin typeface="Consolas" panose="020B0609020204030204" pitchFamily="49" charset="0"/>
              </a:rPr>
              <a:t> == 1) {</a:t>
            </a:r>
          </a:p>
          <a:p>
            <a:pPr marL="114300" indent="0" algn="l">
              <a:spcBef>
                <a:spcPts val="0"/>
              </a:spcBef>
              <a:buNone/>
            </a:pPr>
            <a:r>
              <a:rPr lang="en-US" sz="1050" dirty="0">
                <a:solidFill>
                  <a:srgbClr val="000000"/>
                </a:solidFill>
                <a:latin typeface="Consolas" panose="020B0609020204030204" pitchFamily="49" charset="0"/>
              </a:rPr>
              <a:t>            </a:t>
            </a:r>
            <a:r>
              <a:rPr lang="en-US" sz="1050" dirty="0" err="1">
                <a:solidFill>
                  <a:srgbClr val="000000"/>
                </a:solidFill>
                <a:latin typeface="Consolas" panose="020B0609020204030204" pitchFamily="49" charset="0"/>
              </a:rPr>
              <a:t>pingFFT</a:t>
            </a:r>
            <a:r>
              <a:rPr lang="en-US" sz="1050" dirty="0">
                <a:solidFill>
                  <a:srgbClr val="000000"/>
                </a:solidFill>
                <a:latin typeface="Consolas" panose="020B0609020204030204" pitchFamily="49" charset="0"/>
              </a:rPr>
              <a:t> = 0;</a:t>
            </a:r>
          </a:p>
          <a:p>
            <a:pPr marL="114300" indent="0" algn="l">
              <a:spcBef>
                <a:spcPts val="0"/>
              </a:spcBef>
              <a:buNone/>
            </a:pPr>
            <a:r>
              <a:rPr lang="en-US" sz="1050" dirty="0">
                <a:solidFill>
                  <a:srgbClr val="000000"/>
                </a:solidFill>
                <a:latin typeface="Consolas" panose="020B0609020204030204" pitchFamily="49" charset="0"/>
              </a:rPr>
              <a:t>            </a:t>
            </a:r>
            <a:r>
              <a:rPr lang="en-US" sz="1050" dirty="0">
                <a:solidFill>
                  <a:srgbClr val="3F7F5F"/>
                </a:solidFill>
                <a:latin typeface="Consolas" panose="020B0609020204030204" pitchFamily="49" charset="0"/>
              </a:rPr>
              <a:t>// Raw ADC data</a:t>
            </a:r>
          </a:p>
          <a:p>
            <a:pPr marL="114300" indent="0" algn="l">
              <a:spcBef>
                <a:spcPts val="0"/>
              </a:spcBef>
              <a:buNone/>
            </a:pPr>
            <a:r>
              <a:rPr lang="en-US" sz="1050" dirty="0">
                <a:solidFill>
                  <a:srgbClr val="000000"/>
                </a:solidFill>
                <a:latin typeface="Consolas" panose="020B0609020204030204" pitchFamily="49" charset="0"/>
              </a:rPr>
              <a:t>            </a:t>
            </a:r>
            <a:r>
              <a:rPr lang="en-US" sz="1050" dirty="0">
                <a:solidFill>
                  <a:srgbClr val="7F0055"/>
                </a:solidFill>
                <a:latin typeface="Consolas" panose="020B0609020204030204" pitchFamily="49" charset="0"/>
              </a:rPr>
              <a:t>for</a:t>
            </a:r>
            <a:r>
              <a:rPr lang="en-US" sz="1050" dirty="0">
                <a:solidFill>
                  <a:srgbClr val="000000"/>
                </a:solidFill>
                <a:latin typeface="Consolas" panose="020B0609020204030204" pitchFamily="49" charset="0"/>
              </a:rPr>
              <a:t>(</a:t>
            </a:r>
            <a:r>
              <a:rPr lang="en-US" sz="1050" dirty="0" err="1">
                <a:solidFill>
                  <a:srgbClr val="000000"/>
                </a:solidFill>
                <a:latin typeface="Consolas" panose="020B0609020204030204" pitchFamily="49" charset="0"/>
              </a:rPr>
              <a:t>i</a:t>
            </a:r>
            <a:r>
              <a:rPr lang="en-US" sz="1050" dirty="0">
                <a:solidFill>
                  <a:srgbClr val="000000"/>
                </a:solidFill>
                <a:latin typeface="Consolas" panose="020B0609020204030204" pitchFamily="49" charset="0"/>
              </a:rPr>
              <a:t>=0; </a:t>
            </a:r>
            <a:r>
              <a:rPr lang="en-US" sz="1050" dirty="0" err="1">
                <a:solidFill>
                  <a:srgbClr val="000000"/>
                </a:solidFill>
                <a:latin typeface="Consolas" panose="020B0609020204030204" pitchFamily="49" charset="0"/>
              </a:rPr>
              <a:t>i</a:t>
            </a:r>
            <a:r>
              <a:rPr lang="en-US" sz="1050" dirty="0">
                <a:solidFill>
                  <a:srgbClr val="000000"/>
                </a:solidFill>
                <a:latin typeface="Consolas" panose="020B0609020204030204" pitchFamily="49" charset="0"/>
              </a:rPr>
              <a:t>&lt;RFFT_SIZE; </a:t>
            </a:r>
            <a:r>
              <a:rPr lang="en-US" sz="1050" dirty="0" err="1">
                <a:solidFill>
                  <a:srgbClr val="000000"/>
                </a:solidFill>
                <a:latin typeface="Consolas" panose="020B0609020204030204" pitchFamily="49" charset="0"/>
              </a:rPr>
              <a:t>i</a:t>
            </a:r>
            <a:r>
              <a:rPr lang="en-US" sz="1050" dirty="0">
                <a:solidFill>
                  <a:srgbClr val="000000"/>
                </a:solidFill>
                <a:latin typeface="Consolas" panose="020B0609020204030204" pitchFamily="49" charset="0"/>
              </a:rPr>
              <a:t>++) {</a:t>
            </a:r>
          </a:p>
          <a:p>
            <a:pPr marL="114300" indent="0" algn="l">
              <a:spcBef>
                <a:spcPts val="0"/>
              </a:spcBef>
              <a:buNone/>
            </a:pPr>
            <a:r>
              <a:rPr lang="en-US" sz="1050" dirty="0">
                <a:solidFill>
                  <a:srgbClr val="000000"/>
                </a:solidFill>
                <a:latin typeface="Consolas" panose="020B0609020204030204" pitchFamily="49" charset="0"/>
              </a:rPr>
              <a:t>                </a:t>
            </a:r>
            <a:r>
              <a:rPr lang="en-US" sz="1050" dirty="0">
                <a:solidFill>
                  <a:srgbClr val="3F7F5F"/>
                </a:solidFill>
                <a:latin typeface="Consolas" panose="020B0609020204030204" pitchFamily="49" charset="0"/>
              </a:rPr>
              <a:t>//--- Read the ADC results:</a:t>
            </a:r>
          </a:p>
          <a:p>
            <a:pPr marL="114300" indent="0" algn="l">
              <a:spcBef>
                <a:spcPts val="0"/>
              </a:spcBef>
              <a:buNone/>
            </a:pPr>
            <a:r>
              <a:rPr lang="nn-NO" sz="1050" dirty="0">
                <a:solidFill>
                  <a:srgbClr val="000000"/>
                </a:solidFill>
                <a:latin typeface="Consolas" panose="020B0609020204030204" pitchFamily="49" charset="0"/>
              </a:rPr>
              <a:t>                fft_input[i] = AdcPingBufRaw[i]*3.0/4095.0;  </a:t>
            </a:r>
            <a:r>
              <a:rPr lang="nn-NO" sz="1050" dirty="0">
                <a:solidFill>
                  <a:srgbClr val="3F7F5F"/>
                </a:solidFill>
                <a:latin typeface="Consolas" panose="020B0609020204030204" pitchFamily="49" charset="0"/>
              </a:rPr>
              <a:t>// ping data</a:t>
            </a:r>
          </a:p>
          <a:p>
            <a:pPr marL="114300" indent="0" algn="l">
              <a:spcBef>
                <a:spcPts val="0"/>
              </a:spcBef>
              <a:buNone/>
            </a:pPr>
            <a:r>
              <a:rPr lang="en-US" sz="1050" dirty="0">
                <a:solidFill>
                  <a:srgbClr val="000000"/>
                </a:solidFill>
                <a:latin typeface="Consolas" panose="020B0609020204030204" pitchFamily="49" charset="0"/>
              </a:rPr>
              <a:t>            }</a:t>
            </a:r>
          </a:p>
          <a:p>
            <a:pPr marL="114300" indent="0" algn="l">
              <a:spcBef>
                <a:spcPts val="0"/>
              </a:spcBef>
              <a:buNone/>
            </a:pPr>
            <a:r>
              <a:rPr lang="en-US" sz="1050" dirty="0">
                <a:solidFill>
                  <a:srgbClr val="000000"/>
                </a:solidFill>
                <a:latin typeface="Consolas" panose="020B0609020204030204" pitchFamily="49" charset="0"/>
              </a:rPr>
              <a:t>        } </a:t>
            </a:r>
            <a:r>
              <a:rPr lang="en-US" sz="1050" dirty="0">
                <a:solidFill>
                  <a:srgbClr val="7F0055"/>
                </a:solidFill>
                <a:latin typeface="Consolas" panose="020B0609020204030204" pitchFamily="49" charset="0"/>
              </a:rPr>
              <a:t>else</a:t>
            </a:r>
            <a:r>
              <a:rPr lang="en-US" sz="1050" dirty="0">
                <a:solidFill>
                  <a:srgbClr val="000000"/>
                </a:solidFill>
                <a:latin typeface="Consolas" panose="020B0609020204030204" pitchFamily="49" charset="0"/>
              </a:rPr>
              <a:t> </a:t>
            </a:r>
            <a:r>
              <a:rPr lang="en-US" sz="1050" dirty="0">
                <a:solidFill>
                  <a:srgbClr val="7F0055"/>
                </a:solidFill>
                <a:latin typeface="Consolas" panose="020B0609020204030204" pitchFamily="49" charset="0"/>
              </a:rPr>
              <a:t>if</a:t>
            </a:r>
            <a:r>
              <a:rPr lang="en-US" sz="1050" dirty="0">
                <a:solidFill>
                  <a:srgbClr val="000000"/>
                </a:solidFill>
                <a:latin typeface="Consolas" panose="020B0609020204030204" pitchFamily="49" charset="0"/>
              </a:rPr>
              <a:t> (</a:t>
            </a:r>
            <a:r>
              <a:rPr lang="en-US" sz="1050" dirty="0" err="1">
                <a:solidFill>
                  <a:srgbClr val="000000"/>
                </a:solidFill>
                <a:latin typeface="Consolas" panose="020B0609020204030204" pitchFamily="49" charset="0"/>
              </a:rPr>
              <a:t>pongFFT</a:t>
            </a:r>
            <a:r>
              <a:rPr lang="en-US" sz="1050" dirty="0">
                <a:solidFill>
                  <a:srgbClr val="000000"/>
                </a:solidFill>
                <a:latin typeface="Consolas" panose="020B0609020204030204" pitchFamily="49" charset="0"/>
              </a:rPr>
              <a:t> == 1) {</a:t>
            </a:r>
          </a:p>
          <a:p>
            <a:pPr marL="114300" indent="0" algn="l">
              <a:spcBef>
                <a:spcPts val="0"/>
              </a:spcBef>
              <a:buNone/>
            </a:pPr>
            <a:r>
              <a:rPr lang="en-US" sz="1050" dirty="0">
                <a:solidFill>
                  <a:srgbClr val="000000"/>
                </a:solidFill>
                <a:latin typeface="Consolas" panose="020B0609020204030204" pitchFamily="49" charset="0"/>
              </a:rPr>
              <a:t>            </a:t>
            </a:r>
            <a:r>
              <a:rPr lang="en-US" sz="1050" dirty="0" err="1">
                <a:solidFill>
                  <a:srgbClr val="000000"/>
                </a:solidFill>
                <a:latin typeface="Consolas" panose="020B0609020204030204" pitchFamily="49" charset="0"/>
              </a:rPr>
              <a:t>pongFFT</a:t>
            </a:r>
            <a:r>
              <a:rPr lang="en-US" sz="1050" dirty="0">
                <a:solidFill>
                  <a:srgbClr val="000000"/>
                </a:solidFill>
                <a:latin typeface="Consolas" panose="020B0609020204030204" pitchFamily="49" charset="0"/>
              </a:rPr>
              <a:t> = 0;</a:t>
            </a:r>
          </a:p>
          <a:p>
            <a:pPr marL="114300" indent="0" algn="l">
              <a:spcBef>
                <a:spcPts val="0"/>
              </a:spcBef>
              <a:buNone/>
            </a:pPr>
            <a:r>
              <a:rPr lang="en-US" sz="1050" dirty="0">
                <a:solidFill>
                  <a:srgbClr val="000000"/>
                </a:solidFill>
                <a:latin typeface="Consolas" panose="020B0609020204030204" pitchFamily="49" charset="0"/>
              </a:rPr>
              <a:t>            </a:t>
            </a:r>
            <a:r>
              <a:rPr lang="en-US" sz="1050" dirty="0">
                <a:solidFill>
                  <a:srgbClr val="3F7F5F"/>
                </a:solidFill>
                <a:latin typeface="Consolas" panose="020B0609020204030204" pitchFamily="49" charset="0"/>
              </a:rPr>
              <a:t>// Raw ADC data</a:t>
            </a:r>
          </a:p>
          <a:p>
            <a:pPr marL="114300" indent="0" algn="l">
              <a:spcBef>
                <a:spcPts val="0"/>
              </a:spcBef>
              <a:buNone/>
            </a:pPr>
            <a:r>
              <a:rPr lang="en-US" sz="1050" dirty="0">
                <a:solidFill>
                  <a:srgbClr val="000000"/>
                </a:solidFill>
                <a:latin typeface="Consolas" panose="020B0609020204030204" pitchFamily="49" charset="0"/>
              </a:rPr>
              <a:t>            </a:t>
            </a:r>
            <a:r>
              <a:rPr lang="en-US" sz="1050" dirty="0">
                <a:solidFill>
                  <a:srgbClr val="7F0055"/>
                </a:solidFill>
                <a:latin typeface="Consolas" panose="020B0609020204030204" pitchFamily="49" charset="0"/>
              </a:rPr>
              <a:t>for</a:t>
            </a:r>
            <a:r>
              <a:rPr lang="en-US" sz="1050" dirty="0">
                <a:solidFill>
                  <a:srgbClr val="000000"/>
                </a:solidFill>
                <a:latin typeface="Consolas" panose="020B0609020204030204" pitchFamily="49" charset="0"/>
              </a:rPr>
              <a:t>(</a:t>
            </a:r>
            <a:r>
              <a:rPr lang="en-US" sz="1050" dirty="0" err="1">
                <a:solidFill>
                  <a:srgbClr val="000000"/>
                </a:solidFill>
                <a:latin typeface="Consolas" panose="020B0609020204030204" pitchFamily="49" charset="0"/>
              </a:rPr>
              <a:t>i</a:t>
            </a:r>
            <a:r>
              <a:rPr lang="en-US" sz="1050" dirty="0">
                <a:solidFill>
                  <a:srgbClr val="000000"/>
                </a:solidFill>
                <a:latin typeface="Consolas" panose="020B0609020204030204" pitchFamily="49" charset="0"/>
              </a:rPr>
              <a:t>=0; </a:t>
            </a:r>
            <a:r>
              <a:rPr lang="en-US" sz="1050" dirty="0" err="1">
                <a:solidFill>
                  <a:srgbClr val="000000"/>
                </a:solidFill>
                <a:latin typeface="Consolas" panose="020B0609020204030204" pitchFamily="49" charset="0"/>
              </a:rPr>
              <a:t>i</a:t>
            </a:r>
            <a:r>
              <a:rPr lang="en-US" sz="1050" dirty="0">
                <a:solidFill>
                  <a:srgbClr val="000000"/>
                </a:solidFill>
                <a:latin typeface="Consolas" panose="020B0609020204030204" pitchFamily="49" charset="0"/>
              </a:rPr>
              <a:t>&lt;RFFT_SIZE; </a:t>
            </a:r>
            <a:r>
              <a:rPr lang="en-US" sz="1050" dirty="0" err="1">
                <a:solidFill>
                  <a:srgbClr val="000000"/>
                </a:solidFill>
                <a:latin typeface="Consolas" panose="020B0609020204030204" pitchFamily="49" charset="0"/>
              </a:rPr>
              <a:t>i</a:t>
            </a:r>
            <a:r>
              <a:rPr lang="en-US" sz="1050" dirty="0">
                <a:solidFill>
                  <a:srgbClr val="000000"/>
                </a:solidFill>
                <a:latin typeface="Consolas" panose="020B0609020204030204" pitchFamily="49" charset="0"/>
              </a:rPr>
              <a:t>++) {</a:t>
            </a:r>
          </a:p>
          <a:p>
            <a:pPr marL="114300" indent="0" algn="l">
              <a:spcBef>
                <a:spcPts val="0"/>
              </a:spcBef>
              <a:buNone/>
            </a:pPr>
            <a:r>
              <a:rPr lang="en-US" sz="1050" dirty="0">
                <a:solidFill>
                  <a:srgbClr val="000000"/>
                </a:solidFill>
                <a:latin typeface="Consolas" panose="020B0609020204030204" pitchFamily="49" charset="0"/>
              </a:rPr>
              <a:t>                </a:t>
            </a:r>
            <a:r>
              <a:rPr lang="en-US" sz="1050" dirty="0">
                <a:solidFill>
                  <a:srgbClr val="3F7F5F"/>
                </a:solidFill>
                <a:latin typeface="Consolas" panose="020B0609020204030204" pitchFamily="49" charset="0"/>
              </a:rPr>
              <a:t>//--- Read the ADC result:</a:t>
            </a:r>
          </a:p>
          <a:p>
            <a:pPr marL="114300" indent="0" algn="l">
              <a:spcBef>
                <a:spcPts val="0"/>
              </a:spcBef>
              <a:buNone/>
            </a:pPr>
            <a:r>
              <a:rPr lang="en-US" sz="1050" dirty="0">
                <a:solidFill>
                  <a:srgbClr val="000000"/>
                </a:solidFill>
                <a:latin typeface="Consolas" panose="020B0609020204030204" pitchFamily="49" charset="0"/>
              </a:rPr>
              <a:t>                </a:t>
            </a:r>
            <a:r>
              <a:rPr lang="en-US" sz="1050" dirty="0" err="1">
                <a:solidFill>
                  <a:srgbClr val="000000"/>
                </a:solidFill>
                <a:latin typeface="Consolas" panose="020B0609020204030204" pitchFamily="49" charset="0"/>
              </a:rPr>
              <a:t>fft_input</a:t>
            </a:r>
            <a:r>
              <a:rPr lang="en-US" sz="1050" dirty="0">
                <a:solidFill>
                  <a:srgbClr val="000000"/>
                </a:solidFill>
                <a:latin typeface="Consolas" panose="020B0609020204030204" pitchFamily="49" charset="0"/>
              </a:rPr>
              <a:t>[</a:t>
            </a:r>
            <a:r>
              <a:rPr lang="en-US" sz="1050" dirty="0" err="1">
                <a:solidFill>
                  <a:srgbClr val="000000"/>
                </a:solidFill>
                <a:latin typeface="Consolas" panose="020B0609020204030204" pitchFamily="49" charset="0"/>
              </a:rPr>
              <a:t>i</a:t>
            </a:r>
            <a:r>
              <a:rPr lang="en-US" sz="1050" dirty="0">
                <a:solidFill>
                  <a:srgbClr val="000000"/>
                </a:solidFill>
                <a:latin typeface="Consolas" panose="020B0609020204030204" pitchFamily="49" charset="0"/>
              </a:rPr>
              <a:t>] = </a:t>
            </a:r>
            <a:r>
              <a:rPr lang="en-US" sz="1050" dirty="0" err="1">
                <a:solidFill>
                  <a:srgbClr val="000000"/>
                </a:solidFill>
                <a:latin typeface="Consolas" panose="020B0609020204030204" pitchFamily="49" charset="0"/>
              </a:rPr>
              <a:t>AdcPongBufRaw</a:t>
            </a:r>
            <a:r>
              <a:rPr lang="en-US" sz="1050" dirty="0">
                <a:solidFill>
                  <a:srgbClr val="000000"/>
                </a:solidFill>
                <a:latin typeface="Consolas" panose="020B0609020204030204" pitchFamily="49" charset="0"/>
              </a:rPr>
              <a:t>[</a:t>
            </a:r>
            <a:r>
              <a:rPr lang="en-US" sz="1050" dirty="0" err="1">
                <a:solidFill>
                  <a:srgbClr val="000000"/>
                </a:solidFill>
                <a:latin typeface="Consolas" panose="020B0609020204030204" pitchFamily="49" charset="0"/>
              </a:rPr>
              <a:t>i</a:t>
            </a:r>
            <a:r>
              <a:rPr lang="en-US" sz="1050" dirty="0">
                <a:solidFill>
                  <a:srgbClr val="000000"/>
                </a:solidFill>
                <a:latin typeface="Consolas" panose="020B0609020204030204" pitchFamily="49" charset="0"/>
              </a:rPr>
              <a:t>]*3.0/4095.0;  </a:t>
            </a:r>
            <a:r>
              <a:rPr lang="en-US" sz="1050" dirty="0">
                <a:solidFill>
                  <a:srgbClr val="3F7F5F"/>
                </a:solidFill>
                <a:latin typeface="Consolas" panose="020B0609020204030204" pitchFamily="49" charset="0"/>
              </a:rPr>
              <a:t>// pong data</a:t>
            </a:r>
          </a:p>
          <a:p>
            <a:pPr marL="114300" indent="0" algn="l">
              <a:spcBef>
                <a:spcPts val="0"/>
              </a:spcBef>
              <a:buNone/>
            </a:pPr>
            <a:r>
              <a:rPr lang="en-US" sz="1050" dirty="0">
                <a:solidFill>
                  <a:srgbClr val="000000"/>
                </a:solidFill>
                <a:latin typeface="Consolas" panose="020B0609020204030204" pitchFamily="49" charset="0"/>
              </a:rPr>
              <a:t>            }</a:t>
            </a:r>
          </a:p>
          <a:p>
            <a:pPr marL="114300" indent="0" algn="l">
              <a:spcBef>
                <a:spcPts val="0"/>
              </a:spcBef>
              <a:buNone/>
            </a:pPr>
            <a:r>
              <a:rPr lang="en-US" sz="1050" dirty="0">
                <a:solidFill>
                  <a:srgbClr val="000000"/>
                </a:solidFill>
                <a:latin typeface="Consolas" panose="020B0609020204030204" pitchFamily="49" charset="0"/>
              </a:rPr>
              <a:t>        }</a:t>
            </a:r>
          </a:p>
          <a:p>
            <a:pPr marL="114300" indent="0" algn="l">
              <a:spcBef>
                <a:spcPts val="0"/>
              </a:spcBef>
              <a:buNone/>
            </a:pPr>
            <a:r>
              <a:rPr lang="en-US" sz="1050" dirty="0">
                <a:solidFill>
                  <a:srgbClr val="000000"/>
                </a:solidFill>
                <a:latin typeface="Consolas" panose="020B0609020204030204" pitchFamily="49" charset="0"/>
              </a:rPr>
              <a:t>        </a:t>
            </a:r>
          </a:p>
          <a:p>
            <a:pPr marL="114300" indent="0" algn="l">
              <a:spcBef>
                <a:spcPts val="0"/>
              </a:spcBef>
              <a:buNone/>
            </a:pPr>
            <a:r>
              <a:rPr lang="en-US" sz="1050" dirty="0">
                <a:solidFill>
                  <a:srgbClr val="000000"/>
                </a:solidFill>
                <a:latin typeface="Consolas" panose="020B0609020204030204" pitchFamily="49" charset="0"/>
              </a:rPr>
              <a:t>        </a:t>
            </a:r>
            <a:r>
              <a:rPr lang="en-US" sz="1050" dirty="0">
                <a:solidFill>
                  <a:srgbClr val="642880"/>
                </a:solidFill>
                <a:latin typeface="Consolas" panose="020B0609020204030204" pitchFamily="49" charset="0"/>
              </a:rPr>
              <a:t>RFFT_f32</a:t>
            </a:r>
            <a:r>
              <a:rPr lang="en-US" sz="1050" dirty="0">
                <a:solidFill>
                  <a:srgbClr val="000000"/>
                </a:solidFill>
                <a:latin typeface="Consolas" panose="020B0609020204030204" pitchFamily="49" charset="0"/>
              </a:rPr>
              <a:t>(</a:t>
            </a:r>
            <a:r>
              <a:rPr lang="en-US" sz="1050" dirty="0" err="1">
                <a:solidFill>
                  <a:srgbClr val="000000"/>
                </a:solidFill>
                <a:latin typeface="Consolas" panose="020B0609020204030204" pitchFamily="49" charset="0"/>
              </a:rPr>
              <a:t>hnd_rfft</a:t>
            </a:r>
            <a:r>
              <a:rPr lang="en-US" sz="1050" dirty="0">
                <a:solidFill>
                  <a:srgbClr val="000000"/>
                </a:solidFill>
                <a:latin typeface="Consolas" panose="020B0609020204030204" pitchFamily="49" charset="0"/>
              </a:rPr>
              <a:t>);             </a:t>
            </a:r>
            <a:r>
              <a:rPr lang="en-US" sz="1050" dirty="0">
                <a:solidFill>
                  <a:srgbClr val="3F7F5F"/>
                </a:solidFill>
                <a:latin typeface="Consolas" panose="020B0609020204030204" pitchFamily="49" charset="0"/>
              </a:rPr>
              <a:t>// Send the </a:t>
            </a:r>
            <a:r>
              <a:rPr lang="en-US" sz="1050" dirty="0" err="1">
                <a:solidFill>
                  <a:srgbClr val="3F7F5F"/>
                </a:solidFill>
                <a:latin typeface="Consolas" panose="020B0609020204030204" pitchFamily="49" charset="0"/>
              </a:rPr>
              <a:t>fft</a:t>
            </a:r>
            <a:r>
              <a:rPr lang="en-US" sz="1050" dirty="0">
                <a:solidFill>
                  <a:srgbClr val="3F7F5F"/>
                </a:solidFill>
                <a:latin typeface="Consolas" panose="020B0609020204030204" pitchFamily="49" charset="0"/>
              </a:rPr>
              <a:t> data to be calculated</a:t>
            </a:r>
          </a:p>
          <a:p>
            <a:pPr marL="114300" indent="0" algn="l">
              <a:spcBef>
                <a:spcPts val="0"/>
              </a:spcBef>
              <a:buNone/>
            </a:pPr>
            <a:r>
              <a:rPr lang="en-US" sz="1050" dirty="0">
                <a:solidFill>
                  <a:srgbClr val="000000"/>
                </a:solidFill>
                <a:latin typeface="Consolas" panose="020B0609020204030204" pitchFamily="49" charset="0"/>
              </a:rPr>
              <a:t>        </a:t>
            </a:r>
            <a:r>
              <a:rPr lang="en-US" sz="1050" dirty="0">
                <a:solidFill>
                  <a:srgbClr val="642880"/>
                </a:solidFill>
                <a:latin typeface="Consolas" panose="020B0609020204030204" pitchFamily="49" charset="0"/>
              </a:rPr>
              <a:t>RFFT_f32_mag_TMU0</a:t>
            </a:r>
            <a:r>
              <a:rPr lang="en-US" sz="1050" dirty="0">
                <a:solidFill>
                  <a:srgbClr val="000000"/>
                </a:solidFill>
                <a:latin typeface="Consolas" panose="020B0609020204030204" pitchFamily="49" charset="0"/>
              </a:rPr>
              <a:t>(</a:t>
            </a:r>
            <a:r>
              <a:rPr lang="en-US" sz="1050" dirty="0" err="1">
                <a:solidFill>
                  <a:srgbClr val="000000"/>
                </a:solidFill>
                <a:latin typeface="Consolas" panose="020B0609020204030204" pitchFamily="49" charset="0"/>
              </a:rPr>
              <a:t>hnd_rfft</a:t>
            </a:r>
            <a:r>
              <a:rPr lang="en-US" sz="1050" dirty="0">
                <a:solidFill>
                  <a:srgbClr val="000000"/>
                </a:solidFill>
                <a:latin typeface="Consolas" panose="020B0609020204030204" pitchFamily="49" charset="0"/>
              </a:rPr>
              <a:t>);    </a:t>
            </a:r>
            <a:r>
              <a:rPr lang="en-US" sz="1050" dirty="0">
                <a:solidFill>
                  <a:srgbClr val="3F7F5F"/>
                </a:solidFill>
                <a:latin typeface="Consolas" panose="020B0609020204030204" pitchFamily="49" charset="0"/>
              </a:rPr>
              <a:t>//Calculate magnitude</a:t>
            </a:r>
          </a:p>
          <a:p>
            <a:pPr marL="114300" indent="0" algn="l">
              <a:spcBef>
                <a:spcPts val="0"/>
              </a:spcBef>
              <a:buNone/>
            </a:pPr>
            <a:endParaRPr lang="en-US" sz="1050" dirty="0">
              <a:latin typeface="Consolas" panose="020B0609020204030204" pitchFamily="49" charset="0"/>
            </a:endParaRPr>
          </a:p>
          <a:p>
            <a:pPr marL="114300" indent="0" algn="l">
              <a:spcBef>
                <a:spcPts val="0"/>
              </a:spcBef>
              <a:buNone/>
            </a:pPr>
            <a:r>
              <a:rPr lang="en-US" sz="1050" dirty="0">
                <a:solidFill>
                  <a:srgbClr val="000000"/>
                </a:solidFill>
                <a:latin typeface="Consolas" panose="020B0609020204030204" pitchFamily="49" charset="0"/>
              </a:rPr>
              <a:t>        </a:t>
            </a:r>
            <a:r>
              <a:rPr lang="en-US" sz="1050" dirty="0" err="1">
                <a:solidFill>
                  <a:srgbClr val="000000"/>
                </a:solidFill>
                <a:latin typeface="Consolas" panose="020B0609020204030204" pitchFamily="49" charset="0"/>
              </a:rPr>
              <a:t>maxpwr</a:t>
            </a:r>
            <a:r>
              <a:rPr lang="en-US" sz="1050" dirty="0">
                <a:solidFill>
                  <a:srgbClr val="000000"/>
                </a:solidFill>
                <a:latin typeface="Consolas" panose="020B0609020204030204" pitchFamily="49" charset="0"/>
              </a:rPr>
              <a:t> = 0;</a:t>
            </a:r>
          </a:p>
          <a:p>
            <a:pPr marL="114300" indent="0" algn="l">
              <a:spcBef>
                <a:spcPts val="0"/>
              </a:spcBef>
              <a:buNone/>
            </a:pPr>
            <a:r>
              <a:rPr lang="en-US" sz="1050" dirty="0">
                <a:solidFill>
                  <a:srgbClr val="000000"/>
                </a:solidFill>
                <a:latin typeface="Consolas" panose="020B0609020204030204" pitchFamily="49" charset="0"/>
              </a:rPr>
              <a:t>        </a:t>
            </a:r>
            <a:r>
              <a:rPr lang="en-US" sz="1050" dirty="0" err="1">
                <a:solidFill>
                  <a:srgbClr val="000000"/>
                </a:solidFill>
                <a:latin typeface="Consolas" panose="020B0609020204030204" pitchFamily="49" charset="0"/>
              </a:rPr>
              <a:t>maxpwrindex</a:t>
            </a:r>
            <a:r>
              <a:rPr lang="en-US" sz="1050" dirty="0">
                <a:solidFill>
                  <a:srgbClr val="000000"/>
                </a:solidFill>
                <a:latin typeface="Consolas" panose="020B0609020204030204" pitchFamily="49" charset="0"/>
              </a:rPr>
              <a:t> = 0;</a:t>
            </a:r>
          </a:p>
          <a:p>
            <a:pPr marL="114300" indent="0" algn="l">
              <a:spcBef>
                <a:spcPts val="0"/>
              </a:spcBef>
              <a:buNone/>
            </a:pPr>
            <a:endParaRPr lang="en-US" sz="1050" dirty="0">
              <a:latin typeface="Consolas" panose="020B0609020204030204" pitchFamily="49" charset="0"/>
            </a:endParaRPr>
          </a:p>
          <a:p>
            <a:pPr marL="114300" indent="0" algn="l">
              <a:spcBef>
                <a:spcPts val="0"/>
              </a:spcBef>
              <a:buNone/>
            </a:pPr>
            <a:r>
              <a:rPr lang="en-US" sz="1050" dirty="0">
                <a:solidFill>
                  <a:srgbClr val="000000"/>
                </a:solidFill>
                <a:latin typeface="Consolas" panose="020B0609020204030204" pitchFamily="49" charset="0"/>
              </a:rPr>
              <a:t>        </a:t>
            </a:r>
            <a:r>
              <a:rPr lang="en-US" sz="1050" dirty="0">
                <a:solidFill>
                  <a:srgbClr val="3F7F5F"/>
                </a:solidFill>
                <a:latin typeface="Consolas" panose="020B0609020204030204" pitchFamily="49" charset="0"/>
              </a:rPr>
              <a:t>// Ignore the bias ( low frequencies) and find the next max frequency</a:t>
            </a:r>
          </a:p>
          <a:p>
            <a:pPr marL="114300" indent="0" algn="l">
              <a:spcBef>
                <a:spcPts val="0"/>
              </a:spcBef>
              <a:buNone/>
            </a:pPr>
            <a:r>
              <a:rPr lang="en-US" sz="1050" dirty="0">
                <a:solidFill>
                  <a:srgbClr val="000000"/>
                </a:solidFill>
                <a:latin typeface="Consolas" panose="020B0609020204030204" pitchFamily="49" charset="0"/>
              </a:rPr>
              <a:t>        </a:t>
            </a:r>
            <a:r>
              <a:rPr lang="en-US" sz="1050" dirty="0">
                <a:solidFill>
                  <a:srgbClr val="7F0055"/>
                </a:solidFill>
                <a:latin typeface="Consolas" panose="020B0609020204030204" pitchFamily="49" charset="0"/>
              </a:rPr>
              <a:t>for</a:t>
            </a:r>
            <a:r>
              <a:rPr lang="en-US" sz="1050" dirty="0">
                <a:solidFill>
                  <a:srgbClr val="000000"/>
                </a:solidFill>
                <a:latin typeface="Consolas" panose="020B0609020204030204" pitchFamily="49" charset="0"/>
              </a:rPr>
              <a:t> (</a:t>
            </a:r>
            <a:r>
              <a:rPr lang="en-US" sz="1050" dirty="0" err="1">
                <a:solidFill>
                  <a:srgbClr val="000000"/>
                </a:solidFill>
                <a:latin typeface="Consolas" panose="020B0609020204030204" pitchFamily="49" charset="0"/>
              </a:rPr>
              <a:t>i</a:t>
            </a:r>
            <a:r>
              <a:rPr lang="en-US" sz="1050" dirty="0">
                <a:solidFill>
                  <a:srgbClr val="000000"/>
                </a:solidFill>
                <a:latin typeface="Consolas" panose="020B0609020204030204" pitchFamily="49" charset="0"/>
              </a:rPr>
              <a:t>=5;i&lt;(RFFT_SIZE/2);</a:t>
            </a:r>
            <a:r>
              <a:rPr lang="en-US" sz="1050" dirty="0" err="1">
                <a:solidFill>
                  <a:srgbClr val="000000"/>
                </a:solidFill>
                <a:latin typeface="Consolas" panose="020B0609020204030204" pitchFamily="49" charset="0"/>
              </a:rPr>
              <a:t>i</a:t>
            </a:r>
            <a:r>
              <a:rPr lang="en-US" sz="1050" dirty="0">
                <a:solidFill>
                  <a:srgbClr val="000000"/>
                </a:solidFill>
                <a:latin typeface="Consolas" panose="020B0609020204030204" pitchFamily="49" charset="0"/>
              </a:rPr>
              <a:t>++) {</a:t>
            </a:r>
          </a:p>
          <a:p>
            <a:pPr marL="114300" indent="0" algn="l">
              <a:spcBef>
                <a:spcPts val="0"/>
              </a:spcBef>
              <a:buNone/>
            </a:pPr>
            <a:r>
              <a:rPr lang="en-US" sz="1050" dirty="0">
                <a:solidFill>
                  <a:srgbClr val="000000"/>
                </a:solidFill>
                <a:latin typeface="Consolas" panose="020B0609020204030204" pitchFamily="49" charset="0"/>
              </a:rPr>
              <a:t>            </a:t>
            </a:r>
            <a:r>
              <a:rPr lang="en-US" sz="1050" dirty="0">
                <a:solidFill>
                  <a:srgbClr val="7F0055"/>
                </a:solidFill>
                <a:latin typeface="Consolas" panose="020B0609020204030204" pitchFamily="49" charset="0"/>
              </a:rPr>
              <a:t>if</a:t>
            </a:r>
            <a:r>
              <a:rPr lang="en-US" sz="1050" dirty="0">
                <a:solidFill>
                  <a:srgbClr val="000000"/>
                </a:solidFill>
                <a:latin typeface="Consolas" panose="020B0609020204030204" pitchFamily="49" charset="0"/>
              </a:rPr>
              <a:t> (</a:t>
            </a:r>
            <a:r>
              <a:rPr lang="en-US" sz="1050" dirty="0" err="1">
                <a:solidFill>
                  <a:srgbClr val="000000"/>
                </a:solidFill>
                <a:latin typeface="Consolas" panose="020B0609020204030204" pitchFamily="49" charset="0"/>
              </a:rPr>
              <a:t>pwrSpec</a:t>
            </a:r>
            <a:r>
              <a:rPr lang="en-US" sz="1050" dirty="0">
                <a:solidFill>
                  <a:srgbClr val="000000"/>
                </a:solidFill>
                <a:latin typeface="Consolas" panose="020B0609020204030204" pitchFamily="49" charset="0"/>
              </a:rPr>
              <a:t>[</a:t>
            </a:r>
            <a:r>
              <a:rPr lang="en-US" sz="1050" dirty="0" err="1">
                <a:solidFill>
                  <a:srgbClr val="000000"/>
                </a:solidFill>
                <a:latin typeface="Consolas" panose="020B0609020204030204" pitchFamily="49" charset="0"/>
              </a:rPr>
              <a:t>i</a:t>
            </a:r>
            <a:r>
              <a:rPr lang="en-US" sz="1050" dirty="0">
                <a:solidFill>
                  <a:srgbClr val="000000"/>
                </a:solidFill>
                <a:latin typeface="Consolas" panose="020B0609020204030204" pitchFamily="49" charset="0"/>
              </a:rPr>
              <a:t>]&gt;</a:t>
            </a:r>
            <a:r>
              <a:rPr lang="en-US" sz="1050" dirty="0" err="1">
                <a:solidFill>
                  <a:srgbClr val="000000"/>
                </a:solidFill>
                <a:latin typeface="Consolas" panose="020B0609020204030204" pitchFamily="49" charset="0"/>
              </a:rPr>
              <a:t>maxpwr</a:t>
            </a:r>
            <a:r>
              <a:rPr lang="en-US" sz="1050" dirty="0">
                <a:solidFill>
                  <a:srgbClr val="000000"/>
                </a:solidFill>
                <a:latin typeface="Consolas" panose="020B0609020204030204" pitchFamily="49" charset="0"/>
              </a:rPr>
              <a:t>) {</a:t>
            </a:r>
          </a:p>
          <a:p>
            <a:pPr marL="114300" indent="0" algn="l">
              <a:spcBef>
                <a:spcPts val="0"/>
              </a:spcBef>
              <a:buNone/>
            </a:pPr>
            <a:r>
              <a:rPr lang="en-US" sz="1050" dirty="0">
                <a:solidFill>
                  <a:srgbClr val="000000"/>
                </a:solidFill>
                <a:latin typeface="Consolas" panose="020B0609020204030204" pitchFamily="49" charset="0"/>
              </a:rPr>
              <a:t>                </a:t>
            </a:r>
            <a:r>
              <a:rPr lang="en-US" sz="1050" dirty="0" err="1">
                <a:solidFill>
                  <a:srgbClr val="000000"/>
                </a:solidFill>
                <a:latin typeface="Consolas" panose="020B0609020204030204" pitchFamily="49" charset="0"/>
              </a:rPr>
              <a:t>maxpwr</a:t>
            </a:r>
            <a:r>
              <a:rPr lang="en-US" sz="1050" dirty="0">
                <a:solidFill>
                  <a:srgbClr val="000000"/>
                </a:solidFill>
                <a:latin typeface="Consolas" panose="020B0609020204030204" pitchFamily="49" charset="0"/>
              </a:rPr>
              <a:t> = </a:t>
            </a:r>
            <a:r>
              <a:rPr lang="en-US" sz="1050" dirty="0" err="1">
                <a:solidFill>
                  <a:srgbClr val="000000"/>
                </a:solidFill>
                <a:latin typeface="Consolas" panose="020B0609020204030204" pitchFamily="49" charset="0"/>
              </a:rPr>
              <a:t>pwrSpec</a:t>
            </a:r>
            <a:r>
              <a:rPr lang="en-US" sz="1050" dirty="0">
                <a:solidFill>
                  <a:srgbClr val="000000"/>
                </a:solidFill>
                <a:latin typeface="Consolas" panose="020B0609020204030204" pitchFamily="49" charset="0"/>
              </a:rPr>
              <a:t>[</a:t>
            </a:r>
            <a:r>
              <a:rPr lang="en-US" sz="1050" dirty="0" err="1">
                <a:solidFill>
                  <a:srgbClr val="000000"/>
                </a:solidFill>
                <a:latin typeface="Consolas" panose="020B0609020204030204" pitchFamily="49" charset="0"/>
              </a:rPr>
              <a:t>i</a:t>
            </a:r>
            <a:r>
              <a:rPr lang="en-US" sz="1050" dirty="0">
                <a:solidFill>
                  <a:srgbClr val="000000"/>
                </a:solidFill>
                <a:latin typeface="Consolas" panose="020B0609020204030204" pitchFamily="49" charset="0"/>
              </a:rPr>
              <a:t>];</a:t>
            </a:r>
          </a:p>
          <a:p>
            <a:pPr marL="114300" indent="0" algn="l">
              <a:spcBef>
                <a:spcPts val="0"/>
              </a:spcBef>
              <a:buNone/>
            </a:pPr>
            <a:r>
              <a:rPr lang="en-US" sz="1050" dirty="0">
                <a:solidFill>
                  <a:srgbClr val="000000"/>
                </a:solidFill>
                <a:latin typeface="Consolas" panose="020B0609020204030204" pitchFamily="49" charset="0"/>
              </a:rPr>
              <a:t>                </a:t>
            </a:r>
            <a:r>
              <a:rPr lang="en-US" sz="1050" dirty="0" err="1">
                <a:solidFill>
                  <a:srgbClr val="000000"/>
                </a:solidFill>
                <a:latin typeface="Consolas" panose="020B0609020204030204" pitchFamily="49" charset="0"/>
              </a:rPr>
              <a:t>maxpwrindex</a:t>
            </a:r>
            <a:r>
              <a:rPr lang="en-US" sz="1050" dirty="0">
                <a:solidFill>
                  <a:srgbClr val="000000"/>
                </a:solidFill>
                <a:latin typeface="Consolas" panose="020B0609020204030204" pitchFamily="49" charset="0"/>
              </a:rPr>
              <a:t> = </a:t>
            </a:r>
            <a:r>
              <a:rPr lang="en-US" sz="1050" dirty="0" err="1">
                <a:solidFill>
                  <a:srgbClr val="000000"/>
                </a:solidFill>
                <a:latin typeface="Consolas" panose="020B0609020204030204" pitchFamily="49" charset="0"/>
              </a:rPr>
              <a:t>i</a:t>
            </a:r>
            <a:r>
              <a:rPr lang="en-US" sz="1050" dirty="0">
                <a:solidFill>
                  <a:srgbClr val="000000"/>
                </a:solidFill>
                <a:latin typeface="Consolas" panose="020B0609020204030204" pitchFamily="49" charset="0"/>
              </a:rPr>
              <a:t>;</a:t>
            </a:r>
          </a:p>
          <a:p>
            <a:pPr marL="114300" indent="0" algn="l">
              <a:spcBef>
                <a:spcPts val="0"/>
              </a:spcBef>
              <a:buNone/>
            </a:pPr>
            <a:r>
              <a:rPr lang="en-US" sz="1050" dirty="0">
                <a:solidFill>
                  <a:srgbClr val="000000"/>
                </a:solidFill>
                <a:latin typeface="Consolas" panose="020B0609020204030204" pitchFamily="49" charset="0"/>
              </a:rPr>
              <a:t>            }</a:t>
            </a:r>
          </a:p>
          <a:p>
            <a:pPr marL="114300" indent="0" algn="l">
              <a:spcBef>
                <a:spcPts val="0"/>
              </a:spcBef>
              <a:buNone/>
            </a:pPr>
            <a:r>
              <a:rPr lang="en-US" sz="1050" dirty="0">
                <a:solidFill>
                  <a:srgbClr val="000000"/>
                </a:solidFill>
                <a:latin typeface="Consolas" panose="020B0609020204030204" pitchFamily="49" charset="0"/>
              </a:rPr>
              <a:t>        }</a:t>
            </a:r>
          </a:p>
          <a:p>
            <a:pPr marL="114300" indent="0" algn="l">
              <a:spcBef>
                <a:spcPts val="0"/>
              </a:spcBef>
              <a:buNone/>
            </a:pPr>
            <a:r>
              <a:rPr lang="en-US" sz="1050" dirty="0">
                <a:solidFill>
                  <a:srgbClr val="000000"/>
                </a:solidFill>
                <a:latin typeface="Consolas" panose="020B0609020204030204" pitchFamily="49" charset="0"/>
              </a:rPr>
              <a:t>    }</a:t>
            </a:r>
          </a:p>
          <a:p>
            <a:pPr marL="114300" indent="0" algn="l">
              <a:spcBef>
                <a:spcPts val="0"/>
              </a:spcBef>
              <a:buNone/>
            </a:pPr>
            <a:r>
              <a:rPr lang="en-US" sz="1050" dirty="0">
                <a:solidFill>
                  <a:srgbClr val="000000"/>
                </a:solidFill>
                <a:latin typeface="Consolas" panose="020B0609020204030204" pitchFamily="49" charset="0"/>
              </a:rPr>
              <a:t>}</a:t>
            </a:r>
            <a:endParaRPr lang="en-US" sz="1050" dirty="0">
              <a:solidFill>
                <a:schemeClr val="tx1"/>
              </a:solidFill>
              <a:latin typeface="Atkinson Hyperlegible Next"/>
              <a:cs typeface="Arial"/>
              <a:sym typeface="Arial"/>
            </a:endParaRPr>
          </a:p>
        </p:txBody>
      </p:sp>
      <p:sp>
        <p:nvSpPr>
          <p:cNvPr id="119" name="Google Shape;119;p29">
            <a:extLst>
              <a:ext uri="{FF2B5EF4-FFF2-40B4-BE49-F238E27FC236}">
                <a16:creationId xmlns:a16="http://schemas.microsoft.com/office/drawing/2014/main" id="{6BE6D19A-5452-2B18-C85C-51F6DEF0E0E2}"/>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293879E4-8F0A-EAF2-5154-7ED80C260872}"/>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algn="l" lvl="0">
              <a:lnSpc>
                <a:spcPct val="100000"/>
              </a:lnSpc>
              <a:spcBef>
                <a:spcPts val="0"/>
              </a:spcBef>
              <a:spcAft>
                <a:spcPts val="0"/>
              </a:spcAft>
              <a:buSzPts val="2400"/>
            </a:pPr>
            <a:r>
              <a:rPr lang="en-US" sz="2400" b="0" i="0" u="none" strike="noStrike" cap="none" dirty="0">
                <a:solidFill>
                  <a:schemeClr val="lt1"/>
                </a:solidFill>
                <a:latin typeface="Atkinson Hyperlegible Next"/>
                <a:ea typeface="Arial"/>
                <a:cs typeface="Arial"/>
                <a:sym typeface="Arial"/>
              </a:rPr>
              <a:t>FFT Code</a:t>
            </a:r>
            <a:r>
              <a:rPr i="0" b="0" lang="en-US" sz="2400" dirty="0">
                <a:solidFill>
                  <a:schemeClr val="lt1"/>
                </a:solidFill>
              </a:rPr>
              <a:t> - Main</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A102D66E-7393-F64A-E28A-F642F2AC066B}"/>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BBB81ECE-13ED-310C-2F32-EE0F8ED48D51}"/>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5658935D-5E4C-4AEC-A4B1-D5ED76D61B1F}"/>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2A607A72-92E8-B8B7-EE96-9CCF630A73F8}"/>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94ACFF2B-B211-F229-FBD1-BDA1D1D41A8F}"/>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3E42D4EF-43B9-21DF-F9DA-B7A3C68CE0B7}"/>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2601608759"/>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976DE42A-F20F-C1A1-C618-722C23195F2A}"/>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07BE4398-DABB-154A-33E7-9AF4925D2D74}"/>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lvl="0" indent="0">
              <a:lnSpc>
                <a:spcPct val="100000"/>
              </a:lnSpc>
              <a:spcBef>
                <a:spcPts val="0"/>
              </a:spcBef>
              <a:buSzPts val="2000"/>
              <a:buNone/>
            </a:pPr>
            <a:r>
              <a:rPr lang="en-US" sz="2400" dirty="0"/>
              <a:t>Given that we have the </a:t>
            </a:r>
            <a:r>
              <a:rPr lang="en-US" sz="2400" dirty="0" err="1"/>
              <a:t>ePWM</a:t>
            </a:r>
            <a:r>
              <a:rPr lang="en-US" sz="2400" dirty="0"/>
              <a:t> trigger the SOCA every 0.1ms and the FFT requires 1024 values, it thus takes 102.4ms for the data to fully be loaded into the buffers. </a:t>
            </a:r>
          </a:p>
          <a:p>
            <a:pPr marL="0" lvl="0" indent="0">
              <a:lnSpc>
                <a:spcPct val="100000"/>
              </a:lnSpc>
              <a:spcBef>
                <a:spcPts val="0"/>
              </a:spcBef>
              <a:buSzPts val="2000"/>
              <a:buNone/>
            </a:pPr>
            <a:endParaRPr lang="en-US" sz="2400" dirty="0"/>
          </a:p>
          <a:p>
            <a:pPr marL="0" lvl="0" indent="0">
              <a:lnSpc>
                <a:spcPct val="100000"/>
              </a:lnSpc>
              <a:spcBef>
                <a:spcPts val="0"/>
              </a:spcBef>
              <a:buSzPts val="2000"/>
              <a:buNone/>
            </a:pPr>
            <a:r>
              <a:rPr lang="en-US" sz="2400" dirty="0"/>
              <a:t>Thus, to compute the FFT’s full pipeline it takes approximately 10Hz!</a:t>
            </a:r>
          </a:p>
        </p:txBody>
      </p:sp>
      <p:sp>
        <p:nvSpPr>
          <p:cNvPr id="119" name="Google Shape;119;p29">
            <a:extLst>
              <a:ext uri="{FF2B5EF4-FFF2-40B4-BE49-F238E27FC236}">
                <a16:creationId xmlns:a16="http://schemas.microsoft.com/office/drawing/2014/main" id="{54643988-F678-D425-3BD4-7585145F51BA}"/>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9DFBF429-F955-86D0-8083-A9FAB1D76372}"/>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FFT Code</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48159945-3D66-7903-6E66-7B9433902931}"/>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1E75CFC1-1D15-B365-A2AF-7713F8970AF0}"/>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67B215CE-AEFA-8D62-F131-805B10DFE241}"/>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83A7A4ED-4E3E-015D-0BC3-6EDF5495A87E}"/>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29D3F5EC-F133-69BD-FBBD-90B47565E161}"/>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B21F260F-D310-6BC5-AC97-769799A63985}"/>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1606909359"/>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103">
          <a:extLst>
            <a:ext uri="{FF2B5EF4-FFF2-40B4-BE49-F238E27FC236}">
              <a16:creationId xmlns:a16="http://schemas.microsoft.com/office/drawing/2014/main" id="{7EC638A4-F765-FEFC-3482-D8326604041C}"/>
            </a:ext>
          </a:extLst>
        </p:cNvPr>
        <p:cNvGrpSpPr/>
        <p:nvPr/>
      </p:nvGrpSpPr>
      <p:grpSpPr>
        <a:xfrm>
          <a:off x="0" y="0"/>
          <a:ext cx="0" cy="0"/>
          <a:chOff x="0" y="0"/>
          <a:chExt cx="0" cy="0"/>
        </a:xfrm>
      </p:grpSpPr>
      <p:sp>
        <p:nvSpPr>
          <p:cNvPr id="104" name="Google Shape;104;p28">
            <a:extLst>
              <a:ext uri="{FF2B5EF4-FFF2-40B4-BE49-F238E27FC236}">
                <a16:creationId xmlns:a16="http://schemas.microsoft.com/office/drawing/2014/main" id="{F9972CC1-6DF8-C140-C0AD-26D8DDFBDAFC}"/>
              </a:ext>
            </a:extLst>
          </p:cNvPr>
          <p:cNvSpPr/>
          <p:nvPr>
            <p:ph type="title"/>
          </p:nvPr>
        </p:nvSpPr>
        <p:spPr>
          <a:xfrm>
            <a:off x="1295400" y="3225489"/>
            <a:ext cx="9601200" cy="784790"/>
          </a:xfrm>
          <a:prstGeom prst="rect">
            <a:avLst/>
          </a:prstGeom>
          <a:noFill/>
          <a:ln>
            <a:noFill/>
          </a:ln>
        </p:spPr>
        <p:txBody>
          <a:bodyPr spcFirstLastPara="1" wrap="square" lIns="91425" tIns="45700" rIns="91425" bIns="45700" anchor="ctr" anchorCtr="0">
            <a:spAutoFit/>
          </a:bodyPr>
          <a:lstStyle/>
          <a:p>
            <a:pPr marL="0" marR="0" lvl="0" indent="0" algn="ctr" rtl="0">
              <a:lnSpc>
                <a:spcPct val="100000"/>
              </a:lnSpc>
              <a:spcBef>
                <a:spcPts val="0"/>
              </a:spcBef>
              <a:spcAft>
                <a:spcPts val="0"/>
              </a:spcAft>
              <a:buClr>
                <a:srgbClr val="000000"/>
              </a:buClr>
              <a:buSzPts val="4500"/>
              <a:buFont typeface="Arial"/>
              <a:buNone/>
            </a:pPr>
            <a:r>
              <a:rPr lang="en-US" sz="4500" b="1" i="0" u="none" strike="noStrike" cap="none" dirty="0">
                <a:solidFill>
                  <a:srgbClr val="15264B"/>
                </a:solidFill>
                <a:latin typeface="Atkinson Hyperlegible Next"/>
                <a:ea typeface="Arial"/>
                <a:cs typeface="Arial"/>
                <a:sym typeface="Arial"/>
              </a:rPr>
              <a:t>FIR Filters</a:t>
            </a:r>
            <a:endParaRPr sz="1800" b="0" i="0" u="none" strike="noStrike" cap="none" dirty="0">
              <a:solidFill>
                <a:srgbClr val="15264B"/>
              </a:solidFill>
              <a:latin typeface="Atkinson Hyperlegible Next"/>
              <a:ea typeface="Arial"/>
              <a:cs typeface="Arial"/>
              <a:sym typeface="Arial"/>
            </a:endParaRPr>
          </a:p>
        </p:txBody>
      </p:sp>
      <p:grpSp>
        <p:nvGrpSpPr>
          <p:cNvPr id="105" name="Google Shape;105;p28">
            <a:extLst>
              <a:ext uri="{FF2B5EF4-FFF2-40B4-BE49-F238E27FC236}">
                <a16:creationId xmlns:a16="http://schemas.microsoft.com/office/drawing/2014/main" id="{F31B6DEE-FD88-5270-5207-5AD806407B09}"/>
              </a:ext>
            </a:extLst>
          </p:cNvPr>
          <p:cNvGrpSpPr/>
          <p:nvPr/>
        </p:nvGrpSpPr>
        <p:grpSpPr>
          <a:xfrm>
            <a:off x="3943790" y="2676939"/>
            <a:ext cx="3861740" cy="322845"/>
            <a:chOff x="3943790" y="2676939"/>
            <a:chExt cx="3861740" cy="322845"/>
          </a:xfrm>
        </p:grpSpPr>
        <p:cxnSp>
          <p:nvCxnSpPr>
            <p:cNvPr id="106" name="Google Shape;106;p28">
              <a:extLst>
                <a:ext uri="{FF2B5EF4-FFF2-40B4-BE49-F238E27FC236}">
                  <a16:creationId xmlns:a16="http://schemas.microsoft.com/office/drawing/2014/main" id="{09AA2069-069B-2F17-657B-BFFDDABFF01A}"/>
                </a:ext>
              </a:extLst>
            </p:cNvPr>
            <p:cNvCxnSpPr/>
            <p:nvPr/>
          </p:nvCxnSpPr>
          <p:spPr>
            <a:xfrm>
              <a:off x="4426226" y="2676939"/>
              <a:ext cx="3379304" cy="0"/>
            </a:xfrm>
            <a:prstGeom prst="straightConnector1">
              <a:avLst/>
            </a:prstGeom>
            <a:noFill/>
            <a:ln w="19050" cap="flat" cmpd="sng">
              <a:solidFill>
                <a:schemeClr val="lt1"/>
              </a:solidFill>
              <a:prstDash val="solid"/>
              <a:round/>
              <a:headEnd type="none" w="sm" len="sm"/>
              <a:tailEnd type="none" w="sm" len="sm"/>
            </a:ln>
          </p:spPr>
        </p:cxnSp>
        <p:cxnSp>
          <p:nvCxnSpPr>
            <p:cNvPr id="107" name="Google Shape;107;p28">
              <a:extLst>
                <a:ext uri="{FF2B5EF4-FFF2-40B4-BE49-F238E27FC236}">
                  <a16:creationId xmlns:a16="http://schemas.microsoft.com/office/drawing/2014/main" id="{A681EE2C-173F-9BE0-497A-96F0E114B9E6}"/>
                </a:ext>
              </a:extLst>
            </p:cNvPr>
            <p:cNvCxnSpPr/>
            <p:nvPr/>
          </p:nvCxnSpPr>
          <p:spPr>
            <a:xfrm rot="10800000" flipH="1">
              <a:off x="3943790" y="2676939"/>
              <a:ext cx="482436" cy="322845"/>
            </a:xfrm>
            <a:prstGeom prst="straightConnector1">
              <a:avLst/>
            </a:prstGeom>
            <a:noFill/>
            <a:ln w="19050" cap="flat" cmpd="sng">
              <a:solidFill>
                <a:schemeClr val="lt1"/>
              </a:solidFill>
              <a:prstDash val="solid"/>
              <a:round/>
              <a:headEnd type="none" w="sm" len="sm"/>
              <a:tailEnd type="none" w="sm" len="sm"/>
            </a:ln>
          </p:spPr>
        </p:cxnSp>
      </p:grpSp>
      <p:pic>
        <p:nvPicPr>
          <p:cNvPr id="108" name="Google Shape;108;p28">
            <a:extLst>
              <a:ext uri="{C183D7F6-B498-43B3-948B-1728B52AA6E4}">
                <adec:decorative xmlns:adec="http://schemas.microsoft.com/office/drawing/2017/decorative" val="1"/>
              </a:ext>
              <a:ext uri="{FF2B5EF4-FFF2-40B4-BE49-F238E27FC236}">
                <a16:creationId xmlns:a16="http://schemas.microsoft.com/office/drawing/2014/main" id="{741B976F-231B-489E-9CEF-714084DB8B3E}"/>
              </a:ext>
            </a:extLst>
          </p:cNvPr>
          <p:cNvPicPr preferRelativeResize="0"/>
          <p:nvPr/>
        </p:nvPicPr>
        <p:blipFill rotWithShape="1">
          <a:blip r:embed="rId4">
            <a:alphaModFix/>
          </a:blip>
          <a:srcRect/>
          <a:stretch/>
        </p:blipFill>
        <p:spPr>
          <a:xfrm>
            <a:off x="11557509" y="233819"/>
            <a:ext cx="271308" cy="389811"/>
          </a:xfrm>
          <a:prstGeom prst="rect">
            <a:avLst/>
          </a:prstGeom>
          <a:noFill/>
          <a:ln>
            <a:noFill/>
          </a:ln>
        </p:spPr>
      </p:pic>
      <p:sp>
        <p:nvSpPr>
          <p:cNvPr id="109" name="Google Shape;109;p28">
            <a:extLst>
              <a:ext uri="{FF2B5EF4-FFF2-40B4-BE49-F238E27FC236}">
                <a16:creationId xmlns:a16="http://schemas.microsoft.com/office/drawing/2014/main" id="{01BC63CD-BF15-40E8-7AFC-3CB305A7A1CC}"/>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10" name="Google Shape;110;p28">
            <a:extLst>
              <a:ext uri="{FF2B5EF4-FFF2-40B4-BE49-F238E27FC236}">
                <a16:creationId xmlns:a16="http://schemas.microsoft.com/office/drawing/2014/main" id="{D1E599DF-5A3F-C139-F991-698A62675853}"/>
              </a:ext>
            </a:extLst>
          </p:cNvPr>
          <p:cNvSpPr txBox="1"/>
          <p:nvPr/>
        </p:nvSpPr>
        <p:spPr>
          <a:xfrm>
            <a:off x="376807" y="6524381"/>
            <a:ext cx="7991400" cy="230700"/>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a:t>
            </a:r>
            <a:endParaRPr dirty="0"/>
          </a:p>
        </p:txBody>
      </p:sp>
      <p:grpSp>
        <p:nvGrpSpPr>
          <p:cNvPr id="111" name="Google Shape;111;p28">
            <a:extLst>
              <a:ext uri="{FF2B5EF4-FFF2-40B4-BE49-F238E27FC236}">
                <a16:creationId xmlns:a16="http://schemas.microsoft.com/office/drawing/2014/main" id="{5F30FCCD-F8C8-7EA2-011E-BE1AD7FD4FBA}"/>
              </a:ext>
            </a:extLst>
          </p:cNvPr>
          <p:cNvGrpSpPr/>
          <p:nvPr/>
        </p:nvGrpSpPr>
        <p:grpSpPr>
          <a:xfrm>
            <a:off x="4066674" y="6601537"/>
            <a:ext cx="5233412" cy="70446"/>
            <a:chOff x="4033424" y="6601537"/>
            <a:chExt cx="5233412" cy="70446"/>
          </a:xfrm>
        </p:grpSpPr>
        <p:cxnSp>
          <p:nvCxnSpPr>
            <p:cNvPr id="112" name="Google Shape;112;p28">
              <a:extLst>
                <a:ext uri="{FF2B5EF4-FFF2-40B4-BE49-F238E27FC236}">
                  <a16:creationId xmlns:a16="http://schemas.microsoft.com/office/drawing/2014/main" id="{11D64D91-7B46-E35D-E635-66B21AF7DA1C}"/>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13" name="Google Shape;113;p28">
              <a:extLst>
                <a:ext uri="{FF2B5EF4-FFF2-40B4-BE49-F238E27FC236}">
                  <a16:creationId xmlns:a16="http://schemas.microsoft.com/office/drawing/2014/main" id="{036A8A30-1259-8DDB-B6F5-A0C284376D0A}"/>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2559306291"/>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21A120AC-2D20-9FCC-03E3-64935AF72AF8}"/>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64357D04-8CAC-6E2F-38FC-90FEF45B86F7}"/>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lvl="0" indent="0">
              <a:lnSpc>
                <a:spcPct val="100000"/>
              </a:lnSpc>
              <a:spcBef>
                <a:spcPts val="0"/>
              </a:spcBef>
              <a:buSzPts val="2000"/>
              <a:buNone/>
            </a:pPr>
            <a:r>
              <a:rPr lang="en-US" dirty="0">
                <a:latin typeface="+mj-lt"/>
                <a:cs typeface="Arial"/>
                <a:sym typeface="Arial"/>
              </a:rPr>
              <a:t>Imagine you are building a robot that has an analog distance sensor, you feed it into your ADC and look at the output.</a:t>
            </a:r>
          </a:p>
          <a:p>
            <a:pPr marL="0" lvl="0" indent="0">
              <a:lnSpc>
                <a:spcPct val="100000"/>
              </a:lnSpc>
              <a:spcBef>
                <a:spcPts val="0"/>
              </a:spcBef>
              <a:buSzPts val="2000"/>
              <a:buNone/>
            </a:pPr>
            <a:endParaRPr lang="en-US" dirty="0">
              <a:latin typeface="+mj-lt"/>
              <a:cs typeface="Arial"/>
              <a:sym typeface="Arial"/>
            </a:endParaRPr>
          </a:p>
          <a:p>
            <a:pPr marL="0" lvl="0" indent="0">
              <a:lnSpc>
                <a:spcPct val="100000"/>
              </a:lnSpc>
              <a:spcBef>
                <a:spcPts val="0"/>
              </a:spcBef>
              <a:buSzPts val="2000"/>
              <a:buNone/>
            </a:pPr>
            <a:r>
              <a:rPr lang="en-US" dirty="0">
                <a:latin typeface="+mj-lt"/>
                <a:cs typeface="Arial"/>
                <a:sym typeface="Arial"/>
              </a:rPr>
              <a:t>Instead of a smooth line telling you the wall is exactly 10cm away, the signal looks noisy.</a:t>
            </a:r>
          </a:p>
          <a:p>
            <a:pPr marL="0" lvl="0" indent="0">
              <a:lnSpc>
                <a:spcPct val="100000"/>
              </a:lnSpc>
              <a:spcBef>
                <a:spcPts val="0"/>
              </a:spcBef>
              <a:buSzPts val="2000"/>
              <a:buNone/>
            </a:pPr>
            <a:endParaRPr lang="en-US" dirty="0">
              <a:latin typeface="+mj-lt"/>
              <a:cs typeface="Arial"/>
              <a:sym typeface="Arial"/>
            </a:endParaRPr>
          </a:p>
          <a:p>
            <a:pPr marL="0" lvl="0" indent="0">
              <a:lnSpc>
                <a:spcPct val="100000"/>
              </a:lnSpc>
              <a:spcBef>
                <a:spcPts val="0"/>
              </a:spcBef>
              <a:buSzPts val="2000"/>
              <a:buNone/>
            </a:pPr>
            <a:r>
              <a:rPr lang="en-US" dirty="0">
                <a:latin typeface="+mj-lt"/>
              </a:rPr>
              <a:t>Intuitively</a:t>
            </a:r>
            <a:r>
              <a:rPr lang="en-US" dirty="0">
                <a:latin typeface="+mj-lt"/>
                <a:cs typeface="Arial"/>
                <a:sym typeface="Arial"/>
              </a:rPr>
              <a:t> how would you smooth that data (think simple)?</a:t>
            </a:r>
          </a:p>
          <a:p>
            <a:pPr marL="0" lvl="0" indent="0">
              <a:lnSpc>
                <a:spcPct val="100000"/>
              </a:lnSpc>
              <a:spcBef>
                <a:spcPts val="0"/>
              </a:spcBef>
              <a:buSzPts val="2000"/>
              <a:buNone/>
            </a:pPr>
            <a:endParaRPr lang="en-US" dirty="0">
              <a:latin typeface="+mj-lt"/>
              <a:cs typeface="Arial"/>
              <a:sym typeface="Arial"/>
            </a:endParaRPr>
          </a:p>
          <a:p>
            <a:pPr marL="0" lvl="0" indent="0">
              <a:lnSpc>
                <a:spcPct val="100000"/>
              </a:lnSpc>
              <a:spcBef>
                <a:spcPts val="0"/>
              </a:spcBef>
              <a:buSzPts val="2000"/>
              <a:buNone/>
            </a:pPr>
            <a:r>
              <a:rPr lang="en-US" dirty="0">
                <a:latin typeface="+mj-lt"/>
                <a:cs typeface="Arial"/>
                <a:sym typeface="Arial"/>
              </a:rPr>
              <a:t>You can just take the average of the last 5 points and the noise, spikes will attenuate!</a:t>
            </a:r>
            <a:endParaRPr lang="en-US" dirty="0">
              <a:latin typeface="+mj-lt"/>
            </a:endParaRPr>
          </a:p>
        </p:txBody>
      </p:sp>
      <p:sp>
        <p:nvSpPr>
          <p:cNvPr id="119" name="Google Shape;119;p29">
            <a:extLst>
              <a:ext uri="{FF2B5EF4-FFF2-40B4-BE49-F238E27FC236}">
                <a16:creationId xmlns:a16="http://schemas.microsoft.com/office/drawing/2014/main" id="{70DD9B02-892E-ED37-8755-51E765C06D50}"/>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C3459597-2113-2076-9C08-E130E0609B19}"/>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FIR Filter</a:t>
            </a:r>
            <a:endParaRPr lang="en-US"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739DAADA-EC94-6652-B755-75735C586B43}"/>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17EC4B05-6FCA-DEC4-830C-4F6E86BECF3E}"/>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A5A0992B-0743-78A4-2DBE-676B191BD0D9}"/>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444DCFF6-0041-3427-173B-980164462DBB}"/>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ACB38ED6-8EDA-CECD-390E-374296B0F430}"/>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459B5B17-596E-49A3-DBC0-7DAE074D0741}"/>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188705323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8" grpId="0" uiExpand="1" build="p"/>
    </p:bldLst>
  </p:timing>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CFE22ADC-56DC-2E50-0698-A77C1FC20F14}"/>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9E62B5A9-5F3A-0AD9-E9B9-94F79E775C96}"/>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lvl="0" indent="0">
                  <a:lnSpc>
                    <a:spcPct val="100000"/>
                  </a:lnSpc>
                  <a:spcBef>
                    <a:spcPts val="0"/>
                  </a:spcBef>
                  <a:buSzPts val="2000"/>
                  <a:buNone/>
                </a:pPr>
                <a:r>
                  <a:rPr lang="en-US" dirty="0">
                    <a:latin typeface="+mj-lt"/>
                  </a:rPr>
                  <a:t>Mathematically, at our current time step </a:t>
                </a:r>
                <a14:m>
                  <m:oMath xmlns:m="http://schemas.openxmlformats.org/officeDocument/2006/math">
                    <m:r>
                      <m:rPr>
                        <m:sty m:val="p"/>
                      </m:rPr>
                      <a:rPr lang="en-US" b="0" i="1" smtClean="0">
                        <a:latin typeface="Cambria Math" panose="02040503050406030204" pitchFamily="18" charset="0"/>
                      </a:rPr>
                      <m:t>n</m:t>
                    </m:r>
                  </m:oMath>
                </a14:m>
                <a:r>
                  <a:rPr lang="en-US" dirty="0">
                    <a:latin typeface="+mj-lt"/>
                  </a:rPr>
                  <a:t>, our filtered output </a:t>
                </a:r>
                <a14:m>
                  <m:oMath xmlns:m="http://schemas.openxmlformats.org/officeDocument/2006/math">
                    <m:r>
                      <m:rPr>
                        <m:sty m:val="p"/>
                      </m:rPr>
                      <a:rPr lang="en-US" b="0" i="1" smtClean="0">
                        <a:latin typeface="Cambria Math" panose="02040503050406030204" pitchFamily="18" charset="0"/>
                      </a:rPr>
                      <m:t>y</m:t>
                    </m:r>
                    <m:r>
                      <a:rPr lang="en-US" b="0" i="1" smtClean="0">
                        <a:latin typeface="Cambria Math" panose="02040503050406030204" pitchFamily="18" charset="0"/>
                      </a:rPr>
                      <m:t>[</m:t>
                    </m:r>
                    <m:r>
                      <m:rPr>
                        <m:sty m:val="p"/>
                      </m:rPr>
                      <a:rPr lang="en-US" b="0" i="1" smtClean="0">
                        <a:latin typeface="Cambria Math" panose="02040503050406030204" pitchFamily="18" charset="0"/>
                      </a:rPr>
                      <m:t>n</m:t>
                    </m:r>
                    <m:r>
                      <a:rPr lang="en-US" b="0" i="1" smtClean="0">
                        <a:latin typeface="Cambria Math" panose="02040503050406030204" pitchFamily="18" charset="0"/>
                      </a:rPr>
                      <m:t>]</m:t>
                    </m:r>
                  </m:oMath>
                </a14:m>
                <a:r>
                  <a:rPr lang="en-US" dirty="0">
                    <a:latin typeface="+mj-lt"/>
                  </a:rPr>
                  <a:t> based on our noisy input's </a:t>
                </a:r>
                <a14:m>
                  <m:oMath xmlns:m="http://schemas.openxmlformats.org/officeDocument/2006/math">
                    <m:r>
                      <m:rPr>
                        <m:sty m:val="p"/>
                      </m:rPr>
                      <a:rPr lang="en-US" b="0" i="1" smtClean="0">
                        <a:latin typeface="Cambria Math" panose="02040503050406030204" pitchFamily="18" charset="0"/>
                      </a:rPr>
                      <m:t>x</m:t>
                    </m:r>
                    <m:r>
                      <a:rPr lang="en-US" b="0" i="1" smtClean="0">
                        <a:latin typeface="Cambria Math" panose="02040503050406030204" pitchFamily="18" charset="0"/>
                      </a:rPr>
                      <m:t>[</m:t>
                    </m:r>
                    <m:r>
                      <m:rPr>
                        <m:sty m:val="p"/>
                      </m:rPr>
                      <a:rPr lang="en-US" b="0" i="1" smtClean="0">
                        <a:latin typeface="Cambria Math" panose="02040503050406030204" pitchFamily="18" charset="0"/>
                      </a:rPr>
                      <m:t>n</m:t>
                    </m:r>
                    <m:r>
                      <a:rPr lang="en-US" b="0" i="1" smtClean="0">
                        <a:latin typeface="Cambria Math" panose="02040503050406030204" pitchFamily="18" charset="0"/>
                      </a:rPr>
                      <m:t>]</m:t>
                    </m:r>
                  </m:oMath>
                </a14:m>
                <a:r>
                  <a:rPr lang="en-US" dirty="0">
                    <a:latin typeface="+mj-lt"/>
                  </a:rPr>
                  <a:t> looks like this:</a:t>
                </a:r>
              </a:p>
              <a:p>
                <a:pPr marL="0" lvl="0" indent="0">
                  <a:lnSpc>
                    <a:spcPct val="100000"/>
                  </a:lnSpc>
                  <a:spcBef>
                    <a:spcPts val="0"/>
                  </a:spcBef>
                  <a:buSzPts val="2000"/>
                  <a:buNone/>
                </a:pPr>
                <a:endParaRPr lang="en-US" dirty="0">
                  <a:latin typeface="+mj-lt"/>
                </a:endParaRPr>
              </a:p>
              <a:p>
                <a:pPr marL="0" lvl="0" indent="0">
                  <a:lnSpc>
                    <a:spcPct val="100000"/>
                  </a:lnSpc>
                  <a:spcBef>
                    <a:spcPts val="0"/>
                  </a:spcBef>
                  <a:buSzPts val="2000"/>
                  <a:buNone/>
                </a:pPr>
                <a14:m>
                  <m:oMathPara xmlns:m="http://schemas.openxmlformats.org/officeDocument/2006/math">
                    <m:oMathParaPr>
                      <m:jc m:val="centerGroup"/>
                    </m:oMathParaPr>
                    <m:oMath xmlns:m="http://schemas.openxmlformats.org/officeDocument/2006/math">
                      <m:r>
                        <m:rPr>
                          <m:sty m:val="p"/>
                        </m:rPr>
                        <a:rPr lang="en-US" b="0" i="1" smtClean="0">
                          <a:latin typeface="Cambria Math" panose="02040503050406030204" pitchFamily="18" charset="0"/>
                        </a:rPr>
                        <m:t>y</m:t>
                      </m:r>
                      <m:r>
                        <a:rPr lang="en-US" b="0" i="1" smtClean="0">
                          <a:latin typeface="Cambria Math" panose="02040503050406030204" pitchFamily="18" charset="0"/>
                        </a:rPr>
                        <m:t>[</m:t>
                      </m:r>
                      <m:r>
                        <m:rPr>
                          <m:sty m:val="p"/>
                        </m:rPr>
                        <a:rPr lang="en-US" b="0" i="1" smtClean="0">
                          <a:latin typeface="Cambria Math" panose="02040503050406030204" pitchFamily="18" charset="0"/>
                        </a:rPr>
                        <m:t>n</m:t>
                      </m:r>
                      <m:r>
                        <a:rPr lang="en-US" b="0" i="1" smtClean="0">
                          <a:latin typeface="Cambria Math" panose="02040503050406030204" pitchFamily="18" charset="0"/>
                        </a:rPr>
                        <m:t>]=</m:t>
                      </m:r>
                      <m:f>
                        <m:fPr>
                          <m:ctrlPr>
                            <a:rPr lang="en-US" b="0" i="1" smtClean="0">
                              <a:latin typeface="Cambria Math" panose="02040503050406030204" pitchFamily="18" charset="0"/>
                            </a:rPr>
                          </m:ctrlPr>
                        </m:fPr>
                        <m:num>
                          <m:r>
                            <a:rPr lang="en-US" b="0" i="1" smtClean="0">
                              <a:latin typeface="Cambria Math" panose="02040503050406030204" pitchFamily="18" charset="0"/>
                            </a:rPr>
                            <m:t>1</m:t>
                          </m:r>
                        </m:num>
                        <m:den>
                          <m:r>
                            <a:rPr lang="en-US" b="0" i="1" smtClean="0">
                              <a:latin typeface="Cambria Math" panose="02040503050406030204" pitchFamily="18" charset="0"/>
                            </a:rPr>
                            <m:t>5</m:t>
                          </m:r>
                        </m:den>
                      </m:f>
                      <m:r>
                        <m:rPr>
                          <m:sty m:val="p"/>
                        </m:rPr>
                        <a:rPr lang="en-US" b="0" i="1" smtClean="0">
                          <a:latin typeface="Cambria Math" panose="02040503050406030204" pitchFamily="18" charset="0"/>
                        </a:rPr>
                        <m:t>x</m:t>
                      </m:r>
                      <m:r>
                        <a:rPr lang="en-US" b="0" i="1" smtClean="0">
                          <a:latin typeface="Cambria Math" panose="02040503050406030204" pitchFamily="18" charset="0"/>
                        </a:rPr>
                        <m:t>[</m:t>
                      </m:r>
                      <m:r>
                        <m:rPr>
                          <m:sty m:val="p"/>
                        </m:rPr>
                        <a:rPr lang="en-US" b="0" i="1" smtClean="0">
                          <a:latin typeface="Cambria Math" panose="02040503050406030204" pitchFamily="18" charset="0"/>
                        </a:rPr>
                        <m:t>n</m:t>
                      </m:r>
                      <m:r>
                        <a:rPr lang="en-US" b="0" i="1" smtClean="0">
                          <a:latin typeface="Cambria Math" panose="02040503050406030204" pitchFamily="18" charset="0"/>
                        </a:rPr>
                        <m:t>]+</m:t>
                      </m:r>
                      <m:f>
                        <m:fPr>
                          <m:ctrlPr>
                            <a:rPr lang="en-US" i="1">
                              <a:latin typeface="Cambria Math" panose="02040503050406030204" pitchFamily="18" charset="0"/>
                            </a:rPr>
                          </m:ctrlPr>
                        </m:fPr>
                        <m:num>
                          <m:r>
                            <a:rPr lang="en-US" i="1">
                              <a:latin typeface="Cambria Math" panose="02040503050406030204" pitchFamily="18" charset="0"/>
                            </a:rPr>
                            <m:t>1</m:t>
                          </m:r>
                        </m:num>
                        <m:den>
                          <m:r>
                            <a:rPr lang="en-US" i="1">
                              <a:latin typeface="Cambria Math" panose="02040503050406030204" pitchFamily="18" charset="0"/>
                            </a:rPr>
                            <m:t>5</m:t>
                          </m:r>
                        </m:den>
                      </m:f>
                      <m:r>
                        <m:rPr>
                          <m:sty m:val="p"/>
                        </m:rPr>
                        <a:rPr lang="en-US" i="1">
                          <a:latin typeface="Cambria Math" panose="02040503050406030204" pitchFamily="18" charset="0"/>
                        </a:rPr>
                        <m:t>x</m:t>
                      </m:r>
                      <m:r>
                        <a:rPr lang="en-US" i="1">
                          <a:latin typeface="Cambria Math" panose="02040503050406030204" pitchFamily="18" charset="0"/>
                        </a:rPr>
                        <m:t>[</m:t>
                      </m:r>
                      <m:r>
                        <m:rPr>
                          <m:sty m:val="p"/>
                        </m:rPr>
                        <a:rPr lang="en-US" i="1">
                          <a:latin typeface="Cambria Math" panose="02040503050406030204" pitchFamily="18" charset="0"/>
                        </a:rPr>
                        <m:t>n</m:t>
                      </m:r>
                      <m:r>
                        <a:rPr lang="en-US" b="0" i="1" smtClean="0">
                          <a:latin typeface="Cambria Math" panose="02040503050406030204" pitchFamily="18" charset="0"/>
                        </a:rPr>
                        <m:t>−1</m:t>
                      </m:r>
                      <m:r>
                        <a:rPr lang="en-US" i="1">
                          <a:latin typeface="Cambria Math" panose="02040503050406030204" pitchFamily="18" charset="0"/>
                        </a:rPr>
                        <m:t>]+</m:t>
                      </m:r>
                      <m:f>
                        <m:fPr>
                          <m:ctrlPr>
                            <a:rPr lang="en-US" i="1">
                              <a:latin typeface="Cambria Math" panose="02040503050406030204" pitchFamily="18" charset="0"/>
                            </a:rPr>
                          </m:ctrlPr>
                        </m:fPr>
                        <m:num>
                          <m:r>
                            <a:rPr lang="en-US" i="1">
                              <a:latin typeface="Cambria Math" panose="02040503050406030204" pitchFamily="18" charset="0"/>
                            </a:rPr>
                            <m:t>1</m:t>
                          </m:r>
                        </m:num>
                        <m:den>
                          <m:r>
                            <a:rPr lang="en-US" i="1">
                              <a:latin typeface="Cambria Math" panose="02040503050406030204" pitchFamily="18" charset="0"/>
                            </a:rPr>
                            <m:t>5</m:t>
                          </m:r>
                        </m:den>
                      </m:f>
                      <m:r>
                        <m:rPr>
                          <m:sty m:val="p"/>
                        </m:rPr>
                        <a:rPr lang="en-US" i="1">
                          <a:latin typeface="Cambria Math" panose="02040503050406030204" pitchFamily="18" charset="0"/>
                        </a:rPr>
                        <m:t>x</m:t>
                      </m:r>
                      <m:r>
                        <a:rPr lang="en-US" i="1">
                          <a:latin typeface="Cambria Math" panose="02040503050406030204" pitchFamily="18" charset="0"/>
                        </a:rPr>
                        <m:t>[</m:t>
                      </m:r>
                      <m:r>
                        <m:rPr>
                          <m:sty m:val="p"/>
                        </m:rPr>
                        <a:rPr lang="en-US" i="1">
                          <a:latin typeface="Cambria Math" panose="02040503050406030204" pitchFamily="18" charset="0"/>
                        </a:rPr>
                        <m:t>n</m:t>
                      </m:r>
                      <m:r>
                        <a:rPr lang="en-US" b="0" i="1" smtClean="0">
                          <a:latin typeface="Cambria Math" panose="02040503050406030204" pitchFamily="18" charset="0"/>
                        </a:rPr>
                        <m:t>−2</m:t>
                      </m:r>
                      <m:r>
                        <a:rPr lang="en-US" i="1">
                          <a:latin typeface="Cambria Math" panose="02040503050406030204" pitchFamily="18" charset="0"/>
                        </a:rPr>
                        <m:t>]+</m:t>
                      </m:r>
                      <m:f>
                        <m:fPr>
                          <m:ctrlPr>
                            <a:rPr lang="en-US" i="1">
                              <a:latin typeface="Cambria Math" panose="02040503050406030204" pitchFamily="18" charset="0"/>
                            </a:rPr>
                          </m:ctrlPr>
                        </m:fPr>
                        <m:num>
                          <m:r>
                            <a:rPr lang="en-US" i="1">
                              <a:latin typeface="Cambria Math" panose="02040503050406030204" pitchFamily="18" charset="0"/>
                            </a:rPr>
                            <m:t>1</m:t>
                          </m:r>
                        </m:num>
                        <m:den>
                          <m:r>
                            <a:rPr lang="en-US" i="1">
                              <a:latin typeface="Cambria Math" panose="02040503050406030204" pitchFamily="18" charset="0"/>
                            </a:rPr>
                            <m:t>5</m:t>
                          </m:r>
                        </m:den>
                      </m:f>
                      <m:r>
                        <m:rPr>
                          <m:sty m:val="p"/>
                        </m:rPr>
                        <a:rPr lang="en-US" i="1">
                          <a:latin typeface="Cambria Math" panose="02040503050406030204" pitchFamily="18" charset="0"/>
                        </a:rPr>
                        <m:t>x</m:t>
                      </m:r>
                      <m:r>
                        <a:rPr lang="en-US" i="1">
                          <a:latin typeface="Cambria Math" panose="02040503050406030204" pitchFamily="18" charset="0"/>
                        </a:rPr>
                        <m:t>[</m:t>
                      </m:r>
                      <m:r>
                        <m:rPr>
                          <m:sty m:val="p"/>
                        </m:rPr>
                        <a:rPr lang="en-US" i="1">
                          <a:latin typeface="Cambria Math" panose="02040503050406030204" pitchFamily="18" charset="0"/>
                        </a:rPr>
                        <m:t>n</m:t>
                      </m:r>
                      <m:r>
                        <a:rPr lang="en-US" b="0" i="1" smtClean="0">
                          <a:latin typeface="Cambria Math" panose="02040503050406030204" pitchFamily="18" charset="0"/>
                        </a:rPr>
                        <m:t>−3</m:t>
                      </m:r>
                      <m:r>
                        <a:rPr lang="en-US" i="1">
                          <a:latin typeface="Cambria Math" panose="02040503050406030204" pitchFamily="18" charset="0"/>
                        </a:rPr>
                        <m:t>]+</m:t>
                      </m:r>
                      <m:f>
                        <m:fPr>
                          <m:ctrlPr>
                            <a:rPr lang="en-US" i="1">
                              <a:latin typeface="Cambria Math" panose="02040503050406030204" pitchFamily="18" charset="0"/>
                            </a:rPr>
                          </m:ctrlPr>
                        </m:fPr>
                        <m:num>
                          <m:r>
                            <a:rPr lang="en-US" i="1">
                              <a:latin typeface="Cambria Math" panose="02040503050406030204" pitchFamily="18" charset="0"/>
                            </a:rPr>
                            <m:t>1</m:t>
                          </m:r>
                        </m:num>
                        <m:den>
                          <m:r>
                            <a:rPr lang="en-US" i="1">
                              <a:latin typeface="Cambria Math" panose="02040503050406030204" pitchFamily="18" charset="0"/>
                            </a:rPr>
                            <m:t>5</m:t>
                          </m:r>
                        </m:den>
                      </m:f>
                      <m:r>
                        <m:rPr>
                          <m:sty m:val="p"/>
                        </m:rPr>
                        <a:rPr lang="en-US" i="1">
                          <a:latin typeface="Cambria Math" panose="02040503050406030204" pitchFamily="18" charset="0"/>
                        </a:rPr>
                        <m:t>x</m:t>
                      </m:r>
                      <m:r>
                        <a:rPr lang="en-US" i="1">
                          <a:latin typeface="Cambria Math" panose="02040503050406030204" pitchFamily="18" charset="0"/>
                        </a:rPr>
                        <m:t>[</m:t>
                      </m:r>
                      <m:r>
                        <m:rPr>
                          <m:sty m:val="p"/>
                        </m:rPr>
                        <a:rPr lang="en-US" i="1">
                          <a:latin typeface="Cambria Math" panose="02040503050406030204" pitchFamily="18" charset="0"/>
                        </a:rPr>
                        <m:t>n</m:t>
                      </m:r>
                      <m:r>
                        <a:rPr lang="en-US" b="0" i="1" smtClean="0">
                          <a:latin typeface="Cambria Math" panose="02040503050406030204" pitchFamily="18" charset="0"/>
                        </a:rPr>
                        <m:t>−4</m:t>
                      </m:r>
                      <m:r>
                        <a:rPr lang="en-US" i="1">
                          <a:latin typeface="Cambria Math" panose="02040503050406030204" pitchFamily="18" charset="0"/>
                        </a:rPr>
                        <m:t>]</m:t>
                      </m:r>
                    </m:oMath>
                  </m:oMathPara>
                </a14:m>
                <a:endParaRPr lang="en-US" dirty="0">
                  <a:latin typeface="+mj-lt"/>
                </a:endParaRPr>
              </a:p>
              <a:p>
                <a:pPr marL="0" lvl="0" indent="0">
                  <a:lnSpc>
                    <a:spcPct val="100000"/>
                  </a:lnSpc>
                  <a:spcBef>
                    <a:spcPts val="0"/>
                  </a:spcBef>
                  <a:buSzPts val="2000"/>
                  <a:buNone/>
                </a:pPr>
                <a:endParaRPr lang="en-US" dirty="0">
                  <a:latin typeface="+mj-lt"/>
                </a:endParaRPr>
              </a:p>
              <a:p>
                <a:pPr marL="0" lvl="0" indent="0">
                  <a:lnSpc>
                    <a:spcPct val="100000"/>
                  </a:lnSpc>
                  <a:spcBef>
                    <a:spcPts val="0"/>
                  </a:spcBef>
                  <a:buSzPts val="2000"/>
                  <a:buNone/>
                </a:pPr>
                <a:r>
                  <a:rPr lang="en-US" dirty="0">
                    <a:latin typeface="+mj-lt"/>
                  </a:rPr>
                  <a:t>Without realizing it, you have just designed your first Finite Impulse Response (FIR) Filter!</a:t>
                </a:r>
              </a:p>
            </p:txBody>
          </p:sp>
        </mc:Choice>
        <mc:Fallback xmlns="">
          <p:sp>
            <p:nvSpPr>
              <p:cNvPr id="118" name="Google Shape;118;p29">
                <a:extLst>
                  <a:ext uri="{FF2B5EF4-FFF2-40B4-BE49-F238E27FC236}">
                    <a16:creationId xmlns:a16="http://schemas.microsoft.com/office/drawing/2014/main" id="{9E62B5A9-5F3A-0AD9-E9B9-94F79E775C96}"/>
                  </a:ext>
                </a:extLst>
              </p:cNvPr>
              <p:cNvSpPr txBox="1">
                <a:spLocks noGrp="1" noRot="1" noChangeAspect="1" noMove="1" noResize="1" noEditPoints="1" noAdjustHandles="1" noChangeArrowheads="1" noChangeShapeType="1" noTextEdit="1"/>
              </p:cNvSpPr>
              <p:nvPr>
                <p:ph type="body" idx="1"/>
              </p:nvPr>
            </p:nvSpPr>
            <p:spPr>
              <a:xfrm>
                <a:off x="376809" y="1334279"/>
                <a:ext cx="11177401" cy="4821102"/>
              </a:xfrm>
              <a:prstGeom prst="rect">
                <a:avLst/>
              </a:prstGeom>
              <a:blipFill>
                <a:blip r:embed="rId3"/>
                <a:stretch>
                  <a:fillRect l="-1146" t="-1391"/>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52EAF1FD-B92F-EA09-3B9C-73417E0ADE8B}"/>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0143ABF0-C76A-551B-62BB-3D90715B9ACD}"/>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FIR Filter</a:t>
            </a:r>
            <a:endParaRPr lang="en-US"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23EFA88D-DFBD-23F0-EEA9-DC7DF7D8940D}"/>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4766D10C-65C2-3BBE-B89C-9795D01E4A38}"/>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04DDD29A-A526-EAA4-8460-33AC2B4365C0}"/>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71AA880B-6C7B-6345-7079-D46C9725FB2A}"/>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042560E0-4067-0993-2AD3-FF1505CB2890}"/>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E1E6DEA3-77BC-789E-DEAA-1436866A7675}"/>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102495141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8">
                                            <p:txEl>
                                              <p:pRg st="2" end="2"/>
                                            </p:txEl>
                                          </p:spTgt>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8" grpId="0" uiExpand="1" build="p"/>
    </p:bldLst>
  </p:timing>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D76BBB7A-42D0-7A47-1A9F-6CD1D0C1A87B}"/>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D5BEE2C8-082C-27F7-023B-19E92135B6EC}"/>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lvl="0" indent="0">
                  <a:lnSpc>
                    <a:spcPct val="100000"/>
                  </a:lnSpc>
                  <a:spcBef>
                    <a:spcPts val="0"/>
                  </a:spcBef>
                  <a:buSzPts val="2000"/>
                  <a:buNone/>
                </a:pPr>
                <a:r>
                  <a:rPr lang="en-US" sz="2000" dirty="0">
                    <a:latin typeface="+mj-lt"/>
                  </a:rPr>
                  <a:t>Note the structure, we have a set of </a:t>
                </a:r>
                <a:r>
                  <a:rPr lang="en-US" sz="2000" b="1" dirty="0">
                    <a:latin typeface="+mj-lt"/>
                  </a:rPr>
                  <a:t>weights </a:t>
                </a:r>
                <a:r>
                  <a:rPr lang="en-US" sz="2000" dirty="0">
                    <a:latin typeface="+mj-lt"/>
                  </a:rPr>
                  <a:t>(in the previous case, every weight was </a:t>
                </a:r>
                <a14:m>
                  <m:oMath xmlns:m="http://schemas.openxmlformats.org/officeDocument/2006/math">
                    <m:f>
                      <m:fPr>
                        <m:ctrlPr>
                          <a:rPr lang="en-US" sz="2000" i="1">
                            <a:latin typeface="Cambria Math" panose="02040503050406030204" pitchFamily="18" charset="0"/>
                          </a:rPr>
                        </m:ctrlPr>
                      </m:fPr>
                      <m:num>
                        <m:r>
                          <a:rPr lang="en-US" sz="2000" i="1">
                            <a:latin typeface="Cambria Math" panose="02040503050406030204" pitchFamily="18" charset="0"/>
                          </a:rPr>
                          <m:t>1</m:t>
                        </m:r>
                      </m:num>
                      <m:den>
                        <m:r>
                          <a:rPr lang="en-US" sz="2000" i="1">
                            <a:latin typeface="Cambria Math" panose="02040503050406030204" pitchFamily="18" charset="0"/>
                          </a:rPr>
                          <m:t>5</m:t>
                        </m:r>
                      </m:den>
                    </m:f>
                  </m:oMath>
                </a14:m>
                <a:r>
                  <a:rPr lang="en-US" sz="2000" dirty="0">
                    <a:latin typeface="+mj-lt"/>
                  </a:rPr>
                  <a:t> ) multiplied by a history of </a:t>
                </a:r>
                <a:r>
                  <a:rPr lang="en-US" sz="2000" b="1" dirty="0">
                    <a:latin typeface="+mj-lt"/>
                  </a:rPr>
                  <a:t>states </a:t>
                </a:r>
                <a:r>
                  <a:rPr lang="en-US" sz="2000" dirty="0">
                    <a:latin typeface="+mj-lt"/>
                  </a:rPr>
                  <a:t>(our current and past sensor readings). </a:t>
                </a:r>
              </a:p>
              <a:p>
                <a:pPr marL="0" lvl="0" indent="0">
                  <a:lnSpc>
                    <a:spcPct val="100000"/>
                  </a:lnSpc>
                  <a:spcBef>
                    <a:spcPts val="0"/>
                  </a:spcBef>
                  <a:buSzPts val="2000"/>
                  <a:buNone/>
                </a:pPr>
                <a:endParaRPr lang="en-US" sz="2000" dirty="0">
                  <a:latin typeface="+mj-lt"/>
                </a:endParaRPr>
              </a:p>
              <a:p>
                <a:pPr marL="0" lvl="0" indent="0">
                  <a:lnSpc>
                    <a:spcPct val="100000"/>
                  </a:lnSpc>
                  <a:spcBef>
                    <a:spcPts val="0"/>
                  </a:spcBef>
                  <a:buSzPts val="2000"/>
                  <a:buNone/>
                </a:pPr>
                <a:r>
                  <a:rPr lang="en-US" sz="2000" dirty="0">
                    <a:latin typeface="+mj-lt"/>
                  </a:rPr>
                  <a:t>We can generalize this idea into the fundamental equation of an FIR filter of order </a:t>
                </a:r>
                <a14:m>
                  <m:oMath xmlns:m="http://schemas.openxmlformats.org/officeDocument/2006/math">
                    <m:r>
                      <m:rPr>
                        <m:sty m:val="p"/>
                      </m:rPr>
                      <a:rPr lang="en-US" sz="2000" b="0" i="1" smtClean="0">
                        <a:latin typeface="Cambria Math" panose="02040503050406030204" pitchFamily="18" charset="0"/>
                      </a:rPr>
                      <m:t>M</m:t>
                    </m:r>
                  </m:oMath>
                </a14:m>
                <a:r>
                  <a:rPr lang="en-US" sz="2000" dirty="0">
                    <a:latin typeface="+mj-lt"/>
                  </a:rPr>
                  <a:t>.</a:t>
                </a:r>
              </a:p>
              <a:p>
                <a:pPr marL="0" lvl="0" indent="0">
                  <a:lnSpc>
                    <a:spcPct val="100000"/>
                  </a:lnSpc>
                  <a:spcBef>
                    <a:spcPts val="0"/>
                  </a:spcBef>
                  <a:buSzPts val="2000"/>
                  <a:buNone/>
                </a:pPr>
                <a:endParaRPr lang="en-US" sz="2000" dirty="0">
                  <a:latin typeface="+mj-lt"/>
                </a:endParaRPr>
              </a:p>
              <a:p>
                <a:pPr marL="0" lvl="0" indent="0">
                  <a:lnSpc>
                    <a:spcPct val="100000"/>
                  </a:lnSpc>
                  <a:spcBef>
                    <a:spcPts val="0"/>
                  </a:spcBef>
                  <a:buSzPts val="2000"/>
                  <a:buNone/>
                </a:pPr>
                <a:endParaRPr lang="en-US" sz="2000" dirty="0">
                  <a:latin typeface="+mj-lt"/>
                </a:endParaRPr>
              </a:p>
              <a:p>
                <a:pPr marL="0" lvl="0" indent="0">
                  <a:lnSpc>
                    <a:spcPct val="100000"/>
                  </a:lnSpc>
                  <a:spcBef>
                    <a:spcPts val="0"/>
                  </a:spcBef>
                  <a:buSzPts val="2000"/>
                  <a:buNone/>
                </a:pPr>
                <a14:m>
                  <m:oMathPara xmlns:m="http://schemas.openxmlformats.org/officeDocument/2006/math">
                    <m:oMathParaPr>
                      <m:jc m:val="centerGroup"/>
                    </m:oMathParaPr>
                    <m:oMath xmlns:m="http://schemas.openxmlformats.org/officeDocument/2006/math">
                      <m:r>
                        <m:rPr>
                          <m:sty m:val="p"/>
                        </m:rPr>
                        <a:rPr lang="en-US" sz="2000" b="0" i="1" smtClean="0">
                          <a:latin typeface="Cambria Math" panose="02040503050406030204" pitchFamily="18" charset="0"/>
                        </a:rPr>
                        <m:t>y</m:t>
                      </m:r>
                      <m:r>
                        <a:rPr lang="en-US" sz="2000" b="0" i="1" smtClean="0">
                          <a:latin typeface="Cambria Math" panose="02040503050406030204" pitchFamily="18" charset="0"/>
                        </a:rPr>
                        <m:t>[</m:t>
                      </m:r>
                      <m:r>
                        <m:rPr>
                          <m:sty m:val="p"/>
                        </m:rPr>
                        <a:rPr lang="en-US" sz="2000" b="0" i="1" smtClean="0">
                          <a:latin typeface="Cambria Math" panose="02040503050406030204" pitchFamily="18" charset="0"/>
                        </a:rPr>
                        <m:t>n</m:t>
                      </m:r>
                      <m:r>
                        <a:rPr lang="en-US" sz="2000" b="0" i="1" smtClean="0">
                          <a:latin typeface="Cambria Math" panose="02040503050406030204" pitchFamily="18" charset="0"/>
                        </a:rPr>
                        <m:t>]=</m:t>
                      </m:r>
                      <m:nary>
                        <m:naryPr>
                          <m:chr m:val="∑"/>
                          <m:ctrlPr>
                            <a:rPr lang="en-US" sz="2000" b="0" i="1" smtClean="0">
                              <a:latin typeface="Cambria Math" panose="02040503050406030204" pitchFamily="18" charset="0"/>
                            </a:rPr>
                          </m:ctrlPr>
                        </m:naryPr>
                        <m:sub>
                          <m:r>
                            <m:rPr>
                              <m:sty m:val="p"/>
                              <m:brk m:alnAt="23"/>
                            </m:rPr>
                            <a:rPr lang="en-US" sz="2000" b="0" i="1" smtClean="0">
                              <a:latin typeface="Cambria Math" panose="02040503050406030204" pitchFamily="18" charset="0"/>
                            </a:rPr>
                            <m:t>k</m:t>
                          </m:r>
                          <m:r>
                            <a:rPr lang="en-US" sz="2000" b="0" i="1" smtClean="0">
                              <a:latin typeface="Cambria Math" panose="02040503050406030204" pitchFamily="18" charset="0"/>
                            </a:rPr>
                            <m:t>=0</m:t>
                          </m:r>
                        </m:sub>
                        <m:sup>
                          <m:r>
                            <m:rPr>
                              <m:sty m:val="p"/>
                            </m:rPr>
                            <a:rPr lang="en-US" sz="2000" b="0" i="1" smtClean="0">
                              <a:latin typeface="Cambria Math" panose="02040503050406030204" pitchFamily="18" charset="0"/>
                            </a:rPr>
                            <m:t>M</m:t>
                          </m:r>
                        </m:sup>
                        <m:e>
                          <m:sSub>
                            <m:sSubPr>
                              <m:ctrlPr>
                                <a:rPr lang="en-US" sz="2000" b="0" i="1" smtClean="0">
                                  <a:latin typeface="Cambria Math" panose="02040503050406030204" pitchFamily="18" charset="0"/>
                                </a:rPr>
                              </m:ctrlPr>
                            </m:sSubPr>
                            <m:e>
                              <m:r>
                                <m:rPr>
                                  <m:sty m:val="p"/>
                                </m:rPr>
                                <a:rPr lang="en-US" sz="2000" b="0" i="1" smtClean="0">
                                  <a:latin typeface="Cambria Math" panose="02040503050406030204" pitchFamily="18" charset="0"/>
                                </a:rPr>
                                <m:t>b</m:t>
                              </m:r>
                            </m:e>
                            <m:sub>
                              <m:r>
                                <m:rPr>
                                  <m:sty m:val="p"/>
                                </m:rPr>
                                <a:rPr lang="en-US" sz="2000" b="0" i="1" smtClean="0">
                                  <a:latin typeface="Cambria Math" panose="02040503050406030204" pitchFamily="18" charset="0"/>
                                </a:rPr>
                                <m:t>k</m:t>
                              </m:r>
                            </m:sub>
                          </m:sSub>
                          <m:r>
                            <m:rPr>
                              <m:sty m:val="p"/>
                            </m:rPr>
                            <a:rPr lang="en-US" sz="2000" b="0" i="1" smtClean="0">
                              <a:latin typeface="Cambria Math" panose="02040503050406030204" pitchFamily="18" charset="0"/>
                            </a:rPr>
                            <m:t>x</m:t>
                          </m:r>
                          <m:r>
                            <a:rPr lang="en-US" sz="2000" b="0" i="1" smtClean="0">
                              <a:latin typeface="Cambria Math" panose="02040503050406030204" pitchFamily="18" charset="0"/>
                            </a:rPr>
                            <m:t>[</m:t>
                          </m:r>
                          <m:r>
                            <m:rPr>
                              <m:sty m:val="p"/>
                            </m:rPr>
                            <a:rPr lang="en-US" sz="2000" b="0" i="1" smtClean="0">
                              <a:latin typeface="Cambria Math" panose="02040503050406030204" pitchFamily="18" charset="0"/>
                            </a:rPr>
                            <m:t>n</m:t>
                          </m:r>
                          <m:r>
                            <a:rPr lang="en-US" sz="2000" b="0" i="1" smtClean="0">
                              <a:latin typeface="Cambria Math" panose="02040503050406030204" pitchFamily="18" charset="0"/>
                            </a:rPr>
                            <m:t>−</m:t>
                          </m:r>
                          <m:r>
                            <m:rPr>
                              <m:sty m:val="p"/>
                            </m:rPr>
                            <a:rPr lang="en-US" sz="2000" b="0" i="1" smtClean="0">
                              <a:latin typeface="Cambria Math" panose="02040503050406030204" pitchFamily="18" charset="0"/>
                            </a:rPr>
                            <m:t>k</m:t>
                          </m:r>
                          <m:r>
                            <a:rPr lang="en-US" sz="2000" b="0" i="1" smtClean="0">
                              <a:latin typeface="Cambria Math" panose="02040503050406030204" pitchFamily="18" charset="0"/>
                            </a:rPr>
                            <m:t>]</m:t>
                          </m:r>
                        </m:e>
                      </m:nary>
                    </m:oMath>
                  </m:oMathPara>
                </a14:m>
                <a:endParaRPr lang="en-US" sz="2000" dirty="0">
                  <a:latin typeface="+mj-lt"/>
                </a:endParaRPr>
              </a:p>
              <a:p>
                <a:pPr marL="0" lvl="0" indent="0">
                  <a:lnSpc>
                    <a:spcPct val="100000"/>
                  </a:lnSpc>
                  <a:spcBef>
                    <a:spcPts val="0"/>
                  </a:spcBef>
                  <a:buSzPts val="2000"/>
                  <a:buNone/>
                </a:pPr>
                <a:endParaRPr lang="en-US" sz="2000" dirty="0">
                  <a:latin typeface="+mj-lt"/>
                </a:endParaRPr>
              </a:p>
              <a:p>
                <a:pPr marL="0" lvl="0" indent="0">
                  <a:lnSpc>
                    <a:spcPct val="100000"/>
                  </a:lnSpc>
                  <a:spcBef>
                    <a:spcPts val="0"/>
                  </a:spcBef>
                  <a:buSzPts val="2000"/>
                  <a:buNone/>
                </a:pPr>
                <a:endParaRPr lang="en-US" sz="2000" dirty="0">
                  <a:latin typeface="+mj-lt"/>
                </a:endParaRPr>
              </a:p>
              <a:p>
                <a:pPr marL="0" lvl="0" indent="0">
                  <a:lnSpc>
                    <a:spcPct val="100000"/>
                  </a:lnSpc>
                  <a:spcBef>
                    <a:spcPts val="0"/>
                  </a:spcBef>
                  <a:buSzPts val="2000"/>
                  <a:buNone/>
                </a:pPr>
                <a:r>
                  <a:rPr lang="en-US" sz="2000" dirty="0">
                    <a:latin typeface="+mj-lt"/>
                  </a:rPr>
                  <a:t>Here, </a:t>
                </a:r>
                <a14:m>
                  <m:oMath xmlns:m="http://schemas.openxmlformats.org/officeDocument/2006/math">
                    <m:sSub>
                      <m:sSubPr>
                        <m:ctrlPr>
                          <a:rPr lang="en-US" sz="2000" i="1">
                            <a:latin typeface="Cambria Math" panose="02040503050406030204" pitchFamily="18" charset="0"/>
                          </a:rPr>
                        </m:ctrlPr>
                      </m:sSubPr>
                      <m:e>
                        <m:r>
                          <m:rPr>
                            <m:sty m:val="p"/>
                          </m:rPr>
                          <a:rPr lang="en-US" sz="2000" i="1">
                            <a:latin typeface="Cambria Math" panose="02040503050406030204" pitchFamily="18" charset="0"/>
                          </a:rPr>
                          <m:t>b</m:t>
                        </m:r>
                      </m:e>
                      <m:sub>
                        <m:r>
                          <m:rPr>
                            <m:sty m:val="p"/>
                          </m:rPr>
                          <a:rPr lang="en-US" sz="2000" i="1">
                            <a:latin typeface="Cambria Math" panose="02040503050406030204" pitchFamily="18" charset="0"/>
                          </a:rPr>
                          <m:t>k</m:t>
                        </m:r>
                      </m:sub>
                    </m:sSub>
                  </m:oMath>
                </a14:m>
                <a:r>
                  <a:rPr lang="en-US" sz="2000" dirty="0">
                    <a:latin typeface="+mj-lt"/>
                  </a:rPr>
                  <a:t> represents our filter coefficients (the “weights”).</a:t>
                </a:r>
              </a:p>
            </p:txBody>
          </p:sp>
        </mc:Choice>
        <mc:Fallback xmlns="">
          <p:sp>
            <p:nvSpPr>
              <p:cNvPr id="118" name="Google Shape;118;p29">
                <a:extLst>
                  <a:ext uri="{FF2B5EF4-FFF2-40B4-BE49-F238E27FC236}">
                    <a16:creationId xmlns:a16="http://schemas.microsoft.com/office/drawing/2014/main" id="{D5BEE2C8-082C-27F7-023B-19E92135B6EC}"/>
                  </a:ext>
                </a:extLst>
              </p:cNvPr>
              <p:cNvSpPr txBox="1">
                <a:spLocks noGrp="1" noRot="1" noChangeAspect="1" noMove="1" noResize="1" noEditPoints="1" noAdjustHandles="1" noChangeArrowheads="1" noChangeShapeType="1" noTextEdit="1"/>
              </p:cNvSpPr>
              <p:nvPr>
                <p:ph type="body" idx="1"/>
              </p:nvPr>
            </p:nvSpPr>
            <p:spPr>
              <a:xfrm>
                <a:off x="376809" y="1334279"/>
                <a:ext cx="11177401" cy="4821102"/>
              </a:xfrm>
              <a:prstGeom prst="rect">
                <a:avLst/>
              </a:prstGeom>
              <a:blipFill>
                <a:blip r:embed="rId3"/>
                <a:stretch>
                  <a:fillRect l="-600" r="-1037"/>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588F0DCC-E58A-7208-FB5B-6928739D47AE}"/>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21795F52-EE2D-E6C7-8281-9576874AE369}"/>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FIR Filter</a:t>
            </a:r>
            <a:endParaRPr lang="en-US"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98443A8D-2287-7AC0-9142-8EDFE7401775}"/>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359BCCF7-C964-2974-81C5-CEE474A0A355}"/>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7DA12F2C-2470-9C46-026F-6CF0051E08A9}"/>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9A230D2D-BDC9-874D-41BF-29C6DFBA02A0}"/>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E101C309-3228-2D59-0C8C-DEC2D8EE8988}"/>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8F882B15-7F68-4C3E-00F9-F63E6120F657}"/>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3314246441"/>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3E213F9D-ED65-42F1-0BD5-97757509D695}"/>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BB3178A7-2357-3010-4DC1-18D858648DA3}"/>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114300" indent="0">
              <a:buNone/>
            </a:pPr>
            <a:r>
              <a:rPr lang="en-US" sz="2400" dirty="0">
                <a:latin typeface="+mj-lt"/>
              </a:rPr>
              <a:t>But why use a FIR filter?</a:t>
            </a:r>
          </a:p>
          <a:p>
            <a:pPr marL="114300" indent="0">
              <a:buNone/>
            </a:pPr>
            <a:endParaRPr lang="en-US" sz="2400" dirty="0">
              <a:latin typeface="+mj-lt"/>
            </a:endParaRPr>
          </a:p>
          <a:p>
            <a:pPr marL="114300" indent="0">
              <a:buNone/>
            </a:pPr>
            <a:r>
              <a:rPr lang="en-US" sz="2400" dirty="0">
                <a:latin typeface="+mj-lt"/>
              </a:rPr>
              <a:t>You might wonder why we care so much about FIR filters specifically. </a:t>
            </a:r>
          </a:p>
          <a:p>
            <a:pPr marL="114300" indent="0">
              <a:buNone/>
            </a:pPr>
            <a:r>
              <a:rPr lang="en-US" sz="2400" dirty="0">
                <a:latin typeface="+mj-lt"/>
              </a:rPr>
              <a:t>The answer is </a:t>
            </a:r>
            <a:r>
              <a:rPr lang="en-US" sz="2400" b="1" dirty="0">
                <a:latin typeface="+mj-lt"/>
              </a:rPr>
              <a:t>Linear Phase</a:t>
            </a:r>
            <a:r>
              <a:rPr lang="en-US" sz="2400" dirty="0">
                <a:latin typeface="+mj-lt"/>
              </a:rPr>
              <a:t>.</a:t>
            </a:r>
          </a:p>
          <a:p>
            <a:pPr marL="114300" indent="0">
              <a:buNone/>
            </a:pPr>
            <a:endParaRPr lang="en-US" sz="2400" dirty="0">
              <a:latin typeface="+mj-lt"/>
            </a:endParaRPr>
          </a:p>
          <a:p>
            <a:pPr marL="114300" indent="0">
              <a:buNone/>
            </a:pPr>
            <a:r>
              <a:rPr lang="en-US" sz="2400" dirty="0">
                <a:latin typeface="+mj-lt"/>
              </a:rPr>
              <a:t>When a signal passes through a filter, different frequencies are often delayed by different amounts of time, which </a:t>
            </a:r>
            <a:r>
              <a:rPr lang="en-US" sz="2400" b="1" dirty="0">
                <a:latin typeface="+mj-lt"/>
              </a:rPr>
              <a:t>distorts</a:t>
            </a:r>
            <a:r>
              <a:rPr lang="en-US" sz="2400" dirty="0">
                <a:latin typeface="+mj-lt"/>
              </a:rPr>
              <a:t> the shape of the signal. </a:t>
            </a:r>
          </a:p>
          <a:p>
            <a:pPr marL="114300" indent="0">
              <a:buNone/>
            </a:pPr>
            <a:r>
              <a:rPr lang="en-US" sz="2400" dirty="0">
                <a:latin typeface="+mj-lt"/>
              </a:rPr>
              <a:t>FIR filters can be designed to have </a:t>
            </a:r>
            <a:r>
              <a:rPr lang="en-US" sz="2400" i="1" dirty="0">
                <a:latin typeface="+mj-lt"/>
              </a:rPr>
              <a:t>strict linear phase</a:t>
            </a:r>
            <a:r>
              <a:rPr lang="en-US" sz="2400" dirty="0">
                <a:latin typeface="+mj-lt"/>
              </a:rPr>
              <a:t>, meaning every frequency is delayed by the </a:t>
            </a:r>
            <a:r>
              <a:rPr lang="en-US" sz="2400" b="1" dirty="0">
                <a:latin typeface="+mj-lt"/>
              </a:rPr>
              <a:t>exact same </a:t>
            </a:r>
            <a:r>
              <a:rPr lang="en-US" sz="2400" dirty="0">
                <a:latin typeface="+mj-lt"/>
              </a:rPr>
              <a:t>amount of time. The signal shape is perfectly preserved.</a:t>
            </a:r>
          </a:p>
        </p:txBody>
      </p:sp>
      <p:sp>
        <p:nvSpPr>
          <p:cNvPr id="119" name="Google Shape;119;p29">
            <a:extLst>
              <a:ext uri="{FF2B5EF4-FFF2-40B4-BE49-F238E27FC236}">
                <a16:creationId xmlns:a16="http://schemas.microsoft.com/office/drawing/2014/main" id="{E31870D3-8731-A426-83DB-5DF02C419B1E}"/>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5925F102-1E0B-8990-A5D5-BCF28343B943}"/>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FIR Filter</a:t>
            </a:r>
            <a:endParaRPr lang="en-US"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F9CBEBB6-0B65-79F5-E819-E89B0D06CD3C}"/>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1B02072C-BCB1-B672-E76C-9848D142D8CF}"/>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A6718046-B0AC-C977-39A9-39CE600DE965}"/>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7D1A854B-955F-C285-BB4E-5ED31B2CB131}"/>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DDCCD424-35FA-1F37-CAAC-A27974F153B2}"/>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EC5C8B6C-578E-BEAF-FEFF-21A4E4F89CDD}"/>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2538202009"/>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B278C123-F36F-9339-63C9-D606FAF2635F}"/>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8CF8F502-A874-4135-2D22-5E0F91545CA5}"/>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114300" indent="0">
                  <a:buNone/>
                </a:pPr>
                <a:r>
                  <a:rPr lang="en-US" sz="2400" dirty="0">
                    <a:latin typeface="+mj-lt"/>
                  </a:rPr>
                  <a:t>Our 5-point moving average is great, but what if we want to precisely block high-frequency motor noise but keep our low-frequency physical movements? </a:t>
                </a:r>
              </a:p>
              <a:p>
                <a:pPr marL="114300" indent="0">
                  <a:buNone/>
                </a:pPr>
                <a:endParaRPr lang="en-US" sz="2400" dirty="0">
                  <a:latin typeface="+mj-lt"/>
                </a:endParaRPr>
              </a:p>
              <a:p>
                <a:pPr marL="114300" indent="0">
                  <a:buNone/>
                </a:pPr>
                <a:r>
                  <a:rPr lang="en-US" sz="2400" dirty="0">
                    <a:latin typeface="+mj-lt"/>
                  </a:rPr>
                  <a:t>We need better coefficients (</a:t>
                </a:r>
                <a14:m>
                  <m:oMath xmlns:m="http://schemas.openxmlformats.org/officeDocument/2006/math">
                    <m:sSub>
                      <m:sSubPr>
                        <m:ctrlPr>
                          <a:rPr lang="en-US" sz="2400" i="1">
                            <a:latin typeface="Cambria Math" panose="02040503050406030204" pitchFamily="18" charset="0"/>
                          </a:rPr>
                        </m:ctrlPr>
                      </m:sSubPr>
                      <m:e>
                        <m:r>
                          <m:rPr>
                            <m:sty m:val="p"/>
                          </m:rPr>
                          <a:rPr lang="en-US" sz="2400" i="1">
                            <a:latin typeface="Cambria Math" panose="02040503050406030204" pitchFamily="18" charset="0"/>
                          </a:rPr>
                          <m:t>b</m:t>
                        </m:r>
                      </m:e>
                      <m:sub>
                        <m:r>
                          <m:rPr>
                            <m:sty m:val="p"/>
                          </m:rPr>
                          <a:rPr lang="en-US" sz="2400" i="1">
                            <a:latin typeface="Cambria Math" panose="02040503050406030204" pitchFamily="18" charset="0"/>
                          </a:rPr>
                          <m:t>k</m:t>
                        </m:r>
                      </m:sub>
                    </m:sSub>
                  </m:oMath>
                </a14:m>
                <a:r>
                  <a:rPr lang="en-US" sz="2400" dirty="0">
                    <a:latin typeface="+mj-lt"/>
                  </a:rPr>
                  <a:t>)!</a:t>
                </a:r>
              </a:p>
              <a:p>
                <a:pPr marL="114300" indent="0">
                  <a:buNone/>
                </a:pPr>
                <a:endParaRPr lang="en-US" sz="2400" dirty="0">
                  <a:latin typeface="+mj-lt"/>
                </a:endParaRPr>
              </a:p>
              <a:p>
                <a:pPr marL="114300" indent="0">
                  <a:buNone/>
                </a:pPr>
                <a:r>
                  <a:rPr lang="en-US" sz="2400" dirty="0">
                    <a:latin typeface="+mj-lt"/>
                  </a:rPr>
                  <a:t>We use FIR filters and thus the </a:t>
                </a:r>
                <a:r>
                  <a:rPr lang="en-US" sz="2400" b="1" dirty="0">
                    <a:latin typeface="+mj-lt"/>
                  </a:rPr>
                  <a:t>fir1</a:t>
                </a:r>
                <a:r>
                  <a:rPr lang="en-US" sz="2400" dirty="0">
                    <a:latin typeface="+mj-lt"/>
                  </a:rPr>
                  <a:t> function to design those in MATLAB. </a:t>
                </a:r>
              </a:p>
              <a:p>
                <a:pPr marL="114300" indent="0">
                  <a:buNone/>
                </a:pPr>
                <a:endParaRPr lang="en-US" sz="2400" dirty="0">
                  <a:latin typeface="+mj-lt"/>
                </a:endParaRPr>
              </a:p>
              <a:p>
                <a:pPr marL="114300" indent="0">
                  <a:buNone/>
                </a:pPr>
                <a:r>
                  <a:rPr lang="en-US" sz="2400" dirty="0">
                    <a:latin typeface="+mj-lt"/>
                  </a:rPr>
                  <a:t>The Signal Processing Toolbox scales frequencies on a 0-1 scale relative to the Nyquist frequency. The Nyquist frequency is the absolute highest frequency your system can mathematically perceive, which is exactly half of your sampling rate.</a:t>
                </a:r>
              </a:p>
            </p:txBody>
          </p:sp>
        </mc:Choice>
        <mc:Fallback xmlns="">
          <p:sp>
            <p:nvSpPr>
              <p:cNvPr id="118" name="Google Shape;118;p29">
                <a:extLst>
                  <a:ext uri="{FF2B5EF4-FFF2-40B4-BE49-F238E27FC236}">
                    <a16:creationId xmlns:a16="http://schemas.microsoft.com/office/drawing/2014/main" id="{8CF8F502-A874-4135-2D22-5E0F91545CA5}"/>
                  </a:ext>
                </a:extLst>
              </p:cNvPr>
              <p:cNvSpPr txBox="1">
                <a:spLocks noGrp="1" noRot="1" noChangeAspect="1" noMove="1" noResize="1" noEditPoints="1" noAdjustHandles="1" noChangeArrowheads="1" noChangeShapeType="1" noTextEdit="1"/>
              </p:cNvSpPr>
              <p:nvPr>
                <p:ph type="body" idx="1"/>
              </p:nvPr>
            </p:nvSpPr>
            <p:spPr>
              <a:xfrm>
                <a:off x="376809" y="1334279"/>
                <a:ext cx="11177401" cy="4821102"/>
              </a:xfrm>
              <a:prstGeom prst="rect">
                <a:avLst/>
              </a:prstGeom>
              <a:blipFill>
                <a:blip r:embed="rId3"/>
                <a:stretch>
                  <a:fillRect r="-546"/>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3DC4D278-B64C-254E-AAFE-CD5087310DE8}"/>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2F9E21A8-CFBC-5612-AFE1-8A4588E4D240}"/>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FIR Filter</a:t>
            </a:r>
            <a:endParaRPr lang="en-US"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68C91851-AF55-9A14-09ED-6F60C906A67C}"/>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0CB346B8-AAF5-CDEE-609F-711DED40A3DF}"/>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62D61F79-F69C-5712-E958-33801C811D01}"/>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D5C623EB-39FE-AEC6-50D3-161459EEEAFA}"/>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6907EBA4-B621-31E1-83DC-FA5A92568A0D}"/>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B9041CDE-F6A3-9393-C420-C75972BD7A12}"/>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1543667664"/>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34632E89-6527-7408-7311-047E879CE34E}"/>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CF8038F3-43C1-8266-3C36-E03FE4A55CD6}"/>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114300" indent="0">
                  <a:buNone/>
                </a:pPr>
                <a:r>
                  <a:rPr lang="en-US" sz="2400" dirty="0">
                    <a:latin typeface="+mj-lt"/>
                  </a:rPr>
                  <a:t>The Nyquist frequency is the </a:t>
                </a:r>
                <a:r>
                  <a:rPr lang="en-US" sz="2400" b="1" dirty="0">
                    <a:latin typeface="+mj-lt"/>
                  </a:rPr>
                  <a:t>MINIMUM</a:t>
                </a:r>
                <a:r>
                  <a:rPr lang="en-US" sz="2400" dirty="0">
                    <a:latin typeface="+mj-lt"/>
                  </a:rPr>
                  <a:t> frequency you should be sampling your signal at.</a:t>
                </a:r>
              </a:p>
              <a:p>
                <a:pPr marL="114300" indent="0">
                  <a:buNone/>
                </a:pPr>
                <a:endParaRPr lang="en-US" sz="2400" dirty="0">
                  <a:latin typeface="+mj-lt"/>
                </a:endParaRPr>
              </a:p>
              <a:p>
                <a:pPr marL="114300" indent="0">
                  <a:buNone/>
                </a:pPr>
                <a14:m>
                  <m:oMathPara xmlns:m="http://schemas.openxmlformats.org/officeDocument/2006/math">
                    <m:oMathParaPr>
                      <m:jc m:val="centerGroup"/>
                    </m:oMathParaPr>
                    <m:oMath xmlns:m="http://schemas.openxmlformats.org/officeDocument/2006/math">
                      <m:sSub>
                        <m:sSubPr>
                          <m:ctrlPr>
                            <a:rPr lang="en-US" sz="2400" b="0" i="1" smtClean="0">
                              <a:latin typeface="Cambria Math" panose="02040503050406030204" pitchFamily="18" charset="0"/>
                            </a:rPr>
                          </m:ctrlPr>
                        </m:sSubPr>
                        <m:e>
                          <m:r>
                            <m:rPr>
                              <m:sty m:val="p"/>
                            </m:rPr>
                            <a:rPr lang="en-US" sz="2400" b="0" i="1" smtClean="0">
                              <a:latin typeface="Cambria Math" panose="02040503050406030204" pitchFamily="18" charset="0"/>
                            </a:rPr>
                            <m:t>f</m:t>
                          </m:r>
                        </m:e>
                        <m:sub>
                          <m:r>
                            <m:rPr>
                              <m:sty m:val="p"/>
                            </m:rPr>
                            <a:rPr lang="en-US" sz="2400" b="0" i="1" smtClean="0">
                              <a:latin typeface="Cambria Math" panose="02040503050406030204" pitchFamily="18" charset="0"/>
                            </a:rPr>
                            <m:t>nyquist</m:t>
                          </m:r>
                        </m:sub>
                      </m:sSub>
                      <m:r>
                        <a:rPr lang="en-US" sz="2400" b="0" i="1" smtClean="0">
                          <a:latin typeface="Cambria Math" panose="02040503050406030204" pitchFamily="18" charset="0"/>
                        </a:rPr>
                        <m:t>=2</m:t>
                      </m:r>
                      <m:sSub>
                        <m:sSubPr>
                          <m:ctrlPr>
                            <a:rPr lang="en-US" sz="2400" b="0" i="1" smtClean="0">
                              <a:latin typeface="Cambria Math" panose="02040503050406030204" pitchFamily="18" charset="0"/>
                            </a:rPr>
                          </m:ctrlPr>
                        </m:sSubPr>
                        <m:e>
                          <m:r>
                            <a:rPr lang="en-US" sz="2400" b="0" i="1" smtClean="0">
                              <a:latin typeface="Cambria Math" panose="02040503050406030204" pitchFamily="18" charset="0"/>
                              <a:ea typeface="Cambria Math" panose="02040503050406030204" pitchFamily="18" charset="0"/>
                            </a:rPr>
                            <m:t>×</m:t>
                          </m:r>
                          <m:r>
                            <m:rPr>
                              <m:sty m:val="p"/>
                            </m:rPr>
                            <a:rPr lang="en-US" sz="2400" b="0" i="1" smtClean="0">
                              <a:latin typeface="Cambria Math" panose="02040503050406030204" pitchFamily="18" charset="0"/>
                            </a:rPr>
                            <m:t>f</m:t>
                          </m:r>
                        </m:e>
                        <m:sub>
                          <m:r>
                            <m:rPr>
                              <m:sty m:val="p"/>
                            </m:rPr>
                            <a:rPr lang="en-US" sz="2400" b="0" i="1" smtClean="0">
                              <a:latin typeface="Cambria Math" panose="02040503050406030204" pitchFamily="18" charset="0"/>
                            </a:rPr>
                            <m:t>highest</m:t>
                          </m:r>
                          <m:r>
                            <a:rPr lang="en-US" sz="2400" b="0" i="1" smtClean="0">
                              <a:latin typeface="Cambria Math" panose="02040503050406030204" pitchFamily="18" charset="0"/>
                            </a:rPr>
                            <m:t> </m:t>
                          </m:r>
                          <m:r>
                            <m:rPr>
                              <m:sty m:val="p"/>
                            </m:rPr>
                            <a:rPr lang="en-US" sz="2400" b="0" i="1" smtClean="0">
                              <a:latin typeface="Cambria Math" panose="02040503050406030204" pitchFamily="18" charset="0"/>
                            </a:rPr>
                            <m:t>analog</m:t>
                          </m:r>
                          <m:r>
                            <a:rPr lang="en-US" sz="2400" b="0" i="1" smtClean="0">
                              <a:latin typeface="Cambria Math" panose="02040503050406030204" pitchFamily="18" charset="0"/>
                            </a:rPr>
                            <m:t> </m:t>
                          </m:r>
                          <m:r>
                            <m:rPr>
                              <m:sty m:val="p"/>
                            </m:rPr>
                            <a:rPr lang="en-US" sz="2400" b="0" i="1" smtClean="0">
                              <a:latin typeface="Cambria Math" panose="02040503050406030204" pitchFamily="18" charset="0"/>
                            </a:rPr>
                            <m:t>frequency</m:t>
                          </m:r>
                        </m:sub>
                      </m:sSub>
                    </m:oMath>
                  </m:oMathPara>
                </a14:m>
                <a:endParaRPr lang="en-US" sz="2400" dirty="0">
                  <a:latin typeface="+mj-lt"/>
                </a:endParaRPr>
              </a:p>
              <a:p>
                <a:pPr marL="114300" indent="0">
                  <a:buNone/>
                </a:pPr>
                <a:endParaRPr lang="en-US" sz="2400" dirty="0">
                  <a:latin typeface="+mj-lt"/>
                </a:endParaRPr>
              </a:p>
              <a:p>
                <a:pPr marL="114300" indent="0">
                  <a:buNone/>
                </a:pPr>
                <a:r>
                  <a:rPr lang="en-US" sz="2400" dirty="0">
                    <a:latin typeface="+mj-lt"/>
                  </a:rPr>
                  <a:t>Otherwise, you will get into problems of getting an aliased output.</a:t>
                </a:r>
              </a:p>
            </p:txBody>
          </p:sp>
        </mc:Choice>
        <mc:Fallback xmlns="">
          <p:sp>
            <p:nvSpPr>
              <p:cNvPr id="118" name="Google Shape;118;p29">
                <a:extLst>
                  <a:ext uri="{FF2B5EF4-FFF2-40B4-BE49-F238E27FC236}">
                    <a16:creationId xmlns:a16="http://schemas.microsoft.com/office/drawing/2014/main" id="{CF8038F3-43C1-8266-3C36-E03FE4A55CD6}"/>
                  </a:ext>
                </a:extLst>
              </p:cNvPr>
              <p:cNvSpPr txBox="1">
                <a:spLocks noGrp="1" noRot="1" noChangeAspect="1" noMove="1" noResize="1" noEditPoints="1" noAdjustHandles="1" noChangeArrowheads="1" noChangeShapeType="1" noTextEdit="1"/>
              </p:cNvSpPr>
              <p:nvPr>
                <p:ph type="body" idx="1"/>
              </p:nvPr>
            </p:nvSpPr>
            <p:spPr>
              <a:xfrm>
                <a:off x="376809" y="1334279"/>
                <a:ext cx="11177401" cy="4821102"/>
              </a:xfrm>
              <a:prstGeom prst="rect">
                <a:avLst/>
              </a:prstGeom>
              <a:blipFill>
                <a:blip r:embed="rId3"/>
                <a:stretch>
                  <a:fillRect r="-109"/>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42C474D6-43B6-9CD0-6E0D-4A26CF211903}"/>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1A930C2C-13AA-562D-0391-9B4276D29C12}"/>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i="0" b="0" lang="en-US" sz="2400" dirty="0">
                <a:solidFill>
                  <a:schemeClr val="lt1"/>
                </a:solidFill>
              </a:rPr>
              <a:t>FIR Filter – Nyquist frequency</a:t>
            </a:r>
            <a:endParaRPr lang="en-US"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3F02F94E-1944-B9BF-46AD-87D97CF62EA6}"/>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BC91025F-9EED-6332-A111-E9343E817152}"/>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A8FD6BF0-3271-A54E-06DA-1F446C33F2E2}"/>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8DF57172-B6C4-1689-2CAB-714C42D18545}"/>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F1C49D6D-7F17-44F9-183B-3D7530FFC7BD}"/>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DE46E614-6888-8D92-641A-EF0CF0D391DC}"/>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2915668057"/>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680C26F4-B3FF-11C2-54F4-AD22E1C17FC2}"/>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DAB08B5A-3D5F-982F-8F54-35EF3A2BBE30}"/>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CC8FFA24-55A8-E915-26ED-46CD3EC3DDCF}"/>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algn="l" lvl="0">
              <a:lnSpc>
                <a:spcPct val="100000"/>
              </a:lnSpc>
              <a:spcBef>
                <a:spcPts val="0"/>
              </a:spcBef>
              <a:spcAft>
                <a:spcPts val="0"/>
              </a:spcAft>
              <a:buSzPts val="2400"/>
            </a:pPr>
            <a:r>
              <a:rPr i="0" b="0" lang="en-US" sz="2400" dirty="0">
                <a:solidFill>
                  <a:schemeClr val="lt1"/>
                </a:solidFill>
              </a:rPr>
              <a:t>FIR Filter – Nyquist frequency</a:t>
            </a:r>
            <a:endParaRPr lang="en-US"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86E2AE81-8E55-1683-9CA2-AD13BBC8BB3C}"/>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96A0D1A1-A451-DA5F-3960-9C8822352746}"/>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627A05A8-A37A-B746-9418-29A3FF427915}"/>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1FDC0464-A930-E715-6488-938426535FC2}"/>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2EBFAFEC-EFFC-2360-BDD1-836725C6B53D}"/>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0627F574-9F39-DB2F-29D8-B820A980C22E}"/>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11" name="Graphic 10" descr="Three stacked panels illustrating aliasing. Top: an original sine wave of about four cycles. Middle: the same wave sampled at 1 times f sub 0, once per cycle, so every sample lands at the same point (a rising zero crossing) and all samples have the same value. Bottom: the reconstructed signal is a flat horizontal line, showing that sampling at the signal's own frequency loses the oscillation entirely.">
            <a:extLst>
              <a:ext uri="{FF2B5EF4-FFF2-40B4-BE49-F238E27FC236}">
                <a16:creationId xmlns:a16="http://schemas.microsoft.com/office/drawing/2014/main" id="{7E6D07FB-281B-5369-B2CC-6745E735844A}"/>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312399" y="1098670"/>
            <a:ext cx="11567201" cy="5483323"/>
          </a:xfrm>
          <a:prstGeom prst="rect">
            <a:avLst/>
          </a:prstGeom>
        </p:spPr>
      </p:pic>
    </p:spTree>
    <p:extLst>
      <p:ext uri="{BB962C8B-B14F-4D97-AF65-F5344CB8AC3E}">
        <p14:creationId xmlns:p14="http://schemas.microsoft.com/office/powerpoint/2010/main" val="3328635100"/>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A25FD7FF-9018-ACE9-0A32-437D822D1D7F}"/>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B5BF3CB9-90A4-6471-4C02-3531D2A4CA13}"/>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8369B28B-415A-F642-2ECA-03AA44A9E65B}"/>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algn="l" lvl="0">
              <a:lnSpc>
                <a:spcPct val="100000"/>
              </a:lnSpc>
              <a:spcBef>
                <a:spcPts val="0"/>
              </a:spcBef>
              <a:spcAft>
                <a:spcPts val="0"/>
              </a:spcAft>
              <a:buSzPts val="2400"/>
            </a:pPr>
            <a:r>
              <a:rPr i="0" b="0" lang="en-US" sz="2400" dirty="0">
                <a:solidFill>
                  <a:schemeClr val="lt1"/>
                </a:solidFill>
              </a:rPr>
              <a:t>FIR Filter – Nyquist frequency</a:t>
            </a:r>
            <a:endParaRPr lang="en-US"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83423507-4841-BE91-ABE3-5443F8767DB3}"/>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2EBC336D-0586-7353-BC91-B2109A303134}"/>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CCEF85EC-73F3-DB12-3392-A621F826B7DC}"/>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4A4FC865-A7C3-2712-4D83-BFF9DD6960D4}"/>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875E5789-9E9F-2A56-9FD3-FFCDBFD6ED26}"/>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5E8E2082-014E-9274-DEC3-D8987F4AB9CE}"/>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6" name="Graphic 5" descr="Three stacked traces illustrating aliasing. Top: original sine wave, about four cycles. Middle: the same sine sampled at 1.5 times f sub 0, below the Nyquist rate of 2 times f sub 0, giving only seven samples (red markers) joined by straight lines. Bottom: the reconstructed signal from those samples, a zigzag with only two cycles over the same span, so it appears at half the original frequency (0.5 times f sub 0), a false alias rather than the true signal.">
            <a:extLst>
              <a:ext uri="{FF2B5EF4-FFF2-40B4-BE49-F238E27FC236}">
                <a16:creationId xmlns:a16="http://schemas.microsoft.com/office/drawing/2014/main" id="{D2B56D98-8223-63CC-C4A6-83798BF36BC3}"/>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621738" y="1095594"/>
            <a:ext cx="10948524" cy="5486400"/>
          </a:xfrm>
          <a:prstGeom prst="rect">
            <a:avLst/>
          </a:prstGeom>
        </p:spPr>
      </p:pic>
    </p:spTree>
    <p:extLst>
      <p:ext uri="{BB962C8B-B14F-4D97-AF65-F5344CB8AC3E}">
        <p14:creationId xmlns:p14="http://schemas.microsoft.com/office/powerpoint/2010/main" val="2354104315"/>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F91C9AB5-B35D-BBFD-68DB-3F723ABDA8D1}"/>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C71F42A2-BA71-150F-9697-6554DE659079}"/>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996DB2EE-9962-EDA4-AEEB-DD0D0F55E100}"/>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algn="l" lvl="0">
              <a:lnSpc>
                <a:spcPct val="100000"/>
              </a:lnSpc>
              <a:spcBef>
                <a:spcPts val="0"/>
              </a:spcBef>
              <a:spcAft>
                <a:spcPts val="0"/>
              </a:spcAft>
              <a:buSzPts val="2400"/>
            </a:pPr>
            <a:r>
              <a:rPr i="0" b="0" lang="en-US" sz="2400" dirty="0">
                <a:solidFill>
                  <a:schemeClr val="lt1"/>
                </a:solidFill>
              </a:rPr>
              <a:t>FIR Filter – Nyquist frequency</a:t>
            </a:r>
            <a:endParaRPr lang="en-US"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32D1105D-DD97-0809-3B7B-2D841DD3EF29}"/>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EF307667-0225-DFBA-BADA-53816AE72432}"/>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14FA64C7-7B2F-55CF-7987-CB1EC1D5FF56}"/>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9A07537C-67D9-56DB-5C83-A9066507F7BA}"/>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FF046B63-EC6D-E032-0BF1-41E915C6FD37}"/>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26AFF448-ADB6-3699-4C70-31913189D4D6}"/>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9" name="Graphic 8" descr="Three stacked plots illustrating sampling at the Nyquist rate. Top, &quot;Original Signal&quot;: a sine wave of frequency f sub 0 over about four cycles. Middle, &quot;Signal sampled at 2 times f sub 0&quot;: the same sine with two samples per cycle, one at each peak and one at each trough, joined by straight lines. Bottom, &quot;Reconstructed Signal&quot;: a triangle wave with the same frequency and amplitude, showing that the frequency is preserved but the smooth shape is only roughly approximated.">
            <a:extLst>
              <a:ext uri="{FF2B5EF4-FFF2-40B4-BE49-F238E27FC236}">
                <a16:creationId xmlns:a16="http://schemas.microsoft.com/office/drawing/2014/main" id="{97A5600B-470C-EF18-9074-FC62F93CAE59}"/>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835231" y="1068326"/>
            <a:ext cx="10521538" cy="5486400"/>
          </a:xfrm>
          <a:prstGeom prst="rect">
            <a:avLst/>
          </a:prstGeom>
        </p:spPr>
      </p:pic>
    </p:spTree>
    <p:extLst>
      <p:ext uri="{BB962C8B-B14F-4D97-AF65-F5344CB8AC3E}">
        <p14:creationId xmlns:p14="http://schemas.microsoft.com/office/powerpoint/2010/main" val="1464236146"/>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A8BEC171-2342-4816-7DE1-FBF43515D9B1}"/>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4DB784E0-5635-0ECE-5417-FC9DDBDB88BB}"/>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093C6725-AFEB-6F5C-7235-2011E0045DA1}"/>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algn="l" lvl="0">
              <a:lnSpc>
                <a:spcPct val="100000"/>
              </a:lnSpc>
              <a:spcBef>
                <a:spcPts val="0"/>
              </a:spcBef>
              <a:spcAft>
                <a:spcPts val="0"/>
              </a:spcAft>
              <a:buSzPts val="2400"/>
            </a:pPr>
            <a:r>
              <a:rPr i="0" b="0" lang="en-US" sz="2400" dirty="0">
                <a:solidFill>
                  <a:schemeClr val="lt1"/>
                </a:solidFill>
              </a:rPr>
              <a:t>FIR Filter – Nyquist frequency</a:t>
            </a:r>
            <a:endParaRPr lang="en-US"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6F7102D2-CD43-62FD-1CD6-23841FD2B510}"/>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75AF052C-F578-AE88-5EC1-996C055DA879}"/>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61332649-9FD4-A7E2-73A7-2B158E8D042D}"/>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4F986A7E-F74A-E551-64C1-7822828CFDC7}"/>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517596A8-E076-94AD-FEB6-A0A952A408D2}"/>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ABFB6E3D-04B1-2F4E-6CFF-24E08B70CDFD}"/>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7" name="Graphic 6" descr="Three stacked plots illustrating sampling well above the Nyquist rate. Top: original sinusoid of frequency f sub 0, about four cycles. Middle: the same sinusoid sampled at 8 times f sub 0, with eight sample points per cycle marked on the curve. Bottom: the reconstructed signal, formed by connecting the samples with straight lines, is slightly angular but closely matches the original's shape and frequency, showing that sampling far above twice f sub 0 preserves the signal.">
            <a:extLst>
              <a:ext uri="{FF2B5EF4-FFF2-40B4-BE49-F238E27FC236}">
                <a16:creationId xmlns:a16="http://schemas.microsoft.com/office/drawing/2014/main" id="{8C0CD861-BA5F-BE9F-4574-1903F0B82AD6}"/>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835231" y="1068326"/>
            <a:ext cx="10521538" cy="5486400"/>
          </a:xfrm>
          <a:prstGeom prst="rect">
            <a:avLst/>
          </a:prstGeom>
        </p:spPr>
      </p:pic>
    </p:spTree>
    <p:extLst>
      <p:ext uri="{BB962C8B-B14F-4D97-AF65-F5344CB8AC3E}">
        <p14:creationId xmlns:p14="http://schemas.microsoft.com/office/powerpoint/2010/main" val="3186476328"/>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B5CFD248-FBC5-93FE-B26E-29E00AFB0BD4}"/>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7736D65E-DC40-2E1E-B34B-E258CB03F90F}"/>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lvl="0" indent="0">
                  <a:lnSpc>
                    <a:spcPct val="100000"/>
                  </a:lnSpc>
                  <a:spcBef>
                    <a:spcPts val="0"/>
                  </a:spcBef>
                  <a:buSzPts val="2000"/>
                  <a:buNone/>
                </a:pPr>
                <a:r>
                  <a:rPr lang="en-US" sz="2400" dirty="0">
                    <a:latin typeface="Atkinson Hyperlegible Next"/>
                    <a:cs typeface="Arial"/>
                    <a:sym typeface="Arial"/>
                  </a:rPr>
                  <a:t>Let’s say your system is sampling at 1000 Hz; the cutoff frequency for the Nyquist limit is, </a:t>
                </a:r>
              </a:p>
              <a:p>
                <a:pPr marL="0" lvl="0" indent="0">
                  <a:lnSpc>
                    <a:spcPct val="100000"/>
                  </a:lnSpc>
                  <a:spcBef>
                    <a:spcPts val="0"/>
                  </a:spcBef>
                  <a:buSzPts val="2000"/>
                  <a:buNone/>
                </a:pPr>
                <a:endParaRPr lang="en-US" sz="2400" dirty="0">
                  <a:latin typeface="Atkinson Hyperlegible Next"/>
                  <a:cs typeface="Arial"/>
                  <a:sym typeface="Arial"/>
                </a:endParaRPr>
              </a:p>
              <a:p>
                <a:pPr marL="0" lvl="0" indent="0" algn="ctr">
                  <a:lnSpc>
                    <a:spcPct val="100000"/>
                  </a:lnSpc>
                  <a:spcBef>
                    <a:spcPts val="0"/>
                  </a:spcBef>
                  <a:buSzPts val="2000"/>
                  <a:buNone/>
                </a:pPr>
                <a:r>
                  <a:rPr lang="en-US" sz="2400" dirty="0">
                    <a:latin typeface="Atkinson Hyperlegible Next"/>
                    <a:cs typeface="Arial"/>
                    <a:sym typeface="Arial"/>
                  </a:rPr>
                  <a:t>500 Hz,</a:t>
                </a:r>
              </a:p>
              <a:p>
                <a:pPr marL="0" lvl="0" indent="0">
                  <a:lnSpc>
                    <a:spcPct val="100000"/>
                  </a:lnSpc>
                  <a:spcBef>
                    <a:spcPts val="0"/>
                  </a:spcBef>
                  <a:buSzPts val="2000"/>
                  <a:buNone/>
                </a:pPr>
                <a:endParaRPr lang="en-US" sz="2400" dirty="0">
                  <a:latin typeface="Atkinson Hyperlegible Next"/>
                  <a:cs typeface="Arial"/>
                  <a:sym typeface="Arial"/>
                </a:endParaRPr>
              </a:p>
              <a:p>
                <a:pPr marL="0" lvl="0" indent="0">
                  <a:lnSpc>
                    <a:spcPct val="100000"/>
                  </a:lnSpc>
                  <a:spcBef>
                    <a:spcPts val="0"/>
                  </a:spcBef>
                  <a:buSzPts val="2000"/>
                  <a:buNone/>
                </a:pPr>
                <a:r>
                  <a:rPr lang="en-US" sz="2400" dirty="0">
                    <a:latin typeface="Atkinson Hyperlegible Next"/>
                    <a:cs typeface="Arial"/>
                    <a:sym typeface="Arial"/>
                  </a:rPr>
                  <a:t>If we want to do an FIR frequency design and do a 21</a:t>
                </a:r>
                <a:r>
                  <a:rPr lang="en-US" sz="2400" baseline="30000" dirty="0">
                    <a:latin typeface="Atkinson Hyperlegible Next"/>
                    <a:cs typeface="Arial"/>
                    <a:sym typeface="Arial"/>
                  </a:rPr>
                  <a:t>st</a:t>
                </a:r>
                <a:r>
                  <a:rPr lang="en-US" sz="2400" dirty="0">
                    <a:latin typeface="Atkinson Hyperlegible Next"/>
                    <a:cs typeface="Arial"/>
                    <a:sym typeface="Arial"/>
                  </a:rPr>
                  <a:t> order filter with a low-pass cutoff of 100 Hz, we calculate the normalized frequency </a:t>
                </a:r>
                <a14:m>
                  <m:oMath xmlns:m="http://schemas.openxmlformats.org/officeDocument/2006/math">
                    <m:sSub>
                      <m:sSubPr>
                        <m:ctrlPr>
                          <a:rPr lang="en-US" sz="2400" i="1" smtClean="0">
                            <a:latin typeface="Cambria Math" panose="02040503050406030204" pitchFamily="18" charset="0"/>
                            <a:cs typeface="Arial"/>
                            <a:sym typeface="Arial"/>
                          </a:rPr>
                        </m:ctrlPr>
                      </m:sSubPr>
                      <m:e>
                        <m:r>
                          <m:rPr>
                            <m:sty m:val="p"/>
                          </m:rPr>
                          <a:rPr lang="en-US" sz="2400" b="0" i="1" smtClean="0">
                            <a:latin typeface="Cambria Math" panose="02040503050406030204" pitchFamily="18" charset="0"/>
                            <a:cs typeface="Arial"/>
                            <a:sym typeface="Arial"/>
                          </a:rPr>
                          <m:t>W</m:t>
                        </m:r>
                      </m:e>
                      <m:sub>
                        <m:r>
                          <m:rPr>
                            <m:sty m:val="p"/>
                          </m:rPr>
                          <a:rPr lang="en-US" sz="2400" b="0" i="1" smtClean="0">
                            <a:latin typeface="Cambria Math" panose="02040503050406030204" pitchFamily="18" charset="0"/>
                            <a:cs typeface="Arial"/>
                            <a:sym typeface="Arial"/>
                          </a:rPr>
                          <m:t>n</m:t>
                        </m:r>
                      </m:sub>
                    </m:sSub>
                  </m:oMath>
                </a14:m>
                <a:endParaRPr lang="en-US" sz="2400" dirty="0"/>
              </a:p>
              <a:p>
                <a:pPr marL="0" lvl="0" indent="0">
                  <a:lnSpc>
                    <a:spcPct val="100000"/>
                  </a:lnSpc>
                  <a:spcBef>
                    <a:spcPts val="0"/>
                  </a:spcBef>
                  <a:buSzPts val="2000"/>
                  <a:buNone/>
                </a:pPr>
                <a:endParaRPr lang="en-US" sz="2400" dirty="0"/>
              </a:p>
              <a:p>
                <a:pPr marL="0" lvl="0" indent="0">
                  <a:lnSpc>
                    <a:spcPct val="100000"/>
                  </a:lnSpc>
                  <a:spcBef>
                    <a:spcPts val="0"/>
                  </a:spcBef>
                  <a:buSzPts val="2000"/>
                  <a:buNone/>
                </a:pPr>
                <a14:m>
                  <m:oMathPara xmlns:m="http://schemas.openxmlformats.org/officeDocument/2006/math">
                    <m:oMathParaPr>
                      <m:jc m:val="centerGroup"/>
                    </m:oMathParaPr>
                    <m:oMath xmlns:m="http://schemas.openxmlformats.org/officeDocument/2006/math">
                      <m:sSub>
                        <m:sSubPr>
                          <m:ctrlPr>
                            <a:rPr lang="en-US" sz="2400" i="1" smtClean="0">
                              <a:latin typeface="Cambria Math" panose="02040503050406030204" pitchFamily="18" charset="0"/>
                            </a:rPr>
                          </m:ctrlPr>
                        </m:sSubPr>
                        <m:e>
                          <m:r>
                            <m:rPr>
                              <m:sty m:val="p"/>
                            </m:rPr>
                            <a:rPr lang="en-US" sz="2400" b="0" i="1" smtClean="0">
                              <a:latin typeface="Cambria Math" panose="02040503050406030204" pitchFamily="18" charset="0"/>
                            </a:rPr>
                            <m:t>W</m:t>
                          </m:r>
                        </m:e>
                        <m:sub>
                          <m:r>
                            <m:rPr>
                              <m:sty m:val="p"/>
                            </m:rPr>
                            <a:rPr lang="en-US" sz="2400" b="0" i="1" smtClean="0">
                              <a:latin typeface="Cambria Math" panose="02040503050406030204" pitchFamily="18" charset="0"/>
                            </a:rPr>
                            <m:t>n</m:t>
                          </m:r>
                        </m:sub>
                      </m:sSub>
                      <m:r>
                        <a:rPr lang="en-US" sz="2400" b="0" i="1" smtClean="0">
                          <a:latin typeface="Cambria Math" panose="02040503050406030204" pitchFamily="18" charset="0"/>
                        </a:rPr>
                        <m:t>=</m:t>
                      </m:r>
                      <m:f>
                        <m:fPr>
                          <m:ctrlPr>
                            <a:rPr lang="en-US" sz="2400" b="0" i="1" smtClean="0">
                              <a:latin typeface="Cambria Math" panose="02040503050406030204" pitchFamily="18" charset="0"/>
                            </a:rPr>
                          </m:ctrlPr>
                        </m:fPr>
                        <m:num>
                          <m:r>
                            <a:rPr lang="en-US" sz="2400" b="0" i="1" smtClean="0">
                              <a:latin typeface="Cambria Math" panose="02040503050406030204" pitchFamily="18" charset="0"/>
                            </a:rPr>
                            <m:t>100 </m:t>
                          </m:r>
                          <m:r>
                            <m:rPr>
                              <m:sty m:val="p"/>
                            </m:rPr>
                            <a:rPr lang="en-US" sz="2400" b="0" i="1" smtClean="0">
                              <a:latin typeface="Cambria Math" panose="02040503050406030204" pitchFamily="18" charset="0"/>
                            </a:rPr>
                            <m:t>Hz</m:t>
                          </m:r>
                        </m:num>
                        <m:den>
                          <m:r>
                            <a:rPr lang="en-US" sz="2400" b="0" i="1" smtClean="0">
                              <a:latin typeface="Cambria Math" panose="02040503050406030204" pitchFamily="18" charset="0"/>
                            </a:rPr>
                            <m:t>500 </m:t>
                          </m:r>
                          <m:r>
                            <m:rPr>
                              <m:sty m:val="p"/>
                            </m:rPr>
                            <a:rPr lang="en-US" sz="2400" b="0" i="1" smtClean="0">
                              <a:latin typeface="Cambria Math" panose="02040503050406030204" pitchFamily="18" charset="0"/>
                            </a:rPr>
                            <m:t>Hz</m:t>
                          </m:r>
                        </m:den>
                      </m:f>
                      <m:r>
                        <a:rPr lang="en-US" sz="2400" b="0" i="1" smtClean="0">
                          <a:latin typeface="Cambria Math" panose="02040503050406030204" pitchFamily="18" charset="0"/>
                        </a:rPr>
                        <m:t> = 0.2</m:t>
                      </m:r>
                    </m:oMath>
                  </m:oMathPara>
                </a14:m>
                <a:endParaRPr lang="en-US" sz="2400" dirty="0"/>
              </a:p>
            </p:txBody>
          </p:sp>
        </mc:Choice>
        <mc:Fallback xmlns="">
          <p:sp>
            <p:nvSpPr>
              <p:cNvPr id="118" name="Google Shape;118;p29">
                <a:extLst>
                  <a:ext uri="{FF2B5EF4-FFF2-40B4-BE49-F238E27FC236}">
                    <a16:creationId xmlns:a16="http://schemas.microsoft.com/office/drawing/2014/main" id="{7736D65E-DC40-2E1E-B34B-E258CB03F90F}"/>
                  </a:ext>
                </a:extLst>
              </p:cNvPr>
              <p:cNvSpPr txBox="1">
                <a:spLocks noGrp="1" noRot="1" noChangeAspect="1" noMove="1" noResize="1" noEditPoints="1" noAdjustHandles="1" noChangeArrowheads="1" noChangeShapeType="1" noTextEdit="1"/>
              </p:cNvSpPr>
              <p:nvPr>
                <p:ph type="body" idx="1"/>
              </p:nvPr>
            </p:nvSpPr>
            <p:spPr>
              <a:xfrm>
                <a:off x="376809" y="1334279"/>
                <a:ext cx="11177401" cy="4821102"/>
              </a:xfrm>
              <a:prstGeom prst="rect">
                <a:avLst/>
              </a:prstGeom>
              <a:blipFill>
                <a:blip r:embed="rId3"/>
                <a:stretch>
                  <a:fillRect l="-873" t="-885"/>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6AD54D58-ED15-DA2C-805A-54FA6BC6DB36}"/>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DA0DC509-AE1F-7964-22B6-DD4771779F1D}"/>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FIR Code</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F24ECC65-F83F-7F80-E818-DBF2B2E4836B}"/>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121A7D26-23FA-4E71-EFC4-E8E95E07089C}"/>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A5318956-8BAF-BC2C-166F-7B411461B538}"/>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02CF4299-0DDE-BECF-486B-4F6461EB956B}"/>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00458893-9BEC-BF70-17BA-F714FF7F4510}"/>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CC28EBCD-5CB8-447B-C2C9-306FE51AB75D}"/>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347385241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grpId="0" nodeType="withEffect">
                                  <p:stCondLst>
                                    <p:cond delay="0"/>
                                  </p:stCondLst>
                                  <p:childTnLst>
                                    <p:set>
                                      <p:cBhvr>
                                        <p:cTn id="6" dur="1" fill="hold">
                                          <p:stCondLst>
                                            <p:cond delay="0"/>
                                          </p:stCondLst>
                                        </p:cTn>
                                        <p:tgtEl>
                                          <p:spTgt spid="118">
                                            <p:txEl>
                                              <p:pRg st="2" end="2"/>
                                            </p:txEl>
                                          </p:spTgt>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118">
                                            <p:txEl>
                                              <p:pRg st="4" end="4"/>
                                            </p:txEl>
                                          </p:spTgt>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8" grpId="0" uiExpand="1" build="p"/>
    </p:bldLst>
  </p:timing>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71DD8805-B224-ECFF-D0FD-C2B5B6B01E36}"/>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63422162-46D0-A2D2-378B-6D379450162A}"/>
                  </a:ext>
                </a:extLst>
              </p:cNvPr>
              <p:cNvSpPr txBox="1">
                <a:spLocks noGrp="1"/>
              </p:cNvSpPr>
              <p:nvPr>
                <p:ph type="body" idx="1"/>
              </p:nvPr>
            </p:nvSpPr>
            <p:spPr>
              <a:xfrm>
                <a:off x="376809" y="1334279"/>
                <a:ext cx="11177401" cy="1026052"/>
              </a:xfrm>
              <a:prstGeom prst="rect">
                <a:avLst/>
              </a:prstGeom>
              <a:noFill/>
              <a:ln>
                <a:noFill/>
              </a:ln>
            </p:spPr>
            <p:txBody>
              <a:bodyPr spcFirstLastPara="1" wrap="square" lIns="91425" tIns="45700" rIns="91425" bIns="45700" anchor="t" anchorCtr="0">
                <a:noAutofit/>
              </a:bodyPr>
              <a:lstStyle/>
              <a:p>
                <a:pPr marL="0" lvl="0" indent="0">
                  <a:lnSpc>
                    <a:spcPct val="100000"/>
                  </a:lnSpc>
                  <a:spcBef>
                    <a:spcPts val="0"/>
                  </a:spcBef>
                  <a:buSzPts val="2000"/>
                  <a:buNone/>
                </a:pPr>
                <a:r>
                  <a:rPr lang="en-US" sz="2400" dirty="0">
                    <a:latin typeface="Atkinson Hyperlegible Next"/>
                    <a:cs typeface="Arial"/>
                    <a:sym typeface="Arial"/>
                  </a:rPr>
                  <a:t>In MATLAB, generating the 22 weights ( a 21</a:t>
                </a:r>
                <a:r>
                  <a:rPr lang="en-US" sz="2400" baseline="30000" dirty="0">
                    <a:latin typeface="Atkinson Hyperlegible Next"/>
                    <a:cs typeface="Arial"/>
                    <a:sym typeface="Arial"/>
                  </a:rPr>
                  <a:t>st</a:t>
                </a:r>
                <a:r>
                  <a:rPr lang="en-US" sz="2400" dirty="0">
                    <a:latin typeface="Atkinson Hyperlegible Next"/>
                    <a:cs typeface="Arial"/>
                    <a:sym typeface="Arial"/>
                  </a:rPr>
                  <a:t> has </a:t>
                </a:r>
                <a14:m>
                  <m:oMath xmlns:m="http://schemas.openxmlformats.org/officeDocument/2006/math">
                    <m:r>
                      <m:rPr>
                        <m:sty m:val="p"/>
                      </m:rPr>
                      <a:rPr lang="en-US" sz="2400" b="0" i="1" smtClean="0">
                        <a:latin typeface="Cambria Math" panose="02040503050406030204" pitchFamily="18" charset="0"/>
                        <a:cs typeface="Arial"/>
                        <a:sym typeface="Arial"/>
                      </a:rPr>
                      <m:t>M</m:t>
                    </m:r>
                    <m:r>
                      <a:rPr lang="en-US" sz="2400" b="0" i="1" smtClean="0">
                        <a:latin typeface="Cambria Math" panose="02040503050406030204" pitchFamily="18" charset="0"/>
                        <a:cs typeface="Arial"/>
                        <a:sym typeface="Arial"/>
                      </a:rPr>
                      <m:t> + 1</m:t>
                    </m:r>
                  </m:oMath>
                </a14:m>
                <a:r>
                  <a:rPr lang="en-US" sz="2400" dirty="0"/>
                  <a:t> coefficients) is incredibly simple!</a:t>
                </a:r>
              </a:p>
              <a:p>
                <a:pPr marL="0" lvl="0" indent="0">
                  <a:lnSpc>
                    <a:spcPct val="100000"/>
                  </a:lnSpc>
                  <a:spcBef>
                    <a:spcPts val="0"/>
                  </a:spcBef>
                  <a:buSzPts val="2000"/>
                  <a:buNone/>
                </a:pPr>
                <a:endParaRPr lang="en-US" sz="2400" dirty="0"/>
              </a:p>
              <a:p>
                <a:pPr marL="0" lvl="0" indent="0">
                  <a:lnSpc>
                    <a:spcPct val="100000"/>
                  </a:lnSpc>
                  <a:spcBef>
                    <a:spcPts val="0"/>
                  </a:spcBef>
                  <a:buSzPts val="2000"/>
                  <a:buNone/>
                </a:pPr>
                <a:endParaRPr lang="en-US" sz="2400" dirty="0"/>
              </a:p>
            </p:txBody>
          </p:sp>
        </mc:Choice>
        <mc:Fallback xmlns="">
          <p:sp>
            <p:nvSpPr>
              <p:cNvPr id="118" name="Google Shape;118;p29">
                <a:extLst>
                  <a:ext uri="{FF2B5EF4-FFF2-40B4-BE49-F238E27FC236}">
                    <a16:creationId xmlns:a16="http://schemas.microsoft.com/office/drawing/2014/main" id="{63422162-46D0-A2D2-378B-6D379450162A}"/>
                  </a:ext>
                </a:extLst>
              </p:cNvPr>
              <p:cNvSpPr txBox="1">
                <a:spLocks noGrp="1" noRot="1" noChangeAspect="1" noMove="1" noResize="1" noEditPoints="1" noAdjustHandles="1" noChangeArrowheads="1" noChangeShapeType="1" noTextEdit="1"/>
              </p:cNvSpPr>
              <p:nvPr>
                <p:ph type="body" idx="1"/>
              </p:nvPr>
            </p:nvSpPr>
            <p:spPr>
              <a:xfrm>
                <a:off x="376809" y="1334279"/>
                <a:ext cx="11177401" cy="1026052"/>
              </a:xfrm>
              <a:prstGeom prst="rect">
                <a:avLst/>
              </a:prstGeom>
              <a:blipFill>
                <a:blip r:embed="rId3"/>
                <a:stretch>
                  <a:fillRect l="-873" t="-5357" r="-1037"/>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E62C944F-B390-72ED-9879-742E2E5C25A6}"/>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1A3C245C-9B8F-3B10-0806-5179D40C53AF}"/>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FIR Code</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1C4C5CA3-5F5F-E350-0048-5C21E5D5786B}"/>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70642A52-3C04-34B2-C842-D88E903CB12E}"/>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803801F0-7779-D52B-55C2-798979885C92}"/>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9111DBE1-F699-A862-0C7E-536936C8016F}"/>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4E4A7949-7AE6-1C51-928B-FED4CEE37315}"/>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1FBBA6D1-2264-9AF4-23F2-4D7FEE4CE851}"/>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1518249167"/>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20F742FC-EF77-DD07-18DB-495EE5FF772E}"/>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20FD1C6C-BF01-1664-460E-01868E2ED4A7}"/>
              </a:ext>
            </a:extLst>
          </p:cNvPr>
          <p:cNvSpPr txBox="1">
            <a:spLocks noGrp="1"/>
          </p:cNvSpPr>
          <p:nvPr>
            <p:ph type="body" idx="1"/>
          </p:nvPr>
        </p:nvSpPr>
        <p:spPr>
          <a:xfrm>
            <a:off x="376809" y="1334279"/>
            <a:ext cx="2867289" cy="4987556"/>
          </a:xfrm>
          <a:prstGeom prst="rect">
            <a:avLst/>
          </a:prstGeom>
          <a:noFill/>
          <a:ln>
            <a:noFill/>
          </a:ln>
        </p:spPr>
        <p:txBody>
          <a:bodyPr spcFirstLastPara="1" wrap="square" lIns="91425" tIns="45700" rIns="91425" bIns="45700" anchor="ctr" anchorCtr="0">
            <a:noAutofit/>
          </a:bodyPr>
          <a:lstStyle/>
          <a:p>
            <a:pPr>
              <a:lnSpc>
                <a:spcPts val="1350"/>
              </a:lnSpc>
              <a:buNone/>
            </a:pPr>
            <a:r>
              <a:rPr lang="en-US" sz="1600" b="0" i="0" u="none" strike="noStrike" dirty="0">
                <a:solidFill>
                  <a:srgbClr val="008013"/>
                </a:solidFill>
                <a:effectLst/>
                <a:latin typeface="Menlo"/>
              </a:rPr>
              <a:t>% 21st Order Low-Pass Filter</a:t>
            </a:r>
            <a:endParaRPr lang="en-US" sz="1600" b="0" i="0" dirty="0">
              <a:solidFill>
                <a:srgbClr val="212121"/>
              </a:solidFill>
              <a:effectLst/>
              <a:latin typeface="Menlo"/>
            </a:endParaRPr>
          </a:p>
          <a:p>
            <a:pPr>
              <a:lnSpc>
                <a:spcPts val="1350"/>
              </a:lnSpc>
              <a:buNone/>
            </a:pPr>
            <a:r>
              <a:rPr lang="en-US" sz="1600" b="0" i="0" dirty="0">
                <a:solidFill>
                  <a:srgbClr val="212121"/>
                </a:solidFill>
                <a:effectLst/>
                <a:latin typeface="Menlo"/>
              </a:rPr>
              <a:t>Order = 21; </a:t>
            </a:r>
          </a:p>
          <a:p>
            <a:pPr>
              <a:lnSpc>
                <a:spcPts val="1350"/>
              </a:lnSpc>
              <a:buNone/>
            </a:pPr>
            <a:r>
              <a:rPr lang="en-US" sz="1600" b="0" i="0" dirty="0" err="1">
                <a:solidFill>
                  <a:srgbClr val="212121"/>
                </a:solidFill>
                <a:effectLst/>
                <a:latin typeface="Menlo"/>
              </a:rPr>
              <a:t>Wn</a:t>
            </a:r>
            <a:r>
              <a:rPr lang="en-US" sz="1600" b="0" i="0" dirty="0">
                <a:solidFill>
                  <a:srgbClr val="212121"/>
                </a:solidFill>
                <a:effectLst/>
                <a:latin typeface="Menlo"/>
              </a:rPr>
              <a:t> = 0.2; </a:t>
            </a:r>
          </a:p>
          <a:p>
            <a:pPr>
              <a:lnSpc>
                <a:spcPts val="1350"/>
              </a:lnSpc>
              <a:buNone/>
            </a:pPr>
            <a:r>
              <a:rPr lang="en-US" sz="1600" b="0" i="0" dirty="0">
                <a:solidFill>
                  <a:srgbClr val="212121"/>
                </a:solidFill>
                <a:effectLst/>
                <a:latin typeface="Menlo"/>
              </a:rPr>
              <a:t>b = fir1(Order, </a:t>
            </a:r>
            <a:r>
              <a:rPr lang="en-US" sz="1600" b="0" i="0" dirty="0" err="1">
                <a:solidFill>
                  <a:srgbClr val="212121"/>
                </a:solidFill>
                <a:effectLst/>
                <a:latin typeface="Menlo"/>
              </a:rPr>
              <a:t>Wn</a:t>
            </a:r>
            <a:r>
              <a:rPr lang="en-US" sz="1600" b="0" i="0" dirty="0">
                <a:solidFill>
                  <a:srgbClr val="212121"/>
                </a:solidFill>
                <a:effectLst/>
                <a:latin typeface="Menlo"/>
              </a:rPr>
              <a:t>, </a:t>
            </a:r>
            <a:r>
              <a:rPr lang="en-US" sz="1600" b="0" i="0" u="none" strike="noStrike" dirty="0">
                <a:solidFill>
                  <a:srgbClr val="A709F5"/>
                </a:solidFill>
                <a:effectLst/>
                <a:latin typeface="Menlo"/>
              </a:rPr>
              <a:t>'low'</a:t>
            </a:r>
            <a:r>
              <a:rPr lang="en-US" sz="1600" b="0" i="0" dirty="0">
                <a:solidFill>
                  <a:srgbClr val="212121"/>
                </a:solidFill>
                <a:effectLst/>
                <a:latin typeface="Menlo"/>
              </a:rPr>
              <a:t>);</a:t>
            </a:r>
          </a:p>
          <a:p>
            <a:pPr>
              <a:lnSpc>
                <a:spcPts val="1350"/>
              </a:lnSpc>
              <a:buNone/>
            </a:pPr>
            <a:r>
              <a:rPr lang="en-US" sz="1600" b="0" i="0" dirty="0" err="1">
                <a:solidFill>
                  <a:srgbClr val="212121"/>
                </a:solidFill>
                <a:effectLst/>
                <a:latin typeface="Menlo"/>
              </a:rPr>
              <a:t>freqz</a:t>
            </a:r>
            <a:r>
              <a:rPr lang="en-US" sz="1600" b="0" i="0" dirty="0">
                <a:solidFill>
                  <a:srgbClr val="212121"/>
                </a:solidFill>
                <a:effectLst/>
                <a:latin typeface="Menlo"/>
              </a:rPr>
              <a:t>(b,1,512)</a:t>
            </a:r>
          </a:p>
        </p:txBody>
      </p:sp>
      <p:sp>
        <p:nvSpPr>
          <p:cNvPr id="119" name="Google Shape;119;p29">
            <a:extLst>
              <a:ext uri="{FF2B5EF4-FFF2-40B4-BE49-F238E27FC236}">
                <a16:creationId xmlns:a16="http://schemas.microsoft.com/office/drawing/2014/main" id="{66ED9460-B9E4-18E2-F522-C8148A32F626}"/>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0483C96F-D843-03A9-8435-54491FC14633}"/>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FIR Code</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3DC5538F-C651-20D7-6084-F4C7A3289A60}"/>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EDF3F755-0C66-1B57-7F32-00F097075AE1}"/>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C16CC1F3-1B68-1A04-C20B-230C2B30B3CB}"/>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8B26C5BD-4AD6-7655-E0CC-D6BA5F4706A5}"/>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39174A47-B944-427F-5A25-73118753F76B}"/>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336C39F0-1E31-46CD-3A0E-6ADA75274BDE}"/>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3" name="Graphic 2" descr="Plot: freqz frequency response of the 21st-order FIR low-pass filter, with normalized frequency from 0 to 1 times pi radians per sample. Magnitude stays near 0 dB up to about 0.1, is about minus 6 dB at the 0.2 cutoff, and falls steeply to a null near 0.37. Stopband sidelobes stay near minus 55 to minus 60 dB. Phase decreases linearly from 0 to about minus 700 degrees, showing linear phase in the passband, then jumps about 180 degrees at each stopband null, forming a sawtooth.">
            <a:extLst>
              <a:ext uri="{FF2B5EF4-FFF2-40B4-BE49-F238E27FC236}">
                <a16:creationId xmlns:a16="http://schemas.microsoft.com/office/drawing/2014/main" id="{F3E860BC-900A-E531-DFB6-C2F79FAC75EE}"/>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3244098" y="1002028"/>
            <a:ext cx="8787882" cy="5319807"/>
          </a:xfrm>
          <a:prstGeom prst="rect">
            <a:avLst/>
          </a:prstGeom>
        </p:spPr>
      </p:pic>
    </p:spTree>
    <p:extLst>
      <p:ext uri="{BB962C8B-B14F-4D97-AF65-F5344CB8AC3E}">
        <p14:creationId xmlns:p14="http://schemas.microsoft.com/office/powerpoint/2010/main" val="402680955"/>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1FDCBCFB-3D14-98AB-3409-76F4F18C03B4}"/>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E25AB836-5083-AE03-09AA-989610EC8B16}"/>
              </a:ext>
            </a:extLst>
          </p:cNvPr>
          <p:cNvSpPr txBox="1">
            <a:spLocks noGrp="1"/>
          </p:cNvSpPr>
          <p:nvPr>
            <p:ph type="body" idx="1"/>
          </p:nvPr>
        </p:nvSpPr>
        <p:spPr>
          <a:xfrm>
            <a:off x="376809" y="1334279"/>
            <a:ext cx="2867289" cy="4987556"/>
          </a:xfrm>
          <a:prstGeom prst="rect">
            <a:avLst/>
          </a:prstGeom>
          <a:noFill/>
          <a:ln>
            <a:noFill/>
          </a:ln>
        </p:spPr>
        <p:txBody>
          <a:bodyPr spcFirstLastPara="1" wrap="square" lIns="91425" tIns="45700" rIns="91425" bIns="45700" anchor="ctr" anchorCtr="0">
            <a:noAutofit/>
          </a:bodyPr>
          <a:lstStyle/>
          <a:p>
            <a:pPr>
              <a:lnSpc>
                <a:spcPts val="1350"/>
              </a:lnSpc>
              <a:buNone/>
            </a:pPr>
            <a:r>
              <a:rPr lang="en-US" sz="1600" b="0" i="0" u="none" strike="noStrike" dirty="0">
                <a:solidFill>
                  <a:srgbClr val="008013"/>
                </a:solidFill>
                <a:effectLst/>
                <a:latin typeface="Menlo"/>
              </a:rPr>
              <a:t>% 22st Order High-Pass Filter</a:t>
            </a:r>
            <a:endParaRPr lang="en-US" sz="1600" b="0" i="0" dirty="0">
              <a:solidFill>
                <a:srgbClr val="212121"/>
              </a:solidFill>
              <a:effectLst/>
              <a:latin typeface="Menlo"/>
            </a:endParaRPr>
          </a:p>
          <a:p>
            <a:pPr>
              <a:lnSpc>
                <a:spcPts val="1350"/>
              </a:lnSpc>
              <a:buNone/>
            </a:pPr>
            <a:r>
              <a:rPr lang="en-US" sz="1600" b="0" i="0" dirty="0">
                <a:solidFill>
                  <a:srgbClr val="212121"/>
                </a:solidFill>
                <a:effectLst/>
                <a:latin typeface="Menlo"/>
              </a:rPr>
              <a:t>Order = 22; </a:t>
            </a:r>
          </a:p>
          <a:p>
            <a:pPr>
              <a:lnSpc>
                <a:spcPts val="1350"/>
              </a:lnSpc>
              <a:buNone/>
            </a:pPr>
            <a:r>
              <a:rPr lang="en-US" sz="1600" b="0" i="0" dirty="0" err="1">
                <a:solidFill>
                  <a:srgbClr val="212121"/>
                </a:solidFill>
                <a:effectLst/>
                <a:latin typeface="Menlo"/>
              </a:rPr>
              <a:t>Wn</a:t>
            </a:r>
            <a:r>
              <a:rPr lang="en-US" sz="1600" b="0" i="0" dirty="0">
                <a:solidFill>
                  <a:srgbClr val="212121"/>
                </a:solidFill>
                <a:effectLst/>
                <a:latin typeface="Menlo"/>
              </a:rPr>
              <a:t> = 0.3; </a:t>
            </a:r>
          </a:p>
          <a:p>
            <a:pPr>
              <a:lnSpc>
                <a:spcPts val="1350"/>
              </a:lnSpc>
              <a:buNone/>
            </a:pPr>
            <a:r>
              <a:rPr lang="en-US" sz="1600" b="0" i="0" dirty="0">
                <a:solidFill>
                  <a:srgbClr val="212121"/>
                </a:solidFill>
                <a:effectLst/>
                <a:latin typeface="Menlo"/>
              </a:rPr>
              <a:t>b = fir1(Order, </a:t>
            </a:r>
            <a:r>
              <a:rPr lang="en-US" sz="1600" b="0" i="0" dirty="0" err="1">
                <a:solidFill>
                  <a:srgbClr val="212121"/>
                </a:solidFill>
                <a:effectLst/>
                <a:latin typeface="Menlo"/>
              </a:rPr>
              <a:t>Wn</a:t>
            </a:r>
            <a:r>
              <a:rPr lang="en-US" sz="1600" b="0" i="0" dirty="0">
                <a:solidFill>
                  <a:srgbClr val="212121"/>
                </a:solidFill>
                <a:effectLst/>
                <a:latin typeface="Menlo"/>
              </a:rPr>
              <a:t>, </a:t>
            </a:r>
            <a:r>
              <a:rPr lang="en-US" sz="1600" b="0" i="0" u="none" strike="noStrike" dirty="0">
                <a:solidFill>
                  <a:srgbClr val="A709F5"/>
                </a:solidFill>
                <a:effectLst/>
                <a:latin typeface="Menlo"/>
              </a:rPr>
              <a:t>'high'</a:t>
            </a:r>
            <a:r>
              <a:rPr lang="en-US" sz="1600" b="0" i="0" dirty="0">
                <a:solidFill>
                  <a:srgbClr val="212121"/>
                </a:solidFill>
                <a:effectLst/>
                <a:latin typeface="Menlo"/>
              </a:rPr>
              <a:t>);</a:t>
            </a:r>
          </a:p>
          <a:p>
            <a:pPr>
              <a:lnSpc>
                <a:spcPts val="1350"/>
              </a:lnSpc>
              <a:buNone/>
            </a:pPr>
            <a:r>
              <a:rPr lang="en-US" sz="1600" b="0" i="0" dirty="0" err="1">
                <a:solidFill>
                  <a:srgbClr val="212121"/>
                </a:solidFill>
                <a:effectLst/>
                <a:latin typeface="Menlo"/>
              </a:rPr>
              <a:t>freqz</a:t>
            </a:r>
            <a:r>
              <a:rPr lang="en-US" sz="1600" b="0" i="0" dirty="0">
                <a:solidFill>
                  <a:srgbClr val="212121"/>
                </a:solidFill>
                <a:effectLst/>
                <a:latin typeface="Menlo"/>
              </a:rPr>
              <a:t>(b,1,512)</a:t>
            </a:r>
          </a:p>
        </p:txBody>
      </p:sp>
      <p:sp>
        <p:nvSpPr>
          <p:cNvPr id="119" name="Google Shape;119;p29">
            <a:extLst>
              <a:ext uri="{FF2B5EF4-FFF2-40B4-BE49-F238E27FC236}">
                <a16:creationId xmlns:a16="http://schemas.microsoft.com/office/drawing/2014/main" id="{54F4E946-5533-25F7-AF4C-25A1A2AFFB1C}"/>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0E238DB5-95BA-7022-AC04-D7599E083587}"/>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FIR Code</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0D3656BE-ADFE-771D-4AD3-D6FE868D81FB}"/>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22BE1FEE-C4FF-445D-C225-8FD7D8877E6A}"/>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974BB098-87C6-723D-A38E-FEDE319E3674}"/>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81796350-BF75-B2E7-5948-E0868A819EBD}"/>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28088515-F452-49F9-30C4-2505CF27EF55}"/>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51DC459D-657B-7418-D69F-CB1939C1D4C5}"/>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3" name="Graphic 2" descr="Plot: freqz magnitude and phase response of the 22nd-order high-pass FIR filter versus normalized frequency, 0 to 1 times pi radians per sample. Magnitude: a stopband below about 0.15 sits near minus 50 to minus 60 dB, with nulls near 0.05 and 0.145. The response rises steeply through about minus 6 dB at the 0.3 cutoff and is flat at 0 dB from about 0.4 to 1. Phase: a straight line falling from 0 to about minus 1600 degrees, showing linear phase, with small upward jumps only at the stopband nulls.">
            <a:extLst>
              <a:ext uri="{FF2B5EF4-FFF2-40B4-BE49-F238E27FC236}">
                <a16:creationId xmlns:a16="http://schemas.microsoft.com/office/drawing/2014/main" id="{CF1F19BB-E830-CCE8-E20C-E1E4D21FB1E8}"/>
              </a:ext>
            </a:extLst>
          </p:cNvPr>
          <p:cNvPicPr>
            <a:picLocks noChangeAspect="1"/>
          </p:cNvPicPr>
          <p:nvPr/>
        </p:nvPicPr>
        <p:blipFill>
          <a:blip r:embed="rId4">
            <a:extLst>
              <a:ext uri="{96DAC541-7B7A-43D3-8B79-37D633B846F1}">
                <asvg:svgBlip xmlns:asvg="http://schemas.microsoft.com/office/drawing/2016/SVG/main" r:embed="rId5"/>
              </a:ext>
            </a:extLst>
          </a:blip>
          <a:srcRect/>
          <a:stretch/>
        </p:blipFill>
        <p:spPr>
          <a:xfrm>
            <a:off x="3244098" y="1002028"/>
            <a:ext cx="8787881" cy="5319807"/>
          </a:xfrm>
          <a:prstGeom prst="rect">
            <a:avLst/>
          </a:prstGeom>
        </p:spPr>
      </p:pic>
    </p:spTree>
    <p:extLst>
      <p:ext uri="{BB962C8B-B14F-4D97-AF65-F5344CB8AC3E}">
        <p14:creationId xmlns:p14="http://schemas.microsoft.com/office/powerpoint/2010/main" val="366579062"/>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03F96260-B057-BA64-8C2A-384CD33E7395}"/>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A2800E13-66DC-684F-2E80-E9F448E086C9}"/>
              </a:ext>
            </a:extLst>
          </p:cNvPr>
          <p:cNvSpPr txBox="1">
            <a:spLocks noGrp="1"/>
          </p:cNvSpPr>
          <p:nvPr>
            <p:ph type="body" idx="1"/>
          </p:nvPr>
        </p:nvSpPr>
        <p:spPr>
          <a:xfrm>
            <a:off x="376809" y="1334279"/>
            <a:ext cx="3023852" cy="4987556"/>
          </a:xfrm>
          <a:prstGeom prst="rect">
            <a:avLst/>
          </a:prstGeom>
          <a:noFill/>
          <a:ln>
            <a:noFill/>
          </a:ln>
        </p:spPr>
        <p:txBody>
          <a:bodyPr spcFirstLastPara="1" wrap="square" lIns="91425" tIns="45700" rIns="91425" bIns="45700" anchor="ctr" anchorCtr="0">
            <a:noAutofit/>
          </a:bodyPr>
          <a:lstStyle/>
          <a:p>
            <a:pPr>
              <a:lnSpc>
                <a:spcPts val="1350"/>
              </a:lnSpc>
              <a:buNone/>
            </a:pPr>
            <a:r>
              <a:rPr lang="en-US" sz="1600" b="0" i="0" u="none" strike="noStrike" dirty="0">
                <a:solidFill>
                  <a:srgbClr val="008013"/>
                </a:solidFill>
                <a:effectLst/>
                <a:latin typeface="Menlo"/>
              </a:rPr>
              <a:t>% 21st Order band-Pass Filter</a:t>
            </a:r>
            <a:endParaRPr lang="en-US" sz="1600" b="0" i="0" dirty="0">
              <a:solidFill>
                <a:srgbClr val="212121"/>
              </a:solidFill>
              <a:effectLst/>
              <a:latin typeface="Menlo"/>
            </a:endParaRPr>
          </a:p>
          <a:p>
            <a:pPr>
              <a:lnSpc>
                <a:spcPts val="1350"/>
              </a:lnSpc>
              <a:buNone/>
            </a:pPr>
            <a:r>
              <a:rPr lang="en-US" sz="1600" b="0" i="0" dirty="0">
                <a:solidFill>
                  <a:srgbClr val="212121"/>
                </a:solidFill>
                <a:effectLst/>
                <a:latin typeface="Menlo"/>
              </a:rPr>
              <a:t>Order = 21; </a:t>
            </a:r>
          </a:p>
          <a:p>
            <a:pPr>
              <a:lnSpc>
                <a:spcPts val="1350"/>
              </a:lnSpc>
              <a:buNone/>
            </a:pPr>
            <a:r>
              <a:rPr lang="en-US" sz="1600" b="0" i="0" dirty="0" err="1">
                <a:solidFill>
                  <a:srgbClr val="212121"/>
                </a:solidFill>
                <a:effectLst/>
                <a:latin typeface="Menlo"/>
              </a:rPr>
              <a:t>Wn</a:t>
            </a:r>
            <a:r>
              <a:rPr lang="en-US" sz="1600" b="0" i="0" dirty="0">
                <a:solidFill>
                  <a:srgbClr val="212121"/>
                </a:solidFill>
                <a:effectLst/>
                <a:latin typeface="Menlo"/>
              </a:rPr>
              <a:t> = [0.35 0.65]; </a:t>
            </a:r>
          </a:p>
          <a:p>
            <a:pPr>
              <a:lnSpc>
                <a:spcPts val="1350"/>
              </a:lnSpc>
              <a:buNone/>
            </a:pPr>
            <a:r>
              <a:rPr lang="en-US" sz="1600" b="0" i="0" dirty="0">
                <a:solidFill>
                  <a:srgbClr val="212121"/>
                </a:solidFill>
                <a:effectLst/>
                <a:latin typeface="Menlo"/>
              </a:rPr>
              <a:t>b = fir1(Order, </a:t>
            </a:r>
            <a:r>
              <a:rPr lang="en-US" sz="1600" b="0" i="0" dirty="0" err="1">
                <a:solidFill>
                  <a:srgbClr val="212121"/>
                </a:solidFill>
                <a:effectLst/>
                <a:latin typeface="Menlo"/>
              </a:rPr>
              <a:t>Wn</a:t>
            </a:r>
            <a:r>
              <a:rPr lang="en-US" sz="1600" dirty="0">
                <a:solidFill>
                  <a:srgbClr val="212121"/>
                </a:solidFill>
                <a:latin typeface="Menlo"/>
              </a:rPr>
              <a:t> , </a:t>
            </a:r>
            <a:r>
              <a:rPr lang="en-US" sz="1600" dirty="0">
                <a:solidFill>
                  <a:srgbClr val="A709F5"/>
                </a:solidFill>
                <a:latin typeface="Menlo"/>
              </a:rPr>
              <a:t>‘bandpass'</a:t>
            </a:r>
            <a:r>
              <a:rPr lang="en-US" sz="1600" dirty="0">
                <a:solidFill>
                  <a:srgbClr val="212121"/>
                </a:solidFill>
                <a:latin typeface="Menlo"/>
              </a:rPr>
              <a:t>);</a:t>
            </a:r>
            <a:endParaRPr lang="en-US" sz="1600" b="0" i="0" dirty="0">
              <a:solidFill>
                <a:srgbClr val="212121"/>
              </a:solidFill>
              <a:effectLst/>
              <a:latin typeface="Menlo"/>
            </a:endParaRPr>
          </a:p>
          <a:p>
            <a:pPr>
              <a:lnSpc>
                <a:spcPts val="1350"/>
              </a:lnSpc>
              <a:buNone/>
            </a:pPr>
            <a:r>
              <a:rPr lang="en-US" sz="1600" b="0" i="0" dirty="0" err="1">
                <a:solidFill>
                  <a:srgbClr val="212121"/>
                </a:solidFill>
                <a:effectLst/>
                <a:latin typeface="Menlo"/>
              </a:rPr>
              <a:t>freqz</a:t>
            </a:r>
            <a:r>
              <a:rPr lang="en-US" sz="1600" b="0" i="0" dirty="0">
                <a:solidFill>
                  <a:srgbClr val="212121"/>
                </a:solidFill>
                <a:effectLst/>
                <a:latin typeface="Menlo"/>
              </a:rPr>
              <a:t>(b,1,512)</a:t>
            </a:r>
          </a:p>
        </p:txBody>
      </p:sp>
      <p:sp>
        <p:nvSpPr>
          <p:cNvPr id="119" name="Google Shape;119;p29">
            <a:extLst>
              <a:ext uri="{FF2B5EF4-FFF2-40B4-BE49-F238E27FC236}">
                <a16:creationId xmlns:a16="http://schemas.microsoft.com/office/drawing/2014/main" id="{96D8FAF5-E601-7DD0-C335-42746231A49B}"/>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93073EFA-9386-6DFC-9A97-8F27B21F4726}"/>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FIR Code</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297D7071-A0A9-DF1D-37A7-5EDDFAE656F9}"/>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E0770E1C-B8B5-F0CC-948F-B5411B650FA4}"/>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5BC0DF78-9D87-5AD8-0B6E-D107CB2FD5EE}"/>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266899E4-6741-363E-06A5-7E3EC2A94773}"/>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5A2C9EFC-C3A1-44B9-9912-029E5343C75A}"/>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7F8E98EB-4514-5A86-B870-EB30EC0380AE}"/>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3" name="Graphic 2" descr="Plot: freqz output for the 21st-order band-pass FIR filter. Magnitude in dB versus normalized frequency, 0 to 1 times pi: a rounded passband peaking at 0 dB at 0.5, falling to about minus 40 dB by 0.2 and 0.8, with stopband sidelobes near minus 45 to minus 60 dB. Phase falls linearly from 0 to about minus 1150 degrees, with small upward jumps at the magnitude nulls near 0.05, 0.16, 0.82 and 0.91, confirming linear phase.">
            <a:extLst>
              <a:ext uri="{FF2B5EF4-FFF2-40B4-BE49-F238E27FC236}">
                <a16:creationId xmlns:a16="http://schemas.microsoft.com/office/drawing/2014/main" id="{6C01899C-96C7-0F8F-9DA0-082A41A7EB6D}"/>
              </a:ext>
            </a:extLst>
          </p:cNvPr>
          <p:cNvPicPr>
            <a:picLocks noChangeAspect="1"/>
          </p:cNvPicPr>
          <p:nvPr/>
        </p:nvPicPr>
        <p:blipFill>
          <a:blip r:embed="rId4">
            <a:extLst>
              <a:ext uri="{96DAC541-7B7A-43D3-8B79-37D633B846F1}">
                <asvg:svgBlip xmlns:asvg="http://schemas.microsoft.com/office/drawing/2016/SVG/main" r:embed="rId5"/>
              </a:ext>
            </a:extLst>
          </a:blip>
          <a:srcRect/>
          <a:stretch/>
        </p:blipFill>
        <p:spPr>
          <a:xfrm>
            <a:off x="3244098" y="1002028"/>
            <a:ext cx="8787881" cy="5319807"/>
          </a:xfrm>
          <a:prstGeom prst="rect">
            <a:avLst/>
          </a:prstGeom>
        </p:spPr>
      </p:pic>
    </p:spTree>
    <p:extLst>
      <p:ext uri="{BB962C8B-B14F-4D97-AF65-F5344CB8AC3E}">
        <p14:creationId xmlns:p14="http://schemas.microsoft.com/office/powerpoint/2010/main" val="627251879"/>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CD28A45F-8D49-8B94-A97F-B2DB703A297B}"/>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30187DD5-EFF1-4075-621E-E781E6E6E2D0}"/>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3FBBAADD-D5C8-A6DC-E4FE-9F89FAF6775A}"/>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FIR Code</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A43480B8-D63E-9CE3-0F0A-91D3F32D3171}"/>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B857C750-626F-21E5-CC8F-2E880DB13E9D}"/>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5815F25F-636E-A9F1-E225-818E9C6E955F}"/>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B96867C7-1F57-77C9-9CFA-9FB455B3C9B4}"/>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BE7D2218-9AB8-54B5-0ABC-FFBE1C3790D8}"/>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357456D2-165F-B413-32FC-19DD4AB1AD47}"/>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pic>
        <p:nvPicPr>
          <p:cNvPr id="8" name="Graphic 7" descr="Plots: an FIR filter demo in four rows, with the time-domain signal (amplitude versus time, 0 to 150 s) on the left and the spectrum (normalized frequency, 0 to 1 times pi rad per sample) on the right. The input mixes tones at 0.1, 0.25, 0.5 and 0.8 pi. The low-pass filter (passband 0 to 0.2) keeps 0.1 and gives a smooth wave. The high-pass filter (0.3 to 1) keeps 0.5 and 0.8. The band-pass filter (0.35 to 0.65) keeps only 0.5, a steady sinusoid. Each output starts with a brief transient.">
            <a:extLst>
              <a:ext uri="{FF2B5EF4-FFF2-40B4-BE49-F238E27FC236}">
                <a16:creationId xmlns:a16="http://schemas.microsoft.com/office/drawing/2014/main" id="{735C8AA8-01BD-5878-5893-1F532B467A59}"/>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2742948" y="935620"/>
            <a:ext cx="6706104" cy="5588420"/>
          </a:xfrm>
          <a:prstGeom prst="rect">
            <a:avLst/>
          </a:prstGeom>
        </p:spPr>
      </p:pic>
      <p:grpSp>
        <p:nvGrpSpPr>
          <p:cNvPr id="11" name="Group 10">
            <a:extLst>
              <a:ext uri="{FF2B5EF4-FFF2-40B4-BE49-F238E27FC236}">
                <a16:creationId xmlns:a16="http://schemas.microsoft.com/office/drawing/2014/main" id="{1C3ACFBF-C254-A84C-AF4E-F04B2A0C8855}"/>
              </a:ext>
            </a:extLst>
          </p:cNvPr>
          <p:cNvGrpSpPr/>
          <p:nvPr/>
        </p:nvGrpSpPr>
        <p:grpSpPr>
          <a:xfrm>
            <a:off x="4495799" y="2371725"/>
            <a:ext cx="3924302" cy="114300"/>
            <a:chOff x="4495799" y="2371725"/>
            <a:chExt cx="3924302" cy="114300"/>
          </a:xfrm>
        </p:grpSpPr>
        <p:sp>
          <p:nvSpPr>
            <p:cNvPr id="9" name="Rectangle 8">
              <a:extLst>
                <a:ext uri="{FF2B5EF4-FFF2-40B4-BE49-F238E27FC236}">
                  <a16:creationId xmlns:a16="http://schemas.microsoft.com/office/drawing/2014/main" id="{8F3466B4-0F4E-E877-E198-4301DA234A5C}"/>
                </a:ext>
              </a:extLst>
            </p:cNvPr>
            <p:cNvSpPr/>
            <p:nvPr/>
          </p:nvSpPr>
          <p:spPr>
            <a:xfrm>
              <a:off x="4495799" y="2371725"/>
              <a:ext cx="609600" cy="11430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Rectangle 9">
              <a:extLst>
                <a:ext uri="{FF2B5EF4-FFF2-40B4-BE49-F238E27FC236}">
                  <a16:creationId xmlns:a16="http://schemas.microsoft.com/office/drawing/2014/main" id="{ACECEC8F-3D91-87FD-4F8A-C6AF8FAB3291}"/>
                </a:ext>
              </a:extLst>
            </p:cNvPr>
            <p:cNvSpPr/>
            <p:nvPr/>
          </p:nvSpPr>
          <p:spPr>
            <a:xfrm>
              <a:off x="7734301" y="2371725"/>
              <a:ext cx="685800" cy="11430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12" name="Group 11">
            <a:extLst>
              <a:ext uri="{FF2B5EF4-FFF2-40B4-BE49-F238E27FC236}">
                <a16:creationId xmlns:a16="http://schemas.microsoft.com/office/drawing/2014/main" id="{E438F526-C15B-EB77-4E2E-98A4721D7166}"/>
              </a:ext>
            </a:extLst>
          </p:cNvPr>
          <p:cNvGrpSpPr/>
          <p:nvPr/>
        </p:nvGrpSpPr>
        <p:grpSpPr>
          <a:xfrm>
            <a:off x="4495799" y="3729830"/>
            <a:ext cx="3924302" cy="114300"/>
            <a:chOff x="4495799" y="2371725"/>
            <a:chExt cx="3924302" cy="114300"/>
          </a:xfrm>
        </p:grpSpPr>
        <p:sp>
          <p:nvSpPr>
            <p:cNvPr id="13" name="Rectangle 12">
              <a:extLst>
                <a:ext uri="{FF2B5EF4-FFF2-40B4-BE49-F238E27FC236}">
                  <a16:creationId xmlns:a16="http://schemas.microsoft.com/office/drawing/2014/main" id="{249C39C8-CCE1-3749-CBD3-373EC6FA6BD0}"/>
                </a:ext>
              </a:extLst>
            </p:cNvPr>
            <p:cNvSpPr/>
            <p:nvPr/>
          </p:nvSpPr>
          <p:spPr>
            <a:xfrm>
              <a:off x="4495799" y="2371725"/>
              <a:ext cx="609600" cy="11430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Rectangle 13">
              <a:extLst>
                <a:ext uri="{FF2B5EF4-FFF2-40B4-BE49-F238E27FC236}">
                  <a16:creationId xmlns:a16="http://schemas.microsoft.com/office/drawing/2014/main" id="{4A9641A2-B49C-4FBC-6586-D89F98E8DE44}"/>
                </a:ext>
              </a:extLst>
            </p:cNvPr>
            <p:cNvSpPr/>
            <p:nvPr/>
          </p:nvSpPr>
          <p:spPr>
            <a:xfrm>
              <a:off x="7700963" y="2371725"/>
              <a:ext cx="719138" cy="11430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15" name="Group 14">
            <a:extLst>
              <a:ext uri="{FF2B5EF4-FFF2-40B4-BE49-F238E27FC236}">
                <a16:creationId xmlns:a16="http://schemas.microsoft.com/office/drawing/2014/main" id="{9BE00FE9-02B9-32E9-275B-CA45FD152F4A}"/>
              </a:ext>
            </a:extLst>
          </p:cNvPr>
          <p:cNvGrpSpPr/>
          <p:nvPr/>
        </p:nvGrpSpPr>
        <p:grpSpPr>
          <a:xfrm>
            <a:off x="4500562" y="5102222"/>
            <a:ext cx="3924302" cy="114300"/>
            <a:chOff x="4495799" y="2371725"/>
            <a:chExt cx="3924302" cy="114300"/>
          </a:xfrm>
        </p:grpSpPr>
        <p:sp>
          <p:nvSpPr>
            <p:cNvPr id="16" name="Rectangle 15">
              <a:extLst>
                <a:ext uri="{FF2B5EF4-FFF2-40B4-BE49-F238E27FC236}">
                  <a16:creationId xmlns:a16="http://schemas.microsoft.com/office/drawing/2014/main" id="{75A77658-3BE3-5AFA-8A56-846DCE3118FD}"/>
                </a:ext>
              </a:extLst>
            </p:cNvPr>
            <p:cNvSpPr/>
            <p:nvPr/>
          </p:nvSpPr>
          <p:spPr>
            <a:xfrm>
              <a:off x="4495799" y="2371725"/>
              <a:ext cx="609600" cy="11430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Rectangle 16">
              <a:extLst>
                <a:ext uri="{FF2B5EF4-FFF2-40B4-BE49-F238E27FC236}">
                  <a16:creationId xmlns:a16="http://schemas.microsoft.com/office/drawing/2014/main" id="{E7020C2A-CC6A-84B5-CCB0-3756D8424A00}"/>
                </a:ext>
              </a:extLst>
            </p:cNvPr>
            <p:cNvSpPr/>
            <p:nvPr/>
          </p:nvSpPr>
          <p:spPr>
            <a:xfrm>
              <a:off x="7700963" y="2371725"/>
              <a:ext cx="719138" cy="11430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spTree>
    <p:extLst>
      <p:ext uri="{BB962C8B-B14F-4D97-AF65-F5344CB8AC3E}">
        <p14:creationId xmlns:p14="http://schemas.microsoft.com/office/powerpoint/2010/main" val="259189426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xit" presetSubtype="0" fill="hold" nodeType="clickEffect">
                                  <p:stCondLst>
                                    <p:cond delay="0"/>
                                  </p:stCondLst>
                                  <p:childTnLst>
                                    <p:set>
                                      <p:cBhvr>
                                        <p:cTn id="6" dur="1" fill="hold">
                                          <p:stCondLst>
                                            <p:cond delay="0"/>
                                          </p:stCondLst>
                                        </p:cTn>
                                        <p:tgtEl>
                                          <p:spTgt spid="11"/>
                                        </p:tgtEl>
                                        <p:attrNameLst>
                                          <p:attrName>style.visibility</p:attrName>
                                        </p:attrNameLst>
                                      </p:cBhvr>
                                      <p:to>
                                        <p:strVal val="hidden"/>
                                      </p:to>
                                    </p:set>
                                  </p:childTnLst>
                                </p:cTn>
                              </p:par>
                            </p:childTnLst>
                          </p:cTn>
                        </p:par>
                      </p:childTnLst>
                    </p:cTn>
                  </p:par>
                  <p:par>
                    <p:cTn id="7" fill="hold">
                      <p:stCondLst>
                        <p:cond delay="indefinite"/>
                      </p:stCondLst>
                      <p:childTnLst>
                        <p:par>
                          <p:cTn id="8" fill="hold">
                            <p:stCondLst>
                              <p:cond delay="0"/>
                            </p:stCondLst>
                            <p:childTnLst>
                              <p:par>
                                <p:cTn id="9" presetID="1" presetClass="exit" presetSubtype="0" fill="hold" nodeType="clickEffect">
                                  <p:stCondLst>
                                    <p:cond delay="0"/>
                                  </p:stCondLst>
                                  <p:childTnLst>
                                    <p:set>
                                      <p:cBhvr>
                                        <p:cTn id="10" dur="1" fill="hold">
                                          <p:stCondLst>
                                            <p:cond delay="0"/>
                                          </p:stCondLst>
                                        </p:cTn>
                                        <p:tgtEl>
                                          <p:spTgt spid="12"/>
                                        </p:tgtEl>
                                        <p:attrNameLst>
                                          <p:attrName>style.visibility</p:attrName>
                                        </p:attrNameLst>
                                      </p:cBhvr>
                                      <p:to>
                                        <p:strVal val="hidden"/>
                                      </p:to>
                                    </p:set>
                                  </p:childTnLst>
                                </p:cTn>
                              </p:par>
                            </p:childTnLst>
                          </p:cTn>
                        </p:par>
                      </p:childTnLst>
                    </p:cTn>
                  </p:par>
                  <p:par>
                    <p:cTn id="11" fill="hold">
                      <p:stCondLst>
                        <p:cond delay="indefinite"/>
                      </p:stCondLst>
                      <p:childTnLst>
                        <p:par>
                          <p:cTn id="12" fill="hold">
                            <p:stCondLst>
                              <p:cond delay="0"/>
                            </p:stCondLst>
                            <p:childTnLst>
                              <p:par>
                                <p:cTn id="13" presetID="1" presetClass="exit" presetSubtype="0" fill="hold" nodeType="clickEffect">
                                  <p:stCondLst>
                                    <p:cond delay="0"/>
                                  </p:stCondLst>
                                  <p:childTnLst>
                                    <p:set>
                                      <p:cBhvr>
                                        <p:cTn id="14" dur="1" fill="hold">
                                          <p:stCondLst>
                                            <p:cond delay="0"/>
                                          </p:stCondLst>
                                        </p:cTn>
                                        <p:tgtEl>
                                          <p:spTgt spid="15"/>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194F44BA-C30F-7EDD-5DA4-F19B63E2569E}"/>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4DFD6567-E66D-E43C-201F-4B7CBE263BB2}"/>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lvl="0" indent="0">
                  <a:lnSpc>
                    <a:spcPct val="100000"/>
                  </a:lnSpc>
                  <a:spcBef>
                    <a:spcPts val="0"/>
                  </a:spcBef>
                  <a:buSzPts val="2000"/>
                  <a:buNone/>
                </a:pPr>
                <a:r>
                  <a:rPr lang="en-US" sz="2400" dirty="0">
                    <a:latin typeface="Atkinson Hyperlegible Next"/>
                    <a:cs typeface="Arial"/>
                    <a:sym typeface="Arial"/>
                  </a:rPr>
                  <a:t>Now that we used MATLAB to generate the coefficients, we need to implement the actual filter in the code.</a:t>
                </a:r>
              </a:p>
              <a:p>
                <a:pPr marL="0" lvl="0" indent="0">
                  <a:lnSpc>
                    <a:spcPct val="100000"/>
                  </a:lnSpc>
                  <a:spcBef>
                    <a:spcPts val="0"/>
                  </a:spcBef>
                  <a:buSzPts val="2000"/>
                  <a:buNone/>
                </a:pPr>
                <a:endParaRPr lang="en-US" sz="2400" dirty="0">
                  <a:latin typeface="Atkinson Hyperlegible Next"/>
                  <a:cs typeface="Arial"/>
                  <a:sym typeface="Arial"/>
                </a:endParaRPr>
              </a:p>
              <a:p>
                <a:pPr marL="0" lvl="0" indent="0">
                  <a:lnSpc>
                    <a:spcPct val="100000"/>
                  </a:lnSpc>
                  <a:spcBef>
                    <a:spcPts val="0"/>
                  </a:spcBef>
                  <a:buSzPts val="2000"/>
                  <a:buNone/>
                </a:pPr>
                <a:r>
                  <a:rPr lang="en-US" sz="2400" dirty="0">
                    <a:latin typeface="Atkinson Hyperlegible Next"/>
                    <a:cs typeface="Arial"/>
                    <a:sym typeface="Arial"/>
                  </a:rPr>
                  <a:t>We do not need to save all the history when the robot is running only the running </a:t>
                </a:r>
                <a14:m>
                  <m:oMath xmlns:m="http://schemas.openxmlformats.org/officeDocument/2006/math">
                    <m:r>
                      <m:rPr>
                        <m:sty m:val="p"/>
                      </m:rPr>
                      <a:rPr lang="en-US" sz="2400" b="0" i="1" dirty="0" smtClean="0">
                        <a:latin typeface="Cambria Math" panose="02040503050406030204" pitchFamily="18" charset="0"/>
                        <a:cs typeface="Arial"/>
                        <a:sym typeface="Arial"/>
                      </a:rPr>
                      <m:t>M</m:t>
                    </m:r>
                    <m:r>
                      <a:rPr lang="en-US" sz="2400" b="0" i="1" dirty="0" smtClean="0">
                        <a:latin typeface="Cambria Math" panose="02040503050406030204" pitchFamily="18" charset="0"/>
                        <a:cs typeface="Arial"/>
                        <a:sym typeface="Arial"/>
                      </a:rPr>
                      <m:t> </m:t>
                    </m:r>
                  </m:oMath>
                </a14:m>
                <a:r>
                  <a:rPr lang="en-US" sz="2400" dirty="0"/>
                  <a:t> last states!</a:t>
                </a:r>
              </a:p>
              <a:p>
                <a:pPr marL="0" lvl="0" indent="0">
                  <a:lnSpc>
                    <a:spcPct val="100000"/>
                  </a:lnSpc>
                  <a:spcBef>
                    <a:spcPts val="0"/>
                  </a:spcBef>
                  <a:buSzPts val="2000"/>
                  <a:buNone/>
                </a:pPr>
                <a:endParaRPr lang="en-US" sz="2400" dirty="0"/>
              </a:p>
              <a:p>
                <a:pPr marL="0" lvl="0" indent="0">
                  <a:lnSpc>
                    <a:spcPct val="100000"/>
                  </a:lnSpc>
                  <a:spcBef>
                    <a:spcPts val="0"/>
                  </a:spcBef>
                  <a:buSzPts val="2000"/>
                  <a:buNone/>
                </a:pPr>
                <a:r>
                  <a:rPr lang="en-US" sz="2400" dirty="0"/>
                  <a:t>For a </a:t>
                </a:r>
                <a14:m>
                  <m:oMath xmlns:m="http://schemas.openxmlformats.org/officeDocument/2006/math">
                    <m:r>
                      <m:rPr>
                        <m:sty m:val="p"/>
                      </m:rPr>
                      <a:rPr lang="en-US" sz="2400" i="1" dirty="0">
                        <a:latin typeface="Cambria Math" panose="02040503050406030204" pitchFamily="18" charset="0"/>
                        <a:cs typeface="Arial"/>
                        <a:sym typeface="Arial"/>
                      </a:rPr>
                      <m:t>M</m:t>
                    </m:r>
                  </m:oMath>
                </a14:m>
                <a:r>
                  <a:rPr lang="en-US" sz="2400" dirty="0"/>
                  <a:t>-order filter, we only ever need the </a:t>
                </a:r>
                <a:r>
                  <a:rPr lang="en-US" sz="2400" i="1" dirty="0"/>
                  <a:t>current </a:t>
                </a:r>
                <a:r>
                  <a:rPr lang="en-US" sz="2400" dirty="0"/>
                  <a:t>reading and the </a:t>
                </a:r>
                <a14:m>
                  <m:oMath xmlns:m="http://schemas.openxmlformats.org/officeDocument/2006/math">
                    <m:r>
                      <m:rPr>
                        <m:sty m:val="p"/>
                      </m:rPr>
                      <a:rPr lang="en-US" sz="2400" i="1" dirty="0">
                        <a:latin typeface="Cambria Math" panose="02040503050406030204" pitchFamily="18" charset="0"/>
                        <a:cs typeface="Arial"/>
                        <a:sym typeface="Arial"/>
                      </a:rPr>
                      <m:t>M</m:t>
                    </m:r>
                  </m:oMath>
                </a14:m>
                <a:r>
                  <a:rPr lang="en-US" sz="2400" i="1" dirty="0"/>
                  <a:t> previous readings</a:t>
                </a:r>
                <a:r>
                  <a:rPr lang="en-US" sz="2400" dirty="0"/>
                  <a:t>!</a:t>
                </a:r>
                <a:endParaRPr lang="en-US" sz="2400" i="1" dirty="0"/>
              </a:p>
              <a:p>
                <a:pPr marL="0" lvl="0" indent="0">
                  <a:lnSpc>
                    <a:spcPct val="100000"/>
                  </a:lnSpc>
                  <a:spcBef>
                    <a:spcPts val="0"/>
                  </a:spcBef>
                  <a:buSzPts val="2000"/>
                  <a:buNone/>
                </a:pPr>
                <a:endParaRPr lang="en-US" sz="2400" i="1" dirty="0"/>
              </a:p>
            </p:txBody>
          </p:sp>
        </mc:Choice>
        <mc:Fallback xmlns="">
          <p:sp>
            <p:nvSpPr>
              <p:cNvPr id="118" name="Google Shape;118;p29">
                <a:extLst>
                  <a:ext uri="{FF2B5EF4-FFF2-40B4-BE49-F238E27FC236}">
                    <a16:creationId xmlns:a16="http://schemas.microsoft.com/office/drawing/2014/main" id="{4DFD6567-E66D-E43C-201F-4B7CBE263BB2}"/>
                  </a:ext>
                </a:extLst>
              </p:cNvPr>
              <p:cNvSpPr txBox="1">
                <a:spLocks noGrp="1" noRot="1" noChangeAspect="1" noMove="1" noResize="1" noEditPoints="1" noAdjustHandles="1" noChangeArrowheads="1" noChangeShapeType="1" noTextEdit="1"/>
              </p:cNvSpPr>
              <p:nvPr>
                <p:ph type="body" idx="1"/>
              </p:nvPr>
            </p:nvSpPr>
            <p:spPr>
              <a:xfrm>
                <a:off x="376809" y="1334279"/>
                <a:ext cx="11177401" cy="4821102"/>
              </a:xfrm>
              <a:prstGeom prst="rect">
                <a:avLst/>
              </a:prstGeom>
              <a:blipFill>
                <a:blip r:embed="rId3"/>
                <a:stretch>
                  <a:fillRect l="-873" t="-885" r="-436"/>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90C0A666-C89D-AFF3-539D-FC0DC3EA671C}"/>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Atkinson Hyperlegible Next"/>
              <a:ea typeface="Calibri"/>
              <a:cs typeface="Calibri"/>
              <a:sym typeface="Calibri"/>
            </a:endParaRPr>
          </a:p>
        </p:txBody>
      </p:sp>
      <p:sp>
        <p:nvSpPr>
          <p:cNvPr id="120" name="Google Shape;120;p29">
            <a:extLst>
              <a:ext uri="{FF2B5EF4-FFF2-40B4-BE49-F238E27FC236}">
                <a16:creationId xmlns:a16="http://schemas.microsoft.com/office/drawing/2014/main" id="{979285A9-095C-D65C-7D07-D5D2E8A18515}"/>
              </a:ext>
            </a:extLst>
          </p:cNvPr>
          <p:cNvSpPr/>
          <p:nvPr>
            <p:ph type="title"/>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tkinson Hyperlegible Next"/>
                <a:ea typeface="Arial"/>
                <a:cs typeface="Arial"/>
                <a:sym typeface="Arial"/>
              </a:rPr>
              <a:t>FIR Code</a:t>
            </a:r>
            <a:endParaRPr sz="2400" b="0" i="0" u="none" strike="noStrike" cap="none" dirty="0">
              <a:solidFill>
                <a:schemeClr val="lt1"/>
              </a:solidFill>
              <a:latin typeface="Atkinson Hyperlegible Next"/>
              <a:ea typeface="Arial"/>
              <a:cs typeface="Arial"/>
              <a:sym typeface="Arial"/>
            </a:endParaRPr>
          </a:p>
        </p:txBody>
      </p:sp>
      <p:pic>
        <p:nvPicPr>
          <p:cNvPr id="121" name="Google Shape;121;p29">
            <a:extLst>
              <a:ext uri="{C183D7F6-B498-43B3-948B-1728B52AA6E4}">
                <adec:decorative xmlns:adec="http://schemas.microsoft.com/office/drawing/2017/decorative" val="1"/>
              </a:ext>
              <a:ext uri="{FF2B5EF4-FFF2-40B4-BE49-F238E27FC236}">
                <a16:creationId xmlns:a16="http://schemas.microsoft.com/office/drawing/2014/main" id="{A993D9B6-58AC-809D-5DC4-E440D19F77A3}"/>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C69485DE-66D1-8111-773F-DD861DD58B3A}"/>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tkinson Hyperlegible Next"/>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00F06014-4857-06CC-E03E-F3D2B0D4BD30}"/>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86A0F921-70DC-ADF5-B15B-DDE263F11389}"/>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4CEDC28D-0B00-22E5-DE07-B5BE45899335}"/>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A8875F7A-FD00-FFF1-2EAD-18CF18450737}"/>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tkinson Hyperlegible Next"/>
                <a:ea typeface="Arial"/>
                <a:cs typeface="Arial"/>
                <a:sym typeface="Arial"/>
              </a:endParaRPr>
            </a:p>
          </p:txBody>
        </p:sp>
      </p:grpSp>
    </p:spTree>
    <p:extLst>
      <p:ext uri="{BB962C8B-B14F-4D97-AF65-F5344CB8AC3E}">
        <p14:creationId xmlns:p14="http://schemas.microsoft.com/office/powerpoint/2010/main" val="2636197031"/>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263">
          <a:extLst>
            <a:ext uri="{FF2B5EF4-FFF2-40B4-BE49-F238E27FC236}">
              <a16:creationId xmlns:a16="http://schemas.microsoft.com/office/drawing/2014/main" id="{FA145421-BB40-88A0-CFFD-DC4D9CAC5BB5}"/>
            </a:ext>
          </a:extLst>
        </p:cNvPr>
        <p:cNvGrpSpPr/>
        <p:nvPr/>
      </p:nvGrpSpPr>
      <p:grpSpPr>
        <a:xfrm>
          <a:off x="0" y="0"/>
          <a:ext cx="0" cy="0"/>
          <a:chOff x="0" y="0"/>
          <a:chExt cx="0" cy="0"/>
        </a:xfrm>
      </p:grpSpPr>
      <p:sp>
        <p:nvSpPr>
          <p:cNvPr id="264" name="Google Shape;264;p37">
            <a:extLst>
              <a:ext uri="{FF2B5EF4-FFF2-40B4-BE49-F238E27FC236}">
                <a16:creationId xmlns:a16="http://schemas.microsoft.com/office/drawing/2014/main" id="{B5B2745B-F5C6-8FBF-1FAE-FE621EFA88F0}"/>
              </a:ext>
            </a:extLst>
          </p:cNvPr>
          <p:cNvSpPr/>
          <p:nvPr>
            <p:ph type="title"/>
          </p:nvPr>
        </p:nvSpPr>
        <p:spPr>
          <a:xfrm>
            <a:off x="2275515" y="2823928"/>
            <a:ext cx="7640969" cy="1210143"/>
          </a:xfrm>
          <a:prstGeom prst="rect">
            <a:avLst/>
          </a:prstGeom>
          <a:noFill/>
          <a:ln>
            <a:noFill/>
          </a:ln>
        </p:spPr>
        <p:txBody>
          <a:bodyPr spcFirstLastPara="1" wrap="square" lIns="91425" tIns="45700" rIns="91425" bIns="45700" anchor="t" anchorCtr="0">
            <a:noAutofit/>
          </a:bodyPr>
          <a:lstStyle/>
          <a:p>
            <a:pPr lvl="0" algn="ctr">
              <a:lnSpc>
                <a:spcPct val="100000"/>
              </a:lnSpc>
              <a:spcBef>
                <a:spcPts val="0"/>
              </a:spcBef>
              <a:spcAft>
                <a:spcPts val="0"/>
              </a:spcAft>
            </a:pPr>
            <a:r>
              <a:rPr i="0" lang="en-US" sz="6600" b="1" dirty="0">
                <a:solidFill>
                  <a:schemeClr val="lt1"/>
                </a:solidFill>
              </a:rPr>
              <a:t>Questions</a:t>
            </a:r>
            <a:r>
              <a:rPr i="0" lang="en-US" sz="5400" b="1" dirty="0">
                <a:solidFill>
                  <a:schemeClr val="lt1"/>
                </a:solidFill>
              </a:rPr>
              <a:t>?</a:t>
            </a:r>
          </a:p>
        </p:txBody>
      </p:sp>
      <p:pic>
        <p:nvPicPr>
          <p:cNvPr id="265" name="Google Shape;265;p37">
            <a:extLst>
              <a:ext uri="{C183D7F6-B498-43B3-948B-1728B52AA6E4}">
                <adec:decorative xmlns:adec="http://schemas.microsoft.com/office/drawing/2017/decorative" val="1"/>
              </a:ext>
              <a:ext uri="{FF2B5EF4-FFF2-40B4-BE49-F238E27FC236}">
                <a16:creationId xmlns:a16="http://schemas.microsoft.com/office/drawing/2014/main" id="{EDC8C897-5AB2-076F-5135-9B30ACCBD22F}"/>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266" name="Google Shape;266;p37">
            <a:extLst>
              <a:ext uri="{FF2B5EF4-FFF2-40B4-BE49-F238E27FC236}">
                <a16:creationId xmlns:a16="http://schemas.microsoft.com/office/drawing/2014/main" id="{CF8648FC-7240-4BBB-9E09-C030BD1A8052}"/>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chemeClr val="lt1"/>
                </a:solidFill>
                <a:latin typeface="Atkinson Hyperlegible Next"/>
                <a:ea typeface="Arial"/>
                <a:cs typeface="Arial"/>
                <a:sym typeface="Arial"/>
              </a:rPr>
              <a:t>GRAINGER ENGINEERING</a:t>
            </a:r>
            <a:endParaRPr/>
          </a:p>
        </p:txBody>
      </p:sp>
      <p:sp>
        <p:nvSpPr>
          <p:cNvPr id="267" name="Google Shape;267;p37">
            <a:extLst>
              <a:ext uri="{FF2B5EF4-FFF2-40B4-BE49-F238E27FC236}">
                <a16:creationId xmlns:a16="http://schemas.microsoft.com/office/drawing/2014/main" id="{6A5B7064-0FC6-E501-D020-2C92B5A6057B}"/>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chemeClr val="lt1"/>
                </a:solidFill>
              </a:rPr>
              <a:t>SYSTEMS ENGINEERING </a:t>
            </a:r>
            <a:endParaRPr dirty="0"/>
          </a:p>
        </p:txBody>
      </p:sp>
      <p:grpSp>
        <p:nvGrpSpPr>
          <p:cNvPr id="268" name="Google Shape;268;p37">
            <a:extLst>
              <a:ext uri="{FF2B5EF4-FFF2-40B4-BE49-F238E27FC236}">
                <a16:creationId xmlns:a16="http://schemas.microsoft.com/office/drawing/2014/main" id="{69F24B96-E9CD-EB54-C22A-3DD90799A7A7}"/>
              </a:ext>
            </a:extLst>
          </p:cNvPr>
          <p:cNvGrpSpPr/>
          <p:nvPr/>
        </p:nvGrpSpPr>
        <p:grpSpPr>
          <a:xfrm>
            <a:off x="4066674" y="6601537"/>
            <a:ext cx="5233412" cy="70446"/>
            <a:chOff x="4033424" y="6601537"/>
            <a:chExt cx="5233412" cy="70446"/>
          </a:xfrm>
        </p:grpSpPr>
        <p:cxnSp>
          <p:nvCxnSpPr>
            <p:cNvPr id="269" name="Google Shape;269;p37">
              <a:extLst>
                <a:ext uri="{FF2B5EF4-FFF2-40B4-BE49-F238E27FC236}">
                  <a16:creationId xmlns:a16="http://schemas.microsoft.com/office/drawing/2014/main" id="{BDF89024-C4A2-8F3A-DA57-A772C1368044}"/>
                </a:ext>
              </a:extLst>
            </p:cNvPr>
            <p:cNvCxnSpPr/>
            <p:nvPr/>
          </p:nvCxnSpPr>
          <p:spPr>
            <a:xfrm rot="10800000">
              <a:off x="4033424" y="6639606"/>
              <a:ext cx="5164651" cy="0"/>
            </a:xfrm>
            <a:prstGeom prst="straightConnector1">
              <a:avLst/>
            </a:prstGeom>
            <a:noFill/>
            <a:ln w="9525" cap="flat" cmpd="sng">
              <a:solidFill>
                <a:schemeClr val="lt1"/>
              </a:solidFill>
              <a:prstDash val="solid"/>
              <a:round/>
              <a:headEnd type="none" w="sm" len="sm"/>
              <a:tailEnd type="none" w="sm" len="sm"/>
            </a:ln>
          </p:spPr>
        </p:cxnSp>
        <p:sp>
          <p:nvSpPr>
            <p:cNvPr id="270" name="Google Shape;270;p37">
              <a:extLst>
                <a:ext uri="{FF2B5EF4-FFF2-40B4-BE49-F238E27FC236}">
                  <a16:creationId xmlns:a16="http://schemas.microsoft.com/office/drawing/2014/main" id="{B3758997-614E-F4D9-9F4D-D716DCC856BA}"/>
                </a:ext>
              </a:extLst>
            </p:cNvPr>
            <p:cNvSpPr/>
            <p:nvPr/>
          </p:nvSpPr>
          <p:spPr>
            <a:xfrm>
              <a:off x="9196390" y="6601537"/>
              <a:ext cx="70446" cy="70446"/>
            </a:xfrm>
            <a:prstGeom prst="ellipse">
              <a:avLst/>
            </a:prstGeom>
            <a:solidFill>
              <a:schemeClr val="lt1"/>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chemeClr val="lt1"/>
                </a:solidFill>
                <a:latin typeface="Atkinson Hyperlegible Next"/>
                <a:ea typeface="Arial"/>
                <a:cs typeface="Arial"/>
                <a:sym typeface="Arial"/>
              </a:endParaRPr>
            </a:p>
          </p:txBody>
        </p:sp>
      </p:grpSp>
    </p:spTree>
    <p:extLst>
      <p:ext uri="{BB962C8B-B14F-4D97-AF65-F5344CB8AC3E}">
        <p14:creationId xmlns:p14="http://schemas.microsoft.com/office/powerpoint/2010/main" val="2315989789"/>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274"/>
        <p:cNvGrpSpPr/>
        <p:nvPr/>
      </p:nvGrpSpPr>
      <p:grpSpPr>
        <a:xfrm>
          <a:off x="0" y="0"/>
          <a:ext cx="0" cy="0"/>
          <a:chOff x="0" y="0"/>
          <a:chExt cx="0" cy="0"/>
        </a:xfrm>
      </p:grpSpPr>
      <p:sp>
        <p:nvSpPr>
          <p:cNvPr id="276" name="Title 276"/>
          <p:cNvSpPr>
            <a:spLocks noGrp="1"/>
          </p:cNvSpPr>
          <p:nvPr>
            <p:ph type="title"/>
          </p:nvPr>
        </p:nvSpPr>
        <p:spPr>
          <a:xfrm>
            <a:off x="0" y="-914400"/>
            <a:ext cx="12192000" cy="685800"/>
          </a:xfrm>
        </p:spPr>
        <p:txBody>
          <a:bodyPr/>
          <a:lstStyle/>
          <a:p>
            <a:r>
              <a:rPr lang="en-US" dirty="0"/>
              <a:t>End of Lectures 8–9</a:t>
            </a:r>
          </a:p>
        </p:txBody>
      </p:sp>
      <p:pic>
        <p:nvPicPr>
          <p:cNvPr id="275" name="Google Shape;275;p38">
            <a:extLst>
              <a:ext uri="{C183D7F6-B498-43B3-948B-1728B52AA6E4}">
                <adec:decorative xmlns:adec="http://schemas.microsoft.com/office/drawing/2017/decorative" val="1"/>
              </a:ext>
            </a:extLst>
          </p:cNvPr>
          <p:cNvPicPr preferRelativeResize="0"/>
          <p:nvPr/>
        </p:nvPicPr>
        <p:blipFill rotWithShape="1">
          <a:blip r:embed="rId4">
            <a:alphaModFix/>
          </a:blip>
          <a:srcRect/>
          <a:stretch/>
        </p:blipFill>
        <p:spPr>
          <a:xfrm>
            <a:off x="2259350" y="2791508"/>
            <a:ext cx="5414193" cy="1274984"/>
          </a:xfrm>
          <a:prstGeom prst="rect">
            <a:avLst/>
          </a:prstGeom>
          <a:noFill/>
          <a:ln>
            <a:noFill/>
          </a:ln>
        </p:spPr>
      </p:pic>
    </p:spTree>
  </p:cSld>
  <p:clrMapOvr>
    <a:masterClrMapping/>
  </p:clrMapOvr>
</p:sld>
</file>

<file path=ppt/theme/theme1.xml><?xml version="1.0" encoding="utf-8"?>
<a:theme xmlns:a="http://schemas.openxmlformats.org/drawingml/2006/main"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tkinson Hyperlegible Next"/>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tkinson Hyperlegible Next"/>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tkinson Hyperlegible Next"/>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tkinson Hyperlegible Next"/>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2171</TotalTime>
  <Words>4255</Words>
  <Application>Microsoft Office PowerPoint</Application>
  <PresentationFormat>Widescreen</PresentationFormat>
  <Paragraphs>502</Paragraphs>
  <Slides>46</Slides>
  <Notes>46</Notes>
  <HiddenSlides>0</HiddenSlides>
  <MMClips>2</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46</vt:i4>
      </vt:variant>
    </vt:vector>
  </HeadingPairs>
  <TitlesOfParts>
    <vt:vector size="52" baseType="lpstr">
      <vt:lpstr>Arial</vt:lpstr>
      <vt:lpstr>Calibri</vt:lpstr>
      <vt:lpstr>Cambria Math</vt:lpstr>
      <vt:lpstr>Consolas</vt:lpstr>
      <vt:lpstr>Menlo</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creator>Nielsen, Joshua</dc:creator>
  <cp:lastModifiedBy>Juston, Marius F</cp:lastModifiedBy>
  <cp:revision>149</cp:revision>
  <dcterms:created xsi:type="dcterms:W3CDTF">2019-01-14T22:06:33Z</dcterms:created>
  <dcterms:modified xsi:type="dcterms:W3CDTF">2026-02-19T19:48:30Z</dcterms:modified>
</cp:coreProperties>
</file>