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Atkinson Hyperlegible Next"/>
                <a:ea typeface="Calibri"/>
                <a:cs typeface="Calibri"/>
                <a:sym typeface="Calibri"/>
              </a:rPr>
              <a:t>$\log_2(N)$</a:t>
            </a:r>
            <a:r>
              <a:rPr lang="en-US" dirty="0"/>
              <a:t> stages. Thus, an </a:t>
            </a:r>
            <a:r>
              <a:rPr lang="en-US" sz="1200" b="0" i="0" u="none" strike="noStrike" cap="none" dirty="0">
                <a:solidFill>
                  <a:schemeClr val="dk1"/>
                </a:solidFill>
                <a:effectLst/>
                <a:latin typeface="Atkinson Hyperlegible Next"/>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Atkinson Hyperlegible Next"/>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Atkinson Hyperlegible Next"/>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Atkinson Hyperlegible Next"/>
                <a:ea typeface="Calibri"/>
                <a:cs typeface="Calibri"/>
                <a:sym typeface="Calibri"/>
              </a:rPr>
              <a:t>fft_input</a:t>
            </a:r>
            <a:r>
              <a:rPr lang="en-US" dirty="0"/>
              <a:t> and </a:t>
            </a:r>
            <a:r>
              <a:rPr lang="en-US" sz="1200" b="0" i="0" u="none" strike="noStrike" cap="none" dirty="0">
                <a:solidFill>
                  <a:schemeClr val="dk1"/>
                </a:solidFill>
                <a:latin typeface="Atkinson Hyperlegible Next"/>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8-9: FFT and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descr="YouTube video: But what is the Fourier Transform?  A visual introduction. (3Blue1Brow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descr="YouTube video: The Fast Fourier Transform (FFT): Most Ingenious Algorithm Ever? (Reducible)">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p:nvPr>
            <p:ph type="title"/>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lnSpc>
                <a:spcPct val="100000"/>
              </a:lnSpc>
              <a:spcBef>
                <a:spcPts val="0"/>
              </a:spcBef>
              <a:spcAft>
                <a:spcPts val="0"/>
              </a:spcAft>
            </a:pPr>
            <a:r>
              <a:rPr i="0" lang="en-US" sz="4000" b="1" dirty="0">
                <a:solidFill>
                  <a:schemeClr val="lt1"/>
                </a:solidFill>
              </a:rPr>
              <a:t>All that’s really happening is that we u</a:t>
            </a:r>
            <a:r>
              <a:rPr i="0" lang="en-US" sz="4000" b="1" dirty="0">
                <a:solidFill>
                  <a:schemeClr val="bg1"/>
                </a:solidFill>
              </a:rPr>
              <a:t>se </a:t>
            </a:r>
            <a:r>
              <a:rPr i="0" lang="en-US" sz="4000" b="1" dirty="0" err="1">
                <a:solidFill>
                  <a:schemeClr val="bg1"/>
                </a:solidFill>
              </a:rPr>
              <a:t>ePWM</a:t>
            </a:r>
            <a:r>
              <a:rPr i="0" lang="en-US" sz="4000" b="1" dirty="0">
                <a:solidFill>
                  <a:schemeClr val="bg1"/>
                </a:solidFill>
              </a:rPr>
              <a:t> as a deterministic timer to trigger the ADC, which then feeds into the DMA until the buffer is populated!</a:t>
            </a:r>
            <a:endParaRPr i="0" lang="en-US" sz="3200" b="1" dirty="0">
              <a:solidFill>
                <a:schemeClr val="bg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8–9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