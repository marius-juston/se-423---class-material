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7"/>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27" r:id="rId44"/>
    <p:sldId id="271" r:id="rId45"/>
    <p:sldId id="270" r:id="rId4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185" autoAdjust="0"/>
  </p:normalViewPr>
  <p:slideViewPr>
    <p:cSldViewPr snapToGrid="0">
      <p:cViewPr>
        <p:scale>
          <a:sx n="125" d="100"/>
          <a:sy n="125" d="100"/>
        </p:scale>
        <p:origin x="1056"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customschemas.google.com/relationships/presentationmetadata" Target="meta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In a standard Radix-2 Cooley-Tukey algorithm, the computation is broken down into </a:t>
            </a:r>
            <a:r>
              <a:rPr lang="en-US" sz="1200" b="0" i="0" u="none" strike="noStrike" cap="none" dirty="0">
                <a:solidFill>
                  <a:schemeClr val="dk1"/>
                </a:solidFill>
                <a:effectLst/>
                <a:latin typeface="Calibri"/>
                <a:ea typeface="Calibri"/>
                <a:cs typeface="Calibri"/>
                <a:sym typeface="Calibri"/>
              </a:rPr>
              <a:t>$\log_2(N)$</a:t>
            </a:r>
            <a:r>
              <a:rPr lang="en-US" dirty="0"/>
              <a:t> stages. Thus, an </a:t>
            </a:r>
            <a:r>
              <a:rPr lang="en-US" sz="1200" b="0" i="0" u="none" strike="noStrike" cap="none" dirty="0">
                <a:solidFill>
                  <a:schemeClr val="dk1"/>
                </a:solidFill>
                <a:effectLst/>
                <a:latin typeface="Calibri"/>
                <a:ea typeface="Calibri"/>
                <a:cs typeface="Calibri"/>
                <a:sym typeface="Calibri"/>
              </a:rPr>
              <a:t>$N=1024$</a:t>
            </a:r>
            <a:r>
              <a:rPr lang="en-US" dirty="0"/>
              <a:t> point FFT requires exactly 10 stages of butterfly operations. This reduces the computational complexity from </a:t>
            </a:r>
            <a:r>
              <a:rPr lang="en-US" sz="1200" b="0" i="0" u="none" strike="noStrike" cap="none" dirty="0">
                <a:solidFill>
                  <a:schemeClr val="dk1"/>
                </a:solidFill>
                <a:effectLst/>
                <a:latin typeface="Calibri"/>
                <a:ea typeface="Calibri"/>
                <a:cs typeface="Calibri"/>
                <a:sym typeface="Calibri"/>
              </a:rPr>
              <a:t>$O(N^2)$</a:t>
            </a:r>
            <a:r>
              <a:rPr lang="en-US" dirty="0"/>
              <a:t> for a naive Discrete Fourier Transform (DFT) to </a:t>
            </a:r>
            <a:r>
              <a:rPr lang="en-US" sz="1200" b="0" i="0" u="none" strike="noStrike" cap="none" dirty="0">
                <a:solidFill>
                  <a:schemeClr val="dk1"/>
                </a:solidFill>
                <a:effectLst/>
                <a:latin typeface="Calibri"/>
                <a:ea typeface="Calibri"/>
                <a:cs typeface="Calibri"/>
                <a:sym typeface="Calibri"/>
              </a:rPr>
              <a:t>$O(N \log_2 N)$</a:t>
            </a:r>
            <a:r>
              <a:rPr lang="en-US" dirty="0"/>
              <a:t>, which is mathematically necessary for real-time latency constraints in embedded control systems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pragma puts the specific data into different distinct physical RAM blocks. If </a:t>
            </a:r>
            <a:r>
              <a:rPr lang="en-US" sz="1200" b="0" i="0" u="none" strike="noStrike" cap="none" dirty="0" err="1">
                <a:solidFill>
                  <a:schemeClr val="dk1"/>
                </a:solidFill>
                <a:latin typeface="Calibri"/>
                <a:ea typeface="Calibri"/>
                <a:cs typeface="Calibri"/>
                <a:sym typeface="Calibri"/>
              </a:rPr>
              <a:t>fft_input</a:t>
            </a:r>
            <a:r>
              <a:rPr lang="en-US" dirty="0"/>
              <a:t> and </a:t>
            </a:r>
            <a:r>
              <a:rPr lang="en-US" sz="1200" b="0" i="0" u="none" strike="noStrike" cap="none" dirty="0">
                <a:solidFill>
                  <a:schemeClr val="dk1"/>
                </a:solidFill>
                <a:latin typeface="Calibri"/>
                <a:ea typeface="Calibri"/>
                <a:cs typeface="Calibri"/>
                <a:sym typeface="Calibri"/>
              </a:rPr>
              <a:t>RFFTF32Coef</a:t>
            </a:r>
            <a:r>
              <a:rPr lang="en-US" dirty="0"/>
              <a:t> (the twiddle factors) were in the same memory block, the CPU would stall due to bus contention, requiring two clock cycles to fetch the operands. By placing them in separate blocks, the DSP core can fetch both operands in a single clock cycle, effectively halving the execution time of the butterfly loops.</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only need to store N/2 + 1 points because for the strictly real-valued inputs the spectrum is mirrored at index N-k, because you have the complex conjugate, the magnitudes are the same.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have ping pong buffers, for establishing double-buffering, the </a:t>
            </a:r>
            <a:r>
              <a:rPr lang="en-US" dirty="0" err="1"/>
              <a:t>peripherials</a:t>
            </a:r>
            <a:r>
              <a:rPr lang="en-US" dirty="0"/>
              <a:t> write using Direct Memory Access  DMA) the raw ADC data to the buffer, and the CPU does the RFFT on the data in the second buffer. You keep on switching buffers. Allowing zero dropped samples.</a:t>
            </a:r>
            <a:endParaRPr dirty="0"/>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We don’t care that the FFT will take a bit longer and get interrupted, so we just put it in the main loop</a:t>
            </a:r>
            <a:endParaRPr dirty="0"/>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8-9: FFT and Filters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16</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Background</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Fourier Transforms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But what is the Fourier Transform?  A visual introductio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Online Media 1" title="The Fast Fourier Transform (FFT): Most Ingenious Algorithm Ever?">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rial"/>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Time to implement it!</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Direct Memory Access (DMA)</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Ping Pong Buffer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txBox="1"/>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r>
              <a:rPr lang="en-US" sz="4000" b="1" dirty="0">
                <a:solidFill>
                  <a:schemeClr val="lt1"/>
                </a:solidFill>
              </a:rPr>
              <a:t>All that’s really happening is that we u</a:t>
            </a:r>
            <a:r>
              <a:rPr lang="en-US" sz="4000" b="1" dirty="0">
                <a:solidFill>
                  <a:schemeClr val="bg1"/>
                </a:solidFill>
              </a:rPr>
              <a:t>se </a:t>
            </a:r>
            <a:r>
              <a:rPr lang="en-US" sz="4000" b="1" dirty="0" err="1">
                <a:solidFill>
                  <a:schemeClr val="bg1"/>
                </a:solidFill>
              </a:rPr>
              <a:t>ePWM</a:t>
            </a:r>
            <a:r>
              <a:rPr lang="en-US" sz="4000" b="1" dirty="0">
                <a:solidFill>
                  <a:schemeClr val="bg1"/>
                </a:solidFill>
              </a:rPr>
              <a:t> as a deterministic timer to trigger the ADC, which then feeds into the DMA until the buffer is populated!</a:t>
            </a:r>
            <a:endParaRPr lang="en-US" sz="3200" b="1" dirty="0">
              <a:solidFill>
                <a:schemeClr val="bg1"/>
              </a:solidFill>
            </a:endParaRPr>
          </a:p>
        </p:txBody>
      </p:sp>
      <p:pic>
        <p:nvPicPr>
          <p:cNvPr id="265" name="Google Shape;265;p37">
            <a:extLs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FIR Filters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3200" dirty="0">
                    <a:latin typeface="+mj-lt"/>
                  </a:rPr>
                  <a:t>Mathematically, at our current time step </a:t>
                </a:r>
                <a14:m>
                  <m:oMath xmlns:m="http://schemas.openxmlformats.org/officeDocument/2006/math">
                    <m:r>
                      <m:rPr>
                        <m:sty m:val="p"/>
                      </m:rPr>
                      <a:rPr lang="en-US" sz="3200" b="0" i="1" smtClean="0">
                        <a:latin typeface="+mj-lt"/>
                      </a:rPr>
                      <m:t>n</m:t>
                    </m:r>
                  </m:oMath>
                </a14:m>
                <a:r>
                  <a:rPr lang="en-US" sz="3200" dirty="0">
                    <a:latin typeface="+mj-lt"/>
                  </a:rPr>
                  <a:t>, our filtered output </a:t>
                </a:r>
                <a14:m>
                  <m:oMath xmlns:m="http://schemas.openxmlformats.org/officeDocument/2006/math">
                    <m:r>
                      <m:rPr>
                        <m:sty m:val="p"/>
                      </m:rPr>
                      <a:rPr lang="en-US" sz="3200" b="0" i="1" smtClean="0">
                        <a:latin typeface="+mj-lt"/>
                      </a:rPr>
                      <m:t>y</m:t>
                    </m:r>
                    <m:r>
                      <a:rPr lang="en-US" sz="3200" b="0" i="1" smtClean="0">
                        <a:latin typeface="+mj-lt"/>
                      </a:rPr>
                      <m:t>[</m:t>
                    </m:r>
                    <m:r>
                      <m:rPr>
                        <m:sty m:val="p"/>
                      </m:rPr>
                      <a:rPr lang="en-US" sz="3200" b="0" i="1" smtClean="0">
                        <a:latin typeface="+mj-lt"/>
                      </a:rPr>
                      <m:t>n</m:t>
                    </m:r>
                    <m:r>
                      <a:rPr lang="en-US" sz="3200" b="0" i="1" smtClean="0">
                        <a:latin typeface="+mj-lt"/>
                      </a:rPr>
                      <m:t>]</m:t>
                    </m:r>
                  </m:oMath>
                </a14:m>
                <a:r>
                  <a:rPr lang="en-US" sz="3200" dirty="0">
                    <a:latin typeface="+mj-lt"/>
                  </a:rPr>
                  <a:t> based on our noisy input's </a:t>
                </a:r>
                <a14:m>
                  <m:oMath xmlns:m="http://schemas.openxmlformats.org/officeDocument/2006/math">
                    <m:r>
                      <m:rPr>
                        <m:sty m:val="p"/>
                      </m:rPr>
                      <a:rPr lang="en-US" sz="3200" b="0" i="1" smtClean="0">
                        <a:latin typeface="+mj-lt"/>
                      </a:rPr>
                      <m:t>x</m:t>
                    </m:r>
                    <m:r>
                      <a:rPr lang="en-US" sz="3200" b="0" i="1" smtClean="0">
                        <a:latin typeface="+mj-lt"/>
                      </a:rPr>
                      <m:t>[</m:t>
                    </m:r>
                    <m:r>
                      <m:rPr>
                        <m:sty m:val="p"/>
                      </m:rPr>
                      <a:rPr lang="en-US" sz="3200" b="0" i="1" smtClean="0">
                        <a:latin typeface="+mj-lt"/>
                      </a:rPr>
                      <m:t>n</m:t>
                    </m:r>
                    <m:r>
                      <a:rPr lang="en-US" sz="3200" b="0" i="1" smtClean="0">
                        <a:latin typeface="+mj-lt"/>
                      </a:rPr>
                      <m:t>]</m:t>
                    </m:r>
                  </m:oMath>
                </a14:m>
                <a:r>
                  <a:rPr lang="en-US" sz="3200" dirty="0">
                    <a:latin typeface="+mj-lt"/>
                  </a:rPr>
                  <a:t> looks like this:</a:t>
                </a:r>
              </a:p>
              <a:p>
                <a:pPr marL="0" lvl="0" indent="0">
                  <a:lnSpc>
                    <a:spcPct val="100000"/>
                  </a:lnSpc>
                  <a:spcBef>
                    <a:spcPts val="0"/>
                  </a:spcBef>
                  <a:buSzPts val="2000"/>
                  <a:buNone/>
                </a:pPr>
                <a:endParaRPr lang="en-US" sz="32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3200" b="0" i="1" smtClean="0">
                          <a:latin typeface="+mj-lt"/>
                        </a:rPr>
                        <m:t>y</m:t>
                      </m:r>
                      <m:r>
                        <a:rPr lang="en-US" sz="3200" b="0" i="1" smtClean="0">
                          <a:latin typeface="+mj-lt"/>
                        </a:rPr>
                        <m:t>[</m:t>
                      </m:r>
                      <m:r>
                        <m:rPr>
                          <m:sty m:val="p"/>
                        </m:rPr>
                        <a:rPr lang="en-US" sz="3200" b="0" i="1" smtClean="0">
                          <a:latin typeface="+mj-lt"/>
                        </a:rPr>
                        <m:t>n</m:t>
                      </m:r>
                      <m:r>
                        <a:rPr lang="en-US" sz="3200" b="0" i="1" smtClean="0">
                          <a:latin typeface="+mj-lt"/>
                        </a:rPr>
                        <m:t>]=</m:t>
                      </m:r>
                      <m:f>
                        <m:fPr>
                          <m:ctrlPr>
                            <a:rPr lang="en-US" sz="3200" b="0" i="1" smtClean="0">
                              <a:latin typeface="+mj-lt"/>
                            </a:rPr>
                          </m:ctrlPr>
                        </m:fPr>
                        <m:num>
                          <m:r>
                            <a:rPr lang="en-US" sz="3200" b="0" i="1" smtClean="0">
                              <a:latin typeface="+mj-lt"/>
                            </a:rPr>
                            <m:t>1</m:t>
                          </m:r>
                        </m:num>
                        <m:den>
                          <m:r>
                            <a:rPr lang="en-US" sz="3200" b="0" i="1" smtClean="0">
                              <a:latin typeface="+mj-lt"/>
                            </a:rPr>
                            <m:t>5</m:t>
                          </m:r>
                        </m:den>
                      </m:f>
                      <m:r>
                        <m:rPr>
                          <m:sty m:val="p"/>
                        </m:rPr>
                        <a:rPr lang="en-US" sz="3200" b="0" i="1" smtClean="0">
                          <a:latin typeface="+mj-lt"/>
                        </a:rPr>
                        <m:t>x</m:t>
                      </m:r>
                      <m:r>
                        <a:rPr lang="en-US" sz="3200" b="0" i="1" smtClean="0">
                          <a:latin typeface="+mj-lt"/>
                        </a:rPr>
                        <m:t>[</m:t>
                      </m:r>
                      <m:r>
                        <m:rPr>
                          <m:sty m:val="p"/>
                        </m:rPr>
                        <a:rPr lang="en-US" sz="3200" b="0" i="1" smtClean="0">
                          <a:latin typeface="+mj-lt"/>
                        </a:rPr>
                        <m:t>n</m:t>
                      </m:r>
                      <m:r>
                        <a:rPr lang="en-US" sz="3200" b="0" i="1" smtClean="0">
                          <a:latin typeface="+mj-lt"/>
                        </a:rPr>
                        <m:t>]+</m:t>
                      </m:r>
                      <m:f>
                        <m:fPr>
                          <m:ctrlPr>
                            <a:rPr lang="en-US" sz="3200" i="1">
                              <a:latin typeface="+mj-lt"/>
                            </a:rPr>
                          </m:ctrlPr>
                        </m:fPr>
                        <m:num>
                          <m:r>
                            <a:rPr lang="en-US" sz="3200" i="1">
                              <a:latin typeface="+mj-lt"/>
                            </a:rPr>
                            <m:t>1</m:t>
                          </m:r>
                        </m:num>
                        <m:den>
                          <m:r>
                            <a:rPr lang="en-US" sz="3200" i="1">
                              <a:latin typeface="+mj-lt"/>
                            </a:rPr>
                            <m:t>5</m:t>
                          </m:r>
                        </m:den>
                      </m:f>
                      <m:r>
                        <m:rPr>
                          <m:sty m:val="p"/>
                        </m:rPr>
                        <a:rPr lang="en-US" sz="3200" i="1">
                          <a:latin typeface="+mj-lt"/>
                        </a:rPr>
                        <m:t>x</m:t>
                      </m:r>
                      <m:r>
                        <a:rPr lang="en-US" sz="3200" i="1">
                          <a:latin typeface="+mj-lt"/>
                        </a:rPr>
                        <m:t>[</m:t>
                      </m:r>
                      <m:r>
                        <m:rPr>
                          <m:sty m:val="p"/>
                        </m:rPr>
                        <a:rPr lang="en-US" sz="3200" i="1">
                          <a:latin typeface="+mj-lt"/>
                        </a:rPr>
                        <m:t>n</m:t>
                      </m:r>
                      <m:r>
                        <a:rPr lang="en-US" sz="3200" b="0" i="1" smtClean="0">
                          <a:latin typeface="+mj-lt"/>
                        </a:rPr>
                        <m:t>-1</m:t>
                      </m:r>
                      <m:r>
                        <a:rPr lang="en-US" sz="3200" i="1">
                          <a:latin typeface="+mj-lt"/>
                        </a:rPr>
                        <m:t>]+</m:t>
                      </m:r>
                      <m:f>
                        <m:fPr>
                          <m:ctrlPr>
                            <a:rPr lang="en-US" sz="3200" i="1">
                              <a:latin typeface="+mj-lt"/>
                            </a:rPr>
                          </m:ctrlPr>
                        </m:fPr>
                        <m:num>
                          <m:r>
                            <a:rPr lang="en-US" sz="3200" i="1">
                              <a:latin typeface="+mj-lt"/>
                            </a:rPr>
                            <m:t>1</m:t>
                          </m:r>
                        </m:num>
                        <m:den>
                          <m:r>
                            <a:rPr lang="en-US" sz="3200" i="1">
                              <a:latin typeface="+mj-lt"/>
                            </a:rPr>
                            <m:t>5</m:t>
                          </m:r>
                        </m:den>
                      </m:f>
                      <m:r>
                        <m:rPr>
                          <m:sty m:val="p"/>
                        </m:rPr>
                        <a:rPr lang="en-US" sz="3200" i="1">
                          <a:latin typeface="+mj-lt"/>
                        </a:rPr>
                        <m:t>x</m:t>
                      </m:r>
                      <m:r>
                        <a:rPr lang="en-US" sz="3200" i="1">
                          <a:latin typeface="+mj-lt"/>
                        </a:rPr>
                        <m:t>[</m:t>
                      </m:r>
                      <m:r>
                        <m:rPr>
                          <m:sty m:val="p"/>
                        </m:rPr>
                        <a:rPr lang="en-US" sz="3200" i="1">
                          <a:latin typeface="+mj-lt"/>
                        </a:rPr>
                        <m:t>n</m:t>
                      </m:r>
                      <m:r>
                        <a:rPr lang="en-US" sz="3200" b="0" i="1" smtClean="0">
                          <a:latin typeface="+mj-lt"/>
                        </a:rPr>
                        <m:t>-2</m:t>
                      </m:r>
                      <m:r>
                        <a:rPr lang="en-US" sz="3200" i="1">
                          <a:latin typeface="+mj-lt"/>
                        </a:rPr>
                        <m:t>]+</m:t>
                      </m:r>
                      <m:f>
                        <m:fPr>
                          <m:ctrlPr>
                            <a:rPr lang="en-US" sz="3200" i="1">
                              <a:latin typeface="+mj-lt"/>
                            </a:rPr>
                          </m:ctrlPr>
                        </m:fPr>
                        <m:num>
                          <m:r>
                            <a:rPr lang="en-US" sz="3200" i="1">
                              <a:latin typeface="+mj-lt"/>
                            </a:rPr>
                            <m:t>1</m:t>
                          </m:r>
                        </m:num>
                        <m:den>
                          <m:r>
                            <a:rPr lang="en-US" sz="3200" i="1">
                              <a:latin typeface="+mj-lt"/>
                            </a:rPr>
                            <m:t>5</m:t>
                          </m:r>
                        </m:den>
                      </m:f>
                      <m:r>
                        <m:rPr>
                          <m:sty m:val="p"/>
                        </m:rPr>
                        <a:rPr lang="en-US" sz="3200" i="1">
                          <a:latin typeface="+mj-lt"/>
                        </a:rPr>
                        <m:t>x</m:t>
                      </m:r>
                      <m:r>
                        <a:rPr lang="en-US" sz="3200" i="1">
                          <a:latin typeface="+mj-lt"/>
                        </a:rPr>
                        <m:t>[</m:t>
                      </m:r>
                      <m:r>
                        <m:rPr>
                          <m:sty m:val="p"/>
                        </m:rPr>
                        <a:rPr lang="en-US" sz="3200" i="1">
                          <a:latin typeface="+mj-lt"/>
                        </a:rPr>
                        <m:t>n</m:t>
                      </m:r>
                      <m:r>
                        <a:rPr lang="en-US" sz="3200" b="0" i="1" smtClean="0">
                          <a:latin typeface="+mj-lt"/>
                        </a:rPr>
                        <m:t>-3</m:t>
                      </m:r>
                      <m:r>
                        <a:rPr lang="en-US" sz="3200" i="1">
                          <a:latin typeface="+mj-lt"/>
                        </a:rPr>
                        <m:t>]+</m:t>
                      </m:r>
                      <m:f>
                        <m:fPr>
                          <m:ctrlPr>
                            <a:rPr lang="en-US" sz="3200" i="1">
                              <a:latin typeface="+mj-lt"/>
                            </a:rPr>
                          </m:ctrlPr>
                        </m:fPr>
                        <m:num>
                          <m:r>
                            <a:rPr lang="en-US" sz="3200" i="1">
                              <a:latin typeface="+mj-lt"/>
                            </a:rPr>
                            <m:t>1</m:t>
                          </m:r>
                        </m:num>
                        <m:den>
                          <m:r>
                            <a:rPr lang="en-US" sz="3200" i="1">
                              <a:latin typeface="+mj-lt"/>
                            </a:rPr>
                            <m:t>5</m:t>
                          </m:r>
                        </m:den>
                      </m:f>
                      <m:r>
                        <m:rPr>
                          <m:sty m:val="p"/>
                        </m:rPr>
                        <a:rPr lang="en-US" sz="3200" i="1">
                          <a:latin typeface="+mj-lt"/>
                        </a:rPr>
                        <m:t>x</m:t>
                      </m:r>
                      <m:r>
                        <a:rPr lang="en-US" sz="3200" i="1">
                          <a:latin typeface="+mj-lt"/>
                        </a:rPr>
                        <m:t>[</m:t>
                      </m:r>
                      <m:r>
                        <m:rPr>
                          <m:sty m:val="p"/>
                        </m:rPr>
                        <a:rPr lang="en-US" sz="3200" i="1">
                          <a:latin typeface="+mj-lt"/>
                        </a:rPr>
                        <m:t>n</m:t>
                      </m:r>
                      <m:r>
                        <a:rPr lang="en-US" sz="3200" b="0" i="1" smtClean="0">
                          <a:latin typeface="+mj-lt"/>
                        </a:rPr>
                        <m:t>-4</m:t>
                      </m:r>
                      <m:r>
                        <a:rPr lang="en-US" sz="3200" i="1">
                          <a:latin typeface="+mj-lt"/>
                        </a:rPr>
                        <m:t>]</m:t>
                      </m:r>
                    </m:oMath>
                  </m:oMathPara>
                </a14:m>
                <a:endParaRPr lang="en-US" sz="3200" dirty="0">
                  <a:latin typeface="+mj-lt"/>
                </a:endParaRPr>
              </a:p>
              <a:p>
                <a:pPr marL="0" lvl="0" indent="0">
                  <a:lnSpc>
                    <a:spcPct val="100000"/>
                  </a:lnSpc>
                  <a:spcBef>
                    <a:spcPts val="0"/>
                  </a:spcBef>
                  <a:buSzPts val="2000"/>
                  <a:buNone/>
                </a:pPr>
                <a:endParaRPr lang="en-US" sz="3200" dirty="0">
                  <a:latin typeface="+mj-lt"/>
                </a:endParaRPr>
              </a:p>
              <a:p>
                <a:pPr marL="0" lvl="0" indent="0">
                  <a:lnSpc>
                    <a:spcPct val="100000"/>
                  </a:lnSpc>
                  <a:spcBef>
                    <a:spcPts val="0"/>
                  </a:spcBef>
                  <a:buSzPts val="2000"/>
                  <a:buNone/>
                </a:pPr>
                <a:r>
                  <a:rPr lang="en-US" sz="3200" dirty="0">
                    <a:latin typeface="+mj-lt"/>
                  </a:rPr>
                  <a:t>Without realizing it, you have just designed your first Finite Impulse Response (FIR) Filter!</a:t>
                </a:r>
              </a:p>
            </p:txBody>
          </p:sp>
        </mc:Choice>
        <mc:Fallback>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418" t="-1643"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 in this case, every weight is </a:t>
                </a:r>
                <a14:m>
                  <m:oMath xmlns:m="http://schemas.openxmlformats.org/officeDocument/2006/math">
                    <m:f>
                      <m:fPr>
                        <m:ctrlPr>
                          <a:rPr lang="en-US" sz="2000" i="1">
                            <a:latin typeface="+mj-lt"/>
                          </a:rPr>
                        </m:ctrlPr>
                      </m:fPr>
                      <m:num>
                        <m:r>
                          <a:rPr lang="en-US" sz="2000" i="1">
                            <a:latin typeface="+mj-lt"/>
                          </a:rPr>
                          <m:t>1</m:t>
                        </m:r>
                      </m:num>
                      <m:den>
                        <m:r>
                          <a:rPr lang="en-US" sz="2000" i="1">
                            <a:latin typeface="+mj-lt"/>
                          </a:rPr>
                          <m:t>5</m:t>
                        </m:r>
                      </m:den>
                    </m:f>
                  </m:oMath>
                </a14:m>
                <a:r>
                  <a:rPr lang="en-US" sz="2000" dirty="0">
                    <a:latin typeface="+mj-lt"/>
                  </a:rPr>
                  <a:t> ) multiplied by a history of </a:t>
                </a:r>
                <a:r>
                  <a:rPr lang="en-US" sz="2000" b="1" dirty="0">
                    <a:latin typeface="+mj-lt"/>
                  </a:rPr>
                  <a:t>states </a:t>
                </a:r>
                <a:r>
                  <a:rPr lang="en-US" sz="2000" dirty="0">
                    <a:latin typeface="+mj-lt"/>
                  </a:rPr>
                  <a:t>( 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mj-lt"/>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mj-lt"/>
                        </a:rPr>
                        <m:t>y</m:t>
                      </m:r>
                      <m:r>
                        <a:rPr lang="en-US" sz="2000" b="0" i="1" smtClean="0">
                          <a:latin typeface="+mj-lt"/>
                        </a:rPr>
                        <m:t>[</m:t>
                      </m:r>
                      <m:r>
                        <m:rPr>
                          <m:sty m:val="p"/>
                        </m:rPr>
                        <a:rPr lang="en-US" sz="2000" b="0" i="1" smtClean="0">
                          <a:latin typeface="+mj-lt"/>
                        </a:rPr>
                        <m:t>n</m:t>
                      </m:r>
                      <m:r>
                        <a:rPr lang="en-US" sz="2000" b="0" i="1" smtClean="0">
                          <a:latin typeface="+mj-lt"/>
                        </a:rPr>
                        <m:t>]=</m:t>
                      </m:r>
                      <m:nary>
                        <m:naryPr>
                          <m:chr m:val="∑"/>
                          <m:ctrlPr>
                            <a:rPr lang="en-US" sz="2000" b="0" i="1" smtClean="0">
                              <a:latin typeface="+mj-lt"/>
                            </a:rPr>
                          </m:ctrlPr>
                        </m:naryPr>
                        <m:sub>
                          <m:r>
                            <m:rPr>
                              <m:sty m:val="p"/>
                              <m:brk m:alnAt="23"/>
                            </m:rPr>
                            <a:rPr lang="en-US" sz="2000" b="0" i="1" smtClean="0">
                              <a:latin typeface="+mj-lt"/>
                            </a:rPr>
                            <m:t>k</m:t>
                          </m:r>
                          <m:r>
                            <a:rPr lang="en-US" sz="2000" b="0" i="1" smtClean="0">
                              <a:latin typeface="+mj-lt"/>
                            </a:rPr>
                            <m:t>=0</m:t>
                          </m:r>
                        </m:sub>
                        <m:sup>
                          <m:r>
                            <m:rPr>
                              <m:sty m:val="p"/>
                            </m:rPr>
                            <a:rPr lang="en-US" sz="2000" b="0" i="1" smtClean="0">
                              <a:latin typeface="+mj-lt"/>
                            </a:rPr>
                            <m:t>M</m:t>
                          </m:r>
                        </m:sup>
                        <m:e>
                          <m:sSub>
                            <m:sSubPr>
                              <m:ctrlPr>
                                <a:rPr lang="en-US" sz="2000" b="0" i="1" smtClean="0">
                                  <a:latin typeface="+mj-lt"/>
                                </a:rPr>
                              </m:ctrlPr>
                            </m:sSubPr>
                            <m:e>
                              <m:r>
                                <m:rPr>
                                  <m:sty m:val="p"/>
                                </m:rPr>
                                <a:rPr lang="en-US" sz="2000" b="0" i="1" smtClean="0">
                                  <a:latin typeface="+mj-lt"/>
                                </a:rPr>
                                <m:t>b</m:t>
                              </m:r>
                            </m:e>
                            <m:sub>
                              <m:r>
                                <m:rPr>
                                  <m:sty m:val="p"/>
                                </m:rPr>
                                <a:rPr lang="en-US" sz="2000" b="0" i="1" smtClean="0">
                                  <a:latin typeface="+mj-lt"/>
                                </a:rPr>
                                <m:t>k</m:t>
                              </m:r>
                            </m:sub>
                          </m:sSub>
                          <m:r>
                            <m:rPr>
                              <m:sty m:val="p"/>
                            </m:rPr>
                            <a:rPr lang="en-US" sz="2000" b="0" i="1" smtClean="0">
                              <a:latin typeface="+mj-lt"/>
                            </a:rPr>
                            <m:t>x</m:t>
                          </m:r>
                          <m:r>
                            <a:rPr lang="en-US" sz="2000" b="0" i="1" smtClean="0">
                              <a:latin typeface="+mj-lt"/>
                            </a:rPr>
                            <m:t>[</m:t>
                          </m:r>
                          <m:r>
                            <m:rPr>
                              <m:sty m:val="p"/>
                            </m:rPr>
                            <a:rPr lang="en-US" sz="2000" b="0" i="1" smtClean="0">
                              <a:latin typeface="+mj-lt"/>
                            </a:rPr>
                            <m:t>n</m:t>
                          </m:r>
                          <m:r>
                            <a:rPr lang="en-US" sz="2000" b="0" i="1" smtClean="0">
                              <a:latin typeface="+mj-lt"/>
                            </a:rPr>
                            <m:t>-</m:t>
                          </m:r>
                          <m:r>
                            <m:rPr>
                              <m:sty m:val="p"/>
                            </m:rPr>
                            <a:rPr lang="en-US" sz="2000" b="0" i="1" smtClean="0">
                              <a:latin typeface="+mj-lt"/>
                            </a:rPr>
                            <m:t>k</m:t>
                          </m:r>
                          <m:r>
                            <a:rPr lang="en-US" sz="2000" b="0" i="1" smtClean="0">
                              <a:latin typeface="+mj-lt"/>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mj-lt"/>
                          </a:rPr>
                        </m:ctrlPr>
                      </m:sSubPr>
                      <m:e>
                        <m:r>
                          <m:rPr>
                            <m:sty m:val="p"/>
                          </m:rPr>
                          <a:rPr lang="en-US" sz="2000" i="1">
                            <a:latin typeface="+mj-lt"/>
                          </a:rPr>
                          <m:t>b</m:t>
                        </m:r>
                      </m:e>
                      <m:sub>
                        <m:r>
                          <m:rPr>
                            <m:sty m:val="p"/>
                          </m:rPr>
                          <a:rPr lang="en-US" sz="2000" i="1">
                            <a:latin typeface="+mj-lt"/>
                          </a:rPr>
                          <m:t>k</m:t>
                        </m:r>
                      </m:sub>
                    </m:sSub>
                  </m:oMath>
                </a14:m>
                <a:r>
                  <a:rPr lang="en-US" sz="2000" dirty="0">
                    <a:latin typeface="+mj-lt"/>
                  </a:rPr>
                  <a:t> represents our filter coefficients (the “weights”).</a:t>
                </a:r>
              </a:p>
            </p:txBody>
          </p:sp>
        </mc:Choice>
        <mc:Fallback>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mj-lt"/>
                          </a:rPr>
                        </m:ctrlPr>
                      </m:sSubPr>
                      <m:e>
                        <m:r>
                          <m:rPr>
                            <m:sty m:val="p"/>
                          </m:rPr>
                          <a:rPr lang="en-US" sz="2400" i="1">
                            <a:latin typeface="+mj-lt"/>
                          </a:rPr>
                          <m:t>b</m:t>
                        </m:r>
                      </m:e>
                      <m:sub>
                        <m:r>
                          <m:rPr>
                            <m:sty m:val="p"/>
                          </m:rPr>
                          <a:rPr lang="en-US" sz="2400" i="1">
                            <a:latin typeface="+mj-lt"/>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a:t>
                </a:r>
                <a:r>
                  <a:rPr lang="en-US" sz="2400" b="1" dirty="0">
                    <a:latin typeface="+mj-lt"/>
                  </a:rPr>
                  <a:t>fir1</a:t>
                </a:r>
                <a:r>
                  <a:rPr lang="en-US" sz="2400" dirty="0">
                    <a:latin typeface="+mj-lt"/>
                  </a:rPr>
                  <a:t>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1" name="Graphic 10">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rial"/>
                  <a:cs typeface="Arial"/>
                  <a:sym typeface="Arial"/>
                </a:endParaRPr>
              </a:p>
              <a:p>
                <a:pPr marL="0" lvl="0" indent="0" algn="ctr">
                  <a:lnSpc>
                    <a:spcPct val="100000"/>
                  </a:lnSpc>
                  <a:spcBef>
                    <a:spcPts val="0"/>
                  </a:spcBef>
                  <a:buSzPts val="2000"/>
                  <a:buNone/>
                </a:pPr>
                <a:r>
                  <a:rPr lang="en-US" sz="2400" dirty="0">
                    <a:latin typeface="Arial"/>
                    <a:cs typeface="Arial"/>
                    <a:sym typeface="Arial"/>
                  </a:rPr>
                  <a:t>500 Hz,</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If we want to do an FIR frequency design and do a 21</a:t>
                </a:r>
                <a:r>
                  <a:rPr lang="en-US" sz="2400" baseline="30000" dirty="0">
                    <a:latin typeface="Arial"/>
                    <a:cs typeface="Arial"/>
                    <a:sym typeface="Arial"/>
                  </a:rPr>
                  <a:t>st</a:t>
                </a:r>
                <a:r>
                  <a:rPr lang="en-US" sz="2400" dirty="0">
                    <a:latin typeface="Arial"/>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In MATLAB, generating the 22 weights ( a 21</a:t>
                </a:r>
                <a:r>
                  <a:rPr lang="en-US" sz="2400" baseline="30000" dirty="0">
                    <a:latin typeface="Arial"/>
                    <a:cs typeface="Arial"/>
                    <a:sym typeface="Arial"/>
                  </a:rPr>
                  <a:t>st</a:t>
                </a:r>
                <a:r>
                  <a:rPr lang="en-US" sz="2400" dirty="0">
                    <a:latin typeface="Arial"/>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2132</TotalTime>
  <Words>4234</Words>
  <Application>Microsoft Office PowerPoint</Application>
  <PresentationFormat>Widescreen</PresentationFormat>
  <Paragraphs>499</Paragraphs>
  <Slides>45</Slides>
  <Notes>45</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45</vt:i4>
      </vt:variant>
    </vt:vector>
  </HeadingPairs>
  <TitlesOfParts>
    <vt:vector size="51"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135</cp:revision>
  <dcterms:created xsi:type="dcterms:W3CDTF">2019-01-14T22:06:33Z</dcterms:created>
  <dcterms:modified xsi:type="dcterms:W3CDTF">2026-02-16T08:51:44Z</dcterms:modified>
</cp:coreProperties>
</file>