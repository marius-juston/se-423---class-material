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6"/>
  </p:notesMasterIdLst>
  <p:sldIdLst>
    <p:sldId id="256" r:id="rId2"/>
    <p:sldId id="417" r:id="rId3"/>
    <p:sldId id="413" r:id="rId4"/>
    <p:sldId id="272" r:id="rId5"/>
    <p:sldId id="258" r:id="rId6"/>
    <p:sldId id="418" r:id="rId7"/>
    <p:sldId id="420" r:id="rId8"/>
    <p:sldId id="421" r:id="rId9"/>
    <p:sldId id="419" r:id="rId10"/>
    <p:sldId id="422" r:id="rId11"/>
    <p:sldId id="423" r:id="rId12"/>
    <p:sldId id="424" r:id="rId13"/>
    <p:sldId id="426" r:id="rId14"/>
    <p:sldId id="427" r:id="rId15"/>
    <p:sldId id="453" r:id="rId16"/>
    <p:sldId id="428" r:id="rId17"/>
    <p:sldId id="429" r:id="rId18"/>
    <p:sldId id="430" r:id="rId19"/>
    <p:sldId id="433" r:id="rId20"/>
    <p:sldId id="431" r:id="rId21"/>
    <p:sldId id="432" r:id="rId22"/>
    <p:sldId id="437" r:id="rId23"/>
    <p:sldId id="434" r:id="rId24"/>
    <p:sldId id="438" r:id="rId25"/>
    <p:sldId id="436" r:id="rId26"/>
    <p:sldId id="435" r:id="rId27"/>
    <p:sldId id="439" r:id="rId28"/>
    <p:sldId id="441" r:id="rId29"/>
    <p:sldId id="440" r:id="rId30"/>
    <p:sldId id="442" r:id="rId31"/>
    <p:sldId id="443" r:id="rId32"/>
    <p:sldId id="448" r:id="rId33"/>
    <p:sldId id="444" r:id="rId34"/>
    <p:sldId id="446" r:id="rId35"/>
    <p:sldId id="445" r:id="rId36"/>
    <p:sldId id="447" r:id="rId37"/>
    <p:sldId id="449" r:id="rId38"/>
    <p:sldId id="450" r:id="rId39"/>
    <p:sldId id="451" r:id="rId40"/>
    <p:sldId id="452" r:id="rId41"/>
    <p:sldId id="259" r:id="rId42"/>
    <p:sldId id="260" r:id="rId43"/>
    <p:sldId id="261" r:id="rId44"/>
    <p:sldId id="262" r:id="rId45"/>
    <p:sldId id="263" r:id="rId46"/>
    <p:sldId id="264" r:id="rId47"/>
    <p:sldId id="265" r:id="rId48"/>
    <p:sldId id="266" r:id="rId49"/>
    <p:sldId id="267" r:id="rId50"/>
    <p:sldId id="268" r:id="rId51"/>
    <p:sldId id="269" r:id="rId52"/>
    <p:sldId id="257" r:id="rId53"/>
    <p:sldId id="271" r:id="rId54"/>
    <p:sldId id="270" r:id="rId5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9" d="100"/>
          <a:sy n="149" d="100"/>
        </p:scale>
        <p:origin x="138"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43FB0-C57F-79C7-9535-B678C75384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7C0687-8CCB-6A90-1185-11BBF3C424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2EDADD-0D8D-9E80-F663-EC5293C2AA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89340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75412-624A-2292-0EA3-35B791CA3E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FAC35A-CD72-905F-CD22-D1B98D7C86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8624941-50C6-5653-FE5C-62215CF9E6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339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F28052-259D-19FA-2CA0-17516D528E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47D357-2DDF-60E5-8997-E2BF559D62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5A4BFE2-5F2F-0C43-4FB8-A1AA92F315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154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022EE5-ED73-60D1-8E8C-287AA96F98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0B0831D-EF87-97F8-12D9-B860728A04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FCB816-D465-4317-B99B-FD37B68972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1705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5399DD-24C8-598F-6736-48F7C154F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0EF1A-59AD-7BD3-4604-22E17A045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628EA8-B362-580C-114C-A022756DC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07398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666E3-9E47-7889-5DA2-B1DCFFC95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0A621E-607C-F890-2501-9B7548653F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5A60D-B771-03B6-792B-53561ADAD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62742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72ECCD-901D-7E01-FF70-257E90AC3B0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BC3F37-D7C0-0C18-A837-789F9F3613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7A2361-ED4C-0C8A-4B00-293428070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4232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B2D1C3-6FAC-433B-723E-EDD0565DE6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FE019F-2EA4-F292-11A9-F691BE82CF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57238E-48D8-8B11-1A80-75313392FD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03553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0E55577-D0F8-3F09-EE46-BE1C1A54D72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AADC53D-9CE5-9F9A-88E4-D1BDBC84C9C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F1E540D-DA24-3AD1-D13F-1F59D34B6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1414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AC25C5-4B3F-23D3-5273-834D2AA438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0DD442-A65B-9B06-F2E1-8CA407428E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A73C6-858B-63AF-9C5D-40812E714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75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F58C2-2857-582F-A6D9-7CE922EA39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F1C968-FE29-CC2F-AECF-04C4B333A8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257D4C-FA1B-5175-D621-9EC7251876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786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E9E29-AE04-7204-A230-595D2E0F16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8B4480-BCD8-D12A-6F6A-EB503BCE46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457E85-909C-D4A3-CF3E-E032ECF6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3262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0E863C-E80B-1E16-8A3D-EDCAC468C9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6982E0-5E66-1739-D460-A1F95380AD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355E3A-C069-9247-8871-41E01CE097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62610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F3569D-724E-F4C2-BA96-3AE32552D8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975974-90E9-BA49-72CB-F49E1AE296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964EC8-5C3E-58AC-AA56-2A5767B6E4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136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D55C96-1DDC-0E30-98AE-606757DFE6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D37E43-9039-839B-9BDF-9B6B46FD40E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B5C46D-081D-8B31-833D-73BD917CBE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39014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BBBD9D-F9B8-284B-FE49-D13DA42B00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BD5357-9591-7FC3-25E7-6E8C630AA6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8E06C3-BF75-9718-B2BF-B6464C9C24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9751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527FEC-C783-DED8-A5E8-4D8F5C59A7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670EDE-0768-EF79-4092-73A0F0275C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6BCDE13-5D30-A1FD-9D63-773641118E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4522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6094CC-7C34-0AA1-8A06-367D536561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524A76-7906-492D-48F7-69A0892155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D4433-39F2-8084-4B01-3C6FF82E42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04558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3ACA8-4C90-C943-F9FE-F305E992D0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E3B9709-6D2B-B1DE-59EF-9BC71247EE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79C658-C2E0-03E4-F305-08177F8CBD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740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B1C08-D4DD-01FE-1F1B-853D1C4942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39E895-D24A-B323-9900-9081889E7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73F8DD-0402-7360-BB92-DDE9292BC4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7736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4C403-CE59-DF9D-AEF0-9F2199D73C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5FEB82-972C-600A-3215-F69A6BC671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CBECDD-AE8F-F181-E341-1FF0779454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20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8A32FD-5C84-269D-5D87-5E114134C9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84CD4D-C414-FFFB-5E71-DEB24AC6E8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95E875-3CC0-3265-7075-A25F1A06DC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44455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5C5588-5D28-6383-DFAA-1709D6DC45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522C-D34C-5EB5-6F67-DCAB77E1AE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E80DA0-7559-E667-2930-EF7EB8A28D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24654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FAB225-9778-D149-C3A2-9067326B94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373416-652B-23EB-8E45-C7A97036A5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B83496-4E1C-9903-6F82-5EF22260B7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96214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4A5E11-BE8A-9852-891E-ECF8700E22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DD7635-C429-3862-020C-6AC630FC7A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C3361F-AB9B-1A1A-72C2-A796CA828C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30524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5346A4-41D5-E2DD-69CE-398D962EA6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DD13FA-ECB9-E46B-7C27-9A5C2B40E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93F40B-ECC9-5EAD-6B6D-FFFDCBF36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68787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6D3B32-3163-A67F-CAEE-B44956EEAC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A196CC-2EDE-26F7-86C3-3A8B7D15A19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BEF17-DC32-6169-9DB7-638AB10C62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8554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5BB0A-97B6-D527-F23E-E82F3E2DE54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29AF1-A1C8-D695-BF54-CD34240E369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3C7060-110B-C812-40C4-66307624FB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65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1C5415-BEF5-B9F8-4D93-1160F401A2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7B08A5-FE6E-FFB7-BD30-703CCCB535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7D2B0C-073C-7C6B-21CC-0614AFC1D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4827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604CF1-7BCA-07EB-06B1-2EFF81F0D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B4F202-7BF0-6C93-EED9-AE38C441F1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D6457-B759-4F54-C036-D5E715024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71722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A33884-3129-64CB-15A5-33820B7264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A3C399-6B30-1361-939E-B4A1007AE5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B1EBB47-FD94-0693-69A5-5CAFA4035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19039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8E5DD7-D096-AB84-11A2-E7456114A2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C4CF292-AA26-CE0A-C02E-1D99770B62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599E6E-22E2-D3D0-9892-1A54917E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7019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CB0AD-CFEE-2331-F58E-1E9F6CD803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58A8BA-9CCA-BC07-567C-1659D9761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191DC0-714D-D225-77DA-A2A46CA52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15949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3AA6B1-1BB4-3B01-BAD3-41A065747D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470CD9-B00A-1817-DC4C-399D2A68BE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C78B1B-88C0-70ED-EE92-69237083A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51705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en.wikipedia.org/wiki/Normal_distribution" TargetMode="External"/><Relationship Id="rId5" Type="http://schemas.openxmlformats.org/officeDocument/2006/relationships/image" Target="../media/image8.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2.png"/><Relationship Id="rId5" Type="http://schemas.openxmlformats.org/officeDocument/2006/relationships/image" Target="../media/image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Sum_of_normally_distributed_random_variable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20-21: Sensor Fusion and Kalman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
        <p:nvSpPr>
          <p:cNvPr id="2" name="TextBox 1">
            <a:extLst>
              <a:ext uri="{FF2B5EF4-FFF2-40B4-BE49-F238E27FC236}">
                <a16:creationId xmlns:a16="http://schemas.microsoft.com/office/drawing/2014/main" id="{321CC257-913A-F66B-FD51-488E05134F51}"/>
              </a:ext>
            </a:extLst>
          </p:cNvPr>
          <p:cNvSpPr txBox="1"/>
          <p:nvPr/>
        </p:nvSpPr>
        <p:spPr>
          <a:xfrm>
            <a:off x="5639865" y="2973398"/>
            <a:ext cx="65" cy="215444"/>
          </a:xfrm>
          <a:prstGeom prst="rect">
            <a:avLst/>
          </a:prstGeom>
          <a:noFill/>
        </p:spPr>
        <p:txBody>
          <a:bodyPr wrap="none" lIns="0" tIns="0" rIns="0" bIns="0" rtlCol="0">
            <a:spAutoFit/>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What assumptions were made during path planning / trajectory planning?</a:t>
            </a:r>
          </a:p>
          <a:p>
            <a:pPr marL="285750" indent="-285750">
              <a:lnSpc>
                <a:spcPct val="100000"/>
              </a:lnSpc>
              <a:spcBef>
                <a:spcPts val="0"/>
              </a:spcBef>
              <a:buSzPts val="3000"/>
            </a:pPr>
            <a:r>
              <a:rPr lang="en-US" sz="2400" dirty="0">
                <a:latin typeface="Arial"/>
                <a:ea typeface="Arial"/>
                <a:cs typeface="Arial"/>
                <a:sym typeface="Arial"/>
              </a:rPr>
              <a:t>What sensors on the robot help determine it’s the location in the world?</a:t>
            </a:r>
          </a:p>
          <a:p>
            <a:pPr marL="285750" indent="-285750">
              <a:lnSpc>
                <a:spcPct val="100000"/>
              </a:lnSpc>
              <a:spcBef>
                <a:spcPts val="0"/>
              </a:spcBef>
              <a:buSzPts val="3000"/>
            </a:pPr>
            <a:r>
              <a:rPr lang="en-US" sz="2400" dirty="0">
                <a:solidFill>
                  <a:schemeClr val="dk1"/>
                </a:solidFill>
                <a:latin typeface="Arial"/>
                <a:ea typeface="Arial"/>
                <a:cs typeface="Arial"/>
                <a:sym typeface="Arial"/>
              </a:rPr>
              <a:t>When could the odometr</a:t>
            </a:r>
            <a:r>
              <a:rPr lang="en-US" sz="2400" dirty="0">
                <a:latin typeface="Arial"/>
                <a:ea typeface="Arial"/>
                <a:cs typeface="Arial"/>
                <a:sym typeface="Arial"/>
              </a:rPr>
              <a:t>y and the IMU give different values? Which one should you trust?</a:t>
            </a:r>
          </a:p>
          <a:p>
            <a:pPr marL="285750" indent="-285750">
              <a:lnSpc>
                <a:spcPct val="100000"/>
              </a:lnSpc>
              <a:spcBef>
                <a:spcPts val="0"/>
              </a:spcBef>
              <a:buSzPts val="3000"/>
            </a:pPr>
            <a:r>
              <a:rPr lang="en-US" sz="2400" dirty="0">
                <a:solidFill>
                  <a:schemeClr val="dk1"/>
                </a:solidFill>
                <a:latin typeface="Arial"/>
                <a:ea typeface="Arial"/>
                <a:cs typeface="Arial"/>
                <a:sym typeface="Arial"/>
              </a:rPr>
              <a:t>If your IMU says you accelerated forward, but LiDAR scan matching says you didn’t move, what should the system believe?</a:t>
            </a: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a:p>
            <a:pPr marL="285750" indent="-285750">
              <a:lnSpc>
                <a:spcPct val="100000"/>
              </a:lnSpc>
              <a:spcBef>
                <a:spcPts val="0"/>
              </a:spcBef>
              <a:buSzPts val="3000"/>
            </a:pPr>
            <a:r>
              <a:rPr lang="en-US" sz="1800" dirty="0">
                <a:latin typeface="Arial"/>
                <a:ea typeface="Arial"/>
                <a:cs typeface="Arial"/>
                <a:sym typeface="Arial"/>
              </a:rPr>
              <a:t>Next homework is primarily the </a:t>
            </a:r>
            <a:r>
              <a:rPr lang="en-US" sz="1800" b="1" dirty="0">
                <a:latin typeface="Arial"/>
                <a:ea typeface="Arial"/>
                <a:cs typeface="Arial"/>
                <a:sym typeface="Arial"/>
              </a:rPr>
              <a:t>personal project </a:t>
            </a:r>
            <a:r>
              <a:rPr lang="en-US" sz="1800" dirty="0">
                <a:latin typeface="Arial"/>
                <a:ea typeface="Arial"/>
                <a:cs typeface="Arial"/>
                <a:sym typeface="Arial"/>
              </a:rPr>
              <a:t>due on </a:t>
            </a:r>
            <a:r>
              <a:rPr lang="en-US" sz="1800" b="1" dirty="0">
                <a:latin typeface="Arial"/>
                <a:ea typeface="Arial"/>
                <a:cs typeface="Arial"/>
                <a:sym typeface="Arial"/>
              </a:rPr>
              <a:t>April 22, 9AM</a:t>
            </a:r>
            <a:r>
              <a:rPr lang="en-US" sz="1800" dirty="0">
                <a:latin typeface="Arial"/>
                <a:ea typeface="Arial"/>
                <a:cs typeface="Arial"/>
                <a:sym typeface="Arial"/>
              </a:rPr>
              <a:t>.</a:t>
            </a:r>
          </a:p>
          <a:p>
            <a:pPr marL="742950" lvl="1" indent="-285750">
              <a:lnSpc>
                <a:spcPct val="100000"/>
              </a:lnSpc>
              <a:spcBef>
                <a:spcPts val="0"/>
              </a:spcBef>
              <a:buSzPts val="3000"/>
            </a:pPr>
            <a:r>
              <a:rPr lang="en-US" sz="1800" dirty="0">
                <a:latin typeface="Arial"/>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Sensor Fusion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Last lectures, we covered algorithms like A*, </a:t>
            </a:r>
            <a:r>
              <a:rPr lang="en-US" sz="2400" dirty="0" err="1">
                <a:latin typeface="Arial"/>
                <a:ea typeface="Arial"/>
                <a:cs typeface="Arial"/>
                <a:sym typeface="Arial"/>
              </a:rPr>
              <a:t>Dijkstras</a:t>
            </a:r>
            <a:r>
              <a:rPr lang="en-US" sz="2400" dirty="0">
                <a:latin typeface="Arial"/>
                <a:ea typeface="Arial"/>
                <a:cs typeface="Arial"/>
                <a:sym typeface="Arial"/>
              </a:rPr>
              <a:t>, Hybrid A* for path planning.</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learned to compute an optimal, collision-free trajectory from Point A to Point B.</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path planning operates in a perfect, simulated world!</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a:t>
            </a:r>
            <a:r>
              <a:rPr lang="en-US" sz="2400" b="1" dirty="0">
                <a:latin typeface="Arial"/>
                <a:ea typeface="Arial"/>
                <a:cs typeface="Arial"/>
                <a:sym typeface="Arial"/>
              </a:rPr>
              <a:t>fundamental assumption</a:t>
            </a:r>
            <a:r>
              <a:rPr lang="en-US" sz="2400" dirty="0">
                <a:latin typeface="Arial"/>
                <a:ea typeface="Arial"/>
                <a:cs typeface="Arial"/>
                <a:sym typeface="Arial"/>
              </a:rPr>
              <a:t> we made about the robot to execute these plans were:</a:t>
            </a:r>
          </a:p>
          <a:p>
            <a:pPr marL="0" indent="0">
              <a:lnSpc>
                <a:spcPct val="100000"/>
              </a:lnSpc>
              <a:spcBef>
                <a:spcPts val="0"/>
              </a:spcBef>
              <a:buSzPts val="3000"/>
              <a:buNone/>
            </a:pPr>
            <a:endParaRPr lang="en-US" sz="2400" b="1" dirty="0">
              <a:solidFill>
                <a:schemeClr val="dk1"/>
              </a:solidFill>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Perfect localization and actuation!</a:t>
            </a: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E76D8C-4FEF-9932-596F-DA3707FA02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7FF229-9E61-BC16-0C96-DAE1664C25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In the real world, motors don't spin exactly as commanded due to friction and voltage drops.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Sensors have electrical noise, mechanical imperfections, and environmental interference.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What can cause the LiDAR to fail?</a:t>
            </a:r>
          </a:p>
          <a:p>
            <a:pPr marL="342900">
              <a:lnSpc>
                <a:spcPct val="100000"/>
              </a:lnSpc>
              <a:spcBef>
                <a:spcPts val="0"/>
              </a:spcBef>
              <a:buSzPts val="3000"/>
            </a:pPr>
            <a:r>
              <a:rPr lang="en-US" sz="1800" dirty="0">
                <a:latin typeface="Arial"/>
                <a:ea typeface="Arial"/>
                <a:cs typeface="Arial"/>
                <a:sym typeface="Arial"/>
              </a:rPr>
              <a:t>Reflective / absorptive surfaces: glass, mirrors, black materials</a:t>
            </a:r>
          </a:p>
          <a:p>
            <a:pPr marL="342900">
              <a:lnSpc>
                <a:spcPct val="100000"/>
              </a:lnSpc>
              <a:spcBef>
                <a:spcPts val="0"/>
              </a:spcBef>
              <a:buSzPts val="3000"/>
            </a:pPr>
            <a:r>
              <a:rPr lang="en-US" sz="1800" dirty="0">
                <a:latin typeface="Arial"/>
                <a:ea typeface="Arial"/>
                <a:cs typeface="Arial"/>
                <a:sym typeface="Arial"/>
              </a:rPr>
              <a:t>Fog, rain, dust, snow</a:t>
            </a:r>
          </a:p>
          <a:p>
            <a:pPr marL="342900">
              <a:lnSpc>
                <a:spcPct val="100000"/>
              </a:lnSpc>
              <a:spcBef>
                <a:spcPts val="0"/>
              </a:spcBef>
              <a:buSzPts val="3000"/>
            </a:pPr>
            <a:r>
              <a:rPr lang="en-US" sz="1800" dirty="0">
                <a:latin typeface="Arial"/>
                <a:ea typeface="Arial"/>
                <a:cs typeface="Arial"/>
                <a:sym typeface="Arial"/>
              </a:rPr>
              <a:t>Fast motion relative to scan frequency</a:t>
            </a:r>
          </a:p>
          <a:p>
            <a:pPr marL="34290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What can cause the odometry to fail?</a:t>
            </a:r>
          </a:p>
          <a:p>
            <a:pPr marL="342900">
              <a:lnSpc>
                <a:spcPct val="100000"/>
              </a:lnSpc>
              <a:spcBef>
                <a:spcPts val="0"/>
              </a:spcBef>
              <a:buSzPts val="3000"/>
            </a:pPr>
            <a:r>
              <a:rPr lang="en-US" sz="1800" dirty="0">
                <a:latin typeface="Arial"/>
                <a:ea typeface="Arial"/>
                <a:cs typeface="Arial"/>
                <a:sym typeface="Arial"/>
              </a:rPr>
              <a:t>Slippery terrain for wheel slip</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When can cause the IMU fail?</a:t>
            </a:r>
          </a:p>
          <a:p>
            <a:pPr marL="342900">
              <a:lnSpc>
                <a:spcPct val="100000"/>
              </a:lnSpc>
              <a:spcBef>
                <a:spcPts val="0"/>
              </a:spcBef>
              <a:buSzPts val="3000"/>
            </a:pPr>
            <a:r>
              <a:rPr lang="en-US" sz="1800" dirty="0">
                <a:latin typeface="Arial"/>
                <a:ea typeface="Arial"/>
                <a:cs typeface="Arial"/>
                <a:sym typeface="Arial"/>
              </a:rPr>
              <a:t>IMU drift</a:t>
            </a:r>
          </a:p>
          <a:p>
            <a:pPr marL="342900">
              <a:lnSpc>
                <a:spcPct val="100000"/>
              </a:lnSpc>
              <a:spcBef>
                <a:spcPts val="0"/>
              </a:spcBef>
              <a:buSzPts val="3000"/>
            </a:pPr>
            <a:r>
              <a:rPr lang="en-US" sz="1800" dirty="0">
                <a:latin typeface="Arial"/>
                <a:ea typeface="Arial"/>
                <a:cs typeface="Arial"/>
                <a:sym typeface="Arial"/>
              </a:rPr>
              <a:t>Saturating the sensors</a:t>
            </a:r>
          </a:p>
          <a:p>
            <a:pPr marL="34290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we blindly execute our path plan open-loop, the robot will quickly crash.</a:t>
            </a:r>
            <a:endParaRPr lang="en-US" sz="18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3D5AEB9E-BACA-D86A-7336-706642B1BE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163C82-7E4D-858D-6AE2-7BC25E50823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33E97-C9BB-7F74-ABD9-BD767FF2CA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CC51F9-A938-D53D-35C3-6A8E5C729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1C3C39-EE3C-BFEB-339E-C759637A80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8CAD8B-0F9E-88BB-8D76-2E45001681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20C4DA-E6F4-64FC-88BF-B0F903D717F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7F47A-CC92-2F64-D6CF-F566D4A9DF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26739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9E420E-A29E-2817-C4F8-5AFDFD4F90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CC75FC-DE33-119F-3EF5-99886F6338D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need </a:t>
            </a:r>
            <a:r>
              <a:rPr lang="en-US" sz="2400" b="1" dirty="0">
                <a:latin typeface="Arial"/>
                <a:ea typeface="Arial"/>
                <a:cs typeface="Arial"/>
                <a:sym typeface="Arial"/>
              </a:rPr>
              <a:t>Localization</a:t>
            </a:r>
            <a:r>
              <a:rPr lang="en-US" sz="2400" dirty="0">
                <a:latin typeface="Arial"/>
                <a:ea typeface="Arial"/>
                <a:cs typeface="Arial"/>
                <a:sym typeface="Arial"/>
              </a:rPr>
              <a:t>: determining the robot's state (position, velocity, orientation) in the real world.</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To solve the localization problem, SE 423 robots use multiple sensors.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Proprioceptive </a:t>
            </a:r>
            <a:r>
              <a:rPr lang="en-US" sz="2400" dirty="0">
                <a:solidFill>
                  <a:schemeClr val="dk1"/>
                </a:solidFill>
                <a:latin typeface="Arial"/>
                <a:ea typeface="Arial"/>
                <a:cs typeface="Arial"/>
                <a:sym typeface="Arial"/>
              </a:rPr>
              <a:t>sensors measure internal states: Wheel Encoders (Odometry) and IMUs.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Exteroceptive </a:t>
            </a:r>
            <a:r>
              <a:rPr lang="en-US" sz="2400" dirty="0">
                <a:solidFill>
                  <a:schemeClr val="dk1"/>
                </a:solidFill>
                <a:latin typeface="Arial"/>
                <a:ea typeface="Arial"/>
                <a:cs typeface="Arial"/>
                <a:sym typeface="Arial"/>
              </a:rPr>
              <a:t>sensors measure the external environment: LiDAR.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No single sensor is perfect; they all lie to us in different ways.</a:t>
            </a:r>
          </a:p>
        </p:txBody>
      </p:sp>
      <p:sp>
        <p:nvSpPr>
          <p:cNvPr id="119" name="Google Shape;119;p29">
            <a:extLst>
              <a:ext uri="{FF2B5EF4-FFF2-40B4-BE49-F238E27FC236}">
                <a16:creationId xmlns:a16="http://schemas.microsoft.com/office/drawing/2014/main" id="{641B44FC-1A1C-F42A-3BDA-976BB5859D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0A2BC2F-9B03-5B8E-A1C6-72010869DE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44238C5-9AB9-13BD-5FA9-06FAA119A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5C52C-A9C9-7BB9-45B7-B21B10DD79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CD9A88-2E48-9F2F-07C0-A68012E64C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82DF34-9E76-F12D-6585-0866D9EDDC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5908F1-2070-3919-F15E-D11B97EA0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3A0F2-02A3-2B72-DDF9-1C212F0662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63700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668A1F-A262-40BB-0420-8D46AB2FE8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FC7474-F78F-74BF-555A-F8C0E3E1CE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rial"/>
                <a:ea typeface="Arial"/>
                <a:cs typeface="Arial"/>
                <a:sym typeface="Arial"/>
              </a:rPr>
              <a:t>Wheel encoders </a:t>
            </a:r>
            <a:r>
              <a:rPr lang="en-US" sz="2400" dirty="0">
                <a:latin typeface="Arial"/>
                <a:ea typeface="Arial"/>
                <a:cs typeface="Arial"/>
                <a:sym typeface="Arial"/>
              </a:rPr>
              <a:t>count the rotations of the robot's wheels. By knowing wheel radius and track width, we calculate forward kinematics to estimate position. It provides </a:t>
            </a:r>
            <a:r>
              <a:rPr lang="en-US" sz="2400" b="1" dirty="0">
                <a:latin typeface="Arial"/>
                <a:ea typeface="Arial"/>
                <a:cs typeface="Arial"/>
                <a:sym typeface="Arial"/>
              </a:rPr>
              <a:t>high-frequency</a:t>
            </a:r>
            <a:r>
              <a:rPr lang="en-US" sz="2400" dirty="0">
                <a:latin typeface="Arial"/>
                <a:ea typeface="Arial"/>
                <a:cs typeface="Arial"/>
                <a:sym typeface="Arial"/>
              </a:rPr>
              <a:t>, smooth data for short-term movement.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Similarly, </a:t>
            </a:r>
            <a:r>
              <a:rPr lang="en-US" sz="2400" b="1" dirty="0">
                <a:latin typeface="Arial"/>
                <a:ea typeface="Arial"/>
                <a:cs typeface="Arial"/>
                <a:sym typeface="Arial"/>
              </a:rPr>
              <a:t>IMUs</a:t>
            </a:r>
            <a:r>
              <a:rPr lang="en-US" sz="2400" dirty="0">
                <a:latin typeface="Arial"/>
                <a:ea typeface="Arial"/>
                <a:cs typeface="Arial"/>
                <a:sym typeface="Arial"/>
              </a:rPr>
              <a:t> generate </a:t>
            </a:r>
            <a:r>
              <a:rPr lang="en-US" sz="2400" b="1" dirty="0">
                <a:latin typeface="Arial"/>
                <a:ea typeface="Arial"/>
                <a:cs typeface="Arial"/>
                <a:sym typeface="Arial"/>
              </a:rPr>
              <a:t>high-frequency</a:t>
            </a:r>
            <a:r>
              <a:rPr lang="en-US" sz="2400" dirty="0">
                <a:latin typeface="Arial"/>
                <a:ea typeface="Arial"/>
                <a:cs typeface="Arial"/>
                <a:sym typeface="Arial"/>
              </a:rPr>
              <a:t>, smooth data for short-term movement based on the integration of acceleration.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LiDAR</a:t>
            </a:r>
            <a:r>
              <a:rPr lang="en-US" sz="2400" dirty="0">
                <a:solidFill>
                  <a:schemeClr val="dk1"/>
                </a:solidFill>
                <a:latin typeface="Arial"/>
                <a:ea typeface="Arial"/>
                <a:cs typeface="Arial"/>
                <a:sym typeface="Arial"/>
              </a:rPr>
              <a:t>, unlike odometry and IMUs, LiDAR gives us </a:t>
            </a:r>
            <a:r>
              <a:rPr lang="en-US" sz="2400" b="1" dirty="0">
                <a:solidFill>
                  <a:schemeClr val="dk1"/>
                </a:solidFill>
                <a:latin typeface="Arial"/>
                <a:ea typeface="Arial"/>
                <a:cs typeface="Arial"/>
                <a:sym typeface="Arial"/>
              </a:rPr>
              <a:t>absolute </a:t>
            </a:r>
            <a:r>
              <a:rPr lang="en-US" sz="2400" dirty="0">
                <a:solidFill>
                  <a:schemeClr val="dk1"/>
                </a:solidFill>
                <a:latin typeface="Arial"/>
                <a:ea typeface="Arial"/>
                <a:cs typeface="Arial"/>
                <a:sym typeface="Arial"/>
              </a:rPr>
              <a:t>measurements relative to the environment.; however, </a:t>
            </a:r>
            <a:r>
              <a:rPr lang="en-US" sz="2400" dirty="0">
                <a:latin typeface="Arial"/>
                <a:ea typeface="Arial"/>
                <a:cs typeface="Arial"/>
                <a:sym typeface="Arial"/>
              </a:rPr>
              <a:t>due to the additional data, the sensor runs at </a:t>
            </a:r>
            <a:r>
              <a:rPr lang="en-US" sz="2400" dirty="0">
                <a:solidFill>
                  <a:schemeClr val="dk1"/>
                </a:solidFill>
                <a:latin typeface="Arial"/>
                <a:ea typeface="Arial"/>
                <a:cs typeface="Arial"/>
                <a:sym typeface="Arial"/>
              </a:rPr>
              <a:t>a lower frequency (e.g., 10Hz) compared to an IMU (e.g., 500Hz).</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we are in a perfectly square, featureless hallway, can LiDAR tell us our position along the hallway? What about the IMU / odometry?</a:t>
            </a:r>
          </a:p>
        </p:txBody>
      </p:sp>
      <p:sp>
        <p:nvSpPr>
          <p:cNvPr id="119" name="Google Shape;119;p29">
            <a:extLst>
              <a:ext uri="{FF2B5EF4-FFF2-40B4-BE49-F238E27FC236}">
                <a16:creationId xmlns:a16="http://schemas.microsoft.com/office/drawing/2014/main" id="{7FBAB7B5-FA9E-81F7-05F1-7BBA583962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71CBAF-9573-1ACA-A469-078FA69C64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49EE72-ADCD-CE29-7521-247C63D739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B4B1FF-9281-2A9E-BA3B-3F21D3648C3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98BCDB-FFB9-C0BB-A723-476D530862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BD75A-118C-F176-A446-6AF89C48B1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C7EDCC-4247-6400-91FB-A6E044C1F2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A8263E-3123-AD11-D840-181B15775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97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1F9D0-123C-69D8-267E-88B75912236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9A7C04-1DBB-5710-0570-A22E87C68FA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have </a:t>
            </a:r>
            <a:r>
              <a:rPr lang="en-US" sz="2400" b="1" dirty="0">
                <a:latin typeface="Arial"/>
                <a:ea typeface="Arial"/>
                <a:cs typeface="Arial"/>
                <a:sym typeface="Arial"/>
              </a:rPr>
              <a:t>fast, smooth </a:t>
            </a:r>
            <a:r>
              <a:rPr lang="en-US" sz="2400" dirty="0">
                <a:latin typeface="Arial"/>
                <a:ea typeface="Arial"/>
                <a:cs typeface="Arial"/>
                <a:sym typeface="Arial"/>
              </a:rPr>
              <a:t>sensors that drift (IMU, Odometry).</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have </a:t>
            </a:r>
            <a:r>
              <a:rPr lang="en-US" sz="2400" b="1" dirty="0">
                <a:latin typeface="Arial"/>
                <a:ea typeface="Arial"/>
                <a:cs typeface="Arial"/>
                <a:sym typeface="Arial"/>
              </a:rPr>
              <a:t>slow</a:t>
            </a:r>
            <a:r>
              <a:rPr lang="en-US" sz="2400" dirty="0">
                <a:latin typeface="Arial"/>
                <a:ea typeface="Arial"/>
                <a:cs typeface="Arial"/>
                <a:sym typeface="Arial"/>
              </a:rPr>
              <a:t>, computationally heavy sensors that don't drift (LiDAR).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 do we combine them? </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Simple averaging doesn't work because their reliability changes over time.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2 sensors given measurements give different values which, should you trust?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if your sensors give you the confidence of their measurements? I.e. the LiDAR is 75% sure of its position and the IMU / Odometry are, in total, 25% sure of their positions?</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60278E2-13A4-ECCD-9125-BF56E97905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1A9D2-D303-9880-1EAB-A6AE71E76A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1B8DA6B-4A3E-6061-7885-7E5BA602F7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50536D-03E5-D9B1-7E72-7D3ABD555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A6B9F1-37FB-33B1-73DC-9AA2ABC8F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1C6813-4205-D682-2114-C774FAA4B0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46402A-32B4-5BA2-923F-90393288EC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74073B-BFFD-DB1B-504A-7E22C0917E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8781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A799B5-DC18-E502-D5AA-286ED30912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EC38D5-AA70-41ED-7129-42F27315F61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have </a:t>
            </a:r>
            <a:r>
              <a:rPr lang="en-US" sz="2400" b="1" dirty="0">
                <a:latin typeface="Arial"/>
                <a:ea typeface="Arial"/>
                <a:cs typeface="Arial"/>
                <a:sym typeface="Arial"/>
              </a:rPr>
              <a:t>fast, smooth </a:t>
            </a:r>
            <a:r>
              <a:rPr lang="en-US" sz="2400" dirty="0">
                <a:latin typeface="Arial"/>
                <a:ea typeface="Arial"/>
                <a:cs typeface="Arial"/>
                <a:sym typeface="Arial"/>
              </a:rPr>
              <a:t>sensors that drift (IMU, Odometry).</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have </a:t>
            </a:r>
            <a:r>
              <a:rPr lang="en-US" sz="2400" b="1" dirty="0">
                <a:latin typeface="Arial"/>
                <a:ea typeface="Arial"/>
                <a:cs typeface="Arial"/>
                <a:sym typeface="Arial"/>
              </a:rPr>
              <a:t>slow</a:t>
            </a:r>
            <a:r>
              <a:rPr lang="en-US" sz="2400" dirty="0">
                <a:latin typeface="Arial"/>
                <a:ea typeface="Arial"/>
                <a:cs typeface="Arial"/>
                <a:sym typeface="Arial"/>
              </a:rPr>
              <a:t>, computationally heavy sensors that don't drift (LiDAR).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 do we combine them? </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Simple averaging doesn't work because their reliability changes over time.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2 sensors given measurements give different values which, should you trust?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if your sensors give you the confidence of their measurements? I.e. the LiDAR is 75% sure of its position and the IMU / Odometry are, in total, 25% sure of their positions?</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DC6A185A-2226-A3DE-6BF6-3C4115FBBF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DDD3BE-C661-12B2-ADF4-726199E5DB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500225-901A-2D99-4727-EF59F276BE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D547E8-D999-814F-07C0-67AF8EF4474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F05ED8-23B7-4C16-BF26-00A8394F72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D27376-0037-942F-3922-44963D965C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C29769-5A37-ED79-DDB9-3171385FB5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D872BC-20DC-BF0A-BB38-78A50636C5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8115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1F894-E15D-FB0E-D29F-052BEDE8F33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4B849CB-6C64-3BF0-C0D4-3CAB65ECD4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Instead of saying robot is </a:t>
                </a:r>
                <a:r>
                  <a:rPr lang="en-US" sz="2400" dirty="0">
                    <a:latin typeface="Arial"/>
                    <a:ea typeface="Arial"/>
                    <a:cs typeface="Arial"/>
                    <a:sym typeface="Arial"/>
                  </a:rPr>
                  <a:t>exactly at “X = 5”, we want to say “We are 90% sure that the robot is near X=5”.</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represent our state as a probability distribution.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use the Gaussian (Normal) Distribution, defined by a mean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solidFill>
                      <a:schemeClr val="dk1"/>
                    </a:solidFill>
                    <a:latin typeface="Arial"/>
                    <a:ea typeface="Arial"/>
                    <a:cs typeface="Arial"/>
                    <a:sym typeface="Arial"/>
                  </a:rPr>
                  <a:t>) and variance (</a:t>
                </a:r>
                <a14:m>
                  <m:oMath xmlns:m="http://schemas.openxmlformats.org/officeDocument/2006/math">
                    <m:sSup>
                      <m:sSupPr>
                        <m:ctrlPr>
                          <a:rPr lang="en-US" sz="2400" b="0" i="1" smtClean="0">
                            <a:solidFill>
                              <a:schemeClr val="dk1"/>
                            </a:solidFill>
                            <a:latin typeface="Cambria Math" panose="02040503050406030204" pitchFamily="18" charset="0"/>
                            <a:ea typeface="Arial"/>
                            <a:cs typeface="Arial"/>
                            <a:sym typeface="Arial"/>
                          </a:rPr>
                        </m:ctrlPr>
                      </m:sSupPr>
                      <m:e>
                        <m:r>
                          <a:rPr lang="en-US" sz="2400" b="0" i="1" smtClean="0">
                            <a:solidFill>
                              <a:schemeClr val="dk1"/>
                            </a:solidFill>
                            <a:latin typeface="Cambria Math" panose="02040503050406030204" pitchFamily="18" charset="0"/>
                            <a:ea typeface="Arial"/>
                            <a:cs typeface="Arial"/>
                            <a:sym typeface="Arial"/>
                          </a:rPr>
                          <m:t>𝜎</m:t>
                        </m:r>
                      </m:e>
                      <m:sup>
                        <m:r>
                          <a:rPr lang="en-US" sz="2400" b="0" i="1" smtClean="0">
                            <a:solidFill>
                              <a:schemeClr val="dk1"/>
                            </a:solidFill>
                            <a:latin typeface="Cambria Math" panose="02040503050406030204" pitchFamily="18" charset="0"/>
                            <a:ea typeface="Arial"/>
                            <a:cs typeface="Arial"/>
                            <a:sym typeface="Arial"/>
                          </a:rPr>
                          <m:t>2</m:t>
                        </m:r>
                      </m:sup>
                    </m:sSup>
                  </m:oMath>
                </a14:m>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74B849CB-6C64-3BF0-C0D4-3CAB65ECD4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BE5622-5B4F-2C92-EC24-51D1EC1AEC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205E767-726C-CE73-41AA-5F4EFDCE53B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64F1F63-0DDC-06F0-A670-6F9C70213DE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44039E-071E-EF13-060A-B19D18C38D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4A25EE-2089-FA01-C229-0E0F8FC49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3AEA70-CAD1-C85B-4672-D627AD6641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0EF1AB-74EE-FA3E-6B0C-42D0AC2DAB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C7E859-3358-75F9-FF92-673795AD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98DA8B1-06EE-F383-1742-DF52DE9381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13998" y="3548943"/>
            <a:ext cx="5835650" cy="2917825"/>
          </a:xfrm>
          <a:prstGeom prst="rect">
            <a:avLst/>
          </a:prstGeom>
        </p:spPr>
      </p:pic>
      <p:sp>
        <p:nvSpPr>
          <p:cNvPr id="5" name="TextBox 4">
            <a:extLst>
              <a:ext uri="{FF2B5EF4-FFF2-40B4-BE49-F238E27FC236}">
                <a16:creationId xmlns:a16="http://schemas.microsoft.com/office/drawing/2014/main" id="{3291B65C-D484-7EF3-5C21-CCADE55E7A9E}"/>
              </a:ext>
            </a:extLst>
          </p:cNvPr>
          <p:cNvSpPr txBox="1"/>
          <p:nvPr/>
        </p:nvSpPr>
        <p:spPr>
          <a:xfrm>
            <a:off x="4495484" y="6328059"/>
            <a:ext cx="2940050" cy="246221"/>
          </a:xfrm>
          <a:prstGeom prst="rect">
            <a:avLst/>
          </a:prstGeom>
          <a:noFill/>
        </p:spPr>
        <p:txBody>
          <a:bodyPr wrap="square">
            <a:spAutoFit/>
          </a:bodyPr>
          <a:lstStyle/>
          <a:p>
            <a:pPr algn="ctr"/>
            <a:r>
              <a:rPr lang="en-US" sz="1000" dirty="0">
                <a:hlinkClick r:id="rId6"/>
              </a:rPr>
              <a:t>https://en.wikipedia.org/wiki/Normal_distribution</a:t>
            </a:r>
            <a:r>
              <a:rPr lang="en-US" sz="1000" dirty="0"/>
              <a:t> </a:t>
            </a:r>
          </a:p>
        </p:txBody>
      </p:sp>
    </p:spTree>
    <p:extLst>
      <p:ext uri="{BB962C8B-B14F-4D97-AF65-F5344CB8AC3E}">
        <p14:creationId xmlns:p14="http://schemas.microsoft.com/office/powerpoint/2010/main" val="27987874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0F7EB40-14FB-7621-B579-298C7123075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C9A827F-3835-FF0A-D899-55C40F8C9C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Why Gaussians?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a:t>
                </a:r>
                <a:r>
                  <a:rPr lang="en-US" sz="2400" b="1" dirty="0">
                    <a:solidFill>
                      <a:schemeClr val="dk1"/>
                    </a:solidFill>
                    <a:latin typeface="Arial"/>
                    <a:ea typeface="Arial"/>
                    <a:cs typeface="Arial"/>
                    <a:sym typeface="Arial"/>
                  </a:rPr>
                  <a:t>mean</a:t>
                </a:r>
                <a:r>
                  <a:rPr lang="en-US" sz="2400" dirty="0">
                    <a:solidFill>
                      <a:schemeClr val="dk1"/>
                    </a:solidFill>
                    <a:latin typeface="Arial"/>
                    <a:ea typeface="Arial"/>
                    <a:cs typeface="Arial"/>
                    <a:sym typeface="Arial"/>
                  </a:rPr>
                  <a:t> (</a:t>
                </a:r>
                <a14:m>
                  <m:oMath xmlns:m="http://schemas.openxmlformats.org/officeDocument/2006/math">
                    <m:r>
                      <m:rPr>
                        <m:sty m:val="p"/>
                      </m:rPr>
                      <a:rPr lang="en-US" sz="2400" i="1">
                        <a:latin typeface="Cambria Math" panose="02040503050406030204" pitchFamily="18" charset="0"/>
                        <a:ea typeface="Arial"/>
                        <a:cs typeface="Arial"/>
                        <a:sym typeface="Arial"/>
                      </a:rPr>
                      <m:t>μ</m:t>
                    </m:r>
                  </m:oMath>
                </a14:m>
                <a:r>
                  <a:rPr lang="en-US" sz="2400" dirty="0">
                    <a:solidFill>
                      <a:schemeClr val="dk1"/>
                    </a:solidFill>
                    <a:latin typeface="Arial"/>
                    <a:ea typeface="Arial"/>
                    <a:cs typeface="Arial"/>
                    <a:sym typeface="Arial"/>
                  </a:rPr>
                  <a:t>) represents our best guess of the robot's state. </a:t>
                </a:r>
              </a:p>
              <a:p>
                <a:pPr marL="0" indent="0">
                  <a:lnSpc>
                    <a:spcPct val="100000"/>
                  </a:lnSpc>
                  <a:spcBef>
                    <a:spcPts val="0"/>
                  </a:spcBef>
                  <a:buSzPts val="3000"/>
                  <a:buNone/>
                </a:pPr>
                <a:r>
                  <a:rPr lang="en-US" sz="2400" dirty="0">
                    <a:solidFill>
                      <a:schemeClr val="dk1"/>
                    </a:solidFill>
                    <a:latin typeface="Arial"/>
                    <a:ea typeface="Arial"/>
                    <a:cs typeface="Arial"/>
                    <a:sym typeface="Arial"/>
                  </a:rPr>
                  <a:t>The </a:t>
                </a:r>
                <a:r>
                  <a:rPr lang="en-US" sz="2400" b="1" dirty="0">
                    <a:solidFill>
                      <a:schemeClr val="dk1"/>
                    </a:solidFill>
                    <a:latin typeface="Arial"/>
                    <a:ea typeface="Arial"/>
                    <a:cs typeface="Arial"/>
                    <a:sym typeface="Arial"/>
                  </a:rPr>
                  <a:t>variance</a:t>
                </a:r>
                <a:r>
                  <a:rPr lang="en-US" sz="2400" dirty="0">
                    <a:solidFill>
                      <a:schemeClr val="dk1"/>
                    </a:solidFill>
                    <a:latin typeface="Arial"/>
                    <a:ea typeface="Arial"/>
                    <a:cs typeface="Arial"/>
                    <a:sym typeface="Arial"/>
                  </a:rPr>
                  <a:t>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oMath>
                </a14:m>
                <a:r>
                  <a:rPr lang="en-US" sz="2400" dirty="0">
                    <a:solidFill>
                      <a:schemeClr val="dk1"/>
                    </a:solidFill>
                    <a:latin typeface="Arial"/>
                    <a:ea typeface="Arial"/>
                    <a:cs typeface="Arial"/>
                    <a:sym typeface="Arial"/>
                  </a:rPr>
                  <a:t>) represents our uncertainty; a wide curve means we are lost, a narrow curve means we are confident.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Gaussians are mathematically convenient: multiplying two Gaussians results in a new Gaussian!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a lot of math can be derived in closed form when using Gaussians (most other more complex probability distributions do not allow for this)</a:t>
                </a:r>
              </a:p>
            </p:txBody>
          </p:sp>
        </mc:Choice>
        <mc:Fallback>
          <p:sp>
            <p:nvSpPr>
              <p:cNvPr id="118" name="Google Shape;118;p29">
                <a:extLst>
                  <a:ext uri="{FF2B5EF4-FFF2-40B4-BE49-F238E27FC236}">
                    <a16:creationId xmlns:a16="http://schemas.microsoft.com/office/drawing/2014/main" id="{BC9A827F-3835-FF0A-D899-55C40F8C9C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59A792D-73AA-B827-13FC-82701B03B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3DD6FA-6E47-BDE9-FD34-02C8EC10AE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FC45940-0BC9-49D1-F097-623A891A4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13348-9FFF-12D7-F48B-7A58B6B81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D9C4B5-8D20-B681-A69F-6BF56E5769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0519B6F-AE0F-73AC-A787-D1813F87C4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F772B7-755D-910D-082F-5CF34A2F72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8F8A90-5FD3-0FC3-835D-21AB8AF0D0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376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AE3407-DC15-E96F-1536-4061F8034D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6828DE-7025-F60D-D286-1D176287E47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Which sensor would you trust more?</a:t>
            </a:r>
          </a:p>
        </p:txBody>
      </p:sp>
      <p:sp>
        <p:nvSpPr>
          <p:cNvPr id="119" name="Google Shape;119;p29">
            <a:extLst>
              <a:ext uri="{FF2B5EF4-FFF2-40B4-BE49-F238E27FC236}">
                <a16:creationId xmlns:a16="http://schemas.microsoft.com/office/drawing/2014/main" id="{08436E42-519C-8FBA-60FE-3DC889204B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8FF8032-C12B-C2CB-444A-A0512EF83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ED8C47-DA2D-F9CA-BE64-9F6804D81D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0DA912-5B67-3134-80D5-C63002A358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0BCBFC-CF2D-E3CC-B865-799FC9C43B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B07321-EC64-5CC4-5484-A51AAA8493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28203-BC0F-B2C9-7FB0-DA9FBF6EDA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B71EEC-11F9-42E4-1533-A111DB64FF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1BCCD553-6D42-489E-24ED-5153F66EF2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76517" y="1767070"/>
            <a:ext cx="6438966" cy="4834468"/>
          </a:xfrm>
          <a:prstGeom prst="rect">
            <a:avLst/>
          </a:prstGeom>
        </p:spPr>
      </p:pic>
    </p:spTree>
    <p:extLst>
      <p:ext uri="{BB962C8B-B14F-4D97-AF65-F5344CB8AC3E}">
        <p14:creationId xmlns:p14="http://schemas.microsoft.com/office/powerpoint/2010/main" val="3181888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BB7596D-AB5E-E668-0807-0F5C4D03BB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7BBEBD30-0974-E20F-66CE-64A248A723B8}"/>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Kalman Filter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1CEC4E9-065D-A9B7-2231-6DA0067BE54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5CCF883-A390-1D27-19CA-86FA466D63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3FAFF9A-09BE-1DBB-E7A3-034C7EBAA4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766FD44-52A2-EE8F-9038-E1988B4E655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8650BDC-C45F-AED6-37F8-6E96BF574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68C5E82-93BD-05A5-E6C4-1F06699045A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1FE877D-1538-AF19-861D-E979FAA69BA7}"/>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4FFDEF6-1FDA-99C9-EC2A-037F38A67A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0CEB405-E7A5-3A29-E013-1E5EC8378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9032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5329B-39F2-867F-0A04-9B098071B11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3A8761-5B83-328D-A126-38F076CC624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Kalman Filter is an optimal estimator for </a:t>
            </a:r>
            <a:r>
              <a:rPr lang="en-US" sz="2400" b="1" dirty="0">
                <a:solidFill>
                  <a:schemeClr val="dk1"/>
                </a:solidFill>
                <a:latin typeface="Arial"/>
                <a:ea typeface="Arial"/>
                <a:cs typeface="Arial"/>
                <a:sym typeface="Arial"/>
              </a:rPr>
              <a:t>linear </a:t>
            </a:r>
            <a:r>
              <a:rPr lang="en-US" sz="2400" dirty="0">
                <a:solidFill>
                  <a:schemeClr val="dk1"/>
                </a:solidFill>
                <a:latin typeface="Arial"/>
                <a:ea typeface="Arial"/>
                <a:cs typeface="Arial"/>
                <a:sym typeface="Arial"/>
              </a:rPr>
              <a:t>systems subject to </a:t>
            </a:r>
            <a:r>
              <a:rPr lang="en-US" sz="2400" b="1" dirty="0">
                <a:solidFill>
                  <a:schemeClr val="dk1"/>
                </a:solidFill>
                <a:latin typeface="Arial"/>
                <a:ea typeface="Arial"/>
                <a:cs typeface="Arial"/>
                <a:sym typeface="Arial"/>
              </a:rPr>
              <a:t>Gaussian </a:t>
            </a:r>
            <a:r>
              <a:rPr lang="en-US" sz="2400" dirty="0">
                <a:solidFill>
                  <a:schemeClr val="dk1"/>
                </a:solidFill>
                <a:latin typeface="Arial"/>
                <a:ea typeface="Arial"/>
                <a:cs typeface="Arial"/>
                <a:sym typeface="Arial"/>
              </a:rPr>
              <a:t>noise.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When would the Kalman Filter not be appropriate?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r>
              <a:rPr lang="en-US" sz="2400" dirty="0">
                <a:solidFill>
                  <a:schemeClr val="dk1"/>
                </a:solidFill>
                <a:latin typeface="Arial"/>
                <a:ea typeface="Arial"/>
                <a:cs typeface="Arial"/>
                <a:sym typeface="Arial"/>
              </a:rPr>
              <a:t>If your sensor or system if non-linear and / or does not follow a Gaussian noise distribution! Always understand how your sensors / system acts and the underlying assumptions for algorithms!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It operates in a continuous, two-step loop: </a:t>
            </a:r>
            <a:r>
              <a:rPr lang="en-US" sz="2400" b="1" dirty="0">
                <a:solidFill>
                  <a:schemeClr val="dk1"/>
                </a:solidFill>
                <a:latin typeface="Arial"/>
                <a:ea typeface="Arial"/>
                <a:cs typeface="Arial"/>
                <a:sym typeface="Arial"/>
              </a:rPr>
              <a:t>Predict</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Update</a:t>
            </a:r>
            <a:r>
              <a:rPr lang="en-US" sz="2400" dirty="0">
                <a:solidFill>
                  <a:schemeClr val="dk1"/>
                </a:solidFill>
                <a:latin typeface="Arial"/>
                <a:ea typeface="Arial"/>
                <a:cs typeface="Arial"/>
                <a:sym typeface="Arial"/>
              </a:rPr>
              <a:t>.</a:t>
            </a:r>
          </a:p>
        </p:txBody>
      </p:sp>
      <p:sp>
        <p:nvSpPr>
          <p:cNvPr id="119" name="Google Shape;119;p29">
            <a:extLst>
              <a:ext uri="{FF2B5EF4-FFF2-40B4-BE49-F238E27FC236}">
                <a16:creationId xmlns:a16="http://schemas.microsoft.com/office/drawing/2014/main" id="{7E472022-BB26-A280-4E9F-ADDC70DFC2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55D5F8-A3B7-2695-9B43-9B5EF757196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38AAD8-4295-2D1C-F3D6-D375B9C194D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C38A00-8B26-B25A-8993-54C2AC7CA5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439B2F-9A64-BA63-289D-75BB0FCDE0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20DD1A-D2C9-3CCD-6A14-738983F101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D72C88-2EDB-1CE2-4E4B-8AB91424BA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5A9CAD-537B-BC1C-8FC1-4CDB9AFDE7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46074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868176-5818-6A02-B09B-2DA78D460F2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3740F5-3D2A-7756-7F9D-9154445BCC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7510A0-882A-A843-6A2E-5C1F47BCA9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6113E-A496-FC67-CF7A-CC5B869964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2A2C0C-2528-01A0-C67C-5964FE538B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B5FE1-C72D-285C-066A-3F0003D15C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35AA4E-ACB6-3FB0-E090-AF433EA275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73F5B8-C3E4-1798-6308-D23F5E9624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5BE8C7-FAFA-4449-7A05-9A1E0E1A5F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BA59FD0-35B2-89C5-FDBD-04FCD45DED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157" y="868221"/>
            <a:ext cx="11173686" cy="5655816"/>
          </a:xfrm>
          <a:prstGeom prst="rect">
            <a:avLst/>
          </a:prstGeom>
        </p:spPr>
      </p:pic>
      <p:sp>
        <p:nvSpPr>
          <p:cNvPr id="6" name="Rectangle 5">
            <a:extLst>
              <a:ext uri="{FF2B5EF4-FFF2-40B4-BE49-F238E27FC236}">
                <a16:creationId xmlns:a16="http://schemas.microsoft.com/office/drawing/2014/main" id="{D3174F6D-4417-D7E2-1109-F5593B2CC584}"/>
              </a:ext>
            </a:extLst>
          </p:cNvPr>
          <p:cNvSpPr/>
          <p:nvPr/>
        </p:nvSpPr>
        <p:spPr>
          <a:xfrm>
            <a:off x="1009650" y="958850"/>
            <a:ext cx="2197100" cy="17208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B22CC04-9718-F1F7-241C-FA54E61578EF}"/>
              </a:ext>
            </a:extLst>
          </p:cNvPr>
          <p:cNvSpPr/>
          <p:nvPr/>
        </p:nvSpPr>
        <p:spPr>
          <a:xfrm>
            <a:off x="6096000" y="906290"/>
            <a:ext cx="2089150"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4522EFA-256E-7135-3175-8369BF5F8BED}"/>
              </a:ext>
            </a:extLst>
          </p:cNvPr>
          <p:cNvSpPr/>
          <p:nvPr/>
        </p:nvSpPr>
        <p:spPr>
          <a:xfrm>
            <a:off x="5905500" y="3814590"/>
            <a:ext cx="2435225"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AEBF65-49DB-D222-8A49-60B639CE487A}"/>
              </a:ext>
            </a:extLst>
          </p:cNvPr>
          <p:cNvSpPr/>
          <p:nvPr/>
        </p:nvSpPr>
        <p:spPr>
          <a:xfrm>
            <a:off x="3660775" y="5201217"/>
            <a:ext cx="2162175" cy="7885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6069F143-771D-627B-EAAC-70033AECD387}"/>
              </a:ext>
            </a:extLst>
          </p:cNvPr>
          <p:cNvCxnSpPr>
            <a:stCxn id="9" idx="0"/>
            <a:endCxn id="6" idx="2"/>
          </p:cNvCxnSpPr>
          <p:nvPr/>
        </p:nvCxnSpPr>
        <p:spPr>
          <a:xfrm flipH="1" flipV="1">
            <a:off x="2108200" y="2679700"/>
            <a:ext cx="2633663" cy="25215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812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2"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9"/>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8" grpId="0" animBg="1"/>
      <p:bldP spid="8" grpId="1" animBg="1"/>
      <p:bldP spid="9" grpId="0" animBg="1"/>
      <p:bldP spid="9"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DDB4493-D9D8-6AD3-51AC-CF4793D5AC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54BD8F-ADA5-EA1B-8DE0-AD93BC21168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rial"/>
                <a:ea typeface="Arial"/>
                <a:cs typeface="Arial"/>
                <a:sym typeface="Arial"/>
              </a:rPr>
              <a:t>Step 1</a:t>
            </a:r>
            <a:r>
              <a:rPr lang="en-US" sz="2400" dirty="0">
                <a:solidFill>
                  <a:schemeClr val="dk1"/>
                </a:solidFill>
                <a:latin typeface="Arial"/>
                <a:ea typeface="Arial"/>
                <a:cs typeface="Arial"/>
                <a:sym typeface="Arial"/>
              </a:rPr>
              <a:t>: The robot </a:t>
            </a:r>
            <a:r>
              <a:rPr lang="en-US" sz="2400" b="1" dirty="0">
                <a:solidFill>
                  <a:schemeClr val="dk1"/>
                </a:solidFill>
                <a:latin typeface="Arial"/>
                <a:ea typeface="Arial"/>
                <a:cs typeface="Arial"/>
                <a:sym typeface="Arial"/>
              </a:rPr>
              <a:t>moves</a:t>
            </a:r>
            <a:r>
              <a:rPr lang="en-US" sz="2400" dirty="0">
                <a:solidFill>
                  <a:schemeClr val="dk1"/>
                </a:solidFill>
                <a:latin typeface="Arial"/>
                <a:ea typeface="Arial"/>
                <a:cs typeface="Arial"/>
                <a:sym typeface="Arial"/>
              </a:rPr>
              <a:t>. We use our fast, noisy sensors (Odometry/IMU) to </a:t>
            </a:r>
            <a:r>
              <a:rPr lang="en-US" sz="2400" b="1" dirty="0">
                <a:solidFill>
                  <a:schemeClr val="dk1"/>
                </a:solidFill>
                <a:latin typeface="Arial"/>
                <a:ea typeface="Arial"/>
                <a:cs typeface="Arial"/>
                <a:sym typeface="Arial"/>
              </a:rPr>
              <a:t>Predict</a:t>
            </a:r>
            <a:r>
              <a:rPr lang="en-US" sz="2400" dirty="0">
                <a:solidFill>
                  <a:schemeClr val="dk1"/>
                </a:solidFill>
                <a:latin typeface="Arial"/>
                <a:ea typeface="Arial"/>
                <a:cs typeface="Arial"/>
                <a:sym typeface="Arial"/>
              </a:rPr>
              <a:t> where we are. Our uncertainty grows.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Step 2:</a:t>
            </a:r>
            <a:r>
              <a:rPr lang="en-US" sz="2400" dirty="0">
                <a:solidFill>
                  <a:schemeClr val="dk1"/>
                </a:solidFill>
                <a:latin typeface="Arial"/>
                <a:ea typeface="Arial"/>
                <a:cs typeface="Arial"/>
                <a:sym typeface="Arial"/>
              </a:rPr>
              <a:t> The robot </a:t>
            </a:r>
            <a:r>
              <a:rPr lang="en-US" sz="2400" b="1" dirty="0">
                <a:solidFill>
                  <a:schemeClr val="dk1"/>
                </a:solidFill>
                <a:latin typeface="Arial"/>
                <a:ea typeface="Arial"/>
                <a:cs typeface="Arial"/>
                <a:sym typeface="Arial"/>
              </a:rPr>
              <a:t>looks</a:t>
            </a:r>
            <a:r>
              <a:rPr lang="en-US" sz="2400" dirty="0">
                <a:solidFill>
                  <a:schemeClr val="dk1"/>
                </a:solidFill>
                <a:latin typeface="Arial"/>
                <a:ea typeface="Arial"/>
                <a:cs typeface="Arial"/>
                <a:sym typeface="Arial"/>
              </a:rPr>
              <a:t>. We take a measurement with our absolute sensor (LiDAR) to </a:t>
            </a:r>
            <a:r>
              <a:rPr lang="en-US" sz="2400" b="1" dirty="0">
                <a:solidFill>
                  <a:schemeClr val="dk1"/>
                </a:solidFill>
                <a:latin typeface="Arial"/>
                <a:ea typeface="Arial"/>
                <a:cs typeface="Arial"/>
                <a:sym typeface="Arial"/>
              </a:rPr>
              <a:t>Update</a:t>
            </a:r>
            <a:r>
              <a:rPr lang="en-US" sz="2400" dirty="0">
                <a:solidFill>
                  <a:schemeClr val="dk1"/>
                </a:solidFill>
                <a:latin typeface="Arial"/>
                <a:ea typeface="Arial"/>
                <a:cs typeface="Arial"/>
                <a:sym typeface="Arial"/>
              </a:rPr>
              <a:t> our belief. Our uncertainty shrinks.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Rinse and repeat thousands of times a second.</a:t>
            </a:r>
          </a:p>
        </p:txBody>
      </p:sp>
      <p:sp>
        <p:nvSpPr>
          <p:cNvPr id="119" name="Google Shape;119;p29">
            <a:extLst>
              <a:ext uri="{FF2B5EF4-FFF2-40B4-BE49-F238E27FC236}">
                <a16:creationId xmlns:a16="http://schemas.microsoft.com/office/drawing/2014/main" id="{E376E3B1-134B-A92F-832F-A20DC6C914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D32CD28-BE88-F845-00A1-5A4DEFB900D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4D7FA8B-A4B3-75D3-6F82-1164570B7BE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24B13C-C0B8-E382-99CF-E9BF4D08D1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A7BEDE-BC74-822A-748C-B76164B3D9E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2E0AD5-15AB-90FD-F7D0-D607498CDD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428992-8FDC-0D6C-C78D-E8468CE9F1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674D67-627C-B72C-E09C-8CB5FD92C4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340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B2B4F-5738-FDF9-FD39-4A8C8376F6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AD5EF0-059F-3536-5885-8D1B1A9E352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851F5CC-E10E-7B51-D4B3-ABA254B8A3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43C047-CDC9-33EE-16AA-58930CC374C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CDE8AC-E7C3-6C8D-2C85-8D631400D9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25EE23-8497-A8AF-D688-63C2861D70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017000-93DD-562B-15F8-4ADD83DE2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F4652-1E6B-F4F1-9BAC-BC043FFFD6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2EEB2C-584D-7969-94DF-3D6304C00F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kalman_1d_publication_quality">
            <a:hlinkClick r:id="" action="ppaction://media"/>
            <a:extLst>
              <a:ext uri="{FF2B5EF4-FFF2-40B4-BE49-F238E27FC236}">
                <a16:creationId xmlns:a16="http://schemas.microsoft.com/office/drawing/2014/main" id="{2F7F4B1C-22CC-1CC9-EFFA-09BF652E5528}"/>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2688314" y="876107"/>
            <a:ext cx="6815371" cy="5679476"/>
          </a:xfrm>
          <a:prstGeom prst="rect">
            <a:avLst/>
          </a:prstGeom>
        </p:spPr>
      </p:pic>
    </p:spTree>
    <p:extLst>
      <p:ext uri="{BB962C8B-B14F-4D97-AF65-F5344CB8AC3E}">
        <p14:creationId xmlns:p14="http://schemas.microsoft.com/office/powerpoint/2010/main" val="355191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67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AB8B77-7D8F-9C2F-DFA1-D1BA48EDBF1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44E61C-02F9-C990-1E7E-5501AB07947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use a physical model of the robot (kinematics) and our control inputs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rial"/>
                    <a:ea typeface="Arial"/>
                    <a:cs typeface="Arial"/>
                    <a:sym typeface="Arial"/>
                  </a:rPr>
                  <a:t>) to guess the new state.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Because we know our model and our encoders are imperfect, we actively increase our uncertainty covariance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𝑃</m:t>
                    </m:r>
                  </m:oMath>
                </a14:m>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represents "flying blind" between reference measurements.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we close our eyes and take 5 steps, are we more or less certain of our position than before we moved?</a:t>
                </a:r>
              </a:p>
            </p:txBody>
          </p:sp>
        </mc:Choice>
        <mc:Fallback>
          <p:sp>
            <p:nvSpPr>
              <p:cNvPr id="118" name="Google Shape;118;p29">
                <a:extLst>
                  <a:ext uri="{FF2B5EF4-FFF2-40B4-BE49-F238E27FC236}">
                    <a16:creationId xmlns:a16="http://schemas.microsoft.com/office/drawing/2014/main" id="{A444E61C-02F9-C990-1E7E-5501AB07947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73FE52-A7A5-6FEE-F734-1255D05DD2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B7DCF16-91BF-8467-BCB4-0938896611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12BA770-93EC-2352-E466-015C3CF3F9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F65073-39B2-ECE9-F4FA-BA5E729448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C72B3C-712E-A7DF-D83D-60BFF3F583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D3AC2-7FCB-B17D-56B3-26BEB48A4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B4413-E482-2CE4-07FD-B76E82585A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F61FD4-F396-E179-3A2D-056FB83E6C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80347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8A07BB-12B5-8BEC-2F0E-E8D94158DC6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7BC29F1-3770-84E0-6794-1E7E81F94C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Before we look at massive matrices, let's look at a robot on a 1-Dimensional train track.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Its state is just one number: its position on the track,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latin typeface="Arial"/>
                    <a:ea typeface="Arial"/>
                    <a:cs typeface="Arial"/>
                    <a:sym typeface="Arial"/>
                  </a:rPr>
                  <a:t>. Its uncertainty is also just one number: the variance,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r>
                      <a:rPr lang="en-US" sz="2400" i="1">
                        <a:latin typeface="Cambria Math" panose="02040503050406030204" pitchFamily="18" charset="0"/>
                        <a:ea typeface="Arial"/>
                        <a:cs typeface="Arial"/>
                        <a:sym typeface="Arial"/>
                      </a:rPr>
                      <m:t> </m:t>
                    </m:r>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Together, they form a 1D Gaussian (Bell Curve) representing our "belief".</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07BC29F1-3770-84E0-6794-1E7E81F94CF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71553DE-1FC9-A108-70AA-CE4F321047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09B984-032F-143B-8486-3672CA3DFE3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38DD75A-722A-42C3-B592-8087EF8619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0733E-2711-9ECD-183E-A720C5E003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4EFA8-5AA6-7F56-A5EB-096910145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3DCC83-1B18-29FF-9B56-6219EB0E0F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B0A41D-F920-0600-5286-811D11480B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2DCF1F-D150-CBC3-BA0E-26CE575C06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64980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BEB7A0-9C14-A99B-9284-2702102476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ADEE7DE-F787-2BF2-817E-CF565E6C3D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7BEB2D-D533-4BAB-A122-758A7FAD7A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FED6B8-22A3-E25E-6CFD-512B7C36D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CF868A-512A-0A57-2D65-B294682C3F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302325-1FD4-7B7B-9C68-5CD2807239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CE4BEA-CF12-4F1F-D2F7-AEF804C7A2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21BCC-D959-5D13-B3E3-E511995B19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1B2141-4BEB-7520-1011-8ADA48C6DF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F36F80FA-8AB9-CA0B-87D2-56033447C5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321" y="982504"/>
            <a:ext cx="10855188" cy="5427594"/>
          </a:xfrm>
          <a:prstGeom prst="rect">
            <a:avLst/>
          </a:prstGeom>
        </p:spPr>
      </p:pic>
    </p:spTree>
    <p:extLst>
      <p:ext uri="{BB962C8B-B14F-4D97-AF65-F5344CB8AC3E}">
        <p14:creationId xmlns:p14="http://schemas.microsoft.com/office/powerpoint/2010/main" val="22168176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D3F0FC-7A2B-0DD8-DB53-01441FCCE76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7F7B560-5CB2-A935-3A3D-3A997F6BF2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robot commands its motors to move forward by distance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Our new predicted mean simply shifts: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𝑝𝑟𝑒𝑑</m:t>
                          </m:r>
                        </m:sub>
                      </m:sSub>
                      <m:r>
                        <a:rPr lang="en-US" sz="2400" i="1" dirty="0" smtClean="0">
                          <a:solidFill>
                            <a:schemeClr val="dk1"/>
                          </a:solidFill>
                          <a:latin typeface="Cambria Math" panose="02040503050406030204" pitchFamily="18" charset="0"/>
                          <a:ea typeface="Arial"/>
                          <a:cs typeface="Arial"/>
                          <a:sym typeface="Arial"/>
                        </a:rPr>
                        <m:t>=</m:t>
                      </m:r>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𝑜𝑙𝑑</m:t>
                          </m:r>
                        </m:sub>
                      </m:sSub>
                      <m:r>
                        <a:rPr lang="en-US" sz="2400" i="1" dirty="0" smtClean="0">
                          <a:solidFill>
                            <a:schemeClr val="dk1"/>
                          </a:solidFill>
                          <a:latin typeface="Cambria Math" panose="02040503050406030204" pitchFamily="18" charset="0"/>
                          <a:ea typeface="Arial"/>
                          <a:cs typeface="Arial"/>
                          <a:sym typeface="Arial"/>
                        </a:rPr>
                        <m:t>+</m:t>
                      </m:r>
                      <m:r>
                        <a:rPr lang="en-US" sz="2400" i="1" dirty="0" smtClean="0">
                          <a:solidFill>
                            <a:schemeClr val="dk1"/>
                          </a:solidFill>
                          <a:latin typeface="Cambria Math" panose="02040503050406030204" pitchFamily="18" charset="0"/>
                          <a:ea typeface="Arial"/>
                          <a:cs typeface="Arial"/>
                          <a:sym typeface="Arial"/>
                        </a:rPr>
                        <m:t>𝑢</m:t>
                      </m:r>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But moving adds process noise (</a:t>
                </a:r>
                <a14:m>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a14:m>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Our uncertainty grows.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𝑝𝑟𝑒𝑑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𝑜𝑙𝑑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87F7B560-5CB2-A935-3A3D-3A997F6BF2A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8E1554-8107-F257-CA0F-17B68BA099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1B21338-72E2-D33F-10A5-18DA957FCF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77B434-106E-59F3-C7C8-5A6260022D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734453-4DD0-54A4-CA8C-56A904E7CB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42B63A-ED3E-6D46-10A1-0C8D45D5DD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2EDD6-2B9C-0A51-9BA2-278B4582EC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CECA21-4760-0C19-5F59-D2C13CBF30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29AFF5-62CE-11D2-2B88-EC9E84A067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16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C46DD4-F0E9-00D1-9DE8-8AC37EB847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E34F803-63E6-9716-FE5B-13F0C9E100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5FE115-D2FF-CEA9-0592-C9BFE02234F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98374-1E79-0217-EB38-764EAEBC6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A71898-D5D9-E0E7-E6D3-1CF6F27854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2D5EC-6E0F-A584-3A61-BA11033E58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407C28-2849-08A0-6C8E-ABB8ED8C64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84C1-D990-E94C-FF99-63B9665F28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45626C-483F-21D9-BCF6-BE1A8B2906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ABCE8D01-A433-765C-31F8-999610B4C62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1839712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3F0C36-C162-5986-87D6-D1B65829BC5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A25EF48-A626-2479-79A7-B9D0A76129D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This prediction updates the covariance and the means as such because we are assuming </a:t>
                </a:r>
                <a:r>
                  <a:rPr lang="en-US" sz="2400" b="1" dirty="0">
                    <a:latin typeface="Arial"/>
                    <a:ea typeface="Arial"/>
                    <a:cs typeface="Arial"/>
                    <a:sym typeface="Arial"/>
                  </a:rPr>
                  <a:t>Gaussian </a:t>
                </a:r>
                <a:r>
                  <a:rPr lang="en-US" sz="2400" dirty="0">
                    <a:latin typeface="Arial"/>
                    <a:ea typeface="Arial"/>
                    <a:cs typeface="Arial"/>
                    <a:sym typeface="Arial"/>
                  </a:rPr>
                  <a:t>random variables.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Let X and Y be independent random variables that are normally distributed, then their sum is also normally distributed. i.e., if</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𝑋</m:t>
                      </m:r>
                      <m:r>
                        <a:rPr lang="en-US" sz="2400" b="0" i="1" smtClean="0">
                          <a:solidFill>
                            <a:schemeClr val="dk1"/>
                          </a:solidFill>
                          <a:latin typeface="Cambria Math" panose="02040503050406030204" pitchFamily="18" charset="0"/>
                          <a:ea typeface="Arial"/>
                          <a:cs typeface="Arial"/>
                          <a:sym typeface="Arial"/>
                        </a:rPr>
                        <m:t>∼</m:t>
                      </m:r>
                      <m:r>
                        <a:rPr lang="en-US" sz="2400" b="0" i="1" smtClean="0">
                          <a:solidFill>
                            <a:schemeClr val="dk1"/>
                          </a:solidFill>
                          <a:latin typeface="Cambria Math" panose="02040503050406030204" pitchFamily="18" charset="0"/>
                          <a:ea typeface="Arial"/>
                          <a:cs typeface="Arial"/>
                          <a:sym typeface="Arial"/>
                        </a:rPr>
                        <m:t>𝑁</m:t>
                      </m:r>
                      <m:d>
                        <m:dPr>
                          <m:ctrlPr>
                            <a:rPr lang="en-US" sz="2400" b="0" i="1" smtClean="0">
                              <a:solidFill>
                                <a:schemeClr val="dk1"/>
                              </a:solidFill>
                              <a:latin typeface="Cambria Math" panose="02040503050406030204" pitchFamily="18" charset="0"/>
                              <a:ea typeface="Arial"/>
                              <a:cs typeface="Arial"/>
                              <a:sym typeface="Arial"/>
                            </a:rPr>
                          </m:ctrlPr>
                        </m:dPr>
                        <m:e>
                          <m:sSub>
                            <m:sSubPr>
                              <m:ctrlPr>
                                <a:rPr lang="en-US" sz="2400" b="0" i="1" smtClean="0">
                                  <a:solidFill>
                                    <a:schemeClr val="dk1"/>
                                  </a:solidFill>
                                  <a:latin typeface="Cambria Math" panose="02040503050406030204" pitchFamily="18" charset="0"/>
                                  <a:ea typeface="Arial"/>
                                  <a:cs typeface="Arial"/>
                                  <a:sym typeface="Arial"/>
                                </a:rPr>
                              </m:ctrlPr>
                            </m:sSubPr>
                            <m:e>
                              <m:r>
                                <a:rPr lang="en-US" sz="2400" b="0" i="1" smtClean="0">
                                  <a:solidFill>
                                    <a:schemeClr val="dk1"/>
                                  </a:solidFill>
                                  <a:latin typeface="Cambria Math" panose="02040503050406030204" pitchFamily="18" charset="0"/>
                                  <a:ea typeface="Arial"/>
                                  <a:cs typeface="Arial"/>
                                  <a:sym typeface="Arial"/>
                                </a:rPr>
                                <m:t>𝜇</m:t>
                              </m:r>
                            </m:e>
                            <m:sub>
                              <m:r>
                                <a:rPr lang="en-US" sz="2400" b="0" i="1" smtClean="0">
                                  <a:solidFill>
                                    <a:schemeClr val="dk1"/>
                                  </a:solidFill>
                                  <a:latin typeface="Cambria Math" panose="02040503050406030204" pitchFamily="18" charset="0"/>
                                  <a:ea typeface="Arial"/>
                                  <a:cs typeface="Arial"/>
                                  <a:sym typeface="Arial"/>
                                </a:rPr>
                                <m:t>𝑋</m:t>
                              </m:r>
                            </m:sub>
                          </m:sSub>
                          <m:r>
                            <a:rPr lang="en-US" sz="2400" b="0" i="1" smtClean="0">
                              <a:solidFill>
                                <a:schemeClr val="dk1"/>
                              </a:solidFill>
                              <a:latin typeface="Cambria Math" panose="02040503050406030204" pitchFamily="18" charset="0"/>
                              <a:ea typeface="Arial"/>
                              <a:cs typeface="Arial"/>
                              <a:sym typeface="Arial"/>
                            </a:rPr>
                            <m:t>,</m:t>
                          </m:r>
                          <m:sSubSup>
                            <m:sSubSupPr>
                              <m:ctrlPr>
                                <a:rPr lang="en-US" sz="2400" b="0" i="1" smtClean="0">
                                  <a:solidFill>
                                    <a:schemeClr val="dk1"/>
                                  </a:solidFill>
                                  <a:latin typeface="Cambria Math" panose="02040503050406030204" pitchFamily="18" charset="0"/>
                                  <a:ea typeface="Arial"/>
                                  <a:cs typeface="Arial"/>
                                  <a:sym typeface="Arial"/>
                                </a:rPr>
                              </m:ctrlPr>
                            </m:sSubSupPr>
                            <m:e>
                              <m:r>
                                <a:rPr lang="en-US" sz="2400" b="0" i="1" smtClean="0">
                                  <a:solidFill>
                                    <a:schemeClr val="dk1"/>
                                  </a:solidFill>
                                  <a:latin typeface="Cambria Math" panose="02040503050406030204" pitchFamily="18" charset="0"/>
                                  <a:ea typeface="Arial"/>
                                  <a:cs typeface="Arial"/>
                                  <a:sym typeface="Arial"/>
                                </a:rPr>
                                <m:t>𝜎</m:t>
                              </m:r>
                            </m:e>
                            <m:sub>
                              <m:r>
                                <a:rPr lang="en-US" sz="2400" b="0" i="1" smtClean="0">
                                  <a:solidFill>
                                    <a:schemeClr val="dk1"/>
                                  </a:solidFill>
                                  <a:latin typeface="Cambria Math" panose="02040503050406030204" pitchFamily="18" charset="0"/>
                                  <a:ea typeface="Arial"/>
                                  <a:cs typeface="Arial"/>
                                  <a:sym typeface="Arial"/>
                                </a:rPr>
                                <m:t>𝑋</m:t>
                              </m:r>
                            </m:sub>
                            <m:sup>
                              <m:r>
                                <a:rPr lang="en-US" sz="2400" b="0" i="1" smtClean="0">
                                  <a:solidFill>
                                    <a:schemeClr val="dk1"/>
                                  </a:solidFill>
                                  <a:latin typeface="Cambria Math" panose="02040503050406030204" pitchFamily="18" charset="0"/>
                                  <a:ea typeface="Arial"/>
                                  <a:cs typeface="Arial"/>
                                  <a:sym typeface="Arial"/>
                                </a:rPr>
                                <m:t>2</m:t>
                              </m:r>
                            </m:sup>
                          </m:sSubSup>
                        </m:e>
                      </m:d>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b="0" i="1" smtClean="0">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b="0" i="1" smtClean="0">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Y</m:t>
                      </m:r>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Then,</a:t>
                </a: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Z</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a:rPr lang="en-US" sz="2400" i="1">
                                  <a:latin typeface="Cambria Math" panose="02040503050406030204" pitchFamily="18" charset="0"/>
                                  <a:ea typeface="Arial"/>
                                  <a:cs typeface="Arial"/>
                                  <a:sym typeface="Arial"/>
                                </a:rPr>
                                <m:t>𝑋</m:t>
                              </m:r>
                            </m:sub>
                          </m:sSub>
                          <m:r>
                            <a:rPr lang="en-US" sz="2400" b="0" i="1" smtClean="0">
                              <a:latin typeface="Cambria Math" panose="02040503050406030204" pitchFamily="18" charset="0"/>
                              <a:ea typeface="Arial"/>
                              <a:cs typeface="Arial"/>
                              <a:sym typeface="Arial"/>
                            </a:rPr>
                            <m:t>+</m:t>
                          </m:r>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i="1">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a:rPr lang="en-US" sz="2400" i="1">
                                  <a:latin typeface="Cambria Math" panose="02040503050406030204" pitchFamily="18" charset="0"/>
                                  <a:ea typeface="Arial"/>
                                  <a:cs typeface="Arial"/>
                                  <a:sym typeface="Arial"/>
                                </a:rPr>
                                <m:t>𝑋</m:t>
                              </m:r>
                            </m:sub>
                            <m:sup>
                              <m:r>
                                <a:rPr lang="en-US" sz="2400" i="1">
                                  <a:latin typeface="Cambria Math" panose="02040503050406030204" pitchFamily="18" charset="0"/>
                                  <a:ea typeface="Arial"/>
                                  <a:cs typeface="Arial"/>
                                  <a:sym typeface="Arial"/>
                                </a:rPr>
                                <m:t>2</m:t>
                              </m:r>
                            </m:sup>
                          </m:sSubSup>
                          <m:r>
                            <a:rPr lang="en-US" sz="2400" b="0" i="1" smtClean="0">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i="1">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For how to derive it you can look </a:t>
                </a:r>
                <a:r>
                  <a:rPr lang="en-US" sz="2400" dirty="0">
                    <a:latin typeface="Arial"/>
                    <a:ea typeface="Arial"/>
                    <a:cs typeface="Arial"/>
                    <a:sym typeface="Arial"/>
                    <a:hlinkClick r:id="rId3"/>
                  </a:rPr>
                  <a:t>here (from Wikipedia)</a:t>
                </a:r>
                <a:endParaRPr lang="en-US" sz="24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CA25EF48-A626-2479-79A7-B9D0A76129D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4"/>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631F36-F78C-757F-C1AC-5348001429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4A0024-FE46-52C7-8BCE-E45E2DF66A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631BA9-D174-6F92-B57A-F72156AEF28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233507-DD4E-09E4-8B19-F3F68F287C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F46915-D4D0-20B4-EA15-BF71A35D65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D619B1-5C2B-042D-B7CC-21B3DCD381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A89019-4475-CF78-5C5A-9F557006AD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86A4B80-EAA7-9252-6199-762F8EA1AD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05819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4BA4E5-9F0F-9A96-BDA3-71D0F40F71F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1717540-90E8-76EB-0874-AD7238E42CE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our absolute sensor (like a 1D LiDAR) </a:t>
                </a:r>
                <a:r>
                  <a:rPr lang="en-US" sz="2400" b="1" dirty="0">
                    <a:latin typeface="Arial"/>
                    <a:ea typeface="Arial"/>
                    <a:cs typeface="Arial"/>
                    <a:sym typeface="Arial"/>
                  </a:rPr>
                  <a:t>takes a measurement</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It says the robot is at position </a:t>
                </a:r>
                <a14:m>
                  <m:oMath xmlns:m="http://schemas.openxmlformats.org/officeDocument/2006/math">
                    <m:r>
                      <a:rPr lang="en-US" sz="2400" i="1" dirty="0" smtClean="0">
                        <a:latin typeface="Cambria Math" panose="02040503050406030204" pitchFamily="18" charset="0"/>
                        <a:ea typeface="Arial"/>
                        <a:cs typeface="Arial"/>
                        <a:sym typeface="Arial"/>
                      </a:rPr>
                      <m:t>𝑧</m:t>
                    </m:r>
                  </m:oMath>
                </a14:m>
                <a:r>
                  <a:rPr lang="en-US" sz="2400" dirty="0">
                    <a:latin typeface="Arial"/>
                    <a:ea typeface="Arial"/>
                    <a:cs typeface="Arial"/>
                    <a:sym typeface="Arial"/>
                  </a:rPr>
                  <a:t>, with a sensor noise variance of </a:t>
                </a:r>
                <a14:m>
                  <m:oMath xmlns:m="http://schemas.openxmlformats.org/officeDocument/2006/math">
                    <m:sSubSup>
                      <m:sSubSupPr>
                        <m:ctrlPr>
                          <a:rPr lang="en-US" sz="2400" i="1" dirty="0" smtClean="0">
                            <a:latin typeface="Cambria Math" panose="02040503050406030204" pitchFamily="18" charset="0"/>
                            <a:ea typeface="Arial"/>
                            <a:cs typeface="Arial"/>
                            <a:sym typeface="Arial"/>
                          </a:rPr>
                        </m:ctrlPr>
                      </m:sSubSupPr>
                      <m:e>
                        <m:r>
                          <a:rPr lang="en-US" sz="2400" i="1" dirty="0" smtClean="0">
                            <a:latin typeface="Cambria Math" panose="02040503050406030204" pitchFamily="18" charset="0"/>
                            <a:ea typeface="Arial"/>
                            <a:cs typeface="Arial"/>
                            <a:sym typeface="Arial"/>
                          </a:rPr>
                          <m:t>𝜎</m:t>
                        </m:r>
                      </m:e>
                      <m:sub>
                        <m:r>
                          <a:rPr lang="en-US" sz="2400" i="1" dirty="0" smtClean="0">
                            <a:latin typeface="Cambria Math" panose="02040503050406030204" pitchFamily="18" charset="0"/>
                            <a:ea typeface="Arial"/>
                            <a:cs typeface="Arial"/>
                            <a:sym typeface="Arial"/>
                          </a:rPr>
                          <m:t>𝑠𝑒𝑛𝑠𝑜𝑟</m:t>
                        </m:r>
                      </m:sub>
                      <m:sup>
                        <m:r>
                          <a:rPr lang="en-US" sz="2400" i="1" dirty="0" smtClean="0">
                            <a:latin typeface="Cambria Math" panose="02040503050406030204" pitchFamily="18" charset="0"/>
                            <a:ea typeface="Arial"/>
                            <a:cs typeface="Arial"/>
                            <a:sym typeface="Arial"/>
                          </a:rPr>
                          <m:t>2</m:t>
                        </m:r>
                      </m:sup>
                    </m:sSubSup>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now have </a:t>
                </a:r>
                <a:r>
                  <a:rPr lang="en-US" sz="2400" b="1" dirty="0">
                    <a:latin typeface="Arial"/>
                    <a:ea typeface="Arial"/>
                    <a:cs typeface="Arial"/>
                    <a:sym typeface="Arial"/>
                  </a:rPr>
                  <a:t>two</a:t>
                </a:r>
                <a:r>
                  <a:rPr lang="en-US" sz="2400" dirty="0">
                    <a:latin typeface="Arial"/>
                    <a:ea typeface="Arial"/>
                    <a:cs typeface="Arial"/>
                    <a:sym typeface="Arial"/>
                  </a:rPr>
                  <a:t> Gaussian curves: our flattened </a:t>
                </a:r>
                <a:r>
                  <a:rPr lang="en-US" sz="2400" b="1" dirty="0">
                    <a:latin typeface="Arial"/>
                    <a:ea typeface="Arial"/>
                    <a:cs typeface="Arial"/>
                    <a:sym typeface="Arial"/>
                  </a:rPr>
                  <a:t>prediction</a:t>
                </a:r>
                <a:r>
                  <a:rPr lang="en-US" sz="2400" dirty="0">
                    <a:latin typeface="Arial"/>
                    <a:ea typeface="Arial"/>
                    <a:cs typeface="Arial"/>
                    <a:sym typeface="Arial"/>
                  </a:rPr>
                  <a:t> curve, and the new </a:t>
                </a:r>
                <a:r>
                  <a:rPr lang="en-US" sz="2400" b="1" dirty="0">
                    <a:latin typeface="Arial"/>
                    <a:ea typeface="Arial"/>
                    <a:cs typeface="Arial"/>
                    <a:sym typeface="Arial"/>
                  </a:rPr>
                  <a:t>sensor</a:t>
                </a:r>
                <a:r>
                  <a:rPr lang="en-US" sz="2400" dirty="0">
                    <a:latin typeface="Arial"/>
                    <a:ea typeface="Arial"/>
                    <a:cs typeface="Arial"/>
                    <a:sym typeface="Arial"/>
                  </a:rPr>
                  <a:t> curve.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 do we combine these two conflicting opinions into one single truth?</a:t>
                </a:r>
              </a:p>
            </p:txBody>
          </p:sp>
        </mc:Choice>
        <mc:Fallback>
          <p:sp>
            <p:nvSpPr>
              <p:cNvPr id="118" name="Google Shape;118;p29">
                <a:extLst>
                  <a:ext uri="{FF2B5EF4-FFF2-40B4-BE49-F238E27FC236}">
                    <a16:creationId xmlns:a16="http://schemas.microsoft.com/office/drawing/2014/main" id="{D1717540-90E8-76EB-0874-AD7238E42CE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389A5F-DDEA-D4FB-5C72-809C560730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28F7A9-7BE0-C541-B732-FA8D7F180F7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D93A15-F017-8647-ADDA-B94836B7C7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CE0E9F-80C7-E742-AD1E-0E862F3754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1A9CB-89CE-3748-D3A0-7BFD6CA54D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2C7A10-2D1D-BB01-4755-44EE5C7E8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2C9B73-71F9-CADA-86BF-1672C407AE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D8AB2-8849-7911-19E7-ACE33DE0C1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1969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BC2D05-6E4A-839C-D75F-276EC3DF0E1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46AA350-1B4E-77A8-1016-25D64DD4A0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66AD620-B882-938B-3FF5-330530767F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E1E9622-ACC3-403C-C00A-7507A9EE19E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5B086A-912F-86EB-F78E-8F5EA17AC7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017A1E-A54D-1E8A-0AE7-D75969F664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1C21D-8D99-3DFE-7E8B-4CF01F727B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2EA7E2-F515-7D6C-9BAE-BB3B533073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A279F-E552-03A6-9719-2B54A8AC64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BF02FE44-DD7C-2BF2-7311-06C963C661F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40300006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411D8D-9382-4533-2668-A5DA8264E03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FCB5A3-559A-9BE7-2A07-E8D4BC2B57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In probability, to fuse two independent estimates, we </a:t>
            </a:r>
            <a:r>
              <a:rPr lang="en-US" sz="2400" b="1" dirty="0">
                <a:latin typeface="Arial"/>
                <a:ea typeface="Arial"/>
                <a:cs typeface="Arial"/>
                <a:sym typeface="Arial"/>
              </a:rPr>
              <a:t>multiply their distributions </a:t>
            </a:r>
            <a:r>
              <a:rPr lang="en-US" sz="2400" dirty="0">
                <a:latin typeface="Arial"/>
                <a:ea typeface="Arial"/>
                <a:cs typeface="Arial"/>
                <a:sym typeface="Arial"/>
              </a:rPr>
              <a:t>together.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a:t>
            </a:r>
            <a:r>
              <a:rPr lang="en-US" sz="2400" b="1" dirty="0">
                <a:latin typeface="Arial"/>
                <a:ea typeface="Arial"/>
                <a:cs typeface="Arial"/>
                <a:sym typeface="Arial"/>
              </a:rPr>
              <a:t>magical property </a:t>
            </a:r>
            <a:r>
              <a:rPr lang="en-US" sz="2400" dirty="0">
                <a:latin typeface="Arial"/>
                <a:ea typeface="Arial"/>
                <a:cs typeface="Arial"/>
                <a:sym typeface="Arial"/>
              </a:rPr>
              <a:t>of Gaussians: Multiplying two Gaussians </a:t>
            </a:r>
            <a:r>
              <a:rPr lang="en-US" sz="2400" b="1" dirty="0">
                <a:latin typeface="Arial"/>
                <a:ea typeface="Arial"/>
                <a:cs typeface="Arial"/>
                <a:sym typeface="Arial"/>
              </a:rPr>
              <a:t>always</a:t>
            </a:r>
            <a:r>
              <a:rPr lang="en-US" sz="2400" dirty="0">
                <a:latin typeface="Arial"/>
                <a:ea typeface="Arial"/>
                <a:cs typeface="Arial"/>
                <a:sym typeface="Arial"/>
              </a:rPr>
              <a:t> produces a new </a:t>
            </a:r>
            <a:r>
              <a:rPr lang="en-US" sz="2400" b="1" dirty="0">
                <a:latin typeface="Arial"/>
                <a:ea typeface="Arial"/>
                <a:cs typeface="Arial"/>
                <a:sym typeface="Arial"/>
              </a:rPr>
              <a:t>Gaussian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Because the new curve represents the overlapping area of agreement, it is always taller and narrower than both original curves.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Fusing data </a:t>
            </a:r>
            <a:r>
              <a:rPr lang="en-US" sz="2400" b="1" dirty="0">
                <a:latin typeface="Arial"/>
                <a:ea typeface="Arial"/>
                <a:cs typeface="Arial"/>
                <a:sym typeface="Arial"/>
              </a:rPr>
              <a:t>reduces</a:t>
            </a:r>
            <a:r>
              <a:rPr lang="en-US" sz="2400" dirty="0">
                <a:latin typeface="Arial"/>
                <a:ea typeface="Arial"/>
                <a:cs typeface="Arial"/>
                <a:sym typeface="Arial"/>
              </a:rPr>
              <a:t> uncertainty!</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09CE65A-43FB-1C3F-DFF4-2B3EC93E19A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027510-26EC-0DE5-6059-60AA11D156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A80E73D-CC32-C367-291A-5A4D9CBD81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4F0A1C-AC21-6003-DC0C-94CE247462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D7195FA-2F8D-2084-4C68-1C64BA4036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5B1338-A756-EA86-02FA-7455B9B247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E65568-EAF0-88AF-69F4-C83A9F778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57CFC5-14DE-9E58-4677-5B0C9D0745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46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3E5ED3-D160-09E8-9563-3285D327042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68C3C2-1F8C-EB2C-73A8-6C194BCEDB5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1E60B4-5694-9B3E-7FFA-168184A0D6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B8F665D-933A-FF46-9E21-A8EEC2F629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EF40B8-2E7F-81C1-F574-6A9541D3B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930D312-0777-8A9B-06BF-0697CB0E7B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F521A9-0F0E-4695-2DA0-57878F41FA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6DC97-169D-1278-9FAA-9C0D36EFE0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3F7635-8046-F458-BA19-E643EF89A7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E7AA5F7-52D4-DFA6-6A7F-55939E48489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27407054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7F8C3A-06ED-81E9-F50E-0B296E5DAA1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CCBBD64-5DE5-3319-EFFB-00B5AD6C368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rial"/>
                    <a:ea typeface="Arial"/>
                    <a:cs typeface="Arial"/>
                    <a:sym typeface="Arial"/>
                  </a:rPr>
                  <a:t>The math behind that multiplication gives us the 1D </a:t>
                </a:r>
                <a:r>
                  <a:rPr lang="en-US" sz="2300" b="1" dirty="0">
                    <a:solidFill>
                      <a:schemeClr val="dk1"/>
                    </a:solidFill>
                    <a:latin typeface="Arial"/>
                    <a:ea typeface="Arial"/>
                    <a:cs typeface="Arial"/>
                    <a:sym typeface="Arial"/>
                  </a:rPr>
                  <a:t>Kalman Gain </a:t>
                </a:r>
                <a:r>
                  <a:rPr lang="en-US" sz="2300" dirty="0">
                    <a:solidFill>
                      <a:schemeClr val="dk1"/>
                    </a:solidFill>
                    <a:latin typeface="Arial"/>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num>
                        <m:den>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r>
                            <a:rPr lang="en-US" sz="2300" i="1" dirty="0" smtClean="0">
                              <a:solidFill>
                                <a:schemeClr val="dk1"/>
                              </a:solidFill>
                              <a:latin typeface="Cambria Math" panose="02040503050406030204" pitchFamily="18" charset="0"/>
                              <a:ea typeface="Arial"/>
                              <a:cs typeface="Arial"/>
                              <a:sym typeface="Arial"/>
                            </a:rPr>
                            <m:t>+</m:t>
                          </m:r>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𝑠𝑒𝑛𝑠𝑜𝑟</m:t>
                              </m:r>
                            </m:sub>
                            <m:sup>
                              <m:r>
                                <a:rPr lang="en-US" sz="2300" i="1" dirty="0" smtClean="0">
                                  <a:solidFill>
                                    <a:schemeClr val="dk1"/>
                                  </a:solidFill>
                                  <a:latin typeface="Cambria Math" panose="02040503050406030204" pitchFamily="18" charset="0"/>
                                  <a:ea typeface="Arial"/>
                                  <a:cs typeface="Arial"/>
                                  <a:sym typeface="Arial"/>
                                </a:rPr>
                                <m:t>2</m:t>
                              </m:r>
                            </m:sup>
                          </m:sSubSup>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oMath>
                </a14:m>
                <a:r>
                  <a:rPr lang="en-US" sz="2300" dirty="0">
                    <a:solidFill>
                      <a:schemeClr val="dk1"/>
                    </a:solidFill>
                    <a:latin typeface="Arial"/>
                    <a:ea typeface="Arial"/>
                    <a:cs typeface="Arial"/>
                    <a:sym typeface="Arial"/>
                  </a:rPr>
                  <a:t> is just a ratio! It's the ratio of our prediction uncertainty to the total system uncertainty. It always falls between 0 and 1.</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solidFill>
                      <a:schemeClr val="dk1"/>
                    </a:solidFill>
                    <a:latin typeface="Arial"/>
                    <a:ea typeface="Arial"/>
                    <a:cs typeface="Arial"/>
                    <a:sym typeface="Arial"/>
                  </a:rPr>
                  <a:t>We update our position using this ratio:</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𝑛𝑒𝑤</m:t>
                          </m:r>
                        </m:sub>
                      </m:sSub>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r>
                        <a:rPr lang="en-US" sz="2300" i="1" dirty="0" smtClean="0">
                          <a:solidFill>
                            <a:schemeClr val="dk1"/>
                          </a:solidFill>
                          <a:latin typeface="Cambria Math" panose="02040503050406030204" pitchFamily="18" charset="0"/>
                          <a:ea typeface="Arial"/>
                          <a:cs typeface="Arial"/>
                          <a:sym typeface="Arial"/>
                        </a:rPr>
                        <m:t>+</m:t>
                      </m:r>
                      <m:r>
                        <a:rPr lang="en-US" sz="2300" i="1" dirty="0" smtClean="0">
                          <a:solidFill>
                            <a:schemeClr val="dk1"/>
                          </a:solidFill>
                          <a:latin typeface="Cambria Math" panose="02040503050406030204" pitchFamily="18" charset="0"/>
                          <a:ea typeface="Arial"/>
                          <a:cs typeface="Arial"/>
                          <a:sym typeface="Arial"/>
                        </a:rPr>
                        <m:t>𝐾</m:t>
                      </m:r>
                      <m:d>
                        <m:dPr>
                          <m:ctrlPr>
                            <a:rPr lang="en-US" sz="2300" i="1" dirty="0" smtClean="0">
                              <a:solidFill>
                                <a:schemeClr val="dk1"/>
                              </a:solidFill>
                              <a:latin typeface="Cambria Math" panose="02040503050406030204" pitchFamily="18" charset="0"/>
                              <a:ea typeface="Arial"/>
                              <a:cs typeface="Arial"/>
                              <a:sym typeface="Arial"/>
                            </a:rPr>
                          </m:ctrlPr>
                        </m:dPr>
                        <m:e>
                          <m:r>
                            <a:rPr lang="en-US" sz="2300" i="1" dirty="0" smtClean="0">
                              <a:solidFill>
                                <a:schemeClr val="dk1"/>
                              </a:solidFill>
                              <a:latin typeface="Cambria Math" panose="02040503050406030204" pitchFamily="18" charset="0"/>
                              <a:ea typeface="Arial"/>
                              <a:cs typeface="Arial"/>
                              <a:sym typeface="Arial"/>
                            </a:rPr>
                            <m:t>𝑧</m:t>
                          </m:r>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e>
                      </m:d>
                    </m:oMath>
                  </m:oMathPara>
                </a14:m>
                <a:endParaRPr lang="en-US" sz="2300" dirty="0">
                  <a:solidFill>
                    <a:schemeClr val="dk1"/>
                  </a:solidFill>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All it really says is “how much of the measurement should we incorporate”?</a:t>
                </a:r>
              </a:p>
            </p:txBody>
          </p:sp>
        </mc:Choice>
        <mc:Fallback>
          <p:sp>
            <p:nvSpPr>
              <p:cNvPr id="118" name="Google Shape;118;p29">
                <a:extLst>
                  <a:ext uri="{FF2B5EF4-FFF2-40B4-BE49-F238E27FC236}">
                    <a16:creationId xmlns:a16="http://schemas.microsoft.com/office/drawing/2014/main" id="{FCCBBD64-5DE5-3319-EFFB-00B5AD6C368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26198B-48F2-DBCF-8ADC-27C9B15ED6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AD612D-E7B0-AEB4-8812-5A201F6864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BA8F1F-1CDF-2469-E334-67184D9835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FF714-8212-1644-54D8-2E0B2F32E3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29C982-F4C8-F9FB-AB4A-36EFC8A346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830561-F7A0-25BC-90E5-74639DD54E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F1B609-BCB4-8415-9969-D8EE64E455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4F9F58-9660-3CB5-D29E-8D99CA0160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7248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B73DC2-58D2-91F4-F2CF-B9E7021BB7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2BA07C7-B861-5421-7C0F-90DC1DC47C5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That’s all the Kalman filter is!</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What is the current limitation of the formulation?</a:t>
                </a:r>
              </a:p>
              <a:p>
                <a:pPr marL="0" indent="0">
                  <a:lnSpc>
                    <a:spcPct val="100000"/>
                  </a:lnSpc>
                  <a:spcBef>
                    <a:spcPts val="0"/>
                  </a:spcBef>
                  <a:buSzPts val="3000"/>
                  <a:buNone/>
                </a:pPr>
                <a:endParaRPr lang="en-US" sz="2300" dirty="0">
                  <a:latin typeface="Arial"/>
                  <a:ea typeface="Arial"/>
                  <a:cs typeface="Arial"/>
                  <a:sym typeface="Arial"/>
                </a:endParaRPr>
              </a:p>
              <a:p>
                <a:pPr marL="0" indent="0" algn="ctr">
                  <a:lnSpc>
                    <a:spcPct val="100000"/>
                  </a:lnSpc>
                  <a:spcBef>
                    <a:spcPts val="0"/>
                  </a:spcBef>
                  <a:buSzPts val="3000"/>
                  <a:buNone/>
                </a:pPr>
                <a:r>
                  <a:rPr lang="en-US" sz="2300" dirty="0">
                    <a:latin typeface="Arial"/>
                    <a:ea typeface="Arial"/>
                    <a:cs typeface="Arial"/>
                    <a:sym typeface="Arial"/>
                  </a:rPr>
                  <a:t>We are only looking at a problem with 1 state, can this be generalized to be N-dimensional?</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For our differentiable robot, we live in a 2D plane with an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rial"/>
                    <a:ea typeface="Arial"/>
                    <a:cs typeface="Arial"/>
                    <a:sym typeface="Arial"/>
                  </a:rPr>
                  <a:t>, </a:t>
                </a:r>
                <a14:m>
                  <m:oMath xmlns:m="http://schemas.openxmlformats.org/officeDocument/2006/math">
                    <m:r>
                      <m:rPr>
                        <m:sty m:val="p"/>
                      </m:rPr>
                      <a:rPr lang="en-US" sz="2300" b="0" i="1" smtClean="0">
                        <a:latin typeface="Cambria Math" panose="02040503050406030204" pitchFamily="18" charset="0"/>
                        <a:ea typeface="Arial"/>
                        <a:cs typeface="Arial"/>
                        <a:sym typeface="Arial"/>
                      </a:rPr>
                      <m:t>Y</m:t>
                    </m:r>
                  </m:oMath>
                </a14:m>
                <a:r>
                  <a:rPr lang="en-US" sz="2300" dirty="0">
                    <a:latin typeface="Arial"/>
                    <a:ea typeface="Arial"/>
                    <a:cs typeface="Arial"/>
                    <a:sym typeface="Arial"/>
                  </a:rPr>
                  <a:t>, and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rial"/>
                    <a:ea typeface="Arial"/>
                    <a:cs typeface="Arial"/>
                    <a:sym typeface="Arial"/>
                  </a:rPr>
                  <a:t>. </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We can no longer use a single scalar number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rial"/>
                    <a:ea typeface="Arial"/>
                    <a:cs typeface="Arial"/>
                    <a:sym typeface="Arial"/>
                  </a:rPr>
                  <a:t> for position. We must use a </a:t>
                </a:r>
                <a:r>
                  <a:rPr lang="en-US" sz="2300" b="1" dirty="0">
                    <a:latin typeface="Arial"/>
                    <a:ea typeface="Arial"/>
                    <a:cs typeface="Arial"/>
                    <a:sym typeface="Arial"/>
                  </a:rPr>
                  <a:t>State Vector</a:t>
                </a:r>
                <a:r>
                  <a:rPr lang="en-US" sz="2300" dirty="0">
                    <a:latin typeface="Arial"/>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rial"/>
                    <a:ea typeface="Arial"/>
                    <a:cs typeface="Arial"/>
                    <a:sym typeface="Arial"/>
                  </a:rPr>
                  <a:t>.</a:t>
                </a:r>
              </a:p>
              <a:p>
                <a:pPr marL="0" indent="0">
                  <a:lnSpc>
                    <a:spcPct val="100000"/>
                  </a:lnSpc>
                  <a:spcBef>
                    <a:spcPts val="0"/>
                  </a:spcBef>
                  <a:buSzPts val="3000"/>
                  <a:buNone/>
                </a:pPr>
                <a:r>
                  <a:rPr lang="en-US" sz="2300" dirty="0">
                    <a:latin typeface="Arial"/>
                    <a:ea typeface="Arial"/>
                    <a:cs typeface="Arial"/>
                    <a:sym typeface="Arial"/>
                  </a:rPr>
                  <a:t>We can no longer use a single scalar variance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𝜎</m:t>
                        </m:r>
                      </m:e>
                      <m:sup>
                        <m:r>
                          <a:rPr lang="en-US" sz="2300" i="1" dirty="0" smtClean="0">
                            <a:latin typeface="Cambria Math" panose="02040503050406030204" pitchFamily="18" charset="0"/>
                            <a:ea typeface="Arial"/>
                            <a:cs typeface="Arial"/>
                            <a:sym typeface="Arial"/>
                          </a:rPr>
                          <m:t>2</m:t>
                        </m:r>
                      </m:sup>
                    </m:sSup>
                  </m:oMath>
                </a14:m>
                <a:r>
                  <a:rPr lang="en-US" sz="2300" dirty="0">
                    <a:latin typeface="Arial"/>
                    <a:ea typeface="Arial"/>
                    <a:cs typeface="Arial"/>
                    <a:sym typeface="Arial"/>
                  </a:rPr>
                  <a:t>. We must use a </a:t>
                </a:r>
                <a:r>
                  <a:rPr lang="en-US" sz="2300" b="1" dirty="0">
                    <a:latin typeface="Arial"/>
                    <a:ea typeface="Arial"/>
                    <a:cs typeface="Arial"/>
                    <a:sym typeface="Arial"/>
                  </a:rPr>
                  <a:t>Covariance Matrix</a:t>
                </a:r>
                <a:r>
                  <a:rPr lang="en-US" sz="2300" dirty="0">
                    <a:latin typeface="Arial"/>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B2BA07C7-B861-5421-7C0F-90DC1DC47C5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6777F2-6C77-51D1-C8B9-64F1920EBD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6715D4-8B00-B85D-2167-91DA621CEF8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92175EB-3F6C-D62D-25BA-5217911047D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85456-00B2-46B1-8819-CBBE0ACF49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D03A0D-5C42-625F-8B21-357E15F06A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898B86-ADAC-9156-40E1-55BCCF20AC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629CEF-B88B-5097-7BCE-AE0738D50F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4DB92F-2773-0CA3-01CC-99F2DD8E3EE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52796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44DA11-165C-EF65-7459-9CD026C63C2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67F5410-EB67-8B93-6A57-E23368557AC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Let's translate our 1D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𝑢</m:t>
                    </m:r>
                  </m:oMath>
                </a14:m>
                <a:r>
                  <a:rPr lang="en-US" sz="2300" dirty="0">
                    <a:latin typeface="Arial"/>
                    <a:ea typeface="Arial"/>
                    <a:cs typeface="Arial"/>
                    <a:sym typeface="Arial"/>
                  </a:rPr>
                  <a:t>) to N-Dimensions:</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𝐵</m:t>
                    </m:r>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𝑢</m:t>
                        </m:r>
                      </m:e>
                      <m:sub>
                        <m:r>
                          <a:rPr lang="en-US" sz="2300" i="1" dirty="0" err="1" smtClean="0">
                            <a:latin typeface="Cambria Math" panose="02040503050406030204" pitchFamily="18" charset="0"/>
                            <a:ea typeface="Arial"/>
                            <a:cs typeface="Arial"/>
                            <a:sym typeface="Arial"/>
                          </a:rPr>
                          <m:t>𝑘</m:t>
                        </m:r>
                      </m:sub>
                    </m:sSub>
                  </m:oMath>
                </a14:m>
                <a:r>
                  <a:rPr lang="en-US" sz="2300" dirty="0">
                    <a:latin typeface="Arial"/>
                    <a:ea typeface="Arial"/>
                    <a:cs typeface="Arial"/>
                    <a:sym typeface="Arial"/>
                  </a:rPr>
                  <a:t> </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rial"/>
                    <a:ea typeface="Arial"/>
                    <a:cs typeface="Arial"/>
                    <a:sym typeface="Arial"/>
                  </a:rPr>
                  <a:t> is our state transition matrix (how physics updates the state).</a:t>
                </a:r>
              </a:p>
            </p:txBody>
          </p:sp>
        </mc:Choice>
        <mc:Fallback>
          <p:sp>
            <p:nvSpPr>
              <p:cNvPr id="118" name="Google Shape;118;p29">
                <a:extLst>
                  <a:ext uri="{FF2B5EF4-FFF2-40B4-BE49-F238E27FC236}">
                    <a16:creationId xmlns:a16="http://schemas.microsoft.com/office/drawing/2014/main" id="{B67F5410-EB67-8B93-6A57-E23368557AC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13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227CA2-F185-B75C-D910-453CF3B33C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A53280-0AA5-9631-2590-CAEFD5F700B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ACA5C6-E616-E19C-B0E6-2AD169E1F9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2877C7-4046-CCE7-234B-808887AA0D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8A48F2-0323-8338-C1D7-A599CD56CA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94BEB94-A006-4683-94C6-6D6CDDE226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AF02A8-C81B-135B-84A1-948CCF04CB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7A04-12BB-77C2-3FBF-EA34608B67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978716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5EBFB3-1EF9-8EC5-867F-1BFD8C69224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40E74E3-A999-C8C0-8BEE-C1133A2000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The </a:t>
                </a:r>
                <a:r>
                  <a:rPr lang="en-US" sz="2300" b="1" dirty="0">
                    <a:latin typeface="Arial"/>
                    <a:ea typeface="Arial"/>
                    <a:cs typeface="Arial"/>
                    <a:sym typeface="Arial"/>
                  </a:rPr>
                  <a:t>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rial"/>
                    <a:ea typeface="Arial"/>
                    <a:cs typeface="Arial"/>
                    <a:sym typeface="Arial"/>
                  </a:rPr>
                  <a:t> represents multi-dimensional uncertainty as an ellipse, not a 1D curve.</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The diagonal elements are the individual variances (e.g., how unsure are we about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rial"/>
                    <a:ea typeface="Arial"/>
                    <a:cs typeface="Arial"/>
                    <a:sym typeface="Arial"/>
                  </a:rPr>
                  <a:t> independent of everything else?).</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The off-diagonal elements are the critical addition: </a:t>
                </a:r>
                <a:r>
                  <a:rPr lang="en-US" sz="2300" b="1" dirty="0">
                    <a:latin typeface="Arial"/>
                    <a:ea typeface="Arial"/>
                    <a:cs typeface="Arial"/>
                    <a:sym typeface="Arial"/>
                  </a:rPr>
                  <a:t>Correlations</a:t>
                </a:r>
                <a:r>
                  <a:rPr lang="en-US" sz="2300" dirty="0">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If our robot only drives forward, and we are uncertain about our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rial"/>
                    <a:ea typeface="Arial"/>
                    <a:cs typeface="Arial"/>
                    <a:sym typeface="Arial"/>
                  </a:rPr>
                  <a:t>, will that create an uncertainty in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rial"/>
                    <a:ea typeface="Arial"/>
                    <a:cs typeface="Arial"/>
                    <a:sym typeface="Arial"/>
                  </a:rPr>
                  <a:t> as we travel? </a:t>
                </a:r>
              </a:p>
              <a:p>
                <a:pPr marL="0" indent="0">
                  <a:lnSpc>
                    <a:spcPct val="100000"/>
                  </a:lnSpc>
                  <a:spcBef>
                    <a:spcPts val="0"/>
                  </a:spcBef>
                  <a:buSzPts val="3000"/>
                  <a:buNone/>
                </a:pPr>
                <a:endParaRPr lang="en-US" sz="2300" dirty="0">
                  <a:latin typeface="Arial"/>
                  <a:ea typeface="Arial"/>
                  <a:cs typeface="Arial"/>
                  <a:sym typeface="Arial"/>
                </a:endParaRPr>
              </a:p>
              <a:p>
                <a:pPr marL="0" indent="0" algn="ctr">
                  <a:lnSpc>
                    <a:spcPct val="100000"/>
                  </a:lnSpc>
                  <a:spcBef>
                    <a:spcPts val="0"/>
                  </a:spcBef>
                  <a:buSzPts val="3000"/>
                  <a:buNone/>
                </a:pPr>
                <a:r>
                  <a:rPr lang="en-US" sz="2300" dirty="0">
                    <a:latin typeface="Arial"/>
                    <a:ea typeface="Arial"/>
                    <a:cs typeface="Arial"/>
                    <a:sym typeface="Arial"/>
                  </a:rPr>
                  <a:t>Yes, errors in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rial"/>
                    <a:ea typeface="Arial"/>
                    <a:cs typeface="Arial"/>
                    <a:sym typeface="Arial"/>
                  </a:rPr>
                  <a:t> are highly correlated with errors in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rial"/>
                    <a:ea typeface="Arial"/>
                    <a:cs typeface="Arial"/>
                    <a:sym typeface="Arial"/>
                  </a:rPr>
                  <a:t> and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140E74E3-A999-C8C0-8BEE-C1133A2000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CE9117-7D7E-73E9-FCB2-D173B899D6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D2E25B4-9C80-65C9-0132-0BC3107A42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268C4F9-6EEA-954F-1101-5550EE46989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98213B-00FB-430A-FDF5-638419BC8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693843-1AC4-F863-C72F-63E16D3071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0E8B05-3179-DEEC-574A-3A98802C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50F6C8-41A2-4DAF-A588-1B86396E54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3D03-808C-03FB-F450-60DB1E081E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5941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747B13-4078-2579-5CF3-192A99C6A73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A99B7E-3621-627E-2235-8438A3DDF0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405DF6-419E-CCD5-D645-2A4BF021AE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368A7C-58D1-ACE8-0D0E-28CC016916F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984D39-5F9A-3DFA-E2FD-4F34C8A1DA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C4320B4-4EF9-3A5F-1697-3CA8CA71BF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BF7F5C-2AFF-FAEE-F225-E00853602D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C9D257-AFD4-BDF2-8B45-B783A65F0B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A2575C-A1C0-F20B-2B6C-2F29DC269E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7EA5D460-2371-5DDC-7B12-80A2B905D86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0638" y="556313"/>
            <a:ext cx="6430725" cy="6430725"/>
          </a:xfrm>
          <a:prstGeom prst="rect">
            <a:avLst/>
          </a:prstGeom>
        </p:spPr>
      </p:pic>
    </p:spTree>
    <p:extLst>
      <p:ext uri="{BB962C8B-B14F-4D97-AF65-F5344CB8AC3E}">
        <p14:creationId xmlns:p14="http://schemas.microsoft.com/office/powerpoint/2010/main" val="355716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E72C3-8BEE-CEC8-6058-7BC82650921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14F4595-D47E-8E37-5E1F-F3B3D60B2E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What is </a:t>
                </a:r>
                <a:r>
                  <a:rPr lang="en-US" sz="2300" b="1" dirty="0">
                    <a:latin typeface="Arial"/>
                    <a:ea typeface="Arial"/>
                    <a:cs typeface="Arial"/>
                    <a:sym typeface="Arial"/>
                  </a:rPr>
                  <a:t>Variance</a:t>
                </a:r>
                <a:r>
                  <a:rPr lang="en-US" sz="2300" dirty="0">
                    <a:latin typeface="Arial"/>
                    <a:ea typeface="Arial"/>
                    <a:cs typeface="Arial"/>
                    <a:sym typeface="Arial"/>
                  </a:rPr>
                  <a:t>, Really?</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Before we calculate how uncertainty grows, we must define what it is.</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Imagine throwing 100 darts at a board. The </a:t>
                </a:r>
                <a:r>
                  <a:rPr lang="en-US" sz="2300" b="1" dirty="0">
                    <a:latin typeface="Arial"/>
                    <a:ea typeface="Arial"/>
                    <a:cs typeface="Arial"/>
                    <a:sym typeface="Arial"/>
                  </a:rPr>
                  <a:t>Expected Value </a:t>
                </a:r>
                <a14:m>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oMath>
                </a14:m>
                <a:r>
                  <a:rPr lang="en-US" sz="2300" dirty="0">
                    <a:latin typeface="Arial"/>
                    <a:ea typeface="Arial"/>
                    <a:cs typeface="Arial"/>
                    <a:sym typeface="Arial"/>
                  </a:rPr>
                  <a:t>, or mean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rial"/>
                    <a:ea typeface="Arial"/>
                    <a:cs typeface="Arial"/>
                    <a:sym typeface="Arial"/>
                  </a:rPr>
                  <a:t>) is the center point of all your darts.</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b="1" dirty="0">
                    <a:latin typeface="Arial"/>
                    <a:ea typeface="Arial"/>
                    <a:cs typeface="Arial"/>
                    <a:sym typeface="Arial"/>
                  </a:rPr>
                  <a:t>Variance</a:t>
                </a:r>
                <a:r>
                  <a:rPr lang="en-US" sz="2300" dirty="0">
                    <a:latin typeface="Arial"/>
                    <a:ea typeface="Arial"/>
                    <a:cs typeface="Arial"/>
                    <a:sym typeface="Arial"/>
                  </a:rPr>
                  <a:t> measures </a:t>
                </a:r>
                <a:r>
                  <a:rPr lang="en-US" sz="2300" b="1" dirty="0">
                    <a:latin typeface="Arial"/>
                    <a:ea typeface="Arial"/>
                    <a:cs typeface="Arial"/>
                    <a:sym typeface="Arial"/>
                  </a:rPr>
                  <a:t>how spread out </a:t>
                </a:r>
                <a:r>
                  <a:rPr lang="en-US" sz="2300" dirty="0">
                    <a:latin typeface="Arial"/>
                    <a:ea typeface="Arial"/>
                    <a:cs typeface="Arial"/>
                    <a:sym typeface="Arial"/>
                  </a:rPr>
                  <a:t>those darts are from the center. It is the average of the squared distances from the mean.</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We write this mathematically as: </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C14F4595-D47E-8E37-5E1F-F3B3D60B2E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036BC4-3069-A517-9085-A6B0835EFC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7E81DB4-AABF-ABD8-7008-DCB0C1BCE4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A1F5C47-8016-E787-4409-DD855A1AEFE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E9FB8-DBB9-F93F-7175-1EAB0A5EBE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CFEEC2-0152-918E-1329-173D4AD4621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87EC6B-71AE-3ACE-3B89-69A4B7F43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40CD8F-032C-C367-6351-C8CD108322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28E6B9-E7DC-4370-2429-D59D886C3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41240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9B016A-07A7-5B19-363D-207486F4CBA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E8650B6-E658-55BC-99EC-63616B2ACF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What happens to our uncertainty if we multiply our state by a constant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rial"/>
                    <a:ea typeface="Arial"/>
                    <a:cs typeface="Arial"/>
                    <a:sym typeface="Arial"/>
                  </a:rPr>
                  <a:t> (like applying a gear ratio to a wheel)?</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𝑎</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Because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rial"/>
                    <a:ea typeface="Arial"/>
                    <a:cs typeface="Arial"/>
                    <a:sym typeface="Arial"/>
                  </a:rPr>
                  <a:t> is a constant, we pull it out: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ea typeface="Arial"/>
                    <a:cs typeface="Arial"/>
                    <a:sym typeface="Arial"/>
                  </a:rPr>
                  <a:t>Thus,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oMath>
                </a14:m>
                <a:r>
                  <a:rPr lang="en-US" sz="2300" dirty="0">
                    <a:latin typeface="Arial"/>
                    <a:ea typeface="Arial"/>
                    <a:cs typeface="Arial"/>
                    <a:sym typeface="Arial"/>
                  </a:rPr>
                  <a:t>. Scaling the state scales the uncertainty quadratically.</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If a motor spins twice as fast, does the position uncertainty double? </a:t>
                </a:r>
              </a:p>
              <a:p>
                <a:pPr marL="0" indent="0" algn="ctr">
                  <a:lnSpc>
                    <a:spcPct val="100000"/>
                  </a:lnSpc>
                  <a:spcBef>
                    <a:spcPts val="0"/>
                  </a:spcBef>
                  <a:buSzPts val="3000"/>
                  <a:buNone/>
                </a:pPr>
                <a:r>
                  <a:rPr lang="en-US" sz="2300" dirty="0">
                    <a:latin typeface="Arial"/>
                    <a:ea typeface="Arial"/>
                    <a:cs typeface="Arial"/>
                    <a:sym typeface="Arial"/>
                  </a:rPr>
                  <a:t>No, it </a:t>
                </a:r>
                <a:r>
                  <a:rPr lang="en-US" sz="2300" b="1" dirty="0">
                    <a:latin typeface="Arial"/>
                    <a:ea typeface="Arial"/>
                    <a:cs typeface="Arial"/>
                    <a:sym typeface="Arial"/>
                  </a:rPr>
                  <a:t>quadruples</a:t>
                </a:r>
                <a:r>
                  <a:rPr lang="en-US" sz="23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0E8650B6-E658-55BC-99EC-63616B2ACFD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ECD4026-4D30-6469-3669-618C555F35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44AFBB-DF47-2AE0-6532-CE0CE735CE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70C62E-C339-ABCD-6424-1B1C2DC2644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A17A87-19B7-DDC3-C604-742D6D871C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B321BC5-3AA3-F483-F378-DF42140276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32A3FD-B547-089E-F7CA-AEA48A11BA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7FDE8D2-6085-15D2-4857-EBCA2FCCC8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DEB2F-9DC0-C942-4A34-FC3B732285F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5883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ABC5D9-A4E3-F417-E87B-C568CB9D366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10F1563-4DD8-AF30-9B05-0119957EC6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Real robots experience random bumps and slip. We represent this as adding a random noise variable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rial"/>
                    <a:ea typeface="Arial"/>
                    <a:cs typeface="Arial"/>
                    <a:sym typeface="Arial"/>
                  </a:rPr>
                  <a:t> to our state.</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Assuming the noise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rial"/>
                    <a:ea typeface="Arial"/>
                    <a:cs typeface="Arial"/>
                    <a:sym typeface="Arial"/>
                  </a:rPr>
                  <a:t> is </a:t>
                </a:r>
                <a:r>
                  <a:rPr lang="en-US" sz="2300" b="1" dirty="0">
                    <a:latin typeface="Arial"/>
                    <a:ea typeface="Arial"/>
                    <a:cs typeface="Arial"/>
                    <a:sym typeface="Arial"/>
                  </a:rPr>
                  <a:t>completely independent </a:t>
                </a:r>
                <a:r>
                  <a:rPr lang="en-US" sz="2300" dirty="0">
                    <a:latin typeface="Arial"/>
                    <a:ea typeface="Arial"/>
                    <a:cs typeface="Arial"/>
                    <a:sym typeface="Arial"/>
                  </a:rPr>
                  <a:t>of our state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Substituting our previous proof:</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This simple 1D equation is the exact heart of the Kalman Filter's predict step!</a:t>
                </a:r>
              </a:p>
            </p:txBody>
          </p:sp>
        </mc:Choice>
        <mc:Fallback>
          <p:sp>
            <p:nvSpPr>
              <p:cNvPr id="118" name="Google Shape;118;p29">
                <a:extLst>
                  <a:ext uri="{FF2B5EF4-FFF2-40B4-BE49-F238E27FC236}">
                    <a16:creationId xmlns:a16="http://schemas.microsoft.com/office/drawing/2014/main" id="{710F1563-4DD8-AF30-9B05-0119957EC6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58E0F47-638B-FB83-2BA4-6C20B2B80E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B7CD04-32C8-4EF4-7257-53F64BAE02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A1644AC-33C8-3FE3-8176-1E23A6EB5C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B56B4A-3928-CDA4-D22E-F2CB78B69F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569527-4BCB-50B6-A764-D4FE0D2BD7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071F-C80E-9823-7D72-1116E9BED2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E4201BB-6457-D8B0-9711-EAB861DCE8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AF5DD5-A184-15AD-515D-31840C0A1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8399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C7E1C4-9EF9-CDC5-BBD8-7D67CAADB04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24920CB-0467-20A1-AFCB-8E7BFC6939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Our 1D variance equation is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a14:m>
                <a:r>
                  <a:rPr lang="en-US" sz="2300" dirty="0">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In a multidimensional robot,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rial"/>
                    <a:ea typeface="Arial"/>
                    <a:cs typeface="Arial"/>
                    <a:sym typeface="Arial"/>
                  </a:rPr>
                  <a:t> becomes the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𝑋</m:t>
                        </m:r>
                      </m:e>
                    </m:d>
                  </m:oMath>
                </a14:m>
                <a:r>
                  <a:rPr lang="en-US" sz="2300" dirty="0">
                    <a:latin typeface="Arial"/>
                    <a:ea typeface="Arial"/>
                    <a:cs typeface="Arial"/>
                    <a:sym typeface="Arial"/>
                  </a:rPr>
                  <a:t> becomes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rial"/>
                    <a:ea typeface="Arial"/>
                    <a:cs typeface="Arial"/>
                    <a:sym typeface="Arial"/>
                  </a:rPr>
                  <a:t>.</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𝑊</m:t>
                        </m:r>
                      </m:e>
                    </m:d>
                  </m:oMath>
                </a14:m>
                <a:r>
                  <a:rPr lang="en-US" sz="2300" dirty="0">
                    <a:latin typeface="Arial"/>
                    <a:ea typeface="Arial"/>
                    <a:cs typeface="Arial"/>
                    <a:sym typeface="Arial"/>
                  </a:rPr>
                  <a:t> becomes the Process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But how do we square a matrix to get the equivalent of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rial"/>
                    <a:ea typeface="Arial"/>
                    <a:cs typeface="Arial"/>
                    <a:sym typeface="Arial"/>
                  </a:rPr>
                  <a:t>? We can't just write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2</m:t>
                        </m:r>
                      </m:sup>
                    </m:sSup>
                  </m:oMath>
                </a14:m>
                <a:r>
                  <a:rPr lang="en-US" sz="23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024920CB-0467-20A1-AFCB-8E7BFC6939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4EA7C8-CF95-8E49-E830-29DE3D4417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9B8E689-A0A1-04AF-0F6C-D863EE78F3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1A98E1A-F638-3A1E-85FC-71CC62575D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27A1F5-0CD8-27F7-16CF-09212B7524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41965-4ACE-2488-025E-00B33BDB1F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A56BB5-C90F-7ED3-DF10-A885B11232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E12D5-33E4-4A05-47C1-D600472039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739886-C430-5F59-DD3B-8DA7EF2A6E8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0740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2667E1-5F67-0DB8-5C09-D06E398D47B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B0CE337-5050-8012-9C14-671998C859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In linear algebra, the variance of a matrix transformation is derived using the transpose: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𝐶𝑜𝑣</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e>
                            <m:sup>
                              <m:r>
                                <a:rPr lang="en-US" sz="2300" i="1" dirty="0" smtClean="0">
                                  <a:latin typeface="Cambria Math" panose="02040503050406030204" pitchFamily="18" charset="0"/>
                                  <a:ea typeface="Arial"/>
                                  <a:cs typeface="Arial"/>
                                  <a:sym typeface="Arial"/>
                                </a:rPr>
                                <m:t>𝑇</m:t>
                              </m:r>
                            </m:sup>
                          </m:sSup>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d>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By the rules of matrix transposition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𝐴𝐵</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𝐵</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𝐴</m:t>
                        </m:r>
                      </m:e>
                      <m:sup>
                        <m:r>
                          <a:rPr lang="en-US" sz="2300" i="1" dirty="0" smtClean="0">
                            <a:latin typeface="Cambria Math" panose="02040503050406030204" pitchFamily="18" charset="0"/>
                            <a:ea typeface="Arial"/>
                            <a:cs typeface="Arial"/>
                            <a:sym typeface="Arial"/>
                          </a:rPr>
                          <m:t>𝑇</m:t>
                        </m:r>
                      </m:sup>
                    </m:sSup>
                  </m:oMath>
                </a14:m>
                <a:r>
                  <a:rPr lang="en-US" sz="2300" dirty="0">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We pull the constant </a:t>
                </a: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rial"/>
                    <a:ea typeface="Arial"/>
                    <a:cs typeface="Arial"/>
                    <a:sym typeface="Arial"/>
                  </a:rPr>
                  <a:t> matrices out of the Expectation:</a:t>
                </a:r>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e>
                      </m:d>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Adding our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rial"/>
                    <a:ea typeface="Arial"/>
                    <a:cs typeface="Arial"/>
                    <a:sym typeface="Arial"/>
                  </a:rPr>
                  <a:t>, we get our final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𝑄</m:t>
                    </m:r>
                  </m:oMath>
                </a14:m>
                <a:r>
                  <a:rPr lang="en-US" sz="23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3B0CE337-5050-8012-9C14-671998C859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290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04EB41-99D2-CB91-1D37-E46749CD5D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9BE1EE-B9AA-5E6A-F60B-C6EA7E0E6A4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C5DF78-BDE1-1A56-16A7-F8AE22EAB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B89505-CDA3-4401-1E4D-2693F07074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3D6E1E-2E62-DEB3-5B7E-AC24130879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17DEB8-70F4-3A64-38DF-9A99EFCC9D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4B319-24C4-3EF1-B583-15D6241A6B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5237A-482F-6977-C5F2-1115686A8E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77636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F57F97-58B5-3F6E-B28B-5B5237970D1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D389B96-13D0-D71F-4CA5-0367861A31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In linear algebra, the variance of a matrix transformation is derived using the transpose: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𝐶𝑜𝑣</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e>
                            <m:sup>
                              <m:r>
                                <a:rPr lang="en-US" sz="2300" i="1" dirty="0" smtClean="0">
                                  <a:latin typeface="Cambria Math" panose="02040503050406030204" pitchFamily="18" charset="0"/>
                                  <a:ea typeface="Arial"/>
                                  <a:cs typeface="Arial"/>
                                  <a:sym typeface="Arial"/>
                                </a:rPr>
                                <m:t>𝑇</m:t>
                              </m:r>
                            </m:sup>
                          </m:sSup>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d>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By the rules of matrix transposition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𝐴𝐵</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𝐵</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𝐴</m:t>
                        </m:r>
                      </m:e>
                      <m:sup>
                        <m:r>
                          <a:rPr lang="en-US" sz="2300" i="1" dirty="0" smtClean="0">
                            <a:latin typeface="Cambria Math" panose="02040503050406030204" pitchFamily="18" charset="0"/>
                            <a:ea typeface="Arial"/>
                            <a:cs typeface="Arial"/>
                            <a:sym typeface="Arial"/>
                          </a:rPr>
                          <m:t>𝑇</m:t>
                        </m:r>
                      </m:sup>
                    </m:sSup>
                  </m:oMath>
                </a14:m>
                <a:r>
                  <a:rPr lang="en-US" sz="2300" dirty="0">
                    <a:latin typeface="Arial"/>
                    <a:ea typeface="Arial"/>
                    <a:cs typeface="Arial"/>
                    <a:sym typeface="Arial"/>
                  </a:rPr>
                  <a: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We pull the constant </a:t>
                </a: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rial"/>
                    <a:ea typeface="Arial"/>
                    <a:cs typeface="Arial"/>
                    <a:sym typeface="Arial"/>
                  </a:rPr>
                  <a:t> matrices out of the Expectation:</a:t>
                </a:r>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e>
                      </m:d>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Adding our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rial"/>
                    <a:ea typeface="Arial"/>
                    <a:cs typeface="Arial"/>
                    <a:sym typeface="Arial"/>
                  </a:rPr>
                  <a:t>, we get our final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𝑄</m:t>
                    </m:r>
                  </m:oMath>
                </a14:m>
                <a:r>
                  <a:rPr lang="en-US" sz="23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BD389B96-13D0-D71F-4CA5-0367861A31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290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2BC4C90-245B-F6F0-C364-D6279022A3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0E3CBFB-8032-682C-39E9-671364581C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Sensor Fusion – Predict Step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446AE51-D8D7-F9AA-4C1A-C7851C2AA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6E3826-59F9-E7DE-A7C8-3677B59D0D1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A6A289-39E8-4A7D-C50A-99A58594E2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51A40B-E84D-60B8-A787-5FBE915CE2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B3E3FA-AD34-B6C1-532B-F5E08D4867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72A67C-F367-E325-FEDA-896AF46067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053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306</TotalTime>
  <Words>3492</Words>
  <Application>Microsoft Office PowerPoint</Application>
  <PresentationFormat>Widescreen</PresentationFormat>
  <Paragraphs>495</Paragraphs>
  <Slides>54</Slides>
  <Notes>54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54</vt:i4>
      </vt:variant>
    </vt:vector>
  </HeadingPairs>
  <TitlesOfParts>
    <vt:vector size="59" baseType="lpstr">
      <vt:lpstr>Arial</vt:lpstr>
      <vt:lpstr>Calibri</vt:lpstr>
      <vt:lpstr>Cambria Math</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151</cp:revision>
  <dcterms:created xsi:type="dcterms:W3CDTF">2019-01-14T22:06:33Z</dcterms:created>
  <dcterms:modified xsi:type="dcterms:W3CDTF">2026-04-06T09:53:13Z</dcterms:modified>
</cp:coreProperties>
</file>