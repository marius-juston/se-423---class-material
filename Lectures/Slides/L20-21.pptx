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2"/>
  </p:notesMasterIdLst>
  <p:sldIdLst>
    <p:sldId id="256" r:id="rId2"/>
    <p:sldId id="417" r:id="rId3"/>
    <p:sldId id="413" r:id="rId4"/>
    <p:sldId id="272" r:id="rId5"/>
    <p:sldId id="258" r:id="rId6"/>
    <p:sldId id="420" r:id="rId7"/>
    <p:sldId id="421" r:id="rId8"/>
    <p:sldId id="419" r:id="rId9"/>
    <p:sldId id="422" r:id="rId10"/>
    <p:sldId id="424" r:id="rId11"/>
    <p:sldId id="426" r:id="rId12"/>
    <p:sldId id="427" r:id="rId13"/>
    <p:sldId id="453" r:id="rId14"/>
    <p:sldId id="428" r:id="rId15"/>
    <p:sldId id="429" r:id="rId16"/>
    <p:sldId id="430" r:id="rId17"/>
    <p:sldId id="433" r:id="rId18"/>
    <p:sldId id="455" r:id="rId19"/>
    <p:sldId id="418" r:id="rId20"/>
    <p:sldId id="431" r:id="rId21"/>
    <p:sldId id="432" r:id="rId22"/>
    <p:sldId id="437" r:id="rId23"/>
    <p:sldId id="434" r:id="rId24"/>
    <p:sldId id="438" r:id="rId25"/>
    <p:sldId id="436" r:id="rId26"/>
    <p:sldId id="456" r:id="rId27"/>
    <p:sldId id="435" r:id="rId28"/>
    <p:sldId id="439" r:id="rId29"/>
    <p:sldId id="441" r:id="rId30"/>
    <p:sldId id="440" r:id="rId31"/>
    <p:sldId id="476" r:id="rId32"/>
    <p:sldId id="442" r:id="rId33"/>
    <p:sldId id="443" r:id="rId34"/>
    <p:sldId id="454" r:id="rId35"/>
    <p:sldId id="458" r:id="rId36"/>
    <p:sldId id="472" r:id="rId37"/>
    <p:sldId id="448" r:id="rId38"/>
    <p:sldId id="473" r:id="rId39"/>
    <p:sldId id="444" r:id="rId40"/>
    <p:sldId id="446" r:id="rId41"/>
    <p:sldId id="445" r:id="rId42"/>
    <p:sldId id="447" r:id="rId43"/>
    <p:sldId id="449" r:id="rId44"/>
    <p:sldId id="450" r:id="rId45"/>
    <p:sldId id="451" r:id="rId46"/>
    <p:sldId id="477" r:id="rId47"/>
    <p:sldId id="457" r:id="rId48"/>
    <p:sldId id="460" r:id="rId49"/>
    <p:sldId id="461" r:id="rId50"/>
    <p:sldId id="462" r:id="rId51"/>
    <p:sldId id="463" r:id="rId52"/>
    <p:sldId id="464" r:id="rId53"/>
    <p:sldId id="474" r:id="rId54"/>
    <p:sldId id="465" r:id="rId55"/>
    <p:sldId id="475" r:id="rId56"/>
    <p:sldId id="467" r:id="rId57"/>
    <p:sldId id="471" r:id="rId58"/>
    <p:sldId id="459" r:id="rId59"/>
    <p:sldId id="478" r:id="rId60"/>
    <p:sldId id="468" r:id="rId61"/>
    <p:sldId id="469" r:id="rId62"/>
    <p:sldId id="470" r:id="rId63"/>
    <p:sldId id="466" r:id="rId64"/>
    <p:sldId id="479" r:id="rId65"/>
    <p:sldId id="480" r:id="rId66"/>
    <p:sldId id="481" r:id="rId67"/>
    <p:sldId id="482" r:id="rId68"/>
    <p:sldId id="483" r:id="rId69"/>
    <p:sldId id="484" r:id="rId70"/>
    <p:sldId id="485" r:id="rId71"/>
    <p:sldId id="486" r:id="rId72"/>
    <p:sldId id="487" r:id="rId73"/>
    <p:sldId id="488" r:id="rId74"/>
    <p:sldId id="490" r:id="rId75"/>
    <p:sldId id="491" r:id="rId76"/>
    <p:sldId id="492" r:id="rId77"/>
    <p:sldId id="493" r:id="rId78"/>
    <p:sldId id="505" r:id="rId79"/>
    <p:sldId id="494" r:id="rId80"/>
    <p:sldId id="514" r:id="rId81"/>
    <p:sldId id="495" r:id="rId82"/>
    <p:sldId id="496" r:id="rId83"/>
    <p:sldId id="497" r:id="rId84"/>
    <p:sldId id="498" r:id="rId85"/>
    <p:sldId id="502" r:id="rId86"/>
    <p:sldId id="499" r:id="rId87"/>
    <p:sldId id="501" r:id="rId88"/>
    <p:sldId id="506" r:id="rId89"/>
    <p:sldId id="503" r:id="rId90"/>
    <p:sldId id="500" r:id="rId91"/>
    <p:sldId id="508" r:id="rId92"/>
    <p:sldId id="509" r:id="rId93"/>
    <p:sldId id="510" r:id="rId94"/>
    <p:sldId id="511" r:id="rId95"/>
    <p:sldId id="512" r:id="rId96"/>
    <p:sldId id="513" r:id="rId97"/>
    <p:sldId id="515" r:id="rId98"/>
    <p:sldId id="507" r:id="rId99"/>
    <p:sldId id="271" r:id="rId100"/>
    <p:sldId id="270" r:id="rId10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F43FB0-C57F-79C7-9535-B678C7538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7C0687-8CCB-6A90-1185-11BBF3C42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82EDADD-0D8D-9E80-F663-EC5293C2AA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8934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75412-624A-2292-0EA3-35B791CA3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FAC35A-CD72-905F-CD22-D1B98D7C8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8624941-50C6-5653-FE5C-62215CF9E6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9339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F28052-259D-19FA-2CA0-17516D528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47D357-2DDF-60E5-8997-E2BF559D6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5A4BFE2-5F2F-0C43-4FB8-A1AA92F315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154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022EE5-ED73-60D1-8E8C-287AA96F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0B0831D-EF87-97F8-12D9-B860728A04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8FCB816-D465-4317-B99B-FD37B6897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1705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666E3-9E47-7889-5DA2-B1DCFFC9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30A621E-607C-F890-2501-9B7548653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95A60D-B771-03B6-792B-53561ADADC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362742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72ECCD-901D-7E01-FF70-257E90AC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BC3F37-D7C0-0C18-A837-789F9F3613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17A2361-ED4C-0C8A-4B00-293428070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942327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9B2D1C3-6FAC-433B-723E-EDD0565D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1FE019F-2EA4-F292-11A9-F691BE82C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357238E-48D8-8B11-1A80-75313392F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60355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0E55577-D0F8-3F09-EE46-BE1C1A54D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AADC53D-9CE5-9F9A-88E4-D1BDBC84C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F1E540D-DA24-3AD1-D13F-1F59D34B63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31414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AC25C5-4B3F-23D3-5273-834D2AA43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0DD442-A65B-9B06-F2E1-8CA407428E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3A73C6-858B-63AF-9C5D-40812E714B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3497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DDF58C2-2857-582F-A6D9-7CE922EA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8F1C968-FE29-CC2F-AECF-04C4B333A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57D4C-FA1B-5175-D621-9EC725187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16786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E9E29-AE04-7204-A230-595D2E0F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D8B4480-BCD8-D12A-6F6A-EB503BCE46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457E85-909C-D4A3-CF3E-E032ECF6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3262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50E863C-E80B-1E16-8A3D-EDCAC468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6982E0-5E66-1739-D460-A1F95380A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355E3A-C069-9247-8871-41E01CE09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62610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2F67F2-6002-27A1-D550-B44D9D80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9ADDE32-7424-E8B1-4255-17885BAA7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9F573AE4-712E-8397-4981-01F9461B7B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51065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CF3569D-724E-F4C2-BA96-3AE32552D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4975974-90E9-BA49-72CB-F49E1AE29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6964EC8-5C3E-58AC-AA56-2A5767B6E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1369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AD55C96-1DDC-0E30-98AE-606757DF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4D37E43-9039-839B-9BDF-9B6B46FD40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8B5C46D-081D-8B31-833D-73BD917CBE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390143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BBBBD9D-F9B8-284B-FE49-D13DA42B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8BD5357-9591-7FC3-25E7-6E8C630AA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18E06C3-BF75-9718-B2BF-B6464C9C2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97510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9527FEC-C783-DED8-A5E8-4D8F5C59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1670EDE-0768-EF79-4092-73A0F0275C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6BCDE13-5D30-A1FD-9D63-773641118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04522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6094CC-7C34-0AA1-8A06-367D536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E524A76-7906-492D-48F7-69A089215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CD4433-39F2-8084-4B01-3C6FF82E4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0455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A3ACA8-4C90-C943-F9FE-F305E992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E3B9709-6D2B-B1DE-59EF-9BC71247E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79C658-C2E0-03E4-F305-08177F8CB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409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31C3F8-6B7A-AF16-D8DE-AA249386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93BF2167-F47E-0901-688F-0AF1B8B2B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3F903E8-1DFF-A830-67DC-A2BC91BF03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17025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5B1C08-D4DD-01FE-1F1B-853D1C49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F39E895-D24A-B323-9900-9081889E7E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73F8DD-0402-7360-BB92-DDE9292BC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67736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4C403-CE59-DF9D-AEF0-9F2199D73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5FEB82-972C-600A-3215-F69A6BC671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FCBECDD-AE8F-F181-E341-1FF077945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20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8A32FD-5C84-269D-5D87-5E114134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84CD4D-C414-FFFB-5E71-DEB24AC6E8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495E875-3CC0-3265-7075-A25F1A06D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044455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5C5588-5D28-6383-DFAA-1709D6D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9D522C-D34C-5EB5-6F67-DCAB77E1AE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1E80DA0-7559-E667-2930-EF7EB8A28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024654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E830D02-D4CA-2016-2DAB-E7EED3C19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C803EC2-C3C6-2AD5-6815-AD56A22263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D39511E-F5AA-2A92-CBEB-B2D031F80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456783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AB225-9778-D149-C3A2-9067326B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373416-652B-23EB-8E45-C7A97036A5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B83496-4E1C-9903-6F82-5EF22260B7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96214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04A5E11-BE8A-9852-891E-ECF8700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6DD7635-C429-3862-020C-6AC630FC7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C3361F-AB9B-1A1A-72C2-A796CA828C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430524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957F642-A96B-4D30-1066-5E28FC252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D2562C8-819A-CB45-D199-D22B77D4F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A442E3D-7F53-FCEC-E45D-931BB71F5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23832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A50CF0-CA68-A3B1-8978-E3896AB0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ECB296A0-F8E9-7578-7D53-093147721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633E37A-86DA-49B7-62EB-D34344389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71396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4AF2CE-C5D0-FCFA-140B-E4B6B09EE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190A3D-0140-D128-22BE-62F63598F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0FAE83A-31D6-1525-CA97-1A2444A3C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914605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75346A4-41D5-E2DD-69CE-398D962EA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DD13FA-ECB9-E46B-7C27-9A5C2B40E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3F40B-ECC9-5EAD-6B6D-FFFDCBF36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68787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0E7CAF-D7ED-00DE-0223-9661AD4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03189BF-6AFE-0CA5-959C-E3B876D9E7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55AAC7-D32B-5C28-B719-1930126C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7004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6D3B32-3163-A67F-CAEE-B44956EEA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A196CC-2EDE-26F7-86C3-3A8B7D15A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9BEF17-DC32-6169-9DB7-638AB10C6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8554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D5BB0A-97B6-D527-F23E-E82F3E2D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229AF1-A1C8-D695-BF54-CD34240E36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3C7060-110B-C812-40C4-66307624F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246537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1C5415-BEF5-B9F8-4D93-1160F401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C7B08A5-FE6E-FFB7-BD30-703CCCB53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7D2B0C-073C-7C6B-21CC-0614AFC1D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4827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604CF1-7BCA-07EB-06B1-2EFF81F0D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B4F202-7BF0-6C93-EED9-AE38C441F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2D6457-B759-4F54-C036-D5E715024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71722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8A33884-3129-64CB-15A5-33820B72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BA3C399-6B30-1361-939E-B4A1007AE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EBB47-FD94-0693-69A5-5CAFA4035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19039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C8E5DD7-D096-AB84-11A2-E7456114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C4CF292-AA26-CE0A-C02E-1D99770B6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F599E6E-22E2-D3D0-9892-1A54917E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70192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0CB0AD-CFEE-2331-F58E-1E9F6CD80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458A8BA-9CCA-BC07-567C-1659D9761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1191DC0-714D-D225-77DA-A2A46CA52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015949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AB4023-C4CC-6195-71CC-41142A720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4646953-3436-F7D2-F1B8-ACDD318B75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AE79B27-A7AC-1731-7769-A496AB2EF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571316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3170E2-B953-EB7D-72F6-378F759CF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4E753396-0160-B36D-4D37-4CD5168B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BD8C08C8-B9C5-99C6-9E28-1AADAEBB9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95447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F29B1F-2F74-73F9-A425-C66C9BF0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4FED399-F5B4-E89B-323F-BE2B292B56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A2AA4CC-52F2-77ED-92C4-04A5745D73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693806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1B4AA8-1C78-0342-A494-843E91E6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E682C5-1BC1-F983-CCD5-C69399B83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E1CD69-6AD3-4119-BB09-C5692A3F1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74104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F04F528-8ED2-F77E-3D3F-3BF0CCA59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EEBB136-68D1-8593-A394-A7F3650A47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AAD6DEC-E5B4-25A5-BD45-3444BCFA0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85073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3DB4F8E-30C8-ED8E-4FAF-33A67B11C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BCC6B-9302-6859-4FE1-7FD0BFA30C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92FC1A8-ECF4-951A-58C0-214C49A404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53686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C74766-17F6-38EF-7DD0-CC7A1AACF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96A08E-EC5C-4409-279F-394B23BD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3E512C-23DD-7881-1819-E973456B8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738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0109C3-78B0-F19E-8154-433FDDBC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7552379-1967-A7C2-215E-655DF58A37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1D14190-9883-09F1-6C6D-3C343021D1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048337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9629F47-BAE4-D58F-AC79-663069DE0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F47E0AC-9400-F526-5D92-7D6FF7E6F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7401DB-85C8-AAF0-B2C6-9DBC5B57D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832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57E9B7E-E297-1C56-278A-531AEA02B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63698AB-DFD5-1019-9CB6-DAF2586EF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F584BD-9BC8-E00D-0513-07A508C94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402085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C2B823-08B9-5A42-8880-8B9AB218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8A1ACC-54D1-2BA2-B22A-8EF869B51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B2407EB-CAAA-0A07-D089-93418A0168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41614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94F01-333B-7BBA-2D68-FE31E06E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F88D51-B705-7F7B-ADA5-1E6A287B60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EBEB9A7-2F06-92C3-EDE5-43AA5232B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772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A9A9ECF-5608-DE3F-2D9B-7A8B1C14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3332BA6-FB34-74D5-757B-1B96B0251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69F362-1FBE-9A91-67B2-DB664E54E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653007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99CB8D7-BF7C-5AA9-1FE9-410C5B31A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2971BE4-D90B-53FF-52F3-833B61D41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B27902E-BAFA-41E5-EC64-6ABC7AABF1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084751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7F00F3-EF5D-4713-CBE2-8F9B163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06D56DF-1E5C-BB88-D6AE-38AF11EB5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2E7582-5CF4-405F-9E3D-49FC71488D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93290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794B93-37D8-0925-2127-55693070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2BFB7A3-AA8F-0A1C-F2CA-06D60DD9A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EF3BBB6-B409-46BE-5236-36CD06ABA5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47833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5490C4-7673-55AE-B0E3-9754A67A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9B9DD0-4FD0-58DE-BB25-B71D99B287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0E29417-A4F1-01C3-76CC-D0A021357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400084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DE7616-18FF-63D0-7F02-CCA58394D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993A69-813E-AC17-E290-19F41740A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06F35F-1372-0375-8851-9834AB036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11428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EB43DD-7C8B-0657-79F1-9C660C8F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62D9274-FA95-0567-B884-B6D516B5D4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D2B5007-C595-78E0-27D0-CA39DDAFD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720374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CBF3471-D750-85E0-7DDF-1537F140B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0C90F27-9487-7212-C44A-A0B61AE69C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346588-02E2-4C5E-D0EF-05C9CC1D62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3455590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A9F753E-EB10-B074-1951-7F3DBF34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E3AA21E-3676-285F-ADAC-ADDB4D81D4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506EE7-E595-95E7-5949-08AF09E631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70288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889C7A-6BBA-E36F-33FA-5832C4B46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49709-AF63-4812-D3E6-2B26EC163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4D3320-7050-32FD-1BB0-3ADEFCD950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1392459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9CF808-F51B-F2EF-08D2-8EC55233C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A7BE46-C214-ED6C-E719-84345C70E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B937272-7093-6FD7-E085-5B9E6F2D61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8963964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82BF16C-AFE6-CC14-6489-586A27A61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463129-C277-59E5-9C7F-4E0E8CA40E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04BB3B-9234-C153-DF05-224DB5EBC0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320570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B4AFD3-B6F8-BCCF-5882-112B2A3D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A0966EA-1ACC-4A05-5645-7922321E32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BCE47-4A3F-9154-694A-3D5FA3DBB7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07118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0309B8E-3C0F-ABA9-E8AC-CA609705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D7483D0-CE68-D85A-22F5-C636F699A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58233D3-701B-B0FF-196F-48A624BB42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316197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78A8C3E-9DE5-09A6-77D4-FD149C3CE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8DADE0-C3B4-A075-9103-2A3592964A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7E43FE-B2B5-96F6-8801-FBECA75D9B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075888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240AC17-02D0-ECE2-1210-ABE1D20AD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5AA2507-684D-C9C3-593C-17268A813A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DF088F-0524-1EFD-D39E-7F1C7920C1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61592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7AACC8C-DB49-EF85-6E8C-D81DB85A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24BC0A27-61CC-3CBB-66D9-EBE13A3888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6175557-1036-27F7-BFA8-5BD61EE71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903256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6909F1F-F6DA-7A4E-DBC1-6E8372F05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742B266-E0EE-4EFF-9F3E-FA74850712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A40BEE0-24B4-EE18-7F45-EF3FD3ED7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666550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EE94CD9-5CDA-DC8C-3149-CFA328778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FEF8507-F0FD-65DB-70F7-82880D46B1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EB94139-859D-89A6-FA09-E7BBD73455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91625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14E977-FEFA-9DB0-175D-A07C6429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60543-32B8-4D4D-40CB-44B1282206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BD80051-E0C5-8E59-DA52-A170D38043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908216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AABA25B-E423-BE9F-5595-567B9ABE8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D7A4C99-91D7-61DB-55FD-B5D9C88C2D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59C041-84E5-105C-1104-1AF1AB4A41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53894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B5C4102-3EB4-6C93-49B1-36C91617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95E0EB3-DD67-8DEA-3F92-BCF0006CE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AAC175E-D0B6-000C-A1A0-7DB48C029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2291853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4ED0362-EF11-0967-4FD0-F287BBC7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625C719-F614-3C0B-20CB-B5732A885C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C75E86-BC04-2B82-3762-24F0AD6D70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7423493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BE130F5-F146-AB3D-F781-2D9259382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616139-8ACB-C9CF-077A-7170673A28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C5B62-5209-4FAE-0D07-B96327C3BC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6049727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C3BFF3-2998-EBC1-E291-76D3A5E99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65A5021-3972-A98B-E106-768749212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30E503-45B6-A350-3FB9-53F0B74C31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581903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A60F21-1285-A761-8CC5-273190358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087409-A165-2EE9-C043-A90107743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E8D41AC-E8D1-444A-7ECF-850E38249E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83333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C93D05-D048-7F42-AB7A-D5E98EFD1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3FFE39-2E08-DEA2-D0C1-943286573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857A8B0-7949-D766-3BFE-FA66597D3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388617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570BEC5-7418-FD2C-D380-EE4AFEB39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AADCD4BB-BB07-662C-B81E-4FDEE064C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0D443E71-49D3-63C2-22DC-0E27479103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1044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C56A0AD-0932-3447-E51B-0AC42DDA2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153ED-98C9-CA51-0075-B24544B939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4982073-417D-42A8-B5DF-51D3A11D3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993454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2F552EE-C4C3-DECD-067F-E711C9FB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02870C-F939-3827-6974-35A8C563BA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932640-425F-A7CA-A960-BEC0AC8F37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202480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87F42AF-955E-09DA-B1E4-FC0AC04F9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E38B6A-EAFD-B64E-5702-3262DC9FA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1F37F41-3FEB-D8EB-CA2F-7B2E402FEA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73950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DBBA1A4-37D8-2C4A-77A6-E0889284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F9973D30-1A60-A060-CD6E-D358299D73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8AFB814-E3C7-A187-4374-1D2CC6928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821617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D24A4D-44EE-CF52-8AAF-991E3909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006244D-38BB-FD61-5F06-E17762ED9E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EA5F98-2BD4-940B-C597-3C219775A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6248765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14B9022-3EBA-B919-83AC-F14775969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5E7477-6260-BAD8-82C2-A2A9ABEE1C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072D86-E36C-F1F7-7232-83D626A20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533345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BDF43D1-7FA2-57BE-127D-531AF45B6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3EE175-CB7B-BD40-9318-B82804B143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EFB9D35-07A6-4FC0-D9BE-DC8A5C20B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00589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68BC10-C6A1-3E13-CE4D-35F514220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05EF2F0-D49F-206D-7E5A-19C8DD6BE0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1BADAF-871E-7F38-53FA-C73A7958C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276326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CDA43E-551A-F1CB-D984-97D3EE3F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17950C8-8C4A-7F85-9EB6-A2D8D81469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2C7F00D-71E7-DDEA-CF11-8B437BCF8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3694312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078DBE-0870-01BC-44CF-A7E40CCC2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D1A7A9-30B4-3428-6E4A-E49C7A4C9F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639711-AA75-DCB6-3BE0-009F7F5FD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33602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5DAC570-D659-F9D0-FC92-28F69B2A6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E5D8E28-CD74-F4CD-77C8-35786A008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5AB693-58B4-EF08-488B-4A53E827E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5117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4ED10D-8069-BF47-691E-EC5C47EE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827DB2E-EC94-06B9-8D8E-39FA8F6BB0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CAAA0AE-801A-9F8A-24D7-262540548D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398729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A06E2B7-698D-2682-C4BE-CFD6A004F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69FE46E-8702-4385-80D5-36412B8B86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92F63A5-DB7A-B06C-52E5-40720DAB8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196787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hyperlink" Target="https://en.wikipedia.org/wiki/Normal_distributio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m_of_normally_distributed_random_variables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svg"/><Relationship Id="rId4" Type="http://schemas.openxmlformats.org/officeDocument/2006/relationships/image" Target="../media/image5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svg"/><Relationship Id="rId4" Type="http://schemas.openxmlformats.org/officeDocument/2006/relationships/image" Target="../media/image54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svg"/><Relationship Id="rId4" Type="http://schemas.openxmlformats.org/officeDocument/2006/relationships/image" Target="../media/image5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svg"/><Relationship Id="rId4" Type="http://schemas.openxmlformats.org/officeDocument/2006/relationships/image" Target="../media/image56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svg"/><Relationship Id="rId4" Type="http://schemas.openxmlformats.org/officeDocument/2006/relationships/image" Target="../media/image68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20-21: Sensor Fusion and Kalman Filters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Monday, April 6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1CC257-913A-F66B-FD51-488E05134F51}"/>
              </a:ext>
            </a:extLst>
          </p:cNvPr>
          <p:cNvSpPr txBox="1"/>
          <p:nvPr/>
        </p:nvSpPr>
        <p:spPr>
          <a:xfrm>
            <a:off x="5639865" y="2973398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assumptions were made during path planning / trajectory planning?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sensors on the robot help determine it’s the location in the world?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When could the odometr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y and the IMU give different values? Which one should you trust?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If your IMU says you accelerated forward, but LiDAR scan matching says you didn’t move, what should the system believe?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Finishing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Sensor Fusion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6E76D8C-4FEF-9932-596F-DA3707FA0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7FF229-9E61-BC16-0C96-DAE1664C2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In the real world, motors don't spin exactly as commanded due to friction and voltage drops.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Sensors have electrical noise, mechanical imperfections, and environmental interference.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What can cause the LiDAR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Reflective / absorptive surfaces: glass, mirrors, black materials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Fog, rain, dust, snow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Fast motion relative to scan frequency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What can cause the odometry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Slippery terrain for wheel slip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When can cause the IMU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IMU drift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Saturating the sensors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If we blindly execute our path plan open-loop, the robot will quickly crash.</a:t>
            </a:r>
            <a:endParaRPr lang="en-US" sz="18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5AEB9E-BACA-D86A-7336-706642B1BE8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6163C82-7E4D-858D-6AE2-7BC25E50823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9333E97-C9BB-7F74-ABD9-BD767FF2CA5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CC51F9-A938-D53D-35C3-6A8E5C729EB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1C3C39-EE3C-BFEB-339E-C759637A80D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68CAD8B-0F9E-88BB-8D76-2E45001681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20C4DA-E6F4-64FC-88BF-B0F903D717F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7F47A-CC92-2F64-D6CF-F566D4A9DFE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673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9E420E-A29E-2817-C4F8-5AFDFD4F9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ECC75FC-DE33-119F-3EF5-99886F633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need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Localization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: determining the robot's state (position, velocity, orientation) in the real world.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To solve the localization problem, SE 423 robots use multiple sensors.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Proprioceptive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sensors measure internal states: Wheel Encoders (Odometry) and IMUs.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Exteroceptive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sensors measure the external environment: LiDAR.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No single sensor is perfect; they all lie to us in different ways.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1B44FC-1A1C-F42A-3BDA-976BB5859D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0A2BC2F-9B03-5B8E-A1C6-72010869DE7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4238C5-9AB9-13BD-5FA9-06FAA119A7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85C52C-A9C9-7BB9-45B7-B21B10DD79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CD9A88-2E48-9F2F-07C0-A68012E64C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382DF34-9E76-F12D-6585-0866D9EDDCF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45908F1-2070-3919-F15E-D11B97EA0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A3A0F2-02A3-2B72-DDF9-1C212F0662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370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668A1F-A262-40BB-0420-8D46AB2F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BFC7474-F78F-74BF-555A-F8C0E3E1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Wheel encoders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count the rotations of the robot's wheels. By knowing wheel radius and track width, we calculate forward kinematics to estimate position. It provides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smooth data for short-term movement.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Similarly,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IMUs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generate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smooth data for short-term movement based on the integration of acceleration.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LiDAR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unlike odometry and IMUs, LiDAR gives us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absolute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measurements relative to the environment.; however,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due to the additional data, the sensor runs at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lower frequency (e.g., 10Hz) compared to an IMU (e.g., 500Hz).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If we are in a perfectly square, featureless hallway, can LiDAR tell us our position along the hallway? What about the IMU / odometry?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BAB7B5-FA9E-81F7-05F1-7BBA583962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A71CBAF-9573-1ACA-A469-078FA69C640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9EE72-ADCD-CE29-7521-247C63D73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B4B1FF-9281-2A9E-BA3B-3F21D3648C3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A98BCDB-FFB9-C0BB-A723-476D530862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99BD75A-118C-F176-A446-6AF89C48B1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DC7EDCC-4247-6400-91FB-A6E044C1F2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A8263E-3123-AD11-D840-181B157750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4976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1F9D0-123C-69D8-267E-88B759122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9A7C04-1DBB-5710-0570-A22E87C68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fast, smooth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sensors that drift (IMU, Odometry).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slow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computationally heavy sensors that don't drift (LiDAR).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 do we combine them?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Simple averaging doesn't work because their reliability changes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If 2 sensors given measurements give different values which, should you trust?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if your sensors give you the confidence of their measurements? I.e. the LiDAR is 75% sure of its position and the IMU / Odometry are, in total, 25% sure of their positions?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0278E2-13A4-ECCD-9125-BF56E97905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E1A9D2-D303-9880-1EAB-A6AE71E76AE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B8DA6B-4A3E-6061-7885-7E5BA602F7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150536D-03E5-D9B1-7E72-7D3ABD555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BA6B9F1-37FB-33B1-73DC-9AA2ABC8F3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21C6813-4205-D682-2114-C774FAA4B0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A46402A-32B4-5BA2-923F-90393288ECA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74073B-BFFD-DB1B-504A-7E22C0917E4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781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4F1F894-E15D-FB0E-D29F-052BEDE8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Instead of saying robot is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exactly at “X = 5”, we want to say “We are 90% sure that the robot is near X=5”.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represent our state as a probability distribution.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use the Gaussian (Normal) Distribution, defined by a mean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and variance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BE5622-5B4F-2C92-EC24-51D1EC1AEC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205E767-726C-CE73-41AA-5F4EFDCE53B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64F1F63-0DDC-06F0-A670-6F9C70213DE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44039E-071E-EF13-060A-B19D18C38D1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4A25EE-2089-FA01-C229-0E0F8FC494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13AEA70-CAD1-C85B-4672-D627AD6641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70EF1AB-74EE-FA3E-6B0C-42D0AC2DAB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C7E859-3358-75F9-FF92-673795AD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898DA8B1-06EE-F383-1742-DF52DE9381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13998" y="3548943"/>
            <a:ext cx="5835650" cy="29178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1B65C-D484-7EF3-5C21-CCADE55E7A9E}"/>
              </a:ext>
            </a:extLst>
          </p:cNvPr>
          <p:cNvSpPr txBox="1"/>
          <p:nvPr/>
        </p:nvSpPr>
        <p:spPr>
          <a:xfrm>
            <a:off x="4495484" y="6328059"/>
            <a:ext cx="29400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https://en.wikipedia.org/wiki/Normal_distribution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98787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0F7EB40-14FB-7621-B579-298C7123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Why Gaussians?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mean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represents our best guess of the robot's state.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represents our uncertainty; a wide curve means we are lost, a narrow curve means we are confident.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Gaussians are mathematically convenient: multiplying two Gaussians results in a new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addition, a lot of math can be derived in closed form when using Gaussians (most other more complex probability distributions do not allow for this)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59A792D-73AA-B827-13FC-82701B03B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3DD6FA-6E47-BDE9-FD34-02C8EC10AE4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C45940-0BC9-49D1-F097-623A891A4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A13348-9FFF-12D7-F48B-7A58B6B81F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D9C4B5-8D20-B681-A69F-6BF56E57698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0519B6F-AE0F-73AC-A787-D1813F87C4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F772B7-755D-910D-082F-5CF34A2F72C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8F8A90-5FD3-0FC3-835D-21AB8AF0D0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7607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AE3407-DC15-E96F-1536-4061F8034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26828DE-7025-F60D-D286-1D176287E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Which sensor would you trust more?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436E42-519C-8FBA-60FE-3DC889204B5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8FF8032-C12B-C2CB-444A-A0512EF8328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4ED8C47-DA2D-F9CA-BE64-9F6804D81D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0DA912-5B67-3134-80D5-C63002A3582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10BCBFC-CF2D-E3CC-B865-799FC9C43B5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B07321-EC64-5CC4-5484-A51AAA8493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CC28203-BC0F-B2C9-7FB0-DA9FBF6EDA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B71EEC-11F9-42E4-1533-A111DB64FF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CCD553-6D42-489E-24ED-5153F66EF2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6517" y="1767070"/>
            <a:ext cx="6438966" cy="483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888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5BB7596D-AB5E-E668-0807-0F5C4D03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7BBEBD30-0974-E20F-66CE-64A248A723B8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1D Kalman Filter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1CEC4E9-065D-A9B7-2231-6DA0067BE54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A5CCF883-A390-1D27-19CA-86FA466D63A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A3FAFF9A-09BE-1DBB-E7A3-034C7EBAA45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766FD44-52A2-EE8F-9038-E1988B4E655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8650BDC-C45F-AED6-37F8-6E96BF5741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68C5E82-93BD-05A5-E6C4-1F06699045A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F1FE877D-1538-AF19-861D-E979FAA69B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44FFDEF6-1FDA-99C9-EC2A-037F38A67A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30CEB405-E7A5-3A29-E013-1E5EC83784F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9032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A65329B-39F2-867F-0A04-9B098071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E3A8761-5B83-328D-A126-38F076CC62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Kalman Filter is an optimal estimator for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linear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systems subject to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Gaussian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noise.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When would the Kalman Filter not be appropriate?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If your sensor or system if non-linear and / or does not follow a Gaussian noise distribution! Always understand how your sensors / system acts and the underlying assumptions for algorithms!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It operates in a continuous, two-step loop: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and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472022-BB26-A280-4E9F-ADDC70DFC27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55D5F8-A3B7-2695-9B43-9B5EF757196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138AAD8-4295-2D1C-F3D6-D375B9C194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9C38A00-8B26-B25A-8993-54C2AC7CA5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439B2F-9A64-BA63-289D-75BB0FCDE0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20DD1A-D2C9-3CCD-6A14-738983F101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D72C88-2EDB-1CE2-4E4B-8AB91424BA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5A9CAD-537B-BC1C-8FC1-4CDB9AFDE7D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07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2868176-5818-6A02-B09B-2DA78D460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3740F5-3D2A-7756-7F9D-9154445BCC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7510A0-882A-A843-6A2E-5C1F47BCA9C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F66113E-A496-FC67-CF7A-CC5B8699649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2A2C0C-2528-01A0-C67C-5964FE538B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9B5FE1-C72D-285C-066A-3F0003D15C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35AA4E-ACB6-3FB0-E090-AF433EA275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A73F5B8-C3E4-1798-6308-D23F5E9624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5BE8C7-FAFA-4449-7A05-9A1E0E1A5F2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8BA59FD0-35B2-89C5-FDBD-04FCD45DED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9157" y="868221"/>
            <a:ext cx="11173686" cy="5655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174F6D-4417-D7E2-1109-F5593B2CC584}"/>
              </a:ext>
            </a:extLst>
          </p:cNvPr>
          <p:cNvSpPr/>
          <p:nvPr/>
        </p:nvSpPr>
        <p:spPr>
          <a:xfrm>
            <a:off x="1009650" y="958850"/>
            <a:ext cx="2197100" cy="17208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22CC04-9718-F1F7-241C-FA54E61578EF}"/>
              </a:ext>
            </a:extLst>
          </p:cNvPr>
          <p:cNvSpPr/>
          <p:nvPr/>
        </p:nvSpPr>
        <p:spPr>
          <a:xfrm>
            <a:off x="6096000" y="906290"/>
            <a:ext cx="2089150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22EFA-256E-7135-3175-8369BF5F8BED}"/>
              </a:ext>
            </a:extLst>
          </p:cNvPr>
          <p:cNvSpPr/>
          <p:nvPr/>
        </p:nvSpPr>
        <p:spPr>
          <a:xfrm>
            <a:off x="5905500" y="3814590"/>
            <a:ext cx="2435225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AEBF65-49DB-D222-8A49-60B639CE487A}"/>
              </a:ext>
            </a:extLst>
          </p:cNvPr>
          <p:cNvSpPr/>
          <p:nvPr/>
        </p:nvSpPr>
        <p:spPr>
          <a:xfrm>
            <a:off x="3660775" y="5201217"/>
            <a:ext cx="2162175" cy="788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69F143-771D-627B-EAAC-70033AECD387}"/>
              </a:ext>
            </a:extLst>
          </p:cNvPr>
          <p:cNvCxnSpPr>
            <a:stCxn id="9" idx="0"/>
            <a:endCxn id="6" idx="2"/>
          </p:cNvCxnSpPr>
          <p:nvPr/>
        </p:nvCxnSpPr>
        <p:spPr>
          <a:xfrm flipH="1" flipV="1">
            <a:off x="2108200" y="2679700"/>
            <a:ext cx="2633663" cy="2521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28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DDB4493-D9D8-6AD3-51AC-CF4793D5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554BD8F-ADA5-EA1B-8DE0-AD93BC2116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Step 1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: The robot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moves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. We use our fast, noisy sensors (Odometry/IMU) to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where we are. Our uncertainty grows.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Step 2: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The robot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looks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. We take a measurement with our absolute sensor (LiDAR) to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our belief. Our uncertainty shrinks.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Rinse and repeat thousands of times a second.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376E3B1-134B-A92F-832F-A20DC6C9145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32CD28-BE88-F845-00A1-5A4DEFB900D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D7FA8B-A4B3-75D3-6F82-1164570B7B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24B13C-C0B8-E382-99CF-E9BF4D08D14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5A7BEDE-BC74-822A-748C-B76164B3D9E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52E0AD5-15AB-90FD-F7D0-D607498CDDE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6428992-8FDC-0D6C-C78D-E8468CE9F1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B674D67-627C-B72C-E09C-8CB5FD92C4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340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31B2B4F-5738-FDF9-FD39-4A8C8376F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FAD5EF0-059F-3536-5885-8D1B1A9E352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851F5CC-E10E-7B51-D4B3-ABA254B8A34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3C047-CDC9-33EE-16AA-58930CC374C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CDE8AC-E7C3-6C8D-2C85-8D631400D9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825EE23-8497-A8AF-D688-63C2861D70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017000-93DD-562B-15F8-4ADD83DE22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1F4652-1E6B-F4F1-9BAC-BC043FFFD6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22EEB2C-584D-7969-94DF-3D6304C00FB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kalman_1d_publication_quality">
            <a:hlinkClick r:id="" action="ppaction://media"/>
            <a:extLst>
              <a:ext uri="{FF2B5EF4-FFF2-40B4-BE49-F238E27FC236}">
                <a16:creationId xmlns:a16="http://schemas.microsoft.com/office/drawing/2014/main" id="{2F7F4B1C-22CC-1CC9-EFFA-09BF652E552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688314" y="876107"/>
            <a:ext cx="6815371" cy="567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916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7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72125E9E-E2D6-67AA-3DBB-D82B3334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B6AA8A-3EE5-93A2-BA0A-835FD4CAD767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03EF32AB-88A2-42FD-9BF9-CD648CE0B4FD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32C0A57B-AB89-CDF8-CF9B-CCF141D24694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431533B-C682-BD9D-3B2C-79D9CF535D0C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2189D3E4-6E06-B9D8-B8A8-97ABB5BD69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9B5CF19-5FE8-9313-4DF6-DE1FD45AEEC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F487D5F-E3CC-2E3D-CF49-70BB0AE29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A31DF77-130C-9037-6E67-3ADCC0B6B6D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F62580A-77F2-6F27-141E-DD8213AC3A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85EAC71-D086-AB62-11C8-D58BBA97EEB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248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0B82F22-2950-651A-368C-79B66C411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Last lectures, we covered algorithms like A*, </a:t>
            </a:r>
            <a:r>
              <a:rPr lang="en-US" sz="2400" dirty="0" err="1">
                <a:latin typeface="Atkinson Hyperlegible Next"/>
                <a:ea typeface="Arial"/>
                <a:cs typeface="Arial"/>
                <a:sym typeface="Arial"/>
              </a:rPr>
              <a:t>Dijkstras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Hybrid A* for path planning.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learned to compute an optimal, collision-free trajectory from Point A to Point 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However, path planning operates in a perfect, simulated world!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fundamental assumption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we made about the robot to execute these plans were: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Perfect localization and actuation!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AB8B77-7D8F-9C2F-DFA1-D1BA48EDB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We use a physical model of the robot (kinematics) and our control inputs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to guess the new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Because we know our model and our encoders are imperfect, we actively increase our uncertainty covariance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This represents "flying blind" between reference measurements.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If we close our eyes and take 5 steps, are we more or less certain of our position than before we moved?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4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73FE52-A7A5-6FEE-F734-1255D05DD2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7DCF16-91BF-8467-BCB4-09388966110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12BA770-93EC-2352-E466-015C3CF3F9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1F65073-39B2-ECE9-F4FA-BA5E729448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C72B3C-712E-A7DF-D83D-60BFF3F5838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FFD3AC2-7FCB-B17D-56B3-26BEB48A41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53B4413-E482-2CE4-07FD-B76E82585A2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FF61FD4-F396-E179-3A2D-056FB83E6C7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03470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8A07BB-12B5-8BEC-2F0E-E8D94158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Before we look at massive matrices, let's look at a robot on a 1-Dimensional train track.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Its state is just one number: its position on the track,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 Its uncertainty is also just one number: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Together, they form a 1D Gaussian (Bell Curve) representing our "belief".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1553DE-1FC9-A108-70AA-CE4F321047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909B984-032F-143B-8486-3672CA3DFE3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38DD75A-722A-42C3-B592-8087EF86197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0733E-2711-9ECD-183E-A720C5E003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974EFA8-5AA6-7F56-A5EB-096910145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83DCC83-1B18-29FF-9B56-6219EB0E0F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B0A41D-F920-0600-5286-811D11480BC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2DCF1F-D150-CBC3-BA0E-26CE575C06A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4980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BEB7A0-9C14-A99B-9284-27021024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ADEE7DE-F787-2BF2-817E-CF565E6C3D7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7BEB2D-D533-4BAB-A122-758A7FAD7AE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CFED6B8-22A3-E25E-6CFD-512B7C36D01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CF868A-512A-0A57-2D65-B294682C3F8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302325-1FD4-7B7B-9C68-5CD28072399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FCE4BEA-CF12-4F1F-D2F7-AEF804C7A2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021BCC-D959-5D13-B3E3-E511995B193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31B2141-4BEB-7520-1011-8ADA48C6DFA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F36F80FA-8AB9-CA0B-87D2-56033447C5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817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3D3F0FC-7A2B-0DD8-DB53-01441FCCE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robot commands its motors to move forward by distance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Our new predicted mean simply shifts: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𝑢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But moving is never perfect (slipping, bumps). We add adds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process noise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𝑚𝑜𝑣𝑒</m:t>
                        </m:r>
                      </m:sub>
                      <m:sup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Therefore our uncertainty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always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grows.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𝑚𝑜𝑣𝑒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8E1554-8107-F257-CA0F-17B68BA099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1B21338-72E2-D33F-10A5-18DA957FCF6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77B434-106E-59F3-C7C8-5A6260022D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734453-4DD0-54A4-CA8C-56A904E7CB9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42B63A-ED3E-6D46-10A1-0C8D45D5DD7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2EDD6-2B9C-0A51-9BA2-278B4582ECD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6CECA21-4760-0C19-5F59-D2C13CBF30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29AFF5-62CE-11D2-2B88-EC9E84A067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166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CC46DD4-F0E9-00D1-9DE8-8AC37EB84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E34F803-63E6-9716-FE5B-13F0C9E1000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05FE115-D2FF-CEA9-0592-C9BFE02234F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98374-1E79-0217-EB38-764EAEBC69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A71898-D5D9-E0E7-E6D3-1CF6F27854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A12D5EC-6E0F-A584-3A61-BA11033E584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407C28-2849-08A0-6C8E-ABB8ED8C64B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30F84C1-D990-E94C-FF99-63B9665F28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45626C-483F-21D9-BCF6-BE1A8B2906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ABCE8D01-A433-765C-31F8-999610B4C6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712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3F0C36-C162-5986-87D6-D1B65829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This prediction updates the covariance and the means as such because we are assuming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Gaussian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random variables.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Let X and Y be independent random variables that are normally distributed, then their sum is also normally distributed. i.e., if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𝑋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Then,</a:t>
                </a: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For how to derive it you can look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  <a:hlinkClick r:id="rId3"/>
                  </a:rPr>
                  <a:t>here (from Wikipedia)</a:t>
                </a: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4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C631F36-F78C-757F-C1AC-5348001429A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74A0024-FE46-52C7-8BCE-E45E2DF66AE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631BA9-D174-6F92-B57A-F72156AEF28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1233507-DD4E-09E4-8B19-F3F68F287C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2F46915-D4D0-20B4-EA15-BF71A35D65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D619B1-5C2B-042D-B7CC-21B3DCD381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A89019-4475-CF78-5C5A-9F557006AD7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86A4B80-EAA7-9252-6199-762F8EA1ADD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5819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61C6F48-6502-7594-732B-3309D0AA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9612DE5-007D-444A-BC56-F3B3CC1FABD0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3F9511B2-D0F0-B479-B055-1332C0E28693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4EABE5F-B5FA-990A-EC98-EDDE5603B36A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66E5E5D8-F2F3-4639-917F-8333F14E62E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E9551B3E-856F-2CBE-FA3A-C3FC310E0AB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67DE7A0E-06C4-1650-A7B6-044D5411F4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29CE709-52AA-AAEB-F8F4-A01817D0D7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8198507-8C05-C9BB-3571-D0D1C82A4C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7D004251-199A-1E4B-0EF1-41D56E6416B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FF6B2B7-460F-4FD6-6D3C-EEE2C975F3B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4497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74BA4E5-9F0F-9A96-BDA3-71D0F40F7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Now, our absolute sensor (like a 1D LiDAR)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takes a measurement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It says the robot is at position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with a sensor noise 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now have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two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Gaussian curves: our flattened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prediction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curve, and the new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curve.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How do we combine these two conflicting opinions into one single truth?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B389A5F-DDEA-D4FB-5C72-809C560730A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F28F7A9-7BE0-C541-B732-FA8D7F180F7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D93A15-F017-8647-ADDA-B94836B7C7C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4CE0E9F-80C7-E742-AD1E-0E862F37548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21A9CB-89CE-3748-D3A0-7BFD6CA54D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2C7A10-2D1D-BB01-4755-44EE5C7E8E3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2C9B73-71F9-CADA-86BF-1672C407AE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BD8AB2-8849-7911-19E7-ACE33DE0C1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19691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BC2D05-6E4A-839C-D75F-276EC3DF0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6AA350-1B4E-77A8-1016-25D64DD4A0A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6AD620-B882-938B-3FF5-330530767F6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E1E9622-ACC3-403C-C00A-7507A9EE1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5B086A-912F-86EB-F78E-8F5EA17AC7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1017A1E-A54D-1E8A-0AE7-D75969F664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91C21D-8D99-3DFE-7E8B-4CF01F727B5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2EA7E2-F515-7D6C-9BAE-BB3B533073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A279F-E552-03A6-9719-2B54A8AC64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F02FE44-DD7C-2BF2-7311-06C963C661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000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411D8D-9382-4533-2668-A5DA8264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6FCB5A3-559A-9BE7-2A07-E8D4BC2B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In probability, to fuse two independent estimates, we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multiply their distributions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together.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magical property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of Gaussians: Multiplying two Gaussians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always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produces a new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Gaussian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Because the new curve represents the overlapping area of agreement, it is always taller and narrower than both original curves.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Fusing data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reduces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uncertainty!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9CE65A-43FB-1C3F-DFF4-2B3EC93E19A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027510-26EC-0DE5-6059-60AA11D1561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80E73D-CC32-C367-291A-5A4D9CBD8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64F0A1C-AC21-6003-DC0C-94CE247462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D7195FA-2F8D-2084-4C68-1C64BA4036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95B1338-A756-EA86-02FA-7455B9B247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E65568-EAF0-88AF-69F4-C83A9F7789D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557CFC5-14DE-9E58-4677-5B0C9D07455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446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3E5ED3-D160-09E8-9563-3285D3270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68C3C2-1F8C-EB2C-73A8-6C194BCEDB5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1E60B4-5694-9B3E-7FFA-168184A0D63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B8F665D-933A-FF46-9E21-A8EEC2F629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EF40B8-2E7F-81C1-F574-6A9541D3B8F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930D312-0777-8A9B-06BF-0697CB0E7B4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4F521A9-0F0E-4695-2DA0-57878F41FA5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8F6DC97-169D-1278-9FAA-9C0D36EFE0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3F7635-8046-F458-BA19-E643EF89A7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E7AA5F7-52D4-DFA6-6A7F-55939E4848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7054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EC0D3CB-1908-7BBE-261B-D4217231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A140B39-747E-CD9D-551F-D1D7844A4A5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Prediction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Uncertainty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Total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System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Uncertainty</m:t>
                          </m:r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the sensor is perfect,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=1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and then we trust the sensor completely.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the sensor is garbage,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we ignore it!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A140B39-747E-CD9D-551F-D1D7844A4A5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B77F08-2B14-4454-3F63-7DEBBC302C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BD376A4-B652-DE0B-6666-1B2A9D133DE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1268616-8F73-D3BF-93DD-EFAD77DEEF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306C20C-09BF-39D5-F89A-1D1BDC68DDD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547339E-497C-3C54-E3B4-936167C4264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83EEDB-4A4A-79F9-4A9F-74A8466678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E173F8-2F4E-B2CA-E66D-E78F4F876B1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A04616D-8F99-7163-8F54-D14FD9B0D4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16857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E7F8C3A-06ED-81E9-F50E-0B296E5D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is just a ratio! It's the ratio of our prediction uncertainty to the total system uncertainty. It always falls between 0 and 1.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We update our position using this ratio: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All it really says is “how much of the measurement should we incorporate”?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26198B-48F2-DBCF-8ADC-27C9B15ED6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DAD612D-E7B0-AEB4-8812-5A201F6864A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ABA8F1F-1CDF-2469-E334-67184D9835D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9FF714-8212-1644-54D8-2E0B2F32E3B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29C982-F4C8-F9FB-AB4A-36EFC8A346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1830561-F7A0-25BC-90E5-74639DD54E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F1B609-BCB4-8415-9969-D8EE64E455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4F9F58-9660-3CB5-D29E-8D99CA0160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248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DB73DC2-58D2-91F4-F2CF-B9E7021BB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That’s all the Kalman filter is!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current limitation of the formulation?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are only looking at a problem with 1 state, can this be generalized to be N-dimensional?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For our differentiable robot, we live in a 2D plane with 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and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can no longer use a single scalar number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for position. We must use a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State Vector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can no longer use a single scalar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We must use a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Covariance Matrix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96777F2-6C77-51D1-C8B9-64F1920EBD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6715D4-8B00-B85D-2167-91DA621CEF8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2175EB-3F6C-D62D-25BA-5217911047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FD85456-00B2-46B1-8819-CBBE0ACF49B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D03A0D-5C42-625F-8B21-357E15F06AC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898B86-ADAC-9156-40E1-55BCCF20AC5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7629CEF-B88B-5097-7BCE-AE0738D50F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64DB92F-2773-0CA3-01CC-99F2DD8E3EE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279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178026D5-642E-5FA9-B24D-BB2F9724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D81CE76-DDEC-FA99-FE82-7667F179E333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ND - Kalman Filter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89C1F07-A7C6-0EEA-CFAB-6F81C647B9F5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880808B-6498-A126-653F-999B98699611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56DDC46-269F-36DC-A402-F6E99CDF68B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78E0BEC5-D794-6D25-29A5-3AD4D43A3A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721836FB-150F-B968-985A-700320E88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620420A-DDCC-006C-B82D-A8816FF2F838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C4DE278D-5E0E-C64F-6934-39A876AF81B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8FBC960A-FF3C-4EB4-A835-CF3221E4AD5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011DE33F-D1A3-A366-7206-3D6A422E3A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2049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57C5B89B-AD73-052F-BE6B-E2D5E4828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D972F50-0BAC-51F8-4674-B2E240CF2F54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723464BF-EB2B-8CDD-8CD9-330961639EDC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1A7A3610-AC45-2DEC-4EF4-C7B00CC4CE1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8823D590-5B53-D3FA-297C-FFDE942030A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0FEC59D2-D2A7-D664-A59D-8CF83C66544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4691F89-242A-4F33-F3FD-67E3F1272B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D4CAA65C-DD16-7ED6-E55C-3B7BC86523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11E5D39-7D89-943D-BB1E-5FEF15C337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076A2E18-640F-E2D4-5E9A-72D8DA6662A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61E9803-1AC5-8F81-A128-A5A1A7B68B1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6949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0D03BE-2741-77CF-6AA5-8BA5A79B7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A06F7D-0576-FD78-083B-927F78519E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81555A-9873-C25D-2321-857A0246152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1F5E44-655F-112D-D445-334EF4CACF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A2C5C-8A0E-264A-6A39-30BDB621F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9914FF-C258-88FD-8E53-23A285BD30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A0F55D-2807-04CD-4C04-8051D66EAF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AB8E005-277B-C577-1754-E2C0532E3F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9C2ECA1-AEEE-E5C1-7E1E-690F0A62674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912C74F-6B49-F930-5A27-F2BCE85E1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93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44DA11-165C-EF65-7459-9CD026C63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Let's translate our 1D prediction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to N-Dimensions: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𝐵</m:t>
                    </m:r>
                    <m:sSub>
                      <m:sSubPr>
                        <m:ctrlP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b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state vector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our state transition matrix (how physics updates the state).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1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0227CA2-F185-B75C-D910-453CF3B33C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A53280-0AA5-9631-2590-CAEFD5F700B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0ACA5C6-E616-E19C-B0E6-2AD169E1F9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2877C7-4046-CCE7-234B-808887AA0D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8A48F2-0323-8338-C1D7-A599CD56CAE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94BEB94-A006-4683-94C6-6D6CDDE226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AF02A8-C81B-135B-84A1-948CCF04CB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537A04-12BB-77C2-3FBF-EA34608B67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7871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327B7D-7FEA-E73A-14E4-93893E95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7F16B4E-1D2C-F7C7-08EB-B89D3A9E543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CD9912D-E46C-999C-21FE-A93DE3C8F32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C2C88A-8817-7E05-6C4A-38745E9C93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B5255BF-C516-3744-8215-EF33C32A783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8065CE-2002-7252-9D2A-8EDB18A7E1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7690B1B-39E0-1563-0CC5-EA5DE91AD4C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87750E-4C26-ECA9-62B0-C7290E8BF7D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2D8D187-1A56-3B17-669A-64FD3892DB9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D571A45-C401-F0E2-ABC0-41DDD883CA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65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85EBFB3-1EF9-8EC5-867F-1BFD8C69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represents multi-dimensional uncertainty as an ellipse, not a 1D curve.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diagonal elements are the individual variances (e.g., how unsure are we about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independent of everything else?).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off-diagonal elements are the critical addition: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Correlations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our robot only drives forward, and we are uncertain about our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will that create an uncertainty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as we travel?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Yes,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are highly correlated with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CE9117-7D7E-73E9-FCB2-D173B899D60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2E25B4-9C80-65C9-0132-0BC3107A42C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268C4F9-6EEA-954F-1101-5550EE4698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98213B-00FB-430A-FDF5-638419BC8E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693843-1AC4-F863-C72F-63E16D30714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0E8B05-3179-DEEC-574A-3A98802C08E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50F6C8-41A2-4DAF-A588-1B86396E54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6273D03-808C-03FB-F450-60DB1E081EE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5941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747B13-4078-2579-5CF3-192A99C6A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A99B7E-3621-627E-2235-8438A3DDF0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9405DF6-419E-CCD5-D645-2A4BF021AEF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6368A7C-58D1-ACE8-0D0E-28CC016916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984D39-5F9A-3DFA-E2FD-4F34C8A1DA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C4320B4-4EF9-3A5F-1697-3CA8CA71BF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EBF7F5C-2AFF-FAEE-F225-E00853602D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0C9D257-AFD4-BDF2-8B45-B783A65F0B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BA2575C-A1C0-F20B-2B6C-2F29DC269E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7EA5D460-2371-5DDC-7B12-80A2B905D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80638" y="556313"/>
            <a:ext cx="6430725" cy="643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19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E8E72C3-8BEE-CEC8-6058-7BC826509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Really?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Before we calculate how uncertainty grows, we must define what it is.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Imagine throwing 100 darts at a board.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Expected Value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[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]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or mean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is the center point of all your darts.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measures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how spread out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those darts are from the center. It is the average of the squared distances from the mean.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write this mathematically as: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036BC4-3069-A517-9085-A6B0835EFC9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E81DB4-AABF-ABD8-7008-DCB0C1BCE45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A1F5C47-8016-E787-4409-DD855A1AEF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2EE9FB8-DBB9-F93F-7175-1EAB0A5EBE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FCFEEC2-0152-918E-1329-173D4AD4621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87EC6B-71AE-3ACE-3B89-69A4B7F43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540CD8F-032C-C367-6351-C8CD108322A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E28E6B9-E7DC-4370-2429-D59D886C3DE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124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9B016A-07A7-5B19-363D-207486F4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happens to our uncertainty if we multiply our state by a constant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(like applying a gear ratio to a wheel)?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err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𝑎𝑋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a constant, we pull it out: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ea typeface="Arial"/>
                    <a:cs typeface="Arial"/>
                    <a:sym typeface="Arial"/>
                  </a:rPr>
                  <a:t>Thus,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Scaling the state scales the uncertainty quadratically.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a motor spins twice as fast, does the position uncertainty double?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No, it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quadruples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ECD4026-4D30-6469-3669-618C555F35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44AFBB-DF47-2AE0-6532-CE0CE735CE0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970C62E-C339-ABCD-6424-1B1C2DC2644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A17A87-19B7-DDC3-C604-742D6D871C5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B321BC5-3AA3-F483-F378-DF42140276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432A3FD-B547-089E-F7CA-AEA48A11BA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7FDE8D2-6085-15D2-4857-EBCA2FCCC8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DEB2F-9DC0-C942-4A34-FC3B732285F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883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6ABC5D9-A4E3-F417-E87B-C568CB9D3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Real robots experience random bumps and slip. We represent this as adding a random noise variable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to our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Assuming the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completely independent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of our state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Substituting our previous proof: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This simple 1D equation is the exact heart of the Kalman Filter's predict step!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58E0F47-638B-FB83-2BA4-6C20B2B80E1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2B7CD04-32C8-4EF4-7257-53F64BAE02C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A1644AC-33C8-3FE3-8176-1E23A6EB5C7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EB56B4A-3928-CDA4-D22E-F2CB78B69F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569527-4BCB-50B6-A764-D4FE0D2BD7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071F-C80E-9823-7D72-1116E9BED2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E4201BB-6457-D8B0-9711-EAB861DCE8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AF5DD5-A184-15AD-515D-31840C0A1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839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C7E1C4-9EF9-CDC5-BBD8-7D67CAAD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1D variance equation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𝑛𝑒𝑤</m:t>
                            </m:r>
                          </m:sub>
                        </m:sSub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In a multidimensional robot,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State Transition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Process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how do we square a matrix to get the equivalent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? We can't just write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4EA7C8-CF95-8E49-E830-29DE3D4417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8E689-A0A1-04AF-0F6C-D863EE78F3E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1A98E1A-F638-3A1E-85FC-71CC62575D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27A1F5-0CD8-27F7-16CF-09212B7524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141965-4ACE-2488-025E-00B33BDB1FC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A56BB5-C90F-7ED3-DF10-A885B11232D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EEE12D5-33E4-4A05-47C1-D600472039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739886-C430-5F59-DD3B-8DA7EF2A6E8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740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2667E1-5F67-0DB8-5C09-D06E398D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In linear algebra, the variance of a matrix transformation is derived using the transpose: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𝐶𝑜𝑣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</m:e>
                              </m:d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𝐹𝑋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𝑋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By the rules of matrix transposition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𝐴𝐵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𝐵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𝐴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pull the constant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matrices out of the Expectation:</a:t>
                </a:r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Adding our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we get our final prediction: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29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204EB41-99D2-CB91-1D37-E46749CD5D6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9BE1EE-B9AA-5E6A-F60B-C6EA7E0E6A4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3C5DF78-BDE1-1A56-16A7-F8AE22EAB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1B89505-CDA3-4401-1E4D-2693F070747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33D6E1E-2E62-DEB3-5B7E-AC24130879B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17DEB8-70F4-3A64-38DF-9A99EFCC9D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94B319-24C4-3EF1-B583-15D6241A6B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5237A-482F-6977-C5F2-1115686A8E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7636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EC627B-6F9F-1879-29D8-4BB941F3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BFF4C25-583E-847E-B3A1-D0F989ABB9A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multi-dimensional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Prediction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step is thus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6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6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BFF4C25-583E-847E-B3A1-D0F989ABB9A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198E611-10C8-21CF-4EA9-DDC28F1D015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1E09A62-1204-9FD4-2553-E556C05F120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B553397-F743-290A-586E-9BB98759BF4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67CCE68-1474-75D6-2926-91DDC61E8A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D18B47-DEA2-374D-ADF7-A1FD301054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BEBF4E-3F5B-FB79-08A6-D3AC3D363D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2DDBE37-C00A-D436-0498-9E66BA3148E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09C9F6-BBF7-D591-B9D3-565919F5EF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4593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F69A64A-19C9-08C8-DDE3-FE66D1FF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4C295F-96BD-4918-1F74-AC997FBBA19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6BC45DC-6C69-AC7A-66D2-F56524700FF7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18FC36B-1E6B-C96B-92B2-1595EE1DF04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B8D16E4-7B13-FB08-E11E-10C7E38A7270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15E0878-88D7-E8A2-830B-BD8AE32E95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F4B8701E-01D1-C11B-28C7-67A99241B3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B4FE3106-A569-BA6B-AC5B-10392AD8E3C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C2F044D1-C0E1-25BC-D2D0-C870ACFE53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DD693D82-9BD4-24F3-BC33-DD1CA4926C6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CFABB74-8B08-B3E4-E3FF-405B5A804F0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68076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8E5D3BB-280E-F770-9958-7B688FC8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We’ve successfully predicted our new position, but our uncertainty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has grown.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Now, our sensor (e.g., LiDAR) provides a new measurement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have two imperfect guesses for our position: our prediction and our sensor. How do we fuse them? Think of a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Weighted Average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If you and an expert both guess the weight of a robot, you don't just average the two numbers.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You give more weight to the expert.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𝐸𝑠𝑡𝑖𝑚𝑎𝑡𝑒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𝑚𝑜𝑑𝑒𝑙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𝑃𝑟𝑒𝑑𝑖𝑐𝑡𝑖𝑜𝑛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𝑠𝑒𝑛𝑠𝑜𝑟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𝑀𝑒𝑎𝑠𝑢𝑟𝑒𝑚𝑒𝑛𝑡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F487B5-ACFA-2081-4072-44F50F0AE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51BD0F7-D1DE-D5FA-9091-EDC8632AD66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4871D5E-C47B-9363-5497-9891AB08EB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2867A2-B064-5FA8-1DA4-A1DF25F1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0B94D61-43CD-18B1-64CF-67BD449C64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E2AD41B-5803-CB75-1F76-8283E0AB19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6398C4-4C01-C859-9ABE-D55A66CCAD0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59644D6-A071-4A41-1301-00473DDBA7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6959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8CCF289-5619-5F94-9267-60F71C15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Again, for 1D the equation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Where we have: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our sensor is perfect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), what does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become, and what happens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1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and our new estimate exactly equals the sensor measurement!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2680AE-216B-F2BA-858E-EA32CED86B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2B6C4B7-F2A7-DAD7-D393-31C9AA508EF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2F565-EDB0-C0C5-7B83-F7C9CC2928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498C3F-0345-1C93-698C-C0311EB3583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E8957EB-82E7-1FAF-ACF2-AA1F04AC8E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8DDF4B4-0E9D-A741-1565-B15D3C01EA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011B75-845E-2439-2097-C8609147C5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DD0338C-3C11-3999-5C0E-C5B8BF20008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1909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E9685C-4611-C60F-AC9E-8760C83A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In 1D, state and measurement were both just position along a track. In 2D/3D, our state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But our LiDAR might just measure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straight-line distance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to a wall.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cannot subtract a state vector from a distance measurement! They speak different languages!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introduce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Observation Matrix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), which translates our internal state into the format of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Expected Measurement =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</m:oMath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C242EC9-ADA2-F29A-E08C-D68DC3E9BE9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4EF55EE-03DE-195E-716D-A63E94C422A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1DEF6CE-160F-DB0B-4CC0-BAFCA11BFF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2EE61BB-6C9D-4637-7989-C0789ED69E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7C8B5ED-B33D-55CA-C835-2249208C83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970939-F86A-3EAD-B9ED-D11E21AFF6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C12B160-17F1-B58A-5D9C-006AED511E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5D22F1-2485-C6CC-7422-AE7646EAB5B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798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C1FBAD-4841-66AC-EF9F-1DAB92B2B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our covariance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our measurement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we must map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into sensor space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Just 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for motion, we 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for sensors!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00167D7-B8C4-BE72-FFE2-CAC26A12EBF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4F2F602-B691-FE4D-AEA5-F4029CCB397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B68D8F5-0A0A-A074-6E72-9DF12F416E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78006B-3A18-27D9-C1D2-A3F031854ED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872ED4-E921-7296-A93B-D2BADDE90D3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164F5F9-B724-BD41-3781-6A8C4A3A539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4105440-2358-6699-44ED-CEFD04F28C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0D446F8-7EB1-370D-F217-828A5080A2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549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BA1ED8-BA63-C08C-B272-85C534B9E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numerator is the prediction covariance mapped to the sensor. The denominator is the total system noise.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Because we can't divide matrices, we multiply by the inverse: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𝐻𝑃</m:t>
                              </m:r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F0E94B-AEB8-7E61-AEAA-B696F3C0B3C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9B3820-9599-69BE-FA22-BA7C69AA40D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5C2B5E4-D5A9-CFE1-D9BA-A862308DEF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286E2A-B36C-0DF6-ECEC-66AC57A70F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A1E93BC-63C4-08BA-B6E3-BDD9A7F1CAA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56FEBB-B8BB-7A06-FF1E-0C75C01020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490F9F5-1681-1D5D-B1CB-14DDEADE7D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AEEAF82-F476-D665-A055-B3165A5A2E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8036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56B897-DEC8-2B26-D22B-BC7438008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ABA63D-676D-DB15-AA7C-008A0C1EA80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27FA70-6F56-3C23-FD71-9F7EAC07C13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B43CD4C-B581-B87E-3035-36A4C64BB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05AF36-36A8-3B2C-CD6D-4516197DBD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4A988B-12EB-43B5-78FD-3A43F1BD0FD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93B84B7-9D80-F8D9-B84B-CD1B62AF153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A331E9F-9559-044D-1389-295DEE88CF0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C646723-2410-5FB4-D47D-69413E64966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258B433-0AD9-AB4A-4E5E-7067A7B3F2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9757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AE040A-7D15-0295-5020-984F53494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Now we apply our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to update the multi-dimensional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1D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𝑝𝑟𝑒𝑑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Finally, we update the uncertainty ellipse. We pull the information from the sensor out of our uncertainty: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the Identity Matrix, the matrix equivalent of the number 1).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And we are done!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418" b="-1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2C050A-4674-A80C-CC95-7CE77F0909D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C4D5CA6-CA4D-A84D-ED61-130637CF49D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9A78A4-A45F-3D36-4377-BE970A379B7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10EFEE-D783-E85C-4DC4-5E1167B7EF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E3C1F41-E88C-E5CB-639F-05993716316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E0DD394-78A6-3A04-CBCE-76E0ABCCF2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2A098B-EE22-DED9-1CC0-C114DC3C767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7187A0-05F2-DBA7-3A1B-5C00F76FABE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50896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DA9AB8-2BF0-674C-F21B-898EF7236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A2ECFB-738A-C93D-F220-341A0A7E9B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FC1EAAF-3AEA-F8C1-E89E-B529C8A2BB7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F0A8007-CC4B-657F-97AA-BF012427A8D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46FB9A-6A10-591B-6DF0-A4A6DE3222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7D0EE-E257-5840-A668-915D9DC729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79E7C1-E117-598F-ECC7-320DFA5582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3CD6CD-D61E-68BB-B4C2-E94CF9B2EB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213CDB3-FCBD-033C-7FA6-2C81ADF001A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7BD1292-1381-74C9-7D60-929C34529F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256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1A12F04-D8EB-C94D-12CD-8C30B11F5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what does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𝐾𝐻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mean physically?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Think of the Identity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as the number 1, representing 100% of our previous uncertainty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maps our state to the sensor.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how much we trust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percentage of uncertainty the sensor measurement removes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the sensor is completely useless (pure noise, K=0), what does the equation become?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d>
                      <m:d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−0</m:t>
                        </m:r>
                      </m:e>
                    </m:d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Our uncertainty doesn't shrink at all!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56D4FED-072D-4925-AC4B-3C18124748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0C6C0C-18F7-78C5-2CEC-D622CFBBA9C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73F8A6-DB58-B672-DA65-2CC05B3C19D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B9323EB-2B7C-BD05-FF2D-60A6FF7E05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6ED305-2F67-8665-AF87-2AAA7DA23BD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C95B91-31B3-8134-935D-7427F25A6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D68C02C-2AD8-B340-E1E2-C2A6F2C01B5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28E4CF7-203E-95BA-5314-4A7B9D184F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89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F7DFC41-D516-7E94-017E-B667648C5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Prediction:</a:t>
                </a: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State Prediction (Where do we think we are?):</a:t>
                </a:r>
                <a:endParaRPr lang="en-US" sz="2300" i="1" dirty="0">
                  <a:latin typeface="Cambria Math" panose="02040503050406030204" pitchFamily="18" charset="0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Covariance Prediction (How uncertain are we getting?):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Kalman Gain (Who do we trust more?):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State Update (Correcting our position):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Covariance Update (Shrinking our uncertainty):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4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65CE801-BAB7-A218-9AB6-AC59568D41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09875A-EDAF-C7F8-E0FB-D9FE2CC5B03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53636CA-143C-A6E6-E065-7B439B068A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AACB31D-AB74-231E-C81B-B6C2E9D36F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655265-183E-41C1-028A-00677A217C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B5225A8-6CA1-D221-A30C-DB94FDE827B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B6ACB1-ACDF-5EE4-9493-248A6C3655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B67D41D-248D-DEC3-4302-4CAC0F980F4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19897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D8AEEAF-DD7F-FDD5-F0A4-0106A263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200EB2-CF9A-5D3D-3146-58E18650A71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65A6397-DEBB-BF1E-DDC8-281F16FF509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DF86A-2C63-3430-D379-93D523263E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E555416-5570-4699-D86F-D3F14E2D8D3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E6F546-5ED5-8698-1C6B-1122009AA1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BB8AD6-9E40-2413-A4B9-AD895C60BC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2A915F-BEF3-EE49-DD69-BC8012DE2F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FE8DEB-BF5E-2B33-F489-DFB3CB80C0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𝑚𝑜𝑣𝑒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𝑠𝑒𝑛𝑠𝑜𝑟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𝑠𝑒𝑛𝑠𝑜𝑟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𝐻𝑃</m:t>
                                        </m:r>
                                        <m:sSup>
                                          <m:s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e>
                                          <m:sup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p>
                                        </m:s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122000" r="-3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122000" r="-2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222000" r="-3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222000" r="-2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315686" r="-3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315686" r="-2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24000" r="-3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24000" r="-2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524000" r="-287791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624000" r="-3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624000" r="-2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724000" r="-3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724000" r="-2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613982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07921" r="-3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07921" r="-2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53565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4EC33857-135B-AB50-1507-C754507A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9E72938-1689-2B23-6F6B-C2EFFC013ED8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5811111C-06D0-FA3E-B154-B6624BA11E03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Optional Derivations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75C67633-2500-6059-A049-8440CF6C8F5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F31AD-D16C-1367-54D3-146BC92BC17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B7D66021-C30A-9BEB-7B79-0F7694BCE8F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A3504242-8444-A1F8-CD2B-33DA99CD94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02150D2-E29E-9D3E-1E58-A383C8C449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D3FDF156-ACF3-B775-4C2E-F056166E02A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575B9E0A-E1CC-680E-2909-520A88F91FB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945E8F5-36CD-F223-41DA-6C55FEC2B3F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955751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274AC9-436B-C113-2A75-EDD37E8BD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To derive the multi-dimensional math, we must define our ultimate goal: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Minimizing Uncertainty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Mathematically, total uncertainty is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sum of the variances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of our state variables (the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diagonal elements of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sum of the diagonal elements of a matrix is called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Trace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written </a:t>
                </a:r>
                <a14:m>
                  <m:oMath xmlns:m="http://schemas.openxmlformats.org/officeDocument/2006/math"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𝑇𝑟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Thus the objective is to find the Gain matrix, that forces the derive to achieve: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3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E951129-192E-D12E-AC6B-555B91519EA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92E1B41-7B76-B7AB-6E59-9F45EE29B05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268556E-5330-F865-3CC2-23BE16728A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C4B7F32-34E8-586D-3968-452A5DCFADF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07AC03-0533-1551-F34F-9D39F181CE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D58D728-3246-5924-7090-9B3B8C01770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8DBABE-2630-95C3-D499-66E5436A49E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DE46740-6A8B-A59A-12A6-17FD3FC2E4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599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06CDB5-1F0B-5A8F-2308-6EDAA9D7B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Let's define the actual error of our updated state: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𝑒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𝑡𝑟𝑢𝑒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We substitute our update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into the error definition.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Covariance is defined as the expected value of the error squared: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  <m:sSup>
                          <m:sSupPr>
                            <m:ctrlP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Expanding this massive expected value yields the universally true </a:t>
                </a:r>
                <a:r>
                  <a:rPr lang="en-US" sz="2150" b="1" dirty="0">
                    <a:latin typeface="Atkinson Hyperlegible Next"/>
                    <a:ea typeface="Arial"/>
                    <a:cs typeface="Arial"/>
                    <a:sym typeface="Arial"/>
                  </a:rPr>
                  <a:t>Joseph Form of the covariance update</a:t>
                </a: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Why do we see both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(model noise) and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(sensor noise) in this equation?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Because our new estimate relies on both, so both sources contribute to the final error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0FE1F3-1C29-1E21-A7F3-BFDF337F9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AD53CFA-7BE3-6AD5-7180-3CCF26A0CFF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5037B2-81B8-96C9-6776-1F2AE51DC87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8584A6-55A1-22C4-FA76-C682FBBC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64786-DBF6-7B3F-E0A1-3F0D663D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9515808-2577-D1E1-C114-23B8031E069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4F0A57E-6D58-C184-4486-64AB1075C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371933-6D63-FFAA-EE1A-AB243F05DC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953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66D19E-F35C-6978-CBAE-71744A838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We have our covariance equation. Now, we use matrix calculus to minimize its Trace:</a:t>
                </a:r>
                <a:endParaRPr lang="en-US" sz="2150" i="1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15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Taking the derivative of the Joseph Form with respect to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yields: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−2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Divide by 2, expand, and isolate the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terms: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There it is!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term emerges naturally from taking the derivative of the covariance. It represents the </a:t>
                </a:r>
                <a:r>
                  <a:rPr lang="en-US" sz="2150" b="1" dirty="0">
                    <a:latin typeface="Atkinson Hyperlegible Next"/>
                    <a:ea typeface="Arial"/>
                    <a:cs typeface="Arial"/>
                    <a:sym typeface="Arial"/>
                  </a:rPr>
                  <a:t>cross-covariance between our state error and our measurement error</a:t>
                </a: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r="-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34F522-4643-14F4-40CD-3876D6F8E34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BA39E3F-275A-9D5A-BAF7-969391E06A4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E463C07-97D1-F686-C908-D359966E2A7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EFED57-9E8C-E1FD-8861-00B323B6D1D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DF72137-5126-93C6-E270-25A121D442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E979EE7-0796-C8F0-58DB-1231933D5BA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E6B8F8-70F8-25FB-D30E-8A9B2EF7DB9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DF958F1-4751-B84B-8E83-9B51E49369E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7966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A38B4C8-D79A-D713-1B78-6F3A9859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Now we have our optimal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But calculating the massive Joseph Form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takes too much processing power on a microcontroller. Let's substitute our newly derived optimal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back into the Joseph Form.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𝐻𝑃</m:t>
                        </m:r>
                        <m:sSup>
                          <m:sSup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massive sections of the Joseph equation perfectly cancel each other out.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equation collapses into the short form: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6C7794-B025-0D31-D258-6877AFE322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602B0EF-FB34-256A-7FDB-707F03FFC92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0DD414-82B2-1121-FBAF-EE81108B03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A4B7E33-9CB7-C541-8BC3-3CA8FB9F83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1622B32-7B1B-05FF-18EE-8BF63AF9949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98CBE1-BC35-8A5E-7602-4D40421766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99734A-2E5D-DA57-6F9B-7109CAAD611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BCA8FC-AC9A-7B0A-7F36-D3E7C04E73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82670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2FBD52E-76F9-4322-FCE1-7B1E06BAC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AA8EC63-4360-B126-CF2C-E4E3DA9041ED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Kalman Filter Example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5963495D-0245-29D1-BAE9-9FCFABC459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B1CA421-4148-F26B-197E-47407E764F59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E34D3D9-AB86-4C33-D085-8DF6C49E608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434C9A5-3942-5734-5288-5904455960A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78CDB3B-DC31-70AF-2362-A90E9320C37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35470888-80F5-094E-A1E2-4258EBA55CC5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908DFECE-ABEA-1B03-DCD0-793D05FA2B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236CA14-8EC5-5DBF-D8B4-E06A42968B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42E1642-6321-67BB-95BC-85F8C4BC40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08263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3C30CD-1B65-20F2-E066-1245C808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F6F4D47-DAB0-24EB-3A0C-0D22555571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Kalman Filter works as a 2 steps process, what are they called?</a:t>
            </a: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are the conditions on the sensor / process noise?</a:t>
            </a: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are the conditions imposed on the state transition of the system?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E2EF820-4A0A-FC19-5F69-A7B8D060C9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4651D24-31BE-1EB0-3B75-F1BF79E9E06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B7226CD-1562-0B62-C3E3-F4B3978E46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DDD2DC3-5265-145A-EE6C-7CC65F31D7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5C4AB5B-1743-835A-E06C-123AF5F326E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5A7184F-4745-FCC6-45BB-7D010FF913E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C39536-5BA7-38DE-F091-D1926C84E43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94AFB19-ED94-969C-7541-DA079609E6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70281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8B026BE-5D94-22CB-B4EE-63B261AF7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3ED04D-7E89-264D-0AD8-019C05FAFC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Up to this point, we have looked at a lot of theoretical matrices: </a:t>
                </a:r>
                <a14:m>
                  <m:oMath xmlns:m="http://schemas.openxmlformats.org/officeDocument/2006/math"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that is always difficult to understand. We will build a complete, multi-dimensional Kalman Filter from scratch for a simple robotic system!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Let’s go back to our previous autonomous train example from before!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3ED04D-7E89-264D-0AD8-019C05FAFC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A8C9263-8CA8-4F4A-2792-7EC1250391E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1BE017B-A888-BB83-AB6A-78F80CFEA7E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0E02E32-5B4B-0415-5D3A-421C81FFFD6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339AA2-699F-3D16-F402-1E23D13653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1F0B2B-1522-0FBB-4340-2670D883644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6DC924-F250-8380-548F-AA1662D9312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9E9323-E056-B25A-6C9D-C939925DA75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6A5FF2C-7E8F-8794-F3E2-54FD21224AB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8098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04601C3-8FEC-ABFB-97FE-32E9FA7D0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BE9A57-F1F4-2282-FF6E-A2FA834B75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Imagine a simple robot constrained to a 1D track (like a train). It can move forward and backward, but it cannot steer.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want to track both its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Position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𝑝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and its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Velocity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would our state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State Vector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is now a 2x1 column matrix: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BE9A57-F1F4-2282-FF6E-A2FA834B75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B1EA85-EE60-FCDC-6BC5-ECF5FA08F5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BCAA2DA-153C-54DD-1F10-1BB1BC2BC40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955BB5A-57B9-49FC-5FFB-6F4B89621BD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F6D3AC-0205-DFC9-992C-732891A7A7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52C4F8F-AF67-B2E5-A4DA-D38681C309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0689C9-1D28-7E50-8BBF-9DE99A34E04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47B4831-7AFB-E22C-BD2C-AF2034193E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0B8FC6A-5535-A496-D1EF-ACB77388662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3027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78A0BF-2AC9-DA99-F4E2-9C8392E1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BC2FDFE-E16B-633D-6B11-D85E4B5FF12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To predict the future state, we need basic kinematic equations.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our time step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the new position is the old position plus velocity times time: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00" i="0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2300" i="1" dirty="0" err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Assuming a constant velocity model (for simplicity), the new velocity is just the old velocity: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BC2FDFE-E16B-633D-6B11-D85E4B5FF12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187D44-F9A8-06D7-31B4-576D77050A7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F4FD37-8860-786D-08CB-751FD295740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F28082-BDB5-0419-0597-E252CB8302F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D68CB41-38DC-26F1-0128-C7FCE600134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6A44FA-42E4-2351-F584-C7162C271E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8C7CD3-8FE6-4CED-E5C8-A619C57A409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C31A616-E83A-1151-8BF3-AAE1001A9B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984D50-71CC-FA64-5898-D2D0CB812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11653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31F25B5-EA70-4405-BB65-F43BB2FB3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0186B73-C17C-6F27-FB18-1EFF5DD99D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0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2300" i="1" dirty="0" err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format this into our State Transition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𝑛𝑒𝑤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𝑛𝑒𝑤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300" i="0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Δ</m:t>
                                </m:r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𝑜𝑙𝑑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𝑜𝑙𝑑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So now we all the info to place into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step! (Simple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tkinson Hyperlegible Next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0186B73-C17C-6F27-FB18-1EFF5DD99D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534929-C76A-57F9-F95F-AFCF92EEFC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2CF5E2-2AB4-4662-1E14-B61C25699F1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C30F54F-5BD5-C96C-32A9-DA4D419893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5A0DE45-4C3A-3882-D0AD-CE4C6162082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E8F1CA5-6E7D-621B-7EFF-47DE6986C69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93AA66-FF89-B663-CE78-5E19114A234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589DB0C-5270-26F3-9E14-1D9ADA710E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BAD30C-208E-61BE-21D5-F5FE7C7A24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860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3987E-6EE7-89D9-D933-16DCF1256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BBA3C79-049A-FC6E-D838-84B975EE6B0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train is equipped with a noisy GPS unit.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GPS directly measures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Position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but it cannot directly measure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Velocity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need an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Observation Matrix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that extracts only the position from our state vector to compare it with the GPS reading.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𝑒𝑥𝑝𝑒𝑐𝑡𝑒𝑑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𝐻𝑥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𝑝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By making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[1, 0]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we multiply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1 ⋅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𝑝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+ 0 ⋅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</m:t>
                    </m:r>
                    <m:r>
                      <m:rPr>
                        <m:sty m:val="p"/>
                      </m:rP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have successfully translated our 2D state into a 1D measurement!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BBA3C79-049A-FC6E-D838-84B975EE6B0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1E99BC-1661-7814-EC44-91AF22B9F53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092BB99-5E88-B06A-FD6D-80F7D0A20BA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6200909-553E-2F93-2CD7-DCA0BC4A09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DD55304-6D58-5A6D-F8D2-F9F6B6EA72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35ED08-63E8-36F8-1F8A-65A2CEE90B8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5B0BE5F-6863-B1D3-504D-E832A9B036E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BE1BE4C-D9C6-B0AC-8667-3D1B9806798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5DC5F1-0C76-8EDD-8AD3-5B20F3D7490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183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712CC8-B3DB-F00F-0B6F-62B9C0F8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77AE1B-6280-A422-C4E4-2795788F5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Measurement Noise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): The GPS datasheet says it has an accuracy of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±5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meters.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dimension is R?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a 1x1 matrix (a scalar) representing the variance of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which in this case is the GPS returning position only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Given that the standard deviation of the GPS is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±5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what is the variance?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25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77AE1B-6280-A422-C4E4-2795788F5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F68613-D512-2FCF-74AB-9F714BD3B3D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4305F5-8E54-A40F-4C94-5DBD46CDF4D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E3670C-B3ED-C30B-8F18-7C7145B1B62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3D4BD-1A4E-43E6-E4BD-6DA4381A9E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5B9613A-73F3-ACD4-E822-DBB9774F81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0C2E8E-B1ED-EFB0-7492-C082D8ECB5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7843D0E-AA02-9BF4-C4B0-518086EA885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9B2880-DDDE-57DC-F98F-DA6A3BACB7B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440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2617A21-A6A5-9DBE-2C8A-99128F3F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F385008-4CA2-EFA1-A780-A17B5D0DD77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Process Noise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): We assumed constant velocity, but wind gusts or voltage drops might slightly alter the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process noise is based on the state, as such what dimension is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a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 ×2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matrix injecting uncertainty into both position and velocity during the predict step!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sub>
                                  <m:sup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F385008-4CA2-EFA1-A780-A17B5D0DD77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D66E5A-AF7D-B13A-9AC2-F5A117BB0DD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F2238A-5876-8163-09CC-5923ECB6876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7A5C920-E554-AB2B-0919-40DA0F158C6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984853-4AE3-0467-964D-B1B3262B210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2C607-27B3-C044-893F-4738C3C90C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D53FD0D-3CEE-15B0-F7AD-6CF7625777A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F17BA4A-3C0F-A3AC-452F-F5D5C102FC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04A6CA2-CD2D-9F55-0DB1-40EBAD452F6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793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8AF857D-5907-4111-CC55-A77EA9A08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FC8180C-91C0-84D1-D887-8F1F865DA91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So now we all the info to place into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step! (Simple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And we are all done! (simpler than expected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train example works perfectly with the standard Kalman Filter equations because the math is strictly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linear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(simple multiplication and addition).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is a linear transformation.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FC8180C-91C0-84D1-D887-8F1F865DA91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3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E907F0-DBAC-CEFB-4F19-4B7EAAF6A9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B2FF3DA-E1F4-A811-4BD6-14753AC778B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F8052BF-499B-461E-9A47-65002ECDC36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FC8E9C-A885-7348-F39A-EE152BFF0BE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74EB949-9D2F-299D-A7DF-4D7D6AC6711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5665586-7452-E5BE-B733-850E74FAF19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890575D-B926-C828-0405-BCC942C490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C69C496-D342-2EB6-0600-F6E618B2DB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4622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71694CC0-6902-E866-537C-4C5A5ADB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01F8ED9-94CD-1860-179E-32A849CA5912}"/>
              </a:ext>
            </a:extLst>
          </p:cNvPr>
          <p:cNvSpPr/>
          <p:nvPr>
            <p:ph type="title"/>
          </p:nvPr>
        </p:nvSpPr>
        <p:spPr>
          <a:xfrm>
            <a:off x="1295400" y="2879241"/>
            <a:ext cx="96012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Extended (Nonlinear) Kalman Filter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915687DB-F86B-AFE3-B8E8-C363052FB73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52007C9-F1DE-73B9-A16A-7100DACD0E8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5F898FAE-F218-37B1-DD8D-812D2EF5C7D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B143006-7ADA-502F-84FD-B6B44AE1AC8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A062D97-6771-0445-E3BE-65712B27A6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9DBC35F-0B7F-A354-73CC-AA047AA5212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E72E6BC-D68D-5180-6E08-23729E3324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AC5B19E-C8FB-F95E-0212-1CD6A7007BD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7224F464-AE88-4ABA-2CCD-696735FC9B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67544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D915EA-7840-CDF3-0081-8C2A2E77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969E7C-61A4-DEB8-D33A-485DA9C005E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use differential drive platforms operating in a 2D plane in lab.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state vector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physics equations for the next time step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involve steering: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You cannot create a constant linear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that multiplies by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to produce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3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969E7C-61A4-DEB8-D33A-485DA9C005E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88A1ED6-7A77-F6A8-7EE3-55765047F5D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3E98D0-A99C-4D4B-72AC-5DAE33FA3C1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E417F34-0668-C324-BBF0-6903F509AAF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6EE4969-C77B-E1E7-83FD-F3FB49C160A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739D0FC-2209-D8EA-5F65-AD71B4636C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B854F1-1D5F-F33B-D136-3D171D80C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84F166-D5EE-5DAB-B838-03B4565EE1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13AF3D-B9E2-0242-28DE-416C05B3C40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1921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C047FB-D4B2-5CA4-9118-F6090BC3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2AB664A-4D77-28E3-166E-E546A86435E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standard Kalman Filter guarantees an optimal estimate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if and only if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system remains Gaussian.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you pass a Gaussian distribution through a linear function (like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), it stays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you pass a Gaussian distribution through a highly non-linear function (like sine or cosine), it becomes warped, skewed, and destroys the assumptions of the filter!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2AB664A-4D77-28E3-166E-E546A86435E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29330-1549-F6CC-6C5E-BEDFFDC0E8D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35151CD-B3D2-8125-85A4-8BF434EEBD6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D9D9AF-A750-3CD1-D408-25D7443141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22ECABF-7417-D5EF-A544-AA818B3478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3C293A-0794-3FEF-E40C-00126981642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94B735-EE97-D590-1052-7B1EF3AC44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853140-1ABC-8C5F-0DD9-FE2ADA6A65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DECCFA-A71B-FFA4-F894-3E7320F09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569293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68A0919-E22D-2720-2A77-2E464A235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228D9E9-7115-9234-2955-18A4BBC982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BFA685E-614C-10FC-E49D-F6CF99F57D1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3695483-8B51-407F-2EBB-10BD36D3A5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BEDB71D-F8DF-710D-A440-576EFD7D29E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7A336BE-194D-566F-4223-65A222041BE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236815-78B8-96B3-4D3F-E27DE88877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56A6F09-D4DE-014E-62A5-1CF695DB96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342822D-494F-7BB8-D83A-DC9C1DB793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916BB3D0-BBD4-DBFB-B0F6-36E53C66B7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397000"/>
            <a:ext cx="121920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1148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3BD434-4ABD-90A7-B328-2A13B37CF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8E8E4A-ACCF-15FD-94F9-2CFCD792356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5951A8-58BD-FAE6-B8C3-EA3AAEB9C5B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D7A564A-CF19-F68F-D565-7EB959C4D34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F8873E1-B7A6-EC00-891F-3D53FFE6C90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6395717-2EDA-7534-C346-94D9C99A2C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16C6AD-EA4A-FBDF-5814-A271D69757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BABD447-956E-A4B7-3ED0-070B0B840E1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07991EF-A553-A0E2-C7FD-E9A5D7FFE9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2196BA8-67CB-FEC0-DC5E-09554E7A5D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1149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3C9C72B-7E09-26D8-E7BB-4A175B33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C6D92ED-9E79-BC73-1EB4-B32B6406D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To solve this, we introduce the </a:t>
            </a:r>
            <a:r>
              <a:rPr lang="en-US" sz="2300" b="1" dirty="0">
                <a:latin typeface="Atkinson Hyperlegible Next"/>
                <a:ea typeface="Arial"/>
                <a:cs typeface="Arial"/>
                <a:sym typeface="Arial"/>
              </a:rPr>
              <a:t>Extended Kalman Filter </a:t>
            </a: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(EKF)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The EKF uses the </a:t>
            </a:r>
            <a:r>
              <a:rPr lang="en-US" sz="2300" b="1" dirty="0">
                <a:latin typeface="Atkinson Hyperlegible Next"/>
                <a:ea typeface="Arial"/>
                <a:cs typeface="Arial"/>
                <a:sym typeface="Arial"/>
              </a:rPr>
              <a:t>Taylor Series </a:t>
            </a: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expansion to approximate the non-linear curves as flat lines right at our current operating point.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By zooming in incredibly close to the robot's current state, the curve looks like a straight line.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We use that temporary straight line (tangent) to update our uncertainty.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What calculus tool allows us to find these tangents?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Derivates (in this case </a:t>
            </a:r>
            <a:r>
              <a:rPr lang="en-US" sz="2300" b="1" dirty="0">
                <a:latin typeface="Atkinson Hyperlegible Next"/>
                <a:ea typeface="Arial"/>
                <a:cs typeface="Arial"/>
                <a:sym typeface="Arial"/>
              </a:rPr>
              <a:t>Partial Derivatives</a:t>
            </a: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218F053-A21D-4AA6-2BC1-1781257ADA4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342EDF9-A4A3-AC28-2192-405182E0947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7A4465F-8453-09B1-218C-BCF177BD6F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E3A5A5-A07B-FC00-2CD2-D89328298B8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B3371D0-7852-4B82-8E11-7EC50EC69B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E49E93-B0D2-64F0-05C3-E4103D17B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1085FA8-4244-0613-5FE2-BEDF8AE0905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3759E8-AB16-2F0A-EEF9-30F0CD475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2215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88CD6D-8985-1478-7682-504C48910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A4B27A-CF27-AEBC-88EC-1E346D5232F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C4132A-C3C3-F47F-2A59-8D00687F140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108F67A-5E7C-2B45-DBFA-637A6A6A6A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7BC2084-ADBF-2762-9C1A-93B1F2393D6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295EC39-C777-775B-631C-3C9457C7278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BC11E5-3370-D31E-5419-2906DDC270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B0EF79-8CE2-E42C-CC3C-FE4858E232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C6B329-3604-0FE6-1DDA-CCD478883A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0F746960-7837-7025-1E03-27CDC991D0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8013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03927E3-3693-CE76-B3D0-A136D4471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9AE72B-B252-1C42-369D-50717E706C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To find that linear approximation, we take the derivative.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Because our state has multiple variables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), we must take the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Partial Derivative 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of every output equation with respect to every input state variable.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arrange these partial derivatives into a grid called the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Jacobian Matrix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 = 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In the EKF, the dynamic Jacobian matrix replaces the static linear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matrix.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9AE72B-B252-1C42-369D-50717E706C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28E8599-A1DE-967D-352D-2F93F965696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9CADB72-FB4E-7B00-3F3A-99467A812D6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03E16C2-8675-AE5C-3A0D-F2FFC3CF3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04D8740-1FFD-F89A-4C54-B089BD71F29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2F6A285-E76B-234D-04E7-D8DEA8D3416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D8ABDD-F506-0C99-EB5E-DF32D3A6C7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584EF2F-BD45-549A-5ACA-EFC0E09E6D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7EE84A-6832-4230-3504-1C35FAA41BD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7203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B5BB04A-308D-31C8-2BA7-DE3328369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3089F5-0F7E-1951-D1C6-D98116107A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Let's calculate the partial derivatives for our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position equation: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𝑓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=1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Y</m:t>
                          </m:r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0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take the derivative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is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𝜕𝜃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3089F5-0F7E-1951-D1C6-D98116107A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DB8BEA8-7ABF-FC31-B18A-390E61E758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3A8203A-5DA0-9FEF-AD6A-1880F6056A8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271D5F5-7C2D-1D4E-FEB3-27E06BDCA3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BF524B-8981-EE67-21F5-4FBDD6085E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8FE9EC-0DBF-F3B9-ED39-1881B2DB22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A8E767D-312A-98B8-E28B-88266741E3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09F2ED-ED70-B21A-6B00-00DB4F2D392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7E46C46-2329-3F38-DF48-60846B9EE2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979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D4A323-FD45-2C53-3E3B-873EF0CAF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130303-E5AB-25C5-613A-638F756AFA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Let's calculate the partial derivatives for 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position equation: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𝑓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0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Y</m:t>
                          </m:r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1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derive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𝜕𝜃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130303-E5AB-25C5-613A-638F756AFA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2C5AB5-E759-F3B6-FB14-052A0CB94E1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6344416-3A91-1817-343E-5539EC8173E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987968D-B07E-67DF-27B9-34E5F52D29B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B903B9-0DB3-3050-A7A9-3538866013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B1843B4-D5B1-72D4-0CE2-66D5CCE054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24CE45A-4A20-F501-FE99-527279BCC1F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8595AF-ADCC-0032-4EB3-2AEFE0BECD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49F129-1D7E-A4DA-C3FC-6B0E10D0EBA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85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0DDBAD9-8D2B-9173-DF07-A1F4CEB7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93FF1CE-5C3F-A722-0400-C61A7F08051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Putting everything together into the State Transition Matrix: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𝑑𝑡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𝑑𝑡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Notice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subscript. This matrix is no longer static.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You must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re-calculate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on your microcontroller every single loop based on your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current velocity and heading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93FF1CE-5C3F-A722-0400-C61A7F08051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1C00726-012A-E73E-7F60-20838BF464B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3AEF18-9348-903F-A003-A1816BDEB17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342E9-1CB4-361A-3695-862A026A0B1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3AD82E1-6875-2A40-EFC9-45046E3B5A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BD7D62-3B56-AEC7-060B-EAE81D7F71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CC94C3D-5445-D555-5DBA-784FF6B9EFA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6E6F0B2-C1F2-6A32-257E-BCB00D62F3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27D17B-D4D3-2125-7362-BD4DC15E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04288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6AD8CB2A-9A8D-5795-0CFA-D3BAB932B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59559A-EF40-1CB1-9D96-3015EF99445B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F8BA038-8A45-1E45-2E72-99014E53AE4F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F3346009-86DF-4EAA-7E15-5FE993D911D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CECEDD4-E737-A9E0-C27E-867274E4965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DB857650-7CE7-0F40-486D-829DF91631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B47566FB-1603-B23A-05F6-2BFB021DDB5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8AB3215F-21FF-93E7-54FD-C540D2C3FE1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C75DD8B-2894-635F-B7F7-CBFB2556824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E047F730-9070-E25E-3BCB-948EBF53E0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CB1B4A9-0787-4FAE-9995-8B4B722C26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188407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1A3043-9F0D-CE3C-8D7D-ADE922C4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2850F2-10E4-496C-196A-B3F30AC9FB5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The structure of the Kalman filter remains exactly the same, we just swap in our non-linear functions and our newly derived Jacobian.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State Prediction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Instead of the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matrix here and just use the raw, non-linear physics equations (let's call the function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−1|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In our case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2850F2-10E4-496C-196A-B3F30AC9FB5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 r="-1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D097E8-2BFE-1B37-97AB-959BAD5EA05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100F42-3771-278A-E3BE-CCE428DDCA9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1EC150E-F6C8-9B22-24DC-BDF598D0C23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0B0B6E0-4800-9B48-320C-EF9D41F0C1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DFB19B-EFE6-30CC-5047-857D6FA187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F13E7-6559-36B2-552A-DCFFA24AC31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7AC65-81E0-FA2F-69ED-698521BB7DE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1FEA173-D3FC-4ACA-836F-AF8FB6F579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48045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06E977-3F53-56C9-D0BB-492027DC2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E709B19-F163-7BB4-E0B2-D476D7C12A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Covariance Prediction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We use our calculated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warp the uncertainty ellipse properly.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  <m:sup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bSup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What dimension is Q in our nonlinear case?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E709B19-F163-7BB4-E0B2-D476D7C12A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FD1F5E-F20D-46DE-9561-9CDAAC2A49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3781B2-7043-A78E-FE40-3C1F1316604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DDD1FD-A55E-5936-1203-55E7E97A73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6638F4-3FB9-37FC-43FE-F31E4711FDB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4C9F5A-FDA5-FD3B-0349-A27D923CCC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8DE69AD-D6A3-7613-3C43-A8FB0DB28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B564A8F-9329-2359-1DA6-494905A255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A182BD-4F8D-A66D-9A50-9EB4B02233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914196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61058-7C82-C561-7EE2-22D85E028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78A133C-1F0A-B05B-A98F-765ABC3A68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88EF3D-A0A0-CE63-98D1-7F446B53D0E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42E247F-8288-5D75-034D-76935DADCD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4E6BD7-656F-461F-3A8A-C9A2DA3603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A0785B1-6A62-383B-3E40-53E7EA3ADD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05A427-F696-84C5-53C1-DD6EB9AFD4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28D31D-B6CD-7AD9-2BF8-B3E5E7306FD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5CE9A-4D7D-5DA4-A562-CFA9BA24C44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AB53DCF-39D4-00A6-32FB-1B692FF53B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93180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25C843E-2917-7D30-EAED-3E9ACF3B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3F1B886-A2FB-F21F-15E5-E049390E68D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F1525255-F323-E525-5A31-24742B69DC5D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C52AE850-B8B1-B5FB-3314-B9CDD207BF6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AF7C25A-74BC-5E87-A917-B7AEFE9E0B9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F4D2EEC2-3DE9-BD2C-9D2A-E330058069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A281EA2F-10F9-2512-FA01-648E224787B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8D4CF60C-3E0E-6352-7880-E17D7655708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DBF2E64B-7ACD-6D01-1A6E-684D15E2BCA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8B1B9476-FF04-1CD7-EF23-0936AECC1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7E87DA1-C2BF-B577-B173-FBD88A1DB1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488686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B966A2A-FC76-74B5-772A-77355A3A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177DE21-6B77-04D4-6244-F2DD982BD25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same logic applies to sensors.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If a sensor measurement is non-linear (like a radar measuring angle and distance), we use the non-linear measurement function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predict the measurement, and a sensor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calculate the gain.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177DE21-6B77-04D4-6244-F2DD982BD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9D712-AB18-E5E6-4E16-E2B2FC38537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3089C76-53F9-1677-D637-FD1CCD82AF9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655A5E-CFA9-B521-13D5-52ED011843A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9A4047B-5A68-BD6D-5808-A2A846B8F58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6B2DBC2-EB2F-84D4-AC2A-CD532660A8D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F70EA24-4877-7BF1-0336-7F62B93A2E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04E03D2-1061-6926-C86F-599C43A14E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39646B-EE9E-D2F5-EA9B-4C547D66F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57637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1089A31-2797-4751-B137-5969A9D3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740B13-0CF1-6C52-CCD9-083E1106772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Let's say our robot is being tracked by a stationary radar tower located at the origin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0,0</m:t>
                        </m:r>
                      </m:e>
                    </m:d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radar doesn't measure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coordinates. It outputs a measurement vector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containing two values: distance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𝑟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) and bearing angle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𝑧</m:t>
                      </m:r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𝑟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𝜙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740B13-0CF1-6C52-CCD9-083E1106772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C81C90-AFF5-74BD-9A9A-5532A4B03A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C7CEB6-4706-EE78-4071-DBEF1630C93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8E1D893-72A5-383E-B20F-A461309E9E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D13700-FEA2-1480-E74A-4E5A4F8B046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694DB1-70DB-880D-7412-E1D7BE3DDE5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408FCC-35E0-9FAD-4572-34035E59D6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F3E20B-C49C-93F3-4EB2-B423E678766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5F7FB2-46E1-4F32-C659-D5CB3150FB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95451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CD0FC6-0E36-2621-8F34-5B531838B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A401537-2FBE-2248-F116-7A45F1653C3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During the Predict Step, we need to guess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what the radar should see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based on our internal belief of where we are (try to guess the radar measurement).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use geometry to map our state space into sensor space. This is our non-linear measurement function,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𝑟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𝜙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arctan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𝑌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Just like kinematics, we cannot express this as a linear matrix multiplication. We must use Jacobians to linearize it!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A401537-2FBE-2248-F116-7A45F1653C3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 b="-455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8428D59-20A6-D22C-C1E7-C4CA747E7A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F21D7-8C78-B080-B03D-FAD2F28220C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704064-AEE9-07E6-1377-CF82D720EC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84DB86-71DB-422A-D99D-17C0DF696D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7028ADC-D701-04F5-0075-C7E6C55426E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0A609AE-8CCA-7CC6-235A-C217E37E54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2E09B6-4D9D-C21D-66E7-9FDFD1C7661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9ED7B0-8903-AF95-4AC0-28119AB103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106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C1FA05-7B16-6DE9-9DAA-A966E819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4F8060F-EF5C-BA1B-C4A1-5EE5F8ED608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must take the partial derivatives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𝑟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with respect to our state variables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Let's look at the distance equation: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𝑟</m:t>
                    </m:r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Using the chain rule: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𝜕𝜃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4F8060F-EF5C-BA1B-C4A1-5EE5F8ED608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9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2B8DB8-6539-FB82-22A7-BC189B38939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1E010CE-C681-CC98-7372-5AE5B33AF5B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94EDA05-B699-AC22-5C63-53A6195EE48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780196-B775-EAD0-AF1F-A680AD8FFA7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8495CD5-CBCA-E75D-F8B2-FDECDF76C7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ABAFCA5-56CC-03B1-DE86-B0C9ED562C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EF9DC2-9175-2625-900F-BD0B7EEB6A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0E8952-516C-3F4C-FC5D-60D625C3BD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899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0C9AEF7-FD56-A35E-CEF0-021B9C3EC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2234EE9-4FEE-BB9F-147D-582C8340A2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Now the bearing equation: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unc>
                      <m:func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arctan</m:t>
                        </m:r>
                      </m:fName>
                      <m:e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m:rPr>
                                <m:lit/>
                              </m:r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/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arctan</m:t>
                        </m:r>
                      </m:fName>
                      <m:e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𝑢</m:t>
                            </m:r>
                          </m:e>
                        </m:d>
                      </m:e>
                    </m:func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𝑖𝑠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𝑢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sSup>
                      <m:sSup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p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After some algebra: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=−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=−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𝜕𝜃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2234EE9-4FEE-BB9F-147D-582C8340A2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3851790-7177-6E20-2A7B-2E56D8D796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AF13B18-C885-7F63-E0A1-C7167CA3FE2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F50E8FB-CAD2-BC28-BC79-AA71671915A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670190-0B17-2BC4-DA68-062719F9398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BFEF5C8-06F3-7ACF-BA18-DEDC474F041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7921CC-77CD-C6F8-8309-34138BDA0D7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D698EC7-EF87-D231-8825-549501E2FD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9FF7AB-F41C-41C8-96F6-7D0880D914F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0255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D2776F4-820E-D0EB-4B34-C3A6BB88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D5ABC27-4246-7A4E-84BA-4E6FC0D67F4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assemble our partial derivatives into a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 ×3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matrix (2 measurement outputs, 3 state variables).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This is our dynamic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matrix for the current time step: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num>
                                  <m:den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num>
                                  <m:den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calculate this exact matrix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every single loop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using our predicted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values.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D5ABC27-4246-7A4E-84BA-4E6FC0D67F4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60D6E75-E0DD-378E-6984-E23347EA9B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402F8B-DFF9-EE34-1AF5-9DC30D47C06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24BDFCE-0081-6A99-FC1E-45AF39BC11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515A7CE-31C7-8004-CE18-51279CF86D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5ADE0A2-0282-B736-4631-26C9581A0CA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F356D2-64E2-79CE-16A7-0F15A1E460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439657-065E-F57C-9DCA-558D212E154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CE1488-4729-34E5-BEE8-FE26F31A42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609890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108140-61AE-4941-CD72-096BF4ED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7A51193-575C-E6C4-2881-BF811DADFBB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Now that we have our non-linear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our linear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we execute the EKF Update step: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1. Calculate Kalman Gain: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  <m:sup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bSup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𝑘𝑘</m:t>
                                  </m:r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2. Correct the State: (Notice we use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calculate the residual,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!)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𝑚𝑒𝑎𝑠𝑢𝑟𝑒𝑑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mPr>
                                <m:m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𝑋</m:t>
                                            </m:r>
                                          </m:e>
                                          <m:sup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𝑌</m:t>
                                            </m:r>
                                          </m:e>
                                          <m:sup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</m:e>
                                </m:mr>
                                <m:mr>
                                  <m:e>
                                    <m:func>
                                      <m:func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i="0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arctan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𝑌</m:t>
                                            </m:r>
                                            <m:r>
                                              <m:rPr>
                                                <m:lit/>
                                              </m:r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/</m:t>
                                            </m:r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𝑋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3. Shrink Covariance: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7A51193-575C-E6C4-2881-BF811DADFBB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514259F-0756-0FCF-AFDF-44EA3CD0E3C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7FD8E7-73BE-2716-E570-010B88D8854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F9B3BB7-8093-6975-3E68-39A07744863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7D977A5-2CF1-FC27-9394-BC9EDCF174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AE2138F-EC52-A5CB-7F0E-EA71A236C63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A46873A-580F-F0B1-16E4-2D3BFCBF40C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8409B2-AD12-126B-0D85-9D1C6E782D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FC5B4C0-5913-7635-8B9E-C99FFDEAD93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61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E798335-A1A1-BF5C-D7A2-B8CB0276E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3765FE-088C-F3B4-29C1-668D02CDC1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And that’s it! That’s the extended Kalman filter!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There are more complex filters out there such as Particle Filters, Unscented filters, Lie Group Kalman Filters.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But all they are trying to do is improve the estimate of the non-linearity in the system!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Everything else is the same, they all have update and predict steps!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95A136-82EF-9A5F-3185-247275EC399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14A5D9-ECA7-B426-88C4-B5D3CDEC9B0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B3E9316-A1D8-FDAF-2D9D-0E93CE0269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6C8E7C6-F27F-2648-AC21-A415DD58D0E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5296CAE-69CA-75CB-BFF0-A9C94618BD7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06B5DC2-645E-0818-A2C8-3C05E6F6BF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40C1522-D7D8-1959-34B5-D287562CF17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E0C3D8-9FB2-8A1B-AAEF-11DC1465ED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73013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8E29F8F-5303-E70F-FFE6-D37089656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A34BB72-C316-DC73-E098-486F9838DB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486E2CD-5C47-312A-64AC-58DE2176825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E01A1CA-9AB2-C015-A9CE-6B66961122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9E54AF5-726E-3BBE-0C25-CC30FB0AD6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C09236-C978-6C24-8B69-B3538B1357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92FCE9-D90F-0223-04EF-9D6345D047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D6E96C1-913A-FC30-E19D-AE3A7565E2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8910D3-9E8A-74FA-0490-2AD4CE5BBE6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B821CD5-ADF9-81BC-13BF-E2E66DCE4C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06698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Lectures 20–21</a:t>
            </a:r>
          </a:p>
        </p:txBody>
      </p:sp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1471</TotalTime>
  <Words>5606</Words>
  <Application>Microsoft Office PowerPoint</Application>
  <PresentationFormat>Widescreen</PresentationFormat>
  <Paragraphs>926</Paragraphs>
  <Slides>100</Slides>
  <Notes>100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4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326</cp:revision>
  <dcterms:created xsi:type="dcterms:W3CDTF">2019-01-14T22:06:33Z</dcterms:created>
  <dcterms:modified xsi:type="dcterms:W3CDTF">2026-04-08T13:45:38Z</dcterms:modified>
</cp:coreProperties>
</file>