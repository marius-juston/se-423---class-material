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64"/>
  </p:notesMasterIdLst>
  <p:sldIdLst>
    <p:sldId id="256" r:id="rId2"/>
    <p:sldId id="417" r:id="rId3"/>
    <p:sldId id="413" r:id="rId4"/>
    <p:sldId id="272" r:id="rId5"/>
    <p:sldId id="258" r:id="rId6"/>
    <p:sldId id="420" r:id="rId7"/>
    <p:sldId id="421" r:id="rId8"/>
    <p:sldId id="419" r:id="rId9"/>
    <p:sldId id="422" r:id="rId10"/>
    <p:sldId id="424" r:id="rId11"/>
    <p:sldId id="426" r:id="rId12"/>
    <p:sldId id="427" r:id="rId13"/>
    <p:sldId id="453" r:id="rId14"/>
    <p:sldId id="428" r:id="rId15"/>
    <p:sldId id="429" r:id="rId16"/>
    <p:sldId id="430" r:id="rId17"/>
    <p:sldId id="433" r:id="rId18"/>
    <p:sldId id="455" r:id="rId19"/>
    <p:sldId id="418" r:id="rId20"/>
    <p:sldId id="431" r:id="rId21"/>
    <p:sldId id="432" r:id="rId22"/>
    <p:sldId id="437" r:id="rId23"/>
    <p:sldId id="434" r:id="rId24"/>
    <p:sldId id="438" r:id="rId25"/>
    <p:sldId id="436" r:id="rId26"/>
    <p:sldId id="456" r:id="rId27"/>
    <p:sldId id="435" r:id="rId28"/>
    <p:sldId id="439" r:id="rId29"/>
    <p:sldId id="441" r:id="rId30"/>
    <p:sldId id="440" r:id="rId31"/>
    <p:sldId id="442" r:id="rId32"/>
    <p:sldId id="443" r:id="rId33"/>
    <p:sldId id="454" r:id="rId34"/>
    <p:sldId id="458" r:id="rId35"/>
    <p:sldId id="472" r:id="rId36"/>
    <p:sldId id="448" r:id="rId37"/>
    <p:sldId id="473" r:id="rId38"/>
    <p:sldId id="444" r:id="rId39"/>
    <p:sldId id="446" r:id="rId40"/>
    <p:sldId id="445" r:id="rId41"/>
    <p:sldId id="447" r:id="rId42"/>
    <p:sldId id="449" r:id="rId43"/>
    <p:sldId id="450" r:id="rId44"/>
    <p:sldId id="451" r:id="rId45"/>
    <p:sldId id="457" r:id="rId46"/>
    <p:sldId id="460" r:id="rId47"/>
    <p:sldId id="461" r:id="rId48"/>
    <p:sldId id="462" r:id="rId49"/>
    <p:sldId id="463" r:id="rId50"/>
    <p:sldId id="464" r:id="rId51"/>
    <p:sldId id="474" r:id="rId52"/>
    <p:sldId id="468" r:id="rId53"/>
    <p:sldId id="469" r:id="rId54"/>
    <p:sldId id="470" r:id="rId55"/>
    <p:sldId id="475" r:id="rId56"/>
    <p:sldId id="465" r:id="rId57"/>
    <p:sldId id="466" r:id="rId58"/>
    <p:sldId id="467" r:id="rId59"/>
    <p:sldId id="471" r:id="rId60"/>
    <p:sldId id="459" r:id="rId61"/>
    <p:sldId id="271" r:id="rId62"/>
    <p:sldId id="270" r:id="rId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7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AF43FB0-C57F-79C7-9535-B678C7538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7C0687-8CCB-6A90-1185-11BBF3C42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82EDADD-0D8D-9E80-F663-EC5293C2AA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89340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F675412-624A-2292-0EA3-35B791CA3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FAC35A-CD72-905F-CD22-D1B98D7C86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8624941-50C6-5653-FE5C-62215CF9E6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69339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F28052-259D-19FA-2CA0-17516D528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47D357-2DDF-60E5-8997-E2BF559D62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5A4BFE2-5F2F-0C43-4FB8-A1AA92F315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1545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022EE5-ED73-60D1-8E8C-287AA96F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0B0831D-EF87-97F8-12D9-B860728A04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8FCB816-D465-4317-B99B-FD37B68972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51705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92666E3-9E47-7889-5DA2-B1DCFFC9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30A621E-607C-F890-2501-9B7548653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95A60D-B771-03B6-792B-53561ADADC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362742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72ECCD-901D-7E01-FF70-257E90AC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BC3F37-D7C0-0C18-A837-789F9F3613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17A2361-ED4C-0C8A-4B00-293428070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942327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9B2D1C3-6FAC-433B-723E-EDD0565D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1FE019F-2EA4-F292-11A9-F691BE82CF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357238E-48D8-8B11-1A80-75313392FD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60355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50E55577-D0F8-3F09-EE46-BE1C1A54D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AADC53D-9CE5-9F9A-88E4-D1BDBC84C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BF1E540D-DA24-3AD1-D13F-1F59D34B63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1414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AC25C5-4B3F-23D3-5273-834D2AA43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0DD442-A65B-9B06-F2E1-8CA407428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D3A73C6-858B-63AF-9C5D-40812E714B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3497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DF58C2-2857-582F-A6D9-7CE922EA3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8F1C968-FE29-CC2F-AECF-04C4B333A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257D4C-FA1B-5175-D621-9EC725187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167869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E9E29-AE04-7204-A230-595D2E0F1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D8B4480-BCD8-D12A-6F6A-EB503BCE46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457E85-909C-D4A3-CF3E-E032ECF63B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932623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50E863C-E80B-1E16-8A3D-EDCAC468C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6982E0-5E66-1739-D460-A1F95380AD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3355E3A-C069-9247-8871-41E01CE09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062610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12F67F2-6002-27A1-D550-B44D9D80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19ADDE32-7424-E8B1-4255-17885BAA76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9F573AE4-712E-8397-4981-01F9461B7B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251065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CF3569D-724E-F4C2-BA96-3AE32552D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975974-90E9-BA49-72CB-F49E1AE296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6964EC8-5C3E-58AC-AA56-2A5767B6E4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1369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AD55C96-1DDC-0E30-98AE-606757DFE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D37E43-9039-839B-9BDF-9B6B46FD40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8B5C46D-081D-8B31-833D-73BD917CB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390143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BBBBD9D-F9B8-284B-FE49-D13DA42B0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8BD5357-9591-7FC3-25E7-6E8C630AA6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18E06C3-BF75-9718-B2BF-B6464C9C24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97510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9527FEC-C783-DED8-A5E8-4D8F5C59A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670EDE-0768-EF79-4092-73A0F0275C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6BCDE13-5D30-A1FD-9D63-773641118E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4045229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6094CC-7C34-0AA1-8A06-367D53656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E524A76-7906-492D-48F7-69A089215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CD4433-39F2-8084-4B01-3C6FF82E4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04558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2A3ACA8-4C90-C943-F9FE-F305E992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E3B9709-6D2B-B1DE-59EF-9BC71247EE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F79C658-C2E0-03E4-F305-08177F8CB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174092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31C3F8-6B7A-AF16-D8DE-AA249386C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93BF2167-F47E-0901-688F-0AF1B8B2B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13F903E8-1DFF-A830-67DC-A2BC91BF03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170250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55B1C08-D4DD-01FE-1F1B-853D1C494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F39E895-D24A-B323-9900-9081889E7E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373F8DD-0402-7360-BB92-DDE9292BC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667736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4C403-CE59-DF9D-AEF0-9F2199D73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D5FEB82-972C-600A-3215-F69A6BC671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CBECDD-AE8F-F181-E341-1FF077945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20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8A32FD-5C84-269D-5D87-5E114134C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84CD4D-C414-FFFB-5E71-DEB24AC6E8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495E875-3CC0-3265-7075-A25F1A06D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0444554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5C5588-5D28-6383-DFAA-1709D6D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89D522C-D34C-5EB5-6F67-DCAB77E1AE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E80DA0-7559-E667-2930-EF7EB8A28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246546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FAB225-9778-D149-C3A2-9067326B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1373416-652B-23EB-8E45-C7A97036A5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CB83496-4E1C-9903-6F82-5EF22260B7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96214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04A5E11-BE8A-9852-891E-ECF8700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6DD7635-C429-3862-020C-6AC630FC7A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C3361F-AB9B-1A1A-72C2-A796CA828C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430524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957F642-A96B-4D30-1066-5E28FC252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D2562C8-819A-CB45-D199-D22B77D4F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6A442E3D-7F53-FCEC-E45D-931BB71F55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238322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A50CF0-CA68-A3B1-8978-E3896AB0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ECB296A0-F8E9-7578-7D53-093147721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7633E37A-86DA-49B7-62EB-D343443895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71396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C4AF2CE-C5D0-FCFA-140B-E4B6B09EE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190A3D-0140-D128-22BE-62F63598F0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0FAE83A-31D6-1525-CA97-1A2444A3C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791460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75346A4-41D5-E2DD-69CE-398D962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CDD13FA-ECB9-E46B-7C27-9A5C2B40E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3F40B-ECC9-5EAD-6B6D-FFFDCBF36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568787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70E7CAF-D7ED-00DE-0223-9661AD415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03189BF-6AFE-0CA5-959C-E3B876D9E7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55AAC7-D32B-5C28-B719-1930126C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70045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6D3B32-3163-A67F-CAEE-B44956EEA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A196CC-2EDE-26F7-86C3-3A8B7D15A1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59BEF17-DC32-6169-9DB7-638AB10C6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8554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D5BB0A-97B6-D527-F23E-E82F3E2DE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229AF1-A1C8-D695-BF54-CD34240E36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73C7060-110B-C812-40C4-66307624F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246537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1C5415-BEF5-B9F8-4D93-1160F401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C7B08A5-FE6E-FFB7-BD30-703CCCB53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7D2B0C-073C-7C6B-21CC-0614AFC1D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48277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604CF1-7BCA-07EB-06B1-2EFF81F0D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B4F202-7BF0-6C93-EED9-AE38C441F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F2D6457-B759-4F54-C036-D5E715024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717221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8A33884-3129-64CB-15A5-33820B726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BA3C399-6B30-1361-939E-B4A1007AE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EBB47-FD94-0693-69A5-5CAFA4035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190395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C8E5DD7-D096-AB84-11A2-E7456114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C4CF292-AA26-CE0A-C02E-1D99770B62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F599E6E-22E2-D3D0-9892-1A54917ECB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701927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0CB0AD-CFEE-2331-F58E-1E9F6CD80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458A8BA-9CCA-BC07-567C-1659D9761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1191DC0-714D-D225-77DA-A2A46CA52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0159491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C3170E2-B953-EB7D-72F6-378F759CF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4E753396-0160-B36D-4D37-4CD5168B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BD8C08C8-B9C5-99C6-9E28-1AADAEBB93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954477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F29B1F-2F74-73F9-A425-C66C9BF04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4FED399-F5B4-E89B-323F-BE2B292B56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A2AA4CC-52F2-77ED-92C4-04A5745D73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693806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F1B4AA8-1C78-0342-A494-843E91E6A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E682C5-1BC1-F983-CCD5-C69399B83F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FE1CD69-6AD3-4119-BB09-C5692A3F11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074104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F04F528-8ED2-F77E-3D3F-3BF0CCA59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EEBB136-68D1-8593-A394-A7F3650A47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AAD6DEC-E5B4-25A5-BD45-3444BCFA0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785073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3DB4F8E-30C8-ED8E-4FAF-33A67B11C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54BCC6B-9302-6859-4FE1-7FD0BFA30C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92FC1A8-ECF4-951A-58C0-214C49A404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536860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6C74766-17F6-38EF-7DD0-CC7A1AACF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96A08E-EC5C-4409-279F-394B23BD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3E512C-23DD-7881-1819-E973456B8D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7388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0109C3-78B0-F19E-8154-433FDDBC3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7552379-1967-A7C2-215E-655DF58A37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1D14190-9883-09F1-6C6D-3C343021D1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0483378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17F00F3-EF5D-4713-CBE2-8F9B163E5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06D56DF-1E5C-BB88-D6AE-38AF11EB5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2E7582-5CF4-405F-9E3D-49FC71488D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932901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794B93-37D8-0925-2127-556930705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2BFB7A3-AA8F-0A1C-F2CA-06D60DD9A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EF3BBB6-B409-46BE-5236-36CD06ABA5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3478338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5490C4-7673-55AE-B0E3-9754A67AC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9B9DD0-4FD0-58DE-BB25-B71D99B287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0E29417-A4F1-01C3-76CC-D0A0213576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400084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57E9B7E-E297-1C56-278A-531AEA02B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63698AB-DFD5-1019-9CB6-DAF2586EF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0F584BD-9BC8-E00D-0513-07A508C941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402085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629F47-BAE4-D58F-AC79-663069DE0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F47E0AC-9400-F526-5D92-7D6FF7E6F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7401DB-85C8-AAF0-B2C6-9DBC5B57D5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718328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DE7616-18FF-63D0-7F02-CCA58394D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B993A69-813E-AC17-E290-19F41740A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06F35F-1372-0375-8851-9834AB036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114280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C2B823-08B9-5A42-8880-8B9AB2188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A8A1ACC-54D1-2BA2-B22A-8EF869B51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B2407EB-CAAA-0A07-D089-93418A0168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84161415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E94F01-333B-7BBA-2D68-FE31E06E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8F88D51-B705-7F7B-ADA5-1E6A287B60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EB9A7-2F06-92C3-EDE5-43AA5232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83677202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A9A9ECF-5608-DE3F-2D9B-7A8B1C148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3332BA6-FB34-74D5-757B-1B96B02519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D69F362-1FBE-9A91-67B2-DB664E54E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653007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Normal_distribution" TargetMode="External"/><Relationship Id="rId5" Type="http://schemas.openxmlformats.org/officeDocument/2006/relationships/image" Target="../media/image7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0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um_of_normally_distributed_random_variables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20-21: Sensor Fusion and Kalman Filters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April 6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1CC257-913A-F66B-FD51-488E05134F51}"/>
              </a:ext>
            </a:extLst>
          </p:cNvPr>
          <p:cNvSpPr txBox="1"/>
          <p:nvPr/>
        </p:nvSpPr>
        <p:spPr>
          <a:xfrm>
            <a:off x="5639865" y="2973398"/>
            <a:ext cx="6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assumptions were made during path planning / trajectory planning?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sensors on the robot help determine it’s the location in the world?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could the odometr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y and the IMU give different values? Which one should you trust?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IMU says you accelerated forward, but LiDAR scan matching says you didn’t move, what should the system believe?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Finishing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Sensor Fusion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6E76D8C-4FEF-9932-596F-DA3707FA0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7FF229-9E61-BC16-0C96-DAE1664C25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 the real world, motors don't spin exactly as commanded due to friction and voltage drops.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Sensors have electrical noise, mechanical imperfections, and environmental interference.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LiDAR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Reflective / absorptive surfaces: glass, mirrors, black materials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Fog, rain, dust, snow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Fast motion relative to scan frequency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can cause the odometry to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Slippery terrain for wheel slip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When can cause the IMU fail?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IMU drift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Saturating the sensors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If we blindly execute our path plan open-loop, the robot will quickly crash.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5AEB9E-BACA-D86A-7336-706642B1BE8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6163C82-7E4D-858D-6AE2-7BC25E5082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9333E97-C9BB-7F74-ABD9-BD767FF2CA5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CC51F9-A938-D53D-35C3-6A8E5C729EB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01C3C39-EE3C-BFEB-339E-C759637A80D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68CAD8B-0F9E-88BB-8D76-2E45001681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720C4DA-E6F4-64FC-88BF-B0F903D717F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7F47A-CC92-2F64-D6CF-F566D4A9DFE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6739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D9E420E-A29E-2817-C4F8-5AFDFD4F9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ECC75FC-DE33-119F-3EF5-99886F633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need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Localization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: determining the robot's state (position, velocity, orientation) in the real world.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 solve the localization problem, SE 423 robots use multiple sensors.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Proprioceptive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internal states: Wheel Encoders (Odometry) and IMUs.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Exteroceptive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sensors measure the external environment: LiDAR.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single sensor is perfect; they all lie to us in different ways.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1B44FC-1A1C-F42A-3BDA-976BB5859D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0A2BC2F-9B03-5B8E-A1C6-72010869DE7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4238C5-9AB9-13BD-5FA9-06FAA119A7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885C52C-A9C9-7BB9-45B7-B21B10DD794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CD9A88-2E48-9F2F-07C0-A68012E64C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82DF34-9E76-F12D-6585-0866D9EDDCF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45908F1-2070-3919-F15E-D11B97EA01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8A3A0F2-02A3-2B72-DDF9-1C212F0662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637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668A1F-A262-40BB-0420-8D46AB2FE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BFC7474-F78F-74BF-555A-F8C0E3E1CE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Wheel encoders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count the rotations of the robot's wheels. By knowing wheel radius and track width, we calculate forward kinematics to estimate position. It provides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Similarly,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IMUs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generate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high-frequency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smooth data for short-term movement based on the integration of acceleration.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unlike odometry and IMUs, LiDAR gives us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absolute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measurements relative to the environment.; however,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due to the additional data, the sensor runs at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lower frequency (e.g., 10Hz) compared to an IMU (e.g., 500Hz).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we are in a perfectly square, featureless hallway, can LiDAR tell us our position along the hallway? What about the IMU / odometry?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BAB7B5-FA9E-81F7-05F1-7BBA583962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A71CBAF-9573-1ACA-A469-078FA69C640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9EE72-ADCD-CE29-7521-247C63D73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3B4B1FF-9281-2A9E-BA3B-3F21D3648C3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A98BCDB-FFB9-C0BB-A723-476D530862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99BD75A-118C-F176-A446-6AF89C48B10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DC7EDCC-4247-6400-91FB-A6E044C1F23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A8263E-3123-AD11-D840-181B157750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76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491F9D0-123C-69D8-267E-88B759122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9A7C04-1DBB-5710-0570-A22E87C68F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fast, smooth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sensors that drift (IMU, Odometry).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have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slow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computationally heavy sensors that don't drift (LiDAR).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 do we combine them?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Simple averaging doesn't work because their reliability changes over time.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If 2 sensors given measurements give different values which, should you trust?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What if your sensors give you the confidence of their measurements? I.e. the LiDAR is 75% sure of its position and the IMU / Odometry are, in total, 25% sure of their positions?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60278E2-13A4-ECCD-9125-BF56E97905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E1A9D2-D303-9880-1EAB-A6AE71E76AE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B8DA6B-4A3E-6061-7885-7E5BA602F7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150536D-03E5-D9B1-7E72-7D3ABD555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BA6B9F1-37FB-33B1-73DC-9AA2ABC8F3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21C6813-4205-D682-2114-C774FAA4B0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A46402A-32B4-5BA2-923F-90393288EC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74073B-BFFD-DB1B-504A-7E22C0917E4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7816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4F1F894-E15D-FB0E-D29F-052BEDE8F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Instead of saying robot is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exactly at “X = 5”, we want to say “We are 90% sure that the robot is near X=5”.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represent our state as a probability distribution.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use the Gaussian (Normal) Distribution, defined by a mean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and variance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b="0" i="1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4B849CB-6C64-3BF0-C0D4-3CAB65ECD4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BE5622-5B4F-2C92-EC24-51D1EC1AECC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205E767-726C-CE73-41AA-5F4EFDCE53B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64F1F63-0DDC-06F0-A670-6F9C70213DE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44039E-071E-EF13-060A-B19D18C38D1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4A25EE-2089-FA01-C229-0E0F8FC494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13AEA70-CAD1-C85B-4672-D627AD6641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70EF1AB-74EE-FA3E-6B0C-42D0AC2DAB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C7E859-3358-75F9-FF92-673795ADE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898DA8B1-06EE-F383-1742-DF52DE9381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13998" y="3548943"/>
            <a:ext cx="5835650" cy="291782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291B65C-D484-7EF3-5C21-CCADE55E7A9E}"/>
              </a:ext>
            </a:extLst>
          </p:cNvPr>
          <p:cNvSpPr txBox="1"/>
          <p:nvPr/>
        </p:nvSpPr>
        <p:spPr>
          <a:xfrm>
            <a:off x="4495484" y="6328059"/>
            <a:ext cx="29400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6"/>
              </a:rPr>
              <a:t>https://en.wikipedia.org/wiki/Normal_distribution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98787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0F7EB40-14FB-7621-B579-298C7123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Why Gaussians?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mean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best guess of the robot's state.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4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represents our uncertainty; a wide curve means we are lost, a narrow curve means we are confident.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Gaussians are mathematically convenient: multiplying two Gaussians results in a new Gaussian!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In addition, a lot of math can be derived in closed form when using Gaussians (most other more complex probability distributions do not allow for this)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C9A827F-3835-FF0A-D899-55C40F8C9C1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59A792D-73AA-B827-13FC-82701B03B1E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3DD6FA-6E47-BDE9-FD34-02C8EC10AE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C45940-0BC9-49D1-F097-623A891A4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6A13348-9FFF-12D7-F48B-7A58B6B81F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D9C4B5-8D20-B681-A69F-6BF56E57698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0519B6F-AE0F-73AC-A787-D1813F87C4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6F772B7-755D-910D-082F-5CF34A2F72C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8F8A90-5FD3-0FC3-835D-21AB8AF0D0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7607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AE3407-DC15-E96F-1536-4061F8034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26828DE-7025-F60D-D286-1D176287E4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sensor would you trust more?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436E42-519C-8FBA-60FE-3DC889204B5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8FF8032-C12B-C2CB-444A-A0512EF8328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4ED8C47-DA2D-F9CA-BE64-9F6804D81D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0DA912-5B67-3134-80D5-C63002A3582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10BCBFC-CF2D-E3CC-B865-799FC9C43B5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B07321-EC64-5CC4-5484-A51AAA8493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CC28203-BC0F-B2C9-7FB0-DA9FBF6EDA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B71EEC-11F9-42E4-1533-A111DB64FF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1BCCD553-6D42-489E-24ED-5153F66EF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76517" y="1767070"/>
            <a:ext cx="6438966" cy="483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8880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BB7596D-AB5E-E668-0807-0F5C4D03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7BBEBD30-0974-E20F-66CE-64A248A723B8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1D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1CEC4E9-065D-A9B7-2231-6DA0067BE54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A5CCF883-A390-1D27-19CA-86FA466D63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A3FAFF9A-09BE-1DBB-E7A3-034C7EBAA458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766FD44-52A2-EE8F-9038-E1988B4E655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8650BDC-C45F-AED6-37F8-6E96BF574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68C5E82-93BD-05A5-E6C4-1F06699045A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1FE877D-1538-AF19-861D-E979FAA69B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44FFDEF6-1FDA-99C9-EC2A-037F38A67A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30CEB405-E7A5-3A29-E013-1E5EC83784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9032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A65329B-39F2-867F-0A04-9B098071B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E3A8761-5B83-328D-A126-38F076CC62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Kalman Filter is an optimal estimator for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linear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systems subject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Gaussian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noise.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would the Kalman Filter not be appropriate?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your sensor or system if non-linear and / or does not follow a Gaussian noise distribution! Always understand how your sensors / system acts and the underlying assumptions for algorithms!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 operates in a continuous, two-step loop: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E472022-BB26-A280-4E9F-ADDC70DFC27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55D5F8-A3B7-2695-9B43-9B5EF757196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138AAD8-4295-2D1C-F3D6-D375B9C194D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9C38A00-8B26-B25A-8993-54C2AC7CA59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439B2F-9A64-BA63-289D-75BB0FCDE0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20DD1A-D2C9-3CCD-6A14-738983F1015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D72C88-2EDB-1CE2-4E4B-8AB91424BA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5A9CAD-537B-BC1C-8FC1-4CDB9AFDE7D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074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2868176-5818-6A02-B09B-2DA78D460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3740F5-3D2A-7756-7F9D-9154445BCC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7510A0-882A-A843-6A2E-5C1F47BCA9C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F66113E-A496-FC67-CF7A-CC5B8699649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2A2C0C-2528-01A0-C67C-5964FE538B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9B5FE1-C72D-285C-066A-3F0003D15C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35AA4E-ACB6-3FB0-E090-AF433EA275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A73F5B8-C3E4-1798-6308-D23F5E9624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45BE8C7-FAFA-4449-7A05-9A1E0E1A5F2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8BA59FD0-35B2-89C5-FDBD-04FCD45DED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9157" y="868221"/>
            <a:ext cx="11173686" cy="565581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3174F6D-4417-D7E2-1109-F5593B2CC584}"/>
              </a:ext>
            </a:extLst>
          </p:cNvPr>
          <p:cNvSpPr/>
          <p:nvPr/>
        </p:nvSpPr>
        <p:spPr>
          <a:xfrm>
            <a:off x="1009650" y="958850"/>
            <a:ext cx="2197100" cy="17208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22CC04-9718-F1F7-241C-FA54E61578EF}"/>
              </a:ext>
            </a:extLst>
          </p:cNvPr>
          <p:cNvSpPr/>
          <p:nvPr/>
        </p:nvSpPr>
        <p:spPr>
          <a:xfrm>
            <a:off x="6096000" y="906290"/>
            <a:ext cx="2089150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22EFA-256E-7135-3175-8369BF5F8BED}"/>
              </a:ext>
            </a:extLst>
          </p:cNvPr>
          <p:cNvSpPr/>
          <p:nvPr/>
        </p:nvSpPr>
        <p:spPr>
          <a:xfrm>
            <a:off x="5905500" y="3814590"/>
            <a:ext cx="2435225" cy="103681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AEBF65-49DB-D222-8A49-60B639CE487A}"/>
              </a:ext>
            </a:extLst>
          </p:cNvPr>
          <p:cNvSpPr/>
          <p:nvPr/>
        </p:nvSpPr>
        <p:spPr>
          <a:xfrm>
            <a:off x="3660775" y="5201217"/>
            <a:ext cx="2162175" cy="78856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69F143-771D-627B-EAAC-70033AECD387}"/>
              </a:ext>
            </a:extLst>
          </p:cNvPr>
          <p:cNvCxnSpPr>
            <a:stCxn id="9" idx="0"/>
            <a:endCxn id="6" idx="2"/>
          </p:cNvCxnSpPr>
          <p:nvPr/>
        </p:nvCxnSpPr>
        <p:spPr>
          <a:xfrm flipH="1" flipV="1">
            <a:off x="2108200" y="2679700"/>
            <a:ext cx="2633663" cy="25215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28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8" grpId="0" animBg="1"/>
      <p:bldP spid="8" grpId="1" animBg="1"/>
      <p:bldP spid="9" grpId="0" animBg="1"/>
      <p:bldP spid="9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DDB4493-D9D8-6AD3-51AC-CF4793D5A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554BD8F-ADA5-EA1B-8DE0-AD93BC2116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moves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use our fast, noisy sensors (Odometry/IMU)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Predict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where we are. Our uncertainty grows.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Step 2: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The robot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looks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We take a measurement with our absolute sensor (LiDAR) to </a:t>
            </a: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Update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our belief. Our uncertainty shrinks.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Rinse and repeat thousands of times a second.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376E3B1-134B-A92F-832F-A20DC6C9145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D32CD28-BE88-F845-00A1-5A4DEFB900D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D7FA8B-A4B3-75D3-6F82-1164570B7BE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B24B13C-C0B8-E382-99CF-E9BF4D08D14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5A7BEDE-BC74-822A-748C-B76164B3D9E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52E0AD5-15AB-90FD-F7D0-D607498CDDE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6428992-8FDC-0D6C-C78D-E8468CE9F14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B674D67-627C-B72C-E09C-8CB5FD92C4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23400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31B2B4F-5738-FDF9-FD39-4A8C8376F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FAD5EF0-059F-3536-5885-8D1B1A9E352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851F5CC-E10E-7B51-D4B3-ABA254B8A34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943C047-CDC9-33EE-16AA-58930CC374C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0CDE8AC-E7C3-6C8D-2C85-8D631400D9A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825EE23-8497-A8AF-D688-63C2861D70A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017000-93DD-562B-15F8-4ADD83DE227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1F4652-1E6B-F4F1-9BAC-BC043FFFD6B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22EEB2C-584D-7969-94DF-3D6304C00FB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kalman_1d_publication_quality">
            <a:hlinkClick r:id="" action="ppaction://media"/>
            <a:extLst>
              <a:ext uri="{FF2B5EF4-FFF2-40B4-BE49-F238E27FC236}">
                <a16:creationId xmlns:a16="http://schemas.microsoft.com/office/drawing/2014/main" id="{2F7F4B1C-22CC-1CC9-EFFA-09BF652E552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2688314" y="876107"/>
            <a:ext cx="6815371" cy="5679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916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67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72125E9E-E2D6-67AA-3DBB-D82B33340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AB6AA8A-3EE5-93A2-BA0A-835FD4CAD767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03EF32AB-88A2-42FD-9BF9-CD648CE0B4FD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32C0A57B-AB89-CDF8-CF9B-CCF141D24694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0431533B-C682-BD9D-3B2C-79D9CF535D0C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2189D3E4-6E06-B9D8-B8A8-97ABB5BD698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9B5CF19-5FE8-9313-4DF6-DE1FD45AEE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EF487D5F-E3CC-2E3D-CF49-70BB0AE29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A31DF77-130C-9037-6E67-3ADCC0B6B6D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F62580A-77F2-6F27-141E-DD8213AC3A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85EAC71-D086-AB62-11C8-D58BBA97EEB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7248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0B82F22-2950-651A-368C-79B66C411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Last lectures, we covered algorithms like A*, </a:t>
            </a:r>
            <a:r>
              <a:rPr lang="en-US" sz="2400" dirty="0" err="1">
                <a:latin typeface="Arial"/>
                <a:ea typeface="Arial"/>
                <a:cs typeface="Arial"/>
                <a:sym typeface="Arial"/>
              </a:rPr>
              <a:t>Dijkstras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, Hybrid A* for path planning.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We learned to compute an optimal, collision-free trajectory from Point A to Point 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However, path planning operates in a perfect, simulated world!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fundamental assumption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we made about the robot to execute these plans were: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Perfect localization and actuation!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6AB8B77-7D8F-9C2F-DFA1-D1BA48EDB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use a physical model of the robot (kinematics) and our control inputs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 to guess the new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Because we know our model and our encoders are imperfect, we actively increase our uncertainty covariance (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This represents "flying blind" between reference measurements.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If we close our eyes and take 5 steps, are we more or less certain of our position than before we moved?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444E61C-02F9-C990-1E7E-5501AB07947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43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73FE52-A7A5-6FEE-F734-1255D05DD2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7DCF16-91BF-8467-BCB4-09388966110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12BA770-93EC-2352-E466-015C3CF3F90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1F65073-39B2-ECE9-F4FA-BA5E7294480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C72B3C-712E-A7DF-D83D-60BFF3F5838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FFD3AC2-7FCB-B17D-56B3-26BEB48A41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53B4413-E482-2CE4-07FD-B76E82585A2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FF61FD4-F396-E179-3A2D-056FB83E6C7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803470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8A07BB-12B5-8BEC-2F0E-E8D94158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Before we look at massive matrices, let's look at a robot on a 1-Dimensional train track.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Its state is just one number: its position on the track,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μ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 Its uncertainty is also just one number: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Together, they form a 1D Gaussian (Bell Curve) representing our "belief".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BC29F1-3770-84E0-6794-1E7E81F94CF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81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1553DE-1FC9-A108-70AA-CE4F3210477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909B984-032F-143B-8486-3672CA3DFE3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38DD75A-722A-42C3-B592-8087EF86197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0733E-2711-9ECD-183E-A720C5E003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974EFA8-5AA6-7F56-A5EB-09691014550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83DCC83-1B18-29FF-9B56-6219EB0E0F6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B0A41D-F920-0600-5286-811D11480BC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92DCF1F-D150-CBC3-BA0E-26CE575C06A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49806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BEB7A0-9C14-A99B-9284-270210247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ADEE7DE-F787-2BF2-817E-CF565E6C3D7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7BEB2D-D533-4BAB-A122-758A7FAD7AE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CFED6B8-22A3-E25E-6CFD-512B7C36D01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CF868A-512A-0A57-2D65-B294682C3F8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302325-1FD4-7B7B-9C68-5CD28072399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FCE4BEA-CF12-4F1F-D2F7-AEF804C7A2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21BCC-D959-5D13-B3E3-E511995B193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31B2141-4BEB-7520-1011-8ADA48C6DFA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F36F80FA-8AB9-CA0B-87D2-56033447C5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81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D3F0FC-7A2B-0DD8-DB53-01441FCCE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robot commands its motors to move forward by distance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Our new predicted mean simply shifts: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𝑢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But moving adds process noise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𝑚𝑜𝑣𝑒</m:t>
                        </m:r>
                      </m:sub>
                      <m:sup>
                        <m:r>
                          <a:rPr lang="en-US" sz="2400" i="1" dirty="0" smtClean="0">
                            <a:solidFill>
                              <a:schemeClr val="dk1"/>
                            </a:solidFill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Our uncertainty grows.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𝑜𝑙𝑑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  <m:r>
                        <a:rPr lang="en-US" sz="24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SupPr>
                        <m:e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𝜎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𝑚𝑜𝑣𝑒</m:t>
                          </m:r>
                        </m:sub>
                        <m:sup>
                          <m:r>
                            <a:rPr lang="en-US" sz="24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7F7B560-5CB2-A935-3A3D-3A997F6BF2A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68E1554-8107-F257-CA0F-17B68BA099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1B21338-72E2-D33F-10A5-18DA957FCF6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77B434-106E-59F3-C7C8-5A6260022D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2734453-4DD0-54A4-CA8C-56A904E7CB9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42B63A-ED3E-6D46-10A1-0C8D45D5DD7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2EDD6-2B9C-0A51-9BA2-278B4582ECD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6CECA21-4760-0C19-5F59-D2C13CBF30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29AFF5-62CE-11D2-2B88-EC9E84A0678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1669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CC46DD4-F0E9-00D1-9DE8-8AC37EB84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E34F803-63E6-9716-FE5B-13F0C9E1000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05FE115-D2FF-CEA9-0592-C9BFE02234F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CF98374-1E79-0217-EB38-764EAEBC69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A71898-D5D9-E0E7-E6D3-1CF6F27854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A12D5EC-6E0F-A584-3A61-BA11033E584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407C28-2849-08A0-6C8E-ABB8ED8C64B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30F84C1-D990-E94C-FF99-63B9665F28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945626C-483F-21D9-BCF6-BE1A8B29063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ABCE8D01-A433-765C-31F8-999610B4C6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712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3F0C36-C162-5986-87D6-D1B65829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This prediction updates the covariance and the means as such because we are assuming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Gaussian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random variables.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Let X and Y be independent random variables that are normally distributed, then their sum is also normally distributed. i.e., if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𝑋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X</m:t>
                      </m:r>
                      <m: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24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Y</m:t>
                      </m:r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Then,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Z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∼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𝑁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Y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For how to derive it you can look 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  <a:hlinkClick r:id="rId3"/>
                  </a:rPr>
                  <a:t>here (from Wikipedia)</a:t>
                </a: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25EF48-A626-2479-79A7-B9D0A76129D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4"/>
                <a:stretch>
                  <a:fillRect l="-873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C631F36-F78C-757F-C1AC-5348001429A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4A0024-FE46-52C7-8BCE-E45E2DF66A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631BA9-D174-6F92-B57A-F72156AEF28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233507-DD4E-09E4-8B19-F3F68F287C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2F46915-D4D0-20B4-EA15-BF71A35D65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D619B1-5C2B-042D-B7CC-21B3DCD381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A89019-4475-CF78-5C5A-9F557006AD7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86A4B80-EAA7-9252-6199-762F8EA1ADD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58195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C61C6F48-6502-7594-732B-3309D0AAF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9612DE5-007D-444A-BC56-F3B3CC1FABD0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3F9511B2-D0F0-B479-B055-1332C0E28693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4EABE5F-B5FA-990A-EC98-EDDE5603B36A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66E5E5D8-F2F3-4639-917F-8333F14E62E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E9551B3E-856F-2CBE-FA3A-C3FC310E0A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67DE7A0E-06C4-1650-A7B6-044D5411F4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29CE709-52AA-AAEB-F8F4-A01817D0D7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8198507-8C05-C9BB-3571-D0D1C82A4C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7D004251-199A-1E4B-0EF1-41D56E6416B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FF6B2B7-460F-4FD6-6D3C-EEE2C975F3B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4497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74BA4E5-9F0F-9A96-BDA3-71D0F40F7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Now, our absolute sensor (like a 1D LiDAR)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takes a measurement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It says the robot is at position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, with a sensor noise variance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We now have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two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Gaussian curves: our flattened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prediction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curve, and the new </a:t>
                </a:r>
                <a:r>
                  <a:rPr lang="en-US" sz="2400" b="1" dirty="0">
                    <a:latin typeface="Arial"/>
                    <a:ea typeface="Arial"/>
                    <a:cs typeface="Arial"/>
                    <a:sym typeface="Arial"/>
                  </a:rPr>
                  <a:t>sensor</a:t>
                </a:r>
                <a:r>
                  <a:rPr lang="en-US" sz="2400" dirty="0">
                    <a:latin typeface="Arial"/>
                    <a:ea typeface="Arial"/>
                    <a:cs typeface="Arial"/>
                    <a:sym typeface="Arial"/>
                  </a:rPr>
                  <a:t> curve.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 do we combine these two conflicting opinions into one single truth?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D1717540-90E8-76EB-0874-AD7238E42CE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r="-7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B389A5F-DDEA-D4FB-5C72-809C560730A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F28F7A9-7BE0-C541-B732-FA8D7F180F7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D93A15-F017-8647-ADDA-B94836B7C7C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4CE0E9F-80C7-E742-AD1E-0E862F37548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21A9CB-89CE-3748-D3A0-7BFD6CA54D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2C7A10-2D1D-BB01-4755-44EE5C7E8E3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32C9B73-71F9-CADA-86BF-1672C407AE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BD8AB2-8849-7911-19E7-ACE33DE0C1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19691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5BC2D05-6E4A-839C-D75F-276EC3DF0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6AA350-1B4E-77A8-1016-25D64DD4A0A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6AD620-B882-938B-3FF5-330530767F6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E1E9622-ACC3-403C-C00A-7507A9EE19E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5B086A-912F-86EB-F78E-8F5EA17AC7D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1017A1E-A54D-1E8A-0AE7-D75969F664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91C21D-8D99-3DFE-7E8B-4CF01F727B5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2EA7E2-F515-7D6C-9BAE-BB3B533073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5A279F-E552-03A6-9719-2B54A8AC64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F02FE44-DD7C-2BF2-7311-06C963C661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000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6411D8D-9382-4533-2668-A5DA8264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6FCB5A3-559A-9BE7-2A07-E8D4BC2B57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In probability, to fuse two independent estimates, we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multiply their distributions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together.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magical property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of Gaussians: Multiplying two Gaussians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always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produces a new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Gaussian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Because the new curve represents the overlapping area of agreement, it is always taller and narrower than both original curves.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Fusing data </a:t>
            </a: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reduces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uncertainty!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9CE65A-43FB-1C3F-DFF4-2B3EC93E19A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027510-26EC-0DE5-6059-60AA11D156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80E73D-CC32-C367-291A-5A4D9CBD81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64F0A1C-AC21-6003-DC0C-94CE247462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D7195FA-2F8D-2084-4C68-1C64BA4036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95B1338-A756-EA86-02FA-7455B9B247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6E65568-EAF0-88AF-69F4-C83A9F7789D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57CFC5-14DE-9E58-4677-5B0C9D0745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4462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3E5ED3-D160-09E8-9563-3285D3270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68C3C2-1F8C-EB2C-73A8-6C194BCEDB5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1E60B4-5694-9B3E-7FFA-168184A0D63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B8F665D-933A-FF46-9E21-A8EEC2F629A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EF40B8-2E7F-81C1-F574-6A9541D3B8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930D312-0777-8A9B-06BF-0697CB0E7B4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4F521A9-0F0E-4695-2DA0-57878F41FA5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8F6DC97-169D-1278-9FAA-9C0D36EFE0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3F7635-8046-F458-BA19-E643EF89A7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E7AA5F7-52D4-DFA6-6A7F-55939E4848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702321" y="982504"/>
            <a:ext cx="10855188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7054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E7F8C3A-06ED-81E9-F50E-0B296E5D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The math behind that multiplication gives us the 1D </a:t>
                </a:r>
                <a:r>
                  <a:rPr lang="en-US" sz="23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Kalman Gain </a:t>
                </a: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i="1" dirty="0">
                  <a:solidFill>
                    <a:schemeClr val="dk1"/>
                  </a:solidFill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is just a ratio! It's the ratio of our prediction uncertainty to the total system uncertainty. It always falls between 0 and 1.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We update our position using this ratio: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 dirty="0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All it really says is “how much of the measurement should we incorporate”?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CCBBD64-5DE5-3319-EFFB-00B5AD6C368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26198B-48F2-DBCF-8ADC-27C9B15ED6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DAD612D-E7B0-AEB4-8812-5A201F6864A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ABA8F1F-1CDF-2469-E334-67184D9835D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29FF714-8212-1644-54D8-2E0B2F32E3B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29C982-F4C8-F9FB-AB4A-36EFC8A346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1830561-F7A0-25BC-90E5-74639DD54E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6F1B609-BCB4-8415-9969-D8EE64E455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4F9F58-9660-3CB5-D29E-8D99CA01601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2489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DB73DC2-58D2-91F4-F2CF-B9E7021BB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That’s all the Kalman filter is!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current limitation of the formulation?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are only looking at a problem with 1 state, can this be generalized to be N-dimensional?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For our differentiable robot, we live in a 2D plane with 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number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position.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State Vector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 no longer use a single scalar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We must use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2BA07C7-B861-5421-7C0F-90DC1DC47C5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6777F2-6C77-51D1-C8B9-64F1920EBDE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6715D4-8B00-B85D-2167-91DA621CEF8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2175EB-3F6C-D62D-25BA-5217911047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FD85456-00B2-46B1-8819-CBBE0ACF49B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CD03A0D-5C42-625F-8B21-357E15F06AC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898B86-ADAC-9156-40E1-55BCCF20AC5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7629CEF-B88B-5097-7BCE-AE0738D50F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64DB92F-2773-0CA3-01CC-99F2DD8E3EE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52796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178026D5-642E-5FA9-B24D-BB2F9724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D81CE76-DDEC-FA99-FE82-7667F179E333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ND - Kalman Filter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F89C1F07-A7C6-0EEA-CFAB-6F81C647B9F5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F880808B-6498-A126-653F-999B98699611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56DDC46-269F-36DC-A402-F6E99CDF68B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78E0BEC5-D794-6D25-29A5-3AD4D43A3A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21836FB-150F-B968-985A-700320E88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620420A-DDCC-006C-B82D-A8816FF2F83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C4DE278D-5E0E-C64F-6934-39A876AF81B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8FBC960A-FF3C-4EB4-A835-CF3221E4AD5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11DE33F-D1A3-A366-7206-3D6A422E3AF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2049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57C5B89B-AD73-052F-BE6B-E2D5E4828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D972F50-0BAC-51F8-4674-B2E240CF2F54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723464BF-EB2B-8CDD-8CD9-330961639EDC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Predict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1A7A3610-AC45-2DEC-4EF4-C7B00CC4CE17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8823D590-5B53-D3FA-297C-FFDE942030A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0FEC59D2-D2A7-D664-A59D-8CF83C66544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4691F89-242A-4F33-F3FD-67E3F1272B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D4CAA65C-DD16-7ED6-E55C-3B7BC86523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611E5D39-7D89-943D-BB1E-5FEF15C337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076A2E18-640F-E2D4-5E9A-72D8DA6662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261E9803-1AC5-8F81-A128-A5A1A7B68B1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69496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0D03BE-2741-77CF-6AA5-8BA5A79B7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A06F7D-0576-FD78-083B-927F78519E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A81555A-9873-C25D-2321-857A024615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1F5E44-655F-112D-D445-334EF4CACF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A2C5C-8A0E-264A-6A39-30BDB621FE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9914FF-C258-88FD-8E53-23A285BD305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A0F55D-2807-04CD-4C04-8051D66EAF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AB8E005-277B-C577-1754-E2C0532E3F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9C2ECA1-AEEE-E5C1-7E1E-690F0A62674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912C74F-6B49-F930-5A27-F2BCE85E1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939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944DA11-165C-EF65-7459-9CD026C63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Let's translate our 1D prediction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𝑢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to N-Dimensions: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−1|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𝐵</m:t>
                    </m:r>
                    <m:sSub>
                      <m:sSubPr>
                        <m:ctrlP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𝑢</m:t>
                        </m:r>
                      </m:e>
                      <m:sub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our state transition matrix (how physics updates the state).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67F5410-EB67-8B93-6A57-E23368557AC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13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0227CA2-F185-B75C-D910-453CF3B33C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A53280-0AA5-9631-2590-CAEFD5F700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0ACA5C6-E616-E19C-B0E6-2AD169E1F9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2877C7-4046-CCE7-234B-808887AA0D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8A48F2-0323-8338-C1D7-A599CD56CAE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94BEB94-A006-4683-94C6-6D6CDDE226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AF02A8-C81B-135B-84A1-948CCF04CB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537A04-12BB-77C2-3FBF-EA34608B67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78716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0327B7D-7FEA-E73A-14E4-93893E95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7F16B4E-1D2C-F7C7-08EB-B89D3A9E543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CD9912D-E46C-999C-21FE-A93DE3C8F32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C2C88A-8817-7E05-6C4A-38745E9C93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B5255BF-C516-3744-8215-EF33C32A783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8065CE-2002-7252-9D2A-8EDB18A7E1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7690B1B-39E0-1563-0CC5-EA5DE91AD4C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87750E-4C26-ECA9-62B0-C7290E8BF7D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2D8D187-1A56-3B17-669A-64FD3892DB9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D571A45-C401-F0E2-ABC0-41DDD883CA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965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85EBFB3-1EF9-8EC5-867F-1BFD8C692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represents multi-dimensional uncertainty as an ellipse, not a 1D curve.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diagonal elements are the individual variances (e.g., how unsure are we about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independent of everything else?).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off-diagonal elements are the critical addition: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Correlations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robot only drives forward, and we are uncertain about our heading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will that create an uncertainty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as we travel?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Yes,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are highly correlated with errors in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𝑌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40E74E3-A999-C8C0-8BEE-C1133A20002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CE9117-7D7E-73E9-FCB2-D173B899D6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2E25B4-9C80-65C9-0132-0BC3107A42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268C4F9-6EEA-954F-1101-5550EE46989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98213B-00FB-430A-FDF5-638419BC8E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693843-1AC4-F863-C72F-63E16D30714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0E8B05-3179-DEEC-574A-3A98802C08E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50F6C8-41A2-4DAF-A588-1B86396E54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6273D03-808C-03FB-F450-60DB1E081EE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5941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747B13-4078-2579-5CF3-192A99C6A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7A99B7E-3621-627E-2235-8438A3DDF0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9405DF6-419E-CCD5-D645-2A4BF021AEF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6368A7C-58D1-ACE8-0D0E-28CC016916F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984D39-5F9A-3DFA-E2FD-4F34C8A1DA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C4320B4-4EF9-3A5F-1697-3CA8CA71BF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EBF7F5C-2AFF-FAEE-F225-E00853602D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0C9D257-AFD4-BDF2-8B45-B783A65F0B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A2575C-A1C0-F20B-2B6C-2F29DC269E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7EA5D460-2371-5DDC-7B12-80A2B905D8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80638" y="556313"/>
            <a:ext cx="6430725" cy="6430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1619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E8E72C3-8BEE-CEC8-6058-7BC826509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Really?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Before we calculate how uncertainty grows, we must define what it is.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Imagine throwing 100 darts at a board.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Expected Value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[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]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or mean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𝜇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is the center point of all your darts.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Variance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measures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how spread out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those darts are from the center. It is the average of the squared distances from the mean.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write this mathematically as: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14F4595-D47E-8E37-5E1F-F3B3D60B2E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036BC4-3069-A517-9085-A6B0835EFC9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E81DB4-AABF-ABD8-7008-DCB0C1BCE45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A1F5C47-8016-E787-4409-DD855A1AEF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2EE9FB8-DBB9-F93F-7175-1EAB0A5EBE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FCFEEC2-0152-918E-1329-173D4AD4621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87EC6B-71AE-3ACE-3B89-69A4B7F43BF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540CD8F-032C-C367-6351-C8CD108322A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28E6B9-E7DC-4370-2429-D59D886C3DE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124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F9B016A-07A7-5B19-363D-207486F4C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happens to our uncertainty if we multiply our state by a constant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(like applying a gear ratio to a wheel)?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err="1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𝑎𝑋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err="1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𝑎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a constant, we pull it out: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ea typeface="Arial"/>
                    <a:cs typeface="Arial"/>
                    <a:sym typeface="Arial"/>
                  </a:rPr>
                  <a:t>Thus,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Scaling the state scales the uncertainty quadratically.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a motor spins twice as fast, does the position uncertainty double?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No, it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quadruples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E8650B6-E658-55BC-99EC-63616B2ACFD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ECD4026-4D30-6469-3669-618C555F35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44AFBB-DF47-2AE0-6532-CE0CE735CE0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970C62E-C339-ABCD-6424-1B1C2DC2644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A17A87-19B7-DDC3-C604-742D6D871C5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B321BC5-3AA3-F483-F378-DF421402761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432A3FD-B547-089E-F7CA-AEA48A11BA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7FDE8D2-6085-15D2-4857-EBCA2FCCC8C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DEB2F-9DC0-C942-4A34-FC3B732285F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58833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6ABC5D9-A4E3-F417-E87B-C568CB9D3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Real robots experience random bumps and slip. We represent this as adding a random noise variable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our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Assuming the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𝑊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completely independent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𝑋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Substituting our previous proof: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𝑎𝑋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𝑎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𝑉𝑎𝑟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This simple 1D equation is the exact heart of the Kalman Filter's predict step!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710F1563-4DD8-AF30-9B05-0119957EC65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58E0F47-638B-FB83-2BA4-6C20B2B80E1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2B7CD04-32C8-4EF4-7257-53F64BAE02C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A1644AC-33C8-3FE3-8176-1E23A6EB5C7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EB56B4A-3928-CDA4-D22E-F2CB78B69F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3569527-4BCB-50B6-A764-D4FE0D2BD70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3A071F-C80E-9823-7D72-1116E9BED2F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E4201BB-6457-D8B0-9711-EAB861DCE83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AF5DD5-A184-15AD-515D-31840C0A18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4839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C7E1C4-9EF9-CDC5-BBD8-7D67CAAD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Our 1D variance equation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𝑛𝑒𝑤</m:t>
                            </m:r>
                          </m:sub>
                        </m:sSub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a multidimensional robot,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𝑎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State Transition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𝑋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𝑉𝑎𝑟</m:t>
                    </m:r>
                    <m:d>
                      <m:dPr>
                        <m:ctrlP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𝑊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the Process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how do we square a matrix to get the equivalent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𝑎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We can't just write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24920CB-0467-20A1-AFCB-8E7BFC6939A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4EA7C8-CF95-8E49-E830-29DE3D44178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8E689-A0A1-04AF-0F6C-D863EE78F3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1A98E1A-F638-3A1E-85FC-71CC62575D1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27A1F5-0CD8-27F7-16CF-09212B7524C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141965-4ACE-2488-025E-00B33BDB1FC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FA56BB5-C90F-7ED3-DF10-A885B11232D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EEE12D5-33E4-4A05-47C1-D600472039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D739886-C430-5F59-DD3B-8DA7EF2A6E8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7406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E2667E1-5F67-0DB8-5C09-D06E398D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linear algebra, the variance of a matrix transformation is derived using the transpose: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𝐶𝑜𝑣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𝐹𝑋</m:t>
                          </m:r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𝐸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</m:e>
                              </m:d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𝐸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𝐹𝑋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𝐹</m:t>
                                  </m:r>
                                  <m:d>
                                    <m:dPr>
                                      <m:ctrlP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𝑋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−</m:t>
                                      </m:r>
                                      <m:r>
                                        <a:rPr lang="en-US" sz="23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By the rules of matrix transposition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𝐴𝐵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𝐵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𝐴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pull the constant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matrices out of the Expectation:</a:t>
                </a:r>
                <a:endParaRPr lang="en-US" sz="23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𝑋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𝑋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𝜇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𝐹𝑃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Adding our noise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we get our final prediction: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𝑄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B0CE337-5050-8012-9C14-671998C8597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290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04EB41-99D2-CB91-1D37-E46749CD5D6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9BE1EE-B9AA-5E6A-F60B-C6EA7E0E6A4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3C5DF78-BDE1-1A56-16A7-F8AE22EAB9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1B89505-CDA3-4401-1E4D-2693F07074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33D6E1E-2E62-DEB3-5B7E-AC24130879B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D17DEB8-70F4-3A64-38DF-9A99EFCC9D8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4B319-24C4-3EF1-B583-15D6241A6B6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5237A-482F-6977-C5F2-1115686A8E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7636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DF69A64A-19C9-08C8-DDE3-FE66D1FF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74C295F-96BD-4918-1F74-AC997FBBA191}"/>
              </a:ext>
            </a:extLst>
          </p:cNvPr>
          <p:cNvGrpSpPr/>
          <p:nvPr/>
        </p:nvGrpSpPr>
        <p:grpSpPr>
          <a:xfrm>
            <a:off x="2206906" y="2296815"/>
            <a:ext cx="7778187" cy="1508744"/>
            <a:chOff x="2206906" y="1491040"/>
            <a:chExt cx="7778187" cy="1508744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96BC45DC-6C69-AC7A-66D2-F56524700FF7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Update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18FC36B-1E6B-C96B-92B2-1595EE1DF04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B8D16E4-7B13-FB08-E11E-10C7E38A7270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15E0878-88D7-E8A2-830B-BD8AE32E955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F4B8701E-01D1-C11B-28C7-67A99241B3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B4FE3106-A569-BA6B-AC5B-10392AD8E3C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C2F044D1-C0E1-25BC-D2D0-C870ACFE53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DD693D82-9BD4-24F3-BC33-DD1CA4926C6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DCFABB74-8B08-B3E4-E3FF-405B5A804F0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7680763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8E5D3BB-280E-F770-9958-7B688FC8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We’ve successfully predicted our new position, but our uncertainty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has grown.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Now, our sensor (e.g., LiDAR) provides a new measurement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𝑧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have two imperfect guesses for our position: our prediction and our sensor. How do we fuse them? Think of a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Weighted Average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If you and an expert both guess the weight of a robot, you don't just average the two numbers.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You give more weight to the expert.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𝐸𝑠𝑡𝑖𝑚𝑎𝑡𝑒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𝑚𝑜𝑑𝑒𝑙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𝑃𝑟𝑒𝑑𝑖𝑐𝑡𝑖𝑜𝑛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𝑊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𝑠𝑒𝑛𝑠𝑜𝑟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⋅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𝑀𝑒𝑎𝑠𝑢𝑟𝑒𝑚𝑒𝑛𝑡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B6CE28F-1534-871A-9628-A954D34C7C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F487B5-ACFA-2081-4072-44F50F0AE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51BD0F7-D1DE-D5FA-9091-EDC8632AD66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4871D5E-C47B-9363-5497-9891AB08EB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2867A2-B064-5FA8-1DA4-A1DF25F1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0B94D61-43CD-18B1-64CF-67BD449C64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E2AD41B-5803-CB75-1F76-8283E0AB19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6398C4-4C01-C859-9ABE-D55A66CCAD0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59644D6-A071-4A41-1301-00473DDBA7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695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8CCF289-5619-5F94-9267-60F71C157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Again, for 1D the equation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𝑛𝑒𝑤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𝜇</m:t>
                          </m:r>
                        </m:e>
                        <m:sub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𝑝𝑟𝑒𝑑</m:t>
                          </m:r>
                        </m:sub>
                      </m:sSub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𝑧</m:t>
                          </m:r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Where we have: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our sensor is perfect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=0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what does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become, and what happens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?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1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and our new estimate exactly equals the sensor measurement!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520CE7A-FBDA-B270-0701-E76646C666B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02680AE-216B-F2BA-858E-EA32CED86B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2B6C4B7-F2A7-DAD7-D393-31C9AA508E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2F565-EDB0-C0C5-7B83-F7C9CC2928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498C3F-0345-1C93-698C-C0311EB3583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E8957EB-82E7-1FAF-ACF2-AA1F04AC8E4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8DDF4B4-0E9D-A741-1565-B15D3C01EA9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011B75-845E-2439-2097-C8609147C53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DD0338C-3C11-3999-5C0E-C5B8BF20008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471909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E9685C-4611-C60F-AC9E-8760C83A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In 1D, state and measurement were both just position along a track. In 2D/3D, our state is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𝑋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𝑌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</m:d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our LiDAR might just measure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straight-line distance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a wall.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What is the problem?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cannot subtract a state vector from a distance measurement! They speak different languages!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introduce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Observation Matrix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), which translates our internal state into the format of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Expected Measurement =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</m:oMath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EFBB5F-57AB-A192-1EAE-CE29B1EA9D8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2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C242EC9-ADA2-F29A-E08C-D68DC3E9BE9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4EF55EE-03DE-195E-716D-A63E94C422A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1DEF6CE-160F-DB0B-4CC0-BAFCA11BFF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2EE61BB-6C9D-4637-7989-C0789ED69E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7C8B5ED-B33D-55CA-C835-2249208C83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6970939-F86A-3EAD-B9ED-D11E21AFF6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C12B160-17F1-B58A-5D9C-006AED511E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5D22F1-2485-C6CC-7422-AE7646EAB5B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798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C1FBAD-4841-66AC-EF9F-1DAB92B2B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covariance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𝜎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𝑠𝑒𝑛𝑠𝑜𝑟</m:t>
                        </m:r>
                      </m:sub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 our measurement noise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we must map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into sensor space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H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Just like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𝐹𝑃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𝐹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motion, we 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for sensors!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4AEF29A-0173-85FA-43D0-7CCF1CC9E70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00167D7-B8C4-BE72-FFE2-CAC26A12EBF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4F2F602-B691-FE4D-AEA5-F4029CCB397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B68D8F5-0A0A-A074-6E72-9DF12F416E2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478006B-3A18-27D9-C1D2-A3F031854ED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872ED4-E921-7296-A93B-D2BADDE90D3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164F5F9-B724-BD41-3781-6A8C4A3A539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4105440-2358-6699-44ED-CEFD04F28C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0D446F8-7EB1-370D-F217-828A5080A2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1549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BA1ED8-BA63-C08C-B272-85C534B9E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We thus, start by modifying the 1D Kalman Gain into matrices.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𝑝𝑟𝑒𝑑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𝑠𝑒𝑛𝑠𝑜𝑟</m:t>
                              </m:r>
                            </m:sub>
                            <m:sup>
                              <m:r>
                                <a:rPr lang="en-US" sz="230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numerator is the prediction covariance mapped to the sensor. The denominator is the total system noise.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we can't divide matrices, we multiply by the inverse: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𝑃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𝐻𝑃</m:t>
                              </m:r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B3A9FBB-BEE9-F182-E2F9-CCABE6615F6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F0E94B-AEB8-7E61-AEAA-B696F3C0B3C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9B3820-9599-69BE-FA22-BA7C69AA40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5C2B5E4-D5A9-CFE1-D9BA-A862308DEF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286E2A-B36C-0DF6-ECEC-66AC57A70F2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A1E93BC-63C4-08BA-B6E3-BDD9A7F1CAA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56FEBB-B8BB-7A06-FF1E-0C75C01020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490F9F5-1681-1D5D-B1CB-14DDEADE7D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AEEAF82-F476-D665-A055-B3165A5A2E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98036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56B897-DEC8-2B26-D22B-BC7438008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ABA63D-676D-DB15-AA7C-008A0C1EA8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27FA70-6F56-3C23-FD71-9F7EAC07C13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B43CD4C-B581-B87E-3035-36A4C64BB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05AF36-36A8-3B2C-CD6D-4516197DBD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4A988B-12EB-43B5-78FD-3A43F1BD0FD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93B84B7-9D80-F8D9-B84B-CD1B62AF153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A331E9F-9559-044D-1389-295DEE88CF0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C646723-2410-5FB4-D47D-69413E64966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C258B433-0AD9-AB4A-4E5E-7067A7B3F2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9757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274AC9-436B-C113-2A75-EDD37E8BD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To derive the multi-dimensional math, we must define our ultimate goal: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Minimizing Uncertainty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Mathematically, total uncertainty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sum of the variances 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of our state variables (the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diagonal elements of the covariance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sum of the diagonal elements of a matrix is called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Trace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written </a:t>
                </a:r>
                <a14:m>
                  <m:oMath xmlns:m="http://schemas.openxmlformats.org/officeDocument/2006/math"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𝑇𝑟</m:t>
                    </m:r>
                    <m:d>
                      <m:d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Thus the objective is to find the Gain matrix, that forces the derive to achieve: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30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smtClean="0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A839B95-2A10-5AF8-A30A-45DB8791A3F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E951129-192E-D12E-AC6B-555B91519EA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92E1B41-7B76-B7AB-6E59-9F45EE29B0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268556E-5330-F865-3CC2-23BE16728A0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C4B7F32-34E8-586D-3968-452A5DCFADF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E07AC03-0533-1551-F34F-9D39F181CE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D58D728-3246-5924-7090-9B3B8C01770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8DBABE-2630-95C3-D499-66E5436A49E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DE46740-6A8B-A59A-12A6-17FD3FC2E4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5993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06CDB5-1F0B-5A8F-2308-6EDAA9D7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Let's define the actual error of our updated state: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𝑒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𝑡𝑟𝑢𝑒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−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substitute our update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into the error definition.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Covariance is defined as the expected value of the error squared: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</m:sub>
                    </m:sSub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  <m:sSup>
                          <m:sSupPr>
                            <m:ctrlP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𝑒</m:t>
                            </m:r>
                          </m:e>
                          <m:sup>
                            <m:r>
                              <a:rPr lang="en-US" sz="21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Expanding this massive expected value yields the universally true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Joseph Form of the covariance update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Why do we see both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(model noise) and </a:t>
                </a:r>
                <a14:m>
                  <m:oMath xmlns:m="http://schemas.openxmlformats.org/officeDocument/2006/math"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𝑅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(sensor noise) in this equation?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Because our new estimate relies on both, so both sources contribute to the final error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A023A5C-39A7-A88D-861E-23B8244D61E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D0FE1F3-1C29-1E21-A7F3-BFDF337F9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AD53CFA-7BE3-6AD5-7180-3CCF26A0CFF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85037B2-81B8-96C9-6776-1F2AE51DC87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8584A6-55A1-22C4-FA76-C682FBBC0A2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64786-DBF6-7B3F-E0A1-3F0D663D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9515808-2577-D1E1-C114-23B8031E069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4F0A57E-6D58-C184-4486-64AB1075CF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371933-6D63-FFAA-EE1A-AB243F05DC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3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66D19E-F35C-6978-CBAE-71744A838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We have our covariance equation. Now, we use matrix calculus to minimize its Trace:</a:t>
                </a:r>
                <a:endParaRPr lang="en-US" sz="2150" i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𝑇𝑟</m:t>
                          </m:r>
                          <m:d>
                            <m:dPr>
                              <m:ctrlPr>
                                <a:rPr lang="en-US" sz="21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15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1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𝜕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den>
                      </m:f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Taking the derivative of the Joseph Form with respect to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yields: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−2</m:t>
                      </m:r>
                      <m:d>
                        <m:d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1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r>
                        <a:rPr lang="en-US" sz="21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=0</m:t>
                      </m:r>
                    </m:oMath>
                  </m:oMathPara>
                </a14:m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Divide by 2, expand, and isolate the </a:t>
                </a:r>
                <a14:m>
                  <m:oMath xmlns:m="http://schemas.openxmlformats.org/officeDocument/2006/math">
                    <m:r>
                      <a:rPr lang="en-US" sz="21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b="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1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  <m:sSub>
                          <m:sSub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𝑃</m:t>
                            </m:r>
                          </m:e>
                          <m:sub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b="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|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𝑘</m:t>
                            </m:r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1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There it is!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15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𝑘𝑘</m:t>
                        </m:r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  <m:sSup>
                      <m:sSupPr>
                        <m:ctrlP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1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 term emerges naturally from taking the derivative of the covariance. It represents the </a:t>
                </a:r>
                <a:r>
                  <a:rPr lang="en-US" sz="2150" b="1" dirty="0">
                    <a:latin typeface="Arial"/>
                    <a:ea typeface="Arial"/>
                    <a:cs typeface="Arial"/>
                    <a:sym typeface="Arial"/>
                  </a:rPr>
                  <a:t>cross-covariance between our state error and our measurement error</a:t>
                </a:r>
                <a:r>
                  <a:rPr lang="en-US" sz="215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8A9E61C-2F42-AEF4-3176-98850536911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709" t="-759" r="-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334F522-4643-14F4-40CD-3876D6F8E34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BA39E3F-275A-9D5A-BAF7-969391E06A4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E463C07-97D1-F686-C908-D359966E2A7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EFED57-9E8C-E1FD-8861-00B323B6D1D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DF72137-5126-93C6-E270-25A121D442F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E979EE7-0796-C8F0-58DB-1231933D5BA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E6B8F8-70F8-25FB-D30E-8A9B2EF7DB9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DF958F1-4751-B84B-8E83-9B51E49369E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7966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DA9AB8-2BF0-674C-F21B-898EF723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A2ECFB-738A-C93D-F220-341A0A7E9B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FC1EAAF-3AEA-F8C1-E89E-B529C8A2BB7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0A8007-CC4B-657F-97AA-BF012427A8D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46FB9A-6A10-591B-6DF0-A4A6DE3222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647D0EE-E257-5840-A668-915D9DC729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79E7C1-E117-598F-ECC7-320DFA5582D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3CD6CD-D61E-68BB-B4C2-E94CF9B2EBF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213CDB3-FCBD-033C-7FA6-2C81ADF001A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B7BD1292-1381-74C9-7D60-929C34529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606920" y="982504"/>
            <a:ext cx="9045990" cy="5427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256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9AE040A-7D15-0295-5020-984F5349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apply our matrix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to update the multi-dimensional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1D equation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𝜇</m:t>
                        </m:r>
                      </m:e>
                      <m:sub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𝑝𝑟𝑒𝑑</m:t>
                        </m:r>
                      </m:sub>
                    </m:sSub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𝑧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sSub>
                          <m:sSub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𝑝𝑟𝑒𝑑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becomes: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Finally, we update the uncertainty ellipse. We pull the information from the sensor out of our uncertainty: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Identity Matrix, the matrix equivalent of the number 1).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And we are done!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F8E9F1B-F383-AE66-5A2F-1AF8F2A08A7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r="-1418" b="-13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2C050A-4674-A80C-CC95-7CE77F0909D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C4D5CA6-CA4D-A84D-ED61-130637CF49D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9A78A4-A45F-3D36-4377-BE970A379B7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10EFEE-D783-E85C-4DC4-5E1167B7EF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E3C1F41-E88C-E5CB-639F-05993716316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E0DD394-78A6-3A04-CBCE-76E0ABCCF2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2A098B-EE22-DED9-1CC0-C114DC3C76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E7187A0-05F2-DBA7-3A1B-5C00F76FABE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50896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A38B4C8-D79A-D713-1B78-6F3A9859E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Now we have our optimal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But calculating the massive Joseph Form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𝐼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𝐾𝐻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𝐾𝑅</m:t>
                      </m:r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takes too much processing power on a microcontroller. Let's substitute our newly derived optimal </a:t>
                </a:r>
                <a14:m>
                  <m:oMath xmlns:m="http://schemas.openxmlformats.org/officeDocument/2006/math">
                    <m:r>
                      <a:rPr lang="en-US" sz="23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back into the Joseph Form.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Because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𝐻𝑃</m:t>
                        </m:r>
                        <m:sSup>
                          <m:sSupPr>
                            <m:ctrlP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𝐻</m:t>
                            </m:r>
                          </m:e>
                          <m:sup>
                            <m:r>
                              <a:rPr lang="en-US" sz="23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𝑇</m:t>
                            </m:r>
                          </m:sup>
                        </m:s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𝑅</m:t>
                        </m:r>
                      </m:e>
                    </m:d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𝑃</m:t>
                    </m:r>
                    <m:sSup>
                      <m:sSup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𝐻</m:t>
                        </m:r>
                      </m:e>
                      <m:sup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, massive sections of the Joseph equation perfectly cancel each other out.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equation collapses into the short form: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F6FFA1A-E340-999C-1653-305525CBB65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06C7794-B025-0D31-D258-6877AFE322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02B0EF-FB34-256A-7FDB-707F03FFC9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90DD414-82B2-1121-FBAF-EE81108B030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4B7E33-9CB7-C541-8BC3-3CA8FB9F839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1622B32-7B1B-05FF-18EE-8BF63AF9949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798CBE1-BC35-8A5E-7602-4D404217663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99734A-2E5D-DA57-6F9B-7109CAAD611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BCA8FC-AC9A-7B0A-7F36-D3E7C04E73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82670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A12F04-D8EB-C94D-12CD-8C30B11F5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But what does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−</m:t>
                        </m:r>
                        <m:r>
                          <a:rPr lang="en-US" sz="23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𝐾𝐻</m:t>
                        </m:r>
                      </m:e>
                    </m:d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mean physically?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Think of the Identity Matrix (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𝐼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 as the number 1, representing 100% of our previous uncertainty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|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𝑘</m:t>
                        </m:r>
                        <m:r>
                          <a:rPr lang="en-US" sz="23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maps our state to the sensor.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how much we trust the sensor.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𝐾𝐻</m:t>
                    </m:r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 is the </a:t>
                </a: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percentage of uncertainty the sensor measurement removes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If the sensor is completely useless (pure noise, K=0), what does the equation become? 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𝑛𝑒𝑤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d>
                      <m:d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𝐼</m:t>
                        </m:r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−0</m:t>
                        </m:r>
                      </m:e>
                    </m:d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  <m:r>
                      <a:rPr lang="en-US" sz="2300" i="1" smtClean="0">
                        <a:latin typeface="Cambria Math" panose="02040503050406030204" pitchFamily="18" charset="0"/>
                        <a:cs typeface="Arial"/>
                        <a:sym typeface="Arial"/>
                      </a:rPr>
                      <m:t>=</m:t>
                    </m:r>
                    <m:sSub>
                      <m:sSubPr>
                        <m:ctrlP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𝑃</m:t>
                        </m:r>
                      </m:e>
                      <m:sub>
                        <m:r>
                          <a:rPr lang="en-US" sz="2300" i="1" smtClean="0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. Our uncertainty doesn't shrink at all!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08ECBD5-53EF-A828-F0F0-CA33C404223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56D4FED-072D-4925-AC4B-3C18124748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0C6C0C-18F7-78C5-2CEC-D622CFBBA9C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73F8A6-DB58-B672-DA65-2CC05B3C19D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B9323EB-2B7C-BD05-FF2D-60A6FF7E05F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6ED305-2F67-8665-AF87-2AAA7DA23BD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C95B91-31B3-8134-935D-7427F25A6C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68C02C-2AD8-B340-E1E2-C2A6F2C01B5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28E4CF7-203E-95BA-5314-4A7B9D184FB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4893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F7DFC41-D516-7E94-017E-B667648C5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Prediction:</a:t>
                </a: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Prediction (Where do we think we are?):</a:t>
                </a:r>
                <a:endParaRPr lang="en-US" sz="230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𝐵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𝑢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Prediction (How uncertain are we getting?):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𝐹</m:t>
                      </m:r>
                      <m:sSub>
                        <m:sSub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−1|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𝐹</m:t>
                          </m:r>
                        </m:e>
                        <m:sup>
                          <m:r>
                            <a:rPr lang="en-US" sz="23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𝑄</m:t>
                      </m:r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b="1" dirty="0">
                    <a:latin typeface="Arial"/>
                    <a:ea typeface="Arial"/>
                    <a:cs typeface="Arial"/>
                    <a:sym typeface="Arial"/>
                  </a:rPr>
                  <a:t>Update</a:t>
                </a: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The Kalman Gain (Who do we trust more?):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b="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|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𝑘</m:t>
                                  </m:r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−1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pPr>
                                <m:e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sz="23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+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State Update (Correcting our position):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𝐾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3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𝐻</m:t>
                          </m:r>
                          <m:sSub>
                            <m:sSubPr>
                              <m:ctrlP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|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  <m:r>
                                <a:rPr lang="en-US" sz="23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00" dirty="0">
                    <a:latin typeface="Arial"/>
                    <a:ea typeface="Arial"/>
                    <a:cs typeface="Arial"/>
                    <a:sym typeface="Arial"/>
                  </a:rPr>
                  <a:t>Covariance Update (Shrinking our uncertainty):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b>
                      </m:sSub>
                      <m:r>
                        <a:rPr lang="en-US" sz="23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𝐼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𝐾𝐻</m:t>
                          </m:r>
                        </m:e>
                      </m:d>
                      <m:sSub>
                        <m:sSubPr>
                          <m:ctrlP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𝑃</m:t>
                          </m:r>
                        </m:e>
                        <m:sub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|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  <m:r>
                            <a:rPr lang="en-US" sz="23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sz="23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C386CD8-0E24-AA79-BDA9-C20184EBA8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18" t="-1011" b="-341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65CE801-BAB7-A218-9AB6-AC59568D41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09875A-EDAF-C7F8-E0FB-D9FE2CC5B0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53636CA-143C-A6E6-E065-7B439B068A4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AACB31D-AB74-231E-C81B-B6C2E9D36F7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655265-183E-41C1-028A-00677A217C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B5225A8-6CA1-D221-A30C-DB94FDE827B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B6ACB1-ACDF-5EE4-9493-248A6C3655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B67D41D-248D-DEC3-4302-4CAC0F980F4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4198975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D8AEEAF-DD7F-FDD5-F0A4-0106A263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3200EB2-CF9A-5D3D-3146-58E18650A71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65A6397-DEBB-BF1E-DDC8-281F16FF509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Sensor Fusion – Predict Step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DF86A-2C63-3430-D379-93D523263ED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E555416-5570-4699-D86F-D3F14E2D8D3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E6F546-5ED5-8698-1C6B-1122009AA18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6BB8AD6-9E40-2413-A4B9-AD895C60BC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2A915F-BEF3-EE49-DD69-BC8012DE2F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9FE8DEB-BF5E-2B33-F489-DFB3CB80C0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𝑚𝑜𝑣𝑒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𝑠𝑒𝑛𝑠𝑜𝑟</m:t>
                                    </m:r>
                                  </m:sub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num>
                                  <m:den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𝑝𝑟𝑒𝑑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bSup>
                                      <m:sSub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𝑠𝑒𝑛𝑠𝑜𝑟</m:t>
                                        </m:r>
                                      </m:sub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bSup>
                                  </m:den>
                                </m:f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𝐻𝑃</m:t>
                                        </m:r>
                                        <m:sSup>
                                          <m:sSupPr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𝐻</m:t>
                                            </m:r>
                                          </m:e>
                                          <m:sup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</a:rPr>
                                              <m:t>𝑇</m:t>
                                            </m:r>
                                          </m:sup>
                                        </m:s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𝑅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3AC61F16-A724-2BED-6A48-95709F44506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81280231"/>
                  </p:ext>
                </p:extLst>
              </p:nvPr>
            </p:nvGraphicFramePr>
            <p:xfrm>
              <a:off x="159718" y="2065343"/>
              <a:ext cx="11732644" cy="31133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34402">
                      <a:extLst>
                        <a:ext uri="{9D8B030D-6E8A-4147-A177-3AD203B41FA5}">
                          <a16:colId xmlns:a16="http://schemas.microsoft.com/office/drawing/2014/main" val="3920864192"/>
                        </a:ext>
                      </a:extLst>
                    </a:gridCol>
                    <a:gridCol w="2095642">
                      <a:extLst>
                        <a:ext uri="{9D8B030D-6E8A-4147-A177-3AD203B41FA5}">
                          <a16:colId xmlns:a16="http://schemas.microsoft.com/office/drawing/2014/main" val="1103532210"/>
                        </a:ext>
                      </a:extLst>
                    </a:gridCol>
                    <a:gridCol w="2101850">
                      <a:extLst>
                        <a:ext uri="{9D8B030D-6E8A-4147-A177-3AD203B41FA5}">
                          <a16:colId xmlns:a16="http://schemas.microsoft.com/office/drawing/2014/main" val="1613415694"/>
                        </a:ext>
                      </a:extLst>
                    </a:gridCol>
                    <a:gridCol w="6000750">
                      <a:extLst>
                        <a:ext uri="{9D8B030D-6E8A-4147-A177-3AD203B41FA5}">
                          <a16:colId xmlns:a16="http://schemas.microsoft.com/office/drawing/2014/main" val="2886094722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Concept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1D (Scalar)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N-dimensional (Matrix)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Description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0137731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State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122000" r="-3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122000" r="-287791" b="-8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robot's current estimated condition (Position, Velocity,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38139900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Uncertainty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222000" r="-3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222000" r="-287791" b="-7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How unsure we are about the state (Variance / Covariance Matrix)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52411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Physics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315686" r="-3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315686" r="-287791" b="-5941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How the state naturally evolves over time (State Transition / Jacobian)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142306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Process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24000" r="-3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24000" r="-287791" b="-5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Uncertainty added simply by moving / imperfections in the physics model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68467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Model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/>
                            <a:t>1 (direct)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524000" r="-287791" b="-4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0" i="0" u="none" strike="noStrike" cap="none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  <a:sym typeface="Arial"/>
                            </a:rPr>
                            <a:t>Translates internal state space into the format the sensor outputs</a:t>
                          </a:r>
                          <a:endParaRPr lang="en-US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17817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Sensor Noise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624000" r="-3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624000" r="-287791" b="-3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inherent electrical/mechanical noise of the specific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05781874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Measurement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724000" r="-3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724000" r="-287791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raw data point provided by the sensor (LiDAR, Encoders, etc.)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62659002"/>
                      </a:ext>
                    </a:extLst>
                  </a:tr>
                  <a:tr h="613982">
                    <a:tc>
                      <a:txBody>
                        <a:bodyPr/>
                        <a:lstStyle/>
                        <a:p>
                          <a:r>
                            <a:rPr lang="en-US" b="1" dirty="0"/>
                            <a:t>Kalman Gain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73547" t="-407921" r="-3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73547" t="-407921" r="-287791" b="-1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The dynamic weight that decides whether to trust the model or the sensor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376376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553565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3619</Words>
  <Application>Microsoft Office PowerPoint</Application>
  <PresentationFormat>Widescreen</PresentationFormat>
  <Paragraphs>581</Paragraphs>
  <Slides>62</Slides>
  <Notes>62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6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205</cp:revision>
  <dcterms:created xsi:type="dcterms:W3CDTF">2019-01-14T22:06:33Z</dcterms:created>
  <dcterms:modified xsi:type="dcterms:W3CDTF">2026-04-06T15:15:34Z</dcterms:modified>
</cp:coreProperties>
</file>