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2"/>
  </p:notesMasterIdLst>
  <p:sldIdLst>
    <p:sldId id="256" r:id="rId2"/>
    <p:sldId id="417" r:id="rId3"/>
    <p:sldId id="413" r:id="rId4"/>
    <p:sldId id="272" r:id="rId5"/>
    <p:sldId id="258" r:id="rId6"/>
    <p:sldId id="420" r:id="rId7"/>
    <p:sldId id="421" r:id="rId8"/>
    <p:sldId id="419" r:id="rId9"/>
    <p:sldId id="422" r:id="rId10"/>
    <p:sldId id="424" r:id="rId11"/>
    <p:sldId id="426" r:id="rId12"/>
    <p:sldId id="427" r:id="rId13"/>
    <p:sldId id="453" r:id="rId14"/>
    <p:sldId id="428" r:id="rId15"/>
    <p:sldId id="429" r:id="rId16"/>
    <p:sldId id="430" r:id="rId17"/>
    <p:sldId id="433" r:id="rId18"/>
    <p:sldId id="455" r:id="rId19"/>
    <p:sldId id="418" r:id="rId20"/>
    <p:sldId id="431" r:id="rId21"/>
    <p:sldId id="432" r:id="rId22"/>
    <p:sldId id="437" r:id="rId23"/>
    <p:sldId id="434" r:id="rId24"/>
    <p:sldId id="438" r:id="rId25"/>
    <p:sldId id="436" r:id="rId26"/>
    <p:sldId id="456" r:id="rId27"/>
    <p:sldId id="435" r:id="rId28"/>
    <p:sldId id="439" r:id="rId29"/>
    <p:sldId id="441" r:id="rId30"/>
    <p:sldId id="440" r:id="rId31"/>
    <p:sldId id="476" r:id="rId32"/>
    <p:sldId id="442" r:id="rId33"/>
    <p:sldId id="443" r:id="rId34"/>
    <p:sldId id="454" r:id="rId35"/>
    <p:sldId id="458" r:id="rId36"/>
    <p:sldId id="472" r:id="rId37"/>
    <p:sldId id="448" r:id="rId38"/>
    <p:sldId id="473" r:id="rId39"/>
    <p:sldId id="444" r:id="rId40"/>
    <p:sldId id="446" r:id="rId41"/>
    <p:sldId id="445" r:id="rId42"/>
    <p:sldId id="447" r:id="rId43"/>
    <p:sldId id="449" r:id="rId44"/>
    <p:sldId id="450" r:id="rId45"/>
    <p:sldId id="451" r:id="rId46"/>
    <p:sldId id="477" r:id="rId47"/>
    <p:sldId id="457" r:id="rId48"/>
    <p:sldId id="460" r:id="rId49"/>
    <p:sldId id="461" r:id="rId50"/>
    <p:sldId id="462" r:id="rId51"/>
    <p:sldId id="463" r:id="rId52"/>
    <p:sldId id="464" r:id="rId53"/>
    <p:sldId id="474" r:id="rId54"/>
    <p:sldId id="465" r:id="rId55"/>
    <p:sldId id="475" r:id="rId56"/>
    <p:sldId id="467" r:id="rId57"/>
    <p:sldId id="471" r:id="rId58"/>
    <p:sldId id="459" r:id="rId59"/>
    <p:sldId id="478" r:id="rId60"/>
    <p:sldId id="468" r:id="rId61"/>
    <p:sldId id="469" r:id="rId62"/>
    <p:sldId id="470" r:id="rId63"/>
    <p:sldId id="466" r:id="rId64"/>
    <p:sldId id="479" r:id="rId65"/>
    <p:sldId id="480" r:id="rId66"/>
    <p:sldId id="481" r:id="rId67"/>
    <p:sldId id="482" r:id="rId68"/>
    <p:sldId id="483" r:id="rId69"/>
    <p:sldId id="484" r:id="rId70"/>
    <p:sldId id="485" r:id="rId71"/>
    <p:sldId id="486" r:id="rId72"/>
    <p:sldId id="487" r:id="rId73"/>
    <p:sldId id="488" r:id="rId74"/>
    <p:sldId id="490" r:id="rId75"/>
    <p:sldId id="491" r:id="rId76"/>
    <p:sldId id="492" r:id="rId77"/>
    <p:sldId id="493" r:id="rId78"/>
    <p:sldId id="505" r:id="rId79"/>
    <p:sldId id="494" r:id="rId80"/>
    <p:sldId id="514" r:id="rId81"/>
    <p:sldId id="495" r:id="rId82"/>
    <p:sldId id="496" r:id="rId83"/>
    <p:sldId id="497" r:id="rId84"/>
    <p:sldId id="498" r:id="rId85"/>
    <p:sldId id="502" r:id="rId86"/>
    <p:sldId id="499" r:id="rId87"/>
    <p:sldId id="501" r:id="rId88"/>
    <p:sldId id="506" r:id="rId89"/>
    <p:sldId id="503" r:id="rId90"/>
    <p:sldId id="500" r:id="rId91"/>
    <p:sldId id="508" r:id="rId92"/>
    <p:sldId id="509" r:id="rId93"/>
    <p:sldId id="510" r:id="rId94"/>
    <p:sldId id="511" r:id="rId95"/>
    <p:sldId id="512" r:id="rId96"/>
    <p:sldId id="513" r:id="rId97"/>
    <p:sldId id="515" r:id="rId98"/>
    <p:sldId id="507" r:id="rId99"/>
    <p:sldId id="271" r:id="rId100"/>
    <p:sldId id="270" r:id="rId10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43FB0-C57F-79C7-9535-B678C75384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7C0687-8CCB-6A90-1185-11BBF3C424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2EDADD-0D8D-9E80-F663-EC5293C2AA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8934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75412-624A-2292-0EA3-35B791CA3E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FAC35A-CD72-905F-CD22-D1B98D7C86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8624941-50C6-5653-FE5C-62215CF9E6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339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F28052-259D-19FA-2CA0-17516D528E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47D357-2DDF-60E5-8997-E2BF559D62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5A4BFE2-5F2F-0C43-4FB8-A1AA92F315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154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022EE5-ED73-60D1-8E8C-287AA96F98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0B0831D-EF87-97F8-12D9-B860728A04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FCB816-D465-4317-B99B-FD37B68972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1705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666E3-9E47-7889-5DA2-B1DCFFC95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0A621E-607C-F890-2501-9B7548653F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5A60D-B771-03B6-792B-53561ADAD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6274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72ECCD-901D-7E01-FF70-257E90AC3B0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BC3F37-D7C0-0C18-A837-789F9F3613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7A2361-ED4C-0C8A-4B00-293428070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4232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B2D1C3-6FAC-433B-723E-EDD0565DE6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FE019F-2EA4-F292-11A9-F691BE82CF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57238E-48D8-8B11-1A80-75313392FD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0355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0E55577-D0F8-3F09-EE46-BE1C1A54D72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AADC53D-9CE5-9F9A-88E4-D1BDBC84C9C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F1E540D-DA24-3AD1-D13F-1F59D34B6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1414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AC25C5-4B3F-23D3-5273-834D2AA438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0DD442-A65B-9B06-F2E1-8CA407428E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A73C6-858B-63AF-9C5D-40812E714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7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F58C2-2857-582F-A6D9-7CE922EA39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F1C968-FE29-CC2F-AECF-04C4B333A8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257D4C-FA1B-5175-D621-9EC7251876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786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E9E29-AE04-7204-A230-595D2E0F16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8B4480-BCD8-D12A-6F6A-EB503BCE46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457E85-909C-D4A3-CF3E-E032ECF6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32623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0E863C-E80B-1E16-8A3D-EDCAC468C9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6982E0-5E66-1739-D460-A1F95380AD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355E3A-C069-9247-8871-41E01CE097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62610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12F67F2-6002-27A1-D550-B44D9D80D77B}"/>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9ADDE32-7424-E8B1-4255-17885BAA764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F573AE4-712E-8397-4981-01F9461B7B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25106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F3569D-724E-F4C2-BA96-3AE32552D8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975974-90E9-BA49-72CB-F49E1AE296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964EC8-5C3E-58AC-AA56-2A5767B6E4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136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D55C96-1DDC-0E30-98AE-606757DFE6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D37E43-9039-839B-9BDF-9B6B46FD40E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B5C46D-081D-8B31-833D-73BD917CBE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39014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BBBD9D-F9B8-284B-FE49-D13DA42B00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BD5357-9591-7FC3-25E7-6E8C630AA6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8E06C3-BF75-9718-B2BF-B6464C9C24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9751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527FEC-C783-DED8-A5E8-4D8F5C59A7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670EDE-0768-EF79-4092-73A0F0275C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6BCDE13-5D30-A1FD-9D63-773641118E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4522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6094CC-7C34-0AA1-8A06-367D536561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524A76-7906-492D-48F7-69A0892155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D4433-39F2-8084-4B01-3C6FF82E42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04558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3ACA8-4C90-C943-F9FE-F305E992D0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E3B9709-6D2B-B1DE-59EF-9BC71247EE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79C658-C2E0-03E4-F305-08177F8CBD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740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1C3F8-6B7A-AF16-D8DE-AA249386C9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3BF2167-F47E-0901-688F-0AF1B8B2B7B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3F903E8-1DFF-A830-67DC-A2BC91BF03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17025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B1C08-D4DD-01FE-1F1B-853D1C4942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39E895-D24A-B323-9900-9081889E7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73F8DD-0402-7360-BB92-DDE9292BC4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7736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4C403-CE59-DF9D-AEF0-9F2199D73C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5FEB82-972C-600A-3215-F69A6BC671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CBECDD-AE8F-F181-E341-1FF0779454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2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8A32FD-5C84-269D-5D87-5E114134C9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84CD4D-C414-FFFB-5E71-DEB24AC6E8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95E875-3CC0-3265-7075-A25F1A06DC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44455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5C5588-5D28-6383-DFAA-1709D6DC45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522C-D34C-5EB5-6F67-DCAB77E1AE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E80DA0-7559-E667-2930-EF7EB8A28D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24654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830D02-D4CA-2016-2DAB-E7EED3C196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803EC2-C3C6-2AD5-6815-AD56A22263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39511E-F5AA-2A92-CBEB-B2D031F800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45678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FAB225-9778-D149-C3A2-9067326B94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373416-652B-23EB-8E45-C7A97036A5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B83496-4E1C-9903-6F82-5EF22260B7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96214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4A5E11-BE8A-9852-891E-ECF8700E22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DD7635-C429-3862-020C-6AC630FC7A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C3361F-AB9B-1A1A-72C2-A796CA828C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3052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957F642-A96B-4D30-1066-5E28FC252B2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D2562C8-819A-CB45-D199-D22B77D4FD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A442E3D-7F53-FCEC-E45D-931BB71F5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23832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4A50CF0-CA68-A3B1-8978-E3896AB020C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CB296A0-F8E9-7578-7D53-0931477213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633E37A-86DA-49B7-62EB-D3434438950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71396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F2CE-C5D0-FCFA-140B-E4B6B09EEA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190A3D-0140-D128-22BE-62F63598F0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FAE83A-31D6-1525-CA97-1A2444A3C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91460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5346A4-41D5-E2DD-69CE-398D962EA6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DD13FA-ECB9-E46B-7C27-9A5C2B40E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93F40B-ECC9-5EAD-6B6D-FFFDCBF36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68787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0E7CAF-D7ED-00DE-0223-9661AD415D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189BF-6AFE-0CA5-959C-E3B876D9E7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55AAC7-D32B-5C28-B719-1930126CDE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7004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6D3B32-3163-A67F-CAEE-B44956EEAC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A196CC-2EDE-26F7-86C3-3A8B7D15A19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BEF17-DC32-6169-9DB7-638AB10C62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855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5BB0A-97B6-D527-F23E-E82F3E2DE54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29AF1-A1C8-D695-BF54-CD34240E369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3C7060-110B-C812-40C4-66307624FB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65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1C5415-BEF5-B9F8-4D93-1160F401A2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7B08A5-FE6E-FFB7-BD30-703CCCB535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7D2B0C-073C-7C6B-21CC-0614AFC1D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4827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604CF1-7BCA-07EB-06B1-2EFF81F0D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B4F202-7BF0-6C93-EED9-AE38C441F1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D6457-B759-4F54-C036-D5E715024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71722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A33884-3129-64CB-15A5-33820B7264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A3C399-6B30-1361-939E-B4A1007AE5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B1EBB47-FD94-0693-69A5-5CAFA4035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19039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8E5DD7-D096-AB84-11A2-E7456114A2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C4CF292-AA26-CE0A-C02E-1D99770B62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599E6E-22E2-D3D0-9892-1A54917E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70192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CB0AD-CFEE-2331-F58E-1E9F6CD803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58A8BA-9CCA-BC07-567C-1659D9761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191DC0-714D-D225-77DA-A2A46CA52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15949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AB4023-C4CC-6195-71CC-41142A720F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46953-3436-F7D2-F1B8-ACDD318B7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E79B27-A7AC-1731-7769-A496AB2EF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71316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3170E2-B953-EB7D-72F6-378F759CF9F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4E753396-0160-B36D-4D37-4CD5168B29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BD8C08C8-B9C5-99C6-9E28-1AADAEBB93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95447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F29B1F-2F74-73F9-A425-C66C9BF04A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FED399-F5B4-E89B-323F-BE2B292B56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2AA4CC-52F2-77ED-92C4-04A5745D73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693806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1B4AA8-1C78-0342-A494-843E91E6AE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E682C5-1BC1-F983-CCD5-C69399B83F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E1CD69-6AD3-4119-BB09-C5692A3F11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74104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04F528-8ED2-F77E-3D3F-3BF0CCA59E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EBB136-68D1-8593-A394-A7F3650A470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AAD6DEC-E5B4-25A5-BD45-3444BCFA0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85073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DB4F8E-30C8-ED8E-4FAF-33A67B11C4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BCC6B-9302-6859-4FE1-7FD0BFA30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92FC1A8-ECF4-951A-58C0-214C49A40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53686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C74766-17F6-38EF-7DD0-CC7A1AACF9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96A08E-EC5C-4409-279F-394B23BD7D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3E512C-23DD-7881-1819-E973456B8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7388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0109C3-78B0-F19E-8154-433FDDBC35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552379-1967-A7C2-215E-655DF58A37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D14190-9883-09F1-6C6D-3C343021D1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0483378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629F47-BAE4-D58F-AC79-663069DE0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47E0AC-9400-F526-5D92-7D6FF7E6FF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401DB-85C8-AAF0-B2C6-9DBC5B57D5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832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7E9B7E-E297-1C56-278A-531AEA02BE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3698AB-DFD5-1019-9CB6-DAF2586EFE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F584BD-9BC8-E00D-0513-07A508C941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40208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C2B823-08B9-5A42-8880-8B9AB21882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8A1ACC-54D1-2BA2-B22A-8EF869B51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2407EB-CAAA-0A07-D089-93418A0168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41614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94F01-333B-7BBA-2D68-FE31E06ED4E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F88D51-B705-7F7B-ADA5-1E6A287B60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EB9A7-2F06-92C3-EDE5-43AA5232B0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772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A9A9ECF-5608-DE3F-2D9B-7A8B1C148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332BA6-FB34-74D5-757B-1B96B0251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D69F362-1FBE-9A91-67B2-DB664E54EA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5300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9CB8D7-BF7C-5AA9-1FE9-410C5B31AB5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2971BE4-D90B-53FF-52F3-833B61D41E4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27902E-BAFA-41E5-EC64-6ABC7AABF1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08475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7F00F3-EF5D-4713-CBE2-8F9B163E50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6D56DF-1E5C-BB88-D6AE-38AF11EB56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2E7582-5CF4-405F-9E3D-49FC71488D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93290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794B93-37D8-0925-2127-5569307056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2BFB7A3-AA8F-0A1C-F2CA-06D60DD9A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EF3BBB6-B409-46BE-5236-36CD06ABA5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47833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5490C4-7673-55AE-B0E3-9754A67AC5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9B9DD0-4FD0-58DE-BB25-B71D99B287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E29417-A4F1-01C3-76CC-D0A0213576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400084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DE7616-18FF-63D0-7F02-CCA58394D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93A69-813E-AC17-E290-19F41740AEB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06F35F-1372-0375-8851-9834AB0369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11428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EB43DD-7C8B-0657-79F1-9C660C8FBD6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62D9274-FA95-0567-B884-B6D516B5D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D2B5007-C595-78E0-27D0-CA39DDAFDB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720374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BF3471-D750-85E0-7DDF-1537F140BE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C90F27-9487-7212-C44A-A0B61AE69C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346588-02E2-4C5E-D0EF-05C9CC1D6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3455590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9F753E-EB10-B074-1951-7F3DBF34D4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3AA21E-3676-285F-ADAC-ADDB4D81D45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506EE7-E595-95E7-5949-08AF09E63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028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889C7A-6BBA-E36F-33FA-5832C4B46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49709-AF63-4812-D3E6-2B26EC1635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D4D3320-7050-32FD-1BB0-3ADEFCD950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392459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9CF808-F51B-F2EF-08D2-8EC55233C3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A7BE46-C214-ED6C-E719-84345C70E7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937272-7093-6FD7-E085-5B9E6F2D6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96396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2BF16C-AFE6-CC14-6489-586A27A61E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63129-C277-59E5-9C7F-4E0E8CA40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04BB3B-9234-C153-DF05-224DB5EBC0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320570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B4AFD3-B6F8-BCCF-5882-112B2A3D26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0966EA-1ACC-4A05-5645-7922321E3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2BCE47-4A3F-9154-694A-3D5FA3DBB7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711889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0309B8E-3C0F-ABA9-E8AC-CA6097055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483D0-CE68-D85A-22F5-C636F699A2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8233D3-701B-B0FF-196F-48A624BB42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316197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8A8C3E-9DE5-09A6-77D4-FD149C3CE3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8DADE0-C3B4-A075-9103-2A3592964A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7E43FE-B2B5-96F6-8801-FBECA75D9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75888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40AC17-02D0-ECE2-1210-ABE1D20ADA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AA2507-684D-C9C3-593C-17268A813A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DF088F-0524-1EFD-D39E-7F1C7920C1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1592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ACC8C-DB49-EF85-6E8C-D81DB85A14B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4BC0A27-61CC-3CBB-66D9-EBE13A3888D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6175557-1036-27F7-BFA8-5BD61EE71F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90325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909F1F-F6DA-7A4E-DBC1-6E8372F05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B266-E0EE-4EFF-9F3E-FA74850712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40BEE0-24B4-EE18-7F45-EF3FD3ED7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66550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E94CD9-5CDA-DC8C-3149-CFA3287788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FEF8507-F0FD-65DB-70F7-82880D46B1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EB94139-859D-89A6-FA09-E7BBD73455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91625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14E977-FEFA-9DB0-175D-A07C64292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60543-32B8-4D4D-40CB-44B1282206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D80051-E0C5-8E59-DA52-A170D38043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908216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ABA25B-E423-BE9F-5595-567B9ABE89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A4C99-91D7-61DB-55FD-B5D9C88C2D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59C041-84E5-105C-1104-1AF1AB4A41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538942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B5C4102-3EB4-6C93-49B1-36C916173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5E0EB3-DD67-8DEA-3F92-BCF0006CE8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175E-D0B6-000C-A1A0-7DB48C0291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291853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ED0362-EF11-0967-4FD0-F287BBC72E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25C719-F614-3C0B-20CB-B5732A885C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75E86-BC04-2B82-3762-24F0AD6D70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742349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E130F5-F146-AB3D-F781-2D9259382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616139-8ACB-C9CF-077A-7170673A28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5C5B62-5209-4FAE-0D07-B96327C3BC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049727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C3BFF3-2998-EBC1-E291-76D3A5E994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5A5021-3972-A98B-E106-7687492120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30E503-45B6-A350-3FB9-53F0B74C31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81903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A60F21-1285-A761-8CC5-273190358F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087409-A165-2EE9-C043-A90107743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8D41AC-E8D1-444A-7ECF-850E38249E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8333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C93D05-D048-7F42-AB7A-D5E98EFD1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FFE39-2E08-DEA2-D0C1-943286573C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857A8B0-7949-D766-3BFE-FA66597D3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86172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70BEC5-7418-FD2C-D380-EE4AFEB39629}"/>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ADCD4BB-BB07-662C-B81E-4FDEE064C54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0D443E71-49D3-63C2-22DC-0E27479103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10441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56A0AD-0932-3447-E51B-0AC42DDA2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153ED-98C9-CA51-0075-B24544B93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982073-417D-42A8-B5DF-51D3A11D31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934540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F552EE-C4C3-DECD-067F-E711C9FB2A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02870C-F939-3827-6974-35A8C563BA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932640-425F-A7CA-A960-BEC0AC8F37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202480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7F42AF-955E-09DA-B1E4-FC0AC04F9E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E38B6A-EAFD-B64E-5702-3262DC9FAD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37F41-3FEB-D8EB-CA2F-7B2E402FEA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73950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DBBA1A4-37D8-2C4A-77A6-E0889284846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9973D30-1A60-A060-CD6E-D358299D73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AFB814-E3C7-A187-4374-1D2CC69289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2821617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D24A4D-44EE-CF52-8AAF-991E39091C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006244D-38BB-FD61-5F06-E17762ED9E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EA5F98-2BD4-940B-C597-3C219775A4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24876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4B9022-3EBA-B919-83AC-F14775969F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5E7477-6260-BAD8-82C2-A2A9ABEE1C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072D86-E36C-F1F7-7232-83D626A20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3334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DF43D1-7FA2-57BE-127D-531AF45B65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3EE175-CB7B-BD40-9318-B82804B143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FB9D35-07A6-4FC0-D9BE-DC8A5C20B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0589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68BC10-C6A1-3E13-CE4D-35F5142206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5EF2F0-D49F-206D-7E5A-19C8DD6BE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1BADAF-871E-7F38-53FA-C73A7958C7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276326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CDA43E-551A-F1CB-D984-97D3EE3FF3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7950C8-8C4A-7F85-9EB6-A2D8D8146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7F00D-71E7-DDEA-CF11-8B437BCF85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3694312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078DBE-0870-01BC-44CF-A7E40CCC21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D1A7A9-30B4-3428-6E4A-E49C7A4C9F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639711-AA75-DCB6-3BE0-009F7F5FD7F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33602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DAC570-D659-F9D0-FC92-28F69B2A6B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E5D8E28-CD74-F4CD-77C8-35786A008B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05AB693-58B4-EF08-488B-4A53E827E1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5117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4ED10D-8069-BF47-691E-EC5C47EE47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27DB2E-EC94-06B9-8D8E-39FA8F6BB0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AAA0AE-801A-9F8A-24D7-262540548D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398729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06E2B7-698D-2682-C4BE-CFD6A004F1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FE46E-8702-4385-80D5-36412B8B86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2F63A5-DB7A-B06C-52E5-40720DAB8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196787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Normal_distribution"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Sum_of_normally_distributed_random_variable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3.sv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54.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69.svg"/><Relationship Id="rId4" Type="http://schemas.openxmlformats.org/officeDocument/2006/relationships/image" Target="../media/image68.png"/></Relationships>
</file>

<file path=ppt/slides/_rels/slide9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0.xml"/><Relationship Id="rId1" Type="http://schemas.openxmlformats.org/officeDocument/2006/relationships/slideLayout" Target="../slideLayouts/slideLayout1.xml"/><Relationship Id="rId4"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20-21: Sensor Fusion and Kalman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
        <p:nvSpPr>
          <p:cNvPr id="2" name="TextBox 1">
            <a:extLst>
              <a:ext uri="{FF2B5EF4-FFF2-40B4-BE49-F238E27FC236}">
                <a16:creationId xmlns:a16="http://schemas.microsoft.com/office/drawing/2014/main" id="{321CC257-913A-F66B-FD51-488E05134F51}"/>
              </a:ext>
            </a:extLst>
          </p:cNvPr>
          <p:cNvSpPr txBox="1"/>
          <p:nvPr/>
        </p:nvSpPr>
        <p:spPr>
          <a:xfrm>
            <a:off x="5639865" y="2973398"/>
            <a:ext cx="65" cy="215444"/>
          </a:xfrm>
          <a:prstGeom prst="rect">
            <a:avLst/>
          </a:prstGeom>
          <a:noFill/>
        </p:spPr>
        <p:txBody>
          <a:bodyPr wrap="none" lIns="0" tIns="0" rIns="0" bIns="0" rtlCol="0">
            <a:spAutoFit/>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assumptions were made during path planning / trajectory planning?</a:t>
            </a:r>
          </a:p>
          <a:p>
            <a:pPr marL="285750" indent="-285750">
              <a:lnSpc>
                <a:spcPct val="100000"/>
              </a:lnSpc>
              <a:spcBef>
                <a:spcPts val="0"/>
              </a:spcBef>
              <a:buSzPts val="3000"/>
            </a:pPr>
            <a:r>
              <a:rPr lang="en-US" sz="2400" dirty="0">
                <a:latin typeface="Atkinson Hyperlegible Next"/>
                <a:ea typeface="Arial"/>
                <a:cs typeface="Arial"/>
                <a:sym typeface="Arial"/>
              </a:rPr>
              <a:t>What sensors on the robot help determine it’s the location in the world?</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When could the odometr</a:t>
            </a:r>
            <a:r>
              <a:rPr lang="en-US" sz="2400" dirty="0">
                <a:latin typeface="Atkinson Hyperlegible Next"/>
                <a:ea typeface="Arial"/>
                <a:cs typeface="Arial"/>
                <a:sym typeface="Arial"/>
              </a:rPr>
              <a:t>y and the IMU give different values? Which one should you trust?</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your IMU says you accelerated forward, but LiDAR scan matching says you didn’t move, what should the system believe?</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 Fusion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E76D8C-4FEF-9932-596F-DA3707FA02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7FF229-9E61-BC16-0C96-DAE1664C25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real world, motors don't spin exactly as commanded due to friction and voltage drops.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Sensors have electrical noise, mechanical imperfections, and environmental interference.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LiDAR to fail?</a:t>
            </a:r>
          </a:p>
          <a:p>
            <a:pPr marL="342900">
              <a:lnSpc>
                <a:spcPct val="100000"/>
              </a:lnSpc>
              <a:spcBef>
                <a:spcPts val="0"/>
              </a:spcBef>
              <a:buSzPts val="3000"/>
            </a:pPr>
            <a:r>
              <a:rPr lang="en-US" sz="1800" dirty="0">
                <a:latin typeface="Atkinson Hyperlegible Next"/>
                <a:ea typeface="Arial"/>
                <a:cs typeface="Arial"/>
                <a:sym typeface="Arial"/>
              </a:rPr>
              <a:t>Reflective / absorptive surfaces: glass, mirrors, black materials</a:t>
            </a:r>
          </a:p>
          <a:p>
            <a:pPr marL="342900">
              <a:lnSpc>
                <a:spcPct val="100000"/>
              </a:lnSpc>
              <a:spcBef>
                <a:spcPts val="0"/>
              </a:spcBef>
              <a:buSzPts val="3000"/>
            </a:pPr>
            <a:r>
              <a:rPr lang="en-US" sz="1800" dirty="0">
                <a:latin typeface="Atkinson Hyperlegible Next"/>
                <a:ea typeface="Arial"/>
                <a:cs typeface="Arial"/>
                <a:sym typeface="Arial"/>
              </a:rPr>
              <a:t>Fog, rain, dust, snow</a:t>
            </a:r>
          </a:p>
          <a:p>
            <a:pPr marL="342900">
              <a:lnSpc>
                <a:spcPct val="100000"/>
              </a:lnSpc>
              <a:spcBef>
                <a:spcPts val="0"/>
              </a:spcBef>
              <a:buSzPts val="3000"/>
            </a:pPr>
            <a:r>
              <a:rPr lang="en-US" sz="1800" dirty="0">
                <a:latin typeface="Atkinson Hyperlegible Next"/>
                <a:ea typeface="Arial"/>
                <a:cs typeface="Arial"/>
                <a:sym typeface="Arial"/>
              </a:rPr>
              <a:t>Fast motion relative to scan frequency</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odometry to fail?</a:t>
            </a:r>
          </a:p>
          <a:p>
            <a:pPr marL="342900">
              <a:lnSpc>
                <a:spcPct val="100000"/>
              </a:lnSpc>
              <a:spcBef>
                <a:spcPts val="0"/>
              </a:spcBef>
              <a:buSzPts val="3000"/>
            </a:pPr>
            <a:r>
              <a:rPr lang="en-US" sz="1800" dirty="0">
                <a:latin typeface="Atkinson Hyperlegible Next"/>
                <a:ea typeface="Arial"/>
                <a:cs typeface="Arial"/>
                <a:sym typeface="Arial"/>
              </a:rPr>
              <a:t>Slippery terrain for wheel slip</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When can cause the IMU fail?</a:t>
            </a:r>
          </a:p>
          <a:p>
            <a:pPr marL="342900">
              <a:lnSpc>
                <a:spcPct val="100000"/>
              </a:lnSpc>
              <a:spcBef>
                <a:spcPts val="0"/>
              </a:spcBef>
              <a:buSzPts val="3000"/>
            </a:pPr>
            <a:r>
              <a:rPr lang="en-US" sz="1800" dirty="0">
                <a:latin typeface="Atkinson Hyperlegible Next"/>
                <a:ea typeface="Arial"/>
                <a:cs typeface="Arial"/>
                <a:sym typeface="Arial"/>
              </a:rPr>
              <a:t>IMU drift</a:t>
            </a:r>
          </a:p>
          <a:p>
            <a:pPr marL="342900">
              <a:lnSpc>
                <a:spcPct val="100000"/>
              </a:lnSpc>
              <a:spcBef>
                <a:spcPts val="0"/>
              </a:spcBef>
              <a:buSzPts val="3000"/>
            </a:pPr>
            <a:r>
              <a:rPr lang="en-US" sz="1800" dirty="0">
                <a:latin typeface="Atkinson Hyperlegible Next"/>
                <a:ea typeface="Arial"/>
                <a:cs typeface="Arial"/>
                <a:sym typeface="Arial"/>
              </a:rPr>
              <a:t>Saturating the sensors</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we blindly execute our path plan open-loop, the robot will quickly crash.</a:t>
            </a:r>
            <a:endParaRPr lang="en-US"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D5AEB9E-BACA-D86A-7336-706642B1BE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63C82-7E4D-858D-6AE2-7BC25E5082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33E97-C9BB-7F74-ABD9-BD767FF2CA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CC51F9-A938-D53D-35C3-6A8E5C729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1C3C39-EE3C-BFEB-339E-C759637A80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8CAD8B-0F9E-88BB-8D76-2E45001681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20C4DA-E6F4-64FC-88BF-B0F903D717F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7F47A-CC92-2F64-D6CF-F566D4A9DF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6739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9E420E-A29E-2817-C4F8-5AFDFD4F90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CC75FC-DE33-119F-3EF5-99886F6338D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 determining the robot's state (position, velocity, orientation) in the real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To solve the localization problem, SE 423 robots use multiple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Proprioceptive </a:t>
            </a:r>
            <a:r>
              <a:rPr lang="en-US" sz="2400" dirty="0">
                <a:solidFill>
                  <a:schemeClr val="dk1"/>
                </a:solidFill>
                <a:latin typeface="Atkinson Hyperlegible Next"/>
                <a:ea typeface="Arial"/>
                <a:cs typeface="Arial"/>
                <a:sym typeface="Arial"/>
              </a:rPr>
              <a:t>sensors measure internal states: Wheel Encoders (Odometry) and IMUs.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Exteroceptive </a:t>
            </a:r>
            <a:r>
              <a:rPr lang="en-US" sz="2400" dirty="0">
                <a:solidFill>
                  <a:schemeClr val="dk1"/>
                </a:solidFill>
                <a:latin typeface="Atkinson Hyperlegible Next"/>
                <a:ea typeface="Arial"/>
                <a:cs typeface="Arial"/>
                <a:sym typeface="Arial"/>
              </a:rPr>
              <a:t>sensors measure the external environment: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 single sensor is perfect; they all lie to us in different ways.</a:t>
            </a:r>
          </a:p>
        </p:txBody>
      </p:sp>
      <p:sp>
        <p:nvSpPr>
          <p:cNvPr id="119" name="Google Shape;119;p29">
            <a:extLst>
              <a:ext uri="{FF2B5EF4-FFF2-40B4-BE49-F238E27FC236}">
                <a16:creationId xmlns:a16="http://schemas.microsoft.com/office/drawing/2014/main" id="{641B44FC-1A1C-F42A-3BDA-976BB5859D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A2BC2F-9B03-5B8E-A1C6-72010869DE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4238C5-9AB9-13BD-5FA9-06FAA119A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5C52C-A9C9-7BB9-45B7-B21B10DD79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CD9A88-2E48-9F2F-07C0-A68012E64C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82DF34-9E76-F12D-6585-0866D9EDDC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5908F1-2070-3919-F15E-D11B97EA0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3A0F2-02A3-2B72-DDF9-1C212F0662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637008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668A1F-A262-40BB-0420-8D46AB2FE8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FC7474-F78F-74BF-555A-F8C0E3E1CE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Wheel encoders </a:t>
            </a:r>
            <a:r>
              <a:rPr lang="en-US" sz="2400" dirty="0">
                <a:latin typeface="Atkinson Hyperlegible Next"/>
                <a:ea typeface="Arial"/>
                <a:cs typeface="Arial"/>
                <a:sym typeface="Arial"/>
              </a:rPr>
              <a:t>count the rotations of the robot's wheels. By knowing wheel radius and track width, we calculate forward kinematics to estimate position. It provides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Similarly, </a:t>
            </a:r>
            <a:r>
              <a:rPr lang="en-US" sz="2400" b="1" dirty="0">
                <a:latin typeface="Atkinson Hyperlegible Next"/>
                <a:ea typeface="Arial"/>
                <a:cs typeface="Arial"/>
                <a:sym typeface="Arial"/>
              </a:rPr>
              <a:t>IMUs</a:t>
            </a:r>
            <a:r>
              <a:rPr lang="en-US" sz="2400" dirty="0">
                <a:latin typeface="Atkinson Hyperlegible Next"/>
                <a:ea typeface="Arial"/>
                <a:cs typeface="Arial"/>
                <a:sym typeface="Arial"/>
              </a:rPr>
              <a:t> generate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 based on the integration of acceleration.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LiDAR</a:t>
            </a:r>
            <a:r>
              <a:rPr lang="en-US" sz="2400" dirty="0">
                <a:solidFill>
                  <a:schemeClr val="dk1"/>
                </a:solidFill>
                <a:latin typeface="Atkinson Hyperlegible Next"/>
                <a:ea typeface="Arial"/>
                <a:cs typeface="Arial"/>
                <a:sym typeface="Arial"/>
              </a:rPr>
              <a:t>, unlike odometry and IMUs, LiDAR gives us </a:t>
            </a:r>
            <a:r>
              <a:rPr lang="en-US" sz="2400" b="1" dirty="0">
                <a:solidFill>
                  <a:schemeClr val="dk1"/>
                </a:solidFill>
                <a:latin typeface="Atkinson Hyperlegible Next"/>
                <a:ea typeface="Arial"/>
                <a:cs typeface="Arial"/>
                <a:sym typeface="Arial"/>
              </a:rPr>
              <a:t>absolute </a:t>
            </a:r>
            <a:r>
              <a:rPr lang="en-US" sz="2400" dirty="0">
                <a:solidFill>
                  <a:schemeClr val="dk1"/>
                </a:solidFill>
                <a:latin typeface="Atkinson Hyperlegible Next"/>
                <a:ea typeface="Arial"/>
                <a:cs typeface="Arial"/>
                <a:sym typeface="Arial"/>
              </a:rPr>
              <a:t>measurements relative to the environment.; however, </a:t>
            </a:r>
            <a:r>
              <a:rPr lang="en-US" sz="2400" dirty="0">
                <a:latin typeface="Atkinson Hyperlegible Next"/>
                <a:ea typeface="Arial"/>
                <a:cs typeface="Arial"/>
                <a:sym typeface="Arial"/>
              </a:rPr>
              <a:t>due to the additional data, the sensor runs at </a:t>
            </a:r>
            <a:r>
              <a:rPr lang="en-US" sz="2400" dirty="0">
                <a:solidFill>
                  <a:schemeClr val="dk1"/>
                </a:solidFill>
                <a:latin typeface="Atkinson Hyperlegible Next"/>
                <a:ea typeface="Arial"/>
                <a:cs typeface="Arial"/>
                <a:sym typeface="Arial"/>
              </a:rPr>
              <a:t>a lower frequency (e.g., 10Hz) compared to an IMU (e.g., 500Hz).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are in a perfectly square, featureless hallway, can LiDAR tell us our position along the hallway? What about the IMU / odometry?</a:t>
            </a:r>
          </a:p>
        </p:txBody>
      </p:sp>
      <p:sp>
        <p:nvSpPr>
          <p:cNvPr id="119" name="Google Shape;119;p29">
            <a:extLst>
              <a:ext uri="{FF2B5EF4-FFF2-40B4-BE49-F238E27FC236}">
                <a16:creationId xmlns:a16="http://schemas.microsoft.com/office/drawing/2014/main" id="{7FBAB7B5-FA9E-81F7-05F1-7BBA583962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71CBAF-9573-1ACA-A469-078FA69C64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9EE72-ADCD-CE29-7521-247C63D739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B4B1FF-9281-2A9E-BA3B-3F21D3648C3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98BCDB-FFB9-C0BB-A723-476D530862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BD75A-118C-F176-A446-6AF89C48B1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C7EDCC-4247-6400-91FB-A6E044C1F2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A8263E-3123-AD11-D840-181B15775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97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1F9D0-123C-69D8-267E-88B75912236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9A7C04-1DBB-5710-0570-A22E87C68FA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fast, smooth </a:t>
            </a:r>
            <a:r>
              <a:rPr lang="en-US" sz="2400" dirty="0">
                <a:latin typeface="Atkinson Hyperlegible Next"/>
                <a:ea typeface="Arial"/>
                <a:cs typeface="Arial"/>
                <a:sym typeface="Arial"/>
              </a:rPr>
              <a:t>sensors that drift (IMU, Odometry).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slow</a:t>
            </a:r>
            <a:r>
              <a:rPr lang="en-US" sz="2400" dirty="0">
                <a:latin typeface="Atkinson Hyperlegible Next"/>
                <a:ea typeface="Arial"/>
                <a:cs typeface="Arial"/>
                <a:sym typeface="Arial"/>
              </a:rPr>
              <a:t>, computationally heavy sensors that don't drift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combine them?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Simple averaging doesn't work because their reliability changes over time.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2 sensors given measurements give different values which, should you trust?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if your sensors give you the confidence of their measurements? I.e. the LiDAR is 75% sure of its position and the IMU / Odometry are, in total, 25% sure of their positions?</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60278E2-13A4-ECCD-9125-BF56E97905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1A9D2-D303-9880-1EAB-A6AE71E76A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B8DA6B-4A3E-6061-7885-7E5BA602F7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50536D-03E5-D9B1-7E72-7D3ABD555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A6B9F1-37FB-33B1-73DC-9AA2ABC8F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1C6813-4205-D682-2114-C774FAA4B0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46402A-32B4-5BA2-923F-90393288EC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74073B-BFFD-DB1B-504A-7E22C0917E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781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1F894-E15D-FB0E-D29F-052BEDE8F3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4B849CB-6C64-3BF0-C0D4-3CAB65ECD4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saying robot is </a:t>
                </a:r>
                <a:r>
                  <a:rPr lang="en-US" sz="2400" dirty="0">
                    <a:latin typeface="Atkinson Hyperlegible Next"/>
                    <a:ea typeface="Arial"/>
                    <a:cs typeface="Arial"/>
                    <a:sym typeface="Arial"/>
                  </a:rPr>
                  <a:t>exactly at “X = 5”, we want to say “We are 90% sure that the robot is near X=5”.</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represent our state as a probability distribution.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the Gaussian (Normal) Distribution, defined by a mean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and variance (</a:t>
                </a:r>
                <a14:m>
                  <m:oMath xmlns:m="http://schemas.openxmlformats.org/officeDocument/2006/math">
                    <m:sSup>
                      <m:sSupPr>
                        <m:ctrlPr>
                          <a:rPr lang="en-US" sz="2400" b="0" i="1" smtClean="0">
                            <a:solidFill>
                              <a:schemeClr val="dk1"/>
                            </a:solidFill>
                            <a:latin typeface="Cambria Math" panose="02040503050406030204" pitchFamily="18" charset="0"/>
                            <a:ea typeface="Arial"/>
                            <a:cs typeface="Arial"/>
                            <a:sym typeface="Arial"/>
                          </a:rPr>
                        </m:ctrlPr>
                      </m:sSupPr>
                      <m:e>
                        <m:r>
                          <a:rPr lang="en-US" sz="2400" b="0" i="1" smtClean="0">
                            <a:solidFill>
                              <a:schemeClr val="dk1"/>
                            </a:solidFill>
                            <a:latin typeface="Cambria Math" panose="02040503050406030204" pitchFamily="18" charset="0"/>
                            <a:ea typeface="Arial"/>
                            <a:cs typeface="Arial"/>
                            <a:sym typeface="Arial"/>
                          </a:rPr>
                          <m:t>𝜎</m:t>
                        </m:r>
                      </m:e>
                      <m:sup>
                        <m:r>
                          <a:rPr lang="en-US" sz="2400" b="0" i="1" smtClean="0">
                            <a:solidFill>
                              <a:schemeClr val="dk1"/>
                            </a:solidFill>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4B849CB-6C64-3BF0-C0D4-3CAB65ECD4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BE5622-5B4F-2C92-EC24-51D1EC1AEC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05E767-726C-CE73-41AA-5F4EFDCE53B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64F1F63-0DDC-06F0-A670-6F9C70213DE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44039E-071E-EF13-060A-B19D18C38D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4A25EE-2089-FA01-C229-0E0F8FC49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3AEA70-CAD1-C85B-4672-D627AD6641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0EF1AB-74EE-FA3E-6B0C-42D0AC2DAB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C7E859-3358-75F9-FF92-673795AD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standard normal bell curve, probability density on the vertical axis peaking at about 0.4 at the mean, horizontal axis in standard deviations from minus 3 sigma to 3 sigma. Shaded bands show the probability in each interval: 34.1% between the mean and 1 sigma on each side, 13.6% between 1 and 2 sigma, 2.1% between 2 and 3 sigma, and 0.1% beyond 3 sigma. About 68% lies within 1 sigma and 95% within 2 sigma.">
            <a:extLst>
              <a:ext uri="{FF2B5EF4-FFF2-40B4-BE49-F238E27FC236}">
                <a16:creationId xmlns:a16="http://schemas.microsoft.com/office/drawing/2014/main" id="{898DA8B1-06EE-F383-1742-DF52DE9381C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13998" y="3548943"/>
            <a:ext cx="5835650" cy="2917825"/>
          </a:xfrm>
          <a:prstGeom prst="rect">
            <a:avLst/>
          </a:prstGeom>
        </p:spPr>
      </p:pic>
      <p:sp>
        <p:nvSpPr>
          <p:cNvPr id="5" name="TextBox 4">
            <a:extLst>
              <a:ext uri="{FF2B5EF4-FFF2-40B4-BE49-F238E27FC236}">
                <a16:creationId xmlns:a16="http://schemas.microsoft.com/office/drawing/2014/main" id="{3291B65C-D484-7EF3-5C21-CCADE55E7A9E}"/>
              </a:ext>
            </a:extLst>
          </p:cNvPr>
          <p:cNvSpPr txBox="1"/>
          <p:nvPr/>
        </p:nvSpPr>
        <p:spPr>
          <a:xfrm>
            <a:off x="4495484" y="6328059"/>
            <a:ext cx="2940050" cy="246221"/>
          </a:xfrm>
          <a:prstGeom prst="rect">
            <a:avLst/>
          </a:prstGeom>
          <a:noFill/>
        </p:spPr>
        <p:txBody>
          <a:bodyPr wrap="square">
            <a:spAutoFit/>
          </a:bodyPr>
          <a:lstStyle/>
          <a:p>
            <a:pPr algn="ctr"/>
            <a:r>
              <a:rPr lang="en-US" sz="1000" dirty="0">
                <a:hlinkClick r:id="rId7"/>
              </a:rPr>
              <a:t>https://en.wikipedia.org/wiki/Normal_distribution</a:t>
            </a:r>
            <a:r>
              <a:rPr lang="en-US" sz="1000" dirty="0"/>
              <a:t> </a:t>
            </a:r>
          </a:p>
        </p:txBody>
      </p:sp>
    </p:spTree>
    <p:extLst>
      <p:ext uri="{BB962C8B-B14F-4D97-AF65-F5344CB8AC3E}">
        <p14:creationId xmlns:p14="http://schemas.microsoft.com/office/powerpoint/2010/main" val="2798787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0F7EB40-14FB-7621-B579-298C71230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9A827F-3835-FF0A-D899-55C40F8C9C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Gaussians?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mean</a:t>
                </a:r>
                <a:r>
                  <a:rPr lang="en-US" sz="2400" dirty="0">
                    <a:solidFill>
                      <a:schemeClr val="dk1"/>
                    </a:solidFill>
                    <a:latin typeface="Atkinson Hyperlegible Next"/>
                    <a:ea typeface="Arial"/>
                    <a:cs typeface="Arial"/>
                    <a:sym typeface="Arial"/>
                  </a:rPr>
                  <a:t> (</a:t>
                </a:r>
                <a14:m>
                  <m:oMath xmlns:m="http://schemas.openxmlformats.org/officeDocument/2006/math">
                    <m:r>
                      <m:rPr>
                        <m:sty m:val="p"/>
                      </m:rPr>
                      <a:rPr lang="en-US" sz="2400" i="1">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represents our best guess of the robot's state. </a:t>
                </a: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variance</a:t>
                </a:r>
                <a:r>
                  <a:rPr lang="en-US" sz="2400" dirty="0">
                    <a:solidFill>
                      <a:schemeClr val="dk1"/>
                    </a:solidFill>
                    <a:latin typeface="Atkinson Hyperlegible Next"/>
                    <a:ea typeface="Arial"/>
                    <a:cs typeface="Arial"/>
                    <a:sym typeface="Arial"/>
                  </a:rPr>
                  <a:t>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 represents our uncertainty; a wide curve means we are lost, a narrow curve means we are confident.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Gaussians are mathematically convenient: multiplying two Gaussians results in a new Gaussian!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a lot of math can be derived in closed form when using Gaussians (most other more complex probability distributions do not allow for this)</a:t>
                </a:r>
              </a:p>
            </p:txBody>
          </p:sp>
        </mc:Choice>
        <mc:Fallback xmlns="">
          <p:sp>
            <p:nvSpPr>
              <p:cNvPr id="118" name="Google Shape;118;p29">
                <a:extLst>
                  <a:ext uri="{FF2B5EF4-FFF2-40B4-BE49-F238E27FC236}">
                    <a16:creationId xmlns:a16="http://schemas.microsoft.com/office/drawing/2014/main" id="{BC9A827F-3835-FF0A-D899-55C40F8C9C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59A792D-73AA-B827-13FC-82701B03B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3DD6FA-6E47-BDE9-FD34-02C8EC10AE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C45940-0BC9-49D1-F097-623A891A4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13348-9FFF-12D7-F48B-7A58B6B81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D9C4B5-8D20-B681-A69F-6BF56E5769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0519B6F-AE0F-73AC-A787-D1813F87C4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F772B7-755D-910D-082F-5CF34A2F72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8F8A90-5FD3-0FC3-835D-21AB8AF0D0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76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AE3407-DC15-E96F-1536-4061F8034D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6828DE-7025-F60D-D286-1D176287E47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sensor would you trust more?</a:t>
            </a:r>
          </a:p>
        </p:txBody>
      </p:sp>
      <p:sp>
        <p:nvSpPr>
          <p:cNvPr id="119" name="Google Shape;119;p29">
            <a:extLst>
              <a:ext uri="{FF2B5EF4-FFF2-40B4-BE49-F238E27FC236}">
                <a16:creationId xmlns:a16="http://schemas.microsoft.com/office/drawing/2014/main" id="{08436E42-519C-8FBA-60FE-3DC889204B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8FF8032-C12B-C2CB-444A-A0512EF83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ED8C47-DA2D-F9CA-BE64-9F6804D81D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0DA912-5B67-3134-80D5-C63002A358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0BCBFC-CF2D-E3CC-B865-799FC9C43B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B07321-EC64-5CC4-5484-A51AAA8493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28203-BC0F-B2C9-7FB0-DA9FBF6EDA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B71EEC-11F9-42E4-1533-A111DB64FF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wo Gaussian probability curves for a robot's x position. The red &quot;high uncertainty&quot; curve is centered at 0 and is wide and flat, peaking near 0.27 with a standard deviation of about 1.5. The blue &quot;low uncertainty&quot; curve is centered at 2 and is narrow and tall, peaking near 0.8 with a standard deviation of about 0.5. The narrower blue estimate is the more trustworthy sensor reading.">
            <a:extLst>
              <a:ext uri="{FF2B5EF4-FFF2-40B4-BE49-F238E27FC236}">
                <a16:creationId xmlns:a16="http://schemas.microsoft.com/office/drawing/2014/main" id="{1BCCD553-6D42-489E-24ED-5153F66EF2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6517" y="1767070"/>
            <a:ext cx="6438966" cy="4834468"/>
          </a:xfrm>
          <a:prstGeom prst="rect">
            <a:avLst/>
          </a:prstGeom>
        </p:spPr>
      </p:pic>
    </p:spTree>
    <p:extLst>
      <p:ext uri="{BB962C8B-B14F-4D97-AF65-F5344CB8AC3E}">
        <p14:creationId xmlns:p14="http://schemas.microsoft.com/office/powerpoint/2010/main" val="3181888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BB7596D-AB5E-E668-0807-0F5C4D03BB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7BBEBD30-0974-E20F-66CE-64A248A723B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1D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1CEC4E9-065D-A9B7-2231-6DA0067BE54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5CCF883-A390-1D27-19CA-86FA466D63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3FAFF9A-09BE-1DBB-E7A3-034C7EBAA4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766FD44-52A2-EE8F-9038-E1988B4E655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8650BDC-C45F-AED6-37F8-6E96BF574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68C5E82-93BD-05A5-E6C4-1F06699045A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1FE877D-1538-AF19-861D-E979FAA69BA7}"/>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4FFDEF6-1FDA-99C9-EC2A-037F38A67A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0CEB405-E7A5-3A29-E013-1E5EC8378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9032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5329B-39F2-867F-0A04-9B098071B11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3A8761-5B83-328D-A126-38F076CC624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Kalman Filter is an optimal estimator for </a:t>
            </a:r>
            <a:r>
              <a:rPr lang="en-US" sz="2400" b="1" dirty="0">
                <a:solidFill>
                  <a:schemeClr val="dk1"/>
                </a:solidFill>
                <a:latin typeface="Atkinson Hyperlegible Next"/>
                <a:ea typeface="Arial"/>
                <a:cs typeface="Arial"/>
                <a:sym typeface="Arial"/>
              </a:rPr>
              <a:t>linear </a:t>
            </a:r>
            <a:r>
              <a:rPr lang="en-US" sz="2400" dirty="0">
                <a:solidFill>
                  <a:schemeClr val="dk1"/>
                </a:solidFill>
                <a:latin typeface="Atkinson Hyperlegible Next"/>
                <a:ea typeface="Arial"/>
                <a:cs typeface="Arial"/>
                <a:sym typeface="Arial"/>
              </a:rPr>
              <a:t>systems subject to </a:t>
            </a:r>
            <a:r>
              <a:rPr lang="en-US" sz="2400" b="1" dirty="0">
                <a:solidFill>
                  <a:schemeClr val="dk1"/>
                </a:solidFill>
                <a:latin typeface="Atkinson Hyperlegible Next"/>
                <a:ea typeface="Arial"/>
                <a:cs typeface="Arial"/>
                <a:sym typeface="Arial"/>
              </a:rPr>
              <a:t>Gaussian </a:t>
            </a:r>
            <a:r>
              <a:rPr lang="en-US" sz="2400" dirty="0">
                <a:solidFill>
                  <a:schemeClr val="dk1"/>
                </a:solidFill>
                <a:latin typeface="Atkinson Hyperlegible Next"/>
                <a:ea typeface="Arial"/>
                <a:cs typeface="Arial"/>
                <a:sym typeface="Arial"/>
              </a:rPr>
              <a:t>noise.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would the Kalman Filter not be appropriate?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If your sensor or system if non-linear and / or does not follow a Gaussian noise distribution! Always understand how your sensors / system acts and the underlying assumptions for algorithms!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operates in a continuous, two-step loop: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7E472022-BB26-A280-4E9F-ADDC70DFC2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55D5F8-A3B7-2695-9B43-9B5EF757196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38AAD8-4295-2D1C-F3D6-D375B9C194D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C38A00-8B26-B25A-8993-54C2AC7CA5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439B2F-9A64-BA63-289D-75BB0FCDE0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20DD1A-D2C9-3CCD-6A14-738983F101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D72C88-2EDB-1CE2-4E4B-8AB91424BA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5A9CAD-537B-BC1C-8FC1-4CDB9AFDE7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6074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868176-5818-6A02-B09B-2DA78D460F2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3740F5-3D2A-7756-7F9D-9154445BCC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510A0-882A-A843-6A2E-5C1F47BCA9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6113E-A496-FC67-CF7A-CC5B869964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2A2C0C-2528-01A0-C67C-5964FE538B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B5FE1-C72D-285C-066A-3F0003D15C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35AA4E-ACB6-3FB0-E090-AF433EA275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73F5B8-C3E4-1798-6308-D23F5E9624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5BE8C7-FAFA-4449-7A05-9A1E0E1A5F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Kalman filter cycle: prior state estimate x hat sub k minus 1 given k minus 1, with covariance P sub k minus 1 given k minus 1 (a wide, tilted uncertainty ellipse), goes through a prediction step based on a physical model to give x hat sub k given k minus 1 and P sub k given k minus 1. An update step compares this prediction to measurements y sub k (a small round uncertainty region), producing x hat sub k given k and P sub k given k. That output estimate has a smaller ellipse, and k becomes k plus 1 to repeat.">
            <a:extLst>
              <a:ext uri="{FF2B5EF4-FFF2-40B4-BE49-F238E27FC236}">
                <a16:creationId xmlns:a16="http://schemas.microsoft.com/office/drawing/2014/main" id="{8BA59FD0-35B2-89C5-FDBD-04FCD45DEDA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157" y="868221"/>
            <a:ext cx="11173686" cy="5655816"/>
          </a:xfrm>
          <a:prstGeom prst="rect">
            <a:avLst/>
          </a:prstGeom>
        </p:spPr>
      </p:pic>
      <p:sp>
        <p:nvSpPr>
          <p:cNvPr id="6" name="Rectangle 5">
            <a:extLst>
              <a:ext uri="{FF2B5EF4-FFF2-40B4-BE49-F238E27FC236}">
                <a16:creationId xmlns:a16="http://schemas.microsoft.com/office/drawing/2014/main" id="{D3174F6D-4417-D7E2-1109-F5593B2CC584}"/>
              </a:ext>
            </a:extLst>
          </p:cNvPr>
          <p:cNvSpPr/>
          <p:nvPr/>
        </p:nvSpPr>
        <p:spPr>
          <a:xfrm>
            <a:off x="1009650" y="958850"/>
            <a:ext cx="2197100" cy="17208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B22CC04-9718-F1F7-241C-FA54E61578EF}"/>
              </a:ext>
            </a:extLst>
          </p:cNvPr>
          <p:cNvSpPr/>
          <p:nvPr/>
        </p:nvSpPr>
        <p:spPr>
          <a:xfrm>
            <a:off x="6096000" y="906290"/>
            <a:ext cx="2089150"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4522EFA-256E-7135-3175-8369BF5F8BED}"/>
              </a:ext>
            </a:extLst>
          </p:cNvPr>
          <p:cNvSpPr/>
          <p:nvPr/>
        </p:nvSpPr>
        <p:spPr>
          <a:xfrm>
            <a:off x="5905500" y="3814590"/>
            <a:ext cx="2435225"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AEBF65-49DB-D222-8A49-60B639CE487A}"/>
              </a:ext>
            </a:extLst>
          </p:cNvPr>
          <p:cNvSpPr/>
          <p:nvPr/>
        </p:nvSpPr>
        <p:spPr>
          <a:xfrm>
            <a:off x="3660775" y="5201217"/>
            <a:ext cx="2162175" cy="7885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6069F143-771D-627B-EAAC-70033AECD387}"/>
              </a:ext>
            </a:extLst>
          </p:cNvPr>
          <p:cNvCxnSpPr>
            <a:stCxn id="9" idx="0"/>
            <a:endCxn id="6" idx="2"/>
          </p:cNvCxnSpPr>
          <p:nvPr/>
        </p:nvCxnSpPr>
        <p:spPr>
          <a:xfrm flipH="1" flipV="1">
            <a:off x="2108200" y="2679700"/>
            <a:ext cx="2633663" cy="25215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812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2"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9"/>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8" grpId="0" animBg="1"/>
      <p:bldP spid="8" grpId="1" animBg="1"/>
      <p:bldP spid="9" grpId="0" animBg="1"/>
      <p:bldP spid="9"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DDB4493-D9D8-6AD3-51AC-CF4793D5AC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54BD8F-ADA5-EA1B-8DE0-AD93BC21168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1</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moves</a:t>
            </a:r>
            <a:r>
              <a:rPr lang="en-US" sz="2400" dirty="0">
                <a:solidFill>
                  <a:schemeClr val="dk1"/>
                </a:solidFill>
                <a:latin typeface="Atkinson Hyperlegible Next"/>
                <a:ea typeface="Arial"/>
                <a:cs typeface="Arial"/>
                <a:sym typeface="Arial"/>
              </a:rPr>
              <a:t>. We use our fast, noisy sensors (Odometry/IMU) to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where we are. Our uncertainty 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2:</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looks</a:t>
            </a:r>
            <a:r>
              <a:rPr lang="en-US" sz="2400" dirty="0">
                <a:solidFill>
                  <a:schemeClr val="dk1"/>
                </a:solidFill>
                <a:latin typeface="Atkinson Hyperlegible Next"/>
                <a:ea typeface="Arial"/>
                <a:cs typeface="Arial"/>
                <a:sym typeface="Arial"/>
              </a:rPr>
              <a:t>. We take a measurement with our absolute sensor (LiDAR) to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 our belief. Our uncertainty shrinks.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Rinse and repeat thousands of times a second.</a:t>
            </a:r>
          </a:p>
        </p:txBody>
      </p:sp>
      <p:sp>
        <p:nvSpPr>
          <p:cNvPr id="119" name="Google Shape;119;p29">
            <a:extLst>
              <a:ext uri="{FF2B5EF4-FFF2-40B4-BE49-F238E27FC236}">
                <a16:creationId xmlns:a16="http://schemas.microsoft.com/office/drawing/2014/main" id="{E376E3B1-134B-A92F-832F-A20DC6C914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32CD28-BE88-F845-00A1-5A4DEFB900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D7FA8B-A4B3-75D3-6F82-1164570B7BE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24B13C-C0B8-E382-99CF-E9BF4D08D1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A7BEDE-BC74-822A-748C-B76164B3D9E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2E0AD5-15AB-90FD-F7D0-D607498CDD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428992-8FDC-0D6C-C78D-E8468CE9F1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674D67-627C-B72C-E09C-8CB5FD92C4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340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B2B4F-5738-FDF9-FD39-4A8C8376F6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AD5EF0-059F-3536-5885-8D1B1A9E352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51F5CC-E10E-7B51-D4B3-ABA254B8A3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3C047-CDC9-33EE-16AA-58930CC374C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CDE8AC-E7C3-6C8D-2C85-8D631400D9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25EE23-8497-A8AF-D688-63C2861D70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017000-93DD-562B-15F8-4ADD83DE2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F4652-1E6B-F4F1-9BAC-BC043FFFD6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2EEB2C-584D-7969-94DF-3D6304C00F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kalman_1d_publication_quality" descr="Animation (47 s, no sound): a 1D Kalman filter tracking a moving object's position and velocity over 140 time steps. The top plot shows the position estimate as a bell-shaped probability density with a shaded plus-or-minus 3 sigma band, the true position as a green X, and, every 20 steps, a sensor measurement as a dashed orange line. Between measurements only the prediction step runs: the curve moves with the estimated velocity and spreads out. At each measurement the correction step pulls the estimate toward it and the curve becomes tall and narrow. The bottom plot shows position variance against time step as a sawtooth: it grows from 5 to about 11 by step 20, drops to near zero at each correction, and its peaks shrink (about 4, then about 2) as the filter converges. At step 140 the estimate is 15.71 against a true position of 15.65.">
            <a:hlinkClick r:id="" action="ppaction://media"/>
            <a:extLst>
              <a:ext uri="{FF2B5EF4-FFF2-40B4-BE49-F238E27FC236}">
                <a16:creationId xmlns:a16="http://schemas.microsoft.com/office/drawing/2014/main" id="{2F7F4B1C-22CC-1CC9-EFFA-09BF652E5528}"/>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2688314" y="876107"/>
            <a:ext cx="6815371" cy="5679476"/>
          </a:xfrm>
          <a:prstGeom prst="rect">
            <a:avLst/>
          </a:prstGeom>
        </p:spPr>
      </p:pic>
    </p:spTree>
    <p:extLst>
      <p:ext uri="{BB962C8B-B14F-4D97-AF65-F5344CB8AC3E}">
        <p14:creationId xmlns:p14="http://schemas.microsoft.com/office/powerpoint/2010/main" val="355191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67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72125E9E-E2D6-67AA-3DBB-D82B333401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B6AA8A-3EE5-93A2-BA0A-835FD4CAD767}"/>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03EF32AB-88A2-42FD-9BF9-CD648CE0B4F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32C0A57B-AB89-CDF8-CF9B-CCF141D2469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431533B-C682-BD9D-3B2C-79D9CF535D0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189D3E4-6E06-B9D8-B8A8-97ABB5BD69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9B5CF19-5FE8-9313-4DF6-DE1FD45AEE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F487D5F-E3CC-2E3D-CF49-70BB0AE29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A31DF77-130C-9037-6E67-3ADCC0B6B6D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62580A-77F2-6F27-141E-DD8213AC3A3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85EAC71-D086-AB62-11C8-D58BBA97EEB5}"/>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17248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Last lectures, we covered algorithms like A*, </a:t>
            </a:r>
            <a:r>
              <a:rPr lang="en-US" sz="2400" dirty="0" err="1">
                <a:latin typeface="Atkinson Hyperlegible Next"/>
                <a:ea typeface="Arial"/>
                <a:cs typeface="Arial"/>
                <a:sym typeface="Arial"/>
              </a:rPr>
              <a:t>Dijkstras</a:t>
            </a:r>
            <a:r>
              <a:rPr lang="en-US" sz="2400" dirty="0">
                <a:latin typeface="Atkinson Hyperlegible Next"/>
                <a:ea typeface="Arial"/>
                <a:cs typeface="Arial"/>
                <a:sym typeface="Arial"/>
              </a:rPr>
              <a:t>, Hybrid A* for path planning.</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learned to compute an optimal, collision-free trajectory from Point A to Point B.</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path planning operates in a perfect, simulated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fundamental assumption</a:t>
            </a:r>
            <a:r>
              <a:rPr lang="en-US" sz="2400" dirty="0">
                <a:latin typeface="Atkinson Hyperlegible Next"/>
                <a:ea typeface="Arial"/>
                <a:cs typeface="Arial"/>
                <a:sym typeface="Arial"/>
              </a:rPr>
              <a:t> we made about the robot to execute these plans were:</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Perfect localization and actuation!</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AB8B77-7D8F-9C2F-DFA1-D1BA48EDBF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444E61C-02F9-C990-1E7E-5501AB07947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use a physical model of the robot (kinematics) and our control inputs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 to guess the new state.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know our model and our encoders are imperfect, we actively increase our uncertainty covariance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𝑃</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represents "flying blind" between reference measurements.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close our eyes and take 5 steps, are we more or less certain of our position than before we moved?</a:t>
                </a:r>
              </a:p>
            </p:txBody>
          </p:sp>
        </mc:Choice>
        <mc:Fallback xmlns="">
          <p:sp>
            <p:nvSpPr>
              <p:cNvPr id="118" name="Google Shape;118;p29">
                <a:extLst>
                  <a:ext uri="{FF2B5EF4-FFF2-40B4-BE49-F238E27FC236}">
                    <a16:creationId xmlns:a16="http://schemas.microsoft.com/office/drawing/2014/main" id="{A444E61C-02F9-C990-1E7E-5501AB07947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73FE52-A7A5-6FEE-F734-1255D05DD2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7DCF16-91BF-8467-BCB4-093889661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2BA770-93EC-2352-E466-015C3CF3F9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F65073-39B2-ECE9-F4FA-BA5E729448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C72B3C-712E-A7DF-D83D-60BFF3F583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D3AC2-7FCB-B17D-56B3-26BEB48A4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B4413-E482-2CE4-07FD-B76E82585A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F61FD4-F396-E179-3A2D-056FB83E6C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0347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8A07BB-12B5-8BEC-2F0E-E8D94158DC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BC29F1-3770-84E0-6794-1E7E81F94C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Before we look at massive matrices, let's look at a robot on a 1-Dimensional train track.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Its state is just one number: its position on the track,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latin typeface="Atkinson Hyperlegible Next"/>
                    <a:ea typeface="Arial"/>
                    <a:cs typeface="Arial"/>
                    <a:sym typeface="Arial"/>
                  </a:rPr>
                  <a:t>. Its uncertainty is also just one number: the variance,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r>
                      <a:rPr lang="en-US" sz="2400" i="1">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Together, they form a 1D Gaussian (Bell Curve) representing our "belief".</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BC29F1-3770-84E0-6794-1E7E81F94CF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71553DE-1FC9-A108-70AA-CE4F321047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09B984-032F-143B-8486-3672CA3DFE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DD75A-722A-42C3-B592-8087EF8619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0733E-2711-9ECD-183E-A720C5E003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4EFA8-5AA6-7F56-A5EB-096910145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3DCC83-1B18-29FF-9B56-6219EB0E0F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B0A41D-F920-0600-5286-811D11480B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2DCF1F-D150-CBC3-BA0E-26CE575C06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4980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BEB7A0-9C14-A99B-9284-2702102476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ADEE7DE-F787-2BF2-817E-CF565E6C3D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7BEB2D-D533-4BAB-A122-758A7FAD7A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FED6B8-22A3-E25E-6CFD-512B7C36D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CF868A-512A-0A57-2D65-B294682C3F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302325-1FD4-7B7B-9C68-5CD2807239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CE4BEA-CF12-4F1F-D2F7-AEF804C7A2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21BCC-D959-5D13-B3E3-E511995B19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1B2141-4BEB-7520-1011-8ADA48C6DF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initial belief about position as a Gaussian with mean 4.0 and variance 1.0, shown as a filled bell curve peaking at x equals 4. Nearly all probability lies between about x equals 1 and 7 on a position axis running from 0 to 15. This is the starting estimate before the predict step is applied.">
            <a:extLst>
              <a:ext uri="{FF2B5EF4-FFF2-40B4-BE49-F238E27FC236}">
                <a16:creationId xmlns:a16="http://schemas.microsoft.com/office/drawing/2014/main" id="{F36F80FA-8AB9-CA0B-87D2-56033447C5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2321" y="982504"/>
            <a:ext cx="10855188" cy="5427594"/>
          </a:xfrm>
          <a:prstGeom prst="rect">
            <a:avLst/>
          </a:prstGeom>
        </p:spPr>
      </p:pic>
    </p:spTree>
    <p:extLst>
      <p:ext uri="{BB962C8B-B14F-4D97-AF65-F5344CB8AC3E}">
        <p14:creationId xmlns:p14="http://schemas.microsoft.com/office/powerpoint/2010/main" val="22168176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D3F0FC-7A2B-0DD8-DB53-01441FCCE7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7B560-5CB2-A935-3A3D-3A997F6BF2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robot commands its motors to move forward by distance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Our new predicted mean simply shifts: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𝑝𝑟𝑒𝑑</m:t>
                          </m:r>
                        </m:sub>
                      </m:sSub>
                      <m:r>
                        <a:rPr lang="en-US" sz="2400" i="1" dirty="0" smtClean="0">
                          <a:solidFill>
                            <a:schemeClr val="dk1"/>
                          </a:solidFill>
                          <a:latin typeface="Cambria Math" panose="02040503050406030204" pitchFamily="18" charset="0"/>
                          <a:ea typeface="Arial"/>
                          <a:cs typeface="Arial"/>
                          <a:sym typeface="Arial"/>
                        </a:rPr>
                        <m:t>=</m:t>
                      </m:r>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𝑜𝑙𝑑</m:t>
                          </m:r>
                        </m:sub>
                      </m:sSub>
                      <m:r>
                        <a:rPr lang="en-US" sz="2400" i="1" dirty="0" smtClean="0">
                          <a:solidFill>
                            <a:schemeClr val="dk1"/>
                          </a:solidFill>
                          <a:latin typeface="Cambria Math" panose="02040503050406030204" pitchFamily="18" charset="0"/>
                          <a:ea typeface="Arial"/>
                          <a:cs typeface="Arial"/>
                          <a:sym typeface="Arial"/>
                        </a:rPr>
                        <m:t>+</m:t>
                      </m:r>
                      <m:r>
                        <a:rPr lang="en-US" sz="2400" i="1" dirty="0" smtClean="0">
                          <a:solidFill>
                            <a:schemeClr val="dk1"/>
                          </a:solidFill>
                          <a:latin typeface="Cambria Math" panose="02040503050406030204" pitchFamily="18" charset="0"/>
                          <a:ea typeface="Arial"/>
                          <a:cs typeface="Arial"/>
                          <a:sym typeface="Arial"/>
                        </a:rPr>
                        <m:t>𝑢</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moving is never perfect (slipping, bumps). We add adds </a:t>
                </a:r>
                <a:r>
                  <a:rPr lang="en-US" sz="2400" b="1" dirty="0">
                    <a:solidFill>
                      <a:schemeClr val="dk1"/>
                    </a:solidFill>
                    <a:latin typeface="Atkinson Hyperlegible Next"/>
                    <a:ea typeface="Arial"/>
                    <a:cs typeface="Arial"/>
                    <a:sym typeface="Arial"/>
                  </a:rPr>
                  <a:t>process noise </a:t>
                </a:r>
                <a:r>
                  <a:rPr lang="en-US" sz="2400" dirty="0">
                    <a:solidFill>
                      <a:schemeClr val="dk1"/>
                    </a:solidFill>
                    <a:latin typeface="Atkinson Hyperlegible Next"/>
                    <a:ea typeface="Arial"/>
                    <a:cs typeface="Arial"/>
                    <a:sym typeface="Arial"/>
                  </a:rPr>
                  <a:t>(</a:t>
                </a:r>
                <a14:m>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a14:m>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Therefore our uncertainty </a:t>
                </a:r>
                <a:r>
                  <a:rPr lang="en-US" sz="2400" b="1" dirty="0">
                    <a:solidFill>
                      <a:schemeClr val="dk1"/>
                    </a:solidFill>
                    <a:latin typeface="Atkinson Hyperlegible Next"/>
                    <a:ea typeface="Arial"/>
                    <a:cs typeface="Arial"/>
                    <a:sym typeface="Arial"/>
                  </a:rPr>
                  <a:t>always </a:t>
                </a:r>
                <a:r>
                  <a:rPr lang="en-US" sz="2400" dirty="0">
                    <a:solidFill>
                      <a:schemeClr val="dk1"/>
                    </a:solidFill>
                    <a:latin typeface="Atkinson Hyperlegible Next"/>
                    <a:ea typeface="Arial"/>
                    <a:cs typeface="Arial"/>
                    <a:sym typeface="Arial"/>
                  </a:rPr>
                  <a:t>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𝑝𝑟𝑒𝑑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𝑜𝑙𝑑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7F7B560-5CB2-A935-3A3D-3A997F6BF2A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8E1554-8107-F257-CA0F-17B68BA099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B21338-72E2-D33F-10A5-18DA957FCF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77B434-106E-59F3-C7C8-5A6260022D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734453-4DD0-54A4-CA8C-56A904E7CB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42B63A-ED3E-6D46-10A1-0C8D45D5DD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2EDD6-2B9C-0A51-9BA2-278B4582EC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CECA21-4760-0C19-5F59-D2C13CBF30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29AFF5-62CE-11D2-2B88-EC9E84A067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16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C46DD4-F0E9-00D1-9DE8-8AC37EB847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E34F803-63E6-9716-FE5B-13F0C9E100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5FE115-D2FF-CEA9-0592-C9BFE02234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98374-1E79-0217-EB38-764EAEBC6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A71898-D5D9-E0E7-E6D3-1CF6F27854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2D5EC-6E0F-A584-3A61-BA11033E58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407C28-2849-08A0-6C8E-ABB8ED8C64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84C1-D990-E94C-FF99-63B9665F28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45626C-483F-21D9-BCF6-BE1A8B2906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ne-dimensional Kalman predict step over position x from 0 to 14. The old belief is a narrow, tall Gaussian centered at x equals 4. An arrow labeled plus u equals 4 shifts it to the prediction, a shaded Gaussian centered at 8 with variance 2.5. The prediction is wider and lower than the old belief, showing that the motion command moves the mean while added process noise increases the uncertainty.">
            <a:extLst>
              <a:ext uri="{FF2B5EF4-FFF2-40B4-BE49-F238E27FC236}">
                <a16:creationId xmlns:a16="http://schemas.microsoft.com/office/drawing/2014/main" id="{ABCE8D01-A433-765C-31F8-999610B4C62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1839712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3F0C36-C162-5986-87D6-D1B65829BC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25EF48-A626-2479-79A7-B9D0A76129D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This prediction updates the covariance and the means as such because we are assuming </a:t>
                </a:r>
                <a:r>
                  <a:rPr lang="en-US" sz="2400" b="1" dirty="0">
                    <a:latin typeface="Atkinson Hyperlegible Next"/>
                    <a:ea typeface="Arial"/>
                    <a:cs typeface="Arial"/>
                    <a:sym typeface="Arial"/>
                  </a:rPr>
                  <a:t>Gaussian </a:t>
                </a:r>
                <a:r>
                  <a:rPr lang="en-US" sz="2400" dirty="0">
                    <a:latin typeface="Atkinson Hyperlegible Next"/>
                    <a:ea typeface="Arial"/>
                    <a:cs typeface="Arial"/>
                    <a:sym typeface="Arial"/>
                  </a:rPr>
                  <a:t>random variables.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 X and Y be independent random variables that are normally distributed, then their sum is also normally distributed. i.e., if</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𝑋</m:t>
                      </m:r>
                      <m:r>
                        <a:rPr lang="en-US" sz="2400" b="0" i="1" smtClean="0">
                          <a:solidFill>
                            <a:schemeClr val="dk1"/>
                          </a:solidFill>
                          <a:latin typeface="Cambria Math" panose="02040503050406030204" pitchFamily="18" charset="0"/>
                          <a:ea typeface="Arial"/>
                          <a:cs typeface="Arial"/>
                          <a:sym typeface="Arial"/>
                        </a:rPr>
                        <m:t>∼</m:t>
                      </m:r>
                      <m:r>
                        <a:rPr lang="en-US" sz="2400" b="0" i="1" smtClean="0">
                          <a:solidFill>
                            <a:schemeClr val="dk1"/>
                          </a:solidFill>
                          <a:latin typeface="Cambria Math" panose="02040503050406030204" pitchFamily="18" charset="0"/>
                          <a:ea typeface="Arial"/>
                          <a:cs typeface="Arial"/>
                          <a:sym typeface="Arial"/>
                        </a:rPr>
                        <m:t>𝑁</m:t>
                      </m:r>
                      <m:d>
                        <m:dPr>
                          <m:ctrlPr>
                            <a:rPr lang="en-US" sz="2400" b="0" i="1" smtClean="0">
                              <a:solidFill>
                                <a:schemeClr val="dk1"/>
                              </a:solidFill>
                              <a:latin typeface="Cambria Math" panose="02040503050406030204" pitchFamily="18" charset="0"/>
                              <a:ea typeface="Arial"/>
                              <a:cs typeface="Arial"/>
                              <a:sym typeface="Arial"/>
                            </a:rPr>
                          </m:ctrlPr>
                        </m:dPr>
                        <m:e>
                          <m:sSub>
                            <m:sSubPr>
                              <m:ctrlPr>
                                <a:rPr lang="en-US" sz="2400" b="0" i="1" smtClean="0">
                                  <a:solidFill>
                                    <a:schemeClr val="dk1"/>
                                  </a:solidFill>
                                  <a:latin typeface="Cambria Math" panose="02040503050406030204" pitchFamily="18" charset="0"/>
                                  <a:ea typeface="Arial"/>
                                  <a:cs typeface="Arial"/>
                                  <a:sym typeface="Arial"/>
                                </a:rPr>
                              </m:ctrlPr>
                            </m:sSubPr>
                            <m:e>
                              <m:r>
                                <a:rPr lang="en-US" sz="2400" b="0" i="1" smtClean="0">
                                  <a:solidFill>
                                    <a:schemeClr val="dk1"/>
                                  </a:solidFill>
                                  <a:latin typeface="Cambria Math" panose="02040503050406030204" pitchFamily="18" charset="0"/>
                                  <a:ea typeface="Arial"/>
                                  <a:cs typeface="Arial"/>
                                  <a:sym typeface="Arial"/>
                                </a:rPr>
                                <m:t>𝜇</m:t>
                              </m:r>
                            </m:e>
                            <m:sub>
                              <m:r>
                                <a:rPr lang="en-US" sz="2400" b="0" i="1" smtClean="0">
                                  <a:solidFill>
                                    <a:schemeClr val="dk1"/>
                                  </a:solidFill>
                                  <a:latin typeface="Cambria Math" panose="02040503050406030204" pitchFamily="18" charset="0"/>
                                  <a:ea typeface="Arial"/>
                                  <a:cs typeface="Arial"/>
                                  <a:sym typeface="Arial"/>
                                </a:rPr>
                                <m:t>𝑋</m:t>
                              </m:r>
                            </m:sub>
                          </m:sSub>
                          <m:r>
                            <a:rPr lang="en-US" sz="2400" b="0" i="1" smtClean="0">
                              <a:solidFill>
                                <a:schemeClr val="dk1"/>
                              </a:solidFill>
                              <a:latin typeface="Cambria Math" panose="02040503050406030204" pitchFamily="18" charset="0"/>
                              <a:ea typeface="Arial"/>
                              <a:cs typeface="Arial"/>
                              <a:sym typeface="Arial"/>
                            </a:rPr>
                            <m:t>,</m:t>
                          </m:r>
                          <m:sSubSup>
                            <m:sSubSupPr>
                              <m:ctrlPr>
                                <a:rPr lang="en-US" sz="2400" b="0" i="1" smtClean="0">
                                  <a:solidFill>
                                    <a:schemeClr val="dk1"/>
                                  </a:solidFill>
                                  <a:latin typeface="Cambria Math" panose="02040503050406030204" pitchFamily="18" charset="0"/>
                                  <a:ea typeface="Arial"/>
                                  <a:cs typeface="Arial"/>
                                  <a:sym typeface="Arial"/>
                                </a:rPr>
                              </m:ctrlPr>
                            </m:sSubSupPr>
                            <m:e>
                              <m:r>
                                <a:rPr lang="en-US" sz="2400" b="0" i="1" smtClean="0">
                                  <a:solidFill>
                                    <a:schemeClr val="dk1"/>
                                  </a:solidFill>
                                  <a:latin typeface="Cambria Math" panose="02040503050406030204" pitchFamily="18" charset="0"/>
                                  <a:ea typeface="Arial"/>
                                  <a:cs typeface="Arial"/>
                                  <a:sym typeface="Arial"/>
                                </a:rPr>
                                <m:t>𝜎</m:t>
                              </m:r>
                            </m:e>
                            <m:sub>
                              <m:r>
                                <a:rPr lang="en-US" sz="2400" b="0" i="1" smtClean="0">
                                  <a:solidFill>
                                    <a:schemeClr val="dk1"/>
                                  </a:solidFill>
                                  <a:latin typeface="Cambria Math" panose="02040503050406030204" pitchFamily="18" charset="0"/>
                                  <a:ea typeface="Arial"/>
                                  <a:cs typeface="Arial"/>
                                  <a:sym typeface="Arial"/>
                                </a:rPr>
                                <m:t>𝑋</m:t>
                              </m:r>
                            </m:sub>
                            <m:sup>
                              <m:r>
                                <a:rPr lang="en-US" sz="2400" b="0" i="1" smtClean="0">
                                  <a:solidFill>
                                    <a:schemeClr val="dk1"/>
                                  </a:solidFill>
                                  <a:latin typeface="Cambria Math" panose="02040503050406030204" pitchFamily="18" charset="0"/>
                                  <a:ea typeface="Arial"/>
                                  <a:cs typeface="Arial"/>
                                  <a:sym typeface="Arial"/>
                                </a:rPr>
                                <m:t>2</m:t>
                              </m:r>
                            </m:sup>
                          </m:sSubSup>
                        </m:e>
                      </m:d>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b="0" i="1" smtClean="0">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b="0" i="1" smtClean="0">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Y</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Then,</a:t>
                </a: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Z</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a:rPr lang="en-US" sz="2400" i="1">
                                  <a:latin typeface="Cambria Math" panose="02040503050406030204" pitchFamily="18" charset="0"/>
                                  <a:ea typeface="Arial"/>
                                  <a:cs typeface="Arial"/>
                                  <a:sym typeface="Arial"/>
                                </a:rPr>
                                <m:t>𝑋</m:t>
                              </m:r>
                            </m:sub>
                          </m:sSub>
                          <m:r>
                            <a:rPr lang="en-US" sz="2400" b="0" i="1" smtClean="0">
                              <a:latin typeface="Cambria Math" panose="02040503050406030204" pitchFamily="18" charset="0"/>
                              <a:ea typeface="Arial"/>
                              <a:cs typeface="Arial"/>
                              <a:sym typeface="Arial"/>
                            </a:rPr>
                            <m:t>+</m:t>
                          </m:r>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i="1">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a:rPr lang="en-US" sz="2400" i="1">
                                  <a:latin typeface="Cambria Math" panose="02040503050406030204" pitchFamily="18" charset="0"/>
                                  <a:ea typeface="Arial"/>
                                  <a:cs typeface="Arial"/>
                                  <a:sym typeface="Arial"/>
                                </a:rPr>
                                <m:t>𝑋</m:t>
                              </m:r>
                            </m:sub>
                            <m:sup>
                              <m:r>
                                <a:rPr lang="en-US" sz="2400" i="1">
                                  <a:latin typeface="Cambria Math" panose="02040503050406030204" pitchFamily="18" charset="0"/>
                                  <a:ea typeface="Arial"/>
                                  <a:cs typeface="Arial"/>
                                  <a:sym typeface="Arial"/>
                                </a:rPr>
                                <m:t>2</m:t>
                              </m:r>
                            </m:sup>
                          </m:sSubSup>
                          <m:r>
                            <a:rPr lang="en-US" sz="2400" b="0" i="1" smtClean="0">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i="1">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how to derive it you can look </a:t>
                </a:r>
                <a:r>
                  <a:rPr lang="en-US" sz="2400" dirty="0">
                    <a:latin typeface="Atkinson Hyperlegible Next"/>
                    <a:ea typeface="Arial"/>
                    <a:cs typeface="Arial"/>
                    <a:sym typeface="Arial"/>
                    <a:hlinkClick r:id="rId3"/>
                  </a:rPr>
                  <a:t>here (from Wikipedia)</a:t>
                </a: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A25EF48-A626-2479-79A7-B9D0A76129D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4"/>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631F36-F78C-757F-C1AC-5348001429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A0024-FE46-52C7-8BCE-E45E2DF66A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631BA9-D174-6F92-B57A-F72156AEF28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233507-DD4E-09E4-8B19-F3F68F287C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F46915-D4D0-20B4-EA15-BF71A35D65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D619B1-5C2B-042D-B7CC-21B3DCD381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A89019-4475-CF78-5C5A-9F557006AD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86A4B80-EAA7-9252-6199-762F8EA1AD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5819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61C6F48-6502-7594-732B-3309D0AAFA7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9612DE5-007D-444A-BC56-F3B3CC1FABD0}"/>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3F9511B2-D0F0-B479-B055-1332C0E2869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4EABE5F-B5FA-990A-EC98-EDDE5603B36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6E5E5D8-F2F3-4639-917F-8333F14E62E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9551B3E-856F-2CBE-FA3A-C3FC310E0AB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7DE7A0E-06C4-1650-A7B6-044D5411F4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29CE709-52AA-AAEB-F8F4-A01817D0D7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8198507-8C05-C9BB-3571-D0D1C82A4CC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D004251-199A-1E4B-0EF1-41D56E6416B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FF6B2B7-460F-4FD6-6D3C-EEE2C975F3B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904497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4BA4E5-9F0F-9A96-BDA3-71D0F40F71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717540-90E8-76EB-0874-AD7238E42CE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our absolute sensor (like a 1D LiDAR) </a:t>
                </a:r>
                <a:r>
                  <a:rPr lang="en-US" sz="2400" b="1" dirty="0">
                    <a:latin typeface="Atkinson Hyperlegible Next"/>
                    <a:ea typeface="Arial"/>
                    <a:cs typeface="Arial"/>
                    <a:sym typeface="Arial"/>
                  </a:rPr>
                  <a:t>takes a measurement</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says the robot is at position </a:t>
                </a:r>
                <a14:m>
                  <m:oMath xmlns:m="http://schemas.openxmlformats.org/officeDocument/2006/math">
                    <m:r>
                      <a:rPr lang="en-US" sz="2400" i="1" dirty="0" smtClean="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with a sensor noise variance of </a:t>
                </a:r>
                <a14:m>
                  <m:oMath xmlns:m="http://schemas.openxmlformats.org/officeDocument/2006/math">
                    <m:sSubSup>
                      <m:sSubSupPr>
                        <m:ctrlPr>
                          <a:rPr lang="en-US" sz="2400" i="1" dirty="0" smtClean="0">
                            <a:latin typeface="Cambria Math" panose="02040503050406030204" pitchFamily="18" charset="0"/>
                            <a:ea typeface="Arial"/>
                            <a:cs typeface="Arial"/>
                            <a:sym typeface="Arial"/>
                          </a:rPr>
                        </m:ctrlPr>
                      </m:sSubSupPr>
                      <m:e>
                        <m:r>
                          <a:rPr lang="en-US" sz="2400" i="1" dirty="0" smtClean="0">
                            <a:latin typeface="Cambria Math" panose="02040503050406030204" pitchFamily="18" charset="0"/>
                            <a:ea typeface="Arial"/>
                            <a:cs typeface="Arial"/>
                            <a:sym typeface="Arial"/>
                          </a:rPr>
                          <m:t>𝜎</m:t>
                        </m:r>
                      </m:e>
                      <m:sub>
                        <m:r>
                          <a:rPr lang="en-US" sz="2400" i="1" dirty="0" smtClean="0">
                            <a:latin typeface="Cambria Math" panose="02040503050406030204" pitchFamily="18" charset="0"/>
                            <a:ea typeface="Arial"/>
                            <a:cs typeface="Arial"/>
                            <a:sym typeface="Arial"/>
                          </a:rPr>
                          <m:t>𝑠𝑒𝑛𝑠𝑜𝑟</m:t>
                        </m:r>
                      </m:sub>
                      <m:sup>
                        <m:r>
                          <a:rPr lang="en-US" sz="2400" i="1" dirty="0" smtClean="0">
                            <a:latin typeface="Cambria Math" panose="02040503050406030204" pitchFamily="18" charset="0"/>
                            <a:ea typeface="Arial"/>
                            <a:cs typeface="Arial"/>
                            <a:sym typeface="Arial"/>
                          </a:rPr>
                          <m:t>2</m:t>
                        </m:r>
                      </m:sup>
                    </m:sSub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now have </a:t>
                </a:r>
                <a:r>
                  <a:rPr lang="en-US" sz="2400" b="1" dirty="0">
                    <a:latin typeface="Atkinson Hyperlegible Next"/>
                    <a:ea typeface="Arial"/>
                    <a:cs typeface="Arial"/>
                    <a:sym typeface="Arial"/>
                  </a:rPr>
                  <a:t>two</a:t>
                </a:r>
                <a:r>
                  <a:rPr lang="en-US" sz="2400" dirty="0">
                    <a:latin typeface="Atkinson Hyperlegible Next"/>
                    <a:ea typeface="Arial"/>
                    <a:cs typeface="Arial"/>
                    <a:sym typeface="Arial"/>
                  </a:rPr>
                  <a:t> Gaussian curves: our flattened </a:t>
                </a:r>
                <a:r>
                  <a:rPr lang="en-US" sz="2400" b="1" dirty="0">
                    <a:latin typeface="Atkinson Hyperlegible Next"/>
                    <a:ea typeface="Arial"/>
                    <a:cs typeface="Arial"/>
                    <a:sym typeface="Arial"/>
                  </a:rPr>
                  <a:t>prediction</a:t>
                </a:r>
                <a:r>
                  <a:rPr lang="en-US" sz="2400" dirty="0">
                    <a:latin typeface="Atkinson Hyperlegible Next"/>
                    <a:ea typeface="Arial"/>
                    <a:cs typeface="Arial"/>
                    <a:sym typeface="Arial"/>
                  </a:rPr>
                  <a:t> curve, and the new </a:t>
                </a:r>
                <a:r>
                  <a:rPr lang="en-US" sz="2400" b="1" dirty="0">
                    <a:latin typeface="Atkinson Hyperlegible Next"/>
                    <a:ea typeface="Arial"/>
                    <a:cs typeface="Arial"/>
                    <a:sym typeface="Arial"/>
                  </a:rPr>
                  <a:t>sensor</a:t>
                </a:r>
                <a:r>
                  <a:rPr lang="en-US" sz="2400" dirty="0">
                    <a:latin typeface="Atkinson Hyperlegible Next"/>
                    <a:ea typeface="Arial"/>
                    <a:cs typeface="Arial"/>
                    <a:sym typeface="Arial"/>
                  </a:rPr>
                  <a:t> curve.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we combine these two conflicting opinions into one single truth?</a:t>
                </a:r>
              </a:p>
            </p:txBody>
          </p:sp>
        </mc:Choice>
        <mc:Fallback xmlns="">
          <p:sp>
            <p:nvSpPr>
              <p:cNvPr id="118" name="Google Shape;118;p29">
                <a:extLst>
                  <a:ext uri="{FF2B5EF4-FFF2-40B4-BE49-F238E27FC236}">
                    <a16:creationId xmlns:a16="http://schemas.microsoft.com/office/drawing/2014/main" id="{D1717540-90E8-76EB-0874-AD7238E42CE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389A5F-DDEA-D4FB-5C72-809C560730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8F7A9-7BE0-C541-B732-FA8D7F180F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D93A15-F017-8647-ADDA-B94836B7C7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CE0E9F-80C7-E742-AD1E-0E862F3754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1A9CB-89CE-3748-D3A0-7BFD6CA54D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2C7A10-2D1D-BB01-4755-44EE5C7E8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2C9B73-71F9-CADA-86BF-1672C407AE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D8AB2-8849-7911-19E7-ACE33DE0C1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1969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BC2D05-6E4A-839C-D75F-276EC3DF0E1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46AA350-1B4E-77A8-1016-25D64DD4A0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6AD620-B882-938B-3FF5-330530767F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E1E9622-ACC3-403C-C00A-7507A9EE19E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5B086A-912F-86EB-F78E-8F5EA17AC7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017A1E-A54D-1E8A-0AE7-D75969F664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1C21D-8D99-3DFE-7E8B-4CF01F727B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2EA7E2-F515-7D6C-9BAE-BB3B533073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A279F-E552-03A6-9719-2B54A8AC64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1D Update (Conflicting Opinions)&quot;: two Gaussian probability curves over position x from 0 to 15. The pink prediction is centered at x equals 8 and is wider and lower. The dashed orange sensor measurement is centered at z equals 9.5 with variance 1.2, so it is narrower and taller. The curves overlap between about 8 and 10, showing that the prediction and the more certain sensor reading disagree on the position before they are fused.">
            <a:extLst>
              <a:ext uri="{FF2B5EF4-FFF2-40B4-BE49-F238E27FC236}">
                <a16:creationId xmlns:a16="http://schemas.microsoft.com/office/drawing/2014/main" id="{BF02FE44-DD7C-2BF2-7311-06C963C661F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40300006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411D8D-9382-4533-2668-A5DA8264E03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FCB5A3-559A-9BE7-2A07-E8D4BC2B57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probability, to fuse two independent estimates, we </a:t>
            </a:r>
            <a:r>
              <a:rPr lang="en-US" sz="2400" b="1" dirty="0">
                <a:latin typeface="Atkinson Hyperlegible Next"/>
                <a:ea typeface="Arial"/>
                <a:cs typeface="Arial"/>
                <a:sym typeface="Arial"/>
              </a:rPr>
              <a:t>multiply their distributions </a:t>
            </a:r>
            <a:r>
              <a:rPr lang="en-US" sz="2400" dirty="0">
                <a:latin typeface="Atkinson Hyperlegible Next"/>
                <a:ea typeface="Arial"/>
                <a:cs typeface="Arial"/>
                <a:sym typeface="Arial"/>
              </a:rPr>
              <a:t>together.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magical property </a:t>
            </a:r>
            <a:r>
              <a:rPr lang="en-US" sz="2400" dirty="0">
                <a:latin typeface="Atkinson Hyperlegible Next"/>
                <a:ea typeface="Arial"/>
                <a:cs typeface="Arial"/>
                <a:sym typeface="Arial"/>
              </a:rPr>
              <a:t>of Gaussians: Multiplying two Gaussians </a:t>
            </a:r>
            <a:r>
              <a:rPr lang="en-US" sz="2400" b="1" dirty="0">
                <a:latin typeface="Atkinson Hyperlegible Next"/>
                <a:ea typeface="Arial"/>
                <a:cs typeface="Arial"/>
                <a:sym typeface="Arial"/>
              </a:rPr>
              <a:t>always</a:t>
            </a:r>
            <a:r>
              <a:rPr lang="en-US" sz="2400" dirty="0">
                <a:latin typeface="Atkinson Hyperlegible Next"/>
                <a:ea typeface="Arial"/>
                <a:cs typeface="Arial"/>
                <a:sym typeface="Arial"/>
              </a:rPr>
              <a:t> produces a new </a:t>
            </a:r>
            <a:r>
              <a:rPr lang="en-US" sz="2400" b="1" dirty="0">
                <a:latin typeface="Atkinson Hyperlegible Next"/>
                <a:ea typeface="Arial"/>
                <a:cs typeface="Arial"/>
                <a:sym typeface="Arial"/>
              </a:rPr>
              <a:t>Gaussian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the new curve represents the overlapping area of agreement, it is always taller and narrower than both original curves.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Fusing data </a:t>
            </a:r>
            <a:r>
              <a:rPr lang="en-US" sz="2400" b="1" dirty="0">
                <a:latin typeface="Atkinson Hyperlegible Next"/>
                <a:ea typeface="Arial"/>
                <a:cs typeface="Arial"/>
                <a:sym typeface="Arial"/>
              </a:rPr>
              <a:t>reduces</a:t>
            </a:r>
            <a:r>
              <a:rPr lang="en-US" sz="2400" dirty="0">
                <a:latin typeface="Atkinson Hyperlegible Next"/>
                <a:ea typeface="Arial"/>
                <a:cs typeface="Arial"/>
                <a:sym typeface="Arial"/>
              </a:rPr>
              <a:t> uncertainty!</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9CE65A-43FB-1C3F-DFF4-2B3EC93E19A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027510-26EC-0DE5-6059-60AA11D156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80E73D-CC32-C367-291A-5A4D9CBD81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4F0A1C-AC21-6003-DC0C-94CE247462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D7195FA-2F8D-2084-4C68-1C64BA4036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5B1338-A756-EA86-02FA-7455B9B247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E65568-EAF0-88AF-69F4-C83A9F778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57CFC5-14DE-9E58-4677-5B0C9D0745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46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3E5ED3-D160-09E8-9563-3285D327042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68C3C2-1F8C-EB2C-73A8-6C194BCEDB5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1E60B4-5694-9B3E-7FFA-168184A0D6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8F665D-933A-FF46-9E21-A8EEC2F629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EF40B8-2E7F-81C1-F574-6A9541D3B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930D312-0777-8A9B-06BF-0697CB0E7B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F521A9-0F0E-4695-2DA0-57878F41FA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6DC97-169D-1278-9FAA-9C0D36EFE0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3F7635-8046-F458-BA19-E643EF89A7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probability versus position x from 0 to 14, with three bell curves. The prediction is wide and low, centered at 8. The sensor reading is narrower and taller, centered near 9.5. Their product, the fused estimate, is the tallest and narrowest curve, with mean 9.01 and variance 0.81. It lies between the two, closer to the more certain sensor, with Kalman gain K equal to 0.68. Fusing yields less uncertainty than either input alone.">
            <a:extLst>
              <a:ext uri="{FF2B5EF4-FFF2-40B4-BE49-F238E27FC236}">
                <a16:creationId xmlns:a16="http://schemas.microsoft.com/office/drawing/2014/main" id="{DE7AA5F7-52D4-DFA6-6A7F-55939E484891}"/>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27407054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EC0D3CB-1908-7BBE-261B-D42172313DA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A140B39-747E-CD9D-551F-D1D7844A4A5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r>
                            <m:rPr>
                              <m:sty m:val="p"/>
                            </m:rPr>
                            <a:rPr lang="en-US" sz="2300" b="0" i="1" dirty="0" smtClean="0">
                              <a:solidFill>
                                <a:schemeClr val="dk1"/>
                              </a:solidFill>
                              <a:latin typeface="Cambria Math" panose="02040503050406030204" pitchFamily="18" charset="0"/>
                              <a:ea typeface="Arial"/>
                              <a:cs typeface="Arial"/>
                              <a:sym typeface="Arial"/>
                            </a:rPr>
                            <m:t>Prediction</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num>
                        <m:den>
                          <m:r>
                            <m:rPr>
                              <m:sty m:val="p"/>
                            </m:rPr>
                            <a:rPr lang="en-US" sz="2300" b="0" i="1" dirty="0" smtClean="0">
                              <a:solidFill>
                                <a:schemeClr val="dk1"/>
                              </a:solidFill>
                              <a:latin typeface="Cambria Math" panose="02040503050406030204" pitchFamily="18" charset="0"/>
                              <a:ea typeface="Arial"/>
                              <a:cs typeface="Arial"/>
                              <a:sym typeface="Arial"/>
                            </a:rPr>
                            <m:t>Total</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System</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perfect,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b="0" i="1" dirty="0" smtClean="0">
                        <a:latin typeface="Cambria Math" panose="02040503050406030204" pitchFamily="18" charset="0"/>
                        <a:ea typeface="Arial"/>
                        <a:cs typeface="Arial"/>
                        <a:sym typeface="Arial"/>
                      </a:rPr>
                      <m:t>=1</m:t>
                    </m:r>
                  </m:oMath>
                </a14:m>
                <a:r>
                  <a:rPr lang="en-US" sz="2300" dirty="0">
                    <a:latin typeface="Atkinson Hyperlegible Next"/>
                    <a:ea typeface="Arial"/>
                    <a:cs typeface="Arial"/>
                    <a:sym typeface="Arial"/>
                  </a:rPr>
                  <a:t>, and then we trust the sensor completely.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garbage,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we ignore it! </a:t>
                </a:r>
              </a:p>
            </p:txBody>
          </p:sp>
        </mc:Choice>
        <mc:Fallback xmlns="">
          <p:sp>
            <p:nvSpPr>
              <p:cNvPr id="118" name="Google Shape;118;p29">
                <a:extLst>
                  <a:ext uri="{FF2B5EF4-FFF2-40B4-BE49-F238E27FC236}">
                    <a16:creationId xmlns:a16="http://schemas.microsoft.com/office/drawing/2014/main" id="{6A140B39-747E-CD9D-551F-D1D7844A4A5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B77F08-2B14-4454-3F63-7DEBBC302C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D376A4-B652-DE0B-6666-1B2A9D133D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68616-8F73-D3BF-93DD-EFAD77DEEF3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06C20C-09BF-39D5-F89A-1D1BDC68D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47339E-497C-3C54-E3B4-936167C426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83EEDB-4A4A-79F9-4A9F-74A8466678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173F8-2F4E-B2CA-E66D-E78F4F876B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4616D-8F99-7163-8F54-D14FD9B0D4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16857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7F8C3A-06ED-81E9-F50E-0B296E5DAA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CCBBD64-5DE5-3319-EFFB-00B5AD6C368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num>
                        <m:den>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r>
                            <a:rPr lang="en-US" sz="2300" i="1" dirty="0" smtClean="0">
                              <a:solidFill>
                                <a:schemeClr val="dk1"/>
                              </a:solidFill>
                              <a:latin typeface="Cambria Math" panose="02040503050406030204" pitchFamily="18" charset="0"/>
                              <a:ea typeface="Arial"/>
                              <a:cs typeface="Arial"/>
                              <a:sym typeface="Arial"/>
                            </a:rPr>
                            <m:t>+</m:t>
                          </m:r>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𝑠𝑒𝑛𝑠𝑜𝑟</m:t>
                              </m:r>
                            </m:sub>
                            <m:sup>
                              <m:r>
                                <a:rPr lang="en-US" sz="2300" i="1" dirty="0" smtClean="0">
                                  <a:solidFill>
                                    <a:schemeClr val="dk1"/>
                                  </a:solidFill>
                                  <a:latin typeface="Cambria Math" panose="02040503050406030204" pitchFamily="18" charset="0"/>
                                  <a:ea typeface="Arial"/>
                                  <a:cs typeface="Arial"/>
                                  <a:sym typeface="Arial"/>
                                </a:rPr>
                                <m:t>2</m:t>
                              </m:r>
                            </m:sup>
                          </m:sSubSup>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 is just a ratio! It's the ratio of our prediction uncertainty to the total system uncertainty. It always falls between 0 and 1.</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We update our position using this ratio:</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𝑛𝑒𝑤</m:t>
                          </m:r>
                        </m:sub>
                      </m:sSub>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r>
                        <a:rPr lang="en-US" sz="2300" i="1" dirty="0" smtClean="0">
                          <a:solidFill>
                            <a:schemeClr val="dk1"/>
                          </a:solidFill>
                          <a:latin typeface="Cambria Math" panose="02040503050406030204" pitchFamily="18" charset="0"/>
                          <a:ea typeface="Arial"/>
                          <a:cs typeface="Arial"/>
                          <a:sym typeface="Arial"/>
                        </a:rPr>
                        <m:t>+</m:t>
                      </m:r>
                      <m:r>
                        <a:rPr lang="en-US" sz="2300" i="1" dirty="0" smtClean="0">
                          <a:solidFill>
                            <a:schemeClr val="dk1"/>
                          </a:solidFill>
                          <a:latin typeface="Cambria Math" panose="02040503050406030204" pitchFamily="18" charset="0"/>
                          <a:ea typeface="Arial"/>
                          <a:cs typeface="Arial"/>
                          <a:sym typeface="Arial"/>
                        </a:rPr>
                        <m:t>𝐾</m:t>
                      </m:r>
                      <m:d>
                        <m:dPr>
                          <m:ctrlPr>
                            <a:rPr lang="en-US" sz="2300" i="1" dirty="0" smtClean="0">
                              <a:solidFill>
                                <a:schemeClr val="dk1"/>
                              </a:solidFill>
                              <a:latin typeface="Cambria Math" panose="02040503050406030204" pitchFamily="18" charset="0"/>
                              <a:ea typeface="Arial"/>
                              <a:cs typeface="Arial"/>
                              <a:sym typeface="Arial"/>
                            </a:rPr>
                          </m:ctrlPr>
                        </m:dPr>
                        <m:e>
                          <m:r>
                            <a:rPr lang="en-US" sz="2300" i="1" dirty="0" smtClean="0">
                              <a:solidFill>
                                <a:schemeClr val="dk1"/>
                              </a:solidFill>
                              <a:latin typeface="Cambria Math" panose="02040503050406030204" pitchFamily="18" charset="0"/>
                              <a:ea typeface="Arial"/>
                              <a:cs typeface="Arial"/>
                              <a:sym typeface="Arial"/>
                            </a:rPr>
                            <m:t>𝑧</m:t>
                          </m:r>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e>
                      </m:d>
                    </m:oMath>
                  </m:oMathPara>
                </a14:m>
                <a:endParaRPr lang="en-US" sz="23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All it really says is “how much of the measurement should we incorporate”?</a:t>
                </a:r>
              </a:p>
            </p:txBody>
          </p:sp>
        </mc:Choice>
        <mc:Fallback xmlns="">
          <p:sp>
            <p:nvSpPr>
              <p:cNvPr id="118" name="Google Shape;118;p29">
                <a:extLst>
                  <a:ext uri="{FF2B5EF4-FFF2-40B4-BE49-F238E27FC236}">
                    <a16:creationId xmlns:a16="http://schemas.microsoft.com/office/drawing/2014/main" id="{FCCBBD64-5DE5-3319-EFFB-00B5AD6C368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26198B-48F2-DBCF-8ADC-27C9B15ED6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AD612D-E7B0-AEB4-8812-5A201F6864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BA8F1F-1CDF-2469-E334-67184D9835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FF714-8212-1644-54D8-2E0B2F32E3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29C982-F4C8-F9FB-AB4A-36EFC8A346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830561-F7A0-25BC-90E5-74639DD54E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F1B609-BCB4-8415-9969-D8EE64E455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4F9F58-9660-3CB5-D29E-8D99CA0160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8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B73DC2-58D2-91F4-F2CF-B9E7021BB7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BA07C7-B861-5421-7C0F-90DC1DC47C5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That’s all the Kalman filter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current limitation of the formulation?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We are only looking at a problem with 1 state, can this be generalized to be N-dimensional?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our differentiable robot, we live in a 2D plane with an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t>
                </a:r>
                <a14:m>
                  <m:oMath xmlns:m="http://schemas.openxmlformats.org/officeDocument/2006/math">
                    <m:r>
                      <m:rPr>
                        <m:sty m:val="p"/>
                      </m:rPr>
                      <a:rPr lang="en-US" sz="2300" b="0" i="1" smtClean="0">
                        <a:latin typeface="Cambria Math" panose="02040503050406030204" pitchFamily="18" charset="0"/>
                        <a:ea typeface="Arial"/>
                        <a:cs typeface="Arial"/>
                        <a:sym typeface="Arial"/>
                      </a:rPr>
                      <m:t>Y</m:t>
                    </m:r>
                  </m:oMath>
                </a14:m>
                <a:r>
                  <a:rPr lang="en-US" sz="2300" dirty="0">
                    <a:latin typeface="Atkinson Hyperlegible Next"/>
                    <a:ea typeface="Arial"/>
                    <a:cs typeface="Arial"/>
                    <a:sym typeface="Arial"/>
                  </a:rPr>
                  <a:t>, and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number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for position. We must use a </a:t>
                </a:r>
                <a:r>
                  <a:rPr lang="en-US" sz="2300" b="1" dirty="0">
                    <a:latin typeface="Atkinson Hyperlegible Next"/>
                    <a:ea typeface="Arial"/>
                    <a:cs typeface="Arial"/>
                    <a:sym typeface="Arial"/>
                  </a:rPr>
                  <a:t>State Vector</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variance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must use a </a:t>
                </a:r>
                <a:r>
                  <a:rPr lang="en-US" sz="2300" b="1" dirty="0">
                    <a:latin typeface="Atkinson Hyperlegible Next"/>
                    <a:ea typeface="Arial"/>
                    <a:cs typeface="Arial"/>
                    <a:sym typeface="Arial"/>
                  </a:rPr>
                  <a:t>Covariance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B2BA07C7-B861-5421-7C0F-90DC1DC47C5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6777F2-6C77-51D1-C8B9-64F1920EBD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6715D4-8B00-B85D-2167-91DA621CEF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2175EB-3F6C-D62D-25BA-5217911047D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85456-00B2-46B1-8819-CBBE0ACF49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D03A0D-5C42-625F-8B21-357E15F06A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898B86-ADAC-9156-40E1-55BCCF20AC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629CEF-B88B-5097-7BCE-AE0738D50F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4DB92F-2773-0CA3-01CC-99F2DD8E3EE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2796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78026D5-642E-5FA9-B24D-BB2F972494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D81CE76-DDEC-FA99-FE82-7667F179E33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ND -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9C1F07-A7C6-0EEA-CFAB-6F81C647B9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880808B-6498-A126-653F-999B9869961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56DDC46-269F-36DC-A402-F6E99CDF68B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E0BEC5-D794-6D25-29A5-3AD4D43A3AD5}"/>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21836FB-150F-B968-985A-700320E88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620420A-DDCC-006C-B82D-A8816FF2F83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4DE278D-5E0E-C64F-6934-39A876AF81B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FBC960A-FF3C-4EB4-A835-CF3221E4AD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11DE33F-D1A3-A366-7206-3D6A422E3A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2049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7C5B89B-AD73-052F-BE6B-E2D5E4828FA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BD972F50-0BAC-51F8-4674-B2E240CF2F54}"/>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723464BF-EB2B-8CDD-8CD9-330961639ED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7A3610-AC45-2DEC-4EF4-C7B00CC4CE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823D590-5B53-D3FA-297C-FFDE942030A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FEC59D2-D2A7-D664-A59D-8CF83C6654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4691F89-242A-4F33-F3FD-67E3F1272B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4CAA65C-DD16-7ED6-E55C-3B7BC86523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11E5D39-7D89-943D-BB1E-5FEF15C3372E}"/>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76A2E18-640F-E2D4-5E9A-72D8DA6662A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61E9803-1AC5-8F81-A128-A5A1A7B68B1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269496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0D03BE-2741-77CF-6AA5-8BA5A79B7C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A06F7D-0576-FD78-083B-927F78519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81555A-9873-C25D-2321-857A02461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1F5E44-655F-112D-D445-334EF4CACF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A2C5C-8A0E-264A-6A39-30BDB621F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9914FF-C258-88FD-8E53-23A285BD3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A0F55D-2807-04CD-4C04-8051D66EAF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B8E005-277B-C577-1754-E2C0532E3F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C2ECA1-AEEE-E5C1-7E1E-690F0A6267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Initial Belief (The State Vector)&quot;: the initial belief x sub 0 is a filled ellipse centered near position X equals 2, Y equals 2, spanning about minus 0.5 to 4.5 on both axes and tilted at roughly 45 degrees, indicating positive correlation between x and y uncertainty. Annotations: bold x equals x, y transpose; bold P equals the matrix with rows sigma x squared, sigma x y and sigma y x, sigma y squared. Axes run X from minus 2 to 16 and Y from minus 2 to 10.">
            <a:extLst>
              <a:ext uri="{FF2B5EF4-FFF2-40B4-BE49-F238E27FC236}">
                <a16:creationId xmlns:a16="http://schemas.microsoft.com/office/drawing/2014/main" id="{C912C74F-6B49-F930-5A27-F2BCE85E1FC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1049193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44DA11-165C-EF65-7459-9CD026C63C2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67F5410-EB67-8B93-6A57-E23368557AC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Let's translate our 1D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𝑢</m:t>
                    </m:r>
                  </m:oMath>
                </a14:m>
                <a:r>
                  <a:rPr lang="en-US" sz="2300" dirty="0">
                    <a:latin typeface="Atkinson Hyperlegible Next"/>
                    <a:ea typeface="Arial"/>
                    <a:cs typeface="Arial"/>
                    <a:sym typeface="Arial"/>
                  </a:rPr>
                  <a:t>) to N-Dimensions: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𝐵</m:t>
                    </m:r>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𝑢</m:t>
                        </m:r>
                      </m:e>
                      <m:sub>
                        <m:r>
                          <a:rPr lang="en-US" sz="2300" i="1" dirty="0" err="1" smtClean="0">
                            <a:latin typeface="Cambria Math" panose="02040503050406030204" pitchFamily="18" charset="0"/>
                            <a:ea typeface="Arial"/>
                            <a:cs typeface="Arial"/>
                            <a:sym typeface="Arial"/>
                          </a:rPr>
                          <m:t>𝑘</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m:rPr>
                        <m:sty m:val="p"/>
                      </m:rPr>
                      <a:rPr lang="en-US" sz="2300" i="1" dirty="0">
                        <a:latin typeface="Cambria Math" panose="02040503050406030204" pitchFamily="18" charset="0"/>
                        <a:ea typeface="Arial"/>
                        <a:cs typeface="Arial"/>
                        <a:sym typeface="Arial"/>
                      </a:rPr>
                      <m:t>μ</m:t>
                    </m:r>
                  </m:oMath>
                </a14:m>
                <a:r>
                  <a:rPr lang="en-US" sz="2300" dirty="0">
                    <a:latin typeface="Atkinson Hyperlegible Next"/>
                    <a:ea typeface="Arial"/>
                    <a:cs typeface="Arial"/>
                    <a:sym typeface="Arial"/>
                  </a:rPr>
                  <a:t> becomes the state vector </a:t>
                </a:r>
                <a14:m>
                  <m:oMath xmlns:m="http://schemas.openxmlformats.org/officeDocument/2006/math">
                    <m:r>
                      <a:rPr lang="en-US" sz="2300" i="1" dirty="0">
                        <a:latin typeface="Cambria Math" panose="02040503050406030204" pitchFamily="18" charset="0"/>
                        <a:ea typeface="Arial"/>
                        <a:cs typeface="Arial"/>
                        <a:sym typeface="Arial"/>
                      </a:rPr>
                      <m:t>𝑥</m:t>
                    </m:r>
                  </m:oMath>
                </a14:m>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our state transition matrix (how physics updates the state).</a:t>
                </a:r>
              </a:p>
            </p:txBody>
          </p:sp>
        </mc:Choice>
        <mc:Fallback xmlns="">
          <p:sp>
            <p:nvSpPr>
              <p:cNvPr id="118" name="Google Shape;118;p29">
                <a:extLst>
                  <a:ext uri="{FF2B5EF4-FFF2-40B4-BE49-F238E27FC236}">
                    <a16:creationId xmlns:a16="http://schemas.microsoft.com/office/drawing/2014/main" id="{B67F5410-EB67-8B93-6A57-E23368557AC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13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227CA2-F185-B75C-D910-453CF3B33C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A53280-0AA5-9631-2590-CAEFD5F700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CA5C6-E616-E19C-B0E6-2AD169E1F9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2877C7-4046-CCE7-234B-808887AA0D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8A48F2-0323-8338-C1D7-A599CD56CA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94BEB94-A006-4683-94C6-6D6CDDE226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AF02A8-C81B-135B-84A1-948CCF04CB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7A04-12BB-77C2-3FBF-EA34608B67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978716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327B7D-7FEA-E73A-14E4-93893E959B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7F16B4E-1D2C-F7C7-08EB-B89D3A9E543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D9912D-E46C-999C-21FE-A93DE3C8F3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C2C88A-8817-7E05-6C4A-38745E9C93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5255BF-C516-3744-8215-EF33C32A78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8065CE-2002-7252-9D2A-8EDB18A7E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7690B1B-39E0-1563-0CC5-EA5DE91AD4C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87750E-4C26-ECA9-62B0-C7290E8BF7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D8D187-1A56-3B17-669A-64FD3892DB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the Kalman filter predict step on position X versus position Y axes. The old belief is a point at (2, 2) inside a narrow, tilted blue covariance ellipse; a slightly larger pink outline shows it transformed by F P F transpose. A motion arrow moves the mean to about (8, 5), where a much larger filled pink ellipse shows the predicted prior: x sub pred equals F x sub k minus 1 plus B u, and P sub pred equals F P sub k minus 1 F transpose plus Q. Prediction shifts the estimate and grows its uncertainty.">
            <a:extLst>
              <a:ext uri="{FF2B5EF4-FFF2-40B4-BE49-F238E27FC236}">
                <a16:creationId xmlns:a16="http://schemas.microsoft.com/office/drawing/2014/main" id="{CD571A45-C401-F0E2-ABC0-41DDD883CAA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3729653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5EBFB3-1EF9-8EC5-867F-1BFD8C6922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40E74E3-A999-C8C0-8BEE-C1133A2000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a:t>
                </a:r>
                <a:r>
                  <a:rPr lang="en-US" sz="2300" b="1" dirty="0">
                    <a:latin typeface="Atkinson Hyperlegible Next"/>
                    <a:ea typeface="Arial"/>
                    <a:cs typeface="Arial"/>
                    <a:sym typeface="Arial"/>
                  </a:rPr>
                  <a:t>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represents multi-dimensional uncertainty as an ellipse, not a 1D curve.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diagonal elements are the individual variances (e.g., how unsure are we about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independent of everything else?).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off-diagonal elements are the critical addition: </a:t>
                </a:r>
                <a:r>
                  <a:rPr lang="en-US" sz="2300" b="1" dirty="0">
                    <a:latin typeface="Atkinson Hyperlegible Next"/>
                    <a:ea typeface="Arial"/>
                    <a:cs typeface="Arial"/>
                    <a:sym typeface="Arial"/>
                  </a:rPr>
                  <a:t>Correlations</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robot only drives forward, and we are uncertain about our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will that create an uncertainty in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 as we travel?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Yes, errors in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are highly correlated with errors in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and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40E74E3-A999-C8C0-8BEE-C1133A2000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CE9117-7D7E-73E9-FCB2-D173B899D6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2E25B4-9C80-65C9-0132-0BC3107A4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68C4F9-6EEA-954F-1101-5550EE46989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98213B-00FB-430A-FDF5-638419BC8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693843-1AC4-F863-C72F-63E16D3071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0E8B05-3179-DEEC-574A-3A98802C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50F6C8-41A2-4DAF-A588-1B86396E54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3D03-808C-03FB-F450-60DB1E081E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5941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747B13-4078-2579-5CF3-192A99C6A73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A99B7E-3621-627E-2235-8438A3DDF0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405DF6-419E-CCD5-D645-2A4BF021AE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368A7C-58D1-ACE8-0D0E-28CC016916F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984D39-5F9A-3DFA-E2FD-4F34C8A1DA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C4320B4-4EF9-3A5F-1697-3CA8CA71BF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BF7F5C-2AFF-FAEE-F225-E00853602D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C9D257-AFD4-BDF2-8B45-B783A65F0B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A2575C-A1C0-F20B-2B6C-2F29DC269E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2D covariance of robot x and y position. Covariance matrix Sigma has sigma x squared equals 4.0, sigma y squared equals 3.0, and sigma x y equals sigma y x equals 2.5. A tilted 1-sigma ellipse is centered on the mean at (5, 5). Its long axis runs diagonally up-right, showing positive x-y correlation. Horizontal and vertical arrows mark sigma x and sigma y. An orange-red arrow, square root of lambda 1 times v 1, marks the major axis along the tilt. A perpendicular green arrow, square root of lambda 2 times v 2, marks the minor axis.">
            <a:extLst>
              <a:ext uri="{FF2B5EF4-FFF2-40B4-BE49-F238E27FC236}">
                <a16:creationId xmlns:a16="http://schemas.microsoft.com/office/drawing/2014/main" id="{7EA5D460-2371-5DDC-7B12-80A2B905D86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80638" y="556313"/>
            <a:ext cx="6430725" cy="6430725"/>
          </a:xfrm>
          <a:prstGeom prst="rect">
            <a:avLst/>
          </a:prstGeom>
        </p:spPr>
      </p:pic>
    </p:spTree>
    <p:extLst>
      <p:ext uri="{BB962C8B-B14F-4D97-AF65-F5344CB8AC3E}">
        <p14:creationId xmlns:p14="http://schemas.microsoft.com/office/powerpoint/2010/main" val="35571619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E72C3-8BEE-CEC8-6058-7BC82650921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4F4595-D47E-8E37-5E1F-F3B3D60B2E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is </a:t>
                </a: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Really?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Before we calculate how uncertainty grows, we must define what it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Imagine throwing 100 darts at a board. The </a:t>
                </a:r>
                <a:r>
                  <a:rPr lang="en-US" sz="2300" b="1" dirty="0">
                    <a:latin typeface="Atkinson Hyperlegible Next"/>
                    <a:ea typeface="Arial"/>
                    <a:cs typeface="Arial"/>
                    <a:sym typeface="Arial"/>
                  </a:rPr>
                  <a:t>Expected Value </a:t>
                </a:r>
                <a14:m>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or mean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is the center point of all your darts.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measures </a:t>
                </a:r>
                <a:r>
                  <a:rPr lang="en-US" sz="2300" b="1" dirty="0">
                    <a:latin typeface="Atkinson Hyperlegible Next"/>
                    <a:ea typeface="Arial"/>
                    <a:cs typeface="Arial"/>
                    <a:sym typeface="Arial"/>
                  </a:rPr>
                  <a:t>how spread out </a:t>
                </a:r>
                <a:r>
                  <a:rPr lang="en-US" sz="2300" dirty="0">
                    <a:latin typeface="Atkinson Hyperlegible Next"/>
                    <a:ea typeface="Arial"/>
                    <a:cs typeface="Arial"/>
                    <a:sym typeface="Arial"/>
                  </a:rPr>
                  <a:t>those darts are from the center. It is the average of the squared distances from the mean.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write this mathematically as: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4F4595-D47E-8E37-5E1F-F3B3D60B2E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036BC4-3069-A517-9085-A6B0835EFC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E81DB4-AABF-ABD8-7008-DCB0C1BCE4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1F5C47-8016-E787-4409-DD855A1AEFE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E9FB8-DBB9-F93F-7175-1EAB0A5EBE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CFEEC2-0152-918E-1329-173D4AD4621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87EC6B-71AE-3ACE-3B89-69A4B7F43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40CD8F-032C-C367-6351-C8CD108322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28E6B9-E7DC-4370-2429-D59D886C3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1240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9B016A-07A7-5B19-363D-207486F4CBA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8650B6-E658-55BC-99EC-63616B2ACF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happens to our uncertainty if we multiply our state by a constant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(like applying a gear ratio to a wheel)?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𝑎</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is a constant, we pull it out: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ea typeface="Arial"/>
                    <a:cs typeface="Arial"/>
                    <a:sym typeface="Arial"/>
                  </a:rPr>
                  <a:t>Thus,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Scaling the state scales the uncertainty quadratically.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a motor spins twice as fast, does the position uncertainty double? </a:t>
                </a:r>
              </a:p>
              <a:p>
                <a:pPr marL="0" indent="0" algn="ctr">
                  <a:lnSpc>
                    <a:spcPct val="100000"/>
                  </a:lnSpc>
                  <a:spcBef>
                    <a:spcPts val="0"/>
                  </a:spcBef>
                  <a:buSzPts val="3000"/>
                  <a:buNone/>
                </a:pPr>
                <a:r>
                  <a:rPr lang="en-US" sz="2300" dirty="0">
                    <a:latin typeface="Atkinson Hyperlegible Next"/>
                    <a:ea typeface="Arial"/>
                    <a:cs typeface="Arial"/>
                    <a:sym typeface="Arial"/>
                  </a:rPr>
                  <a:t>No, it </a:t>
                </a:r>
                <a:r>
                  <a:rPr lang="en-US" sz="2300" b="1" dirty="0">
                    <a:latin typeface="Atkinson Hyperlegible Next"/>
                    <a:ea typeface="Arial"/>
                    <a:cs typeface="Arial"/>
                    <a:sym typeface="Arial"/>
                  </a:rPr>
                  <a:t>quadruples</a:t>
                </a:r>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E8650B6-E658-55BC-99EC-63616B2ACFD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ECD4026-4D30-6469-3669-618C555F35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4AFBB-DF47-2AE0-6532-CE0CE735CE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70C62E-C339-ABCD-6424-1B1C2DC2644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A17A87-19B7-DDC3-C604-742D6D871C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B321BC5-3AA3-F483-F378-DF42140276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32A3FD-B547-089E-F7CA-AEA48A11BA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7FDE8D2-6085-15D2-4857-EBCA2FCCC8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DEB2F-9DC0-C942-4A34-FC3B732285F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883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ABC5D9-A4E3-F417-E87B-C568CB9D36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10F1563-4DD8-AF30-9B05-0119957EC6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Real robots experience random bumps and slip. We represent this as adding a random noise variable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to our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the noise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is </a:t>
                </a:r>
                <a:r>
                  <a:rPr lang="en-US" sz="2300" b="1" dirty="0">
                    <a:latin typeface="Atkinson Hyperlegible Next"/>
                    <a:ea typeface="Arial"/>
                    <a:cs typeface="Arial"/>
                    <a:sym typeface="Arial"/>
                  </a:rPr>
                  <a:t>completely independent </a:t>
                </a:r>
                <a:r>
                  <a:rPr lang="en-US" sz="2300" dirty="0">
                    <a:latin typeface="Atkinson Hyperlegible Next"/>
                    <a:ea typeface="Arial"/>
                    <a:cs typeface="Arial"/>
                    <a:sym typeface="Arial"/>
                  </a:rPr>
                  <a:t>of our state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Substituting our previous proof: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simple 1D equation is the exact heart of the Kalman Filter's predict step!</a:t>
                </a:r>
              </a:p>
            </p:txBody>
          </p:sp>
        </mc:Choice>
        <mc:Fallback xmlns="">
          <p:sp>
            <p:nvSpPr>
              <p:cNvPr id="118" name="Google Shape;118;p29">
                <a:extLst>
                  <a:ext uri="{FF2B5EF4-FFF2-40B4-BE49-F238E27FC236}">
                    <a16:creationId xmlns:a16="http://schemas.microsoft.com/office/drawing/2014/main" id="{710F1563-4DD8-AF30-9B05-0119957EC6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58E0F47-638B-FB83-2BA4-6C20B2B80E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B7CD04-32C8-4EF4-7257-53F64BAE0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A1644AC-33C8-3FE3-8176-1E23A6EB5C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B56B4A-3928-CDA4-D22E-F2CB78B69F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569527-4BCB-50B6-A764-D4FE0D2BD7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071F-C80E-9823-7D72-1116E9BED2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E4201BB-6457-D8B0-9711-EAB861DCE8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AF5DD5-A184-15AD-515D-31840C0A1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8399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C7E1C4-9EF9-CDC5-BBD8-7D67CAADB04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4920CB-0467-20A1-AFCB-8E7BFC6939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1D variance equation is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a multidimensional robot,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becomes the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becomes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 becomes the Process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how do we square a matrix to get the equivalent of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can't just write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24920CB-0467-20A1-AFCB-8E7BFC6939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4EA7C8-CF95-8E49-E830-29DE3D4417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8E689-A0A1-04AF-0F6C-D863EE78F3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1A98E1A-F638-3A1E-85FC-71CC62575D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27A1F5-0CD8-27F7-16CF-09212B7524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41965-4ACE-2488-025E-00B33BDB1F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A56BB5-C90F-7ED3-DF10-A885B11232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E12D5-33E4-4A05-47C1-D600472039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739886-C430-5F59-DD3B-8DA7EF2A6E8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740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2667E1-5F67-0DB8-5C09-D06E398D4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B0CE337-5050-8012-9C14-671998C859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linear algebra, the variance of a matrix transformation is derived using the transpose: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𝐶𝑜𝑣</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e>
                            <m:sup>
                              <m:r>
                                <a:rPr lang="en-US" sz="2300" i="1" dirty="0" smtClean="0">
                                  <a:latin typeface="Cambria Math" panose="02040503050406030204" pitchFamily="18" charset="0"/>
                                  <a:ea typeface="Arial"/>
                                  <a:cs typeface="Arial"/>
                                  <a:sym typeface="Arial"/>
                                </a:rPr>
                                <m:t>𝑇</m:t>
                              </m:r>
                            </m:sup>
                          </m:sSup>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d>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the rules of matrix transposition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𝐴𝐵</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𝐵</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𝐴</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pull the constant </a:t>
                </a: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matrices out of the Expectation:</a:t>
                </a:r>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e>
                      </m:d>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Adding our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get our final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3B0CE337-5050-8012-9C14-671998C859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290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04EB41-99D2-CB91-1D37-E46749CD5D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9BE1EE-B9AA-5E6A-F60B-C6EA7E0E6A4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C5DF78-BDE1-1A56-16A7-F8AE22EAB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B89505-CDA3-4401-1E4D-2693F07074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3D6E1E-2E62-DEB3-5B7E-AC24130879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17DEB8-70F4-3A64-38DF-9A99EFCC9D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4B319-24C4-3EF1-B583-15D6241A6B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5237A-482F-6977-C5F2-1115686A8E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77636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C627B-6F9F-1879-29D8-4BB941F3099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BFF4C25-583E-847E-B3A1-D0F989ABB9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multi-dimensional </a:t>
                </a:r>
                <a:r>
                  <a:rPr lang="en-US" sz="2300" b="1" dirty="0">
                    <a:latin typeface="Atkinson Hyperlegible Next"/>
                    <a:ea typeface="Arial"/>
                    <a:cs typeface="Arial"/>
                    <a:sym typeface="Arial"/>
                  </a:rPr>
                  <a:t>Prediction </a:t>
                </a:r>
                <a:r>
                  <a:rPr lang="en-US" sz="2300" dirty="0">
                    <a:latin typeface="Atkinson Hyperlegible Next"/>
                    <a:ea typeface="Arial"/>
                    <a:cs typeface="Arial"/>
                    <a:sym typeface="Arial"/>
                  </a:rPr>
                  <a:t>step is thus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𝐹</m:t>
                      </m:r>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𝐵</m:t>
                      </m:r>
                      <m:sSub>
                        <m:sSubPr>
                          <m:ctrlPr>
                            <a:rPr lang="en-US" sz="6000" i="1" dirty="0" err="1">
                              <a:latin typeface="Cambria Math" panose="02040503050406030204" pitchFamily="18" charset="0"/>
                              <a:ea typeface="Arial"/>
                              <a:cs typeface="Arial"/>
                              <a:sym typeface="Arial"/>
                            </a:rPr>
                          </m:ctrlPr>
                        </m:sSubPr>
                        <m:e>
                          <m:r>
                            <a:rPr lang="en-US" sz="6000" i="1" dirty="0" err="1">
                              <a:latin typeface="Cambria Math" panose="02040503050406030204" pitchFamily="18" charset="0"/>
                              <a:ea typeface="Arial"/>
                              <a:cs typeface="Arial"/>
                              <a:sym typeface="Arial"/>
                            </a:rPr>
                            <m:t>𝑢</m:t>
                          </m:r>
                        </m:e>
                        <m:sub>
                          <m:r>
                            <a:rPr lang="en-US" sz="6000" i="1" dirty="0" err="1">
                              <a:latin typeface="Cambria Math" panose="02040503050406030204" pitchFamily="18" charset="0"/>
                              <a:ea typeface="Arial"/>
                              <a:cs typeface="Arial"/>
                              <a:sym typeface="Arial"/>
                            </a:rPr>
                            <m:t>𝑘</m:t>
                          </m:r>
                        </m:sub>
                      </m:sSub>
                    </m:oMath>
                  </m:oMathPara>
                </a14:m>
                <a:endParaRPr lang="en-US" sz="6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6000" i="1" dirty="0">
                          <a:latin typeface="Cambria Math" panose="02040503050406030204" pitchFamily="18" charset="0"/>
                          <a:ea typeface="Arial"/>
                          <a:cs typeface="Arial"/>
                          <a:sym typeface="Arial"/>
                        </a:rPr>
                        <m:t>𝑃</m:t>
                      </m:r>
                      <m:r>
                        <a:rPr lang="en-US" sz="6000" i="1" dirty="0">
                          <a:latin typeface="Cambria Math" panose="02040503050406030204" pitchFamily="18" charset="0"/>
                          <a:ea typeface="Arial"/>
                          <a:cs typeface="Arial"/>
                          <a:sym typeface="Arial"/>
                        </a:rPr>
                        <m:t> =</m:t>
                      </m:r>
                      <m:r>
                        <a:rPr lang="en-US" sz="6000" i="1" dirty="0" smtClean="0">
                          <a:latin typeface="Cambria Math" panose="02040503050406030204" pitchFamily="18" charset="0"/>
                          <a:ea typeface="Arial"/>
                          <a:cs typeface="Arial"/>
                          <a:sym typeface="Arial"/>
                        </a:rPr>
                        <m:t>𝐹𝑃</m:t>
                      </m:r>
                      <m:sSup>
                        <m:sSupPr>
                          <m:ctrlPr>
                            <a:rPr lang="en-US" sz="6000" i="1" dirty="0" smtClean="0">
                              <a:latin typeface="Cambria Math" panose="02040503050406030204" pitchFamily="18" charset="0"/>
                              <a:ea typeface="Arial"/>
                              <a:cs typeface="Arial"/>
                              <a:sym typeface="Arial"/>
                            </a:rPr>
                          </m:ctrlPr>
                        </m:sSupPr>
                        <m:e>
                          <m:r>
                            <a:rPr lang="en-US" sz="6000" i="1" dirty="0" smtClean="0">
                              <a:latin typeface="Cambria Math" panose="02040503050406030204" pitchFamily="18" charset="0"/>
                              <a:ea typeface="Arial"/>
                              <a:cs typeface="Arial"/>
                              <a:sym typeface="Arial"/>
                            </a:rPr>
                            <m:t>𝐹</m:t>
                          </m:r>
                        </m:e>
                        <m:sup>
                          <m:r>
                            <a:rPr lang="en-US" sz="6000" i="1" dirty="0" smtClean="0">
                              <a:latin typeface="Cambria Math" panose="02040503050406030204" pitchFamily="18" charset="0"/>
                              <a:ea typeface="Arial"/>
                              <a:cs typeface="Arial"/>
                              <a:sym typeface="Arial"/>
                            </a:rPr>
                            <m:t>𝑇</m:t>
                          </m:r>
                        </m:sup>
                      </m:sSup>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𝑄</m:t>
                      </m:r>
                    </m:oMath>
                  </m:oMathPara>
                </a14:m>
                <a:endParaRPr lang="en-US" sz="6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BFF4C25-583E-847E-B3A1-D0F989ABB9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198E611-10C8-21CF-4EA9-DDC28F1D0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E09A62-1204-9FD4-2553-E556C05F12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553397-F743-290A-586E-9BB98759BF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7CCE68-1474-75D6-2926-91DDC61E8A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D18B47-DEA2-374D-ADF7-A1FD301054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BEBF4E-3F5B-FB79-08A6-D3AC3D363D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DBE37-C00A-D436-0498-9E66BA3148E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09C9F6-BBF7-D591-B9D3-565919F5EF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4593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F69A64A-19C9-08C8-DDE3-FE66D1FF28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74C295F-96BD-4918-1F74-AC997FBBA19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6BC45DC-6C69-AC7A-66D2-F56524700FF7}"/>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E18FC36B-1E6B-C96B-92B2-1595EE1DF04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B8D16E4-7B13-FB08-E11E-10C7E38A7270}"/>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15E0878-88D7-E8A2-830B-BD8AE32E95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4B8701E-01D1-C11B-28C7-67A99241B3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4FE3106-A569-BA6B-AC5B-10392AD8E3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2F044D1-C0E1-25BC-D2D0-C870ACFE53E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D693D82-9BD4-24F3-BC33-DD1CA4926C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CFABB74-8B08-B3E4-E3FF-405B5A804F0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768076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8E5D3BB-280E-F770-9958-7B688FC873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6CE28F-1534-871A-9628-A954D34C7C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We’ve successfully predicted our new position, but our uncertainty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has grown.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Now, our sensor (e.g., LiDAR) provides a new measurement (</a:t>
                </a:r>
                <a14:m>
                  <m:oMath xmlns:m="http://schemas.openxmlformats.org/officeDocument/2006/math">
                    <m:r>
                      <a:rPr lang="en-US" sz="2300" i="1" dirty="0" smtClean="0">
                        <a:latin typeface="Cambria Math" panose="02040503050406030204" pitchFamily="18" charset="0"/>
                        <a:ea typeface="Arial"/>
                        <a:cs typeface="Arial"/>
                        <a:sym typeface="Arial"/>
                      </a:rPr>
                      <m:t>𝑧</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two imperfect guesses for our position: our prediction and our sensor. How do we fuse them? Think of a </a:t>
                </a:r>
                <a:r>
                  <a:rPr lang="en-US" sz="2300" b="1" dirty="0">
                    <a:latin typeface="Atkinson Hyperlegible Next"/>
                    <a:ea typeface="Arial"/>
                    <a:cs typeface="Arial"/>
                    <a:sym typeface="Arial"/>
                  </a:rPr>
                  <a:t>Weighted Average</a:t>
                </a:r>
                <a:r>
                  <a:rPr lang="en-US" sz="2300" dirty="0">
                    <a:latin typeface="Atkinson Hyperlegible Next"/>
                    <a:ea typeface="Arial"/>
                    <a:cs typeface="Arial"/>
                    <a:sym typeface="Arial"/>
                  </a:rPr>
                  <a:t>. If you and an expert both guess the weight of a robot, you don't just average the two numbers.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give more weight to the expert.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𝐸𝑠𝑡𝑖𝑚𝑎𝑡𝑒</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𝑚𝑜𝑑𝑒𝑙</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𝑃𝑟𝑒𝑑𝑖𝑐𝑡𝑖𝑜𝑛</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𝑠𝑒𝑛𝑠𝑜𝑟</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𝑀𝑒𝑎𝑠𝑢𝑟𝑒𝑚𝑒𝑛𝑡</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B6CE28F-1534-871A-9628-A954D34C7C6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F487B5-ACFA-2081-4072-44F50F0AE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1BD0F7-D1DE-D5FA-9091-EDC8632AD6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71D5E-C47B-9363-5497-9891AB08EB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2867A2-B064-5FA8-1DA4-A1DF25F1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B94D61-43CD-18B1-64CF-67BD449C64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2AD41B-5803-CB75-1F76-8283E0AB19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6398C4-4C01-C859-9ABE-D55A66CCAD0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9644D6-A071-4A41-1301-00473DDBA7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6959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CCF289-5619-5F94-9267-60F71C15792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20CE7A-FBDA-B270-0701-E76646C666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Again, for 1D the equation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𝑛𝑒𝑤</m:t>
                          </m:r>
                        </m:sub>
                      </m:sSub>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𝐾</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𝑧</m:t>
                          </m:r>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Where we have: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sensor is perfect (</a:t>
                </a: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r>
                      <a:rPr lang="en-US" sz="2300" i="1" dirty="0" smtClean="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what does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become, and what happens to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 = 1</m:t>
                    </m:r>
                  </m:oMath>
                </a14:m>
                <a:r>
                  <a:rPr lang="en-US" sz="2300" dirty="0">
                    <a:latin typeface="Atkinson Hyperlegible Next"/>
                    <a:ea typeface="Arial"/>
                    <a:cs typeface="Arial"/>
                    <a:sym typeface="Arial"/>
                  </a:rPr>
                  <a:t>, and our new estimate exactly equals the sensor measurement!</a:t>
                </a:r>
              </a:p>
            </p:txBody>
          </p:sp>
        </mc:Choice>
        <mc:Fallback xmlns="">
          <p:sp>
            <p:nvSpPr>
              <p:cNvPr id="118" name="Google Shape;118;p29">
                <a:extLst>
                  <a:ext uri="{FF2B5EF4-FFF2-40B4-BE49-F238E27FC236}">
                    <a16:creationId xmlns:a16="http://schemas.microsoft.com/office/drawing/2014/main" id="{F520CE7A-FBDA-B270-0701-E76646C666B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2680AE-216B-F2BA-858E-EA32CED86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2B6C4B7-F2A7-DAD7-D393-31C9AA508E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2F565-EDB0-C0C5-7B83-F7C9CC29284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498C3F-0345-1C93-698C-C0311EB358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E8957EB-82E7-1FAF-ACF2-AA1F04AC8E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DF4B4-0E9D-A741-1565-B15D3C01EA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011B75-845E-2439-2097-C8609147C5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D0338C-3C11-3999-5C0E-C5B8BF200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7190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E9685C-4611-C60F-AC9E-8760C83A0A2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EFBB5F-57AB-A192-1EAE-CE29B1EA9D8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1D, state and measurement were both just position along a track. In 2D/3D, our state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But our LiDAR might just measure the </a:t>
                </a:r>
                <a:r>
                  <a:rPr lang="en-US" sz="2300" b="1" dirty="0">
                    <a:latin typeface="Atkinson Hyperlegible Next"/>
                    <a:ea typeface="Arial"/>
                    <a:cs typeface="Arial"/>
                    <a:sym typeface="Arial"/>
                  </a:rPr>
                  <a:t>straight-line distance </a:t>
                </a:r>
                <a:r>
                  <a:rPr lang="en-US" sz="2300" dirty="0">
                    <a:latin typeface="Atkinson Hyperlegible Next"/>
                    <a:ea typeface="Arial"/>
                    <a:cs typeface="Arial"/>
                    <a:sym typeface="Arial"/>
                  </a:rPr>
                  <a:t>to a wall.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cannot subtract a state vector from a distance measurement! They speak different languages!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introduce the </a:t>
                </a:r>
                <a:r>
                  <a:rPr lang="en-US" sz="2300" b="1" dirty="0">
                    <a:latin typeface="Atkinson Hyperlegible Next"/>
                    <a:ea typeface="Arial"/>
                    <a:cs typeface="Arial"/>
                    <a:sym typeface="Arial"/>
                  </a:rPr>
                  <a:t>Observation Matrix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which translates our internal state into the format of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Expected Measurement = </a:t>
                </a:r>
                <a14:m>
                  <m:oMath xmlns:m="http://schemas.openxmlformats.org/officeDocument/2006/math">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𝑝𝑟𝑒𝑑</m:t>
                        </m:r>
                      </m:sub>
                    </m:sSub>
                  </m:oMath>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5EFBB5F-57AB-A192-1EAE-CE29B1EA9D8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242EC9-ADA2-F29A-E08C-D68DC3E9B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F55EE-03DE-195E-716D-A63E94C422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DEF6CE-160F-DB0B-4CC0-BAFCA11BFF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E61BB-6C9D-4637-7989-C0789ED69E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C8B5ED-B33D-55CA-C835-2249208C83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970939-F86A-3EAD-B9ED-D11E21AFF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C12B160-17F1-B58A-5D9C-006AED511E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5D22F1-2485-C6CC-7422-AE7646EAB5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7984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C1FBAD-4841-66AC-EF9F-1DAB92B2B3B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AEF29A-0173-85FA-43D0-7CCF1CC9E70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𝑝𝑟𝑒𝑑</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covariance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measurement noise </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we must map </a:t>
                </a:r>
                <a14:m>
                  <m:oMath xmlns:m="http://schemas.openxmlformats.org/officeDocument/2006/math">
                    <m:r>
                      <a:rPr lang="en-US" sz="2300" i="1" dirty="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into sensor space using </a:t>
                </a:r>
                <a14:m>
                  <m:oMath xmlns:m="http://schemas.openxmlformats.org/officeDocument/2006/math">
                    <m:r>
                      <m:rPr>
                        <m:sty m:val="p"/>
                      </m:rPr>
                      <a:rPr lang="en-US" sz="2300" b="0" i="1" smtClean="0">
                        <a:latin typeface="Cambria Math" panose="02040503050406030204" pitchFamily="18" charset="0"/>
                        <a:ea typeface="Arial"/>
                        <a:cs typeface="Arial"/>
                        <a:sym typeface="Arial"/>
                      </a:rPr>
                      <m:t>H</m:t>
                    </m:r>
                  </m:oMath>
                </a14:m>
                <a:r>
                  <a:rPr lang="en-US" sz="2300" dirty="0">
                    <a:latin typeface="Atkinson Hyperlegible Next"/>
                    <a:ea typeface="Arial"/>
                    <a:cs typeface="Arial"/>
                    <a:sym typeface="Arial"/>
                  </a:rPr>
                  <a:t>. Just like </a:t>
                </a:r>
                <a14:m>
                  <m:oMath xmlns:m="http://schemas.openxmlformats.org/officeDocument/2006/math">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motion, we use </a:t>
                </a:r>
                <a14:m>
                  <m:oMath xmlns:m="http://schemas.openxmlformats.org/officeDocument/2006/math">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sensors!</a:t>
                </a:r>
              </a:p>
            </p:txBody>
          </p:sp>
        </mc:Choice>
        <mc:Fallback xmlns="">
          <p:sp>
            <p:nvSpPr>
              <p:cNvPr id="118" name="Google Shape;118;p29">
                <a:extLst>
                  <a:ext uri="{FF2B5EF4-FFF2-40B4-BE49-F238E27FC236}">
                    <a16:creationId xmlns:a16="http://schemas.microsoft.com/office/drawing/2014/main" id="{04AEF29A-0173-85FA-43D0-7CCF1CC9E70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00167D7-B8C4-BE72-FFE2-CAC26A12EB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F2F602-B691-FE4D-AEA5-F4029CCB39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68D8F5-0A0A-A074-6E72-9DF12F416E2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78006B-3A18-27D9-C1D2-A3F031854E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72ED4-E921-7296-A93B-D2BADDE90D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64F5F9-B724-BD41-3781-6A8C4A3A53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440-2358-6699-44ED-CEFD04F28C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D446F8-7EB1-370D-F217-828A5080A2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91549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BA1ED8-BA63-C08C-B272-85C534B9EB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B3A9FBB-BEE9-F182-E2F9-CCABE6615F6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numerator is the prediction covariance mapped to the sensor. The denominator is the total system noise.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we can't divide matrices, we multiply by the inverse: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B3A9FBB-BEE9-F182-E2F9-CCABE6615F6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DF0E94B-AEB8-7E61-AEAA-B696F3C0B3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9B3820-9599-69BE-FA22-BA7C69AA40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C2B5E4-D5A9-CFE1-D9BA-A862308DEF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286E2A-B36C-0DF6-ECEC-66AC57A70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1E93BC-63C4-08BA-B6E3-BDD9A7F1CAA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56FEBB-B8BB-7A06-FF1E-0C75C01020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90F9F5-1681-1D5D-B1CB-14DDEADE7D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AEEAF82-F476-D665-A055-B3165A5A2E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398036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56B897-DEC8-2B26-D22B-BC7438008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ABA63D-676D-DB15-AA7C-008A0C1EA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27FA70-6F56-3C23-FD71-9F7EAC07C1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43CD4C-B581-B87E-3035-36A4C64BB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05AF36-36A8-3B2C-CD6D-4516197DBD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4A988B-12EB-43B5-78FD-3A43F1BD0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3B84B7-9D80-F8D9-B84B-CD1B62AF15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331E9F-9559-044D-1389-295DEE88CF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646723-2410-5FB4-D47D-69413E6496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Update (Transforming the Measurement),&quot; position X versus position Y. A large pink prediction uncertainty ellipse, tilted up and to the right, is centered near (8.2, 5). A smaller filled orange ellipse, the effective sensor belief at H inverse z sub k with covariance P sub meas, is centered near (12, 8) and only partly overlaps it. A gray line between the two centers is the residual, z sub k minus H x sub pred. The innovation covariance is S equals H P sub pred H transpose plus R.">
            <a:extLst>
              <a:ext uri="{FF2B5EF4-FFF2-40B4-BE49-F238E27FC236}">
                <a16:creationId xmlns:a16="http://schemas.microsoft.com/office/drawing/2014/main" id="{C258B433-0AD9-AB4A-4E5E-7067A7B3F22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4599757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E040A-7D15-0295-5020-984F534947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F8E9F1B-F383-AE66-5A2F-1AF8F2A08A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apply our matrix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to update the multi-dimensional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1D equation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𝑧</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e>
                    </m:d>
                  </m:oMath>
                </a14:m>
                <a:r>
                  <a:rPr lang="en-US" sz="2300" dirty="0">
                    <a:latin typeface="Atkinson Hyperlegible Next"/>
                    <a:ea typeface="Arial"/>
                    <a:cs typeface="Arial"/>
                    <a:sym typeface="Arial"/>
                  </a:rPr>
                  <a:t> becomes: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Finally, we update the uncertainty ellipse. We pull the information from the sensor out of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is the Identity Matrix, the matrix equivalent of the number 1). </a:t>
                </a:r>
              </a:p>
              <a:p>
                <a:pPr marL="0" indent="0">
                  <a:lnSpc>
                    <a:spcPct val="100000"/>
                  </a:lnSpc>
                  <a:spcBef>
                    <a:spcPts val="0"/>
                  </a:spcBef>
                  <a:buSzPts val="3000"/>
                  <a:buNone/>
                </a:pPr>
                <a:r>
                  <a:rPr lang="en-US" sz="2300" dirty="0">
                    <a:latin typeface="Atkinson Hyperlegible Next"/>
                    <a:ea typeface="Arial"/>
                    <a:cs typeface="Arial"/>
                    <a:sym typeface="Arial"/>
                  </a:rPr>
                  <a:t>And we are done!</a:t>
                </a:r>
              </a:p>
            </p:txBody>
          </p:sp>
        </mc:Choice>
        <mc:Fallback xmlns="">
          <p:sp>
            <p:nvSpPr>
              <p:cNvPr id="118" name="Google Shape;118;p29">
                <a:extLst>
                  <a:ext uri="{FF2B5EF4-FFF2-40B4-BE49-F238E27FC236}">
                    <a16:creationId xmlns:a16="http://schemas.microsoft.com/office/drawing/2014/main" id="{BF8E9F1B-F383-AE66-5A2F-1AF8F2A08A7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418" b="-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2C050A-4674-A80C-CC95-7CE77F0909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D5CA6-CA4D-A84D-ED61-130637CF4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9A78A4-A45F-3D36-4377-BE970A379B7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10EFEE-D783-E85C-4DC4-5E1167B7EF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3C1F41-E88C-E5CB-639F-059937163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DD394-78A6-3A04-CBCE-76E0ABCCF2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2A098B-EE22-DED9-1CC0-C114DC3C76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7187A0-05F2-DBA7-3A1B-5C00F76FAB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750896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DA9AB8-2BF0-674C-F21B-898EF7236A1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DA2ECFB-738A-C93D-F220-341A0A7E9B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C1EAAF-3AEA-F8C1-E89E-B529C8A2BB7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0A8007-CC4B-657F-97AA-BF012427A8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6FB9A-6A10-591B-6DF0-A4A6DE3222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7D0EE-E257-5840-A668-915D9DC729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79E7C1-E117-598F-ECC7-320DFA5582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CD6CD-D61E-68BB-B4C2-E94CF9B2EB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13CDB3-FCBD-033C-7FA6-2C81ADF00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a Kalman filter update in X–Y position. A large tilted pink prediction ellipse, centered near (8, 5), overlaps a smaller orange measurement ellipse near (12, 8). A green arrow labeled K times the innovation moves the estimate from the prediction center to a small filled green fused estimate near (11, 7.6), mostly inside the measurement ellipse. Annotations: Kalman gain K[0,0] equals 0.72; K equals P sub pred H transpose S inverse; P sub k equals (I minus K H) P sub pred.">
            <a:extLst>
              <a:ext uri="{FF2B5EF4-FFF2-40B4-BE49-F238E27FC236}">
                <a16:creationId xmlns:a16="http://schemas.microsoft.com/office/drawing/2014/main" id="{B7BD1292-1381-74C9-7D60-929C34529F9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9751256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A12F04-D8EB-C94D-12CD-8C30B11F5C7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8ECBD5-53EF-A828-F0F0-CA33C40422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But what does </a:t>
                </a:r>
                <a14:m>
                  <m:oMath xmlns:m="http://schemas.openxmlformats.org/officeDocument/2006/math">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oMath>
                </a14:m>
                <a:r>
                  <a:rPr lang="en-US" sz="2300" dirty="0">
                    <a:latin typeface="Atkinson Hyperlegible Next"/>
                    <a:ea typeface="Arial"/>
                    <a:cs typeface="Arial"/>
                    <a:sym typeface="Arial"/>
                  </a:rPr>
                  <a:t> mean physically?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Think of the Identity Matrix (</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as the number 1, representing 100% of our previous uncertainty (</a:t>
                </a:r>
                <a14:m>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maps our state to the sensor. </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is how much we trust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Therefore, </a:t>
                </a:r>
                <a14:m>
                  <m:oMath xmlns:m="http://schemas.openxmlformats.org/officeDocument/2006/math">
                    <m:r>
                      <a:rPr lang="en-US" sz="2300" i="1" dirty="0" smtClean="0">
                        <a:latin typeface="Cambria Math" panose="02040503050406030204" pitchFamily="18" charset="0"/>
                        <a:ea typeface="Arial"/>
                        <a:cs typeface="Arial"/>
                        <a:sym typeface="Arial"/>
                      </a:rPr>
                      <m:t>𝐾𝐻</m:t>
                    </m:r>
                  </m:oMath>
                </a14:m>
                <a:r>
                  <a:rPr lang="en-US" sz="2300" dirty="0">
                    <a:latin typeface="Atkinson Hyperlegible Next"/>
                    <a:ea typeface="Arial"/>
                    <a:cs typeface="Arial"/>
                    <a:sym typeface="Arial"/>
                  </a:rPr>
                  <a:t> is the </a:t>
                </a:r>
                <a:r>
                  <a:rPr lang="en-US" sz="2300" b="1" dirty="0">
                    <a:latin typeface="Atkinson Hyperlegible Next"/>
                    <a:ea typeface="Arial"/>
                    <a:cs typeface="Arial"/>
                    <a:sym typeface="Arial"/>
                  </a:rPr>
                  <a:t>percentage of uncertainty the sensor measurement removes</a:t>
                </a:r>
                <a:r>
                  <a:rPr lang="en-US" sz="2300" dirty="0">
                    <a:latin typeface="Atkinson Hyperlegible Next"/>
                    <a:ea typeface="Arial"/>
                    <a:cs typeface="Arial"/>
                    <a:sym typeface="Arial"/>
                  </a:rPr>
                  <a:t>. </a:t>
                </a:r>
              </a:p>
              <a:p>
                <a:pPr marL="0" indent="0">
                  <a:lnSpc>
                    <a:spcPct val="100000"/>
                  </a:lnSpc>
                  <a:spcBef>
                    <a:spcPts val="0"/>
                  </a:spcBef>
                  <a:buSzPts val="3000"/>
                  <a:buNone/>
                </a:pPr>
                <a:r>
                  <a:rPr lang="en-US" sz="2300" dirty="0">
                    <a:latin typeface="Atkinson Hyperlegible Next"/>
                    <a:ea typeface="Arial"/>
                    <a:cs typeface="Arial"/>
                    <a:sym typeface="Arial"/>
                  </a:rPr>
                  <a:t>If the sensor is completely useless (pure noise, K=0), what does the equation become? </a:t>
                </a:r>
              </a:p>
              <a:p>
                <a:pPr marL="0" indent="0" algn="ctr">
                  <a:lnSpc>
                    <a:spcPct val="100000"/>
                  </a:lnSpc>
                  <a:spcBef>
                    <a:spcPts val="0"/>
                  </a:spcBef>
                  <a:buSzPts val="3000"/>
                  <a:buNone/>
                </a:pPr>
                <a14:m>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𝑛𝑒𝑤</m:t>
                        </m:r>
                      </m:sub>
                    </m:sSub>
                    <m:r>
                      <a:rPr lang="en-US" sz="2300" i="1" smtClean="0">
                        <a:latin typeface="Cambria Math" panose="02040503050406030204" pitchFamily="18" charset="0"/>
                        <a:cs typeface="Arial"/>
                        <a:sym typeface="Arial"/>
                      </a:rPr>
                      <m:t>=</m:t>
                    </m:r>
                    <m:d>
                      <m:dPr>
                        <m:ctrlPr>
                          <a:rPr lang="en-US" sz="2300" i="1" smtClean="0">
                            <a:latin typeface="Cambria Math" panose="02040503050406030204" pitchFamily="18" charset="0"/>
                            <a:cs typeface="Arial"/>
                            <a:sym typeface="Arial"/>
                          </a:rPr>
                        </m:ctrlPr>
                      </m:dPr>
                      <m:e>
                        <m:r>
                          <a:rPr lang="en-US" sz="2300" i="1" smtClean="0">
                            <a:latin typeface="Cambria Math" panose="02040503050406030204" pitchFamily="18" charset="0"/>
                            <a:cs typeface="Arial"/>
                            <a:sym typeface="Arial"/>
                          </a:rPr>
                          <m:t>𝐼</m:t>
                        </m:r>
                        <m:r>
                          <a:rPr lang="en-US" sz="2300" i="1" smtClean="0">
                            <a:latin typeface="Cambria Math" panose="02040503050406030204" pitchFamily="18" charset="0"/>
                            <a:cs typeface="Arial"/>
                            <a:sym typeface="Arial"/>
                          </a:rPr>
                          <m:t>−0</m:t>
                        </m:r>
                      </m:e>
                    </m:d>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r>
                      <a:rPr lang="en-US" sz="2300" i="1" smtClean="0">
                        <a:latin typeface="Cambria Math" panose="02040503050406030204" pitchFamily="18" charset="0"/>
                        <a:cs typeface="Arial"/>
                        <a:sym typeface="Arial"/>
                      </a:rPr>
                      <m:t>=</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oMath>
                </a14:m>
                <a:r>
                  <a:rPr lang="en-US" sz="2300" dirty="0">
                    <a:latin typeface="Atkinson Hyperlegible Next"/>
                    <a:ea typeface="Arial"/>
                    <a:cs typeface="Arial"/>
                    <a:sym typeface="Arial"/>
                  </a:rPr>
                  <a:t>. Our uncertainty doesn't shrink at all!</a:t>
                </a:r>
              </a:p>
            </p:txBody>
          </p:sp>
        </mc:Choice>
        <mc:Fallback xmlns="">
          <p:sp>
            <p:nvSpPr>
              <p:cNvPr id="118" name="Google Shape;118;p29">
                <a:extLst>
                  <a:ext uri="{FF2B5EF4-FFF2-40B4-BE49-F238E27FC236}">
                    <a16:creationId xmlns:a16="http://schemas.microsoft.com/office/drawing/2014/main" id="{508ECBD5-53EF-A828-F0F0-CA33C404223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56D4FED-072D-4925-AC4B-3C1812474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0C6C0C-18F7-78C5-2CEC-D622CFBBA9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3F8A6-DB58-B672-DA65-2CC05B3C19D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323EB-2B7C-BD05-FF2D-60A6FF7E05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6ED305-2F67-8665-AF87-2AAA7DA23B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5B91-31B3-8134-935D-7427F25A6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68C02C-2AD8-B340-E1E2-C2A6F2C01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28E4CF7-203E-95BA-5314-4A7B9D184F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4893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DFC41-D516-7E94-017E-B667648C55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386CD8-0E24-AA79-BDA9-C20184EBA8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Prediction:</a:t>
                </a: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Prediction (Where do we think we are?):</a:t>
                </a:r>
                <a:endParaRPr lang="en-US" sz="230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𝐵</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𝑢</m:t>
                          </m:r>
                        </m:e>
                        <m:sub>
                          <m:r>
                            <a:rPr lang="en-US" sz="2300" i="1" smtClean="0">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Prediction (How uncertain are we getting?):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sSup>
                        <m:sSupPr>
                          <m:ctrlPr>
                            <a:rPr lang="en-US" sz="2300" i="1" smtClean="0">
                              <a:latin typeface="Cambria Math" panose="02040503050406030204" pitchFamily="18" charset="0"/>
                              <a:cs typeface="Arial"/>
                              <a:sym typeface="Arial"/>
                            </a:rPr>
                          </m:ctrlPr>
                        </m:sSupPr>
                        <m:e>
                          <m:r>
                            <a:rPr lang="en-US" sz="2300" i="1" smtClean="0">
                              <a:latin typeface="Cambria Math" panose="02040503050406030204" pitchFamily="18" charset="0"/>
                              <a:cs typeface="Arial"/>
                              <a:sym typeface="Arial"/>
                            </a:rPr>
                            <m:t>𝐹</m:t>
                          </m:r>
                        </m:e>
                        <m:sup>
                          <m:r>
                            <a:rPr lang="en-US" sz="2300" i="1" smtClean="0">
                              <a:latin typeface="Cambria Math" panose="02040503050406030204" pitchFamily="18" charset="0"/>
                              <a:cs typeface="Arial"/>
                              <a:sym typeface="Arial"/>
                            </a:rPr>
                            <m:t>𝑇</m:t>
                          </m:r>
                        </m:sup>
                      </m:sSup>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The Kalman Gain (Who do we trust more?):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Update (Correcting our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Update (Shrinking our uncertainty):</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386CD8-0E24-AA79-BDA9-C20184EBA85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65CE801-BAB7-A218-9AB6-AC59568D41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9875A-EDAF-C7F8-E0FB-D9FE2CC5B0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3636CA-143C-A6E6-E065-7B439B068A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ACB31D-AB74-231E-C81B-B6C2E9D36F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655265-183E-41C1-028A-00677A217C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5225A8-6CA1-D221-A30C-DB94FDE827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B6ACB1-ACDF-5EE4-9493-248A6C3655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67D41D-248D-DEC3-4302-4CAC0F980F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19897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8AEEAF-DD7F-FDD5-F0A4-0106A263232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200EB2-CF9A-5D3D-3146-58E18650A7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5A6397-DEBB-BF1E-DDC8-281F16FF50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DF86A-2C63-3430-D379-93D523263E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555416-5570-4699-D86F-D3F14E2D8D3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E6F546-5ED5-8698-1C6B-1122009AA1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BB8AD6-9E40-2413-A4B9-AD895C60BC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2A915F-BEF3-EE49-DD69-BC8012DE2F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FE8DEB-BF5E-2B33-F489-DFB3CB80C0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0">
                    <a:tc>
                      <a:txBody>
                        <a:bodyPr/>
                        <a:lstStyle/>
                        <a:p>
                          <a:r>
                            <a:rPr lang="en-US" b="1" dirty="0"/>
                            <a:t>State</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𝜇</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𝑥</m:t>
                                </m:r>
                              </m:oMath>
                            </m:oMathPara>
                          </a14:m>
                          <a:endParaRPr lang="en-US" dirty="0"/>
                        </a:p>
                      </a:txBody>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0">
                    <a:tc>
                      <a:txBody>
                        <a:bodyPr/>
                        <a:lstStyle/>
                        <a:p>
                          <a:r>
                            <a:rPr lang="en-US" b="1" dirty="0"/>
                            <a:t>Uncertainty</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oMath>
                            </m:oMathPara>
                          </a14:m>
                          <a:endParaRPr lang="en-US" dirty="0"/>
                        </a:p>
                      </a:txBody>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0">
                    <a:tc>
                      <a:txBody>
                        <a:bodyPr/>
                        <a:lstStyle/>
                        <a:p>
                          <a:r>
                            <a:rPr lang="en-US" b="1" dirty="0"/>
                            <a:t>Physics Model</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𝑎</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𝐹</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0">
                    <a:tc>
                      <a:txBody>
                        <a:bodyPr/>
                        <a:lstStyle/>
                        <a:p>
                          <a:r>
                            <a:rPr lang="en-US" b="1" dirty="0"/>
                            <a:t>Process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𝑚𝑜𝑣𝑒</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𝑄</m:t>
                                </m:r>
                              </m:oMath>
                            </m:oMathPara>
                          </a14:m>
                          <a:endParaRPr lang="en-US" dirty="0"/>
                        </a:p>
                      </a:txBody>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0">
                    <a:tc>
                      <a:txBody>
                        <a:bodyPr/>
                        <a:lstStyle/>
                        <a:p>
                          <a:r>
                            <a:rPr lang="en-US" b="1" dirty="0"/>
                            <a:t>Sensor Model</a:t>
                          </a:r>
                        </a:p>
                      </a:txBody>
                      <a:tcPr/>
                    </a:tc>
                    <a:tc>
                      <a:txBody>
                        <a:bodyPr/>
                        <a:lstStyle/>
                        <a:p>
                          <a:pPr algn="ctr"/>
                          <a:r>
                            <a:rPr lang="en-US" dirty="0"/>
                            <a:t>1 (direct)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𝐻</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0">
                    <a:tc>
                      <a:txBody>
                        <a:bodyPr/>
                        <a:lstStyle/>
                        <a:p>
                          <a:r>
                            <a:rPr lang="en-US" b="1" dirty="0"/>
                            <a:t>Sensor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m:t>
                                </m:r>
                              </m:oMath>
                            </m:oMathPara>
                          </a14:m>
                          <a:endParaRPr lang="en-US" dirty="0"/>
                        </a:p>
                      </a:txBody>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0">
                    <a:tc>
                      <a:txBody>
                        <a:bodyPr/>
                        <a:lstStyle/>
                        <a:p>
                          <a:r>
                            <a:rPr lang="en-US" b="1" dirty="0"/>
                            <a:t>Measurement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0">
                    <a:tc>
                      <a:txBody>
                        <a:bodyPr/>
                        <a:lstStyle/>
                        <a:p>
                          <a:r>
                            <a:rPr lang="en-US" b="1" dirty="0"/>
                            <a:t>Kalman Gain</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num>
                                  <m:den>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den>
                                </m:f>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r>
                                  <a:rPr lang="en-US" i="1" smtClean="0">
                                    <a:latin typeface="Cambria Math" panose="02040503050406030204" pitchFamily="18" charset="0"/>
                                  </a:rPr>
                                  <m:t>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𝐻𝑃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r>
                                          <a:rPr lang="en-US" i="1">
                                            <a:latin typeface="Cambria Math" panose="02040503050406030204" pitchFamily="18" charset="0"/>
                                          </a:rPr>
                                          <m:t>+</m:t>
                                        </m:r>
                                        <m:r>
                                          <a:rPr lang="en-US" i="1">
                                            <a:latin typeface="Cambria Math" panose="02040503050406030204" pitchFamily="18" charset="0"/>
                                          </a:rPr>
                                          <m:t>𝑅</m:t>
                                        </m:r>
                                      </m:e>
                                    </m:d>
                                  </m:e>
                                  <m:sup>
                                    <m:r>
                                      <a:rPr lang="en-US" i="1">
                                        <a:latin typeface="Cambria Math" panose="02040503050406030204" pitchFamily="18" charset="0"/>
                                      </a:rPr>
                                      <m:t>−1</m:t>
                                    </m:r>
                                  </m:sup>
                                </m:sSup>
                              </m:oMath>
                            </m:oMathPara>
                          </a14:m>
                          <a:endParaRPr lang="en-US" dirty="0"/>
                        </a:p>
                      </a:txBody>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Choice>
        <mc:Fallback xmlns="">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304800">
                    <a:tc>
                      <a:txBody>
                        <a:bodyPr/>
                        <a:lstStyle/>
                        <a:p>
                          <a:r>
                            <a:rPr lang="en-US" b="1" dirty="0"/>
                            <a:t>State</a:t>
                          </a:r>
                        </a:p>
                      </a:txBody>
                      <a:tcPr/>
                    </a:tc>
                    <a:tc>
                      <a:txBody>
                        <a:bodyPr/>
                        <a:lstStyle/>
                        <a:p>
                          <a:endParaRPr lang="en-US"/>
                        </a:p>
                      </a:txBody>
                      <a:tcPr>
                        <a:blipFill>
                          <a:blip r:embed="rId4"/>
                          <a:stretch>
                            <a:fillRect l="-73547" t="-122000" r="-387791" b="-808000"/>
                          </a:stretch>
                        </a:blipFill>
                      </a:tcPr>
                    </a:tc>
                    <a:tc>
                      <a:txBody>
                        <a:bodyPr/>
                        <a:lstStyle/>
                        <a:p>
                          <a:endParaRPr lang="en-US"/>
                        </a:p>
                      </a:txBody>
                      <a:tcPr>
                        <a:blipFill>
                          <a:blip r:embed="rId4"/>
                          <a:stretch>
                            <a:fillRect l="-173547" t="-122000" r="-287791" b="-808000"/>
                          </a:stretch>
                        </a:blipFill>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304800">
                    <a:tc>
                      <a:txBody>
                        <a:bodyPr/>
                        <a:lstStyle/>
                        <a:p>
                          <a:r>
                            <a:rPr lang="en-US" b="1" dirty="0"/>
                            <a:t>Uncertainty</a:t>
                          </a:r>
                        </a:p>
                      </a:txBody>
                      <a:tcPr/>
                    </a:tc>
                    <a:tc>
                      <a:txBody>
                        <a:bodyPr/>
                        <a:lstStyle/>
                        <a:p>
                          <a:endParaRPr lang="en-US"/>
                        </a:p>
                      </a:txBody>
                      <a:tcPr>
                        <a:blipFill>
                          <a:blip r:embed="rId4"/>
                          <a:stretch>
                            <a:fillRect l="-73547" t="-222000" r="-387791" b="-708000"/>
                          </a:stretch>
                        </a:blipFill>
                      </a:tcPr>
                    </a:tc>
                    <a:tc>
                      <a:txBody>
                        <a:bodyPr/>
                        <a:lstStyle/>
                        <a:p>
                          <a:endParaRPr lang="en-US"/>
                        </a:p>
                      </a:txBody>
                      <a:tcPr>
                        <a:blipFill>
                          <a:blip r:embed="rId4"/>
                          <a:stretch>
                            <a:fillRect l="-173547" t="-222000" r="-287791" b="-708000"/>
                          </a:stretch>
                        </a:blipFill>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304800">
                    <a:tc>
                      <a:txBody>
                        <a:bodyPr/>
                        <a:lstStyle/>
                        <a:p>
                          <a:r>
                            <a:rPr lang="en-US" b="1" dirty="0"/>
                            <a:t>Physics Model</a:t>
                          </a:r>
                        </a:p>
                      </a:txBody>
                      <a:tcPr/>
                    </a:tc>
                    <a:tc>
                      <a:txBody>
                        <a:bodyPr/>
                        <a:lstStyle/>
                        <a:p>
                          <a:endParaRPr lang="en-US"/>
                        </a:p>
                      </a:txBody>
                      <a:tcPr>
                        <a:blipFill>
                          <a:blip r:embed="rId4"/>
                          <a:stretch>
                            <a:fillRect l="-73547" t="-315686" r="-387791" b="-594118"/>
                          </a:stretch>
                        </a:blipFill>
                      </a:tcPr>
                    </a:tc>
                    <a:tc>
                      <a:txBody>
                        <a:bodyPr/>
                        <a:lstStyle/>
                        <a:p>
                          <a:endParaRPr lang="en-US"/>
                        </a:p>
                      </a:txBody>
                      <a:tcPr>
                        <a:blipFill>
                          <a:blip r:embed="rId4"/>
                          <a:stretch>
                            <a:fillRect l="-173547" t="-315686" r="-287791" b="-594118"/>
                          </a:stretch>
                        </a:blipFill>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304800">
                    <a:tc>
                      <a:txBody>
                        <a:bodyPr/>
                        <a:lstStyle/>
                        <a:p>
                          <a:r>
                            <a:rPr lang="en-US" b="1" dirty="0"/>
                            <a:t>Process Noise</a:t>
                          </a:r>
                        </a:p>
                      </a:txBody>
                      <a:tcPr/>
                    </a:tc>
                    <a:tc>
                      <a:txBody>
                        <a:bodyPr/>
                        <a:lstStyle/>
                        <a:p>
                          <a:endParaRPr lang="en-US"/>
                        </a:p>
                      </a:txBody>
                      <a:tcPr>
                        <a:blipFill>
                          <a:blip r:embed="rId4"/>
                          <a:stretch>
                            <a:fillRect l="-73547" t="-424000" r="-387791" b="-506000"/>
                          </a:stretch>
                        </a:blipFill>
                      </a:tcPr>
                    </a:tc>
                    <a:tc>
                      <a:txBody>
                        <a:bodyPr/>
                        <a:lstStyle/>
                        <a:p>
                          <a:endParaRPr lang="en-US"/>
                        </a:p>
                      </a:txBody>
                      <a:tcPr>
                        <a:blipFill>
                          <a:blip r:embed="rId4"/>
                          <a:stretch>
                            <a:fillRect l="-173547" t="-424000" r="-287791" b="-506000"/>
                          </a:stretch>
                        </a:blipFill>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304800">
                    <a:tc>
                      <a:txBody>
                        <a:bodyPr/>
                        <a:lstStyle/>
                        <a:p>
                          <a:r>
                            <a:rPr lang="en-US" b="1" dirty="0"/>
                            <a:t>Sensor Model</a:t>
                          </a:r>
                        </a:p>
                      </a:txBody>
                      <a:tcPr/>
                    </a:tc>
                    <a:tc>
                      <a:txBody>
                        <a:bodyPr/>
                        <a:lstStyle/>
                        <a:p>
                          <a:pPr algn="ctr"/>
                          <a:r>
                            <a:rPr lang="en-US" dirty="0"/>
                            <a:t>1 (direct)</a:t>
                          </a:r>
                        </a:p>
                      </a:txBody>
                      <a:tcPr/>
                    </a:tc>
                    <a:tc>
                      <a:txBody>
                        <a:bodyPr/>
                        <a:lstStyle/>
                        <a:p>
                          <a:endParaRPr lang="en-US"/>
                        </a:p>
                      </a:txBody>
                      <a:tcPr>
                        <a:blipFill>
                          <a:blip r:embed="rId4"/>
                          <a:stretch>
                            <a:fillRect l="-173547" t="-524000" r="-287791" b="-406000"/>
                          </a:stretch>
                        </a:blipFill>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304800">
                    <a:tc>
                      <a:txBody>
                        <a:bodyPr/>
                        <a:lstStyle/>
                        <a:p>
                          <a:r>
                            <a:rPr lang="en-US" b="1" dirty="0"/>
                            <a:t>Sensor Noise</a:t>
                          </a:r>
                        </a:p>
                      </a:txBody>
                      <a:tcPr/>
                    </a:tc>
                    <a:tc>
                      <a:txBody>
                        <a:bodyPr/>
                        <a:lstStyle/>
                        <a:p>
                          <a:endParaRPr lang="en-US"/>
                        </a:p>
                      </a:txBody>
                      <a:tcPr>
                        <a:blipFill>
                          <a:blip r:embed="rId4"/>
                          <a:stretch>
                            <a:fillRect l="-73547" t="-624000" r="-387791" b="-306000"/>
                          </a:stretch>
                        </a:blipFill>
                      </a:tcPr>
                    </a:tc>
                    <a:tc>
                      <a:txBody>
                        <a:bodyPr/>
                        <a:lstStyle/>
                        <a:p>
                          <a:endParaRPr lang="en-US"/>
                        </a:p>
                      </a:txBody>
                      <a:tcPr>
                        <a:blipFill>
                          <a:blip r:embed="rId4"/>
                          <a:stretch>
                            <a:fillRect l="-173547" t="-624000" r="-287791" b="-306000"/>
                          </a:stretch>
                        </a:blipFill>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304800">
                    <a:tc>
                      <a:txBody>
                        <a:bodyPr/>
                        <a:lstStyle/>
                        <a:p>
                          <a:r>
                            <a:rPr lang="en-US" b="1" dirty="0"/>
                            <a:t>Measurement</a:t>
                          </a:r>
                        </a:p>
                      </a:txBody>
                      <a:tcPr/>
                    </a:tc>
                    <a:tc>
                      <a:txBody>
                        <a:bodyPr/>
                        <a:lstStyle/>
                        <a:p>
                          <a:endParaRPr lang="en-US"/>
                        </a:p>
                      </a:txBody>
                      <a:tcPr>
                        <a:blipFill>
                          <a:blip r:embed="rId4"/>
                          <a:stretch>
                            <a:fillRect l="-73547" t="-724000" r="-387791" b="-206000"/>
                          </a:stretch>
                        </a:blipFill>
                      </a:tcPr>
                    </a:tc>
                    <a:tc>
                      <a:txBody>
                        <a:bodyPr/>
                        <a:lstStyle/>
                        <a:p>
                          <a:endParaRPr lang="en-US"/>
                        </a:p>
                      </a:txBody>
                      <a:tcPr>
                        <a:blipFill>
                          <a:blip r:embed="rId4"/>
                          <a:stretch>
                            <a:fillRect l="-173547" t="-724000" r="-287791" b="-206000"/>
                          </a:stretch>
                        </a:blipFill>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613982">
                    <a:tc>
                      <a:txBody>
                        <a:bodyPr/>
                        <a:lstStyle/>
                        <a:p>
                          <a:r>
                            <a:rPr lang="en-US" b="1" dirty="0"/>
                            <a:t>Kalman Gain</a:t>
                          </a:r>
                        </a:p>
                      </a:txBody>
                      <a:tcPr/>
                    </a:tc>
                    <a:tc>
                      <a:txBody>
                        <a:bodyPr/>
                        <a:lstStyle/>
                        <a:p>
                          <a:endParaRPr lang="en-US"/>
                        </a:p>
                      </a:txBody>
                      <a:tcPr>
                        <a:blipFill>
                          <a:blip r:embed="rId4"/>
                          <a:stretch>
                            <a:fillRect l="-73547" t="-407921" r="-387791" b="-1980"/>
                          </a:stretch>
                        </a:blipFill>
                      </a:tcPr>
                    </a:tc>
                    <a:tc>
                      <a:txBody>
                        <a:bodyPr/>
                        <a:lstStyle/>
                        <a:p>
                          <a:endParaRPr lang="en-US"/>
                        </a:p>
                      </a:txBody>
                      <a:tcPr>
                        <a:blipFill>
                          <a:blip r:embed="rId4"/>
                          <a:stretch>
                            <a:fillRect l="-173547" t="-407921" r="-287791" b="-1980"/>
                          </a:stretch>
                        </a:blipFill>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Fallback>
      </mc:AlternateContent>
    </p:spTree>
    <p:extLst>
      <p:ext uri="{BB962C8B-B14F-4D97-AF65-F5344CB8AC3E}">
        <p14:creationId xmlns:p14="http://schemas.microsoft.com/office/powerpoint/2010/main" val="34553565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EC33857-135B-AB50-1507-C754507AF1C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9E72938-1689-2B23-6F6B-C2EFFC013ED8}"/>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5811111C-06D0-FA3E-B154-B6624BA11E0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Optional Derivations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75C67633-2500-6059-A049-8440CF6C8F5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F31AD-D16C-1367-54D3-146BC92BC174}"/>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D66021-C30A-9BEB-7B79-0F7694BCE8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3504242-8444-A1F8-CD2B-33DA99CD94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02150D2-E29E-9D3E-1E58-A383C8C449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FDF156-ACF3-B775-4C2E-F056166E02A1}"/>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575B9E0A-E1CC-680E-2909-520A88F91FB0}"/>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945E8F5-36CD-F223-41DA-6C55FEC2B3F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5095575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74AC9-436B-C113-2A75-EDD37E8BDF9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839B95-2A10-5AF8-A30A-45DB8791A3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derive the multi-dimensional math, we must define our ultimate goal: </a:t>
                </a:r>
                <a:r>
                  <a:rPr lang="en-US" sz="2300" b="1" dirty="0">
                    <a:latin typeface="Atkinson Hyperlegible Next"/>
                    <a:ea typeface="Arial"/>
                    <a:cs typeface="Arial"/>
                    <a:sym typeface="Arial"/>
                  </a:rPr>
                  <a:t>Minimizing Uncertainty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Mathematically, total uncertainty is the </a:t>
                </a:r>
                <a:r>
                  <a:rPr lang="en-US" sz="2300" b="1" dirty="0">
                    <a:latin typeface="Atkinson Hyperlegible Next"/>
                    <a:ea typeface="Arial"/>
                    <a:cs typeface="Arial"/>
                    <a:sym typeface="Arial"/>
                  </a:rPr>
                  <a:t>sum of the variances </a:t>
                </a:r>
                <a:r>
                  <a:rPr lang="en-US" sz="2300" dirty="0">
                    <a:latin typeface="Atkinson Hyperlegible Next"/>
                    <a:ea typeface="Arial"/>
                    <a:cs typeface="Arial"/>
                    <a:sym typeface="Arial"/>
                  </a:rPr>
                  <a:t>of our state variables (the </a:t>
                </a:r>
                <a:r>
                  <a:rPr lang="en-US" sz="2300" b="1" dirty="0">
                    <a:latin typeface="Atkinson Hyperlegible Next"/>
                    <a:ea typeface="Arial"/>
                    <a:cs typeface="Arial"/>
                    <a:sym typeface="Arial"/>
                  </a:rPr>
                  <a:t>diagonal elements of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sum of the diagonal elements of a matrix is called the </a:t>
                </a:r>
                <a:r>
                  <a:rPr lang="en-US" sz="2300" b="1" dirty="0">
                    <a:latin typeface="Atkinson Hyperlegible Next"/>
                    <a:ea typeface="Arial"/>
                    <a:cs typeface="Arial"/>
                    <a:sym typeface="Arial"/>
                  </a:rPr>
                  <a:t>Trace</a:t>
                </a:r>
                <a:r>
                  <a:rPr lang="en-US" sz="2300" dirty="0">
                    <a:latin typeface="Atkinson Hyperlegible Next"/>
                    <a:ea typeface="Arial"/>
                    <a:cs typeface="Arial"/>
                    <a:sym typeface="Arial"/>
                  </a:rPr>
                  <a:t>, written </a:t>
                </a:r>
                <a14:m>
                  <m:oMath xmlns:m="http://schemas.openxmlformats.org/officeDocument/2006/math">
                    <m:r>
                      <a:rPr lang="en-US" sz="2300" i="1" smtClean="0">
                        <a:latin typeface="Cambria Math" panose="02040503050406030204" pitchFamily="18" charset="0"/>
                        <a:cs typeface="Arial"/>
                        <a:sym typeface="Arial"/>
                      </a:rPr>
                      <m:t>𝑇𝑟</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𝑃</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Thus the objective is to find the Gain matrix, that forces the derive to achieve: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300" i="1" smtClean="0">
                              <a:latin typeface="Cambria Math" panose="02040503050406030204" pitchFamily="18" charset="0"/>
                              <a:cs typeface="Arial"/>
                              <a:sym typeface="Arial"/>
                            </a:rPr>
                          </m:ctrlPr>
                        </m:fPr>
                        <m:num>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𝑇𝑟</m:t>
                          </m:r>
                          <m:d>
                            <m:dPr>
                              <m:ctrlPr>
                                <a:rPr lang="en-US" sz="2300" i="1" smtClean="0">
                                  <a:latin typeface="Cambria Math" panose="02040503050406030204" pitchFamily="18" charset="0"/>
                                  <a:cs typeface="Arial"/>
                                  <a:sym typeface="Arial"/>
                                </a:rPr>
                              </m:ctrlPr>
                            </m:dPr>
                            <m:e>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sub>
                              </m:sSub>
                            </m:e>
                          </m:d>
                        </m:num>
                        <m:den>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𝐾</m:t>
                          </m:r>
                        </m:den>
                      </m:f>
                      <m:r>
                        <a:rPr lang="en-US" sz="2300" i="1" smtClean="0">
                          <a:latin typeface="Cambria Math" panose="02040503050406030204" pitchFamily="18" charset="0"/>
                          <a:cs typeface="Arial"/>
                          <a:sym typeface="Arial"/>
                        </a:rPr>
                        <m:t>=0</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839B95-2A10-5AF8-A30A-45DB8791A3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E951129-192E-D12E-AC6B-555B91519E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2E1B41-7B76-B7AB-6E59-9F45EE29B0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68556E-5330-F865-3CC2-23BE16728A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4B7F32-34E8-586D-3968-452A5DCFAD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07AC03-0533-1551-F34F-9D39F181CE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58D728-3246-5924-7090-9B3B8C0177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8DBABE-2630-95C3-D499-66E5436A49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E46740-6A8B-A59A-12A6-17FD3FC2E4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559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6CDB5-1F0B-5A8F-2308-6EDAA9D7B9B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A023A5C-39A7-A88D-861E-23B8244D61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Let's define the actual error of our updated state: </a:t>
                </a:r>
                <a14:m>
                  <m:oMath xmlns:m="http://schemas.openxmlformats.org/officeDocument/2006/math">
                    <m:r>
                      <a:rPr lang="en-US" sz="2150" i="1" dirty="0" smtClean="0">
                        <a:latin typeface="Cambria Math" panose="02040503050406030204" pitchFamily="18" charset="0"/>
                        <a:ea typeface="Arial"/>
                        <a:cs typeface="Arial"/>
                        <a:sym typeface="Arial"/>
                      </a:rPr>
                      <m:t>𝑒</m:t>
                    </m:r>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𝑡𝑟𝑢𝑒</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i="1" dirty="0" err="1"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We substitute our update equation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𝑧</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e>
                    </m:d>
                  </m:oMath>
                </a14:m>
                <a:r>
                  <a:rPr lang="en-US" sz="2150" dirty="0">
                    <a:latin typeface="Atkinson Hyperlegible Next"/>
                    <a:ea typeface="Arial"/>
                    <a:cs typeface="Arial"/>
                    <a:sym typeface="Arial"/>
                  </a:rPr>
                  <a:t> into the error definition.</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Covariance is defined as the expected value of the error squared: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𝐸</m:t>
                    </m:r>
                    <m:d>
                      <m:dPr>
                        <m:begChr m:val="["/>
                        <m:endChr m:val="]"/>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𝑒</m:t>
                        </m:r>
                        <m:sSup>
                          <m:sSupPr>
                            <m:ctrlPr>
                              <a:rPr lang="en-US" sz="2150" i="1" dirty="0" err="1" smtClean="0">
                                <a:latin typeface="Cambria Math" panose="02040503050406030204" pitchFamily="18" charset="0"/>
                                <a:ea typeface="Arial"/>
                                <a:cs typeface="Arial"/>
                                <a:sym typeface="Arial"/>
                              </a:rPr>
                            </m:ctrlPr>
                          </m:sSupPr>
                          <m:e>
                            <m:r>
                              <a:rPr lang="en-US" sz="2150" i="1" dirty="0" err="1" smtClean="0">
                                <a:latin typeface="Cambria Math" panose="02040503050406030204" pitchFamily="18" charset="0"/>
                                <a:ea typeface="Arial"/>
                                <a:cs typeface="Arial"/>
                                <a:sym typeface="Arial"/>
                              </a:rPr>
                              <m:t>𝑒</m:t>
                            </m:r>
                          </m:e>
                          <m:sup>
                            <m:r>
                              <a:rPr lang="en-US" sz="2150" i="1" dirty="0" err="1" smtClean="0">
                                <a:latin typeface="Cambria Math" panose="02040503050406030204" pitchFamily="18" charset="0"/>
                                <a:ea typeface="Arial"/>
                                <a:cs typeface="Arial"/>
                                <a:sym typeface="Arial"/>
                              </a:rPr>
                              <m:t>𝑇</m:t>
                            </m:r>
                          </m:sup>
                        </m:sSup>
                      </m:e>
                    </m:d>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Expanding this massive expected value yields the universally true </a:t>
                </a:r>
                <a:r>
                  <a:rPr lang="en-US" sz="2150" b="1" dirty="0">
                    <a:latin typeface="Atkinson Hyperlegible Next"/>
                    <a:ea typeface="Arial"/>
                    <a:cs typeface="Arial"/>
                    <a:sym typeface="Arial"/>
                  </a:rPr>
                  <a:t>Joseph Form of the covariance update</a:t>
                </a:r>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𝐾𝑅</m:t>
                      </m:r>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𝐾</m:t>
                          </m:r>
                        </m:e>
                        <m:sup>
                          <m:r>
                            <a:rPr lang="en-US" sz="2150" i="1" dirty="0" smtClean="0">
                              <a:latin typeface="Cambria Math" panose="02040503050406030204" pitchFamily="18" charset="0"/>
                              <a:ea typeface="Arial"/>
                              <a:cs typeface="Arial"/>
                              <a:sym typeface="Arial"/>
                            </a:rPr>
                            <m:t>𝑇</m:t>
                          </m:r>
                        </m:sup>
                      </m:sSup>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Why do we see both </a:t>
                </a:r>
                <a14:m>
                  <m:oMath xmlns:m="http://schemas.openxmlformats.org/officeDocument/2006/math">
                    <m:r>
                      <a:rPr lang="en-US" sz="2150" i="1" dirty="0" smtClean="0">
                        <a:latin typeface="Cambria Math" panose="02040503050406030204" pitchFamily="18" charset="0"/>
                        <a:ea typeface="Arial"/>
                        <a:cs typeface="Arial"/>
                        <a:sym typeface="Arial"/>
                      </a:rPr>
                      <m:t>𝑃</m:t>
                    </m:r>
                  </m:oMath>
                </a14:m>
                <a:r>
                  <a:rPr lang="en-US" sz="2150" dirty="0">
                    <a:latin typeface="Atkinson Hyperlegible Next"/>
                    <a:ea typeface="Arial"/>
                    <a:cs typeface="Arial"/>
                    <a:sym typeface="Arial"/>
                  </a:rPr>
                  <a:t> (model noise) and </a:t>
                </a:r>
                <a14:m>
                  <m:oMath xmlns:m="http://schemas.openxmlformats.org/officeDocument/2006/math">
                    <m:r>
                      <a:rPr lang="en-US" sz="2150" i="1" dirty="0" smtClean="0">
                        <a:latin typeface="Cambria Math" panose="02040503050406030204" pitchFamily="18" charset="0"/>
                        <a:ea typeface="Arial"/>
                        <a:cs typeface="Arial"/>
                        <a:sym typeface="Arial"/>
                      </a:rPr>
                      <m:t>𝑅</m:t>
                    </m:r>
                  </m:oMath>
                </a14:m>
                <a:r>
                  <a:rPr lang="en-US" sz="2150" dirty="0">
                    <a:latin typeface="Atkinson Hyperlegible Next"/>
                    <a:ea typeface="Arial"/>
                    <a:cs typeface="Arial"/>
                    <a:sym typeface="Arial"/>
                  </a:rPr>
                  <a:t> (sensor noise) in this equation? </a:t>
                </a:r>
              </a:p>
              <a:p>
                <a:pPr marL="0" indent="0" algn="ctr">
                  <a:lnSpc>
                    <a:spcPct val="100000"/>
                  </a:lnSpc>
                  <a:spcBef>
                    <a:spcPts val="0"/>
                  </a:spcBef>
                  <a:buSzPts val="3000"/>
                  <a:buNone/>
                </a:pPr>
                <a:r>
                  <a:rPr lang="en-US" sz="2150" dirty="0">
                    <a:latin typeface="Atkinson Hyperlegible Next"/>
                    <a:ea typeface="Arial"/>
                    <a:cs typeface="Arial"/>
                    <a:sym typeface="Arial"/>
                  </a:rPr>
                  <a:t>Because our new estimate relies on both, so both sources contribute to the final error</a:t>
                </a:r>
              </a:p>
            </p:txBody>
          </p:sp>
        </mc:Choice>
        <mc:Fallback xmlns="">
          <p:sp>
            <p:nvSpPr>
              <p:cNvPr id="118" name="Google Shape;118;p29">
                <a:extLst>
                  <a:ext uri="{FF2B5EF4-FFF2-40B4-BE49-F238E27FC236}">
                    <a16:creationId xmlns:a16="http://schemas.microsoft.com/office/drawing/2014/main" id="{9A023A5C-39A7-A88D-861E-23B8244D61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0FE1F3-1C29-1E21-A7F3-BFDF337F9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D53CFA-7BE3-6AD5-7180-3CCF26A0C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037B2-81B8-96C9-6776-1F2AE51DC87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8584A6-55A1-22C4-FA76-C682FBBC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64786-DBF6-7B3F-E0A1-3F0D663D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515808-2577-D1E1-C114-23B8031E06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F0A57E-6D58-C184-4486-64AB1075C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371933-6D63-FFAA-EE1A-AB243F05D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9530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6D19E-F35C-6978-CBAE-71744A8388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8A9E61C-2F42-AEF4-3176-9885053691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We have our covariance equation. Now, we use matrix calculus to minimize its Trace:</a:t>
                </a:r>
                <a:endParaRPr lang="en-US" sz="215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150" i="1" dirty="0" smtClean="0">
                              <a:latin typeface="Cambria Math" panose="02040503050406030204" pitchFamily="18" charset="0"/>
                              <a:ea typeface="Arial"/>
                              <a:cs typeface="Arial"/>
                              <a:sym typeface="Arial"/>
                            </a:rPr>
                          </m:ctrlPr>
                        </m:fPr>
                        <m:num>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𝑇𝑟</m:t>
                          </m:r>
                          <m:d>
                            <m:dPr>
                              <m:ctrlPr>
                                <a:rPr lang="en-US" sz="2150" i="1" dirty="0" smtClean="0">
                                  <a:latin typeface="Cambria Math" panose="02040503050406030204" pitchFamily="18" charset="0"/>
                                  <a:ea typeface="Arial"/>
                                  <a:cs typeface="Arial"/>
                                  <a:sym typeface="Arial"/>
                                </a:rPr>
                              </m:ctrlPr>
                            </m:dPr>
                            <m:e>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sub>
                              </m:sSub>
                            </m:e>
                          </m:d>
                        </m:num>
                        <m:den>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en>
                      </m:f>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Taking the derivative of the Joseph Form with respect to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yields: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150" i="1" dirty="0" smtClean="0">
                          <a:latin typeface="Cambria Math" panose="02040503050406030204" pitchFamily="18" charset="0"/>
                          <a:ea typeface="Arial"/>
                          <a:cs typeface="Arial"/>
                          <a:sym typeface="Arial"/>
                        </a:rPr>
                        <m:t>−2</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+2</m:t>
                      </m:r>
                      <m:r>
                        <a:rPr lang="en-US" sz="2150" i="1" dirty="0" smtClean="0">
                          <a:latin typeface="Cambria Math" panose="02040503050406030204" pitchFamily="18" charset="0"/>
                          <a:ea typeface="Arial"/>
                          <a:cs typeface="Arial"/>
                          <a:sym typeface="Arial"/>
                        </a:rPr>
                        <m:t>𝐾𝑅</m:t>
                      </m:r>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Divide by 2, expand, and isolate the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terms:</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𝑅</m:t>
                        </m:r>
                      </m:e>
                    </m:d>
                  </m:oMath>
                </a14:m>
                <a:r>
                  <a:rPr lang="en-US" sz="2150" dirty="0">
                    <a:latin typeface="Atkinson Hyperlegible Next"/>
                    <a:ea typeface="Arial"/>
                    <a:cs typeface="Arial"/>
                    <a:sym typeface="Arial"/>
                  </a:rPr>
                  <a:t>There it is! </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The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oMath>
                </a14:m>
                <a:r>
                  <a:rPr lang="en-US" sz="2150" dirty="0">
                    <a:latin typeface="Atkinson Hyperlegible Next"/>
                    <a:ea typeface="Arial"/>
                    <a:cs typeface="Arial"/>
                    <a:sym typeface="Arial"/>
                  </a:rPr>
                  <a:t> term emerges naturally from taking the derivative of the covariance. It represents the </a:t>
                </a:r>
                <a:r>
                  <a:rPr lang="en-US" sz="2150" b="1" dirty="0">
                    <a:latin typeface="Atkinson Hyperlegible Next"/>
                    <a:ea typeface="Arial"/>
                    <a:cs typeface="Arial"/>
                    <a:sym typeface="Arial"/>
                  </a:rPr>
                  <a:t>cross-covariance between our state error and our measurement error</a:t>
                </a:r>
                <a:r>
                  <a:rPr lang="en-US" sz="215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8A9E61C-2F42-AEF4-3176-98850536911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34F522-4643-14F4-40CD-3876D6F8E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A39E3F-275A-9D5A-BAF7-969391E06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63C07-97D1-F686-C908-D359966E2A7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EFED57-9E8C-E1FD-8861-00B323B6D1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DF72137-5126-93C6-E270-25A121D442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979EE7-0796-C8F0-58DB-1231933D5B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E6B8F8-70F8-25FB-D30E-8A9B2EF7DB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F958F1-4751-B84B-8E83-9B51E49369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87966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38B4C8-D79A-D713-1B78-6F3A9859EE5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6FFA1A-E340-999C-1653-305525CBB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have our optimal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But calculating the massive Joseph Form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𝐾𝑅</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𝐾</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takes too much processing power on a microcontroller. Let's substitute our newly derived optimal </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back into the Joseph Form.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massive sections of the Joseph equation perfectly cancel each other out.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equation collapses into the short form: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F6FFA1A-E340-999C-1653-305525CBB6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6C7794-B025-0D31-D258-6877AFE322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02B0EF-FB34-256A-7FDB-707F03FFC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0DD414-82B2-1121-FBAF-EE81108B030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4B7E33-9CB7-C541-8BC3-3CA8FB9F83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622B32-7B1B-05FF-18EE-8BF63AF994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98CBE1-BC35-8A5E-7602-4D40421766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99734A-2E5D-DA57-6F9B-7109CAAD61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BCA8FC-AC9A-7B0A-7F36-D3E7C04E73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82670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2FBD52E-76F9-4322-FCE1-7B1E06BAC75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AA8EC63-4360-B126-CF2C-E4E3DA9041E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Kalman Filter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963495D-0245-29D1-BAE9-9FCFABC459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B1CA421-4148-F26B-197E-47407E764F5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E34D3D9-AB86-4C33-D085-8DF6C49E608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434C9A5-3942-5734-5288-5904455960A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78CDB3B-DC31-70AF-2362-A90E9320C3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5470888-80F5-094E-A1E2-4258EBA55CC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8DFECE-ABEA-1B03-DCD0-793D05FA2B1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236CA14-8EC5-5DBF-D8B4-E06A42968B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2E1642-6321-67BB-95BC-85F8C4BC40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08263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3C30CD-1B65-20F2-E066-1245C808E0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6F4D47-DAB0-24EB-3A0C-0D22555571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The Kalman Filter works as a 2 steps process, what are they called?</a:t>
            </a:r>
          </a:p>
          <a:p>
            <a:pPr marL="285750" indent="-285750">
              <a:lnSpc>
                <a:spcPct val="200000"/>
              </a:lnSpc>
              <a:spcBef>
                <a:spcPts val="0"/>
              </a:spcBef>
              <a:buSzPts val="3000"/>
            </a:pPr>
            <a:r>
              <a:rPr lang="en-US" sz="2400" dirty="0">
                <a:latin typeface="Atkinson Hyperlegible Next"/>
                <a:ea typeface="Arial"/>
                <a:cs typeface="Arial"/>
                <a:sym typeface="Arial"/>
              </a:rPr>
              <a:t>What are the conditions on the sensor / process noise?</a:t>
            </a: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What are the conditions imposed on the state transition of the system?</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E2EF820-4A0A-FC19-5F69-A7B8D060C9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51D24-31BE-1EB0-3B75-F1BF79E9E0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7226CD-1562-0B62-C3E3-F4B3978E461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DD2DC3-5265-145A-EE6C-7CC65F31D7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C4AB5B-1743-835A-E06C-123AF5F326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7184F-4745-FCC6-45BB-7D010FF913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C39536-5BA7-38DE-F091-D1926C84E4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4AFB19-ED94-969C-7541-DA079609E6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70281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B026BE-5D94-22CB-B4EE-63B261AF76D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3ED04D-7E89-264D-0AD8-019C05FAFC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Up to this point, we have looked at a lot of theoretical matrices: </a:t>
                </a:r>
                <a14:m>
                  <m:oMath xmlns:m="http://schemas.openxmlformats.org/officeDocument/2006/math">
                    <m:r>
                      <a:rPr lang="pt-BR" sz="2300" i="1" dirty="0" smtClean="0">
                        <a:latin typeface="Cambria Math" panose="02040503050406030204" pitchFamily="18" charset="0"/>
                        <a:ea typeface="Arial"/>
                        <a:cs typeface="Arial"/>
                        <a:sym typeface="Arial"/>
                      </a:rPr>
                      <m:t>𝐹</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𝐻</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𝑃</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𝑄</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𝑅</m:t>
                    </m:r>
                  </m:oMath>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that is always difficult to understand. We will build a complete, multi-dimensional Kalman Filter from scratch for a simple robotic system!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Let’s go back to our previous autonomous train example from before!</a:t>
                </a:r>
              </a:p>
            </p:txBody>
          </p:sp>
        </mc:Choice>
        <mc:Fallback xmlns="">
          <p:sp>
            <p:nvSpPr>
              <p:cNvPr id="118" name="Google Shape;118;p29">
                <a:extLst>
                  <a:ext uri="{FF2B5EF4-FFF2-40B4-BE49-F238E27FC236}">
                    <a16:creationId xmlns:a16="http://schemas.microsoft.com/office/drawing/2014/main" id="{0E3ED04D-7E89-264D-0AD8-019C05FAFC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A8C9263-8CA8-4F4A-2792-7EC1250391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BE017B-A888-BB83-AB6A-78F80CFEA7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0E02E32-5B4B-0415-5D3A-421C81FFFD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339AA2-699F-3D16-F402-1E23D13653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1F0B2B-1522-0FBB-4340-2670D88364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6DC924-F250-8380-548F-AA1662D931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9E9323-E056-B25A-6C9D-C939925DA7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A5FF2C-7E8F-8794-F3E2-54FD21224A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1809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4601C3-8FEC-ABFB-97FE-32E9FA7D0F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BE9A57-F1F4-2282-FF6E-A2FA834B75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Imagine a simple robot constrained to a 1D track (like a train). It can move forward and backward, but it cannot steer.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want to track both its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𝑝</m:t>
                    </m:r>
                  </m:oMath>
                </a14:m>
                <a:r>
                  <a:rPr lang="en-US" sz="2300" dirty="0">
                    <a:latin typeface="Atkinson Hyperlegible Next"/>
                    <a:ea typeface="Arial"/>
                    <a:cs typeface="Arial"/>
                    <a:sym typeface="Arial"/>
                  </a:rPr>
                  <a:t>) and its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𝑣</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would our state be?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State Vector (</a:t>
                </a:r>
                <a14:m>
                  <m:oMath xmlns:m="http://schemas.openxmlformats.org/officeDocument/2006/math">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is now a 2x1 column matrix:</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BE9A57-F1F4-2282-FF6E-A2FA834B75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5B1EA85-EE60-FCDC-6BC5-ECF5FA08F5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CAA2DA-153C-54DD-1F10-1BB1BC2BC4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55BB5A-57B9-49FC-5FFB-6F4B89621BD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F6D3AC-0205-DFC9-992C-732891A7A7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2C4F8F-AF67-B2E5-A4DA-D38681C309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689C9-1D28-7E50-8BBF-9DE99A34E04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7B4831-7AFB-E22C-BD2C-AF2034193E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B8FC6A-5535-A496-D1EF-ACB7738866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027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78A0BF-2AC9-DA99-F4E2-9C8392E190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BC2FDFE-E16B-633D-6B11-D85E4B5FF1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predict the future state, we need basic kinematic equations.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time step is </a:t>
                </a:r>
                <a14:m>
                  <m:oMath xmlns:m="http://schemas.openxmlformats.org/officeDocument/2006/math">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oMath>
                </a14:m>
                <a:r>
                  <a:rPr lang="en-US" sz="2300" dirty="0">
                    <a:latin typeface="Atkinson Hyperlegible Next"/>
                    <a:ea typeface="Arial"/>
                    <a:cs typeface="Arial"/>
                    <a:sym typeface="Arial"/>
                  </a:rPr>
                  <a:t>, the new position is the old position plus velocity times time: </a:t>
                </a:r>
              </a:p>
              <a:p>
                <a:pPr marL="0" indent="0">
                  <a:lnSpc>
                    <a:spcPct val="100000"/>
                  </a:lnSpc>
                  <a:spcBef>
                    <a:spcPts val="0"/>
                  </a:spcBef>
                  <a:buSzPts val="3000"/>
                  <a:buNone/>
                </a:pPr>
                <a:endParaRPr lang="en-US" sz="230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r>
                        <m:rPr>
                          <m:sty m:val="p"/>
                        </m:rPr>
                        <a:rPr lang="en-US" sz="2300" i="0" dirty="0" smtClean="0">
                          <a:latin typeface="Cambria Math" panose="02040503050406030204" pitchFamily="18" charset="0"/>
                          <a:ea typeface="Arial"/>
                          <a:cs typeface="Arial"/>
                          <a:sym typeface="Arial"/>
                        </a:rPr>
                        <m:t>Δ</m:t>
                      </m:r>
                      <m:r>
                        <a:rPr lang="en-US" sz="2300" i="1" dirty="0" err="1" smtClean="0">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a constant velocity model (for simplicity), the new velocity is just the old velocity: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BC2FDFE-E16B-633D-6B11-D85E4B5FF1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187D44-F9A8-06D7-31B4-576D77050A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F4FD37-8860-786D-08CB-751FD29574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F28082-BDB5-0419-0597-E252CB8302F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68CB41-38DC-26F1-0128-C7FCE60013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6A44FA-42E4-2351-F584-C7162C271E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8C7CD3-8FE6-4CED-E5C8-A619C57A40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1A616-E83A-1151-8BF3-AAE1001A9B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984D50-71CC-FA64-5898-D2D0CB812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211653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F25B5-EA70-4405-BB65-F43BB2FB31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0186B73-C17C-6F27-FB18-1EFF5DD99D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𝑜𝑙𝑑</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r>
                        <m:rPr>
                          <m:sty m:val="p"/>
                        </m:rPr>
                        <a:rPr lang="en-US" sz="2300" dirty="0">
                          <a:latin typeface="Cambria Math" panose="02040503050406030204" pitchFamily="18" charset="0"/>
                          <a:ea typeface="Arial"/>
                          <a:cs typeface="Arial"/>
                          <a:sym typeface="Arial"/>
                        </a:rPr>
                        <m:t>Δ</m:t>
                      </m:r>
                      <m:r>
                        <a:rPr lang="en-US" sz="2300" i="1" dirty="0" err="1">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format this into our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e>
                            </m:mr>
                          </m:m>
                        </m:e>
                      </m:d>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e>
                            </m:mr>
                            <m:mr>
                              <m:e>
                                <m:r>
                                  <a:rPr lang="en-US" sz="2300" i="1" dirty="0" smtClean="0">
                                    <a:latin typeface="Cambria Math" panose="02040503050406030204" pitchFamily="18" charset="0"/>
                                    <a:ea typeface="Arial"/>
                                    <a:cs typeface="Arial"/>
                                    <a:sym typeface="Arial"/>
                                  </a:rPr>
                                  <m:t>0</m:t>
                                </m:r>
                              </m:e>
                              <m:e>
                                <m:r>
                                  <a:rPr lang="en-US" sz="2300" i="1" dirty="0" smtClean="0">
                                    <a:latin typeface="Cambria Math" panose="02040503050406030204" pitchFamily="18" charset="0"/>
                                    <a:ea typeface="Arial"/>
                                    <a:cs typeface="Arial"/>
                                    <a:sym typeface="Arial"/>
                                  </a:rPr>
                                  <m:t>1</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Predict</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𝐵</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𝑢</m:t>
                          </m:r>
                        </m:e>
                        <m:sub>
                          <m:r>
                            <a:rPr lang="en-US" sz="2300" i="1">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sSup>
                        <m:sSupPr>
                          <m:ctrlPr>
                            <a:rPr lang="en-US" sz="2300" i="1">
                              <a:latin typeface="Cambria Math" panose="02040503050406030204" pitchFamily="18" charset="0"/>
                              <a:cs typeface="Arial"/>
                              <a:sym typeface="Arial"/>
                            </a:rPr>
                          </m:ctrlPr>
                        </m:sSupPr>
                        <m:e>
                          <m:r>
                            <a:rPr lang="en-US" sz="2300" i="1">
                              <a:latin typeface="Cambria Math" panose="02040503050406030204" pitchFamily="18" charset="0"/>
                              <a:cs typeface="Arial"/>
                              <a:sym typeface="Arial"/>
                            </a:rPr>
                            <m:t>𝐹</m:t>
                          </m:r>
                        </m:e>
                        <m:sup>
                          <m:r>
                            <a:rPr lang="en-US" sz="2300" i="1">
                              <a:latin typeface="Cambria Math" panose="02040503050406030204" pitchFamily="18" charset="0"/>
                              <a:cs typeface="Arial"/>
                              <a:sym typeface="Arial"/>
                            </a:rPr>
                            <m:t>𝑇</m:t>
                          </m:r>
                        </m:sup>
                      </m:sSup>
                      <m:r>
                        <a:rPr lang="en-US" sz="2300" i="1">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cs typeface="Arial"/>
                  <a:sym typeface="Arial"/>
                </a:endParaRPr>
              </a:p>
            </p:txBody>
          </p:sp>
        </mc:Choice>
        <mc:Fallback xmlns="">
          <p:sp>
            <p:nvSpPr>
              <p:cNvPr id="118" name="Google Shape;118;p29">
                <a:extLst>
                  <a:ext uri="{FF2B5EF4-FFF2-40B4-BE49-F238E27FC236}">
                    <a16:creationId xmlns:a16="http://schemas.microsoft.com/office/drawing/2014/main" id="{60186B73-C17C-6F27-FB18-1EFF5DD99D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534929-C76A-57F9-F95F-AFCF92EEF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2CF5E2-2AB4-4662-1E14-B61C25699F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30F54F-5BD5-C96C-32A9-DA4D419893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0DE45-4C3A-3882-D0AD-CE4C616208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8F1CA5-6E7D-621B-7EFF-47DE6986C6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93AA66-FF89-B663-CE78-5E19114A23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89DB0C-5270-26F3-9E14-1D9ADA710E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BAD30C-208E-61BE-21D5-F5FE7C7A24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38600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3987E-6EE7-89D9-D933-16DCF1256C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BBA3C79-049A-FC6E-D838-84B975EE6B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train is equipped with a noisy GPS unit.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GPS directly measures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but it cannot directly measure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need an </a:t>
                </a:r>
                <a:r>
                  <a:rPr lang="en-US" sz="2300" b="1" dirty="0">
                    <a:latin typeface="Atkinson Hyperlegible Next"/>
                    <a:ea typeface="Arial"/>
                    <a:cs typeface="Arial"/>
                    <a:sym typeface="Arial"/>
                  </a:rPr>
                  <a:t>Observation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that extracts only the position from our state vector to compare it with the GPS reading.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𝑧</m:t>
                          </m:r>
                        </m:e>
                        <m:sub>
                          <m:r>
                            <a:rPr lang="en-US" sz="2300" i="1" dirty="0" smtClean="0">
                              <a:latin typeface="Cambria Math" panose="02040503050406030204" pitchFamily="18" charset="0"/>
                              <a:ea typeface="Arial"/>
                              <a:cs typeface="Arial"/>
                              <a:sym typeface="Arial"/>
                            </a:rPr>
                            <m:t>𝑒𝑥𝑝𝑒𝑐𝑡𝑒𝑑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a:rPr lang="en-US" sz="2300" i="1" dirty="0" smtClean="0">
                                    <a:latin typeface="Cambria Math" panose="02040503050406030204" pitchFamily="18" charset="0"/>
                                    <a:ea typeface="Arial"/>
                                    <a:cs typeface="Arial"/>
                                    <a:sym typeface="Arial"/>
                                  </a:rPr>
                                  <m:t>0</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𝑝</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making </a:t>
                </a:r>
                <a14:m>
                  <m:oMath xmlns:m="http://schemas.openxmlformats.org/officeDocument/2006/math">
                    <m:r>
                      <a:rPr lang="en-US" sz="2300" i="1" dirty="0" smtClean="0">
                        <a:latin typeface="Cambria Math" panose="02040503050406030204" pitchFamily="18" charset="0"/>
                        <a:ea typeface="Arial"/>
                        <a:cs typeface="Arial"/>
                        <a:sym typeface="Arial"/>
                      </a:rPr>
                      <m:t>𝐻</m:t>
                    </m:r>
                    <m:r>
                      <a:rPr lang="en-US" sz="2300" i="1" dirty="0" smtClean="0">
                        <a:latin typeface="Cambria Math" panose="02040503050406030204" pitchFamily="18" charset="0"/>
                        <a:ea typeface="Arial"/>
                        <a:cs typeface="Arial"/>
                        <a:sym typeface="Arial"/>
                      </a:rPr>
                      <m:t> = [1, 0]</m:t>
                    </m:r>
                  </m:oMath>
                </a14:m>
                <a:r>
                  <a:rPr lang="en-US" sz="2300" dirty="0">
                    <a:latin typeface="Atkinson Hyperlegible Next"/>
                    <a:ea typeface="Arial"/>
                    <a:cs typeface="Arial"/>
                    <a:sym typeface="Arial"/>
                  </a:rPr>
                  <a:t>, we multiply </a:t>
                </a:r>
                <a14:m>
                  <m:oMath xmlns:m="http://schemas.openxmlformats.org/officeDocument/2006/math">
                    <m:r>
                      <a:rPr lang="en-US" sz="2300" i="1" dirty="0" smtClean="0">
                        <a:latin typeface="Cambria Math" panose="02040503050406030204" pitchFamily="18" charset="0"/>
                        <a:ea typeface="Arial"/>
                        <a:cs typeface="Arial"/>
                        <a:sym typeface="Arial"/>
                      </a:rPr>
                      <m:t>1 ⋅</m:t>
                    </m:r>
                    <m:r>
                      <a:rPr lang="en-US" sz="2300" i="1" dirty="0" smtClean="0">
                        <a:latin typeface="Cambria Math" panose="02040503050406030204" pitchFamily="18" charset="0"/>
                        <a:ea typeface="Arial"/>
                        <a:cs typeface="Arial"/>
                        <a:sym typeface="Arial"/>
                      </a:rPr>
                      <m:t>𝑝</m:t>
                    </m:r>
                    <m:r>
                      <a:rPr lang="en-US" sz="2300" i="1" dirty="0" smtClean="0">
                        <a:latin typeface="Cambria Math" panose="02040503050406030204" pitchFamily="18" charset="0"/>
                        <a:ea typeface="Arial"/>
                        <a:cs typeface="Arial"/>
                        <a:sym typeface="Arial"/>
                      </a:rPr>
                      <m:t> + 0 ⋅</m:t>
                    </m:r>
                    <m:r>
                      <a:rPr lang="en-US" sz="2300" i="1" dirty="0" smtClean="0">
                        <a:latin typeface="Cambria Math" panose="02040503050406030204" pitchFamily="18" charset="0"/>
                        <a:ea typeface="Arial"/>
                        <a:cs typeface="Arial"/>
                        <a:sym typeface="Arial"/>
                      </a:rPr>
                      <m:t>𝑣</m:t>
                    </m:r>
                    <m:r>
                      <a:rPr lang="en-US" sz="2300" b="0" i="1" dirty="0" smtClean="0">
                        <a:latin typeface="Cambria Math" panose="02040503050406030204" pitchFamily="18" charset="0"/>
                        <a:ea typeface="Arial"/>
                        <a:cs typeface="Arial"/>
                        <a:sym typeface="Arial"/>
                      </a:rPr>
                      <m:t> = </m:t>
                    </m:r>
                    <m:r>
                      <m:rPr>
                        <m:sty m:val="p"/>
                      </m:rPr>
                      <a:rPr lang="en-US" sz="2300" b="0" i="1" dirty="0" smtClean="0">
                        <a:latin typeface="Cambria Math" panose="02040503050406030204" pitchFamily="18" charset="0"/>
                        <a:ea typeface="Arial"/>
                        <a:cs typeface="Arial"/>
                        <a:sym typeface="Arial"/>
                      </a:rPr>
                      <m:t>p</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successfully translated our 2D state into a 1D measurement!</a:t>
                </a:r>
              </a:p>
            </p:txBody>
          </p:sp>
        </mc:Choice>
        <mc:Fallback xmlns="">
          <p:sp>
            <p:nvSpPr>
              <p:cNvPr id="118" name="Google Shape;118;p29">
                <a:extLst>
                  <a:ext uri="{FF2B5EF4-FFF2-40B4-BE49-F238E27FC236}">
                    <a16:creationId xmlns:a16="http://schemas.microsoft.com/office/drawing/2014/main" id="{8BBA3C79-049A-FC6E-D838-84B975EE6B0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1E99BC-1661-7814-EC44-91AF22B9F5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92BB99-5E88-B06A-FD6D-80F7D0A20B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200909-553E-2F93-2CD7-DCA0BC4A095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D55304-6D58-5A6D-F8D2-F9F6B6EA72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5ED08-63E8-36F8-1F8A-65A2CEE90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B0BE5F-6863-B1D3-504D-E832A9B036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BE4C-D9C6-B0AC-8667-3D1B98067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5DC5F1-0C76-8EDD-8AD3-5B20F3D749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4018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712CC8-B3DB-F00F-0B6F-62B9C0F819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77AE1B-6280-A422-C4E4-2795788F56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Measurement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The GPS datasheet says it has an accuracy of </a:t>
                </a:r>
                <a14:m>
                  <m:oMath xmlns:m="http://schemas.openxmlformats.org/officeDocument/2006/math">
                    <m:r>
                      <a:rPr lang="en-US" sz="2300" i="1" dirty="0" smtClean="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meters.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dimension is 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is a 1x1 matrix (a scalar) representing the variance of the </a:t>
                </a:r>
                <a:r>
                  <a:rPr lang="en-US" sz="2300" b="1" dirty="0">
                    <a:latin typeface="Atkinson Hyperlegible Next"/>
                    <a:ea typeface="Arial"/>
                    <a:cs typeface="Arial"/>
                    <a:sym typeface="Arial"/>
                  </a:rPr>
                  <a:t>sensor</a:t>
                </a:r>
                <a:r>
                  <a:rPr lang="en-US" sz="2300" dirty="0">
                    <a:latin typeface="Atkinson Hyperlegible Next"/>
                    <a:ea typeface="Arial"/>
                    <a:cs typeface="Arial"/>
                    <a:sym typeface="Arial"/>
                  </a:rPr>
                  <a:t>, which in this case is the GPS returning position only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Given that the standard deviation of the GPS is </a:t>
                </a:r>
                <a14:m>
                  <m:oMath xmlns:m="http://schemas.openxmlformats.org/officeDocument/2006/math">
                    <m:r>
                      <a:rPr lang="en-US" sz="2300" i="1" dirty="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what is the variance?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𝑅</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25</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77AE1B-6280-A422-C4E4-2795788F56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F68613-D512-2FCF-74AB-9F714BD3B3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4305F5-8E54-A40F-4C94-5DBD46CDF4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E3670C-B3ED-C30B-8F18-7C7145B1B62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3D4BD-1A4E-43E6-E4BD-6DA4381A9E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B9613A-73F3-ACD4-E822-DBB9774F81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0C2E8E-B1ED-EFB0-7492-C082D8ECB5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43D0E-AA02-9BF4-C4B0-518086EA8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9B2880-DDDE-57DC-F98F-DA6A3BACB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4402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617A21-A6A5-9DBE-2C8A-99128F3F76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F385008-4CA2-EFA1-A780-A17B5D0DD77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Process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assumed constant velocity, but wind gusts or voltage drops might slightly alter the speed.</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process noise is based on the state, as such what dimension is </a:t>
                </a:r>
                <a14:m>
                  <m:oMath xmlns:m="http://schemas.openxmlformats.org/officeDocument/2006/math">
                    <m:r>
                      <a:rPr lang="en-US" sz="2300" i="1" dirty="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is a </a:t>
                </a:r>
                <a14:m>
                  <m:oMath xmlns:m="http://schemas.openxmlformats.org/officeDocument/2006/math">
                    <m:r>
                      <a:rPr lang="en-US" sz="2300" i="1" dirty="0" smtClean="0">
                        <a:latin typeface="Cambria Math" panose="02040503050406030204" pitchFamily="18" charset="0"/>
                        <a:ea typeface="Arial"/>
                        <a:cs typeface="Arial"/>
                        <a:sym typeface="Arial"/>
                      </a:rPr>
                      <m:t>2 ×2</m:t>
                    </m:r>
                  </m:oMath>
                </a14:m>
                <a:r>
                  <a:rPr lang="en-US" sz="2300" dirty="0">
                    <a:latin typeface="Atkinson Hyperlegible Next"/>
                    <a:ea typeface="Arial"/>
                    <a:cs typeface="Arial"/>
                    <a:sym typeface="Arial"/>
                  </a:rPr>
                  <a:t> matrix injecting uncertainty into both position and velocity during the predict step!</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𝑄</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m:t>
                                    </m:r>
                                  </m:sub>
                                  <m:sup>
                                    <m:r>
                                      <a:rPr lang="en-US" sz="2300" i="1" dirty="0" smtClean="0">
                                        <a:latin typeface="Cambria Math" panose="02040503050406030204" pitchFamily="18" charset="0"/>
                                        <a:ea typeface="Arial"/>
                                        <a:cs typeface="Arial"/>
                                        <a:sym typeface="Arial"/>
                                      </a:rPr>
                                      <m:t>2</m:t>
                                    </m:r>
                                  </m:sup>
                                </m:sSubSup>
                              </m:e>
                              <m:e>
                                <m:r>
                                  <a:rPr lang="en-US" sz="2300" i="1" dirty="0" smtClean="0">
                                    <a:latin typeface="Cambria Math" panose="02040503050406030204" pitchFamily="18" charset="0"/>
                                    <a:ea typeface="Arial"/>
                                    <a:cs typeface="Arial"/>
                                    <a:sym typeface="Arial"/>
                                  </a:rPr>
                                  <m:t>0</m:t>
                                </m:r>
                              </m:e>
                            </m:mr>
                            <m:mr>
                              <m:e>
                                <m:r>
                                  <a:rPr lang="en-US" sz="2300" i="1" dirty="0" smtClean="0">
                                    <a:latin typeface="Cambria Math" panose="02040503050406030204" pitchFamily="18" charset="0"/>
                                    <a:ea typeface="Arial"/>
                                    <a:cs typeface="Arial"/>
                                    <a:sym typeface="Arial"/>
                                  </a:rPr>
                                  <m:t>0</m:t>
                                </m:r>
                              </m:e>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𝑣</m:t>
                                    </m:r>
                                  </m:sub>
                                  <m:sup>
                                    <m:r>
                                      <a:rPr lang="en-US" sz="2300" i="1" dirty="0" smtClean="0">
                                        <a:latin typeface="Cambria Math" panose="02040503050406030204" pitchFamily="18" charset="0"/>
                                        <a:ea typeface="Arial"/>
                                        <a:cs typeface="Arial"/>
                                        <a:sym typeface="Arial"/>
                                      </a:rPr>
                                      <m:t>2</m:t>
                                    </m:r>
                                  </m:sup>
                                </m:sSubSup>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F385008-4CA2-EFA1-A780-A17B5D0DD77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D66E5A-AF7D-B13A-9AC2-F5A117BB0D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F2238A-5876-8163-09CC-5923ECB687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5C920-E554-AB2B-0919-40DA0F158C6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984853-4AE3-0467-964D-B1B3262B21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2C607-27B3-C044-893F-4738C3C90C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D53FD0D-3CEE-15B0-F7AD-6CF7625777A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17BA4A-3C0F-A3AC-452F-F5D5C102FC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4A6CA2-CD2D-9F55-0DB1-40EBAD452F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87935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AF857D-5907-4111-CC55-A77EA9A08DC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FC8180C-91C0-84D1-D887-8F1F865DA91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sSup>
                        <m:sSupPr>
                          <m:ctrlPr>
                            <a:rPr lang="en-US" sz="2300" i="1" dirty="0">
                              <a:latin typeface="Cambria Math" panose="02040503050406030204" pitchFamily="18" charset="0"/>
                              <a:ea typeface="Arial"/>
                              <a:cs typeface="Arial"/>
                              <a:sym typeface="Arial"/>
                            </a:rPr>
                          </m:ctrlPr>
                        </m:sSupPr>
                        <m:e>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𝑅</m:t>
                              </m:r>
                            </m:e>
                          </m:d>
                        </m:e>
                        <m:sup>
                          <m:r>
                            <a:rPr lang="en-US" sz="2300" i="1" dirty="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m:t>
                      </m:r>
                      <m:d>
                        <m:dPr>
                          <m:ctrlPr>
                            <a:rPr lang="en-US" sz="2300" i="1" dirty="0">
                              <a:latin typeface="Cambria Math" panose="02040503050406030204" pitchFamily="18" charset="0"/>
                              <a:ea typeface="Arial"/>
                              <a:cs typeface="Arial"/>
                              <a:sym typeface="Arial"/>
                            </a:rPr>
                          </m:ctrlPr>
                        </m:dPr>
                        <m:e>
                          <m:sSub>
                            <m:sSubPr>
                              <m:ctrlPr>
                                <a:rPr lang="en-US" sz="2300" i="1" dirty="0" err="1">
                                  <a:latin typeface="Cambria Math" panose="02040503050406030204" pitchFamily="18" charset="0"/>
                                  <a:ea typeface="Arial"/>
                                  <a:cs typeface="Arial"/>
                                  <a:sym typeface="Arial"/>
                                </a:rPr>
                              </m:ctrlPr>
                            </m:sSubPr>
                            <m:e>
                              <m:r>
                                <a:rPr lang="en-US" sz="2300" i="1" dirty="0" err="1">
                                  <a:latin typeface="Cambria Math" panose="02040503050406030204" pitchFamily="18" charset="0"/>
                                  <a:ea typeface="Arial"/>
                                  <a:cs typeface="Arial"/>
                                  <a:sym typeface="Arial"/>
                                </a:rPr>
                                <m:t>𝑧</m:t>
                              </m:r>
                            </m:e>
                            <m:sub>
                              <m:r>
                                <a:rPr lang="en-US" sz="2300" i="1" dirty="0" err="1">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𝐼</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𝐾𝐻</m:t>
                          </m:r>
                        </m:e>
                      </m:d>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And we are all done! (simpler than expected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train example works perfectly with the standard Kalman Filter equations because the math is strictly </a:t>
                </a:r>
                <a:r>
                  <a:rPr lang="en-US" sz="2300" b="1" dirty="0">
                    <a:latin typeface="Atkinson Hyperlegible Next"/>
                    <a:ea typeface="Arial"/>
                    <a:cs typeface="Arial"/>
                    <a:sym typeface="Arial"/>
                  </a:rPr>
                  <a:t>linear</a:t>
                </a:r>
                <a:r>
                  <a:rPr lang="en-US" sz="2300" dirty="0">
                    <a:latin typeface="Atkinson Hyperlegible Next"/>
                    <a:ea typeface="Arial"/>
                    <a:cs typeface="Arial"/>
                    <a:sym typeface="Arial"/>
                  </a:rPr>
                  <a:t> (simple multiplication and addition).</a:t>
                </a:r>
              </a:p>
              <a:p>
                <a:pPr marL="0" indent="0">
                  <a:lnSpc>
                    <a:spcPct val="100000"/>
                  </a:lnSpc>
                  <a:spcBef>
                    <a:spcPts val="0"/>
                  </a:spcBef>
                  <a:buSzPts val="3000"/>
                  <a:buNone/>
                </a:pPr>
                <a:r>
                  <a:rPr lang="en-US" sz="2300" dirty="0">
                    <a:latin typeface="Atkinson Hyperlegible Next"/>
                    <a:ea typeface="Arial"/>
                    <a:cs typeface="Arial"/>
                    <a:sym typeface="Arial"/>
                  </a:rPr>
                  <a:t>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a linear transformation.</a:t>
                </a:r>
              </a:p>
            </p:txBody>
          </p:sp>
        </mc:Choice>
        <mc:Fallback xmlns="">
          <p:sp>
            <p:nvSpPr>
              <p:cNvPr id="118" name="Google Shape;118;p29">
                <a:extLst>
                  <a:ext uri="{FF2B5EF4-FFF2-40B4-BE49-F238E27FC236}">
                    <a16:creationId xmlns:a16="http://schemas.microsoft.com/office/drawing/2014/main" id="{0FC8180C-91C0-84D1-D887-8F1F865DA91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E907F0-DBAC-CEFB-4F19-4B7EAAF6A9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2FF3DA-E1F4-A811-4BD6-14753AC778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8052BF-499B-461E-9A47-65002ECDC3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FC8E9C-A885-7348-F39A-EE152BFF0B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4EB949-9D2F-299D-A7DF-4D7D6AC671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665586-7452-E5BE-B733-850E74FAF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0575D-B926-C828-0405-BCC942C490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69C496-D342-2EB6-0600-F6E618B2DB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54622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694CC0-6902-E866-537C-4C5A5ADBE13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01F8ED9-94CD-1860-179E-32A849CA591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Extended (Nonlinear)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15687DB-F86B-AFE3-B8E8-C363052FB73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52007C9-F1DE-73B9-A16A-7100DACD0E8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F898FAE-F218-37B1-DD8D-812D2EF5C7D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B143006-7ADA-502F-84FD-B6B44AE1AC8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A062D97-6771-0445-E3BE-65712B27A6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9DBC35F-0B7F-A354-73CC-AA047AA521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E72E6BC-D68D-5180-6E08-23729E33245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AC5B19E-C8FB-F95E-0212-1CD6A7007B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7224F464-AE88-4ABA-2CCD-696735FC9B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467544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D915EA-7840-CDF3-0081-8C2A2E77607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969E7C-61A4-DEB8-D33A-485DA9C005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use differential drive platforms operating in a 2D plane in lab.</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state vector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physics equations for the next time step (</a:t>
                </a:r>
                <a14:m>
                  <m:oMath xmlns:m="http://schemas.openxmlformats.org/officeDocument/2006/math">
                    <m:r>
                      <a:rPr lang="en-US" sz="2300" i="1" dirty="0" smtClean="0">
                        <a:latin typeface="Cambria Math" panose="02040503050406030204" pitchFamily="18" charset="0"/>
                        <a:ea typeface="Arial"/>
                        <a:cs typeface="Arial"/>
                        <a:sym typeface="Arial"/>
                      </a:rPr>
                      <m:t>𝑑𝑡</m:t>
                    </m:r>
                  </m:oMath>
                </a14:m>
                <a:r>
                  <a:rPr lang="en-US" sz="2300" dirty="0">
                    <a:latin typeface="Atkinson Hyperlegible Next"/>
                    <a:ea typeface="Arial"/>
                    <a:cs typeface="Arial"/>
                    <a:sym typeface="Arial"/>
                  </a:rPr>
                  <a:t>) involve steering: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sin</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𝜔</m:t>
                      </m:r>
                      <m:r>
                        <a:rPr lang="en-US" sz="2300" i="1" dirty="0" smtClean="0">
                          <a:latin typeface="Cambria Math" panose="02040503050406030204" pitchFamily="18" charset="0"/>
                          <a:ea typeface="Arial"/>
                          <a:cs typeface="Arial"/>
                          <a:sym typeface="Arial"/>
                        </a:rPr>
                        <m:t>𝑑𝑡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cannot create a constant linear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that multiplies by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to produce </a:t>
                </a:r>
                <a14:m>
                  <m:oMath xmlns:m="http://schemas.openxmlformats.org/officeDocument/2006/math">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93969E7C-61A4-DEB8-D33A-485DA9C005E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88A1ED6-7A77-F6A8-7EE3-55765047F5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3E98D0-A99C-4D4B-72AC-5DAE33FA3C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417F34-0668-C324-BBF0-6903F509AAF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6EE4969-C77B-E1E7-83FD-F3FB49C160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39D0FC-2209-D8EA-5F65-AD71B4636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B854F1-1D5F-F33B-D136-3D171D80C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84F166-D5EE-5DAB-B838-03B4565EE1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13AF3D-B9E2-0242-28DE-416C05B3C4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1921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C047FB-D4B2-5CA4-9118-F6090BC340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2AB664A-4D77-28E3-166E-E546A86435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standard Kalman Filter guarantees an optimal estimate </a:t>
                </a:r>
                <a:r>
                  <a:rPr lang="en-US" sz="2300" b="1" dirty="0">
                    <a:latin typeface="Atkinson Hyperlegible Next"/>
                    <a:ea typeface="Arial"/>
                    <a:cs typeface="Arial"/>
                    <a:sym typeface="Arial"/>
                  </a:rPr>
                  <a:t>if and only if </a:t>
                </a:r>
                <a:r>
                  <a:rPr lang="en-US" sz="2300" dirty="0">
                    <a:latin typeface="Atkinson Hyperlegible Next"/>
                    <a:ea typeface="Arial"/>
                    <a:cs typeface="Arial"/>
                    <a:sym typeface="Arial"/>
                  </a:rPr>
                  <a:t>the system remains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linear function (like </a:t>
                </a:r>
                <a14:m>
                  <m:oMath xmlns:m="http://schemas.openxmlformats.org/officeDocument/2006/math">
                    <m:r>
                      <a:rPr lang="en-US" sz="2300" i="1" dirty="0" smtClean="0">
                        <a:latin typeface="Cambria Math" panose="02040503050406030204" pitchFamily="18" charset="0"/>
                        <a:ea typeface="Arial"/>
                        <a:cs typeface="Arial"/>
                        <a:sym typeface="Arial"/>
                      </a:rPr>
                      <m:t>2</m:t>
                    </m:r>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it stays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highly non-linear function (like sine or cosine), it becomes warped, skewed, and destroys the assumptions of the filter!</a:t>
                </a:r>
              </a:p>
            </p:txBody>
          </p:sp>
        </mc:Choice>
        <mc:Fallback xmlns="">
          <p:sp>
            <p:nvSpPr>
              <p:cNvPr id="118" name="Google Shape;118;p29">
                <a:extLst>
                  <a:ext uri="{FF2B5EF4-FFF2-40B4-BE49-F238E27FC236}">
                    <a16:creationId xmlns:a16="http://schemas.microsoft.com/office/drawing/2014/main" id="{52AB664A-4D77-28E3-166E-E546A86435E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29330-1549-F6CC-6C5E-BEDFFDC0E8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5151CD-B3D2-8125-85A4-8BF434EEBD6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D9D9AF-A750-3CD1-D408-25D7443141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2ECABF-7417-D5EF-A544-AA818B347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3C293A-0794-3FEF-E40C-001269816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4B735-EE97-D590-1052-7B1EF3AC44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853140-1ABC-8C5F-0DD9-FE2ADA6A6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DECCFA-A71B-FFA4-F894-3E7320F09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56929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68A0919-E22D-2720-2A77-2E464A2354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28D9E9-7115-9234-2955-18A4BBC982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A685E-614C-10FC-E49D-F6CF99F57D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695483-8B51-407F-2EBB-10BD36D3A5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DB71D-F8DF-710D-A440-576EFD7D29E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336BE-194D-566F-4223-65A222041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236815-78B8-96B3-4D3F-E27DE8887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6A6F09-D4DE-014E-62A5-1CF695DB96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2822D-494F-7BB8-D83A-DC9C1DB793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histograms showing why the Extended Kalman Filter is needed. First, Gaussian samples centered at 0, spanning about minus 4 to 4. Second, the same samples after the linear transform 2x: still a bell-shaped Gaussian centered at 0, but twice as wide, spanning about minus 8 to 8. Third, after the nonlinear transform sine of x: confined to minus 1 to 1, nearly flat in the middle with tall spikes at both ends, so it is no longer Gaussian.">
            <a:extLst>
              <a:ext uri="{FF2B5EF4-FFF2-40B4-BE49-F238E27FC236}">
                <a16:creationId xmlns:a16="http://schemas.microsoft.com/office/drawing/2014/main" id="{916BB3D0-BBD4-DBFB-B0F6-36E53C66B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397000"/>
            <a:ext cx="12192000" cy="4064000"/>
          </a:xfrm>
          <a:prstGeom prst="rect">
            <a:avLst/>
          </a:prstGeom>
        </p:spPr>
      </p:pic>
    </p:spTree>
    <p:extLst>
      <p:ext uri="{BB962C8B-B14F-4D97-AF65-F5344CB8AC3E}">
        <p14:creationId xmlns:p14="http://schemas.microsoft.com/office/powerpoint/2010/main" val="31631148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3BD434-4ABD-90A7-B328-2A13B37CFE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58E8E4A-ACCF-15FD-94F9-2CFCD792356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5951A8-58BD-FAE6-B8C3-EA3AAEB9C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7A564A-CF19-F68F-D565-7EB959C4D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8873E1-B7A6-EC00-891F-3D53FFE6C9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95717-2EDA-7534-C346-94D9C99A2C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16C6AD-EA4A-FBDF-5814-A271D69757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ABD447-956E-A4B7-3ED0-070B0B840E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7991EF-A553-A0E2-C7FD-E9A5D7FFE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catter plot: thousands of Monte Carlo particles, labeled the true distribution, plotted as global X position versus global Y position. They form a curved, banana-shaped arc rather than an elliptical Gaussian cloud. The arc starts sparse near X minus 5, Y 2, rises to about Y 5 around X 0 to 1, and bends down through X 3, Y 4 to X 5, Y 0. It is densest between those last two points and thins into a tail near X 2 to 4, Y minus 4 to minus 5.">
            <a:extLst>
              <a:ext uri="{FF2B5EF4-FFF2-40B4-BE49-F238E27FC236}">
                <a16:creationId xmlns:a16="http://schemas.microsoft.com/office/drawing/2014/main" id="{42196BA8-67CB-FEC0-DC5E-09554E7A5D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03137" y="868221"/>
            <a:ext cx="5785727" cy="5785727"/>
          </a:xfrm>
          <a:prstGeom prst="rect">
            <a:avLst/>
          </a:prstGeom>
        </p:spPr>
      </p:pic>
    </p:spTree>
    <p:extLst>
      <p:ext uri="{BB962C8B-B14F-4D97-AF65-F5344CB8AC3E}">
        <p14:creationId xmlns:p14="http://schemas.microsoft.com/office/powerpoint/2010/main" val="36971149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C9C72B-7E09-26D8-E7BB-4A175B3301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6D92ED-9E79-BC73-1EB4-B32B6406D6C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solve this, we introduce the </a:t>
            </a:r>
            <a:r>
              <a:rPr lang="en-US" sz="2300" b="1" dirty="0">
                <a:latin typeface="Atkinson Hyperlegible Next"/>
                <a:ea typeface="Arial"/>
                <a:cs typeface="Arial"/>
                <a:sym typeface="Arial"/>
              </a:rPr>
              <a:t>Extended Kalman Filter </a:t>
            </a:r>
            <a:r>
              <a:rPr lang="en-US" sz="2300" dirty="0">
                <a:latin typeface="Atkinson Hyperlegible Next"/>
                <a:ea typeface="Arial"/>
                <a:cs typeface="Arial"/>
                <a:sym typeface="Arial"/>
              </a:rPr>
              <a:t>(EKF)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EKF uses the </a:t>
            </a:r>
            <a:r>
              <a:rPr lang="en-US" sz="2300" b="1" dirty="0">
                <a:latin typeface="Atkinson Hyperlegible Next"/>
                <a:ea typeface="Arial"/>
                <a:cs typeface="Arial"/>
                <a:sym typeface="Arial"/>
              </a:rPr>
              <a:t>Taylor Series </a:t>
            </a:r>
            <a:r>
              <a:rPr lang="en-US" sz="2300" dirty="0">
                <a:latin typeface="Atkinson Hyperlegible Next"/>
                <a:ea typeface="Arial"/>
                <a:cs typeface="Arial"/>
                <a:sym typeface="Arial"/>
              </a:rPr>
              <a:t>expansion to approximate the non-linear curves as flat lines right at our current operating point.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zooming in incredibly close to the robot's current state, the curve looks like a straight line.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use that temporary straight line (tangent) to update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calculus tool allows us to find these tangents?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Derivates (in this case </a:t>
            </a:r>
            <a:r>
              <a:rPr lang="en-US" sz="2300" b="1" dirty="0">
                <a:latin typeface="Atkinson Hyperlegible Next"/>
                <a:ea typeface="Arial"/>
                <a:cs typeface="Arial"/>
                <a:sym typeface="Arial"/>
              </a:rPr>
              <a:t>Partial Derivatives</a:t>
            </a:r>
            <a:r>
              <a:rPr lang="en-US" sz="23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5218F053-A21D-4AA6-2BC1-1781257AD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42EDF9-A4A3-AC28-2192-405182E09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A4465F-8453-09B1-218C-BCF177BD6F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E3A5A5-A07B-FC00-2CD2-D89328298B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3371D0-7852-4B82-8E11-7EC50EC69B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E49E93-B0D2-64F0-05C3-E4103D17B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085FA8-4244-0613-5FE2-BEDF8AE090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3759E8-AB16-2F0A-EEF9-30F0CD475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2215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88CD6D-8985-1478-7682-504C48910E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A4B27A-CF27-AEBC-88EC-1E346D5232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C4132A-C3C3-F47F-2A59-8D00687F14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08F67A-5E7C-2B45-DBFA-637A6A6A6A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C2084-ADBF-2762-9C1A-93B1F2393D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95EC39-C777-775B-631C-3C9457C727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BC11E5-3370-D31E-5419-2906DDC27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B0EF79-8CE2-E42C-CC3C-FE4858E232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6B329-3604-0FE6-1DDA-CCD478883A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0F746960-7837-7025-1E03-27CDC991D05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1390801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3927E3-3693-CE76-B3D0-A136D44717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9AE72B-B252-1C42-369D-50717E706C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find that linear approximation, we take the derivative.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our state has multiple variables (</a:t>
                </a:r>
                <a14:m>
                  <m:oMath xmlns:m="http://schemas.openxmlformats.org/officeDocument/2006/math">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must take the </a:t>
                </a:r>
                <a:r>
                  <a:rPr lang="en-US" sz="2000" b="1" dirty="0">
                    <a:latin typeface="Atkinson Hyperlegible Next"/>
                    <a:ea typeface="Arial"/>
                    <a:cs typeface="Arial"/>
                    <a:sym typeface="Arial"/>
                  </a:rPr>
                  <a:t>Partial Derivative </a:t>
                </a:r>
                <a:r>
                  <a:rPr lang="en-US" sz="2000" dirty="0">
                    <a:latin typeface="Atkinson Hyperlegible Next"/>
                    <a:ea typeface="Arial"/>
                    <a:cs typeface="Arial"/>
                    <a:sym typeface="Arial"/>
                  </a:rPr>
                  <a:t>of every output equation with respect to every input state variable.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arrange these partial derivatives into a grid called the </a:t>
                </a:r>
                <a:r>
                  <a:rPr lang="en-US" sz="2000" b="1" dirty="0">
                    <a:latin typeface="Atkinson Hyperlegible Next"/>
                    <a:ea typeface="Arial"/>
                    <a:cs typeface="Arial"/>
                    <a:sym typeface="Arial"/>
                  </a:rPr>
                  <a:t>Jacobian Matrix</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𝐹</m:t>
                      </m:r>
                      <m:r>
                        <a:rPr lang="en-US" sz="2000" i="1" dirty="0" smtClean="0">
                          <a:latin typeface="Cambria Math" panose="02040503050406030204" pitchFamily="18" charset="0"/>
                          <a:ea typeface="Arial"/>
                          <a:cs typeface="Arial"/>
                          <a:sym typeface="Arial"/>
                        </a:rPr>
                        <m:t> = </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a:latin typeface="Cambria Math" panose="02040503050406030204" pitchFamily="18" charset="0"/>
                                        <a:cs typeface="Arial"/>
                                        <a:sym typeface="Arial"/>
                                      </a:rPr>
                                      <m:t>𝜕</m:t>
                                    </m:r>
                                    <m:sSub>
                                      <m:sSubPr>
                                        <m:ctrlPr>
                                          <a:rPr lang="en-US" sz="2000" i="1" dirty="0">
                                            <a:latin typeface="Cambria Math" panose="02040503050406030204" pitchFamily="18" charset="0"/>
                                            <a:cs typeface="Arial"/>
                                            <a:sym typeface="Arial"/>
                                          </a:rPr>
                                        </m:ctrlPr>
                                      </m:sSubPr>
                                      <m:e>
                                        <m:r>
                                          <a:rPr lang="en-US" sz="2000" i="1" dirty="0">
                                            <a:latin typeface="Cambria Math" panose="02040503050406030204" pitchFamily="18" charset="0"/>
                                            <a:cs typeface="Arial"/>
                                            <a:sym typeface="Arial"/>
                                          </a:rPr>
                                          <m:t>𝑓</m:t>
                                        </m:r>
                                      </m:e>
                                      <m:sub>
                                        <m:r>
                                          <a:rPr lang="en-US" sz="2000" i="1" dirty="0">
                                            <a:latin typeface="Cambria Math" panose="02040503050406030204" pitchFamily="18" charset="0"/>
                                            <a:cs typeface="Arial"/>
                                            <a:sym typeface="Arial"/>
                                          </a:rPr>
                                          <m:t>1</m:t>
                                        </m:r>
                                      </m:sub>
                                    </m:sSub>
                                  </m:num>
                                  <m:den>
                                    <m:r>
                                      <a:rPr lang="en-US" sz="2000" i="1" dirty="0">
                                        <a:latin typeface="Cambria Math" panose="02040503050406030204" pitchFamily="18" charset="0"/>
                                        <a:cs typeface="Arial"/>
                                        <a:sym typeface="Arial"/>
                                      </a:rPr>
                                      <m:t>𝜕</m:t>
                                    </m:r>
                                    <m:r>
                                      <a:rPr lang="en-US" sz="2000" i="1" dirty="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3</m:t>
                                    </m:r>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𝜕𝜃</m:t>
                                    </m:r>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the EKF, the dynamic Jacobian matrix replaces the static linear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a:t>
                </a:r>
              </a:p>
            </p:txBody>
          </p:sp>
        </mc:Choice>
        <mc:Fallback xmlns="">
          <p:sp>
            <p:nvSpPr>
              <p:cNvPr id="118" name="Google Shape;118;p29">
                <a:extLst>
                  <a:ext uri="{FF2B5EF4-FFF2-40B4-BE49-F238E27FC236}">
                    <a16:creationId xmlns:a16="http://schemas.microsoft.com/office/drawing/2014/main" id="{459AE72B-B252-1C42-369D-50717E706C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8E8599-A1DE-967D-352D-2F93F965696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9CADB72-FB4E-7B00-3F3A-99467A812D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3E16C2-8675-AE5C-3A0D-F2FFC3CF3C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4D8740-1FFD-F89A-4C54-B089BD71F29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F6A285-E76B-234D-04E7-D8DEA8D341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D8ABDD-F506-0C99-EB5E-DF32D3A6C7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84EF2F-BD45-549A-5ACA-EFC0E09E6D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7EE84A-6832-4230-3504-1C35FAA41B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2720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5BB04A-308D-31C8-2BA7-DE3328369A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3089F5-0F7E-1951-D1C6-D98116107A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i="1" dirty="0">
                                  <a:latin typeface="Cambria Math" panose="02040503050406030204" pitchFamily="18" charset="0"/>
                                  <a:ea typeface="Arial"/>
                                  <a:cs typeface="Arial"/>
                                  <a:sym typeface="Arial"/>
                                </a:rPr>
                                <m:t>1</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take the derivative of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3089F5-0F7E-1951-D1C6-D98116107A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DB8BEA8-7ABF-FC31-B18A-390E61E758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A8203A-5DA0-9FEF-AD6A-1880F6056A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71D5F5-7C2D-1D4E-FEB3-27E06BDCA3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BF524B-8981-EE67-21F5-4FBDD6085E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8FE9EC-0DBF-F3B9-ED39-1881B2DB22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8E767D-312A-98B8-E28B-88266741E3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9F2ED-ED70-B21A-6B00-00DB4F2D3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E46C46-2329-3F38-DF48-60846B9EE2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979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D4A323-FD45-2C53-3E3B-873EF0CAFE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130303-E5AB-25C5-613A-638F756AFA0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m:rPr>
                        <m:sty m:val="p"/>
                      </m:rPr>
                      <a:rPr lang="en-US" sz="2000" b="0" i="1" dirty="0"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r>
                      <a:rPr lang="en-US" sz="200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derive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1" dirty="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 </m:t>
                        </m:r>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F130303-E5AB-25C5-613A-638F756AFA0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C5AB5-E759-F3B6-FB14-052A0CB94E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6344416-3A91-1817-343E-5539EC8173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87968D-B07E-67DF-27B9-34E5F52D29B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B903B9-0DB3-3050-A7A9-3538866013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1843B4-D5B1-72D4-0CE2-66D5CCE054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4CE45A-4A20-F501-FE99-527279BCC1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8595AF-ADCC-0032-4EB3-2AEFE0BECD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49F129-1D7E-A4DA-C3FC-6B0E10D0EB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85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DDBAD9-8D2B-9173-DF07-A1F4CEB74C8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3FF1CE-5C3F-A722-0400-C61A7F080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Putting everything together into the State Transition Matrix:</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1</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m:t>
                                </m:r>
                                <m:sSub>
                                  <m:sSubPr>
                                    <m:ctrlPr>
                                      <a:rPr lang="en-US" sz="2400" b="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b="0" i="1" dirty="0" smtClean="0">
                                        <a:latin typeface="Cambria Math" panose="02040503050406030204" pitchFamily="18" charset="0"/>
                                        <a:ea typeface="Arial"/>
                                        <a:cs typeface="Arial"/>
                                        <a:sym typeface="Arial"/>
                                      </a:rPr>
                                      <m:t>𝑘</m:t>
                                    </m:r>
                                  </m:sub>
                                </m:sSub>
                                <m:func>
                                  <m:funcPr>
                                    <m:ctrlPr>
                                      <a:rPr lang="en-US" sz="2400" b="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a:latin typeface="Cambria Math" panose="02040503050406030204" pitchFamily="18" charset="0"/>
                                        <a:ea typeface="Arial"/>
                                        <a:cs typeface="Arial"/>
                                        <a:sym typeface="Arial"/>
                                      </a:rPr>
                                      <m:t>𝑘</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Notice the </a:t>
                </a:r>
                <a14:m>
                  <m:oMath xmlns:m="http://schemas.openxmlformats.org/officeDocument/2006/math">
                    <m:r>
                      <a:rPr lang="en-US" sz="2400" i="1" dirty="0" smtClean="0">
                        <a:latin typeface="Cambria Math" panose="02040503050406030204" pitchFamily="18" charset="0"/>
                        <a:ea typeface="Arial"/>
                        <a:cs typeface="Arial"/>
                        <a:sym typeface="Arial"/>
                      </a:rPr>
                      <m:t>𝑘</m:t>
                    </m:r>
                  </m:oMath>
                </a14:m>
                <a:r>
                  <a:rPr lang="en-US" sz="2400" dirty="0">
                    <a:latin typeface="Atkinson Hyperlegible Next"/>
                    <a:ea typeface="Arial"/>
                    <a:cs typeface="Arial"/>
                    <a:sym typeface="Arial"/>
                  </a:rPr>
                  <a:t> subscript. This matrix is no longer static.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must </a:t>
                </a:r>
                <a:r>
                  <a:rPr lang="en-US" sz="2400" b="1" dirty="0">
                    <a:latin typeface="Atkinson Hyperlegible Next"/>
                    <a:ea typeface="Arial"/>
                    <a:cs typeface="Arial"/>
                    <a:sym typeface="Arial"/>
                  </a:rPr>
                  <a:t>re-calculate</a:t>
                </a:r>
                <a:r>
                  <a:rPr lang="en-US" sz="2400" dirty="0">
                    <a:latin typeface="Atkinson Hyperlegible Next"/>
                    <a:ea typeface="Arial"/>
                    <a:cs typeface="Arial"/>
                    <a:sym typeface="Arial"/>
                  </a:rPr>
                  <a: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on your microcontroller every single loop based on your </a:t>
                </a:r>
                <a:r>
                  <a:rPr lang="en-US" sz="2400" b="1" dirty="0">
                    <a:latin typeface="Atkinson Hyperlegible Next"/>
                    <a:ea typeface="Arial"/>
                    <a:cs typeface="Arial"/>
                    <a:sym typeface="Arial"/>
                  </a:rPr>
                  <a:t>current velocity and heading</a:t>
                </a:r>
                <a:r>
                  <a:rPr lang="en-US" sz="24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C93FF1CE-5C3F-A722-0400-C61A7F080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1C00726-012A-E73E-7F60-20838BF464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3AEF18-9348-903F-A003-A1816BDEB1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342E9-1CB4-361A-3695-862A026A0B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AD82E1-6875-2A40-EFC9-45046E3B5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BD7D62-3B56-AEC7-060B-EAE81D7F71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C94C3D-5445-D555-5DBA-784FF6B9EF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E6F0B2-C1F2-6A32-257E-BCB00D62F3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27D17B-D4D3-2125-7362-BD4DC15E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042886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D8CB2A-9A8D-5795-0CFA-D3BAB932B43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59559A-EF40-1CB1-9D96-3015EF99445B}"/>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F8BA038-8A45-1E45-2E72-99014E53AE4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F3346009-86DF-4EAA-7E15-5FE993D911D3}"/>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CECEDD4-E737-A9E0-C27E-867274E4965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B857650-7CE7-0F40-486D-829DF916318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47566FB-1603-B23A-05F6-2BFB021DDB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AB3215F-21FF-93E7-54FD-C540D2C3F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C75DD8B-2894-635F-B7F7-CBFB255682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047F730-9070-E25E-3BCB-948EBF53E06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CB1B4A9-0787-4FAE-9995-8B4B722C268B}"/>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718840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1A3043-9F0D-CE3C-8D7D-ADE922C470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2850F2-10E4-496C-196A-B3F30AC9FB5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structure of the Kalman filter remains exactly the same, we just swap in our non-linear functions and our newly derived Jacobian.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State Prediction</a:t>
                </a:r>
                <a:r>
                  <a:rPr lang="en-US" sz="2000" dirty="0">
                    <a:latin typeface="Atkinson Hyperlegible Next"/>
                    <a:ea typeface="Arial"/>
                    <a:cs typeface="Arial"/>
                    <a:sym typeface="Arial"/>
                  </a:rPr>
                  <a:t>: Instead of the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 here and just use the raw, non-linear physics equations (let's call the function </a:t>
                </a:r>
                <a14:m>
                  <m:oMath xmlns:m="http://schemas.openxmlformats.org/officeDocument/2006/math">
                    <m:r>
                      <a:rPr lang="en-US" sz="2000" i="1" dirty="0" smtClean="0">
                        <a:latin typeface="Cambria Math" panose="02040503050406030204" pitchFamily="18" charset="0"/>
                        <a:ea typeface="Arial"/>
                        <a:cs typeface="Arial"/>
                        <a:sym typeface="Arial"/>
                      </a:rPr>
                      <m:t>𝑔</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𝑔</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𝑢</m:t>
                              </m:r>
                            </m:e>
                            <m:sub>
                              <m:r>
                                <a:rPr lang="en-US" sz="2000" i="1" smtClean="0">
                                  <a:latin typeface="Cambria Math" panose="02040503050406030204" pitchFamily="18" charset="0"/>
                                  <a:cs typeface="Arial"/>
                                  <a:sym typeface="Arial"/>
                                </a:rPr>
                                <m:t>𝑘</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our case </a:t>
                </a:r>
                <a14:m>
                  <m:oMath xmlns:m="http://schemas.openxmlformats.org/officeDocument/2006/math">
                    <m:r>
                      <a:rPr lang="en-US" sz="2000" i="1" dirty="0" smtClean="0">
                        <a:latin typeface="Cambria Math" panose="02040503050406030204" pitchFamily="18" charset="0"/>
                        <a:ea typeface="Arial"/>
                        <a:cs typeface="Arial"/>
                        <a:sym typeface="Arial"/>
                      </a:rPr>
                      <m:t>𝑔</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cos</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sin</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𝜔</m:t>
                      </m:r>
                      <m:r>
                        <a:rPr lang="en-US" sz="2000" i="1" dirty="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12850F2-10E4-496C-196A-B3F30AC9FB5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97E8-2BFE-1B37-97AB-959BAD5EA0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00F42-3771-278A-E3BE-CCE428DDCA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EC150E-F6C8-9B22-24DC-BDF598D0C23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0B0B6E0-4800-9B48-320C-EF9D41F0C1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DFB19B-EFE6-30CC-5047-857D6FA187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F13E7-6559-36B2-552A-DCFFA24AC31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7AC65-81E0-FA2F-69ED-698521BB7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FEA173-D3FC-4ACA-836F-AF8FB6F579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948045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06E977-3F53-56C9-D0BB-492027DC20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709B19-F163-7BB4-E0B2-D476D7C12A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Covariance Prediction</a:t>
                </a:r>
                <a:r>
                  <a:rPr lang="en-US" sz="2400" dirty="0">
                    <a:latin typeface="Atkinson Hyperlegible Next"/>
                    <a:ea typeface="Arial"/>
                    <a:cs typeface="Arial"/>
                    <a:sym typeface="Arial"/>
                  </a:rPr>
                  <a:t>: We use our calculated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warp the uncertainty ellipse properly.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𝑄</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dimension is Q in our nonlinear case?</a:t>
                </a:r>
              </a:p>
            </p:txBody>
          </p:sp>
        </mc:Choice>
        <mc:Fallback xmlns="">
          <p:sp>
            <p:nvSpPr>
              <p:cNvPr id="118" name="Google Shape;118;p29">
                <a:extLst>
                  <a:ext uri="{FF2B5EF4-FFF2-40B4-BE49-F238E27FC236}">
                    <a16:creationId xmlns:a16="http://schemas.microsoft.com/office/drawing/2014/main" id="{2E709B19-F163-7BB4-E0B2-D476D7C12A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FD1F5E-F20D-46DE-9561-9CDAAC2A49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3781B2-7043-A78E-FE40-3C1F131660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DDD1FD-A55E-5936-1203-55E7E97A73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6638F4-3FB9-37FC-43FE-F31E4711FDB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4C9F5A-FDA5-FD3B-0349-A27D923CCC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DE69AD-D6A3-7613-3C43-A8FB0DB28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564A8F-9329-2359-1DA6-494905A255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A182BD-4F8D-A66D-9A50-9EB4B02233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91419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C61058-7C82-C561-7EE2-22D85E028D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8A133C-1F0A-B05B-A98F-765ABC3A68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88EF3D-A0A0-CE63-98D1-7F446B53D0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2E247F-8288-5D75-034D-76935DADCD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E6BD7-656F-461F-3A8A-C9A2DA3603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0785B1-6A62-383B-3E40-53E7EA3ADD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05A427-F696-84C5-53C1-DD6EB9AFD4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28D31D-B6CD-7AD9-2BF8-B3E5E7306F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5CE9A-4D7D-5DA4-A562-CFA9BA24C4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BAB53DCF-39D4-00A6-32FB-1B692FF53B1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7499318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25C843E-2917-7D30-EAED-3E9ACF3BE7F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F1B886-A2FB-F21F-15E5-E049390E68D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F1525255-F323-E525-5A31-24742B69DC5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C52AE850-B8B1-B5FB-3314-B9CDD207BF6E}"/>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AF7C25A-74BC-5E87-A917-B7AEFE9E0B9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4D2EEC2-3DE9-BD2C-9D2A-E330058069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281EA2F-10F9-2512-FA01-648E224787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D4CF60C-3E0E-6352-7880-E17D765570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BF2E64B-7ACD-6D01-1A6E-684D15E2BCAD}"/>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B1B9476-FF04-1CD7-EF23-0936AECC127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7E87DA1-C2BF-B577-B173-FBD88A1DB1F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548868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966A2A-FC76-74B5-772A-77355A3A22B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177DE21-6B77-04D4-6244-F2DD982BD2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same logic applies to sensors.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 sensor measurement is non-linear (like a radar measuring angle and distance), we use the non-linear measurement function </a:t>
                </a:r>
                <a14:m>
                  <m:oMath xmlns:m="http://schemas.openxmlformats.org/officeDocument/2006/math">
                    <m:r>
                      <a:rPr lang="en-US" sz="2400" i="1" dirty="0" smtClean="0">
                        <a:latin typeface="Cambria Math" panose="02040503050406030204" pitchFamily="18" charset="0"/>
                        <a:ea typeface="Arial"/>
                        <a:cs typeface="Arial"/>
                        <a:sym typeface="Arial"/>
                      </a:rPr>
                      <m:t>h</m:t>
                    </m:r>
                  </m:oMath>
                </a14:m>
                <a:r>
                  <a:rPr lang="en-US" sz="2400" dirty="0">
                    <a:latin typeface="Atkinson Hyperlegible Next"/>
                    <a:ea typeface="Arial"/>
                    <a:cs typeface="Arial"/>
                    <a:sym typeface="Arial"/>
                  </a:rPr>
                  <a:t> to predict the measurement, and a sensor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𝐻</m:t>
                        </m:r>
                      </m:e>
                      <m:sub>
                        <m:r>
                          <a:rPr lang="en-US" sz="2400" i="1" dirty="0"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calculate the gain.</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177DE21-6B77-04D4-6244-F2DD982BD25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9F9D712-AB18-E5E6-4E16-E2B2FC385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089C76-53F9-1677-D637-FD1CCD82AF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655A5E-CFA9-B521-13D5-52ED011843A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A4047B-5A68-BD6D-5808-A2A846B8F5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B2DBC2-EB2F-84D4-AC2A-CD532660A8D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70EA24-4877-7BF1-0336-7F62B93A2E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4E03D2-1061-6926-C86F-599C43A14E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39646B-EE9E-D2F5-EA9B-4C547D66F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576372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089A31-2797-4751-B137-5969A9D300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740B13-0CF1-6C52-CCD9-083E110677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Let's say our robot is being tracked by a stationary radar tower located at the origin </a:t>
                </a:r>
                <a14:m>
                  <m:oMath xmlns:m="http://schemas.openxmlformats.org/officeDocument/2006/math">
                    <m:d>
                      <m:dPr>
                        <m:ctrlPr>
                          <a:rPr lang="en-US" sz="2400" i="1">
                            <a:latin typeface="Cambria Math" panose="02040503050406030204" pitchFamily="18" charset="0"/>
                            <a:cs typeface="Arial"/>
                            <a:sym typeface="Arial"/>
                          </a:rPr>
                        </m:ctrlPr>
                      </m:dPr>
                      <m:e>
                        <m:r>
                          <a:rPr lang="en-US" sz="2400" i="1">
                            <a:latin typeface="Cambria Math" panose="02040503050406030204" pitchFamily="18" charset="0"/>
                            <a:cs typeface="Arial"/>
                            <a:sym typeface="Arial"/>
                          </a:rPr>
                          <m:t>0,0</m:t>
                        </m:r>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radar doesn't measure </a:t>
                </a:r>
                <a14:m>
                  <m:oMath xmlns:m="http://schemas.openxmlformats.org/officeDocument/2006/math">
                    <m:r>
                      <a:rPr lang="en-US" sz="2400" i="1" dirty="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coordinates. It outputs a measurement vector </a:t>
                </a:r>
                <a14:m>
                  <m:oMath xmlns:m="http://schemas.openxmlformats.org/officeDocument/2006/math">
                    <m:r>
                      <a:rPr lang="en-US" sz="2400" i="1" dirty="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containing two values: distance (</a:t>
                </a:r>
                <a14:m>
                  <m:oMath xmlns:m="http://schemas.openxmlformats.org/officeDocument/2006/math">
                    <m:r>
                      <a:rPr lang="en-US" sz="2400" i="1" dirty="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bearing angle (</a:t>
                </a:r>
                <a14:m>
                  <m:oMath xmlns:m="http://schemas.openxmlformats.org/officeDocument/2006/math">
                    <m:r>
                      <a:rPr lang="en-US" sz="2400" i="1" dirty="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ea typeface="Arial"/>
                          <a:cs typeface="Arial"/>
                          <a:sym typeface="Arial"/>
                        </a:rPr>
                        <m:t>𝑧</m:t>
                      </m:r>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r>
                                  <a:rPr lang="en-US" sz="2400" i="1" dirty="0">
                                    <a:latin typeface="Cambria Math" panose="02040503050406030204" pitchFamily="18" charset="0"/>
                                    <a:ea typeface="Arial"/>
                                    <a:cs typeface="Arial"/>
                                    <a:sym typeface="Arial"/>
                                  </a:rPr>
                                  <m:t>𝑟</m:t>
                                </m:r>
                              </m:e>
                            </m:mr>
                            <m:mr>
                              <m:e>
                                <m:r>
                                  <a:rPr lang="en-US" sz="2400" i="1" dirty="0">
                                    <a:latin typeface="Cambria Math" panose="02040503050406030204" pitchFamily="18" charset="0"/>
                                    <a:ea typeface="Arial"/>
                                    <a:cs typeface="Arial"/>
                                    <a:sym typeface="Arial"/>
                                  </a:rPr>
                                  <m:t>𝜙</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740B13-0CF1-6C52-CCD9-083E110677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C81C90-AFF5-74BD-9A9A-5532A4B03A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C7CEB6-4706-EE78-4071-DBEF1630C9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E1D893-72A5-383E-B20F-A461309E9E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D13700-FEA2-1480-E74A-4E5A4F8B04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94DB1-70DB-880D-7412-E1D7BE3DD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408FCC-35E0-9FAD-4572-34035E59D6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F3E20B-C49C-93F3-4EB2-B423E67876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5F7FB2-46E1-4F32-C659-D5CB3150FB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54517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CD0FC6-0E36-2621-8F34-5B531838B7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401537-2FBE-2248-F116-7A45F1653C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During the Predict Step, we need to guess </a:t>
                </a:r>
                <a:r>
                  <a:rPr lang="en-US" sz="2400" b="1" dirty="0">
                    <a:latin typeface="Atkinson Hyperlegible Next"/>
                    <a:ea typeface="Arial"/>
                    <a:cs typeface="Arial"/>
                    <a:sym typeface="Arial"/>
                  </a:rPr>
                  <a:t>what the radar should see </a:t>
                </a:r>
                <a:r>
                  <a:rPr lang="en-US" sz="2400" dirty="0">
                    <a:latin typeface="Atkinson Hyperlegible Next"/>
                    <a:ea typeface="Arial"/>
                    <a:cs typeface="Arial"/>
                    <a:sym typeface="Arial"/>
                  </a:rPr>
                  <a:t>based on our internal belief of where we are (try to guess the radar measurement).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geometry to map our state space into sensor space. This is our non-linear measurement function, </a:t>
                </a:r>
                <a14:m>
                  <m:oMath xmlns:m="http://schemas.openxmlformats.org/officeDocument/2006/math">
                    <m:r>
                      <a:rPr lang="en-US" sz="2400" i="1" smtClean="0">
                        <a:latin typeface="Cambria Math" panose="02040503050406030204" pitchFamily="18" charset="0"/>
                        <a:cs typeface="Arial"/>
                        <a:sym typeface="Arial"/>
                      </a:rPr>
                      <m:t>h</m:t>
                    </m:r>
                    <m:d>
                      <m:dPr>
                        <m:ctrlPr>
                          <a:rPr lang="en-US" sz="2400" i="1" smtClean="0">
                            <a:latin typeface="Cambria Math" panose="02040503050406030204" pitchFamily="18" charset="0"/>
                            <a:cs typeface="Arial"/>
                            <a:sym typeface="Arial"/>
                          </a:rPr>
                        </m:ctrlPr>
                      </m:dPr>
                      <m:e>
                        <m:r>
                          <a:rPr lang="en-US" sz="2400" i="1" smtClean="0">
                            <a:latin typeface="Cambria Math" panose="02040503050406030204" pitchFamily="18" charset="0"/>
                            <a:cs typeface="Arial"/>
                            <a:sym typeface="Arial"/>
                          </a:rPr>
                          <m:t>𝑥</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𝜙</m:t>
                      </m:r>
                      <m:r>
                        <a:rPr lang="en-US" sz="2400" i="1" smtClean="0">
                          <a:latin typeface="Cambria Math" panose="02040503050406030204" pitchFamily="18" charset="0"/>
                          <a:cs typeface="Arial"/>
                          <a:sym typeface="Arial"/>
                        </a:rPr>
                        <m:t>=</m:t>
                      </m:r>
                      <m:func>
                        <m:funcPr>
                          <m:ctrlPr>
                            <a:rPr lang="en-US" sz="2400" i="1">
                              <a:latin typeface="Cambria Math" panose="02040503050406030204" pitchFamily="18" charset="0"/>
                              <a:cs typeface="Arial"/>
                              <a:sym typeface="Arial"/>
                            </a:rPr>
                          </m:ctrlPr>
                        </m:funcPr>
                        <m:fName>
                          <m:r>
                            <m:rPr>
                              <m:sty m:val="p"/>
                            </m:rPr>
                            <a:rPr lang="en-US" sz="2400" i="0">
                              <a:latin typeface="Cambria Math" panose="02040503050406030204" pitchFamily="18" charset="0"/>
                              <a:cs typeface="Arial"/>
                              <a:sym typeface="Arial"/>
                            </a:rPr>
                            <m:t>arctan</m:t>
                          </m:r>
                        </m:fName>
                        <m:e>
                          <m:d>
                            <m:dPr>
                              <m:ctrlPr>
                                <a:rPr lang="en-US" sz="2400" i="1">
                                  <a:latin typeface="Cambria Math" panose="02040503050406030204" pitchFamily="18" charset="0"/>
                                  <a:cs typeface="Arial"/>
                                  <a:sym typeface="Arial"/>
                                </a:rPr>
                              </m:ctrlPr>
                            </m:dPr>
                            <m:e>
                              <m:f>
                                <m:fPr>
                                  <m:ctrlPr>
                                    <a:rPr lang="en-US" sz="2400" i="1">
                                      <a:latin typeface="Cambria Math" panose="02040503050406030204" pitchFamily="18" charset="0"/>
                                      <a:cs typeface="Arial"/>
                                      <a:sym typeface="Arial"/>
                                    </a:rPr>
                                  </m:ctrlPr>
                                </m:fPr>
                                <m:num>
                                  <m:r>
                                    <a:rPr lang="en-US" sz="2400" i="1">
                                      <a:latin typeface="Cambria Math" panose="02040503050406030204" pitchFamily="18" charset="0"/>
                                      <a:cs typeface="Arial"/>
                                      <a:sym typeface="Arial"/>
                                    </a:rPr>
                                    <m:t>𝑌</m:t>
                                  </m:r>
                                </m:num>
                                <m:den>
                                  <m:r>
                                    <a:rPr lang="en-US" sz="2400" i="1">
                                      <a:latin typeface="Cambria Math" panose="02040503050406030204" pitchFamily="18" charset="0"/>
                                      <a:cs typeface="Arial"/>
                                      <a:sym typeface="Arial"/>
                                    </a:rPr>
                                    <m:t>𝑋</m:t>
                                  </m:r>
                                </m:den>
                              </m:f>
                            </m:e>
                          </m:d>
                        </m:e>
                      </m:func>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Just like kinematics, we cannot express this as a linear matrix multiplication. We must use Jacobians to linearize it!</a:t>
                </a:r>
              </a:p>
            </p:txBody>
          </p:sp>
        </mc:Choice>
        <mc:Fallback xmlns="">
          <p:sp>
            <p:nvSpPr>
              <p:cNvPr id="118" name="Google Shape;118;p29">
                <a:extLst>
                  <a:ext uri="{FF2B5EF4-FFF2-40B4-BE49-F238E27FC236}">
                    <a16:creationId xmlns:a16="http://schemas.microsoft.com/office/drawing/2014/main" id="{4A401537-2FBE-2248-F116-7A45F1653C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b="-455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8428D59-20A6-D22C-C1E7-C4CA747E7A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F21D7-8C78-B080-B03D-FAD2F28220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704064-AEE9-07E6-1377-CF82D720EC5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84DB86-71DB-422A-D99D-17C0DF696D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028ADC-D701-04F5-0075-C7E6C55426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0A609AE-8CCA-7CC6-235A-C217E37E54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2E09B6-4D9D-C21D-66E7-9FDFD1C766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9ED7B0-8903-AF95-4AC0-28119AB103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1066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FA05-7B16-6DE9-9DAA-A966E8198EA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F8060F-EF5C-BA1B-C4A1-5EE5F8ED60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must take the partial derivatives of </a:t>
                </a:r>
                <a14:m>
                  <m:oMath xmlns:m="http://schemas.openxmlformats.org/officeDocument/2006/math">
                    <m:r>
                      <a:rPr lang="en-US" sz="2400" i="1" dirty="0" smtClean="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 with respect to our state variables (</a:t>
                </a:r>
                <a14:m>
                  <m:oMath xmlns:m="http://schemas.openxmlformats.org/officeDocument/2006/math">
                    <m:r>
                      <a:rPr lang="en-US" sz="2400" i="1" dirty="0" smtClean="0">
                        <a:latin typeface="Cambria Math" panose="02040503050406030204" pitchFamily="18" charset="0"/>
                        <a:ea typeface="Arial"/>
                        <a:cs typeface="Arial"/>
                        <a:sym typeface="Arial"/>
                      </a:rPr>
                      <m:t>𝑋</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look at the distance equation: </a:t>
                </a:r>
                <a14:m>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Using the chain rule: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F8060F-EF5C-BA1B-C4A1-5EE5F8ED608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9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62B8DB8-6539-FB82-22A7-BC189B3893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E010CE-C681-CC98-7372-5AE5B33AF5B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EDA05-B699-AC22-5C63-53A6195EE48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780196-B775-EAD0-AF1F-A680AD8FFA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495CD5-CBCA-E75D-F8B2-FDECDF76C7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BAFCA5-56CC-03B1-DE86-B0C9ED562C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EF9DC2-9175-2625-900F-BD0B7EEB6A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E8952-516C-3F4C-FC5D-60D625C3BD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89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AEF7-FD56-A35E-CEF0-021B9C3EC2E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2234EE9-4FEE-BB9F-147D-582C8340A2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the bearing equation:  </a:t>
                </a:r>
                <a14:m>
                  <m:oMath xmlns:m="http://schemas.openxmlformats.org/officeDocument/2006/math">
                    <m:r>
                      <a:rPr lang="en-US" sz="2400" i="1" dirty="0" smtClean="0">
                        <a:latin typeface="Cambria Math" panose="02040503050406030204" pitchFamily="18" charset="0"/>
                        <a:ea typeface="Arial"/>
                        <a:cs typeface="Arial"/>
                        <a:sym typeface="Arial"/>
                      </a:rPr>
                      <m:t>𝜙</m:t>
                    </m:r>
                    <m:r>
                      <a:rPr lang="en-US" sz="2400" i="1" dirty="0" smtClean="0">
                        <a:latin typeface="Cambria Math" panose="02040503050406030204" pitchFamily="18" charset="0"/>
                        <a:ea typeface="Arial"/>
                        <a:cs typeface="Arial"/>
                        <a:sym typeface="Arial"/>
                      </a:rPr>
                      <m:t>=</m:t>
                    </m:r>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derivative of </a:t>
                </a:r>
                <a14:m>
                  <m:oMath xmlns:m="http://schemas.openxmlformats.org/officeDocument/2006/math">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𝑢</m:t>
                            </m:r>
                          </m:e>
                        </m:d>
                      </m:e>
                    </m:func>
                    <m:r>
                      <a:rPr lang="en-US" sz="2400" i="1" dirty="0" smtClean="0">
                        <a:latin typeface="Cambria Math" panose="02040503050406030204" pitchFamily="18" charset="0"/>
                        <a:ea typeface="Arial"/>
                        <a:cs typeface="Arial"/>
                        <a:sym typeface="Arial"/>
                      </a:rPr>
                      <m:t>𝑖𝑠</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1</m:t>
                        </m:r>
                      </m:num>
                      <m:den>
                        <m:r>
                          <a:rPr lang="en-US" sz="2400" i="1" dirty="0" smtClean="0">
                            <a:latin typeface="Cambria Math" panose="02040503050406030204" pitchFamily="18" charset="0"/>
                            <a:ea typeface="Arial"/>
                            <a:cs typeface="Arial"/>
                            <a:sym typeface="Arial"/>
                          </a:rPr>
                          <m:t>1+</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𝑢</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sSup>
                      <m:sSupPr>
                        <m:ctrlPr>
                          <a:rPr lang="en-US" sz="2400" i="1" dirty="0" err="1" smtClean="0">
                            <a:latin typeface="Cambria Math" panose="02040503050406030204" pitchFamily="18" charset="0"/>
                            <a:ea typeface="Arial"/>
                            <a:cs typeface="Arial"/>
                            <a:sym typeface="Arial"/>
                          </a:rPr>
                        </m:ctrlPr>
                      </m:sSupPr>
                      <m:e>
                        <m:r>
                          <a:rPr lang="en-US" sz="2400" i="1" dirty="0" err="1" smtClean="0">
                            <a:latin typeface="Cambria Math" panose="02040503050406030204" pitchFamily="18" charset="0"/>
                            <a:ea typeface="Arial"/>
                            <a:cs typeface="Arial"/>
                            <a:sym typeface="Arial"/>
                          </a:rPr>
                          <m:t>𝑢</m:t>
                        </m:r>
                      </m:e>
                      <m:sup>
                        <m:r>
                          <a:rPr lang="en-US" sz="2400" i="1" dirty="0" err="1"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After some algebra: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2234EE9-4FEE-BB9F-147D-582C8340A2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3851790-7177-6E20-2A7B-2E56D8D796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F13B18-C885-7F63-E0A1-C7167CA3FE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50E8FB-CAD2-BC28-BC79-AA71671915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670190-0B17-2BC4-DA68-062719F939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FEF5C8-06F3-7ACF-BA18-DEDC474F04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7921CC-77CD-C6F8-8309-34138BDA0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698EC7-EF87-D231-8825-549501E2FD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9FF7AB-F41C-41C8-96F6-7D0880D914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3025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2776F4-820E-D0EB-4B34-C3A6BB885B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D5ABC27-4246-7A4E-84BA-4E6FC0D67F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assemble our partial derivatives into a </a:t>
                </a:r>
                <a14:m>
                  <m:oMath xmlns:m="http://schemas.openxmlformats.org/officeDocument/2006/math">
                    <m:r>
                      <a:rPr lang="en-US" sz="2400" i="1" dirty="0" smtClean="0">
                        <a:latin typeface="Cambria Math" panose="02040503050406030204" pitchFamily="18" charset="0"/>
                        <a:ea typeface="Arial"/>
                        <a:cs typeface="Arial"/>
                        <a:sym typeface="Arial"/>
                      </a:rPr>
                      <m:t>2 ×3</m:t>
                    </m:r>
                  </m:oMath>
                </a14:m>
                <a:r>
                  <a:rPr lang="en-US" sz="2400" dirty="0">
                    <a:latin typeface="Atkinson Hyperlegible Next"/>
                    <a:ea typeface="Arial"/>
                    <a:cs typeface="Arial"/>
                    <a:sym typeface="Arial"/>
                  </a:rPr>
                  <a:t> matrix (2 measurement outputs, 3 state variables).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our dynamic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matrix for the current time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e>
                              <m:e>
                                <m:r>
                                  <a:rPr lang="en-US" sz="2400" i="1" dirty="0" smtClean="0">
                                    <a:latin typeface="Cambria Math" panose="02040503050406030204" pitchFamily="18" charset="0"/>
                                    <a:ea typeface="Arial"/>
                                    <a:cs typeface="Arial"/>
                                    <a:sym typeface="Arial"/>
                                  </a:rPr>
                                  <m:t>0</m:t>
                                </m:r>
                              </m:e>
                            </m:mr>
                            <m:mr>
                              <m:e/>
                              <m:e/>
                              <m:e/>
                            </m:mr>
                            <m:mr>
                              <m:e>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r>
                                  <a:rPr lang="en-US" sz="2400" i="1" dirty="0" smtClean="0">
                                    <a:latin typeface="Cambria Math" panose="02040503050406030204" pitchFamily="18" charset="0"/>
                                    <a:ea typeface="Arial"/>
                                    <a:cs typeface="Arial"/>
                                    <a:sym typeface="Arial"/>
                                  </a:rPr>
                                  <m:t>0</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this exact matrix </a:t>
                </a:r>
                <a:r>
                  <a:rPr lang="en-US" sz="2400" b="1" dirty="0">
                    <a:latin typeface="Atkinson Hyperlegible Next"/>
                    <a:ea typeface="Arial"/>
                    <a:cs typeface="Arial"/>
                    <a:sym typeface="Arial"/>
                  </a:rPr>
                  <a:t>every single loop </a:t>
                </a:r>
                <a:r>
                  <a:rPr lang="en-US" sz="2400" dirty="0">
                    <a:latin typeface="Atkinson Hyperlegible Next"/>
                    <a:ea typeface="Arial"/>
                    <a:cs typeface="Arial"/>
                    <a:sym typeface="Arial"/>
                  </a:rPr>
                  <a:t>using our predicted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values.</a:t>
                </a:r>
              </a:p>
            </p:txBody>
          </p:sp>
        </mc:Choice>
        <mc:Fallback xmlns="">
          <p:sp>
            <p:nvSpPr>
              <p:cNvPr id="118" name="Google Shape;118;p29">
                <a:extLst>
                  <a:ext uri="{FF2B5EF4-FFF2-40B4-BE49-F238E27FC236}">
                    <a16:creationId xmlns:a16="http://schemas.microsoft.com/office/drawing/2014/main" id="{5D5ABC27-4246-7A4E-84BA-4E6FC0D67F4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60D6E75-E0DD-378E-6984-E23347EA9B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402F8B-DFF9-EE34-1AF5-9DC30D47C06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4BDFCE-0081-6A99-FC1E-45AF39BC11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15A7CE-31C7-8004-CE18-51279CF86D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ADE0A2-0282-B736-4631-26C9581A0C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F356D2-64E2-79CE-16A7-0F15A1E460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439657-065E-F57C-9DCA-558D212E154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CE1488-4729-34E5-BEE8-FE26F31A42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60989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108140-61AE-4941-CD72-096BF4ED673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7A51193-575C-E6C4-2881-BF811DADFB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that we have our non-linear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and our linear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we execute the EKF Update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1. Calculate Kalman Gain: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sSup>
                        <m:sSupPr>
                          <m:ctrlPr>
                            <a:rPr lang="en-US" sz="2400" i="1" dirty="0" smtClean="0">
                              <a:latin typeface="Cambria Math" panose="02040503050406030204" pitchFamily="18" charset="0"/>
                              <a:ea typeface="Arial"/>
                              <a:cs typeface="Arial"/>
                              <a:sym typeface="Arial"/>
                            </a:rPr>
                          </m:ctrlPr>
                        </m:sSupPr>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𝑅</m:t>
                              </m:r>
                            </m:e>
                          </m:d>
                        </m:e>
                        <m:sup>
                          <m:r>
                            <a:rPr lang="en-US" sz="2400" i="1" dirty="0" smtClean="0">
                              <a:latin typeface="Cambria Math" panose="02040503050406030204" pitchFamily="18" charset="0"/>
                              <a:ea typeface="Arial"/>
                              <a:cs typeface="Arial"/>
                              <a:sym typeface="Arial"/>
                            </a:rPr>
                            <m:t>−1</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2. Correct the State: (Notice we use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to calculate the residual, not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err="1"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𝑧</m:t>
                              </m:r>
                            </m:e>
                            <m:sub>
                              <m:r>
                                <a:rPr lang="en-US" sz="2400" i="1" dirty="0" smtClean="0">
                                  <a:latin typeface="Cambria Math" panose="02040503050406030204" pitchFamily="18" charset="0"/>
                                  <a:ea typeface="Arial"/>
                                  <a:cs typeface="Arial"/>
                                  <a:sym typeface="Arial"/>
                                </a:rPr>
                                <m:t>𝑚𝑒𝑎𝑠𝑢𝑟𝑒𝑑</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e>
                                </m:mr>
                              </m:m>
                            </m:e>
                          </m:d>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3. Shrink Covariance:</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sub>
                      </m:sSub>
                      <m:r>
                        <a:rPr lang="en-US" sz="2400" i="1" dirty="0" smtClean="0">
                          <a:latin typeface="Cambria Math" panose="02040503050406030204" pitchFamily="18" charset="0"/>
                          <a:ea typeface="Arial"/>
                          <a:cs typeface="Arial"/>
                          <a:sym typeface="Arial"/>
                        </a:rPr>
                        <m:t>=</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𝐼</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e>
                      </m:d>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7A51193-575C-E6C4-2881-BF811DADFBB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514259F-0756-0FCF-AFDF-44EA3CD0E3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7FD8E7-73BE-2716-E570-010B88D885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9B3BB7-8093-6975-3E68-39A07744863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7D977A5-2CF1-FC27-9394-BC9EDCF174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E2138F-EC52-A5CB-7F0E-EA71A236C6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46873A-580F-F0B1-16E4-2D3BFCBF40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8409B2-AD12-126B-0D85-9D1C6E782D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5B4C0-5913-7635-8B9E-C99FFDEAD9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80612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798335-A1A1-BF5C-D7A2-B8CB0276E8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3765FE-088C-F3B4-29C1-668D02CDC1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And that’s it! That’s the extended Kalman filter!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more complex filters out there such as Particle Filters, Unscented filters, Lie Group Kalman Filters.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But all they are trying to do is improve the estimate of the non-linearity in the system!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Everything else is the same, they all have update and predict steps!</a:t>
            </a:r>
          </a:p>
        </p:txBody>
      </p:sp>
      <p:sp>
        <p:nvSpPr>
          <p:cNvPr id="119" name="Google Shape;119;p29">
            <a:extLst>
              <a:ext uri="{FF2B5EF4-FFF2-40B4-BE49-F238E27FC236}">
                <a16:creationId xmlns:a16="http://schemas.microsoft.com/office/drawing/2014/main" id="{7E95A136-82EF-9A5F-3185-247275EC3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14A5D9-ECA7-B426-88C4-B5D3CDEC9B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3E9316-A1D8-FDAF-2D9D-0E93CE0269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6C8E7C6-F27F-2648-AC21-A415DD58D0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296CAE-69CA-75CB-BFF0-A9C94618BD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6B5DC2-645E-0818-A2C8-3C05E6F6B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0C1522-D7D8-1959-34B5-D287562CF1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E0C3D8-9FB2-8A1B-AAEF-11DC1465ED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730131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E29F8F-5303-E70F-FFE6-D370896569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34BB72-C316-DC73-E098-486F9838DB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6E2CD-5C47-312A-64AC-58DE217682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01A1CA-9AB2-C015-A9CE-6B66961122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E54AF5-726E-3BBE-0C25-CC30FB0AD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C09236-C978-6C24-8B69-B3538B1357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92FCE9-D90F-0223-04EF-9D6345D04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6E96C1-913A-FC30-E19D-AE3A7565E2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8910D3-9E8A-74FA-0490-2AD4CE5BBE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e uncertainty after moving from the start at (0, 0) along a nominal update arrow to about (3.5, 3.5), axes are global x and y position. Monte Carlo particles form a curved banana-shaped arc, running from about (−5, 2) over the top near y = 5 and down to about (5, −4). The dashed orange-red EKF Cartesian 2-sigma ellipse is a straight tilted ellipse that misses much of the arc. The green Lie group SE(2) 2-sigma bound bends with the particles and fits the dense region better.">
            <a:extLst>
              <a:ext uri="{FF2B5EF4-FFF2-40B4-BE49-F238E27FC236}">
                <a16:creationId xmlns:a16="http://schemas.microsoft.com/office/drawing/2014/main" id="{FB821CD5-ADF9-81BC-13BF-E2E66DCE4CCF}"/>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2580669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20–21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1471</TotalTime>
  <Words>5606</Words>
  <Application>Microsoft Office PowerPoint</Application>
  <PresentationFormat>Widescreen</PresentationFormat>
  <Paragraphs>926</Paragraphs>
  <Slides>100</Slides>
  <Notes>100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100</vt:i4>
      </vt:variant>
    </vt:vector>
  </HeadingPairs>
  <TitlesOfParts>
    <vt:vector size="104"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326</cp:revision>
  <dcterms:created xsi:type="dcterms:W3CDTF">2019-01-14T22:06:33Z</dcterms:created>
  <dcterms:modified xsi:type="dcterms:W3CDTF">2026-04-08T13:45:38Z</dcterms:modified>
</cp:coreProperties>
</file>