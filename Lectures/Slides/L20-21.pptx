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02"/>
  </p:notesMasterIdLst>
  <p:sldIdLst>
    <p:sldId id="256" r:id="rId2"/>
    <p:sldId id="417" r:id="rId3"/>
    <p:sldId id="413" r:id="rId4"/>
    <p:sldId id="272" r:id="rId5"/>
    <p:sldId id="258" r:id="rId6"/>
    <p:sldId id="420" r:id="rId7"/>
    <p:sldId id="421" r:id="rId8"/>
    <p:sldId id="419" r:id="rId9"/>
    <p:sldId id="422" r:id="rId10"/>
    <p:sldId id="424" r:id="rId11"/>
    <p:sldId id="426" r:id="rId12"/>
    <p:sldId id="427" r:id="rId13"/>
    <p:sldId id="453" r:id="rId14"/>
    <p:sldId id="428" r:id="rId15"/>
    <p:sldId id="429" r:id="rId16"/>
    <p:sldId id="430" r:id="rId17"/>
    <p:sldId id="433" r:id="rId18"/>
    <p:sldId id="455" r:id="rId19"/>
    <p:sldId id="418" r:id="rId20"/>
    <p:sldId id="431" r:id="rId21"/>
    <p:sldId id="432" r:id="rId22"/>
    <p:sldId id="437" r:id="rId23"/>
    <p:sldId id="434" r:id="rId24"/>
    <p:sldId id="438" r:id="rId25"/>
    <p:sldId id="436" r:id="rId26"/>
    <p:sldId id="456" r:id="rId27"/>
    <p:sldId id="435" r:id="rId28"/>
    <p:sldId id="439" r:id="rId29"/>
    <p:sldId id="441" r:id="rId30"/>
    <p:sldId id="440" r:id="rId31"/>
    <p:sldId id="476" r:id="rId32"/>
    <p:sldId id="442" r:id="rId33"/>
    <p:sldId id="443" r:id="rId34"/>
    <p:sldId id="454" r:id="rId35"/>
    <p:sldId id="458" r:id="rId36"/>
    <p:sldId id="472" r:id="rId37"/>
    <p:sldId id="448" r:id="rId38"/>
    <p:sldId id="473" r:id="rId39"/>
    <p:sldId id="444" r:id="rId40"/>
    <p:sldId id="446" r:id="rId41"/>
    <p:sldId id="445" r:id="rId42"/>
    <p:sldId id="447" r:id="rId43"/>
    <p:sldId id="449" r:id="rId44"/>
    <p:sldId id="450" r:id="rId45"/>
    <p:sldId id="451" r:id="rId46"/>
    <p:sldId id="477" r:id="rId47"/>
    <p:sldId id="457" r:id="rId48"/>
    <p:sldId id="460" r:id="rId49"/>
    <p:sldId id="461" r:id="rId50"/>
    <p:sldId id="462" r:id="rId51"/>
    <p:sldId id="463" r:id="rId52"/>
    <p:sldId id="464" r:id="rId53"/>
    <p:sldId id="474" r:id="rId54"/>
    <p:sldId id="465" r:id="rId55"/>
    <p:sldId id="475" r:id="rId56"/>
    <p:sldId id="467" r:id="rId57"/>
    <p:sldId id="471" r:id="rId58"/>
    <p:sldId id="459" r:id="rId59"/>
    <p:sldId id="478" r:id="rId60"/>
    <p:sldId id="468" r:id="rId61"/>
    <p:sldId id="469" r:id="rId62"/>
    <p:sldId id="470" r:id="rId63"/>
    <p:sldId id="466" r:id="rId64"/>
    <p:sldId id="479" r:id="rId65"/>
    <p:sldId id="480" r:id="rId66"/>
    <p:sldId id="481" r:id="rId67"/>
    <p:sldId id="482" r:id="rId68"/>
    <p:sldId id="483" r:id="rId69"/>
    <p:sldId id="484" r:id="rId70"/>
    <p:sldId id="485" r:id="rId71"/>
    <p:sldId id="486" r:id="rId72"/>
    <p:sldId id="487" r:id="rId73"/>
    <p:sldId id="488" r:id="rId74"/>
    <p:sldId id="490" r:id="rId75"/>
    <p:sldId id="491" r:id="rId76"/>
    <p:sldId id="492" r:id="rId77"/>
    <p:sldId id="493" r:id="rId78"/>
    <p:sldId id="505" r:id="rId79"/>
    <p:sldId id="494" r:id="rId80"/>
    <p:sldId id="514" r:id="rId81"/>
    <p:sldId id="495" r:id="rId82"/>
    <p:sldId id="496" r:id="rId83"/>
    <p:sldId id="497" r:id="rId84"/>
    <p:sldId id="498" r:id="rId85"/>
    <p:sldId id="502" r:id="rId86"/>
    <p:sldId id="499" r:id="rId87"/>
    <p:sldId id="501" r:id="rId88"/>
    <p:sldId id="506" r:id="rId89"/>
    <p:sldId id="503" r:id="rId90"/>
    <p:sldId id="500" r:id="rId91"/>
    <p:sldId id="508" r:id="rId92"/>
    <p:sldId id="509" r:id="rId93"/>
    <p:sldId id="510" r:id="rId94"/>
    <p:sldId id="511" r:id="rId95"/>
    <p:sldId id="512" r:id="rId96"/>
    <p:sldId id="513" r:id="rId97"/>
    <p:sldId id="515" r:id="rId98"/>
    <p:sldId id="507" r:id="rId99"/>
    <p:sldId id="271" r:id="rId100"/>
    <p:sldId id="270" r:id="rId10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03"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tableStyles" Target="tableStyle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43FB0-C57F-79C7-9535-B678C75384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E7C0687-8CCB-6A90-1185-11BBF3C424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82EDADD-0D8D-9E80-F663-EC5293C2AA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89340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675412-624A-2292-0EA3-35B791CA3EC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FAC35A-CD72-905F-CD22-D1B98D7C86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8624941-50C6-5653-FE5C-62215CF9E6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3397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9F28052-259D-19FA-2CA0-17516D528E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47D357-2DDF-60E5-8997-E2BF559D628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5A4BFE2-5F2F-0C43-4FB8-A1AA92F315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1545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022EE5-ED73-60D1-8E8C-287AA96F98A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0B0831D-EF87-97F8-12D9-B860728A04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FCB816-D465-4317-B99B-FD37B68972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517056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666E3-9E47-7889-5DA2-B1DCFFC95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0A621E-607C-F890-2501-9B7548653F2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5A60D-B771-03B6-792B-53561ADADC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362742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72ECCD-901D-7E01-FF70-257E90AC3B0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BC3F37-D7C0-0C18-A837-789F9F36130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7A2361-ED4C-0C8A-4B00-293428070B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9423278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B2D1C3-6FAC-433B-723E-EDD0565DE6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FE019F-2EA4-F292-11A9-F691BE82CF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57238E-48D8-8B11-1A80-75313392FD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03553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0E55577-D0F8-3F09-EE46-BE1C1A54D72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AADC53D-9CE5-9F9A-88E4-D1BDBC84C9C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F1E540D-DA24-3AD1-D13F-1F59D34B63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31414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AC25C5-4B3F-23D3-5273-834D2AA438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0DD442-A65B-9B06-F2E1-8CA407428E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3A73C6-858B-63AF-9C5D-40812E714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349753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F58C2-2857-582F-A6D9-7CE922EA394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8F1C968-FE29-CC2F-AECF-04C4B333A8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257D4C-FA1B-5175-D621-9EC72518761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78697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B3E9E29-AE04-7204-A230-595D2E0F16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8B4480-BCD8-D12A-6F6A-EB503BCE46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457E85-909C-D4A3-CF3E-E032ECF63B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32623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50E863C-E80B-1E16-8A3D-EDCAC468C9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6982E0-5E66-1739-D460-A1F95380AD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355E3A-C069-9247-8871-41E01CE097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0626104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12F67F2-6002-27A1-D550-B44D9D80D77B}"/>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19ADDE32-7424-E8B1-4255-17885BAA764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F573AE4-712E-8397-4981-01F9461B7B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251065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298137B-7DAA-9A50-71C4-FC55CDC8CD0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37DB962-8E1D-D8B2-EA44-B0D388CE43A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0FFEDAA-13A7-8EF9-E3D2-6527A8F57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96078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F3569D-724E-F4C2-BA96-3AE32552D8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975974-90E9-BA49-72CB-F49E1AE296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6964EC8-5C3E-58AC-AA56-2A5767B6E4B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0613698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AD55C96-1DDC-0E30-98AE-606757DFE6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D37E43-9039-839B-9BDF-9B6B46FD40E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B5C46D-081D-8B31-833D-73BD917CBE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3901435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BBBD9D-F9B8-284B-FE49-D13DA42B00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8BD5357-9591-7FC3-25E7-6E8C630AA6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8E06C3-BF75-9718-B2BF-B6464C9C24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9751022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527FEC-C783-DED8-A5E8-4D8F5C59A75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670EDE-0768-EF79-4092-73A0F0275C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6BCDE13-5D30-A1FD-9D63-773641118E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045229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6094CC-7C34-0AA1-8A06-367D536561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524A76-7906-492D-48F7-69A0892155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D4433-39F2-8084-4B01-3C6FF82E42A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04558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3ACA8-4C90-C943-F9FE-F305E992D0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E3B9709-6D2B-B1DE-59EF-9BC71247EE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79C658-C2E0-03E4-F305-08177F8CBDB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74092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A31C3F8-6B7A-AF16-D8DE-AA249386C9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3BF2167-F47E-0901-688F-0AF1B8B2B7B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3F903E8-1DFF-A830-67DC-A2BC91BF03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9170250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B1C08-D4DD-01FE-1F1B-853D1C4942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39E895-D24A-B323-9900-9081889E7E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73F8DD-0402-7360-BB92-DDE9292BC4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7736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E4C403-CE59-DF9D-AEF0-9F2199D73C5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5FEB82-972C-600A-3215-F69A6BC671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FCBECDD-AE8F-F181-E341-1FF07794546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01209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38A32FD-5C84-269D-5D87-5E114134C90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84CD4D-C414-FFFB-5E71-DEB24AC6E8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495E875-3CC0-3265-7075-A25F1A06DC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0444554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5C5588-5D28-6383-DFAA-1709D6DC45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522C-D34C-5EB5-6F67-DCAB77E1AE1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1E80DA0-7559-E667-2930-EF7EB8A28D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024654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830D02-D4CA-2016-2DAB-E7EED3C196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803EC2-C3C6-2AD5-6815-AD56A22263E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D39511E-F5AA-2A92-CBEB-B2D031F800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456783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7FAB225-9778-D149-C3A2-9067326B94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1373416-652B-23EB-8E45-C7A97036A59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B83496-4E1C-9903-6F82-5EF22260B7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96214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4A5E11-BE8A-9852-891E-ECF8700E222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DD7635-C429-3862-020C-6AC630FC7AF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C3361F-AB9B-1A1A-72C2-A796CA828C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430524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957F642-A96B-4D30-1066-5E28FC252B28}"/>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8D2562C8-819A-CB45-D199-D22B77D4FD4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A442E3D-7F53-FCEC-E45D-931BB71F5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1238322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4A50CF0-CA68-A3B1-8978-E3896AB020C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CB296A0-F8E9-7578-7D53-09314772134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633E37A-86DA-49B7-62EB-D3434438950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71396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F2CE-C5D0-FCFA-140B-E4B6B09EEA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4190A3D-0140-D128-22BE-62F63598F0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0FAE83A-31D6-1525-CA97-1A2444A3C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7914605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5346A4-41D5-E2DD-69CE-398D962EA6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CDD13FA-ECB9-E46B-7C27-9A5C2B40E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93F40B-ECC9-5EAD-6B6D-FFFDCBF361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5687878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70E7CAF-D7ED-00DE-0223-9661AD415D7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189BF-6AFE-0CA5-959C-E3B876D9E7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55AAC7-D32B-5C28-B719-1930126CDE8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170045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6D3B32-3163-A67F-CAEE-B44956EEAC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A196CC-2EDE-26F7-86C3-3A8B7D15A19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9BEF17-DC32-6169-9DB7-638AB10C62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85540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5BB0A-97B6-D527-F23E-E82F3E2DE54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29AF1-A1C8-D695-BF54-CD34240E369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3C7060-110B-C812-40C4-66307624FB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2465372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1C5415-BEF5-B9F8-4D93-1160F401A2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7B08A5-FE6E-FFB7-BD30-703CCCB535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7D2B0C-073C-7C6B-21CC-0614AFC1D6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548277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604CF1-7BCA-07EB-06B1-2EFF81F0D6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FB4F202-7BF0-6C93-EED9-AE38C441F1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2D6457-B759-4F54-C036-D5E715024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717221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8A33884-3129-64CB-15A5-33820B7264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A3C399-6B30-1361-939E-B4A1007AE5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B1EBB47-FD94-0693-69A5-5CAFA40359C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1903956"/>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8E5DD7-D096-AB84-11A2-E7456114A2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C4CF292-AA26-CE0A-C02E-1D99770B622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599E6E-22E2-D3D0-9892-1A54917EC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270192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CB0AD-CFEE-2331-F58E-1E9F6CD8037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58A8BA-9CCA-BC07-567C-1659D9761F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191DC0-714D-D225-77DA-A2A46CA52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015949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AB4023-C4CC-6195-71CC-41142A720F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4646953-3436-F7D2-F1B8-ACDD318B75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E79B27-A7AC-1731-7769-A496AB2EFE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713165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3C3170E2-B953-EB7D-72F6-378F759CF9F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4E753396-0160-B36D-4D37-4CD5168B29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BD8C08C8-B9C5-99C6-9E28-1AADAEBB93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954477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F29B1F-2F74-73F9-A425-C66C9BF04A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4FED399-F5B4-E89B-323F-BE2B292B56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A2AA4CC-52F2-77ED-92C4-04A5745D736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693806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1B4AA8-1C78-0342-A494-843E91E6AE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E682C5-1BC1-F983-CCD5-C69399B83F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FE1CD69-6AD3-4119-BB09-C5692A3F11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741047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04F528-8ED2-F77E-3D3F-3BF0CCA59E3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EEBB136-68D1-8593-A394-A7F3650A470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AAD6DEC-E5B4-25A5-BD45-3444BCFA06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785073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3DB4F8E-30C8-ED8E-4FAF-33A67B11C44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4BCC6B-9302-6859-4FE1-7FD0BFA30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92FC1A8-ECF4-951A-58C0-214C49A404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53686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C74766-17F6-38EF-7DD0-CC7A1AACF9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96A08E-EC5C-4409-279F-394B23BD7D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3E512C-23DD-7881-1819-E973456B8D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27388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0109C3-78B0-F19E-8154-433FDDBC35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552379-1967-A7C2-215E-655DF58A37E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1D14190-9883-09F1-6C6D-3C343021D1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0483378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629F47-BAE4-D58F-AC79-663069DE02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47E0AC-9400-F526-5D92-7D6FF7E6FF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7401DB-85C8-AAF0-B2C6-9DBC5B57D5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71832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7E9B7E-E297-1C56-278A-531AEA02BE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3698AB-DFD5-1019-9CB6-DAF2586EFE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F584BD-9BC8-E00D-0513-07A508C9419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402085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C2B823-08B9-5A42-8880-8B9AB21882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8A1ACC-54D1-2BA2-B22A-8EF869B51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B2407EB-CAAA-0A07-D089-93418A01688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416141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E94F01-333B-7BBA-2D68-FE31E06ED4E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F88D51-B705-7F7B-ADA5-1E6A287B608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BEB9A7-2F06-92C3-EDE5-43AA5232B0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8367720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A9A9ECF-5608-DE3F-2D9B-7A8B1C14815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332BA6-FB34-74D5-757B-1B96B0251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D69F362-1FBE-9A91-67B2-DB664E54EA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530077"/>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99CB8D7-BF7C-5AA9-1FE9-410C5B31AB5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12971BE4-D90B-53FF-52F3-833B61D41E4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27902E-BAFA-41E5-EC64-6ABC7AABF1E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6084751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7F00F3-EF5D-4713-CBE2-8F9B163E502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6D56DF-1E5C-BB88-D6AE-38AF11EB56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22E7582-5CF4-405F-9E3D-49FC71488D4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932901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8794B93-37D8-0925-2127-55693070564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2BFB7A3-AA8F-0A1C-F2CA-06D60DD9AD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EF3BBB6-B409-46BE-5236-36CD06ABA5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3478338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5490C4-7673-55AE-B0E3-9754A67AC5B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29B9DD0-4FD0-58DE-BB25-B71D99B287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E29417-A4F1-01C3-76CC-D0A0213576D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5400084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DE7616-18FF-63D0-7F02-CCA58394D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993A69-813E-AC17-E290-19F41740AEB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06F35F-1372-0375-8851-9834AB0369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7114280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AEB43DD-7C8B-0657-79F1-9C660C8FBD60}"/>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62D9274-FA95-0567-B884-B6D516B5D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D2B5007-C595-78E0-27D0-CA39DDAFDB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720374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BF3471-D750-85E0-7DDF-1537F140BEE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C90F27-9487-7212-C44A-A0B61AE69C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346588-02E2-4C5E-D0EF-05C9CC1D62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3455590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A9F753E-EB10-B074-1951-7F3DBF34D4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3AA21E-3676-285F-ADAC-ADDB4D81D45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506EE7-E595-95E7-5949-08AF09E631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570288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0889C7A-6BBA-E36F-33FA-5832C4B460D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A49709-AF63-4812-D3E6-2B26EC1635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D4D3320-7050-32FD-1BB0-3ADEFCD9500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13924594"/>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F9CF808-F51B-F2EF-08D2-8EC55233C3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A7BE46-C214-ED6C-E719-84345C70E7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937272-7093-6FD7-E085-5B9E6F2D6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89639646"/>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2BF16C-AFE6-CC14-6489-586A27A61E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63129-C277-59E5-9C7F-4E0E8CA40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04BB3B-9234-C153-DF05-224DB5EBC0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3205706"/>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B4AFD3-B6F8-BCCF-5882-112B2A3D262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A0966EA-1ACC-4A05-5645-7922321E32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D2BCE47-4A3F-9154-694A-3D5FA3DBB7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711889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0309B8E-3C0F-ABA9-E8AC-CA6097055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7483D0-CE68-D85A-22F5-C636F699A2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58233D3-701B-B0FF-196F-48A624BB42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03161975"/>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8A8C3E-9DE5-09A6-77D4-FD149C3CE3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8DADE0-C3B4-A075-9103-2A3592964A6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7E43FE-B2B5-96F6-8801-FBECA75D9B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75888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40AC17-02D0-ECE2-1210-ABE1D20ADAF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5AA2507-684D-C9C3-593C-17268A813A5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DF088F-0524-1EFD-D39E-7F1C7920C1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1592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7AACC8C-DB49-EF85-6E8C-D81DB85A14B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4BC0A27-61CC-3CBB-66D9-EBE13A3888D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6175557-1036-27F7-BFA8-5BD61EE71F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59032567"/>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909F1F-F6DA-7A4E-DBC1-6E8372F05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B266-E0EE-4EFF-9F3E-FA74850712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40BEE0-24B4-EE18-7F45-EF3FD3ED7E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6665507"/>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E94CD9-5CDA-DC8C-3149-CFA3287788E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FEF8507-F0FD-65DB-70F7-82880D46B1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EB94139-859D-89A6-FA09-E7BBD734556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91625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14E977-FEFA-9DB0-175D-A07C64292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5460543-32B8-4D4D-40CB-44B1282206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D80051-E0C5-8E59-DA52-A170D38043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9908216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ABA25B-E423-BE9F-5595-567B9ABE89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7A4C99-91D7-61DB-55FD-B5D9C88C2D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59C041-84E5-105C-1104-1AF1AB4A41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538942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B5C4102-3EB4-6C93-49B1-36C9161734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5E0EB3-DD67-8DEA-3F92-BCF0006CE8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AAC175E-D0B6-000C-A1A0-7DB48C02916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291853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4ED0362-EF11-0967-4FD0-F287BBC72E1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25C719-F614-3C0B-20CB-B5732A885C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75E86-BC04-2B82-3762-24F0AD6D70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7423493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E130F5-F146-AB3D-F781-2D9259382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616139-8ACB-C9CF-077A-7170673A28B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5C5B62-5209-4FAE-0D07-B96327C3BC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6049727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5C3BFF3-2998-EBC1-E291-76D3A5E994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5A5021-3972-A98B-E106-76874921206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30E503-45B6-A350-3FB9-53F0B74C31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5819031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A60F21-1285-A761-8CC5-273190358FD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0087409-A165-2EE9-C043-A901077437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E8D41AC-E8D1-444A-7ECF-850E38249E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83333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C93D05-D048-7F42-AB7A-D5E98EFD1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3FFE39-2E08-DEA2-D0C1-943286573C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857A8B0-7949-D766-3BFE-FA66597D39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3886172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570BEC5-7418-FD2C-D380-EE4AFEB39629}"/>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ADCD4BB-BB07-662C-B81E-4FDEE064C54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0D443E71-49D3-63C2-22DC-0E274791036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510441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C56A0AD-0932-3447-E51B-0AC42DDA24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D153ED-98C9-CA51-0075-B24544B939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4982073-417D-42A8-B5DF-51D3A11D31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99345400"/>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F552EE-C4C3-DECD-067F-E711C9FB2A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A02870C-F939-3827-6974-35A8C563BA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932640-425F-A7CA-A960-BEC0AC8F37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2024800"/>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7F42AF-955E-09DA-B1E4-FC0AC04F9E5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BE38B6A-EAFD-B64E-5702-3262DC9FAD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F37F41-3FEB-D8EB-CA2F-7B2E402FEA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8739500"/>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DBBA1A4-37D8-2C4A-77A6-E08892848460}"/>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9973D30-1A60-A060-CD6E-D358299D73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8AFB814-E3C7-A187-4374-1D2CC69289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28216175"/>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AD24A4D-44EE-CF52-8AAF-991E39091C0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006244D-38BB-FD61-5F06-E17762ED9E0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EA5F98-2BD4-940B-C597-3C219775A4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62487659"/>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4B9022-3EBA-B919-83AC-F14775969F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5E7477-6260-BAD8-82C2-A2A9ABEE1C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072D86-E36C-F1F7-7232-83D626A20D8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5333456"/>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BDF43D1-7FA2-57BE-127D-531AF45B65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3EE175-CB7B-BD40-9318-B82804B143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EFB9D35-07A6-4FC0-D9BE-DC8A5C20B9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700589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68BC10-C6A1-3E13-CE4D-35F51422060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5EF2F0-D49F-206D-7E5A-19C8DD6BE0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1BADAF-871E-7F38-53FA-C73A7958C7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7276326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CDA43E-551A-F1CB-D984-97D3EE3FF35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7950C8-8C4A-7F85-9EB6-A2D8D81469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7F00D-71E7-DDEA-CF11-8B437BCF85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3694312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8078DBE-0870-01BC-44CF-A7E40CCC21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1D1A7A9-30B4-3428-6E4A-E49C7A4C9F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639711-AA75-DCB6-3BE0-009F7F5FD7F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33602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DAC570-D659-F9D0-FC92-28F69B2A6B2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E5D8E28-CD74-F4CD-77C8-35786A008B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05AB693-58B4-EF08-488B-4A53E827E14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655117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4ED10D-8069-BF47-691E-EC5C47EE47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27DB2E-EC94-06B9-8D8E-39FA8F6BB0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AAA0AE-801A-9F8A-24D7-262540548D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5398729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06E2B7-698D-2682-C4BE-CFD6A004F1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9FE46E-8702-4385-80D5-36412B8B860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92F63A5-DB7A-B06C-52E5-40720DAB8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5196787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4.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hyperlink" Target="https://en.wikipedia.org/wiki/Normal_distribution"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4.png"/><Relationship Id="rId5" Type="http://schemas.openxmlformats.org/officeDocument/2006/relationships/image" Target="../media/image3.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23.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25.xml.rels><?xml version="1.0" encoding="UTF-8" standalone="yes"?>
<Relationships xmlns="http://schemas.openxmlformats.org/package/2006/relationships"><Relationship Id="rId3" Type="http://schemas.openxmlformats.org/officeDocument/2006/relationships/hyperlink" Target="https://en.wikipedia.org/wiki/Sum_of_normally_distributed_random_variables"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20.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23.svg"/><Relationship Id="rId4" Type="http://schemas.openxmlformats.org/officeDocument/2006/relationships/image" Target="../media/image22.pn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37.xml.rels><?xml version="1.0" encoding="UTF-8" standalone="yes"?>
<Relationships xmlns="http://schemas.openxmlformats.org/package/2006/relationships"><Relationship Id="rId3" Type="http://schemas.openxmlformats.org/officeDocument/2006/relationships/image" Target="../media/image201.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4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4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35.svg"/><Relationship Id="rId4" Type="http://schemas.openxmlformats.org/officeDocument/2006/relationships/image" Target="../media/image34.png"/></Relationships>
</file>

<file path=ppt/slides/_rels/slide5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5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5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5" Type="http://schemas.openxmlformats.org/officeDocument/2006/relationships/image" Target="../media/image53.svg"/><Relationship Id="rId4" Type="http://schemas.openxmlformats.org/officeDocument/2006/relationships/image" Target="../media/image52.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54.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 Id="rId5" Type="http://schemas.openxmlformats.org/officeDocument/2006/relationships/image" Target="../media/image57.svg"/><Relationship Id="rId4" Type="http://schemas.openxmlformats.org/officeDocument/2006/relationships/image" Target="../media/image56.png"/></Relationships>
</file>

<file path=ppt/slides/_rels/slide81.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560.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8.xml"/><Relationship Id="rId1" Type="http://schemas.openxmlformats.org/officeDocument/2006/relationships/slideLayout" Target="../slideLayouts/slideLayout2.xml"/><Relationship Id="rId5" Type="http://schemas.openxmlformats.org/officeDocument/2006/relationships/image" Target="../media/image57.svg"/><Relationship Id="rId4" Type="http://schemas.openxmlformats.org/officeDocument/2006/relationships/image" Target="../media/image56.png"/></Relationships>
</file>

<file path=ppt/slides/_rels/slide8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90.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9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6.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8.xml"/><Relationship Id="rId1" Type="http://schemas.openxmlformats.org/officeDocument/2006/relationships/slideLayout" Target="../slideLayouts/slideLayout2.xml"/><Relationship Id="rId5" Type="http://schemas.openxmlformats.org/officeDocument/2006/relationships/image" Target="../media/image69.svg"/><Relationship Id="rId4" Type="http://schemas.openxmlformats.org/officeDocument/2006/relationships/image" Target="../media/image68.png"/></Relationships>
</file>

<file path=ppt/slides/_rels/slide9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00.xml"/><Relationship Id="rId1" Type="http://schemas.openxmlformats.org/officeDocument/2006/relationships/slideLayout" Target="../slideLayouts/slideLayout1.xml"/><Relationship Id="rId4"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20-21: Sensor Fusion and Kalman Filters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April 6</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
        <p:nvSpPr>
          <p:cNvPr id="2" name="TextBox 1">
            <a:extLst>
              <a:ext uri="{FF2B5EF4-FFF2-40B4-BE49-F238E27FC236}">
                <a16:creationId xmlns:a16="http://schemas.microsoft.com/office/drawing/2014/main" id="{321CC257-913A-F66B-FD51-488E05134F51}"/>
              </a:ext>
            </a:extLst>
          </p:cNvPr>
          <p:cNvSpPr txBox="1"/>
          <p:nvPr/>
        </p:nvSpPr>
        <p:spPr>
          <a:xfrm>
            <a:off x="5639865" y="2973398"/>
            <a:ext cx="65" cy="215444"/>
          </a:xfrm>
          <a:prstGeom prst="rect">
            <a:avLst/>
          </a:prstGeom>
          <a:noFill/>
        </p:spPr>
        <p:txBody>
          <a:bodyPr wrap="none" lIns="0" tIns="0" rIns="0" bIns="0" rtlCol="0">
            <a:spAutoFit/>
          </a:bodyPr>
          <a:lstStyle/>
          <a:p>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What assumptions were made during path planning / trajectory planning?</a:t>
            </a:r>
          </a:p>
          <a:p>
            <a:pPr marL="285750" indent="-285750">
              <a:lnSpc>
                <a:spcPct val="100000"/>
              </a:lnSpc>
              <a:spcBef>
                <a:spcPts val="0"/>
              </a:spcBef>
              <a:buSzPts val="3000"/>
            </a:pPr>
            <a:r>
              <a:rPr lang="en-US" sz="2400" dirty="0">
                <a:latin typeface="Atkinson Hyperlegible Next"/>
                <a:ea typeface="Arial"/>
                <a:cs typeface="Arial"/>
                <a:sym typeface="Arial"/>
              </a:rPr>
              <a:t>What sensors on the robot help determine it’s the location in the world?</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When could the odometr</a:t>
            </a:r>
            <a:r>
              <a:rPr lang="en-US" sz="2400" dirty="0">
                <a:latin typeface="Atkinson Hyperlegible Next"/>
                <a:ea typeface="Arial"/>
                <a:cs typeface="Arial"/>
                <a:sym typeface="Arial"/>
              </a:rPr>
              <a:t>y and the IMU give different values? Which one should you trust?</a:t>
            </a:r>
          </a:p>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If your IMU says you accelerated forward, but LiDAR scan matching says you didn’t move, what should the system believe?</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Finishing Lab 6 this week. This a 3-week lab!</a:t>
            </a:r>
          </a:p>
          <a:p>
            <a:pPr marL="285750" indent="-285750">
              <a:lnSpc>
                <a:spcPct val="100000"/>
              </a:lnSpc>
              <a:spcBef>
                <a:spcPts val="0"/>
              </a:spcBef>
              <a:buSzPts val="3000"/>
            </a:pPr>
            <a:r>
              <a:rPr lang="en-US" sz="1800" dirty="0">
                <a:solidFill>
                  <a:schemeClr val="tx1"/>
                </a:solidFill>
                <a:latin typeface="Atkinson Hyperlegible Next"/>
                <a:ea typeface="Arial"/>
                <a:cs typeface="Arial"/>
                <a:sym typeface="Arial"/>
              </a:rPr>
              <a:t>Don’t forget to have the Lab LabVIEW application implemented before lab.</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Ex 4 are due </a:t>
            </a:r>
            <a:r>
              <a:rPr lang="en-US" sz="1800" b="1" dirty="0">
                <a:latin typeface="Atkinson Hyperlegible Next"/>
                <a:ea typeface="Arial"/>
                <a:cs typeface="Arial"/>
                <a:sym typeface="Arial"/>
              </a:rPr>
              <a:t>April 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4</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8, 9AM</a:t>
            </a:r>
          </a:p>
          <a:p>
            <a:pPr marL="285750" indent="-285750">
              <a:lnSpc>
                <a:spcPct val="100000"/>
              </a:lnSpc>
              <a:spcBef>
                <a:spcPts val="0"/>
              </a:spcBef>
              <a:buSzPts val="3000"/>
            </a:pPr>
            <a:r>
              <a:rPr lang="en-US" sz="1800" dirty="0">
                <a:latin typeface="Atkinson Hyperlegible Next"/>
                <a:ea typeface="Arial"/>
                <a:cs typeface="Arial"/>
                <a:sym typeface="Arial"/>
              </a:rPr>
              <a:t>Next homework is primarily the </a:t>
            </a:r>
            <a:r>
              <a:rPr lang="en-US" sz="1800" b="1" dirty="0">
                <a:latin typeface="Atkinson Hyperlegible Next"/>
                <a:ea typeface="Arial"/>
                <a:cs typeface="Arial"/>
                <a:sym typeface="Arial"/>
              </a:rPr>
              <a:t>personal project </a:t>
            </a:r>
            <a:r>
              <a:rPr lang="en-US" sz="1800" dirty="0">
                <a:latin typeface="Atkinson Hyperlegible Next"/>
                <a:ea typeface="Arial"/>
                <a:cs typeface="Arial"/>
                <a:sym typeface="Arial"/>
              </a:rPr>
              <a:t>due on </a:t>
            </a:r>
            <a:r>
              <a:rPr lang="en-US" sz="1800" b="1" dirty="0">
                <a:latin typeface="Atkinson Hyperlegible Next"/>
                <a:ea typeface="Arial"/>
                <a:cs typeface="Arial"/>
                <a:sym typeface="Arial"/>
              </a:rPr>
              <a:t>April 22, 9AM</a:t>
            </a:r>
            <a:r>
              <a:rPr lang="en-US" sz="1800" dirty="0">
                <a:latin typeface="Atkinson Hyperlegible Next"/>
                <a:ea typeface="Arial"/>
                <a:cs typeface="Arial"/>
                <a:sym typeface="Arial"/>
              </a:rPr>
              <a:t>.</a:t>
            </a:r>
          </a:p>
          <a:p>
            <a:pPr marL="742950" lvl="1" indent="-285750">
              <a:lnSpc>
                <a:spcPct val="100000"/>
              </a:lnSpc>
              <a:spcBef>
                <a:spcPts val="0"/>
              </a:spcBef>
              <a:buSzPts val="3000"/>
            </a:pPr>
            <a:r>
              <a:rPr lang="en-US" sz="1800" dirty="0">
                <a:latin typeface="Atkinson Hyperlegible Next"/>
                <a:ea typeface="Arial"/>
                <a:cs typeface="Arial"/>
                <a:sym typeface="Arial"/>
              </a:rPr>
              <a:t>I would highly recommend you thinking now and maybe even starting it now if you have a good idea already!</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Sensor Fusion</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6E76D8C-4FEF-9932-596F-DA3707FA025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D7FF229-9E61-BC16-0C96-DAE1664C25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In the real world, motors don't spin exactly as commanded due to friction and voltage drops.</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Sensors have electrical noise, mechanical imperfections, and environmental interference.</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can cause the LiDAR to fail?</a:t>
            </a:r>
          </a:p>
          <a:p>
            <a:pPr marL="342900">
              <a:lnSpc>
                <a:spcPct val="100000"/>
              </a:lnSpc>
              <a:spcBef>
                <a:spcPts val="0"/>
              </a:spcBef>
              <a:buSzPts val="3000"/>
            </a:pPr>
            <a:r>
              <a:rPr lang="en-US" sz="1800" dirty="0">
                <a:latin typeface="Atkinson Hyperlegible Next"/>
                <a:ea typeface="Arial"/>
                <a:cs typeface="Arial"/>
                <a:sym typeface="Arial"/>
              </a:rPr>
              <a:t>Reflective / absorptive surfaces: glass, mirrors, black materials</a:t>
            </a:r>
          </a:p>
          <a:p>
            <a:pPr marL="342900">
              <a:lnSpc>
                <a:spcPct val="100000"/>
              </a:lnSpc>
              <a:spcBef>
                <a:spcPts val="0"/>
              </a:spcBef>
              <a:buSzPts val="3000"/>
            </a:pPr>
            <a:r>
              <a:rPr lang="en-US" sz="1800" dirty="0">
                <a:latin typeface="Atkinson Hyperlegible Next"/>
                <a:ea typeface="Arial"/>
                <a:cs typeface="Arial"/>
                <a:sym typeface="Arial"/>
              </a:rPr>
              <a:t>Fog, rain, dust, snow</a:t>
            </a:r>
          </a:p>
          <a:p>
            <a:pPr marL="342900">
              <a:lnSpc>
                <a:spcPct val="100000"/>
              </a:lnSpc>
              <a:spcBef>
                <a:spcPts val="0"/>
              </a:spcBef>
              <a:buSzPts val="3000"/>
            </a:pPr>
            <a:r>
              <a:rPr lang="en-US" sz="1800" dirty="0">
                <a:latin typeface="Atkinson Hyperlegible Next"/>
                <a:ea typeface="Arial"/>
                <a:cs typeface="Arial"/>
                <a:sym typeface="Arial"/>
              </a:rPr>
              <a:t>Fast motion relative to scan frequency</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What can cause the odometry to fail?</a:t>
            </a:r>
          </a:p>
          <a:p>
            <a:pPr marL="342900">
              <a:lnSpc>
                <a:spcPct val="100000"/>
              </a:lnSpc>
              <a:spcBef>
                <a:spcPts val="0"/>
              </a:spcBef>
              <a:buSzPts val="3000"/>
            </a:pPr>
            <a:r>
              <a:rPr lang="en-US" sz="1800" dirty="0">
                <a:latin typeface="Atkinson Hyperlegible Next"/>
                <a:ea typeface="Arial"/>
                <a:cs typeface="Arial"/>
                <a:sym typeface="Arial"/>
              </a:rPr>
              <a:t>Slippery terrain for wheel slip</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When can cause the IMU fail?</a:t>
            </a:r>
          </a:p>
          <a:p>
            <a:pPr marL="342900">
              <a:lnSpc>
                <a:spcPct val="100000"/>
              </a:lnSpc>
              <a:spcBef>
                <a:spcPts val="0"/>
              </a:spcBef>
              <a:buSzPts val="3000"/>
            </a:pPr>
            <a:r>
              <a:rPr lang="en-US" sz="1800" dirty="0">
                <a:latin typeface="Atkinson Hyperlegible Next"/>
                <a:ea typeface="Arial"/>
                <a:cs typeface="Arial"/>
                <a:sym typeface="Arial"/>
              </a:rPr>
              <a:t>IMU drift</a:t>
            </a:r>
          </a:p>
          <a:p>
            <a:pPr marL="342900">
              <a:lnSpc>
                <a:spcPct val="100000"/>
              </a:lnSpc>
              <a:spcBef>
                <a:spcPts val="0"/>
              </a:spcBef>
              <a:buSzPts val="3000"/>
            </a:pPr>
            <a:r>
              <a:rPr lang="en-US" sz="1800" dirty="0">
                <a:latin typeface="Atkinson Hyperlegible Next"/>
                <a:ea typeface="Arial"/>
                <a:cs typeface="Arial"/>
                <a:sym typeface="Arial"/>
              </a:rPr>
              <a:t>Saturating the sensors</a:t>
            </a:r>
          </a:p>
          <a:p>
            <a:pPr marL="34290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If we blindly execute our path plan open-loop, the robot will quickly crash.</a:t>
            </a:r>
            <a:endParaRPr lang="en-US" sz="18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D5AEB9E-BACA-D86A-7336-706642B1BE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163C82-7E4D-858D-6AE2-7BC25E5082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333E97-C9BB-7F74-ABD9-BD767FF2CA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CC51F9-A938-D53D-35C3-6A8E5C729E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1C3C39-EE3C-BFEB-339E-C759637A80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68CAD8B-0F9E-88BB-8D76-2E45001681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20C4DA-E6F4-64FC-88BF-B0F903D717F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07F47A-CC92-2F64-D6CF-F566D4A9DF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26739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8">
                                            <p:txEl>
                                              <p:pRg st="10" end="1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9E420E-A29E-2817-C4F8-5AFDFD4F90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CC75FC-DE33-119F-3EF5-99886F6338D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need </a:t>
            </a:r>
            <a:r>
              <a:rPr lang="en-US" sz="2400" b="1" dirty="0">
                <a:latin typeface="Atkinson Hyperlegible Next"/>
                <a:ea typeface="Arial"/>
                <a:cs typeface="Arial"/>
                <a:sym typeface="Arial"/>
              </a:rPr>
              <a:t>Localization</a:t>
            </a:r>
            <a:r>
              <a:rPr lang="en-US" sz="2400" dirty="0">
                <a:latin typeface="Atkinson Hyperlegible Next"/>
                <a:ea typeface="Arial"/>
                <a:cs typeface="Arial"/>
                <a:sym typeface="Arial"/>
              </a:rPr>
              <a:t>: determining the robot's state (position, velocity, orientation) in the real world.</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To solve the localization problem, SE 423 robots use multiple sensors.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Proprioceptive </a:t>
            </a:r>
            <a:r>
              <a:rPr lang="en-US" sz="2400" dirty="0">
                <a:solidFill>
                  <a:schemeClr val="dk1"/>
                </a:solidFill>
                <a:latin typeface="Atkinson Hyperlegible Next"/>
                <a:ea typeface="Arial"/>
                <a:cs typeface="Arial"/>
                <a:sym typeface="Arial"/>
              </a:rPr>
              <a:t>sensors measure internal states: Wheel Encoders (Odometry) and IMUs.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Exteroceptive </a:t>
            </a:r>
            <a:r>
              <a:rPr lang="en-US" sz="2400" dirty="0">
                <a:solidFill>
                  <a:schemeClr val="dk1"/>
                </a:solidFill>
                <a:latin typeface="Atkinson Hyperlegible Next"/>
                <a:ea typeface="Arial"/>
                <a:cs typeface="Arial"/>
                <a:sym typeface="Arial"/>
              </a:rPr>
              <a:t>sensors measure the external environment: LiDAR.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No single sensor is perfect; they all lie to us in different ways.</a:t>
            </a:r>
          </a:p>
        </p:txBody>
      </p:sp>
      <p:sp>
        <p:nvSpPr>
          <p:cNvPr id="119" name="Google Shape;119;p29">
            <a:extLst>
              <a:ext uri="{FF2B5EF4-FFF2-40B4-BE49-F238E27FC236}">
                <a16:creationId xmlns:a16="http://schemas.microsoft.com/office/drawing/2014/main" id="{641B44FC-1A1C-F42A-3BDA-976BB5859D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0A2BC2F-9B03-5B8E-A1C6-72010869DE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4238C5-9AB9-13BD-5FA9-06FAA119A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5C52C-A9C9-7BB9-45B7-B21B10DD79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8CD9A88-2E48-9F2F-07C0-A68012E64C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382DF34-9E76-F12D-6585-0866D9EDDC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5908F1-2070-3919-F15E-D11B97EA018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A3A0F2-02A3-2B72-DDF9-1C212F0662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6370087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668A1F-A262-40BB-0420-8D46AB2FE8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BFC7474-F78F-74BF-555A-F8C0E3E1CE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Wheel encoders </a:t>
            </a:r>
            <a:r>
              <a:rPr lang="en-US" sz="2400" dirty="0">
                <a:latin typeface="Atkinson Hyperlegible Next"/>
                <a:ea typeface="Arial"/>
                <a:cs typeface="Arial"/>
                <a:sym typeface="Arial"/>
              </a:rPr>
              <a:t>count the rotations of the robot's wheels. By knowing wheel radius and track width, we calculate forward kinematics to estimate position. It provides </a:t>
            </a:r>
            <a:r>
              <a:rPr lang="en-US" sz="2400" b="1" dirty="0">
                <a:latin typeface="Atkinson Hyperlegible Next"/>
                <a:ea typeface="Arial"/>
                <a:cs typeface="Arial"/>
                <a:sym typeface="Arial"/>
              </a:rPr>
              <a:t>high-frequency</a:t>
            </a:r>
            <a:r>
              <a:rPr lang="en-US" sz="2400" dirty="0">
                <a:latin typeface="Atkinson Hyperlegible Next"/>
                <a:ea typeface="Arial"/>
                <a:cs typeface="Arial"/>
                <a:sym typeface="Arial"/>
              </a:rPr>
              <a:t>, smooth data for short-term movement.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Similarly, </a:t>
            </a:r>
            <a:r>
              <a:rPr lang="en-US" sz="2400" b="1" dirty="0">
                <a:latin typeface="Atkinson Hyperlegible Next"/>
                <a:ea typeface="Arial"/>
                <a:cs typeface="Arial"/>
                <a:sym typeface="Arial"/>
              </a:rPr>
              <a:t>IMUs</a:t>
            </a:r>
            <a:r>
              <a:rPr lang="en-US" sz="2400" dirty="0">
                <a:latin typeface="Atkinson Hyperlegible Next"/>
                <a:ea typeface="Arial"/>
                <a:cs typeface="Arial"/>
                <a:sym typeface="Arial"/>
              </a:rPr>
              <a:t> generate </a:t>
            </a:r>
            <a:r>
              <a:rPr lang="en-US" sz="2400" b="1" dirty="0">
                <a:latin typeface="Atkinson Hyperlegible Next"/>
                <a:ea typeface="Arial"/>
                <a:cs typeface="Arial"/>
                <a:sym typeface="Arial"/>
              </a:rPr>
              <a:t>high-frequency</a:t>
            </a:r>
            <a:r>
              <a:rPr lang="en-US" sz="2400" dirty="0">
                <a:latin typeface="Atkinson Hyperlegible Next"/>
                <a:ea typeface="Arial"/>
                <a:cs typeface="Arial"/>
                <a:sym typeface="Arial"/>
              </a:rPr>
              <a:t>, smooth data for short-term movement based on the integration of acceleration.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LiDAR</a:t>
            </a:r>
            <a:r>
              <a:rPr lang="en-US" sz="2400" dirty="0">
                <a:solidFill>
                  <a:schemeClr val="dk1"/>
                </a:solidFill>
                <a:latin typeface="Atkinson Hyperlegible Next"/>
                <a:ea typeface="Arial"/>
                <a:cs typeface="Arial"/>
                <a:sym typeface="Arial"/>
              </a:rPr>
              <a:t>, unlike odometry and IMUs, LiDAR gives us </a:t>
            </a:r>
            <a:r>
              <a:rPr lang="en-US" sz="2400" b="1" dirty="0">
                <a:solidFill>
                  <a:schemeClr val="dk1"/>
                </a:solidFill>
                <a:latin typeface="Atkinson Hyperlegible Next"/>
                <a:ea typeface="Arial"/>
                <a:cs typeface="Arial"/>
                <a:sym typeface="Arial"/>
              </a:rPr>
              <a:t>absolute </a:t>
            </a:r>
            <a:r>
              <a:rPr lang="en-US" sz="2400" dirty="0">
                <a:solidFill>
                  <a:schemeClr val="dk1"/>
                </a:solidFill>
                <a:latin typeface="Atkinson Hyperlegible Next"/>
                <a:ea typeface="Arial"/>
                <a:cs typeface="Arial"/>
                <a:sym typeface="Arial"/>
              </a:rPr>
              <a:t>measurements relative to the environment.; however, </a:t>
            </a:r>
            <a:r>
              <a:rPr lang="en-US" sz="2400" dirty="0">
                <a:latin typeface="Atkinson Hyperlegible Next"/>
                <a:ea typeface="Arial"/>
                <a:cs typeface="Arial"/>
                <a:sym typeface="Arial"/>
              </a:rPr>
              <a:t>due to the additional data, the sensor runs at </a:t>
            </a:r>
            <a:r>
              <a:rPr lang="en-US" sz="2400" dirty="0">
                <a:solidFill>
                  <a:schemeClr val="dk1"/>
                </a:solidFill>
                <a:latin typeface="Atkinson Hyperlegible Next"/>
                <a:ea typeface="Arial"/>
                <a:cs typeface="Arial"/>
                <a:sym typeface="Arial"/>
              </a:rPr>
              <a:t>a lower frequency (e.g., 10Hz) compared to an IMU (e.g., 500Hz).</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we are in a perfectly square, featureless hallway, can LiDAR tell us our position along the hallway? What about the IMU / odometry?</a:t>
            </a:r>
          </a:p>
        </p:txBody>
      </p:sp>
      <p:sp>
        <p:nvSpPr>
          <p:cNvPr id="119" name="Google Shape;119;p29">
            <a:extLst>
              <a:ext uri="{FF2B5EF4-FFF2-40B4-BE49-F238E27FC236}">
                <a16:creationId xmlns:a16="http://schemas.microsoft.com/office/drawing/2014/main" id="{7FBAB7B5-FA9E-81F7-05F1-7BBA583962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A71CBAF-9573-1ACA-A469-078FA69C64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9EE72-ADCD-CE29-7521-247C63D739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3B4B1FF-9281-2A9E-BA3B-3F21D3648C3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A98BCDB-FFB9-C0BB-A723-476D530862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BD75A-118C-F176-A446-6AF89C48B1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C7EDCC-4247-6400-91FB-A6E044C1F2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A8263E-3123-AD11-D840-181B15775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149761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91F9D0-123C-69D8-267E-88B759122362}"/>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9A7C04-1DBB-5710-0570-A22E87C68FA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have </a:t>
            </a:r>
            <a:r>
              <a:rPr lang="en-US" sz="2400" b="1" dirty="0">
                <a:latin typeface="Atkinson Hyperlegible Next"/>
                <a:ea typeface="Arial"/>
                <a:cs typeface="Arial"/>
                <a:sym typeface="Arial"/>
              </a:rPr>
              <a:t>fast, smooth </a:t>
            </a:r>
            <a:r>
              <a:rPr lang="en-US" sz="2400" dirty="0">
                <a:latin typeface="Atkinson Hyperlegible Next"/>
                <a:ea typeface="Arial"/>
                <a:cs typeface="Arial"/>
                <a:sym typeface="Arial"/>
              </a:rPr>
              <a:t>sensors that drift (IMU, Odometry).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have </a:t>
            </a:r>
            <a:r>
              <a:rPr lang="en-US" sz="2400" b="1" dirty="0">
                <a:latin typeface="Atkinson Hyperlegible Next"/>
                <a:ea typeface="Arial"/>
                <a:cs typeface="Arial"/>
                <a:sym typeface="Arial"/>
              </a:rPr>
              <a:t>slow</a:t>
            </a:r>
            <a:r>
              <a:rPr lang="en-US" sz="2400" dirty="0">
                <a:latin typeface="Atkinson Hyperlegible Next"/>
                <a:ea typeface="Arial"/>
                <a:cs typeface="Arial"/>
                <a:sym typeface="Arial"/>
              </a:rPr>
              <a:t>, computationally heavy sensors that don't drift (LiDAR).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 do we combine them?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Simple averaging doesn't work because their reliability changes over time.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2 sensors given measurements give different values which, should you trust?</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if your sensors give you the confidence of their measurements? I.e. the LiDAR is 75% sure of its position and the IMU / Odometry are, in total, 25% sure of their positions?</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60278E2-13A4-ECCD-9125-BF56E97905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E1A9D2-D303-9880-1EAB-A6AE71E76A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1B8DA6B-4A3E-6061-7885-7E5BA602F78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50536D-03E5-D9B1-7E72-7D3ABD555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A6B9F1-37FB-33B1-73DC-9AA2ABC8F3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1C6813-4205-D682-2114-C774FAA4B0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A46402A-32B4-5BA2-923F-90393288EC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74073B-BFFD-DB1B-504A-7E22C0917E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878161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1F894-E15D-FB0E-D29F-052BEDE8F3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4B849CB-6C64-3BF0-C0D4-3CAB65ECD4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Instead of saying robot is </a:t>
                </a:r>
                <a:r>
                  <a:rPr lang="en-US" sz="2400" dirty="0">
                    <a:latin typeface="Atkinson Hyperlegible Next"/>
                    <a:ea typeface="Arial"/>
                    <a:cs typeface="Arial"/>
                    <a:sym typeface="Arial"/>
                  </a:rPr>
                  <a:t>exactly at “X = 5”, we want to say “We are 90% sure that the robot is near X=5”.</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represent our state as a probability distribution.</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use the Gaussian (Normal) Distribution, defined by a mean (</a:t>
                </a:r>
                <a14:m>
                  <m:oMath xmlns:m="http://schemas.openxmlformats.org/officeDocument/2006/math">
                    <m:r>
                      <m:rPr>
                        <m:sty m:val="p"/>
                      </m:rPr>
                      <a:rPr lang="en-US" sz="2400" b="0" i="1" smtClean="0">
                        <a:latin typeface="Cambria Math" panose="02040503050406030204" pitchFamily="18" charset="0"/>
                        <a:ea typeface="Arial"/>
                        <a:cs typeface="Arial"/>
                        <a:sym typeface="Arial"/>
                      </a:rPr>
                      <m:t>μ</m:t>
                    </m:r>
                  </m:oMath>
                </a14:m>
                <a:r>
                  <a:rPr lang="en-US" sz="2400" dirty="0">
                    <a:solidFill>
                      <a:schemeClr val="dk1"/>
                    </a:solidFill>
                    <a:latin typeface="Atkinson Hyperlegible Next"/>
                    <a:ea typeface="Arial"/>
                    <a:cs typeface="Arial"/>
                    <a:sym typeface="Arial"/>
                  </a:rPr>
                  <a:t>) and variance (</a:t>
                </a:r>
                <a14:m>
                  <m:oMath xmlns:m="http://schemas.openxmlformats.org/officeDocument/2006/math">
                    <m:sSup>
                      <m:sSupPr>
                        <m:ctrlPr>
                          <a:rPr lang="en-US" sz="2400" b="0" i="1" smtClean="0">
                            <a:solidFill>
                              <a:schemeClr val="dk1"/>
                            </a:solidFill>
                            <a:latin typeface="Cambria Math" panose="02040503050406030204" pitchFamily="18" charset="0"/>
                            <a:ea typeface="Arial"/>
                            <a:cs typeface="Arial"/>
                            <a:sym typeface="Arial"/>
                          </a:rPr>
                        </m:ctrlPr>
                      </m:sSupPr>
                      <m:e>
                        <m:r>
                          <a:rPr lang="en-US" sz="2400" b="0" i="1" smtClean="0">
                            <a:solidFill>
                              <a:schemeClr val="dk1"/>
                            </a:solidFill>
                            <a:latin typeface="Cambria Math" panose="02040503050406030204" pitchFamily="18" charset="0"/>
                            <a:ea typeface="Arial"/>
                            <a:cs typeface="Arial"/>
                            <a:sym typeface="Arial"/>
                          </a:rPr>
                          <m:t>𝜎</m:t>
                        </m:r>
                      </m:e>
                      <m:sup>
                        <m:r>
                          <a:rPr lang="en-US" sz="2400" b="0" i="1" smtClean="0">
                            <a:solidFill>
                              <a:schemeClr val="dk1"/>
                            </a:solidFill>
                            <a:latin typeface="Cambria Math" panose="02040503050406030204" pitchFamily="18" charset="0"/>
                            <a:ea typeface="Arial"/>
                            <a:cs typeface="Arial"/>
                            <a:sym typeface="Arial"/>
                          </a:rPr>
                          <m:t>2</m:t>
                        </m:r>
                      </m:sup>
                    </m:sSup>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74B849CB-6C64-3BF0-C0D4-3CAB65ECD4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BE5622-5B4F-2C92-EC24-51D1EC1AECC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205E767-726C-CE73-41AA-5F4EFDCE53B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64F1F63-0DDC-06F0-A670-6F9C70213DE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44039E-071E-EF13-060A-B19D18C38D1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34A25EE-2089-FA01-C229-0E0F8FC494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3AEA70-CAD1-C85B-4672-D627AD6641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0EF1AB-74EE-FA3E-6B0C-42D0AC2DAB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DC7E859-3358-75F9-FF92-673795ADE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standard normal bell curve, probability density on the vertical axis peaking at about 0.4 at the mean, horizontal axis in standard deviations from minus 3 sigma to 3 sigma. Shaded bands show the probability in each interval: 34.1% between the mean and 1 sigma on each side, 13.6% between 1 and 2 sigma, 2.1% between 2 and 3 sigma, and 0.1% beyond 3 sigma. About 68% lies within 1 sigma and 95% within 2 sigma.">
            <a:extLst>
              <a:ext uri="{FF2B5EF4-FFF2-40B4-BE49-F238E27FC236}">
                <a16:creationId xmlns:a16="http://schemas.microsoft.com/office/drawing/2014/main" id="{898DA8B1-06EE-F383-1742-DF52DE9381C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13998" y="3548943"/>
            <a:ext cx="5835650" cy="2917825"/>
          </a:xfrm>
          <a:prstGeom prst="rect">
            <a:avLst/>
          </a:prstGeom>
        </p:spPr>
      </p:pic>
      <p:sp>
        <p:nvSpPr>
          <p:cNvPr id="5" name="TextBox 4">
            <a:extLst>
              <a:ext uri="{FF2B5EF4-FFF2-40B4-BE49-F238E27FC236}">
                <a16:creationId xmlns:a16="http://schemas.microsoft.com/office/drawing/2014/main" id="{3291B65C-D484-7EF3-5C21-CCADE55E7A9E}"/>
              </a:ext>
            </a:extLst>
          </p:cNvPr>
          <p:cNvSpPr txBox="1"/>
          <p:nvPr/>
        </p:nvSpPr>
        <p:spPr>
          <a:xfrm>
            <a:off x="4495484" y="6328059"/>
            <a:ext cx="2940050" cy="246221"/>
          </a:xfrm>
          <a:prstGeom prst="rect">
            <a:avLst/>
          </a:prstGeom>
          <a:noFill/>
        </p:spPr>
        <p:txBody>
          <a:bodyPr wrap="square">
            <a:spAutoFit/>
          </a:bodyPr>
          <a:lstStyle/>
          <a:p>
            <a:pPr algn="ctr"/>
            <a:r>
              <a:rPr lang="en-US" sz="1000" dirty="0">
                <a:hlinkClick r:id="rId7"/>
              </a:rPr>
              <a:t>https://en.wikipedia.org/wiki/Normal_distribution</a:t>
            </a:r>
            <a:r>
              <a:rPr lang="en-US" sz="1000" dirty="0"/>
              <a:t> </a:t>
            </a:r>
          </a:p>
        </p:txBody>
      </p:sp>
    </p:spTree>
    <p:extLst>
      <p:ext uri="{BB962C8B-B14F-4D97-AF65-F5344CB8AC3E}">
        <p14:creationId xmlns:p14="http://schemas.microsoft.com/office/powerpoint/2010/main" val="27987874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0F7EB40-14FB-7621-B579-298C71230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C9A827F-3835-FF0A-D899-55C40F8C9C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Why Gaussians?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a:t>
                </a:r>
                <a:r>
                  <a:rPr lang="en-US" sz="2400" b="1" dirty="0">
                    <a:solidFill>
                      <a:schemeClr val="dk1"/>
                    </a:solidFill>
                    <a:latin typeface="Atkinson Hyperlegible Next"/>
                    <a:ea typeface="Arial"/>
                    <a:cs typeface="Arial"/>
                    <a:sym typeface="Arial"/>
                  </a:rPr>
                  <a:t>mean</a:t>
                </a:r>
                <a:r>
                  <a:rPr lang="en-US" sz="2400" dirty="0">
                    <a:solidFill>
                      <a:schemeClr val="dk1"/>
                    </a:solidFill>
                    <a:latin typeface="Atkinson Hyperlegible Next"/>
                    <a:ea typeface="Arial"/>
                    <a:cs typeface="Arial"/>
                    <a:sym typeface="Arial"/>
                  </a:rPr>
                  <a:t> (</a:t>
                </a:r>
                <a14:m>
                  <m:oMath xmlns:m="http://schemas.openxmlformats.org/officeDocument/2006/math">
                    <m:r>
                      <m:rPr>
                        <m:sty m:val="p"/>
                      </m:rPr>
                      <a:rPr lang="en-US" sz="2400" i="1">
                        <a:latin typeface="Cambria Math" panose="02040503050406030204" pitchFamily="18" charset="0"/>
                        <a:ea typeface="Arial"/>
                        <a:cs typeface="Arial"/>
                        <a:sym typeface="Arial"/>
                      </a:rPr>
                      <m:t>μ</m:t>
                    </m:r>
                  </m:oMath>
                </a14:m>
                <a:r>
                  <a:rPr lang="en-US" sz="2400" dirty="0">
                    <a:solidFill>
                      <a:schemeClr val="dk1"/>
                    </a:solidFill>
                    <a:latin typeface="Atkinson Hyperlegible Next"/>
                    <a:ea typeface="Arial"/>
                    <a:cs typeface="Arial"/>
                    <a:sym typeface="Arial"/>
                  </a:rPr>
                  <a:t>) represents our best guess of the robot's state. </a:t>
                </a: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a:t>
                </a:r>
                <a:r>
                  <a:rPr lang="en-US" sz="2400" b="1" dirty="0">
                    <a:solidFill>
                      <a:schemeClr val="dk1"/>
                    </a:solidFill>
                    <a:latin typeface="Atkinson Hyperlegible Next"/>
                    <a:ea typeface="Arial"/>
                    <a:cs typeface="Arial"/>
                    <a:sym typeface="Arial"/>
                  </a:rPr>
                  <a:t>variance</a:t>
                </a:r>
                <a:r>
                  <a:rPr lang="en-US" sz="2400" dirty="0">
                    <a:solidFill>
                      <a:schemeClr val="dk1"/>
                    </a:solidFill>
                    <a:latin typeface="Atkinson Hyperlegible Next"/>
                    <a:ea typeface="Arial"/>
                    <a:cs typeface="Arial"/>
                    <a:sym typeface="Arial"/>
                  </a:rPr>
                  <a:t> (</a:t>
                </a:r>
                <a14:m>
                  <m:oMath xmlns:m="http://schemas.openxmlformats.org/officeDocument/2006/math">
                    <m:sSup>
                      <m:sSupPr>
                        <m:ctrlPr>
                          <a:rPr lang="en-US" sz="2400" i="1">
                            <a:latin typeface="Cambria Math" panose="02040503050406030204" pitchFamily="18" charset="0"/>
                            <a:ea typeface="Arial"/>
                            <a:cs typeface="Arial"/>
                            <a:sym typeface="Arial"/>
                          </a:rPr>
                        </m:ctrlPr>
                      </m:sSupPr>
                      <m:e>
                        <m:r>
                          <a:rPr lang="en-US" sz="2400" i="1">
                            <a:latin typeface="Cambria Math" panose="02040503050406030204" pitchFamily="18" charset="0"/>
                            <a:ea typeface="Arial"/>
                            <a:cs typeface="Arial"/>
                            <a:sym typeface="Arial"/>
                          </a:rPr>
                          <m:t>𝜎</m:t>
                        </m:r>
                      </m:e>
                      <m:sup>
                        <m:r>
                          <a:rPr lang="en-US" sz="2400" i="1">
                            <a:latin typeface="Cambria Math" panose="02040503050406030204" pitchFamily="18" charset="0"/>
                            <a:ea typeface="Arial"/>
                            <a:cs typeface="Arial"/>
                            <a:sym typeface="Arial"/>
                          </a:rPr>
                          <m:t>2</m:t>
                        </m:r>
                      </m:sup>
                    </m:sSup>
                  </m:oMath>
                </a14:m>
                <a:r>
                  <a:rPr lang="en-US" sz="2400" dirty="0">
                    <a:solidFill>
                      <a:schemeClr val="dk1"/>
                    </a:solidFill>
                    <a:latin typeface="Atkinson Hyperlegible Next"/>
                    <a:ea typeface="Arial"/>
                    <a:cs typeface="Arial"/>
                    <a:sym typeface="Arial"/>
                  </a:rPr>
                  <a:t>) represents our uncertainty; a wide curve means we are lost, a narrow curve means we are confident.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Gaussians are mathematically convenient: multiplying two Gaussians results in a new Gaussian!</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In addition, a lot of math can be derived in closed form when using Gaussians (most other more complex probability distributions do not allow for this)</a:t>
                </a:r>
              </a:p>
            </p:txBody>
          </p:sp>
        </mc:Choice>
        <mc:Fallback xmlns="">
          <p:sp>
            <p:nvSpPr>
              <p:cNvPr id="118" name="Google Shape;118;p29">
                <a:extLst>
                  <a:ext uri="{FF2B5EF4-FFF2-40B4-BE49-F238E27FC236}">
                    <a16:creationId xmlns:a16="http://schemas.microsoft.com/office/drawing/2014/main" id="{BC9A827F-3835-FF0A-D899-55C40F8C9C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59A792D-73AA-B827-13FC-82701B03B1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3DD6FA-6E47-BDE9-FD34-02C8EC10AE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FC45940-0BC9-49D1-F097-623A891A4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A13348-9FFF-12D7-F48B-7A58B6B81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4D9C4B5-8D20-B681-A69F-6BF56E5769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0519B6F-AE0F-73AC-A787-D1813F87C4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F772B7-755D-910D-082F-5CF34A2F72C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8F8A90-5FD3-0FC3-835D-21AB8AF0D0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37607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AE3407-DC15-E96F-1536-4061F8034D6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26828DE-7025-F60D-D286-1D176287E47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Which sensor would you trust more?</a:t>
            </a:r>
          </a:p>
        </p:txBody>
      </p:sp>
      <p:sp>
        <p:nvSpPr>
          <p:cNvPr id="119" name="Google Shape;119;p29">
            <a:extLst>
              <a:ext uri="{FF2B5EF4-FFF2-40B4-BE49-F238E27FC236}">
                <a16:creationId xmlns:a16="http://schemas.microsoft.com/office/drawing/2014/main" id="{08436E42-519C-8FBA-60FE-3DC889204B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8FF8032-C12B-C2CB-444A-A0512EF832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ED8C47-DA2D-F9CA-BE64-9F6804D81D0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0DA912-5B67-3134-80D5-C63002A358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0BCBFC-CF2D-E3CC-B865-799FC9C43B5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6B07321-EC64-5CC4-5484-A51AAA8493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28203-BC0F-B2C9-7FB0-DA9FBF6EDA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DB71EEC-11F9-42E4-1533-A111DB64FF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wo Gaussian probability curves for a robot's x position. The red &quot;high uncertainty&quot; curve is centered at 0 and is wide and flat, peaking near 0.27 with a standard deviation of about 1.5. The blue &quot;low uncertainty&quot; curve is centered at 2 and is narrow and tall, peaking near 0.8 with a standard deviation of about 0.5. The narrower blue estimate is the more trustworthy sensor reading.">
            <a:extLst>
              <a:ext uri="{FF2B5EF4-FFF2-40B4-BE49-F238E27FC236}">
                <a16:creationId xmlns:a16="http://schemas.microsoft.com/office/drawing/2014/main" id="{1BCCD553-6D42-489E-24ED-5153F66EF2A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76517" y="1767070"/>
            <a:ext cx="6438966" cy="4834468"/>
          </a:xfrm>
          <a:prstGeom prst="rect">
            <a:avLst/>
          </a:prstGeom>
        </p:spPr>
      </p:pic>
    </p:spTree>
    <p:extLst>
      <p:ext uri="{BB962C8B-B14F-4D97-AF65-F5344CB8AC3E}">
        <p14:creationId xmlns:p14="http://schemas.microsoft.com/office/powerpoint/2010/main" val="318188804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BB7596D-AB5E-E668-0807-0F5C4D03BBA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7BBEBD30-0974-E20F-66CE-64A248A723B8}"/>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1D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1CEC4E9-065D-A9B7-2231-6DA0067BE54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A5CCF883-A390-1D27-19CA-86FA466D63A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3FAFF9A-09BE-1DBB-E7A3-034C7EBAA4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766FD44-52A2-EE8F-9038-E1988B4E655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8650BDC-C45F-AED6-37F8-6E96BF5741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68C5E82-93BD-05A5-E6C4-1F06699045AF}"/>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F1FE877D-1538-AF19-861D-E979FAA69BA7}"/>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4FFDEF6-1FDA-99C9-EC2A-037F38A67A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30CEB405-E7A5-3A29-E013-1E5EC8378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90320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5329B-39F2-867F-0A04-9B098071B11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3A8761-5B83-328D-A126-38F076CC624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Kalman Filter is an optimal estimator for </a:t>
            </a:r>
            <a:r>
              <a:rPr lang="en-US" sz="2400" b="1" dirty="0">
                <a:solidFill>
                  <a:schemeClr val="dk1"/>
                </a:solidFill>
                <a:latin typeface="Atkinson Hyperlegible Next"/>
                <a:ea typeface="Arial"/>
                <a:cs typeface="Arial"/>
                <a:sym typeface="Arial"/>
              </a:rPr>
              <a:t>linear </a:t>
            </a:r>
            <a:r>
              <a:rPr lang="en-US" sz="2400" dirty="0">
                <a:solidFill>
                  <a:schemeClr val="dk1"/>
                </a:solidFill>
                <a:latin typeface="Atkinson Hyperlegible Next"/>
                <a:ea typeface="Arial"/>
                <a:cs typeface="Arial"/>
                <a:sym typeface="Arial"/>
              </a:rPr>
              <a:t>systems subject to </a:t>
            </a:r>
            <a:r>
              <a:rPr lang="en-US" sz="2400" b="1" dirty="0">
                <a:solidFill>
                  <a:schemeClr val="dk1"/>
                </a:solidFill>
                <a:latin typeface="Atkinson Hyperlegible Next"/>
                <a:ea typeface="Arial"/>
                <a:cs typeface="Arial"/>
                <a:sym typeface="Arial"/>
              </a:rPr>
              <a:t>Gaussian </a:t>
            </a:r>
            <a:r>
              <a:rPr lang="en-US" sz="2400" dirty="0">
                <a:solidFill>
                  <a:schemeClr val="dk1"/>
                </a:solidFill>
                <a:latin typeface="Atkinson Hyperlegible Next"/>
                <a:ea typeface="Arial"/>
                <a:cs typeface="Arial"/>
                <a:sym typeface="Arial"/>
              </a:rPr>
              <a:t>noise.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When would the Kalman Filter not be appropriate?</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r>
              <a:rPr lang="en-US" sz="2400" dirty="0">
                <a:solidFill>
                  <a:schemeClr val="dk1"/>
                </a:solidFill>
                <a:latin typeface="Atkinson Hyperlegible Next"/>
                <a:ea typeface="Arial"/>
                <a:cs typeface="Arial"/>
                <a:sym typeface="Arial"/>
              </a:rPr>
              <a:t>If your sensor or system if non-linear and / or does not follow a Gaussian noise distribution! Always understand how your sensors / system acts and the underlying assumptions for algorithms!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It operates in a continuous, two-step loop: </a:t>
            </a:r>
            <a:r>
              <a:rPr lang="en-US" sz="2400" b="1" dirty="0">
                <a:solidFill>
                  <a:schemeClr val="dk1"/>
                </a:solidFill>
                <a:latin typeface="Atkinson Hyperlegible Next"/>
                <a:ea typeface="Arial"/>
                <a:cs typeface="Arial"/>
                <a:sym typeface="Arial"/>
              </a:rPr>
              <a:t>Predict</a:t>
            </a:r>
            <a:r>
              <a:rPr lang="en-US" sz="2400" dirty="0">
                <a:solidFill>
                  <a:schemeClr val="dk1"/>
                </a:solidFill>
                <a:latin typeface="Atkinson Hyperlegible Next"/>
                <a:ea typeface="Arial"/>
                <a:cs typeface="Arial"/>
                <a:sym typeface="Arial"/>
              </a:rPr>
              <a:t> and </a:t>
            </a:r>
            <a:r>
              <a:rPr lang="en-US" sz="2400" b="1" dirty="0">
                <a:solidFill>
                  <a:schemeClr val="dk1"/>
                </a:solidFill>
                <a:latin typeface="Atkinson Hyperlegible Next"/>
                <a:ea typeface="Arial"/>
                <a:cs typeface="Arial"/>
                <a:sym typeface="Arial"/>
              </a:rPr>
              <a:t>Update</a:t>
            </a:r>
            <a:r>
              <a:rPr lang="en-US" sz="2400" dirty="0">
                <a:solidFill>
                  <a:schemeClr val="dk1"/>
                </a:solidFill>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7E472022-BB26-A280-4E9F-ADDC70DFC2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55D5F8-A3B7-2695-9B43-9B5EF757196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138AAD8-4295-2D1C-F3D6-D375B9C194D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C38A00-8B26-B25A-8993-54C2AC7CA59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439B2F-9A64-BA63-289D-75BB0FCDE0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20DD1A-D2C9-3CCD-6A14-738983F101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D72C88-2EDB-1CE2-4E4B-8AB91424BA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65A9CAD-537B-BC1C-8FC1-4CDB9AFDE7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46074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868176-5818-6A02-B09B-2DA78D460F2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3740F5-3D2A-7756-7F9D-9154445BCC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7510A0-882A-A843-6A2E-5C1F47BCA9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F66113E-A496-FC67-CF7A-CC5B869964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2A2C0C-2528-01A0-C67C-5964FE538B3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B5FE1-C72D-285C-066A-3F0003D15C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35AA4E-ACB6-3FB0-E090-AF433EA275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73F5B8-C3E4-1798-6308-D23F5E9624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5BE8C7-FAFA-4449-7A05-9A1E0E1A5F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Kalman filter cycle: prior state estimate x hat sub k minus 1 given k minus 1, with covariance P sub k minus 1 given k minus 1 (a wide, tilted uncertainty ellipse), goes through a prediction step based on a physical model to give x hat sub k given k minus 1 and P sub k given k minus 1. An update step compares this prediction to measurements y sub k (a small round uncertainty region), producing x hat sub k given k and P sub k given k. That output estimate has a smaller ellipse, and k becomes k plus 1 to repeat.">
            <a:extLst>
              <a:ext uri="{FF2B5EF4-FFF2-40B4-BE49-F238E27FC236}">
                <a16:creationId xmlns:a16="http://schemas.microsoft.com/office/drawing/2014/main" id="{8BA59FD0-35B2-89C5-FDBD-04FCD45DEDA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9157" y="868221"/>
            <a:ext cx="11173686" cy="5655816"/>
          </a:xfrm>
          <a:prstGeom prst="rect">
            <a:avLst/>
          </a:prstGeom>
        </p:spPr>
      </p:pic>
      <p:sp>
        <p:nvSpPr>
          <p:cNvPr id="6" name="Rectangle 5">
            <a:extLst>
              <a:ext uri="{FF2B5EF4-FFF2-40B4-BE49-F238E27FC236}">
                <a16:creationId xmlns:a16="http://schemas.microsoft.com/office/drawing/2014/main" id="{D3174F6D-4417-D7E2-1109-F5593B2CC584}"/>
              </a:ext>
            </a:extLst>
          </p:cNvPr>
          <p:cNvSpPr/>
          <p:nvPr/>
        </p:nvSpPr>
        <p:spPr>
          <a:xfrm>
            <a:off x="1009650" y="958850"/>
            <a:ext cx="2197100" cy="17208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CB22CC04-9718-F1F7-241C-FA54E61578EF}"/>
              </a:ext>
            </a:extLst>
          </p:cNvPr>
          <p:cNvSpPr/>
          <p:nvPr/>
        </p:nvSpPr>
        <p:spPr>
          <a:xfrm>
            <a:off x="6096000" y="906290"/>
            <a:ext cx="2089150" cy="103681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4522EFA-256E-7135-3175-8369BF5F8BED}"/>
              </a:ext>
            </a:extLst>
          </p:cNvPr>
          <p:cNvSpPr/>
          <p:nvPr/>
        </p:nvSpPr>
        <p:spPr>
          <a:xfrm>
            <a:off x="5905500" y="3814590"/>
            <a:ext cx="2435225" cy="103681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0AEBF65-49DB-D222-8A49-60B639CE487A}"/>
              </a:ext>
            </a:extLst>
          </p:cNvPr>
          <p:cNvSpPr/>
          <p:nvPr/>
        </p:nvSpPr>
        <p:spPr>
          <a:xfrm>
            <a:off x="3660775" y="5201217"/>
            <a:ext cx="2162175" cy="7885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6069F143-771D-627B-EAAC-70033AECD387}"/>
              </a:ext>
            </a:extLst>
          </p:cNvPr>
          <p:cNvCxnSpPr>
            <a:stCxn id="9" idx="0"/>
            <a:endCxn id="6" idx="2"/>
          </p:cNvCxnSpPr>
          <p:nvPr/>
        </p:nvCxnSpPr>
        <p:spPr>
          <a:xfrm flipH="1" flipV="1">
            <a:off x="2108200" y="2679700"/>
            <a:ext cx="2633663" cy="252151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68128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xit" presetSubtype="0" fill="hold" grpId="1"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xit" presetSubtype="0" fill="hold" grpId="1" nodeType="with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2" nodeType="clickEffect">
                                  <p:stCondLst>
                                    <p:cond delay="0"/>
                                  </p:stCondLst>
                                  <p:childTnLst>
                                    <p:set>
                                      <p:cBhvr>
                                        <p:cTn id="28" dur="1" fill="hold">
                                          <p:stCondLst>
                                            <p:cond delay="0"/>
                                          </p:stCondLst>
                                        </p:cTn>
                                        <p:tgtEl>
                                          <p:spTgt spid="6"/>
                                        </p:tgtEl>
                                        <p:attrNameLst>
                                          <p:attrName>style.visibility</p:attrName>
                                        </p:attrNameLst>
                                      </p:cBhvr>
                                      <p:to>
                                        <p:strVal val="visible"/>
                                      </p:to>
                                    </p:set>
                                  </p:childTnLst>
                                </p:cTn>
                              </p:par>
                              <p:par>
                                <p:cTn id="29" presetID="1" presetClass="exit" presetSubtype="0" fill="hold" grpId="1" nodeType="withEffect">
                                  <p:stCondLst>
                                    <p:cond delay="0"/>
                                  </p:stCondLst>
                                  <p:childTnLst>
                                    <p:set>
                                      <p:cBhvr>
                                        <p:cTn id="30" dur="1" fill="hold">
                                          <p:stCondLst>
                                            <p:cond delay="0"/>
                                          </p:stCondLst>
                                        </p:cTn>
                                        <p:tgtEl>
                                          <p:spTgt spid="9"/>
                                        </p:tgtEl>
                                        <p:attrNameLst>
                                          <p:attrName>style.visibility</p:attrName>
                                        </p:attrNameLst>
                                      </p:cBhvr>
                                      <p:to>
                                        <p:strVal val="hidden"/>
                                      </p:to>
                                    </p:set>
                                  </p:childTnLst>
                                </p:cTn>
                              </p:par>
                              <p:par>
                                <p:cTn id="31" presetID="1"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6" grpId="1" animBg="1"/>
      <p:bldP spid="6" grpId="2" animBg="1"/>
      <p:bldP spid="7" grpId="0" animBg="1"/>
      <p:bldP spid="7" grpId="1" animBg="1"/>
      <p:bldP spid="8" grpId="0" animBg="1"/>
      <p:bldP spid="8" grpId="1" animBg="1"/>
      <p:bldP spid="9" grpId="0" animBg="1"/>
      <p:bldP spid="9" grpId="1"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DDB4493-D9D8-6AD3-51AC-CF4793D5AC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54BD8F-ADA5-EA1B-8DE0-AD93BC21168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Step 1</a:t>
            </a:r>
            <a:r>
              <a:rPr lang="en-US" sz="2400" dirty="0">
                <a:solidFill>
                  <a:schemeClr val="dk1"/>
                </a:solidFill>
                <a:latin typeface="Atkinson Hyperlegible Next"/>
                <a:ea typeface="Arial"/>
                <a:cs typeface="Arial"/>
                <a:sym typeface="Arial"/>
              </a:rPr>
              <a:t>: The robot </a:t>
            </a:r>
            <a:r>
              <a:rPr lang="en-US" sz="2400" b="1" dirty="0">
                <a:solidFill>
                  <a:schemeClr val="dk1"/>
                </a:solidFill>
                <a:latin typeface="Atkinson Hyperlegible Next"/>
                <a:ea typeface="Arial"/>
                <a:cs typeface="Arial"/>
                <a:sym typeface="Arial"/>
              </a:rPr>
              <a:t>moves</a:t>
            </a:r>
            <a:r>
              <a:rPr lang="en-US" sz="2400" dirty="0">
                <a:solidFill>
                  <a:schemeClr val="dk1"/>
                </a:solidFill>
                <a:latin typeface="Atkinson Hyperlegible Next"/>
                <a:ea typeface="Arial"/>
                <a:cs typeface="Arial"/>
                <a:sym typeface="Arial"/>
              </a:rPr>
              <a:t>. We use our fast, noisy sensors (Odometry/IMU) to </a:t>
            </a:r>
            <a:r>
              <a:rPr lang="en-US" sz="2400" b="1" dirty="0">
                <a:solidFill>
                  <a:schemeClr val="dk1"/>
                </a:solidFill>
                <a:latin typeface="Atkinson Hyperlegible Next"/>
                <a:ea typeface="Arial"/>
                <a:cs typeface="Arial"/>
                <a:sym typeface="Arial"/>
              </a:rPr>
              <a:t>Predict</a:t>
            </a:r>
            <a:r>
              <a:rPr lang="en-US" sz="2400" dirty="0">
                <a:solidFill>
                  <a:schemeClr val="dk1"/>
                </a:solidFill>
                <a:latin typeface="Atkinson Hyperlegible Next"/>
                <a:ea typeface="Arial"/>
                <a:cs typeface="Arial"/>
                <a:sym typeface="Arial"/>
              </a:rPr>
              <a:t> where we are. Our uncertainty grows.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b="1" dirty="0">
                <a:solidFill>
                  <a:schemeClr val="dk1"/>
                </a:solidFill>
                <a:latin typeface="Atkinson Hyperlegible Next"/>
                <a:ea typeface="Arial"/>
                <a:cs typeface="Arial"/>
                <a:sym typeface="Arial"/>
              </a:rPr>
              <a:t>Step 2:</a:t>
            </a:r>
            <a:r>
              <a:rPr lang="en-US" sz="2400" dirty="0">
                <a:solidFill>
                  <a:schemeClr val="dk1"/>
                </a:solidFill>
                <a:latin typeface="Atkinson Hyperlegible Next"/>
                <a:ea typeface="Arial"/>
                <a:cs typeface="Arial"/>
                <a:sym typeface="Arial"/>
              </a:rPr>
              <a:t> The robot </a:t>
            </a:r>
            <a:r>
              <a:rPr lang="en-US" sz="2400" b="1" dirty="0">
                <a:solidFill>
                  <a:schemeClr val="dk1"/>
                </a:solidFill>
                <a:latin typeface="Atkinson Hyperlegible Next"/>
                <a:ea typeface="Arial"/>
                <a:cs typeface="Arial"/>
                <a:sym typeface="Arial"/>
              </a:rPr>
              <a:t>looks</a:t>
            </a:r>
            <a:r>
              <a:rPr lang="en-US" sz="2400" dirty="0">
                <a:solidFill>
                  <a:schemeClr val="dk1"/>
                </a:solidFill>
                <a:latin typeface="Atkinson Hyperlegible Next"/>
                <a:ea typeface="Arial"/>
                <a:cs typeface="Arial"/>
                <a:sym typeface="Arial"/>
              </a:rPr>
              <a:t>. We take a measurement with our absolute sensor (LiDAR) to </a:t>
            </a:r>
            <a:r>
              <a:rPr lang="en-US" sz="2400" b="1" dirty="0">
                <a:solidFill>
                  <a:schemeClr val="dk1"/>
                </a:solidFill>
                <a:latin typeface="Atkinson Hyperlegible Next"/>
                <a:ea typeface="Arial"/>
                <a:cs typeface="Arial"/>
                <a:sym typeface="Arial"/>
              </a:rPr>
              <a:t>Update</a:t>
            </a:r>
            <a:r>
              <a:rPr lang="en-US" sz="2400" dirty="0">
                <a:solidFill>
                  <a:schemeClr val="dk1"/>
                </a:solidFill>
                <a:latin typeface="Atkinson Hyperlegible Next"/>
                <a:ea typeface="Arial"/>
                <a:cs typeface="Arial"/>
                <a:sym typeface="Arial"/>
              </a:rPr>
              <a:t> our belief. Our uncertainty shrinks.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Rinse and repeat thousands of times a second.</a:t>
            </a:r>
          </a:p>
        </p:txBody>
      </p:sp>
      <p:sp>
        <p:nvSpPr>
          <p:cNvPr id="119" name="Google Shape;119;p29">
            <a:extLst>
              <a:ext uri="{FF2B5EF4-FFF2-40B4-BE49-F238E27FC236}">
                <a16:creationId xmlns:a16="http://schemas.microsoft.com/office/drawing/2014/main" id="{E376E3B1-134B-A92F-832F-A20DC6C914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32CD28-BE88-F845-00A1-5A4DEFB900D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D7FA8B-A4B3-75D3-6F82-1164570B7BE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24B13C-C0B8-E382-99CF-E9BF4D08D1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5A7BEDE-BC74-822A-748C-B76164B3D9E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52E0AD5-15AB-90FD-F7D0-D607498CDD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428992-8FDC-0D6C-C78D-E8468CE9F14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674D67-627C-B72C-E09C-8CB5FD92C49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23400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B2B4F-5738-FDF9-FD39-4A8C8376F6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AD5EF0-059F-3536-5885-8D1B1A9E352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851F5CC-E10E-7B51-D4B3-ABA254B8A3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943C047-CDC9-33EE-16AA-58930CC374C9}"/>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0CDE8AC-E7C3-6C8D-2C85-8D631400D9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25EE23-8497-A8AF-D688-63C2861D70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017000-93DD-562B-15F8-4ADD83DE2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F4652-1E6B-F4F1-9BAC-BC043FFFD6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2EEB2C-584D-7969-94DF-3D6304C00F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kalman_1d_publication_quality" descr="Animation (47 s, no sound): a 1D Kalman filter tracking a moving object's position and velocity over 140 time steps. The top plot shows the position estimate as a bell-shaped probability density with a shaded plus-or-minus 3 sigma band, the true position as a green X, and, every 20 steps, a sensor measurement as a dashed orange line. Between measurements only the prediction step runs: the curve moves with the estimated velocity and spreads out. At each measurement the correction step pulls the estimate toward it and the curve becomes tall and narrow. The bottom plot shows position variance against time step as a sawtooth: it grows from 5 to about 11 by step 20, drops to near zero at each correction, and its peaks shrink (about 4, then about 2) as the filter converges. At step 140 the estimate is 15.71 against a true position of 15.65.">
            <a:hlinkClick r:id="" action="ppaction://media"/>
            <a:extLst>
              <a:ext uri="{FF2B5EF4-FFF2-40B4-BE49-F238E27FC236}">
                <a16:creationId xmlns:a16="http://schemas.microsoft.com/office/drawing/2014/main" id="{2F7F4B1C-22CC-1CC9-EFFA-09BF652E5528}"/>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2688314" y="876107"/>
            <a:ext cx="6815371" cy="5679476"/>
          </a:xfrm>
          <a:prstGeom prst="rect">
            <a:avLst/>
          </a:prstGeom>
        </p:spPr>
      </p:pic>
    </p:spTree>
    <p:extLst>
      <p:ext uri="{BB962C8B-B14F-4D97-AF65-F5344CB8AC3E}">
        <p14:creationId xmlns:p14="http://schemas.microsoft.com/office/powerpoint/2010/main" val="355191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6767"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72125E9E-E2D6-67AA-3DBB-D82B333401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AB6AA8A-3EE5-93A2-BA0A-835FD4CAD767}"/>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03EF32AB-88A2-42FD-9BF9-CD648CE0B4F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32C0A57B-AB89-CDF8-CF9B-CCF141D2469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431533B-C682-BD9D-3B2C-79D9CF535D0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189D3E4-6E06-B9D8-B8A8-97ABB5BD69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9B5CF19-5FE8-9313-4DF6-DE1FD45AEE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F487D5F-E3CC-2E3D-CF49-70BB0AE295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A31DF77-130C-9037-6E67-3ADCC0B6B6D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62580A-77F2-6F27-141E-DD8213AC3A3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85EAC71-D086-AB62-11C8-D58BBA97EEB5}"/>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172486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4C1449-3E0A-4861-9392-BE1442E4AF8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B82F22-2950-651A-368C-79B66C41182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Last lectures, we covered algorithms like A*, </a:t>
            </a:r>
            <a:r>
              <a:rPr lang="en-US" sz="2400" dirty="0" err="1">
                <a:latin typeface="Atkinson Hyperlegible Next"/>
                <a:ea typeface="Arial"/>
                <a:cs typeface="Arial"/>
                <a:sym typeface="Arial"/>
              </a:rPr>
              <a:t>Dijkstras</a:t>
            </a:r>
            <a:r>
              <a:rPr lang="en-US" sz="2400" dirty="0">
                <a:latin typeface="Atkinson Hyperlegible Next"/>
                <a:ea typeface="Arial"/>
                <a:cs typeface="Arial"/>
                <a:sym typeface="Arial"/>
              </a:rPr>
              <a:t>, Hybrid A* for path planning.</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learned to compute an optimal, collision-free trajectory from Point A to Point B.</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However, path planning operates in a perfect, simulated world!</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t>
            </a:r>
            <a:r>
              <a:rPr lang="en-US" sz="2400" b="1" dirty="0">
                <a:latin typeface="Atkinson Hyperlegible Next"/>
                <a:ea typeface="Arial"/>
                <a:cs typeface="Arial"/>
                <a:sym typeface="Arial"/>
              </a:rPr>
              <a:t>fundamental assumption</a:t>
            </a:r>
            <a:r>
              <a:rPr lang="en-US" sz="2400" dirty="0">
                <a:latin typeface="Atkinson Hyperlegible Next"/>
                <a:ea typeface="Arial"/>
                <a:cs typeface="Arial"/>
                <a:sym typeface="Arial"/>
              </a:rPr>
              <a:t> we made about the robot to execute these plans were:</a:t>
            </a:r>
          </a:p>
          <a:p>
            <a:pPr marL="0" indent="0">
              <a:lnSpc>
                <a:spcPct val="100000"/>
              </a:lnSpc>
              <a:spcBef>
                <a:spcPts val="0"/>
              </a:spcBef>
              <a:buSzPts val="3000"/>
              <a:buNone/>
            </a:pPr>
            <a:endParaRPr lang="en-US" sz="2400" b="1"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r>
              <a:rPr lang="en-US" sz="2400" dirty="0">
                <a:latin typeface="Atkinson Hyperlegible Next"/>
                <a:ea typeface="Arial"/>
                <a:cs typeface="Arial"/>
                <a:sym typeface="Arial"/>
              </a:rPr>
              <a:t>Perfect localization and actuation!</a:t>
            </a: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6A628A2B-B709-CACE-8F95-69BCFBA168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483023-EDBE-4389-5B7F-1D8932DD80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30AC21-503A-97DC-BCF1-95DD820616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0C9303-015B-BA26-66AF-C804A163D8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640AD6F-925A-DF39-18C2-1660A40D8D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834384-62C3-933E-328D-C094682345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82058DB-8DC9-B90E-8DCC-F65D880AB5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6DA9392-D2C8-BB5F-1616-0AF3151C33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786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6AB8B77-7D8F-9C2F-DFA1-D1BA48EDBF1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444E61C-02F9-C990-1E7E-5501AB07947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We use a physical model of the robot (kinematics) and our control inputs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𝑢</m:t>
                    </m:r>
                  </m:oMath>
                </a14:m>
                <a:r>
                  <a:rPr lang="en-US" sz="2400" dirty="0">
                    <a:solidFill>
                      <a:schemeClr val="dk1"/>
                    </a:solidFill>
                    <a:latin typeface="Atkinson Hyperlegible Next"/>
                    <a:ea typeface="Arial"/>
                    <a:cs typeface="Arial"/>
                    <a:sym typeface="Arial"/>
                  </a:rPr>
                  <a:t>) to guess the new state.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Because we know our model and our encoders are imperfect, we actively increase our uncertainty covariance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𝑃</m:t>
                    </m:r>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This represents "flying blind" between reference measurements.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If we close our eyes and take 5 steps, are we more or less certain of our position than before we moved?</a:t>
                </a:r>
              </a:p>
            </p:txBody>
          </p:sp>
        </mc:Choice>
        <mc:Fallback xmlns="">
          <p:sp>
            <p:nvSpPr>
              <p:cNvPr id="118" name="Google Shape;118;p29">
                <a:extLst>
                  <a:ext uri="{FF2B5EF4-FFF2-40B4-BE49-F238E27FC236}">
                    <a16:creationId xmlns:a16="http://schemas.microsoft.com/office/drawing/2014/main" id="{A444E61C-02F9-C990-1E7E-5501AB07947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D73FE52-A7A5-6FEE-F734-1255D05DD2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7DCF16-91BF-8467-BCB4-0938896611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2BA770-93EC-2352-E466-015C3CF3F9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1F65073-39B2-ECE9-F4FA-BA5E729448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C72B3C-712E-A7DF-D83D-60BFF3F5838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FD3AC2-7FCB-B17D-56B3-26BEB48A4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53B4413-E482-2CE4-07FD-B76E82585A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F61FD4-F396-E179-3A2D-056FB83E6C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803470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68A07BB-12B5-8BEC-2F0E-E8D94158DC6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BC29F1-3770-84E0-6794-1E7E81F94C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Before we look at massive matrices, let's look at a robot on a 1-Dimensional train track.</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Its state is just one number: its position on the track, </a:t>
                </a:r>
                <a14:m>
                  <m:oMath xmlns:m="http://schemas.openxmlformats.org/officeDocument/2006/math">
                    <m:r>
                      <m:rPr>
                        <m:sty m:val="p"/>
                      </m:rPr>
                      <a:rPr lang="en-US" sz="2400" b="0" i="1" smtClean="0">
                        <a:latin typeface="Cambria Math" panose="02040503050406030204" pitchFamily="18" charset="0"/>
                        <a:ea typeface="Arial"/>
                        <a:cs typeface="Arial"/>
                        <a:sym typeface="Arial"/>
                      </a:rPr>
                      <m:t>μ</m:t>
                    </m:r>
                  </m:oMath>
                </a14:m>
                <a:r>
                  <a:rPr lang="en-US" sz="2400" dirty="0">
                    <a:latin typeface="Atkinson Hyperlegible Next"/>
                    <a:ea typeface="Arial"/>
                    <a:cs typeface="Arial"/>
                    <a:sym typeface="Arial"/>
                  </a:rPr>
                  <a:t>. Its uncertainty is also just one number: the variance, </a:t>
                </a:r>
                <a14:m>
                  <m:oMath xmlns:m="http://schemas.openxmlformats.org/officeDocument/2006/math">
                    <m:sSup>
                      <m:sSupPr>
                        <m:ctrlPr>
                          <a:rPr lang="en-US" sz="2400" i="1">
                            <a:latin typeface="Cambria Math" panose="02040503050406030204" pitchFamily="18" charset="0"/>
                            <a:ea typeface="Arial"/>
                            <a:cs typeface="Arial"/>
                            <a:sym typeface="Arial"/>
                          </a:rPr>
                        </m:ctrlPr>
                      </m:sSupPr>
                      <m:e>
                        <m:r>
                          <a:rPr lang="en-US" sz="2400" i="1">
                            <a:latin typeface="Cambria Math" panose="02040503050406030204" pitchFamily="18" charset="0"/>
                            <a:ea typeface="Arial"/>
                            <a:cs typeface="Arial"/>
                            <a:sym typeface="Arial"/>
                          </a:rPr>
                          <m:t>𝜎</m:t>
                        </m:r>
                      </m:e>
                      <m:sup>
                        <m:r>
                          <a:rPr lang="en-US" sz="2400" i="1">
                            <a:latin typeface="Cambria Math" panose="02040503050406030204" pitchFamily="18" charset="0"/>
                            <a:ea typeface="Arial"/>
                            <a:cs typeface="Arial"/>
                            <a:sym typeface="Arial"/>
                          </a:rPr>
                          <m:t>2</m:t>
                        </m:r>
                      </m:sup>
                    </m:sSup>
                    <m:r>
                      <a:rPr lang="en-US" sz="2400" i="1">
                        <a:latin typeface="Cambria Math" panose="02040503050406030204" pitchFamily="18" charset="0"/>
                        <a:ea typeface="Arial"/>
                        <a:cs typeface="Arial"/>
                        <a:sym typeface="Arial"/>
                      </a:rPr>
                      <m:t> </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Together, they form a 1D Gaussian (Bell Curve) representing our "belief".</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BC29F1-3770-84E0-6794-1E7E81F94CF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81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71553DE-1FC9-A108-70AA-CE4F321047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09B984-032F-143B-8486-3672CA3DFE3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38DD75A-722A-42C3-B592-8087EF8619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70733E-2711-9ECD-183E-A720C5E0031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4EFA8-5AA6-7F56-A5EB-0969101455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3DCC83-1B18-29FF-9B56-6219EB0E0F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B0A41D-F920-0600-5286-811D11480B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2DCF1F-D150-CBC3-BA0E-26CE575C06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649806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BEB7A0-9C14-A99B-9284-2702102476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ADEE7DE-F787-2BF2-817E-CF565E6C3D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7BEB2D-D533-4BAB-A122-758A7FAD7A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FED6B8-22A3-E25E-6CFD-512B7C36D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8CF868A-512A-0A57-2D65-B294682C3F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302325-1FD4-7B7B-9C68-5CD2807239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CE4BEA-CF12-4F1F-D2F7-AEF804C7A22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021BCC-D959-5D13-B3E3-E511995B193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31B2141-4BEB-7520-1011-8ADA48C6DF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initial belief about position as a Gaussian with mean 4.0 and variance 1.0, shown as a filled bell curve peaking at x equals 4. Nearly all probability lies between about x equals 1 and 7 on a position axis running from 0 to 15. This is the starting estimate before the predict step is applied.">
            <a:extLst>
              <a:ext uri="{FF2B5EF4-FFF2-40B4-BE49-F238E27FC236}">
                <a16:creationId xmlns:a16="http://schemas.microsoft.com/office/drawing/2014/main" id="{F36F80FA-8AB9-CA0B-87D2-56033447C5A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02321" y="982504"/>
            <a:ext cx="10855188" cy="5427594"/>
          </a:xfrm>
          <a:prstGeom prst="rect">
            <a:avLst/>
          </a:prstGeom>
        </p:spPr>
      </p:pic>
    </p:spTree>
    <p:extLst>
      <p:ext uri="{BB962C8B-B14F-4D97-AF65-F5344CB8AC3E}">
        <p14:creationId xmlns:p14="http://schemas.microsoft.com/office/powerpoint/2010/main" val="22168176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D3F0FC-7A2B-0DD8-DB53-01441FCCE76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7F7B560-5CB2-A935-3A3D-3A997F6BF2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 robot commands its motors to move forward by distance </a:t>
                </a:r>
                <a14:m>
                  <m:oMath xmlns:m="http://schemas.openxmlformats.org/officeDocument/2006/math">
                    <m:r>
                      <a:rPr lang="en-US" sz="2400" i="1" dirty="0" smtClean="0">
                        <a:solidFill>
                          <a:schemeClr val="dk1"/>
                        </a:solidFill>
                        <a:latin typeface="Cambria Math" panose="02040503050406030204" pitchFamily="18" charset="0"/>
                        <a:ea typeface="Arial"/>
                        <a:cs typeface="Arial"/>
                        <a:sym typeface="Arial"/>
                      </a:rPr>
                      <m:t>𝑢</m:t>
                    </m:r>
                  </m:oMath>
                </a14:m>
                <a:r>
                  <a:rPr lang="en-US" sz="24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Our new predicted mean simply shifts: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solidFill>
                                <a:schemeClr val="dk1"/>
                              </a:solidFill>
                              <a:latin typeface="Cambria Math" panose="02040503050406030204" pitchFamily="18" charset="0"/>
                              <a:ea typeface="Arial"/>
                              <a:cs typeface="Arial"/>
                              <a:sym typeface="Arial"/>
                            </a:rPr>
                          </m:ctrlPr>
                        </m:sSubPr>
                        <m:e>
                          <m:r>
                            <a:rPr lang="en-US" sz="2400" i="1" dirty="0" smtClean="0">
                              <a:solidFill>
                                <a:schemeClr val="dk1"/>
                              </a:solidFill>
                              <a:latin typeface="Cambria Math" panose="02040503050406030204" pitchFamily="18" charset="0"/>
                              <a:ea typeface="Arial"/>
                              <a:cs typeface="Arial"/>
                              <a:sym typeface="Arial"/>
                            </a:rPr>
                            <m:t>𝜇</m:t>
                          </m:r>
                        </m:e>
                        <m:sub>
                          <m:r>
                            <a:rPr lang="en-US" sz="2400" i="1" dirty="0" smtClean="0">
                              <a:solidFill>
                                <a:schemeClr val="dk1"/>
                              </a:solidFill>
                              <a:latin typeface="Cambria Math" panose="02040503050406030204" pitchFamily="18" charset="0"/>
                              <a:ea typeface="Arial"/>
                              <a:cs typeface="Arial"/>
                              <a:sym typeface="Arial"/>
                            </a:rPr>
                            <m:t>𝑝𝑟𝑒𝑑</m:t>
                          </m:r>
                        </m:sub>
                      </m:sSub>
                      <m:r>
                        <a:rPr lang="en-US" sz="2400" i="1" dirty="0" smtClean="0">
                          <a:solidFill>
                            <a:schemeClr val="dk1"/>
                          </a:solidFill>
                          <a:latin typeface="Cambria Math" panose="02040503050406030204" pitchFamily="18" charset="0"/>
                          <a:ea typeface="Arial"/>
                          <a:cs typeface="Arial"/>
                          <a:sym typeface="Arial"/>
                        </a:rPr>
                        <m:t>=</m:t>
                      </m:r>
                      <m:sSub>
                        <m:sSubPr>
                          <m:ctrlPr>
                            <a:rPr lang="en-US" sz="2400" i="1" dirty="0" smtClean="0">
                              <a:solidFill>
                                <a:schemeClr val="dk1"/>
                              </a:solidFill>
                              <a:latin typeface="Cambria Math" panose="02040503050406030204" pitchFamily="18" charset="0"/>
                              <a:ea typeface="Arial"/>
                              <a:cs typeface="Arial"/>
                              <a:sym typeface="Arial"/>
                            </a:rPr>
                          </m:ctrlPr>
                        </m:sSubPr>
                        <m:e>
                          <m:r>
                            <a:rPr lang="en-US" sz="2400" i="1" dirty="0" smtClean="0">
                              <a:solidFill>
                                <a:schemeClr val="dk1"/>
                              </a:solidFill>
                              <a:latin typeface="Cambria Math" panose="02040503050406030204" pitchFamily="18" charset="0"/>
                              <a:ea typeface="Arial"/>
                              <a:cs typeface="Arial"/>
                              <a:sym typeface="Arial"/>
                            </a:rPr>
                            <m:t>𝜇</m:t>
                          </m:r>
                        </m:e>
                        <m:sub>
                          <m:r>
                            <a:rPr lang="en-US" sz="2400" i="1" dirty="0" smtClean="0">
                              <a:solidFill>
                                <a:schemeClr val="dk1"/>
                              </a:solidFill>
                              <a:latin typeface="Cambria Math" panose="02040503050406030204" pitchFamily="18" charset="0"/>
                              <a:ea typeface="Arial"/>
                              <a:cs typeface="Arial"/>
                              <a:sym typeface="Arial"/>
                            </a:rPr>
                            <m:t>𝑜𝑙𝑑</m:t>
                          </m:r>
                        </m:sub>
                      </m:sSub>
                      <m:r>
                        <a:rPr lang="en-US" sz="2400" i="1" dirty="0" smtClean="0">
                          <a:solidFill>
                            <a:schemeClr val="dk1"/>
                          </a:solidFill>
                          <a:latin typeface="Cambria Math" panose="02040503050406030204" pitchFamily="18" charset="0"/>
                          <a:ea typeface="Arial"/>
                          <a:cs typeface="Arial"/>
                          <a:sym typeface="Arial"/>
                        </a:rPr>
                        <m:t>+</m:t>
                      </m:r>
                      <m:r>
                        <a:rPr lang="en-US" sz="2400" i="1" dirty="0" smtClean="0">
                          <a:solidFill>
                            <a:schemeClr val="dk1"/>
                          </a:solidFill>
                          <a:latin typeface="Cambria Math" panose="02040503050406030204" pitchFamily="18" charset="0"/>
                          <a:ea typeface="Arial"/>
                          <a:cs typeface="Arial"/>
                          <a:sym typeface="Arial"/>
                        </a:rPr>
                        <m:t>𝑢</m:t>
                      </m:r>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But moving is never perfect (slipping, bumps). We add adds </a:t>
                </a:r>
                <a:r>
                  <a:rPr lang="en-US" sz="2400" b="1" dirty="0">
                    <a:solidFill>
                      <a:schemeClr val="dk1"/>
                    </a:solidFill>
                    <a:latin typeface="Atkinson Hyperlegible Next"/>
                    <a:ea typeface="Arial"/>
                    <a:cs typeface="Arial"/>
                    <a:sym typeface="Arial"/>
                  </a:rPr>
                  <a:t>process noise </a:t>
                </a:r>
                <a:r>
                  <a:rPr lang="en-US" sz="2400" dirty="0">
                    <a:solidFill>
                      <a:schemeClr val="dk1"/>
                    </a:solidFill>
                    <a:latin typeface="Atkinson Hyperlegible Next"/>
                    <a:ea typeface="Arial"/>
                    <a:cs typeface="Arial"/>
                    <a:sym typeface="Arial"/>
                  </a:rPr>
                  <a:t>(</a:t>
                </a:r>
                <a14:m>
                  <m:oMath xmlns:m="http://schemas.openxmlformats.org/officeDocument/2006/math">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𝑚𝑜𝑣𝑒</m:t>
                        </m:r>
                      </m:sub>
                      <m:sup>
                        <m:r>
                          <a:rPr lang="en-US" sz="2400" i="1" dirty="0" smtClean="0">
                            <a:solidFill>
                              <a:schemeClr val="dk1"/>
                            </a:solidFill>
                            <a:latin typeface="Cambria Math" panose="02040503050406030204" pitchFamily="18" charset="0"/>
                            <a:ea typeface="Arial"/>
                            <a:cs typeface="Arial"/>
                            <a:sym typeface="Arial"/>
                          </a:rPr>
                          <m:t>2</m:t>
                        </m:r>
                      </m:sup>
                    </m:sSubSup>
                  </m:oMath>
                </a14:m>
                <a:r>
                  <a:rPr lang="en-US" sz="2400" dirty="0">
                    <a:solidFill>
                      <a:schemeClr val="dk1"/>
                    </a:solidFill>
                    <a:latin typeface="Atkinson Hyperlegible Next"/>
                    <a:ea typeface="Arial"/>
                    <a:cs typeface="Arial"/>
                    <a:sym typeface="Arial"/>
                  </a:rPr>
                  <a: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Therefore our uncertainty </a:t>
                </a:r>
                <a:r>
                  <a:rPr lang="en-US" sz="2400" b="1" dirty="0">
                    <a:solidFill>
                      <a:schemeClr val="dk1"/>
                    </a:solidFill>
                    <a:latin typeface="Atkinson Hyperlegible Next"/>
                    <a:ea typeface="Arial"/>
                    <a:cs typeface="Arial"/>
                    <a:sym typeface="Arial"/>
                  </a:rPr>
                  <a:t>always </a:t>
                </a:r>
                <a:r>
                  <a:rPr lang="en-US" sz="2400" dirty="0">
                    <a:solidFill>
                      <a:schemeClr val="dk1"/>
                    </a:solidFill>
                    <a:latin typeface="Atkinson Hyperlegible Next"/>
                    <a:ea typeface="Arial"/>
                    <a:cs typeface="Arial"/>
                    <a:sym typeface="Arial"/>
                  </a:rPr>
                  <a:t>grows.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𝑝𝑟𝑒𝑑</m:t>
                          </m:r>
                        </m:sub>
                        <m:sup>
                          <m:r>
                            <a:rPr lang="en-US" sz="2400" i="1" dirty="0" smtClean="0">
                              <a:solidFill>
                                <a:schemeClr val="dk1"/>
                              </a:solidFill>
                              <a:latin typeface="Cambria Math" panose="02040503050406030204" pitchFamily="18" charset="0"/>
                              <a:ea typeface="Arial"/>
                              <a:cs typeface="Arial"/>
                              <a:sym typeface="Arial"/>
                            </a:rPr>
                            <m:t>2</m:t>
                          </m:r>
                        </m:sup>
                      </m:sSubSup>
                      <m:r>
                        <a:rPr lang="en-US" sz="2400" i="1" dirty="0" smtClean="0">
                          <a:solidFill>
                            <a:schemeClr val="dk1"/>
                          </a:solidFill>
                          <a:latin typeface="Cambria Math" panose="02040503050406030204" pitchFamily="18" charset="0"/>
                          <a:ea typeface="Arial"/>
                          <a:cs typeface="Arial"/>
                          <a:sym typeface="Arial"/>
                        </a:rPr>
                        <m:t>=</m:t>
                      </m:r>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𝑜𝑙𝑑</m:t>
                          </m:r>
                        </m:sub>
                        <m:sup>
                          <m:r>
                            <a:rPr lang="en-US" sz="2400" i="1" dirty="0" smtClean="0">
                              <a:solidFill>
                                <a:schemeClr val="dk1"/>
                              </a:solidFill>
                              <a:latin typeface="Cambria Math" panose="02040503050406030204" pitchFamily="18" charset="0"/>
                              <a:ea typeface="Arial"/>
                              <a:cs typeface="Arial"/>
                              <a:sym typeface="Arial"/>
                            </a:rPr>
                            <m:t>2</m:t>
                          </m:r>
                        </m:sup>
                      </m:sSubSup>
                      <m:r>
                        <a:rPr lang="en-US" sz="2400" i="1" dirty="0" smtClean="0">
                          <a:solidFill>
                            <a:schemeClr val="dk1"/>
                          </a:solidFill>
                          <a:latin typeface="Cambria Math" panose="02040503050406030204" pitchFamily="18" charset="0"/>
                          <a:ea typeface="Arial"/>
                          <a:cs typeface="Arial"/>
                          <a:sym typeface="Arial"/>
                        </a:rPr>
                        <m:t>+</m:t>
                      </m:r>
                      <m:sSubSup>
                        <m:sSubSupPr>
                          <m:ctrlPr>
                            <a:rPr lang="en-US" sz="2400" i="1" dirty="0" smtClean="0">
                              <a:solidFill>
                                <a:schemeClr val="dk1"/>
                              </a:solidFill>
                              <a:latin typeface="Cambria Math" panose="02040503050406030204" pitchFamily="18" charset="0"/>
                              <a:ea typeface="Arial"/>
                              <a:cs typeface="Arial"/>
                              <a:sym typeface="Arial"/>
                            </a:rPr>
                          </m:ctrlPr>
                        </m:sSubSupPr>
                        <m:e>
                          <m:r>
                            <a:rPr lang="en-US" sz="2400" i="1" dirty="0" smtClean="0">
                              <a:solidFill>
                                <a:schemeClr val="dk1"/>
                              </a:solidFill>
                              <a:latin typeface="Cambria Math" panose="02040503050406030204" pitchFamily="18" charset="0"/>
                              <a:ea typeface="Arial"/>
                              <a:cs typeface="Arial"/>
                              <a:sym typeface="Arial"/>
                            </a:rPr>
                            <m:t>𝜎</m:t>
                          </m:r>
                        </m:e>
                        <m:sub>
                          <m:r>
                            <a:rPr lang="en-US" sz="2400" i="1" dirty="0" smtClean="0">
                              <a:solidFill>
                                <a:schemeClr val="dk1"/>
                              </a:solidFill>
                              <a:latin typeface="Cambria Math" panose="02040503050406030204" pitchFamily="18" charset="0"/>
                              <a:ea typeface="Arial"/>
                              <a:cs typeface="Arial"/>
                              <a:sym typeface="Arial"/>
                            </a:rPr>
                            <m:t>𝑚𝑜𝑣𝑒</m:t>
                          </m:r>
                        </m:sub>
                        <m:sup>
                          <m:r>
                            <a:rPr lang="en-US" sz="2400" i="1" dirty="0" smtClean="0">
                              <a:solidFill>
                                <a:schemeClr val="dk1"/>
                              </a:solidFill>
                              <a:latin typeface="Cambria Math" panose="02040503050406030204" pitchFamily="18" charset="0"/>
                              <a:ea typeface="Arial"/>
                              <a:cs typeface="Arial"/>
                              <a:sym typeface="Arial"/>
                            </a:rPr>
                            <m:t>2</m:t>
                          </m:r>
                        </m:sup>
                      </m:sSubSup>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7F7B560-5CB2-A935-3A3D-3A997F6BF2A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68E1554-8107-F257-CA0F-17B68BA099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1B21338-72E2-D33F-10A5-18DA957FCF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77B434-106E-59F3-C7C8-5A6260022D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734453-4DD0-54A4-CA8C-56A904E7CB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42B63A-ED3E-6D46-10A1-0C8D45D5DD7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7A2EDD6-2B9C-0A51-9BA2-278B4582EC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CECA21-4760-0C19-5F59-D2C13CBF30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929AFF5-62CE-11D2-2B88-EC9E84A067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166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CC46DD4-F0E9-00D1-9DE8-8AC37EB847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E34F803-63E6-9716-FE5B-13F0C9E100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5FE115-D2FF-CEA9-0592-C9BFE02234F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98374-1E79-0217-EB38-764EAEBC691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A71898-D5D9-E0E7-E6D3-1CF6F27854C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2D5EC-6E0F-A584-3A61-BA11033E58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407C28-2849-08A0-6C8E-ABB8ED8C64B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F84C1-D990-E94C-FF99-63B9665F28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45626C-483F-21D9-BCF6-BE1A8B2906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ne-dimensional Kalman predict step over position x from 0 to 14. The old belief is a narrow, tall Gaussian centered at x equals 4. An arrow labeled plus u equals 4 shifts it to the prediction, a shaded Gaussian centered at 8 with variance 2.5. The prediction is wider and lower than the old belief, showing that the motion command moves the mean while added process noise increases the uncertainty.">
            <a:extLst>
              <a:ext uri="{FF2B5EF4-FFF2-40B4-BE49-F238E27FC236}">
                <a16:creationId xmlns:a16="http://schemas.microsoft.com/office/drawing/2014/main" id="{ABCE8D01-A433-765C-31F8-999610B4C624}"/>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18397120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3F0C36-C162-5986-87D6-D1B65829BC5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A25EF48-A626-2479-79A7-B9D0A76129D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This prediction updates the covariance and the means as such because we are assuming </a:t>
                </a:r>
                <a:r>
                  <a:rPr lang="en-US" sz="2400" b="1" dirty="0">
                    <a:latin typeface="Atkinson Hyperlegible Next"/>
                    <a:ea typeface="Arial"/>
                    <a:cs typeface="Arial"/>
                    <a:sym typeface="Arial"/>
                  </a:rPr>
                  <a:t>Gaussian </a:t>
                </a:r>
                <a:r>
                  <a:rPr lang="en-US" sz="2400" dirty="0">
                    <a:latin typeface="Atkinson Hyperlegible Next"/>
                    <a:ea typeface="Arial"/>
                    <a:cs typeface="Arial"/>
                    <a:sym typeface="Arial"/>
                  </a:rPr>
                  <a:t>random variables.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Let X and Y be independent random variables that are normally distributed, then their sum is also normally distributed. i.e., if</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𝑋</m:t>
                      </m:r>
                      <m:r>
                        <a:rPr lang="en-US" sz="2400" b="0" i="1" smtClean="0">
                          <a:solidFill>
                            <a:schemeClr val="dk1"/>
                          </a:solidFill>
                          <a:latin typeface="Cambria Math" panose="02040503050406030204" pitchFamily="18" charset="0"/>
                          <a:ea typeface="Arial"/>
                          <a:cs typeface="Arial"/>
                          <a:sym typeface="Arial"/>
                        </a:rPr>
                        <m:t>∼</m:t>
                      </m:r>
                      <m:r>
                        <a:rPr lang="en-US" sz="2400" b="0" i="1" smtClean="0">
                          <a:solidFill>
                            <a:schemeClr val="dk1"/>
                          </a:solidFill>
                          <a:latin typeface="Cambria Math" panose="02040503050406030204" pitchFamily="18" charset="0"/>
                          <a:ea typeface="Arial"/>
                          <a:cs typeface="Arial"/>
                          <a:sym typeface="Arial"/>
                        </a:rPr>
                        <m:t>𝑁</m:t>
                      </m:r>
                      <m:d>
                        <m:dPr>
                          <m:ctrlPr>
                            <a:rPr lang="en-US" sz="2400" b="0" i="1" smtClean="0">
                              <a:solidFill>
                                <a:schemeClr val="dk1"/>
                              </a:solidFill>
                              <a:latin typeface="Cambria Math" panose="02040503050406030204" pitchFamily="18" charset="0"/>
                              <a:ea typeface="Arial"/>
                              <a:cs typeface="Arial"/>
                              <a:sym typeface="Arial"/>
                            </a:rPr>
                          </m:ctrlPr>
                        </m:dPr>
                        <m:e>
                          <m:sSub>
                            <m:sSubPr>
                              <m:ctrlPr>
                                <a:rPr lang="en-US" sz="2400" b="0" i="1" smtClean="0">
                                  <a:solidFill>
                                    <a:schemeClr val="dk1"/>
                                  </a:solidFill>
                                  <a:latin typeface="Cambria Math" panose="02040503050406030204" pitchFamily="18" charset="0"/>
                                  <a:ea typeface="Arial"/>
                                  <a:cs typeface="Arial"/>
                                  <a:sym typeface="Arial"/>
                                </a:rPr>
                              </m:ctrlPr>
                            </m:sSubPr>
                            <m:e>
                              <m:r>
                                <a:rPr lang="en-US" sz="2400" b="0" i="1" smtClean="0">
                                  <a:solidFill>
                                    <a:schemeClr val="dk1"/>
                                  </a:solidFill>
                                  <a:latin typeface="Cambria Math" panose="02040503050406030204" pitchFamily="18" charset="0"/>
                                  <a:ea typeface="Arial"/>
                                  <a:cs typeface="Arial"/>
                                  <a:sym typeface="Arial"/>
                                </a:rPr>
                                <m:t>𝜇</m:t>
                              </m:r>
                            </m:e>
                            <m:sub>
                              <m:r>
                                <a:rPr lang="en-US" sz="2400" b="0" i="1" smtClean="0">
                                  <a:solidFill>
                                    <a:schemeClr val="dk1"/>
                                  </a:solidFill>
                                  <a:latin typeface="Cambria Math" panose="02040503050406030204" pitchFamily="18" charset="0"/>
                                  <a:ea typeface="Arial"/>
                                  <a:cs typeface="Arial"/>
                                  <a:sym typeface="Arial"/>
                                </a:rPr>
                                <m:t>𝑋</m:t>
                              </m:r>
                            </m:sub>
                          </m:sSub>
                          <m:r>
                            <a:rPr lang="en-US" sz="2400" b="0" i="1" smtClean="0">
                              <a:solidFill>
                                <a:schemeClr val="dk1"/>
                              </a:solidFill>
                              <a:latin typeface="Cambria Math" panose="02040503050406030204" pitchFamily="18" charset="0"/>
                              <a:ea typeface="Arial"/>
                              <a:cs typeface="Arial"/>
                              <a:sym typeface="Arial"/>
                            </a:rPr>
                            <m:t>,</m:t>
                          </m:r>
                          <m:sSubSup>
                            <m:sSubSupPr>
                              <m:ctrlPr>
                                <a:rPr lang="en-US" sz="2400" b="0" i="1" smtClean="0">
                                  <a:solidFill>
                                    <a:schemeClr val="dk1"/>
                                  </a:solidFill>
                                  <a:latin typeface="Cambria Math" panose="02040503050406030204" pitchFamily="18" charset="0"/>
                                  <a:ea typeface="Arial"/>
                                  <a:cs typeface="Arial"/>
                                  <a:sym typeface="Arial"/>
                                </a:rPr>
                              </m:ctrlPr>
                            </m:sSubSupPr>
                            <m:e>
                              <m:r>
                                <a:rPr lang="en-US" sz="2400" b="0" i="1" smtClean="0">
                                  <a:solidFill>
                                    <a:schemeClr val="dk1"/>
                                  </a:solidFill>
                                  <a:latin typeface="Cambria Math" panose="02040503050406030204" pitchFamily="18" charset="0"/>
                                  <a:ea typeface="Arial"/>
                                  <a:cs typeface="Arial"/>
                                  <a:sym typeface="Arial"/>
                                </a:rPr>
                                <m:t>𝜎</m:t>
                              </m:r>
                            </m:e>
                            <m:sub>
                              <m:r>
                                <a:rPr lang="en-US" sz="2400" b="0" i="1" smtClean="0">
                                  <a:solidFill>
                                    <a:schemeClr val="dk1"/>
                                  </a:solidFill>
                                  <a:latin typeface="Cambria Math" panose="02040503050406030204" pitchFamily="18" charset="0"/>
                                  <a:ea typeface="Arial"/>
                                  <a:cs typeface="Arial"/>
                                  <a:sym typeface="Arial"/>
                                </a:rPr>
                                <m:t>𝑋</m:t>
                              </m:r>
                            </m:sub>
                            <m:sup>
                              <m:r>
                                <a:rPr lang="en-US" sz="2400" b="0" i="1" smtClean="0">
                                  <a:solidFill>
                                    <a:schemeClr val="dk1"/>
                                  </a:solidFill>
                                  <a:latin typeface="Cambria Math" panose="02040503050406030204" pitchFamily="18" charset="0"/>
                                  <a:ea typeface="Arial"/>
                                  <a:cs typeface="Arial"/>
                                  <a:sym typeface="Arial"/>
                                </a:rPr>
                                <m:t>2</m:t>
                              </m:r>
                            </m:sup>
                          </m:sSubSup>
                        </m:e>
                      </m:d>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latin typeface="Cambria Math" panose="02040503050406030204" pitchFamily="18" charset="0"/>
                          <a:ea typeface="Arial"/>
                          <a:cs typeface="Arial"/>
                          <a:sym typeface="Arial"/>
                        </a:rPr>
                        <m:t>Y</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𝑁</m:t>
                      </m:r>
                      <m:d>
                        <m:dPr>
                          <m:ctrlPr>
                            <a:rPr lang="en-US" sz="2400" i="1">
                              <a:latin typeface="Cambria Math" panose="02040503050406030204" pitchFamily="18" charset="0"/>
                              <a:ea typeface="Arial"/>
                              <a:cs typeface="Arial"/>
                              <a:sym typeface="Arial"/>
                            </a:rPr>
                          </m:ctrlPr>
                        </m:dPr>
                        <m:e>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m:rPr>
                                  <m:sty m:val="p"/>
                                </m:rPr>
                                <a:rPr lang="en-US" sz="2400" b="0" i="1" smtClean="0">
                                  <a:latin typeface="Cambria Math" panose="02040503050406030204" pitchFamily="18" charset="0"/>
                                  <a:ea typeface="Arial"/>
                                  <a:cs typeface="Arial"/>
                                  <a:sym typeface="Arial"/>
                                </a:rPr>
                                <m:t>Y</m:t>
                              </m:r>
                            </m:sub>
                          </m:sSub>
                          <m:r>
                            <a:rPr lang="en-US" sz="2400" i="1">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m:rPr>
                                  <m:sty m:val="p"/>
                                </m:rPr>
                                <a:rPr lang="en-US" sz="2400" b="0" i="1" smtClean="0">
                                  <a:latin typeface="Cambria Math" panose="02040503050406030204" pitchFamily="18" charset="0"/>
                                  <a:ea typeface="Arial"/>
                                  <a:cs typeface="Arial"/>
                                  <a:sym typeface="Arial"/>
                                </a:rPr>
                                <m:t>Y</m:t>
                              </m:r>
                            </m:sub>
                            <m:sup>
                              <m:r>
                                <a:rPr lang="en-US" sz="2400" i="1">
                                  <a:latin typeface="Cambria Math" panose="02040503050406030204" pitchFamily="18" charset="0"/>
                                  <a:ea typeface="Arial"/>
                                  <a:cs typeface="Arial"/>
                                  <a:sym typeface="Arial"/>
                                </a:rPr>
                                <m:t>2</m:t>
                              </m:r>
                            </m:sup>
                          </m:sSubSup>
                        </m:e>
                      </m: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solidFill>
                            <a:schemeClr val="dk1"/>
                          </a:solidFill>
                          <a:latin typeface="Cambria Math" panose="02040503050406030204" pitchFamily="18" charset="0"/>
                          <a:ea typeface="Arial"/>
                          <a:cs typeface="Arial"/>
                          <a:sym typeface="Arial"/>
                        </a:rPr>
                        <m:t>Z</m:t>
                      </m:r>
                      <m:r>
                        <a:rPr lang="en-US" sz="2400" b="0" i="1" smtClean="0">
                          <a:solidFill>
                            <a:schemeClr val="dk1"/>
                          </a:solidFill>
                          <a:latin typeface="Cambria Math" panose="02040503050406030204" pitchFamily="18" charset="0"/>
                          <a:ea typeface="Arial"/>
                          <a:cs typeface="Arial"/>
                          <a:sym typeface="Arial"/>
                        </a:rPr>
                        <m:t> =</m:t>
                      </m:r>
                      <m:r>
                        <m:rPr>
                          <m:sty m:val="p"/>
                        </m:rPr>
                        <a:rPr lang="en-US" sz="2400" b="0" i="1" smtClean="0">
                          <a:solidFill>
                            <a:schemeClr val="dk1"/>
                          </a:solidFill>
                          <a:latin typeface="Cambria Math" panose="02040503050406030204" pitchFamily="18" charset="0"/>
                          <a:ea typeface="Arial"/>
                          <a:cs typeface="Arial"/>
                          <a:sym typeface="Arial"/>
                        </a:rPr>
                        <m:t>X</m:t>
                      </m:r>
                      <m:r>
                        <a:rPr lang="en-US" sz="2400" b="0" i="1" smtClean="0">
                          <a:solidFill>
                            <a:schemeClr val="dk1"/>
                          </a:solidFill>
                          <a:latin typeface="Cambria Math" panose="02040503050406030204" pitchFamily="18" charset="0"/>
                          <a:ea typeface="Arial"/>
                          <a:cs typeface="Arial"/>
                          <a:sym typeface="Arial"/>
                        </a:rPr>
                        <m:t> + </m:t>
                      </m:r>
                      <m:r>
                        <m:rPr>
                          <m:sty m:val="p"/>
                        </m:rPr>
                        <a:rPr lang="en-US" sz="2400" b="0" i="1" smtClean="0">
                          <a:solidFill>
                            <a:schemeClr val="dk1"/>
                          </a:solidFill>
                          <a:latin typeface="Cambria Math" panose="02040503050406030204" pitchFamily="18" charset="0"/>
                          <a:ea typeface="Arial"/>
                          <a:cs typeface="Arial"/>
                          <a:sym typeface="Arial"/>
                        </a:rPr>
                        <m:t>Y</m:t>
                      </m:r>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Then,</a:t>
                </a: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400" b="0" i="1" smtClean="0">
                          <a:latin typeface="Cambria Math" panose="02040503050406030204" pitchFamily="18" charset="0"/>
                          <a:ea typeface="Arial"/>
                          <a:cs typeface="Arial"/>
                          <a:sym typeface="Arial"/>
                        </a:rPr>
                        <m:t>Z</m:t>
                      </m:r>
                      <m:r>
                        <a:rPr lang="en-US" sz="2400" i="1">
                          <a:latin typeface="Cambria Math" panose="02040503050406030204" pitchFamily="18" charset="0"/>
                          <a:ea typeface="Arial"/>
                          <a:cs typeface="Arial"/>
                          <a:sym typeface="Arial"/>
                        </a:rPr>
                        <m:t>∼</m:t>
                      </m:r>
                      <m:r>
                        <a:rPr lang="en-US" sz="2400" i="1">
                          <a:latin typeface="Cambria Math" panose="02040503050406030204" pitchFamily="18" charset="0"/>
                          <a:ea typeface="Arial"/>
                          <a:cs typeface="Arial"/>
                          <a:sym typeface="Arial"/>
                        </a:rPr>
                        <m:t>𝑁</m:t>
                      </m:r>
                      <m:d>
                        <m:dPr>
                          <m:ctrlPr>
                            <a:rPr lang="en-US" sz="2400" i="1">
                              <a:latin typeface="Cambria Math" panose="02040503050406030204" pitchFamily="18" charset="0"/>
                              <a:ea typeface="Arial"/>
                              <a:cs typeface="Arial"/>
                              <a:sym typeface="Arial"/>
                            </a:rPr>
                          </m:ctrlPr>
                        </m:dPr>
                        <m:e>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a:rPr lang="en-US" sz="2400" i="1">
                                  <a:latin typeface="Cambria Math" panose="02040503050406030204" pitchFamily="18" charset="0"/>
                                  <a:ea typeface="Arial"/>
                                  <a:cs typeface="Arial"/>
                                  <a:sym typeface="Arial"/>
                                </a:rPr>
                                <m:t>𝑋</m:t>
                              </m:r>
                            </m:sub>
                          </m:sSub>
                          <m:r>
                            <a:rPr lang="en-US" sz="2400" b="0" i="1" smtClean="0">
                              <a:latin typeface="Cambria Math" panose="02040503050406030204" pitchFamily="18" charset="0"/>
                              <a:ea typeface="Arial"/>
                              <a:cs typeface="Arial"/>
                              <a:sym typeface="Arial"/>
                            </a:rPr>
                            <m:t>+</m:t>
                          </m:r>
                          <m:sSub>
                            <m:sSubPr>
                              <m:ctrlPr>
                                <a:rPr lang="en-US" sz="2400" i="1">
                                  <a:latin typeface="Cambria Math" panose="02040503050406030204" pitchFamily="18" charset="0"/>
                                  <a:ea typeface="Arial"/>
                                  <a:cs typeface="Arial"/>
                                  <a:sym typeface="Arial"/>
                                </a:rPr>
                              </m:ctrlPr>
                            </m:sSubPr>
                            <m:e>
                              <m:r>
                                <a:rPr lang="en-US" sz="2400" i="1">
                                  <a:latin typeface="Cambria Math" panose="02040503050406030204" pitchFamily="18" charset="0"/>
                                  <a:ea typeface="Arial"/>
                                  <a:cs typeface="Arial"/>
                                  <a:sym typeface="Arial"/>
                                </a:rPr>
                                <m:t>𝜇</m:t>
                              </m:r>
                            </m:e>
                            <m:sub>
                              <m:r>
                                <m:rPr>
                                  <m:sty m:val="p"/>
                                </m:rPr>
                                <a:rPr lang="en-US" sz="2400" i="1">
                                  <a:latin typeface="Cambria Math" panose="02040503050406030204" pitchFamily="18" charset="0"/>
                                  <a:ea typeface="Arial"/>
                                  <a:cs typeface="Arial"/>
                                  <a:sym typeface="Arial"/>
                                </a:rPr>
                                <m:t>Y</m:t>
                              </m:r>
                            </m:sub>
                          </m:sSub>
                          <m:r>
                            <a:rPr lang="en-US" sz="2400" i="1">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a:rPr lang="en-US" sz="2400" i="1">
                                  <a:latin typeface="Cambria Math" panose="02040503050406030204" pitchFamily="18" charset="0"/>
                                  <a:ea typeface="Arial"/>
                                  <a:cs typeface="Arial"/>
                                  <a:sym typeface="Arial"/>
                                </a:rPr>
                                <m:t>𝑋</m:t>
                              </m:r>
                            </m:sub>
                            <m:sup>
                              <m:r>
                                <a:rPr lang="en-US" sz="2400" i="1">
                                  <a:latin typeface="Cambria Math" panose="02040503050406030204" pitchFamily="18" charset="0"/>
                                  <a:ea typeface="Arial"/>
                                  <a:cs typeface="Arial"/>
                                  <a:sym typeface="Arial"/>
                                </a:rPr>
                                <m:t>2</m:t>
                              </m:r>
                            </m:sup>
                          </m:sSubSup>
                          <m:r>
                            <a:rPr lang="en-US" sz="2400" b="0" i="1" smtClean="0">
                              <a:latin typeface="Cambria Math" panose="02040503050406030204" pitchFamily="18" charset="0"/>
                              <a:ea typeface="Arial"/>
                              <a:cs typeface="Arial"/>
                              <a:sym typeface="Arial"/>
                            </a:rPr>
                            <m:t>+</m:t>
                          </m:r>
                          <m:sSubSup>
                            <m:sSubSupPr>
                              <m:ctrlPr>
                                <a:rPr lang="en-US" sz="2400" i="1">
                                  <a:latin typeface="Cambria Math" panose="02040503050406030204" pitchFamily="18" charset="0"/>
                                  <a:ea typeface="Arial"/>
                                  <a:cs typeface="Arial"/>
                                  <a:sym typeface="Arial"/>
                                </a:rPr>
                              </m:ctrlPr>
                            </m:sSubSupPr>
                            <m:e>
                              <m:r>
                                <a:rPr lang="en-US" sz="2400" i="1">
                                  <a:latin typeface="Cambria Math" panose="02040503050406030204" pitchFamily="18" charset="0"/>
                                  <a:ea typeface="Arial"/>
                                  <a:cs typeface="Arial"/>
                                  <a:sym typeface="Arial"/>
                                </a:rPr>
                                <m:t>𝜎</m:t>
                              </m:r>
                            </m:e>
                            <m:sub>
                              <m:r>
                                <m:rPr>
                                  <m:sty m:val="p"/>
                                </m:rPr>
                                <a:rPr lang="en-US" sz="2400" i="1">
                                  <a:latin typeface="Cambria Math" panose="02040503050406030204" pitchFamily="18" charset="0"/>
                                  <a:ea typeface="Arial"/>
                                  <a:cs typeface="Arial"/>
                                  <a:sym typeface="Arial"/>
                                </a:rPr>
                                <m:t>Y</m:t>
                              </m:r>
                            </m:sub>
                            <m:sup>
                              <m:r>
                                <a:rPr lang="en-US" sz="2400" i="1">
                                  <a:latin typeface="Cambria Math" panose="02040503050406030204" pitchFamily="18" charset="0"/>
                                  <a:ea typeface="Arial"/>
                                  <a:cs typeface="Arial"/>
                                  <a:sym typeface="Arial"/>
                                </a:rPr>
                                <m:t>2</m:t>
                              </m:r>
                            </m:sup>
                          </m:sSubSup>
                        </m:e>
                      </m:d>
                    </m:oMath>
                  </m:oMathPara>
                </a14:m>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For how to derive it you can look </a:t>
                </a:r>
                <a:r>
                  <a:rPr lang="en-US" sz="2400" dirty="0">
                    <a:latin typeface="Atkinson Hyperlegible Next"/>
                    <a:ea typeface="Arial"/>
                    <a:cs typeface="Arial"/>
                    <a:sym typeface="Arial"/>
                    <a:hlinkClick r:id="rId3"/>
                  </a:rPr>
                  <a:t>here (from Wikipedia)</a:t>
                </a: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A25EF48-A626-2479-79A7-B9D0A76129D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4"/>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C631F36-F78C-757F-C1AC-5348001429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4A0024-FE46-52C7-8BCE-E45E2DF66AE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631BA9-D174-6F92-B57A-F72156AEF28E}"/>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233507-DD4E-09E4-8B19-F3F68F287C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F46915-D4D0-20B4-EA15-BF71A35D658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FD619B1-5C2B-042D-B7CC-21B3DCD381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A89019-4475-CF78-5C5A-9F557006AD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86A4B80-EAA7-9252-6199-762F8EA1AD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058195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C61C6F48-6502-7594-732B-3309D0AAFA7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9612DE5-007D-444A-BC56-F3B3CC1FABD0}"/>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3F9511B2-D0F0-B479-B055-1332C0E28693}"/>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4EABE5F-B5FA-990A-EC98-EDDE5603B36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66E5E5D8-F2F3-4639-917F-8333F14E62E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9551B3E-856F-2CBE-FA3A-C3FC310E0AB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7DE7A0E-06C4-1650-A7B6-044D5411F4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29CE709-52AA-AAEB-F8F4-A01817D0D7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8198507-8C05-C9BB-3571-D0D1C82A4CC3}"/>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7D004251-199A-1E4B-0EF1-41D56E6416B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FF6B2B7-460F-4FD6-6D3C-EEE2C975F3B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90449706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4BA4E5-9F0F-9A96-BDA3-71D0F40F71F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1717540-90E8-76EB-0874-AD7238E42CE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our absolute sensor (like a 1D LiDAR) </a:t>
                </a:r>
                <a:r>
                  <a:rPr lang="en-US" sz="2400" b="1" dirty="0">
                    <a:latin typeface="Atkinson Hyperlegible Next"/>
                    <a:ea typeface="Arial"/>
                    <a:cs typeface="Arial"/>
                    <a:sym typeface="Arial"/>
                  </a:rPr>
                  <a:t>takes a measurement</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It says the robot is at position </a:t>
                </a:r>
                <a14:m>
                  <m:oMath xmlns:m="http://schemas.openxmlformats.org/officeDocument/2006/math">
                    <m:r>
                      <a:rPr lang="en-US" sz="2400" i="1" dirty="0" smtClean="0">
                        <a:latin typeface="Cambria Math" panose="02040503050406030204" pitchFamily="18" charset="0"/>
                        <a:ea typeface="Arial"/>
                        <a:cs typeface="Arial"/>
                        <a:sym typeface="Arial"/>
                      </a:rPr>
                      <m:t>𝑧</m:t>
                    </m:r>
                  </m:oMath>
                </a14:m>
                <a:r>
                  <a:rPr lang="en-US" sz="2400" dirty="0">
                    <a:latin typeface="Atkinson Hyperlegible Next"/>
                    <a:ea typeface="Arial"/>
                    <a:cs typeface="Arial"/>
                    <a:sym typeface="Arial"/>
                  </a:rPr>
                  <a:t>, with a sensor noise variance of </a:t>
                </a:r>
                <a14:m>
                  <m:oMath xmlns:m="http://schemas.openxmlformats.org/officeDocument/2006/math">
                    <m:sSubSup>
                      <m:sSubSupPr>
                        <m:ctrlPr>
                          <a:rPr lang="en-US" sz="2400" i="1" dirty="0" smtClean="0">
                            <a:latin typeface="Cambria Math" panose="02040503050406030204" pitchFamily="18" charset="0"/>
                            <a:ea typeface="Arial"/>
                            <a:cs typeface="Arial"/>
                            <a:sym typeface="Arial"/>
                          </a:rPr>
                        </m:ctrlPr>
                      </m:sSubSupPr>
                      <m:e>
                        <m:r>
                          <a:rPr lang="en-US" sz="2400" i="1" dirty="0" smtClean="0">
                            <a:latin typeface="Cambria Math" panose="02040503050406030204" pitchFamily="18" charset="0"/>
                            <a:ea typeface="Arial"/>
                            <a:cs typeface="Arial"/>
                            <a:sym typeface="Arial"/>
                          </a:rPr>
                          <m:t>𝜎</m:t>
                        </m:r>
                      </m:e>
                      <m:sub>
                        <m:r>
                          <a:rPr lang="en-US" sz="2400" i="1" dirty="0" smtClean="0">
                            <a:latin typeface="Cambria Math" panose="02040503050406030204" pitchFamily="18" charset="0"/>
                            <a:ea typeface="Arial"/>
                            <a:cs typeface="Arial"/>
                            <a:sym typeface="Arial"/>
                          </a:rPr>
                          <m:t>𝑠𝑒𝑛𝑠𝑜𝑟</m:t>
                        </m:r>
                      </m:sub>
                      <m:sup>
                        <m:r>
                          <a:rPr lang="en-US" sz="2400" i="1" dirty="0" smtClean="0">
                            <a:latin typeface="Cambria Math" panose="02040503050406030204" pitchFamily="18" charset="0"/>
                            <a:ea typeface="Arial"/>
                            <a:cs typeface="Arial"/>
                            <a:sym typeface="Arial"/>
                          </a:rPr>
                          <m:t>2</m:t>
                        </m:r>
                      </m:sup>
                    </m:sSub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now have </a:t>
                </a:r>
                <a:r>
                  <a:rPr lang="en-US" sz="2400" b="1" dirty="0">
                    <a:latin typeface="Atkinson Hyperlegible Next"/>
                    <a:ea typeface="Arial"/>
                    <a:cs typeface="Arial"/>
                    <a:sym typeface="Arial"/>
                  </a:rPr>
                  <a:t>two</a:t>
                </a:r>
                <a:r>
                  <a:rPr lang="en-US" sz="2400" dirty="0">
                    <a:latin typeface="Atkinson Hyperlegible Next"/>
                    <a:ea typeface="Arial"/>
                    <a:cs typeface="Arial"/>
                    <a:sym typeface="Arial"/>
                  </a:rPr>
                  <a:t> Gaussian curves: our flattened </a:t>
                </a:r>
                <a:r>
                  <a:rPr lang="en-US" sz="2400" b="1" dirty="0">
                    <a:latin typeface="Atkinson Hyperlegible Next"/>
                    <a:ea typeface="Arial"/>
                    <a:cs typeface="Arial"/>
                    <a:sym typeface="Arial"/>
                  </a:rPr>
                  <a:t>prediction</a:t>
                </a:r>
                <a:r>
                  <a:rPr lang="en-US" sz="2400" dirty="0">
                    <a:latin typeface="Atkinson Hyperlegible Next"/>
                    <a:ea typeface="Arial"/>
                    <a:cs typeface="Arial"/>
                    <a:sym typeface="Arial"/>
                  </a:rPr>
                  <a:t> curve, and the new </a:t>
                </a:r>
                <a:r>
                  <a:rPr lang="en-US" sz="2400" b="1" dirty="0">
                    <a:latin typeface="Atkinson Hyperlegible Next"/>
                    <a:ea typeface="Arial"/>
                    <a:cs typeface="Arial"/>
                    <a:sym typeface="Arial"/>
                  </a:rPr>
                  <a:t>sensor</a:t>
                </a:r>
                <a:r>
                  <a:rPr lang="en-US" sz="2400" dirty="0">
                    <a:latin typeface="Atkinson Hyperlegible Next"/>
                    <a:ea typeface="Arial"/>
                    <a:cs typeface="Arial"/>
                    <a:sym typeface="Arial"/>
                  </a:rPr>
                  <a:t> curve. </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How do we combine these two conflicting opinions into one single truth?</a:t>
                </a:r>
              </a:p>
            </p:txBody>
          </p:sp>
        </mc:Choice>
        <mc:Fallback xmlns="">
          <p:sp>
            <p:nvSpPr>
              <p:cNvPr id="118" name="Google Shape;118;p29">
                <a:extLst>
                  <a:ext uri="{FF2B5EF4-FFF2-40B4-BE49-F238E27FC236}">
                    <a16:creationId xmlns:a16="http://schemas.microsoft.com/office/drawing/2014/main" id="{D1717540-90E8-76EB-0874-AD7238E42CE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B389A5F-DDEA-D4FB-5C72-809C560730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F28F7A9-7BE0-C541-B732-FA8D7F180F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D93A15-F017-8647-ADDA-B94836B7C7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CE0E9F-80C7-E742-AD1E-0E862F37548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21A9CB-89CE-3748-D3A0-7BFD6CA54DA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2C7A10-2D1D-BB01-4755-44EE5C7E8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32C9B73-71F9-CADA-86BF-1672C407AE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D8AB2-8849-7911-19E7-ACE33DE0C1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6196913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5BC2D05-6E4A-839C-D75F-276EC3DF0E1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46AA350-1B4E-77A8-1016-25D64DD4A0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66AD620-B882-938B-3FF5-330530767F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E1E9622-ACC3-403C-C00A-7507A9EE19E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5B086A-912F-86EB-F78E-8F5EA17AC7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017A1E-A54D-1E8A-0AE7-D75969F6642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1C21D-8D99-3DFE-7E8B-4CF01F727B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E2EA7E2-F515-7D6C-9BAE-BB3B533073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5A279F-E552-03A6-9719-2B54A8AC64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1D Update (Conflicting Opinions)&quot;: two Gaussian probability curves over position x from 0 to 15. The purple prediction is centered at x equals 8 and is wider and lower. The orange sensor measurement is centered at z equals 9.5 with variance 1.2, so it is narrower and taller. The curves overlap between about 8 and 10, showing that the prediction and the more certain sensor reading disagree on the position before they are fused.">
            <a:extLst>
              <a:ext uri="{FF2B5EF4-FFF2-40B4-BE49-F238E27FC236}">
                <a16:creationId xmlns:a16="http://schemas.microsoft.com/office/drawing/2014/main" id="{BF02FE44-DD7C-2BF2-7311-06C963C661F0}"/>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403000069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411D8D-9382-4533-2668-A5DA8264E03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FCB5A3-559A-9BE7-2A07-E8D4BC2B57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In probability, to fuse two independent estimates, we </a:t>
            </a:r>
            <a:r>
              <a:rPr lang="en-US" sz="2400" b="1" dirty="0">
                <a:latin typeface="Atkinson Hyperlegible Next"/>
                <a:ea typeface="Arial"/>
                <a:cs typeface="Arial"/>
                <a:sym typeface="Arial"/>
              </a:rPr>
              <a:t>multiply their distributions </a:t>
            </a:r>
            <a:r>
              <a:rPr lang="en-US" sz="2400" dirty="0">
                <a:latin typeface="Atkinson Hyperlegible Next"/>
                <a:ea typeface="Arial"/>
                <a:cs typeface="Arial"/>
                <a:sym typeface="Arial"/>
              </a:rPr>
              <a:t>together.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a:t>
            </a:r>
            <a:r>
              <a:rPr lang="en-US" sz="2400" b="1" dirty="0">
                <a:latin typeface="Atkinson Hyperlegible Next"/>
                <a:ea typeface="Arial"/>
                <a:cs typeface="Arial"/>
                <a:sym typeface="Arial"/>
              </a:rPr>
              <a:t>magical property </a:t>
            </a:r>
            <a:r>
              <a:rPr lang="en-US" sz="2400" dirty="0">
                <a:latin typeface="Atkinson Hyperlegible Next"/>
                <a:ea typeface="Arial"/>
                <a:cs typeface="Arial"/>
                <a:sym typeface="Arial"/>
              </a:rPr>
              <a:t>of Gaussians: Multiplying two Gaussians </a:t>
            </a:r>
            <a:r>
              <a:rPr lang="en-US" sz="2400" b="1" dirty="0">
                <a:latin typeface="Atkinson Hyperlegible Next"/>
                <a:ea typeface="Arial"/>
                <a:cs typeface="Arial"/>
                <a:sym typeface="Arial"/>
              </a:rPr>
              <a:t>always</a:t>
            </a:r>
            <a:r>
              <a:rPr lang="en-US" sz="2400" dirty="0">
                <a:latin typeface="Atkinson Hyperlegible Next"/>
                <a:ea typeface="Arial"/>
                <a:cs typeface="Arial"/>
                <a:sym typeface="Arial"/>
              </a:rPr>
              <a:t> produces a new </a:t>
            </a:r>
            <a:r>
              <a:rPr lang="en-US" sz="2400" b="1" dirty="0">
                <a:latin typeface="Atkinson Hyperlegible Next"/>
                <a:ea typeface="Arial"/>
                <a:cs typeface="Arial"/>
                <a:sym typeface="Arial"/>
              </a:rPr>
              <a:t>Gaussian</a:t>
            </a:r>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Because the new curve represents the overlapping area of agreement, it is always taller and narrower than both original curves.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Fusing data </a:t>
            </a:r>
            <a:r>
              <a:rPr lang="en-US" sz="2400" b="1" dirty="0">
                <a:latin typeface="Atkinson Hyperlegible Next"/>
                <a:ea typeface="Arial"/>
                <a:cs typeface="Arial"/>
                <a:sym typeface="Arial"/>
              </a:rPr>
              <a:t>reduces</a:t>
            </a:r>
            <a:r>
              <a:rPr lang="en-US" sz="2400" dirty="0">
                <a:latin typeface="Atkinson Hyperlegible Next"/>
                <a:ea typeface="Arial"/>
                <a:cs typeface="Arial"/>
                <a:sym typeface="Arial"/>
              </a:rPr>
              <a:t> uncertainty!</a:t>
            </a:r>
            <a:endParaRPr lang="en-US"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09CE65A-43FB-1C3F-DFF4-2B3EC93E19A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0027510-26EC-0DE5-6059-60AA11D156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A80E73D-CC32-C367-291A-5A4D9CBD810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4F0A1C-AC21-6003-DC0C-94CE247462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D7195FA-2F8D-2084-4C68-1C64BA4036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95B1338-A756-EA86-02FA-7455B9B2470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E65568-EAF0-88AF-69F4-C83A9F778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57CFC5-14DE-9E58-4677-5B0C9D0745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4462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3E5ED3-D160-09E8-9563-3285D327042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568C3C2-1F8C-EB2C-73A8-6C194BCEDB5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1E60B4-5694-9B3E-7FFA-168184A0D6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B8F665D-933A-FF46-9E21-A8EEC2F629A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EF40B8-2E7F-81C1-F574-6A9541D3B8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930D312-0777-8A9B-06BF-0697CB0E7B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4F521A9-0F0E-4695-2DA0-57878F41FA5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6DC97-169D-1278-9FAA-9C0D36EFE0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3F7635-8046-F458-BA19-E643EF89A7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probability versus position x from 0 to 14, with three bell curves. The prediction is wide and low, centered at 8. The sensor reading is narrower and taller, centered near 9.5. Their product, the fused estimate, is the tallest and narrowest curve, with mean 9.01 and variance 0.81. It lies between the two, closer to the more certain sensor, with Kalman gain K equal to 0.68. Fusing yields less uncertainty than either input alone.">
            <a:extLst>
              <a:ext uri="{FF2B5EF4-FFF2-40B4-BE49-F238E27FC236}">
                <a16:creationId xmlns:a16="http://schemas.microsoft.com/office/drawing/2014/main" id="{DE7AA5F7-52D4-DFA6-6A7F-55939E484891}"/>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702321" y="982504"/>
            <a:ext cx="10855188" cy="5427594"/>
          </a:xfrm>
          <a:prstGeom prst="rect">
            <a:avLst/>
          </a:prstGeom>
        </p:spPr>
      </p:pic>
    </p:spTree>
    <p:extLst>
      <p:ext uri="{BB962C8B-B14F-4D97-AF65-F5344CB8AC3E}">
        <p14:creationId xmlns:p14="http://schemas.microsoft.com/office/powerpoint/2010/main" val="27407054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EC0D3CB-1908-7BBE-261B-D42172313DA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A140B39-747E-CD9D-551F-D1D7844A4A5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The math behind that multiplication gives us the 1D </a:t>
                </a:r>
                <a:r>
                  <a:rPr lang="en-US" sz="2300" b="1" dirty="0">
                    <a:solidFill>
                      <a:schemeClr val="dk1"/>
                    </a:solidFill>
                    <a:latin typeface="Atkinson Hyperlegible Next"/>
                    <a:ea typeface="Arial"/>
                    <a:cs typeface="Arial"/>
                    <a:sym typeface="Arial"/>
                  </a:rPr>
                  <a:t>Kalman Gain </a:t>
                </a:r>
                <a:r>
                  <a:rPr lang="en-US" sz="2300" dirty="0">
                    <a:solidFill>
                      <a:schemeClr val="dk1"/>
                    </a:solidFill>
                    <a:latin typeface="Atkinson Hyperlegible Next"/>
                    <a:ea typeface="Arial"/>
                    <a:cs typeface="Arial"/>
                    <a:sym typeface="Arial"/>
                  </a:rPr>
                  <a:t>(</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r>
                        <a:rPr lang="en-US" sz="2300" i="1" dirty="0" smtClean="0">
                          <a:solidFill>
                            <a:schemeClr val="dk1"/>
                          </a:solidFill>
                          <a:latin typeface="Cambria Math" panose="02040503050406030204" pitchFamily="18" charset="0"/>
                          <a:ea typeface="Arial"/>
                          <a:cs typeface="Arial"/>
                          <a:sym typeface="Arial"/>
                        </a:rPr>
                        <m:t>=</m:t>
                      </m:r>
                      <m:f>
                        <m:fPr>
                          <m:ctrlPr>
                            <a:rPr lang="en-US" sz="2300" i="1" dirty="0" smtClean="0">
                              <a:solidFill>
                                <a:schemeClr val="dk1"/>
                              </a:solidFill>
                              <a:latin typeface="Cambria Math" panose="02040503050406030204" pitchFamily="18" charset="0"/>
                              <a:ea typeface="Arial"/>
                              <a:cs typeface="Arial"/>
                              <a:sym typeface="Arial"/>
                            </a:rPr>
                          </m:ctrlPr>
                        </m:fPr>
                        <m:num>
                          <m:r>
                            <m:rPr>
                              <m:sty m:val="p"/>
                            </m:rPr>
                            <a:rPr lang="en-US" sz="2300" b="0" i="1" dirty="0" smtClean="0">
                              <a:solidFill>
                                <a:schemeClr val="dk1"/>
                              </a:solidFill>
                              <a:latin typeface="Cambria Math" panose="02040503050406030204" pitchFamily="18" charset="0"/>
                              <a:ea typeface="Arial"/>
                              <a:cs typeface="Arial"/>
                              <a:sym typeface="Arial"/>
                            </a:rPr>
                            <m:t>Prediction</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Uncertainty</m:t>
                          </m:r>
                        </m:num>
                        <m:den>
                          <m:r>
                            <m:rPr>
                              <m:sty m:val="p"/>
                            </m:rPr>
                            <a:rPr lang="en-US" sz="2300" b="0" i="1" dirty="0" smtClean="0">
                              <a:solidFill>
                                <a:schemeClr val="dk1"/>
                              </a:solidFill>
                              <a:latin typeface="Cambria Math" panose="02040503050406030204" pitchFamily="18" charset="0"/>
                              <a:ea typeface="Arial"/>
                              <a:cs typeface="Arial"/>
                              <a:sym typeface="Arial"/>
                            </a:rPr>
                            <m:t>Total</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System</m:t>
                          </m:r>
                          <m:r>
                            <a:rPr lang="en-US" sz="2300" b="0" i="1" dirty="0" smtClean="0">
                              <a:solidFill>
                                <a:schemeClr val="dk1"/>
                              </a:solidFill>
                              <a:latin typeface="Cambria Math" panose="02040503050406030204" pitchFamily="18" charset="0"/>
                              <a:ea typeface="Arial"/>
                              <a:cs typeface="Arial"/>
                              <a:sym typeface="Arial"/>
                            </a:rPr>
                            <m:t> </m:t>
                          </m:r>
                          <m:r>
                            <m:rPr>
                              <m:sty m:val="p"/>
                            </m:rPr>
                            <a:rPr lang="en-US" sz="2300" b="0" i="1" dirty="0" smtClean="0">
                              <a:solidFill>
                                <a:schemeClr val="dk1"/>
                              </a:solidFill>
                              <a:latin typeface="Cambria Math" panose="02040503050406030204" pitchFamily="18" charset="0"/>
                              <a:ea typeface="Arial"/>
                              <a:cs typeface="Arial"/>
                              <a:sym typeface="Arial"/>
                            </a:rPr>
                            <m:t>Uncertainty</m:t>
                          </m:r>
                        </m:den>
                      </m:f>
                    </m:oMath>
                  </m:oMathPara>
                </a14:m>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the sensor is perfect, </a:t>
                </a:r>
                <a14:m>
                  <m:oMath xmlns:m="http://schemas.openxmlformats.org/officeDocument/2006/math">
                    <m:r>
                      <a:rPr lang="en-US" sz="2300" i="1" dirty="0">
                        <a:latin typeface="Cambria Math" panose="02040503050406030204" pitchFamily="18" charset="0"/>
                        <a:ea typeface="Arial"/>
                        <a:cs typeface="Arial"/>
                        <a:sym typeface="Arial"/>
                      </a:rPr>
                      <m:t>𝐾</m:t>
                    </m:r>
                    <m:r>
                      <a:rPr lang="en-US" sz="2300" b="0" i="1" dirty="0" smtClean="0">
                        <a:latin typeface="Cambria Math" panose="02040503050406030204" pitchFamily="18" charset="0"/>
                        <a:ea typeface="Arial"/>
                        <a:cs typeface="Arial"/>
                        <a:sym typeface="Arial"/>
                      </a:rPr>
                      <m:t>=1</m:t>
                    </m:r>
                  </m:oMath>
                </a14:m>
                <a:r>
                  <a:rPr lang="en-US" sz="2300" dirty="0">
                    <a:latin typeface="Atkinson Hyperlegible Next"/>
                    <a:ea typeface="Arial"/>
                    <a:cs typeface="Arial"/>
                    <a:sym typeface="Arial"/>
                  </a:rPr>
                  <a:t>, and then we trust the sensor completely.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the sensor is garbage, </a:t>
                </a:r>
                <a14:m>
                  <m:oMath xmlns:m="http://schemas.openxmlformats.org/officeDocument/2006/math">
                    <m:r>
                      <a:rPr lang="en-US" sz="2300" i="1" dirty="0">
                        <a:latin typeface="Cambria Math" panose="02040503050406030204" pitchFamily="18" charset="0"/>
                        <a:ea typeface="Arial"/>
                        <a:cs typeface="Arial"/>
                        <a:sym typeface="Arial"/>
                      </a:rPr>
                      <m:t>𝐾</m:t>
                    </m:r>
                    <m:r>
                      <a:rPr lang="en-US" sz="2300" i="1" dirty="0">
                        <a:latin typeface="Cambria Math" panose="02040503050406030204" pitchFamily="18" charset="0"/>
                        <a:ea typeface="Arial"/>
                        <a:cs typeface="Arial"/>
                        <a:sym typeface="Arial"/>
                      </a:rPr>
                      <m:t>=0</m:t>
                    </m:r>
                  </m:oMath>
                </a14:m>
                <a:r>
                  <a:rPr lang="en-US" sz="2300" dirty="0">
                    <a:latin typeface="Atkinson Hyperlegible Next"/>
                    <a:ea typeface="Arial"/>
                    <a:cs typeface="Arial"/>
                    <a:sym typeface="Arial"/>
                  </a:rPr>
                  <a:t>, we ignore it! </a:t>
                </a:r>
              </a:p>
            </p:txBody>
          </p:sp>
        </mc:Choice>
        <mc:Fallback xmlns="">
          <p:sp>
            <p:nvSpPr>
              <p:cNvPr id="118" name="Google Shape;118;p29">
                <a:extLst>
                  <a:ext uri="{FF2B5EF4-FFF2-40B4-BE49-F238E27FC236}">
                    <a16:creationId xmlns:a16="http://schemas.microsoft.com/office/drawing/2014/main" id="{6A140B39-747E-CD9D-551F-D1D7844A4A5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9B77F08-2B14-4454-3F63-7DEBBC302C2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D376A4-B652-DE0B-6666-1B2A9D133D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268616-8F73-D3BF-93DD-EFAD77DEEF3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06C20C-09BF-39D5-F89A-1D1BDC68DD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47339E-497C-3C54-E3B4-936167C426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83EEDB-4A4A-79F9-4A9F-74A8466678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E173F8-2F4E-B2CA-E66D-E78F4F876B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4616D-8F99-7163-8F54-D14FD9B0D4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16857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7F8C3A-06ED-81E9-F50E-0B296E5DAA1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CCBBD64-5DE5-3319-EFFB-00B5AD6C368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The math behind that multiplication gives us the 1D </a:t>
                </a:r>
                <a:r>
                  <a:rPr lang="en-US" sz="2300" b="1" dirty="0">
                    <a:solidFill>
                      <a:schemeClr val="dk1"/>
                    </a:solidFill>
                    <a:latin typeface="Atkinson Hyperlegible Next"/>
                    <a:ea typeface="Arial"/>
                    <a:cs typeface="Arial"/>
                    <a:sym typeface="Arial"/>
                  </a:rPr>
                  <a:t>Kalman Gain </a:t>
                </a:r>
                <a:r>
                  <a:rPr lang="en-US" sz="2300" dirty="0">
                    <a:solidFill>
                      <a:schemeClr val="dk1"/>
                    </a:solidFill>
                    <a:latin typeface="Atkinson Hyperlegible Next"/>
                    <a:ea typeface="Arial"/>
                    <a:cs typeface="Arial"/>
                    <a:sym typeface="Arial"/>
                  </a:rPr>
                  <a:t>(</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r>
                        <a:rPr lang="en-US" sz="2300" i="1" dirty="0" smtClean="0">
                          <a:solidFill>
                            <a:schemeClr val="dk1"/>
                          </a:solidFill>
                          <a:latin typeface="Cambria Math" panose="02040503050406030204" pitchFamily="18" charset="0"/>
                          <a:ea typeface="Arial"/>
                          <a:cs typeface="Arial"/>
                          <a:sym typeface="Arial"/>
                        </a:rPr>
                        <m:t>=</m:t>
                      </m:r>
                      <m:f>
                        <m:fPr>
                          <m:ctrlPr>
                            <a:rPr lang="en-US" sz="2300" i="1" dirty="0" smtClean="0">
                              <a:solidFill>
                                <a:schemeClr val="dk1"/>
                              </a:solidFill>
                              <a:latin typeface="Cambria Math" panose="02040503050406030204" pitchFamily="18" charset="0"/>
                              <a:ea typeface="Arial"/>
                              <a:cs typeface="Arial"/>
                              <a:sym typeface="Arial"/>
                            </a:rPr>
                          </m:ctrlPr>
                        </m:fPr>
                        <m:num>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𝑝𝑟𝑒𝑑</m:t>
                              </m:r>
                            </m:sub>
                            <m:sup>
                              <m:r>
                                <a:rPr lang="en-US" sz="2300" i="1" dirty="0" smtClean="0">
                                  <a:solidFill>
                                    <a:schemeClr val="dk1"/>
                                  </a:solidFill>
                                  <a:latin typeface="Cambria Math" panose="02040503050406030204" pitchFamily="18" charset="0"/>
                                  <a:ea typeface="Arial"/>
                                  <a:cs typeface="Arial"/>
                                  <a:sym typeface="Arial"/>
                                </a:rPr>
                                <m:t>2</m:t>
                              </m:r>
                            </m:sup>
                          </m:sSubSup>
                        </m:num>
                        <m:den>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𝑝𝑟𝑒𝑑</m:t>
                              </m:r>
                            </m:sub>
                            <m:sup>
                              <m:r>
                                <a:rPr lang="en-US" sz="2300" i="1" dirty="0" smtClean="0">
                                  <a:solidFill>
                                    <a:schemeClr val="dk1"/>
                                  </a:solidFill>
                                  <a:latin typeface="Cambria Math" panose="02040503050406030204" pitchFamily="18" charset="0"/>
                                  <a:ea typeface="Arial"/>
                                  <a:cs typeface="Arial"/>
                                  <a:sym typeface="Arial"/>
                                </a:rPr>
                                <m:t>2</m:t>
                              </m:r>
                            </m:sup>
                          </m:sSubSup>
                          <m:r>
                            <a:rPr lang="en-US" sz="2300" i="1" dirty="0" smtClean="0">
                              <a:solidFill>
                                <a:schemeClr val="dk1"/>
                              </a:solidFill>
                              <a:latin typeface="Cambria Math" panose="02040503050406030204" pitchFamily="18" charset="0"/>
                              <a:ea typeface="Arial"/>
                              <a:cs typeface="Arial"/>
                              <a:sym typeface="Arial"/>
                            </a:rPr>
                            <m:t>+</m:t>
                          </m:r>
                          <m:sSubSup>
                            <m:sSubSupPr>
                              <m:ctrlPr>
                                <a:rPr lang="en-US" sz="2300" i="1" dirty="0" smtClean="0">
                                  <a:solidFill>
                                    <a:schemeClr val="dk1"/>
                                  </a:solidFill>
                                  <a:latin typeface="Cambria Math" panose="02040503050406030204" pitchFamily="18" charset="0"/>
                                  <a:ea typeface="Arial"/>
                                  <a:cs typeface="Arial"/>
                                  <a:sym typeface="Arial"/>
                                </a:rPr>
                              </m:ctrlPr>
                            </m:sSubSupPr>
                            <m:e>
                              <m:r>
                                <a:rPr lang="en-US" sz="2300" i="1" dirty="0" smtClean="0">
                                  <a:solidFill>
                                    <a:schemeClr val="dk1"/>
                                  </a:solidFill>
                                  <a:latin typeface="Cambria Math" panose="02040503050406030204" pitchFamily="18" charset="0"/>
                                  <a:ea typeface="Arial"/>
                                  <a:cs typeface="Arial"/>
                                  <a:sym typeface="Arial"/>
                                </a:rPr>
                                <m:t>𝜎</m:t>
                              </m:r>
                            </m:e>
                            <m:sub>
                              <m:r>
                                <a:rPr lang="en-US" sz="2300" i="1" dirty="0" smtClean="0">
                                  <a:solidFill>
                                    <a:schemeClr val="dk1"/>
                                  </a:solidFill>
                                  <a:latin typeface="Cambria Math" panose="02040503050406030204" pitchFamily="18" charset="0"/>
                                  <a:ea typeface="Arial"/>
                                  <a:cs typeface="Arial"/>
                                  <a:sym typeface="Arial"/>
                                </a:rPr>
                                <m:t>𝑠𝑒𝑛𝑠𝑜𝑟</m:t>
                              </m:r>
                            </m:sub>
                            <m:sup>
                              <m:r>
                                <a:rPr lang="en-US" sz="2300" i="1" dirty="0" smtClean="0">
                                  <a:solidFill>
                                    <a:schemeClr val="dk1"/>
                                  </a:solidFill>
                                  <a:latin typeface="Cambria Math" panose="02040503050406030204" pitchFamily="18" charset="0"/>
                                  <a:ea typeface="Arial"/>
                                  <a:cs typeface="Arial"/>
                                  <a:sym typeface="Arial"/>
                                </a:rPr>
                                <m:t>2</m:t>
                              </m:r>
                            </m:sup>
                          </m:sSubSup>
                        </m:den>
                      </m:f>
                    </m:oMath>
                  </m:oMathPara>
                </a14:m>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endParaRPr lang="en-US" sz="2300" i="1" dirty="0">
                  <a:solidFill>
                    <a:schemeClr val="dk1"/>
                  </a:solidFill>
                  <a:latin typeface="Cambria Math" panose="02040503050406030204" pitchFamily="18" charset="0"/>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solidFill>
                          <a:schemeClr val="dk1"/>
                        </a:solidFill>
                        <a:latin typeface="Cambria Math" panose="02040503050406030204" pitchFamily="18" charset="0"/>
                        <a:ea typeface="Arial"/>
                        <a:cs typeface="Arial"/>
                        <a:sym typeface="Arial"/>
                      </a:rPr>
                      <m:t>𝐾</m:t>
                    </m:r>
                  </m:oMath>
                </a14:m>
                <a:r>
                  <a:rPr lang="en-US" sz="2300" dirty="0">
                    <a:solidFill>
                      <a:schemeClr val="dk1"/>
                    </a:solidFill>
                    <a:latin typeface="Atkinson Hyperlegible Next"/>
                    <a:ea typeface="Arial"/>
                    <a:cs typeface="Arial"/>
                    <a:sym typeface="Arial"/>
                  </a:rPr>
                  <a:t> is just a ratio! It's the ratio of our prediction uncertainty to the total system uncertainty. It always falls between 0 and 1.</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solidFill>
                      <a:schemeClr val="dk1"/>
                    </a:solidFill>
                    <a:latin typeface="Atkinson Hyperlegible Next"/>
                    <a:ea typeface="Arial"/>
                    <a:cs typeface="Arial"/>
                    <a:sym typeface="Arial"/>
                  </a:rPr>
                  <a:t>We update our position using this ratio:</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𝑛𝑒𝑤</m:t>
                          </m:r>
                        </m:sub>
                      </m:sSub>
                      <m:r>
                        <a:rPr lang="en-US" sz="2300" i="1" dirty="0" smtClean="0">
                          <a:solidFill>
                            <a:schemeClr val="dk1"/>
                          </a:solidFill>
                          <a:latin typeface="Cambria Math" panose="02040503050406030204" pitchFamily="18" charset="0"/>
                          <a:ea typeface="Arial"/>
                          <a:cs typeface="Arial"/>
                          <a:sym typeface="Arial"/>
                        </a:rPr>
                        <m:t>=</m:t>
                      </m:r>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𝑝𝑟𝑒𝑑</m:t>
                          </m:r>
                        </m:sub>
                      </m:sSub>
                      <m:r>
                        <a:rPr lang="en-US" sz="2300" i="1" dirty="0" smtClean="0">
                          <a:solidFill>
                            <a:schemeClr val="dk1"/>
                          </a:solidFill>
                          <a:latin typeface="Cambria Math" panose="02040503050406030204" pitchFamily="18" charset="0"/>
                          <a:ea typeface="Arial"/>
                          <a:cs typeface="Arial"/>
                          <a:sym typeface="Arial"/>
                        </a:rPr>
                        <m:t>+</m:t>
                      </m:r>
                      <m:r>
                        <a:rPr lang="en-US" sz="2300" i="1" dirty="0" smtClean="0">
                          <a:solidFill>
                            <a:schemeClr val="dk1"/>
                          </a:solidFill>
                          <a:latin typeface="Cambria Math" panose="02040503050406030204" pitchFamily="18" charset="0"/>
                          <a:ea typeface="Arial"/>
                          <a:cs typeface="Arial"/>
                          <a:sym typeface="Arial"/>
                        </a:rPr>
                        <m:t>𝐾</m:t>
                      </m:r>
                      <m:d>
                        <m:dPr>
                          <m:ctrlPr>
                            <a:rPr lang="en-US" sz="2300" i="1" dirty="0" smtClean="0">
                              <a:solidFill>
                                <a:schemeClr val="dk1"/>
                              </a:solidFill>
                              <a:latin typeface="Cambria Math" panose="02040503050406030204" pitchFamily="18" charset="0"/>
                              <a:ea typeface="Arial"/>
                              <a:cs typeface="Arial"/>
                              <a:sym typeface="Arial"/>
                            </a:rPr>
                          </m:ctrlPr>
                        </m:dPr>
                        <m:e>
                          <m:r>
                            <a:rPr lang="en-US" sz="2300" i="1" dirty="0" smtClean="0">
                              <a:solidFill>
                                <a:schemeClr val="dk1"/>
                              </a:solidFill>
                              <a:latin typeface="Cambria Math" panose="02040503050406030204" pitchFamily="18" charset="0"/>
                              <a:ea typeface="Arial"/>
                              <a:cs typeface="Arial"/>
                              <a:sym typeface="Arial"/>
                            </a:rPr>
                            <m:t>𝑧</m:t>
                          </m:r>
                          <m:r>
                            <a:rPr lang="en-US" sz="2300" i="1" dirty="0" smtClean="0">
                              <a:solidFill>
                                <a:schemeClr val="dk1"/>
                              </a:solidFill>
                              <a:latin typeface="Cambria Math" panose="02040503050406030204" pitchFamily="18" charset="0"/>
                              <a:ea typeface="Arial"/>
                              <a:cs typeface="Arial"/>
                              <a:sym typeface="Arial"/>
                            </a:rPr>
                            <m:t>−</m:t>
                          </m:r>
                          <m:sSub>
                            <m:sSubPr>
                              <m:ctrlPr>
                                <a:rPr lang="en-US" sz="2300" i="1" dirty="0" smtClean="0">
                                  <a:solidFill>
                                    <a:schemeClr val="dk1"/>
                                  </a:solidFill>
                                  <a:latin typeface="Cambria Math" panose="02040503050406030204" pitchFamily="18" charset="0"/>
                                  <a:ea typeface="Arial"/>
                                  <a:cs typeface="Arial"/>
                                  <a:sym typeface="Arial"/>
                                </a:rPr>
                              </m:ctrlPr>
                            </m:sSubPr>
                            <m:e>
                              <m:r>
                                <a:rPr lang="en-US" sz="2300" i="1" dirty="0" smtClean="0">
                                  <a:solidFill>
                                    <a:schemeClr val="dk1"/>
                                  </a:solidFill>
                                  <a:latin typeface="Cambria Math" panose="02040503050406030204" pitchFamily="18" charset="0"/>
                                  <a:ea typeface="Arial"/>
                                  <a:cs typeface="Arial"/>
                                  <a:sym typeface="Arial"/>
                                </a:rPr>
                                <m:t>𝜇</m:t>
                              </m:r>
                            </m:e>
                            <m:sub>
                              <m:r>
                                <a:rPr lang="en-US" sz="2300" i="1" dirty="0" smtClean="0">
                                  <a:solidFill>
                                    <a:schemeClr val="dk1"/>
                                  </a:solidFill>
                                  <a:latin typeface="Cambria Math" panose="02040503050406030204" pitchFamily="18" charset="0"/>
                                  <a:ea typeface="Arial"/>
                                  <a:cs typeface="Arial"/>
                                  <a:sym typeface="Arial"/>
                                </a:rPr>
                                <m:t>𝑝𝑟𝑒𝑑</m:t>
                              </m:r>
                            </m:sub>
                          </m:sSub>
                        </m:e>
                      </m:d>
                    </m:oMath>
                  </m:oMathPara>
                </a14:m>
                <a:endParaRPr lang="en-US" sz="2300" dirty="0">
                  <a:solidFill>
                    <a:schemeClr val="dk1"/>
                  </a:solidFill>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All it really says is “how much of the measurement should we incorporate”?</a:t>
                </a:r>
              </a:p>
            </p:txBody>
          </p:sp>
        </mc:Choice>
        <mc:Fallback xmlns="">
          <p:sp>
            <p:nvSpPr>
              <p:cNvPr id="118" name="Google Shape;118;p29">
                <a:extLst>
                  <a:ext uri="{FF2B5EF4-FFF2-40B4-BE49-F238E27FC236}">
                    <a16:creationId xmlns:a16="http://schemas.microsoft.com/office/drawing/2014/main" id="{FCCBBD64-5DE5-3319-EFFB-00B5AD6C368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426198B-48F2-DBCF-8ADC-27C9B15ED6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AD612D-E7B0-AEB4-8812-5A201F6864A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BA8F1F-1CDF-2469-E334-67184D9835D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FF714-8212-1644-54D8-2E0B2F32E3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E29C982-F4C8-F9FB-AB4A-36EFC8A346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830561-F7A0-25BC-90E5-74639DD54E9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F1B609-BCB4-8415-9969-D8EE64E455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34F9F58-9660-3CB5-D29E-8D99CA01601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7248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DB73DC2-58D2-91F4-F2CF-B9E7021BB72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BA07C7-B861-5421-7C0F-90DC1DC47C5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That’s all the Kalman filter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current limitation of the formulation?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We are only looking at a problem with 1 state, can this be generalized to be N-dimensional?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For our differentiable robot, we live in a 2D plane with an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a:t>
                </a:r>
                <a14:m>
                  <m:oMath xmlns:m="http://schemas.openxmlformats.org/officeDocument/2006/math">
                    <m:r>
                      <m:rPr>
                        <m:sty m:val="p"/>
                      </m:rPr>
                      <a:rPr lang="en-US" sz="2300" b="0" i="1" smtClean="0">
                        <a:latin typeface="Cambria Math" panose="02040503050406030204" pitchFamily="18" charset="0"/>
                        <a:ea typeface="Arial"/>
                        <a:cs typeface="Arial"/>
                        <a:sym typeface="Arial"/>
                      </a:rPr>
                      <m:t>Y</m:t>
                    </m:r>
                  </m:oMath>
                </a14:m>
                <a:r>
                  <a:rPr lang="en-US" sz="2300" dirty="0">
                    <a:latin typeface="Atkinson Hyperlegible Next"/>
                    <a:ea typeface="Arial"/>
                    <a:cs typeface="Arial"/>
                    <a:sym typeface="Arial"/>
                  </a:rPr>
                  <a:t>, and heading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can no longer use a single scalar number </a:t>
                </a:r>
                <a14:m>
                  <m:oMath xmlns:m="http://schemas.openxmlformats.org/officeDocument/2006/math">
                    <m:r>
                      <a:rPr lang="en-US" sz="2300" i="1" dirty="0" smtClean="0">
                        <a:latin typeface="Cambria Math" panose="02040503050406030204" pitchFamily="18" charset="0"/>
                        <a:ea typeface="Arial"/>
                        <a:cs typeface="Arial"/>
                        <a:sym typeface="Arial"/>
                      </a:rPr>
                      <m:t>𝜇</m:t>
                    </m:r>
                  </m:oMath>
                </a14:m>
                <a:r>
                  <a:rPr lang="en-US" sz="2300" dirty="0">
                    <a:latin typeface="Atkinson Hyperlegible Next"/>
                    <a:ea typeface="Arial"/>
                    <a:cs typeface="Arial"/>
                    <a:sym typeface="Arial"/>
                  </a:rPr>
                  <a:t> for position. We must use a </a:t>
                </a:r>
                <a:r>
                  <a:rPr lang="en-US" sz="2300" b="1" dirty="0">
                    <a:latin typeface="Atkinson Hyperlegible Next"/>
                    <a:ea typeface="Arial"/>
                    <a:cs typeface="Arial"/>
                    <a:sym typeface="Arial"/>
                  </a:rPr>
                  <a:t>State Vector</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err="1"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r>
                  <a:rPr lang="en-US" sz="2300" dirty="0">
                    <a:latin typeface="Atkinson Hyperlegible Next"/>
                    <a:ea typeface="Arial"/>
                    <a:cs typeface="Arial"/>
                    <a:sym typeface="Arial"/>
                  </a:rPr>
                  <a:t>We can no longer use a single scalar variance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We must use a </a:t>
                </a:r>
                <a:r>
                  <a:rPr lang="en-US" sz="2300" b="1" dirty="0">
                    <a:latin typeface="Atkinson Hyperlegible Next"/>
                    <a:ea typeface="Arial"/>
                    <a:cs typeface="Arial"/>
                    <a:sym typeface="Arial"/>
                  </a:rPr>
                  <a:t>Covariance Matrix</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B2BA07C7-B861-5421-7C0F-90DC1DC47C5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96777F2-6C77-51D1-C8B9-64F1920EBD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6715D4-8B00-B85D-2167-91DA621CEF8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92175EB-3F6C-D62D-25BA-5217911047D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85456-00B2-46B1-8819-CBBE0ACF49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D03A0D-5C42-625F-8B21-357E15F06A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898B86-ADAC-9156-40E1-55BCCF20AC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629CEF-B88B-5097-7BCE-AE0738D50F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64DB92F-2773-0CA3-01CC-99F2DD8E3EE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52796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78026D5-642E-5FA9-B24D-BB2F972494A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D81CE76-DDEC-FA99-FE82-7667F179E333}"/>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ND -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89C1F07-A7C6-0EEA-CFAB-6F81C647B9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880808B-6498-A126-653F-999B9869961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56DDC46-269F-36DC-A402-F6E99CDF68B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8E0BEC5-D794-6D25-29A5-3AD4D43A3AD5}"/>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721836FB-150F-B968-985A-700320E880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9620420A-DDCC-006C-B82D-A8816FF2F83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C4DE278D-5E0E-C64F-6934-39A876AF81B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FBC960A-FF3C-4EB4-A835-CF3221E4AD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11DE33F-D1A3-A366-7206-3D6A422E3A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712049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7C5B89B-AD73-052F-BE6B-E2D5E4828FA6}"/>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BD972F50-0BAC-51F8-4674-B2E240CF2F54}"/>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723464BF-EB2B-8CDD-8CD9-330961639ED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7A3610-AC45-2DEC-4EF4-C7B00CC4CE1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823D590-5B53-D3FA-297C-FFDE942030A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FEC59D2-D2A7-D664-A59D-8CF83C6654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4691F89-242A-4F33-F3FD-67E3F1272B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4CAA65C-DD16-7ED6-E55C-3B7BC86523E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611E5D39-7D89-943D-BB1E-5FEF15C3372E}"/>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76A2E18-640F-E2D4-5E9A-72D8DA6662A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61E9803-1AC5-8F81-A128-A5A1A7B68B1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269496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0D03BE-2741-77CF-6AA5-8BA5A79B7C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3A06F7D-0576-FD78-083B-927F78519EC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A81555A-9873-C25D-2321-857A024615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1F5E44-655F-112D-D445-334EF4CACFC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5A2C5C-8A0E-264A-6A39-30BDB621F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9914FF-C258-88FD-8E53-23A285BD30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A0F55D-2807-04CD-4C04-8051D66EAF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B8E005-277B-C577-1754-E2C0532E3F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C2ECA1-AEEE-E5C1-7E1E-690F0A6267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MD Initial Belief (The State Vector)&quot;: the initial belief x sub 0 is a filled ellipse centered near position X equals 2, Y equals 2, spanning about minus 0.5 to 4.5 on both axes and tilted at roughly 45 degrees, indicating positive correlation between x and y uncertainty. Annotations: bold x equals x, y transpose; bold P equals the matrix with rows sigma x squared, sigma x y and sigma y x, sigma y squared. Axes run X from minus 2 to 16 and Y from minus 2 to 10.">
            <a:extLst>
              <a:ext uri="{FF2B5EF4-FFF2-40B4-BE49-F238E27FC236}">
                <a16:creationId xmlns:a16="http://schemas.microsoft.com/office/drawing/2014/main" id="{C912C74F-6B49-F930-5A27-F2BCE85E1FC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104919393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44DA11-165C-EF65-7459-9CD026C63C2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67F5410-EB67-8B93-6A57-E23368557AC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Let's translate our 1D prediction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𝑢</m:t>
                    </m:r>
                  </m:oMath>
                </a14:m>
                <a:r>
                  <a:rPr lang="en-US" sz="2300" dirty="0">
                    <a:latin typeface="Atkinson Hyperlegible Next"/>
                    <a:ea typeface="Arial"/>
                    <a:cs typeface="Arial"/>
                    <a:sym typeface="Arial"/>
                  </a:rPr>
                  <a:t>) to N-Dimensions: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𝐵</m:t>
                    </m:r>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𝑢</m:t>
                        </m:r>
                      </m:e>
                      <m:sub>
                        <m:r>
                          <a:rPr lang="en-US" sz="2300" i="1" dirty="0" err="1" smtClean="0">
                            <a:latin typeface="Cambria Math" panose="02040503050406030204" pitchFamily="18" charset="0"/>
                            <a:ea typeface="Arial"/>
                            <a:cs typeface="Arial"/>
                            <a:sym typeface="Arial"/>
                          </a:rPr>
                          <m:t>𝑘</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m:rPr>
                        <m:sty m:val="p"/>
                      </m:rPr>
                      <a:rPr lang="en-US" sz="2300" i="1" dirty="0">
                        <a:latin typeface="Cambria Math" panose="02040503050406030204" pitchFamily="18" charset="0"/>
                        <a:ea typeface="Arial"/>
                        <a:cs typeface="Arial"/>
                        <a:sym typeface="Arial"/>
                      </a:rPr>
                      <m:t>μ</m:t>
                    </m:r>
                  </m:oMath>
                </a14:m>
                <a:r>
                  <a:rPr lang="en-US" sz="2300" dirty="0">
                    <a:latin typeface="Atkinson Hyperlegible Next"/>
                    <a:ea typeface="Arial"/>
                    <a:cs typeface="Arial"/>
                    <a:sym typeface="Arial"/>
                  </a:rPr>
                  <a:t> becomes the state vector </a:t>
                </a:r>
                <a14:m>
                  <m:oMath xmlns:m="http://schemas.openxmlformats.org/officeDocument/2006/math">
                    <m:r>
                      <a:rPr lang="en-US" sz="2300" i="1" dirty="0">
                        <a:latin typeface="Cambria Math" panose="02040503050406030204" pitchFamily="18" charset="0"/>
                        <a:ea typeface="Arial"/>
                        <a:cs typeface="Arial"/>
                        <a:sym typeface="Arial"/>
                      </a:rPr>
                      <m:t>𝑥</m:t>
                    </m:r>
                  </m:oMath>
                </a14:m>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is our state transition matrix (how physics updates the state).</a:t>
                </a:r>
              </a:p>
            </p:txBody>
          </p:sp>
        </mc:Choice>
        <mc:Fallback xmlns="">
          <p:sp>
            <p:nvSpPr>
              <p:cNvPr id="118" name="Google Shape;118;p29">
                <a:extLst>
                  <a:ext uri="{FF2B5EF4-FFF2-40B4-BE49-F238E27FC236}">
                    <a16:creationId xmlns:a16="http://schemas.microsoft.com/office/drawing/2014/main" id="{B67F5410-EB67-8B93-6A57-E23368557AC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13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227CA2-F185-B75C-D910-453CF3B33C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A53280-0AA5-9631-2590-CAEFD5F700B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ACA5C6-E616-E19C-B0E6-2AD169E1F9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2877C7-4046-CCE7-234B-808887AA0D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8A48F2-0323-8338-C1D7-A599CD56CA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94BEB94-A006-4683-94C6-6D6CDDE2265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AF02A8-C81B-135B-84A1-948CCF04CB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537A04-12BB-77C2-3FBF-EA34608B67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978716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327B7D-7FEA-E73A-14E4-93893E959B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7F16B4E-1D2C-F7C7-08EB-B89D3A9E543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CD9912D-E46C-999C-21FE-A93DE3C8F32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C2C88A-8817-7E05-6C4A-38745E9C93D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B5255BF-C516-3744-8215-EF33C32A78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38065CE-2002-7252-9D2A-8EDB18A7E1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7690B1B-39E0-1563-0CC5-EA5DE91AD4C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287750E-4C26-ECA9-62B0-C7290E8BF7D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2D8D187-1A56-3B17-669A-64FD3892DB9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the Kalman filter predict step on position X versus position Y axes. The old belief is a point at (2, 2) inside a narrow, tilted blue covariance ellipse; a slightly larger purple outline shows it transformed by F P F transpose. A motion arrow moves the mean to about (8, 5), where a much larger filled purple ellipse shows the predicted prior: x sub pred equals F x sub k minus 1 plus B u, and P sub pred equals F P sub k minus 1 F transpose plus Q. Prediction shifts the estimate and grows its uncertainty.">
            <a:extLst>
              <a:ext uri="{FF2B5EF4-FFF2-40B4-BE49-F238E27FC236}">
                <a16:creationId xmlns:a16="http://schemas.microsoft.com/office/drawing/2014/main" id="{CD571A45-C401-F0E2-ABC0-41DDD883CAA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23729653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5EBFB3-1EF9-8EC5-867F-1BFD8C6922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40E74E3-A999-C8C0-8BEE-C1133A2000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a:t>
                </a:r>
                <a:r>
                  <a:rPr lang="en-US" sz="2300" b="1" dirty="0">
                    <a:latin typeface="Atkinson Hyperlegible Next"/>
                    <a:ea typeface="Arial"/>
                    <a:cs typeface="Arial"/>
                    <a:sym typeface="Arial"/>
                  </a:rPr>
                  <a:t>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represents multi-dimensional uncertainty as an ellipse, not a 1D curve.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diagonal elements are the individual variances (e.g., how unsure are we about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independent of everything else?).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off-diagonal elements are the critical addition: </a:t>
                </a:r>
                <a:r>
                  <a:rPr lang="en-US" sz="2300" b="1" dirty="0">
                    <a:latin typeface="Atkinson Hyperlegible Next"/>
                    <a:ea typeface="Arial"/>
                    <a:cs typeface="Arial"/>
                    <a:sym typeface="Arial"/>
                  </a:rPr>
                  <a:t>Correlations</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robot only drives forward, and we are uncertain about our heading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will that create an uncertainty in </a:t>
                </a:r>
                <a14:m>
                  <m:oMath xmlns:m="http://schemas.openxmlformats.org/officeDocument/2006/math">
                    <m:r>
                      <a:rPr lang="en-US" sz="2300" i="1" dirty="0" smtClean="0">
                        <a:latin typeface="Cambria Math" panose="02040503050406030204" pitchFamily="18" charset="0"/>
                        <a:ea typeface="Arial"/>
                        <a:cs typeface="Arial"/>
                        <a:sym typeface="Arial"/>
                      </a:rPr>
                      <m:t>𝑌</m:t>
                    </m:r>
                  </m:oMath>
                </a14:m>
                <a:r>
                  <a:rPr lang="en-US" sz="2300" dirty="0">
                    <a:latin typeface="Atkinson Hyperlegible Next"/>
                    <a:ea typeface="Arial"/>
                    <a:cs typeface="Arial"/>
                    <a:sym typeface="Arial"/>
                  </a:rPr>
                  <a:t> as we travel?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Yes, errors in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are highly correlated with errors in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 and </a:t>
                </a:r>
                <a14:m>
                  <m:oMath xmlns:m="http://schemas.openxmlformats.org/officeDocument/2006/math">
                    <m:r>
                      <a:rPr lang="en-US" sz="2300" i="1" dirty="0" smtClean="0">
                        <a:latin typeface="Cambria Math" panose="02040503050406030204" pitchFamily="18" charset="0"/>
                        <a:ea typeface="Arial"/>
                        <a:cs typeface="Arial"/>
                        <a:sym typeface="Arial"/>
                      </a:rPr>
                      <m:t>𝑌</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40E74E3-A999-C8C0-8BEE-C1133A20002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8CE9117-7D7E-73E9-FCB2-D173B899D60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D2E25B4-9C80-65C9-0132-0BC3107A42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268C4F9-6EEA-954F-1101-5550EE46989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98213B-00FB-430A-FDF5-638419BC8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693843-1AC4-F863-C72F-63E16D3071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0E8B05-3179-DEEC-574A-3A98802C08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50F6C8-41A2-4DAF-A588-1B86396E54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3D03-808C-03FB-F450-60DB1E081E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5941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5747B13-4078-2579-5CF3-192A99C6A73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7A99B7E-3621-627E-2235-8438A3DDF0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9405DF6-419E-CCD5-D645-2A4BF021AE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368A7C-58D1-ACE8-0D0E-28CC016916F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984D39-5F9A-3DFA-E2FD-4F34C8A1DA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C4320B4-4EF9-3A5F-1697-3CA8CA71BF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BF7F5C-2AFF-FAEE-F225-E00853602DD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C9D257-AFD4-BDF2-8B45-B783A65F0B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A2575C-A1C0-F20B-2B6C-2F29DC269E2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2D covariance of robot x and y position. Covariance matrix Sigma has sigma x squared equals 4.0, sigma y squared equals 3.0, and sigma x y equals sigma y x equals 2.5. A tilted 1-sigma ellipse is centered on the mean at (5, 5). Its long axis runs diagonally up-right, showing positive x-y correlation. Horizontal and vertical arrows mark sigma x and sigma y. A red arrow, square root of lambda 1 times v 1, marks the major axis along the tilt. A perpendicular green arrow, square root of lambda 2 times v 2, marks the minor axis.">
            <a:extLst>
              <a:ext uri="{FF2B5EF4-FFF2-40B4-BE49-F238E27FC236}">
                <a16:creationId xmlns:a16="http://schemas.microsoft.com/office/drawing/2014/main" id="{7EA5D460-2371-5DDC-7B12-80A2B905D86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80638" y="556313"/>
            <a:ext cx="6430725" cy="6430725"/>
          </a:xfrm>
          <a:prstGeom prst="rect">
            <a:avLst/>
          </a:prstGeom>
        </p:spPr>
      </p:pic>
    </p:spTree>
    <p:extLst>
      <p:ext uri="{BB962C8B-B14F-4D97-AF65-F5344CB8AC3E}">
        <p14:creationId xmlns:p14="http://schemas.microsoft.com/office/powerpoint/2010/main" val="355716196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E72C3-8BEE-CEC8-6058-7BC82650921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4F4595-D47E-8E37-5E1F-F3B3D60B2E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What is </a:t>
                </a:r>
                <a:r>
                  <a:rPr lang="en-US" sz="2300" b="1" dirty="0">
                    <a:latin typeface="Atkinson Hyperlegible Next"/>
                    <a:ea typeface="Arial"/>
                    <a:cs typeface="Arial"/>
                    <a:sym typeface="Arial"/>
                  </a:rPr>
                  <a:t>Variance</a:t>
                </a:r>
                <a:r>
                  <a:rPr lang="en-US" sz="2300" dirty="0">
                    <a:latin typeface="Atkinson Hyperlegible Next"/>
                    <a:ea typeface="Arial"/>
                    <a:cs typeface="Arial"/>
                    <a:sym typeface="Arial"/>
                  </a:rPr>
                  <a:t>, Really?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Before we calculate how uncertainty grows, we must define what it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Imagine throwing 100 darts at a board. The </a:t>
                </a:r>
                <a:r>
                  <a:rPr lang="en-US" sz="2300" b="1" dirty="0">
                    <a:latin typeface="Atkinson Hyperlegible Next"/>
                    <a:ea typeface="Arial"/>
                    <a:cs typeface="Arial"/>
                    <a:sym typeface="Arial"/>
                  </a:rPr>
                  <a:t>Expected Value </a:t>
                </a:r>
                <a14:m>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oMath>
                </a14:m>
                <a:r>
                  <a:rPr lang="en-US" sz="2300" dirty="0">
                    <a:latin typeface="Atkinson Hyperlegible Next"/>
                    <a:ea typeface="Arial"/>
                    <a:cs typeface="Arial"/>
                    <a:sym typeface="Arial"/>
                  </a:rPr>
                  <a:t>, or mean </a:t>
                </a:r>
                <a14:m>
                  <m:oMath xmlns:m="http://schemas.openxmlformats.org/officeDocument/2006/math">
                    <m:r>
                      <a:rPr lang="en-US" sz="2300" i="1" dirty="0" smtClean="0">
                        <a:latin typeface="Cambria Math" panose="02040503050406030204" pitchFamily="18" charset="0"/>
                        <a:ea typeface="Arial"/>
                        <a:cs typeface="Arial"/>
                        <a:sym typeface="Arial"/>
                      </a:rPr>
                      <m:t>𝜇</m:t>
                    </m:r>
                  </m:oMath>
                </a14:m>
                <a:r>
                  <a:rPr lang="en-US" sz="2300" dirty="0">
                    <a:latin typeface="Atkinson Hyperlegible Next"/>
                    <a:ea typeface="Arial"/>
                    <a:cs typeface="Arial"/>
                    <a:sym typeface="Arial"/>
                  </a:rPr>
                  <a:t>) is the center point of all your darts.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b="1" dirty="0">
                    <a:latin typeface="Atkinson Hyperlegible Next"/>
                    <a:ea typeface="Arial"/>
                    <a:cs typeface="Arial"/>
                    <a:sym typeface="Arial"/>
                  </a:rPr>
                  <a:t>Variance</a:t>
                </a:r>
                <a:r>
                  <a:rPr lang="en-US" sz="2300" dirty="0">
                    <a:latin typeface="Atkinson Hyperlegible Next"/>
                    <a:ea typeface="Arial"/>
                    <a:cs typeface="Arial"/>
                    <a:sym typeface="Arial"/>
                  </a:rPr>
                  <a:t> measures </a:t>
                </a:r>
                <a:r>
                  <a:rPr lang="en-US" sz="2300" b="1" dirty="0">
                    <a:latin typeface="Atkinson Hyperlegible Next"/>
                    <a:ea typeface="Arial"/>
                    <a:cs typeface="Arial"/>
                    <a:sym typeface="Arial"/>
                  </a:rPr>
                  <a:t>how spread out </a:t>
                </a:r>
                <a:r>
                  <a:rPr lang="en-US" sz="2300" dirty="0">
                    <a:latin typeface="Atkinson Hyperlegible Next"/>
                    <a:ea typeface="Arial"/>
                    <a:cs typeface="Arial"/>
                    <a:sym typeface="Arial"/>
                  </a:rPr>
                  <a:t>those darts are from the center. It is the average of the squared distances from the mean.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write this mathematically as: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14F4595-D47E-8E37-5E1F-F3B3D60B2E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2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036BC4-3069-A517-9085-A6B0835EFC9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E81DB4-AABF-ABD8-7008-DCB0C1BCE4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1F5C47-8016-E787-4409-DD855A1AEFE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EE9FB8-DBB9-F93F-7175-1EAB0A5EBE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CFEEC2-0152-918E-1329-173D4AD4621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87EC6B-71AE-3ACE-3B89-69A4B7F43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40CD8F-032C-C367-6351-C8CD108322A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28E6B9-E7DC-4370-2429-D59D886C3DE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412403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F9B016A-07A7-5B19-363D-207486F4CBA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8650B6-E658-55BC-99EC-63616B2ACFD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What happens to our uncertainty if we multiply our state by a constant </a:t>
                </a:r>
                <a14:m>
                  <m:oMath xmlns:m="http://schemas.openxmlformats.org/officeDocument/2006/math">
                    <m:r>
                      <a:rPr lang="en-US" sz="2300" i="1" dirty="0" smtClean="0">
                        <a:latin typeface="Cambria Math" panose="02040503050406030204" pitchFamily="18" charset="0"/>
                        <a:ea typeface="Arial"/>
                        <a:cs typeface="Arial"/>
                        <a:sym typeface="Arial"/>
                      </a:rPr>
                      <m:t>𝑎</m:t>
                    </m:r>
                  </m:oMath>
                </a14:m>
                <a:r>
                  <a:rPr lang="en-US" sz="2300" dirty="0">
                    <a:latin typeface="Atkinson Hyperlegible Next"/>
                    <a:ea typeface="Arial"/>
                    <a:cs typeface="Arial"/>
                    <a:sym typeface="Arial"/>
                  </a:rPr>
                  <a:t> (like applying a gear ratio to a wheel)?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𝑎</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is a constant, we pull it out: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2</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ea typeface="Arial"/>
                    <a:cs typeface="Arial"/>
                    <a:sym typeface="Arial"/>
                  </a:rPr>
                  <a:t>Thus, </a:t>
                </a: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oMath>
                </a14:m>
                <a:r>
                  <a:rPr lang="en-US" sz="2300" dirty="0">
                    <a:latin typeface="Atkinson Hyperlegible Next"/>
                    <a:ea typeface="Arial"/>
                    <a:cs typeface="Arial"/>
                    <a:sym typeface="Arial"/>
                  </a:rPr>
                  <a:t>. Scaling the state scales the uncertainty quadratically.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a motor spins twice as fast, does the position uncertainty double? </a:t>
                </a:r>
              </a:p>
              <a:p>
                <a:pPr marL="0" indent="0" algn="ctr">
                  <a:lnSpc>
                    <a:spcPct val="100000"/>
                  </a:lnSpc>
                  <a:spcBef>
                    <a:spcPts val="0"/>
                  </a:spcBef>
                  <a:buSzPts val="3000"/>
                  <a:buNone/>
                </a:pPr>
                <a:r>
                  <a:rPr lang="en-US" sz="2300" dirty="0">
                    <a:latin typeface="Atkinson Hyperlegible Next"/>
                    <a:ea typeface="Arial"/>
                    <a:cs typeface="Arial"/>
                    <a:sym typeface="Arial"/>
                  </a:rPr>
                  <a:t>No, it </a:t>
                </a:r>
                <a:r>
                  <a:rPr lang="en-US" sz="2300" b="1" dirty="0">
                    <a:latin typeface="Atkinson Hyperlegible Next"/>
                    <a:ea typeface="Arial"/>
                    <a:cs typeface="Arial"/>
                    <a:sym typeface="Arial"/>
                  </a:rPr>
                  <a:t>quadruples</a:t>
                </a:r>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0E8650B6-E658-55BC-99EC-63616B2ACFD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ECD4026-4D30-6469-3669-618C555F35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C44AFBB-DF47-2AE0-6532-CE0CE735CE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970C62E-C339-ABCD-6424-1B1C2DC2644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A17A87-19B7-DDC3-C604-742D6D871C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B321BC5-3AA3-F483-F378-DF42140276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32A3FD-B547-089E-F7CA-AEA48A11BA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7FDE8D2-6085-15D2-4857-EBCA2FCCC8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4ADEB2F-9DC0-C942-4A34-FC3B732285F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58833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ABC5D9-A4E3-F417-E87B-C568CB9D36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10F1563-4DD8-AF30-9B05-0119957EC6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Real robots experience random bumps and slip. We represent this as adding a random noise variable </a:t>
                </a:r>
                <a14:m>
                  <m:oMath xmlns:m="http://schemas.openxmlformats.org/officeDocument/2006/math">
                    <m:r>
                      <a:rPr lang="en-US" sz="2300" i="1" dirty="0" smtClean="0">
                        <a:latin typeface="Cambria Math" panose="02040503050406030204" pitchFamily="18" charset="0"/>
                        <a:ea typeface="Arial"/>
                        <a:cs typeface="Arial"/>
                        <a:sym typeface="Arial"/>
                      </a:rPr>
                      <m:t>𝑊</m:t>
                    </m:r>
                  </m:oMath>
                </a14:m>
                <a:r>
                  <a:rPr lang="en-US" sz="2300" dirty="0">
                    <a:latin typeface="Atkinson Hyperlegible Next"/>
                    <a:ea typeface="Arial"/>
                    <a:cs typeface="Arial"/>
                    <a:sym typeface="Arial"/>
                  </a:rPr>
                  <a:t> to our state.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Assuming the noise </a:t>
                </a:r>
                <a14:m>
                  <m:oMath xmlns:m="http://schemas.openxmlformats.org/officeDocument/2006/math">
                    <m:r>
                      <a:rPr lang="en-US" sz="2300" i="1" dirty="0" smtClean="0">
                        <a:latin typeface="Cambria Math" panose="02040503050406030204" pitchFamily="18" charset="0"/>
                        <a:ea typeface="Arial"/>
                        <a:cs typeface="Arial"/>
                        <a:sym typeface="Arial"/>
                      </a:rPr>
                      <m:t>𝑊</m:t>
                    </m:r>
                  </m:oMath>
                </a14:m>
                <a:r>
                  <a:rPr lang="en-US" sz="2300" dirty="0">
                    <a:latin typeface="Atkinson Hyperlegible Next"/>
                    <a:ea typeface="Arial"/>
                    <a:cs typeface="Arial"/>
                    <a:sym typeface="Arial"/>
                  </a:rPr>
                  <a:t> is </a:t>
                </a:r>
                <a:r>
                  <a:rPr lang="en-US" sz="2300" b="1" dirty="0">
                    <a:latin typeface="Atkinson Hyperlegible Next"/>
                    <a:ea typeface="Arial"/>
                    <a:cs typeface="Arial"/>
                    <a:sym typeface="Arial"/>
                  </a:rPr>
                  <a:t>completely independent </a:t>
                </a:r>
                <a:r>
                  <a:rPr lang="en-US" sz="2300" dirty="0">
                    <a:latin typeface="Atkinson Hyperlegible Next"/>
                    <a:ea typeface="Arial"/>
                    <a:cs typeface="Arial"/>
                    <a:sym typeface="Arial"/>
                  </a:rPr>
                  <a:t>of our state </a:t>
                </a:r>
                <a14:m>
                  <m:oMath xmlns:m="http://schemas.openxmlformats.org/officeDocument/2006/math">
                    <m:r>
                      <a:rPr lang="en-US" sz="2300" i="1" dirty="0" smtClean="0">
                        <a:latin typeface="Cambria Math" panose="02040503050406030204" pitchFamily="18" charset="0"/>
                        <a:ea typeface="Arial"/>
                        <a:cs typeface="Arial"/>
                        <a:sym typeface="Arial"/>
                      </a:rPr>
                      <m:t>𝑋</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𝑊</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Substituting our previous proof:</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err="1" smtClean="0">
                              <a:latin typeface="Cambria Math" panose="02040503050406030204" pitchFamily="18" charset="0"/>
                              <a:ea typeface="Arial"/>
                              <a:cs typeface="Arial"/>
                              <a:sym typeface="Arial"/>
                            </a:rPr>
                            <m:t>𝑎𝑋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𝑊</m:t>
                          </m:r>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This simple 1D equation is the exact heart of the Kalman Filter's predict step!</a:t>
                </a:r>
              </a:p>
            </p:txBody>
          </p:sp>
        </mc:Choice>
        <mc:Fallback xmlns="">
          <p:sp>
            <p:nvSpPr>
              <p:cNvPr id="118" name="Google Shape;118;p29">
                <a:extLst>
                  <a:ext uri="{FF2B5EF4-FFF2-40B4-BE49-F238E27FC236}">
                    <a16:creationId xmlns:a16="http://schemas.microsoft.com/office/drawing/2014/main" id="{710F1563-4DD8-AF30-9B05-0119957EC6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58E0F47-638B-FB83-2BA4-6C20B2B80E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2B7CD04-32C8-4EF4-7257-53F64BAE02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A1644AC-33C8-3FE3-8176-1E23A6EB5C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EB56B4A-3928-CDA4-D22E-F2CB78B69F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3569527-4BCB-50B6-A764-D4FE0D2BD7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03A071F-C80E-9823-7D72-1116E9BED2F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E4201BB-6457-D8B0-9711-EAB861DCE8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5AF5DD5-A184-15AD-515D-31840C0A1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483990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C7E1C4-9EF9-CDC5-BBD8-7D67CAADB04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24920CB-0467-20A1-AFCB-8E7BFC6939A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Our 1D variance equation is </a:t>
                </a: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𝑛𝑒𝑤</m:t>
                            </m:r>
                          </m:sub>
                        </m:sSub>
                      </m:e>
                    </m:d>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𝑉𝑎𝑟</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𝑊</m:t>
                        </m:r>
                      </m:e>
                    </m:d>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In a multidimensional robot, </a:t>
                </a:r>
                <a14:m>
                  <m:oMath xmlns:m="http://schemas.openxmlformats.org/officeDocument/2006/math">
                    <m:r>
                      <a:rPr lang="en-US" sz="2300" i="1" dirty="0" smtClean="0">
                        <a:latin typeface="Cambria Math" panose="02040503050406030204" pitchFamily="18" charset="0"/>
                        <a:ea typeface="Arial"/>
                        <a:cs typeface="Arial"/>
                        <a:sym typeface="Arial"/>
                      </a:rPr>
                      <m:t>𝑎</m:t>
                    </m:r>
                  </m:oMath>
                </a14:m>
                <a:r>
                  <a:rPr lang="en-US" sz="2300" dirty="0">
                    <a:latin typeface="Atkinson Hyperlegible Next"/>
                    <a:ea typeface="Arial"/>
                    <a:cs typeface="Arial"/>
                    <a:sym typeface="Arial"/>
                  </a:rPr>
                  <a:t> becomes the State Transition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𝑋</m:t>
                        </m:r>
                      </m:e>
                    </m:d>
                  </m:oMath>
                </a14:m>
                <a:r>
                  <a:rPr lang="en-US" sz="2300" dirty="0">
                    <a:latin typeface="Atkinson Hyperlegible Next"/>
                    <a:ea typeface="Arial"/>
                    <a:cs typeface="Arial"/>
                    <a:sym typeface="Arial"/>
                  </a:rPr>
                  <a:t> becomes the 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𝑉𝑎𝑟</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𝑊</m:t>
                        </m:r>
                      </m:e>
                    </m:d>
                  </m:oMath>
                </a14:m>
                <a:r>
                  <a:rPr lang="en-US" sz="2300" dirty="0">
                    <a:latin typeface="Atkinson Hyperlegible Next"/>
                    <a:ea typeface="Arial"/>
                    <a:cs typeface="Arial"/>
                    <a:sym typeface="Arial"/>
                  </a:rPr>
                  <a:t> becomes the Process Noise Matrix </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how do we square a matrix to get the equivalent of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𝑎</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 We can't just write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2</m:t>
                        </m:r>
                      </m:sup>
                    </m:sSup>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024920CB-0467-20A1-AFCB-8E7BFC6939A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4EA7C8-CF95-8E49-E830-29DE3D44178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9B8E689-A0A1-04AF-0F6C-D863EE78F3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1A98E1A-F638-3A1E-85FC-71CC62575D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27A1F5-0CD8-27F7-16CF-09212B7524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141965-4ACE-2488-025E-00B33BDB1F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A56BB5-C90F-7ED3-DF10-A885B11232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EE12D5-33E4-4A05-47C1-D6004720399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739886-C430-5F59-DD3B-8DA7EF2A6E8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074065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2667E1-5F67-0DB8-5C09-D06E398D47B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B0CE337-5050-8012-9C14-671998C859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In linear algebra, the variance of a matrix transformation is derived using the transpose: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𝐶𝑜𝑣</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𝐹𝑋</m:t>
                                      </m:r>
                                    </m:e>
                                  </m:d>
                                </m:e>
                              </m:d>
                            </m:e>
                            <m:sup>
                              <m:r>
                                <a:rPr lang="en-US" sz="2300" i="1" dirty="0" smtClean="0">
                                  <a:latin typeface="Cambria Math" panose="02040503050406030204" pitchFamily="18" charset="0"/>
                                  <a:ea typeface="Arial"/>
                                  <a:cs typeface="Arial"/>
                                  <a:sym typeface="Arial"/>
                                </a:rPr>
                                <m:t>𝑇</m:t>
                              </m:r>
                            </m:sup>
                          </m:sSup>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d>
                            </m:e>
                            <m:sup>
                              <m:r>
                                <a:rPr lang="en-US" sz="2300" i="1" dirty="0" smtClean="0">
                                  <a:latin typeface="Cambria Math" panose="02040503050406030204" pitchFamily="18" charset="0"/>
                                  <a:ea typeface="Arial"/>
                                  <a:cs typeface="Arial"/>
                                  <a:sym typeface="Arial"/>
                                </a:rPr>
                                <m:t>𝑇</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the rules of matrix transposition </a:t>
                </a:r>
                <a14:m>
                  <m:oMath xmlns:m="http://schemas.openxmlformats.org/officeDocument/2006/math">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𝐴𝐵</m:t>
                            </m:r>
                          </m:e>
                        </m:d>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𝐵</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𝐴</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𝐸</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𝐹</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pull the constant </a:t>
                </a:r>
                <a14:m>
                  <m:oMath xmlns:m="http://schemas.openxmlformats.org/officeDocument/2006/math">
                    <m:r>
                      <a:rPr lang="en-US" sz="2300" i="1" dirty="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matrices out of the Expectation:</a:t>
                </a:r>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𝐹𝐸</m:t>
                      </m:r>
                      <m:d>
                        <m:dPr>
                          <m:begChr m:val="["/>
                          <m:endChr m:val="]"/>
                          <m:ctrlPr>
                            <a:rPr lang="en-US" sz="2300" i="1" dirty="0" smtClean="0">
                              <a:latin typeface="Cambria Math" panose="02040503050406030204" pitchFamily="18" charset="0"/>
                              <a:ea typeface="Arial"/>
                              <a:cs typeface="Arial"/>
                              <a:sym typeface="Arial"/>
                            </a:rPr>
                          </m:ctrlPr>
                        </m:d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𝜇</m:t>
                                  </m:r>
                                </m:e>
                              </m:d>
                            </m:e>
                            <m:sup>
                              <m:r>
                                <a:rPr lang="en-US" sz="2300" i="1" dirty="0" smtClean="0">
                                  <a:latin typeface="Cambria Math" panose="02040503050406030204" pitchFamily="18" charset="0"/>
                                  <a:ea typeface="Arial"/>
                                  <a:cs typeface="Arial"/>
                                  <a:sym typeface="Arial"/>
                                </a:rPr>
                                <m:t>𝑇</m:t>
                              </m:r>
                            </m:sup>
                          </m:sSup>
                        </m:e>
                      </m:d>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Adding our noise matrix </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we get our final prediction: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3B0CE337-5050-8012-9C14-671998C8597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290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04EB41-99D2-CB91-1D37-E46749CD5D6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9BE1EE-B9AA-5E6A-F60B-C6EA7E0E6A4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C5DF78-BDE1-1A56-16A7-F8AE22EAB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B89505-CDA3-4401-1E4D-2693F07074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3D6E1E-2E62-DEB3-5B7E-AC24130879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17DEB8-70F4-3A64-38DF-9A99EFCC9D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94B319-24C4-3EF1-B583-15D6241A6B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25237A-482F-6977-C5F2-1115686A8E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776363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C627B-6F9F-1879-29D8-4BB941F3099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BFF4C25-583E-847E-B3A1-D0F989ABB9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multi-dimensional </a:t>
                </a:r>
                <a:r>
                  <a:rPr lang="en-US" sz="2300" b="1" dirty="0">
                    <a:latin typeface="Atkinson Hyperlegible Next"/>
                    <a:ea typeface="Arial"/>
                    <a:cs typeface="Arial"/>
                    <a:sym typeface="Arial"/>
                  </a:rPr>
                  <a:t>Prediction </a:t>
                </a:r>
                <a:r>
                  <a:rPr lang="en-US" sz="2300" dirty="0">
                    <a:latin typeface="Atkinson Hyperlegible Next"/>
                    <a:ea typeface="Arial"/>
                    <a:cs typeface="Arial"/>
                    <a:sym typeface="Arial"/>
                  </a:rPr>
                  <a:t>step is thus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6000" i="1" dirty="0">
                              <a:latin typeface="Cambria Math" panose="02040503050406030204" pitchFamily="18" charset="0"/>
                              <a:ea typeface="Arial"/>
                              <a:cs typeface="Arial"/>
                              <a:sym typeface="Arial"/>
                            </a:rPr>
                          </m:ctrlPr>
                        </m:sSubPr>
                        <m:e>
                          <m:r>
                            <a:rPr lang="en-US" sz="6000" i="1" dirty="0">
                              <a:latin typeface="Cambria Math" panose="02040503050406030204" pitchFamily="18" charset="0"/>
                              <a:ea typeface="Arial"/>
                              <a:cs typeface="Arial"/>
                              <a:sym typeface="Arial"/>
                            </a:rPr>
                            <m:t>𝑥</m:t>
                          </m:r>
                        </m:e>
                        <m:sub>
                          <m:r>
                            <a:rPr lang="en-US" sz="6000" i="1" dirty="0" smtClean="0">
                              <a:latin typeface="Cambria Math" panose="02040503050406030204" pitchFamily="18" charset="0"/>
                              <a:ea typeface="Arial"/>
                              <a:cs typeface="Arial"/>
                              <a:sym typeface="Arial"/>
                            </a:rPr>
                            <m:t>𝑘</m:t>
                          </m:r>
                          <m:r>
                            <a:rPr lang="en-US" sz="6000" i="1" dirty="0" smtClean="0">
                              <a:latin typeface="Cambria Math" panose="02040503050406030204" pitchFamily="18" charset="0"/>
                              <a:ea typeface="Arial"/>
                              <a:cs typeface="Arial"/>
                              <a:sym typeface="Arial"/>
                            </a:rPr>
                            <m:t>|</m:t>
                          </m:r>
                          <m:r>
                            <a:rPr lang="en-US" sz="6000" i="1" dirty="0" smtClean="0">
                              <a:latin typeface="Cambria Math" panose="02040503050406030204" pitchFamily="18" charset="0"/>
                              <a:ea typeface="Arial"/>
                              <a:cs typeface="Arial"/>
                              <a:sym typeface="Arial"/>
                            </a:rPr>
                            <m:t>𝑘</m:t>
                          </m:r>
                          <m:r>
                            <a:rPr lang="en-US" sz="6000" i="1" dirty="0" smtClean="0">
                              <a:latin typeface="Cambria Math" panose="02040503050406030204" pitchFamily="18" charset="0"/>
                              <a:ea typeface="Arial"/>
                              <a:cs typeface="Arial"/>
                              <a:sym typeface="Arial"/>
                            </a:rPr>
                            <m:t>−1</m:t>
                          </m:r>
                        </m:sub>
                      </m:sSub>
                      <m:r>
                        <a:rPr lang="en-US" sz="6000" i="1" dirty="0">
                          <a:latin typeface="Cambria Math" panose="02040503050406030204" pitchFamily="18" charset="0"/>
                          <a:ea typeface="Arial"/>
                          <a:cs typeface="Arial"/>
                          <a:sym typeface="Arial"/>
                        </a:rPr>
                        <m:t>=</m:t>
                      </m:r>
                      <m:r>
                        <a:rPr lang="en-US" sz="6000" i="1" dirty="0">
                          <a:latin typeface="Cambria Math" panose="02040503050406030204" pitchFamily="18" charset="0"/>
                          <a:ea typeface="Arial"/>
                          <a:cs typeface="Arial"/>
                          <a:sym typeface="Arial"/>
                        </a:rPr>
                        <m:t>𝐹</m:t>
                      </m:r>
                      <m:sSub>
                        <m:sSubPr>
                          <m:ctrlPr>
                            <a:rPr lang="en-US" sz="6000" i="1" dirty="0">
                              <a:latin typeface="Cambria Math" panose="02040503050406030204" pitchFamily="18" charset="0"/>
                              <a:ea typeface="Arial"/>
                              <a:cs typeface="Arial"/>
                              <a:sym typeface="Arial"/>
                            </a:rPr>
                          </m:ctrlPr>
                        </m:sSubPr>
                        <m:e>
                          <m:r>
                            <a:rPr lang="en-US" sz="6000" i="1" dirty="0">
                              <a:latin typeface="Cambria Math" panose="02040503050406030204" pitchFamily="18" charset="0"/>
                              <a:ea typeface="Arial"/>
                              <a:cs typeface="Arial"/>
                              <a:sym typeface="Arial"/>
                            </a:rPr>
                            <m:t>𝑥</m:t>
                          </m:r>
                        </m:e>
                        <m:sub>
                          <m:r>
                            <a:rPr lang="en-US" sz="6000" i="1" dirty="0">
                              <a:latin typeface="Cambria Math" panose="02040503050406030204" pitchFamily="18" charset="0"/>
                              <a:ea typeface="Arial"/>
                              <a:cs typeface="Arial"/>
                              <a:sym typeface="Arial"/>
                            </a:rPr>
                            <m:t>𝑘</m:t>
                          </m:r>
                          <m:r>
                            <a:rPr lang="en-US" sz="6000" i="1" dirty="0">
                              <a:latin typeface="Cambria Math" panose="02040503050406030204" pitchFamily="18" charset="0"/>
                              <a:ea typeface="Arial"/>
                              <a:cs typeface="Arial"/>
                              <a:sym typeface="Arial"/>
                            </a:rPr>
                            <m:t>−1|</m:t>
                          </m:r>
                          <m:r>
                            <a:rPr lang="en-US" sz="6000" i="1" dirty="0">
                              <a:latin typeface="Cambria Math" panose="02040503050406030204" pitchFamily="18" charset="0"/>
                              <a:ea typeface="Arial"/>
                              <a:cs typeface="Arial"/>
                              <a:sym typeface="Arial"/>
                            </a:rPr>
                            <m:t>𝑘</m:t>
                          </m:r>
                          <m:r>
                            <a:rPr lang="en-US" sz="6000" i="1" dirty="0">
                              <a:latin typeface="Cambria Math" panose="02040503050406030204" pitchFamily="18" charset="0"/>
                              <a:ea typeface="Arial"/>
                              <a:cs typeface="Arial"/>
                              <a:sym typeface="Arial"/>
                            </a:rPr>
                            <m:t>−1</m:t>
                          </m:r>
                        </m:sub>
                      </m:sSub>
                      <m:r>
                        <a:rPr lang="en-US" sz="6000" i="1" dirty="0">
                          <a:latin typeface="Cambria Math" panose="02040503050406030204" pitchFamily="18" charset="0"/>
                          <a:ea typeface="Arial"/>
                          <a:cs typeface="Arial"/>
                          <a:sym typeface="Arial"/>
                        </a:rPr>
                        <m:t>+</m:t>
                      </m:r>
                      <m:r>
                        <a:rPr lang="en-US" sz="6000" i="1" dirty="0">
                          <a:latin typeface="Cambria Math" panose="02040503050406030204" pitchFamily="18" charset="0"/>
                          <a:ea typeface="Arial"/>
                          <a:cs typeface="Arial"/>
                          <a:sym typeface="Arial"/>
                        </a:rPr>
                        <m:t>𝐵</m:t>
                      </m:r>
                      <m:sSub>
                        <m:sSubPr>
                          <m:ctrlPr>
                            <a:rPr lang="en-US" sz="6000" i="1" dirty="0" err="1">
                              <a:latin typeface="Cambria Math" panose="02040503050406030204" pitchFamily="18" charset="0"/>
                              <a:ea typeface="Arial"/>
                              <a:cs typeface="Arial"/>
                              <a:sym typeface="Arial"/>
                            </a:rPr>
                          </m:ctrlPr>
                        </m:sSubPr>
                        <m:e>
                          <m:r>
                            <a:rPr lang="en-US" sz="6000" i="1" dirty="0" err="1">
                              <a:latin typeface="Cambria Math" panose="02040503050406030204" pitchFamily="18" charset="0"/>
                              <a:ea typeface="Arial"/>
                              <a:cs typeface="Arial"/>
                              <a:sym typeface="Arial"/>
                            </a:rPr>
                            <m:t>𝑢</m:t>
                          </m:r>
                        </m:e>
                        <m:sub>
                          <m:r>
                            <a:rPr lang="en-US" sz="6000" i="1" dirty="0" err="1">
                              <a:latin typeface="Cambria Math" panose="02040503050406030204" pitchFamily="18" charset="0"/>
                              <a:ea typeface="Arial"/>
                              <a:cs typeface="Arial"/>
                              <a:sym typeface="Arial"/>
                            </a:rPr>
                            <m:t>𝑘</m:t>
                          </m:r>
                        </m:sub>
                      </m:sSub>
                    </m:oMath>
                  </m:oMathPara>
                </a14:m>
                <a:endParaRPr lang="en-US" sz="6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6000" i="1" dirty="0">
                          <a:latin typeface="Cambria Math" panose="02040503050406030204" pitchFamily="18" charset="0"/>
                          <a:ea typeface="Arial"/>
                          <a:cs typeface="Arial"/>
                          <a:sym typeface="Arial"/>
                        </a:rPr>
                        <m:t>𝑃</m:t>
                      </m:r>
                      <m:r>
                        <a:rPr lang="en-US" sz="6000" i="1" dirty="0">
                          <a:latin typeface="Cambria Math" panose="02040503050406030204" pitchFamily="18" charset="0"/>
                          <a:ea typeface="Arial"/>
                          <a:cs typeface="Arial"/>
                          <a:sym typeface="Arial"/>
                        </a:rPr>
                        <m:t> =</m:t>
                      </m:r>
                      <m:r>
                        <a:rPr lang="en-US" sz="6000" i="1" dirty="0" smtClean="0">
                          <a:latin typeface="Cambria Math" panose="02040503050406030204" pitchFamily="18" charset="0"/>
                          <a:ea typeface="Arial"/>
                          <a:cs typeface="Arial"/>
                          <a:sym typeface="Arial"/>
                        </a:rPr>
                        <m:t>𝐹𝑃</m:t>
                      </m:r>
                      <m:sSup>
                        <m:sSupPr>
                          <m:ctrlPr>
                            <a:rPr lang="en-US" sz="6000" i="1" dirty="0" smtClean="0">
                              <a:latin typeface="Cambria Math" panose="02040503050406030204" pitchFamily="18" charset="0"/>
                              <a:ea typeface="Arial"/>
                              <a:cs typeface="Arial"/>
                              <a:sym typeface="Arial"/>
                            </a:rPr>
                          </m:ctrlPr>
                        </m:sSupPr>
                        <m:e>
                          <m:r>
                            <a:rPr lang="en-US" sz="6000" i="1" dirty="0" smtClean="0">
                              <a:latin typeface="Cambria Math" panose="02040503050406030204" pitchFamily="18" charset="0"/>
                              <a:ea typeface="Arial"/>
                              <a:cs typeface="Arial"/>
                              <a:sym typeface="Arial"/>
                            </a:rPr>
                            <m:t>𝐹</m:t>
                          </m:r>
                        </m:e>
                        <m:sup>
                          <m:r>
                            <a:rPr lang="en-US" sz="6000" i="1" dirty="0" smtClean="0">
                              <a:latin typeface="Cambria Math" panose="02040503050406030204" pitchFamily="18" charset="0"/>
                              <a:ea typeface="Arial"/>
                              <a:cs typeface="Arial"/>
                              <a:sym typeface="Arial"/>
                            </a:rPr>
                            <m:t>𝑇</m:t>
                          </m:r>
                        </m:sup>
                      </m:sSup>
                      <m:r>
                        <a:rPr lang="en-US" sz="6000" i="1" dirty="0" smtClean="0">
                          <a:latin typeface="Cambria Math" panose="02040503050406030204" pitchFamily="18" charset="0"/>
                          <a:ea typeface="Arial"/>
                          <a:cs typeface="Arial"/>
                          <a:sym typeface="Arial"/>
                        </a:rPr>
                        <m:t>+</m:t>
                      </m:r>
                      <m:r>
                        <a:rPr lang="en-US" sz="6000" i="1" dirty="0" smtClean="0">
                          <a:latin typeface="Cambria Math" panose="02040503050406030204" pitchFamily="18" charset="0"/>
                          <a:ea typeface="Arial"/>
                          <a:cs typeface="Arial"/>
                          <a:sym typeface="Arial"/>
                        </a:rPr>
                        <m:t>𝑄</m:t>
                      </m:r>
                    </m:oMath>
                  </m:oMathPara>
                </a14:m>
                <a:endParaRPr lang="en-US" sz="6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BFF4C25-583E-847E-B3A1-D0F989ABB9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198E611-10C8-21CF-4EA9-DDC28F1D01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1E09A62-1204-9FD4-2553-E556C05F12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553397-F743-290A-586E-9BB98759BF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7CCE68-1474-75D6-2926-91DDC61E8A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D18B47-DEA2-374D-ADF7-A1FD301054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BEBF4E-3F5B-FB79-08A6-D3AC3D363D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2DDBE37-C00A-D436-0498-9E66BA3148E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909C9F6-BBF7-D591-B9D3-565919F5EF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54593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F69A64A-19C9-08C8-DDE3-FE66D1FF284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C74C295F-96BD-4918-1F74-AC997FBBA191}"/>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96BC45DC-6C69-AC7A-66D2-F56524700FF7}"/>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E18FC36B-1E6B-C96B-92B2-1595EE1DF04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B8D16E4-7B13-FB08-E11E-10C7E38A7270}"/>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15E0878-88D7-E8A2-830B-BD8AE32E95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4B8701E-01D1-C11B-28C7-67A99241B3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4FE3106-A569-BA6B-AC5B-10392AD8E3C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2F044D1-C0E1-25BC-D2D0-C870ACFE53E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D693D82-9BD4-24F3-BC33-DD1CA4926C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CFABB74-8B08-B3E4-E3FF-405B5A804F0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27680763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8E5D3BB-280E-F770-9958-7B688FC873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B6CE28F-1534-871A-9628-A954D34C7C6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We’ve successfully predicted our new position, but our uncertainty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has grown.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Now, our sensor (e.g., LiDAR) provides a new measurement (</a:t>
                </a:r>
                <a14:m>
                  <m:oMath xmlns:m="http://schemas.openxmlformats.org/officeDocument/2006/math">
                    <m:r>
                      <a:rPr lang="en-US" sz="2300" i="1" dirty="0" smtClean="0">
                        <a:latin typeface="Cambria Math" panose="02040503050406030204" pitchFamily="18" charset="0"/>
                        <a:ea typeface="Arial"/>
                        <a:cs typeface="Arial"/>
                        <a:sym typeface="Arial"/>
                      </a:rPr>
                      <m:t>𝑧</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have two imperfect guesses for our position: our prediction and our sensor. How do we fuse them? Think of a </a:t>
                </a:r>
                <a:r>
                  <a:rPr lang="en-US" sz="2300" b="1" dirty="0">
                    <a:latin typeface="Atkinson Hyperlegible Next"/>
                    <a:ea typeface="Arial"/>
                    <a:cs typeface="Arial"/>
                    <a:sym typeface="Arial"/>
                  </a:rPr>
                  <a:t>Weighted Average</a:t>
                </a:r>
                <a:r>
                  <a:rPr lang="en-US" sz="2300" dirty="0">
                    <a:latin typeface="Atkinson Hyperlegible Next"/>
                    <a:ea typeface="Arial"/>
                    <a:cs typeface="Arial"/>
                    <a:sym typeface="Arial"/>
                  </a:rPr>
                  <a:t>. If you and an expert both guess the weight of a robot, you don't just average the two numbers.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You give more weight to the expert.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𝐸𝑠𝑡𝑖𝑚𝑎𝑡𝑒</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𝑊</m:t>
                          </m:r>
                        </m:e>
                        <m:sub>
                          <m:r>
                            <a:rPr lang="en-US" sz="2300" i="1" dirty="0" smtClean="0">
                              <a:latin typeface="Cambria Math" panose="02040503050406030204" pitchFamily="18" charset="0"/>
                              <a:ea typeface="Arial"/>
                              <a:cs typeface="Arial"/>
                              <a:sym typeface="Arial"/>
                            </a:rPr>
                            <m:t>𝑚𝑜𝑑𝑒𝑙</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𝑃𝑟𝑒𝑑𝑖𝑐𝑡𝑖𝑜𝑛</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𝑊</m:t>
                          </m:r>
                        </m:e>
                        <m:sub>
                          <m:r>
                            <a:rPr lang="en-US" sz="2300" i="1" dirty="0" smtClean="0">
                              <a:latin typeface="Cambria Math" panose="02040503050406030204" pitchFamily="18" charset="0"/>
                              <a:ea typeface="Arial"/>
                              <a:cs typeface="Arial"/>
                              <a:sym typeface="Arial"/>
                            </a:rPr>
                            <m:t>𝑠𝑒𝑛𝑠𝑜𝑟</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𝑀𝑒𝑎𝑠𝑢𝑟𝑒𝑚𝑒𝑛𝑡</m:t>
                      </m:r>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B6CE28F-1534-871A-9628-A954D34C7C6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9F487B5-ACFA-2081-4072-44F50F0AE20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1BD0F7-D1DE-D5FA-9091-EDC8632AD6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871D5E-C47B-9363-5497-9891AB08EBB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F2867A2-B064-5FA8-1DA4-A1DF25F10A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B94D61-43CD-18B1-64CF-67BD449C64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2AD41B-5803-CB75-1F76-8283E0AB19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6398C4-4C01-C859-9ABE-D55A66CCAD0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9644D6-A071-4A41-1301-00473DDBA7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669592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CCF289-5619-5F94-9267-60F71C15792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20CE7A-FBDA-B270-0701-E76646C666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Again, for 1D the equation is: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𝑛𝑒𝑤</m:t>
                          </m:r>
                        </m:sub>
                      </m:sSub>
                      <m:r>
                        <a:rPr lang="en-US" sz="2300" i="1">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𝑝𝑟𝑒𝑑</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𝐾</m:t>
                      </m:r>
                      <m:d>
                        <m:dPr>
                          <m:ctrlPr>
                            <a:rPr lang="en-US" sz="2300" i="1">
                              <a:latin typeface="Cambria Math" panose="02040503050406030204" pitchFamily="18" charset="0"/>
                              <a:cs typeface="Arial"/>
                              <a:sym typeface="Arial"/>
                            </a:rPr>
                          </m:ctrlPr>
                        </m:dPr>
                        <m:e>
                          <m:r>
                            <a:rPr lang="en-US" sz="2300" i="1">
                              <a:latin typeface="Cambria Math" panose="02040503050406030204" pitchFamily="18" charset="0"/>
                              <a:cs typeface="Arial"/>
                              <a:sym typeface="Arial"/>
                            </a:rPr>
                            <m:t>𝑧</m:t>
                          </m:r>
                          <m:r>
                            <a:rPr lang="en-US" sz="2300" i="1">
                              <a:latin typeface="Cambria Math" panose="02040503050406030204" pitchFamily="18" charset="0"/>
                              <a:cs typeface="Arial"/>
                              <a:sym typeface="Arial"/>
                            </a:rPr>
                            <m:t>−</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𝜇</m:t>
                              </m:r>
                            </m:e>
                            <m:sub>
                              <m:r>
                                <a:rPr lang="en-US" sz="2300" i="1">
                                  <a:latin typeface="Cambria Math" panose="02040503050406030204" pitchFamily="18" charset="0"/>
                                  <a:cs typeface="Arial"/>
                                  <a:sym typeface="Arial"/>
                                </a:rPr>
                                <m:t>𝑝𝑟𝑒𝑑</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Where we have: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sensor is perfect (</a:t>
                </a: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𝑠𝑒𝑛𝑠𝑜𝑟</m:t>
                        </m:r>
                      </m:sub>
                      <m:sup>
                        <m:r>
                          <a:rPr lang="en-US" sz="2300" i="1" dirty="0" smtClean="0">
                            <a:latin typeface="Cambria Math" panose="02040503050406030204" pitchFamily="18" charset="0"/>
                            <a:ea typeface="Arial"/>
                            <a:cs typeface="Arial"/>
                            <a:sym typeface="Arial"/>
                          </a:rPr>
                          <m:t>2</m:t>
                        </m:r>
                      </m:sup>
                    </m:sSubSup>
                    <m:r>
                      <a:rPr lang="en-US" sz="2300" i="1" dirty="0" smtClean="0">
                        <a:latin typeface="Cambria Math" panose="02040503050406030204" pitchFamily="18" charset="0"/>
                        <a:ea typeface="Arial"/>
                        <a:cs typeface="Arial"/>
                        <a:sym typeface="Arial"/>
                      </a:rPr>
                      <m:t>=0</m:t>
                    </m:r>
                  </m:oMath>
                </a14:m>
                <a:r>
                  <a:rPr lang="en-US" sz="2300" dirty="0">
                    <a:latin typeface="Atkinson Hyperlegible Next"/>
                    <a:ea typeface="Arial"/>
                    <a:cs typeface="Arial"/>
                    <a:sym typeface="Arial"/>
                  </a:rPr>
                  <a:t>), what does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become, and what happens to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𝑛𝑒𝑤</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 = 1</m:t>
                    </m:r>
                  </m:oMath>
                </a14:m>
                <a:r>
                  <a:rPr lang="en-US" sz="2300" dirty="0">
                    <a:latin typeface="Atkinson Hyperlegible Next"/>
                    <a:ea typeface="Arial"/>
                    <a:cs typeface="Arial"/>
                    <a:sym typeface="Arial"/>
                  </a:rPr>
                  <a:t>, and our new estimate exactly equals the sensor measurement!</a:t>
                </a:r>
              </a:p>
            </p:txBody>
          </p:sp>
        </mc:Choice>
        <mc:Fallback xmlns="">
          <p:sp>
            <p:nvSpPr>
              <p:cNvPr id="118" name="Google Shape;118;p29">
                <a:extLst>
                  <a:ext uri="{FF2B5EF4-FFF2-40B4-BE49-F238E27FC236}">
                    <a16:creationId xmlns:a16="http://schemas.microsoft.com/office/drawing/2014/main" id="{F520CE7A-FBDA-B270-0701-E76646C666B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2680AE-216B-F2BA-858E-EA32CED86B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2B6C4B7-F2A7-DAD7-D393-31C9AA508E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52F565-EDB0-C0C5-7B83-F7C9CC29284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1498C3F-0345-1C93-698C-C0311EB358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E8957EB-82E7-1FAF-ACF2-AA1F04AC8E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8DDF4B4-0E9D-A741-1565-B15D3C01EA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011B75-845E-2439-2097-C8609147C5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DD0338C-3C11-3999-5C0E-C5B8BF200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719095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E9685C-4611-C60F-AC9E-8760C83A0A2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5EFBB5F-57AB-A192-1EAE-CE29B1EA9D8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In 1D, state and measurement were both just position along a track. In 2D/3D, our state is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But our LiDAR might just measure the </a:t>
                </a:r>
                <a:r>
                  <a:rPr lang="en-US" sz="2300" b="1" dirty="0">
                    <a:latin typeface="Atkinson Hyperlegible Next"/>
                    <a:ea typeface="Arial"/>
                    <a:cs typeface="Arial"/>
                    <a:sym typeface="Arial"/>
                  </a:rPr>
                  <a:t>straight-line distance </a:t>
                </a:r>
                <a:r>
                  <a:rPr lang="en-US" sz="2300" dirty="0">
                    <a:latin typeface="Atkinson Hyperlegible Next"/>
                    <a:ea typeface="Arial"/>
                    <a:cs typeface="Arial"/>
                    <a:sym typeface="Arial"/>
                  </a:rPr>
                  <a:t>to a wall.</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problem?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cannot subtract a state vector from a distance measurement! They speak different languages!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introduce the </a:t>
                </a:r>
                <a:r>
                  <a:rPr lang="en-US" sz="2300" b="1" dirty="0">
                    <a:latin typeface="Atkinson Hyperlegible Next"/>
                    <a:ea typeface="Arial"/>
                    <a:cs typeface="Arial"/>
                    <a:sym typeface="Arial"/>
                  </a:rPr>
                  <a:t>Observation Matrix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which translates our internal state into the format of the sensor.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Expected Measurement = </a:t>
                </a:r>
                <a14:m>
                  <m:oMath xmlns:m="http://schemas.openxmlformats.org/officeDocument/2006/math">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𝑝𝑟𝑒𝑑</m:t>
                        </m:r>
                      </m:sub>
                    </m:sSub>
                  </m:oMath>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A5EFBB5F-57AB-A192-1EAE-CE29B1EA9D8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2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242EC9-ADA2-F29A-E08C-D68DC3E9BE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4EF55EE-03DE-195E-716D-A63E94C422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DEF6CE-160F-DB0B-4CC0-BAFCA11BFFD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E61BB-6C9D-4637-7989-C0789ED69E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C8B5ED-B33D-55CA-C835-2249208C83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6970939-F86A-3EAD-B9ED-D11E21AFF6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C12B160-17F1-B58A-5D9C-006AED511E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5D22F1-2485-C6CC-7422-AE7646EAB5B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57984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C1FBAD-4841-66AC-EF9F-1DAB92B2B3B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AEF29A-0173-85FA-43D0-7CCF1CC9E70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thus, start by modifying the 1D Kalman Gain into matrices.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𝑝𝑟𝑒𝑑</m:t>
                        </m:r>
                      </m:sub>
                      <m:sup>
                        <m:r>
                          <a:rPr lang="en-US" sz="2300" i="1" dirty="0" smtClean="0">
                            <a:latin typeface="Cambria Math" panose="02040503050406030204" pitchFamily="18" charset="0"/>
                            <a:ea typeface="Arial"/>
                            <a:cs typeface="Arial"/>
                            <a:sym typeface="Arial"/>
                          </a:rPr>
                          <m:t>2</m:t>
                        </m:r>
                      </m:sup>
                    </m:sSubSup>
                  </m:oMath>
                </a14:m>
                <a:r>
                  <a:rPr lang="en-US" sz="2300" dirty="0">
                    <a:latin typeface="Atkinson Hyperlegible Next"/>
                    <a:ea typeface="Arial"/>
                    <a:cs typeface="Arial"/>
                    <a:sym typeface="Arial"/>
                  </a:rPr>
                  <a:t> becomes our covariance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𝑠𝑒𝑛𝑠𝑜𝑟</m:t>
                        </m:r>
                      </m:sub>
                      <m:sup>
                        <m:r>
                          <a:rPr lang="en-US" sz="2300" i="1" dirty="0" smtClean="0">
                            <a:latin typeface="Cambria Math" panose="02040503050406030204" pitchFamily="18" charset="0"/>
                            <a:ea typeface="Arial"/>
                            <a:cs typeface="Arial"/>
                            <a:sym typeface="Arial"/>
                          </a:rPr>
                          <m:t>2</m:t>
                        </m:r>
                      </m:sup>
                    </m:sSubSup>
                  </m:oMath>
                </a14:m>
                <a:r>
                  <a:rPr lang="en-US" sz="2300" dirty="0">
                    <a:latin typeface="Atkinson Hyperlegible Next"/>
                    <a:ea typeface="Arial"/>
                    <a:cs typeface="Arial"/>
                    <a:sym typeface="Arial"/>
                  </a:rPr>
                  <a:t> becomes our measurement noise </a:t>
                </a:r>
                <a14:m>
                  <m:oMath xmlns:m="http://schemas.openxmlformats.org/officeDocument/2006/math">
                    <m:r>
                      <a:rPr lang="en-US" sz="2300" i="1" dirty="0" smtClean="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we must map </a:t>
                </a:r>
                <a14:m>
                  <m:oMath xmlns:m="http://schemas.openxmlformats.org/officeDocument/2006/math">
                    <m:r>
                      <a:rPr lang="en-US" sz="2300" i="1" dirty="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 into sensor space using </a:t>
                </a:r>
                <a14:m>
                  <m:oMath xmlns:m="http://schemas.openxmlformats.org/officeDocument/2006/math">
                    <m:r>
                      <m:rPr>
                        <m:sty m:val="p"/>
                      </m:rPr>
                      <a:rPr lang="en-US" sz="2300" b="0" i="1" smtClean="0">
                        <a:latin typeface="Cambria Math" panose="02040503050406030204" pitchFamily="18" charset="0"/>
                        <a:ea typeface="Arial"/>
                        <a:cs typeface="Arial"/>
                        <a:sym typeface="Arial"/>
                      </a:rPr>
                      <m:t>H</m:t>
                    </m:r>
                  </m:oMath>
                </a14:m>
                <a:r>
                  <a:rPr lang="en-US" sz="2300" dirty="0">
                    <a:latin typeface="Atkinson Hyperlegible Next"/>
                    <a:ea typeface="Arial"/>
                    <a:cs typeface="Arial"/>
                    <a:sym typeface="Arial"/>
                  </a:rPr>
                  <a:t>. Just like </a:t>
                </a:r>
                <a14:m>
                  <m:oMath xmlns:m="http://schemas.openxmlformats.org/officeDocument/2006/math">
                    <m:r>
                      <a:rPr lang="en-US" sz="2300" i="1" dirty="0" smtClean="0">
                        <a:latin typeface="Cambria Math" panose="02040503050406030204" pitchFamily="18" charset="0"/>
                        <a:ea typeface="Arial"/>
                        <a:cs typeface="Arial"/>
                        <a:sym typeface="Arial"/>
                      </a:rPr>
                      <m:t>𝐹𝑃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𝐹</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for motion, we use </a:t>
                </a:r>
                <a14:m>
                  <m:oMath xmlns:m="http://schemas.openxmlformats.org/officeDocument/2006/math">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for sensors!</a:t>
                </a:r>
              </a:p>
            </p:txBody>
          </p:sp>
        </mc:Choice>
        <mc:Fallback xmlns="">
          <p:sp>
            <p:nvSpPr>
              <p:cNvPr id="118" name="Google Shape;118;p29">
                <a:extLst>
                  <a:ext uri="{FF2B5EF4-FFF2-40B4-BE49-F238E27FC236}">
                    <a16:creationId xmlns:a16="http://schemas.microsoft.com/office/drawing/2014/main" id="{04AEF29A-0173-85FA-43D0-7CCF1CC9E70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00167D7-B8C4-BE72-FFE2-CAC26A12EBF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4F2F602-B691-FE4D-AEA5-F4029CCB39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B68D8F5-0A0A-A074-6E72-9DF12F416E2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478006B-3A18-27D9-C1D2-A3F031854E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872ED4-E921-7296-A93B-D2BADDE90D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64F5F9-B724-BD41-3781-6A8C4A3A539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440-2358-6699-44ED-CEFD04F28C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D446F8-7EB1-370D-F217-828A5080A2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91549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BA1ED8-BA63-C08C-B272-85C534B9EB4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B3A9FBB-BEE9-F182-E2F9-CCABE6615F6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thus, start by modifying the 1D Kalman Gain into matrices.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smtClean="0">
                          <a:latin typeface="Cambria Math" panose="02040503050406030204" pitchFamily="18" charset="0"/>
                          <a:cs typeface="Arial"/>
                          <a:sym typeface="Arial"/>
                        </a:rPr>
                        <m:t>𝐾</m:t>
                      </m:r>
                      <m:r>
                        <a:rPr lang="en-US" sz="2300" i="1" smtClean="0">
                          <a:latin typeface="Cambria Math" panose="02040503050406030204" pitchFamily="18" charset="0"/>
                          <a:cs typeface="Arial"/>
                          <a:sym typeface="Arial"/>
                        </a:rPr>
                        <m:t>=</m:t>
                      </m:r>
                      <m:f>
                        <m:fPr>
                          <m:ctrlPr>
                            <a:rPr lang="en-US" sz="2300" i="1">
                              <a:latin typeface="Cambria Math" panose="02040503050406030204" pitchFamily="18" charset="0"/>
                              <a:cs typeface="Arial"/>
                              <a:sym typeface="Arial"/>
                            </a:rPr>
                          </m:ctrlPr>
                        </m:fPr>
                        <m:num>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num>
                        <m:den>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𝑝𝑟𝑒𝑑</m:t>
                              </m:r>
                            </m:sub>
                            <m:sup>
                              <m:r>
                                <a:rPr lang="en-US" sz="2300" i="1">
                                  <a:latin typeface="Cambria Math" panose="02040503050406030204" pitchFamily="18" charset="0"/>
                                  <a:cs typeface="Arial"/>
                                  <a:sym typeface="Arial"/>
                                </a:rPr>
                                <m:t>2</m:t>
                              </m:r>
                            </m:sup>
                          </m:sSubSup>
                          <m:r>
                            <a:rPr lang="en-US" sz="2300" i="1">
                              <a:latin typeface="Cambria Math" panose="02040503050406030204" pitchFamily="18" charset="0"/>
                              <a:cs typeface="Arial"/>
                              <a:sym typeface="Arial"/>
                            </a:rPr>
                            <m:t>+</m:t>
                          </m:r>
                          <m:sSubSup>
                            <m:sSubSupPr>
                              <m:ctrlPr>
                                <a:rPr lang="en-US" sz="2300" i="1">
                                  <a:latin typeface="Cambria Math" panose="02040503050406030204" pitchFamily="18" charset="0"/>
                                  <a:cs typeface="Arial"/>
                                  <a:sym typeface="Arial"/>
                                </a:rPr>
                              </m:ctrlPr>
                            </m:sSubSupPr>
                            <m:e>
                              <m:r>
                                <a:rPr lang="en-US" sz="2300" i="1">
                                  <a:latin typeface="Cambria Math" panose="02040503050406030204" pitchFamily="18" charset="0"/>
                                  <a:cs typeface="Arial"/>
                                  <a:sym typeface="Arial"/>
                                </a:rPr>
                                <m:t>𝜎</m:t>
                              </m:r>
                            </m:e>
                            <m:sub>
                              <m:r>
                                <a:rPr lang="en-US" sz="2300" i="1">
                                  <a:latin typeface="Cambria Math" panose="02040503050406030204" pitchFamily="18" charset="0"/>
                                  <a:cs typeface="Arial"/>
                                  <a:sym typeface="Arial"/>
                                </a:rPr>
                                <m:t>𝑠𝑒𝑛𝑠𝑜𝑟</m:t>
                              </m:r>
                            </m:sub>
                            <m:sup>
                              <m:r>
                                <a:rPr lang="en-US" sz="2300" i="1">
                                  <a:latin typeface="Cambria Math" panose="02040503050406030204" pitchFamily="18" charset="0"/>
                                  <a:cs typeface="Arial"/>
                                  <a:sym typeface="Arial"/>
                                </a:rPr>
                                <m:t>2</m:t>
                              </m:r>
                            </m:sup>
                          </m:sSubSup>
                        </m:den>
                      </m:f>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numerator is the prediction covariance mapped to the sensor. The denominator is the total system noise.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we can't divide matrices, we multiply by the inverse: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e>
                        <m:sup>
                          <m:r>
                            <a:rPr lang="en-US" sz="2300" i="1" dirty="0" smtClean="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B3A9FBB-BEE9-F182-E2F9-CCABE6615F6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DF0E94B-AEB8-7E61-AEAA-B696F3C0B3C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9B3820-9599-69BE-FA22-BA7C69AA40D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5C2B5E4-D5A9-CFE1-D9BA-A862308DEF4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286E2A-B36C-0DF6-ECEC-66AC57A70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A1E93BC-63C4-08BA-B6E3-BDD9A7F1CAA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E56FEBB-B8BB-7A06-FF1E-0C75C01020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90F9F5-1681-1D5D-B1CB-14DDEADE7D2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AEEAF82-F476-D665-A055-B3165A5A2E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398036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B56B897-DEC8-2B26-D22B-BC74380081E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CABA63D-676D-DB15-AA7C-008A0C1EA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27FA70-6F56-3C23-FD71-9F7EAC07C13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43CD4C-B581-B87E-3035-36A4C64BB75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05AF36-36A8-3B2C-CD6D-4516197DBD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4A988B-12EB-43B5-78FD-3A43F1BD0F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3B84B7-9D80-F8D9-B84B-CD1B62AF15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331E9F-9559-044D-1389-295DEE88CF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C646723-2410-5FB4-D47D-69413E64966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titled &quot;MD Update (Transforming the Measurement),&quot; position X versus position Y. A large purple prediction uncertainty ellipse, tilted up and to the right, is centered near (8.2, 5). A smaller filled orange ellipse, the effective sensor belief at H inverse z sub k with covariance P sub meas, is centered near (12, 8) and only partly overlaps it. A gray line between the two centers is the residual, z sub k minus H x sub pred. The innovation covariance is S equals H P sub pred H transpose plus R.">
            <a:extLst>
              <a:ext uri="{FF2B5EF4-FFF2-40B4-BE49-F238E27FC236}">
                <a16:creationId xmlns:a16="http://schemas.microsoft.com/office/drawing/2014/main" id="{C258B433-0AD9-AB4A-4E5E-7067A7B3F22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45997573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E040A-7D15-0295-5020-984F5349479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F8E9F1B-F383-AE66-5A2F-1AF8F2A08A7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Now we apply our matrix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to update the multi-dimensional state.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1D equation </a:t>
                </a:r>
                <a14:m>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𝑧</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𝜇</m:t>
                            </m:r>
                          </m:e>
                          <m:sub>
                            <m:r>
                              <a:rPr lang="en-US" sz="2300" i="1" dirty="0" smtClean="0">
                                <a:latin typeface="Cambria Math" panose="02040503050406030204" pitchFamily="18" charset="0"/>
                                <a:ea typeface="Arial"/>
                                <a:cs typeface="Arial"/>
                                <a:sym typeface="Arial"/>
                              </a:rPr>
                              <m:t>𝑝𝑟𝑒𝑑</m:t>
                            </m:r>
                          </m:sub>
                        </m:sSub>
                      </m:e>
                    </m:d>
                  </m:oMath>
                </a14:m>
                <a:r>
                  <a:rPr lang="en-US" sz="2300" dirty="0">
                    <a:latin typeface="Atkinson Hyperlegible Next"/>
                    <a:ea typeface="Arial"/>
                    <a:cs typeface="Arial"/>
                    <a:sym typeface="Arial"/>
                  </a:rPr>
                  <a:t> becomes: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𝑧</m:t>
                              </m:r>
                            </m:e>
                            <m:sub>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Finally, we update the uncertainty ellipse. We pull the information from the sensor out of our uncertainty: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𝐼</m:t>
                    </m:r>
                  </m:oMath>
                </a14:m>
                <a:r>
                  <a:rPr lang="en-US" sz="2300" dirty="0">
                    <a:latin typeface="Atkinson Hyperlegible Next"/>
                    <a:ea typeface="Arial"/>
                    <a:cs typeface="Arial"/>
                    <a:sym typeface="Arial"/>
                  </a:rPr>
                  <a:t> is the Identity Matrix, the matrix equivalent of the number 1). </a:t>
                </a:r>
              </a:p>
              <a:p>
                <a:pPr marL="0" indent="0">
                  <a:lnSpc>
                    <a:spcPct val="100000"/>
                  </a:lnSpc>
                  <a:spcBef>
                    <a:spcPts val="0"/>
                  </a:spcBef>
                  <a:buSzPts val="3000"/>
                  <a:buNone/>
                </a:pPr>
                <a:r>
                  <a:rPr lang="en-US" sz="2300" dirty="0">
                    <a:latin typeface="Atkinson Hyperlegible Next"/>
                    <a:ea typeface="Arial"/>
                    <a:cs typeface="Arial"/>
                    <a:sym typeface="Arial"/>
                  </a:rPr>
                  <a:t>And we are done!</a:t>
                </a:r>
              </a:p>
            </p:txBody>
          </p:sp>
        </mc:Choice>
        <mc:Fallback xmlns="">
          <p:sp>
            <p:nvSpPr>
              <p:cNvPr id="118" name="Google Shape;118;p29">
                <a:extLst>
                  <a:ext uri="{FF2B5EF4-FFF2-40B4-BE49-F238E27FC236}">
                    <a16:creationId xmlns:a16="http://schemas.microsoft.com/office/drawing/2014/main" id="{BF8E9F1B-F383-AE66-5A2F-1AF8F2A08A7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418" b="-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2C050A-4674-A80C-CC95-7CE77F0909D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4D5CA6-CA4D-A84D-ED61-130637CF49D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49A78A4-A45F-3D36-4377-BE970A379B7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10EFEE-D783-E85C-4DC4-5E1167B7EF1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3C1F41-E88C-E5CB-639F-0599371631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DD394-78A6-3A04-CBCE-76E0ABCCF2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2A098B-EE22-DED9-1CC0-C114DC3C76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7187A0-05F2-DBA7-3A1B-5C00F76FAB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750896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3DA9AB8-2BF0-674C-F21B-898EF7236A1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DA2ECFB-738A-C93D-F220-341A0A7E9B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C1EAAF-3AEA-F8C1-E89E-B529C8A2BB7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0A8007-CC4B-657F-97AA-BF012427A8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6FB9A-6A10-591B-6DF0-A4A6DE3222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47D0EE-E257-5840-A668-915D9DC729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79E7C1-E117-598F-ECC7-320DFA5582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CD6CD-D61E-68BB-B4C2-E94CF9B2EB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213CDB3-FCBD-033C-7FA6-2C81ADF00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Plot of a Kalman filter update in X–Y position. A large tilted purple prediction ellipse, centered near (8, 5), overlaps a smaller orange measurement ellipse near (12, 8). A green arrow labeled K times the innovation moves the estimate from the prediction center to a small filled green fused estimate near (11, 7.6), mostly inside the measurement ellipse. Annotations: Kalman gain K[0,0] equals 0.72; K equals P sub pred H transpose S inverse; P sub k equals (I minus K H) P sub pred.">
            <a:extLst>
              <a:ext uri="{FF2B5EF4-FFF2-40B4-BE49-F238E27FC236}">
                <a16:creationId xmlns:a16="http://schemas.microsoft.com/office/drawing/2014/main" id="{B7BD1292-1381-74C9-7D60-929C34529F92}"/>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1606920" y="982504"/>
            <a:ext cx="9045990" cy="5427594"/>
          </a:xfrm>
          <a:prstGeom prst="rect">
            <a:avLst/>
          </a:prstGeom>
        </p:spPr>
      </p:pic>
    </p:spTree>
    <p:extLst>
      <p:ext uri="{BB962C8B-B14F-4D97-AF65-F5344CB8AC3E}">
        <p14:creationId xmlns:p14="http://schemas.microsoft.com/office/powerpoint/2010/main" val="297512564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1A12F04-D8EB-C94D-12CD-8C30B11F5C7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8ECBD5-53EF-A828-F0F0-CA33C404223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But what does </a:t>
                </a:r>
                <a14:m>
                  <m:oMath xmlns:m="http://schemas.openxmlformats.org/officeDocument/2006/math">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oMath>
                </a14:m>
                <a:r>
                  <a:rPr lang="en-US" sz="2300" dirty="0">
                    <a:latin typeface="Atkinson Hyperlegible Next"/>
                    <a:ea typeface="Arial"/>
                    <a:cs typeface="Arial"/>
                    <a:sym typeface="Arial"/>
                  </a:rPr>
                  <a:t> mean physically?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Think of the Identity Matrix (</a:t>
                </a:r>
                <a14:m>
                  <m:oMath xmlns:m="http://schemas.openxmlformats.org/officeDocument/2006/math">
                    <m:r>
                      <a:rPr lang="en-US" sz="2300" i="1" dirty="0" smtClean="0">
                        <a:latin typeface="Cambria Math" panose="02040503050406030204" pitchFamily="18" charset="0"/>
                        <a:ea typeface="Arial"/>
                        <a:cs typeface="Arial"/>
                        <a:sym typeface="Arial"/>
                      </a:rPr>
                      <m:t>𝐼</m:t>
                    </m:r>
                  </m:oMath>
                </a14:m>
                <a:r>
                  <a:rPr lang="en-US" sz="2300" dirty="0">
                    <a:latin typeface="Atkinson Hyperlegible Next"/>
                    <a:ea typeface="Arial"/>
                    <a:cs typeface="Arial"/>
                    <a:sym typeface="Arial"/>
                  </a:rPr>
                  <a:t>) as the number 1, representing 100% of our previous uncertainty (</a:t>
                </a:r>
                <a14:m>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maps our state to the sensor. </a:t>
                </a: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is how much we trust the sensor.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Therefore, </a:t>
                </a:r>
                <a14:m>
                  <m:oMath xmlns:m="http://schemas.openxmlformats.org/officeDocument/2006/math">
                    <m:r>
                      <a:rPr lang="en-US" sz="2300" i="1" dirty="0" smtClean="0">
                        <a:latin typeface="Cambria Math" panose="02040503050406030204" pitchFamily="18" charset="0"/>
                        <a:ea typeface="Arial"/>
                        <a:cs typeface="Arial"/>
                        <a:sym typeface="Arial"/>
                      </a:rPr>
                      <m:t>𝐾𝐻</m:t>
                    </m:r>
                  </m:oMath>
                </a14:m>
                <a:r>
                  <a:rPr lang="en-US" sz="2300" dirty="0">
                    <a:latin typeface="Atkinson Hyperlegible Next"/>
                    <a:ea typeface="Arial"/>
                    <a:cs typeface="Arial"/>
                    <a:sym typeface="Arial"/>
                  </a:rPr>
                  <a:t> is the </a:t>
                </a:r>
                <a:r>
                  <a:rPr lang="en-US" sz="2300" b="1" dirty="0">
                    <a:latin typeface="Atkinson Hyperlegible Next"/>
                    <a:ea typeface="Arial"/>
                    <a:cs typeface="Arial"/>
                    <a:sym typeface="Arial"/>
                  </a:rPr>
                  <a:t>percentage of uncertainty the sensor measurement removes</a:t>
                </a:r>
                <a:r>
                  <a:rPr lang="en-US" sz="2300" dirty="0">
                    <a:latin typeface="Atkinson Hyperlegible Next"/>
                    <a:ea typeface="Arial"/>
                    <a:cs typeface="Arial"/>
                    <a:sym typeface="Arial"/>
                  </a:rPr>
                  <a:t>. </a:t>
                </a:r>
              </a:p>
              <a:p>
                <a:pPr marL="0" indent="0">
                  <a:lnSpc>
                    <a:spcPct val="100000"/>
                  </a:lnSpc>
                  <a:spcBef>
                    <a:spcPts val="0"/>
                  </a:spcBef>
                  <a:buSzPts val="3000"/>
                  <a:buNone/>
                </a:pPr>
                <a:r>
                  <a:rPr lang="en-US" sz="2300" dirty="0">
                    <a:latin typeface="Atkinson Hyperlegible Next"/>
                    <a:ea typeface="Arial"/>
                    <a:cs typeface="Arial"/>
                    <a:sym typeface="Arial"/>
                  </a:rPr>
                  <a:t>If the sensor is completely useless (pure noise, K=0), what does the equation become? </a:t>
                </a:r>
              </a:p>
              <a:p>
                <a:pPr marL="0" indent="0" algn="ctr">
                  <a:lnSpc>
                    <a:spcPct val="100000"/>
                  </a:lnSpc>
                  <a:spcBef>
                    <a:spcPts val="0"/>
                  </a:spcBef>
                  <a:buSzPts val="3000"/>
                  <a:buNone/>
                </a:pPr>
                <a14:m>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𝑛𝑒𝑤</m:t>
                        </m:r>
                      </m:sub>
                    </m:sSub>
                    <m:r>
                      <a:rPr lang="en-US" sz="2300" i="1" smtClean="0">
                        <a:latin typeface="Cambria Math" panose="02040503050406030204" pitchFamily="18" charset="0"/>
                        <a:cs typeface="Arial"/>
                        <a:sym typeface="Arial"/>
                      </a:rPr>
                      <m:t>=</m:t>
                    </m:r>
                    <m:d>
                      <m:dPr>
                        <m:ctrlPr>
                          <a:rPr lang="en-US" sz="2300" i="1" smtClean="0">
                            <a:latin typeface="Cambria Math" panose="02040503050406030204" pitchFamily="18" charset="0"/>
                            <a:cs typeface="Arial"/>
                            <a:sym typeface="Arial"/>
                          </a:rPr>
                        </m:ctrlPr>
                      </m:dPr>
                      <m:e>
                        <m:r>
                          <a:rPr lang="en-US" sz="2300" i="1" smtClean="0">
                            <a:latin typeface="Cambria Math" panose="02040503050406030204" pitchFamily="18" charset="0"/>
                            <a:cs typeface="Arial"/>
                            <a:sym typeface="Arial"/>
                          </a:rPr>
                          <m:t>𝐼</m:t>
                        </m:r>
                        <m:r>
                          <a:rPr lang="en-US" sz="2300" i="1" smtClean="0">
                            <a:latin typeface="Cambria Math" panose="02040503050406030204" pitchFamily="18" charset="0"/>
                            <a:cs typeface="Arial"/>
                            <a:sym typeface="Arial"/>
                          </a:rPr>
                          <m:t>−0</m:t>
                        </m:r>
                      </m:e>
                    </m:d>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𝑜𝑙𝑑</m:t>
                        </m:r>
                      </m:sub>
                    </m:sSub>
                    <m:r>
                      <a:rPr lang="en-US" sz="2300" i="1" smtClean="0">
                        <a:latin typeface="Cambria Math" panose="02040503050406030204" pitchFamily="18" charset="0"/>
                        <a:cs typeface="Arial"/>
                        <a:sym typeface="Arial"/>
                      </a:rPr>
                      <m:t>=</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𝑜𝑙𝑑</m:t>
                        </m:r>
                      </m:sub>
                    </m:sSub>
                  </m:oMath>
                </a14:m>
                <a:r>
                  <a:rPr lang="en-US" sz="2300" dirty="0">
                    <a:latin typeface="Atkinson Hyperlegible Next"/>
                    <a:ea typeface="Arial"/>
                    <a:cs typeface="Arial"/>
                    <a:sym typeface="Arial"/>
                  </a:rPr>
                  <a:t>. Our uncertainty doesn't shrink at all!</a:t>
                </a:r>
              </a:p>
            </p:txBody>
          </p:sp>
        </mc:Choice>
        <mc:Fallback xmlns="">
          <p:sp>
            <p:nvSpPr>
              <p:cNvPr id="118" name="Google Shape;118;p29">
                <a:extLst>
                  <a:ext uri="{FF2B5EF4-FFF2-40B4-BE49-F238E27FC236}">
                    <a16:creationId xmlns:a16="http://schemas.microsoft.com/office/drawing/2014/main" id="{508ECBD5-53EF-A828-F0F0-CA33C404223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56D4FED-072D-4925-AC4B-3C1812474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0C6C0C-18F7-78C5-2CEC-D622CFBBA9C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473F8A6-DB58-B672-DA65-2CC05B3C19D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323EB-2B7C-BD05-FF2D-60A6FF7E05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6ED305-2F67-8665-AF87-2AAA7DA23B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5B91-31B3-8134-935D-7427F25A6C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D68C02C-2AD8-B340-E1E2-C2A6F2C01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28E4CF7-203E-95BA-5314-4A7B9D184F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94893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DFC41-D516-7E94-017E-B667648C557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386CD8-0E24-AA79-BDA9-C20184EBA8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Prediction:</a:t>
                </a: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State Prediction (Where do we think we are?):</a:t>
                </a:r>
                <a:endParaRPr lang="en-US" sz="2300" i="1" dirty="0">
                  <a:latin typeface="Cambria Math" panose="02040503050406030204" pitchFamily="18" charset="0"/>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𝑥</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𝐹</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𝑥</m:t>
                          </m:r>
                        </m:e>
                        <m:sub>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𝐵</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𝑢</m:t>
                          </m:r>
                        </m:e>
                        <m:sub>
                          <m:r>
                            <a:rPr lang="en-US" sz="2300" i="1" smtClean="0">
                              <a:latin typeface="Cambria Math" panose="02040503050406030204" pitchFamily="18" charset="0"/>
                              <a:cs typeface="Arial"/>
                              <a:sym typeface="Arial"/>
                            </a:rPr>
                            <m:t>𝑘</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Covariance Prediction (How uncertain are we getting?):</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𝐹</m:t>
                      </m:r>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r>
                            <a:rPr lang="en-US" sz="2300" i="1" smtClean="0">
                              <a:latin typeface="Cambria Math" panose="02040503050406030204" pitchFamily="18" charset="0"/>
                              <a:cs typeface="Arial"/>
                              <a:sym typeface="Arial"/>
                            </a:rPr>
                            <m:t>𝑘</m:t>
                          </m:r>
                          <m:r>
                            <a:rPr lang="en-US" sz="2300" i="1" smtClean="0">
                              <a:latin typeface="Cambria Math" panose="02040503050406030204" pitchFamily="18" charset="0"/>
                              <a:cs typeface="Arial"/>
                              <a:sym typeface="Arial"/>
                            </a:rPr>
                            <m:t>−1</m:t>
                          </m:r>
                        </m:sub>
                      </m:sSub>
                      <m:sSup>
                        <m:sSupPr>
                          <m:ctrlPr>
                            <a:rPr lang="en-US" sz="2300" i="1" smtClean="0">
                              <a:latin typeface="Cambria Math" panose="02040503050406030204" pitchFamily="18" charset="0"/>
                              <a:cs typeface="Arial"/>
                              <a:sym typeface="Arial"/>
                            </a:rPr>
                          </m:ctrlPr>
                        </m:sSupPr>
                        <m:e>
                          <m:r>
                            <a:rPr lang="en-US" sz="2300" i="1" smtClean="0">
                              <a:latin typeface="Cambria Math" panose="02040503050406030204" pitchFamily="18" charset="0"/>
                              <a:cs typeface="Arial"/>
                              <a:sym typeface="Arial"/>
                            </a:rPr>
                            <m:t>𝐹</m:t>
                          </m:r>
                        </m:e>
                        <m:sup>
                          <m:r>
                            <a:rPr lang="en-US" sz="2300" i="1" smtClean="0">
                              <a:latin typeface="Cambria Math" panose="02040503050406030204" pitchFamily="18" charset="0"/>
                              <a:cs typeface="Arial"/>
                              <a:sym typeface="Arial"/>
                            </a:rPr>
                            <m:t>𝑇</m:t>
                          </m:r>
                        </m:sup>
                      </m:sSup>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𝑄</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b="1" dirty="0">
                    <a:latin typeface="Atkinson Hyperlegible Next"/>
                    <a:ea typeface="Arial"/>
                    <a:cs typeface="Arial"/>
                    <a:sym typeface="Arial"/>
                  </a:rPr>
                  <a:t>Update</a:t>
                </a:r>
                <a:r>
                  <a:rPr lang="en-US" sz="2300" dirty="0">
                    <a:latin typeface="Atkinson Hyperlegible Next"/>
                    <a:ea typeface="Arial"/>
                    <a:cs typeface="Arial"/>
                    <a:sym typeface="Arial"/>
                  </a:rPr>
                  <a:t>:</a:t>
                </a:r>
              </a:p>
              <a:p>
                <a:pPr marL="0" indent="0">
                  <a:lnSpc>
                    <a:spcPct val="100000"/>
                  </a:lnSpc>
                  <a:spcBef>
                    <a:spcPts val="0"/>
                  </a:spcBef>
                  <a:buSzPts val="3000"/>
                  <a:buNone/>
                </a:pPr>
                <a:r>
                  <a:rPr lang="en-US" sz="2300" dirty="0">
                    <a:latin typeface="Atkinson Hyperlegible Next"/>
                    <a:ea typeface="Arial"/>
                    <a:cs typeface="Arial"/>
                    <a:sym typeface="Arial"/>
                  </a:rPr>
                  <a:t>The Kalman Gain (Who do we trust more?):</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𝐾</m:t>
                      </m:r>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e>
                        <m:sup>
                          <m:r>
                            <a:rPr lang="en-US" sz="2300" i="1" dirty="0" smtClean="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State Update (Correcting our position):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sSub>
                            <m:sSubPr>
                              <m:ctrlPr>
                                <a:rPr lang="en-US" sz="2300" i="1" dirty="0" err="1" smtClean="0">
                                  <a:latin typeface="Cambria Math" panose="02040503050406030204" pitchFamily="18" charset="0"/>
                                  <a:ea typeface="Arial"/>
                                  <a:cs typeface="Arial"/>
                                  <a:sym typeface="Arial"/>
                                </a:rPr>
                              </m:ctrlPr>
                            </m:sSubPr>
                            <m:e>
                              <m:r>
                                <a:rPr lang="en-US" sz="2300" i="1" dirty="0" err="1" smtClean="0">
                                  <a:latin typeface="Cambria Math" panose="02040503050406030204" pitchFamily="18" charset="0"/>
                                  <a:ea typeface="Arial"/>
                                  <a:cs typeface="Arial"/>
                                  <a:sym typeface="Arial"/>
                                </a:rPr>
                                <m:t>𝑧</m:t>
                              </m:r>
                            </m:e>
                            <m:sub>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𝑥</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Covariance Update (Shrinking our uncertainty):</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C386CD8-0E24-AA79-BDA9-C20184EBA85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b="-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65CE801-BAB7-A218-9AB6-AC59568D41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09875A-EDAF-C7F8-E0FB-D9FE2CC5B0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3636CA-143C-A6E6-E065-7B439B068A4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ACB31D-AB74-231E-C81B-B6C2E9D36F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655265-183E-41C1-028A-00677A217C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5225A8-6CA1-D221-A30C-DB94FDE827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EB6ACB1-ACDF-5EE4-9493-248A6C3655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67D41D-248D-DEC3-4302-4CAC0F980F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4198975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8AEEAF-DD7F-FDD5-F0A4-0106A263232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3200EB2-CF9A-5D3D-3146-58E18650A7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5A6397-DEBB-BF1E-DDC8-281F16FF509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FFDF86A-2C63-3430-D379-93D523263ED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555416-5570-4699-D86F-D3F14E2D8D3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E6F546-5ED5-8698-1C6B-1122009AA18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BB8AD6-9E40-2413-A4B9-AD895C60BC9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2A915F-BEF3-EE49-DD69-BC8012DE2F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FE8DEB-BF5E-2B33-F489-DFB3CB80C0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graphicFrame>
            <p:nvGraphicFramePr>
              <p:cNvPr id="3" name="Table 2">
                <a:extLst>
                  <a:ext uri="{FF2B5EF4-FFF2-40B4-BE49-F238E27FC236}">
                    <a16:creationId xmlns:a16="http://schemas.microsoft.com/office/drawing/2014/main" id="{3AC61F16-A724-2BED-6A48-95709F44506D}"/>
                  </a:ext>
                </a:extLst>
              </p:cNvPr>
              <p:cNvGraphicFramePr>
                <a:graphicFrameLocks noGrp="1"/>
              </p:cNvGraphicFramePr>
              <p:nvPr>
                <p:extLst>
                  <p:ext uri="{D42A27DB-BD31-4B8C-83A1-F6EECF244321}">
                    <p14:modId xmlns:p14="http://schemas.microsoft.com/office/powerpoint/2010/main" val="2381280231"/>
                  </p:ext>
                </p:extLst>
              </p:nvPr>
            </p:nvGraphicFramePr>
            <p:xfrm>
              <a:off x="159718" y="2065343"/>
              <a:ext cx="11732644" cy="3113342"/>
            </p:xfrm>
            <a:graphic>
              <a:graphicData uri="http://schemas.openxmlformats.org/drawingml/2006/table">
                <a:tbl>
                  <a:tblPr firstRow="1" bandRow="1">
                    <a:tableStyleId>{5C22544A-7EE6-4342-B048-85BDC9FD1C3A}</a:tableStyleId>
                  </a:tblPr>
                  <a:tblGrid>
                    <a:gridCol w="1534402">
                      <a:extLst>
                        <a:ext uri="{9D8B030D-6E8A-4147-A177-3AD203B41FA5}">
                          <a16:colId xmlns:a16="http://schemas.microsoft.com/office/drawing/2014/main" val="3920864192"/>
                        </a:ext>
                      </a:extLst>
                    </a:gridCol>
                    <a:gridCol w="2095642">
                      <a:extLst>
                        <a:ext uri="{9D8B030D-6E8A-4147-A177-3AD203B41FA5}">
                          <a16:colId xmlns:a16="http://schemas.microsoft.com/office/drawing/2014/main" val="1103532210"/>
                        </a:ext>
                      </a:extLst>
                    </a:gridCol>
                    <a:gridCol w="2101850">
                      <a:extLst>
                        <a:ext uri="{9D8B030D-6E8A-4147-A177-3AD203B41FA5}">
                          <a16:colId xmlns:a16="http://schemas.microsoft.com/office/drawing/2014/main" val="1613415694"/>
                        </a:ext>
                      </a:extLst>
                    </a:gridCol>
                    <a:gridCol w="6000750">
                      <a:extLst>
                        <a:ext uri="{9D8B030D-6E8A-4147-A177-3AD203B41FA5}">
                          <a16:colId xmlns:a16="http://schemas.microsoft.com/office/drawing/2014/main" val="2886094722"/>
                        </a:ext>
                      </a:extLst>
                    </a:gridCol>
                  </a:tblGrid>
                  <a:tr h="365760">
                    <a:tc>
                      <a:txBody>
                        <a:bodyPr/>
                        <a:lstStyle/>
                        <a:p>
                          <a:pPr algn="ctr"/>
                          <a:r>
                            <a:rPr lang="en-US" dirty="0"/>
                            <a:t>Concept</a:t>
                          </a:r>
                        </a:p>
                      </a:txBody>
                      <a:tcPr/>
                    </a:tc>
                    <a:tc>
                      <a:txBody>
                        <a:bodyPr/>
                        <a:lstStyle/>
                        <a:p>
                          <a:pPr algn="ctr"/>
                          <a:r>
                            <a:rPr lang="en-US" dirty="0"/>
                            <a:t>1D (Scalar)</a:t>
                          </a:r>
                        </a:p>
                      </a:txBody>
                      <a:tcPr/>
                    </a:tc>
                    <a:tc>
                      <a:txBody>
                        <a:bodyPr/>
                        <a:lstStyle/>
                        <a:p>
                          <a:pPr algn="ctr"/>
                          <a:r>
                            <a:rPr lang="en-US" dirty="0"/>
                            <a:t>N-dimensional (Matrix)</a:t>
                          </a:r>
                        </a:p>
                      </a:txBody>
                      <a:tcPr/>
                    </a:tc>
                    <a:tc>
                      <a:txBody>
                        <a:bodyPr/>
                        <a:lstStyle/>
                        <a:p>
                          <a:pPr algn="ctr"/>
                          <a:r>
                            <a:rPr lang="en-US" dirty="0"/>
                            <a:t>Description</a:t>
                          </a:r>
                        </a:p>
                      </a:txBody>
                      <a:tcPr/>
                    </a:tc>
                    <a:extLst>
                      <a:ext uri="{0D108BD9-81ED-4DB2-BD59-A6C34878D82A}">
                        <a16:rowId xmlns:a16="http://schemas.microsoft.com/office/drawing/2014/main" val="2301377319"/>
                      </a:ext>
                    </a:extLst>
                  </a:tr>
                  <a:tr h="0">
                    <a:tc>
                      <a:txBody>
                        <a:bodyPr/>
                        <a:lstStyle/>
                        <a:p>
                          <a:r>
                            <a:rPr lang="en-US" b="1" dirty="0"/>
                            <a:t>State</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𝜇</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𝑥</m:t>
                                </m:r>
                              </m:oMath>
                            </m:oMathPara>
                          </a14:m>
                          <a:endParaRPr lang="en-US" dirty="0"/>
                        </a:p>
                      </a:txBody>
                      <a:tcPr/>
                    </a:tc>
                    <a:tc>
                      <a:txBody>
                        <a:bodyPr/>
                        <a:lstStyle/>
                        <a:p>
                          <a:r>
                            <a:rPr lang="en-US" dirty="0"/>
                            <a:t>The robot's current estimated condition (Position, Velocity, etc.)</a:t>
                          </a:r>
                        </a:p>
                      </a:txBody>
                      <a:tcPr/>
                    </a:tc>
                    <a:extLst>
                      <a:ext uri="{0D108BD9-81ED-4DB2-BD59-A6C34878D82A}">
                        <a16:rowId xmlns:a16="http://schemas.microsoft.com/office/drawing/2014/main" val="938139900"/>
                      </a:ext>
                    </a:extLst>
                  </a:tr>
                  <a:tr h="0">
                    <a:tc>
                      <a:txBody>
                        <a:bodyPr/>
                        <a:lstStyle/>
                        <a:p>
                          <a:r>
                            <a:rPr lang="en-US" b="1" dirty="0"/>
                            <a:t>Uncertainty</a:t>
                          </a:r>
                        </a:p>
                      </a:txBody>
                      <a:tcPr/>
                    </a:tc>
                    <a:tc>
                      <a:txBody>
                        <a:bodyPr/>
                        <a:lstStyle/>
                        <a:p>
                          <a:pP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a:rPr lang="en-US" i="1">
                                        <a:latin typeface="Cambria Math" panose="02040503050406030204" pitchFamily="18" charset="0"/>
                                      </a:rPr>
                                      <m:t>𝜎</m:t>
                                    </m:r>
                                  </m:e>
                                  <m:sup>
                                    <m:r>
                                      <a:rPr lang="en-US" i="1">
                                        <a:latin typeface="Cambria Math" panose="02040503050406030204" pitchFamily="18" charset="0"/>
                                      </a:rPr>
                                      <m:t>2</m:t>
                                    </m:r>
                                  </m:sup>
                                </m:s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𝑃</m:t>
                                </m:r>
                              </m:oMath>
                            </m:oMathPara>
                          </a14:m>
                          <a:endParaRPr lang="en-US" dirty="0"/>
                        </a:p>
                      </a:txBody>
                      <a:tcPr/>
                    </a:tc>
                    <a:tc>
                      <a:txBody>
                        <a:bodyPr/>
                        <a:lstStyle/>
                        <a:p>
                          <a:r>
                            <a:rPr lang="en-US" dirty="0"/>
                            <a:t>How unsure we are about the state (Variance / Covariance Matrix)</a:t>
                          </a:r>
                        </a:p>
                      </a:txBody>
                      <a:tcPr/>
                    </a:tc>
                    <a:extLst>
                      <a:ext uri="{0D108BD9-81ED-4DB2-BD59-A6C34878D82A}">
                        <a16:rowId xmlns:a16="http://schemas.microsoft.com/office/drawing/2014/main" val="1052411826"/>
                      </a:ext>
                    </a:extLst>
                  </a:tr>
                  <a:tr h="0">
                    <a:tc>
                      <a:txBody>
                        <a:bodyPr/>
                        <a:lstStyle/>
                        <a:p>
                          <a:r>
                            <a:rPr lang="en-US" b="1" dirty="0"/>
                            <a:t>Physics Model</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𝑎</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𝐹</m:t>
                                </m:r>
                              </m:oMath>
                            </m:oMathPara>
                          </a14:m>
                          <a:endParaRPr lang="en-US" dirty="0"/>
                        </a:p>
                      </a:txBody>
                      <a:tcPr/>
                    </a:tc>
                    <a:tc>
                      <a:txBody>
                        <a:bodyPr/>
                        <a:lstStyle/>
                        <a:p>
                          <a:r>
                            <a:rPr lang="en-US" sz="1400" b="0" i="0" u="none" strike="noStrike" cap="none" dirty="0">
                              <a:solidFill>
                                <a:schemeClr val="dk1"/>
                              </a:solidFill>
                              <a:effectLst/>
                              <a:latin typeface="+mn-lt"/>
                              <a:ea typeface="+mn-ea"/>
                              <a:cs typeface="+mn-cs"/>
                              <a:sym typeface="Arial"/>
                            </a:rPr>
                            <a:t>How the state naturally evolves over time (State Transition / Jacobian)</a:t>
                          </a:r>
                          <a:endParaRPr lang="en-US" dirty="0"/>
                        </a:p>
                      </a:txBody>
                      <a:tcPr/>
                    </a:tc>
                    <a:extLst>
                      <a:ext uri="{0D108BD9-81ED-4DB2-BD59-A6C34878D82A}">
                        <a16:rowId xmlns:a16="http://schemas.microsoft.com/office/drawing/2014/main" val="341423068"/>
                      </a:ext>
                    </a:extLst>
                  </a:tr>
                  <a:tr h="0">
                    <a:tc>
                      <a:txBody>
                        <a:bodyPr/>
                        <a:lstStyle/>
                        <a:p>
                          <a:r>
                            <a:rPr lang="en-US" b="1" dirty="0"/>
                            <a:t>Process Noise</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𝑚𝑜𝑣𝑒</m:t>
                                    </m:r>
                                  </m:sub>
                                  <m:sup>
                                    <m:r>
                                      <a:rPr lang="en-US" i="1">
                                        <a:latin typeface="Cambria Math" panose="02040503050406030204" pitchFamily="18" charset="0"/>
                                      </a:rPr>
                                      <m:t>2</m:t>
                                    </m:r>
                                  </m:sup>
                                </m:sSub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𝑄</m:t>
                                </m:r>
                              </m:oMath>
                            </m:oMathPara>
                          </a14:m>
                          <a:endParaRPr lang="en-US" dirty="0"/>
                        </a:p>
                      </a:txBody>
                      <a:tcPr/>
                    </a:tc>
                    <a:tc>
                      <a:txBody>
                        <a:bodyPr/>
                        <a:lstStyle/>
                        <a:p>
                          <a:r>
                            <a:rPr lang="en-US" dirty="0"/>
                            <a:t>Uncertainty added simply by moving / imperfections in the physics model</a:t>
                          </a:r>
                        </a:p>
                      </a:txBody>
                      <a:tcPr/>
                    </a:tc>
                    <a:extLst>
                      <a:ext uri="{0D108BD9-81ED-4DB2-BD59-A6C34878D82A}">
                        <a16:rowId xmlns:a16="http://schemas.microsoft.com/office/drawing/2014/main" val="3886846778"/>
                      </a:ext>
                    </a:extLst>
                  </a:tr>
                  <a:tr h="0">
                    <a:tc>
                      <a:txBody>
                        <a:bodyPr/>
                        <a:lstStyle/>
                        <a:p>
                          <a:r>
                            <a:rPr lang="en-US" b="1" dirty="0"/>
                            <a:t>Sensor Model</a:t>
                          </a:r>
                        </a:p>
                      </a:txBody>
                      <a:tcPr/>
                    </a:tc>
                    <a:tc>
                      <a:txBody>
                        <a:bodyPr/>
                        <a:lstStyle/>
                        <a:p>
                          <a:pPr algn="ctr"/>
                          <a:r>
                            <a:rPr lang="en-US" dirty="0"/>
                            <a:t>1 (direct)</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𝐻</m:t>
                                </m:r>
                              </m:oMath>
                            </m:oMathPara>
                          </a14:m>
                          <a:endParaRPr lang="en-US" dirty="0"/>
                        </a:p>
                      </a:txBody>
                      <a:tcPr/>
                    </a:tc>
                    <a:tc>
                      <a:txBody>
                        <a:bodyPr/>
                        <a:lstStyle/>
                        <a:p>
                          <a:r>
                            <a:rPr lang="en-US" sz="1400" b="0" i="0" u="none" strike="noStrike" cap="none" dirty="0">
                              <a:solidFill>
                                <a:schemeClr val="dk1"/>
                              </a:solidFill>
                              <a:effectLst/>
                              <a:latin typeface="+mn-lt"/>
                              <a:ea typeface="+mn-ea"/>
                              <a:cs typeface="+mn-cs"/>
                              <a:sym typeface="Arial"/>
                            </a:rPr>
                            <a:t>Translates internal state space into the format the sensor outputs</a:t>
                          </a:r>
                          <a:endParaRPr lang="en-US" dirty="0"/>
                        </a:p>
                      </a:txBody>
                      <a:tcPr/>
                    </a:tc>
                    <a:extLst>
                      <a:ext uri="{0D108BD9-81ED-4DB2-BD59-A6C34878D82A}">
                        <a16:rowId xmlns:a16="http://schemas.microsoft.com/office/drawing/2014/main" val="401781755"/>
                      </a:ext>
                    </a:extLst>
                  </a:tr>
                  <a:tr h="0">
                    <a:tc>
                      <a:txBody>
                        <a:bodyPr/>
                        <a:lstStyle/>
                        <a:p>
                          <a:r>
                            <a:rPr lang="en-US" b="1" dirty="0"/>
                            <a:t>Sensor Noise</a:t>
                          </a:r>
                        </a:p>
                      </a:txBody>
                      <a:tcPr/>
                    </a:tc>
                    <a:tc>
                      <a:txBody>
                        <a:bodyPr/>
                        <a:lstStyle/>
                        <a:p>
                          <a:pPr/>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𝑠𝑒𝑛𝑠𝑜𝑟</m:t>
                                    </m:r>
                                  </m:sub>
                                  <m:sup>
                                    <m:r>
                                      <a:rPr lang="en-US" i="1">
                                        <a:latin typeface="Cambria Math" panose="02040503050406030204" pitchFamily="18" charset="0"/>
                                      </a:rPr>
                                      <m:t>2</m:t>
                                    </m:r>
                                  </m:sup>
                                </m:sSubSup>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𝑅</m:t>
                                </m:r>
                              </m:oMath>
                            </m:oMathPara>
                          </a14:m>
                          <a:endParaRPr lang="en-US" dirty="0"/>
                        </a:p>
                      </a:txBody>
                      <a:tcPr/>
                    </a:tc>
                    <a:tc>
                      <a:txBody>
                        <a:bodyPr/>
                        <a:lstStyle/>
                        <a:p>
                          <a:r>
                            <a:rPr lang="en-US" dirty="0"/>
                            <a:t>The inherent electrical/mechanical noise of the specific sensor</a:t>
                          </a:r>
                        </a:p>
                      </a:txBody>
                      <a:tcPr/>
                    </a:tc>
                    <a:extLst>
                      <a:ext uri="{0D108BD9-81ED-4DB2-BD59-A6C34878D82A}">
                        <a16:rowId xmlns:a16="http://schemas.microsoft.com/office/drawing/2014/main" val="2905781874"/>
                      </a:ext>
                    </a:extLst>
                  </a:tr>
                  <a:tr h="0">
                    <a:tc>
                      <a:txBody>
                        <a:bodyPr/>
                        <a:lstStyle/>
                        <a:p>
                          <a:r>
                            <a:rPr lang="en-US" b="1" dirty="0"/>
                            <a:t>Measurement</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𝑧</m:t>
                                </m:r>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𝑧</m:t>
                                </m:r>
                              </m:oMath>
                            </m:oMathPara>
                          </a14:m>
                          <a:endParaRPr lang="en-US" dirty="0"/>
                        </a:p>
                      </a:txBody>
                      <a:tcPr/>
                    </a:tc>
                    <a:tc>
                      <a:txBody>
                        <a:bodyPr/>
                        <a:lstStyle/>
                        <a:p>
                          <a:r>
                            <a:rPr lang="en-US" dirty="0"/>
                            <a:t>The raw data point provided by the sensor (LiDAR, Encoders, etc.)</a:t>
                          </a:r>
                        </a:p>
                      </a:txBody>
                      <a:tcPr/>
                    </a:tc>
                    <a:extLst>
                      <a:ext uri="{0D108BD9-81ED-4DB2-BD59-A6C34878D82A}">
                        <a16:rowId xmlns:a16="http://schemas.microsoft.com/office/drawing/2014/main" val="3762659002"/>
                      </a:ext>
                    </a:extLst>
                  </a:tr>
                  <a:tr h="0">
                    <a:tc>
                      <a:txBody>
                        <a:bodyPr/>
                        <a:lstStyle/>
                        <a:p>
                          <a:r>
                            <a:rPr lang="en-US" b="1" dirty="0"/>
                            <a:t>Kalman Gain</a:t>
                          </a:r>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𝐾</m:t>
                                </m:r>
                                <m:r>
                                  <a:rPr lang="en-US" i="1" smtClean="0">
                                    <a:latin typeface="Cambria Math" panose="02040503050406030204" pitchFamily="18" charset="0"/>
                                  </a:rPr>
                                  <m:t>=</m:t>
                                </m:r>
                                <m:f>
                                  <m:fPr>
                                    <m:ctrlPr>
                                      <a:rPr lang="en-US" i="1">
                                        <a:latin typeface="Cambria Math" panose="02040503050406030204" pitchFamily="18" charset="0"/>
                                      </a:rPr>
                                    </m:ctrlPr>
                                  </m:fPr>
                                  <m:num>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𝑝𝑟𝑒𝑑</m:t>
                                        </m:r>
                                      </m:sub>
                                      <m:sup>
                                        <m:r>
                                          <a:rPr lang="en-US" i="1">
                                            <a:latin typeface="Cambria Math" panose="02040503050406030204" pitchFamily="18" charset="0"/>
                                          </a:rPr>
                                          <m:t>2</m:t>
                                        </m:r>
                                      </m:sup>
                                    </m:sSubSup>
                                  </m:num>
                                  <m:den>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𝑝𝑟𝑒𝑑</m:t>
                                        </m:r>
                                      </m:sub>
                                      <m:sup>
                                        <m:r>
                                          <a:rPr lang="en-US" i="1">
                                            <a:latin typeface="Cambria Math" panose="02040503050406030204" pitchFamily="18" charset="0"/>
                                          </a:rPr>
                                          <m:t>2</m:t>
                                        </m:r>
                                      </m:sup>
                                    </m:sSubSup>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𝜎</m:t>
                                        </m:r>
                                      </m:e>
                                      <m:sub>
                                        <m:r>
                                          <a:rPr lang="en-US" i="1">
                                            <a:latin typeface="Cambria Math" panose="02040503050406030204" pitchFamily="18" charset="0"/>
                                          </a:rPr>
                                          <m:t>𝑠𝑒𝑛𝑠𝑜𝑟</m:t>
                                        </m:r>
                                      </m:sub>
                                      <m:sup>
                                        <m:r>
                                          <a:rPr lang="en-US" i="1">
                                            <a:latin typeface="Cambria Math" panose="02040503050406030204" pitchFamily="18" charset="0"/>
                                          </a:rPr>
                                          <m:t>2</m:t>
                                        </m:r>
                                      </m:sup>
                                    </m:sSubSup>
                                  </m:den>
                                </m:f>
                              </m:oMath>
                            </m:oMathPara>
                          </a14:m>
                          <a:endParaRPr lang="en-US" dirty="0"/>
                        </a:p>
                      </a:txBody>
                      <a:tcPr/>
                    </a:tc>
                    <a:tc>
                      <a:txBody>
                        <a:bodyPr/>
                        <a:lstStyle/>
                        <a:p>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rPr>
                                  <m:t>𝐾</m:t>
                                </m:r>
                                <m:r>
                                  <a:rPr lang="en-US" i="1" smtClean="0">
                                    <a:latin typeface="Cambria Math" panose="02040503050406030204" pitchFamily="18" charset="0"/>
                                  </a:rPr>
                                  <m:t>=</m:t>
                                </m:r>
                                <m:r>
                                  <a:rPr lang="en-US" i="1" smtClean="0">
                                    <a:latin typeface="Cambria Math" panose="02040503050406030204" pitchFamily="18" charset="0"/>
                                  </a:rPr>
                                  <m:t>𝑃</m:t>
                                </m:r>
                                <m:sSup>
                                  <m:sSupPr>
                                    <m:ctrlPr>
                                      <a:rPr lang="en-US" i="1">
                                        <a:latin typeface="Cambria Math" panose="02040503050406030204" pitchFamily="18" charset="0"/>
                                      </a:rPr>
                                    </m:ctrlPr>
                                  </m:sSupPr>
                                  <m:e>
                                    <m:r>
                                      <a:rPr lang="en-US" i="1">
                                        <a:latin typeface="Cambria Math" panose="02040503050406030204" pitchFamily="18" charset="0"/>
                                      </a:rPr>
                                      <m:t>𝐻</m:t>
                                    </m:r>
                                  </m:e>
                                  <m:sup>
                                    <m:r>
                                      <a:rPr lang="en-US" i="1">
                                        <a:latin typeface="Cambria Math" panose="02040503050406030204" pitchFamily="18" charset="0"/>
                                      </a:rPr>
                                      <m:t>𝑇</m:t>
                                    </m:r>
                                  </m:sup>
                                </m:sSup>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𝐻𝑃</m:t>
                                        </m:r>
                                        <m:sSup>
                                          <m:sSupPr>
                                            <m:ctrlPr>
                                              <a:rPr lang="en-US" i="1">
                                                <a:latin typeface="Cambria Math" panose="02040503050406030204" pitchFamily="18" charset="0"/>
                                              </a:rPr>
                                            </m:ctrlPr>
                                          </m:sSupPr>
                                          <m:e>
                                            <m:r>
                                              <a:rPr lang="en-US" i="1">
                                                <a:latin typeface="Cambria Math" panose="02040503050406030204" pitchFamily="18" charset="0"/>
                                              </a:rPr>
                                              <m:t>𝐻</m:t>
                                            </m:r>
                                          </m:e>
                                          <m:sup>
                                            <m:r>
                                              <a:rPr lang="en-US" i="1">
                                                <a:latin typeface="Cambria Math" panose="02040503050406030204" pitchFamily="18" charset="0"/>
                                              </a:rPr>
                                              <m:t>𝑇</m:t>
                                            </m:r>
                                          </m:sup>
                                        </m:sSup>
                                        <m:r>
                                          <a:rPr lang="en-US" i="1">
                                            <a:latin typeface="Cambria Math" panose="02040503050406030204" pitchFamily="18" charset="0"/>
                                          </a:rPr>
                                          <m:t>+</m:t>
                                        </m:r>
                                        <m:r>
                                          <a:rPr lang="en-US" i="1">
                                            <a:latin typeface="Cambria Math" panose="02040503050406030204" pitchFamily="18" charset="0"/>
                                          </a:rPr>
                                          <m:t>𝑅</m:t>
                                        </m:r>
                                      </m:e>
                                    </m:d>
                                  </m:e>
                                  <m:sup>
                                    <m:r>
                                      <a:rPr lang="en-US" i="1">
                                        <a:latin typeface="Cambria Math" panose="02040503050406030204" pitchFamily="18" charset="0"/>
                                      </a:rPr>
                                      <m:t>−1</m:t>
                                    </m:r>
                                  </m:sup>
                                </m:sSup>
                              </m:oMath>
                            </m:oMathPara>
                          </a14:m>
                          <a:endParaRPr lang="en-US" dirty="0"/>
                        </a:p>
                      </a:txBody>
                      <a:tcPr/>
                    </a:tc>
                    <a:tc>
                      <a:txBody>
                        <a:bodyPr/>
                        <a:lstStyle/>
                        <a:p>
                          <a:r>
                            <a:rPr lang="en-US" dirty="0"/>
                            <a:t>The dynamic weight that decides whether to trust the model or the sensor</a:t>
                          </a:r>
                        </a:p>
                      </a:txBody>
                      <a:tcPr/>
                    </a:tc>
                    <a:extLst>
                      <a:ext uri="{0D108BD9-81ED-4DB2-BD59-A6C34878D82A}">
                        <a16:rowId xmlns:a16="http://schemas.microsoft.com/office/drawing/2014/main" val="1403763760"/>
                      </a:ext>
                    </a:extLst>
                  </a:tr>
                </a:tbl>
              </a:graphicData>
            </a:graphic>
          </p:graphicFrame>
        </mc:Choice>
        <mc:Fallback xmlns="">
          <p:graphicFrame>
            <p:nvGraphicFramePr>
              <p:cNvPr id="3" name="Table 2">
                <a:extLst>
                  <a:ext uri="{FF2B5EF4-FFF2-40B4-BE49-F238E27FC236}">
                    <a16:creationId xmlns:a16="http://schemas.microsoft.com/office/drawing/2014/main" id="{3AC61F16-A724-2BED-6A48-95709F44506D}"/>
                  </a:ext>
                </a:extLst>
              </p:cNvPr>
              <p:cNvGraphicFramePr>
                <a:graphicFrameLocks noGrp="1"/>
              </p:cNvGraphicFramePr>
              <p:nvPr>
                <p:extLst>
                  <p:ext uri="{D42A27DB-BD31-4B8C-83A1-F6EECF244321}">
                    <p14:modId xmlns:p14="http://schemas.microsoft.com/office/powerpoint/2010/main" val="2381280231"/>
                  </p:ext>
                </p:extLst>
              </p:nvPr>
            </p:nvGraphicFramePr>
            <p:xfrm>
              <a:off x="159718" y="2065343"/>
              <a:ext cx="11732644" cy="3113342"/>
            </p:xfrm>
            <a:graphic>
              <a:graphicData uri="http://schemas.openxmlformats.org/drawingml/2006/table">
                <a:tbl>
                  <a:tblPr firstRow="1" bandRow="1">
                    <a:tableStyleId>{5C22544A-7EE6-4342-B048-85BDC9FD1C3A}</a:tableStyleId>
                  </a:tblPr>
                  <a:tblGrid>
                    <a:gridCol w="1534402">
                      <a:extLst>
                        <a:ext uri="{9D8B030D-6E8A-4147-A177-3AD203B41FA5}">
                          <a16:colId xmlns:a16="http://schemas.microsoft.com/office/drawing/2014/main" val="3920864192"/>
                        </a:ext>
                      </a:extLst>
                    </a:gridCol>
                    <a:gridCol w="2095642">
                      <a:extLst>
                        <a:ext uri="{9D8B030D-6E8A-4147-A177-3AD203B41FA5}">
                          <a16:colId xmlns:a16="http://schemas.microsoft.com/office/drawing/2014/main" val="1103532210"/>
                        </a:ext>
                      </a:extLst>
                    </a:gridCol>
                    <a:gridCol w="2101850">
                      <a:extLst>
                        <a:ext uri="{9D8B030D-6E8A-4147-A177-3AD203B41FA5}">
                          <a16:colId xmlns:a16="http://schemas.microsoft.com/office/drawing/2014/main" val="1613415694"/>
                        </a:ext>
                      </a:extLst>
                    </a:gridCol>
                    <a:gridCol w="6000750">
                      <a:extLst>
                        <a:ext uri="{9D8B030D-6E8A-4147-A177-3AD203B41FA5}">
                          <a16:colId xmlns:a16="http://schemas.microsoft.com/office/drawing/2014/main" val="2886094722"/>
                        </a:ext>
                      </a:extLst>
                    </a:gridCol>
                  </a:tblGrid>
                  <a:tr h="365760">
                    <a:tc>
                      <a:txBody>
                        <a:bodyPr/>
                        <a:lstStyle/>
                        <a:p>
                          <a:pPr algn="ctr"/>
                          <a:r>
                            <a:rPr lang="en-US" dirty="0"/>
                            <a:t>Concept</a:t>
                          </a:r>
                        </a:p>
                      </a:txBody>
                      <a:tcPr/>
                    </a:tc>
                    <a:tc>
                      <a:txBody>
                        <a:bodyPr/>
                        <a:lstStyle/>
                        <a:p>
                          <a:pPr algn="ctr"/>
                          <a:r>
                            <a:rPr lang="en-US" dirty="0"/>
                            <a:t>1D (Scalar)</a:t>
                          </a:r>
                        </a:p>
                      </a:txBody>
                      <a:tcPr/>
                    </a:tc>
                    <a:tc>
                      <a:txBody>
                        <a:bodyPr/>
                        <a:lstStyle/>
                        <a:p>
                          <a:pPr algn="ctr"/>
                          <a:r>
                            <a:rPr lang="en-US" dirty="0"/>
                            <a:t>N-dimensional (Matrix)</a:t>
                          </a:r>
                        </a:p>
                      </a:txBody>
                      <a:tcPr/>
                    </a:tc>
                    <a:tc>
                      <a:txBody>
                        <a:bodyPr/>
                        <a:lstStyle/>
                        <a:p>
                          <a:pPr algn="ctr"/>
                          <a:r>
                            <a:rPr lang="en-US" dirty="0"/>
                            <a:t>Description</a:t>
                          </a:r>
                        </a:p>
                      </a:txBody>
                      <a:tcPr/>
                    </a:tc>
                    <a:extLst>
                      <a:ext uri="{0D108BD9-81ED-4DB2-BD59-A6C34878D82A}">
                        <a16:rowId xmlns:a16="http://schemas.microsoft.com/office/drawing/2014/main" val="2301377319"/>
                      </a:ext>
                    </a:extLst>
                  </a:tr>
                  <a:tr h="304800">
                    <a:tc>
                      <a:txBody>
                        <a:bodyPr/>
                        <a:lstStyle/>
                        <a:p>
                          <a:r>
                            <a:rPr lang="en-US" b="1" dirty="0"/>
                            <a:t>State</a:t>
                          </a:r>
                        </a:p>
                      </a:txBody>
                      <a:tcPr/>
                    </a:tc>
                    <a:tc>
                      <a:txBody>
                        <a:bodyPr/>
                        <a:lstStyle/>
                        <a:p>
                          <a:endParaRPr lang="en-US"/>
                        </a:p>
                      </a:txBody>
                      <a:tcPr>
                        <a:blipFill>
                          <a:blip r:embed="rId4"/>
                          <a:stretch>
                            <a:fillRect l="-73547" t="-122000" r="-387791" b="-808000"/>
                          </a:stretch>
                        </a:blipFill>
                      </a:tcPr>
                    </a:tc>
                    <a:tc>
                      <a:txBody>
                        <a:bodyPr/>
                        <a:lstStyle/>
                        <a:p>
                          <a:endParaRPr lang="en-US"/>
                        </a:p>
                      </a:txBody>
                      <a:tcPr>
                        <a:blipFill>
                          <a:blip r:embed="rId4"/>
                          <a:stretch>
                            <a:fillRect l="-173547" t="-122000" r="-287791" b="-808000"/>
                          </a:stretch>
                        </a:blipFill>
                      </a:tcPr>
                    </a:tc>
                    <a:tc>
                      <a:txBody>
                        <a:bodyPr/>
                        <a:lstStyle/>
                        <a:p>
                          <a:r>
                            <a:rPr lang="en-US" dirty="0"/>
                            <a:t>The robot's current estimated condition (Position, Velocity, etc.)</a:t>
                          </a:r>
                        </a:p>
                      </a:txBody>
                      <a:tcPr/>
                    </a:tc>
                    <a:extLst>
                      <a:ext uri="{0D108BD9-81ED-4DB2-BD59-A6C34878D82A}">
                        <a16:rowId xmlns:a16="http://schemas.microsoft.com/office/drawing/2014/main" val="938139900"/>
                      </a:ext>
                    </a:extLst>
                  </a:tr>
                  <a:tr h="304800">
                    <a:tc>
                      <a:txBody>
                        <a:bodyPr/>
                        <a:lstStyle/>
                        <a:p>
                          <a:r>
                            <a:rPr lang="en-US" b="1" dirty="0"/>
                            <a:t>Uncertainty</a:t>
                          </a:r>
                        </a:p>
                      </a:txBody>
                      <a:tcPr/>
                    </a:tc>
                    <a:tc>
                      <a:txBody>
                        <a:bodyPr/>
                        <a:lstStyle/>
                        <a:p>
                          <a:endParaRPr lang="en-US"/>
                        </a:p>
                      </a:txBody>
                      <a:tcPr>
                        <a:blipFill>
                          <a:blip r:embed="rId4"/>
                          <a:stretch>
                            <a:fillRect l="-73547" t="-222000" r="-387791" b="-708000"/>
                          </a:stretch>
                        </a:blipFill>
                      </a:tcPr>
                    </a:tc>
                    <a:tc>
                      <a:txBody>
                        <a:bodyPr/>
                        <a:lstStyle/>
                        <a:p>
                          <a:endParaRPr lang="en-US"/>
                        </a:p>
                      </a:txBody>
                      <a:tcPr>
                        <a:blipFill>
                          <a:blip r:embed="rId4"/>
                          <a:stretch>
                            <a:fillRect l="-173547" t="-222000" r="-287791" b="-708000"/>
                          </a:stretch>
                        </a:blipFill>
                      </a:tcPr>
                    </a:tc>
                    <a:tc>
                      <a:txBody>
                        <a:bodyPr/>
                        <a:lstStyle/>
                        <a:p>
                          <a:r>
                            <a:rPr lang="en-US" dirty="0"/>
                            <a:t>How unsure we are about the state (Variance / Covariance Matrix)</a:t>
                          </a:r>
                        </a:p>
                      </a:txBody>
                      <a:tcPr/>
                    </a:tc>
                    <a:extLst>
                      <a:ext uri="{0D108BD9-81ED-4DB2-BD59-A6C34878D82A}">
                        <a16:rowId xmlns:a16="http://schemas.microsoft.com/office/drawing/2014/main" val="1052411826"/>
                      </a:ext>
                    </a:extLst>
                  </a:tr>
                  <a:tr h="304800">
                    <a:tc>
                      <a:txBody>
                        <a:bodyPr/>
                        <a:lstStyle/>
                        <a:p>
                          <a:r>
                            <a:rPr lang="en-US" b="1" dirty="0"/>
                            <a:t>Physics Model</a:t>
                          </a:r>
                        </a:p>
                      </a:txBody>
                      <a:tcPr/>
                    </a:tc>
                    <a:tc>
                      <a:txBody>
                        <a:bodyPr/>
                        <a:lstStyle/>
                        <a:p>
                          <a:endParaRPr lang="en-US"/>
                        </a:p>
                      </a:txBody>
                      <a:tcPr>
                        <a:blipFill>
                          <a:blip r:embed="rId4"/>
                          <a:stretch>
                            <a:fillRect l="-73547" t="-315686" r="-387791" b="-594118"/>
                          </a:stretch>
                        </a:blipFill>
                      </a:tcPr>
                    </a:tc>
                    <a:tc>
                      <a:txBody>
                        <a:bodyPr/>
                        <a:lstStyle/>
                        <a:p>
                          <a:endParaRPr lang="en-US"/>
                        </a:p>
                      </a:txBody>
                      <a:tcPr>
                        <a:blipFill>
                          <a:blip r:embed="rId4"/>
                          <a:stretch>
                            <a:fillRect l="-173547" t="-315686" r="-287791" b="-594118"/>
                          </a:stretch>
                        </a:blipFill>
                      </a:tcPr>
                    </a:tc>
                    <a:tc>
                      <a:txBody>
                        <a:bodyPr/>
                        <a:lstStyle/>
                        <a:p>
                          <a:r>
                            <a:rPr lang="en-US" sz="1400" b="0" i="0" u="none" strike="noStrike" cap="none" dirty="0">
                              <a:solidFill>
                                <a:schemeClr val="dk1"/>
                              </a:solidFill>
                              <a:effectLst/>
                              <a:latin typeface="+mn-lt"/>
                              <a:ea typeface="+mn-ea"/>
                              <a:cs typeface="+mn-cs"/>
                              <a:sym typeface="Arial"/>
                            </a:rPr>
                            <a:t>How the state naturally evolves over time (State Transition / Jacobian)</a:t>
                          </a:r>
                          <a:endParaRPr lang="en-US" dirty="0"/>
                        </a:p>
                      </a:txBody>
                      <a:tcPr/>
                    </a:tc>
                    <a:extLst>
                      <a:ext uri="{0D108BD9-81ED-4DB2-BD59-A6C34878D82A}">
                        <a16:rowId xmlns:a16="http://schemas.microsoft.com/office/drawing/2014/main" val="341423068"/>
                      </a:ext>
                    </a:extLst>
                  </a:tr>
                  <a:tr h="304800">
                    <a:tc>
                      <a:txBody>
                        <a:bodyPr/>
                        <a:lstStyle/>
                        <a:p>
                          <a:r>
                            <a:rPr lang="en-US" b="1" dirty="0"/>
                            <a:t>Process Noise</a:t>
                          </a:r>
                        </a:p>
                      </a:txBody>
                      <a:tcPr/>
                    </a:tc>
                    <a:tc>
                      <a:txBody>
                        <a:bodyPr/>
                        <a:lstStyle/>
                        <a:p>
                          <a:endParaRPr lang="en-US"/>
                        </a:p>
                      </a:txBody>
                      <a:tcPr>
                        <a:blipFill>
                          <a:blip r:embed="rId4"/>
                          <a:stretch>
                            <a:fillRect l="-73547" t="-424000" r="-387791" b="-506000"/>
                          </a:stretch>
                        </a:blipFill>
                      </a:tcPr>
                    </a:tc>
                    <a:tc>
                      <a:txBody>
                        <a:bodyPr/>
                        <a:lstStyle/>
                        <a:p>
                          <a:endParaRPr lang="en-US"/>
                        </a:p>
                      </a:txBody>
                      <a:tcPr>
                        <a:blipFill>
                          <a:blip r:embed="rId4"/>
                          <a:stretch>
                            <a:fillRect l="-173547" t="-424000" r="-287791" b="-506000"/>
                          </a:stretch>
                        </a:blipFill>
                      </a:tcPr>
                    </a:tc>
                    <a:tc>
                      <a:txBody>
                        <a:bodyPr/>
                        <a:lstStyle/>
                        <a:p>
                          <a:r>
                            <a:rPr lang="en-US" dirty="0"/>
                            <a:t>Uncertainty added simply by moving / imperfections in the physics model</a:t>
                          </a:r>
                        </a:p>
                      </a:txBody>
                      <a:tcPr/>
                    </a:tc>
                    <a:extLst>
                      <a:ext uri="{0D108BD9-81ED-4DB2-BD59-A6C34878D82A}">
                        <a16:rowId xmlns:a16="http://schemas.microsoft.com/office/drawing/2014/main" val="3886846778"/>
                      </a:ext>
                    </a:extLst>
                  </a:tr>
                  <a:tr h="304800">
                    <a:tc>
                      <a:txBody>
                        <a:bodyPr/>
                        <a:lstStyle/>
                        <a:p>
                          <a:r>
                            <a:rPr lang="en-US" b="1" dirty="0"/>
                            <a:t>Sensor Model</a:t>
                          </a:r>
                        </a:p>
                      </a:txBody>
                      <a:tcPr/>
                    </a:tc>
                    <a:tc>
                      <a:txBody>
                        <a:bodyPr/>
                        <a:lstStyle/>
                        <a:p>
                          <a:pPr algn="ctr"/>
                          <a:r>
                            <a:rPr lang="en-US" dirty="0"/>
                            <a:t>1 (direct)</a:t>
                          </a:r>
                        </a:p>
                      </a:txBody>
                      <a:tcPr/>
                    </a:tc>
                    <a:tc>
                      <a:txBody>
                        <a:bodyPr/>
                        <a:lstStyle/>
                        <a:p>
                          <a:endParaRPr lang="en-US"/>
                        </a:p>
                      </a:txBody>
                      <a:tcPr>
                        <a:blipFill>
                          <a:blip r:embed="rId4"/>
                          <a:stretch>
                            <a:fillRect l="-173547" t="-524000" r="-287791" b="-406000"/>
                          </a:stretch>
                        </a:blipFill>
                      </a:tcPr>
                    </a:tc>
                    <a:tc>
                      <a:txBody>
                        <a:bodyPr/>
                        <a:lstStyle/>
                        <a:p>
                          <a:r>
                            <a:rPr lang="en-US" sz="1400" b="0" i="0" u="none" strike="noStrike" cap="none" dirty="0">
                              <a:solidFill>
                                <a:schemeClr val="dk1"/>
                              </a:solidFill>
                              <a:effectLst/>
                              <a:latin typeface="+mn-lt"/>
                              <a:ea typeface="+mn-ea"/>
                              <a:cs typeface="+mn-cs"/>
                              <a:sym typeface="Arial"/>
                            </a:rPr>
                            <a:t>Translates internal state space into the format the sensor outputs</a:t>
                          </a:r>
                          <a:endParaRPr lang="en-US" dirty="0"/>
                        </a:p>
                      </a:txBody>
                      <a:tcPr/>
                    </a:tc>
                    <a:extLst>
                      <a:ext uri="{0D108BD9-81ED-4DB2-BD59-A6C34878D82A}">
                        <a16:rowId xmlns:a16="http://schemas.microsoft.com/office/drawing/2014/main" val="401781755"/>
                      </a:ext>
                    </a:extLst>
                  </a:tr>
                  <a:tr h="304800">
                    <a:tc>
                      <a:txBody>
                        <a:bodyPr/>
                        <a:lstStyle/>
                        <a:p>
                          <a:r>
                            <a:rPr lang="en-US" b="1" dirty="0"/>
                            <a:t>Sensor Noise</a:t>
                          </a:r>
                        </a:p>
                      </a:txBody>
                      <a:tcPr/>
                    </a:tc>
                    <a:tc>
                      <a:txBody>
                        <a:bodyPr/>
                        <a:lstStyle/>
                        <a:p>
                          <a:endParaRPr lang="en-US"/>
                        </a:p>
                      </a:txBody>
                      <a:tcPr>
                        <a:blipFill>
                          <a:blip r:embed="rId4"/>
                          <a:stretch>
                            <a:fillRect l="-73547" t="-624000" r="-387791" b="-306000"/>
                          </a:stretch>
                        </a:blipFill>
                      </a:tcPr>
                    </a:tc>
                    <a:tc>
                      <a:txBody>
                        <a:bodyPr/>
                        <a:lstStyle/>
                        <a:p>
                          <a:endParaRPr lang="en-US"/>
                        </a:p>
                      </a:txBody>
                      <a:tcPr>
                        <a:blipFill>
                          <a:blip r:embed="rId4"/>
                          <a:stretch>
                            <a:fillRect l="-173547" t="-624000" r="-287791" b="-306000"/>
                          </a:stretch>
                        </a:blipFill>
                      </a:tcPr>
                    </a:tc>
                    <a:tc>
                      <a:txBody>
                        <a:bodyPr/>
                        <a:lstStyle/>
                        <a:p>
                          <a:r>
                            <a:rPr lang="en-US" dirty="0"/>
                            <a:t>The inherent electrical/mechanical noise of the specific sensor</a:t>
                          </a:r>
                        </a:p>
                      </a:txBody>
                      <a:tcPr/>
                    </a:tc>
                    <a:extLst>
                      <a:ext uri="{0D108BD9-81ED-4DB2-BD59-A6C34878D82A}">
                        <a16:rowId xmlns:a16="http://schemas.microsoft.com/office/drawing/2014/main" val="2905781874"/>
                      </a:ext>
                    </a:extLst>
                  </a:tr>
                  <a:tr h="304800">
                    <a:tc>
                      <a:txBody>
                        <a:bodyPr/>
                        <a:lstStyle/>
                        <a:p>
                          <a:r>
                            <a:rPr lang="en-US" b="1" dirty="0"/>
                            <a:t>Measurement</a:t>
                          </a:r>
                        </a:p>
                      </a:txBody>
                      <a:tcPr/>
                    </a:tc>
                    <a:tc>
                      <a:txBody>
                        <a:bodyPr/>
                        <a:lstStyle/>
                        <a:p>
                          <a:endParaRPr lang="en-US"/>
                        </a:p>
                      </a:txBody>
                      <a:tcPr>
                        <a:blipFill>
                          <a:blip r:embed="rId4"/>
                          <a:stretch>
                            <a:fillRect l="-73547" t="-724000" r="-387791" b="-206000"/>
                          </a:stretch>
                        </a:blipFill>
                      </a:tcPr>
                    </a:tc>
                    <a:tc>
                      <a:txBody>
                        <a:bodyPr/>
                        <a:lstStyle/>
                        <a:p>
                          <a:endParaRPr lang="en-US"/>
                        </a:p>
                      </a:txBody>
                      <a:tcPr>
                        <a:blipFill>
                          <a:blip r:embed="rId4"/>
                          <a:stretch>
                            <a:fillRect l="-173547" t="-724000" r="-287791" b="-206000"/>
                          </a:stretch>
                        </a:blipFill>
                      </a:tcPr>
                    </a:tc>
                    <a:tc>
                      <a:txBody>
                        <a:bodyPr/>
                        <a:lstStyle/>
                        <a:p>
                          <a:r>
                            <a:rPr lang="en-US" dirty="0"/>
                            <a:t>The raw data point provided by the sensor (LiDAR, Encoders, etc.)</a:t>
                          </a:r>
                        </a:p>
                      </a:txBody>
                      <a:tcPr/>
                    </a:tc>
                    <a:extLst>
                      <a:ext uri="{0D108BD9-81ED-4DB2-BD59-A6C34878D82A}">
                        <a16:rowId xmlns:a16="http://schemas.microsoft.com/office/drawing/2014/main" val="3762659002"/>
                      </a:ext>
                    </a:extLst>
                  </a:tr>
                  <a:tr h="613982">
                    <a:tc>
                      <a:txBody>
                        <a:bodyPr/>
                        <a:lstStyle/>
                        <a:p>
                          <a:r>
                            <a:rPr lang="en-US" b="1" dirty="0"/>
                            <a:t>Kalman Gain</a:t>
                          </a:r>
                        </a:p>
                      </a:txBody>
                      <a:tcPr/>
                    </a:tc>
                    <a:tc>
                      <a:txBody>
                        <a:bodyPr/>
                        <a:lstStyle/>
                        <a:p>
                          <a:endParaRPr lang="en-US"/>
                        </a:p>
                      </a:txBody>
                      <a:tcPr>
                        <a:blipFill>
                          <a:blip r:embed="rId4"/>
                          <a:stretch>
                            <a:fillRect l="-73547" t="-407921" r="-387791" b="-1980"/>
                          </a:stretch>
                        </a:blipFill>
                      </a:tcPr>
                    </a:tc>
                    <a:tc>
                      <a:txBody>
                        <a:bodyPr/>
                        <a:lstStyle/>
                        <a:p>
                          <a:endParaRPr lang="en-US"/>
                        </a:p>
                      </a:txBody>
                      <a:tcPr>
                        <a:blipFill>
                          <a:blip r:embed="rId4"/>
                          <a:stretch>
                            <a:fillRect l="-173547" t="-407921" r="-287791" b="-1980"/>
                          </a:stretch>
                        </a:blipFill>
                      </a:tcPr>
                    </a:tc>
                    <a:tc>
                      <a:txBody>
                        <a:bodyPr/>
                        <a:lstStyle/>
                        <a:p>
                          <a:r>
                            <a:rPr lang="en-US" dirty="0"/>
                            <a:t>The dynamic weight that decides whether to trust the model or the sensor</a:t>
                          </a:r>
                        </a:p>
                      </a:txBody>
                      <a:tcPr/>
                    </a:tc>
                    <a:extLst>
                      <a:ext uri="{0D108BD9-81ED-4DB2-BD59-A6C34878D82A}">
                        <a16:rowId xmlns:a16="http://schemas.microsoft.com/office/drawing/2014/main" val="1403763760"/>
                      </a:ext>
                    </a:extLst>
                  </a:tr>
                </a:tbl>
              </a:graphicData>
            </a:graphic>
          </p:graphicFrame>
        </mc:Fallback>
      </mc:AlternateContent>
    </p:spTree>
    <p:extLst>
      <p:ext uri="{BB962C8B-B14F-4D97-AF65-F5344CB8AC3E}">
        <p14:creationId xmlns:p14="http://schemas.microsoft.com/office/powerpoint/2010/main" val="345535650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EC33857-135B-AB50-1507-C754507AF1C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9E72938-1689-2B23-6F6B-C2EFFC013ED8}"/>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5811111C-06D0-FA3E-B154-B6624BA11E03}"/>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Optional Derivations</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75C67633-2500-6059-A049-8440CF6C8F5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3BF31AD-D16C-1367-54D3-146BC92BC174}"/>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7D66021-C30A-9BEB-7B79-0F7694BCE8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3504242-8444-A1F8-CD2B-33DA99CD94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02150D2-E29E-9D3E-1E58-A383C8C449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FDF156-ACF3-B775-4C2E-F056166E02A1}"/>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575B9E0A-E1CC-680E-2909-520A88F91FB0}"/>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945E8F5-36CD-F223-41DA-6C55FEC2B3F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50955751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274AC9-436B-C113-2A75-EDD37E8BDF9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839B95-2A10-5AF8-A30A-45DB8791A3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derive the multi-dimensional math, we must define our ultimate goal: </a:t>
                </a:r>
                <a:r>
                  <a:rPr lang="en-US" sz="2300" b="1" dirty="0">
                    <a:latin typeface="Atkinson Hyperlegible Next"/>
                    <a:ea typeface="Arial"/>
                    <a:cs typeface="Arial"/>
                    <a:sym typeface="Arial"/>
                  </a:rPr>
                  <a:t>Minimizing Uncertainty</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Mathematically, total uncertainty is the </a:t>
                </a:r>
                <a:r>
                  <a:rPr lang="en-US" sz="2300" b="1" dirty="0">
                    <a:latin typeface="Atkinson Hyperlegible Next"/>
                    <a:ea typeface="Arial"/>
                    <a:cs typeface="Arial"/>
                    <a:sym typeface="Arial"/>
                  </a:rPr>
                  <a:t>sum of the variances </a:t>
                </a:r>
                <a:r>
                  <a:rPr lang="en-US" sz="2300" dirty="0">
                    <a:latin typeface="Atkinson Hyperlegible Next"/>
                    <a:ea typeface="Arial"/>
                    <a:cs typeface="Arial"/>
                    <a:sym typeface="Arial"/>
                  </a:rPr>
                  <a:t>of our state variables (the </a:t>
                </a:r>
                <a:r>
                  <a:rPr lang="en-US" sz="2300" b="1" dirty="0">
                    <a:latin typeface="Atkinson Hyperlegible Next"/>
                    <a:ea typeface="Arial"/>
                    <a:cs typeface="Arial"/>
                    <a:sym typeface="Arial"/>
                  </a:rPr>
                  <a:t>diagonal elements of the covariance matrix </a:t>
                </a:r>
                <a14:m>
                  <m:oMath xmlns:m="http://schemas.openxmlformats.org/officeDocument/2006/math">
                    <m:r>
                      <a:rPr lang="en-US" sz="2300" i="1" dirty="0" smtClean="0">
                        <a:latin typeface="Cambria Math" panose="02040503050406030204" pitchFamily="18" charset="0"/>
                        <a:ea typeface="Arial"/>
                        <a:cs typeface="Arial"/>
                        <a:sym typeface="Arial"/>
                      </a:rPr>
                      <m:t>𝑃</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sum of the diagonal elements of a matrix is called the </a:t>
                </a:r>
                <a:r>
                  <a:rPr lang="en-US" sz="2300" b="1" dirty="0">
                    <a:latin typeface="Atkinson Hyperlegible Next"/>
                    <a:ea typeface="Arial"/>
                    <a:cs typeface="Arial"/>
                    <a:sym typeface="Arial"/>
                  </a:rPr>
                  <a:t>Trace</a:t>
                </a:r>
                <a:r>
                  <a:rPr lang="en-US" sz="2300" dirty="0">
                    <a:latin typeface="Atkinson Hyperlegible Next"/>
                    <a:ea typeface="Arial"/>
                    <a:cs typeface="Arial"/>
                    <a:sym typeface="Arial"/>
                  </a:rPr>
                  <a:t>, written </a:t>
                </a:r>
                <a14:m>
                  <m:oMath xmlns:m="http://schemas.openxmlformats.org/officeDocument/2006/math">
                    <m:r>
                      <a:rPr lang="en-US" sz="2300" i="1" smtClean="0">
                        <a:latin typeface="Cambria Math" panose="02040503050406030204" pitchFamily="18" charset="0"/>
                        <a:cs typeface="Arial"/>
                        <a:sym typeface="Arial"/>
                      </a:rPr>
                      <m:t>𝑇𝑟</m:t>
                    </m:r>
                    <m:d>
                      <m:dPr>
                        <m:ctrlPr>
                          <a:rPr lang="en-US" sz="2300" i="1">
                            <a:latin typeface="Cambria Math" panose="02040503050406030204" pitchFamily="18" charset="0"/>
                            <a:cs typeface="Arial"/>
                            <a:sym typeface="Arial"/>
                          </a:rPr>
                        </m:ctrlPr>
                      </m:dPr>
                      <m:e>
                        <m:r>
                          <a:rPr lang="en-US" sz="2300" i="1">
                            <a:latin typeface="Cambria Math" panose="02040503050406030204" pitchFamily="18" charset="0"/>
                            <a:cs typeface="Arial"/>
                            <a:sym typeface="Arial"/>
                          </a:rPr>
                          <m:t>𝑃</m:t>
                        </m:r>
                      </m:e>
                    </m:d>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Thus the objective is to find the Gain matrix, that forces the derive to achieve: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300" i="1" smtClean="0">
                              <a:latin typeface="Cambria Math" panose="02040503050406030204" pitchFamily="18" charset="0"/>
                              <a:cs typeface="Arial"/>
                              <a:sym typeface="Arial"/>
                            </a:rPr>
                          </m:ctrlPr>
                        </m:fPr>
                        <m:num>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𝑇𝑟</m:t>
                          </m:r>
                          <m:d>
                            <m:dPr>
                              <m:ctrlPr>
                                <a:rPr lang="en-US" sz="2300" i="1" smtClean="0">
                                  <a:latin typeface="Cambria Math" panose="02040503050406030204" pitchFamily="18" charset="0"/>
                                  <a:cs typeface="Arial"/>
                                  <a:sym typeface="Arial"/>
                                </a:rPr>
                              </m:ctrlPr>
                            </m:dPr>
                            <m:e>
                              <m:sSub>
                                <m:sSubPr>
                                  <m:ctrlPr>
                                    <a:rPr lang="en-US" sz="2300" i="1" smtClean="0">
                                      <a:latin typeface="Cambria Math" panose="02040503050406030204" pitchFamily="18" charset="0"/>
                                      <a:cs typeface="Arial"/>
                                      <a:sym typeface="Arial"/>
                                    </a:rPr>
                                  </m:ctrlPr>
                                </m:sSubPr>
                                <m:e>
                                  <m:r>
                                    <a:rPr lang="en-US" sz="2300" i="1" smtClean="0">
                                      <a:latin typeface="Cambria Math" panose="02040503050406030204" pitchFamily="18" charset="0"/>
                                      <a:cs typeface="Arial"/>
                                      <a:sym typeface="Arial"/>
                                    </a:rPr>
                                    <m:t>𝑃</m:t>
                                  </m:r>
                                </m:e>
                                <m:sub>
                                  <m:r>
                                    <a:rPr lang="en-US" sz="2300" i="1" smtClean="0">
                                      <a:latin typeface="Cambria Math" panose="02040503050406030204" pitchFamily="18" charset="0"/>
                                      <a:cs typeface="Arial"/>
                                      <a:sym typeface="Arial"/>
                                    </a:rPr>
                                    <m:t>𝑘</m:t>
                                  </m:r>
                                  <m:r>
                                    <a:rPr lang="en-US" sz="2300" b="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𝑘</m:t>
                                  </m:r>
                                </m:sub>
                              </m:sSub>
                            </m:e>
                          </m:d>
                        </m:num>
                        <m:den>
                          <m:r>
                            <a:rPr lang="en-US" sz="2300" i="1" smtClean="0">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𝐾</m:t>
                          </m:r>
                        </m:den>
                      </m:f>
                      <m:r>
                        <a:rPr lang="en-US" sz="2300" i="1" smtClean="0">
                          <a:latin typeface="Cambria Math" panose="02040503050406030204" pitchFamily="18" charset="0"/>
                          <a:cs typeface="Arial"/>
                          <a:sym typeface="Arial"/>
                        </a:rPr>
                        <m:t>=0</m:t>
                      </m:r>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A839B95-2A10-5AF8-A30A-45DB8791A3F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E951129-192E-D12E-AC6B-555B91519E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2E1B41-7B76-B7AB-6E59-9F45EE29B05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68556E-5330-F865-3CC2-23BE16728A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4B7F32-34E8-586D-3968-452A5DCFAD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E07AC03-0533-1551-F34F-9D39F181CEE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58D728-3246-5924-7090-9B3B8C01770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8DBABE-2630-95C3-D499-66E5436A49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E46740-6A8B-A59A-12A6-17FD3FC2E42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55993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6CDB5-1F0B-5A8F-2308-6EDAA9D7B9B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A023A5C-39A7-A88D-861E-23B8244D61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150" dirty="0">
                    <a:latin typeface="Atkinson Hyperlegible Next"/>
                    <a:ea typeface="Arial"/>
                    <a:cs typeface="Arial"/>
                    <a:sym typeface="Arial"/>
                  </a:rPr>
                  <a:t>Let's define the actual error of our updated state: </a:t>
                </a:r>
                <a14:m>
                  <m:oMath xmlns:m="http://schemas.openxmlformats.org/officeDocument/2006/math">
                    <m:r>
                      <a:rPr lang="en-US" sz="2150" i="1" dirty="0" smtClean="0">
                        <a:latin typeface="Cambria Math" panose="02040503050406030204" pitchFamily="18" charset="0"/>
                        <a:ea typeface="Arial"/>
                        <a:cs typeface="Arial"/>
                        <a:sym typeface="Arial"/>
                      </a:rPr>
                      <m:t>𝑒</m:t>
                    </m:r>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𝑡𝑟𝑢𝑒</m:t>
                        </m:r>
                      </m:sub>
                    </m:sSub>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err="1" smtClean="0">
                            <a:latin typeface="Cambria Math" panose="02040503050406030204" pitchFamily="18" charset="0"/>
                            <a:ea typeface="Arial"/>
                            <a:cs typeface="Arial"/>
                            <a:sym typeface="Arial"/>
                          </a:rPr>
                          <m:t>𝑘</m:t>
                        </m:r>
                        <m:r>
                          <a:rPr lang="en-US" sz="2150" i="1" dirty="0" err="1"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oMath>
                </a14:m>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We substitute our update equation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𝑧</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𝐻</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𝑥</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e>
                    </m:d>
                  </m:oMath>
                </a14:m>
                <a:r>
                  <a:rPr lang="en-US" sz="2150" dirty="0">
                    <a:latin typeface="Atkinson Hyperlegible Next"/>
                    <a:ea typeface="Arial"/>
                    <a:cs typeface="Arial"/>
                    <a:sym typeface="Arial"/>
                  </a:rPr>
                  <a:t> into the error definition.</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Covariance is defined as the expected value of the error squared: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𝐸</m:t>
                    </m:r>
                    <m:d>
                      <m:dPr>
                        <m:begChr m:val="["/>
                        <m:endChr m:val="]"/>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𝑒</m:t>
                        </m:r>
                        <m:sSup>
                          <m:sSupPr>
                            <m:ctrlPr>
                              <a:rPr lang="en-US" sz="2150" i="1" dirty="0" err="1" smtClean="0">
                                <a:latin typeface="Cambria Math" panose="02040503050406030204" pitchFamily="18" charset="0"/>
                                <a:ea typeface="Arial"/>
                                <a:cs typeface="Arial"/>
                                <a:sym typeface="Arial"/>
                              </a:rPr>
                            </m:ctrlPr>
                          </m:sSupPr>
                          <m:e>
                            <m:r>
                              <a:rPr lang="en-US" sz="2150" i="1" dirty="0" err="1" smtClean="0">
                                <a:latin typeface="Cambria Math" panose="02040503050406030204" pitchFamily="18" charset="0"/>
                                <a:ea typeface="Arial"/>
                                <a:cs typeface="Arial"/>
                                <a:sym typeface="Arial"/>
                              </a:rPr>
                              <m:t>𝑒</m:t>
                            </m:r>
                          </m:e>
                          <m:sup>
                            <m:r>
                              <a:rPr lang="en-US" sz="2150" i="1" dirty="0" err="1" smtClean="0">
                                <a:latin typeface="Cambria Math" panose="02040503050406030204" pitchFamily="18" charset="0"/>
                                <a:ea typeface="Arial"/>
                                <a:cs typeface="Arial"/>
                                <a:sym typeface="Arial"/>
                              </a:rPr>
                              <m:t>𝑇</m:t>
                            </m:r>
                          </m:sup>
                        </m:sSup>
                      </m:e>
                    </m:d>
                  </m:oMath>
                </a14:m>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Expanding this massive expected value yields the universally true </a:t>
                </a:r>
                <a:r>
                  <a:rPr lang="en-US" sz="2150" b="1" dirty="0">
                    <a:latin typeface="Atkinson Hyperlegible Next"/>
                    <a:ea typeface="Arial"/>
                    <a:cs typeface="Arial"/>
                    <a:sym typeface="Arial"/>
                  </a:rPr>
                  <a:t>Joseph Form of the covariance update</a:t>
                </a:r>
                <a:r>
                  <a:rPr lang="en-US" sz="2150" dirty="0">
                    <a:latin typeface="Atkinson Hyperlegible Next"/>
                    <a:ea typeface="Arial"/>
                    <a:cs typeface="Arial"/>
                    <a:sym typeface="Arial"/>
                  </a:rPr>
                  <a:t>:</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err="1"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err="1" smtClean="0">
                              <a:latin typeface="Cambria Math" panose="02040503050406030204" pitchFamily="18" charset="0"/>
                              <a:ea typeface="Arial"/>
                              <a:cs typeface="Arial"/>
                              <a:sym typeface="Arial"/>
                            </a:rPr>
                            <m:t>𝑘</m:t>
                          </m:r>
                        </m:sub>
                      </m:sSub>
                      <m:r>
                        <a:rPr lang="en-US" sz="2150" i="1" dirty="0" smtClean="0">
                          <a:latin typeface="Cambria Math" panose="02040503050406030204" pitchFamily="18" charset="0"/>
                          <a:ea typeface="Arial"/>
                          <a:cs typeface="Arial"/>
                          <a:sym typeface="Arial"/>
                        </a:rPr>
                        <m:t>=</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𝐾𝑅</m:t>
                      </m:r>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𝐾</m:t>
                          </m:r>
                        </m:e>
                        <m:sup>
                          <m:r>
                            <a:rPr lang="en-US" sz="2150" i="1" dirty="0" smtClean="0">
                              <a:latin typeface="Cambria Math" panose="02040503050406030204" pitchFamily="18" charset="0"/>
                              <a:ea typeface="Arial"/>
                              <a:cs typeface="Arial"/>
                              <a:sym typeface="Arial"/>
                            </a:rPr>
                            <m:t>𝑇</m:t>
                          </m:r>
                        </m:sup>
                      </m:sSup>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Why do we see both </a:t>
                </a:r>
                <a14:m>
                  <m:oMath xmlns:m="http://schemas.openxmlformats.org/officeDocument/2006/math">
                    <m:r>
                      <a:rPr lang="en-US" sz="2150" i="1" dirty="0" smtClean="0">
                        <a:latin typeface="Cambria Math" panose="02040503050406030204" pitchFamily="18" charset="0"/>
                        <a:ea typeface="Arial"/>
                        <a:cs typeface="Arial"/>
                        <a:sym typeface="Arial"/>
                      </a:rPr>
                      <m:t>𝑃</m:t>
                    </m:r>
                  </m:oMath>
                </a14:m>
                <a:r>
                  <a:rPr lang="en-US" sz="2150" dirty="0">
                    <a:latin typeface="Atkinson Hyperlegible Next"/>
                    <a:ea typeface="Arial"/>
                    <a:cs typeface="Arial"/>
                    <a:sym typeface="Arial"/>
                  </a:rPr>
                  <a:t> (model noise) and </a:t>
                </a:r>
                <a14:m>
                  <m:oMath xmlns:m="http://schemas.openxmlformats.org/officeDocument/2006/math">
                    <m:r>
                      <a:rPr lang="en-US" sz="2150" i="1" dirty="0" smtClean="0">
                        <a:latin typeface="Cambria Math" panose="02040503050406030204" pitchFamily="18" charset="0"/>
                        <a:ea typeface="Arial"/>
                        <a:cs typeface="Arial"/>
                        <a:sym typeface="Arial"/>
                      </a:rPr>
                      <m:t>𝑅</m:t>
                    </m:r>
                  </m:oMath>
                </a14:m>
                <a:r>
                  <a:rPr lang="en-US" sz="2150" dirty="0">
                    <a:latin typeface="Atkinson Hyperlegible Next"/>
                    <a:ea typeface="Arial"/>
                    <a:cs typeface="Arial"/>
                    <a:sym typeface="Arial"/>
                  </a:rPr>
                  <a:t> (sensor noise) in this equation? </a:t>
                </a:r>
              </a:p>
              <a:p>
                <a:pPr marL="0" indent="0" algn="ctr">
                  <a:lnSpc>
                    <a:spcPct val="100000"/>
                  </a:lnSpc>
                  <a:spcBef>
                    <a:spcPts val="0"/>
                  </a:spcBef>
                  <a:buSzPts val="3000"/>
                  <a:buNone/>
                </a:pPr>
                <a:r>
                  <a:rPr lang="en-US" sz="2150" dirty="0">
                    <a:latin typeface="Atkinson Hyperlegible Next"/>
                    <a:ea typeface="Arial"/>
                    <a:cs typeface="Arial"/>
                    <a:sym typeface="Arial"/>
                  </a:rPr>
                  <a:t>Because our new estimate relies on both, so both sources contribute to the final error</a:t>
                </a:r>
              </a:p>
            </p:txBody>
          </p:sp>
        </mc:Choice>
        <mc:Fallback xmlns="">
          <p:sp>
            <p:nvSpPr>
              <p:cNvPr id="118" name="Google Shape;118;p29">
                <a:extLst>
                  <a:ext uri="{FF2B5EF4-FFF2-40B4-BE49-F238E27FC236}">
                    <a16:creationId xmlns:a16="http://schemas.microsoft.com/office/drawing/2014/main" id="{9A023A5C-39A7-A88D-861E-23B8244D61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0FE1F3-1C29-1E21-A7F3-BFDF337F9D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D53CFA-7BE3-6AD5-7180-3CCF26A0CFF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5037B2-81B8-96C9-6776-1F2AE51DC87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8584A6-55A1-22C4-FA76-C682FBBC0A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464786-DBF6-7B3F-E0A1-3F0D663D90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515808-2577-D1E1-C114-23B8031E06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F0A57E-6D58-C184-4486-64AB1075CF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371933-6D63-FFAA-EE1A-AB243F05DC9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9530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10" end="1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6D19E-F35C-6978-CBAE-71744A8388B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8A9E61C-2F42-AEF4-3176-98850536911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150" dirty="0">
                    <a:latin typeface="Atkinson Hyperlegible Next"/>
                    <a:ea typeface="Arial"/>
                    <a:cs typeface="Arial"/>
                    <a:sym typeface="Arial"/>
                  </a:rPr>
                  <a:t>We have our covariance equation. Now, we use matrix calculus to minimize its Trace:</a:t>
                </a:r>
                <a:endParaRPr lang="en-US" sz="2150" i="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150" i="1" dirty="0" smtClean="0">
                              <a:latin typeface="Cambria Math" panose="02040503050406030204" pitchFamily="18" charset="0"/>
                              <a:ea typeface="Arial"/>
                              <a:cs typeface="Arial"/>
                              <a:sym typeface="Arial"/>
                            </a:rPr>
                          </m:ctrlPr>
                        </m:fPr>
                        <m:num>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𝑇𝑟</m:t>
                          </m:r>
                          <m:d>
                            <m:dPr>
                              <m:ctrlPr>
                                <a:rPr lang="en-US" sz="2150" i="1" dirty="0" smtClean="0">
                                  <a:latin typeface="Cambria Math" panose="02040503050406030204" pitchFamily="18" charset="0"/>
                                  <a:ea typeface="Arial"/>
                                  <a:cs typeface="Arial"/>
                                  <a:sym typeface="Arial"/>
                                </a:rPr>
                              </m:ctrlPr>
                            </m:dPr>
                            <m:e>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sub>
                              </m:sSub>
                            </m:e>
                          </m:d>
                        </m:num>
                        <m:den>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en>
                      </m:f>
                      <m:r>
                        <a:rPr lang="en-US" sz="2150" i="1" dirty="0" smtClean="0">
                          <a:latin typeface="Cambria Math" panose="02040503050406030204" pitchFamily="18" charset="0"/>
                          <a:ea typeface="Arial"/>
                          <a:cs typeface="Arial"/>
                          <a:sym typeface="Arial"/>
                        </a:rPr>
                        <m:t>=0</m:t>
                      </m:r>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Taking the derivative of the Joseph Form with respect to </a:t>
                </a:r>
                <a14:m>
                  <m:oMath xmlns:m="http://schemas.openxmlformats.org/officeDocument/2006/math">
                    <m:r>
                      <a:rPr lang="en-US" sz="2150" i="1" dirty="0">
                        <a:latin typeface="Cambria Math" panose="02040503050406030204" pitchFamily="18" charset="0"/>
                        <a:ea typeface="Arial"/>
                        <a:cs typeface="Arial"/>
                        <a:sym typeface="Arial"/>
                      </a:rPr>
                      <m:t>𝐾</m:t>
                    </m:r>
                  </m:oMath>
                </a14:m>
                <a:r>
                  <a:rPr lang="en-US" sz="2150" dirty="0">
                    <a:latin typeface="Atkinson Hyperlegible Next"/>
                    <a:ea typeface="Arial"/>
                    <a:cs typeface="Arial"/>
                    <a:sym typeface="Arial"/>
                  </a:rPr>
                  <a:t> yields: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150" i="1" dirty="0" smtClean="0">
                          <a:latin typeface="Cambria Math" panose="02040503050406030204" pitchFamily="18" charset="0"/>
                          <a:ea typeface="Arial"/>
                          <a:cs typeface="Arial"/>
                          <a:sym typeface="Arial"/>
                        </a:rPr>
                        <m:t>−2</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𝐼</m:t>
                          </m:r>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𝐾𝐻</m:t>
                          </m:r>
                        </m:e>
                      </m:d>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+2</m:t>
                      </m:r>
                      <m:r>
                        <a:rPr lang="en-US" sz="2150" i="1" dirty="0" smtClean="0">
                          <a:latin typeface="Cambria Math" panose="02040503050406030204" pitchFamily="18" charset="0"/>
                          <a:ea typeface="Arial"/>
                          <a:cs typeface="Arial"/>
                          <a:sym typeface="Arial"/>
                        </a:rPr>
                        <m:t>𝐾𝑅</m:t>
                      </m:r>
                      <m:r>
                        <a:rPr lang="en-US" sz="2150" i="1" dirty="0" smtClean="0">
                          <a:latin typeface="Cambria Math" panose="02040503050406030204" pitchFamily="18" charset="0"/>
                          <a:ea typeface="Arial"/>
                          <a:cs typeface="Arial"/>
                          <a:sym typeface="Arial"/>
                        </a:rPr>
                        <m:t>=0</m:t>
                      </m:r>
                    </m:oMath>
                  </m:oMathPara>
                </a14:m>
                <a:endParaRPr lang="en-US" sz="2150" dirty="0">
                  <a:latin typeface="Atkinson Hyperlegible Next"/>
                  <a:ea typeface="Arial"/>
                  <a:cs typeface="Arial"/>
                  <a:sym typeface="Arial"/>
                </a:endParaRP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Divide by 2, expand, and isolate the </a:t>
                </a:r>
                <a14:m>
                  <m:oMath xmlns:m="http://schemas.openxmlformats.org/officeDocument/2006/math">
                    <m:r>
                      <a:rPr lang="en-US" sz="2150" i="1" dirty="0">
                        <a:latin typeface="Cambria Math" panose="02040503050406030204" pitchFamily="18" charset="0"/>
                        <a:ea typeface="Arial"/>
                        <a:cs typeface="Arial"/>
                        <a:sym typeface="Arial"/>
                      </a:rPr>
                      <m:t>𝐾</m:t>
                    </m:r>
                  </m:oMath>
                </a14:m>
                <a:r>
                  <a:rPr lang="en-US" sz="2150" dirty="0">
                    <a:latin typeface="Atkinson Hyperlegible Next"/>
                    <a:ea typeface="Arial"/>
                    <a:cs typeface="Arial"/>
                    <a:sym typeface="Arial"/>
                  </a:rPr>
                  <a:t> terms:</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𝐾</m:t>
                    </m:r>
                    <m:d>
                      <m:dPr>
                        <m:ctrlPr>
                          <a:rPr lang="en-US" sz="2150" i="1" dirty="0" smtClean="0">
                            <a:latin typeface="Cambria Math" panose="02040503050406030204" pitchFamily="18" charset="0"/>
                            <a:ea typeface="Arial"/>
                            <a:cs typeface="Arial"/>
                            <a:sym typeface="Arial"/>
                          </a:rPr>
                        </m:ctrlPr>
                      </m:dPr>
                      <m:e>
                        <m:r>
                          <a:rPr lang="en-US" sz="2150" i="1" dirty="0" smtClean="0">
                            <a:latin typeface="Cambria Math" panose="02040503050406030204" pitchFamily="18" charset="0"/>
                            <a:ea typeface="Arial"/>
                            <a:cs typeface="Arial"/>
                            <a:sym typeface="Arial"/>
                          </a:rPr>
                          <m:t>𝐻</m:t>
                        </m:r>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m:t>
                            </m:r>
                            <m:r>
                              <a:rPr lang="en-US" sz="2150" b="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r>
                          <a:rPr lang="en-US" sz="2150" i="1" dirty="0" smtClean="0">
                            <a:latin typeface="Cambria Math" panose="02040503050406030204" pitchFamily="18" charset="0"/>
                            <a:ea typeface="Arial"/>
                            <a:cs typeface="Arial"/>
                            <a:sym typeface="Arial"/>
                          </a:rPr>
                          <m:t>+</m:t>
                        </m:r>
                        <m:r>
                          <a:rPr lang="en-US" sz="2150" i="1" dirty="0" smtClean="0">
                            <a:latin typeface="Cambria Math" panose="02040503050406030204" pitchFamily="18" charset="0"/>
                            <a:ea typeface="Arial"/>
                            <a:cs typeface="Arial"/>
                            <a:sym typeface="Arial"/>
                          </a:rPr>
                          <m:t>𝑅</m:t>
                        </m:r>
                      </m:e>
                    </m:d>
                  </m:oMath>
                </a14:m>
                <a:r>
                  <a:rPr lang="en-US" sz="2150" dirty="0">
                    <a:latin typeface="Atkinson Hyperlegible Next"/>
                    <a:ea typeface="Arial"/>
                    <a:cs typeface="Arial"/>
                    <a:sym typeface="Arial"/>
                  </a:rPr>
                  <a:t>There it is! </a:t>
                </a:r>
              </a:p>
              <a:p>
                <a:pPr marL="0" indent="0">
                  <a:lnSpc>
                    <a:spcPct val="100000"/>
                  </a:lnSpc>
                  <a:spcBef>
                    <a:spcPts val="0"/>
                  </a:spcBef>
                  <a:buSzPts val="3000"/>
                  <a:buNone/>
                </a:pPr>
                <a:endParaRPr lang="en-US" sz="2150" dirty="0">
                  <a:latin typeface="Atkinson Hyperlegible Next"/>
                  <a:ea typeface="Arial"/>
                  <a:cs typeface="Arial"/>
                  <a:sym typeface="Arial"/>
                </a:endParaRPr>
              </a:p>
              <a:p>
                <a:pPr marL="0" indent="0">
                  <a:lnSpc>
                    <a:spcPct val="100000"/>
                  </a:lnSpc>
                  <a:spcBef>
                    <a:spcPts val="0"/>
                  </a:spcBef>
                  <a:buSzPts val="3000"/>
                  <a:buNone/>
                </a:pPr>
                <a:r>
                  <a:rPr lang="en-US" sz="2150" dirty="0">
                    <a:latin typeface="Atkinson Hyperlegible Next"/>
                    <a:ea typeface="Arial"/>
                    <a:cs typeface="Arial"/>
                    <a:sym typeface="Arial"/>
                  </a:rPr>
                  <a:t>The </a:t>
                </a:r>
                <a14:m>
                  <m:oMath xmlns:m="http://schemas.openxmlformats.org/officeDocument/2006/math">
                    <m:sSub>
                      <m:sSubPr>
                        <m:ctrlPr>
                          <a:rPr lang="en-US" sz="2150" i="1" dirty="0" smtClean="0">
                            <a:latin typeface="Cambria Math" panose="02040503050406030204" pitchFamily="18" charset="0"/>
                            <a:ea typeface="Arial"/>
                            <a:cs typeface="Arial"/>
                            <a:sym typeface="Arial"/>
                          </a:rPr>
                        </m:ctrlPr>
                      </m:sSubPr>
                      <m:e>
                        <m:r>
                          <a:rPr lang="en-US" sz="2150" i="1" dirty="0" smtClean="0">
                            <a:latin typeface="Cambria Math" panose="02040503050406030204" pitchFamily="18" charset="0"/>
                            <a:ea typeface="Arial"/>
                            <a:cs typeface="Arial"/>
                            <a:sym typeface="Arial"/>
                          </a:rPr>
                          <m:t>𝑃</m:t>
                        </m:r>
                      </m:e>
                      <m:sub>
                        <m:r>
                          <a:rPr lang="en-US" sz="2150" i="1" dirty="0" smtClean="0">
                            <a:latin typeface="Cambria Math" panose="02040503050406030204" pitchFamily="18" charset="0"/>
                            <a:ea typeface="Arial"/>
                            <a:cs typeface="Arial"/>
                            <a:sym typeface="Arial"/>
                          </a:rPr>
                          <m:t>𝑘𝑘</m:t>
                        </m:r>
                        <m:r>
                          <a:rPr lang="en-US" sz="2150" i="1" dirty="0" smtClean="0">
                            <a:latin typeface="Cambria Math" panose="02040503050406030204" pitchFamily="18" charset="0"/>
                            <a:ea typeface="Arial"/>
                            <a:cs typeface="Arial"/>
                            <a:sym typeface="Arial"/>
                          </a:rPr>
                          <m:t>−1</m:t>
                        </m:r>
                      </m:sub>
                    </m:sSub>
                    <m:sSup>
                      <m:sSupPr>
                        <m:ctrlPr>
                          <a:rPr lang="en-US" sz="2150" i="1" dirty="0" smtClean="0">
                            <a:latin typeface="Cambria Math" panose="02040503050406030204" pitchFamily="18" charset="0"/>
                            <a:ea typeface="Arial"/>
                            <a:cs typeface="Arial"/>
                            <a:sym typeface="Arial"/>
                          </a:rPr>
                        </m:ctrlPr>
                      </m:sSupPr>
                      <m:e>
                        <m:r>
                          <a:rPr lang="en-US" sz="2150" i="1" dirty="0" smtClean="0">
                            <a:latin typeface="Cambria Math" panose="02040503050406030204" pitchFamily="18" charset="0"/>
                            <a:ea typeface="Arial"/>
                            <a:cs typeface="Arial"/>
                            <a:sym typeface="Arial"/>
                          </a:rPr>
                          <m:t>𝐻</m:t>
                        </m:r>
                      </m:e>
                      <m:sup>
                        <m:r>
                          <a:rPr lang="en-US" sz="2150" i="1" dirty="0" smtClean="0">
                            <a:latin typeface="Cambria Math" panose="02040503050406030204" pitchFamily="18" charset="0"/>
                            <a:ea typeface="Arial"/>
                            <a:cs typeface="Arial"/>
                            <a:sym typeface="Arial"/>
                          </a:rPr>
                          <m:t>𝑇</m:t>
                        </m:r>
                      </m:sup>
                    </m:sSup>
                  </m:oMath>
                </a14:m>
                <a:r>
                  <a:rPr lang="en-US" sz="2150" dirty="0">
                    <a:latin typeface="Atkinson Hyperlegible Next"/>
                    <a:ea typeface="Arial"/>
                    <a:cs typeface="Arial"/>
                    <a:sym typeface="Arial"/>
                  </a:rPr>
                  <a:t> term emerges naturally from taking the derivative of the covariance. It represents the </a:t>
                </a:r>
                <a:r>
                  <a:rPr lang="en-US" sz="2150" b="1" dirty="0">
                    <a:latin typeface="Atkinson Hyperlegible Next"/>
                    <a:ea typeface="Arial"/>
                    <a:cs typeface="Arial"/>
                    <a:sym typeface="Arial"/>
                  </a:rPr>
                  <a:t>cross-covariance between our state error and our measurement error</a:t>
                </a:r>
                <a:r>
                  <a:rPr lang="en-US" sz="215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F8A9E61C-2F42-AEF4-3176-98850536911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334F522-4643-14F4-40CD-3876D6F8E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BA39E3F-275A-9D5A-BAF7-969391E06A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463C07-97D1-F686-C908-D359966E2A7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EFED57-9E8C-E1FD-8861-00B323B6D1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DF72137-5126-93C6-E270-25A121D442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979EE7-0796-C8F0-58DB-1231933D5B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E6B8F8-70F8-25FB-D30E-8A9B2EF7DB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F958F1-4751-B84B-8E83-9B51E49369E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879662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38B4C8-D79A-D713-1B78-6F3A9859EE5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F6FFA1A-E340-999C-1653-305525CBB6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Now we have our optimal </a:t>
                </a:r>
                <a14:m>
                  <m:oMath xmlns:m="http://schemas.openxmlformats.org/officeDocument/2006/math">
                    <m:r>
                      <a:rPr lang="en-US" sz="2300" i="1" dirty="0" smtClean="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But calculating the massive Joseph Form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sSup>
                        <m:sSupPr>
                          <m:ctrlPr>
                            <a:rPr lang="en-US" sz="2300" i="1" dirty="0" smtClean="0">
                              <a:latin typeface="Cambria Math" panose="02040503050406030204" pitchFamily="18" charset="0"/>
                              <a:ea typeface="Arial"/>
                              <a:cs typeface="Arial"/>
                              <a:sym typeface="Arial"/>
                            </a:rPr>
                          </m:ctrlPr>
                        </m:sSupPr>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𝐾𝑅</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𝐾</m:t>
                          </m:r>
                        </m:e>
                        <m:sup>
                          <m:r>
                            <a:rPr lang="en-US" sz="2300" i="1" dirty="0" smtClean="0">
                              <a:latin typeface="Cambria Math" panose="02040503050406030204" pitchFamily="18" charset="0"/>
                              <a:ea typeface="Arial"/>
                              <a:cs typeface="Arial"/>
                              <a:sym typeface="Arial"/>
                            </a:rPr>
                            <m:t>𝑇</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takes too much processing power on a microcontroller. Let's substitute our newly derived optimal </a:t>
                </a:r>
                <a14:m>
                  <m:oMath xmlns:m="http://schemas.openxmlformats.org/officeDocument/2006/math">
                    <m:r>
                      <a:rPr lang="en-US" sz="2300" i="1" dirty="0">
                        <a:latin typeface="Cambria Math" panose="02040503050406030204" pitchFamily="18" charset="0"/>
                        <a:ea typeface="Arial"/>
                        <a:cs typeface="Arial"/>
                        <a:sym typeface="Arial"/>
                      </a:rPr>
                      <m:t>𝐾</m:t>
                    </m:r>
                  </m:oMath>
                </a14:m>
                <a:r>
                  <a:rPr lang="en-US" sz="2300" dirty="0">
                    <a:latin typeface="Atkinson Hyperlegible Next"/>
                    <a:ea typeface="Arial"/>
                    <a:cs typeface="Arial"/>
                    <a:sym typeface="Arial"/>
                  </a:rPr>
                  <a:t> back into the Joseph Form.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Because </a:t>
                </a:r>
                <a14:m>
                  <m:oMath xmlns:m="http://schemas.openxmlformats.org/officeDocument/2006/math">
                    <m:r>
                      <a:rPr lang="en-US" sz="2300" i="1" dirty="0" smtClean="0">
                        <a:latin typeface="Cambria Math" panose="02040503050406030204" pitchFamily="18" charset="0"/>
                        <a:ea typeface="Arial"/>
                        <a:cs typeface="Arial"/>
                        <a:sym typeface="Arial"/>
                      </a:rPr>
                      <m:t>𝐾</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𝐻𝑃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𝑅</m:t>
                        </m:r>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𝑃</m:t>
                    </m:r>
                    <m:sSup>
                      <m:sSupPr>
                        <m:ctrlPr>
                          <a:rPr lang="en-US" sz="2300" i="1" dirty="0" smtClean="0">
                            <a:latin typeface="Cambria Math" panose="02040503050406030204" pitchFamily="18" charset="0"/>
                            <a:ea typeface="Arial"/>
                            <a:cs typeface="Arial"/>
                            <a:sym typeface="Arial"/>
                          </a:rPr>
                        </m:ctrlPr>
                      </m:sSupPr>
                      <m:e>
                        <m:r>
                          <a:rPr lang="en-US" sz="2300" i="1" dirty="0" smtClean="0">
                            <a:latin typeface="Cambria Math" panose="02040503050406030204" pitchFamily="18" charset="0"/>
                            <a:ea typeface="Arial"/>
                            <a:cs typeface="Arial"/>
                            <a:sym typeface="Arial"/>
                          </a:rPr>
                          <m:t>𝐻</m:t>
                        </m:r>
                      </m:e>
                      <m:sup>
                        <m:r>
                          <a:rPr lang="en-US" sz="2300" i="1" dirty="0"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 massive sections of the Joseph equation perfectly cancel each other out.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equation collapses into the short form:</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err="1"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err="1" smtClean="0">
                              <a:latin typeface="Cambria Math" panose="02040503050406030204" pitchFamily="18" charset="0"/>
                              <a:ea typeface="Arial"/>
                              <a:cs typeface="Arial"/>
                              <a:sym typeface="Arial"/>
                            </a:rPr>
                            <m:t>𝑘</m:t>
                          </m:r>
                        </m:sub>
                      </m:sSub>
                      <m:r>
                        <a:rPr lang="en-US" sz="2300" i="1" dirty="0" smtClean="0">
                          <a:latin typeface="Cambria Math" panose="02040503050406030204" pitchFamily="18" charset="0"/>
                          <a:ea typeface="Arial"/>
                          <a:cs typeface="Arial"/>
                          <a:sym typeface="Arial"/>
                        </a:rPr>
                        <m:t>=</m:t>
                      </m:r>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𝐼</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𝐾𝐻</m:t>
                          </m:r>
                        </m:e>
                      </m:d>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𝑃</m:t>
                          </m:r>
                        </m:e>
                        <m:sub>
                          <m:r>
                            <a:rPr lang="en-US" sz="2300" i="1" dirty="0" smtClean="0">
                              <a:latin typeface="Cambria Math" panose="02040503050406030204" pitchFamily="18" charset="0"/>
                              <a:ea typeface="Arial"/>
                              <a:cs typeface="Arial"/>
                              <a:sym typeface="Arial"/>
                            </a:rPr>
                            <m:t>𝑘</m:t>
                          </m:r>
                          <m:r>
                            <a:rPr lang="en-US" sz="2300" b="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𝑘</m:t>
                          </m:r>
                          <m:r>
                            <a:rPr lang="en-US" sz="2300" i="1" dirty="0" smtClean="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F6FFA1A-E340-999C-1653-305525CBB6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6C7794-B025-0D31-D258-6877AFE322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02B0EF-FB34-256A-7FDB-707F03FFC9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Sensor Fusion – Predict Step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0DD414-82B2-1121-FBAF-EE81108B030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4B7E33-9CB7-C541-8BC3-3CA8FB9F83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622B32-7B1B-05FF-18EE-8BF63AF994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98CBE1-BC35-8A5E-7602-4D40421766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D99734A-2E5D-DA57-6F9B-7109CAAD61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BCA8FC-AC9A-7B0A-7F36-D3E7C04E73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8826701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32FBD52E-76F9-4322-FCE1-7B1E06BAC75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0AA8EC63-4360-B126-CF2C-E4E3DA9041ED}"/>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Kalman Filter Example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5963495D-0245-29D1-BAE9-9FCFABC4599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3B1CA421-4148-F26B-197E-47407E764F5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E34D3D9-AB86-4C33-D085-8DF6C49E608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E434C9A5-3942-5734-5288-5904455960A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78CDB3B-DC31-70AF-2362-A90E9320C3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35470888-80F5-094E-A1E2-4258EBA55CC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8DFECE-ABEA-1B03-DCD0-793D05FA2B1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B236CA14-8EC5-5DBF-D8B4-E06A42968B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F42E1642-6321-67BB-95BC-85F8C4BC405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708263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3C30CD-1B65-20F2-E066-1245C808E0E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F6F4D47-DAB0-24EB-3A0C-0D22555571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200000"/>
              </a:lnSpc>
              <a:spcBef>
                <a:spcPts val="0"/>
              </a:spcBef>
              <a:buSzPts val="3000"/>
            </a:pPr>
            <a:r>
              <a:rPr lang="en-US" sz="2400" dirty="0">
                <a:solidFill>
                  <a:schemeClr val="dk1"/>
                </a:solidFill>
                <a:latin typeface="Atkinson Hyperlegible Next"/>
                <a:ea typeface="Arial"/>
                <a:cs typeface="Arial"/>
                <a:sym typeface="Arial"/>
              </a:rPr>
              <a:t>The Kalman Filter works as a 2 steps process, what are they called?</a:t>
            </a:r>
          </a:p>
          <a:p>
            <a:pPr marL="285750" indent="-285750">
              <a:lnSpc>
                <a:spcPct val="200000"/>
              </a:lnSpc>
              <a:spcBef>
                <a:spcPts val="0"/>
              </a:spcBef>
              <a:buSzPts val="3000"/>
            </a:pPr>
            <a:r>
              <a:rPr lang="en-US" sz="2400" dirty="0">
                <a:latin typeface="Atkinson Hyperlegible Next"/>
                <a:ea typeface="Arial"/>
                <a:cs typeface="Arial"/>
                <a:sym typeface="Arial"/>
              </a:rPr>
              <a:t>What are the conditions on the sensor / process noise?</a:t>
            </a:r>
          </a:p>
          <a:p>
            <a:pPr marL="285750" indent="-285750">
              <a:lnSpc>
                <a:spcPct val="200000"/>
              </a:lnSpc>
              <a:spcBef>
                <a:spcPts val="0"/>
              </a:spcBef>
              <a:buSzPts val="3000"/>
            </a:pPr>
            <a:r>
              <a:rPr lang="en-US" sz="2400" dirty="0">
                <a:solidFill>
                  <a:schemeClr val="dk1"/>
                </a:solidFill>
                <a:latin typeface="Atkinson Hyperlegible Next"/>
                <a:ea typeface="Arial"/>
                <a:cs typeface="Arial"/>
                <a:sym typeface="Arial"/>
              </a:rPr>
              <a:t>What are the conditions imposed on the state transition of the system?</a:t>
            </a: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E2EF820-4A0A-FC19-5F69-A7B8D060C9B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651D24-31BE-1EB0-3B75-F1BF79E9E06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7226CD-1562-0B62-C3E3-F4B3978E461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DD2DC3-5265-145A-EE6C-7CC65F31D7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5C4AB5B-1743-835A-E06C-123AF5F326E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7184F-4745-FCC6-45BB-7D010FF913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6C39536-5BA7-38DE-F091-D1926C84E4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4AFB19-ED94-969C-7541-DA079609E6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1702816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B026BE-5D94-22CB-B4EE-63B261AF76D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3ED04D-7E89-264D-0AD8-019C05FAFC7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Up to this point, we have looked at a lot of theoretical matrices: </a:t>
                </a:r>
                <a14:m>
                  <m:oMath xmlns:m="http://schemas.openxmlformats.org/officeDocument/2006/math">
                    <m:r>
                      <a:rPr lang="pt-BR" sz="2300" i="1" dirty="0" smtClean="0">
                        <a:latin typeface="Cambria Math" panose="02040503050406030204" pitchFamily="18" charset="0"/>
                        <a:ea typeface="Arial"/>
                        <a:cs typeface="Arial"/>
                        <a:sym typeface="Arial"/>
                      </a:rPr>
                      <m:t>𝐹</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𝐻</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𝑃</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𝑄</m:t>
                    </m:r>
                    <m:r>
                      <a:rPr lang="pt-BR" sz="2300" i="1" dirty="0" smtClean="0">
                        <a:latin typeface="Cambria Math" panose="02040503050406030204" pitchFamily="18" charset="0"/>
                        <a:ea typeface="Arial"/>
                        <a:cs typeface="Arial"/>
                        <a:sym typeface="Arial"/>
                      </a:rPr>
                      <m:t>, </m:t>
                    </m:r>
                    <m:r>
                      <a:rPr lang="pt-BR" sz="2300" i="1" dirty="0" smtClean="0">
                        <a:latin typeface="Cambria Math" panose="02040503050406030204" pitchFamily="18" charset="0"/>
                        <a:ea typeface="Arial"/>
                        <a:cs typeface="Arial"/>
                        <a:sym typeface="Arial"/>
                      </a:rPr>
                      <m:t>𝑅</m:t>
                    </m:r>
                  </m:oMath>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But that is always difficult to understand. We will build a complete, multi-dimensional Kalman Filter from scratch for a simple robotic system!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Let’s go back to our previous autonomous train example from before!</a:t>
                </a:r>
              </a:p>
            </p:txBody>
          </p:sp>
        </mc:Choice>
        <mc:Fallback xmlns="">
          <p:sp>
            <p:nvSpPr>
              <p:cNvPr id="118" name="Google Shape;118;p29">
                <a:extLst>
                  <a:ext uri="{FF2B5EF4-FFF2-40B4-BE49-F238E27FC236}">
                    <a16:creationId xmlns:a16="http://schemas.microsoft.com/office/drawing/2014/main" id="{0E3ED04D-7E89-264D-0AD8-019C05FAFC7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A8C9263-8CA8-4F4A-2792-7EC1250391E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1BE017B-A888-BB83-AB6A-78F80CFEA7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0E02E32-5B4B-0415-5D3A-421C81FFFD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4339AA2-699F-3D16-F402-1E23D136538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1F0B2B-1522-0FBB-4340-2670D883644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6DC924-F250-8380-548F-AA1662D931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9E9323-E056-B25A-6C9D-C939925DA75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A5FF2C-7E8F-8794-F3E2-54FD21224A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18098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04601C3-8FEC-ABFB-97FE-32E9FA7D0F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8BE9A57-F1F4-2282-FF6E-A2FA834B753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Imagine a simple robot constrained to a 1D track (like a train). It can move forward and backward, but it cannot steer.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want to track both its </a:t>
                </a:r>
                <a:r>
                  <a:rPr lang="en-US" sz="2300" b="1" dirty="0">
                    <a:latin typeface="Atkinson Hyperlegible Next"/>
                    <a:ea typeface="Arial"/>
                    <a:cs typeface="Arial"/>
                    <a:sym typeface="Arial"/>
                  </a:rPr>
                  <a:t>Position</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𝑝</m:t>
                    </m:r>
                  </m:oMath>
                </a14:m>
                <a:r>
                  <a:rPr lang="en-US" sz="2300" dirty="0">
                    <a:latin typeface="Atkinson Hyperlegible Next"/>
                    <a:ea typeface="Arial"/>
                    <a:cs typeface="Arial"/>
                    <a:sym typeface="Arial"/>
                  </a:rPr>
                  <a:t>) and its </a:t>
                </a:r>
                <a:r>
                  <a:rPr lang="en-US" sz="2300" b="1" dirty="0">
                    <a:latin typeface="Atkinson Hyperlegible Next"/>
                    <a:ea typeface="Arial"/>
                    <a:cs typeface="Arial"/>
                    <a:sym typeface="Arial"/>
                  </a:rPr>
                  <a:t>Velocity</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𝑣</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would our state be?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Our State Vector (</a:t>
                </a:r>
                <a14:m>
                  <m:oMath xmlns:m="http://schemas.openxmlformats.org/officeDocument/2006/math">
                    <m:r>
                      <a:rPr lang="en-US" sz="2300" i="1" dirty="0" smtClean="0">
                        <a:latin typeface="Cambria Math" panose="02040503050406030204" pitchFamily="18" charset="0"/>
                        <a:ea typeface="Arial"/>
                        <a:cs typeface="Arial"/>
                        <a:sym typeface="Arial"/>
                      </a:rPr>
                      <m:t>𝑥</m:t>
                    </m:r>
                  </m:oMath>
                </a14:m>
                <a:r>
                  <a:rPr lang="en-US" sz="2300" dirty="0">
                    <a:latin typeface="Atkinson Hyperlegible Next"/>
                    <a:ea typeface="Arial"/>
                    <a:cs typeface="Arial"/>
                    <a:sym typeface="Arial"/>
                  </a:rPr>
                  <a:t>) is now a 2x1 column matrix:</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𝑝</m:t>
                                </m:r>
                              </m:e>
                            </m:mr>
                            <m:mr>
                              <m:e>
                                <m:r>
                                  <a:rPr lang="en-US" sz="2300" i="1" dirty="0" smtClean="0">
                                    <a:latin typeface="Cambria Math" panose="02040503050406030204" pitchFamily="18" charset="0"/>
                                    <a:ea typeface="Arial"/>
                                    <a:cs typeface="Arial"/>
                                    <a:sym typeface="Arial"/>
                                  </a:rPr>
                                  <m:t>𝑣</m:t>
                                </m:r>
                              </m:e>
                            </m:mr>
                          </m:m>
                        </m:e>
                      </m:d>
                    </m:oMath>
                  </m:oMathPara>
                </a14:m>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8BE9A57-F1F4-2282-FF6E-A2FA834B753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5B1EA85-EE60-FCDC-6BC5-ECF5FA08F5B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CAA2DA-153C-54DD-1F10-1BB1BC2BC40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955BB5A-57B9-49FC-5FFB-6F4B89621BD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F6D3AC-0205-DFC9-992C-732891A7A7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2C4F8F-AF67-B2E5-A4DA-D38681C309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689C9-1D28-7E50-8BBF-9DE99A34E04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7B4831-7AFB-E22C-BD2C-AF2034193ED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0B8FC6A-5535-A496-D1EF-ACB77388662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23027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78A0BF-2AC9-DA99-F4E2-9C8392E1907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BC2FDFE-E16B-633D-6B11-D85E4B5FF1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predict the future state, we need basic kinematic equations.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our time step is </a:t>
                </a:r>
                <a14:m>
                  <m:oMath xmlns:m="http://schemas.openxmlformats.org/officeDocument/2006/math">
                    <m:r>
                      <m:rPr>
                        <m:sty m:val="p"/>
                      </m:rPr>
                      <a:rPr lang="en-US" sz="2300" i="0" dirty="0" smtClean="0">
                        <a:latin typeface="Cambria Math" panose="02040503050406030204" pitchFamily="18" charset="0"/>
                        <a:ea typeface="Arial"/>
                        <a:cs typeface="Arial"/>
                        <a:sym typeface="Arial"/>
                      </a:rPr>
                      <m:t>Δ</m:t>
                    </m:r>
                    <m:r>
                      <a:rPr lang="en-US" sz="2300" i="1" dirty="0" smtClean="0">
                        <a:latin typeface="Cambria Math" panose="02040503050406030204" pitchFamily="18" charset="0"/>
                        <a:ea typeface="Arial"/>
                        <a:cs typeface="Arial"/>
                        <a:sym typeface="Arial"/>
                      </a:rPr>
                      <m:t>𝑡</m:t>
                    </m:r>
                  </m:oMath>
                </a14:m>
                <a:r>
                  <a:rPr lang="en-US" sz="2300" dirty="0">
                    <a:latin typeface="Atkinson Hyperlegible Next"/>
                    <a:ea typeface="Arial"/>
                    <a:cs typeface="Arial"/>
                    <a:sym typeface="Arial"/>
                  </a:rPr>
                  <a:t>, the new position is the old position plus velocity times time: </a:t>
                </a:r>
              </a:p>
              <a:p>
                <a:pPr marL="0" indent="0">
                  <a:lnSpc>
                    <a:spcPct val="100000"/>
                  </a:lnSpc>
                  <a:spcBef>
                    <a:spcPts val="0"/>
                  </a:spcBef>
                  <a:buSzPts val="3000"/>
                  <a:buNone/>
                </a:pPr>
                <a:endParaRPr lang="en-US" sz="2300" i="1"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r>
                        <m:rPr>
                          <m:sty m:val="p"/>
                        </m:rPr>
                        <a:rPr lang="en-US" sz="2300" i="0" dirty="0" smtClean="0">
                          <a:latin typeface="Cambria Math" panose="02040503050406030204" pitchFamily="18" charset="0"/>
                          <a:ea typeface="Arial"/>
                          <a:cs typeface="Arial"/>
                          <a:sym typeface="Arial"/>
                        </a:rPr>
                        <m:t>Δ</m:t>
                      </m:r>
                      <m:r>
                        <a:rPr lang="en-US" sz="2300" i="1" dirty="0" err="1" smtClean="0">
                          <a:latin typeface="Cambria Math" panose="02040503050406030204" pitchFamily="18" charset="0"/>
                          <a:ea typeface="Arial"/>
                          <a:cs typeface="Arial"/>
                          <a:sym typeface="Arial"/>
                        </a:rPr>
                        <m:t>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Assuming a constant velocity model (for simplicity), the new velocity is just the old velocity: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BC2FDFE-E16B-633D-6B11-D85E4B5FF1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3187D44-F9A8-06D7-31B4-576D77050A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AF4FD37-8860-786D-08CB-751FD295740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2F28082-BDB5-0419-0597-E252CB8302F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D68CB41-38DC-26F1-0128-C7FCE60013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6A44FA-42E4-2351-F584-C7162C271E3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8C7CD3-8FE6-4CED-E5C8-A619C57A409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1A616-E83A-1151-8BF3-AAE1001A9B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984D50-71CC-FA64-5898-D2D0CB81286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2116535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1F25B5-EA70-4405-BB65-F43BB2FB31E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0186B73-C17C-6F27-FB18-1EFF5DD99D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𝑝</m:t>
                          </m:r>
                        </m:e>
                        <m:sub>
                          <m:r>
                            <a:rPr lang="en-US" sz="2300" i="1" dirty="0">
                              <a:latin typeface="Cambria Math" panose="02040503050406030204" pitchFamily="18" charset="0"/>
                              <a:ea typeface="Arial"/>
                              <a:cs typeface="Arial"/>
                              <a:sym typeface="Arial"/>
                            </a:rPr>
                            <m:t>𝑛𝑒𝑤</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𝑝</m:t>
                          </m:r>
                        </m:e>
                        <m:sub>
                          <m:r>
                            <a:rPr lang="en-US" sz="2300" i="1" dirty="0">
                              <a:latin typeface="Cambria Math" panose="02040503050406030204" pitchFamily="18" charset="0"/>
                              <a:ea typeface="Arial"/>
                              <a:cs typeface="Arial"/>
                              <a:sym typeface="Arial"/>
                            </a:rPr>
                            <m:t>𝑜𝑙𝑑</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𝑜𝑙𝑑</m:t>
                          </m:r>
                        </m:sub>
                      </m:sSub>
                      <m:r>
                        <m:rPr>
                          <m:sty m:val="p"/>
                        </m:rPr>
                        <a:rPr lang="en-US" sz="2300" dirty="0">
                          <a:latin typeface="Cambria Math" panose="02040503050406030204" pitchFamily="18" charset="0"/>
                          <a:ea typeface="Arial"/>
                          <a:cs typeface="Arial"/>
                          <a:sym typeface="Arial"/>
                        </a:rPr>
                        <m:t>Δ</m:t>
                      </m:r>
                      <m:r>
                        <a:rPr lang="en-US" sz="2300" i="1" dirty="0" err="1">
                          <a:latin typeface="Cambria Math" panose="02040503050406030204" pitchFamily="18" charset="0"/>
                          <a:ea typeface="Arial"/>
                          <a:cs typeface="Arial"/>
                          <a:sym typeface="Arial"/>
                        </a:rPr>
                        <m:t>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𝑛𝑒𝑤</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𝑣</m:t>
                          </m:r>
                        </m:e>
                        <m:sub>
                          <m:r>
                            <a:rPr lang="en-US" sz="2300" i="1" dirty="0">
                              <a:latin typeface="Cambria Math" panose="02040503050406030204" pitchFamily="18" charset="0"/>
                              <a:ea typeface="Arial"/>
                              <a:cs typeface="Arial"/>
                              <a:sym typeface="Arial"/>
                            </a:rPr>
                            <m:t>𝑜𝑙𝑑</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format this into our State Transition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𝑛𝑒𝑤</m:t>
                                    </m:r>
                                  </m:sub>
                                </m:sSub>
                              </m:e>
                            </m:m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𝑛𝑒𝑤</m:t>
                                    </m:r>
                                  </m:sub>
                                </m:sSub>
                              </m:e>
                            </m:mr>
                          </m:m>
                        </m:e>
                      </m:d>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1</m:t>
                                </m:r>
                              </m:e>
                              <m:e>
                                <m:r>
                                  <m:rPr>
                                    <m:sty m:val="p"/>
                                  </m:rPr>
                                  <a:rPr lang="en-US" sz="2300" i="0" dirty="0" smtClean="0">
                                    <a:latin typeface="Cambria Math" panose="02040503050406030204" pitchFamily="18" charset="0"/>
                                    <a:ea typeface="Arial"/>
                                    <a:cs typeface="Arial"/>
                                    <a:sym typeface="Arial"/>
                                  </a:rPr>
                                  <m:t>Δ</m:t>
                                </m:r>
                                <m:r>
                                  <a:rPr lang="en-US" sz="2300" i="1" dirty="0" smtClean="0">
                                    <a:latin typeface="Cambria Math" panose="02040503050406030204" pitchFamily="18" charset="0"/>
                                    <a:ea typeface="Arial"/>
                                    <a:cs typeface="Arial"/>
                                    <a:sym typeface="Arial"/>
                                  </a:rPr>
                                  <m:t>𝑡</m:t>
                                </m:r>
                              </m:e>
                            </m:mr>
                            <m:mr>
                              <m:e>
                                <m:r>
                                  <a:rPr lang="en-US" sz="2300" i="1" dirty="0" smtClean="0">
                                    <a:latin typeface="Cambria Math" panose="02040503050406030204" pitchFamily="18" charset="0"/>
                                    <a:ea typeface="Arial"/>
                                    <a:cs typeface="Arial"/>
                                    <a:sym typeface="Arial"/>
                                  </a:rPr>
                                  <m:t>0</m:t>
                                </m:r>
                              </m:e>
                              <m:e>
                                <m:r>
                                  <a:rPr lang="en-US" sz="2300" i="1" dirty="0" smtClean="0">
                                    <a:latin typeface="Cambria Math" panose="02040503050406030204" pitchFamily="18" charset="0"/>
                                    <a:ea typeface="Arial"/>
                                    <a:cs typeface="Arial"/>
                                    <a:sym typeface="Arial"/>
                                  </a:rPr>
                                  <m:t>1</m:t>
                                </m:r>
                              </m:e>
                            </m:mr>
                          </m:m>
                        </m:e>
                      </m:d>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𝑝</m:t>
                                    </m:r>
                                  </m:e>
                                  <m:sub>
                                    <m:r>
                                      <a:rPr lang="en-US" sz="2300" i="1" dirty="0" smtClean="0">
                                        <a:latin typeface="Cambria Math" panose="02040503050406030204" pitchFamily="18" charset="0"/>
                                        <a:ea typeface="Arial"/>
                                        <a:cs typeface="Arial"/>
                                        <a:sym typeface="Arial"/>
                                      </a:rPr>
                                      <m:t>𝑜𝑙𝑑</m:t>
                                    </m:r>
                                  </m:sub>
                                </m:sSub>
                              </m:e>
                            </m:mr>
                            <m:mr>
                              <m:e>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𝑣</m:t>
                                    </m:r>
                                  </m:e>
                                  <m:sub>
                                    <m:r>
                                      <a:rPr lang="en-US" sz="2300" i="1" dirty="0" smtClean="0">
                                        <a:latin typeface="Cambria Math" panose="02040503050406030204" pitchFamily="18" charset="0"/>
                                        <a:ea typeface="Arial"/>
                                        <a:cs typeface="Arial"/>
                                        <a:sym typeface="Arial"/>
                                      </a:rPr>
                                      <m:t>𝑜𝑙𝑑</m:t>
                                    </m:r>
                                  </m:sub>
                                </m:sSub>
                              </m:e>
                            </m:mr>
                          </m:m>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So now we all the info to place into the </a:t>
                </a:r>
                <a:r>
                  <a:rPr lang="en-US" sz="2300" b="1" dirty="0">
                    <a:latin typeface="Atkinson Hyperlegible Next"/>
                    <a:ea typeface="Arial"/>
                    <a:cs typeface="Arial"/>
                    <a:sym typeface="Arial"/>
                  </a:rPr>
                  <a:t>Predict</a:t>
                </a:r>
                <a:r>
                  <a:rPr lang="en-US" sz="2300" dirty="0">
                    <a:latin typeface="Atkinson Hyperlegible Next"/>
                    <a:ea typeface="Arial"/>
                    <a:cs typeface="Arial"/>
                    <a:sym typeface="Arial"/>
                  </a:rPr>
                  <a:t> step! (Simple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𝑥</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𝐹</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𝑥</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𝐵</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𝑢</m:t>
                          </m:r>
                        </m:e>
                        <m:sub>
                          <m:r>
                            <a:rPr lang="en-US" sz="2300" i="1">
                              <a:latin typeface="Cambria Math" panose="02040503050406030204" pitchFamily="18" charset="0"/>
                              <a:cs typeface="Arial"/>
                              <a:sym typeface="Arial"/>
                            </a:rPr>
                            <m:t>𝑘</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r>
                        <a:rPr lang="en-US" sz="2300" i="1">
                          <a:latin typeface="Cambria Math" panose="02040503050406030204" pitchFamily="18" charset="0"/>
                          <a:cs typeface="Arial"/>
                          <a:sym typeface="Arial"/>
                        </a:rPr>
                        <m:t>=</m:t>
                      </m:r>
                      <m:r>
                        <a:rPr lang="en-US" sz="2300" i="1">
                          <a:latin typeface="Cambria Math" panose="02040503050406030204" pitchFamily="18" charset="0"/>
                          <a:cs typeface="Arial"/>
                          <a:sym typeface="Arial"/>
                        </a:rPr>
                        <m:t>𝐹</m:t>
                      </m:r>
                      <m:sSub>
                        <m:sSubPr>
                          <m:ctrlPr>
                            <a:rPr lang="en-US" sz="2300" i="1">
                              <a:latin typeface="Cambria Math" panose="02040503050406030204" pitchFamily="18" charset="0"/>
                              <a:cs typeface="Arial"/>
                              <a:sym typeface="Arial"/>
                            </a:rPr>
                          </m:ctrlPr>
                        </m:sSubPr>
                        <m:e>
                          <m:r>
                            <a:rPr lang="en-US" sz="2300" i="1">
                              <a:latin typeface="Cambria Math" panose="02040503050406030204" pitchFamily="18" charset="0"/>
                              <a:cs typeface="Arial"/>
                              <a:sym typeface="Arial"/>
                            </a:rPr>
                            <m:t>𝑃</m:t>
                          </m:r>
                        </m:e>
                        <m:sub>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r>
                            <a:rPr lang="en-US" sz="2300" i="1">
                              <a:latin typeface="Cambria Math" panose="02040503050406030204" pitchFamily="18" charset="0"/>
                              <a:cs typeface="Arial"/>
                              <a:sym typeface="Arial"/>
                            </a:rPr>
                            <m:t>𝑘</m:t>
                          </m:r>
                          <m:r>
                            <a:rPr lang="en-US" sz="2300" i="1">
                              <a:latin typeface="Cambria Math" panose="02040503050406030204" pitchFamily="18" charset="0"/>
                              <a:cs typeface="Arial"/>
                              <a:sym typeface="Arial"/>
                            </a:rPr>
                            <m:t>−1</m:t>
                          </m:r>
                        </m:sub>
                      </m:sSub>
                      <m:sSup>
                        <m:sSupPr>
                          <m:ctrlPr>
                            <a:rPr lang="en-US" sz="2300" i="1">
                              <a:latin typeface="Cambria Math" panose="02040503050406030204" pitchFamily="18" charset="0"/>
                              <a:cs typeface="Arial"/>
                              <a:sym typeface="Arial"/>
                            </a:rPr>
                          </m:ctrlPr>
                        </m:sSupPr>
                        <m:e>
                          <m:r>
                            <a:rPr lang="en-US" sz="2300" i="1">
                              <a:latin typeface="Cambria Math" panose="02040503050406030204" pitchFamily="18" charset="0"/>
                              <a:cs typeface="Arial"/>
                              <a:sym typeface="Arial"/>
                            </a:rPr>
                            <m:t>𝐹</m:t>
                          </m:r>
                        </m:e>
                        <m:sup>
                          <m:r>
                            <a:rPr lang="en-US" sz="2300" i="1">
                              <a:latin typeface="Cambria Math" panose="02040503050406030204" pitchFamily="18" charset="0"/>
                              <a:cs typeface="Arial"/>
                              <a:sym typeface="Arial"/>
                            </a:rPr>
                            <m:t>𝑇</m:t>
                          </m:r>
                        </m:sup>
                      </m:sSup>
                      <m:r>
                        <a:rPr lang="en-US" sz="2300" i="1">
                          <a:latin typeface="Cambria Math" panose="02040503050406030204" pitchFamily="18" charset="0"/>
                          <a:cs typeface="Arial"/>
                          <a:sym typeface="Arial"/>
                        </a:rPr>
                        <m:t>+</m:t>
                      </m:r>
                      <m:r>
                        <a:rPr lang="en-US" sz="2300" i="1" smtClean="0">
                          <a:latin typeface="Cambria Math" panose="02040503050406030204" pitchFamily="18" charset="0"/>
                          <a:cs typeface="Arial"/>
                          <a:sym typeface="Arial"/>
                        </a:rPr>
                        <m:t>𝑄</m:t>
                      </m:r>
                    </m:oMath>
                  </m:oMathPara>
                </a14:m>
                <a:endParaRPr lang="en-US" sz="2300" dirty="0">
                  <a:latin typeface="Atkinson Hyperlegible Next"/>
                  <a:cs typeface="Arial"/>
                  <a:sym typeface="Arial"/>
                </a:endParaRPr>
              </a:p>
            </p:txBody>
          </p:sp>
        </mc:Choice>
        <mc:Fallback xmlns="">
          <p:sp>
            <p:nvSpPr>
              <p:cNvPr id="118" name="Google Shape;118;p29">
                <a:extLst>
                  <a:ext uri="{FF2B5EF4-FFF2-40B4-BE49-F238E27FC236}">
                    <a16:creationId xmlns:a16="http://schemas.microsoft.com/office/drawing/2014/main" id="{60186B73-C17C-6F27-FB18-1EFF5DD99D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4534929-C76A-57F9-F95F-AFCF92EEFCC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2CF5E2-2AB4-4662-1E14-B61C25699F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30F54F-5BD5-C96C-32A9-DA4D419893E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5A0DE45-4C3A-3882-D0AD-CE4C616208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E8F1CA5-6E7D-621B-7EFF-47DE6986C6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93AA66-FF89-B663-CE78-5E19114A23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89DB0C-5270-26F3-9E14-1D9ADA710E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BAD30C-208E-61BE-21D5-F5FE7C7A24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38600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493987E-6EE7-89D9-D933-16DCF1256C2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BBA3C79-049A-FC6E-D838-84B975EE6B0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Our train is equipped with a noisy GPS unit.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GPS directly measures </a:t>
                </a:r>
                <a:r>
                  <a:rPr lang="en-US" sz="2300" b="1" dirty="0">
                    <a:latin typeface="Atkinson Hyperlegible Next"/>
                    <a:ea typeface="Arial"/>
                    <a:cs typeface="Arial"/>
                    <a:sym typeface="Arial"/>
                  </a:rPr>
                  <a:t>Position</a:t>
                </a:r>
                <a:r>
                  <a:rPr lang="en-US" sz="2300" dirty="0">
                    <a:latin typeface="Atkinson Hyperlegible Next"/>
                    <a:ea typeface="Arial"/>
                    <a:cs typeface="Arial"/>
                    <a:sym typeface="Arial"/>
                  </a:rPr>
                  <a:t>, but it cannot directly measure </a:t>
                </a:r>
                <a:r>
                  <a:rPr lang="en-US" sz="2300" b="1" dirty="0">
                    <a:latin typeface="Atkinson Hyperlegible Next"/>
                    <a:ea typeface="Arial"/>
                    <a:cs typeface="Arial"/>
                    <a:sym typeface="Arial"/>
                  </a:rPr>
                  <a:t>Velocity</a:t>
                </a:r>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need an </a:t>
                </a:r>
                <a:r>
                  <a:rPr lang="en-US" sz="2300" b="1" dirty="0">
                    <a:latin typeface="Atkinson Hyperlegible Next"/>
                    <a:ea typeface="Arial"/>
                    <a:cs typeface="Arial"/>
                    <a:sym typeface="Arial"/>
                  </a:rPr>
                  <a:t>Observation Matrix</a:t>
                </a:r>
                <a:r>
                  <a:rPr lang="en-US" sz="2300" dirty="0">
                    <a:latin typeface="Atkinson Hyperlegible Next"/>
                    <a:ea typeface="Arial"/>
                    <a:cs typeface="Arial"/>
                    <a:sym typeface="Arial"/>
                  </a:rPr>
                  <a:t> (</a:t>
                </a:r>
                <a14:m>
                  <m:oMath xmlns:m="http://schemas.openxmlformats.org/officeDocument/2006/math">
                    <m:r>
                      <a:rPr lang="en-US" sz="2300" i="1" dirty="0" smtClean="0">
                        <a:latin typeface="Cambria Math" panose="02040503050406030204" pitchFamily="18" charset="0"/>
                        <a:ea typeface="Arial"/>
                        <a:cs typeface="Arial"/>
                        <a:sym typeface="Arial"/>
                      </a:rPr>
                      <m:t>𝐻</m:t>
                    </m:r>
                  </m:oMath>
                </a14:m>
                <a:r>
                  <a:rPr lang="en-US" sz="2300" dirty="0">
                    <a:latin typeface="Atkinson Hyperlegible Next"/>
                    <a:ea typeface="Arial"/>
                    <a:cs typeface="Arial"/>
                    <a:sym typeface="Arial"/>
                  </a:rPr>
                  <a:t>) that extracts only the position from our state vector to compare it with the GPS reading.</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𝑧</m:t>
                          </m:r>
                        </m:e>
                        <m:sub>
                          <m:r>
                            <a:rPr lang="en-US" sz="2300" i="1" dirty="0" smtClean="0">
                              <a:latin typeface="Cambria Math" panose="02040503050406030204" pitchFamily="18" charset="0"/>
                              <a:ea typeface="Arial"/>
                              <a:cs typeface="Arial"/>
                              <a:sym typeface="Arial"/>
                            </a:rPr>
                            <m:t>𝑒𝑥𝑝𝑒𝑐𝑡𝑒𝑑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𝐻𝑥</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1</m:t>
                                </m:r>
                              </m:e>
                              <m:e>
                                <m:r>
                                  <a:rPr lang="en-US" sz="2300" i="1" dirty="0" smtClean="0">
                                    <a:latin typeface="Cambria Math" panose="02040503050406030204" pitchFamily="18" charset="0"/>
                                    <a:ea typeface="Arial"/>
                                    <a:cs typeface="Arial"/>
                                    <a:sym typeface="Arial"/>
                                  </a:rPr>
                                  <m:t>0</m:t>
                                </m:r>
                              </m:e>
                            </m:mr>
                          </m:m>
                        </m:e>
                      </m:d>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300" i="1" dirty="0" smtClean="0">
                                  <a:latin typeface="Cambria Math" panose="02040503050406030204" pitchFamily="18" charset="0"/>
                                  <a:ea typeface="Arial"/>
                                  <a:cs typeface="Arial"/>
                                  <a:sym typeface="Arial"/>
                                </a:rPr>
                              </m:ctrlPr>
                            </m:mPr>
                            <m:mr>
                              <m:e>
                                <m:r>
                                  <a:rPr lang="en-US" sz="2300" i="1" dirty="0" smtClean="0">
                                    <a:latin typeface="Cambria Math" panose="02040503050406030204" pitchFamily="18" charset="0"/>
                                    <a:ea typeface="Arial"/>
                                    <a:cs typeface="Arial"/>
                                    <a:sym typeface="Arial"/>
                                  </a:rPr>
                                  <m:t>𝑝</m:t>
                                </m:r>
                              </m:e>
                            </m:mr>
                            <m:mr>
                              <m:e>
                                <m:r>
                                  <a:rPr lang="en-US" sz="2300" i="1" dirty="0" smtClean="0">
                                    <a:latin typeface="Cambria Math" panose="02040503050406030204" pitchFamily="18" charset="0"/>
                                    <a:ea typeface="Arial"/>
                                    <a:cs typeface="Arial"/>
                                    <a:sym typeface="Arial"/>
                                  </a:rPr>
                                  <m:t>𝑣</m:t>
                                </m:r>
                              </m:e>
                            </m:mr>
                          </m:m>
                        </m:e>
                      </m:d>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𝑝</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making </a:t>
                </a:r>
                <a14:m>
                  <m:oMath xmlns:m="http://schemas.openxmlformats.org/officeDocument/2006/math">
                    <m:r>
                      <a:rPr lang="en-US" sz="2300" i="1" dirty="0" smtClean="0">
                        <a:latin typeface="Cambria Math" panose="02040503050406030204" pitchFamily="18" charset="0"/>
                        <a:ea typeface="Arial"/>
                        <a:cs typeface="Arial"/>
                        <a:sym typeface="Arial"/>
                      </a:rPr>
                      <m:t>𝐻</m:t>
                    </m:r>
                    <m:r>
                      <a:rPr lang="en-US" sz="2300" i="1" dirty="0" smtClean="0">
                        <a:latin typeface="Cambria Math" panose="02040503050406030204" pitchFamily="18" charset="0"/>
                        <a:ea typeface="Arial"/>
                        <a:cs typeface="Arial"/>
                        <a:sym typeface="Arial"/>
                      </a:rPr>
                      <m:t> = [1, 0]</m:t>
                    </m:r>
                  </m:oMath>
                </a14:m>
                <a:r>
                  <a:rPr lang="en-US" sz="2300" dirty="0">
                    <a:latin typeface="Atkinson Hyperlegible Next"/>
                    <a:ea typeface="Arial"/>
                    <a:cs typeface="Arial"/>
                    <a:sym typeface="Arial"/>
                  </a:rPr>
                  <a:t>, we multiply </a:t>
                </a:r>
                <a14:m>
                  <m:oMath xmlns:m="http://schemas.openxmlformats.org/officeDocument/2006/math">
                    <m:r>
                      <a:rPr lang="en-US" sz="2300" i="1" dirty="0" smtClean="0">
                        <a:latin typeface="Cambria Math" panose="02040503050406030204" pitchFamily="18" charset="0"/>
                        <a:ea typeface="Arial"/>
                        <a:cs typeface="Arial"/>
                        <a:sym typeface="Arial"/>
                      </a:rPr>
                      <m:t>1 ⋅</m:t>
                    </m:r>
                    <m:r>
                      <a:rPr lang="en-US" sz="2300" i="1" dirty="0" smtClean="0">
                        <a:latin typeface="Cambria Math" panose="02040503050406030204" pitchFamily="18" charset="0"/>
                        <a:ea typeface="Arial"/>
                        <a:cs typeface="Arial"/>
                        <a:sym typeface="Arial"/>
                      </a:rPr>
                      <m:t>𝑝</m:t>
                    </m:r>
                    <m:r>
                      <a:rPr lang="en-US" sz="2300" i="1" dirty="0" smtClean="0">
                        <a:latin typeface="Cambria Math" panose="02040503050406030204" pitchFamily="18" charset="0"/>
                        <a:ea typeface="Arial"/>
                        <a:cs typeface="Arial"/>
                        <a:sym typeface="Arial"/>
                      </a:rPr>
                      <m:t> + 0 ⋅</m:t>
                    </m:r>
                    <m:r>
                      <a:rPr lang="en-US" sz="2300" i="1" dirty="0" smtClean="0">
                        <a:latin typeface="Cambria Math" panose="02040503050406030204" pitchFamily="18" charset="0"/>
                        <a:ea typeface="Arial"/>
                        <a:cs typeface="Arial"/>
                        <a:sym typeface="Arial"/>
                      </a:rPr>
                      <m:t>𝑣</m:t>
                    </m:r>
                    <m:r>
                      <a:rPr lang="en-US" sz="2300" b="0" i="1" dirty="0" smtClean="0">
                        <a:latin typeface="Cambria Math" panose="02040503050406030204" pitchFamily="18" charset="0"/>
                        <a:ea typeface="Arial"/>
                        <a:cs typeface="Arial"/>
                        <a:sym typeface="Arial"/>
                      </a:rPr>
                      <m:t> = </m:t>
                    </m:r>
                    <m:r>
                      <m:rPr>
                        <m:sty m:val="p"/>
                      </m:rPr>
                      <a:rPr lang="en-US" sz="2300" b="0" i="1" dirty="0" smtClean="0">
                        <a:latin typeface="Cambria Math" panose="02040503050406030204" pitchFamily="18" charset="0"/>
                        <a:ea typeface="Arial"/>
                        <a:cs typeface="Arial"/>
                        <a:sym typeface="Arial"/>
                      </a:rPr>
                      <m:t>p</m:t>
                    </m:r>
                  </m:oMath>
                </a14:m>
                <a:r>
                  <a:rPr lang="en-US" sz="2300" dirty="0">
                    <a:latin typeface="Atkinson Hyperlegible Next"/>
                    <a:ea typeface="Arial"/>
                    <a:cs typeface="Arial"/>
                    <a:sym typeface="Arial"/>
                  </a:rPr>
                  <a:t>.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have successfully translated our 2D state into a 1D measurement!</a:t>
                </a:r>
              </a:p>
            </p:txBody>
          </p:sp>
        </mc:Choice>
        <mc:Fallback xmlns="">
          <p:sp>
            <p:nvSpPr>
              <p:cNvPr id="118" name="Google Shape;118;p29">
                <a:extLst>
                  <a:ext uri="{FF2B5EF4-FFF2-40B4-BE49-F238E27FC236}">
                    <a16:creationId xmlns:a16="http://schemas.microsoft.com/office/drawing/2014/main" id="{8BBA3C79-049A-FC6E-D838-84B975EE6B0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01E99BC-1661-7814-EC44-91AF22B9F53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092BB99-5E88-B06A-FD6D-80F7D0A20B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200909-553E-2F93-2CD7-DCA0BC4A095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DD55304-6D58-5A6D-F8D2-F9F6B6EA72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5ED08-63E8-36F8-1F8A-65A2CEE90B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B0BE5F-6863-B1D3-504D-E832A9B036E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BE4C-D9C6-B0AC-8667-3D1B980679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5DC5F1-0C76-8EDD-8AD3-5B20F3D749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40183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0712CC8-B3DB-F00F-0B6F-62B9C0F819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877AE1B-6280-A422-C4E4-2795788F56F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Measurement Noise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 The GPS datasheet says it has an accuracy of </a:t>
                </a:r>
                <a14:m>
                  <m:oMath xmlns:m="http://schemas.openxmlformats.org/officeDocument/2006/math">
                    <m:r>
                      <a:rPr lang="en-US" sz="2300" i="1" dirty="0" smtClean="0">
                        <a:latin typeface="Cambria Math" panose="02040503050406030204" pitchFamily="18" charset="0"/>
                        <a:ea typeface="Arial"/>
                        <a:cs typeface="Arial"/>
                        <a:sym typeface="Arial"/>
                      </a:rPr>
                      <m:t>±5</m:t>
                    </m:r>
                  </m:oMath>
                </a14:m>
                <a:r>
                  <a:rPr lang="en-US" sz="2300" dirty="0">
                    <a:latin typeface="Atkinson Hyperlegible Next"/>
                    <a:ea typeface="Arial"/>
                    <a:cs typeface="Arial"/>
                    <a:sym typeface="Arial"/>
                  </a:rPr>
                  <a:t> meters.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dimension is R?</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a:latin typeface="Cambria Math" panose="02040503050406030204" pitchFamily="18" charset="0"/>
                        <a:ea typeface="Arial"/>
                        <a:cs typeface="Arial"/>
                        <a:sym typeface="Arial"/>
                      </a:rPr>
                      <m:t>𝑅</m:t>
                    </m:r>
                  </m:oMath>
                </a14:m>
                <a:r>
                  <a:rPr lang="en-US" sz="2300" dirty="0">
                    <a:latin typeface="Atkinson Hyperlegible Next"/>
                    <a:ea typeface="Arial"/>
                    <a:cs typeface="Arial"/>
                    <a:sym typeface="Arial"/>
                  </a:rPr>
                  <a:t> is a 1x1 matrix (a scalar) representing the variance of the </a:t>
                </a:r>
                <a:r>
                  <a:rPr lang="en-US" sz="2300" b="1" dirty="0">
                    <a:latin typeface="Atkinson Hyperlegible Next"/>
                    <a:ea typeface="Arial"/>
                    <a:cs typeface="Arial"/>
                    <a:sym typeface="Arial"/>
                  </a:rPr>
                  <a:t>sensor</a:t>
                </a:r>
                <a:r>
                  <a:rPr lang="en-US" sz="2300" dirty="0">
                    <a:latin typeface="Atkinson Hyperlegible Next"/>
                    <a:ea typeface="Arial"/>
                    <a:cs typeface="Arial"/>
                    <a:sym typeface="Arial"/>
                  </a:rPr>
                  <a:t>, which in this case is the GPS returning position only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Given that the standard deviation of the GPS is </a:t>
                </a:r>
                <a14:m>
                  <m:oMath xmlns:m="http://schemas.openxmlformats.org/officeDocument/2006/math">
                    <m:r>
                      <a:rPr lang="en-US" sz="2300" i="1" dirty="0">
                        <a:latin typeface="Cambria Math" panose="02040503050406030204" pitchFamily="18" charset="0"/>
                        <a:ea typeface="Arial"/>
                        <a:cs typeface="Arial"/>
                        <a:sym typeface="Arial"/>
                      </a:rPr>
                      <m:t>±5</m:t>
                    </m:r>
                  </m:oMath>
                </a14:m>
                <a:r>
                  <a:rPr lang="en-US" sz="2300" dirty="0">
                    <a:latin typeface="Atkinson Hyperlegible Next"/>
                    <a:ea typeface="Arial"/>
                    <a:cs typeface="Arial"/>
                    <a:sym typeface="Arial"/>
                  </a:rPr>
                  <a:t>, what is the variance?</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𝑅</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25</m:t>
                          </m:r>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877AE1B-6280-A422-C4E4-2795788F56F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BF68613-D512-2FCF-74AB-9F714BD3B3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4305F5-8E54-A40F-4C94-5DBD46CDF4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E3670C-B3ED-C30B-8F18-7C7145B1B62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93D4BD-1A4E-43E6-E4BD-6DA4381A9E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B9613A-73F3-ACD4-E822-DBB9774F81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D0C2E8E-B1ED-EFB0-7492-C082D8ECB5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43D0E-AA02-9BF4-C4B0-518086EA8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9B2880-DDDE-57DC-F98F-DA6A3BACB7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344022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617A21-A6A5-9DBE-2C8A-99128F3F76B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F385008-4CA2-EFA1-A780-A17B5D0DD77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b="1" dirty="0">
                    <a:latin typeface="Atkinson Hyperlegible Next"/>
                    <a:ea typeface="Arial"/>
                    <a:cs typeface="Arial"/>
                    <a:sym typeface="Arial"/>
                  </a:rPr>
                  <a:t>Process Noise </a:t>
                </a:r>
                <a:r>
                  <a:rPr lang="en-US" sz="2300" dirty="0">
                    <a:latin typeface="Atkinson Hyperlegible Next"/>
                    <a:ea typeface="Arial"/>
                    <a:cs typeface="Arial"/>
                    <a:sym typeface="Arial"/>
                  </a:rPr>
                  <a:t>(</a:t>
                </a: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We assumed constant velocity, but wind gusts or voltage drops might slightly alter the speed.</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process noise is based on the state, as such what dimension is </a:t>
                </a:r>
                <a14:m>
                  <m:oMath xmlns:m="http://schemas.openxmlformats.org/officeDocument/2006/math">
                    <m:r>
                      <a:rPr lang="en-US" sz="2300" i="1" dirty="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300" i="1" dirty="0" smtClean="0">
                        <a:latin typeface="Cambria Math" panose="02040503050406030204" pitchFamily="18" charset="0"/>
                        <a:ea typeface="Arial"/>
                        <a:cs typeface="Arial"/>
                        <a:sym typeface="Arial"/>
                      </a:rPr>
                      <m:t>𝑄</m:t>
                    </m:r>
                  </m:oMath>
                </a14:m>
                <a:r>
                  <a:rPr lang="en-US" sz="2300" dirty="0">
                    <a:latin typeface="Atkinson Hyperlegible Next"/>
                    <a:ea typeface="Arial"/>
                    <a:cs typeface="Arial"/>
                    <a:sym typeface="Arial"/>
                  </a:rPr>
                  <a:t> is a </a:t>
                </a:r>
                <a14:m>
                  <m:oMath xmlns:m="http://schemas.openxmlformats.org/officeDocument/2006/math">
                    <m:r>
                      <a:rPr lang="en-US" sz="2300" i="1" dirty="0" smtClean="0">
                        <a:latin typeface="Cambria Math" panose="02040503050406030204" pitchFamily="18" charset="0"/>
                        <a:ea typeface="Arial"/>
                        <a:cs typeface="Arial"/>
                        <a:sym typeface="Arial"/>
                      </a:rPr>
                      <m:t>2 ×2</m:t>
                    </m:r>
                  </m:oMath>
                </a14:m>
                <a:r>
                  <a:rPr lang="en-US" sz="2300" dirty="0">
                    <a:latin typeface="Atkinson Hyperlegible Next"/>
                    <a:ea typeface="Arial"/>
                    <a:cs typeface="Arial"/>
                    <a:sym typeface="Arial"/>
                  </a:rPr>
                  <a:t> matrix injecting uncertainty into both position and velocity during the predict step!</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smtClean="0">
                          <a:latin typeface="Cambria Math" panose="02040503050406030204" pitchFamily="18" charset="0"/>
                          <a:ea typeface="Arial"/>
                          <a:cs typeface="Arial"/>
                          <a:sym typeface="Arial"/>
                        </a:rPr>
                        <m:t>𝑄</m:t>
                      </m:r>
                      <m:r>
                        <a:rPr lang="en-US" sz="2300" i="1" dirty="0" smtClean="0">
                          <a:latin typeface="Cambria Math" panose="02040503050406030204" pitchFamily="18" charset="0"/>
                          <a:ea typeface="Arial"/>
                          <a:cs typeface="Arial"/>
                          <a:sym typeface="Arial"/>
                        </a:rPr>
                        <m:t>=</m:t>
                      </m:r>
                      <m:d>
                        <m:dPr>
                          <m:begChr m:val="["/>
                          <m:endChr m:val="]"/>
                          <m:ctrlPr>
                            <a:rPr lang="en-US" sz="23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300" i="1" dirty="0" smtClean="0">
                                  <a:latin typeface="Cambria Math" panose="02040503050406030204" pitchFamily="18" charset="0"/>
                                  <a:ea typeface="Arial"/>
                                  <a:cs typeface="Arial"/>
                                  <a:sym typeface="Arial"/>
                                </a:rPr>
                              </m:ctrlPr>
                            </m:mPr>
                            <m:mr>
                              <m:e>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𝑝</m:t>
                                    </m:r>
                                  </m:sub>
                                  <m:sup>
                                    <m:r>
                                      <a:rPr lang="en-US" sz="2300" i="1" dirty="0" smtClean="0">
                                        <a:latin typeface="Cambria Math" panose="02040503050406030204" pitchFamily="18" charset="0"/>
                                        <a:ea typeface="Arial"/>
                                        <a:cs typeface="Arial"/>
                                        <a:sym typeface="Arial"/>
                                      </a:rPr>
                                      <m:t>2</m:t>
                                    </m:r>
                                  </m:sup>
                                </m:sSubSup>
                              </m:e>
                              <m:e>
                                <m:r>
                                  <a:rPr lang="en-US" sz="2300" i="1" dirty="0" smtClean="0">
                                    <a:latin typeface="Cambria Math" panose="02040503050406030204" pitchFamily="18" charset="0"/>
                                    <a:ea typeface="Arial"/>
                                    <a:cs typeface="Arial"/>
                                    <a:sym typeface="Arial"/>
                                  </a:rPr>
                                  <m:t>0</m:t>
                                </m:r>
                              </m:e>
                            </m:mr>
                            <m:mr>
                              <m:e>
                                <m:r>
                                  <a:rPr lang="en-US" sz="2300" i="1" dirty="0" smtClean="0">
                                    <a:latin typeface="Cambria Math" panose="02040503050406030204" pitchFamily="18" charset="0"/>
                                    <a:ea typeface="Arial"/>
                                    <a:cs typeface="Arial"/>
                                    <a:sym typeface="Arial"/>
                                  </a:rPr>
                                  <m:t>0</m:t>
                                </m:r>
                              </m:e>
                              <m:e>
                                <m:sSubSup>
                                  <m:sSubSupPr>
                                    <m:ctrlPr>
                                      <a:rPr lang="en-US" sz="2300" i="1" dirty="0" smtClean="0">
                                        <a:latin typeface="Cambria Math" panose="02040503050406030204" pitchFamily="18" charset="0"/>
                                        <a:ea typeface="Arial"/>
                                        <a:cs typeface="Arial"/>
                                        <a:sym typeface="Arial"/>
                                      </a:rPr>
                                    </m:ctrlPr>
                                  </m:sSubSupPr>
                                  <m:e>
                                    <m:r>
                                      <a:rPr lang="en-US" sz="2300" i="1" dirty="0" smtClean="0">
                                        <a:latin typeface="Cambria Math" panose="02040503050406030204" pitchFamily="18" charset="0"/>
                                        <a:ea typeface="Arial"/>
                                        <a:cs typeface="Arial"/>
                                        <a:sym typeface="Arial"/>
                                      </a:rPr>
                                      <m:t>𝜎</m:t>
                                    </m:r>
                                  </m:e>
                                  <m:sub>
                                    <m:r>
                                      <a:rPr lang="en-US" sz="2300" i="1" dirty="0" smtClean="0">
                                        <a:latin typeface="Cambria Math" panose="02040503050406030204" pitchFamily="18" charset="0"/>
                                        <a:ea typeface="Arial"/>
                                        <a:cs typeface="Arial"/>
                                        <a:sym typeface="Arial"/>
                                      </a:rPr>
                                      <m:t>𝑣</m:t>
                                    </m:r>
                                  </m:sub>
                                  <m:sup>
                                    <m:r>
                                      <a:rPr lang="en-US" sz="2300" i="1" dirty="0" smtClean="0">
                                        <a:latin typeface="Cambria Math" panose="02040503050406030204" pitchFamily="18" charset="0"/>
                                        <a:ea typeface="Arial"/>
                                        <a:cs typeface="Arial"/>
                                        <a:sym typeface="Arial"/>
                                      </a:rPr>
                                      <m:t>2</m:t>
                                    </m:r>
                                  </m:sup>
                                </m:sSubSup>
                              </m:e>
                            </m:mr>
                          </m:m>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F385008-4CA2-EFA1-A780-A17B5D0DD77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FD66E5A-AF7D-B13A-9AC2-F5A117BB0D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FF2238A-5876-8163-09CC-5923ECB687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A5C920-E554-AB2B-0919-40DA0F158C6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984853-4AE3-0467-964D-B1B3262B21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642C607-27B3-C044-893F-4738C3C90C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D53FD0D-3CEE-15B0-F7AD-6CF7625777A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17BA4A-3C0F-A3AC-452F-F5D5C102FC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4A6CA2-CD2D-9F55-0DB1-40EBAD452F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879356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AF857D-5907-4111-CC55-A77EA9A08DC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FC8180C-91C0-84D1-D887-8F1F865DA91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So now we all the info to place into the </a:t>
                </a:r>
                <a:r>
                  <a:rPr lang="en-US" sz="2300" b="1" dirty="0">
                    <a:latin typeface="Atkinson Hyperlegible Next"/>
                    <a:ea typeface="Arial"/>
                    <a:cs typeface="Arial"/>
                    <a:sym typeface="Arial"/>
                  </a:rPr>
                  <a:t>Update</a:t>
                </a:r>
                <a:r>
                  <a:rPr lang="en-US" sz="2300" dirty="0">
                    <a:latin typeface="Atkinson Hyperlegible Next"/>
                    <a:ea typeface="Arial"/>
                    <a:cs typeface="Arial"/>
                    <a:sym typeface="Arial"/>
                  </a:rPr>
                  <a:t> step! (Simple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300" i="1" dirty="0">
                          <a:latin typeface="Cambria Math" panose="02040503050406030204" pitchFamily="18" charset="0"/>
                          <a:ea typeface="Arial"/>
                          <a:cs typeface="Arial"/>
                          <a:sym typeface="Arial"/>
                        </a:rPr>
                        <m:t>𝐾</m:t>
                      </m:r>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sSup>
                        <m:sSupPr>
                          <m:ctrlPr>
                            <a:rPr lang="en-US" sz="2300" i="1" dirty="0">
                              <a:latin typeface="Cambria Math" panose="02040503050406030204" pitchFamily="18" charset="0"/>
                              <a:ea typeface="Arial"/>
                              <a:cs typeface="Arial"/>
                              <a:sym typeface="Arial"/>
                            </a:rPr>
                          </m:ctrlPr>
                        </m:sSupPr>
                        <m:e>
                          <m:r>
                            <a:rPr lang="en-US" sz="2300" i="1" dirty="0">
                              <a:latin typeface="Cambria Math" panose="02040503050406030204" pitchFamily="18" charset="0"/>
                              <a:ea typeface="Arial"/>
                              <a:cs typeface="Arial"/>
                              <a:sym typeface="Arial"/>
                            </a:rPr>
                            <m:t>𝐻</m:t>
                          </m:r>
                        </m:e>
                        <m:sup>
                          <m:r>
                            <a:rPr lang="en-US" sz="2300" i="1" dirty="0">
                              <a:latin typeface="Cambria Math" panose="02040503050406030204" pitchFamily="18" charset="0"/>
                              <a:ea typeface="Arial"/>
                              <a:cs typeface="Arial"/>
                              <a:sym typeface="Arial"/>
                            </a:rPr>
                            <m:t>𝑇</m:t>
                          </m:r>
                        </m:sup>
                      </m:sSup>
                      <m:sSup>
                        <m:sSupPr>
                          <m:ctrlPr>
                            <a:rPr lang="en-US" sz="2300" i="1" dirty="0">
                              <a:latin typeface="Cambria Math" panose="02040503050406030204" pitchFamily="18" charset="0"/>
                              <a:ea typeface="Arial"/>
                              <a:cs typeface="Arial"/>
                              <a:sym typeface="Arial"/>
                            </a:rPr>
                          </m:ctrlPr>
                        </m:sSupPr>
                        <m:e>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𝐻</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sSup>
                                <m:sSupPr>
                                  <m:ctrlPr>
                                    <a:rPr lang="en-US" sz="2300" i="1" dirty="0">
                                      <a:latin typeface="Cambria Math" panose="02040503050406030204" pitchFamily="18" charset="0"/>
                                      <a:ea typeface="Arial"/>
                                      <a:cs typeface="Arial"/>
                                      <a:sym typeface="Arial"/>
                                    </a:rPr>
                                  </m:ctrlPr>
                                </m:sSupPr>
                                <m:e>
                                  <m:r>
                                    <a:rPr lang="en-US" sz="2300" i="1" dirty="0">
                                      <a:latin typeface="Cambria Math" panose="02040503050406030204" pitchFamily="18" charset="0"/>
                                      <a:ea typeface="Arial"/>
                                      <a:cs typeface="Arial"/>
                                      <a:sym typeface="Arial"/>
                                    </a:rPr>
                                    <m:t>𝐻</m:t>
                                  </m:r>
                                </m:e>
                                <m:sup>
                                  <m:r>
                                    <a:rPr lang="en-US" sz="2300" i="1" dirty="0">
                                      <a:latin typeface="Cambria Math" panose="02040503050406030204" pitchFamily="18" charset="0"/>
                                      <a:ea typeface="Arial"/>
                                      <a:cs typeface="Arial"/>
                                      <a:sym typeface="Arial"/>
                                    </a:rPr>
                                    <m:t>𝑇</m:t>
                                  </m:r>
                                </m:sup>
                              </m:sSup>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𝑅</m:t>
                              </m:r>
                            </m:e>
                          </m:d>
                        </m:e>
                        <m:sup>
                          <m:r>
                            <a:rPr lang="en-US" sz="2300" i="1" dirty="0">
                              <a:latin typeface="Cambria Math" panose="02040503050406030204" pitchFamily="18" charset="0"/>
                              <a:ea typeface="Arial"/>
                              <a:cs typeface="Arial"/>
                              <a:sym typeface="Arial"/>
                            </a:rPr>
                            <m:t>−1</m:t>
                          </m:r>
                        </m:sup>
                      </m:sSup>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𝐾</m:t>
                      </m:r>
                      <m:d>
                        <m:dPr>
                          <m:ctrlPr>
                            <a:rPr lang="en-US" sz="2300" i="1" dirty="0">
                              <a:latin typeface="Cambria Math" panose="02040503050406030204" pitchFamily="18" charset="0"/>
                              <a:ea typeface="Arial"/>
                              <a:cs typeface="Arial"/>
                              <a:sym typeface="Arial"/>
                            </a:rPr>
                          </m:ctrlPr>
                        </m:dPr>
                        <m:e>
                          <m:sSub>
                            <m:sSubPr>
                              <m:ctrlPr>
                                <a:rPr lang="en-US" sz="2300" i="1" dirty="0" err="1">
                                  <a:latin typeface="Cambria Math" panose="02040503050406030204" pitchFamily="18" charset="0"/>
                                  <a:ea typeface="Arial"/>
                                  <a:cs typeface="Arial"/>
                                  <a:sym typeface="Arial"/>
                                </a:rPr>
                              </m:ctrlPr>
                            </m:sSubPr>
                            <m:e>
                              <m:r>
                                <a:rPr lang="en-US" sz="2300" i="1" dirty="0" err="1">
                                  <a:latin typeface="Cambria Math" panose="02040503050406030204" pitchFamily="18" charset="0"/>
                                  <a:ea typeface="Arial"/>
                                  <a:cs typeface="Arial"/>
                                  <a:sym typeface="Arial"/>
                                </a:rPr>
                                <m:t>𝑧</m:t>
                              </m:r>
                            </m:e>
                            <m:sub>
                              <m:r>
                                <a:rPr lang="en-US" sz="2300" i="1" dirty="0" err="1">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𝐻</m:t>
                          </m:r>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𝑥</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e>
                      </m:d>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sub>
                      </m:sSub>
                      <m:r>
                        <a:rPr lang="en-US" sz="2300" i="1" dirty="0">
                          <a:latin typeface="Cambria Math" panose="02040503050406030204" pitchFamily="18" charset="0"/>
                          <a:ea typeface="Arial"/>
                          <a:cs typeface="Arial"/>
                          <a:sym typeface="Arial"/>
                        </a:rPr>
                        <m:t>=</m:t>
                      </m:r>
                      <m:d>
                        <m:dPr>
                          <m:ctrlPr>
                            <a:rPr lang="en-US" sz="2300" i="1" dirty="0">
                              <a:latin typeface="Cambria Math" panose="02040503050406030204" pitchFamily="18" charset="0"/>
                              <a:ea typeface="Arial"/>
                              <a:cs typeface="Arial"/>
                              <a:sym typeface="Arial"/>
                            </a:rPr>
                          </m:ctrlPr>
                        </m:dPr>
                        <m:e>
                          <m:r>
                            <a:rPr lang="en-US" sz="2300" i="1" dirty="0">
                              <a:latin typeface="Cambria Math" panose="02040503050406030204" pitchFamily="18" charset="0"/>
                              <a:ea typeface="Arial"/>
                              <a:cs typeface="Arial"/>
                              <a:sym typeface="Arial"/>
                            </a:rPr>
                            <m:t>𝐼</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𝐾𝐻</m:t>
                          </m:r>
                        </m:e>
                      </m:d>
                      <m:sSub>
                        <m:sSubPr>
                          <m:ctrlPr>
                            <a:rPr lang="en-US" sz="2300" i="1" dirty="0">
                              <a:latin typeface="Cambria Math" panose="02040503050406030204" pitchFamily="18" charset="0"/>
                              <a:ea typeface="Arial"/>
                              <a:cs typeface="Arial"/>
                              <a:sym typeface="Arial"/>
                            </a:rPr>
                          </m:ctrlPr>
                        </m:sSubPr>
                        <m:e>
                          <m:r>
                            <a:rPr lang="en-US" sz="2300" i="1" dirty="0">
                              <a:latin typeface="Cambria Math" panose="02040503050406030204" pitchFamily="18" charset="0"/>
                              <a:ea typeface="Arial"/>
                              <a:cs typeface="Arial"/>
                              <a:sym typeface="Arial"/>
                            </a:rPr>
                            <m:t>𝑃</m:t>
                          </m:r>
                        </m:e>
                        <m:sub>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m:t>
                          </m:r>
                          <m:r>
                            <a:rPr lang="en-US" sz="2300" i="1" dirty="0">
                              <a:latin typeface="Cambria Math" panose="02040503050406030204" pitchFamily="18" charset="0"/>
                              <a:ea typeface="Arial"/>
                              <a:cs typeface="Arial"/>
                              <a:sym typeface="Arial"/>
                            </a:rPr>
                            <m:t>𝑘</m:t>
                          </m:r>
                          <m:r>
                            <a:rPr lang="en-US" sz="2300" i="1" dirty="0">
                              <a:latin typeface="Cambria Math" panose="02040503050406030204" pitchFamily="18" charset="0"/>
                              <a:ea typeface="Arial"/>
                              <a:cs typeface="Arial"/>
                              <a:sym typeface="Arial"/>
                            </a:rPr>
                            <m:t>−1</m:t>
                          </m:r>
                        </m:sub>
                      </m:sSub>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And we are all done! (simpler than expected right?)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Our train example works perfectly with the standard Kalman Filter equations because the math is strictly </a:t>
                </a:r>
                <a:r>
                  <a:rPr lang="en-US" sz="2300" b="1" dirty="0">
                    <a:latin typeface="Atkinson Hyperlegible Next"/>
                    <a:ea typeface="Arial"/>
                    <a:cs typeface="Arial"/>
                    <a:sym typeface="Arial"/>
                  </a:rPr>
                  <a:t>linear</a:t>
                </a:r>
                <a:r>
                  <a:rPr lang="en-US" sz="2300" dirty="0">
                    <a:latin typeface="Atkinson Hyperlegible Next"/>
                    <a:ea typeface="Arial"/>
                    <a:cs typeface="Arial"/>
                    <a:sym typeface="Arial"/>
                  </a:rPr>
                  <a:t> (simple multiplication and addition).</a:t>
                </a:r>
              </a:p>
              <a:p>
                <a:pPr marL="0" indent="0">
                  <a:lnSpc>
                    <a:spcPct val="100000"/>
                  </a:lnSpc>
                  <a:spcBef>
                    <a:spcPts val="0"/>
                  </a:spcBef>
                  <a:buSzPts val="3000"/>
                  <a:buNone/>
                </a:pPr>
                <a:r>
                  <a:rPr lang="en-US" sz="2300" dirty="0">
                    <a:latin typeface="Atkinson Hyperlegible Next"/>
                    <a:ea typeface="Arial"/>
                    <a:cs typeface="Arial"/>
                    <a:sym typeface="Arial"/>
                  </a:rPr>
                  <a:t>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is a linear transformation.</a:t>
                </a:r>
              </a:p>
            </p:txBody>
          </p:sp>
        </mc:Choice>
        <mc:Fallback xmlns="">
          <p:sp>
            <p:nvSpPr>
              <p:cNvPr id="118" name="Google Shape;118;p29">
                <a:extLst>
                  <a:ext uri="{FF2B5EF4-FFF2-40B4-BE49-F238E27FC236}">
                    <a16:creationId xmlns:a16="http://schemas.microsoft.com/office/drawing/2014/main" id="{0FC8180C-91C0-84D1-D887-8F1F865DA91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3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E907F0-DBAC-CEFB-4F19-4B7EAAF6A9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B2FF3DA-E1F4-A811-4BD6-14753AC778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Kalman Filter Example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8052BF-499B-461E-9A47-65002ECDC3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FC8E9C-A885-7348-F39A-EE152BFF0B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4EB949-9D2F-299D-A7DF-4D7D6AC671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5665586-7452-E5BE-B733-850E74FAF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90575D-B926-C828-0405-BCC942C490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C69C496-D342-2EB6-0600-F6E618B2DB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54622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694CC0-6902-E866-537C-4C5A5ADBE13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A01F8ED9-94CD-1860-179E-32A849CA5912}"/>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Extended (Nonlinear) Kalman Filter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915687DB-F86B-AFE3-B8E8-C363052FB73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C52007C9-F1DE-73B9-A16A-7100DACD0E8C}"/>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F898FAE-F218-37B1-DD8D-812D2EF5C7D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B143006-7ADA-502F-84FD-B6B44AE1AC82}"/>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AA062D97-6771-0445-E3BE-65712B27A6D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9DBC35F-0B7F-A354-73CC-AA047AA52121}"/>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AE72E6BC-D68D-5180-6E08-23729E33245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2AC5B19E-C8FB-F95E-0212-1CD6A7007B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7224F464-AE88-4ABA-2CCD-696735FC9B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467544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D915EA-7840-CDF3-0081-8C2A2E77607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3969E7C-61A4-DEB8-D33A-485DA9C005E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We use differential drive platforms operating in a 2D plane in lab.</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state vector is </a:t>
                </a:r>
                <a14:m>
                  <m:oMath xmlns:m="http://schemas.openxmlformats.org/officeDocument/2006/math">
                    <m:r>
                      <a:rPr lang="en-US" sz="2300" i="1" dirty="0" smtClean="0">
                        <a:latin typeface="Cambria Math" panose="02040503050406030204" pitchFamily="18" charset="0"/>
                        <a:ea typeface="Arial"/>
                        <a:cs typeface="Arial"/>
                        <a:sym typeface="Arial"/>
                      </a:rPr>
                      <m:t>𝑥</m:t>
                    </m:r>
                    <m:r>
                      <a:rPr lang="en-US" sz="2300" i="1" dirty="0" smtClean="0">
                        <a:latin typeface="Cambria Math" panose="02040503050406030204" pitchFamily="18" charset="0"/>
                        <a:ea typeface="Arial"/>
                        <a:cs typeface="Arial"/>
                        <a:sym typeface="Arial"/>
                      </a:rPr>
                      <m:t>=</m:t>
                    </m:r>
                    <m:sSup>
                      <m:sSupPr>
                        <m:ctrlPr>
                          <a:rPr lang="en-US" sz="2300" i="1" dirty="0" smtClean="0">
                            <a:latin typeface="Cambria Math" panose="02040503050406030204" pitchFamily="18" charset="0"/>
                            <a:ea typeface="Arial"/>
                            <a:cs typeface="Arial"/>
                            <a:sym typeface="Arial"/>
                          </a:rPr>
                        </m:ctrlPr>
                      </m:sSupPr>
                      <m:e>
                        <m:d>
                          <m:dPr>
                            <m:begChr m:val="["/>
                            <m:endChr m:val="]"/>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𝑋</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𝑌</m:t>
                            </m:r>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𝜃</m:t>
                            </m:r>
                          </m:e>
                        </m:d>
                      </m:e>
                      <m:sup>
                        <m:r>
                          <a:rPr lang="en-US" sz="2300" i="1" dirty="0" err="1" smtClean="0">
                            <a:latin typeface="Cambria Math" panose="02040503050406030204" pitchFamily="18" charset="0"/>
                            <a:ea typeface="Arial"/>
                            <a:cs typeface="Arial"/>
                            <a:sym typeface="Arial"/>
                          </a:rPr>
                          <m:t>𝑇</m:t>
                        </m:r>
                      </m:sup>
                    </m:sSup>
                  </m:oMath>
                </a14:m>
                <a:r>
                  <a:rPr lang="en-US" sz="2300" dirty="0">
                    <a:latin typeface="Atkinson Hyperlegible Next"/>
                    <a:ea typeface="Arial"/>
                    <a:cs typeface="Arial"/>
                    <a:sym typeface="Arial"/>
                  </a:rPr>
                  <a: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physics equations for the next time step (</a:t>
                </a:r>
                <a14:m>
                  <m:oMath xmlns:m="http://schemas.openxmlformats.org/officeDocument/2006/math">
                    <m:r>
                      <a:rPr lang="en-US" sz="2300" i="1" dirty="0" smtClean="0">
                        <a:latin typeface="Cambria Math" panose="02040503050406030204" pitchFamily="18" charset="0"/>
                        <a:ea typeface="Arial"/>
                        <a:cs typeface="Arial"/>
                        <a:sym typeface="Arial"/>
                      </a:rPr>
                      <m:t>𝑑𝑡</m:t>
                    </m:r>
                  </m:oMath>
                </a14:m>
                <a:r>
                  <a:rPr lang="en-US" sz="2300" dirty="0">
                    <a:latin typeface="Atkinson Hyperlegible Next"/>
                    <a:ea typeface="Arial"/>
                    <a:cs typeface="Arial"/>
                    <a:sym typeface="Arial"/>
                  </a:rPr>
                  <a:t>) involve steering:</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𝑋</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𝑣</m:t>
                      </m:r>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cos</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r>
                        <a:rPr lang="en-US" sz="2300" i="1" dirty="0" smtClean="0">
                          <a:latin typeface="Cambria Math" panose="02040503050406030204" pitchFamily="18" charset="0"/>
                          <a:ea typeface="Arial"/>
                          <a:cs typeface="Arial"/>
                          <a:sym typeface="Arial"/>
                        </a:rPr>
                        <m:t>𝑑𝑡</m:t>
                      </m:r>
                    </m:oMath>
                  </m:oMathPara>
                </a14:m>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𝑌</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𝑌</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𝑣</m:t>
                      </m:r>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sin</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r>
                        <a:rPr lang="en-US" sz="2300" i="1" dirty="0" smtClean="0">
                          <a:latin typeface="Cambria Math" panose="02040503050406030204" pitchFamily="18" charset="0"/>
                          <a:ea typeface="Arial"/>
                          <a:cs typeface="Arial"/>
                          <a:sym typeface="Arial"/>
                        </a:rPr>
                        <m:t>𝑑𝑡</m:t>
                      </m:r>
                    </m:oMath>
                  </m:oMathPara>
                </a14:m>
                <a:endParaRPr lang="en-US" sz="23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𝜃</m:t>
                          </m:r>
                        </m:e>
                        <m:sub>
                          <m:r>
                            <a:rPr lang="en-US" sz="2300" i="1" dirty="0" smtClean="0">
                              <a:latin typeface="Cambria Math" panose="02040503050406030204" pitchFamily="18" charset="0"/>
                              <a:ea typeface="Arial"/>
                              <a:cs typeface="Arial"/>
                              <a:sym typeface="Arial"/>
                            </a:rPr>
                            <m:t>𝑛𝑒𝑤</m:t>
                          </m:r>
                        </m:sub>
                      </m:sSub>
                      <m:r>
                        <a:rPr lang="en-US" sz="2300" i="1" dirty="0" smtClean="0">
                          <a:latin typeface="Cambria Math" panose="02040503050406030204" pitchFamily="18" charset="0"/>
                          <a:ea typeface="Arial"/>
                          <a:cs typeface="Arial"/>
                          <a:sym typeface="Arial"/>
                        </a:rPr>
                        <m:t>=</m:t>
                      </m:r>
                      <m:sSub>
                        <m:sSubPr>
                          <m:ctrlPr>
                            <a:rPr lang="en-US" sz="2300" i="1" dirty="0" smtClean="0">
                              <a:latin typeface="Cambria Math" panose="02040503050406030204" pitchFamily="18" charset="0"/>
                              <a:ea typeface="Arial"/>
                              <a:cs typeface="Arial"/>
                              <a:sym typeface="Arial"/>
                            </a:rPr>
                          </m:ctrlPr>
                        </m:sSubPr>
                        <m:e>
                          <m:r>
                            <a:rPr lang="en-US" sz="2300" i="1" dirty="0" smtClean="0">
                              <a:latin typeface="Cambria Math" panose="02040503050406030204" pitchFamily="18" charset="0"/>
                              <a:ea typeface="Arial"/>
                              <a:cs typeface="Arial"/>
                              <a:sym typeface="Arial"/>
                            </a:rPr>
                            <m:t>𝜃</m:t>
                          </m:r>
                        </m:e>
                        <m:sub>
                          <m:r>
                            <a:rPr lang="en-US" sz="2300" i="1" dirty="0" smtClean="0">
                              <a:latin typeface="Cambria Math" panose="02040503050406030204" pitchFamily="18" charset="0"/>
                              <a:ea typeface="Arial"/>
                              <a:cs typeface="Arial"/>
                              <a:sym typeface="Arial"/>
                            </a:rPr>
                            <m:t>𝑜𝑙𝑑</m:t>
                          </m:r>
                        </m:sub>
                      </m:sSub>
                      <m:r>
                        <a:rPr lang="en-US" sz="2300" i="1" dirty="0" smtClean="0">
                          <a:latin typeface="Cambria Math" panose="02040503050406030204" pitchFamily="18" charset="0"/>
                          <a:ea typeface="Arial"/>
                          <a:cs typeface="Arial"/>
                          <a:sym typeface="Arial"/>
                        </a:rPr>
                        <m:t>+</m:t>
                      </m:r>
                      <m:r>
                        <a:rPr lang="en-US" sz="2300" i="1" dirty="0" smtClean="0">
                          <a:latin typeface="Cambria Math" panose="02040503050406030204" pitchFamily="18" charset="0"/>
                          <a:ea typeface="Arial"/>
                          <a:cs typeface="Arial"/>
                          <a:sym typeface="Arial"/>
                        </a:rPr>
                        <m:t>𝜔</m:t>
                      </m:r>
                      <m:r>
                        <a:rPr lang="en-US" sz="2300" i="1" dirty="0" smtClean="0">
                          <a:latin typeface="Cambria Math" panose="02040503050406030204" pitchFamily="18" charset="0"/>
                          <a:ea typeface="Arial"/>
                          <a:cs typeface="Arial"/>
                          <a:sym typeface="Arial"/>
                        </a:rPr>
                        <m:t>𝑑𝑡</m:t>
                      </m:r>
                    </m:oMath>
                  </m:oMathPara>
                </a14:m>
                <a:endParaRPr lang="en-US" sz="2300" dirty="0">
                  <a:latin typeface="Atkinson Hyperlegible Next"/>
                  <a:ea typeface="Arial"/>
                  <a:cs typeface="Arial"/>
                  <a:sym typeface="Arial"/>
                </a:endParaRP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is the problem?</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You cannot create a constant linear matrix </a:t>
                </a:r>
                <a14:m>
                  <m:oMath xmlns:m="http://schemas.openxmlformats.org/officeDocument/2006/math">
                    <m:r>
                      <a:rPr lang="en-US" sz="2300" i="1" dirty="0" smtClean="0">
                        <a:latin typeface="Cambria Math" panose="02040503050406030204" pitchFamily="18" charset="0"/>
                        <a:ea typeface="Arial"/>
                        <a:cs typeface="Arial"/>
                        <a:sym typeface="Arial"/>
                      </a:rPr>
                      <m:t>𝐹</m:t>
                    </m:r>
                  </m:oMath>
                </a14:m>
                <a:r>
                  <a:rPr lang="en-US" sz="2300" dirty="0">
                    <a:latin typeface="Atkinson Hyperlegible Next"/>
                    <a:ea typeface="Arial"/>
                    <a:cs typeface="Arial"/>
                    <a:sym typeface="Arial"/>
                  </a:rPr>
                  <a:t> that multiplies by </a:t>
                </a:r>
                <a14:m>
                  <m:oMath xmlns:m="http://schemas.openxmlformats.org/officeDocument/2006/math">
                    <m:r>
                      <a:rPr lang="en-US" sz="2300" i="1" dirty="0" smtClean="0">
                        <a:latin typeface="Cambria Math" panose="02040503050406030204" pitchFamily="18" charset="0"/>
                        <a:ea typeface="Arial"/>
                        <a:cs typeface="Arial"/>
                        <a:sym typeface="Arial"/>
                      </a:rPr>
                      <m:t>𝜃</m:t>
                    </m:r>
                  </m:oMath>
                </a14:m>
                <a:r>
                  <a:rPr lang="en-US" sz="2300" dirty="0">
                    <a:latin typeface="Atkinson Hyperlegible Next"/>
                    <a:ea typeface="Arial"/>
                    <a:cs typeface="Arial"/>
                    <a:sym typeface="Arial"/>
                  </a:rPr>
                  <a:t> to produce </a:t>
                </a:r>
                <a14:m>
                  <m:oMath xmlns:m="http://schemas.openxmlformats.org/officeDocument/2006/math">
                    <m:func>
                      <m:funcPr>
                        <m:ctrlPr>
                          <a:rPr lang="en-US" sz="2300" i="1" dirty="0" smtClean="0">
                            <a:latin typeface="Cambria Math" panose="02040503050406030204" pitchFamily="18" charset="0"/>
                            <a:ea typeface="Arial"/>
                            <a:cs typeface="Arial"/>
                            <a:sym typeface="Arial"/>
                          </a:rPr>
                        </m:ctrlPr>
                      </m:funcPr>
                      <m:fName>
                        <m:r>
                          <m:rPr>
                            <m:sty m:val="p"/>
                          </m:rPr>
                          <a:rPr lang="en-US" sz="2300" i="0" dirty="0" smtClean="0">
                            <a:latin typeface="Cambria Math" panose="02040503050406030204" pitchFamily="18" charset="0"/>
                            <a:ea typeface="Arial"/>
                            <a:cs typeface="Arial"/>
                            <a:sym typeface="Arial"/>
                          </a:rPr>
                          <m:t>cos</m:t>
                        </m:r>
                      </m:fName>
                      <m:e>
                        <m:d>
                          <m:dPr>
                            <m:ctrlPr>
                              <a:rPr lang="en-US" sz="2300" i="1" dirty="0" smtClean="0">
                                <a:latin typeface="Cambria Math" panose="02040503050406030204" pitchFamily="18" charset="0"/>
                                <a:ea typeface="Arial"/>
                                <a:cs typeface="Arial"/>
                                <a:sym typeface="Arial"/>
                              </a:rPr>
                            </m:ctrlPr>
                          </m:dPr>
                          <m:e>
                            <m:r>
                              <a:rPr lang="en-US" sz="2300" i="1" dirty="0" smtClean="0">
                                <a:latin typeface="Cambria Math" panose="02040503050406030204" pitchFamily="18" charset="0"/>
                                <a:ea typeface="Arial"/>
                                <a:cs typeface="Arial"/>
                                <a:sym typeface="Arial"/>
                              </a:rPr>
                              <m:t>𝜃</m:t>
                            </m:r>
                          </m:e>
                        </m:d>
                      </m:e>
                    </m:func>
                  </m:oMath>
                </a14:m>
                <a:r>
                  <a:rPr lang="en-US" sz="23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93969E7C-61A4-DEB8-D33A-485DA9C005E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88A1ED6-7A77-F6A8-7EE3-55765047F5D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3E98D0-A99C-4D4B-72AC-5DAE33FA3C1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E417F34-0668-C324-BBF0-6903F509AAF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6EE4969-C77B-E1E7-83FD-F3FB49C160A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739D0FC-2209-D8EA-5F65-AD71B4636C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B854F1-1D5F-F33B-D136-3D171D80CB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84F166-D5EE-5DAB-B838-03B4565EE11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13AF3D-B9E2-0242-28DE-416C05B3C4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51921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8C047FB-D4B2-5CA4-9118-F6090BC3403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2AB664A-4D77-28E3-166E-E546A86435E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The standard Kalman Filter guarantees an optimal estimate </a:t>
                </a:r>
                <a:r>
                  <a:rPr lang="en-US" sz="2300" b="1" dirty="0">
                    <a:latin typeface="Atkinson Hyperlegible Next"/>
                    <a:ea typeface="Arial"/>
                    <a:cs typeface="Arial"/>
                    <a:sym typeface="Arial"/>
                  </a:rPr>
                  <a:t>if and only if </a:t>
                </a:r>
                <a:r>
                  <a:rPr lang="en-US" sz="2300" dirty="0">
                    <a:latin typeface="Atkinson Hyperlegible Next"/>
                    <a:ea typeface="Arial"/>
                    <a:cs typeface="Arial"/>
                    <a:sym typeface="Arial"/>
                  </a:rPr>
                  <a:t>the system remains Gaussian.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you pass a Gaussian distribution through a linear function (like </a:t>
                </a:r>
                <a14:m>
                  <m:oMath xmlns:m="http://schemas.openxmlformats.org/officeDocument/2006/math">
                    <m:r>
                      <a:rPr lang="en-US" sz="2300" i="1" dirty="0" smtClean="0">
                        <a:latin typeface="Cambria Math" panose="02040503050406030204" pitchFamily="18" charset="0"/>
                        <a:ea typeface="Arial"/>
                        <a:cs typeface="Arial"/>
                        <a:sym typeface="Arial"/>
                      </a:rPr>
                      <m:t>2</m:t>
                    </m:r>
                    <m:r>
                      <a:rPr lang="en-US" sz="2300" i="1" dirty="0" smtClean="0">
                        <a:latin typeface="Cambria Math" panose="02040503050406030204" pitchFamily="18" charset="0"/>
                        <a:ea typeface="Arial"/>
                        <a:cs typeface="Arial"/>
                        <a:sym typeface="Arial"/>
                      </a:rPr>
                      <m:t>𝑥</m:t>
                    </m:r>
                  </m:oMath>
                </a14:m>
                <a:r>
                  <a:rPr lang="en-US" sz="2300" dirty="0">
                    <a:latin typeface="Atkinson Hyperlegible Next"/>
                    <a:ea typeface="Arial"/>
                    <a:cs typeface="Arial"/>
                    <a:sym typeface="Arial"/>
                  </a:rPr>
                  <a:t>), it stays Gaussian!</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If you pass a Gaussian distribution through a highly non-linear function (like sine or cosine), it becomes warped, skewed, and destroys the assumptions of the filter!</a:t>
                </a:r>
              </a:p>
            </p:txBody>
          </p:sp>
        </mc:Choice>
        <mc:Fallback xmlns="">
          <p:sp>
            <p:nvSpPr>
              <p:cNvPr id="118" name="Google Shape;118;p29">
                <a:extLst>
                  <a:ext uri="{FF2B5EF4-FFF2-40B4-BE49-F238E27FC236}">
                    <a16:creationId xmlns:a16="http://schemas.microsoft.com/office/drawing/2014/main" id="{52AB664A-4D77-28E3-166E-E546A86435E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18" t="-1011" r="-10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C829330-1549-F6CC-6C5E-BEDFFDC0E8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5151CD-B3D2-8125-85A4-8BF434EEBD6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BD9D9AF-A750-3CD1-D408-25D74431410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22ECABF-7417-D5EF-A544-AA818B3478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3C293A-0794-3FEF-E40C-001269816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4B735-EE97-D590-1052-7B1EF3AC44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B853140-1ABC-8C5F-0DD9-FE2ADA6A6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DECCFA-A71B-FFA4-F894-3E7320F098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9569293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68A0919-E22D-2720-2A77-2E464A2354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228D9E9-7115-9234-2955-18A4BBC982C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FA685E-614C-10FC-E49D-F6CF99F57D1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3695483-8B51-407F-2EBB-10BD36D3A59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DB71D-F8DF-710D-A440-576EFD7D29E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336BE-194D-566F-4223-65A222041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236815-78B8-96B3-4D3F-E27DE8887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6A6F09-D4DE-014E-62A5-1CF695DB96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2822D-494F-7BB8-D83A-DC9C1DB793F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 histograms showing why the Extended Kalman Filter is needed. First, Gaussian samples centered at 0, spanning about minus 4 to 4. Second, the same samples after the linear transform 2x: still a bell-shaped Gaussian centered at 0, but twice as wide, spanning about minus 8 to 8. Third, after the nonlinear transform sine of x: confined to minus 1 to 1, nearly flat in the middle with tall spikes at both ends, so it is no longer Gaussian.">
            <a:extLst>
              <a:ext uri="{FF2B5EF4-FFF2-40B4-BE49-F238E27FC236}">
                <a16:creationId xmlns:a16="http://schemas.microsoft.com/office/drawing/2014/main" id="{916BB3D0-BBD4-DBFB-B0F6-36E53C66B7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0" y="1397000"/>
            <a:ext cx="12192000" cy="4064000"/>
          </a:xfrm>
          <a:prstGeom prst="rect">
            <a:avLst/>
          </a:prstGeom>
        </p:spPr>
      </p:pic>
    </p:spTree>
    <p:extLst>
      <p:ext uri="{BB962C8B-B14F-4D97-AF65-F5344CB8AC3E}">
        <p14:creationId xmlns:p14="http://schemas.microsoft.com/office/powerpoint/2010/main" val="316311483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3BD434-4ABD-90A7-B328-2A13B37CFE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58E8E4A-ACCF-15FD-94F9-2CFCD792356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5951A8-58BD-FAE6-B8C3-EA3AAEB9C5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D7A564A-CF19-F68F-D565-7EB959C4D3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F8873E1-B7A6-EC00-891F-3D53FFE6C9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395717-2EDA-7534-C346-94D9C99A2C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16C6AD-EA4A-FBDF-5814-A271D69757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ABD447-956E-A4B7-3ED0-070B0B840E1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07991EF-A553-A0E2-C7FD-E9A5D7FFE99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Scatter plot: thousands of Monte Carlo particles, labeled the true distribution, plotted as global X position versus global Y position. They form a curved, banana-shaped arc rather than an elliptical Gaussian cloud. The arc starts sparse near X minus 5, Y 2, rises to about Y 5 around X 0 to 1, and bends down through X 3, Y 4 to X 5, Y 0. It is densest between those last two points and thins into a tail near X 2 to 4, Y minus 4 to minus 5.">
            <a:extLst>
              <a:ext uri="{FF2B5EF4-FFF2-40B4-BE49-F238E27FC236}">
                <a16:creationId xmlns:a16="http://schemas.microsoft.com/office/drawing/2014/main" id="{42196BA8-67CB-FEC0-DC5E-09554E7A5D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03137" y="868221"/>
            <a:ext cx="5785727" cy="5785727"/>
          </a:xfrm>
          <a:prstGeom prst="rect">
            <a:avLst/>
          </a:prstGeom>
        </p:spPr>
      </p:pic>
    </p:spTree>
    <p:extLst>
      <p:ext uri="{BB962C8B-B14F-4D97-AF65-F5344CB8AC3E}">
        <p14:creationId xmlns:p14="http://schemas.microsoft.com/office/powerpoint/2010/main" val="369711490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3C9C72B-7E09-26D8-E7BB-4A175B3301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C6D92ED-9E79-BC73-1EB4-B32B6406D6C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300" dirty="0">
                <a:latin typeface="Atkinson Hyperlegible Next"/>
                <a:ea typeface="Arial"/>
                <a:cs typeface="Arial"/>
                <a:sym typeface="Arial"/>
              </a:rPr>
              <a:t>To solve this, we introduce the </a:t>
            </a:r>
            <a:r>
              <a:rPr lang="en-US" sz="2300" b="1" dirty="0">
                <a:latin typeface="Atkinson Hyperlegible Next"/>
                <a:ea typeface="Arial"/>
                <a:cs typeface="Arial"/>
                <a:sym typeface="Arial"/>
              </a:rPr>
              <a:t>Extended Kalman Filter </a:t>
            </a:r>
            <a:r>
              <a:rPr lang="en-US" sz="2300" dirty="0">
                <a:latin typeface="Atkinson Hyperlegible Next"/>
                <a:ea typeface="Arial"/>
                <a:cs typeface="Arial"/>
                <a:sym typeface="Arial"/>
              </a:rPr>
              <a:t>(EKF)</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The EKF uses the </a:t>
            </a:r>
            <a:r>
              <a:rPr lang="en-US" sz="2300" b="1" dirty="0">
                <a:latin typeface="Atkinson Hyperlegible Next"/>
                <a:ea typeface="Arial"/>
                <a:cs typeface="Arial"/>
                <a:sym typeface="Arial"/>
              </a:rPr>
              <a:t>Taylor Series </a:t>
            </a:r>
            <a:r>
              <a:rPr lang="en-US" sz="2300" dirty="0">
                <a:latin typeface="Atkinson Hyperlegible Next"/>
                <a:ea typeface="Arial"/>
                <a:cs typeface="Arial"/>
                <a:sym typeface="Arial"/>
              </a:rPr>
              <a:t>expansion to approximate the non-linear curves as flat lines right at our current operating point.</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By zooming in incredibly close to the robot's current state, the curve looks like a straight line. </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We use that temporary straight line (tangent) to update our uncertainty.</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nSpc>
                <a:spcPct val="100000"/>
              </a:lnSpc>
              <a:spcBef>
                <a:spcPts val="0"/>
              </a:spcBef>
              <a:buSzPts val="3000"/>
              <a:buNone/>
            </a:pPr>
            <a:r>
              <a:rPr lang="en-US" sz="2300" dirty="0">
                <a:latin typeface="Atkinson Hyperlegible Next"/>
                <a:ea typeface="Arial"/>
                <a:cs typeface="Arial"/>
                <a:sym typeface="Arial"/>
              </a:rPr>
              <a:t>What calculus tool allows us to find these tangents?</a:t>
            </a:r>
          </a:p>
          <a:p>
            <a:pPr marL="0" indent="0">
              <a:lnSpc>
                <a:spcPct val="100000"/>
              </a:lnSpc>
              <a:spcBef>
                <a:spcPts val="0"/>
              </a:spcBef>
              <a:buSzPts val="3000"/>
              <a:buNone/>
            </a:pPr>
            <a:endParaRPr lang="en-US" sz="2300" dirty="0">
              <a:latin typeface="Atkinson Hyperlegible Next"/>
              <a:ea typeface="Arial"/>
              <a:cs typeface="Arial"/>
              <a:sym typeface="Arial"/>
            </a:endParaRPr>
          </a:p>
          <a:p>
            <a:pPr marL="0" indent="0" algn="ctr">
              <a:lnSpc>
                <a:spcPct val="100000"/>
              </a:lnSpc>
              <a:spcBef>
                <a:spcPts val="0"/>
              </a:spcBef>
              <a:buSzPts val="3000"/>
              <a:buNone/>
            </a:pPr>
            <a:r>
              <a:rPr lang="en-US" sz="2300" dirty="0">
                <a:latin typeface="Atkinson Hyperlegible Next"/>
                <a:ea typeface="Arial"/>
                <a:cs typeface="Arial"/>
                <a:sym typeface="Arial"/>
              </a:rPr>
              <a:t>Derivates (in this case </a:t>
            </a:r>
            <a:r>
              <a:rPr lang="en-US" sz="2300" b="1" dirty="0">
                <a:latin typeface="Atkinson Hyperlegible Next"/>
                <a:ea typeface="Arial"/>
                <a:cs typeface="Arial"/>
                <a:sym typeface="Arial"/>
              </a:rPr>
              <a:t>Partial Derivatives</a:t>
            </a:r>
            <a:r>
              <a:rPr lang="en-US" sz="23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5218F053-A21D-4AA6-2BC1-1781257ADA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342EDF9-A4A3-AC28-2192-405182E0947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A4465F-8453-09B1-218C-BCF177BD6F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E3A5A5-A07B-FC00-2CD2-D89328298B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3371D0-7852-4B82-8E11-7EC50EC69BC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E49E93-B0D2-64F0-05C3-E4103D17BA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085FA8-4244-0613-5FE2-BEDF8AE090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3759E8-AB16-2F0A-EEF9-30F0CD4754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022150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88CD6D-8985-1478-7682-504C48910E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AA4B27A-CF27-AEBC-88EC-1E346D5232F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5C4132A-C3C3-F47F-2A59-8D00687F140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08F67A-5E7C-2B45-DBFA-637A6A6A6A9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C2084-ADBF-2762-9C1A-93B1F2393D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295EC39-C777-775B-631C-3C9457C7278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BC11E5-3370-D31E-5419-2906DDC270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6B0EF79-8CE2-E42C-CC3C-FE4858E232E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6B329-3604-0FE6-1DDA-CCD478883AB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ition uncertainty after a motion step, global X versus Y. From a start pose at the origin, a nominal update arrow points to about (3.5, 3.5). Thousands of Monte Carlo particles form a curved banana-shaped arc of radius about 5 around the start, running from (−5, 2) over the top to (5, −4). The EKF two-sigma ellipse, centered at the nominal point and tilted along the arc's tangent, covers only the middle of the arc. Its linearization misses the curvature and much of the true spread.">
            <a:extLst>
              <a:ext uri="{FF2B5EF4-FFF2-40B4-BE49-F238E27FC236}">
                <a16:creationId xmlns:a16="http://schemas.microsoft.com/office/drawing/2014/main" id="{0F746960-7837-7025-1E03-27CDC991D05E}"/>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139080130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03927E3-3693-CE76-B3D0-A136D44717C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9AE72B-B252-1C42-369D-50717E706C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find that linear approximation, we take the derivative.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Because our state has multiple variables (</a:t>
                </a:r>
                <a14:m>
                  <m:oMath xmlns:m="http://schemas.openxmlformats.org/officeDocument/2006/math">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𝑌</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 we must take the </a:t>
                </a:r>
                <a:r>
                  <a:rPr lang="en-US" sz="2000" b="1" dirty="0">
                    <a:latin typeface="Atkinson Hyperlegible Next"/>
                    <a:ea typeface="Arial"/>
                    <a:cs typeface="Arial"/>
                    <a:sym typeface="Arial"/>
                  </a:rPr>
                  <a:t>Partial Derivative </a:t>
                </a:r>
                <a:r>
                  <a:rPr lang="en-US" sz="2000" dirty="0">
                    <a:latin typeface="Atkinson Hyperlegible Next"/>
                    <a:ea typeface="Arial"/>
                    <a:cs typeface="Arial"/>
                    <a:sym typeface="Arial"/>
                  </a:rPr>
                  <a:t>of every output equation with respect to every input state variable.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arrange these partial derivatives into a grid called the </a:t>
                </a:r>
                <a:r>
                  <a:rPr lang="en-US" sz="2000" b="1" dirty="0">
                    <a:latin typeface="Atkinson Hyperlegible Next"/>
                    <a:ea typeface="Arial"/>
                    <a:cs typeface="Arial"/>
                    <a:sym typeface="Arial"/>
                  </a:rPr>
                  <a:t>Jacobian Matrix</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𝐹</m:t>
                      </m:r>
                      <m:r>
                        <a:rPr lang="en-US" sz="2000" i="1" dirty="0" smtClean="0">
                          <a:latin typeface="Cambria Math" panose="02040503050406030204" pitchFamily="18" charset="0"/>
                          <a:ea typeface="Arial"/>
                          <a:cs typeface="Arial"/>
                          <a:sym typeface="Arial"/>
                        </a:rPr>
                        <m:t> = </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a:latin typeface="Cambria Math" panose="02040503050406030204" pitchFamily="18" charset="0"/>
                                        <a:cs typeface="Arial"/>
                                        <a:sym typeface="Arial"/>
                                      </a:rPr>
                                      <m:t>𝜕</m:t>
                                    </m:r>
                                    <m:sSub>
                                      <m:sSubPr>
                                        <m:ctrlPr>
                                          <a:rPr lang="en-US" sz="2000" i="1" dirty="0">
                                            <a:latin typeface="Cambria Math" panose="02040503050406030204" pitchFamily="18" charset="0"/>
                                            <a:cs typeface="Arial"/>
                                            <a:sym typeface="Arial"/>
                                          </a:rPr>
                                        </m:ctrlPr>
                                      </m:sSubPr>
                                      <m:e>
                                        <m:r>
                                          <a:rPr lang="en-US" sz="2000" i="1" dirty="0">
                                            <a:latin typeface="Cambria Math" panose="02040503050406030204" pitchFamily="18" charset="0"/>
                                            <a:cs typeface="Arial"/>
                                            <a:sym typeface="Arial"/>
                                          </a:rPr>
                                          <m:t>𝑓</m:t>
                                        </m:r>
                                      </m:e>
                                      <m:sub>
                                        <m:r>
                                          <a:rPr lang="en-US" sz="2000" i="1" dirty="0">
                                            <a:latin typeface="Cambria Math" panose="02040503050406030204" pitchFamily="18" charset="0"/>
                                            <a:cs typeface="Arial"/>
                                            <a:sym typeface="Arial"/>
                                          </a:rPr>
                                          <m:t>1</m:t>
                                        </m:r>
                                      </m:sub>
                                    </m:sSub>
                                  </m:num>
                                  <m:den>
                                    <m:r>
                                      <a:rPr lang="en-US" sz="2000" i="1" dirty="0">
                                        <a:latin typeface="Cambria Math" panose="02040503050406030204" pitchFamily="18" charset="0"/>
                                        <a:cs typeface="Arial"/>
                                        <a:sym typeface="Arial"/>
                                      </a:rPr>
                                      <m:t>𝜕</m:t>
                                    </m:r>
                                    <m:r>
                                      <a:rPr lang="en-US" sz="2000" i="1" dirty="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1</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1</m:t>
                                        </m:r>
                                      </m:sub>
                                    </m:sSub>
                                  </m:num>
                                  <m:den>
                                    <m:r>
                                      <a:rPr lang="en-US" sz="2000" b="0" i="1" dirty="0" smtClean="0">
                                        <a:latin typeface="Cambria Math" panose="02040503050406030204" pitchFamily="18" charset="0"/>
                                        <a:cs typeface="Arial"/>
                                        <a:sym typeface="Arial"/>
                                      </a:rPr>
                                      <m:t>𝜕𝜃</m:t>
                                    </m:r>
                                  </m:den>
                                </m:f>
                              </m:e>
                            </m:mr>
                            <m:mr>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2</m:t>
                                        </m:r>
                                      </m:sub>
                                    </m:sSub>
                                  </m:num>
                                  <m:den>
                                    <m:r>
                                      <a:rPr lang="en-US" sz="2000" b="0" i="1" dirty="0" smtClean="0">
                                        <a:latin typeface="Cambria Math" panose="02040503050406030204" pitchFamily="18" charset="0"/>
                                        <a:cs typeface="Arial"/>
                                        <a:sym typeface="Arial"/>
                                      </a:rPr>
                                      <m:t>𝜕𝜃</m:t>
                                    </m:r>
                                  </m:den>
                                </m:f>
                              </m:e>
                            </m:mr>
                            <m:mr>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3</m:t>
                                    </m:r>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𝑋</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3</m:t>
                                        </m:r>
                                      </m:sub>
                                    </m:sSub>
                                  </m:num>
                                  <m:den>
                                    <m:r>
                                      <a:rPr lang="en-US" sz="2000" b="0" i="1" dirty="0" smtClean="0">
                                        <a:latin typeface="Cambria Math" panose="02040503050406030204" pitchFamily="18" charset="0"/>
                                        <a:cs typeface="Arial"/>
                                        <a:sym typeface="Arial"/>
                                      </a:rPr>
                                      <m:t>𝜕</m:t>
                                    </m:r>
                                    <m:r>
                                      <a:rPr lang="en-US" sz="2000" b="0" i="1" dirty="0" smtClean="0">
                                        <a:latin typeface="Cambria Math" panose="02040503050406030204" pitchFamily="18" charset="0"/>
                                        <a:cs typeface="Arial"/>
                                        <a:sym typeface="Arial"/>
                                      </a:rPr>
                                      <m:t>𝑌</m:t>
                                    </m:r>
                                  </m:den>
                                </m:f>
                              </m:e>
                              <m:e>
                                <m:f>
                                  <m:fPr>
                                    <m:ctrlPr>
                                      <a:rPr lang="en-US" sz="2000" b="0" i="1" dirty="0" smtClean="0">
                                        <a:latin typeface="Cambria Math" panose="02040503050406030204" pitchFamily="18" charset="0"/>
                                        <a:cs typeface="Arial"/>
                                        <a:sym typeface="Arial"/>
                                      </a:rPr>
                                    </m:ctrlPr>
                                  </m:fPr>
                                  <m:num>
                                    <m:r>
                                      <a:rPr lang="en-US" sz="2000" b="0" i="1" dirty="0" smtClean="0">
                                        <a:latin typeface="Cambria Math" panose="02040503050406030204" pitchFamily="18" charset="0"/>
                                        <a:cs typeface="Arial"/>
                                        <a:sym typeface="Arial"/>
                                      </a:rPr>
                                      <m:t>𝜕</m:t>
                                    </m:r>
                                    <m:sSub>
                                      <m:sSubPr>
                                        <m:ctrlPr>
                                          <a:rPr lang="en-US" sz="2000" b="0" i="1" dirty="0" smtClean="0">
                                            <a:latin typeface="Cambria Math" panose="02040503050406030204" pitchFamily="18" charset="0"/>
                                            <a:cs typeface="Arial"/>
                                            <a:sym typeface="Arial"/>
                                          </a:rPr>
                                        </m:ctrlPr>
                                      </m:sSubPr>
                                      <m:e>
                                        <m:r>
                                          <a:rPr lang="en-US" sz="2000" b="0" i="1" dirty="0" smtClean="0">
                                            <a:latin typeface="Cambria Math" panose="02040503050406030204" pitchFamily="18" charset="0"/>
                                            <a:cs typeface="Arial"/>
                                            <a:sym typeface="Arial"/>
                                          </a:rPr>
                                          <m:t>𝑓</m:t>
                                        </m:r>
                                      </m:e>
                                      <m:sub>
                                        <m:r>
                                          <a:rPr lang="en-US" sz="2000" b="0" i="1" dirty="0" smtClean="0">
                                            <a:latin typeface="Cambria Math" panose="02040503050406030204" pitchFamily="18" charset="0"/>
                                            <a:cs typeface="Arial"/>
                                            <a:sym typeface="Arial"/>
                                          </a:rPr>
                                          <m:t>3</m:t>
                                        </m:r>
                                      </m:sub>
                                    </m:sSub>
                                  </m:num>
                                  <m:den>
                                    <m:r>
                                      <a:rPr lang="en-US" sz="2000" b="0" i="1" dirty="0" smtClean="0">
                                        <a:latin typeface="Cambria Math" panose="02040503050406030204" pitchFamily="18" charset="0"/>
                                        <a:cs typeface="Arial"/>
                                        <a:sym typeface="Arial"/>
                                      </a:rPr>
                                      <m:t>𝜕𝜃</m:t>
                                    </m:r>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the EKF, the dynamic Jacobian matrix replaces the static linear </a:t>
                </a:r>
                <a14:m>
                  <m:oMath xmlns:m="http://schemas.openxmlformats.org/officeDocument/2006/math">
                    <m:r>
                      <a:rPr lang="en-US" sz="2000" i="1" dirty="0" smtClean="0">
                        <a:latin typeface="Cambria Math" panose="02040503050406030204" pitchFamily="18" charset="0"/>
                        <a:ea typeface="Arial"/>
                        <a:cs typeface="Arial"/>
                        <a:sym typeface="Arial"/>
                      </a:rPr>
                      <m:t>𝐹</m:t>
                    </m:r>
                  </m:oMath>
                </a14:m>
                <a:r>
                  <a:rPr lang="en-US" sz="2000" dirty="0">
                    <a:latin typeface="Atkinson Hyperlegible Next"/>
                    <a:ea typeface="Arial"/>
                    <a:cs typeface="Arial"/>
                    <a:sym typeface="Arial"/>
                  </a:rPr>
                  <a:t> matrix.</a:t>
                </a:r>
              </a:p>
            </p:txBody>
          </p:sp>
        </mc:Choice>
        <mc:Fallback xmlns="">
          <p:sp>
            <p:nvSpPr>
              <p:cNvPr id="118" name="Google Shape;118;p29">
                <a:extLst>
                  <a:ext uri="{FF2B5EF4-FFF2-40B4-BE49-F238E27FC236}">
                    <a16:creationId xmlns:a16="http://schemas.microsoft.com/office/drawing/2014/main" id="{459AE72B-B252-1C42-369D-50717E706C9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8E8599-A1DE-967D-352D-2F93F965696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9CADB72-FB4E-7B00-3F3A-99467A812D6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3E16C2-8675-AE5C-3A0D-F2FFC3CF3C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4D8740-1FFD-F89A-4C54-B089BD71F29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F6A285-E76B-234D-04E7-D8DEA8D341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DD8ABDD-F506-0C99-EB5E-DF32D3A6C7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84EF2F-BD45-549A-5ACA-EFC0E09E6D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7EE84A-6832-4230-3504-1C35FAA41B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2720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B5BB04A-308D-31C8-2BA7-DE3328369A4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3089F5-0F7E-1951-D1C6-D98116107A2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Let's calculate the partial derivatives for our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position equation: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=1</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𝑓</m:t>
                              </m:r>
                            </m:e>
                            <m:sub>
                              <m:r>
                                <a:rPr lang="en-US" sz="2000" i="1" dirty="0">
                                  <a:latin typeface="Cambria Math" panose="02040503050406030204" pitchFamily="18" charset="0"/>
                                  <a:ea typeface="Arial"/>
                                  <a:cs typeface="Arial"/>
                                  <a:sym typeface="Arial"/>
                                </a:rPr>
                                <m:t>1</m:t>
                              </m:r>
                            </m:sub>
                          </m:sSub>
                        </m:num>
                        <m:den>
                          <m:r>
                            <a:rPr lang="en-US" sz="2000" i="1" dirty="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den>
                      </m:f>
                      <m:r>
                        <a:rPr lang="en-US" sz="2000" i="1" dirty="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0</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θ</m:t>
                    </m:r>
                  </m:oMath>
                </a14:m>
                <a:r>
                  <a:rPr lang="en-US" sz="2000" dirty="0">
                    <a:latin typeface="Atkinson Hyperlegible Next"/>
                    <a:ea typeface="Arial"/>
                    <a:cs typeface="Arial"/>
                    <a:sym typeface="Arial"/>
                  </a:rPr>
                  <a:t>: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take the derivative of </a:t>
                </a:r>
                <a14:m>
                  <m:oMath xmlns:m="http://schemas.openxmlformats.org/officeDocument/2006/math">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 The derivative of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cos</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is </a:t>
                </a:r>
                <a14:m>
                  <m:oMath xmlns:m="http://schemas.openxmlformats.org/officeDocument/2006/math">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sin</m:t>
                        </m:r>
                      </m:fName>
                      <m:e>
                        <m:r>
                          <a:rPr lang="en-US" sz="2000" i="1" dirty="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i="1" dirty="0" smtClean="0">
                                  <a:latin typeface="Cambria Math" panose="02040503050406030204" pitchFamily="18" charset="0"/>
                                  <a:ea typeface="Arial"/>
                                  <a:cs typeface="Arial"/>
                                  <a:sym typeface="Arial"/>
                                </a:rPr>
                                <m:t>1</m:t>
                              </m:r>
                            </m:sub>
                          </m:sSub>
                        </m:num>
                        <m:den>
                          <m:r>
                            <a:rPr lang="en-US" sz="2000" i="1" dirty="0" smtClean="0">
                              <a:latin typeface="Cambria Math" panose="02040503050406030204" pitchFamily="18" charset="0"/>
                              <a:ea typeface="Arial"/>
                              <a:cs typeface="Arial"/>
                              <a:sym typeface="Arial"/>
                            </a:rPr>
                            <m:t>𝜕𝜃</m:t>
                          </m:r>
                        </m:den>
                      </m:f>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C3089F5-0F7E-1951-D1C6-D98116107A2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DB8BEA8-7ABF-FC31-B18A-390E61E758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3A8203A-5DA0-9FEF-AD6A-1880F6056A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71D5F5-7C2D-1D4E-FEB3-27E06BDCA39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DBF524B-8981-EE67-21F5-4FBDD6085E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8FE9EC-0DBF-F3B9-ED39-1881B2DB22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8E767D-312A-98B8-E28B-88266741E35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09F2ED-ED70-B21A-6B00-00DB4F2D392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7E46C46-2329-3F38-DF48-60846B9EE2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397901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D4A323-FD45-2C53-3E3B-873EF0CAFE0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130303-E5AB-25C5-613A-638F756AFA0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Let's calculate the partial derivatives for our </a:t>
                </a:r>
                <a14:m>
                  <m:oMath xmlns:m="http://schemas.openxmlformats.org/officeDocument/2006/math">
                    <m:r>
                      <m:rPr>
                        <m:sty m:val="p"/>
                      </m:rPr>
                      <a:rPr lang="en-US" sz="2000" b="0" i="1" dirty="0"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position equation: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r>
                      <a:rPr lang="en-US" sz="2000" i="1" dirty="0" smtClean="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0</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Y</m:t>
                    </m:r>
                  </m:oMath>
                </a14:m>
                <a:r>
                  <a:rPr lang="en-US" sz="2000" dirty="0">
                    <a:latin typeface="Atkinson Hyperlegible Next"/>
                    <a:ea typeface="Arial"/>
                    <a:cs typeface="Arial"/>
                    <a:sym typeface="Arial"/>
                  </a:rPr>
                  <a:t>: </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a:latin typeface="Cambria Math" panose="02040503050406030204" pitchFamily="18" charset="0"/>
                              <a:ea typeface="Arial"/>
                              <a:cs typeface="Arial"/>
                              <a:sym typeface="Arial"/>
                            </a:rPr>
                            <m:t>𝜕</m:t>
                          </m:r>
                          <m:r>
                            <m:rPr>
                              <m:sty m:val="p"/>
                            </m:rPr>
                            <a:rPr lang="en-US" sz="2000" b="0" i="1" dirty="0" smtClean="0">
                              <a:latin typeface="Cambria Math" panose="02040503050406030204" pitchFamily="18" charset="0"/>
                              <a:ea typeface="Arial"/>
                              <a:cs typeface="Arial"/>
                              <a:sym typeface="Arial"/>
                            </a:rPr>
                            <m:t>Y</m:t>
                          </m:r>
                        </m:den>
                      </m:f>
                      <m:r>
                        <a:rPr lang="en-US" sz="2000" i="1" dirty="0">
                          <a:latin typeface="Cambria Math" panose="02040503050406030204" pitchFamily="18" charset="0"/>
                          <a:ea typeface="Arial"/>
                          <a:cs typeface="Arial"/>
                          <a:sym typeface="Arial"/>
                        </a:rPr>
                        <m:t>=</m:t>
                      </m:r>
                      <m:r>
                        <a:rPr lang="en-US" sz="2000" b="0" i="1" dirty="0" smtClean="0">
                          <a:latin typeface="Cambria Math" panose="02040503050406030204" pitchFamily="18" charset="0"/>
                          <a:ea typeface="Arial"/>
                          <a:cs typeface="Arial"/>
                          <a:sym typeface="Arial"/>
                        </a:rPr>
                        <m:t>1</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With respect to </a:t>
                </a:r>
                <a14:m>
                  <m:oMath xmlns:m="http://schemas.openxmlformats.org/officeDocument/2006/math">
                    <m:r>
                      <m:rPr>
                        <m:sty m:val="p"/>
                      </m:rPr>
                      <a:rPr lang="en-US" sz="2000" b="0" i="1" smtClean="0">
                        <a:latin typeface="Cambria Math" panose="02040503050406030204" pitchFamily="18" charset="0"/>
                        <a:ea typeface="Arial"/>
                        <a:cs typeface="Arial"/>
                        <a:sym typeface="Arial"/>
                      </a:rPr>
                      <m:t>θ</m:t>
                    </m:r>
                  </m:oMath>
                </a14:m>
                <a:r>
                  <a:rPr lang="en-US" sz="2000" dirty="0">
                    <a:latin typeface="Atkinson Hyperlegible Next"/>
                    <a:ea typeface="Arial"/>
                    <a:cs typeface="Arial"/>
                    <a:sym typeface="Arial"/>
                  </a:rPr>
                  <a:t>: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derive </a:t>
                </a:r>
                <a14:m>
                  <m:oMath xmlns:m="http://schemas.openxmlformats.org/officeDocument/2006/math">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a14:m>
                <a:r>
                  <a:rPr lang="en-US" sz="2000" dirty="0">
                    <a:latin typeface="Atkinson Hyperlegible Next"/>
                    <a:ea typeface="Arial"/>
                    <a:cs typeface="Arial"/>
                    <a:sym typeface="Arial"/>
                  </a:rPr>
                  <a:t>. The derivative of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is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1" dirty="0">
                            <a:latin typeface="Cambria Math" panose="02040503050406030204" pitchFamily="18" charset="0"/>
                            <a:ea typeface="Arial"/>
                            <a:cs typeface="Arial"/>
                            <a:sym typeface="Arial"/>
                          </a:rPr>
                          <m:t>cos</m:t>
                        </m:r>
                      </m:fName>
                      <m:e>
                        <m:r>
                          <a:rPr lang="en-US" sz="2000" b="0" i="1" dirty="0" smtClean="0">
                            <a:latin typeface="Cambria Math" panose="02040503050406030204" pitchFamily="18" charset="0"/>
                            <a:ea typeface="Arial"/>
                            <a:cs typeface="Arial"/>
                            <a:sym typeface="Arial"/>
                          </a:rPr>
                          <m:t> </m:t>
                        </m:r>
                        <m:r>
                          <a:rPr lang="en-US" sz="2000" i="1" dirty="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𝑓</m:t>
                              </m:r>
                            </m:e>
                            <m:sub>
                              <m:r>
                                <a:rPr lang="en-US" sz="2000" b="0" i="1" dirty="0" smtClean="0">
                                  <a:latin typeface="Cambria Math" panose="02040503050406030204" pitchFamily="18" charset="0"/>
                                  <a:ea typeface="Arial"/>
                                  <a:cs typeface="Arial"/>
                                  <a:sym typeface="Arial"/>
                                </a:rPr>
                                <m:t>2</m:t>
                              </m:r>
                            </m:sub>
                          </m:sSub>
                        </m:num>
                        <m:den>
                          <m:r>
                            <a:rPr lang="en-US" sz="2000" i="1" dirty="0" smtClean="0">
                              <a:latin typeface="Cambria Math" panose="02040503050406030204" pitchFamily="18" charset="0"/>
                              <a:ea typeface="Arial"/>
                              <a:cs typeface="Arial"/>
                              <a:sym typeface="Arial"/>
                            </a:rPr>
                            <m:t>𝜕𝜃</m:t>
                          </m:r>
                        </m:den>
                      </m:f>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𝑣</m:t>
                      </m:r>
                      <m:func>
                        <m:funcPr>
                          <m:ctrlPr>
                            <a:rPr lang="en-US" sz="200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cos</m:t>
                          </m:r>
                        </m:fName>
                        <m:e>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𝜃</m:t>
                              </m:r>
                            </m:e>
                          </m:d>
                        </m:e>
                      </m:func>
                      <m:r>
                        <a:rPr lang="en-US" sz="2000" i="1" dirty="0" smtClean="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F130303-E5AB-25C5-613A-638F756AFA03}"/>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C5AB5-E759-F3B6-FB14-052A0CB94E1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6344416-3A91-1817-343E-5539EC8173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87968D-B07E-67DF-27B9-34E5F52D29B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B903B9-0DB3-3050-A7A9-3538866013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1843B4-D5B1-72D4-0CE2-66D5CCE054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4CE45A-4A20-F501-FE99-527279BCC1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8595AF-ADCC-0032-4EB3-2AEFE0BECD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249F129-1D7E-A4DA-C3FC-6B0E10D0EB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48500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DDBAD9-8D2B-9173-DF07-A1F4CEB74C8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93FF1CE-5C3F-A722-0400-C61A7F08051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Putting everything together into the State Transition Matrix:</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400" i="1" dirty="0" smtClean="0">
                                  <a:latin typeface="Cambria Math" panose="02040503050406030204" pitchFamily="18" charset="0"/>
                                  <a:ea typeface="Arial"/>
                                  <a:cs typeface="Arial"/>
                                  <a:sym typeface="Arial"/>
                                </a:rPr>
                              </m:ctrlPr>
                            </m:mPr>
                            <m:mr>
                              <m:e>
                                <m:r>
                                  <a:rPr lang="en-US" sz="2400" i="1" dirty="0" smtClean="0">
                                    <a:latin typeface="Cambria Math" panose="02040503050406030204" pitchFamily="18" charset="0"/>
                                    <a:ea typeface="Arial"/>
                                    <a:cs typeface="Arial"/>
                                    <a:sym typeface="Arial"/>
                                  </a:rPr>
                                  <m:t>1</m:t>
                                </m:r>
                              </m:e>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m:t>
                                </m:r>
                                <m:sSub>
                                  <m:sSubPr>
                                    <m:ctrlPr>
                                      <a:rPr lang="en-US" sz="2400" b="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𝑣</m:t>
                                    </m:r>
                                  </m:e>
                                  <m:sub>
                                    <m:r>
                                      <a:rPr lang="en-US" sz="2400" b="0" i="1" dirty="0" smtClean="0">
                                        <a:latin typeface="Cambria Math" panose="02040503050406030204" pitchFamily="18" charset="0"/>
                                        <a:ea typeface="Arial"/>
                                        <a:cs typeface="Arial"/>
                                        <a:sym typeface="Arial"/>
                                      </a:rPr>
                                      <m:t>𝑘</m:t>
                                    </m:r>
                                  </m:sub>
                                </m:sSub>
                                <m:func>
                                  <m:funcPr>
                                    <m:ctrlPr>
                                      <a:rPr lang="en-US" sz="2400" b="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sin</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smtClean="0">
                                                <a:latin typeface="Cambria Math" panose="02040503050406030204" pitchFamily="18" charset="0"/>
                                                <a:ea typeface="Arial"/>
                                                <a:cs typeface="Arial"/>
                                                <a:sym typeface="Arial"/>
                                              </a:rPr>
                                              <m:t>𝑘</m:t>
                                            </m:r>
                                          </m:sub>
                                        </m:sSub>
                                      </m:e>
                                    </m:d>
                                  </m:e>
                                </m:func>
                                <m:r>
                                  <a:rPr lang="en-US" sz="2400" i="1" dirty="0" smtClean="0">
                                    <a:latin typeface="Cambria Math" panose="02040503050406030204" pitchFamily="18" charset="0"/>
                                    <a:ea typeface="Arial"/>
                                    <a:cs typeface="Arial"/>
                                    <a:sym typeface="Arial"/>
                                  </a:rPr>
                                  <m:t>𝑑𝑡</m:t>
                                </m:r>
                              </m:e>
                            </m:mr>
                            <m:mr>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1</m:t>
                                </m:r>
                              </m:e>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𝑣</m:t>
                                    </m:r>
                                  </m:e>
                                  <m:sub>
                                    <m:r>
                                      <a:rPr lang="en-US" sz="2400" i="1" dirty="0">
                                        <a:latin typeface="Cambria Math" panose="02040503050406030204" pitchFamily="18" charset="0"/>
                                        <a:ea typeface="Arial"/>
                                        <a:cs typeface="Arial"/>
                                        <a:sym typeface="Arial"/>
                                      </a:rPr>
                                      <m:t>𝑘</m:t>
                                    </m:r>
                                  </m:sub>
                                </m:sSub>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cos</m:t>
                                    </m:r>
                                  </m:fName>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𝜃</m:t>
                                            </m:r>
                                          </m:e>
                                          <m:sub>
                                            <m:r>
                                              <a:rPr lang="en-US" sz="2400" i="1" dirty="0" err="1" smtClean="0">
                                                <a:latin typeface="Cambria Math" panose="02040503050406030204" pitchFamily="18" charset="0"/>
                                                <a:ea typeface="Arial"/>
                                                <a:cs typeface="Arial"/>
                                                <a:sym typeface="Arial"/>
                                              </a:rPr>
                                              <m:t>𝑘</m:t>
                                            </m:r>
                                          </m:sub>
                                        </m:sSub>
                                      </m:e>
                                    </m:d>
                                  </m:e>
                                </m:func>
                                <m:r>
                                  <a:rPr lang="en-US" sz="2400" i="1" dirty="0" smtClean="0">
                                    <a:latin typeface="Cambria Math" panose="02040503050406030204" pitchFamily="18" charset="0"/>
                                    <a:ea typeface="Arial"/>
                                    <a:cs typeface="Arial"/>
                                    <a:sym typeface="Arial"/>
                                  </a:rPr>
                                  <m:t>𝑑𝑡</m:t>
                                </m:r>
                              </m:e>
                            </m:mr>
                            <m:mr>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0</m:t>
                                </m:r>
                              </m:e>
                              <m:e>
                                <m:r>
                                  <a:rPr lang="en-US" sz="2400" i="1" dirty="0" smtClean="0">
                                    <a:latin typeface="Cambria Math" panose="02040503050406030204" pitchFamily="18" charset="0"/>
                                    <a:ea typeface="Arial"/>
                                    <a:cs typeface="Arial"/>
                                    <a:sym typeface="Arial"/>
                                  </a:rPr>
                                  <m:t>1</m:t>
                                </m:r>
                              </m:e>
                            </m:mr>
                          </m:m>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Notice the </a:t>
                </a:r>
                <a14:m>
                  <m:oMath xmlns:m="http://schemas.openxmlformats.org/officeDocument/2006/math">
                    <m:r>
                      <a:rPr lang="en-US" sz="2400" i="1" dirty="0" smtClean="0">
                        <a:latin typeface="Cambria Math" panose="02040503050406030204" pitchFamily="18" charset="0"/>
                        <a:ea typeface="Arial"/>
                        <a:cs typeface="Arial"/>
                        <a:sym typeface="Arial"/>
                      </a:rPr>
                      <m:t>𝑘</m:t>
                    </m:r>
                  </m:oMath>
                </a14:m>
                <a:r>
                  <a:rPr lang="en-US" sz="2400" dirty="0">
                    <a:latin typeface="Atkinson Hyperlegible Next"/>
                    <a:ea typeface="Arial"/>
                    <a:cs typeface="Arial"/>
                    <a:sym typeface="Arial"/>
                  </a:rPr>
                  <a:t> subscript. This matrix is no longer static.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You must </a:t>
                </a:r>
                <a:r>
                  <a:rPr lang="en-US" sz="2400" b="1" dirty="0">
                    <a:latin typeface="Atkinson Hyperlegible Next"/>
                    <a:ea typeface="Arial"/>
                    <a:cs typeface="Arial"/>
                    <a:sym typeface="Arial"/>
                  </a:rPr>
                  <a:t>re-calculate</a:t>
                </a:r>
                <a:r>
                  <a:rPr lang="en-US" sz="2400" dirty="0">
                    <a:latin typeface="Atkinson Hyperlegible Next"/>
                    <a:ea typeface="Arial"/>
                    <a:cs typeface="Arial"/>
                    <a:sym typeface="Arial"/>
                  </a:rPr>
                  <a:t>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on your microcontroller every single loop based on your </a:t>
                </a:r>
                <a:r>
                  <a:rPr lang="en-US" sz="2400" b="1" dirty="0">
                    <a:latin typeface="Atkinson Hyperlegible Next"/>
                    <a:ea typeface="Arial"/>
                    <a:cs typeface="Arial"/>
                    <a:sym typeface="Arial"/>
                  </a:rPr>
                  <a:t>current velocity and heading</a:t>
                </a:r>
                <a:r>
                  <a:rPr lang="en-US" sz="24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C93FF1CE-5C3F-A722-0400-C61A7F08051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1C00726-012A-E73E-7F60-20838BF464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3AEF18-9348-903F-A003-A1816BDEB17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342E9-1CB4-361A-3695-862A026A0B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AD82E1-6875-2A40-EFC9-45046E3B5A9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BD7D62-3B56-AEC7-060B-EAE81D7F71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C94C3D-5445-D555-5DBA-784FF6B9EF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6E6F0B2-C1F2-6A32-257E-BCB00D62F3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27D17B-D4D3-2125-7362-BD4DC15EEA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7042886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D8CB2A-9A8D-5795-0CFA-D3BAB932B43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6A59559A-EF40-1CB1-9D96-3015EF99445B}"/>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9F8BA038-8A45-1E45-2E72-99014E53AE4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Predict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F3346009-86DF-4EAA-7E15-5FE993D911D3}"/>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CECEDD4-E737-A9E0-C27E-867274E4965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DB857650-7CE7-0F40-486D-829DF916318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47566FB-1603-B23A-05F6-2BFB021DDB5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8AB3215F-21FF-93E7-54FD-C540D2C3FE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AC75DD8B-2894-635F-B7F7-CBFB255682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047F730-9070-E25E-3BCB-948EBF53E06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0CB1B4A9-0787-4FAE-9995-8B4B722C268B}"/>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87188407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1A3043-9F0D-CE3C-8D7D-ADE922C4709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12850F2-10E4-496C-196A-B3F30AC9FB5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structure of the Kalman filter remains exactly the same, we just swap in our non-linear functions and our newly derived Jacobian.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State Prediction</a:t>
                </a:r>
                <a:r>
                  <a:rPr lang="en-US" sz="2000" dirty="0">
                    <a:latin typeface="Atkinson Hyperlegible Next"/>
                    <a:ea typeface="Arial"/>
                    <a:cs typeface="Arial"/>
                    <a:sym typeface="Arial"/>
                  </a:rPr>
                  <a:t>: Instead of the </a:t>
                </a:r>
                <a14:m>
                  <m:oMath xmlns:m="http://schemas.openxmlformats.org/officeDocument/2006/math">
                    <m:r>
                      <a:rPr lang="en-US" sz="2000" i="1" dirty="0" smtClean="0">
                        <a:latin typeface="Cambria Math" panose="02040503050406030204" pitchFamily="18" charset="0"/>
                        <a:ea typeface="Arial"/>
                        <a:cs typeface="Arial"/>
                        <a:sym typeface="Arial"/>
                      </a:rPr>
                      <m:t>𝐹</m:t>
                    </m:r>
                  </m:oMath>
                </a14:m>
                <a:r>
                  <a:rPr lang="en-US" sz="2000" dirty="0">
                    <a:latin typeface="Atkinson Hyperlegible Next"/>
                    <a:ea typeface="Arial"/>
                    <a:cs typeface="Arial"/>
                    <a:sym typeface="Arial"/>
                  </a:rPr>
                  <a:t> matrix here and just use the raw, non-linear physics equations (let's call the function </a:t>
                </a:r>
                <a14:m>
                  <m:oMath xmlns:m="http://schemas.openxmlformats.org/officeDocument/2006/math">
                    <m:r>
                      <a:rPr lang="en-US" sz="2000" i="1" dirty="0" smtClean="0">
                        <a:latin typeface="Cambria Math" panose="02040503050406030204" pitchFamily="18" charset="0"/>
                        <a:ea typeface="Arial"/>
                        <a:cs typeface="Arial"/>
                        <a:sym typeface="Arial"/>
                      </a:rPr>
                      <m:t>𝑔</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m:t>
                          </m:r>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sub>
                      </m:sSub>
                      <m:r>
                        <a:rPr lang="en-US" sz="2000" i="1" smtClean="0">
                          <a:latin typeface="Cambria Math" panose="02040503050406030204" pitchFamily="18" charset="0"/>
                          <a:cs typeface="Arial"/>
                          <a:sym typeface="Arial"/>
                        </a:rPr>
                        <m:t>=</m:t>
                      </m:r>
                      <m:r>
                        <a:rPr lang="en-US" sz="2000" i="1" smtClean="0">
                          <a:latin typeface="Cambria Math" panose="02040503050406030204" pitchFamily="18" charset="0"/>
                          <a:cs typeface="Arial"/>
                          <a:sym typeface="Arial"/>
                        </a:rPr>
                        <m:t>𝑔</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r>
                                <a:rPr lang="en-US" sz="2000" i="1" smtClean="0">
                                  <a:latin typeface="Cambria Math" panose="02040503050406030204" pitchFamily="18" charset="0"/>
                                  <a:cs typeface="Arial"/>
                                  <a:sym typeface="Arial"/>
                                </a:rPr>
                                <m:t>𝑘</m:t>
                              </m:r>
                              <m:r>
                                <a:rPr lang="en-US" sz="2000" i="1" smtClean="0">
                                  <a:latin typeface="Cambria Math" panose="02040503050406030204" pitchFamily="18" charset="0"/>
                                  <a:cs typeface="Arial"/>
                                  <a:sym typeface="Arial"/>
                                </a:rPr>
                                <m:t>−1</m:t>
                              </m:r>
                            </m:sub>
                          </m:sSub>
                          <m:r>
                            <a:rPr lang="en-US" sz="2000" i="1" smtClean="0">
                              <a:latin typeface="Cambria Math" panose="02040503050406030204" pitchFamily="18" charset="0"/>
                              <a:cs typeface="Arial"/>
                              <a:sym typeface="Arial"/>
                            </a:rPr>
                            <m:t>,</m:t>
                          </m:r>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𝑢</m:t>
                              </m:r>
                            </m:e>
                            <m:sub>
                              <m:r>
                                <a:rPr lang="en-US" sz="2000" i="1" smtClean="0">
                                  <a:latin typeface="Cambria Math" panose="02040503050406030204" pitchFamily="18" charset="0"/>
                                  <a:cs typeface="Arial"/>
                                  <a:sym typeface="Arial"/>
                                </a:rPr>
                                <m:t>𝑘</m:t>
                              </m:r>
                            </m:sub>
                          </m:sSub>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our case </a:t>
                </a:r>
                <a14:m>
                  <m:oMath xmlns:m="http://schemas.openxmlformats.org/officeDocument/2006/math">
                    <m:r>
                      <a:rPr lang="en-US" sz="2000" i="1" dirty="0" smtClean="0">
                        <a:latin typeface="Cambria Math" panose="02040503050406030204" pitchFamily="18" charset="0"/>
                        <a:ea typeface="Arial"/>
                        <a:cs typeface="Arial"/>
                        <a:sym typeface="Arial"/>
                      </a:rPr>
                      <m:t>𝑔</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𝑌</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𝜃</m:t>
                        </m:r>
                      </m:e>
                    </m:d>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𝑋</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𝑋</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𝑣</m:t>
                      </m:r>
                      <m:func>
                        <m:funcPr>
                          <m:ctrlPr>
                            <a:rPr lang="en-US" sz="2000" i="1" dirty="0">
                              <a:latin typeface="Cambria Math" panose="02040503050406030204" pitchFamily="18" charset="0"/>
                              <a:ea typeface="Arial"/>
                              <a:cs typeface="Arial"/>
                              <a:sym typeface="Arial"/>
                            </a:rPr>
                          </m:ctrlPr>
                        </m:funcPr>
                        <m:fName>
                          <m:r>
                            <m:rPr>
                              <m:sty m:val="p"/>
                            </m:rPr>
                            <a:rPr lang="en-US" sz="2000" dirty="0">
                              <a:latin typeface="Cambria Math" panose="02040503050406030204" pitchFamily="18" charset="0"/>
                              <a:ea typeface="Arial"/>
                              <a:cs typeface="Arial"/>
                              <a:sym typeface="Arial"/>
                            </a:rPr>
                            <m:t>cos</m:t>
                          </m:r>
                        </m:fName>
                        <m:e>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𝜃</m:t>
                              </m:r>
                            </m:e>
                          </m:d>
                        </m:e>
                      </m:func>
                      <m:r>
                        <a:rPr lang="en-US" sz="2000" i="1" dirty="0">
                          <a:latin typeface="Cambria Math" panose="02040503050406030204" pitchFamily="18" charset="0"/>
                          <a:ea typeface="Arial"/>
                          <a:cs typeface="Arial"/>
                          <a:sym typeface="Arial"/>
                        </a:rPr>
                        <m:t>𝑑𝑡</m:t>
                      </m:r>
                    </m:oMath>
                  </m:oMathPara>
                </a14:m>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𝑌</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𝑌</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𝑣</m:t>
                      </m:r>
                      <m:func>
                        <m:funcPr>
                          <m:ctrlPr>
                            <a:rPr lang="en-US" sz="2000" i="1" dirty="0">
                              <a:latin typeface="Cambria Math" panose="02040503050406030204" pitchFamily="18" charset="0"/>
                              <a:ea typeface="Arial"/>
                              <a:cs typeface="Arial"/>
                              <a:sym typeface="Arial"/>
                            </a:rPr>
                          </m:ctrlPr>
                        </m:funcPr>
                        <m:fName>
                          <m:r>
                            <m:rPr>
                              <m:sty m:val="p"/>
                            </m:rPr>
                            <a:rPr lang="en-US" sz="2000" dirty="0">
                              <a:latin typeface="Cambria Math" panose="02040503050406030204" pitchFamily="18" charset="0"/>
                              <a:ea typeface="Arial"/>
                              <a:cs typeface="Arial"/>
                              <a:sym typeface="Arial"/>
                            </a:rPr>
                            <m:t>sin</m:t>
                          </m:r>
                        </m:fName>
                        <m:e>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𝜃</m:t>
                              </m:r>
                            </m:e>
                          </m:d>
                        </m:e>
                      </m:func>
                      <m:r>
                        <a:rPr lang="en-US" sz="2000" i="1" dirty="0">
                          <a:latin typeface="Cambria Math" panose="02040503050406030204" pitchFamily="18" charset="0"/>
                          <a:ea typeface="Arial"/>
                          <a:cs typeface="Arial"/>
                          <a:sym typeface="Arial"/>
                        </a:rPr>
                        <m:t>𝑑𝑡</m:t>
                      </m:r>
                    </m:oMath>
                  </m:oMathPara>
                </a14:m>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a:latin typeface="Cambria Math" panose="02040503050406030204" pitchFamily="18" charset="0"/>
                              <a:ea typeface="Arial"/>
                              <a:cs typeface="Arial"/>
                              <a:sym typeface="Arial"/>
                            </a:rPr>
                            <m:t>𝑛𝑒𝑤</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a:latin typeface="Cambria Math" panose="02040503050406030204" pitchFamily="18" charset="0"/>
                              <a:ea typeface="Arial"/>
                              <a:cs typeface="Arial"/>
                              <a:sym typeface="Arial"/>
                            </a:rPr>
                            <m:t>𝑜𝑙𝑑</m:t>
                          </m:r>
                        </m:sub>
                      </m:sSub>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𝜔</m:t>
                      </m:r>
                      <m:r>
                        <a:rPr lang="en-US" sz="2000" i="1" dirty="0">
                          <a:latin typeface="Cambria Math" panose="02040503050406030204" pitchFamily="18" charset="0"/>
                          <a:ea typeface="Arial"/>
                          <a:cs typeface="Arial"/>
                          <a:sym typeface="Arial"/>
                        </a:rPr>
                        <m:t>𝑑𝑡</m:t>
                      </m:r>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12850F2-10E4-496C-196A-B3F30AC9FB5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DD097E8-2BFE-1B37-97AB-959BAD5EA0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100F42-3771-278A-E3BE-CCE428DDCA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EC150E-F6C8-9B22-24DC-BDF598D0C23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0B0B6E0-4800-9B48-320C-EF9D41F0C1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DFB19B-EFE6-30CC-5047-857D6FA187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F13E7-6559-36B2-552A-DCFFA24AC31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2A7AC65-81E0-FA2F-69ED-698521BB7DE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1FEA173-D3FC-4ACA-836F-AF8FB6F579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9480455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06E977-3F53-56C9-D0BB-492027DC20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E709B19-F163-7BB4-E0B2-D476D7C12A8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b="1" dirty="0">
                    <a:latin typeface="Atkinson Hyperlegible Next"/>
                    <a:ea typeface="Arial"/>
                    <a:cs typeface="Arial"/>
                    <a:sym typeface="Arial"/>
                  </a:rPr>
                  <a:t>Covariance Prediction</a:t>
                </a:r>
                <a:r>
                  <a:rPr lang="en-US" sz="2400" dirty="0">
                    <a:latin typeface="Atkinson Hyperlegible Next"/>
                    <a:ea typeface="Arial"/>
                    <a:cs typeface="Arial"/>
                    <a:sym typeface="Arial"/>
                  </a:rPr>
                  <a:t>: We use our calculated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to warp the uncertainty ellipse properly.</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Sub>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𝐹</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𝑄</m:t>
                      </m:r>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What dimension is Q in our nonlinear case?</a:t>
                </a:r>
              </a:p>
            </p:txBody>
          </p:sp>
        </mc:Choice>
        <mc:Fallback xmlns="">
          <p:sp>
            <p:nvSpPr>
              <p:cNvPr id="118" name="Google Shape;118;p29">
                <a:extLst>
                  <a:ext uri="{FF2B5EF4-FFF2-40B4-BE49-F238E27FC236}">
                    <a16:creationId xmlns:a16="http://schemas.microsoft.com/office/drawing/2014/main" id="{2E709B19-F163-7BB4-E0B2-D476D7C12A8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0FD1F5E-F20D-46DE-9561-9CDAAC2A49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3781B2-7043-A78E-FE40-3C1F1316604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DDD1FD-A55E-5936-1203-55E7E97A73B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6638F4-3FB9-37FC-43FE-F31E4711FDB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C4C9F5A-FDA5-FD3B-0349-A27D923CCC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8DE69AD-D6A3-7613-3C43-A8FB0DB28C3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B564A8F-9329-2359-1DA6-494905A255B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A182BD-4F8D-A66D-9A50-9EB4B02233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1914196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0C61058-7C82-C561-7EE2-22D85E028D4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8A133C-1F0A-B05B-A98F-765ABC3A68C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88EF3D-A0A0-CE63-98D1-7F446B53D0E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42E247F-8288-5D75-034D-76935DADCDA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E6BD7-656F-461F-3A8A-C9A2DA3603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A0785B1-6A62-383B-3E40-53E7EA3ADD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05A427-F696-84C5-53C1-DD6EB9AFD41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28D31D-B6CD-7AD9-2BF8-B3E5E7306F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55CE9A-4D7D-5DA4-A562-CFA9BA24C4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ition uncertainty after a motion step, global X versus Y. From a start pose at the origin, a nominal update arrow points to about (3.5, 3.5). Thousands of Monte Carlo particles form a curved banana-shaped arc of radius about 5 around the start, running from (−5, 2) over the top to (5, −4). The EKF two-sigma ellipse, centered at the nominal point and tilted along the arc's tangent, covers only the middle of the arc. Its linearization misses the curvature and much of the true spread.">
            <a:extLst>
              <a:ext uri="{FF2B5EF4-FFF2-40B4-BE49-F238E27FC236}">
                <a16:creationId xmlns:a16="http://schemas.microsoft.com/office/drawing/2014/main" id="{BAB53DCF-39D4-00A6-32FB-1B692FF53B1A}"/>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274993180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C25C843E-2917-7D30-EAED-3E9ACF3BE7F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53F1B886-A2FB-F21F-15E5-E049390E68D1}"/>
              </a:ext>
            </a:extLst>
          </p:cNvPr>
          <p:cNvGrpSpPr/>
          <p:nvPr/>
        </p:nvGrpSpPr>
        <p:grpSpPr>
          <a:xfrm>
            <a:off x="2206906" y="2296815"/>
            <a:ext cx="7778187" cy="1508744"/>
            <a:chOff x="2206906" y="1491040"/>
            <a:chExt cx="7778187" cy="1508744"/>
          </a:xfrm>
        </p:grpSpPr>
        <p:sp>
          <p:nvSpPr>
            <p:cNvPr id="89" name="Google Shape;89;p27">
              <a:extLst>
                <a:ext uri="{FF2B5EF4-FFF2-40B4-BE49-F238E27FC236}">
                  <a16:creationId xmlns:a16="http://schemas.microsoft.com/office/drawing/2014/main" id="{F1525255-F323-E525-5A31-24742B69DC5D}"/>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Update</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C52AE850-B8B1-B5FB-3314-B9CDD207BF6E}"/>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AF7C25A-74BC-5E87-A917-B7AEFE9E0B93}"/>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F4D2EEC2-3DE9-BD2C-9D2A-E3300580695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281EA2F-10F9-2512-FA01-648E224787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8D4CF60C-3E0E-6352-7880-E17D765570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BF2E64B-7ACD-6D01-1A6E-684D15E2BCAD}"/>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B1B9476-FF04-1CD7-EF23-0936AECC127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7E87DA1-C2BF-B577-B173-FBD88A1DB1F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5488686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B966A2A-FC76-74B5-772A-77355A3A22B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177DE21-6B77-04D4-6244-F2DD982BD2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The same logic applies to sensors.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 sensor measurement is non-linear (like a radar measuring angle and distance), we use the non-linear measurement function </a:t>
                </a:r>
                <a14:m>
                  <m:oMath xmlns:m="http://schemas.openxmlformats.org/officeDocument/2006/math">
                    <m:r>
                      <a:rPr lang="en-US" sz="2400" i="1" dirty="0" smtClean="0">
                        <a:latin typeface="Cambria Math" panose="02040503050406030204" pitchFamily="18" charset="0"/>
                        <a:ea typeface="Arial"/>
                        <a:cs typeface="Arial"/>
                        <a:sym typeface="Arial"/>
                      </a:rPr>
                      <m:t>h</m:t>
                    </m:r>
                  </m:oMath>
                </a14:m>
                <a:r>
                  <a:rPr lang="en-US" sz="2400" dirty="0">
                    <a:latin typeface="Atkinson Hyperlegible Next"/>
                    <a:ea typeface="Arial"/>
                    <a:cs typeface="Arial"/>
                    <a:sym typeface="Arial"/>
                  </a:rPr>
                  <a:t> to predict the measurement, and a sensor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𝐻</m:t>
                        </m:r>
                      </m:e>
                      <m:sub>
                        <m:r>
                          <a:rPr lang="en-US" sz="2400" i="1" dirty="0"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to calculate the gain.</a:t>
                </a:r>
              </a:p>
              <a:p>
                <a:pPr marL="0" indent="0">
                  <a:lnSpc>
                    <a:spcPct val="100000"/>
                  </a:lnSpc>
                  <a:spcBef>
                    <a:spcPts val="0"/>
                  </a:spcBef>
                  <a:buSzPts val="3000"/>
                  <a:buNone/>
                </a:pPr>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177DE21-6B77-04D4-6244-F2DD982BD25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9F9D712-AB18-E5E6-4E16-E2B2FC385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3089C76-53F9-1677-D637-FD1CCD82AF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655A5E-CFA9-B521-13D5-52ED011843A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9A4047B-5A68-BD6D-5808-A2A846B8F5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B2DBC2-EB2F-84D4-AC2A-CD532660A8D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F70EA24-4877-7BF1-0336-7F62B93A2E8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4E03D2-1061-6926-C86F-599C43A14EC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F39646B-EE9E-D2F5-EA9B-4C547D66F8B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35763726"/>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1089A31-2797-4751-B137-5969A9D300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4740B13-0CF1-6C52-CCD9-083E110677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Let's say our robot is being tracked by a stationary radar tower located at the origin </a:t>
                </a:r>
                <a14:m>
                  <m:oMath xmlns:m="http://schemas.openxmlformats.org/officeDocument/2006/math">
                    <m:d>
                      <m:dPr>
                        <m:ctrlPr>
                          <a:rPr lang="en-US" sz="2400" i="1">
                            <a:latin typeface="Cambria Math" panose="02040503050406030204" pitchFamily="18" charset="0"/>
                            <a:cs typeface="Arial"/>
                            <a:sym typeface="Arial"/>
                          </a:rPr>
                        </m:ctrlPr>
                      </m:dPr>
                      <m:e>
                        <m:r>
                          <a:rPr lang="en-US" sz="2400" i="1">
                            <a:latin typeface="Cambria Math" panose="02040503050406030204" pitchFamily="18" charset="0"/>
                            <a:cs typeface="Arial"/>
                            <a:sym typeface="Arial"/>
                          </a:rPr>
                          <m:t>0,0</m:t>
                        </m:r>
                      </m:e>
                    </m: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radar doesn't measure </a:t>
                </a:r>
                <a14:m>
                  <m:oMath xmlns:m="http://schemas.openxmlformats.org/officeDocument/2006/math">
                    <m:r>
                      <a:rPr lang="en-US" sz="2400" i="1" dirty="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and </a:t>
                </a:r>
                <a14:m>
                  <m:oMath xmlns:m="http://schemas.openxmlformats.org/officeDocument/2006/math">
                    <m:r>
                      <a:rPr lang="en-US" sz="2400" i="1" dirty="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coordinates. It outputs a measurement vector </a:t>
                </a:r>
                <a14:m>
                  <m:oMath xmlns:m="http://schemas.openxmlformats.org/officeDocument/2006/math">
                    <m:r>
                      <a:rPr lang="en-US" sz="2400" i="1" dirty="0">
                        <a:latin typeface="Cambria Math" panose="02040503050406030204" pitchFamily="18" charset="0"/>
                        <a:ea typeface="Arial"/>
                        <a:cs typeface="Arial"/>
                        <a:sym typeface="Arial"/>
                      </a:rPr>
                      <m:t>𝑧</m:t>
                    </m:r>
                  </m:oMath>
                </a14:m>
                <a:r>
                  <a:rPr lang="en-US" sz="2400" dirty="0">
                    <a:latin typeface="Atkinson Hyperlegible Next"/>
                    <a:ea typeface="Arial"/>
                    <a:cs typeface="Arial"/>
                    <a:sym typeface="Arial"/>
                  </a:rPr>
                  <a:t> containing two values: distance (</a:t>
                </a:r>
                <a14:m>
                  <m:oMath xmlns:m="http://schemas.openxmlformats.org/officeDocument/2006/math">
                    <m:r>
                      <a:rPr lang="en-US" sz="2400" i="1" dirty="0">
                        <a:latin typeface="Cambria Math" panose="02040503050406030204" pitchFamily="18" charset="0"/>
                        <a:ea typeface="Arial"/>
                        <a:cs typeface="Arial"/>
                        <a:sym typeface="Arial"/>
                      </a:rPr>
                      <m:t>𝑟</m:t>
                    </m:r>
                  </m:oMath>
                </a14:m>
                <a:r>
                  <a:rPr lang="en-US" sz="2400" dirty="0">
                    <a:latin typeface="Atkinson Hyperlegible Next"/>
                    <a:ea typeface="Arial"/>
                    <a:cs typeface="Arial"/>
                    <a:sym typeface="Arial"/>
                  </a:rPr>
                  <a:t>) and bearing angle (</a:t>
                </a:r>
                <a14:m>
                  <m:oMath xmlns:m="http://schemas.openxmlformats.org/officeDocument/2006/math">
                    <m:r>
                      <a:rPr lang="en-US" sz="2400" i="1" dirty="0">
                        <a:latin typeface="Cambria Math" panose="02040503050406030204" pitchFamily="18" charset="0"/>
                        <a:ea typeface="Arial"/>
                        <a:cs typeface="Arial"/>
                        <a:sym typeface="Arial"/>
                      </a:rPr>
                      <m:t>𝜙</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dirty="0">
                          <a:latin typeface="Cambria Math" panose="02040503050406030204" pitchFamily="18" charset="0"/>
                          <a:ea typeface="Arial"/>
                          <a:cs typeface="Arial"/>
                          <a:sym typeface="Arial"/>
                        </a:rPr>
                        <m:t>𝑧</m:t>
                      </m:r>
                      <m:r>
                        <a:rPr lang="en-US" sz="2400" i="1" dirty="0">
                          <a:latin typeface="Cambria Math" panose="02040503050406030204" pitchFamily="18" charset="0"/>
                          <a:ea typeface="Arial"/>
                          <a:cs typeface="Arial"/>
                          <a:sym typeface="Arial"/>
                        </a:rPr>
                        <m:t>=</m:t>
                      </m:r>
                      <m:d>
                        <m:dPr>
                          <m:begChr m:val="["/>
                          <m:endChr m:val="]"/>
                          <m:ctrlPr>
                            <a:rPr lang="en-US" sz="2400" i="1" dirty="0">
                              <a:latin typeface="Cambria Math" panose="02040503050406030204" pitchFamily="18" charset="0"/>
                              <a:ea typeface="Arial"/>
                              <a:cs typeface="Arial"/>
                              <a:sym typeface="Arial"/>
                            </a:rPr>
                          </m:ctrlPr>
                        </m:dPr>
                        <m:e>
                          <m:m>
                            <m:mPr>
                              <m:plcHide m:val="on"/>
                              <m:mcs>
                                <m:mc>
                                  <m:mcPr>
                                    <m:count m:val="1"/>
                                    <m:mcJc m:val="center"/>
                                  </m:mcPr>
                                </m:mc>
                              </m:mcs>
                              <m:ctrlPr>
                                <a:rPr lang="en-US" sz="2400" i="1" dirty="0">
                                  <a:latin typeface="Cambria Math" panose="02040503050406030204" pitchFamily="18" charset="0"/>
                                  <a:ea typeface="Arial"/>
                                  <a:cs typeface="Arial"/>
                                  <a:sym typeface="Arial"/>
                                </a:rPr>
                              </m:ctrlPr>
                            </m:mPr>
                            <m:mr>
                              <m:e>
                                <m:r>
                                  <a:rPr lang="en-US" sz="2400" i="1" dirty="0">
                                    <a:latin typeface="Cambria Math" panose="02040503050406030204" pitchFamily="18" charset="0"/>
                                    <a:ea typeface="Arial"/>
                                    <a:cs typeface="Arial"/>
                                    <a:sym typeface="Arial"/>
                                  </a:rPr>
                                  <m:t>𝑟</m:t>
                                </m:r>
                              </m:e>
                            </m:mr>
                            <m:mr>
                              <m:e>
                                <m:r>
                                  <a:rPr lang="en-US" sz="2400" i="1" dirty="0">
                                    <a:latin typeface="Cambria Math" panose="02040503050406030204" pitchFamily="18" charset="0"/>
                                    <a:ea typeface="Arial"/>
                                    <a:cs typeface="Arial"/>
                                    <a:sym typeface="Arial"/>
                                  </a:rPr>
                                  <m:t>𝜙</m:t>
                                </m:r>
                              </m:e>
                            </m:mr>
                          </m:m>
                        </m:e>
                      </m:d>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4740B13-0CF1-6C52-CCD9-083E1106772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6C81C90-AFF5-74BD-9A9A-5532A4B03A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C7CEB6-4706-EE78-4071-DBEF1630C9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8E1D893-72A5-383E-B20F-A461309E9E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D13700-FEA2-1480-E74A-4E5A4F8B04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694DB1-70DB-880D-7412-E1D7BE3DDE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3408FCC-35E0-9FAD-4572-34035E59D6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0F3E20B-C49C-93F3-4EB2-B423E67876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5F7FB2-46E1-4F32-C659-D5CB3150FB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4954517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CD0FC6-0E36-2621-8F34-5B531838B7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401537-2FBE-2248-F116-7A45F1653C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During the Predict Step, we need to guess </a:t>
                </a:r>
                <a:r>
                  <a:rPr lang="en-US" sz="2400" b="1" dirty="0">
                    <a:latin typeface="Atkinson Hyperlegible Next"/>
                    <a:ea typeface="Arial"/>
                    <a:cs typeface="Arial"/>
                    <a:sym typeface="Arial"/>
                  </a:rPr>
                  <a:t>what the radar should see </a:t>
                </a:r>
                <a:r>
                  <a:rPr lang="en-US" sz="2400" dirty="0">
                    <a:latin typeface="Atkinson Hyperlegible Next"/>
                    <a:ea typeface="Arial"/>
                    <a:cs typeface="Arial"/>
                    <a:sym typeface="Arial"/>
                  </a:rPr>
                  <a:t>based on our internal belief of where we are (try to guess the radar measurement). </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use geometry to map our state space into sensor space. This is our non-linear measurement function, </a:t>
                </a:r>
                <a14:m>
                  <m:oMath xmlns:m="http://schemas.openxmlformats.org/officeDocument/2006/math">
                    <m:r>
                      <a:rPr lang="en-US" sz="2400" i="1" smtClean="0">
                        <a:latin typeface="Cambria Math" panose="02040503050406030204" pitchFamily="18" charset="0"/>
                        <a:cs typeface="Arial"/>
                        <a:sym typeface="Arial"/>
                      </a:rPr>
                      <m:t>h</m:t>
                    </m:r>
                    <m:d>
                      <m:dPr>
                        <m:ctrlPr>
                          <a:rPr lang="en-US" sz="2400" i="1" smtClean="0">
                            <a:latin typeface="Cambria Math" panose="02040503050406030204" pitchFamily="18" charset="0"/>
                            <a:cs typeface="Arial"/>
                            <a:sym typeface="Arial"/>
                          </a:rPr>
                        </m:ctrlPr>
                      </m:dPr>
                      <m:e>
                        <m:r>
                          <a:rPr lang="en-US" sz="2400" i="1" smtClean="0">
                            <a:latin typeface="Cambria Math" panose="02040503050406030204" pitchFamily="18" charset="0"/>
                            <a:cs typeface="Arial"/>
                            <a:sym typeface="Arial"/>
                          </a:rPr>
                          <m:t>𝑥</m:t>
                        </m:r>
                      </m:e>
                    </m:d>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cs typeface="Arial"/>
                          <a:sym typeface="Arial"/>
                        </a:rPr>
                        <m:t>𝑟</m:t>
                      </m:r>
                      <m:r>
                        <a:rPr lang="en-US" sz="2400" i="1" smtClean="0">
                          <a:latin typeface="Cambria Math" panose="02040503050406030204" pitchFamily="18" charset="0"/>
                          <a:cs typeface="Arial"/>
                          <a:sym typeface="Arial"/>
                        </a:rPr>
                        <m:t>=</m:t>
                      </m:r>
                      <m:rad>
                        <m:radPr>
                          <m:degHide m:val="on"/>
                          <m:ctrlPr>
                            <a:rPr lang="en-US" sz="2400" i="1">
                              <a:latin typeface="Cambria Math" panose="02040503050406030204" pitchFamily="18" charset="0"/>
                              <a:cs typeface="Arial"/>
                              <a:sym typeface="Arial"/>
                            </a:rPr>
                          </m:ctrlPr>
                        </m:radPr>
                        <m:deg/>
                        <m:e>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𝑋</m:t>
                              </m:r>
                            </m:e>
                            <m:sup>
                              <m:r>
                                <a:rPr lang="en-US" sz="2400" i="1">
                                  <a:latin typeface="Cambria Math" panose="02040503050406030204" pitchFamily="18" charset="0"/>
                                  <a:cs typeface="Arial"/>
                                  <a:sym typeface="Arial"/>
                                </a:rPr>
                                <m:t>2</m:t>
                              </m:r>
                            </m:sup>
                          </m:sSup>
                          <m:r>
                            <a:rPr lang="en-US" sz="2400" i="1">
                              <a:latin typeface="Cambria Math" panose="02040503050406030204" pitchFamily="18" charset="0"/>
                              <a:cs typeface="Arial"/>
                              <a:sym typeface="Arial"/>
                            </a:rPr>
                            <m:t>+</m:t>
                          </m:r>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𝑌</m:t>
                              </m:r>
                            </m:e>
                            <m:sup>
                              <m:r>
                                <a:rPr lang="en-US" sz="2400" i="1">
                                  <a:latin typeface="Cambria Math" panose="02040503050406030204" pitchFamily="18" charset="0"/>
                                  <a:cs typeface="Arial"/>
                                  <a:sym typeface="Arial"/>
                                </a:rPr>
                                <m:t>2</m:t>
                              </m:r>
                            </m:sup>
                          </m:sSup>
                        </m:e>
                      </m:ra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cs typeface="Arial"/>
                          <a:sym typeface="Arial"/>
                        </a:rPr>
                        <m:t>𝜙</m:t>
                      </m:r>
                      <m:r>
                        <a:rPr lang="en-US" sz="2400" i="1" smtClean="0">
                          <a:latin typeface="Cambria Math" panose="02040503050406030204" pitchFamily="18" charset="0"/>
                          <a:cs typeface="Arial"/>
                          <a:sym typeface="Arial"/>
                        </a:rPr>
                        <m:t>=</m:t>
                      </m:r>
                      <m:func>
                        <m:funcPr>
                          <m:ctrlPr>
                            <a:rPr lang="en-US" sz="2400" i="1">
                              <a:latin typeface="Cambria Math" panose="02040503050406030204" pitchFamily="18" charset="0"/>
                              <a:cs typeface="Arial"/>
                              <a:sym typeface="Arial"/>
                            </a:rPr>
                          </m:ctrlPr>
                        </m:funcPr>
                        <m:fName>
                          <m:r>
                            <m:rPr>
                              <m:sty m:val="p"/>
                            </m:rPr>
                            <a:rPr lang="en-US" sz="2400" i="0">
                              <a:latin typeface="Cambria Math" panose="02040503050406030204" pitchFamily="18" charset="0"/>
                              <a:cs typeface="Arial"/>
                              <a:sym typeface="Arial"/>
                            </a:rPr>
                            <m:t>arctan</m:t>
                          </m:r>
                        </m:fName>
                        <m:e>
                          <m:d>
                            <m:dPr>
                              <m:ctrlPr>
                                <a:rPr lang="en-US" sz="2400" i="1">
                                  <a:latin typeface="Cambria Math" panose="02040503050406030204" pitchFamily="18" charset="0"/>
                                  <a:cs typeface="Arial"/>
                                  <a:sym typeface="Arial"/>
                                </a:rPr>
                              </m:ctrlPr>
                            </m:dPr>
                            <m:e>
                              <m:f>
                                <m:fPr>
                                  <m:ctrlPr>
                                    <a:rPr lang="en-US" sz="2400" i="1">
                                      <a:latin typeface="Cambria Math" panose="02040503050406030204" pitchFamily="18" charset="0"/>
                                      <a:cs typeface="Arial"/>
                                      <a:sym typeface="Arial"/>
                                    </a:rPr>
                                  </m:ctrlPr>
                                </m:fPr>
                                <m:num>
                                  <m:r>
                                    <a:rPr lang="en-US" sz="2400" i="1">
                                      <a:latin typeface="Cambria Math" panose="02040503050406030204" pitchFamily="18" charset="0"/>
                                      <a:cs typeface="Arial"/>
                                      <a:sym typeface="Arial"/>
                                    </a:rPr>
                                    <m:t>𝑌</m:t>
                                  </m:r>
                                </m:num>
                                <m:den>
                                  <m:r>
                                    <a:rPr lang="en-US" sz="2400" i="1">
                                      <a:latin typeface="Cambria Math" panose="02040503050406030204" pitchFamily="18" charset="0"/>
                                      <a:cs typeface="Arial"/>
                                      <a:sym typeface="Arial"/>
                                    </a:rPr>
                                    <m:t>𝑋</m:t>
                                  </m:r>
                                </m:den>
                              </m:f>
                            </m:e>
                          </m:d>
                        </m:e>
                      </m:func>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Just like kinematics, we cannot express this as a linear matrix multiplication. We must use Jacobians to linearize it!</a:t>
                </a:r>
              </a:p>
            </p:txBody>
          </p:sp>
        </mc:Choice>
        <mc:Fallback xmlns="">
          <p:sp>
            <p:nvSpPr>
              <p:cNvPr id="118" name="Google Shape;118;p29">
                <a:extLst>
                  <a:ext uri="{FF2B5EF4-FFF2-40B4-BE49-F238E27FC236}">
                    <a16:creationId xmlns:a16="http://schemas.microsoft.com/office/drawing/2014/main" id="{4A401537-2FBE-2248-F116-7A45F1653C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709" b="-455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8428D59-20A6-D22C-C1E7-C4CA747E7A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EF21D7-8C78-B080-B03D-FAD2F28220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704064-AEE9-07E6-1377-CF82D720EC5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84DB86-71DB-422A-D99D-17C0DF696D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028ADC-D701-04F5-0075-C7E6C55426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0A609AE-8CCA-7CC6-235A-C217E37E54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D2E09B6-4D9D-C21D-66E7-9FDFD1C766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9ED7B0-8903-AF95-4AC0-28119AB103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610664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C1FA05-7B16-6DE9-9DAA-A966E8198EA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F8060F-EF5C-BA1B-C4A1-5EE5F8ED608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must take the partial derivatives of </a:t>
                </a:r>
                <a14:m>
                  <m:oMath xmlns:m="http://schemas.openxmlformats.org/officeDocument/2006/math">
                    <m:r>
                      <a:rPr lang="en-US" sz="2400" i="1" dirty="0" smtClean="0">
                        <a:latin typeface="Cambria Math" panose="02040503050406030204" pitchFamily="18" charset="0"/>
                        <a:ea typeface="Arial"/>
                        <a:cs typeface="Arial"/>
                        <a:sym typeface="Arial"/>
                      </a:rPr>
                      <m:t>𝑟</m:t>
                    </m:r>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𝜙</m:t>
                    </m:r>
                  </m:oMath>
                </a14:m>
                <a:r>
                  <a:rPr lang="en-US" sz="2400" dirty="0">
                    <a:latin typeface="Atkinson Hyperlegible Next"/>
                    <a:ea typeface="Arial"/>
                    <a:cs typeface="Arial"/>
                    <a:sym typeface="Arial"/>
                  </a:rPr>
                  <a:t> with respect to our state variables (</a:t>
                </a:r>
                <a14:m>
                  <m:oMath xmlns:m="http://schemas.openxmlformats.org/officeDocument/2006/math">
                    <m:r>
                      <a:rPr lang="en-US" sz="2400" i="1" dirty="0" smtClean="0">
                        <a:latin typeface="Cambria Math" panose="02040503050406030204" pitchFamily="18" charset="0"/>
                        <a:ea typeface="Arial"/>
                        <a:cs typeface="Arial"/>
                        <a:sym typeface="Arial"/>
                      </a:rPr>
                      <m:t>𝑋</m:t>
                    </m:r>
                    <m:r>
                      <a:rPr lang="en-US" sz="2400" i="1" dirty="0" smtClean="0">
                        <a:latin typeface="Cambria Math" panose="02040503050406030204" pitchFamily="18" charset="0"/>
                        <a:ea typeface="Arial"/>
                        <a:cs typeface="Arial"/>
                        <a:sym typeface="Arial"/>
                      </a:rPr>
                      <m:t>, </m:t>
                    </m:r>
                    <m:r>
                      <a:rPr lang="en-US" sz="2400" i="1" dirty="0" smtClean="0">
                        <a:latin typeface="Cambria Math" panose="02040503050406030204" pitchFamily="18" charset="0"/>
                        <a:ea typeface="Arial"/>
                        <a:cs typeface="Arial"/>
                        <a:sym typeface="Arial"/>
                      </a:rPr>
                      <m:t>𝑌</m:t>
                    </m:r>
                    <m:r>
                      <a:rPr lang="en-US" sz="2400" i="1" dirty="0" smtClean="0">
                        <a:latin typeface="Cambria Math" panose="02040503050406030204" pitchFamily="18" charset="0"/>
                        <a:ea typeface="Arial"/>
                        <a:cs typeface="Arial"/>
                        <a:sym typeface="Arial"/>
                      </a:rPr>
                      <m:t>, </m:t>
                    </m:r>
                    <m:r>
                      <a:rPr lang="en-US" sz="2400" i="1" dirty="0" smtClean="0">
                        <a:latin typeface="Cambria Math" panose="02040503050406030204" pitchFamily="18" charset="0"/>
                        <a:ea typeface="Arial"/>
                        <a:cs typeface="Arial"/>
                        <a:sym typeface="Arial"/>
                      </a:rPr>
                      <m:t>𝜃</m:t>
                    </m:r>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Let's look at the distance equation: </a:t>
                </a:r>
                <a14:m>
                  <m:oMath xmlns:m="http://schemas.openxmlformats.org/officeDocument/2006/math">
                    <m:r>
                      <a:rPr lang="en-US" sz="2400" i="1" smtClean="0">
                        <a:latin typeface="Cambria Math" panose="02040503050406030204" pitchFamily="18" charset="0"/>
                        <a:cs typeface="Arial"/>
                        <a:sym typeface="Arial"/>
                      </a:rPr>
                      <m:t>𝑟</m:t>
                    </m:r>
                    <m:r>
                      <a:rPr lang="en-US" sz="2400" i="1" smtClean="0">
                        <a:latin typeface="Cambria Math" panose="02040503050406030204" pitchFamily="18" charset="0"/>
                        <a:cs typeface="Arial"/>
                        <a:sym typeface="Arial"/>
                      </a:rPr>
                      <m:t>=</m:t>
                    </m:r>
                    <m:rad>
                      <m:radPr>
                        <m:degHide m:val="on"/>
                        <m:ctrlPr>
                          <a:rPr lang="en-US" sz="2400" i="1">
                            <a:latin typeface="Cambria Math" panose="02040503050406030204" pitchFamily="18" charset="0"/>
                            <a:cs typeface="Arial"/>
                            <a:sym typeface="Arial"/>
                          </a:rPr>
                        </m:ctrlPr>
                      </m:radPr>
                      <m:deg/>
                      <m:e>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𝑋</m:t>
                            </m:r>
                          </m:e>
                          <m:sup>
                            <m:r>
                              <a:rPr lang="en-US" sz="2400" i="1">
                                <a:latin typeface="Cambria Math" panose="02040503050406030204" pitchFamily="18" charset="0"/>
                                <a:cs typeface="Arial"/>
                                <a:sym typeface="Arial"/>
                              </a:rPr>
                              <m:t>2</m:t>
                            </m:r>
                          </m:sup>
                        </m:sSup>
                        <m:r>
                          <a:rPr lang="en-US" sz="2400" i="1">
                            <a:latin typeface="Cambria Math" panose="02040503050406030204" pitchFamily="18" charset="0"/>
                            <a:cs typeface="Arial"/>
                            <a:sym typeface="Arial"/>
                          </a:rPr>
                          <m:t>+</m:t>
                        </m:r>
                        <m:sSup>
                          <m:sSupPr>
                            <m:ctrlPr>
                              <a:rPr lang="en-US" sz="2400" i="1">
                                <a:latin typeface="Cambria Math" panose="02040503050406030204" pitchFamily="18" charset="0"/>
                                <a:cs typeface="Arial"/>
                                <a:sym typeface="Arial"/>
                              </a:rPr>
                            </m:ctrlPr>
                          </m:sSupPr>
                          <m:e>
                            <m:r>
                              <a:rPr lang="en-US" sz="2400" i="1">
                                <a:latin typeface="Cambria Math" panose="02040503050406030204" pitchFamily="18" charset="0"/>
                                <a:cs typeface="Arial"/>
                                <a:sym typeface="Arial"/>
                              </a:rPr>
                              <m:t>𝑌</m:t>
                            </m:r>
                          </m:e>
                          <m:sup>
                            <m:r>
                              <a:rPr lang="en-US" sz="2400" i="1">
                                <a:latin typeface="Cambria Math" panose="02040503050406030204" pitchFamily="18" charset="0"/>
                                <a:cs typeface="Arial"/>
                                <a:sym typeface="Arial"/>
                              </a:rPr>
                              <m:t>2</m:t>
                            </m:r>
                          </m:sup>
                        </m:sSup>
                      </m:e>
                    </m:rad>
                  </m:oMath>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Using the chain rule:</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
                          <a:rPr lang="en-US" sz="2400" i="1" dirty="0" smtClean="0">
                            <a:latin typeface="Cambria Math" panose="02040503050406030204" pitchFamily="18" charset="0"/>
                            <a:ea typeface="Arial"/>
                            <a:cs typeface="Arial"/>
                            <a:sym typeface="Arial"/>
                          </a:rPr>
                          <m:t>𝑟</m:t>
                        </m:r>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𝑌</m:t>
                    </m:r>
                    <m:r>
                      <a:rPr lang="en-US" sz="2400" i="1" dirty="0" smtClean="0">
                        <a:latin typeface="Cambria Math" panose="02040503050406030204" pitchFamily="18" charset="0"/>
                        <a:ea typeface="Arial"/>
                        <a:cs typeface="Arial"/>
                        <a:sym typeface="Arial"/>
                      </a:rPr>
                      <m:t>: </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𝑌</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
                          <a:rPr lang="en-US" sz="2400" i="1" dirty="0" smtClean="0">
                            <a:latin typeface="Cambria Math" panose="02040503050406030204" pitchFamily="18" charset="0"/>
                            <a:ea typeface="Arial"/>
                            <a:cs typeface="Arial"/>
                            <a:sym typeface="Arial"/>
                          </a:rPr>
                          <m:t>𝑟</m:t>
                        </m:r>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𝜃</m:t>
                    </m:r>
                    <m:r>
                      <a:rPr lang="en-US" sz="2400" i="1" dirty="0" smtClean="0">
                        <a:latin typeface="Cambria Math" panose="02040503050406030204" pitchFamily="18" charset="0"/>
                        <a:ea typeface="Arial"/>
                        <a:cs typeface="Arial"/>
                        <a:sym typeface="Arial"/>
                      </a:rPr>
                      <m:t>: </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𝑟</m:t>
                        </m:r>
                      </m:num>
                      <m:den>
                        <m:r>
                          <a:rPr lang="en-US" sz="2400" i="1" dirty="0" smtClean="0">
                            <a:latin typeface="Cambria Math" panose="02040503050406030204" pitchFamily="18" charset="0"/>
                            <a:ea typeface="Arial"/>
                            <a:cs typeface="Arial"/>
                            <a:sym typeface="Arial"/>
                          </a:rPr>
                          <m:t>𝜕𝜃</m:t>
                        </m:r>
                      </m:den>
                    </m:f>
                    <m:r>
                      <a:rPr lang="en-US" sz="2400" i="1" dirty="0" smtClean="0">
                        <a:latin typeface="Cambria Math" panose="02040503050406030204" pitchFamily="18" charset="0"/>
                        <a:ea typeface="Arial"/>
                        <a:cs typeface="Arial"/>
                        <a:sym typeface="Arial"/>
                      </a:rPr>
                      <m:t>=0</m:t>
                    </m:r>
                  </m:oMath>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4F8060F-EF5C-BA1B-C4A1-5EE5F8ED608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92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62B8DB8-6539-FB82-22A7-BC189B3893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E010CE-C681-CC98-7372-5AE5B33AF5B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94EDA05-B699-AC22-5C63-53A6195EE48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780196-B775-EAD0-AF1F-A680AD8FFA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8495CD5-CBCA-E75D-F8B2-FDECDF76C7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BAFCA5-56CC-03B1-DE86-B0C9ED562C8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EF9DC2-9175-2625-900F-BD0B7EEB6A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0E8952-516C-3F4C-FC5D-60D625C3BD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08996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AEF7-FD56-A35E-CEF0-021B9C3EC2E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2234EE9-4FEE-BB9F-147D-582C8340A2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the bearing equation:  </a:t>
                </a:r>
                <a14:m>
                  <m:oMath xmlns:m="http://schemas.openxmlformats.org/officeDocument/2006/math">
                    <m:r>
                      <a:rPr lang="en-US" sz="2400" i="1" dirty="0" smtClean="0">
                        <a:latin typeface="Cambria Math" panose="02040503050406030204" pitchFamily="18" charset="0"/>
                        <a:ea typeface="Arial"/>
                        <a:cs typeface="Arial"/>
                        <a:sym typeface="Arial"/>
                      </a:rPr>
                      <m:t>𝜙</m:t>
                    </m:r>
                    <m:r>
                      <a:rPr lang="en-US" sz="2400" i="1" dirty="0" smtClean="0">
                        <a:latin typeface="Cambria Math" panose="02040503050406030204" pitchFamily="18" charset="0"/>
                        <a:ea typeface="Arial"/>
                        <a:cs typeface="Arial"/>
                        <a:sym typeface="Arial"/>
                      </a:rPr>
                      <m:t>=</m:t>
                    </m:r>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𝑌</m:t>
                            </m:r>
                            <m:r>
                              <m:rPr>
                                <m:lit/>
                              </m:rP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e>
                        </m:d>
                      </m:e>
                    </m:func>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 derivative of </a:t>
                </a:r>
                <a14:m>
                  <m:oMath xmlns:m="http://schemas.openxmlformats.org/officeDocument/2006/math">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𝑢</m:t>
                            </m:r>
                          </m:e>
                        </m:d>
                      </m:e>
                    </m:func>
                    <m:r>
                      <a:rPr lang="en-US" sz="2400" i="1" dirty="0" smtClean="0">
                        <a:latin typeface="Cambria Math" panose="02040503050406030204" pitchFamily="18" charset="0"/>
                        <a:ea typeface="Arial"/>
                        <a:cs typeface="Arial"/>
                        <a:sym typeface="Arial"/>
                      </a:rPr>
                      <m:t>𝑖𝑠</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1</m:t>
                        </m:r>
                      </m:num>
                      <m:den>
                        <m:r>
                          <a:rPr lang="en-US" sz="2400" i="1" dirty="0" smtClean="0">
                            <a:latin typeface="Cambria Math" panose="02040503050406030204" pitchFamily="18" charset="0"/>
                            <a:ea typeface="Arial"/>
                            <a:cs typeface="Arial"/>
                            <a:sym typeface="Arial"/>
                          </a:rPr>
                          <m:t>1+</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𝑢</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sSup>
                      <m:sSupPr>
                        <m:ctrlPr>
                          <a:rPr lang="en-US" sz="2400" i="1" dirty="0" err="1" smtClean="0">
                            <a:latin typeface="Cambria Math" panose="02040503050406030204" pitchFamily="18" charset="0"/>
                            <a:ea typeface="Arial"/>
                            <a:cs typeface="Arial"/>
                            <a:sym typeface="Arial"/>
                          </a:rPr>
                        </m:ctrlPr>
                      </m:sSupPr>
                      <m:e>
                        <m:r>
                          <a:rPr lang="en-US" sz="2400" i="1" dirty="0" err="1" smtClean="0">
                            <a:latin typeface="Cambria Math" panose="02040503050406030204" pitchFamily="18" charset="0"/>
                            <a:ea typeface="Arial"/>
                            <a:cs typeface="Arial"/>
                            <a:sym typeface="Arial"/>
                          </a:rPr>
                          <m:t>𝑢</m:t>
                        </m:r>
                      </m:e>
                      <m:sup>
                        <m:r>
                          <a:rPr lang="en-US" sz="2400" i="1" dirty="0" err="1" smtClean="0">
                            <a:latin typeface="Cambria Math" panose="02040503050406030204" pitchFamily="18" charset="0"/>
                            <a:ea typeface="Arial"/>
                            <a:cs typeface="Arial"/>
                            <a:sym typeface="Arial"/>
                          </a:rPr>
                          <m:t>′</m:t>
                        </m:r>
                      </m:sup>
                    </m:sSup>
                  </m:oMath>
                </a14:m>
                <a:r>
                  <a:rPr lang="en-US" sz="2400" dirty="0">
                    <a:latin typeface="Atkinson Hyperlegible Next"/>
                    <a:ea typeface="Arial"/>
                    <a:cs typeface="Arial"/>
                    <a:sym typeface="Arial"/>
                  </a:rPr>
                  <a:t>.</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After some algebra:</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𝑌</m:t>
                        </m:r>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den>
                    </m:f>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oMath>
                </a14:m>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With respect to </a:t>
                </a:r>
                <a14:m>
                  <m:oMath xmlns:m="http://schemas.openxmlformats.org/officeDocument/2006/math">
                    <m:r>
                      <a:rPr lang="en-US" sz="2400" i="1" dirty="0" smtClean="0">
                        <a:latin typeface="Cambria Math" panose="02040503050406030204" pitchFamily="18" charset="0"/>
                        <a:ea typeface="Arial"/>
                        <a:cs typeface="Arial"/>
                        <a:sym typeface="Arial"/>
                      </a:rPr>
                      <m:t>𝜃</m:t>
                    </m:r>
                  </m:oMath>
                </a14:m>
                <a:r>
                  <a:rPr lang="en-US" sz="2400" dirty="0">
                    <a:latin typeface="Atkinson Hyperlegible Next"/>
                    <a:ea typeface="Arial"/>
                    <a:cs typeface="Arial"/>
                    <a:sym typeface="Arial"/>
                  </a:rPr>
                  <a:t>: </a:t>
                </a:r>
                <a14:m>
                  <m:oMath xmlns:m="http://schemas.openxmlformats.org/officeDocument/2006/math">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𝜕𝜙</m:t>
                        </m:r>
                      </m:num>
                      <m:den>
                        <m:r>
                          <a:rPr lang="en-US" sz="2400" i="1" dirty="0" smtClean="0">
                            <a:latin typeface="Cambria Math" panose="02040503050406030204" pitchFamily="18" charset="0"/>
                            <a:ea typeface="Arial"/>
                            <a:cs typeface="Arial"/>
                            <a:sym typeface="Arial"/>
                          </a:rPr>
                          <m:t>𝜕𝜃</m:t>
                        </m:r>
                      </m:den>
                    </m:f>
                    <m:r>
                      <a:rPr lang="en-US" sz="2400" i="1" dirty="0" smtClean="0">
                        <a:latin typeface="Cambria Math" panose="02040503050406030204" pitchFamily="18" charset="0"/>
                        <a:ea typeface="Arial"/>
                        <a:cs typeface="Arial"/>
                        <a:sym typeface="Arial"/>
                      </a:rPr>
                      <m:t>=0</m:t>
                    </m:r>
                  </m:oMath>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12234EE9-4FEE-BB9F-147D-582C8340A2F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3851790-7177-6E20-2A7B-2E56D8D796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AF13B18-C885-7F63-E0A1-C7167CA3FE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50E8FB-CAD2-BC28-BC79-AA71671915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670190-0B17-2BC4-DA68-062719F939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FEF5C8-06F3-7ACF-BA18-DEDC474F04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57921CC-77CD-C6F8-8309-34138BDA0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698EC7-EF87-D231-8825-549501E2FD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9FF7AB-F41C-41C8-96F6-7D0880D914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30255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D2776F4-820E-D0EB-4B34-C3A6BB885B0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D5ABC27-4246-7A4E-84BA-4E6FC0D67F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We assemble our partial derivatives into a </a:t>
                </a:r>
                <a14:m>
                  <m:oMath xmlns:m="http://schemas.openxmlformats.org/officeDocument/2006/math">
                    <m:r>
                      <a:rPr lang="en-US" sz="2400" i="1" dirty="0" smtClean="0">
                        <a:latin typeface="Cambria Math" panose="02040503050406030204" pitchFamily="18" charset="0"/>
                        <a:ea typeface="Arial"/>
                        <a:cs typeface="Arial"/>
                        <a:sym typeface="Arial"/>
                      </a:rPr>
                      <m:t>2 ×3</m:t>
                    </m:r>
                  </m:oMath>
                </a14:m>
                <a:r>
                  <a:rPr lang="en-US" sz="2400" dirty="0">
                    <a:latin typeface="Atkinson Hyperlegible Next"/>
                    <a:ea typeface="Arial"/>
                    <a:cs typeface="Arial"/>
                    <a:sym typeface="Arial"/>
                  </a:rPr>
                  <a:t> matrix (2 measurement outputs, 3 state variables).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This is our dynamic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matrix for the current time step: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3"/>
                                    <m:mcJc m:val="center"/>
                                  </m:mcPr>
                                </m:mc>
                              </m:mcs>
                              <m:ctrlPr>
                                <a:rPr lang="en-US" sz="2400" i="1" dirty="0" smtClean="0">
                                  <a:latin typeface="Cambria Math" panose="02040503050406030204" pitchFamily="18" charset="0"/>
                                  <a:ea typeface="Arial"/>
                                  <a:cs typeface="Arial"/>
                                  <a:sym typeface="Arial"/>
                                </a:rPr>
                              </m:ctrlPr>
                            </m:mPr>
                            <m:mr>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r>
                                      <a:rPr lang="en-US" sz="2400" i="1" dirty="0" smtClean="0">
                                        <a:latin typeface="Cambria Math" panose="02040503050406030204" pitchFamily="18" charset="0"/>
                                        <a:ea typeface="Arial"/>
                                        <a:cs typeface="Arial"/>
                                        <a:sym typeface="Arial"/>
                                      </a:rPr>
                                      <m:t>𝑟</m:t>
                                    </m:r>
                                  </m:den>
                                </m:f>
                              </m:e>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r>
                                      <a:rPr lang="en-US" sz="2400" i="1" dirty="0" smtClean="0">
                                        <a:latin typeface="Cambria Math" panose="02040503050406030204" pitchFamily="18" charset="0"/>
                                        <a:ea typeface="Arial"/>
                                        <a:cs typeface="Arial"/>
                                        <a:sym typeface="Arial"/>
                                      </a:rPr>
                                      <m:t>𝑟</m:t>
                                    </m:r>
                                  </m:den>
                                </m:f>
                              </m:e>
                              <m:e>
                                <m:r>
                                  <a:rPr lang="en-US" sz="2400" i="1" dirty="0" smtClean="0">
                                    <a:latin typeface="Cambria Math" panose="02040503050406030204" pitchFamily="18" charset="0"/>
                                    <a:ea typeface="Arial"/>
                                    <a:cs typeface="Arial"/>
                                    <a:sym typeface="Arial"/>
                                  </a:rPr>
                                  <m:t>0</m:t>
                                </m:r>
                              </m:e>
                            </m:mr>
                            <m:mr>
                              <m:e/>
                              <m:e/>
                              <m:e/>
                            </m:mr>
                            <m:mr>
                              <m:e>
                                <m:r>
                                  <a:rPr lang="en-US" sz="2400" i="1" dirty="0" smtClean="0">
                                    <a:latin typeface="Cambria Math" panose="02040503050406030204" pitchFamily="18" charset="0"/>
                                    <a:ea typeface="Arial"/>
                                    <a:cs typeface="Arial"/>
                                    <a:sym typeface="Arial"/>
                                  </a:rPr>
                                  <m:t>−</m:t>
                                </m:r>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𝑌</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e>
                              <m:e>
                                <m:f>
                                  <m:fPr>
                                    <m:ctrlPr>
                                      <a:rPr lang="en-US" sz="2400" i="1" dirty="0" smtClean="0">
                                        <a:latin typeface="Cambria Math" panose="02040503050406030204" pitchFamily="18" charset="0"/>
                                        <a:ea typeface="Arial"/>
                                        <a:cs typeface="Arial"/>
                                        <a:sym typeface="Arial"/>
                                      </a:rPr>
                                    </m:ctrlPr>
                                  </m:fPr>
                                  <m:num>
                                    <m:r>
                                      <a:rPr lang="en-US" sz="2400" i="1" dirty="0" smtClean="0">
                                        <a:latin typeface="Cambria Math" panose="02040503050406030204" pitchFamily="18" charset="0"/>
                                        <a:ea typeface="Arial"/>
                                        <a:cs typeface="Arial"/>
                                        <a:sym typeface="Arial"/>
                                      </a:rPr>
                                      <m:t>𝑋</m:t>
                                    </m:r>
                                  </m:num>
                                  <m:den>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𝑟</m:t>
                                        </m:r>
                                      </m:e>
                                      <m:sup>
                                        <m:r>
                                          <a:rPr lang="en-US" sz="2400" i="1" dirty="0" smtClean="0">
                                            <a:latin typeface="Cambria Math" panose="02040503050406030204" pitchFamily="18" charset="0"/>
                                            <a:ea typeface="Arial"/>
                                            <a:cs typeface="Arial"/>
                                            <a:sym typeface="Arial"/>
                                          </a:rPr>
                                          <m:t>2</m:t>
                                        </m:r>
                                      </m:sup>
                                    </m:sSup>
                                  </m:den>
                                </m:f>
                              </m:e>
                              <m:e>
                                <m:r>
                                  <a:rPr lang="en-US" sz="2400" i="1" dirty="0" smtClean="0">
                                    <a:latin typeface="Cambria Math" panose="02040503050406030204" pitchFamily="18" charset="0"/>
                                    <a:ea typeface="Arial"/>
                                    <a:cs typeface="Arial"/>
                                    <a:sym typeface="Arial"/>
                                  </a:rPr>
                                  <m:t>0</m:t>
                                </m:r>
                              </m:e>
                            </m:mr>
                          </m:m>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We calculate this exact matrix </a:t>
                </a:r>
                <a:r>
                  <a:rPr lang="en-US" sz="2400" b="1" dirty="0">
                    <a:latin typeface="Atkinson Hyperlegible Next"/>
                    <a:ea typeface="Arial"/>
                    <a:cs typeface="Arial"/>
                    <a:sym typeface="Arial"/>
                  </a:rPr>
                  <a:t>every single loop </a:t>
                </a:r>
                <a:r>
                  <a:rPr lang="en-US" sz="2400" dirty="0">
                    <a:latin typeface="Atkinson Hyperlegible Next"/>
                    <a:ea typeface="Arial"/>
                    <a:cs typeface="Arial"/>
                    <a:sym typeface="Arial"/>
                  </a:rPr>
                  <a:t>using our predicted </a:t>
                </a:r>
                <a14:m>
                  <m:oMath xmlns:m="http://schemas.openxmlformats.org/officeDocument/2006/math">
                    <m:r>
                      <a:rPr lang="en-US" sz="2400" i="1" dirty="0" smtClean="0">
                        <a:latin typeface="Cambria Math" panose="02040503050406030204" pitchFamily="18" charset="0"/>
                        <a:ea typeface="Arial"/>
                        <a:cs typeface="Arial"/>
                        <a:sym typeface="Arial"/>
                      </a:rPr>
                      <m:t>𝑋</m:t>
                    </m:r>
                  </m:oMath>
                </a14:m>
                <a:r>
                  <a:rPr lang="en-US" sz="2400" dirty="0">
                    <a:latin typeface="Atkinson Hyperlegible Next"/>
                    <a:ea typeface="Arial"/>
                    <a:cs typeface="Arial"/>
                    <a:sym typeface="Arial"/>
                  </a:rPr>
                  <a:t> and </a:t>
                </a:r>
                <a14:m>
                  <m:oMath xmlns:m="http://schemas.openxmlformats.org/officeDocument/2006/math">
                    <m:r>
                      <a:rPr lang="en-US" sz="2400" i="1" dirty="0" smtClean="0">
                        <a:latin typeface="Cambria Math" panose="02040503050406030204" pitchFamily="18" charset="0"/>
                        <a:ea typeface="Arial"/>
                        <a:cs typeface="Arial"/>
                        <a:sym typeface="Arial"/>
                      </a:rPr>
                      <m:t>𝑌</m:t>
                    </m:r>
                  </m:oMath>
                </a14:m>
                <a:r>
                  <a:rPr lang="en-US" sz="2400" dirty="0">
                    <a:latin typeface="Atkinson Hyperlegible Next"/>
                    <a:ea typeface="Arial"/>
                    <a:cs typeface="Arial"/>
                    <a:sym typeface="Arial"/>
                  </a:rPr>
                  <a:t> values.</a:t>
                </a:r>
              </a:p>
            </p:txBody>
          </p:sp>
        </mc:Choice>
        <mc:Fallback xmlns="">
          <p:sp>
            <p:nvSpPr>
              <p:cNvPr id="118" name="Google Shape;118;p29">
                <a:extLst>
                  <a:ext uri="{FF2B5EF4-FFF2-40B4-BE49-F238E27FC236}">
                    <a16:creationId xmlns:a16="http://schemas.microsoft.com/office/drawing/2014/main" id="{5D5ABC27-4246-7A4E-84BA-4E6FC0D67F4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6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60D6E75-E0DD-378E-6984-E23347EA9B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402F8B-DFF9-EE34-1AF5-9DC30D47C06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4BDFCE-0081-6A99-FC1E-45AF39BC116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15A7CE-31C7-8004-CE18-51279CF86D7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ADE0A2-0282-B736-4631-26C9581A0CA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DF356D2-64E2-79CE-16A7-0F15A1E460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439657-065E-F57C-9DCA-558D212E154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CE1488-4729-34E5-BEE8-FE26F31A428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3609890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108140-61AE-4941-CD72-096BF4ED673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7A51193-575C-E6C4-2881-BF811DADFBB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Now that we have our non-linear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𝑥</m:t>
                        </m:r>
                      </m:e>
                    </m:d>
                  </m:oMath>
                </a14:m>
                <a:r>
                  <a:rPr lang="en-US" sz="2400" dirty="0">
                    <a:latin typeface="Atkinson Hyperlegible Next"/>
                    <a:ea typeface="Arial"/>
                    <a:cs typeface="Arial"/>
                    <a:sym typeface="Arial"/>
                  </a:rPr>
                  <a:t> and our linear Jacobian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 we execute the EKF Update step:</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1. Calculate Kalman Gain: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sSup>
                        <m:sSupPr>
                          <m:ctrlPr>
                            <a:rPr lang="en-US" sz="2400" i="1" dirty="0" smtClean="0">
                              <a:latin typeface="Cambria Math" panose="02040503050406030204" pitchFamily="18" charset="0"/>
                              <a:ea typeface="Arial"/>
                              <a:cs typeface="Arial"/>
                              <a:sym typeface="Arial"/>
                            </a:rPr>
                          </m:ctrlPr>
                        </m:sSupPr>
                        <m:e>
                          <m:d>
                            <m:dPr>
                              <m:ctrlPr>
                                <a:rPr lang="en-US" sz="2400" i="1" dirty="0" smtClean="0">
                                  <a:latin typeface="Cambria Math" panose="02040503050406030204" pitchFamily="18" charset="0"/>
                                  <a:ea typeface="Arial"/>
                                  <a:cs typeface="Arial"/>
                                  <a:sym typeface="Arial"/>
                                </a:rPr>
                              </m:ctrlPr>
                            </m:dPr>
                            <m:e>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sSubSup>
                                <m:sSubSupPr>
                                  <m:ctrlPr>
                                    <a:rPr lang="en-US" sz="2400" i="1" dirty="0" err="1" smtClean="0">
                                      <a:latin typeface="Cambria Math" panose="02040503050406030204" pitchFamily="18" charset="0"/>
                                      <a:ea typeface="Arial"/>
                                      <a:cs typeface="Arial"/>
                                      <a:sym typeface="Arial"/>
                                    </a:rPr>
                                  </m:ctrlPr>
                                </m:sSubSup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up>
                                  <m:r>
                                    <a:rPr lang="en-US" sz="2400" i="1" dirty="0" err="1" smtClean="0">
                                      <a:latin typeface="Cambria Math" panose="02040503050406030204" pitchFamily="18" charset="0"/>
                                      <a:ea typeface="Arial"/>
                                      <a:cs typeface="Arial"/>
                                      <a:sym typeface="Arial"/>
                                    </a:rPr>
                                    <m:t>𝑇</m:t>
                                  </m:r>
                                </m:sup>
                              </m:sSubSup>
                              <m: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𝑅</m:t>
                              </m:r>
                            </m:e>
                          </m:d>
                        </m:e>
                        <m:sup>
                          <m:r>
                            <a:rPr lang="en-US" sz="2400" i="1" dirty="0" smtClean="0">
                              <a:latin typeface="Cambria Math" panose="02040503050406030204" pitchFamily="18" charset="0"/>
                              <a:ea typeface="Arial"/>
                              <a:cs typeface="Arial"/>
                              <a:sym typeface="Arial"/>
                            </a:rPr>
                            <m:t>−1</m:t>
                          </m:r>
                        </m:sup>
                      </m:sSup>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2. Correct the State: (Notice we use </a:t>
                </a:r>
                <a14:m>
                  <m:oMath xmlns:m="http://schemas.openxmlformats.org/officeDocument/2006/math">
                    <m:r>
                      <a:rPr lang="en-US" sz="2400" i="1" dirty="0" smtClean="0">
                        <a:latin typeface="Cambria Math" panose="02040503050406030204" pitchFamily="18" charset="0"/>
                        <a:ea typeface="Arial"/>
                        <a:cs typeface="Arial"/>
                        <a:sym typeface="Arial"/>
                      </a:rPr>
                      <m:t>h</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𝑥</m:t>
                        </m:r>
                      </m:e>
                    </m:d>
                  </m:oMath>
                </a14:m>
                <a:r>
                  <a:rPr lang="en-US" sz="2400" dirty="0">
                    <a:latin typeface="Atkinson Hyperlegible Next"/>
                    <a:ea typeface="Arial"/>
                    <a:cs typeface="Arial"/>
                    <a:sym typeface="Arial"/>
                  </a:rPr>
                  <a:t> to calculate the residual, not </a:t>
                </a:r>
                <a14:m>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oMath>
                </a14:m>
                <a:r>
                  <a:rPr lang="en-US" sz="24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𝑥</m:t>
                          </m:r>
                        </m:e>
                        <m:sub>
                          <m:r>
                            <a:rPr lang="en-US" sz="2400" i="1" dirty="0" err="1"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err="1" smtClean="0">
                              <a:latin typeface="Cambria Math" panose="02040503050406030204" pitchFamily="18" charset="0"/>
                              <a:ea typeface="Arial"/>
                              <a:cs typeface="Arial"/>
                              <a:sym typeface="Arial"/>
                            </a:rPr>
                            <m:t>𝑘</m:t>
                          </m:r>
                        </m:sub>
                      </m:sSub>
                      <m:r>
                        <a:rPr lang="en-US" sz="2400" i="1" dirty="0" smtClean="0">
                          <a:latin typeface="Cambria Math" panose="02040503050406030204" pitchFamily="18" charset="0"/>
                          <a:ea typeface="Arial"/>
                          <a:cs typeface="Arial"/>
                          <a:sym typeface="Arial"/>
                        </a:rPr>
                        <m:t>=</m:t>
                      </m:r>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𝑥</m:t>
                          </m:r>
                        </m:e>
                        <m:sub>
                          <m:r>
                            <a:rPr lang="en-US" sz="2400" i="1" dirty="0" smtClean="0">
                              <a:latin typeface="Cambria Math" panose="02040503050406030204" pitchFamily="18" charset="0"/>
                              <a:ea typeface="Arial"/>
                              <a:cs typeface="Arial"/>
                              <a:sym typeface="Arial"/>
                            </a:rPr>
                            <m:t>𝑘</m:t>
                          </m:r>
                          <m:r>
                            <a:rPr lang="en-US" sz="2400" b="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𝑘</m:t>
                          </m:r>
                          <m:r>
                            <a:rPr lang="en-US" sz="2400" i="1" dirty="0" smtClean="0">
                              <a:latin typeface="Cambria Math" panose="02040503050406030204" pitchFamily="18" charset="0"/>
                              <a:ea typeface="Arial"/>
                              <a:cs typeface="Arial"/>
                              <a:sym typeface="Arial"/>
                            </a:rPr>
                            <m:t>−1</m:t>
                          </m:r>
                        </m:sub>
                      </m:sSub>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d>
                        <m:dPr>
                          <m:ctrlPr>
                            <a:rPr lang="en-US" sz="2400" i="1" dirty="0" smtClean="0">
                              <a:latin typeface="Cambria Math" panose="02040503050406030204" pitchFamily="18" charset="0"/>
                              <a:ea typeface="Arial"/>
                              <a:cs typeface="Arial"/>
                              <a:sym typeface="Arial"/>
                            </a:rPr>
                          </m:ctrlPr>
                        </m:dPr>
                        <m:e>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𝑧</m:t>
                              </m:r>
                            </m:e>
                            <m:sub>
                              <m:r>
                                <a:rPr lang="en-US" sz="2400" i="1" dirty="0" smtClean="0">
                                  <a:latin typeface="Cambria Math" panose="02040503050406030204" pitchFamily="18" charset="0"/>
                                  <a:ea typeface="Arial"/>
                                  <a:cs typeface="Arial"/>
                                  <a:sym typeface="Arial"/>
                                </a:rPr>
                                <m:t>𝑚𝑒𝑎𝑠𝑢𝑟𝑒𝑑</m:t>
                              </m:r>
                            </m:sub>
                          </m:sSub>
                          <m:r>
                            <a:rPr lang="en-US" sz="2400" i="1" dirty="0" smtClean="0">
                              <a:latin typeface="Cambria Math" panose="02040503050406030204" pitchFamily="18" charset="0"/>
                              <a:ea typeface="Arial"/>
                              <a:cs typeface="Arial"/>
                              <a:sym typeface="Arial"/>
                            </a:rPr>
                            <m:t>−</m:t>
                          </m:r>
                          <m:d>
                            <m:dPr>
                              <m:begChr m:val="["/>
                              <m:endChr m:val="]"/>
                              <m:ctrlPr>
                                <a:rPr lang="en-US" sz="24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400" i="1" dirty="0" smtClean="0">
                                      <a:latin typeface="Cambria Math" panose="02040503050406030204" pitchFamily="18" charset="0"/>
                                      <a:ea typeface="Arial"/>
                                      <a:cs typeface="Arial"/>
                                      <a:sym typeface="Arial"/>
                                    </a:rPr>
                                  </m:ctrlPr>
                                </m:mPr>
                                <m:mr>
                                  <m:e>
                                    <m:rad>
                                      <m:radPr>
                                        <m:degHide m:val="on"/>
                                        <m:ctrlPr>
                                          <a:rPr lang="en-US" sz="2400" i="1" dirty="0" smtClean="0">
                                            <a:latin typeface="Cambria Math" panose="02040503050406030204" pitchFamily="18" charset="0"/>
                                            <a:ea typeface="Arial"/>
                                            <a:cs typeface="Arial"/>
                                            <a:sym typeface="Arial"/>
                                          </a:rPr>
                                        </m:ctrlPr>
                                      </m:radPr>
                                      <m:deg/>
                                      <m:e>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𝑋</m:t>
                                            </m:r>
                                          </m:e>
                                          <m:sup>
                                            <m:r>
                                              <a:rPr lang="en-US" sz="2400" i="1" dirty="0" smtClean="0">
                                                <a:latin typeface="Cambria Math" panose="02040503050406030204" pitchFamily="18" charset="0"/>
                                                <a:ea typeface="Arial"/>
                                                <a:cs typeface="Arial"/>
                                                <a:sym typeface="Arial"/>
                                              </a:rPr>
                                              <m:t>2</m:t>
                                            </m:r>
                                          </m:sup>
                                        </m:sSup>
                                        <m:r>
                                          <a:rPr lang="en-US" sz="2400" i="1" dirty="0" smtClean="0">
                                            <a:latin typeface="Cambria Math" panose="02040503050406030204" pitchFamily="18" charset="0"/>
                                            <a:ea typeface="Arial"/>
                                            <a:cs typeface="Arial"/>
                                            <a:sym typeface="Arial"/>
                                          </a:rPr>
                                          <m:t>+</m:t>
                                        </m:r>
                                        <m:sSup>
                                          <m:sSupPr>
                                            <m:ctrlPr>
                                              <a:rPr lang="en-US" sz="2400" i="1" dirty="0" smtClean="0">
                                                <a:latin typeface="Cambria Math" panose="02040503050406030204" pitchFamily="18" charset="0"/>
                                                <a:ea typeface="Arial"/>
                                                <a:cs typeface="Arial"/>
                                                <a:sym typeface="Arial"/>
                                              </a:rPr>
                                            </m:ctrlPr>
                                          </m:sSupPr>
                                          <m:e>
                                            <m:r>
                                              <a:rPr lang="en-US" sz="2400" i="1" dirty="0" smtClean="0">
                                                <a:latin typeface="Cambria Math" panose="02040503050406030204" pitchFamily="18" charset="0"/>
                                                <a:ea typeface="Arial"/>
                                                <a:cs typeface="Arial"/>
                                                <a:sym typeface="Arial"/>
                                              </a:rPr>
                                              <m:t>𝑌</m:t>
                                            </m:r>
                                          </m:e>
                                          <m:sup>
                                            <m:r>
                                              <a:rPr lang="en-US" sz="2400" i="1" dirty="0" smtClean="0">
                                                <a:latin typeface="Cambria Math" panose="02040503050406030204" pitchFamily="18" charset="0"/>
                                                <a:ea typeface="Arial"/>
                                                <a:cs typeface="Arial"/>
                                                <a:sym typeface="Arial"/>
                                              </a:rPr>
                                              <m:t>2</m:t>
                                            </m:r>
                                          </m:sup>
                                        </m:sSup>
                                      </m:e>
                                    </m:rad>
                                  </m:e>
                                </m:mr>
                                <m:mr>
                                  <m:e>
                                    <m:func>
                                      <m:funcPr>
                                        <m:ctrlPr>
                                          <a:rPr lang="en-US" sz="2400" i="1" dirty="0" smtClean="0">
                                            <a:latin typeface="Cambria Math" panose="02040503050406030204" pitchFamily="18" charset="0"/>
                                            <a:ea typeface="Arial"/>
                                            <a:cs typeface="Arial"/>
                                            <a:sym typeface="Arial"/>
                                          </a:rPr>
                                        </m:ctrlPr>
                                      </m:funcPr>
                                      <m:fName>
                                        <m:r>
                                          <m:rPr>
                                            <m:sty m:val="p"/>
                                          </m:rPr>
                                          <a:rPr lang="en-US" sz="2400" i="0" dirty="0" smtClean="0">
                                            <a:latin typeface="Cambria Math" panose="02040503050406030204" pitchFamily="18" charset="0"/>
                                            <a:ea typeface="Arial"/>
                                            <a:cs typeface="Arial"/>
                                            <a:sym typeface="Arial"/>
                                          </a:rPr>
                                          <m:t>arctan</m:t>
                                        </m:r>
                                      </m:fName>
                                      <m:e>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𝑌</m:t>
                                            </m:r>
                                            <m:r>
                                              <m:rPr>
                                                <m:lit/>
                                              </m:rPr>
                                              <a:rPr lang="en-US" sz="2400" i="1" dirty="0" smtClean="0">
                                                <a:latin typeface="Cambria Math" panose="02040503050406030204" pitchFamily="18" charset="0"/>
                                                <a:ea typeface="Arial"/>
                                                <a:cs typeface="Arial"/>
                                                <a:sym typeface="Arial"/>
                                              </a:rPr>
                                              <m:t>/</m:t>
                                            </m:r>
                                            <m:r>
                                              <a:rPr lang="en-US" sz="2400" i="1" dirty="0" smtClean="0">
                                                <a:latin typeface="Cambria Math" panose="02040503050406030204" pitchFamily="18" charset="0"/>
                                                <a:ea typeface="Arial"/>
                                                <a:cs typeface="Arial"/>
                                                <a:sym typeface="Arial"/>
                                              </a:rPr>
                                              <m:t>𝑋</m:t>
                                            </m:r>
                                          </m:e>
                                        </m:d>
                                      </m:e>
                                    </m:func>
                                  </m:e>
                                </m:mr>
                              </m:m>
                            </m:e>
                          </m:d>
                        </m:e>
                      </m:d>
                    </m:oMath>
                  </m:oMathPara>
                </a14:m>
                <a:endParaRPr lang="en-US" sz="2400" dirty="0">
                  <a:latin typeface="Atkinson Hyperlegible Next"/>
                  <a:ea typeface="Arial"/>
                  <a:cs typeface="Arial"/>
                  <a:sym typeface="Arial"/>
                </a:endParaRP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3. Shrink Covariance:</a:t>
                </a:r>
                <a:endParaRPr lang="en-US" sz="24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sub>
                      </m:sSub>
                      <m:r>
                        <a:rPr lang="en-US" sz="2400" i="1" dirty="0" smtClean="0">
                          <a:latin typeface="Cambria Math" panose="02040503050406030204" pitchFamily="18" charset="0"/>
                          <a:ea typeface="Arial"/>
                          <a:cs typeface="Arial"/>
                          <a:sym typeface="Arial"/>
                        </a:rPr>
                        <m:t>=</m:t>
                      </m:r>
                      <m:d>
                        <m:dPr>
                          <m:ctrlPr>
                            <a:rPr lang="en-US" sz="2400" i="1" dirty="0" smtClean="0">
                              <a:latin typeface="Cambria Math" panose="02040503050406030204" pitchFamily="18" charset="0"/>
                              <a:ea typeface="Arial"/>
                              <a:cs typeface="Arial"/>
                              <a:sym typeface="Arial"/>
                            </a:rPr>
                          </m:ctrlPr>
                        </m:dPr>
                        <m:e>
                          <m:r>
                            <a:rPr lang="en-US" sz="2400" i="1" dirty="0" smtClean="0">
                              <a:latin typeface="Cambria Math" panose="02040503050406030204" pitchFamily="18" charset="0"/>
                              <a:ea typeface="Arial"/>
                              <a:cs typeface="Arial"/>
                              <a:sym typeface="Arial"/>
                            </a:rPr>
                            <m:t>𝐼</m:t>
                          </m:r>
                          <m:r>
                            <a:rPr lang="en-US" sz="2400" i="1" dirty="0" smtClean="0">
                              <a:latin typeface="Cambria Math" panose="02040503050406030204" pitchFamily="18" charset="0"/>
                              <a:ea typeface="Arial"/>
                              <a:cs typeface="Arial"/>
                              <a:sym typeface="Arial"/>
                            </a:rPr>
                            <m:t>−</m:t>
                          </m:r>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𝐾</m:t>
                              </m:r>
                            </m:e>
                            <m:sub>
                              <m:r>
                                <a:rPr lang="en-US" sz="2400" i="1" dirty="0" err="1" smtClean="0">
                                  <a:latin typeface="Cambria Math" panose="02040503050406030204" pitchFamily="18" charset="0"/>
                                  <a:ea typeface="Arial"/>
                                  <a:cs typeface="Arial"/>
                                  <a:sym typeface="Arial"/>
                                </a:rPr>
                                <m:t>𝑘</m:t>
                              </m:r>
                            </m:sub>
                          </m:sSub>
                          <m:sSub>
                            <m:sSubPr>
                              <m:ctrlPr>
                                <a:rPr lang="en-US" sz="2400" i="1" dirty="0" err="1" smtClean="0">
                                  <a:latin typeface="Cambria Math" panose="02040503050406030204" pitchFamily="18" charset="0"/>
                                  <a:ea typeface="Arial"/>
                                  <a:cs typeface="Arial"/>
                                  <a:sym typeface="Arial"/>
                                </a:rPr>
                              </m:ctrlPr>
                            </m:sSubPr>
                            <m:e>
                              <m:r>
                                <a:rPr lang="en-US" sz="2400" i="1" dirty="0" err="1" smtClean="0">
                                  <a:latin typeface="Cambria Math" panose="02040503050406030204" pitchFamily="18" charset="0"/>
                                  <a:ea typeface="Arial"/>
                                  <a:cs typeface="Arial"/>
                                  <a:sym typeface="Arial"/>
                                </a:rPr>
                                <m:t>𝐻</m:t>
                              </m:r>
                            </m:e>
                            <m:sub>
                              <m:r>
                                <a:rPr lang="en-US" sz="2400" i="1" dirty="0" err="1" smtClean="0">
                                  <a:latin typeface="Cambria Math" panose="02040503050406030204" pitchFamily="18" charset="0"/>
                                  <a:ea typeface="Arial"/>
                                  <a:cs typeface="Arial"/>
                                  <a:sym typeface="Arial"/>
                                </a:rPr>
                                <m:t>𝑘</m:t>
                              </m:r>
                            </m:sub>
                          </m:sSub>
                        </m:e>
                      </m:d>
                      <m:sSub>
                        <m:sSubPr>
                          <m:ctrlPr>
                            <a:rPr lang="en-US" sz="2400" i="1" dirty="0" smtClean="0">
                              <a:latin typeface="Cambria Math" panose="02040503050406030204" pitchFamily="18" charset="0"/>
                              <a:ea typeface="Arial"/>
                              <a:cs typeface="Arial"/>
                              <a:sym typeface="Arial"/>
                            </a:rPr>
                          </m:ctrlPr>
                        </m:sSubPr>
                        <m:e>
                          <m:r>
                            <a:rPr lang="en-US" sz="2400" i="1" dirty="0" smtClean="0">
                              <a:latin typeface="Cambria Math" panose="02040503050406030204" pitchFamily="18" charset="0"/>
                              <a:ea typeface="Arial"/>
                              <a:cs typeface="Arial"/>
                              <a:sym typeface="Arial"/>
                            </a:rPr>
                            <m:t>𝑃</m:t>
                          </m:r>
                        </m:e>
                        <m:sub>
                          <m:r>
                            <a:rPr lang="en-US" sz="2400" i="1" dirty="0" smtClean="0">
                              <a:latin typeface="Cambria Math" panose="02040503050406030204" pitchFamily="18" charset="0"/>
                              <a:ea typeface="Arial"/>
                              <a:cs typeface="Arial"/>
                              <a:sym typeface="Arial"/>
                            </a:rPr>
                            <m:t>𝑘𝑘</m:t>
                          </m:r>
                          <m:r>
                            <a:rPr lang="en-US" sz="2400" i="1" dirty="0" smtClean="0">
                              <a:latin typeface="Cambria Math" panose="02040503050406030204" pitchFamily="18" charset="0"/>
                              <a:ea typeface="Arial"/>
                              <a:cs typeface="Arial"/>
                              <a:sym typeface="Arial"/>
                            </a:rPr>
                            <m:t>−1</m:t>
                          </m:r>
                        </m:sub>
                      </m:sSub>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7A51193-575C-E6C4-2881-BF811DADFBB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514259F-0756-0FCF-AFDF-44EA3CD0E3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47FD8E7-73BE-2716-E570-010B88D885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9B3BB7-8093-6975-3E68-39A07744863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7D977A5-2CF1-FC27-9394-BC9EDCF174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E2138F-EC52-A5CB-7F0E-EA71A236C6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46873A-580F-F0B1-16E4-2D3BFCBF40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E8409B2-AD12-126B-0D85-9D1C6E782D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FC5B4C0-5913-7635-8B9E-C99FFDEAD9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806122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798335-A1A1-BF5C-D7A2-B8CB0276E82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C3765FE-088C-F3B4-29C1-668D02CDC16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latin typeface="Atkinson Hyperlegible Next"/>
                <a:ea typeface="Arial"/>
                <a:cs typeface="Arial"/>
                <a:sym typeface="Arial"/>
              </a:rPr>
              <a:t>And that’s it! That’s the extended Kalman filter!</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There are more complex filters out there such as Particle Filters, Unscented filters, Lie Group Kalman Filters.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But all they are trying to do is improve the estimate of the non-linearity in the system!</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Everything else is the same, they all have update and predict steps!</a:t>
            </a:r>
          </a:p>
        </p:txBody>
      </p:sp>
      <p:sp>
        <p:nvSpPr>
          <p:cNvPr id="119" name="Google Shape;119;p29">
            <a:extLst>
              <a:ext uri="{FF2B5EF4-FFF2-40B4-BE49-F238E27FC236}">
                <a16:creationId xmlns:a16="http://schemas.microsoft.com/office/drawing/2014/main" id="{7E95A136-82EF-9A5F-3185-247275EC39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D14A5D9-ECA7-B426-88C4-B5D3CDEC9B0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3E9316-A1D8-FDAF-2D9D-0E93CE0269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6C8E7C6-F27F-2648-AC21-A415DD58D0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296CAE-69CA-75CB-BFF0-A9C94618BD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06B5DC2-645E-0818-A2C8-3C05E6F6B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0C1522-D7D8-1959-34B5-D287562CF1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E0C3D8-9FB2-8A1B-AAEF-11DC1465ED5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730131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E29F8F-5303-E70F-FFE6-D370896569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34BB72-C316-DC73-E098-486F9838DB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486E2CD-5C47-312A-64AC-58DE217682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Extended Kalman Filter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E01A1CA-9AB2-C015-A9CE-6B669611221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E54AF5-726E-3BBE-0C25-CC30FB0AD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C09236-C978-6C24-8B69-B3538B13579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692FCE9-D90F-0223-04EF-9D6345D047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D6E96C1-913A-FC30-E19D-AE3A7565E2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68910D3-9E8A-74FA-0490-2AD4CE5BBE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Robot pose uncertainty after moving from the start at (0, 0) along a nominal update arrow to about (3.5, 3.5), axes are global x and y position. Monte Carlo particles form a curved banana-shaped arc, running from about (−5, 2) over the top near y = 5 and down to about (5, −4). The red EKF Cartesian 2-sigma ellipse is a straight tilted ellipse that misses much of the arc. The green Lie group SE(2) 2-sigma bound bends with the particles and fits the dense region better.">
            <a:extLst>
              <a:ext uri="{FF2B5EF4-FFF2-40B4-BE49-F238E27FC236}">
                <a16:creationId xmlns:a16="http://schemas.microsoft.com/office/drawing/2014/main" id="{FB821CD5-ADF9-81BC-13BF-E2E66DCE4CCF}"/>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03137" y="868221"/>
            <a:ext cx="5785727" cy="5785727"/>
          </a:xfrm>
          <a:prstGeom prst="rect">
            <a:avLst/>
          </a:prstGeom>
        </p:spPr>
      </p:pic>
    </p:spTree>
    <p:extLst>
      <p:ext uri="{BB962C8B-B14F-4D97-AF65-F5344CB8AC3E}">
        <p14:creationId xmlns:p14="http://schemas.microsoft.com/office/powerpoint/2010/main" val="225806698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20–21</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1471</TotalTime>
  <Words>5606</Words>
  <Application>Microsoft Office PowerPoint</Application>
  <PresentationFormat>Widescreen</PresentationFormat>
  <Paragraphs>926</Paragraphs>
  <Slides>100</Slides>
  <Notes>100</Notes>
  <HiddenSlides>0</HiddenSlides>
  <MMClips>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100</vt:i4>
      </vt:variant>
    </vt:vector>
  </HeadingPairs>
  <TitlesOfParts>
    <vt:vector size="104" baseType="lpstr">
      <vt:lpstr>Arial</vt:lpstr>
      <vt:lpstr>Calibri</vt:lpstr>
      <vt:lpstr>Cambria Math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326</cp:revision>
  <dcterms:created xsi:type="dcterms:W3CDTF">2019-01-14T22:06:33Z</dcterms:created>
  <dcterms:modified xsi:type="dcterms:W3CDTF">2026-04-08T13:45:38Z</dcterms:modified>
</cp:coreProperties>
</file>