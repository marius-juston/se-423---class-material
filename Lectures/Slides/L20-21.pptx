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2"/>
  </p:notesMasterIdLst>
  <p:sldIdLst>
    <p:sldId id="256" r:id="rId2"/>
    <p:sldId id="417" r:id="rId3"/>
    <p:sldId id="413" r:id="rId4"/>
    <p:sldId id="272" r:id="rId5"/>
    <p:sldId id="258" r:id="rId6"/>
    <p:sldId id="420" r:id="rId7"/>
    <p:sldId id="421" r:id="rId8"/>
    <p:sldId id="419" r:id="rId9"/>
    <p:sldId id="422" r:id="rId10"/>
    <p:sldId id="424" r:id="rId11"/>
    <p:sldId id="426" r:id="rId12"/>
    <p:sldId id="427" r:id="rId13"/>
    <p:sldId id="453" r:id="rId14"/>
    <p:sldId id="428" r:id="rId15"/>
    <p:sldId id="429" r:id="rId16"/>
    <p:sldId id="430" r:id="rId17"/>
    <p:sldId id="433" r:id="rId18"/>
    <p:sldId id="455" r:id="rId19"/>
    <p:sldId id="418" r:id="rId20"/>
    <p:sldId id="431" r:id="rId21"/>
    <p:sldId id="432" r:id="rId22"/>
    <p:sldId id="437" r:id="rId23"/>
    <p:sldId id="434" r:id="rId24"/>
    <p:sldId id="438" r:id="rId25"/>
    <p:sldId id="436" r:id="rId26"/>
    <p:sldId id="456" r:id="rId27"/>
    <p:sldId id="435" r:id="rId28"/>
    <p:sldId id="439" r:id="rId29"/>
    <p:sldId id="441" r:id="rId30"/>
    <p:sldId id="440" r:id="rId31"/>
    <p:sldId id="476" r:id="rId32"/>
    <p:sldId id="442" r:id="rId33"/>
    <p:sldId id="443" r:id="rId34"/>
    <p:sldId id="454" r:id="rId35"/>
    <p:sldId id="458" r:id="rId36"/>
    <p:sldId id="472" r:id="rId37"/>
    <p:sldId id="448" r:id="rId38"/>
    <p:sldId id="473" r:id="rId39"/>
    <p:sldId id="444" r:id="rId40"/>
    <p:sldId id="446" r:id="rId41"/>
    <p:sldId id="445" r:id="rId42"/>
    <p:sldId id="447" r:id="rId43"/>
    <p:sldId id="449" r:id="rId44"/>
    <p:sldId id="450" r:id="rId45"/>
    <p:sldId id="451" r:id="rId46"/>
    <p:sldId id="477" r:id="rId47"/>
    <p:sldId id="457" r:id="rId48"/>
    <p:sldId id="460" r:id="rId49"/>
    <p:sldId id="461" r:id="rId50"/>
    <p:sldId id="462" r:id="rId51"/>
    <p:sldId id="463" r:id="rId52"/>
    <p:sldId id="464" r:id="rId53"/>
    <p:sldId id="474" r:id="rId54"/>
    <p:sldId id="465" r:id="rId55"/>
    <p:sldId id="475" r:id="rId56"/>
    <p:sldId id="467" r:id="rId57"/>
    <p:sldId id="471" r:id="rId58"/>
    <p:sldId id="459" r:id="rId59"/>
    <p:sldId id="478" r:id="rId60"/>
    <p:sldId id="468" r:id="rId61"/>
    <p:sldId id="469" r:id="rId62"/>
    <p:sldId id="470" r:id="rId63"/>
    <p:sldId id="466" r:id="rId64"/>
    <p:sldId id="479" r:id="rId65"/>
    <p:sldId id="480" r:id="rId66"/>
    <p:sldId id="481" r:id="rId67"/>
    <p:sldId id="482" r:id="rId68"/>
    <p:sldId id="483" r:id="rId69"/>
    <p:sldId id="484" r:id="rId70"/>
    <p:sldId id="485" r:id="rId71"/>
    <p:sldId id="486" r:id="rId72"/>
    <p:sldId id="487" r:id="rId73"/>
    <p:sldId id="488" r:id="rId74"/>
    <p:sldId id="490" r:id="rId75"/>
    <p:sldId id="491" r:id="rId76"/>
    <p:sldId id="492" r:id="rId77"/>
    <p:sldId id="493" r:id="rId78"/>
    <p:sldId id="505" r:id="rId79"/>
    <p:sldId id="494" r:id="rId80"/>
    <p:sldId id="514" r:id="rId81"/>
    <p:sldId id="495" r:id="rId82"/>
    <p:sldId id="496" r:id="rId83"/>
    <p:sldId id="497" r:id="rId84"/>
    <p:sldId id="498" r:id="rId85"/>
    <p:sldId id="502" r:id="rId86"/>
    <p:sldId id="499" r:id="rId87"/>
    <p:sldId id="501" r:id="rId88"/>
    <p:sldId id="506" r:id="rId89"/>
    <p:sldId id="503" r:id="rId90"/>
    <p:sldId id="500" r:id="rId91"/>
    <p:sldId id="508" r:id="rId92"/>
    <p:sldId id="509" r:id="rId93"/>
    <p:sldId id="510" r:id="rId94"/>
    <p:sldId id="511" r:id="rId95"/>
    <p:sldId id="512" r:id="rId96"/>
    <p:sldId id="513" r:id="rId97"/>
    <p:sldId id="515" r:id="rId98"/>
    <p:sldId id="507" r:id="rId99"/>
    <p:sldId id="271" r:id="rId100"/>
    <p:sldId id="270" r:id="rId10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3"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the title slide for SE 423, Introduction to Mechatronics, Lectures 20 and 21: Sensor Fusion and Kalman Filters, presented by Marius Juston on Monday, April 6th, 2026. The University of Illinois Urbana-Champaign logo sits at the top over a dark blue background of faint hand-drawn equations and diagrams.</a:t>
            </a:r>
          </a:p>
          <a:p>
            <a:pPr marL="0" lvl="0" indent="0" algn="l" rtl="0">
              <a:spcBef>
                <a:spcPts val="0"/>
              </a:spcBef>
              <a:spcAft>
                <a:spcPts val="600"/>
              </a:spcAft>
              <a:buNone/>
            </a:pPr>
            <a:r>
              <a:rPr lang="en-US" dirty="0"/>
              <a:t>Over these two lectures you learn how to combine noisy sensors, such as wheel odometry, the IMU, and LiDAR, into one best estimate of where the robot is. The progression goes from the 1D Kalman filter to the N-dimensional filter, and then to the Extended Kalman Filter for nonlinear robots. First comes a quick partner review.</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five-minute partner discussion to open the lecture. The heading reads "Review – 5-minute partner discussion," followed by "Talk to the person next to you and answer these questions." There are four questions. First, what assumptions were made during path planning and trajectory planning? Second, what sensors on the robot help determine its location in the world? Third, when could the odometry and the IMU give different values, and which one should you trust? Fourth, if your IMU says you accelerated forward but LiDAR scan matching says you didn't move, what should the system believe?</a:t>
            </a:r>
          </a:p>
          <a:p>
            <a:pPr marL="0" lvl="0" indent="0" algn="l" rtl="0">
              <a:lnSpc>
                <a:spcPct val="100000"/>
              </a:lnSpc>
              <a:spcBef>
                <a:spcPts val="0"/>
              </a:spcBef>
              <a:spcAft>
                <a:spcPts val="600"/>
              </a:spcAft>
              <a:buSzPts val="1400"/>
              <a:buNone/>
            </a:pPr>
            <a:r>
              <a:rPr lang="en-US" dirty="0"/>
              <a:t>For the first question, think back to our planning lectures. We quietly assumed the robot knows its pose exactly and that it follows commanded velocities perfectly. Real robots break both assumptions.</a:t>
            </a:r>
          </a:p>
          <a:p>
            <a:pPr marL="0" lvl="0" indent="0" algn="l" rtl="0">
              <a:lnSpc>
                <a:spcPct val="100000"/>
              </a:lnSpc>
              <a:spcBef>
                <a:spcPts val="0"/>
              </a:spcBef>
              <a:spcAft>
                <a:spcPts val="600"/>
              </a:spcAft>
              <a:buSzPts val="1400"/>
              <a:buNone/>
            </a:pPr>
            <a:r>
              <a:rPr lang="en-US" dirty="0"/>
              <a:t>For the second, list what your robot actually has. Wheel encoders give odometry, the IMU's gyro and accelerometer give rotation and acceleration, the LiDAR scans the surroundings, and the camera sees the scene. Each of these measures position or motion in a different way, with different errors.</a:t>
            </a:r>
          </a:p>
          <a:p>
            <a:pPr marL="0" lvl="0" indent="0" algn="l" rtl="0">
              <a:lnSpc>
                <a:spcPct val="100000"/>
              </a:lnSpc>
              <a:spcBef>
                <a:spcPts val="0"/>
              </a:spcBef>
              <a:spcAft>
                <a:spcPts val="600"/>
              </a:spcAft>
              <a:buSzPts val="1400"/>
              <a:buNone/>
            </a:pPr>
            <a:r>
              <a:rPr lang="en-US" dirty="0"/>
              <a:t>For the third, consider wheel slip, spinning wheels, or a robot picked up off the floor. In those cases the encoders report motion that never happened. The IMU, on the other hand, drifts because of gyro bias and is noisy from vibration.</a:t>
            </a:r>
          </a:p>
          <a:p>
            <a:pPr marL="0" lvl="0" indent="0" algn="l" rtl="0">
              <a:lnSpc>
                <a:spcPct val="100000"/>
              </a:lnSpc>
              <a:spcBef>
                <a:spcPts val="0"/>
              </a:spcBef>
              <a:spcAft>
                <a:spcPts val="600"/>
              </a:spcAft>
              <a:buSzPts val="1400"/>
              <a:buNone/>
            </a:pPr>
            <a:r>
              <a:rPr lang="en-US" dirty="0"/>
              <a:t>For the fourth, ask whether the LiDAR scan might be unreliable, as in a featureless hallway, or whether the IMU reading was just a bump or bias.</a:t>
            </a:r>
          </a:p>
          <a:p>
            <a:pPr marL="0" lvl="0" indent="0" algn="l" rtl="0">
              <a:lnSpc>
                <a:spcPct val="100000"/>
              </a:lnSpc>
              <a:spcBef>
                <a:spcPts val="0"/>
              </a:spcBef>
              <a:spcAft>
                <a:spcPts val="600"/>
              </a:spcAft>
              <a:buSzPts val="1400"/>
              <a:buNone/>
            </a:pPr>
            <a:r>
              <a:rPr lang="en-US" dirty="0"/>
              <a:t>A common mistake is to pick one sensor and always trust it. No sensor is always right. The better answer is to weigh each source by how uncertain it is in that situation, and that weighting is exactly what sensor fusion and the Kalman filter, today's topic, do.</a:t>
            </a: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weekly reminders in three groups: office hours, lab, and homework. The words "homework 4" appear twice as links to the assignment.</a:t>
            </a:r>
          </a:p>
          <a:p>
            <a:pPr marL="0" lvl="0" indent="0" algn="l" rtl="0">
              <a:lnSpc>
                <a:spcPct val="100000"/>
              </a:lnSpc>
              <a:spcBef>
                <a:spcPts val="0"/>
              </a:spcBef>
              <a:spcAft>
                <a:spcPts val="600"/>
              </a:spcAft>
              <a:buSzPts val="1400"/>
              <a:buNone/>
            </a:pPr>
            <a:r>
              <a:rPr lang="en-US" dirty="0"/>
              <a:t>Office hours are Monday 4 to 6 PM with Neel, Tuesday 11 AM to 1 PM with Lakshmi, Tuesday 1 to 3 PM with Samuel, and Tuesday 2 to 5 PM with Dan and Marius.</a:t>
            </a:r>
          </a:p>
          <a:p>
            <a:pPr marL="0" lvl="0" indent="0" algn="l" rtl="0">
              <a:lnSpc>
                <a:spcPct val="100000"/>
              </a:lnSpc>
              <a:spcBef>
                <a:spcPts val="0"/>
              </a:spcBef>
              <a:spcAft>
                <a:spcPts val="600"/>
              </a:spcAft>
              <a:buSzPts val="1400"/>
              <a:buNone/>
            </a:pPr>
            <a:r>
              <a:rPr lang="en-US" dirty="0"/>
              <a:t>In lab, you finish Lab 6 this week, the last week of this three-week lab. Have your LabVIEW application implemented before you arrive, so lab time goes to testing on the robot rather than building the interface.</a:t>
            </a:r>
          </a:p>
          <a:p>
            <a:pPr marL="0" lvl="0" indent="0" algn="l" rtl="0">
              <a:lnSpc>
                <a:spcPct val="100000"/>
              </a:lnSpc>
              <a:spcBef>
                <a:spcPts val="0"/>
              </a:spcBef>
              <a:spcAft>
                <a:spcPts val="600"/>
              </a:spcAft>
              <a:buSzPts val="1400"/>
              <a:buNone/>
            </a:pPr>
            <a:r>
              <a:rPr lang="en-US" dirty="0"/>
              <a:t>For homework, check-offs for homework 4, Exercise 4, are due Tuesday, April 7, at 5 PM, which is the end of Tuesday office hours. Don't wait until the last hour for a check-off. The rest of homework 4 is due on Gradescope on Wednesday, April 8, at 9 AM.</a:t>
            </a:r>
          </a:p>
          <a:p>
            <a:pPr marL="0" lvl="0" indent="0" algn="l" rtl="0">
              <a:lnSpc>
                <a:spcPct val="100000"/>
              </a:lnSpc>
              <a:spcBef>
                <a:spcPts val="0"/>
              </a:spcBef>
              <a:spcAft>
                <a:spcPts val="600"/>
              </a:spcAft>
              <a:buSzPts val="1400"/>
              <a:buNone/>
            </a:pPr>
            <a:r>
              <a:rPr lang="en-US" dirty="0"/>
              <a:t>The next homework is mainly the personal project, due April 22 at 9 AM. Start thinking about it now, and if you already have a good idea, start working on it.</a:t>
            </a:r>
          </a:p>
          <a:p>
            <a:pPr marL="0" lvl="0" indent="0" algn="l" rtl="0">
              <a:lnSpc>
                <a:spcPct val="100000"/>
              </a:lnSpc>
              <a:spcBef>
                <a:spcPts val="0"/>
              </a:spcBef>
              <a:spcAft>
                <a:spcPts val="600"/>
              </a:spcAft>
              <a:buSzPts val="1400"/>
              <a:buNone/>
            </a:pPr>
            <a:r>
              <a:rPr lang="en-US" dirty="0"/>
              <a:t>Next is a chance to ask questions about the homework, the lab, or LabVIEW before we move into sensor fusion.</a:t>
            </a:r>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word "Questions?" in large white text on the dark blue Illinois background, which carries faint hand-drawn sketches of equations, chemical structures and diagrams. Below a thin orange line, the subtitle asks: "Homework, Lab, LabVIEW?"</a:t>
            </a:r>
          </a:p>
          <a:p>
            <a:pPr marL="0" lvl="0" indent="0" algn="l" rtl="0">
              <a:spcBef>
                <a:spcPts val="0"/>
              </a:spcBef>
              <a:spcAft>
                <a:spcPts val="600"/>
              </a:spcAft>
              <a:buNone/>
            </a:pPr>
            <a:r>
              <a:rPr lang="en-US" dirty="0"/>
              <a:t>This is your chance to ask about the reminders you just saw: homework 4, finishing the three-week Lab 6, or getting your LabVIEW application working before lab. Next, we start sensor fusion: why no single sensor on the robot can be trusted on its own.</a:t>
            </a: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Its orange background carries faint hand-drawn sketches: a cube with flux equations, a sphere, chemical structures, and a commutative arrow diagram. In the center, dark blue text reads "Sensor Fusion." The Illinois logo sits in the top right corner, with "Systems Engineering" and "Grainger Engineering" along the bottom.</a:t>
            </a:r>
          </a:p>
          <a:p>
            <a:pPr marL="0" lvl="0" indent="0" algn="l" rtl="0">
              <a:spcBef>
                <a:spcPts val="0"/>
              </a:spcBef>
              <a:spcAft>
                <a:spcPts val="600"/>
              </a:spcAft>
              <a:buNone/>
            </a:pPr>
            <a:r>
              <a:rPr lang="en-US" dirty="0"/>
              <a:t>With the reminders and questions done, this starts the main topic of Lectures 20 and 21. Sensor fusion means combining measurements from several imperfect sensors, such as wheel encoders, the IMU, and LiDAR, into one estimate of the robot's state. That estimate is better than any single sensor could give you. Next, you look at why each sensor fails on its own, which motivates the Kalman filter.</a:t>
            </a: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AF43FB0-C57F-79C7-9535-B678C753842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E7C0687-8CCB-6A90-1185-11BBF3C424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opens with two statements: in the real world, motors do not spin exactly as commanded because of friction and voltage drops, and sensors suffer from electrical noise, mechanical imperfections, and environmental interference. It then asks three questions and lists answers under each. LiDAR can fail on reflective or absorptive surfaces such as glass, mirrors, and black materials; in fog, rain, dust, or snow; and during fast motion relative to the scan frequency. Odometry can fail on slippery terrain that causes wheel slip. The IMU can fail through drift and through saturating the sensors. The closing line says that if we blindly execute our path plan open-loop, the robot will quickly crash.</a:t>
            </a:r>
          </a:p>
          <a:p>
            <a:pPr marL="0" lvl="0" indent="0" algn="l" rtl="0">
              <a:lnSpc>
                <a:spcPct val="100000"/>
              </a:lnSpc>
              <a:spcBef>
                <a:spcPts val="0"/>
              </a:spcBef>
              <a:spcAft>
                <a:spcPts val="600"/>
              </a:spcAft>
              <a:buSzPts val="1400"/>
              <a:buNone/>
            </a:pPr>
            <a:r>
              <a:rPr lang="en-US" dirty="0"/>
              <a:t>The key idea is that every sensor fails in its own way. Glass lets the laser pass through, a mirror bounces it away, and black material absorbs it, so you get missing or wrong ranges. If the robot moves or turns quickly during one scan, the points in that scan are smeared. Encoders only measure wheel rotation, so a slipping wheel still counts as distance travelled. An IMU's small bias errors grow without bound once you integrate them, which is called drift. A hard bump or a fast spin can also push the IMU past its measurement range, which is called saturation, and then the reading is clipped.</a:t>
            </a:r>
          </a:p>
          <a:p>
            <a:pPr marL="0" lvl="0" indent="0" algn="l" rtl="0">
              <a:lnSpc>
                <a:spcPct val="100000"/>
              </a:lnSpc>
              <a:spcBef>
                <a:spcPts val="0"/>
              </a:spcBef>
              <a:spcAft>
                <a:spcPts val="600"/>
              </a:spcAft>
              <a:buSzPts val="1400"/>
              <a:buNone/>
            </a:pPr>
            <a:r>
              <a:rPr lang="en-US" dirty="0"/>
              <a:t>Quick check: on your robot, which of these failures would you expect on a smooth, shiny lab floor?</a:t>
            </a:r>
          </a:p>
          <a:p>
            <a:pPr marL="0" lvl="0" indent="0" algn="l" rtl="0">
              <a:lnSpc>
                <a:spcPct val="100000"/>
              </a:lnSpc>
              <a:spcBef>
                <a:spcPts val="0"/>
              </a:spcBef>
              <a:spcAft>
                <a:spcPts val="600"/>
              </a:spcAft>
              <a:buSzPts val="1400"/>
              <a:buNone/>
            </a:pPr>
            <a:r>
              <a:rPr lang="en-US" dirty="0"/>
              <a:t>Because no single sensor is trustworthy, the next slide frames this as the localization problem and introduces the mix of sensors the SE 423 robots combine.</a:t>
            </a:r>
          </a:p>
        </p:txBody>
      </p:sp>
      <p:sp>
        <p:nvSpPr>
          <p:cNvPr id="116" name="Google Shape;116;p29:notes">
            <a:extLst>
              <a:ext uri="{FF2B5EF4-FFF2-40B4-BE49-F238E27FC236}">
                <a16:creationId xmlns:a16="http://schemas.microsoft.com/office/drawing/2014/main" id="{C82EDADD-0D8D-9E80-F663-EC5293C2AA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8934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F675412-624A-2292-0EA3-35B791CA3EC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5FAC35A-CD72-905F-CD22-D1B98D7C86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Sensor Fusion. It defines localization and sorts the robot's sensors into two families. It states that we need localization, meaning determining the robot's state (position, velocity, and orientation) in the real world. It says SE 423 robots use multiple sensors to solve this. Proprioceptive sensors measure internal states, namely wheel encoders (odometry) and IMUs. Exteroceptive sensors measure the external environment, namely LiDAR. The final line reads: no single sensor is perfect; they all lie to us in different ways.</a:t>
            </a:r>
          </a:p>
          <a:p>
            <a:pPr marL="0" lvl="0" indent="0" algn="l" rtl="0">
              <a:lnSpc>
                <a:spcPct val="100000"/>
              </a:lnSpc>
              <a:spcBef>
                <a:spcPts val="0"/>
              </a:spcBef>
              <a:spcAft>
                <a:spcPts val="600"/>
              </a:spcAft>
              <a:buSzPts val="1400"/>
              <a:buNone/>
            </a:pPr>
            <a:r>
              <a:rPr lang="en-US" dirty="0"/>
              <a:t>On the previous slide you saw that running a path plan open-loop quickly ends in a crash, because motors, wheels, and sensors all misbehave. Localization is the fix. Before the robot can track a trajectory, it has to know where it is, which way it faces, and how fast it moves. That collection of numbers is the state.</a:t>
            </a:r>
          </a:p>
          <a:p>
            <a:pPr marL="0" lvl="0" indent="0" algn="l" rtl="0">
              <a:lnSpc>
                <a:spcPct val="100000"/>
              </a:lnSpc>
              <a:spcBef>
                <a:spcPts val="0"/>
              </a:spcBef>
              <a:spcAft>
                <a:spcPts val="600"/>
              </a:spcAft>
              <a:buSzPts val="1400"/>
              <a:buNone/>
            </a:pPr>
            <a:r>
              <a:rPr lang="en-US" dirty="0"/>
              <a:t>The two new terms come from biology. Proprioception is your sense of your own body: you know where your hand is with your eyes closed. On the robot, encoders count wheel rotation and the IMU senses acceleration and rotation rate, so both report the robot's own motion. Exteroception looks outward. The LiDAR measures distances to walls and objects around the robot.</a:t>
            </a:r>
          </a:p>
          <a:p>
            <a:pPr marL="0" lvl="0" indent="0" algn="l" rtl="0">
              <a:lnSpc>
                <a:spcPct val="100000"/>
              </a:lnSpc>
              <a:spcBef>
                <a:spcPts val="0"/>
              </a:spcBef>
              <a:spcAft>
                <a:spcPts val="600"/>
              </a:spcAft>
              <a:buSzPts val="1400"/>
              <a:buNone/>
            </a:pPr>
            <a:r>
              <a:rPr lang="en-US" dirty="0"/>
              <a:t>The key point is that these failure modes are different. Odometry is fooled by wheel slip, the IMU drifts, and LiDAR struggles with glass, black surfaces, or dust. Because they fail differently, combining them can cancel out their individual weaknesses, which is the whole idea of sensor fusion.</a:t>
            </a:r>
          </a:p>
          <a:p>
            <a:pPr marL="0" lvl="0" indent="0" algn="l" rtl="0">
              <a:lnSpc>
                <a:spcPct val="100000"/>
              </a:lnSpc>
              <a:spcBef>
                <a:spcPts val="0"/>
              </a:spcBef>
              <a:spcAft>
                <a:spcPts val="600"/>
              </a:spcAft>
              <a:buSzPts val="1400"/>
              <a:buNone/>
            </a:pPr>
            <a:r>
              <a:rPr lang="en-US" dirty="0"/>
              <a:t>Quick check: is a gyro proprioceptive or exteroceptive? (Proprioceptive, since it measures the robot's own rotation.) Next, you look at what each sensor is good at and how often it reports.</a:t>
            </a:r>
          </a:p>
        </p:txBody>
      </p:sp>
      <p:sp>
        <p:nvSpPr>
          <p:cNvPr id="116" name="Google Shape;116;p29:notes">
            <a:extLst>
              <a:ext uri="{FF2B5EF4-FFF2-40B4-BE49-F238E27FC236}">
                <a16:creationId xmlns:a16="http://schemas.microsoft.com/office/drawing/2014/main" id="{38624941-50C6-5653-FE5C-62215CF9E6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9339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9F28052-259D-19FA-2CA0-17516D528E4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747D357-2DDF-60E5-8997-E2BF559D628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under the title Sensor Fusion. It compares the three sensors on the SE 423 robot by how fast they report and what kind of information they give, and it ends with a question for you.</a:t>
            </a:r>
          </a:p>
          <a:p>
            <a:pPr marL="0" lvl="0" indent="0" algn="l" rtl="0">
              <a:lnSpc>
                <a:spcPct val="100000"/>
              </a:lnSpc>
              <a:spcBef>
                <a:spcPts val="0"/>
              </a:spcBef>
              <a:spcAft>
                <a:spcPts val="600"/>
              </a:spcAft>
              <a:buSzPts val="1400"/>
              <a:buNone/>
            </a:pPr>
            <a:r>
              <a:rPr lang="en-US" dirty="0"/>
              <a:t>Wheel encoders count wheel rotations. If you know the wheel radius and the track width (the distance between the left and right wheels), forward kinematics turns those counts into an estimate of position and heading. This is odometry. It is high-frequency and smooth, so it is good for short-term motion.</a:t>
            </a:r>
          </a:p>
          <a:p>
            <a:pPr marL="0" lvl="0" indent="0" algn="l" rtl="0">
              <a:lnSpc>
                <a:spcPct val="100000"/>
              </a:lnSpc>
              <a:spcBef>
                <a:spcPts val="0"/>
              </a:spcBef>
              <a:spcAft>
                <a:spcPts val="600"/>
              </a:spcAft>
              <a:buSzPts val="1400"/>
              <a:buNone/>
            </a:pPr>
            <a:r>
              <a:rPr lang="en-US" dirty="0"/>
              <a:t>IMUs are also high-frequency and smooth. They estimate motion by integrating measured acceleration. Every integration step adds a little error, so both odometry and the IMU are relative sensors that drift over time.</a:t>
            </a:r>
          </a:p>
          <a:p>
            <a:pPr marL="0" lvl="0" indent="0" algn="l" rtl="0">
              <a:lnSpc>
                <a:spcPct val="100000"/>
              </a:lnSpc>
              <a:spcBef>
                <a:spcPts val="0"/>
              </a:spcBef>
              <a:spcAft>
                <a:spcPts val="600"/>
              </a:spcAft>
              <a:buSzPts val="1400"/>
              <a:buNone/>
            </a:pPr>
            <a:r>
              <a:rPr lang="en-US" dirty="0"/>
              <a:t>LiDAR is different. It measures absolute distances to the environment, so its error does not pile up the way integrated error does. Each scan carries much more data, though, so it runs slower. The slide gives about 10 Hz for LiDAR versus about 500 Hz for an IMU.</a:t>
            </a:r>
          </a:p>
          <a:p>
            <a:pPr marL="0" lvl="0" indent="0" algn="l" rtl="0">
              <a:lnSpc>
                <a:spcPct val="100000"/>
              </a:lnSpc>
              <a:spcBef>
                <a:spcPts val="0"/>
              </a:spcBef>
              <a:spcAft>
                <a:spcPts val="600"/>
              </a:spcAft>
              <a:buSzPts val="1400"/>
              <a:buNone/>
            </a:pPr>
            <a:r>
              <a:rPr lang="en-US" dirty="0"/>
              <a:t>Now the question: in a perfectly square, featureless hallway, can LiDAR tell you where you are along the hallway? No. Every position along the hallway produces the same scan, so LiDAR only pins down your distance to the side walls and your angle relative to them. Odometry and the IMU can track how far you have moved along the hallway, but that estimate slowly drifts.</a:t>
            </a:r>
          </a:p>
          <a:p>
            <a:pPr marL="0" lvl="0" indent="0" algn="l" rtl="0">
              <a:lnSpc>
                <a:spcPct val="100000"/>
              </a:lnSpc>
              <a:spcBef>
                <a:spcPts val="0"/>
              </a:spcBef>
              <a:spcAft>
                <a:spcPts val="600"/>
              </a:spcAft>
              <a:buSzPts val="1400"/>
              <a:buNone/>
            </a:pPr>
            <a:r>
              <a:rPr lang="en-US" dirty="0"/>
              <a:t>So each sensor covers the other's blind spot. Keep this complementary picture in mind, because the next slide asks how to actually combine fast, drifting sensors with slow, non-drifting ones.</a:t>
            </a:r>
          </a:p>
        </p:txBody>
      </p:sp>
      <p:sp>
        <p:nvSpPr>
          <p:cNvPr id="116" name="Google Shape;116;p29:notes">
            <a:extLst>
              <a:ext uri="{FF2B5EF4-FFF2-40B4-BE49-F238E27FC236}">
                <a16:creationId xmlns:a16="http://schemas.microsoft.com/office/drawing/2014/main" id="{85A4BFE2-5F2F-0C43-4FB8-A1AA92F315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15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2022EE5-ED73-60D1-8E8C-287AA96F98A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0B0831D-EF87-97F8-12D9-B860728A04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Sensor Fusion. It lists two kinds of sensors. The first kind is fast, smooth and drifts: the IMU and wheel odometry. The second kind is slow and computationally heavy but does not drift: the LiDAR. It then asks how to combine them, and notes that simple averaging fails because each sensor's reliability changes over time. It asks which sensor you should trust when two measurements disagree. Finally, it asks what would happen if each sensor reported its own confidence, for example the LiDAR being 75% sure of its position and the IMU and odometry together being 25% sure.</a:t>
            </a:r>
          </a:p>
          <a:p>
            <a:pPr marL="0" lvl="0" indent="0" algn="l" rtl="0">
              <a:lnSpc>
                <a:spcPct val="100000"/>
              </a:lnSpc>
              <a:spcBef>
                <a:spcPts val="0"/>
              </a:spcBef>
              <a:spcAft>
                <a:spcPts val="600"/>
              </a:spcAft>
              <a:buSzPts val="1400"/>
              <a:buNone/>
            </a:pPr>
            <a:r>
              <a:rPr lang="en-US" dirty="0"/>
              <a:t>This follows from the hallway question on the last slide. In a featureless hallway, the LiDAR cannot tell where you are along the hallway, while odometry can, at least for a short time. So the trust you give each sensor should depend on the situation.</a:t>
            </a:r>
          </a:p>
          <a:p>
            <a:pPr marL="0" lvl="0" indent="0" algn="l" rtl="0">
              <a:lnSpc>
                <a:spcPct val="100000"/>
              </a:lnSpc>
              <a:spcBef>
                <a:spcPts val="0"/>
              </a:spcBef>
              <a:spcAft>
                <a:spcPts val="600"/>
              </a:spcAft>
              <a:buSzPts val="1400"/>
              <a:buNone/>
            </a:pPr>
            <a:r>
              <a:rPr lang="en-US" dirty="0"/>
              <a:t>A plain average gives every sensor the same weight forever. Odometry error grows the longer you integrate, so its weight should shrink over time. LiDAR deserves a high weight near distinct walls and a low weight in that hallway.</a:t>
            </a:r>
          </a:p>
          <a:p>
            <a:pPr marL="0" lvl="0" indent="0" algn="l" rtl="0">
              <a:lnSpc>
                <a:spcPct val="100000"/>
              </a:lnSpc>
              <a:spcBef>
                <a:spcPts val="0"/>
              </a:spcBef>
              <a:spcAft>
                <a:spcPts val="600"/>
              </a:spcAft>
              <a:buSzPts val="1400"/>
              <a:buNone/>
            </a:pPr>
            <a:r>
              <a:rPr lang="en-US" dirty="0"/>
              <a:t>The confidence idea leads to a weighted average: x_fused = 0.75*x_lidar + 0.25*x_odom. Suppose the LiDAR says 5.0 m and odometry says 5.4 m. Then x_fused = 0.75*5.0 + 0.25*5.4 = 5.1 m, so the estimate lands closer to the sensor you trust more.</a:t>
            </a:r>
          </a:p>
          <a:p>
            <a:pPr marL="0" lvl="0" indent="0" algn="l" rtl="0">
              <a:lnSpc>
                <a:spcPct val="100000"/>
              </a:lnSpc>
              <a:spcBef>
                <a:spcPts val="0"/>
              </a:spcBef>
              <a:spcAft>
                <a:spcPts val="600"/>
              </a:spcAft>
              <a:buSzPts val="1400"/>
              <a:buNone/>
            </a:pPr>
            <a:r>
              <a:rPr lang="en-US" dirty="0"/>
              <a:t>The open question is where those weights come from, and how they can update automatically as conditions change. The next slide answers this by describing each estimate as a probability distribution, a Gaussian whose variance measures uncertainty. That idea becomes the core of the Kalman filter.</a:t>
            </a:r>
          </a:p>
        </p:txBody>
      </p:sp>
      <p:sp>
        <p:nvSpPr>
          <p:cNvPr id="116" name="Google Shape;116;p29:notes">
            <a:extLst>
              <a:ext uri="{FF2B5EF4-FFF2-40B4-BE49-F238E27FC236}">
                <a16:creationId xmlns:a16="http://schemas.microsoft.com/office/drawing/2014/main" id="{08FCB816-D465-4317-B99B-FD37B68972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1705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92666E3-9E47-7889-5DA2-B1DCFFC9543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30A621E-607C-F890-2501-9B7548653F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changes how we describe where the robot is. Instead of claiming the robot is exactly at X = 5, we say "we are 90% sure the robot is near X = 5." The state becomes a probability distribution rather than a single number. The distribution we use is the Gaussian, or normal, distribution, defined by two numbers: the mean, mu, and the variance, sigma squared.</a:t>
            </a:r>
          </a:p>
          <a:p>
            <a:pPr marL="0" lvl="0" indent="0" algn="l" rtl="0">
              <a:lnSpc>
                <a:spcPct val="100000"/>
              </a:lnSpc>
              <a:spcBef>
                <a:spcPts val="0"/>
              </a:spcBef>
              <a:spcAft>
                <a:spcPts val="600"/>
              </a:spcAft>
              <a:buSzPts val="1400"/>
              <a:buNone/>
            </a:pPr>
            <a:r>
              <a:rPr lang="en-US" dirty="0"/>
              <a:t>The figure, from the Wikipedia article on the normal distribution (https://en.wikipedia.org/wiki/Normal_distribution), is the standard bell curve. The vertical axis is probability density, peaking at about 0.4 at the mean. The horizontal axis is marked in standard deviations from minus 3 sigma to plus 3 sigma. Shaded bands show how much probability falls in each interval: 34.1% between the mean and 1 sigma on each side, 13.6% between 1 and 2 sigma, 2.1% between 2 and 3 sigma, and about 0.1% beyond 3 sigma.</a:t>
            </a:r>
          </a:p>
          <a:p>
            <a:pPr marL="0" lvl="0" indent="0" algn="l" rtl="0">
              <a:lnSpc>
                <a:spcPct val="100000"/>
              </a:lnSpc>
              <a:spcBef>
                <a:spcPts val="0"/>
              </a:spcBef>
              <a:spcAft>
                <a:spcPts val="600"/>
              </a:spcAft>
              <a:buSzPts val="1400"/>
              <a:buNone/>
            </a:pPr>
            <a:r>
              <a:rPr lang="en-US" dirty="0"/>
              <a:t>Adding the bands gives the rule worth remembering: about 68% of the probability lies within 1 sigma of the mean, about 95% within 2 sigma, and about 99.7% within 3 sigma. So the slide's "90% sure" corresponds to a window of roughly plus or minus 1.645 sigma around X = 5.</a:t>
            </a:r>
          </a:p>
          <a:p>
            <a:pPr marL="0" lvl="0" indent="0" algn="l" rtl="0">
              <a:lnSpc>
                <a:spcPct val="100000"/>
              </a:lnSpc>
              <a:spcBef>
                <a:spcPts val="0"/>
              </a:spcBef>
              <a:spcAft>
                <a:spcPts val="600"/>
              </a:spcAft>
              <a:buSzPts val="1400"/>
              <a:buNone/>
            </a:pPr>
            <a:r>
              <a:rPr lang="en-US" dirty="0"/>
              <a:t>A common mistake is mixing up variance and standard deviation. Sigma is in meters, while sigma squared is in meters squared, and the Kalman filter equations track sigma squared.</a:t>
            </a:r>
          </a:p>
          <a:p>
            <a:pPr marL="0" lvl="0" indent="0" algn="l" rtl="0">
              <a:lnSpc>
                <a:spcPct val="100000"/>
              </a:lnSpc>
              <a:spcBef>
                <a:spcPts val="0"/>
              </a:spcBef>
              <a:spcAft>
                <a:spcPts val="600"/>
              </a:spcAft>
              <a:buSzPts val="1400"/>
              <a:buNone/>
            </a:pPr>
            <a:r>
              <a:rPr lang="en-US" dirty="0"/>
              <a:t>This answers the question from the last slide: if each sensor reports a mean and a variance, we know how much to trust it. Next, we look at why Gaussians are such a convenient choice.</a:t>
            </a:r>
          </a:p>
        </p:txBody>
      </p:sp>
      <p:sp>
        <p:nvSpPr>
          <p:cNvPr id="116" name="Google Shape;116;p29:notes">
            <a:extLst>
              <a:ext uri="{FF2B5EF4-FFF2-40B4-BE49-F238E27FC236}">
                <a16:creationId xmlns:a16="http://schemas.microsoft.com/office/drawing/2014/main" id="{8395A60D-B771-03B6-792B-53561ADADC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6274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F72ECCD-901D-7E01-FF70-257E90AC3B0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DBC3F37-D7C0-0C18-A837-789F9F3613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"Why Gaussians?" It is text only, with four points. The mean, written mu, is our best guess of the robot's state. The variance, written sigma squared (sigma^2), is our uncertainty: a wide curve means we are lost, and a narrow curve means we are confident. Multiplying two Gaussians gives a new Gaussian. And with Gaussians, much of the math can be derived in closed form, which most more complex probability distributions do not allow.</a:t>
            </a:r>
          </a:p>
          <a:p>
            <a:pPr marL="0" lvl="0" indent="0" algn="l" rtl="0">
              <a:lnSpc>
                <a:spcPct val="100000"/>
              </a:lnSpc>
              <a:spcBef>
                <a:spcPts val="0"/>
              </a:spcBef>
              <a:spcAft>
                <a:spcPts val="600"/>
              </a:spcAft>
              <a:buSzPts val="1400"/>
              <a:buNone/>
            </a:pPr>
            <a:r>
              <a:rPr lang="en-US" dirty="0"/>
              <a:t>On the last slide you saw the bell curve. Here is why it is the default choice. It needs only two numbers to describe your whole belief: where you think the robot is, and how sure you are. Watch the units. Variance is in units squared, such as m^2. The standard deviation sigma is in meters and sets the width of the curve.</a:t>
            </a:r>
          </a:p>
          <a:p>
            <a:pPr marL="0" lvl="0" indent="0" algn="l" rtl="0">
              <a:lnSpc>
                <a:spcPct val="100000"/>
              </a:lnSpc>
              <a:spcBef>
                <a:spcPts val="0"/>
              </a:spcBef>
              <a:spcAft>
                <a:spcPts val="600"/>
              </a:spcAft>
              <a:buSzPts val="1400"/>
              <a:buNone/>
            </a:pPr>
            <a:r>
              <a:rPr lang="en-US" dirty="0"/>
              <a:t>The multiplication property is the key to sensor fusion. Suppose you have an odometry estimate with mean mu1 and variance sigma1^2, and a LiDAR estimate with mu2 and sigma2^2. Multiplying the two curves gives a curve proportional to a Gaussian, with:</a:t>
            </a:r>
          </a:p>
          <a:p>
            <a:pPr marL="0" lvl="0" indent="0" algn="l" rtl="0">
              <a:lnSpc>
                <a:spcPct val="100000"/>
              </a:lnSpc>
              <a:spcBef>
                <a:spcPts val="0"/>
              </a:spcBef>
              <a:spcAft>
                <a:spcPts val="600"/>
              </a:spcAft>
              <a:buSzPts val="1400"/>
              <a:buNone/>
            </a:pPr>
            <a:r>
              <a:rPr lang="en-US" dirty="0"/>
              <a:t>mu = (sigma2^2*mu1 + sigma1^2*mu2) / (sigma1^2 + sigma2^2)</a:t>
            </a:r>
          </a:p>
          <a:p>
            <a:pPr marL="0" lvl="0" indent="0" algn="l" rtl="0">
              <a:lnSpc>
                <a:spcPct val="100000"/>
              </a:lnSpc>
              <a:spcBef>
                <a:spcPts val="0"/>
              </a:spcBef>
              <a:spcAft>
                <a:spcPts val="600"/>
              </a:spcAft>
              <a:buSzPts val="1400"/>
              <a:buNone/>
            </a:pPr>
            <a:r>
              <a:rPr lang="en-US" dirty="0"/>
              <a:t>sigma^2 = (sigma1^2*sigma2^2) / (sigma1^2 + sigma2^2)</a:t>
            </a:r>
          </a:p>
          <a:p>
            <a:pPr marL="0" lvl="0" indent="0" algn="l" rtl="0">
              <a:lnSpc>
                <a:spcPct val="100000"/>
              </a:lnSpc>
              <a:spcBef>
                <a:spcPts val="0"/>
              </a:spcBef>
              <a:spcAft>
                <a:spcPts val="600"/>
              </a:spcAft>
              <a:buSzPts val="1400"/>
              <a:buNone/>
            </a:pPr>
            <a:r>
              <a:rPr lang="en-US" dirty="0"/>
              <a:t>In words, the fused mean is a weighted average that leans toward the more confident sensor. The fused variance is smaller than either input variance. "Closed form" means you compute this with a few multiplications and divisions instead of numerical integration, which is cheap enough to run every control period on the Red Board.</a:t>
            </a:r>
          </a:p>
          <a:p>
            <a:pPr marL="0" lvl="0" indent="0" algn="l" rtl="0">
              <a:lnSpc>
                <a:spcPct val="100000"/>
              </a:lnSpc>
              <a:spcBef>
                <a:spcPts val="0"/>
              </a:spcBef>
              <a:spcAft>
                <a:spcPts val="600"/>
              </a:spcAft>
              <a:buSzPts val="1400"/>
              <a:buNone/>
            </a:pPr>
            <a:r>
              <a:rPr lang="en-US" dirty="0"/>
              <a:t>A common mistake is to think the product is the same as adding or simply averaging the curves. Multiplying is what shrinks the uncertainty.</a:t>
            </a:r>
          </a:p>
          <a:p>
            <a:pPr marL="0" lvl="0" indent="0" algn="l" rtl="0">
              <a:lnSpc>
                <a:spcPct val="100000"/>
              </a:lnSpc>
              <a:spcBef>
                <a:spcPts val="0"/>
              </a:spcBef>
              <a:spcAft>
                <a:spcPts val="600"/>
              </a:spcAft>
              <a:buSzPts val="1400"/>
              <a:buNone/>
            </a:pPr>
            <a:r>
              <a:rPr lang="en-US" dirty="0"/>
              <a:t>Next, look at two curves and decide which sensor you would trust more.</a:t>
            </a:r>
          </a:p>
        </p:txBody>
      </p:sp>
      <p:sp>
        <p:nvSpPr>
          <p:cNvPr id="116" name="Google Shape;116;p29:notes">
            <a:extLst>
              <a:ext uri="{FF2B5EF4-FFF2-40B4-BE49-F238E27FC236}">
                <a16:creationId xmlns:a16="http://schemas.microsoft.com/office/drawing/2014/main" id="{717A2361-ED4C-0C8A-4B00-293428070B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4232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9B2D1C3-6FAC-433B-723E-EDD0565DE67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1FE019F-2EA4-F292-11A9-F691BE82CF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asks a simple question: which sensor would you trust more?</a:t>
            </a:r>
          </a:p>
          <a:p>
            <a:pPr marL="0" lvl="0" indent="0" algn="l" rtl="0">
              <a:lnSpc>
                <a:spcPct val="100000"/>
              </a:lnSpc>
              <a:spcBef>
                <a:spcPts val="0"/>
              </a:spcBef>
              <a:spcAft>
                <a:spcPts val="600"/>
              </a:spcAft>
              <a:buSzPts val="1400"/>
              <a:buNone/>
            </a:pPr>
            <a:r>
              <a:rPr lang="en-US" dirty="0"/>
              <a:t>The plot, titled "Gaussian Distribution," shows two bell curves over the robot's x position, with the horizontal axis running from about minus 5 to 7 and the vertical axis labeled "Probability." The red curve, labeled "High uncertainty," is centered at x = 0. It is wide and flat, peaking at about 0.27, with a standard deviation of roughly 1.5. The blue curve, labeled "Low uncertainty," is centered at x = 2. It is narrow and tall, peaking at about 0.8, with a standard deviation of roughly 0.5. A vertical line marks each curve's mean.</a:t>
            </a:r>
          </a:p>
          <a:p>
            <a:pPr marL="0" lvl="0" indent="0" algn="l" rtl="0">
              <a:lnSpc>
                <a:spcPct val="100000"/>
              </a:lnSpc>
              <a:spcBef>
                <a:spcPts val="0"/>
              </a:spcBef>
              <a:spcAft>
                <a:spcPts val="600"/>
              </a:spcAft>
              <a:buSzPts val="1400"/>
              <a:buNone/>
            </a:pPr>
            <a:r>
              <a:rPr lang="en-US" dirty="0"/>
              <a:t>You should trust the blue sensor more. Its narrow curve means its readings cluster tightly around 2, so its variance is small. Notice the connection between width and height. Both curves enclose an area of 1, so the narrower curve must be taller. Its peak height is 1/(sigma*sqrt(2*pi)), which gives about 0.8 for sigma = 0.5 and about 0.27 for sigma = 1.5.</a:t>
            </a:r>
          </a:p>
          <a:p>
            <a:pPr marL="0" lvl="0" indent="0" algn="l" rtl="0">
              <a:lnSpc>
                <a:spcPct val="100000"/>
              </a:lnSpc>
              <a:spcBef>
                <a:spcPts val="0"/>
              </a:spcBef>
              <a:spcAft>
                <a:spcPts val="600"/>
              </a:spcAft>
              <a:buSzPts val="1400"/>
              <a:buNone/>
            </a:pPr>
            <a:r>
              <a:rPr lang="en-US" dirty="0"/>
              <a:t>A common mistake is reading the vertical axis as a literal probability. It is a probability density. Probability comes from the area under the curve over an interval.</a:t>
            </a:r>
          </a:p>
          <a:p>
            <a:pPr marL="0" lvl="0" indent="0" algn="l" rtl="0">
              <a:lnSpc>
                <a:spcPct val="100000"/>
              </a:lnSpc>
              <a:spcBef>
                <a:spcPts val="0"/>
              </a:spcBef>
              <a:spcAft>
                <a:spcPts val="600"/>
              </a:spcAft>
              <a:buSzPts val="1400"/>
              <a:buNone/>
            </a:pPr>
            <a:r>
              <a:rPr lang="en-US" dirty="0"/>
              <a:t>Now the key question: the two sensors disagree, one saying 0 and the other saying 2. Should you pick one, or average them? The best answer is neither. You blend them, weighting each by how certain it is. The fused estimate lands between 0 and 2 but much closer to 2. It is also narrower than either curve alone, because combining information reduces uncertainty.</a:t>
            </a:r>
          </a:p>
          <a:p>
            <a:pPr marL="0" lvl="0" indent="0" algn="l" rtl="0">
              <a:lnSpc>
                <a:spcPct val="100000"/>
              </a:lnSpc>
              <a:spcBef>
                <a:spcPts val="0"/>
              </a:spcBef>
              <a:spcAft>
                <a:spcPts val="600"/>
              </a:spcAft>
              <a:buSzPts val="1400"/>
              <a:buNone/>
            </a:pPr>
            <a:r>
              <a:rPr lang="en-US" dirty="0"/>
              <a:t>That variance-weighted blending is exactly what the Kalman filter does, and it is where we go next.</a:t>
            </a:r>
          </a:p>
        </p:txBody>
      </p:sp>
      <p:sp>
        <p:nvSpPr>
          <p:cNvPr id="116" name="Google Shape;116;p29:notes">
            <a:extLst>
              <a:ext uri="{FF2B5EF4-FFF2-40B4-BE49-F238E27FC236}">
                <a16:creationId xmlns:a16="http://schemas.microsoft.com/office/drawing/2014/main" id="{0357238E-48D8-8B11-1A80-75313392FD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0355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0E55577-D0F8-3F09-EE46-BE1C1A54D72D}"/>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DAADC53D-9CE5-9F9A-88E4-D1BDBC84C9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divider reads "1D Kalman Filter" in large dark blue text on the orange Illinois background, with faint decorative sketches of equations and diagrams, the block I logo, and the footer "Systems Engineering" and "Grainger Engineering."</a:t>
            </a:r>
          </a:p>
          <a:p>
            <a:pPr marL="0" lvl="0" indent="0" algn="l" rtl="0">
              <a:spcBef>
                <a:spcPts val="0"/>
              </a:spcBef>
              <a:spcAft>
                <a:spcPts val="600"/>
              </a:spcAft>
              <a:buNone/>
            </a:pPr>
            <a:r>
              <a:rPr lang="en-US" dirty="0"/>
              <a:t>You just saw that a Gaussian's mean is your best guess and its variance is your uncertainty, and that you trust the narrower curve more. Now you turn that intuition into an algorithm. You start in one dimension, a single state such as the robot's x position, so every quantity is a plain number before it becomes a matrix.</a:t>
            </a:r>
          </a:p>
        </p:txBody>
      </p:sp>
      <p:sp>
        <p:nvSpPr>
          <p:cNvPr id="102" name="Google Shape;102;p28:notes">
            <a:extLst>
              <a:ext uri="{FF2B5EF4-FFF2-40B4-BE49-F238E27FC236}">
                <a16:creationId xmlns:a16="http://schemas.microsoft.com/office/drawing/2014/main" id="{BF1E540D-DA24-3AD1-D13F-1F59D34B63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3141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8AC25C5-4B3F-23D3-5273-834D2AA438A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20DD442-A65B-9B06-F2E1-8CA407428E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states that the Kalman Filter is an optimal estimator for linear systems subject to Gaussian noise. It then asks when the Kalman Filter would not be appropriate, and answers: when your sensor or system is non-linear, does not follow a Gaussian noise distribution, or both. The takeaway is to always understand how your sensors and system behave and what assumptions an algorithm makes. Finally, it says the filter runs in a continuous, two-step loop: Predict and Update.</a:t>
            </a:r>
          </a:p>
          <a:p>
            <a:pPr marL="0" lvl="0" indent="0" algn="l" rtl="0">
              <a:lnSpc>
                <a:spcPct val="100000"/>
              </a:lnSpc>
              <a:spcBef>
                <a:spcPts val="0"/>
              </a:spcBef>
              <a:spcAft>
                <a:spcPts val="600"/>
              </a:spcAft>
              <a:buSzPts val="1400"/>
              <a:buNone/>
            </a:pPr>
            <a:r>
              <a:rPr lang="en-US" dirty="0"/>
              <a:t>On the last slide you decided which sensor to trust by comparing the widths of two Gaussian curves. The Kalman Filter makes that judgment automatically and mathematically. "Optimal" means that when its assumptions hold, no other estimator gives a smaller mean squared error.</a:t>
            </a:r>
          </a:p>
          <a:p>
            <a:pPr marL="0" lvl="0" indent="0" algn="l" rtl="0">
              <a:lnSpc>
                <a:spcPct val="100000"/>
              </a:lnSpc>
              <a:spcBef>
                <a:spcPts val="0"/>
              </a:spcBef>
              <a:spcAft>
                <a:spcPts val="600"/>
              </a:spcAft>
              <a:buSzPts val="1400"/>
              <a:buNone/>
            </a:pPr>
            <a:r>
              <a:rPr lang="en-US" dirty="0"/>
              <a:t>Linear means the next state and the measurement are linear functions of the current state, such as x_(k+1) = A*x_k + B*u_k. Gaussian means the noise is bell-shaped and fully described by a mean and a variance.</a:t>
            </a:r>
          </a:p>
          <a:p>
            <a:pPr marL="0" lvl="0" indent="0" algn="l" rtl="0">
              <a:lnSpc>
                <a:spcPct val="100000"/>
              </a:lnSpc>
              <a:spcBef>
                <a:spcPts val="0"/>
              </a:spcBef>
              <a:spcAft>
                <a:spcPts val="600"/>
              </a:spcAft>
              <a:buSzPts val="1400"/>
              <a:buNone/>
            </a:pPr>
            <a:r>
              <a:rPr lang="en-US" dirty="0"/>
              <a:t>Your robot breaks the linear assumption. Its position update, x_(t+1) = x_t + v_t*cos(theta_t)*dt, depends on the cosine of heading, which is non-linear. LiDAR range and bearing measurements are also non-linear in x and y. Noise can fail the Gaussian assumption too: a LiDAR beam that hits glass, or a wheel that slips, produces outliers far outside a bell curve. In those cases the plain filter can become overconfident or diverge. That is why the Extended Kalman Filter appears later in this lecture.</a:t>
            </a:r>
          </a:p>
          <a:p>
            <a:pPr marL="0" lvl="0" indent="0" algn="l" rtl="0">
              <a:lnSpc>
                <a:spcPct val="100000"/>
              </a:lnSpc>
              <a:spcBef>
                <a:spcPts val="0"/>
              </a:spcBef>
              <a:spcAft>
                <a:spcPts val="600"/>
              </a:spcAft>
              <a:buSzPts val="1400"/>
              <a:buNone/>
            </a:pPr>
            <a:r>
              <a:rPr lang="en-US" dirty="0"/>
              <a:t>Quick check: does an encoder's quantization error look Gaussian?</a:t>
            </a:r>
          </a:p>
          <a:p>
            <a:pPr marL="0" lvl="0" indent="0" algn="l" rtl="0">
              <a:lnSpc>
                <a:spcPct val="100000"/>
              </a:lnSpc>
              <a:spcBef>
                <a:spcPts val="0"/>
              </a:spcBef>
              <a:spcAft>
                <a:spcPts val="600"/>
              </a:spcAft>
              <a:buSzPts val="1400"/>
              <a:buNone/>
            </a:pPr>
            <a:r>
              <a:rPr lang="en-US" dirty="0"/>
              <a:t>Next you see the Predict and Update loop drawn as a cycle.</a:t>
            </a:r>
          </a:p>
        </p:txBody>
      </p:sp>
      <p:sp>
        <p:nvSpPr>
          <p:cNvPr id="116" name="Google Shape;116;p29:notes">
            <a:extLst>
              <a:ext uri="{FF2B5EF4-FFF2-40B4-BE49-F238E27FC236}">
                <a16:creationId xmlns:a16="http://schemas.microsoft.com/office/drawing/2014/main" id="{2D3A73C6-858B-63AF-9C5D-40812E714B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497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DDF58C2-2857-582F-A6D9-7CE922EA394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8F1C968-FE29-CC2F-AECF-04C4B333A8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Predict and Update loop from the previous slide into a block diagram of the Kalman filter cycle.</a:t>
            </a:r>
          </a:p>
          <a:p>
            <a:pPr marL="0" lvl="0" indent="0" algn="l" rtl="0">
              <a:lnSpc>
                <a:spcPct val="100000"/>
              </a:lnSpc>
              <a:spcBef>
                <a:spcPts val="0"/>
              </a:spcBef>
              <a:spcAft>
                <a:spcPts val="600"/>
              </a:spcAft>
              <a:buSzPts val="1400"/>
              <a:buNone/>
            </a:pPr>
            <a:r>
              <a:rPr lang="en-US" dirty="0"/>
              <a:t>At the top left, a box labeled "Prior knowledge of state" shows a small plot with a faint, tilted blob: your starting belief about the state, uncertain and spread out. An arrow carries this belief as two quantities, x hat sub k minus 1 given k minus 1 (the state estimate) and P sub k minus 1 given k minus 1 (its covariance, written x̂_(k-1|k-1) and P_(k-1|k-1)). These enter the "Prediction step, based on e.g. physical model," which outputs x̂_(k|k-1) and P_(k|k-1). Next, the "Update step, compare prediction to measurements," takes in measurements y sub k from the right. The measurement plot shows a small, tight dot. The update produces x̂_(k|k) and P_(k|k), which go to the "Output estimate of state" box. Its plot shows a darker, more concentrated blob than the prior. Finally, "Next timestep, k gets k plus 1" sends this result back to the top, and a red arrow shows that today's output becomes tomorrow's prior.</a:t>
            </a:r>
          </a:p>
          <a:p>
            <a:pPr marL="0" lvl="0" indent="0" algn="l" rtl="0">
              <a:lnSpc>
                <a:spcPct val="100000"/>
              </a:lnSpc>
              <a:spcBef>
                <a:spcPts val="0"/>
              </a:spcBef>
              <a:spcAft>
                <a:spcPts val="600"/>
              </a:spcAft>
              <a:buSzPts val="1400"/>
              <a:buNone/>
            </a:pPr>
            <a:r>
              <a:rPr lang="en-US" dirty="0"/>
              <a:t>The notation matters. The subscript k|k-1 reads "at time k, given information up to time k-1." It is the predicted estimate, before you have looked at the new measurement. The subscript k|k means you have now included measurement y_k. P is the covariance, the multidimensional version of variance, so it describes the size and tilt of the uncertainty ellipse.</a:t>
            </a:r>
          </a:p>
          <a:p>
            <a:pPr marL="0" lvl="0" indent="0" algn="l" rtl="0">
              <a:lnSpc>
                <a:spcPct val="100000"/>
              </a:lnSpc>
              <a:spcBef>
                <a:spcPts val="0"/>
              </a:spcBef>
              <a:spcAft>
                <a:spcPts val="600"/>
              </a:spcAft>
              <a:buSzPts val="1400"/>
              <a:buNone/>
            </a:pPr>
            <a:r>
              <a:rPr lang="en-US" dirty="0"/>
              <a:t>A common mistake is mixing up x̂_(k|k-1) and x̂_(k|k) in code. Keep separate variables for them.</a:t>
            </a:r>
          </a:p>
          <a:p>
            <a:pPr marL="0" lvl="0" indent="0" algn="l" rtl="0">
              <a:lnSpc>
                <a:spcPct val="100000"/>
              </a:lnSpc>
              <a:spcBef>
                <a:spcPts val="0"/>
              </a:spcBef>
              <a:spcAft>
                <a:spcPts val="600"/>
              </a:spcAft>
              <a:buSzPts val="1400"/>
              <a:buNone/>
            </a:pPr>
            <a:r>
              <a:rPr lang="en-US" dirty="0"/>
              <a:t>Quick check: which step makes P grow, and which makes it shrink? The next slide answers this with the robot.</a:t>
            </a:r>
          </a:p>
        </p:txBody>
      </p:sp>
      <p:sp>
        <p:nvSpPr>
          <p:cNvPr id="116" name="Google Shape;116;p29:notes">
            <a:extLst>
              <a:ext uri="{FF2B5EF4-FFF2-40B4-BE49-F238E27FC236}">
                <a16:creationId xmlns:a16="http://schemas.microsoft.com/office/drawing/2014/main" id="{5D257D4C-FA1B-5175-D621-9EC7251876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67869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B3E9E29-AE04-7204-A230-595D2E0F162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D8B4480-BCD8-D12A-6F6A-EB503BCE467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puts the Kalman filter loop from the previous diagram into plain language in two steps. Step 1: the robot moves, and we use our fast, noisy sensors (odometry and the IMU) to predict where we are, so our uncertainty grows. Step 2: the robot looks, and we take a measurement with our absolute sensor (LiDAR) to update our belief, so our uncertainty shrinks. The last line says to rinse and repeat thousands of times a second.</a:t>
            </a:r>
          </a:p>
          <a:p>
            <a:pPr marL="0" lvl="0" indent="0" algn="l" rtl="0">
              <a:lnSpc>
                <a:spcPct val="100000"/>
              </a:lnSpc>
              <a:spcBef>
                <a:spcPts val="0"/>
              </a:spcBef>
              <a:spcAft>
                <a:spcPts val="600"/>
              </a:spcAft>
              <a:buSzPts val="1400"/>
              <a:buNone/>
            </a:pPr>
            <a:r>
              <a:rPr lang="en-US" dirty="0"/>
              <a:t>Map this onto your robot. Wheel encoders and the gyro report quickly how far you moved, and you integrate those readings into a position. Every integration step adds a little error, and nothing in that sensor corrects it, so the estimate drifts and the spread of your belief keeps widening. A LiDAR scan is different. It measures your position relative to fixed walls, so its error does not accumulate. When it arrives, the filter blends it with the prediction, weighting each by how much you trust it, and the uncertainty collapses.</a:t>
            </a:r>
          </a:p>
          <a:p>
            <a:pPr marL="0" lvl="0" indent="0" algn="l" rtl="0">
              <a:lnSpc>
                <a:spcPct val="100000"/>
              </a:lnSpc>
              <a:spcBef>
                <a:spcPts val="0"/>
              </a:spcBef>
              <a:spcAft>
                <a:spcPts val="600"/>
              </a:spcAft>
              <a:buSzPts val="1400"/>
              <a:buNone/>
            </a:pPr>
            <a:r>
              <a:rPr lang="en-US" dirty="0"/>
              <a:t>In the cycle diagram, "predict" is the step from x hat sub k minus 1 given k minus 1 to x hat sub k given k minus 1. "Update" is the step to x hat sub k given k.</a:t>
            </a:r>
          </a:p>
          <a:p>
            <a:pPr marL="0" lvl="0" indent="0" algn="l" rtl="0">
              <a:lnSpc>
                <a:spcPct val="100000"/>
              </a:lnSpc>
              <a:spcBef>
                <a:spcPts val="0"/>
              </a:spcBef>
              <a:spcAft>
                <a:spcPts val="600"/>
              </a:spcAft>
              <a:buSzPts val="1400"/>
              <a:buNone/>
            </a:pPr>
            <a:r>
              <a:rPr lang="en-US" dirty="0"/>
              <a:t>A common mistake is to assume the two steps must alternate one-for-one. Prediction can run many times between measurements, because fast sensors usually outpace the absolute one.</a:t>
            </a:r>
          </a:p>
          <a:p>
            <a:pPr marL="0" lvl="0" indent="0" algn="l" rtl="0">
              <a:lnSpc>
                <a:spcPct val="100000"/>
              </a:lnSpc>
              <a:spcBef>
                <a:spcPts val="0"/>
              </a:spcBef>
              <a:spcAft>
                <a:spcPts val="600"/>
              </a:spcAft>
              <a:buSzPts val="1400"/>
              <a:buNone/>
            </a:pPr>
            <a:r>
              <a:rPr lang="en-US" dirty="0"/>
              <a:t>Ask yourself: what happens to the uncertainty if the LiDAR stops reporting? The next animation lets you see the answer as a sawtooth, with variance growing between measurements and dropping at each one.</a:t>
            </a:r>
          </a:p>
        </p:txBody>
      </p:sp>
      <p:sp>
        <p:nvSpPr>
          <p:cNvPr id="116" name="Google Shape;116;p29:notes">
            <a:extLst>
              <a:ext uri="{FF2B5EF4-FFF2-40B4-BE49-F238E27FC236}">
                <a16:creationId xmlns:a16="http://schemas.microsoft.com/office/drawing/2014/main" id="{27457E85-909C-D4A3-CF3E-E032ECF63B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32623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50E863C-E80B-1E16-8A3D-EDCAC468C9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C6982E0-5E66-1739-D460-A1F95380AD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plays a 47-second silent animation of a one-dimensional Kalman filter that tracks an object's position and velocity over 140 time steps. The still frame shows step 0, a prediction step. A text box reads: k = 0, estimated mean position -1.93, estimated velocity 1.50, position variance 5.062 (standard deviation 2.250), and ground truth position 0.00, velocity 0.89. A small legend box lists the noise settings: process noise Q = [[0.05, 0], [0, 0.02]] and measurement noise R = [[0.15]].</a:t>
            </a:r>
          </a:p>
          <a:p>
            <a:pPr marL="0" lvl="0" indent="0" algn="l" rtl="0">
              <a:lnSpc>
                <a:spcPct val="100000"/>
              </a:lnSpc>
              <a:spcBef>
                <a:spcPts val="0"/>
              </a:spcBef>
              <a:spcAft>
                <a:spcPts val="600"/>
              </a:spcAft>
              <a:buSzPts val="1400"/>
              <a:buNone/>
            </a:pPr>
            <a:r>
              <a:rPr lang="en-US" dirty="0"/>
              <a:t>The top plot shows probability density against position, from -10 to 20. The blue bell curve is the predicted probability density function, the shaded band is the plus-or-minus 3 sigma confidence interval, and a green X marks the true position at 0. The bottom plot tracks position variance against time step, from 0 to 140, and starts with a single point near 5.</a:t>
            </a:r>
          </a:p>
          <a:p>
            <a:pPr marL="0" lvl="0" indent="0" algn="l" rtl="0">
              <a:lnSpc>
                <a:spcPct val="100000"/>
              </a:lnSpc>
              <a:spcBef>
                <a:spcPts val="0"/>
              </a:spcBef>
              <a:spcAft>
                <a:spcPts val="600"/>
              </a:spcAft>
              <a:buSzPts val="1400"/>
              <a:buNone/>
            </a:pPr>
            <a:r>
              <a:rPr lang="en-US" dirty="0"/>
              <a:t>As the animation runs, you see the two steps from the previous slide in action. Between measurements, only prediction runs: the curve slides with the estimated velocity and widens, and variance climbs from 5 to about 11 by step 20. Every 20 steps a measurement appears as a dashed orange line. The update pulls the estimate toward it, and the curve becomes tall and narrow. The variance plot forms a sawtooth whose peaks shrink, to about 4 and then about 2, as the filter converges. By step 140 the estimate is 15.71 against a true position of 15.65.</a:t>
            </a:r>
          </a:p>
          <a:p>
            <a:pPr marL="0" lvl="0" indent="0" algn="l" rtl="0">
              <a:lnSpc>
                <a:spcPct val="100000"/>
              </a:lnSpc>
              <a:spcBef>
                <a:spcPts val="0"/>
              </a:spcBef>
              <a:spcAft>
                <a:spcPts val="600"/>
              </a:spcAft>
              <a:buSzPts val="1400"/>
              <a:buNone/>
            </a:pPr>
            <a:r>
              <a:rPr lang="en-US" dirty="0"/>
              <a:t>Notice that the filter starts wrong in both position and velocity, yet still recovers. Next, we unpack the predict step.</a:t>
            </a:r>
          </a:p>
        </p:txBody>
      </p:sp>
      <p:sp>
        <p:nvSpPr>
          <p:cNvPr id="116" name="Google Shape;116;p29:notes">
            <a:extLst>
              <a:ext uri="{FF2B5EF4-FFF2-40B4-BE49-F238E27FC236}">
                <a16:creationId xmlns:a16="http://schemas.microsoft.com/office/drawing/2014/main" id="{33355E3A-C069-9247-8871-41E01CE097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62610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12F67F2-6002-27A1-D550-B44D9D80D77B}"/>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19ADDE32-7424-E8B1-4255-17885BAA76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divider. The slide shows the single word "Predict" in large white text on the dark blue Grainger Engineering background, with a short orange-red accent line beneath it and faint decorative sketches of equations and diagrams behind it.</a:t>
            </a:r>
          </a:p>
          <a:p>
            <a:pPr marL="0" lvl="0" indent="0" algn="l" rtl="0">
              <a:spcBef>
                <a:spcPts val="0"/>
              </a:spcBef>
              <a:spcAft>
                <a:spcPts val="600"/>
              </a:spcAft>
              <a:buNone/>
            </a:pPr>
            <a:r>
              <a:rPr lang="en-US" dirty="0"/>
              <a:t>The animation you just watched alternated between two steps. We now take the first one, predicting, on its own: using odometry and the robot's motion model to move the estimate forward, and seeing why the uncertainty grows while you do it. The Update step gets its own section afterward.</a:t>
            </a:r>
          </a:p>
        </p:txBody>
      </p:sp>
      <p:sp>
        <p:nvSpPr>
          <p:cNvPr id="87" name="Google Shape;87;p27:notes">
            <a:extLst>
              <a:ext uri="{FF2B5EF4-FFF2-40B4-BE49-F238E27FC236}">
                <a16:creationId xmlns:a16="http://schemas.microsoft.com/office/drawing/2014/main" id="{9F573AE4-712E-8397-4981-01F9461B7B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5106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8137B-7DAA-9A50-71C4-FC55CDC8CD0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37DB962-8E1D-D8B2-EA44-B0D388CE4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steps back to connect the previous lectures to the Predict step. It has no figures, only text. It reminds you that in the last lectures we covered path-planning algorithms such as A*, Dijkstra's algorithm, and Hybrid A*, and learned to compute an optimal, collision-free trajectory from Point A to Point B. It then points out that path planning operates in a perfect, simulated world. The fundamental assumption we made so the robot could execute those plans, shown centered at the bottom of the slide, is: perfect localization and actuation.</a:t>
            </a:r>
          </a:p>
          <a:p>
            <a:pPr marL="0" lvl="0" indent="0" algn="l" rtl="0">
              <a:lnSpc>
                <a:spcPct val="100000"/>
              </a:lnSpc>
              <a:spcBef>
                <a:spcPts val="0"/>
              </a:spcBef>
              <a:spcAft>
                <a:spcPts val="600"/>
              </a:spcAft>
              <a:buSzPts val="1400"/>
              <a:buNone/>
            </a:pPr>
            <a:r>
              <a:rPr lang="en-US" dirty="0"/>
              <a:t>Perfect localization means the robot always knows exactly where it is on the map. Perfect actuation means that when you command a motion, such as driving 1 meter forward, the robot does exactly that. A* happily returns a path through a narrow gap, but on the real robot neither assumption holds. Wheels slip, encoders have finite resolution, the floor is uneven, and the motors do not respond identically. A path that clears an obstacle by a few centimeters in simulation can clip it in the lab if the robot's belief about its own position has drifted.</a:t>
            </a:r>
          </a:p>
          <a:p>
            <a:pPr marL="0" lvl="0" indent="0" algn="l" rtl="0">
              <a:lnSpc>
                <a:spcPct val="100000"/>
              </a:lnSpc>
              <a:spcBef>
                <a:spcPts val="0"/>
              </a:spcBef>
              <a:spcAft>
                <a:spcPts val="600"/>
              </a:spcAft>
              <a:buSzPts val="1400"/>
              <a:buNone/>
            </a:pPr>
            <a:r>
              <a:rPr lang="en-US" dirty="0"/>
              <a:t>This is why the Predict step exists. Before we use the robot's model to guess where it moved, we have to admit that the guess is imperfect, and we need a way to track how imperfect it is. That is what the growing variance in the animation two slides ago represented.</a:t>
            </a:r>
          </a:p>
          <a:p>
            <a:pPr marL="0" lvl="0" indent="0" algn="l" rtl="0">
              <a:lnSpc>
                <a:spcPct val="100000"/>
              </a:lnSpc>
              <a:spcBef>
                <a:spcPts val="0"/>
              </a:spcBef>
              <a:spcAft>
                <a:spcPts val="600"/>
              </a:spcAft>
              <a:buSzPts val="1400"/>
              <a:buNone/>
            </a:pPr>
            <a:r>
              <a:rPr lang="en-US" dirty="0"/>
              <a:t>As you go to the next slide, think about this: if your robot follows a planned path using only encoder dead reckoning, does its position error stay constant, shrink, or grow over time?</a:t>
            </a:r>
          </a:p>
        </p:txBody>
      </p:sp>
      <p:sp>
        <p:nvSpPr>
          <p:cNvPr id="116" name="Google Shape;116;p29:notes">
            <a:extLst>
              <a:ext uri="{FF2B5EF4-FFF2-40B4-BE49-F238E27FC236}">
                <a16:creationId xmlns:a16="http://schemas.microsoft.com/office/drawing/2014/main" id="{70FFEDAA-13A7-8EF9-E3D2-6527A8F57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960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CF3569D-724E-F4C2-BA96-3AE32552D8C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975974-90E9-BA49-72CB-F49E1AE2967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predict step of a Kalman filter. It is all text, in four short statements. First, you use a physical model of the robot, its kinematics, together with your control inputs, written as the symbol u, to guess the new state. Second, because you know the model and the encoders are imperfect, you actively increase the uncertainty covariance, written as the symbol P. Third, this is "flying blind" between reference measurements. Fourth, a question: if you close your eyes and take 5 steps, are you more or less certain of your position than before you moved?</a:t>
            </a:r>
          </a:p>
          <a:p>
            <a:pPr marL="0" lvl="0" indent="0" algn="l" rtl="0">
              <a:lnSpc>
                <a:spcPct val="100000"/>
              </a:lnSpc>
              <a:spcBef>
                <a:spcPts val="0"/>
              </a:spcBef>
              <a:spcAft>
                <a:spcPts val="600"/>
              </a:spcAft>
              <a:buSzPts val="1400"/>
              <a:buNone/>
            </a:pPr>
            <a:r>
              <a:rPr lang="en-US" dirty="0"/>
              <a:t>The previous slide pointed out that path planning assumed perfect localization and actuation. The predict step is the first half of how you handle that assumption being false. The robot does not wait for a sensor. It uses what it commanded, such as wheel speeds, and what its encoders report to propagate its best guess forward in time. For our robot, that means dead reckoning: integrating wheel motion into a new x, y, and heading.</a:t>
            </a:r>
          </a:p>
          <a:p>
            <a:pPr marL="0" lvl="0" indent="0" algn="l" rtl="0">
              <a:lnSpc>
                <a:spcPct val="100000"/>
              </a:lnSpc>
              <a:spcBef>
                <a:spcPts val="0"/>
              </a:spcBef>
              <a:spcAft>
                <a:spcPts val="600"/>
              </a:spcAft>
              <a:buSzPts val="1400"/>
              <a:buNone/>
            </a:pPr>
            <a:r>
              <a:rPr lang="en-US" dirty="0"/>
              <a:t>Every prediction carries error. Wheels slip, encoder counts are quantized, and the model is an approximation. So the filter adds process noise and P grows. The answer to the question is "less certain." Each blind step adds a little error, and the errors accumulate.</a:t>
            </a:r>
          </a:p>
          <a:p>
            <a:pPr marL="0" lvl="0" indent="0" algn="l" rtl="0">
              <a:lnSpc>
                <a:spcPct val="100000"/>
              </a:lnSpc>
              <a:spcBef>
                <a:spcPts val="0"/>
              </a:spcBef>
              <a:spcAft>
                <a:spcPts val="600"/>
              </a:spcAft>
              <a:buSzPts val="1400"/>
              <a:buNone/>
            </a:pPr>
            <a:r>
              <a:rPr lang="en-US" dirty="0"/>
              <a:t>A common mistake is to treat the predicted state as exact simply because the math is deterministic. The mean moves, but the covariance must widen.</a:t>
            </a:r>
          </a:p>
          <a:p>
            <a:pPr marL="0" lvl="0" indent="0" algn="l" rtl="0">
              <a:lnSpc>
                <a:spcPct val="100000"/>
              </a:lnSpc>
              <a:spcBef>
                <a:spcPts val="0"/>
              </a:spcBef>
              <a:spcAft>
                <a:spcPts val="600"/>
              </a:spcAft>
              <a:buSzPts val="1400"/>
              <a:buNone/>
            </a:pPr>
            <a:r>
              <a:rPr lang="en-US" dirty="0"/>
              <a:t>Next, the idea is made concrete with a robot on a 1D track, where the state and the variance are each a single number.</a:t>
            </a:r>
          </a:p>
        </p:txBody>
      </p:sp>
      <p:sp>
        <p:nvSpPr>
          <p:cNvPr id="116" name="Google Shape;116;p29:notes">
            <a:extLst>
              <a:ext uri="{FF2B5EF4-FFF2-40B4-BE49-F238E27FC236}">
                <a16:creationId xmlns:a16="http://schemas.microsoft.com/office/drawing/2014/main" id="{B6964EC8-5C3E-58AC-AA56-2A5767B6E4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6136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AD55C96-1DDC-0E30-98AE-606757DFE68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4D37E43-9039-839B-9BDF-9B6B46FD40E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has no figures, only three short statements. It sets up a simplified example before the full Kalman filter: a robot on a one-dimensional train track. Its state is a single number, its position on the track, written with the Greek letter mu. Its uncertainty is also a single number, the variance, written sigma squared. Together these two numbers define a 1D Gaussian, or bell curve, which represents the robot's "belief" about where it is.</a:t>
            </a:r>
          </a:p>
          <a:p>
            <a:pPr marL="0" lvl="0" indent="0" algn="l" rtl="0">
              <a:lnSpc>
                <a:spcPct val="100000"/>
              </a:lnSpc>
              <a:spcBef>
                <a:spcPts val="0"/>
              </a:spcBef>
              <a:spcAft>
                <a:spcPts val="600"/>
              </a:spcAft>
              <a:buSzPts val="1400"/>
              <a:buNone/>
            </a:pPr>
            <a:r>
              <a:rPr lang="en-US" dirty="0"/>
              <a:t>The previous slide described the predict step in general terms: use the robot's kinematic model and control inputs to guess the new state, then increase the uncertainty because neither the model nor the encoders are perfect. The general Kalman filter does this with state vectors and covariance matrices. Here you strip it down to one dimension so the idea is clear before the linear algebra arrives.</a:t>
            </a:r>
          </a:p>
          <a:p>
            <a:pPr marL="0" lvl="0" indent="0" algn="l" rtl="0">
              <a:lnSpc>
                <a:spcPct val="100000"/>
              </a:lnSpc>
              <a:spcBef>
                <a:spcPts val="0"/>
              </a:spcBef>
              <a:spcAft>
                <a:spcPts val="600"/>
              </a:spcAft>
              <a:buSzPts val="1400"/>
              <a:buNone/>
            </a:pPr>
            <a:r>
              <a:rPr lang="en-US" dirty="0"/>
              <a:t>The key idea is that the robot does not claim to know its position exactly. It carries a probability distribution. The mean, mu, is the best guess of position. The variance, sigma squared, measures how spread out that guess is. A small sigma squared gives a tall, narrow bell, meaning you are confident. A large sigma squared gives a short, wide bell, meaning you are unsure. Remember that the standard deviation sigma is the square root of the variance and has the same units as position. The variance has units of position squared.</a:t>
            </a:r>
          </a:p>
          <a:p>
            <a:pPr marL="0" lvl="0" indent="0" algn="l" rtl="0">
              <a:lnSpc>
                <a:spcPct val="100000"/>
              </a:lnSpc>
              <a:spcBef>
                <a:spcPts val="0"/>
              </a:spcBef>
              <a:spcAft>
                <a:spcPts val="600"/>
              </a:spcAft>
              <a:buSzPts val="1400"/>
              <a:buNone/>
            </a:pPr>
            <a:r>
              <a:rPr lang="en-US" dirty="0"/>
              <a:t>A quick check: if sigma squared equals 4 square meters, what is the standard deviation? It is 2 meters.</a:t>
            </a:r>
          </a:p>
          <a:p>
            <a:pPr marL="0" lvl="0" indent="0" algn="l" rtl="0">
              <a:lnSpc>
                <a:spcPct val="100000"/>
              </a:lnSpc>
              <a:spcBef>
                <a:spcPts val="0"/>
              </a:spcBef>
              <a:spcAft>
                <a:spcPts val="600"/>
              </a:spcAft>
              <a:buSzPts val="1400"/>
              <a:buNone/>
            </a:pPr>
            <a:r>
              <a:rPr lang="en-US" dirty="0"/>
              <a:t>On the next slide you see this belief plotted as a bell curve with mean 4 and variance 1.</a:t>
            </a:r>
          </a:p>
        </p:txBody>
      </p:sp>
      <p:sp>
        <p:nvSpPr>
          <p:cNvPr id="116" name="Google Shape;116;p29:notes">
            <a:extLst>
              <a:ext uri="{FF2B5EF4-FFF2-40B4-BE49-F238E27FC236}">
                <a16:creationId xmlns:a16="http://schemas.microsoft.com/office/drawing/2014/main" id="{F8B5C46D-081D-8B31-833D-73BD917CBE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9014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BBBBD9D-F9B8-284B-FE49-D13DA42B008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8BD5357-9591-7FC3-25E7-6E8C630AA6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single plot titled "Initial Belief." The horizontal axis is Position (x), with tick marks every 2 units from 0 to 14 and the axis extending to about 15. The vertical axis has no labels; it represents probability density. A blue bell curve, shaded underneath, peaks at x = 4 and falls almost to zero by about x = 1 on the left and x = 7 on the right. The legend reads mu = 4.0, sigma^2 = 1.0, that is, mean 4.0 and variance 1.0.</a:t>
            </a:r>
          </a:p>
          <a:p>
            <a:pPr marL="0" lvl="0" indent="0" algn="l" rtl="0">
              <a:lnSpc>
                <a:spcPct val="100000"/>
              </a:lnSpc>
              <a:spcBef>
                <a:spcPts val="0"/>
              </a:spcBef>
              <a:spcAft>
                <a:spcPts val="600"/>
              </a:spcAft>
              <a:buSzPts val="1400"/>
              <a:buNone/>
            </a:pPr>
            <a:r>
              <a:rPr lang="en-US" dirty="0"/>
              <a:t>This is the 1D train-track robot from the previous slide, drawn as a Gaussian. The mean, mu, is our best guess of position: 4. The variance, sigma^2, measures how unsure we are. Because the variance is 1.0, the standard deviation sigma is also 1.0. That gives you a useful rule of thumb. About 68 percent of the probability lies between 3 and 5 (within one sigma), about 95 percent between 2 and 6, and about 99.7 percent between 1 and 7. So when we say "the robot is at 4," we really mean "almost certainly somewhere between 1 and 7, most likely near 4."</a:t>
            </a:r>
          </a:p>
          <a:p>
            <a:pPr marL="0" lvl="0" indent="0" algn="l" rtl="0">
              <a:lnSpc>
                <a:spcPct val="100000"/>
              </a:lnSpc>
              <a:spcBef>
                <a:spcPts val="0"/>
              </a:spcBef>
              <a:spcAft>
                <a:spcPts val="600"/>
              </a:spcAft>
              <a:buSzPts val="1400"/>
              <a:buNone/>
            </a:pPr>
            <a:r>
              <a:rPr lang="en-US" dirty="0"/>
              <a:t>A common mistake is to confuse variance with standard deviation. They match here only because the variance is 1. If the variance were 4, the standard deviation would be 2, and the curve would spread roughly twice as wide.</a:t>
            </a:r>
          </a:p>
          <a:p>
            <a:pPr marL="0" lvl="0" indent="0" algn="l" rtl="0">
              <a:lnSpc>
                <a:spcPct val="100000"/>
              </a:lnSpc>
              <a:spcBef>
                <a:spcPts val="0"/>
              </a:spcBef>
              <a:spcAft>
                <a:spcPts val="600"/>
              </a:spcAft>
              <a:buSzPts val="1400"/>
              <a:buNone/>
            </a:pPr>
            <a:r>
              <a:rPr lang="en-US" dirty="0"/>
              <a:t>Quick check: if you made the variance smaller, would the peak get taller or shorter? Taller, because the area under the curve must stay 1.</a:t>
            </a:r>
          </a:p>
          <a:p>
            <a:pPr marL="0" lvl="0" indent="0" algn="l" rtl="0">
              <a:lnSpc>
                <a:spcPct val="100000"/>
              </a:lnSpc>
              <a:spcBef>
                <a:spcPts val="0"/>
              </a:spcBef>
              <a:spcAft>
                <a:spcPts val="600"/>
              </a:spcAft>
              <a:buSzPts val="1400"/>
              <a:buNone/>
            </a:pPr>
            <a:r>
              <a:rPr lang="en-US" dirty="0"/>
              <a:t>This is our starting point. Next, the robot commands its motors to drive forward, and we see what the predict step does to both the mean and the width of this curve.</a:t>
            </a:r>
          </a:p>
        </p:txBody>
      </p:sp>
      <p:sp>
        <p:nvSpPr>
          <p:cNvPr id="116" name="Google Shape;116;p29:notes">
            <a:extLst>
              <a:ext uri="{FF2B5EF4-FFF2-40B4-BE49-F238E27FC236}">
                <a16:creationId xmlns:a16="http://schemas.microsoft.com/office/drawing/2014/main" id="{218E06C3-BF75-9718-B2BF-B6464C9C24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7510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9527FEC-C783-DED8-A5E8-4D8F5C59A75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1670EDE-0768-EF79-4092-73A0F0275C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states the 1D Kalman filter predict step in words and two equations. The robot commands its motors to move forward by a distance u. The predicted mean simply shifts by that amount: mu_pred = mu_old + u, read "mu predicted equals mu old plus u." But motion is never perfect, because wheels slip and the robot hits bumps, so we add process noise with variance sigma_move squared. The slide stresses, in bold, that uncertainty therefore always grows: sigma_pred^2 = sigma_old^2 + sigma_move^2, read "sigma predicted squared equals sigma old squared plus sigma move squared."</a:t>
            </a:r>
          </a:p>
          <a:p>
            <a:pPr marL="0" lvl="0" indent="0" algn="l" rtl="0">
              <a:lnSpc>
                <a:spcPct val="100000"/>
              </a:lnSpc>
              <a:spcBef>
                <a:spcPts val="0"/>
              </a:spcBef>
              <a:spcAft>
                <a:spcPts val="600"/>
              </a:spcAft>
              <a:buSzPts val="1400"/>
              <a:buNone/>
            </a:pPr>
            <a:r>
              <a:rPr lang="en-US" dirty="0"/>
              <a:t>Here is how this works on the train-track robot from the last slide. We start with a belief of mean 4 and variance 1. If you command u = 4, the best guess moves to 4 + 4 = 8. The shape of the bell curve also changes. Process noise means the random error introduced by the motion itself, not by any sensor. Because that error is independent of our old error, the variances add.</a:t>
            </a:r>
          </a:p>
          <a:p>
            <a:pPr marL="0" lvl="0" indent="0" algn="l" rtl="0">
              <a:lnSpc>
                <a:spcPct val="100000"/>
              </a:lnSpc>
              <a:spcBef>
                <a:spcPts val="0"/>
              </a:spcBef>
              <a:spcAft>
                <a:spcPts val="600"/>
              </a:spcAft>
              <a:buSzPts val="1400"/>
              <a:buNone/>
            </a:pPr>
            <a:r>
              <a:rPr lang="en-US" dirty="0"/>
              <a:t>A common mistake is to add standard deviations instead of variances. Variances add for independent Gaussians; standard deviations do not. Another mistake is to think a good motion model can shrink uncertainty. Predicting alone can only widen the curve. Only a measurement, which comes in the update step, can narrow it.</a:t>
            </a:r>
          </a:p>
          <a:p>
            <a:pPr marL="0" lvl="0" indent="0" algn="l" rtl="0">
              <a:lnSpc>
                <a:spcPct val="100000"/>
              </a:lnSpc>
              <a:spcBef>
                <a:spcPts val="0"/>
              </a:spcBef>
              <a:spcAft>
                <a:spcPts val="600"/>
              </a:spcAft>
              <a:buSzPts val="1400"/>
              <a:buNone/>
            </a:pPr>
            <a:r>
              <a:rPr lang="en-US" dirty="0"/>
              <a:t>On your robot, u comes from wheel encoder odometry. Wheel slip on the floor is exactly the sigma_move you would tune.</a:t>
            </a:r>
          </a:p>
          <a:p>
            <a:pPr marL="0" lvl="0" indent="0" algn="l" rtl="0">
              <a:lnSpc>
                <a:spcPct val="100000"/>
              </a:lnSpc>
              <a:spcBef>
                <a:spcPts val="0"/>
              </a:spcBef>
              <a:spcAft>
                <a:spcPts val="600"/>
              </a:spcAft>
              <a:buSzPts val="1400"/>
              <a:buNone/>
            </a:pPr>
            <a:r>
              <a:rPr lang="en-US" dirty="0"/>
              <a:t>Quick check: on the next slide the prediction has variance 2.5. What value of sigma_move squared does that imply? The answer is 2.5 minus 1, which is 1.5. Next, you see this shift-and-widen step plotted.</a:t>
            </a:r>
          </a:p>
        </p:txBody>
      </p:sp>
      <p:sp>
        <p:nvSpPr>
          <p:cNvPr id="116" name="Google Shape;116;p29:notes">
            <a:extLst>
              <a:ext uri="{FF2B5EF4-FFF2-40B4-BE49-F238E27FC236}">
                <a16:creationId xmlns:a16="http://schemas.microsoft.com/office/drawing/2014/main" id="{16BCDE13-5D30-A1FD-9D63-773641118E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04522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6094CC-7C34-0AA1-8A06-367D536561A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E524A76-7906-492D-48F7-69A0892155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plot titled "1D Prediction (Shift and Spread)." The horizontal axis is position x, from 0 to about 15. A dashed light-blue curve, labeled "Old Belief," is the same Gaussian from two slides ago: mean 4, variance 1, tall and narrow, with almost all of its probability between about 1 and 7. A black arrow labeled "plus u (4.0)" points to the right, to a solid pink, shaded Gaussian labeled "Prediction, mu = 8.0, sigma squared = 2.5." The pink curve is centered at 8. It is clearly wider and shorter than the old belief and spreads from roughly 4 to 12.</a:t>
            </a:r>
          </a:p>
          <a:p>
            <a:pPr marL="0" lvl="0" indent="0" algn="l" rtl="0">
              <a:lnSpc>
                <a:spcPct val="100000"/>
              </a:lnSpc>
              <a:spcBef>
                <a:spcPts val="0"/>
              </a:spcBef>
              <a:spcAft>
                <a:spcPts val="600"/>
              </a:spcAft>
              <a:buSzPts val="1400"/>
              <a:buNone/>
            </a:pPr>
            <a:r>
              <a:rPr lang="en-US" dirty="0"/>
              <a:t>This picture shows the two equations from the previous slide. The mean shifts by the commanded motion: mu_pred = mu + u = 4 + 4 = 8. The variance grows by the process noise Q: sigma2_pred = sigma2 + Q. The variance went from 1 to 2.5, so this example uses Q = 1.5. The standard deviation goes from 1 to about 1.58. The curve gets wider, and because the area under any probability density must stay 1, the peak gets lower. Its height drops from about 0.40 to about 0.25.</a:t>
            </a:r>
          </a:p>
          <a:p>
            <a:pPr marL="0" lvl="0" indent="0" algn="l" rtl="0">
              <a:lnSpc>
                <a:spcPct val="100000"/>
              </a:lnSpc>
              <a:spcBef>
                <a:spcPts val="0"/>
              </a:spcBef>
              <a:spcAft>
                <a:spcPts val="600"/>
              </a:spcAft>
              <a:buSzPts val="1400"/>
              <a:buNone/>
            </a:pPr>
            <a:r>
              <a:rPr lang="en-US" dirty="0"/>
              <a:t>The key point is that prediction alone never makes you more certain. Every time your robot dead-reckons with encoder odometry, the bell curve slides along and gets fatter. A common mistake is to shift the mean but forget to add Q, which makes the filter overconfident.</a:t>
            </a:r>
          </a:p>
          <a:p>
            <a:pPr marL="0" lvl="0" indent="0" algn="l" rtl="0">
              <a:lnSpc>
                <a:spcPct val="100000"/>
              </a:lnSpc>
              <a:spcBef>
                <a:spcPts val="0"/>
              </a:spcBef>
              <a:spcAft>
                <a:spcPts val="600"/>
              </a:spcAft>
              <a:buSzPts val="1400"/>
              <a:buNone/>
            </a:pPr>
            <a:r>
              <a:rPr lang="en-US" dirty="0"/>
              <a:t>Quick check: if you predicted again with u = 4 and the same Q, where would the mean be, and what would the variance be? (The mean would be 12 and the variance 4.0.)</a:t>
            </a:r>
          </a:p>
          <a:p>
            <a:pPr marL="0" lvl="0" indent="0" algn="l" rtl="0">
              <a:lnSpc>
                <a:spcPct val="100000"/>
              </a:lnSpc>
              <a:spcBef>
                <a:spcPts val="0"/>
              </a:spcBef>
              <a:spcAft>
                <a:spcPts val="600"/>
              </a:spcAft>
              <a:buSzPts val="1400"/>
              <a:buNone/>
            </a:pPr>
            <a:r>
              <a:rPr lang="en-US" dirty="0"/>
              <a:t>Next, you see why adding Gaussians works this way: the sum of independent normal random variables is itself normal.</a:t>
            </a:r>
          </a:p>
        </p:txBody>
      </p:sp>
      <p:sp>
        <p:nvSpPr>
          <p:cNvPr id="116" name="Google Shape;116;p29:notes">
            <a:extLst>
              <a:ext uri="{FF2B5EF4-FFF2-40B4-BE49-F238E27FC236}">
                <a16:creationId xmlns:a16="http://schemas.microsoft.com/office/drawing/2014/main" id="{C7CD4433-39F2-8084-4B01-3C6FF82E42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04558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A3ACA8-4C90-C943-F9FE-F305E992D04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E3B9709-6D2B-B1DE-59EF-9BC71247EE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justifies the predict step from the last two slides. It states that the prediction updates the mean and the variance the way it does because we assume Gaussian random variables. It then gives the key fact: if X and Y are independent, normally distributed random variables, their sum is also normally distributed.</a:t>
            </a:r>
          </a:p>
          <a:p>
            <a:pPr marL="0" lvl="0" indent="0" algn="l" rtl="0">
              <a:lnSpc>
                <a:spcPct val="100000"/>
              </a:lnSpc>
              <a:spcBef>
                <a:spcPts val="0"/>
              </a:spcBef>
              <a:spcAft>
                <a:spcPts val="600"/>
              </a:spcAft>
              <a:buSzPts val="1400"/>
              <a:buNone/>
            </a:pPr>
            <a:r>
              <a:rPr lang="en-US" dirty="0"/>
              <a:t>The slide writes this as X ~ N(mu_X, sigma_X^2) and Y ~ N(mu_Y, sigma_Y^2). Read aloud: X is normal with mean mu X and variance sigma X squared, and Y is normal with mean mu Y and variance sigma Y squared. With Z = X + Y, the result is Z ~ N(mu_X + mu_Y, sigma_X^2 + sigma_Y^2). In words, the means add and the variances add. A link labeled "here (from Wikipedia)" points to the derivation if you want the full proof.</a:t>
            </a:r>
          </a:p>
          <a:p>
            <a:pPr marL="0" lvl="0" indent="0" algn="l" rtl="0">
              <a:lnSpc>
                <a:spcPct val="100000"/>
              </a:lnSpc>
              <a:spcBef>
                <a:spcPts val="0"/>
              </a:spcBef>
              <a:spcAft>
                <a:spcPts val="600"/>
              </a:spcAft>
              <a:buSzPts val="1400"/>
              <a:buNone/>
            </a:pPr>
            <a:r>
              <a:rPr lang="en-US" dirty="0"/>
              <a:t>Map this onto the robot. X is your current belief about position. Y is the motion: the commanded distance u plus process noise with variance Q. Their sum is the predicted position, so the predicted mean is x + u and the predicted variance is P + Q. In the plot on the previous slide, the belief centered at 4 shifts by u = 4 to a mean of 8. Its variance grows to 2.5 because the process noise variance is added on. Variances only ever add here, which is why prediction alone always makes you less certain.</a:t>
            </a:r>
          </a:p>
          <a:p>
            <a:pPr marL="0" lvl="0" indent="0" algn="l" rtl="0">
              <a:lnSpc>
                <a:spcPct val="100000"/>
              </a:lnSpc>
              <a:spcBef>
                <a:spcPts val="0"/>
              </a:spcBef>
              <a:spcAft>
                <a:spcPts val="600"/>
              </a:spcAft>
              <a:buSzPts val="1400"/>
              <a:buNone/>
            </a:pPr>
            <a:r>
              <a:rPr lang="en-US" dirty="0"/>
              <a:t>A common mistake is adding standard deviations instead of variances. A second is forgetting that the result depends on independence: the motion noise must not be correlated with your current estimate error.</a:t>
            </a:r>
          </a:p>
          <a:p>
            <a:pPr marL="0" lvl="0" indent="0" algn="l" rtl="0">
              <a:lnSpc>
                <a:spcPct val="100000"/>
              </a:lnSpc>
              <a:spcBef>
                <a:spcPts val="0"/>
              </a:spcBef>
              <a:spcAft>
                <a:spcPts val="600"/>
              </a:spcAft>
              <a:buSzPts val="1400"/>
              <a:buNone/>
            </a:pPr>
            <a:r>
              <a:rPr lang="en-US" dirty="0"/>
              <a:t>Quick check: if the old variance is 1 and Q is 1, what is the new standard deviation? The new variance is 2, so the standard deviation is the square root of 2, about 1.41, not 2.</a:t>
            </a:r>
          </a:p>
          <a:p>
            <a:pPr marL="0" lvl="0" indent="0" algn="l" rtl="0">
              <a:lnSpc>
                <a:spcPct val="100000"/>
              </a:lnSpc>
              <a:spcBef>
                <a:spcPts val="0"/>
              </a:spcBef>
              <a:spcAft>
                <a:spcPts val="600"/>
              </a:spcAft>
              <a:buSzPts val="1400"/>
              <a:buNone/>
            </a:pPr>
            <a:r>
              <a:rPr lang="en-US" dirty="0"/>
              <a:t>Next, a sensor measurement arrives, and you need a way to combine two Gaussians into one. That is the update step.</a:t>
            </a:r>
          </a:p>
        </p:txBody>
      </p:sp>
      <p:sp>
        <p:nvSpPr>
          <p:cNvPr id="116" name="Google Shape;116;p29:notes">
            <a:extLst>
              <a:ext uri="{FF2B5EF4-FFF2-40B4-BE49-F238E27FC236}">
                <a16:creationId xmlns:a16="http://schemas.microsoft.com/office/drawing/2014/main" id="{4F79C658-C2E0-03E4-F305-08177F8CBD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7409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A31C3F8-6B7A-AF16-D8DE-AA249386C903}"/>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93BF2167-F47E-0901-688F-0AF1B8B2B7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divider reads "Update" in large white text with a red accent line beneath it, on the course's dark blue background.</a:t>
            </a:r>
          </a:p>
          <a:p>
            <a:pPr marL="0" lvl="0" indent="0" algn="l" rtl="0">
              <a:spcBef>
                <a:spcPts val="0"/>
              </a:spcBef>
              <a:spcAft>
                <a:spcPts val="600"/>
              </a:spcAft>
              <a:buNone/>
            </a:pPr>
            <a:r>
              <a:rPr lang="en-US" dirty="0"/>
              <a:t>You have just finished the predict step. The motion command u shifted the mean of your belief, and the process noise widened it, because adding independent Gaussians adds their variances. Prediction alone only ever grows uncertainty. Now a sensor measurement arrives, and the update step fuses it with the prediction to shrink that uncertainty back down.</a:t>
            </a:r>
          </a:p>
        </p:txBody>
      </p:sp>
      <p:sp>
        <p:nvSpPr>
          <p:cNvPr id="87" name="Google Shape;87;p27:notes">
            <a:extLst>
              <a:ext uri="{FF2B5EF4-FFF2-40B4-BE49-F238E27FC236}">
                <a16:creationId xmlns:a16="http://schemas.microsoft.com/office/drawing/2014/main" id="{13F903E8-1DFF-A830-67DC-A2BC91BF03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1702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55B1C08-D4DD-01FE-1F1B-853D1C4942E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F39E895-D24A-B323-9900-9081889E7E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opens the update step of the 1D Kalman filter, right after the "Update" section divider. The slide title still reads "Sensor Fusion – Predict Step," but the content here is the start of the update. The slide is text only, with four short lines.</a:t>
            </a:r>
          </a:p>
          <a:p>
            <a:pPr marL="0" lvl="0" indent="0" algn="l" rtl="0">
              <a:lnSpc>
                <a:spcPct val="100000"/>
              </a:lnSpc>
              <a:spcBef>
                <a:spcPts val="0"/>
              </a:spcBef>
              <a:spcAft>
                <a:spcPts val="600"/>
              </a:spcAft>
              <a:buSzPts val="1400"/>
              <a:buNone/>
            </a:pPr>
            <a:r>
              <a:rPr lang="en-US" dirty="0"/>
              <a:t>First line: our absolute sensor, for example a 1D LiDAR, takes a measurement. Second line: the sensor says the robot is at position z, with a sensor noise variance of sigma squared sub sensor, written sigma_sensor^2. Third line: we now have two Gaussian curves, our flattened prediction curve and the new sensor curve. Fourth line: how do we combine these two conflicting opinions into one single truth?</a:t>
            </a:r>
          </a:p>
          <a:p>
            <a:pPr marL="0" lvl="0" indent="0" algn="l" rtl="0">
              <a:lnSpc>
                <a:spcPct val="100000"/>
              </a:lnSpc>
              <a:spcBef>
                <a:spcPts val="0"/>
              </a:spcBef>
              <a:spcAft>
                <a:spcPts val="600"/>
              </a:spcAft>
              <a:buSzPts val="1400"/>
              <a:buNone/>
            </a:pPr>
            <a:r>
              <a:rPr lang="en-US" dirty="0"/>
              <a:t>Recall what the predict step did. We pushed the estimate forward using the motion model, and because adding independent Gaussians adds their variances, the prediction curve came out wider and flatter. Our confidence dropped.</a:t>
            </a:r>
          </a:p>
          <a:p>
            <a:pPr marL="0" lvl="0" indent="0" algn="l" rtl="0">
              <a:lnSpc>
                <a:spcPct val="100000"/>
              </a:lnSpc>
              <a:spcBef>
                <a:spcPts val="0"/>
              </a:spcBef>
              <a:spcAft>
                <a:spcPts val="600"/>
              </a:spcAft>
              <a:buSzPts val="1400"/>
              <a:buNone/>
            </a:pPr>
            <a:r>
              <a:rPr lang="en-US" dirty="0"/>
              <a:t>An absolute sensor is different from odometry. It measures position directly against the world, so its error does not accumulate over time. Its reading is still noisy, so we model it as its own Gaussian, centered at z with variance sigma_sensor^2.</a:t>
            </a:r>
          </a:p>
          <a:p>
            <a:pPr marL="0" lvl="0" indent="0" algn="l" rtl="0">
              <a:lnSpc>
                <a:spcPct val="100000"/>
              </a:lnSpc>
              <a:spcBef>
                <a:spcPts val="0"/>
              </a:spcBef>
              <a:spcAft>
                <a:spcPts val="600"/>
              </a:spcAft>
              <a:buSzPts val="1400"/>
              <a:buNone/>
            </a:pPr>
            <a:r>
              <a:rPr lang="en-US" dirty="0"/>
              <a:t>The two curves usually disagree. The prediction says one place and the sensor says another. Neither is fully right. Each is an opinion with its own amount of uncertainty.</a:t>
            </a:r>
          </a:p>
          <a:p>
            <a:pPr marL="0" lvl="0" indent="0" algn="l" rtl="0">
              <a:lnSpc>
                <a:spcPct val="100000"/>
              </a:lnSpc>
              <a:spcBef>
                <a:spcPts val="0"/>
              </a:spcBef>
              <a:spcAft>
                <a:spcPts val="600"/>
              </a:spcAft>
              <a:buSzPts val="1400"/>
              <a:buNone/>
            </a:pPr>
            <a:r>
              <a:rPr lang="en-US" dirty="0"/>
              <a:t>A common mistake is to just trust the sensor and throw away the prediction. That discards useful information, especially when the sensor is noisy.</a:t>
            </a:r>
          </a:p>
          <a:p>
            <a:pPr marL="0" lvl="0" indent="0" algn="l" rtl="0">
              <a:lnSpc>
                <a:spcPct val="100000"/>
              </a:lnSpc>
              <a:spcBef>
                <a:spcPts val="0"/>
              </a:spcBef>
              <a:spcAft>
                <a:spcPts val="600"/>
              </a:spcAft>
              <a:buSzPts val="1400"/>
              <a:buNone/>
            </a:pPr>
            <a:r>
              <a:rPr lang="en-US" dirty="0"/>
              <a:t>Quick check: if sigma_sensor^2 were very large, which curve would you expect the fused answer to stay closer to? The next slide plots both curves so you can see the conflict.</a:t>
            </a:r>
          </a:p>
        </p:txBody>
      </p:sp>
      <p:sp>
        <p:nvSpPr>
          <p:cNvPr id="116" name="Google Shape;116;p29:notes">
            <a:extLst>
              <a:ext uri="{FF2B5EF4-FFF2-40B4-BE49-F238E27FC236}">
                <a16:creationId xmlns:a16="http://schemas.microsoft.com/office/drawing/2014/main" id="{C373F8DD-0402-7360-BB92-DDE9292BC4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6773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E4C403-CE59-DF9D-AEF0-9F2199D73C5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5FEB82-972C-600A-3215-F69A6BC671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plot, titled "1D Update (Conflicting Opinions)," shows the situation from the previous slide. The horizontal axis is position x, from 0 to about 15. The vertical axis is probability density, with no numbers marked. The legend lists two curves.</a:t>
            </a:r>
          </a:p>
          <a:p>
            <a:pPr marL="0" lvl="0" indent="0" algn="l" rtl="0">
              <a:lnSpc>
                <a:spcPct val="100000"/>
              </a:lnSpc>
              <a:spcBef>
                <a:spcPts val="0"/>
              </a:spcBef>
              <a:spcAft>
                <a:spcPts val="600"/>
              </a:spcAft>
              <a:buSzPts val="1400"/>
              <a:buNone/>
            </a:pPr>
            <a:r>
              <a:rPr lang="en-US" dirty="0"/>
              <a:t>The pink curve is the prediction. It is a bell curve centered at x = 8, and it is wide and low because the predict step flattened it. Each time you propagate the state forward with the motion model, you add process noise, so the variance grows. The dashed orange curve is the sensor measurement from our absolute sensor, the 1D LiDAR. It is centered at z = 9.5 with variance sigma^2 = 1.2, read "sigma squared equals 1.2." It is narrower and taller than the prediction, which tells you the sensor is more certain than our predicted state. The two curves overlap mostly between about 8 and 10, with the pink peak on the left and the orange peak on the right.</a:t>
            </a:r>
          </a:p>
          <a:p>
            <a:pPr marL="0" lvl="0" indent="0" algn="l" rtl="0">
              <a:lnSpc>
                <a:spcPct val="100000"/>
              </a:lnSpc>
              <a:spcBef>
                <a:spcPts val="0"/>
              </a:spcBef>
              <a:spcAft>
                <a:spcPts val="600"/>
              </a:spcAft>
              <a:buSzPts val="1400"/>
              <a:buNone/>
            </a:pPr>
            <a:r>
              <a:rPr lang="en-US" dirty="0"/>
              <a:t>The key idea is that neither curve is "the truth." Both are probability distributions describing where the robot might be, and they disagree by 1.5 units. A common mistake is to trust the sensor and overwrite the estimate with z = 9.5, which throws away information from the model. Another mistake is to simply average the two to 8.75, which ignores how certain each one is. You want a weighted compromise that leans toward the more confident source.</a:t>
            </a:r>
          </a:p>
          <a:p>
            <a:pPr marL="0" lvl="0" indent="0" algn="l" rtl="0">
              <a:lnSpc>
                <a:spcPct val="100000"/>
              </a:lnSpc>
              <a:spcBef>
                <a:spcPts val="0"/>
              </a:spcBef>
              <a:spcAft>
                <a:spcPts val="600"/>
              </a:spcAft>
              <a:buSzPts val="1400"/>
              <a:buNone/>
            </a:pPr>
            <a:r>
              <a:rPr lang="en-US" dirty="0"/>
              <a:t>A quick check: before the next slide, guess whether the fused estimate will land closer to 8 or to 9.5, and whether it will be wider or narrower than these curves. Next, you see how multiplying the two Gaussians answers that.</a:t>
            </a:r>
          </a:p>
        </p:txBody>
      </p:sp>
      <p:sp>
        <p:nvSpPr>
          <p:cNvPr id="116" name="Google Shape;116;p29:notes">
            <a:extLst>
              <a:ext uri="{FF2B5EF4-FFF2-40B4-BE49-F238E27FC236}">
                <a16:creationId xmlns:a16="http://schemas.microsoft.com/office/drawing/2014/main" id="{AFCBECDD-AE8F-F181-E341-1FF0779454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0120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38A32FD-5C84-269D-5D87-5E114134C90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B84CD4D-C414-FFFB-5E71-DEB24AC6E8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from the last two: how do you combine the wide prediction curve with the narrower sensor curve? The slide is text only and makes four points. To fuse two independent estimates in probability, you multiply their distributions together. The "magical property" of Gaussians is that multiplying two Gaussians always produces a new Gaussian. Because the new curve represents the overlapping area of agreement, it is always taller and narrower than both original curves. The conclusion: fusing data reduces uncertainty.</a:t>
            </a:r>
          </a:p>
          <a:p>
            <a:pPr marL="0" lvl="0" indent="0" algn="l" rtl="0">
              <a:lnSpc>
                <a:spcPct val="100000"/>
              </a:lnSpc>
              <a:spcBef>
                <a:spcPts val="0"/>
              </a:spcBef>
              <a:spcAft>
                <a:spcPts val="600"/>
              </a:spcAft>
              <a:buSzPts val="1400"/>
              <a:buNone/>
            </a:pPr>
            <a:r>
              <a:rPr lang="en-US" dirty="0"/>
              <a:t>Multiplying makes sense because the fused belief is high only where both sources agree that the robot is likely to be. Where either curve is near zero, the product is near zero. Strictly, you rescale the product so its area is one again, and the result is still a bell curve. This matters for the Kalman filter: the result stays Gaussian, so you only ever track two numbers, a mean and a variance, and you can repeat predict and update forever without the math growing.</a:t>
            </a:r>
          </a:p>
          <a:p>
            <a:pPr marL="0" lvl="0" indent="0" algn="l" rtl="0">
              <a:lnSpc>
                <a:spcPct val="100000"/>
              </a:lnSpc>
              <a:spcBef>
                <a:spcPts val="0"/>
              </a:spcBef>
              <a:spcAft>
                <a:spcPts val="600"/>
              </a:spcAft>
              <a:buSzPts val="1400"/>
              <a:buNone/>
            </a:pPr>
            <a:r>
              <a:rPr lang="en-US" dirty="0"/>
              <a:t>Here is the step the slide skips. If the prediction has mean mu1 and variance sigma1^2, and the sensor has mean mu2 and variance sigma2^2, the fused variance satisfies 1/sigma^2 = 1/sigma1^2 + 1/sigma2^2. That is always smaller than either input variance. The fused mean is mu = (sigma2^2*mu1 + sigma1^2*mu2)/(sigma1^2 + sigma2^2), a weighted average that leans toward the more certain source.</a:t>
            </a:r>
          </a:p>
          <a:p>
            <a:pPr marL="0" lvl="0" indent="0" algn="l" rtl="0">
              <a:lnSpc>
                <a:spcPct val="100000"/>
              </a:lnSpc>
              <a:spcBef>
                <a:spcPts val="0"/>
              </a:spcBef>
              <a:spcAft>
                <a:spcPts val="600"/>
              </a:spcAft>
              <a:buSzPts val="1400"/>
              <a:buNone/>
            </a:pPr>
            <a:r>
              <a:rPr lang="en-US" dirty="0"/>
              <a:t>The slide title says "Predict Step," but this combining is really the update step.</a:t>
            </a:r>
          </a:p>
          <a:p>
            <a:pPr marL="0" lvl="0" indent="0" algn="l" rtl="0">
              <a:lnSpc>
                <a:spcPct val="100000"/>
              </a:lnSpc>
              <a:spcBef>
                <a:spcPts val="0"/>
              </a:spcBef>
              <a:spcAft>
                <a:spcPts val="600"/>
              </a:spcAft>
              <a:buSzPts val="1400"/>
              <a:buNone/>
            </a:pPr>
            <a:r>
              <a:rPr lang="en-US" dirty="0"/>
              <a:t>Quick check: before the next slide, guess where the fused mean lands between 8 and 9.5. Next, you will see it plotted at 9.01 with variance 0.81, closer to the sensor.</a:t>
            </a:r>
          </a:p>
        </p:txBody>
      </p:sp>
      <p:sp>
        <p:nvSpPr>
          <p:cNvPr id="116" name="Google Shape;116;p29:notes">
            <a:extLst>
              <a:ext uri="{FF2B5EF4-FFF2-40B4-BE49-F238E27FC236}">
                <a16:creationId xmlns:a16="http://schemas.microsoft.com/office/drawing/2014/main" id="{3495E875-3CC0-3265-7075-A25F1A06DC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44455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65C5588-5D28-6383-DFAA-1709D6DC453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89D522C-D34C-5EB5-6F67-DCAB77E1AE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result of fusing the two estimates from the last slide. The plot, titled "Fusing Data (Multiplying Gaussians)," shows probability against position x from 0 to 14 with three curves. The pink dashed prediction is wide and low, centered at 8. The orange dashed sensor reading is narrower and taller, centered near 9.5. The solid green curve, shaded underneath, is the fused estimate. It is the tallest and narrowest of the three, with mean mu = 9.01 and variance sigma squared = 0.81. A box in the corner reads Kalman Gain (K) = 0.68.</a:t>
            </a:r>
          </a:p>
          <a:p>
            <a:pPr marL="0" lvl="0" indent="0" algn="l" rtl="0">
              <a:lnSpc>
                <a:spcPct val="100000"/>
              </a:lnSpc>
              <a:spcBef>
                <a:spcPts val="0"/>
              </a:spcBef>
              <a:spcAft>
                <a:spcPts val="600"/>
              </a:spcAft>
              <a:buSzPts val="1400"/>
              <a:buNone/>
            </a:pPr>
            <a:r>
              <a:rPr lang="en-US" dirty="0"/>
              <a:t>Notice two things. First, the fused mean of 9.01 lies between 8 and 9.5, but closer to the sensor, because the sensor is the more certain input. Second, the fused variance of 0.81 is smaller than both input variances: the sensor's 1.2 and the prediction's, which works out to about 2.5. This is the claim from the previous slide shown with numbers. Multiplying two Gaussians gives a new Gaussian that is more confident than either one.</a:t>
            </a:r>
          </a:p>
          <a:p>
            <a:pPr marL="0" lvl="0" indent="0" algn="l" rtl="0">
              <a:lnSpc>
                <a:spcPct val="100000"/>
              </a:lnSpc>
              <a:spcBef>
                <a:spcPts val="0"/>
              </a:spcBef>
              <a:spcAft>
                <a:spcPts val="600"/>
              </a:spcAft>
              <a:buSzPts val="1400"/>
              <a:buNone/>
            </a:pPr>
            <a:r>
              <a:rPr lang="en-US" dirty="0"/>
              <a:t>You can check the mean yourself: 9.01 is about 8 + 0.68*(9.5 - 8). So the gain of 0.68 means you move 68 percent of the way from the prediction toward the measurement.</a:t>
            </a:r>
          </a:p>
          <a:p>
            <a:pPr marL="0" lvl="0" indent="0" algn="l" rtl="0">
              <a:lnSpc>
                <a:spcPct val="100000"/>
              </a:lnSpc>
              <a:spcBef>
                <a:spcPts val="0"/>
              </a:spcBef>
              <a:spcAft>
                <a:spcPts val="600"/>
              </a:spcAft>
              <a:buSzPts val="1400"/>
              <a:buNone/>
            </a:pPr>
            <a:r>
              <a:rPr lang="en-US" dirty="0"/>
              <a:t>A common mistake is to think fusion just averages the two means. It is a weighted average, and the weights come from the variances.</a:t>
            </a:r>
          </a:p>
          <a:p>
            <a:pPr marL="0" lvl="0" indent="0" algn="l" rtl="0">
              <a:lnSpc>
                <a:spcPct val="100000"/>
              </a:lnSpc>
              <a:spcBef>
                <a:spcPts val="0"/>
              </a:spcBef>
              <a:spcAft>
                <a:spcPts val="600"/>
              </a:spcAft>
              <a:buSzPts val="1400"/>
              <a:buNone/>
            </a:pPr>
            <a:r>
              <a:rPr lang="en-US" dirty="0"/>
              <a:t>Quick check: if the sensor variance doubled, which way would the green peak shift? The next slides derive K and answer that formally.</a:t>
            </a:r>
          </a:p>
        </p:txBody>
      </p:sp>
      <p:sp>
        <p:nvSpPr>
          <p:cNvPr id="116" name="Google Shape;116;p29:notes">
            <a:extLst>
              <a:ext uri="{FF2B5EF4-FFF2-40B4-BE49-F238E27FC236}">
                <a16:creationId xmlns:a16="http://schemas.microsoft.com/office/drawing/2014/main" id="{81E80DA0-7559-E667-2930-EF7EB8A28D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24654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E830D02-D4CA-2016-2DAB-E7EED3C1961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C803EC2-C3C6-2AD5-6815-AD56A22263E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result of the Gaussian multiplication from the last two slides. The text reads: "The math behind that multiplication gives us the 1D Kalman Gain, K." A centered equation follows: K equals prediction uncertainty divided by total system uncertainty, or K = (prediction uncertainty) / (total system uncertainty). Below it are two cases. If the sensor is perfect, K = 1, and you trust the sensor completely. If the sensor is garbage, K = 0, and you ignore it.</a:t>
            </a:r>
          </a:p>
          <a:p>
            <a:pPr marL="0" lvl="0" indent="0" algn="l" rtl="0">
              <a:lnSpc>
                <a:spcPct val="100000"/>
              </a:lnSpc>
              <a:spcBef>
                <a:spcPts val="0"/>
              </a:spcBef>
              <a:spcAft>
                <a:spcPts val="600"/>
              </a:spcAft>
              <a:buSzPts val="1400"/>
              <a:buNone/>
            </a:pPr>
            <a:r>
              <a:rPr lang="en-US" dirty="0"/>
              <a:t>In symbols, the prediction uncertainty is the predicted variance, call it P. The total system uncertainty is that variance plus the sensor's variance, call it R. So K = P / (P + R). The two cases follow from this. A perfect sensor has R = 0, so K = P / P = 1. A useless sensor has R growing without bound, so K shrinks toward 0.</a:t>
            </a:r>
          </a:p>
          <a:p>
            <a:pPr marL="0" lvl="0" indent="0" algn="l" rtl="0">
              <a:lnSpc>
                <a:spcPct val="100000"/>
              </a:lnSpc>
              <a:spcBef>
                <a:spcPts val="0"/>
              </a:spcBef>
              <a:spcAft>
                <a:spcPts val="600"/>
              </a:spcAft>
              <a:buSzPts val="1400"/>
              <a:buNone/>
            </a:pPr>
            <a:r>
              <a:rPr lang="en-US" dirty="0"/>
              <a:t>Connect this to the plot on the previous slide. The prediction was centered at 8 and the sensor near 9.5, with K = 0.68. The fused mean is 8 + 0.68*(9.5 - 8), which is about 9.0. That puts it about two-thirds of the way toward the sensor, because the sensor was the more certain of the two.</a:t>
            </a:r>
          </a:p>
          <a:p>
            <a:pPr marL="0" lvl="0" indent="0" algn="l" rtl="0">
              <a:lnSpc>
                <a:spcPct val="100000"/>
              </a:lnSpc>
              <a:spcBef>
                <a:spcPts val="0"/>
              </a:spcBef>
              <a:spcAft>
                <a:spcPts val="600"/>
              </a:spcAft>
              <a:buSzPts val="1400"/>
              <a:buNone/>
            </a:pPr>
            <a:r>
              <a:rPr lang="en-US" dirty="0"/>
              <a:t>A common mistake is to treat K as a property of the sensor alone. K compares two uncertainties. Even a decent sensor gets a small K if your prediction is already very confident.</a:t>
            </a:r>
          </a:p>
          <a:p>
            <a:pPr marL="0" lvl="0" indent="0" algn="l" rtl="0">
              <a:lnSpc>
                <a:spcPct val="100000"/>
              </a:lnSpc>
              <a:spcBef>
                <a:spcPts val="0"/>
              </a:spcBef>
              <a:spcAft>
                <a:spcPts val="600"/>
              </a:spcAft>
              <a:buSzPts val="1400"/>
              <a:buNone/>
            </a:pPr>
            <a:r>
              <a:rPr lang="en-US" dirty="0"/>
              <a:t>Quick check: if your prediction and your sensor have equal variance, what is K? It is 0.5, so you split the difference. The next slide shows how K enters the position update.</a:t>
            </a:r>
          </a:p>
        </p:txBody>
      </p:sp>
      <p:sp>
        <p:nvSpPr>
          <p:cNvPr id="116" name="Google Shape;116;p29:notes">
            <a:extLst>
              <a:ext uri="{FF2B5EF4-FFF2-40B4-BE49-F238E27FC236}">
                <a16:creationId xmlns:a16="http://schemas.microsoft.com/office/drawing/2014/main" id="{ED39511E-F5AA-2A92-CBEB-B2D031F800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56783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7FAB225-9778-D149-C3A2-9067326B947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1373416-652B-23EB-8E45-C7A97036A5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from the previous one, which also opened with the 1D Kalman gain, K. The top line reads, "The math behind that multiplication gives us the 1D Kalman Gain (K)." The equation is K = sigma_pred^2 / (sigma_pred^2 + sigma_sensor^2), read as "K equals the prediction variance divided by the sum of the prediction variance and the sensor variance."</a:t>
            </a:r>
          </a:p>
          <a:p>
            <a:pPr marL="0" lvl="0" indent="0" algn="l" rtl="0">
              <a:lnSpc>
                <a:spcPct val="100000"/>
              </a:lnSpc>
              <a:spcBef>
                <a:spcPts val="0"/>
              </a:spcBef>
              <a:spcAft>
                <a:spcPts val="600"/>
              </a:spcAft>
              <a:buSzPts val="1400"/>
              <a:buNone/>
            </a:pPr>
            <a:r>
              <a:rPr lang="en-US" dirty="0"/>
              <a:t>The slide then says K is just a ratio: your prediction uncertainty divided by the total uncertainty. Both variances are positive, so the numerator is always smaller than the denominator, and K always falls between 0 and 1.</a:t>
            </a:r>
          </a:p>
          <a:p>
            <a:pPr marL="0" lvl="0" indent="0" algn="l" rtl="0">
              <a:lnSpc>
                <a:spcPct val="100000"/>
              </a:lnSpc>
              <a:spcBef>
                <a:spcPts val="0"/>
              </a:spcBef>
              <a:spcAft>
                <a:spcPts val="600"/>
              </a:spcAft>
              <a:buSzPts val="1400"/>
              <a:buNone/>
            </a:pPr>
            <a:r>
              <a:rPr lang="en-US" dirty="0"/>
              <a:t>Next comes the update equation, mu_new = mu_pred + K*(z - mu_pred), read as "the new mean equals the predicted mean plus K times the measurement z minus the predicted mean." The slide closes with, "All it really says is: how much of the measurement should we incorporate?"</a:t>
            </a:r>
          </a:p>
          <a:p>
            <a:pPr marL="0" lvl="0" indent="0" algn="l" rtl="0">
              <a:lnSpc>
                <a:spcPct val="100000"/>
              </a:lnSpc>
              <a:spcBef>
                <a:spcPts val="0"/>
              </a:spcBef>
              <a:spcAft>
                <a:spcPts val="600"/>
              </a:spcAft>
              <a:buSzPts val="1400"/>
              <a:buNone/>
            </a:pPr>
            <a:r>
              <a:rPr lang="en-US" dirty="0"/>
              <a:t>The term (z - mu_pred) is called the innovation, or residual. It is the surprise: how far the sensor reading lands from where you expected to be. K scales that surprise. When K = 0 you keep your prediction. When K = 1 you jump all the way to the measurement. Anything in between moves you part of the way.</a:t>
            </a:r>
          </a:p>
          <a:p>
            <a:pPr marL="0" lvl="0" indent="0" algn="l" rtl="0">
              <a:lnSpc>
                <a:spcPct val="100000"/>
              </a:lnSpc>
              <a:spcBef>
                <a:spcPts val="0"/>
              </a:spcBef>
              <a:spcAft>
                <a:spcPts val="600"/>
              </a:spcAft>
              <a:buSzPts val="1400"/>
              <a:buNone/>
            </a:pPr>
            <a:r>
              <a:rPr lang="en-US" dirty="0"/>
              <a:t>Check this against the plot two slides back. The prediction was at 8, the sensor near 9.5, and K = 0.68. That gives 8 + 0.68*(1.5), which is about 9.0 and matches the fused mean of 9.01.</a:t>
            </a:r>
          </a:p>
          <a:p>
            <a:pPr marL="0" lvl="0" indent="0" algn="l" rtl="0">
              <a:lnSpc>
                <a:spcPct val="100000"/>
              </a:lnSpc>
              <a:spcBef>
                <a:spcPts val="0"/>
              </a:spcBef>
              <a:spcAft>
                <a:spcPts val="600"/>
              </a:spcAft>
              <a:buSzPts val="1400"/>
              <a:buNone/>
            </a:pPr>
            <a:r>
              <a:rPr lang="en-US" dirty="0"/>
              <a:t>A common mistake is to think a large K means a good filter. K only describes relative trust. A large K means your prediction is much less certain than your sensor.</a:t>
            </a:r>
          </a:p>
          <a:p>
            <a:pPr marL="0" lvl="0" indent="0" algn="l" rtl="0">
              <a:lnSpc>
                <a:spcPct val="100000"/>
              </a:lnSpc>
              <a:spcBef>
                <a:spcPts val="0"/>
              </a:spcBef>
              <a:spcAft>
                <a:spcPts val="600"/>
              </a:spcAft>
              <a:buSzPts val="1400"/>
              <a:buNone/>
            </a:pPr>
            <a:r>
              <a:rPr lang="en-US" dirty="0"/>
              <a:t>Quick check: if both variances are equal, what is K? (It is 0.5, so you land halfway between the prediction and the measurement.)</a:t>
            </a:r>
          </a:p>
          <a:p>
            <a:pPr marL="0" lvl="0" indent="0" algn="l" rtl="0">
              <a:lnSpc>
                <a:spcPct val="100000"/>
              </a:lnSpc>
              <a:spcBef>
                <a:spcPts val="0"/>
              </a:spcBef>
              <a:spcAft>
                <a:spcPts val="600"/>
              </a:spcAft>
              <a:buSzPts val="1400"/>
              <a:buNone/>
            </a:pPr>
            <a:r>
              <a:rPr lang="en-US" dirty="0"/>
              <a:t>Next, we ask how this scalar recipe extends to a robot with x, y, and heading.</a:t>
            </a:r>
          </a:p>
        </p:txBody>
      </p:sp>
      <p:sp>
        <p:nvSpPr>
          <p:cNvPr id="116" name="Google Shape;116;p29:notes">
            <a:extLst>
              <a:ext uri="{FF2B5EF4-FFF2-40B4-BE49-F238E27FC236}">
                <a16:creationId xmlns:a16="http://schemas.microsoft.com/office/drawing/2014/main" id="{6CB83496-4E1C-9903-6F82-5EF22260B7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96214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04A5E11-BE8A-9852-891E-ECF8700E222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6DD7635-C429-3862-020C-6AC630FC7A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"Sensor Fusion – Predict Step." It opens with "That's all the Kalman filter is!", asks "What is the current limitation of the formulation?", and answers with a centered question: we are only looking at a problem with 1 state, so can this be generalized to N dimensions? It then notes that our robot lives in a 2D plane with an X, a Y, and a heading theta.</a:t>
            </a:r>
          </a:p>
          <a:p>
            <a:pPr marL="0" lvl="0" indent="0" algn="l" rtl="0">
              <a:lnSpc>
                <a:spcPct val="100000"/>
              </a:lnSpc>
              <a:spcBef>
                <a:spcPts val="0"/>
              </a:spcBef>
              <a:spcAft>
                <a:spcPts val="600"/>
              </a:spcAft>
              <a:buSzPts val="1400"/>
              <a:buNone/>
            </a:pPr>
            <a:r>
              <a:rPr lang="en-US" dirty="0"/>
              <a:t>The slide names two changes. First, the single scalar mean mu for position becomes a state vector, x = [X, Y, theta]^T, read as "x equals the column vector X, Y, theta," where the T (transpose) makes it a column. Second, the single scalar variance sigma^2 becomes a covariance matrix, P.</a:t>
            </a:r>
          </a:p>
          <a:p>
            <a:pPr marL="0" lvl="0" indent="0" algn="l" rtl="0">
              <a:lnSpc>
                <a:spcPct val="100000"/>
              </a:lnSpc>
              <a:spcBef>
                <a:spcPts val="0"/>
              </a:spcBef>
              <a:spcAft>
                <a:spcPts val="600"/>
              </a:spcAft>
              <a:buSzPts val="1400"/>
              <a:buNone/>
            </a:pPr>
            <a:r>
              <a:rPr lang="en-US" dirty="0"/>
              <a:t>With the last two slides you have the whole 1D filter. You predict, then blend in a measurement using the gain K, a ratio between 0 and 1. The ideas do not change in more dimensions; only the bookkeeping does.</a:t>
            </a:r>
          </a:p>
          <a:p>
            <a:pPr marL="0" lvl="0" indent="0" algn="l" rtl="0">
              <a:lnSpc>
                <a:spcPct val="100000"/>
              </a:lnSpc>
              <a:spcBef>
                <a:spcPts val="0"/>
              </a:spcBef>
              <a:spcAft>
                <a:spcPts val="600"/>
              </a:spcAft>
              <a:buSzPts val="1400"/>
              <a:buNone/>
            </a:pPr>
            <a:r>
              <a:rPr lang="en-US" dirty="0"/>
              <a:t>The slide says "differentiable robot," which here means our differential-drive robot. Its pose needs three numbers, so the state is a vector of length 3 and P is a 3 by 3 matrix. The diagonal entries of P are the variances of X, Y and theta. The off-diagonal entries are covariances, which describe how errors in one state relate to errors in another.</a:t>
            </a:r>
          </a:p>
          <a:p>
            <a:pPr marL="0" lvl="0" indent="0" algn="l" rtl="0">
              <a:lnSpc>
                <a:spcPct val="100000"/>
              </a:lnSpc>
              <a:spcBef>
                <a:spcPts val="0"/>
              </a:spcBef>
              <a:spcAft>
                <a:spcPts val="600"/>
              </a:spcAft>
              <a:buSzPts val="1400"/>
              <a:buNone/>
            </a:pPr>
            <a:r>
              <a:rPr lang="en-US" dirty="0"/>
              <a:t>A common mistake is to think only the diagonal matters. Off-diagonal terms are exactly how a heading error spreads into a position error as the robot drives forward.</a:t>
            </a:r>
          </a:p>
          <a:p>
            <a:pPr marL="0" lvl="0" indent="0" algn="l" rtl="0">
              <a:lnSpc>
                <a:spcPct val="100000"/>
              </a:lnSpc>
              <a:spcBef>
                <a:spcPts val="0"/>
              </a:spcBef>
              <a:spcAft>
                <a:spcPts val="600"/>
              </a:spcAft>
              <a:buSzPts val="1400"/>
              <a:buNone/>
            </a:pPr>
            <a:r>
              <a:rPr lang="en-US" dirty="0"/>
              <a:t>Next, the N-dimensional Kalman filter rewrites predict and update with vectors and matrices.</a:t>
            </a:r>
          </a:p>
        </p:txBody>
      </p:sp>
      <p:sp>
        <p:nvSpPr>
          <p:cNvPr id="116" name="Google Shape;116;p29:notes">
            <a:extLst>
              <a:ext uri="{FF2B5EF4-FFF2-40B4-BE49-F238E27FC236}">
                <a16:creationId xmlns:a16="http://schemas.microsoft.com/office/drawing/2014/main" id="{BFC3361F-AB9B-1A1A-72C2-A796CA828C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30524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957F642-A96B-4D30-1066-5E28FC252B28}"/>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8D2562C8-819A-CB45-D199-D22B77D4FD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that reads "ND - Kalman Filter," where ND means N-dimensional. The background is the course's orange template with faint hand-drawn engineering sketches, which are decorative only.</a:t>
            </a:r>
          </a:p>
          <a:p>
            <a:pPr marL="0" lvl="0" indent="0" algn="l" rtl="0">
              <a:spcBef>
                <a:spcPts val="0"/>
              </a:spcBef>
              <a:spcAft>
                <a:spcPts val="600"/>
              </a:spcAft>
              <a:buNone/>
            </a:pPr>
            <a:r>
              <a:rPr lang="en-US" dirty="0"/>
              <a:t>You have now seen the whole 1D filter: predict, then update with a Kalman gain between 0 and 1. In this section you generalize it. The scalar position becomes a state vector, such as x, y and heading theta for the robot. The scalar variance becomes a covariance matrix P. Next comes the predict step.</a:t>
            </a:r>
          </a:p>
        </p:txBody>
      </p:sp>
      <p:sp>
        <p:nvSpPr>
          <p:cNvPr id="102" name="Google Shape;102;p28:notes">
            <a:extLst>
              <a:ext uri="{FF2B5EF4-FFF2-40B4-BE49-F238E27FC236}">
                <a16:creationId xmlns:a16="http://schemas.microsoft.com/office/drawing/2014/main" id="{6A442E3D-7F53-FCEC-E45D-931BB71F55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3832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4A50CF0-CA68-A3B1-8978-E3896AB020C7}"/>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ECB296A0-F8E9-7578-7D53-0931477213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"Predict" in large white text with an orange accent line beneath it, over the course's dark blue background of faint hand-drawn equations and sketches.</a:t>
            </a:r>
          </a:p>
          <a:p>
            <a:pPr marL="0" lvl="0" indent="0" algn="l" rtl="0">
              <a:spcBef>
                <a:spcPts val="0"/>
              </a:spcBef>
              <a:spcAft>
                <a:spcPts val="600"/>
              </a:spcAft>
              <a:buNone/>
            </a:pPr>
            <a:r>
              <a:rPr lang="en-US" dirty="0"/>
              <a:t>You have just seen why one scalar state is not enough for the robot: x, y and heading need a state vector and a covariance matrix. This section rebuilds the predict step in N dimensions. It starts with the initial belief drawn as an uncertainty ellipse, then replaces the scalar motion update with a state transition matrix.</a:t>
            </a:r>
          </a:p>
        </p:txBody>
      </p:sp>
      <p:sp>
        <p:nvSpPr>
          <p:cNvPr id="87" name="Google Shape;87;p27:notes">
            <a:extLst>
              <a:ext uri="{FF2B5EF4-FFF2-40B4-BE49-F238E27FC236}">
                <a16:creationId xmlns:a16="http://schemas.microsoft.com/office/drawing/2014/main" id="{7633E37A-86DA-49B7-62EB-D343443895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71396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C4AF2CE-C5D0-FCFA-140B-E4B6B09EEAD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4190A3D-0140-D128-22BE-62F63598F0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starts the multi-dimensional, or MD, version of the predict step by showing what our belief looks like before anything moves. The plot is titled "MD Initial Belief (The State Vector)", with Position X on the horizontal axis from minus 2 to 16 and Position Y on the vertical axis from minus 2 to 10. A blue dot at (2, 2), labeled "Initial Belief (x_0)", marks the mean. Around it is a shaded blue ellipse, tilted about 45 degrees, running from roughly minus 0.5 to 4.5 on both axes. Two equations are written in the upper left: bold x = [x, y]^T, read "the state vector x equals x, y transposed", and bold P = [[sigma_x^2, sigma_xy], [sigma_yx, sigma_y^2]], read "the covariance matrix P has first row sigma x squared, sigma x y, and second row sigma y x, sigma y squared."</a:t>
            </a:r>
          </a:p>
          <a:p>
            <a:pPr marL="0" lvl="0" indent="0" algn="l" rtl="0">
              <a:lnSpc>
                <a:spcPct val="100000"/>
              </a:lnSpc>
              <a:spcBef>
                <a:spcPts val="0"/>
              </a:spcBef>
              <a:spcAft>
                <a:spcPts val="600"/>
              </a:spcAft>
              <a:buSzPts val="1400"/>
              <a:buNone/>
            </a:pPr>
            <a:r>
              <a:rPr lang="en-US" dirty="0"/>
              <a:t>In 1D, our belief was one mean and one variance. Here the mean becomes a column vector of every state we track, and the variance becomes the covariance matrix P. The diagonal entries are the variances of x and y on their own. The off-diagonal entries, the covariances, describe how errors in x and y move together. P is symmetric, so sigma_xy = sigma_yx.</a:t>
            </a:r>
          </a:p>
          <a:p>
            <a:pPr marL="0" lvl="0" indent="0" algn="l" rtl="0">
              <a:lnSpc>
                <a:spcPct val="100000"/>
              </a:lnSpc>
              <a:spcBef>
                <a:spcPts val="0"/>
              </a:spcBef>
              <a:spcAft>
                <a:spcPts val="600"/>
              </a:spcAft>
              <a:buSzPts val="1400"/>
              <a:buNone/>
            </a:pPr>
            <a:r>
              <a:rPr lang="en-US" dirty="0"/>
              <a:t>The ellipse is a contour of equal probability for this 2D Gaussian. Its tilt comes from the off-diagonal terms. A positive sigma_xy means that if the true x is larger than we think, the true y probably is too. For the robot, this is your x, y position estimate.</a:t>
            </a:r>
          </a:p>
          <a:p>
            <a:pPr marL="0" lvl="0" indent="0" algn="l" rtl="0">
              <a:lnSpc>
                <a:spcPct val="100000"/>
              </a:lnSpc>
              <a:spcBef>
                <a:spcPts val="0"/>
              </a:spcBef>
              <a:spcAft>
                <a:spcPts val="600"/>
              </a:spcAft>
              <a:buSzPts val="1400"/>
              <a:buNone/>
            </a:pPr>
            <a:r>
              <a:rPr lang="en-US" dirty="0"/>
              <a:t>Quick check: what shape would the ellipse have if sigma_xy = 0 and sigma_x^2 were larger than sigma_y^2? (It would be an axis-aligned ellipse stretched along X.)</a:t>
            </a:r>
          </a:p>
          <a:p>
            <a:pPr marL="0" lvl="0" indent="0" algn="l" rtl="0">
              <a:lnSpc>
                <a:spcPct val="100000"/>
              </a:lnSpc>
              <a:spcBef>
                <a:spcPts val="0"/>
              </a:spcBef>
              <a:spcAft>
                <a:spcPts val="600"/>
              </a:spcAft>
              <a:buSzPts val="1400"/>
              <a:buNone/>
            </a:pPr>
            <a:r>
              <a:rPr lang="en-US" dirty="0"/>
              <a:t>Next, we see how the state transition matrix F moves this belief forward in time.</a:t>
            </a:r>
          </a:p>
        </p:txBody>
      </p:sp>
      <p:sp>
        <p:nvSpPr>
          <p:cNvPr id="116" name="Google Shape;116;p29:notes">
            <a:extLst>
              <a:ext uri="{FF2B5EF4-FFF2-40B4-BE49-F238E27FC236}">
                <a16:creationId xmlns:a16="http://schemas.microsoft.com/office/drawing/2014/main" id="{60FAE83A-31D6-1525-CA97-1A2444A3C7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91460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75346A4-41D5-E2DD-69CE-398D962EA6D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CDD13FA-ECB9-E46B-7C27-9A5C2B40EB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carries the 1D prediction over to N dimensions. At the top is the 1D rule you already know, mu_pred = mu_old + u: the predicted mean is the old mean plus the commanded motion. Below it is the N-dimensional version, x_(k|k-1) = F*x_(k-1|k-1) + B*u_k. In words: x at step k given information up to step k minus 1 equals F times x at step k minus 1 given information up to step k minus 1, plus B times u at step k. Two lines of text then say that mu becomes the state vector x, and that F is the state transition matrix, which describes how physics updates the state.</a:t>
            </a:r>
          </a:p>
          <a:p>
            <a:pPr marL="0" lvl="0" indent="0" algn="l" rtl="0">
              <a:lnSpc>
                <a:spcPct val="100000"/>
              </a:lnSpc>
              <a:spcBef>
                <a:spcPts val="0"/>
              </a:spcBef>
              <a:spcAft>
                <a:spcPts val="600"/>
              </a:spcAft>
              <a:buSzPts val="1400"/>
              <a:buNone/>
            </a:pPr>
            <a:r>
              <a:rPr lang="en-US" dirty="0"/>
              <a:t>Read the subscripts carefully. The "k|k-1" means "our estimate at time k, using measurements only up to time k minus 1." That is the prior, before any new sensor reading arrives. The term x_(k-1|k-1) is the best estimate from the last cycle, after its update.</a:t>
            </a:r>
          </a:p>
          <a:p>
            <a:pPr marL="0" lvl="0" indent="0" algn="l" rtl="0">
              <a:lnSpc>
                <a:spcPct val="100000"/>
              </a:lnSpc>
              <a:spcBef>
                <a:spcPts val="0"/>
              </a:spcBef>
              <a:spcAft>
                <a:spcPts val="600"/>
              </a:spcAft>
              <a:buSzPts val="1400"/>
              <a:buNone/>
            </a:pPr>
            <a:r>
              <a:rPr lang="en-US" dirty="0"/>
              <a:t>Each piece has a 1D counterpart. The scalar mean mu becomes a vector x that can hold several quantities at once, such as position x, position y and heading theta, or position and velocity. In 1D the old mean carried over unchanged, which is the same as multiplying by 1. F generalizes that 1. It lets one state affect another, for example x_(t+1) = x_t + v_t*dt, where velocity feeds into position. B is the control input matrix. It maps your commands u_k, such as wheel speeds or motor voltage, into changes in the state.</a:t>
            </a:r>
          </a:p>
          <a:p>
            <a:pPr marL="0" lvl="0" indent="0" algn="l" rtl="0">
              <a:lnSpc>
                <a:spcPct val="100000"/>
              </a:lnSpc>
              <a:spcBef>
                <a:spcPts val="0"/>
              </a:spcBef>
              <a:spcAft>
                <a:spcPts val="600"/>
              </a:spcAft>
              <a:buSzPts val="1400"/>
              <a:buNone/>
            </a:pPr>
            <a:r>
              <a:rPr lang="en-US" dirty="0"/>
              <a:t>A common mistake is to think F only scales each state independently. Its off-diagonal entries are exactly what couple the states together.</a:t>
            </a:r>
          </a:p>
          <a:p>
            <a:pPr marL="0" lvl="0" indent="0" algn="l" rtl="0">
              <a:lnSpc>
                <a:spcPct val="100000"/>
              </a:lnSpc>
              <a:spcBef>
                <a:spcPts val="0"/>
              </a:spcBef>
              <a:spcAft>
                <a:spcPts val="600"/>
              </a:spcAft>
              <a:buSzPts val="1400"/>
              <a:buNone/>
            </a:pPr>
            <a:r>
              <a:rPr lang="en-US" dirty="0"/>
              <a:t>The next slide shows this graphically: the mean shifts by F*x + B*u, and the covariance grows to F*P*F^T + Q.</a:t>
            </a:r>
          </a:p>
        </p:txBody>
      </p:sp>
      <p:sp>
        <p:nvSpPr>
          <p:cNvPr id="116" name="Google Shape;116;p29:notes">
            <a:extLst>
              <a:ext uri="{FF2B5EF4-FFF2-40B4-BE49-F238E27FC236}">
                <a16:creationId xmlns:a16="http://schemas.microsoft.com/office/drawing/2014/main" id="{4C93F40B-ECC9-5EAD-6B6D-FFFDCBF361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568787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70E7CAF-D7ED-00DE-0223-9661AD415D7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03189BF-6AFE-0CA5-959C-E3B876D9E77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plot titled "MD Prediction (Linear Transformation)," where MD means multi-dimensional. It shows what the predict step does to a 2D position belief. The axes are Position X, from minus 2 to 16, and Position Y, from minus 2 to 10. The legend has a light blue dot for the Old Belief and a pink dot for the Predicted Prior, written x_pred, P_pred.</a:t>
            </a:r>
          </a:p>
          <a:p>
            <a:pPr marL="0" lvl="0" indent="0" algn="l" rtl="0">
              <a:lnSpc>
                <a:spcPct val="100000"/>
              </a:lnSpc>
              <a:spcBef>
                <a:spcPts val="0"/>
              </a:spcBef>
              <a:spcAft>
                <a:spcPts val="600"/>
              </a:spcAft>
              <a:buSzPts val="1400"/>
              <a:buNone/>
            </a:pPr>
            <a:r>
              <a:rPr lang="en-US" dirty="0"/>
              <a:t>The old belief is centered at (2, 2), inside a dashed blue ellipse tilted about 45 degrees that spans roughly minus 0.5 to 4.5 on both axes. A dotted pink outline almost on top of it shows that same ellipse after transformation by F P F transpose. A black arrow labeled "Motion (F P F transpose)" carries the mean to about (8, 5). There, a much larger filled pink ellipse, spanning roughly 5 to 12 in X and 1.5 to 8.5 in Y, is the predicted prior. Two equations are printed beside it.</a:t>
            </a:r>
          </a:p>
          <a:p>
            <a:pPr marL="0" lvl="0" indent="0" algn="l" rtl="0">
              <a:lnSpc>
                <a:spcPct val="100000"/>
              </a:lnSpc>
              <a:spcBef>
                <a:spcPts val="0"/>
              </a:spcBef>
              <a:spcAft>
                <a:spcPts val="600"/>
              </a:spcAft>
              <a:buSzPts val="1400"/>
              <a:buNone/>
            </a:pPr>
            <a:r>
              <a:rPr lang="en-US" dirty="0"/>
              <a:t>The first is x_pred = F*x_(k-1) + B*u: "x pred equals F times x k minus 1, plus B times u." Physics, through F, and your control input, through B*u, move the mean.</a:t>
            </a:r>
          </a:p>
          <a:p>
            <a:pPr marL="0" lvl="0" indent="0" algn="l" rtl="0">
              <a:lnSpc>
                <a:spcPct val="100000"/>
              </a:lnSpc>
              <a:spcBef>
                <a:spcPts val="0"/>
              </a:spcBef>
              <a:spcAft>
                <a:spcPts val="600"/>
              </a:spcAft>
              <a:buSzPts val="1400"/>
              <a:buNone/>
            </a:pPr>
            <a:r>
              <a:rPr lang="en-US" dirty="0"/>
              <a:t>The second is P_pred = F*P_(k-1)*F^T + Q: "P pred equals F times P k minus 1 times F transpose, plus Q." This is the N-dimensional version of the 1D rule from the previous slide, where the variance grew by adding process noise. The covariance is first reshaped by the motion, which can rotate and stretch the ellipse. Then the process noise Q inflates it.</a:t>
            </a:r>
          </a:p>
          <a:p>
            <a:pPr marL="0" lvl="0" indent="0" algn="l" rtl="0">
              <a:lnSpc>
                <a:spcPct val="100000"/>
              </a:lnSpc>
              <a:spcBef>
                <a:spcPts val="0"/>
              </a:spcBef>
              <a:spcAft>
                <a:spcPts val="600"/>
              </a:spcAft>
              <a:buSzPts val="1400"/>
              <a:buNone/>
            </a:pPr>
            <a:r>
              <a:rPr lang="en-US" dirty="0"/>
              <a:t>The key takeaway is that prediction shifts the estimate and always grows the uncertainty. On your robot, u could be the wheel-encoder odometry. Without a measurement, the ellipse only gets bigger.</a:t>
            </a:r>
          </a:p>
          <a:p>
            <a:pPr marL="0" lvl="0" indent="0" algn="l" rtl="0">
              <a:lnSpc>
                <a:spcPct val="100000"/>
              </a:lnSpc>
              <a:spcBef>
                <a:spcPts val="0"/>
              </a:spcBef>
              <a:spcAft>
                <a:spcPts val="600"/>
              </a:spcAft>
              <a:buSzPts val="1400"/>
              <a:buNone/>
            </a:pPr>
            <a:r>
              <a:rPr lang="en-US" dirty="0"/>
              <a:t>A common mistake is writing F*P instead of F*P*F^T, or forgetting to add Q.</a:t>
            </a:r>
          </a:p>
          <a:p>
            <a:pPr marL="0" lvl="0" indent="0" algn="l" rtl="0">
              <a:lnSpc>
                <a:spcPct val="100000"/>
              </a:lnSpc>
              <a:spcBef>
                <a:spcPts val="0"/>
              </a:spcBef>
              <a:spcAft>
                <a:spcPts val="600"/>
              </a:spcAft>
              <a:buSzPts val="1400"/>
              <a:buNone/>
            </a:pPr>
            <a:r>
              <a:rPr lang="en-US" dirty="0"/>
              <a:t>Next, we look closely at what the entries of P mean, especially the off-diagonal correlations.</a:t>
            </a:r>
          </a:p>
        </p:txBody>
      </p:sp>
      <p:sp>
        <p:nvSpPr>
          <p:cNvPr id="116" name="Google Shape;116;p29:notes">
            <a:extLst>
              <a:ext uri="{FF2B5EF4-FFF2-40B4-BE49-F238E27FC236}">
                <a16:creationId xmlns:a16="http://schemas.microsoft.com/office/drawing/2014/main" id="{0655AAC7-D32B-5C28-B719-1930126CDE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7004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16D3B32-3163-A67F-CAEE-B44956EEACC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5A196CC-2EDE-26F7-86C3-3A8B7D15A19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"Sensor Fusion – Predict Step." It states that the covariance matrix P represents multi-dimensional uncertainty as an ellipse, not a 1D bell curve. The diagonal elements are the individual variances, for example how unsure we are about X on its own. The off-diagonal elements add something new: correlations. The slide then asks a question: if the robot only drives forward and we are uncertain about its heading theta, will that create uncertainty in Y as it travels? The answer, centered at the bottom, is yes. Errors in theta are highly correlated with errors in X and Y.</a:t>
            </a:r>
          </a:p>
          <a:p>
            <a:pPr marL="0" lvl="0" indent="0" algn="l" rtl="0">
              <a:lnSpc>
                <a:spcPct val="100000"/>
              </a:lnSpc>
              <a:spcBef>
                <a:spcPts val="0"/>
              </a:spcBef>
              <a:spcAft>
                <a:spcPts val="600"/>
              </a:spcAft>
              <a:buSzPts val="1400"/>
              <a:buNone/>
            </a:pPr>
            <a:r>
              <a:rPr lang="en-US" dirty="0"/>
              <a:t>In 1D, uncertainty was a single number, the variance. With a state vector such as [X, Y, theta], P is a 3 by 3 matrix. Entry P_(i,i) is the variance of state i. Entry P_(i,j) is the covariance between states i and j. P is symmetric, so P_(i,j) = P_(j,i). A nonzero off-diagonal term means an error in one state tends to come with an error in another. That is what tilts the ellipse you saw on the previous slide.</a:t>
            </a:r>
          </a:p>
          <a:p>
            <a:pPr marL="0" lvl="0" indent="0" algn="l" rtl="0">
              <a:lnSpc>
                <a:spcPct val="100000"/>
              </a:lnSpc>
              <a:spcBef>
                <a:spcPts val="0"/>
              </a:spcBef>
              <a:spcAft>
                <a:spcPts val="600"/>
              </a:spcAft>
              <a:buSzPts val="1400"/>
              <a:buNone/>
            </a:pPr>
            <a:r>
              <a:rPr lang="en-US" dirty="0"/>
              <a:t>Here is why the heading example works. Suppose the robot believes it points along X but is actually off by a small angle delta_theta. After driving a distance d, its sideways error is about d*delta_theta. So uncertainty in theta becomes uncertainty in Y, and that Y uncertainty keeps growing the farther you drive. The F P F^T term in the predict step builds this coupling into P automatically.</a:t>
            </a:r>
          </a:p>
          <a:p>
            <a:pPr marL="0" lvl="0" indent="0" algn="l" rtl="0">
              <a:lnSpc>
                <a:spcPct val="100000"/>
              </a:lnSpc>
              <a:spcBef>
                <a:spcPts val="0"/>
              </a:spcBef>
              <a:spcAft>
                <a:spcPts val="600"/>
              </a:spcAft>
              <a:buSzPts val="1400"/>
              <a:buNone/>
            </a:pPr>
            <a:r>
              <a:rPr lang="en-US" dirty="0"/>
              <a:t>A common mistake is to treat P as diagonal only. Doing so throws away exactly the information that lets a later heading measurement also correct position.</a:t>
            </a:r>
          </a:p>
          <a:p>
            <a:pPr marL="0" lvl="0" indent="0" algn="l" rtl="0">
              <a:lnSpc>
                <a:spcPct val="100000"/>
              </a:lnSpc>
              <a:spcBef>
                <a:spcPts val="0"/>
              </a:spcBef>
              <a:spcAft>
                <a:spcPts val="600"/>
              </a:spcAft>
              <a:buSzPts val="1400"/>
              <a:buNone/>
            </a:pPr>
            <a:r>
              <a:rPr lang="en-US" dirty="0"/>
              <a:t>Next, we look at a concrete 2D covariance matrix and see how its numbers shape the ellipse.</a:t>
            </a:r>
          </a:p>
        </p:txBody>
      </p:sp>
      <p:sp>
        <p:nvSpPr>
          <p:cNvPr id="116" name="Google Shape;116;p29:notes">
            <a:extLst>
              <a:ext uri="{FF2B5EF4-FFF2-40B4-BE49-F238E27FC236}">
                <a16:creationId xmlns:a16="http://schemas.microsoft.com/office/drawing/2014/main" id="{359BEF17-DC32-6169-9DB7-638AB10C62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8554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ED5BB0A-97B6-D527-F23E-E82F3E2DE54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C229AF1-A1C8-D695-BF54-CD34240E36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plot of a two-dimensional covariance for the robot's position. The horizontal axis is Robot X Position and the vertical axis is Robot Y Position, both from 0 to 10. A box in the upper left gives the covariance matrix: Sigma = [sigma_x^2, sigma_xy; sigma_yx, sigma_y^2] = [4.0, 2.5; 2.5, 3.0]. In words, the variance in x is 4, the variance in y is 3, and the two off-diagonal covariance terms are both 2.5.</a:t>
            </a:r>
          </a:p>
          <a:p>
            <a:pPr marL="0" lvl="0" indent="0" algn="l" rtl="0">
              <a:lnSpc>
                <a:spcPct val="100000"/>
              </a:lnSpc>
              <a:spcBef>
                <a:spcPts val="0"/>
              </a:spcBef>
              <a:spcAft>
                <a:spcPts val="600"/>
              </a:spcAft>
              <a:buSzPts val="1400"/>
              <a:buNone/>
            </a:pPr>
            <a:r>
              <a:rPr lang="en-US" dirty="0"/>
              <a:t>The mean, a black dot, sits at (5, 5). Around it is a dark blue 1-sigma ellipse, labeled in the legend as the 1-sigma contour, with lighter and larger ellipses extending further out. All of them tilt up and to the right. Dashed crosshairs through the mean carry horizontal and vertical arrows labeled sigma_x and sigma_y. An orange-red arrow along the long diagonal is labeled square root of lambda_1 times v_1, the major axis. A shorter green arrow perpendicular to it is labeled square root of lambda_2 times v_2, the minor axis.</a:t>
            </a:r>
          </a:p>
          <a:p>
            <a:pPr marL="0" lvl="0" indent="0" algn="l" rtl="0">
              <a:lnSpc>
                <a:spcPct val="100000"/>
              </a:lnSpc>
              <a:spcBef>
                <a:spcPts val="0"/>
              </a:spcBef>
              <a:spcAft>
                <a:spcPts val="600"/>
              </a:spcAft>
              <a:buSzPts val="1400"/>
              <a:buNone/>
            </a:pPr>
            <a:r>
              <a:rPr lang="en-US" dirty="0"/>
              <a:t>This picture shows what the off-diagonal terms from the last slide actually do. Because sigma_xy is positive, an error that pushes x high tends to push y high too, so the ellipse tilts. The eigenvectors v_1 and v_2 of Sigma give the directions of the ellipse's axes. The square roots of the eigenvalues give the axis lengths. For this matrix, lambda_1 is about 6.05 and lambda_2 is about 0.95, so the axis half-lengths are about 2.46 and 0.97, with the major axis about 39 degrees above the x axis.</a:t>
            </a:r>
          </a:p>
          <a:p>
            <a:pPr marL="0" lvl="0" indent="0" algn="l" rtl="0">
              <a:lnSpc>
                <a:spcPct val="100000"/>
              </a:lnSpc>
              <a:spcBef>
                <a:spcPts val="0"/>
              </a:spcBef>
              <a:spcAft>
                <a:spcPts val="600"/>
              </a:spcAft>
              <a:buSzPts val="1400"/>
              <a:buNone/>
            </a:pPr>
            <a:r>
              <a:rPr lang="en-US" dirty="0"/>
              <a:t>A common mistake is reading sigma_x and sigma_y as the ellipse's axes. They are only its projections onto x and y. The axes come from the eigen-decomposition.</a:t>
            </a:r>
          </a:p>
          <a:p>
            <a:pPr marL="0" lvl="0" indent="0" algn="l" rtl="0">
              <a:lnSpc>
                <a:spcPct val="100000"/>
              </a:lnSpc>
              <a:spcBef>
                <a:spcPts val="0"/>
              </a:spcBef>
              <a:spcAft>
                <a:spcPts val="600"/>
              </a:spcAft>
              <a:buSzPts val="1400"/>
              <a:buNone/>
            </a:pPr>
            <a:r>
              <a:rPr lang="en-US" dirty="0"/>
              <a:t>Next, we step back and define variance itself, so we can see how it grows during prediction.</a:t>
            </a:r>
          </a:p>
        </p:txBody>
      </p:sp>
      <p:sp>
        <p:nvSpPr>
          <p:cNvPr id="116" name="Google Shape;116;p29:notes">
            <a:extLst>
              <a:ext uri="{FF2B5EF4-FFF2-40B4-BE49-F238E27FC236}">
                <a16:creationId xmlns:a16="http://schemas.microsoft.com/office/drawing/2014/main" id="{673C7060-110B-C812-40C4-66307624FB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46537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1C5415-BEF5-B9F8-4D93-1160F401A20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C7B08A5-FE6E-FFB7-BD30-703CCCB535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"Sensor Fusion – Predict Step," steps back to answer one question: what is variance, really? The slide says that before we calculate how uncertainty grows, we must define what it is. It uses a dart analogy and ends with one centered equation: Var(X) = E[(X - mu)^2], read as "the variance of X equals the expected value of the quantity X minus mu, squared."</a:t>
            </a:r>
          </a:p>
          <a:p>
            <a:pPr marL="0" lvl="0" indent="0" algn="l" rtl="0">
              <a:lnSpc>
                <a:spcPct val="100000"/>
              </a:lnSpc>
              <a:spcBef>
                <a:spcPts val="0"/>
              </a:spcBef>
              <a:spcAft>
                <a:spcPts val="600"/>
              </a:spcAft>
              <a:buSzPts val="1400"/>
              <a:buNone/>
            </a:pPr>
            <a:r>
              <a:rPr lang="en-US" dirty="0"/>
              <a:t>Picture throwing 100 darts at a board. The expected value, written E[X] or the mean mu, is the center point of all your darts. Variance measures how spread out the darts are from that center. You take each dart's distance from the mean, square it, and average those squared distances. Squaring does two jobs: misses on either side count as positive spread, and large misses count much more than small ones.</a:t>
            </a:r>
          </a:p>
          <a:p>
            <a:pPr marL="0" lvl="0" indent="0" algn="l" rtl="0">
              <a:lnSpc>
                <a:spcPct val="100000"/>
              </a:lnSpc>
              <a:spcBef>
                <a:spcPts val="0"/>
              </a:spcBef>
              <a:spcAft>
                <a:spcPts val="600"/>
              </a:spcAft>
              <a:buSzPts val="1400"/>
              <a:buNone/>
            </a:pPr>
            <a:r>
              <a:rPr lang="en-US" dirty="0"/>
              <a:t>Watch the units. If X is a position in meters, the variance is in meters squared. The standard deviation, sigma = sqrt(Var(X)), brings you back to meters. That is why the covariance matrix on the previous slides listed sigma_x^2 = 4.0, which means a 1-sigma spread of 2 meters in x. A common mistake is to plug a standard deviation into a Kalman filter where a variance belongs, or the reverse.</a:t>
            </a:r>
          </a:p>
          <a:p>
            <a:pPr marL="0" lvl="0" indent="0" algn="l" rtl="0">
              <a:lnSpc>
                <a:spcPct val="100000"/>
              </a:lnSpc>
              <a:spcBef>
                <a:spcPts val="0"/>
              </a:spcBef>
              <a:spcAft>
                <a:spcPts val="600"/>
              </a:spcAft>
              <a:buSzPts val="1400"/>
              <a:buNone/>
            </a:pPr>
            <a:r>
              <a:rPr lang="en-US" dirty="0"/>
              <a:t>The previous two slides showed uncertainty as a 2D covariance ellipse. Here we go back to one dimension so we can derive rules from this definition. Quick check: if every dart lands exactly on the mean, what is the variance? (Zero.) Next, we use this definition to see what happens to variance when you scale a state by a constant.</a:t>
            </a:r>
          </a:p>
        </p:txBody>
      </p:sp>
      <p:sp>
        <p:nvSpPr>
          <p:cNvPr id="116" name="Google Shape;116;p29:notes">
            <a:extLst>
              <a:ext uri="{FF2B5EF4-FFF2-40B4-BE49-F238E27FC236}">
                <a16:creationId xmlns:a16="http://schemas.microsoft.com/office/drawing/2014/main" id="{507D2B0C-073C-7C6B-21CC-0614AFC1D6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54827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6604CF1-7BCA-07EB-06B1-2EFF81F0D6F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FB4F202-7BF0-6C93-EED9-AE38C441F1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one question: if you multiply your state by a constant a, for example applying a gear ratio to a wheel, what happens to its uncertainty? The answer comes from a four-line derivation using the variance definition from the previous slide.</a:t>
            </a:r>
          </a:p>
          <a:p>
            <a:pPr marL="0" lvl="0" indent="0" algn="l" rtl="0">
              <a:lnSpc>
                <a:spcPct val="100000"/>
              </a:lnSpc>
              <a:spcBef>
                <a:spcPts val="0"/>
              </a:spcBef>
              <a:spcAft>
                <a:spcPts val="600"/>
              </a:spcAft>
              <a:buSzPts val="1400"/>
              <a:buNone/>
            </a:pPr>
            <a:r>
              <a:rPr lang="en-US" dirty="0"/>
              <a:t>Start from the definition: Var(aX) = E[(aX − E[aX])^2], read "the variance of a times X equals the expected value of the squared distance between aX and its own mean." The step the slide skips is that expectation is linear, so E[aX] = a*E[X] = a*mu. Substituting gives Var(aX) = E[(aX − a*mu)^2]. Factor a out of the inside: (aX − a*mu) = a(X − mu), and squaring gives a^2 (X − mu)^2. So Var(aX) = E[a^2 (X − mu)^2].</a:t>
            </a:r>
          </a:p>
          <a:p>
            <a:pPr marL="0" lvl="0" indent="0" algn="l" rtl="0">
              <a:lnSpc>
                <a:spcPct val="100000"/>
              </a:lnSpc>
              <a:spcBef>
                <a:spcPts val="0"/>
              </a:spcBef>
              <a:spcAft>
                <a:spcPts val="600"/>
              </a:spcAft>
              <a:buSzPts val="1400"/>
              <a:buNone/>
            </a:pPr>
            <a:r>
              <a:rPr lang="en-US" dirty="0"/>
              <a:t>Because a^2 is a constant, it moves outside the expectation: Var(aX) = a^2 E[(X − mu)^2]. The remaining expectation is the definition of Var(X), so Var(aX) = a^2 Var(X). Scaling the state scales the variance by the square of the scale factor.</a:t>
            </a:r>
          </a:p>
          <a:p>
            <a:pPr marL="0" lvl="0" indent="0" algn="l" rtl="0">
              <a:lnSpc>
                <a:spcPct val="100000"/>
              </a:lnSpc>
              <a:spcBef>
                <a:spcPts val="0"/>
              </a:spcBef>
              <a:spcAft>
                <a:spcPts val="600"/>
              </a:spcAft>
              <a:buSzPts val="1400"/>
              <a:buNone/>
            </a:pPr>
            <a:r>
              <a:rPr lang="en-US" dirty="0"/>
              <a:t>The slide closes with a check: if a motor spins twice as fast, does the position uncertainty double? No, the variance quadruples, because a = 2 and a^2 = 4. A common mistake is to mix up variance and standard deviation here. The standard deviation, sigma, is the square root of the variance, so it only doubles. Keep track of which one a formula uses.</a:t>
            </a:r>
          </a:p>
          <a:p>
            <a:pPr marL="0" lvl="0" indent="0" algn="l" rtl="0">
              <a:lnSpc>
                <a:spcPct val="100000"/>
              </a:lnSpc>
              <a:spcBef>
                <a:spcPts val="0"/>
              </a:spcBef>
              <a:spcAft>
                <a:spcPts val="600"/>
              </a:spcAft>
              <a:buSzPts val="1400"/>
              <a:buNone/>
            </a:pPr>
            <a:r>
              <a:rPr lang="en-US" dirty="0"/>
              <a:t>Next, we add the random bumps and wheel slip a real robot experiences. That gives the full 1D predict equation.</a:t>
            </a:r>
          </a:p>
        </p:txBody>
      </p:sp>
      <p:sp>
        <p:nvSpPr>
          <p:cNvPr id="116" name="Google Shape;116;p29:notes">
            <a:extLst>
              <a:ext uri="{FF2B5EF4-FFF2-40B4-BE49-F238E27FC236}">
                <a16:creationId xmlns:a16="http://schemas.microsoft.com/office/drawing/2014/main" id="{BF2D6457-B759-4F54-C036-D5E7150240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71722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8A33884-3129-64CB-15A5-33820B72645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BA3C399-6B30-1361-939E-B4A1007AE5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adds noise to the scaling result from the previous slide. The text reads: real robots experience random bumps and slip, and we represent this by adding a random noise variable W to our state X. Assuming the noise W is completely independent of the state X (the words "completely independent" are in bold), the slide gives two centered equations. The first is Var(aX + W) = Var(aX) + Var(W), read "the variance of a times X plus W equals the variance of a times X plus the variance of W." Substituting the previous proof gives the second: Var(aX + W) = a^2*Var(X) + Var(W), read "a squared times the variance of X, plus the variance of W." The slide closes by calling this simple 1D equation the exact heart of the Kalman Filter's predict step.</a:t>
            </a:r>
          </a:p>
          <a:p>
            <a:pPr marL="0" lvl="0" indent="0" algn="l" rtl="0">
              <a:lnSpc>
                <a:spcPct val="100000"/>
              </a:lnSpc>
              <a:spcBef>
                <a:spcPts val="0"/>
              </a:spcBef>
              <a:spcAft>
                <a:spcPts val="600"/>
              </a:spcAft>
              <a:buSzPts val="1400"/>
              <a:buNone/>
            </a:pPr>
            <a:r>
              <a:rPr lang="en-US" dirty="0"/>
              <a:t>The step the slide skips is the general formula, Var(aX + W) = a^2*Var(X) + Var(W) + 2a*Cov(X, W). Independence makes the covariance term zero, so the cross term disappears. That is why the bolded assumption matters. If wheel slip depended on your current position estimate, this simple sum would no longer hold.</a:t>
            </a:r>
          </a:p>
          <a:p>
            <a:pPr marL="0" lvl="0" indent="0" algn="l" rtl="0">
              <a:lnSpc>
                <a:spcPct val="100000"/>
              </a:lnSpc>
              <a:spcBef>
                <a:spcPts val="0"/>
              </a:spcBef>
              <a:spcAft>
                <a:spcPts val="600"/>
              </a:spcAft>
              <a:buSzPts val="1400"/>
              <a:buNone/>
            </a:pPr>
            <a:r>
              <a:rPr lang="en-US" dirty="0"/>
              <a:t>Notice that the two terms play different roles. The motion model a stretches or shrinks the uncertainty you already have. The noise W always adds new uncertainty. Because variances are never negative, the predict step can never make you more certain. Only a measurement in the update step can shrink the variance.</a:t>
            </a:r>
          </a:p>
          <a:p>
            <a:pPr marL="0" lvl="0" indent="0" algn="l" rtl="0">
              <a:lnSpc>
                <a:spcPct val="100000"/>
              </a:lnSpc>
              <a:spcBef>
                <a:spcPts val="0"/>
              </a:spcBef>
              <a:spcAft>
                <a:spcPts val="600"/>
              </a:spcAft>
              <a:buSzPts val="1400"/>
              <a:buNone/>
            </a:pPr>
            <a:r>
              <a:rPr lang="en-US" dirty="0"/>
              <a:t>Quick check: suppose a = 1, Var(X) = 4 cm^2, and Var(W) = 1 cm^2. What is the variance after three predict steps with no measurements? The variance grows by 1 each step, so it goes 5, 6, 7, giving 7 cm^2. This is pure dead reckoning drift, which you see on the robot when you drive on encoders alone.</a:t>
            </a:r>
          </a:p>
          <a:p>
            <a:pPr marL="0" lvl="0" indent="0" algn="l" rtl="0">
              <a:lnSpc>
                <a:spcPct val="100000"/>
              </a:lnSpc>
              <a:spcBef>
                <a:spcPts val="0"/>
              </a:spcBef>
              <a:spcAft>
                <a:spcPts val="600"/>
              </a:spcAft>
              <a:buSzPts val="1400"/>
              <a:buNone/>
            </a:pPr>
            <a:r>
              <a:rPr lang="en-US" dirty="0"/>
              <a:t>Next, you generalize a, Var(X), and Var(W) to matrices.</a:t>
            </a:r>
          </a:p>
        </p:txBody>
      </p:sp>
      <p:sp>
        <p:nvSpPr>
          <p:cNvPr id="116" name="Google Shape;116;p29:notes">
            <a:extLst>
              <a:ext uri="{FF2B5EF4-FFF2-40B4-BE49-F238E27FC236}">
                <a16:creationId xmlns:a16="http://schemas.microsoft.com/office/drawing/2014/main" id="{FB1EBB47-FD94-0693-69A5-5CAFA40359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19039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C8E5DD7-D096-AB84-11A2-E7456114A2A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C4CF292-AA26-CE0A-C02E-1D99770B622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"Sensor Fusion – Predict Step," is text only. It restates our 1D variance equation, Var(X_new) = a^2*Var(X) + Var(W), read as "the variance of the new state equals a squared times the variance of the old state, plus the variance of the noise." It then maps each piece to its multidimensional version. The scalar a becomes the State Transition Matrix F. Var(X) becomes the Covariance Matrix P. Var(W) becomes the Process Noise Matrix Q. The slide closes with a challenge: how do we square a matrix to get the equivalent of a^2? We can't just write F^2.</a:t>
            </a:r>
          </a:p>
          <a:p>
            <a:pPr marL="0" lvl="0" indent="0" algn="l" rtl="0">
              <a:lnSpc>
                <a:spcPct val="100000"/>
              </a:lnSpc>
              <a:spcBef>
                <a:spcPts val="0"/>
              </a:spcBef>
              <a:spcAft>
                <a:spcPts val="600"/>
              </a:spcAft>
              <a:buSzPts val="1400"/>
              <a:buNone/>
            </a:pPr>
            <a:r>
              <a:rPr lang="en-US" dirty="0"/>
              <a:t>Here we generalize the 1D result from the last two slides to a real robot, whose state holds several quantities at once, such as x, y, heading, and velocity. F describes how each state variable evolves from one time step to the next. P is the covariance matrix. Its diagonal holds the variance of each state variable, and its off-diagonal terms hold how those errors are correlated, for example how heading error leaks into position error. Q captures the random slip and bumps that the model misses.</a:t>
            </a:r>
          </a:p>
          <a:p>
            <a:pPr marL="0" lvl="0" indent="0" algn="l" rtl="0">
              <a:lnSpc>
                <a:spcPct val="100000"/>
              </a:lnSpc>
              <a:spcBef>
                <a:spcPts val="0"/>
              </a:spcBef>
              <a:spcAft>
                <a:spcPts val="600"/>
              </a:spcAft>
              <a:buSzPts val="1400"/>
              <a:buNone/>
            </a:pPr>
            <a:r>
              <a:rPr lang="en-US" dirty="0"/>
              <a:t>Why not F^2? F*F means "apply the motion model twice," which describes two time steps, not one step's effect on uncertainty. It also puts P in the wrong place: F^2*P does not keep P symmetric. A valid covariance matrix must stay symmetric, because cov(x, y) = cov(y, x). Matrix multiplication is not commutative, so you have to decide which side F goes on.</a:t>
            </a:r>
          </a:p>
          <a:p>
            <a:pPr marL="0" lvl="0" indent="0" algn="l" rtl="0">
              <a:lnSpc>
                <a:spcPct val="100000"/>
              </a:lnSpc>
              <a:spcBef>
                <a:spcPts val="0"/>
              </a:spcBef>
              <a:spcAft>
                <a:spcPts val="600"/>
              </a:spcAft>
              <a:buSzPts val="1400"/>
              <a:buNone/>
            </a:pPr>
            <a:r>
              <a:rPr lang="en-US" dirty="0"/>
              <a:t>Quick check: if P is 4 by 4, what shape must the "squared F" result be? The next slide derives the correct answer from the definition of variance using the transpose.</a:t>
            </a:r>
          </a:p>
        </p:txBody>
      </p:sp>
      <p:sp>
        <p:nvSpPr>
          <p:cNvPr id="116" name="Google Shape;116;p29:notes">
            <a:extLst>
              <a:ext uri="{FF2B5EF4-FFF2-40B4-BE49-F238E27FC236}">
                <a16:creationId xmlns:a16="http://schemas.microsoft.com/office/drawing/2014/main" id="{CF599E6E-22E2-D3D0-9892-1A54917ECB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70192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0CB0AD-CFEE-2331-F58E-1E9F6CD8037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458A8BA-9CCA-BC07-567C-1659D9761F2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left open on the previous slide: in 1D the predicted variance is a^2 times sigma^2 plus the noise variance, but how do you "square" a matrix F? The answer comes from deriving the covariance of FX directly, in four short steps.</a:t>
            </a:r>
          </a:p>
          <a:p>
            <a:pPr marL="0" lvl="0" indent="0" algn="l" rtl="0">
              <a:lnSpc>
                <a:spcPct val="100000"/>
              </a:lnSpc>
              <a:spcBef>
                <a:spcPts val="0"/>
              </a:spcBef>
              <a:spcAft>
                <a:spcPts val="600"/>
              </a:spcAft>
              <a:buSzPts val="1400"/>
              <a:buNone/>
            </a:pPr>
            <a:r>
              <a:rPr lang="en-US" dirty="0"/>
              <a:t>The first line reads: Cov(FX) = E[(FX − E[FX])(FX − E[FX])^T] = E[F(X − mu)(F(X − mu))^T]. In words, the covariance of FX is the expected value of its deviation from its mean, times the transpose of that deviation. The slide skips one step here. Because expectation is linear, E[FX] = F*E[X] = F*mu, so FX − F*mu factors into F(X − mu).</a:t>
            </a:r>
          </a:p>
          <a:p>
            <a:pPr marL="0" lvl="0" indent="0" algn="l" rtl="0">
              <a:lnSpc>
                <a:spcPct val="100000"/>
              </a:lnSpc>
              <a:spcBef>
                <a:spcPts val="0"/>
              </a:spcBef>
              <a:spcAft>
                <a:spcPts val="600"/>
              </a:spcAft>
              <a:buSzPts val="1400"/>
              <a:buNone/>
            </a:pPr>
            <a:r>
              <a:rPr lang="en-US" dirty="0"/>
              <a:t>Next, the slide applies the transpose rule (AB)^T = B^T A^T, read as "the transpose of a product is the product of the transposes in reverse order." This turns (F(X − mu))^T into (X − mu)^T F^T, giving E[F(X − mu)(X − mu)^T F^T].</a:t>
            </a:r>
          </a:p>
          <a:p>
            <a:pPr marL="0" lvl="0" indent="0" algn="l" rtl="0">
              <a:lnSpc>
                <a:spcPct val="100000"/>
              </a:lnSpc>
              <a:spcBef>
                <a:spcPts val="0"/>
              </a:spcBef>
              <a:spcAft>
                <a:spcPts val="600"/>
              </a:spcAft>
              <a:buSzPts val="1400"/>
              <a:buNone/>
            </a:pPr>
            <a:r>
              <a:rPr lang="en-US" dirty="0"/>
              <a:t>Then, because F is a constant matrix and not random, you can pull it out of the expectation on the left and F^T out on the right: F*E[(X − mu)(X − mu)^T]*F^T. The middle term is exactly the definition of the state covariance P, so the result is F P F^T.</a:t>
            </a:r>
          </a:p>
          <a:p>
            <a:pPr marL="0" lvl="0" indent="0" algn="l" rtl="0">
              <a:lnSpc>
                <a:spcPct val="100000"/>
              </a:lnSpc>
              <a:spcBef>
                <a:spcPts val="0"/>
              </a:spcBef>
              <a:spcAft>
                <a:spcPts val="600"/>
              </a:spcAft>
              <a:buSzPts val="1400"/>
              <a:buNone/>
            </a:pPr>
            <a:r>
              <a:rPr lang="en-US" dirty="0"/>
              <a:t>Finally, the process noise is independent of the state, as on slide 43, so its covariance simply adds: P_new = F P F^T + Q.</a:t>
            </a:r>
          </a:p>
          <a:p>
            <a:pPr marL="0" lvl="0" indent="0" algn="l" rtl="0">
              <a:lnSpc>
                <a:spcPct val="100000"/>
              </a:lnSpc>
              <a:spcBef>
                <a:spcPts val="0"/>
              </a:spcBef>
              <a:spcAft>
                <a:spcPts val="600"/>
              </a:spcAft>
              <a:buSzPts val="1400"/>
              <a:buNone/>
            </a:pPr>
            <a:r>
              <a:rPr lang="en-US" dirty="0"/>
              <a:t>F P F^T is the matrix version of a^2 sigma^2, with F placed on both sides. A common mistake is writing F^2 P or F P F. Check the dimensions: for an n-state robot, F, P and Q are all n by n, and the order matters.</a:t>
            </a:r>
          </a:p>
          <a:p>
            <a:pPr marL="0" lvl="0" indent="0" algn="l" rtl="0">
              <a:lnSpc>
                <a:spcPct val="100000"/>
              </a:lnSpc>
              <a:spcBef>
                <a:spcPts val="0"/>
              </a:spcBef>
              <a:spcAft>
                <a:spcPts val="600"/>
              </a:spcAft>
              <a:buSzPts val="1400"/>
              <a:buNone/>
            </a:pPr>
            <a:r>
              <a:rPr lang="en-US" dirty="0"/>
              <a:t>Next, you combine this with the state prediction to get the full multidimensional predict step.</a:t>
            </a:r>
          </a:p>
        </p:txBody>
      </p:sp>
      <p:sp>
        <p:nvSpPr>
          <p:cNvPr id="116" name="Google Shape;116;p29:notes">
            <a:extLst>
              <a:ext uri="{FF2B5EF4-FFF2-40B4-BE49-F238E27FC236}">
                <a16:creationId xmlns:a16="http://schemas.microsoft.com/office/drawing/2014/main" id="{61191DC0-714D-D225-77DA-A2A46CA52C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15949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8AB4023-C4CC-6195-71CC-41142A720F9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4646953-3436-F7D2-F1B8-ACDD318B75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collects the two equations of the multi-dimensional prediction step on one screen. The first line reads: x sub k given k minus 1 equals F times x sub k minus 1 given k minus 1, plus B times u sub k, written x_(k|k-1) = F*x_(k-1|k-1) + B*u_k. The second line reads: P equals F times P times F transpose, plus Q, written P = F*P*F^T + Q.</a:t>
            </a:r>
          </a:p>
          <a:p>
            <a:pPr marL="0" lvl="0" indent="0" algn="l" rtl="0">
              <a:lnSpc>
                <a:spcPct val="100000"/>
              </a:lnSpc>
              <a:spcBef>
                <a:spcPts val="0"/>
              </a:spcBef>
              <a:spcAft>
                <a:spcPts val="600"/>
              </a:spcAft>
              <a:buSzPts val="1400"/>
              <a:buNone/>
            </a:pPr>
            <a:r>
              <a:rPr lang="en-US" dirty="0"/>
              <a:t>The subscript notation "k given k minus 1" means your estimate of the state at time step k using only information available up to step k minus 1. In other words, it is a prediction made before the new sensor reading arrives. F is the state transition matrix, which describes how the state, such as position and velocity, evolves over one time step. B is the control input matrix, which maps your command u_k, for example a commanded velocity or wheel speed, into a change of state.</a:t>
            </a:r>
          </a:p>
          <a:p>
            <a:pPr marL="0" lvl="0" indent="0" algn="l" rtl="0">
              <a:lnSpc>
                <a:spcPct val="100000"/>
              </a:lnSpc>
              <a:spcBef>
                <a:spcPts val="0"/>
              </a:spcBef>
              <a:spcAft>
                <a:spcPts val="600"/>
              </a:spcAft>
              <a:buSzPts val="1400"/>
              <a:buNone/>
            </a:pPr>
            <a:r>
              <a:rPr lang="en-US" dirty="0"/>
              <a:t>The second equation propagates the uncertainty. This is the result you just derived on the previous slide. In 1D, you scaled the variance by the square of the transition factor. In matrix form, the equivalent of that square is F*P*F^T. Q is the process noise covariance. It adds the uncertainty that comes from an imperfect model, such as wheel slip or unmodeled forces.</a:t>
            </a:r>
          </a:p>
          <a:p>
            <a:pPr marL="0" lvl="0" indent="0" algn="l" rtl="0">
              <a:lnSpc>
                <a:spcPct val="100000"/>
              </a:lnSpc>
              <a:spcBef>
                <a:spcPts val="0"/>
              </a:spcBef>
              <a:spcAft>
                <a:spcPts val="600"/>
              </a:spcAft>
              <a:buSzPts val="1400"/>
              <a:buNone/>
            </a:pPr>
            <a:r>
              <a:rPr lang="en-US" dirty="0"/>
              <a:t>A common mistake is to write F*P or F^2*P instead of F*P*F^T. Another is to forget Q, which makes the filter overconfident.</a:t>
            </a:r>
          </a:p>
          <a:p>
            <a:pPr marL="0" lvl="0" indent="0" algn="l" rtl="0">
              <a:lnSpc>
                <a:spcPct val="100000"/>
              </a:lnSpc>
              <a:spcBef>
                <a:spcPts val="0"/>
              </a:spcBef>
              <a:spcAft>
                <a:spcPts val="600"/>
              </a:spcAft>
              <a:buSzPts val="1400"/>
              <a:buNone/>
            </a:pPr>
            <a:r>
              <a:rPr lang="en-US" dirty="0"/>
              <a:t>Notice that Q is only ever added, so prediction alone always increases P. Ask yourself: what would happen to P if you only predicted and never measured? The next slides answer that with the update step, where a sensor such as LiDAR shrinks the uncertainty again.</a:t>
            </a:r>
          </a:p>
        </p:txBody>
      </p:sp>
      <p:sp>
        <p:nvSpPr>
          <p:cNvPr id="116" name="Google Shape;116;p29:notes">
            <a:extLst>
              <a:ext uri="{FF2B5EF4-FFF2-40B4-BE49-F238E27FC236}">
                <a16:creationId xmlns:a16="http://schemas.microsoft.com/office/drawing/2014/main" id="{AAE79B27-A7AC-1731-7769-A496AB2EFE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71316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C3170E2-B953-EB7D-72F6-378F759CF9F7}"/>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4E753396-0160-B36D-4D37-4CD5168B291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slide reads "Update" in large white text on the course's dark blue background, with faint hand-drawn equations and diagrams as decoration and the Illinois logo in the corner.</a:t>
            </a:r>
          </a:p>
          <a:p>
            <a:pPr marL="0" lvl="0" indent="0" algn="l" rtl="0">
              <a:spcBef>
                <a:spcPts val="0"/>
              </a:spcBef>
              <a:spcAft>
                <a:spcPts val="600"/>
              </a:spcAft>
              <a:buNone/>
            </a:pPr>
            <a:r>
              <a:rPr lang="en-US" dirty="0"/>
              <a:t>You have just finished the multi-dimensional predict step, where the covariance grows as P = F*P*F^T + Q. Now you take the second half of the Kalman filter loop: using a new sensor measurement, such as a LiDAR reading, to correct the prediction and shrink the uncertainty again.</a:t>
            </a:r>
          </a:p>
        </p:txBody>
      </p:sp>
      <p:sp>
        <p:nvSpPr>
          <p:cNvPr id="87" name="Google Shape;87;p27:notes">
            <a:extLst>
              <a:ext uri="{FF2B5EF4-FFF2-40B4-BE49-F238E27FC236}">
                <a16:creationId xmlns:a16="http://schemas.microsoft.com/office/drawing/2014/main" id="{BD8C08C8-B9C5-99C6-9E28-1AADAEBB93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95447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0F29B1F-2F74-73F9-A425-C66C9BF04AE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4FED399-F5B4-E89B-323F-BE2B292B56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opens the update half of the multi-dimensional Kalman filter. Although its title reads "Predict Step," it follows the "Update" section slide. The slide is all text plus one equation. It says you have successfully predicted the new position, but your uncertainty, P, has grown. Now a sensor, for example the LiDAR, gives a new measurement, z. You have two imperfect guesses for the position, the prediction and the sensor reading, and the question is how to fuse them. The answer is a weighted average. If you and an expert both guess the weight of a robot, you do not just average the two numbers; you give more weight to the expert. The equation at the bottom reads: Estimate equals W model times Prediction plus W sensor times Measurement, or Estimate = W_model * Prediction + W_sensor * Measurement.</a:t>
            </a:r>
          </a:p>
          <a:p>
            <a:pPr marL="0" lvl="0" indent="0" algn="l" rtl="0">
              <a:lnSpc>
                <a:spcPct val="100000"/>
              </a:lnSpc>
              <a:spcBef>
                <a:spcPts val="0"/>
              </a:spcBef>
              <a:spcAft>
                <a:spcPts val="600"/>
              </a:spcAft>
              <a:buSzPts val="1400"/>
              <a:buNone/>
            </a:pPr>
            <a:r>
              <a:rPr lang="en-US" dirty="0"/>
              <a:t>The key idea is that the "expert" is whichever source has less uncertainty. After the predict step, P is larger because process noise Q was added. If the LiDAR is noisy, with a large measurement noise R, you trust the model more. If the LiDAR is precise, you lean toward z.</a:t>
            </a:r>
          </a:p>
          <a:p>
            <a:pPr marL="0" lvl="0" indent="0" algn="l" rtl="0">
              <a:lnSpc>
                <a:spcPct val="100000"/>
              </a:lnSpc>
              <a:spcBef>
                <a:spcPts val="0"/>
              </a:spcBef>
              <a:spcAft>
                <a:spcPts val="600"/>
              </a:spcAft>
              <a:buSzPts val="1400"/>
              <a:buNone/>
            </a:pPr>
            <a:r>
              <a:rPr lang="en-US" dirty="0"/>
              <a:t>The weights add to one, W_model + W_sensor = 1, so the estimate always lands between the two guesses. A common mistake is to fix these weights by hand. The Kalman filter instead computes them every cycle from P and R, and that computed weight is the Kalman gain.</a:t>
            </a:r>
          </a:p>
          <a:p>
            <a:pPr marL="0" lvl="0" indent="0" algn="l" rtl="0">
              <a:lnSpc>
                <a:spcPct val="100000"/>
              </a:lnSpc>
              <a:spcBef>
                <a:spcPts val="0"/>
              </a:spcBef>
              <a:spcAft>
                <a:spcPts val="600"/>
              </a:spcAft>
              <a:buSzPts val="1400"/>
              <a:buNone/>
            </a:pPr>
            <a:r>
              <a:rPr lang="en-US" dirty="0"/>
              <a:t>Quick check: if the prediction and the sensor were equally uncertain, what would each weight be?</a:t>
            </a:r>
          </a:p>
          <a:p>
            <a:pPr marL="0" lvl="0" indent="0" algn="l" rtl="0">
              <a:lnSpc>
                <a:spcPct val="100000"/>
              </a:lnSpc>
              <a:spcBef>
                <a:spcPts val="0"/>
              </a:spcBef>
              <a:spcAft>
                <a:spcPts val="600"/>
              </a:spcAft>
              <a:buSzPts val="1400"/>
              <a:buNone/>
            </a:pPr>
            <a:r>
              <a:rPr lang="en-US" dirty="0"/>
              <a:t>Next, you revisit the 1D version of this equation and ask what happens when the sensor is perfect.</a:t>
            </a:r>
          </a:p>
        </p:txBody>
      </p:sp>
      <p:sp>
        <p:nvSpPr>
          <p:cNvPr id="116" name="Google Shape;116;p29:notes">
            <a:extLst>
              <a:ext uri="{FF2B5EF4-FFF2-40B4-BE49-F238E27FC236}">
                <a16:creationId xmlns:a16="http://schemas.microsoft.com/office/drawing/2014/main" id="{5A2AA4CC-52F2-77ED-92C4-04A5745D73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69380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F1B4AA8-1C78-0342-A494-843E91E6AEA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DE682C5-1BC1-F983-CCD5-C69399B83F3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brings back the 1D Kalman update equation from earlier in the lecture, as the starting point for building the multidimensional version. Although the title reads "Predict Step," the content is the update step, which follows the "Update" section divider.</a:t>
            </a:r>
          </a:p>
          <a:p>
            <a:pPr marL="0" lvl="0" indent="0" algn="l" rtl="0">
              <a:lnSpc>
                <a:spcPct val="100000"/>
              </a:lnSpc>
              <a:spcBef>
                <a:spcPts val="0"/>
              </a:spcBef>
              <a:spcAft>
                <a:spcPts val="600"/>
              </a:spcAft>
              <a:buSzPts val="1400"/>
              <a:buNone/>
            </a:pPr>
            <a:r>
              <a:rPr lang="en-US" dirty="0"/>
              <a:t>The first equation reads: mu new equals mu pred plus K times the quantity z minus mu pred, or mu_new = mu_pred + K*(z - mu_pred). Here mu_pred is your predicted position, z is the sensor measurement, and (z - mu_pred) is called the innovation or residual: how much the sensor disagrees with your prediction. You start from the prediction and move toward the measurement by a fraction K of that disagreement.</a:t>
            </a:r>
          </a:p>
          <a:p>
            <a:pPr marL="0" lvl="0" indent="0" algn="l" rtl="0">
              <a:lnSpc>
                <a:spcPct val="100000"/>
              </a:lnSpc>
              <a:spcBef>
                <a:spcPts val="0"/>
              </a:spcBef>
              <a:spcAft>
                <a:spcPts val="600"/>
              </a:spcAft>
              <a:buSzPts val="1400"/>
              <a:buNone/>
            </a:pPr>
            <a:r>
              <a:rPr lang="en-US" dirty="0"/>
              <a:t>The second equation defines the Kalman gain: K equals sigma pred squared divided by the sum of sigma pred squared and sigma sensor squared, or K = sigma_pred^2 / (sigma_pred^2 + sigma_sensor^2). This is the weighted average from the previous slide. K always lies between 0 and 1, and it grows when your prediction is uncertain relative to the sensor.</a:t>
            </a:r>
          </a:p>
          <a:p>
            <a:pPr marL="0" lvl="0" indent="0" algn="l" rtl="0">
              <a:lnSpc>
                <a:spcPct val="100000"/>
              </a:lnSpc>
              <a:spcBef>
                <a:spcPts val="0"/>
              </a:spcBef>
              <a:spcAft>
                <a:spcPts val="600"/>
              </a:spcAft>
              <a:buSzPts val="1400"/>
              <a:buNone/>
            </a:pPr>
            <a:r>
              <a:rPr lang="en-US" dirty="0"/>
              <a:t>The slide then asks: if the sensor is perfect, so sigma_sensor^2 = 0, what is K and what happens to mu_new? The answer is K = 1, so mu_new = mu_pred + (z - mu_pred) = z. The new estimate is exactly the sensor reading. In the opposite extreme, a useless sensor with very large variance drives K toward 0, and you keep your prediction.</a:t>
            </a:r>
          </a:p>
          <a:p>
            <a:pPr marL="0" lvl="0" indent="0" algn="l" rtl="0">
              <a:lnSpc>
                <a:spcPct val="100000"/>
              </a:lnSpc>
              <a:spcBef>
                <a:spcPts val="0"/>
              </a:spcBef>
              <a:spcAft>
                <a:spcPts val="600"/>
              </a:spcAft>
              <a:buSzPts val="1400"/>
              <a:buNone/>
            </a:pPr>
            <a:r>
              <a:rPr lang="en-US" dirty="0"/>
              <a:t>For a numerical check, take sigma_pred^2 = 4 and sigma_sensor^2 = 1. Then K = 4/5 = 0.8, and you move 80 percent of the way toward the measurement.</a:t>
            </a:r>
          </a:p>
          <a:p>
            <a:pPr marL="0" lvl="0" indent="0" algn="l" rtl="0">
              <a:lnSpc>
                <a:spcPct val="100000"/>
              </a:lnSpc>
              <a:spcBef>
                <a:spcPts val="0"/>
              </a:spcBef>
              <a:spcAft>
                <a:spcPts val="600"/>
              </a:spcAft>
              <a:buSzPts val="1400"/>
              <a:buNone/>
            </a:pPr>
            <a:r>
              <a:rPr lang="en-US" dirty="0"/>
              <a:t>A common mistake is putting the sensor variance in the numerator. Remember that a larger prediction uncertainty means you trust the sensor more.</a:t>
            </a:r>
          </a:p>
          <a:p>
            <a:pPr marL="0" lvl="0" indent="0" algn="l" rtl="0">
              <a:lnSpc>
                <a:spcPct val="100000"/>
              </a:lnSpc>
              <a:spcBef>
                <a:spcPts val="0"/>
              </a:spcBef>
              <a:spcAft>
                <a:spcPts val="600"/>
              </a:spcAft>
              <a:buSzPts val="1400"/>
              <a:buNone/>
            </a:pPr>
            <a:r>
              <a:rPr lang="en-US" dirty="0"/>
              <a:t>Next, you see why this subtraction breaks down in more than one dimension.</a:t>
            </a:r>
          </a:p>
        </p:txBody>
      </p:sp>
      <p:sp>
        <p:nvSpPr>
          <p:cNvPr id="116" name="Google Shape;116;p29:notes">
            <a:extLst>
              <a:ext uri="{FF2B5EF4-FFF2-40B4-BE49-F238E27FC236}">
                <a16:creationId xmlns:a16="http://schemas.microsoft.com/office/drawing/2014/main" id="{0FE1CD69-6AD3-4119-BB09-C5692A3F11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74104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F04F528-8ED2-F77E-3D3F-3BF0CCA59E3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EEBB136-68D1-8593-A394-A7F3650A470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update step. The text reminds you that in 1D both the state and the measurement were simply position along a track. In 2D or 3D the state is the vector x = [X, Y, theta]^T, read "x equals the column vector X, Y, theta transpose": two position coordinates and a heading angle. A LiDAR, however, might report only one number, the straight-line distance to a wall. The slide asks "What is the problem?" and answers that we cannot subtract a state vector from a distance measurement because they speak different languages. The fix is the Observation Matrix, H, which translates the internal state into the sensor's format. The final line reads: Expected Measurement = H*x_pred, "H times the predicted state."</a:t>
            </a:r>
          </a:p>
          <a:p>
            <a:pPr marL="0" lvl="0" indent="0" algn="l" rtl="0">
              <a:lnSpc>
                <a:spcPct val="100000"/>
              </a:lnSpc>
              <a:spcBef>
                <a:spcPts val="0"/>
              </a:spcBef>
              <a:spcAft>
                <a:spcPts val="600"/>
              </a:spcAft>
              <a:buSzPts val="1400"/>
              <a:buNone/>
            </a:pPr>
            <a:r>
              <a:rPr lang="en-US" dirty="0"/>
              <a:t>Here is why that matters. In 1D the update compared the measurement z directly with the prediction. Now the comparison becomes z - H*x_pred, the innovation: what the sensor saw minus what you expected it to see. Sizes are the common stumbling block. With n state variables and m measurements, H is m by n. Suppose the wall is the plane X = 0 and the sensor reports the perpendicular distance to it. That distance is just X, so H = [1 0 0], a 1 by 3 matrix, and H*x_pred picks out X_pred as a single number you can subtract from z.</a:t>
            </a:r>
          </a:p>
          <a:p>
            <a:pPr marL="0" lvl="0" indent="0" algn="l" rtl="0">
              <a:lnSpc>
                <a:spcPct val="100000"/>
              </a:lnSpc>
              <a:spcBef>
                <a:spcPts val="0"/>
              </a:spcBef>
              <a:spcAft>
                <a:spcPts val="600"/>
              </a:spcAft>
              <a:buSzPts val="1400"/>
              <a:buNone/>
            </a:pPr>
            <a:r>
              <a:rPr lang="en-US" dirty="0"/>
              <a:t>A real LiDAR beam's range also depends on theta, so the true sensor model is nonlinear. Keep that in mind, because it motivates the Extended Kalman Filter later in this lecture. Quick check: what would H be for a sensor that measures only heading?</a:t>
            </a:r>
          </a:p>
          <a:p>
            <a:pPr marL="0" lvl="0" indent="0" algn="l" rtl="0">
              <a:lnSpc>
                <a:spcPct val="100000"/>
              </a:lnSpc>
              <a:spcBef>
                <a:spcPts val="0"/>
              </a:spcBef>
              <a:spcAft>
                <a:spcPts val="600"/>
              </a:spcAft>
              <a:buSzPts val="1400"/>
              <a:buNone/>
            </a:pPr>
            <a:r>
              <a:rPr lang="en-US" dirty="0"/>
              <a:t>Next, H also maps the covariance P into sensor space, which turns the 1D Kalman gain into its matrix form.</a:t>
            </a:r>
          </a:p>
        </p:txBody>
      </p:sp>
      <p:sp>
        <p:nvSpPr>
          <p:cNvPr id="116" name="Google Shape;116;p29:notes">
            <a:extLst>
              <a:ext uri="{FF2B5EF4-FFF2-40B4-BE49-F238E27FC236}">
                <a16:creationId xmlns:a16="http://schemas.microsoft.com/office/drawing/2014/main" id="{6AAD6DEC-E5B4-25A5-BD45-3444BCFA06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85073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3DB4F8E-30C8-ED8E-4FAF-33A67B11C44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54BCC6B-9302-6859-4FE1-7FD0BFA30C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turning the one-dimensional Kalman gain into its matrix form. At the center is the familiar 1D gain: K = sigma_pred^2 / (sigma_pred^2 + sigma_sensor^2), read as "K equals the prediction variance divided by the sum of the prediction variance and the sensor variance." Below it, the slide gives two substitutions. The prediction variance sigma_pred^2 becomes the state covariance matrix P, and the sensor variance sigma_sensor^2 becomes the measurement noise matrix R. The last line says we must first map P into sensor space using H: just as we use F P F^T for motion, we use H P H^T for sensors.</a:t>
            </a:r>
          </a:p>
          <a:p>
            <a:pPr marL="0" lvl="0" indent="0" algn="l" rtl="0">
              <a:lnSpc>
                <a:spcPct val="100000"/>
              </a:lnSpc>
              <a:spcBef>
                <a:spcPts val="0"/>
              </a:spcBef>
              <a:spcAft>
                <a:spcPts val="600"/>
              </a:spcAft>
              <a:buSzPts val="1400"/>
              <a:buNone/>
            </a:pPr>
            <a:r>
              <a:rPr lang="en-US" dirty="0"/>
              <a:t>Why can't you just write P / (P + R)? On the last slide, the observation matrix H translated the state into the sensor's language. The same mismatch applies to the uncertainties. P is n by n, covering every state variable. R is m by m, covering only what the sensor reports. You cannot add matrices of different sizes, and even when the sizes happen to match, the entries describe different quantities.</a:t>
            </a:r>
          </a:p>
          <a:p>
            <a:pPr marL="0" lvl="0" indent="0" algn="l" rtl="0">
              <a:lnSpc>
                <a:spcPct val="100000"/>
              </a:lnSpc>
              <a:spcBef>
                <a:spcPts val="0"/>
              </a:spcBef>
              <a:spcAft>
                <a:spcPts val="600"/>
              </a:spcAft>
              <a:buSzPts val="1400"/>
              <a:buNone/>
            </a:pPr>
            <a:r>
              <a:rPr lang="en-US" dirty="0"/>
              <a:t>The fix uses the same rule you saw in the predict step. If a vector x has covariance P, then the linearly transformed vector A*x has covariance A P A^T. In the predict step, A was the motion model F. Here A is H, so H P H^T is the prediction's uncertainty as the sensor would see it. Since H is m by n, H P H^T is m by m, the same size as R, so the two can now be added.</a:t>
            </a:r>
          </a:p>
          <a:p>
            <a:pPr marL="0" lvl="0" indent="0" algn="l" rtl="0">
              <a:lnSpc>
                <a:spcPct val="100000"/>
              </a:lnSpc>
              <a:spcBef>
                <a:spcPts val="0"/>
              </a:spcBef>
              <a:spcAft>
                <a:spcPts val="600"/>
              </a:spcAft>
              <a:buSzPts val="1400"/>
              <a:buNone/>
            </a:pPr>
            <a:r>
              <a:rPr lang="en-US" dirty="0"/>
              <a:t>Quick check: if your state is [x, y, theta] and the sensor reports only x, what size are H and H P H^T?</a:t>
            </a:r>
          </a:p>
          <a:p>
            <a:pPr marL="0" lvl="0" indent="0" algn="l" rtl="0">
              <a:lnSpc>
                <a:spcPct val="100000"/>
              </a:lnSpc>
              <a:spcBef>
                <a:spcPts val="0"/>
              </a:spcBef>
              <a:spcAft>
                <a:spcPts val="600"/>
              </a:spcAft>
              <a:buSzPts val="1400"/>
              <a:buNone/>
            </a:pPr>
            <a:r>
              <a:rPr lang="en-US" dirty="0"/>
              <a:t>The answer is that H is 1 by 3 and H P H^T is 1 by 1, so it can be added to the 1 by 1 R.</a:t>
            </a:r>
          </a:p>
          <a:p>
            <a:pPr marL="0" lvl="0" indent="0" algn="l" rtl="0">
              <a:lnSpc>
                <a:spcPct val="100000"/>
              </a:lnSpc>
              <a:spcBef>
                <a:spcPts val="0"/>
              </a:spcBef>
              <a:spcAft>
                <a:spcPts val="600"/>
              </a:spcAft>
              <a:buSzPts val="1400"/>
              <a:buNone/>
            </a:pPr>
            <a:r>
              <a:rPr lang="en-US" dirty="0"/>
              <a:t>Next, we assemble the full matrix gain.</a:t>
            </a:r>
          </a:p>
        </p:txBody>
      </p:sp>
      <p:sp>
        <p:nvSpPr>
          <p:cNvPr id="116" name="Google Shape;116;p29:notes">
            <a:extLst>
              <a:ext uri="{FF2B5EF4-FFF2-40B4-BE49-F238E27FC236}">
                <a16:creationId xmlns:a16="http://schemas.microsoft.com/office/drawing/2014/main" id="{D92FC1A8-ECF4-951A-58C0-214C49A404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3686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6C74766-17F6-38EF-7DD0-CC7A1AACF9C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B96A08E-EC5C-4409-279F-394B23BD7DF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turning the 1D Kalman gain into its matrix form. At the top it repeats the 1D gain: K = sigma_pred^2 / (sigma_pred^2 + sigma_sensor^2), read as "K equals the prediction variance divided by the sum of the prediction variance and the sensor variance." The text explains that the numerator is the prediction covariance mapped to the sensor, and the denominator is the total system noise. Because you cannot divide matrices, the slide multiplies by an inverse instead: K = P*H^T*(H*P*H^T + R)^(-1), read as "K equals P times H transpose times the inverse of the quantity H P H transpose plus R."</a:t>
            </a:r>
          </a:p>
          <a:p>
            <a:pPr marL="0" lvl="0" indent="0" algn="l" rtl="0">
              <a:lnSpc>
                <a:spcPct val="100000"/>
              </a:lnSpc>
              <a:spcBef>
                <a:spcPts val="0"/>
              </a:spcBef>
              <a:spcAft>
                <a:spcPts val="600"/>
              </a:spcAft>
              <a:buSzPts val="1400"/>
              <a:buNone/>
            </a:pPr>
            <a:r>
              <a:rPr lang="en-US" dirty="0"/>
              <a:t>Each piece maps to the 1D version. P is the prediction covariance and R is the sensor noise covariance. H*P*H^T expresses your prediction uncertainty in sensor units, which is the "Just like for motion" idea from the last slide. Adding R gives the innovation covariance, often called S, which is the total uncertainty of the difference between what you measure and what you expected. The extra H^T in front of P carries the correction back from sensor space into state space.</a:t>
            </a:r>
          </a:p>
          <a:p>
            <a:pPr marL="0" lvl="0" indent="0" algn="l" rtl="0">
              <a:lnSpc>
                <a:spcPct val="100000"/>
              </a:lnSpc>
              <a:spcBef>
                <a:spcPts val="0"/>
              </a:spcBef>
              <a:spcAft>
                <a:spcPts val="600"/>
              </a:spcAft>
              <a:buSzPts val="1400"/>
              <a:buNone/>
            </a:pPr>
            <a:r>
              <a:rPr lang="en-US" dirty="0"/>
              <a:t>Check the dimensions. With n states and m measurements, P is n by n, H is m by n, and R and S are m by m. That makes K n by m, so it turns an m-length measurement error into an n-length state correction. A common mistake is putting the inverse on the left or dividing element by element. Order matters with matrices. In code, prefer solving a linear system over forming an explicit inverse.</a:t>
            </a:r>
          </a:p>
          <a:p>
            <a:pPr marL="0" lvl="0" indent="0" algn="l" rtl="0">
              <a:lnSpc>
                <a:spcPct val="100000"/>
              </a:lnSpc>
              <a:spcBef>
                <a:spcPts val="0"/>
              </a:spcBef>
              <a:spcAft>
                <a:spcPts val="600"/>
              </a:spcAft>
              <a:buSzPts val="1400"/>
              <a:buNone/>
            </a:pPr>
            <a:r>
              <a:rPr lang="en-US" dirty="0"/>
              <a:t>Even though the slide is titled "Predict Step," this gain is what the update step uses. The next slide shows it geometrically, with the prediction ellipse, the sensor ellipse, and the residual between them.</a:t>
            </a:r>
          </a:p>
        </p:txBody>
      </p:sp>
      <p:sp>
        <p:nvSpPr>
          <p:cNvPr id="116" name="Google Shape;116;p29:notes">
            <a:extLst>
              <a:ext uri="{FF2B5EF4-FFF2-40B4-BE49-F238E27FC236}">
                <a16:creationId xmlns:a16="http://schemas.microsoft.com/office/drawing/2014/main" id="{A33E512C-23DD-7881-1819-E973456B8D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738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80109C3-78B0-F19E-8154-433FDDBC35A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7552379-1967-A7C2-215E-655DF58A37E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two quantities the multi-dimensional update compares before it computes the Kalman gain. The plot is titled "MD Update (Transforming the Measurement)," with Position X on the horizontal axis from about minus 2 to 16 and Position Y on the vertical axis from about minus 2 to 10.</a:t>
            </a:r>
          </a:p>
          <a:p>
            <a:pPr marL="0" lvl="0" indent="0" algn="l" rtl="0">
              <a:lnSpc>
                <a:spcPct val="100000"/>
              </a:lnSpc>
              <a:spcBef>
                <a:spcPts val="0"/>
              </a:spcBef>
              <a:spcAft>
                <a:spcPts val="600"/>
              </a:spcAft>
              <a:buSzPts val="1400"/>
              <a:buNone/>
            </a:pPr>
            <a:r>
              <a:rPr lang="en-US" dirty="0"/>
              <a:t>A large, faint pink ellipse, tilted up and to the right and centered near (8.2, 5), is the prediction: the predicted state x_pred and its covariance P_pred. A smaller filled orange ellipse centered near (12, 8) is the effective sensor belief, plotted at H inverse times z_k with covariance P_meas. The two ellipses only partly overlap. A dotted gray line between their centers is labeled the residual, z_k minus H times x_pred. In the lower left, the innovation covariance is written as S = H*P_pred*H^T + R, read "S equals H times P pred times H transpose, plus R."</a:t>
            </a:r>
          </a:p>
          <a:p>
            <a:pPr marL="0" lvl="0" indent="0" algn="l" rtl="0">
              <a:lnSpc>
                <a:spcPct val="100000"/>
              </a:lnSpc>
              <a:spcBef>
                <a:spcPts val="0"/>
              </a:spcBef>
              <a:spcAft>
                <a:spcPts val="600"/>
              </a:spcAft>
              <a:buSzPts val="1400"/>
              <a:buNone/>
            </a:pPr>
            <a:r>
              <a:rPr lang="en-US" dirty="0"/>
              <a:t>The residual, also called the innovation, is how far the sensor reading is from what you expected the sensor to read. You compare in sensor space, which is why x_pred is multiplied by H first. S is the matrix version of the 1D denominator, sigma_pred^2 + sigma_meas^2. It holds the total uncertainty of that residual: prediction uncertainty mapped through H, plus sensor noise R.</a:t>
            </a:r>
          </a:p>
          <a:p>
            <a:pPr marL="0" lvl="0" indent="0" algn="l" rtl="0">
              <a:lnSpc>
                <a:spcPct val="100000"/>
              </a:lnSpc>
              <a:spcBef>
                <a:spcPts val="0"/>
              </a:spcBef>
              <a:spcAft>
                <a:spcPts val="600"/>
              </a:spcAft>
              <a:buSzPts val="1400"/>
              <a:buNone/>
            </a:pPr>
            <a:r>
              <a:rPr lang="en-US" dirty="0"/>
              <a:t>A common mistake is to treat H inverse literally. It exists only when H is square and invertible. Here it is used only to draw the measurement in state space, and the real filter never inverts H.</a:t>
            </a:r>
          </a:p>
          <a:p>
            <a:pPr marL="0" lvl="0" indent="0" algn="l" rtl="0">
              <a:lnSpc>
                <a:spcPct val="100000"/>
              </a:lnSpc>
              <a:spcBef>
                <a:spcPts val="0"/>
              </a:spcBef>
              <a:spcAft>
                <a:spcPts val="600"/>
              </a:spcAft>
              <a:buSzPts val="1400"/>
              <a:buNone/>
            </a:pPr>
            <a:r>
              <a:rPr lang="en-US" dirty="0"/>
              <a:t>On the previous slide you built K = P_pred*H^T*S^-1. Next, you use K to move the estimate along this residual.</a:t>
            </a:r>
          </a:p>
        </p:txBody>
      </p:sp>
      <p:sp>
        <p:nvSpPr>
          <p:cNvPr id="116" name="Google Shape;116;p29:notes">
            <a:extLst>
              <a:ext uri="{FF2B5EF4-FFF2-40B4-BE49-F238E27FC236}">
                <a16:creationId xmlns:a16="http://schemas.microsoft.com/office/drawing/2014/main" id="{41D14190-9883-09F1-6C6D-3C343021D1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48337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9629F47-BAE4-D58F-AC79-663069DE02A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F47E0AC-9400-F526-5D92-7D6FF7E6FFD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update half of the multi-dimensional Kalman filter (the title still says "Predict Step," but the content is the measurement update). Now that you have the matrix Kalman gain K from the previous slide, you use it to correct the state and shrink the uncertainty.</a:t>
            </a:r>
          </a:p>
          <a:p>
            <a:pPr marL="0" lvl="0" indent="0" algn="l" rtl="0">
              <a:lnSpc>
                <a:spcPct val="100000"/>
              </a:lnSpc>
              <a:spcBef>
                <a:spcPts val="0"/>
              </a:spcBef>
              <a:spcAft>
                <a:spcPts val="600"/>
              </a:spcAft>
              <a:buSzPts val="1400"/>
              <a:buNone/>
            </a:pPr>
            <a:r>
              <a:rPr lang="en-US" dirty="0"/>
              <a:t>The slide first recalls the 1D equation: mu_new = mu_pred + K*(z - mu_pred), read as "the new mean equals the predicted mean plus K times the measurement minus the predicted mean." In matrix form it becomes x_(k|k) = x_(k|k-1) + K*(z_k - H*x_(k|k-1)). The subscript k|k-1 means "the estimate at step k using measurements only up to step k-1," which is the prediction. The subscript k|k means "the estimate at step k after including measurement k."</a:t>
            </a:r>
          </a:p>
          <a:p>
            <a:pPr marL="0" lvl="0" indent="0" algn="l" rtl="0">
              <a:lnSpc>
                <a:spcPct val="100000"/>
              </a:lnSpc>
              <a:spcBef>
                <a:spcPts val="0"/>
              </a:spcBef>
              <a:spcAft>
                <a:spcPts val="600"/>
              </a:spcAft>
              <a:buSzPts val="1400"/>
              <a:buNone/>
            </a:pPr>
            <a:r>
              <a:rPr lang="en-US" dirty="0"/>
              <a:t>The only real change from 1D is H. In 1D you compared z directly to mu_pred because the sensor measured the state itself. In N dimensions the sensor may measure only part of the state, or measure it in different units, so H*x_(k|k-1) converts the prediction into "what the sensor should read." The difference z_k - H*x_(k|k-1) is the innovation, or residual, and K decides how much of it to apply to each state variable. A common mistake is to subtract x directly from z. Those vectors may not even have the same length.</a:t>
            </a:r>
          </a:p>
          <a:p>
            <a:pPr marL="0" lvl="0" indent="0" algn="l" rtl="0">
              <a:lnSpc>
                <a:spcPct val="100000"/>
              </a:lnSpc>
              <a:spcBef>
                <a:spcPts val="0"/>
              </a:spcBef>
              <a:spcAft>
                <a:spcPts val="600"/>
              </a:spcAft>
              <a:buSzPts val="1400"/>
              <a:buNone/>
            </a:pPr>
            <a:r>
              <a:rPr lang="en-US" dirty="0"/>
              <a:t>Next, the slide updates the covariance, the uncertainty ellipse: P_(k|k) = (I - K*H)*P_(k|k-1), read as "the updated covariance equals identity minus K times H, all times the predicted covariance." I is the identity matrix, the matrix version of the number 1. This step removes the information the sensor contributed from your uncertainty.</a:t>
            </a:r>
          </a:p>
          <a:p>
            <a:pPr marL="0" lvl="0" indent="0" algn="l" rtl="0">
              <a:lnSpc>
                <a:spcPct val="100000"/>
              </a:lnSpc>
              <a:spcBef>
                <a:spcPts val="0"/>
              </a:spcBef>
              <a:spcAft>
                <a:spcPts val="600"/>
              </a:spcAft>
              <a:buSzPts val="1400"/>
              <a:buNone/>
            </a:pPr>
            <a:r>
              <a:rPr lang="en-US" dirty="0"/>
              <a:t>With both equations, one full predict–update cycle is complete. The next slide shows this result graphically, and the one after explains what (I - K*H) means physically.</a:t>
            </a:r>
          </a:p>
        </p:txBody>
      </p:sp>
      <p:sp>
        <p:nvSpPr>
          <p:cNvPr id="116" name="Google Shape;116;p29:notes">
            <a:extLst>
              <a:ext uri="{FF2B5EF4-FFF2-40B4-BE49-F238E27FC236}">
                <a16:creationId xmlns:a16="http://schemas.microsoft.com/office/drawing/2014/main" id="{9C7401DB-85C8-AAF0-B2C6-9DBC5B57D5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71832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57E9B7E-E297-1C56-278A-531AEA02BE7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63698AB-DFD5-1019-9CB6-DAF2586EFE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plot puts the update step together in one picture. It is titled "Fusing Data (Shrinking the State Ellipse)" and shows position X on the horizontal axis and position Y on the vertical axis. The two inputs from the previous slide are now drawn faded with dashed outlines. One is the large, tilted prediction ellipse centered near (8, 5). The other is the smaller effective measurement ellipse near (12, 8). A green arrow, labeled K(z_k − H*x_pred), or "K times the innovation," starts at the prediction center and ends at a solid green dot near (11.4, 7.6). Around that dot is a filled green circle, which the legend calls the fused result, x_k with covariance P_k.</a:t>
            </a:r>
          </a:p>
          <a:p>
            <a:pPr marL="0" lvl="0" indent="0" algn="l" rtl="0">
              <a:lnSpc>
                <a:spcPct val="100000"/>
              </a:lnSpc>
              <a:spcBef>
                <a:spcPts val="0"/>
              </a:spcBef>
              <a:spcAft>
                <a:spcPts val="600"/>
              </a:spcAft>
              <a:buSzPts val="1400"/>
              <a:buNone/>
            </a:pPr>
            <a:r>
              <a:rPr lang="en-US" dirty="0"/>
              <a:t>A box in the upper left gives the Kalman gain, K[0,0] = 0.72, along with its formula K = P_pred*H^T*S^(-1): K equals P predicted times H transpose times the inverse of S. Lower left is the covariance update, P_k = (I − K*H)*P_pred: P sub k equals I minus K H, times P predicted.</a:t>
            </a:r>
          </a:p>
          <a:p>
            <a:pPr marL="0" lvl="0" indent="0" algn="l" rtl="0">
              <a:lnSpc>
                <a:spcPct val="100000"/>
              </a:lnSpc>
              <a:spcBef>
                <a:spcPts val="0"/>
              </a:spcBef>
              <a:spcAft>
                <a:spcPts val="600"/>
              </a:spcAft>
              <a:buSzPts val="1400"/>
              <a:buNone/>
            </a:pPr>
            <a:r>
              <a:rPr lang="en-US" dirty="0"/>
              <a:t>Read the arrow as a correction. A gain of 0.72 means you move about 72 percent of the way from the prediction toward the measurement in x. The sensor is more certain than the prediction, so you trust it more, but you do not abandon the prediction entirely. The new ellipse is much smaller than the prediction ellipse. Combining two independent pieces of information always tightens your belief.</a:t>
            </a:r>
          </a:p>
          <a:p>
            <a:pPr marL="0" lvl="0" indent="0" algn="l" rtl="0">
              <a:lnSpc>
                <a:spcPct val="100000"/>
              </a:lnSpc>
              <a:spcBef>
                <a:spcPts val="0"/>
              </a:spcBef>
              <a:spcAft>
                <a:spcPts val="600"/>
              </a:spcAft>
              <a:buSzPts val="1400"/>
              <a:buNone/>
            </a:pPr>
            <a:r>
              <a:rPr lang="en-US" dirty="0"/>
              <a:t>A common mistake is to think the fused estimate should sit exactly on the measurement. That happens only when K = 1, which means R = 0, a perfect sensor.</a:t>
            </a:r>
          </a:p>
          <a:p>
            <a:pPr marL="0" lvl="0" indent="0" algn="l" rtl="0">
              <a:lnSpc>
                <a:spcPct val="100000"/>
              </a:lnSpc>
              <a:spcBef>
                <a:spcPts val="0"/>
              </a:spcBef>
              <a:spcAft>
                <a:spcPts val="600"/>
              </a:spcAft>
              <a:buSzPts val="1400"/>
              <a:buNone/>
            </a:pPr>
            <a:r>
              <a:rPr lang="en-US" dirty="0"/>
              <a:t>Next, you look at what the I − K*H term means physically.</a:t>
            </a:r>
          </a:p>
        </p:txBody>
      </p:sp>
      <p:sp>
        <p:nvSpPr>
          <p:cNvPr id="116" name="Google Shape;116;p29:notes">
            <a:extLst>
              <a:ext uri="{FF2B5EF4-FFF2-40B4-BE49-F238E27FC236}">
                <a16:creationId xmlns:a16="http://schemas.microsoft.com/office/drawing/2014/main" id="{50F584BD-9BC8-E00D-0513-07A508C941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40208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BC2B823-08B9-5A42-8880-8B9AB218824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A8A1ACC-54D1-2BA2-B22A-8EF869B512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one question: what does the factor (I minus K H) in the covariance update mean physically? Recall the update from the previous slide: P_k = (I - K*H)*P_(k|k-1). In words, the new covariance is I minus K times H, all multiplied by the predicted covariance. The slide keeps the "Predict Step" title, but its content is the covariance update.</a:t>
            </a:r>
          </a:p>
          <a:p>
            <a:pPr marL="0" lvl="0" indent="0" algn="l" rtl="0">
              <a:lnSpc>
                <a:spcPct val="100000"/>
              </a:lnSpc>
              <a:spcBef>
                <a:spcPts val="0"/>
              </a:spcBef>
              <a:spcAft>
                <a:spcPts val="600"/>
              </a:spcAft>
              <a:buSzPts val="1400"/>
              <a:buNone/>
            </a:pPr>
            <a:r>
              <a:rPr lang="en-US" dirty="0"/>
              <a:t>The slide makes the following points. Think of the identity matrix I as the number 1, standing for 100 percent of your previous uncertainty, P_(k|k-1). H maps your state into what the sensor measures. K is how much you trust the sensor. So K times H is, in bold, the percentage of uncertainty the sensor measurement removes. Whatever fraction is left, I minus K H, is the uncertainty you keep.</a:t>
            </a:r>
          </a:p>
          <a:p>
            <a:pPr marL="0" lvl="0" indent="0" algn="l" rtl="0">
              <a:lnSpc>
                <a:spcPct val="100000"/>
              </a:lnSpc>
              <a:spcBef>
                <a:spcPts val="0"/>
              </a:spcBef>
              <a:spcAft>
                <a:spcPts val="600"/>
              </a:spcAft>
              <a:buSzPts val="1400"/>
              <a:buNone/>
            </a:pPr>
            <a:r>
              <a:rPr lang="en-US" dirty="0"/>
              <a:t>The slide then asks what happens if the sensor is completely useless, pure noise, so K equals 0. The equation becomes P_new = (I - 0)*P_old = P_old, read as "P new equals I minus zero times P old, which equals P old." Your uncertainty does not shrink at all. That is exactly right: a measurement with no information should not make you more confident.</a:t>
            </a:r>
          </a:p>
          <a:p>
            <a:pPr marL="0" lvl="0" indent="0" algn="l" rtl="0">
              <a:lnSpc>
                <a:spcPct val="100000"/>
              </a:lnSpc>
              <a:spcBef>
                <a:spcPts val="0"/>
              </a:spcBef>
              <a:spcAft>
                <a:spcPts val="600"/>
              </a:spcAft>
              <a:buSzPts val="1400"/>
              <a:buNone/>
            </a:pPr>
            <a:r>
              <a:rPr lang="en-US" dirty="0"/>
              <a:t>The opposite extreme is worth comparing. In the scalar case with H = 1 and a nearly perfect sensor, K approaches 1, so K H approaches 1. The variance then collapses toward zero, and you trust the measurement almost completely. In the plot on the last slide, K[0,0] = 0.72, so the update removed about 72 percent of the uncertainty along that axis.</a:t>
            </a:r>
          </a:p>
          <a:p>
            <a:pPr marL="0" lvl="0" indent="0" algn="l" rtl="0">
              <a:lnSpc>
                <a:spcPct val="100000"/>
              </a:lnSpc>
              <a:spcBef>
                <a:spcPts val="0"/>
              </a:spcBef>
              <a:spcAft>
                <a:spcPts val="600"/>
              </a:spcAft>
              <a:buSzPts val="1400"/>
              <a:buNone/>
            </a:pPr>
            <a:r>
              <a:rPr lang="en-US" dirty="0"/>
              <a:t>A common mistake is to read "percentage" literally for every matrix entry. The idea is exact in 1D. In N dimensions it applies direction by direction, and only in the directions the sensor actually observes.</a:t>
            </a:r>
          </a:p>
          <a:p>
            <a:pPr marL="0" lvl="0" indent="0" algn="l" rtl="0">
              <a:lnSpc>
                <a:spcPct val="100000"/>
              </a:lnSpc>
              <a:spcBef>
                <a:spcPts val="0"/>
              </a:spcBef>
              <a:spcAft>
                <a:spcPts val="600"/>
              </a:spcAft>
              <a:buSzPts val="1400"/>
              <a:buNone/>
            </a:pPr>
            <a:r>
              <a:rPr lang="en-US" dirty="0"/>
              <a:t>Quick check: if your robot's sensor measures only x, does the update shrink the uncertainty in y? (Only through any correlation between x and y in P.) Next, all five Kalman equations come together on one slide.</a:t>
            </a:r>
          </a:p>
        </p:txBody>
      </p:sp>
      <p:sp>
        <p:nvSpPr>
          <p:cNvPr id="116" name="Google Shape;116;p29:notes">
            <a:extLst>
              <a:ext uri="{FF2B5EF4-FFF2-40B4-BE49-F238E27FC236}">
                <a16:creationId xmlns:a16="http://schemas.microsoft.com/office/drawing/2014/main" id="{7B2407EB-CAAA-0A07-D089-93418A0168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41614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E94F01-333B-7BBA-2D68-FE31E06ED4E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8F88D51-B705-7F7B-ADA5-1E6A287B60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complete N-dimensional Kalman filter on one page: two prediction equations and three update equations. Each one is labelled with a plain-language question.</a:t>
            </a:r>
          </a:p>
          <a:p>
            <a:pPr marL="0" lvl="0" indent="0" algn="l" rtl="0">
              <a:lnSpc>
                <a:spcPct val="100000"/>
              </a:lnSpc>
              <a:spcBef>
                <a:spcPts val="0"/>
              </a:spcBef>
              <a:spcAft>
                <a:spcPts val="600"/>
              </a:spcAft>
              <a:buSzPts val="1400"/>
              <a:buNone/>
            </a:pPr>
            <a:r>
              <a:rPr lang="en-US" dirty="0"/>
              <a:t>Under "Prediction," the state prediction asks "Where do we think we are?" It reads x_(k|k-1) = F*x_(k-1|k-1) + B*u_k. In words, the predicted state at step k equals F times the previous estimate, plus B times the control input u_k. The covariance prediction asks "How uncertain are we getting?" It reads P_(k|k-1) = F*P_(k-1|k-1)*F^T + Q, which is F times the previous covariance times F transpose, plus the process noise Q.</a:t>
            </a:r>
          </a:p>
          <a:p>
            <a:pPr marL="0" lvl="0" indent="0" algn="l" rtl="0">
              <a:lnSpc>
                <a:spcPct val="100000"/>
              </a:lnSpc>
              <a:spcBef>
                <a:spcPts val="0"/>
              </a:spcBef>
              <a:spcAft>
                <a:spcPts val="600"/>
              </a:spcAft>
              <a:buSzPts val="1400"/>
              <a:buNone/>
            </a:pPr>
            <a:r>
              <a:rPr lang="en-US" dirty="0"/>
              <a:t>Under "Update," the Kalman gain asks "Who do we trust more?" It reads K = P_(k|k-1)*H^T*(H*P_(k|k-1)*H^T + R)^(-1). The state update, "Correcting our position," is x_(k|k) = x_(k|k-1) + K*(z_k - H*x_(k|k-1)). The covariance update, "Shrinking our uncertainty," is P_(k|k) = (I - K*H)*P_(k|k-1).</a:t>
            </a:r>
          </a:p>
          <a:p>
            <a:pPr marL="0" lvl="0" indent="0" algn="l" rtl="0">
              <a:lnSpc>
                <a:spcPct val="100000"/>
              </a:lnSpc>
              <a:spcBef>
                <a:spcPts val="0"/>
              </a:spcBef>
              <a:spcAft>
                <a:spcPts val="600"/>
              </a:spcAft>
              <a:buSzPts val="1400"/>
              <a:buNone/>
            </a:pPr>
            <a:r>
              <a:rPr lang="en-US" dirty="0"/>
              <a:t>The notation k|k-1 means "the estimate at step k using information only up to step k-1." The notation k|k means the estimate after the measurement at step k has been folded in.</a:t>
            </a:r>
          </a:p>
          <a:p>
            <a:pPr marL="0" lvl="0" indent="0" algn="l" rtl="0">
              <a:lnSpc>
                <a:spcPct val="100000"/>
              </a:lnSpc>
              <a:spcBef>
                <a:spcPts val="0"/>
              </a:spcBef>
              <a:spcAft>
                <a:spcPts val="600"/>
              </a:spcAft>
              <a:buSzPts val="1400"/>
              <a:buNone/>
            </a:pPr>
            <a:r>
              <a:rPr lang="en-US" dirty="0"/>
              <a:t>Prediction always grows uncertainty, because Q is added. Update shrinks it, as you saw on the last slide with (I - K*H). The quantity in parentheses in the gain is S, the innovation covariance from the earlier plot. The innovation z_k - H*x_(k|k-1) is the "surprise" between what the sensor reads and what you expected it to read. The gain balances the two sources of information:</a:t>
            </a:r>
          </a:p>
          <a:p>
            <a:pPr marL="0" lvl="0" indent="0" algn="l" rtl="0">
              <a:lnSpc>
                <a:spcPct val="100000"/>
              </a:lnSpc>
              <a:spcBef>
                <a:spcPts val="0"/>
              </a:spcBef>
              <a:spcAft>
                <a:spcPts val="600"/>
              </a:spcAft>
              <a:buSzPts val="1400"/>
              <a:buNone/>
            </a:pPr>
            <a:r>
              <a:rPr lang="en-US" dirty="0"/>
              <a:t>- A large R (a noisy sensor) gives a small K, so you lean on the prediction.</a:t>
            </a:r>
          </a:p>
          <a:p>
            <a:pPr marL="0" lvl="0" indent="0" algn="l" rtl="0">
              <a:lnSpc>
                <a:spcPct val="100000"/>
              </a:lnSpc>
              <a:spcBef>
                <a:spcPts val="0"/>
              </a:spcBef>
              <a:spcAft>
                <a:spcPts val="600"/>
              </a:spcAft>
              <a:buSzPts val="1400"/>
              <a:buNone/>
            </a:pPr>
            <a:r>
              <a:rPr lang="en-US" dirty="0"/>
              <a:t>- A large P (an uncertain prediction) gives a large K, so you lean on the sensor.</a:t>
            </a:r>
          </a:p>
          <a:p>
            <a:pPr marL="0" lvl="0" indent="0" algn="l" rtl="0">
              <a:lnSpc>
                <a:spcPct val="100000"/>
              </a:lnSpc>
              <a:spcBef>
                <a:spcPts val="0"/>
              </a:spcBef>
              <a:spcAft>
                <a:spcPts val="600"/>
              </a:spcAft>
              <a:buSzPts val="1400"/>
              <a:buNone/>
            </a:pPr>
            <a:r>
              <a:rPr lang="en-US" dirty="0"/>
              <a:t>On the robot, prediction typically runs every control period using encoder or gyro data. The update runs only when a measurement arrives, so several predicts can happen between updates.</a:t>
            </a:r>
          </a:p>
          <a:p>
            <a:pPr marL="0" lvl="0" indent="0" algn="l" rtl="0">
              <a:lnSpc>
                <a:spcPct val="100000"/>
              </a:lnSpc>
              <a:spcBef>
                <a:spcPts val="0"/>
              </a:spcBef>
              <a:spcAft>
                <a:spcPts val="600"/>
              </a:spcAft>
              <a:buSzPts val="1400"/>
              <a:buNone/>
            </a:pPr>
            <a:r>
              <a:rPr lang="en-US" dirty="0"/>
              <a:t>Quick check: if no measurements arrive for many steps, what happens to P?</a:t>
            </a:r>
          </a:p>
        </p:txBody>
      </p:sp>
      <p:sp>
        <p:nvSpPr>
          <p:cNvPr id="116" name="Google Shape;116;p29:notes">
            <a:extLst>
              <a:ext uri="{FF2B5EF4-FFF2-40B4-BE49-F238E27FC236}">
                <a16:creationId xmlns:a16="http://schemas.microsoft.com/office/drawing/2014/main" id="{9EBEB9A7-2F06-92C3-EDE5-43AA5232B0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36772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A9A9ECF-5608-DE3F-2D9B-7A8B1C14815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3332BA6-FB34-74D5-757B-1B96B02519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summary table that pulls together everything from the 1D and N-dimensional Kalman filter sections. It has four columns: Concept, 1D (Scalar), N-dimensional (Matrix), and Description. In the slide image, the symbol cells in the two middle columns appear as tiny, unreadable images; the only legible one is the sensor model in 1D, which reads "1 (direct)". The symbols below are the standard ones from the previous slides.</a:t>
            </a:r>
          </a:p>
          <a:p>
            <a:pPr marL="0" lvl="0" indent="0" algn="l" rtl="0">
              <a:lnSpc>
                <a:spcPct val="100000"/>
              </a:lnSpc>
              <a:spcBef>
                <a:spcPts val="0"/>
              </a:spcBef>
              <a:spcAft>
                <a:spcPts val="600"/>
              </a:spcAft>
              <a:buSzPts val="1400"/>
              <a:buNone/>
            </a:pPr>
            <a:r>
              <a:rPr lang="en-US" dirty="0"/>
              <a:t>The State, x, is the robot's current estimated condition, such as position and velocity. In 1D it is a single number; in N dimensions it is a vector.</a:t>
            </a:r>
          </a:p>
          <a:p>
            <a:pPr marL="0" lvl="0" indent="0" algn="l" rtl="0">
              <a:lnSpc>
                <a:spcPct val="100000"/>
              </a:lnSpc>
              <a:spcBef>
                <a:spcPts val="0"/>
              </a:spcBef>
              <a:spcAft>
                <a:spcPts val="600"/>
              </a:spcAft>
              <a:buSzPts val="1400"/>
              <a:buNone/>
            </a:pPr>
            <a:r>
              <a:rPr lang="en-US" dirty="0"/>
              <a:t>Uncertainty is how unsure we are about the state. In 1D it is a variance; in N dimensions it is the covariance matrix P.</a:t>
            </a:r>
          </a:p>
          <a:p>
            <a:pPr marL="0" lvl="0" indent="0" algn="l" rtl="0">
              <a:lnSpc>
                <a:spcPct val="100000"/>
              </a:lnSpc>
              <a:spcBef>
                <a:spcPts val="0"/>
              </a:spcBef>
              <a:spcAft>
                <a:spcPts val="600"/>
              </a:spcAft>
              <a:buSzPts val="1400"/>
              <a:buNone/>
            </a:pPr>
            <a:r>
              <a:rPr lang="en-US" dirty="0"/>
              <a:t>The Physics Model describes how the state naturally evolves over time. In N dimensions it is the state transition matrix F, which becomes a Jacobian in the extended filter.</a:t>
            </a:r>
          </a:p>
          <a:p>
            <a:pPr marL="0" lvl="0" indent="0" algn="l" rtl="0">
              <a:lnSpc>
                <a:spcPct val="100000"/>
              </a:lnSpc>
              <a:spcBef>
                <a:spcPts val="0"/>
              </a:spcBef>
              <a:spcAft>
                <a:spcPts val="600"/>
              </a:spcAft>
              <a:buSzPts val="1400"/>
              <a:buNone/>
            </a:pPr>
            <a:r>
              <a:rPr lang="en-US" dirty="0"/>
              <a:t>Process Noise, Q, is the uncertainty added simply by moving, from imperfections in the physics model.</a:t>
            </a:r>
          </a:p>
          <a:p>
            <a:pPr marL="0" lvl="0" indent="0" algn="l" rtl="0">
              <a:lnSpc>
                <a:spcPct val="100000"/>
              </a:lnSpc>
              <a:spcBef>
                <a:spcPts val="0"/>
              </a:spcBef>
              <a:spcAft>
                <a:spcPts val="600"/>
              </a:spcAft>
              <a:buSzPts val="1400"/>
              <a:buNone/>
            </a:pPr>
            <a:r>
              <a:rPr lang="en-US" dirty="0"/>
              <a:t>The Sensor Model, H, translates the internal state into the format the sensor outputs. In 1D it is just 1, because the sensor measures the state directly.</a:t>
            </a:r>
          </a:p>
          <a:p>
            <a:pPr marL="0" lvl="0" indent="0" algn="l" rtl="0">
              <a:lnSpc>
                <a:spcPct val="100000"/>
              </a:lnSpc>
              <a:spcBef>
                <a:spcPts val="0"/>
              </a:spcBef>
              <a:spcAft>
                <a:spcPts val="600"/>
              </a:spcAft>
              <a:buSzPts val="1400"/>
              <a:buNone/>
            </a:pPr>
            <a:r>
              <a:rPr lang="en-US" dirty="0"/>
              <a:t>Sensor Noise, R, is the inherent electrical or mechanical noise of a specific sensor.</a:t>
            </a:r>
          </a:p>
          <a:p>
            <a:pPr marL="0" lvl="0" indent="0" algn="l" rtl="0">
              <a:lnSpc>
                <a:spcPct val="100000"/>
              </a:lnSpc>
              <a:spcBef>
                <a:spcPts val="0"/>
              </a:spcBef>
              <a:spcAft>
                <a:spcPts val="600"/>
              </a:spcAft>
              <a:buSzPts val="1400"/>
              <a:buNone/>
            </a:pPr>
            <a:r>
              <a:rPr lang="en-US" dirty="0"/>
              <a:t>The Measurement, z, is the raw data point from a sensor such as the LiDAR or the wheel encoders.</a:t>
            </a:r>
          </a:p>
          <a:p>
            <a:pPr marL="0" lvl="0" indent="0" algn="l" rtl="0">
              <a:lnSpc>
                <a:spcPct val="100000"/>
              </a:lnSpc>
              <a:spcBef>
                <a:spcPts val="0"/>
              </a:spcBef>
              <a:spcAft>
                <a:spcPts val="600"/>
              </a:spcAft>
              <a:buSzPts val="1400"/>
              <a:buNone/>
            </a:pPr>
            <a:r>
              <a:rPr lang="en-US" dirty="0"/>
              <a:t>The Kalman Gain, K, is the dynamic weight that decides whether to trust the model or the sensor. In 1D, K = P/(P + R). In N dimensions, K = P*H^T*(H*P*H^T + R)^(-1), read as P times H transpose times the inverse of (H P H transpose plus R).</a:t>
            </a:r>
          </a:p>
          <a:p>
            <a:pPr marL="0" lvl="0" indent="0" algn="l" rtl="0">
              <a:lnSpc>
                <a:spcPct val="100000"/>
              </a:lnSpc>
              <a:spcBef>
                <a:spcPts val="0"/>
              </a:spcBef>
              <a:spcAft>
                <a:spcPts val="600"/>
              </a:spcAft>
              <a:buSzPts val="1400"/>
              <a:buNone/>
            </a:pPr>
            <a:r>
              <a:rPr lang="en-US" dirty="0"/>
              <a:t>Notice that each matrix plays the same role as its scalar counterpart, so your 1D intuition carries over directly.</a:t>
            </a:r>
          </a:p>
          <a:p>
            <a:pPr marL="0" lvl="0" indent="0" algn="l" rtl="0">
              <a:lnSpc>
                <a:spcPct val="100000"/>
              </a:lnSpc>
              <a:spcBef>
                <a:spcPts val="0"/>
              </a:spcBef>
              <a:spcAft>
                <a:spcPts val="600"/>
              </a:spcAft>
              <a:buSzPts val="1400"/>
              <a:buNone/>
            </a:pPr>
            <a:r>
              <a:rPr lang="en-US" dirty="0"/>
              <a:t>Quick check: which entries does a better sensor shrink, and which does a better motor model shrink?</a:t>
            </a:r>
          </a:p>
          <a:p>
            <a:pPr marL="0" lvl="0" indent="0" algn="l" rtl="0">
              <a:lnSpc>
                <a:spcPct val="100000"/>
              </a:lnSpc>
              <a:spcBef>
                <a:spcPts val="0"/>
              </a:spcBef>
              <a:spcAft>
                <a:spcPts val="600"/>
              </a:spcAft>
              <a:buSzPts val="1400"/>
              <a:buNone/>
            </a:pPr>
            <a:r>
              <a:rPr lang="en-US" dirty="0"/>
              <a:t>Next come optional derivations showing where the matrix Kalman gain comes from.</a:t>
            </a:r>
          </a:p>
        </p:txBody>
      </p:sp>
      <p:sp>
        <p:nvSpPr>
          <p:cNvPr id="116" name="Google Shape;116;p29:notes">
            <a:extLst>
              <a:ext uri="{FF2B5EF4-FFF2-40B4-BE49-F238E27FC236}">
                <a16:creationId xmlns:a16="http://schemas.microsoft.com/office/drawing/2014/main" id="{7D69F362-1FBE-9A91-67B2-DB664E54EA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5300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99CB8D7-BF7C-5AA9-1FE9-410C5B31AB5D}"/>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12971BE4-D90B-53FF-52F3-833B61D41E4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divider titled "Optional Derivations," in white text on a dark blue background with faint hand-drawn equations and diagrams as decoration. The Illinois logo is in the top corner.</a:t>
            </a:r>
          </a:p>
          <a:p>
            <a:pPr marL="0" lvl="0" indent="0" algn="l" rtl="0">
              <a:spcBef>
                <a:spcPts val="0"/>
              </a:spcBef>
              <a:spcAft>
                <a:spcPts val="600"/>
              </a:spcAft>
              <a:buNone/>
            </a:pPr>
            <a:r>
              <a:rPr lang="en-US" dirty="0"/>
              <a:t>You now have the full set of multi-dimensional Kalman filter equations: predict, Kalman gain, state update and covariance update. The next few slides show where the gain comes from. We choose K to minimize total uncertainty, which is the trace of the covariance matrix P, and along the way we derive the Joseph form of the covariance update.</a:t>
            </a:r>
          </a:p>
        </p:txBody>
      </p:sp>
      <p:sp>
        <p:nvSpPr>
          <p:cNvPr id="87" name="Google Shape;87;p27:notes">
            <a:extLst>
              <a:ext uri="{FF2B5EF4-FFF2-40B4-BE49-F238E27FC236}">
                <a16:creationId xmlns:a16="http://schemas.microsoft.com/office/drawing/2014/main" id="{1B27902E-BAFA-41E5-EC64-6ABC7AABF1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08475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17F00F3-EF5D-4713-CBE2-8F9B163E502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06D56DF-1E5C-BB88-D6AE-38AF11EB56C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opens the optional derivation of the Kalman gain. It is four sentences of text followed by one centered equation. The text says that to derive the multi-dimensional math, we first define our ultimate goal: minimizing uncertainty. Total uncertainty is the sum of the variances of our state variables, which are the diagonal elements of the covariance matrix P. The sum of a matrix's diagonal elements is called the trace, written Tr(P). The objective is to find the gain matrix K whose derivative condition is satisfied. The equation reads: the partial derivative of the trace of P sub k given k, with respect to K, equals zero, written d Tr(P_(k|k)) / dK = 0.</a:t>
            </a:r>
          </a:p>
          <a:p>
            <a:pPr marL="0" lvl="0" indent="0" algn="l" rtl="0">
              <a:lnSpc>
                <a:spcPct val="100000"/>
              </a:lnSpc>
              <a:spcBef>
                <a:spcPts val="0"/>
              </a:spcBef>
              <a:spcAft>
                <a:spcPts val="600"/>
              </a:spcAft>
              <a:buSzPts val="1400"/>
              <a:buNone/>
            </a:pPr>
            <a:r>
              <a:rPr lang="en-US" dirty="0"/>
              <a:t>Here is why the trace is the right target. For a robot state of x, y and theta, the diagonal of P holds var(x), var(y) and var(theta). Making Tr(P) small makes all three uncertainties small together. The off-diagonal terms are cross-covariances. They describe how errors in different states are correlated, but they are not "amounts" of uncertainty, so they are not part of the objective. The notation P_(k|k) means the covariance at step k after the measurement at step k has been incorporated, which is the posterior covariance.</a:t>
            </a:r>
          </a:p>
          <a:p>
            <a:pPr marL="0" lvl="0" indent="0" algn="l" rtl="0">
              <a:lnSpc>
                <a:spcPct val="100000"/>
              </a:lnSpc>
              <a:spcBef>
                <a:spcPts val="0"/>
              </a:spcBef>
              <a:spcAft>
                <a:spcPts val="600"/>
              </a:spcAft>
              <a:buSzPts val="1400"/>
              <a:buNone/>
            </a:pPr>
            <a:r>
              <a:rPr lang="en-US" dirty="0"/>
              <a:t>Setting a derivative to zero is the same idea as finding the minimum of a scalar function in calculus. The only difference is that the variable is now a whole matrix K. Because P_(k|k) is quadratic in K, this stationary point is a true minimum.</a:t>
            </a:r>
          </a:p>
          <a:p>
            <a:pPr marL="0" lvl="0" indent="0" algn="l" rtl="0">
              <a:lnSpc>
                <a:spcPct val="100000"/>
              </a:lnSpc>
              <a:spcBef>
                <a:spcPts val="0"/>
              </a:spcBef>
              <a:spcAft>
                <a:spcPts val="600"/>
              </a:spcAft>
              <a:buSzPts val="1400"/>
              <a:buNone/>
            </a:pPr>
            <a:r>
              <a:rPr lang="en-US" dirty="0"/>
              <a:t>Next, you write the posterior error, substitute the update equation, and get the Joseph form of P_(k|k). That expression is what you will differentiate.</a:t>
            </a:r>
          </a:p>
          <a:p>
            <a:pPr marL="0" lvl="0" indent="0" algn="l" rtl="0">
              <a:lnSpc>
                <a:spcPct val="100000"/>
              </a:lnSpc>
              <a:spcBef>
                <a:spcPts val="0"/>
              </a:spcBef>
              <a:spcAft>
                <a:spcPts val="600"/>
              </a:spcAft>
              <a:buSzPts val="1400"/>
              <a:buNone/>
            </a:pPr>
            <a:r>
              <a:rPr lang="en-US" dirty="0"/>
              <a:t>Quick check: why not minimize the determinant or the sum of all entries of P instead?</a:t>
            </a:r>
          </a:p>
        </p:txBody>
      </p:sp>
      <p:sp>
        <p:nvSpPr>
          <p:cNvPr id="116" name="Google Shape;116;p29:notes">
            <a:extLst>
              <a:ext uri="{FF2B5EF4-FFF2-40B4-BE49-F238E27FC236}">
                <a16:creationId xmlns:a16="http://schemas.microsoft.com/office/drawing/2014/main" id="{A22E7582-5CF4-405F-9E3D-49FC71488D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93290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8794B93-37D8-0925-2127-55693070564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2BFB7A3-AA8F-0A1C-F2CA-06D60DD9AD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part of the optional derivations. It builds the covariance equation that you minimize to find the optimal Kalman gain K.</a:t>
            </a:r>
          </a:p>
          <a:p>
            <a:pPr marL="0" lvl="0" indent="0" algn="l" rtl="0">
              <a:lnSpc>
                <a:spcPct val="100000"/>
              </a:lnSpc>
              <a:spcBef>
                <a:spcPts val="0"/>
              </a:spcBef>
              <a:spcAft>
                <a:spcPts val="600"/>
              </a:spcAft>
              <a:buSzPts val="1400"/>
              <a:buNone/>
            </a:pPr>
            <a:r>
              <a:rPr lang="en-US" dirty="0"/>
              <a:t>The slide steps through four lines. First, the error of the updated state is defined as e = x_true - x_(k|k), the true state minus the updated estimate. Second, the update equation x_(k|k) = x_(k|k-1) + K*(z - H*x_(k|k-1)) is substituted into that error. Third, covariance is defined as the expected value of the error times its transpose: P_(k|k) = E[e*e^T]. Fourth, expanding that expectation gives the Joseph form of the covariance update, shown centered and bold: P_(k|k) = (I - K*H)*P_(k|k-1)*(I - K*H)^T + K*R*K^T.</a:t>
            </a:r>
          </a:p>
          <a:p>
            <a:pPr marL="0" lvl="0" indent="0" algn="l" rtl="0">
              <a:lnSpc>
                <a:spcPct val="100000"/>
              </a:lnSpc>
              <a:spcBef>
                <a:spcPts val="0"/>
              </a:spcBef>
              <a:spcAft>
                <a:spcPts val="600"/>
              </a:spcAft>
              <a:buSzPts val="1400"/>
              <a:buNone/>
            </a:pPr>
            <a:r>
              <a:rPr lang="en-US" dirty="0"/>
              <a:t>Here is the step the slide skips. The measurement is z = H*x_true + v, where v is sensor noise with covariance R. Substituting gives e = (I - K*H)*(x_true - x_(k|k-1)) - K*v. The prior error and the sensor noise are uncorrelated, so the cross terms average to zero. Two terms remain: one built from the prior covariance P_(k|k-1) and one built from R.</a:t>
            </a:r>
          </a:p>
          <a:p>
            <a:pPr marL="0" lvl="0" indent="0" algn="l" rtl="0">
              <a:lnSpc>
                <a:spcPct val="100000"/>
              </a:lnSpc>
              <a:spcBef>
                <a:spcPts val="0"/>
              </a:spcBef>
              <a:spcAft>
                <a:spcPts val="600"/>
              </a:spcAft>
              <a:buSzPts val="1400"/>
              <a:buNone/>
            </a:pPr>
            <a:r>
              <a:rPr lang="en-US" dirty="0"/>
              <a:t>The slide's closing question asks why both P and R appear. The new estimate blends the model prediction and the sensor reading, so both sources of error carry into the result. P_(k|k-1) is the prediction uncertainty, which already includes the process noise Q from the predict step.</a:t>
            </a:r>
          </a:p>
          <a:p>
            <a:pPr marL="0" lvl="0" indent="0" algn="l" rtl="0">
              <a:lnSpc>
                <a:spcPct val="100000"/>
              </a:lnSpc>
              <a:spcBef>
                <a:spcPts val="0"/>
              </a:spcBef>
              <a:spcAft>
                <a:spcPts val="600"/>
              </a:spcAft>
              <a:buSzPts val="1400"/>
              <a:buNone/>
            </a:pPr>
            <a:r>
              <a:rPr lang="en-US" dirty="0"/>
              <a:t>"Universally true" means the Joseph form holds for any gain K, not just the optimal one. A common mistake is to use the short form you will see shortly with a non-optimal gain.</a:t>
            </a:r>
          </a:p>
          <a:p>
            <a:pPr marL="0" lvl="0" indent="0" algn="l" rtl="0">
              <a:lnSpc>
                <a:spcPct val="100000"/>
              </a:lnSpc>
              <a:spcBef>
                <a:spcPts val="0"/>
              </a:spcBef>
              <a:spcAft>
                <a:spcPts val="600"/>
              </a:spcAft>
              <a:buSzPts val="1400"/>
              <a:buNone/>
            </a:pPr>
            <a:r>
              <a:rPr lang="en-US" dirty="0"/>
              <a:t>On the previous slide, the goal was to minimize the trace of P. Next, you take the derivative of this equation with respect to K.</a:t>
            </a:r>
          </a:p>
        </p:txBody>
      </p:sp>
      <p:sp>
        <p:nvSpPr>
          <p:cNvPr id="116" name="Google Shape;116;p29:notes">
            <a:extLst>
              <a:ext uri="{FF2B5EF4-FFF2-40B4-BE49-F238E27FC236}">
                <a16:creationId xmlns:a16="http://schemas.microsoft.com/office/drawing/2014/main" id="{FEF3BBB6-B409-46BE-5236-36CD06ABA5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47833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B5490C4-7673-55AE-B0E3-9754A67AC5B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29B9DD0-4FD0-58DE-BB25-B71D99B287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carries out the minimization we set up two slides ago and produces the Kalman gain. Recall the goal: choose the gain matrix K so the total uncertainty, the trace of the updated covariance P_(k|k), is as small as possible.</a:t>
            </a:r>
          </a:p>
          <a:p>
            <a:pPr marL="0" lvl="0" indent="0" algn="l" rtl="0">
              <a:lnSpc>
                <a:spcPct val="100000"/>
              </a:lnSpc>
              <a:spcBef>
                <a:spcPts val="0"/>
              </a:spcBef>
              <a:spcAft>
                <a:spcPts val="600"/>
              </a:spcAft>
              <a:buSzPts val="1400"/>
              <a:buNone/>
            </a:pPr>
            <a:r>
              <a:rPr lang="en-US" dirty="0"/>
              <a:t>The first line sets the derivative of the trace with respect to K equal to zero: d Tr(P_(k|k)) / dK = 0. This is the matrix version of "set the slope to zero to find the minimum."</a:t>
            </a:r>
          </a:p>
          <a:p>
            <a:pPr marL="0" lvl="0" indent="0" algn="l" rtl="0">
              <a:lnSpc>
                <a:spcPct val="100000"/>
              </a:lnSpc>
              <a:spcBef>
                <a:spcPts val="0"/>
              </a:spcBef>
              <a:spcAft>
                <a:spcPts val="600"/>
              </a:spcAft>
              <a:buSzPts val="1400"/>
              <a:buNone/>
            </a:pPr>
            <a:r>
              <a:rPr lang="en-US" dirty="0"/>
              <a:t>Next, the slide differentiates the Joseph Form, P_(k|k) = (I - K*H)*P_(k|k-1)*(I - K*H)^T + K*R*K^T. The step uses two matrix-calculus identities. For a symmetric matrix A, d Tr(K*A*K^T)/dK = 2*K*A. The cross terms in K differentiate linearly. The result shown is: -2*(I - K*H)*P_(k|k-1)*H^T + 2*K*R = 0.</a:t>
            </a:r>
          </a:p>
          <a:p>
            <a:pPr marL="0" lvl="0" indent="0" algn="l" rtl="0">
              <a:lnSpc>
                <a:spcPct val="100000"/>
              </a:lnSpc>
              <a:spcBef>
                <a:spcPts val="0"/>
              </a:spcBef>
              <a:spcAft>
                <a:spcPts val="600"/>
              </a:spcAft>
              <a:buSzPts val="1400"/>
              <a:buNone/>
            </a:pPr>
            <a:r>
              <a:rPr lang="en-US" dirty="0"/>
              <a:t>Then you divide by 2, expand to get -P_(k|k-1)*H^T + K*H*P_(k|k-1)*H^T + K*R = 0, and move the K terms to one side. That gives the boxed result, labelled "There it is!": P_(k|k-1)*H^T = K*(H*P_(k|k-1)*H^T + R). Multiplying on the right by the inverse of the bracket gives the optimal gain, K = P_(k|k-1)*H^T*(H*P_(k|k-1)*H^T + R)^(-1).</a:t>
            </a:r>
          </a:p>
          <a:p>
            <a:pPr marL="0" lvl="0" indent="0" algn="l" rtl="0">
              <a:lnSpc>
                <a:spcPct val="100000"/>
              </a:lnSpc>
              <a:spcBef>
                <a:spcPts val="0"/>
              </a:spcBef>
              <a:spcAft>
                <a:spcPts val="600"/>
              </a:spcAft>
              <a:buSzPts val="1400"/>
              <a:buNone/>
            </a:pPr>
            <a:r>
              <a:rPr lang="en-US" dirty="0"/>
              <a:t>The bracket, H*P*H^T + R, is the innovation covariance, the total uncertainty of the predicted measurement. The bold statement on the slide says that P_(k|k-1)*H^T is the cross-covariance between our state error and our measurement error. More precisely, it measures how the prior state error correlates with the innovation z - H*x_prior. So K reads as "correlation divided by measurement uncertainty," the matrix version of the 1D gain.</a:t>
            </a:r>
          </a:p>
          <a:p>
            <a:pPr marL="0" lvl="0" indent="0" algn="l" rtl="0">
              <a:lnSpc>
                <a:spcPct val="100000"/>
              </a:lnSpc>
              <a:spcBef>
                <a:spcPts val="0"/>
              </a:spcBef>
              <a:spcAft>
                <a:spcPts val="600"/>
              </a:spcAft>
              <a:buSzPts val="1400"/>
              <a:buNone/>
            </a:pPr>
            <a:r>
              <a:rPr lang="en-US" dirty="0"/>
              <a:t>A common mistake is reading the inverse as division on the left. Order matters with matrices, so the inverse goes on the right.</a:t>
            </a:r>
          </a:p>
          <a:p>
            <a:pPr marL="0" lvl="0" indent="0" algn="l" rtl="0">
              <a:lnSpc>
                <a:spcPct val="100000"/>
              </a:lnSpc>
              <a:spcBef>
                <a:spcPts val="0"/>
              </a:spcBef>
              <a:spcAft>
                <a:spcPts val="600"/>
              </a:spcAft>
              <a:buSzPts val="1400"/>
              <a:buNone/>
            </a:pPr>
            <a:r>
              <a:rPr lang="en-US" dirty="0"/>
              <a:t>Next, we substitute this K back into the Joseph Form to get the cheaper short form.</a:t>
            </a:r>
          </a:p>
        </p:txBody>
      </p:sp>
      <p:sp>
        <p:nvSpPr>
          <p:cNvPr id="116" name="Google Shape;116;p29:notes">
            <a:extLst>
              <a:ext uri="{FF2B5EF4-FFF2-40B4-BE49-F238E27FC236}">
                <a16:creationId xmlns:a16="http://schemas.microsoft.com/office/drawing/2014/main" id="{E0E29417-A4F1-01C3-76CC-D0A0213576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400084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FDE7616-18FF-63D0-7F02-CCA58394DE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B993A69-813E-AC17-E290-19F41740AE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optional derivation by turning the Joseph Form into the short covariance update you actually code. It shows two equations. The first is the Joseph Form: P_(k|k) = (I - K*H) * P_(k|k-1) * (I - K*H)^T + K*R*K^T, read "P k given k equals I minus K H, times P k given k minus 1, times the transpose of I minus K H, plus K R K transpose." The slide notes that this costs too much processing on a microcontroller. The second is the short form at the bottom: P_(k|k) = (I - K*H) * P_(k|k-1).</a:t>
            </a:r>
          </a:p>
          <a:p>
            <a:pPr marL="0" lvl="0" indent="0" algn="l" rtl="0">
              <a:lnSpc>
                <a:spcPct val="100000"/>
              </a:lnSpc>
              <a:spcBef>
                <a:spcPts val="0"/>
              </a:spcBef>
              <a:spcAft>
                <a:spcPts val="600"/>
              </a:spcAft>
              <a:buSzPts val="1400"/>
              <a:buNone/>
            </a:pPr>
            <a:r>
              <a:rPr lang="en-US" dirty="0"/>
              <a:t>The slide skips the algebra, so here it is. Write P for P_(k|k-1) and expand the Joseph Form:</a:t>
            </a:r>
          </a:p>
          <a:p>
            <a:pPr marL="0" lvl="0" indent="0" algn="l" rtl="0">
              <a:lnSpc>
                <a:spcPct val="100000"/>
              </a:lnSpc>
              <a:spcBef>
                <a:spcPts val="0"/>
              </a:spcBef>
              <a:spcAft>
                <a:spcPts val="600"/>
              </a:spcAft>
              <a:buSzPts val="1400"/>
              <a:buNone/>
            </a:pPr>
            <a:r>
              <a:rPr lang="en-US" dirty="0"/>
              <a:t>P_(k|k) = P - K*H*P - P*H^T*K^T + K*(H*P*H^T + R)*K^T.</a:t>
            </a:r>
          </a:p>
          <a:p>
            <a:pPr marL="0" lvl="0" indent="0" algn="l" rtl="0">
              <a:lnSpc>
                <a:spcPct val="100000"/>
              </a:lnSpc>
              <a:spcBef>
                <a:spcPts val="0"/>
              </a:spcBef>
              <a:spcAft>
                <a:spcPts val="600"/>
              </a:spcAft>
              <a:buSzPts val="1400"/>
              <a:buNone/>
            </a:pPr>
            <a:r>
              <a:rPr lang="en-US" dirty="0"/>
              <a:t>From the previous slide, the optimal gain satisfies K*(H*P*H^T + R) = P*H^T. Substitute that into the last term and it becomes P*H^T*K^T. That exactly cancels the third term, -P*H^T*K^T. What remains is P - K*H*P, which is (I - K*H)*P. That saves several matrix multiplications every time the filter runs.</a:t>
            </a:r>
          </a:p>
          <a:p>
            <a:pPr marL="0" lvl="0" indent="0" algn="l" rtl="0">
              <a:lnSpc>
                <a:spcPct val="100000"/>
              </a:lnSpc>
              <a:spcBef>
                <a:spcPts val="0"/>
              </a:spcBef>
              <a:spcAft>
                <a:spcPts val="600"/>
              </a:spcAft>
              <a:buSzPts val="1400"/>
              <a:buNone/>
            </a:pPr>
            <a:r>
              <a:rPr lang="en-US" dirty="0"/>
              <a:t>A common mistake is treating the short form as always valid. It holds only when K is the optimal Kalman gain. If you tune K by hand, or rounding in single-precision float on the F28379D builds up, the short form can drift away from a symmetric, positive-definite matrix. The Joseph Form stays robust in those cases. That is the trade-off between speed and numerical safety.</a:t>
            </a:r>
          </a:p>
          <a:p>
            <a:pPr marL="0" lvl="0" indent="0" algn="l" rtl="0">
              <a:lnSpc>
                <a:spcPct val="100000"/>
              </a:lnSpc>
              <a:spcBef>
                <a:spcPts val="0"/>
              </a:spcBef>
              <a:spcAft>
                <a:spcPts val="600"/>
              </a:spcAft>
              <a:buSzPts val="1400"/>
              <a:buNone/>
            </a:pPr>
            <a:r>
              <a:rPr lang="en-US" dirty="0"/>
              <a:t>Check yourself: which term cancels, and why? Next, you apply these equations in a worked Kalman filter example.</a:t>
            </a:r>
          </a:p>
        </p:txBody>
      </p:sp>
      <p:sp>
        <p:nvSpPr>
          <p:cNvPr id="116" name="Google Shape;116;p29:notes">
            <a:extLst>
              <a:ext uri="{FF2B5EF4-FFF2-40B4-BE49-F238E27FC236}">
                <a16:creationId xmlns:a16="http://schemas.microsoft.com/office/drawing/2014/main" id="{B006F35F-1372-0375-8851-9834AB0369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11428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AEB43DD-7C8B-0657-79F1-9C660C8FBD60}"/>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762D9274-FA95-0567-B884-B6D516B5D4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slide reads "Kalman Filter Example" in large dark blue text on the orange Illinois background, with faint hand-drawn equations and diagrams as decoration.</a:t>
            </a:r>
          </a:p>
          <a:p>
            <a:pPr marL="0" lvl="0" indent="0" algn="l" rtl="0">
              <a:spcBef>
                <a:spcPts val="0"/>
              </a:spcBef>
              <a:spcAft>
                <a:spcPts val="600"/>
              </a:spcAft>
              <a:buNone/>
            </a:pPr>
            <a:r>
              <a:rPr lang="en-US" dirty="0"/>
              <a:t>You have just finished the optional derivation, ending with the short form of the covariance update that is cheap enough for a microcontroller. Next comes a quick partner review of the two filter steps and their assumptions. Then you build a complete multi-dimensional Kalman filter from scratch for the autonomous train example.</a:t>
            </a:r>
          </a:p>
        </p:txBody>
      </p:sp>
      <p:sp>
        <p:nvSpPr>
          <p:cNvPr id="102" name="Google Shape;102;p28:notes">
            <a:extLst>
              <a:ext uri="{FF2B5EF4-FFF2-40B4-BE49-F238E27FC236}">
                <a16:creationId xmlns:a16="http://schemas.microsoft.com/office/drawing/2014/main" id="{8D2B5007-C595-78E0-27D0-CA39DDAFDB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720374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CBF3471-D750-85E0-7DDF-1537F140BEE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0C90F27-9487-7212-C44A-A0B61AE69C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mid-lecture review. The title reads "Review – 5-minute partner discussion," and you are asked to talk with the person next to you and answer three questions. First, the Kalman Filter works as a two-step process: what are the two steps called? Second, what conditions must the sensor noise and the process noise satisfy? Third, what conditions are imposed on the state transition of the system?</a:t>
            </a:r>
          </a:p>
          <a:p>
            <a:pPr marL="0" lvl="0" indent="0" algn="l" rtl="0">
              <a:lnSpc>
                <a:spcPct val="100000"/>
              </a:lnSpc>
              <a:spcBef>
                <a:spcPts val="0"/>
              </a:spcBef>
              <a:spcAft>
                <a:spcPts val="600"/>
              </a:spcAft>
              <a:buSzPts val="1400"/>
              <a:buNone/>
            </a:pPr>
            <a:r>
              <a:rPr lang="en-US" dirty="0"/>
              <a:t>We have just finished the derivation, collapsing the Joseph form into the short covariance update that is cheap enough for a microcontroller. Before we apply it, take five minutes to check that the big picture holds together.</a:t>
            </a:r>
          </a:p>
          <a:p>
            <a:pPr marL="0" lvl="0" indent="0" algn="l" rtl="0">
              <a:lnSpc>
                <a:spcPct val="100000"/>
              </a:lnSpc>
              <a:spcBef>
                <a:spcPts val="0"/>
              </a:spcBef>
              <a:spcAft>
                <a:spcPts val="600"/>
              </a:spcAft>
              <a:buSzPts val="1400"/>
              <a:buNone/>
            </a:pPr>
            <a:r>
              <a:rPr lang="en-US" dirty="0"/>
              <a:t>The two steps are Predict and Update. Predict propagates the state and its covariance forward using the model. Update corrects that prediction with a new measurement, weighted by the Kalman gain.</a:t>
            </a:r>
          </a:p>
          <a:p>
            <a:pPr marL="0" lvl="0" indent="0" algn="l" rtl="0">
              <a:lnSpc>
                <a:spcPct val="100000"/>
              </a:lnSpc>
              <a:spcBef>
                <a:spcPts val="0"/>
              </a:spcBef>
              <a:spcAft>
                <a:spcPts val="600"/>
              </a:spcAft>
              <a:buSzPts val="1400"/>
              <a:buNone/>
            </a:pPr>
            <a:r>
              <a:rPr lang="en-US" dirty="0"/>
              <a:t>For the noise, both the process noise and the measurement noise are assumed to be zero-mean, Gaussian, and white, meaning uncorrelated from one time step to the next. They are also independent of each other, and their covariances, Q for the process and R for the sensor, are known.</a:t>
            </a:r>
          </a:p>
          <a:p>
            <a:pPr marL="0" lvl="0" indent="0" algn="l" rtl="0">
              <a:lnSpc>
                <a:spcPct val="100000"/>
              </a:lnSpc>
              <a:spcBef>
                <a:spcPts val="0"/>
              </a:spcBef>
              <a:spcAft>
                <a:spcPts val="600"/>
              </a:spcAft>
              <a:buSzPts val="1400"/>
              <a:buNone/>
            </a:pPr>
            <a:r>
              <a:rPr lang="en-US" dirty="0"/>
              <a:t>For the state transition, the model must be linear: x_k = F*x_(k-1) + B*u_k + w_k, and the measurement model z_k = H*x_k + v_k must be linear too. Linearity is what keeps a Gaussian a Gaussian after each step, and that is why the filter is optimal. A common mistake is to forget that the measurement model must also be linear.</a:t>
            </a:r>
          </a:p>
          <a:p>
            <a:pPr marL="0" lvl="0" indent="0" algn="l" rtl="0">
              <a:lnSpc>
                <a:spcPct val="100000"/>
              </a:lnSpc>
              <a:spcBef>
                <a:spcPts val="0"/>
              </a:spcBef>
              <a:spcAft>
                <a:spcPts val="600"/>
              </a:spcAft>
              <a:buSzPts val="1400"/>
              <a:buNone/>
            </a:pPr>
            <a:r>
              <a:rPr lang="en-US" dirty="0"/>
              <a:t>Keep that linearity condition in mind. The Extended Kalman Filter at the end of the lecture exists precisely to relax it. Next, we build a full Kalman Filter for the train example.</a:t>
            </a:r>
          </a:p>
        </p:txBody>
      </p:sp>
      <p:sp>
        <p:nvSpPr>
          <p:cNvPr id="116" name="Google Shape;116;p29:notes">
            <a:extLst>
              <a:ext uri="{FF2B5EF4-FFF2-40B4-BE49-F238E27FC236}">
                <a16:creationId xmlns:a16="http://schemas.microsoft.com/office/drawing/2014/main" id="{AD346588-02E2-4C5E-D0EF-05C9CC1D62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45559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A9F753E-EB10-B074-1951-7F3DBF34D47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E3AA21E-3676-285F-ADAC-ADDB4D81D45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"Kalman Filter Example," is a transition from theory to a worked example. It has three lines of text and no figures. The first line says that up to this point we have looked at a lot of theoretical matrices: F, H, P, Q and R. The second says that these are always difficult to understand, so we will build a complete, multi-dimensional Kalman Filter from scratch for a simple robotic system. The third says we will go back to the autonomous train example from before.</a:t>
            </a:r>
          </a:p>
          <a:p>
            <a:pPr marL="0" lvl="0" indent="0" algn="l" rtl="0">
              <a:lnSpc>
                <a:spcPct val="100000"/>
              </a:lnSpc>
              <a:spcBef>
                <a:spcPts val="0"/>
              </a:spcBef>
              <a:spcAft>
                <a:spcPts val="600"/>
              </a:spcAft>
              <a:buSzPts val="1400"/>
              <a:buNone/>
            </a:pPr>
            <a:r>
              <a:rPr lang="en-US" dirty="0"/>
              <a:t>Here is a quick reminder of what each matrix means, since you are about to fill in every one with real numbers:</a:t>
            </a:r>
          </a:p>
          <a:p>
            <a:pPr marL="0" lvl="0" indent="0" algn="l" rtl="0">
              <a:lnSpc>
                <a:spcPct val="100000"/>
              </a:lnSpc>
              <a:spcBef>
                <a:spcPts val="0"/>
              </a:spcBef>
              <a:spcAft>
                <a:spcPts val="600"/>
              </a:spcAft>
              <a:buSzPts val="1400"/>
              <a:buNone/>
            </a:pPr>
            <a:r>
              <a:rPr lang="en-US" dirty="0"/>
              <a:t>F is the state transition matrix, which predicts the next state from the current one.</a:t>
            </a:r>
          </a:p>
          <a:p>
            <a:pPr marL="0" lvl="0" indent="0" algn="l" rtl="0">
              <a:lnSpc>
                <a:spcPct val="100000"/>
              </a:lnSpc>
              <a:spcBef>
                <a:spcPts val="0"/>
              </a:spcBef>
              <a:spcAft>
                <a:spcPts val="600"/>
              </a:spcAft>
              <a:buSzPts val="1400"/>
              <a:buNone/>
            </a:pPr>
            <a:r>
              <a:rPr lang="en-US" dirty="0"/>
              <a:t>H is the measurement matrix, which maps the state to what the sensor actually reports.</a:t>
            </a:r>
          </a:p>
          <a:p>
            <a:pPr marL="0" lvl="0" indent="0" algn="l" rtl="0">
              <a:lnSpc>
                <a:spcPct val="100000"/>
              </a:lnSpc>
              <a:spcBef>
                <a:spcPts val="0"/>
              </a:spcBef>
              <a:spcAft>
                <a:spcPts val="600"/>
              </a:spcAft>
              <a:buSzPts val="1400"/>
              <a:buNone/>
            </a:pPr>
            <a:r>
              <a:rPr lang="en-US" dirty="0"/>
              <a:t>P is the state covariance, our uncertainty in the estimate.</a:t>
            </a:r>
          </a:p>
          <a:p>
            <a:pPr marL="0" lvl="0" indent="0" algn="l" rtl="0">
              <a:lnSpc>
                <a:spcPct val="100000"/>
              </a:lnSpc>
              <a:spcBef>
                <a:spcPts val="0"/>
              </a:spcBef>
              <a:spcAft>
                <a:spcPts val="600"/>
              </a:spcAft>
              <a:buSzPts val="1400"/>
              <a:buNone/>
            </a:pPr>
            <a:r>
              <a:rPr lang="en-US" dirty="0"/>
              <a:t>Q is the process noise covariance, the uncertainty in the motion model.</a:t>
            </a:r>
          </a:p>
          <a:p>
            <a:pPr marL="0" lvl="0" indent="0" algn="l" rtl="0">
              <a:lnSpc>
                <a:spcPct val="100000"/>
              </a:lnSpc>
              <a:spcBef>
                <a:spcPts val="0"/>
              </a:spcBef>
              <a:spcAft>
                <a:spcPts val="600"/>
              </a:spcAft>
              <a:buSzPts val="1400"/>
              <a:buNone/>
            </a:pPr>
            <a:r>
              <a:rPr lang="en-US" dirty="0"/>
              <a:t>R is the measurement noise covariance, the uncertainty in the sensor.</a:t>
            </a:r>
          </a:p>
          <a:p>
            <a:pPr marL="0" lvl="0" indent="0" algn="l" rtl="0">
              <a:lnSpc>
                <a:spcPct val="100000"/>
              </a:lnSpc>
              <a:spcBef>
                <a:spcPts val="0"/>
              </a:spcBef>
              <a:spcAft>
                <a:spcPts val="600"/>
              </a:spcAft>
              <a:buSzPts val="1400"/>
              <a:buNone/>
            </a:pPr>
            <a:r>
              <a:rPr lang="en-US" dirty="0"/>
              <a:t>The partner discussion you just finished covered the predict and update steps and the conditions on the noise and on the state transition. Keep those in mind, because this example satisfies them: the motion model is linear and the noise is assumed Gaussian.</a:t>
            </a:r>
          </a:p>
          <a:p>
            <a:pPr marL="0" lvl="0" indent="0" algn="l" rtl="0">
              <a:lnSpc>
                <a:spcPct val="100000"/>
              </a:lnSpc>
              <a:spcBef>
                <a:spcPts val="0"/>
              </a:spcBef>
              <a:spcAft>
                <a:spcPts val="600"/>
              </a:spcAft>
              <a:buSzPts val="1400"/>
              <a:buNone/>
            </a:pPr>
            <a:r>
              <a:rPr lang="en-US" dirty="0"/>
              <a:t>A useful habit for the rest of this example is to check each matrix's dimensions as it appears. Most bugs in a Kalman filter implementation are shape mismatches.</a:t>
            </a:r>
          </a:p>
          <a:p>
            <a:pPr marL="0" lvl="0" indent="0" algn="l" rtl="0">
              <a:lnSpc>
                <a:spcPct val="100000"/>
              </a:lnSpc>
              <a:spcBef>
                <a:spcPts val="0"/>
              </a:spcBef>
              <a:spcAft>
                <a:spcPts val="600"/>
              </a:spcAft>
              <a:buSzPts val="1400"/>
              <a:buNone/>
            </a:pPr>
            <a:r>
              <a:rPr lang="en-US" dirty="0"/>
              <a:t>Next, we define the train's state: its position and its velocity on a 1D track.</a:t>
            </a:r>
          </a:p>
        </p:txBody>
      </p:sp>
      <p:sp>
        <p:nvSpPr>
          <p:cNvPr id="116" name="Google Shape;116;p29:notes">
            <a:extLst>
              <a:ext uri="{FF2B5EF4-FFF2-40B4-BE49-F238E27FC236}">
                <a16:creationId xmlns:a16="http://schemas.microsoft.com/office/drawing/2014/main" id="{35506EE7-E595-95E7-5949-08AF09E631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57028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0889C7A-6BBA-E36F-33FA-5832C4B460D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EA49709-AF63-4812-D3E6-2B26EC1635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sets up the worked example: a simple robot constrained to a one-dimensional track, like the autonomous train from earlier. It can move forward and backward but cannot steer. We want to track two quantities, its position, p, and its velocity, v. The slide asks, "What would our state be?" and then gives the answer: the state vector x is a 2x1 column matrix, x = [p; v], read as "x equals the column vector with p on top and v on the bottom."</a:t>
            </a:r>
          </a:p>
          <a:p>
            <a:pPr marL="0" lvl="0" indent="0" algn="l" rtl="0">
              <a:lnSpc>
                <a:spcPct val="100000"/>
              </a:lnSpc>
              <a:spcBef>
                <a:spcPts val="0"/>
              </a:spcBef>
              <a:spcAft>
                <a:spcPts val="600"/>
              </a:spcAft>
              <a:buSzPts val="1400"/>
              <a:buNone/>
            </a:pPr>
            <a:r>
              <a:rPr lang="en-US" dirty="0"/>
              <a:t>The state is the smallest set of numbers that describes the system well enough to predict where it goes next. In the 1D Kalman filter, the state was a single scalar. Now it holds two numbers stacked in a column: two rows, one column. That is why this becomes a multi-dimensional filter.</a:t>
            </a:r>
          </a:p>
          <a:p>
            <a:pPr marL="0" lvl="0" indent="0" algn="l" rtl="0">
              <a:lnSpc>
                <a:spcPct val="100000"/>
              </a:lnSpc>
              <a:spcBef>
                <a:spcPts val="0"/>
              </a:spcBef>
              <a:spcAft>
                <a:spcPts val="600"/>
              </a:spcAft>
              <a:buSzPts val="1400"/>
              <a:buNone/>
            </a:pPr>
            <a:r>
              <a:rPr lang="en-US" dirty="0"/>
              <a:t>Why include velocity if we mostly care about where the train is? Position alone cannot tell you where the train will be a moment from now. Velocity carries that information. Velocity also matters even if no sensor measures it directly. The filter can infer it from how successive position measurements change, because the covariance links the two states.</a:t>
            </a:r>
          </a:p>
          <a:p>
            <a:pPr marL="0" lvl="0" indent="0" algn="l" rtl="0">
              <a:lnSpc>
                <a:spcPct val="100000"/>
              </a:lnSpc>
              <a:spcBef>
                <a:spcPts val="0"/>
              </a:spcBef>
              <a:spcAft>
                <a:spcPts val="600"/>
              </a:spcAft>
              <a:buSzPts val="1400"/>
              <a:buNone/>
            </a:pPr>
            <a:r>
              <a:rPr lang="en-US" dirty="0"/>
              <a:t>Once the state is 2x1, every other piece of the filter grows to match it. The covariance P becomes 2x2. Its diagonal holds the variances of p and v, and its off-diagonal holds how errors in p and v are correlated.</a:t>
            </a:r>
          </a:p>
          <a:p>
            <a:pPr marL="0" lvl="0" indent="0" algn="l" rtl="0">
              <a:lnSpc>
                <a:spcPct val="100000"/>
              </a:lnSpc>
              <a:spcBef>
                <a:spcPts val="0"/>
              </a:spcBef>
              <a:spcAft>
                <a:spcPts val="600"/>
              </a:spcAft>
              <a:buSzPts val="1400"/>
              <a:buNone/>
            </a:pPr>
            <a:r>
              <a:rPr lang="en-US" dirty="0"/>
              <a:t>Quick check: what size will the state transition matrix F be? It must map a 2x1 state to a 2x1 state, so it is 2x2. On the next slide, you build it from basic kinematics.</a:t>
            </a:r>
          </a:p>
        </p:txBody>
      </p:sp>
      <p:sp>
        <p:nvSpPr>
          <p:cNvPr id="116" name="Google Shape;116;p29:notes">
            <a:extLst>
              <a:ext uri="{FF2B5EF4-FFF2-40B4-BE49-F238E27FC236}">
                <a16:creationId xmlns:a16="http://schemas.microsoft.com/office/drawing/2014/main" id="{7D4D3320-7050-32FD-1BB0-3ADEFCD950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139245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F9CF808-F51B-F2EF-08D2-8EC55233C33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3A7BE46-C214-ED6C-E719-84345C70E7F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"Kalman Filter Example," gives the physics behind the predict step for our train robot. It contains one line of motivation and two centered equations.</a:t>
            </a:r>
          </a:p>
          <a:p>
            <a:pPr marL="0" lvl="0" indent="0" algn="l" rtl="0">
              <a:lnSpc>
                <a:spcPct val="100000"/>
              </a:lnSpc>
              <a:spcBef>
                <a:spcPts val="0"/>
              </a:spcBef>
              <a:spcAft>
                <a:spcPts val="600"/>
              </a:spcAft>
              <a:buSzPts val="1400"/>
              <a:buNone/>
            </a:pPr>
            <a:r>
              <a:rPr lang="en-US" dirty="0"/>
              <a:t>The text reads: to predict the future state, we need basic kinematic equations. If our time step is delta t, the new position is the old position plus velocity times time. The first equation is p_new = p_old + v_old*Δt, read as "p new equals p old plus v old times delta t." Next, assuming a constant velocity model for simplicity, the new velocity is just the old velocity. The second equation is v_new = v_old, read as "v new equals v old."</a:t>
            </a:r>
          </a:p>
          <a:p>
            <a:pPr marL="0" lvl="0" indent="0" algn="l" rtl="0">
              <a:lnSpc>
                <a:spcPct val="100000"/>
              </a:lnSpc>
              <a:spcBef>
                <a:spcPts val="0"/>
              </a:spcBef>
              <a:spcAft>
                <a:spcPts val="600"/>
              </a:spcAft>
              <a:buSzPts val="1400"/>
              <a:buNone/>
            </a:pPr>
            <a:r>
              <a:rPr lang="en-US" dirty="0"/>
              <a:t>On the last slide you built the state vector x = [p; v], a 2 by 1 column of position and velocity. These two equations tell you how each entry of that vector moves forward one time step. Position changes because the train is moving. Velocity stays the same because the model has no information about acceleration.</a:t>
            </a:r>
          </a:p>
          <a:p>
            <a:pPr marL="0" lvl="0" indent="0" algn="l" rtl="0">
              <a:lnSpc>
                <a:spcPct val="100000"/>
              </a:lnSpc>
              <a:spcBef>
                <a:spcPts val="0"/>
              </a:spcBef>
              <a:spcAft>
                <a:spcPts val="600"/>
              </a:spcAft>
              <a:buSzPts val="1400"/>
              <a:buNone/>
            </a:pPr>
            <a:r>
              <a:rPr lang="en-US" dirty="0"/>
              <a:t>The real train does speed up and slow down. A constant velocity model does not claim otherwise. It says that over one short time step, any change in velocity is unknown to the model, so the filter treats it as uncertainty. That uncertainty is what the process noise covariance Q represents. A smaller Δt makes the model more accurate. On the robot, Δt is the period at which you run the filter.</a:t>
            </a:r>
          </a:p>
          <a:p>
            <a:pPr marL="0" lvl="0" indent="0" algn="l" rtl="0">
              <a:lnSpc>
                <a:spcPct val="100000"/>
              </a:lnSpc>
              <a:spcBef>
                <a:spcPts val="0"/>
              </a:spcBef>
              <a:spcAft>
                <a:spcPts val="600"/>
              </a:spcAft>
              <a:buSzPts val="1400"/>
              <a:buNone/>
            </a:pPr>
            <a:r>
              <a:rPr lang="en-US" dirty="0"/>
              <a:t>A common mistake is to use the updated velocity in the position equation. Notice that both new values depend only on the old values.</a:t>
            </a:r>
          </a:p>
          <a:p>
            <a:pPr marL="0" lvl="0" indent="0" algn="l" rtl="0">
              <a:lnSpc>
                <a:spcPct val="100000"/>
              </a:lnSpc>
              <a:spcBef>
                <a:spcPts val="0"/>
              </a:spcBef>
              <a:spcAft>
                <a:spcPts val="600"/>
              </a:spcAft>
              <a:buSzPts val="1400"/>
              <a:buNone/>
            </a:pPr>
            <a:r>
              <a:rPr lang="en-US" dirty="0"/>
              <a:t>Quick check: both equations are linear in p_old and v_old. On the next slide, we stack them into the state transition matrix F. Before moving on, try writing F yourself.</a:t>
            </a:r>
          </a:p>
        </p:txBody>
      </p:sp>
      <p:sp>
        <p:nvSpPr>
          <p:cNvPr id="116" name="Google Shape;116;p29:notes">
            <a:extLst>
              <a:ext uri="{FF2B5EF4-FFF2-40B4-BE49-F238E27FC236}">
                <a16:creationId xmlns:a16="http://schemas.microsoft.com/office/drawing/2014/main" id="{9B937272-7093-6FD7-E085-5B9E6F2D61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96396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82BF16C-AFE6-CC14-6489-586A27A61E3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3463129-C277-59E5-9C7F-4E0E8CA40E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takes the two kinematic equations from the previous slide and packs them into matrix form so they fit the Kalman filter's Predict step.</a:t>
            </a:r>
          </a:p>
          <a:p>
            <a:pPr marL="0" lvl="0" indent="0" algn="l" rtl="0">
              <a:lnSpc>
                <a:spcPct val="100000"/>
              </a:lnSpc>
              <a:spcBef>
                <a:spcPts val="0"/>
              </a:spcBef>
              <a:spcAft>
                <a:spcPts val="600"/>
              </a:spcAft>
              <a:buSzPts val="1400"/>
              <a:buNone/>
            </a:pPr>
            <a:r>
              <a:rPr lang="en-US" dirty="0"/>
              <a:t>At the top are the constant-velocity equations: p_new = p_old + v_old*Δt, and v_new = v_old. Below them is the same model written with the State Transition Matrix, F: the column vector [p_new; v_new] equals the 2x2 matrix [1, Δt; 0, 1] times the column vector [p_old; v_old]. Read the matrix row by row. The first row, 1 and Δt, gives 1*p_old + Δt*v_old, which is the position equation. The second row, 0 and 1, gives 0*p_old + 1*v_old, which is the velocity equation. So F is just the physics, written so it multiplies the state vector.</a:t>
            </a:r>
          </a:p>
          <a:p>
            <a:pPr marL="0" lvl="0" indent="0" algn="l" rtl="0">
              <a:lnSpc>
                <a:spcPct val="100000"/>
              </a:lnSpc>
              <a:spcBef>
                <a:spcPts val="0"/>
              </a:spcBef>
              <a:spcAft>
                <a:spcPts val="600"/>
              </a:spcAft>
              <a:buSzPts val="1400"/>
              <a:buNone/>
            </a:pPr>
            <a:r>
              <a:rPr lang="en-US" dirty="0"/>
              <a:t>The slide then says we now have all the information for the Predict step, and shows two equations. The predicted state is x_(k|k-1) = F*x_(k-1|k-1) + B*u_k. The predicted covariance is P_(k|k-1) = F*P_(k-1|k-1)*F^T + Q. In this train example nothing commands an acceleration, so the B*u_k term is zero. Q is the process noise: it accounts for the train not really moving at perfectly constant velocity.</a:t>
            </a:r>
          </a:p>
          <a:p>
            <a:pPr marL="0" lvl="0" indent="0" algn="l" rtl="0">
              <a:lnSpc>
                <a:spcPct val="100000"/>
              </a:lnSpc>
              <a:spcBef>
                <a:spcPts val="0"/>
              </a:spcBef>
              <a:spcAft>
                <a:spcPts val="600"/>
              </a:spcAft>
              <a:buSzPts val="1400"/>
              <a:buNone/>
            </a:pPr>
            <a:r>
              <a:rPr lang="en-US" dirty="0"/>
              <a:t>A common mistake is forgetting F^T in the covariance equation. Uncertainty transforms on both sides of P, and that is how velocity uncertainty leaks into position uncertainty over time.</a:t>
            </a:r>
          </a:p>
          <a:p>
            <a:pPr marL="0" lvl="0" indent="0" algn="l" rtl="0">
              <a:lnSpc>
                <a:spcPct val="100000"/>
              </a:lnSpc>
              <a:spcBef>
                <a:spcPts val="0"/>
              </a:spcBef>
              <a:spcAft>
                <a:spcPts val="600"/>
              </a:spcAft>
              <a:buSzPts val="1400"/>
              <a:buNone/>
            </a:pPr>
            <a:r>
              <a:rPr lang="en-US" dirty="0"/>
              <a:t>Quick check: if P starts diagonal, why does the predicted position variance still grow? Next, we connect this state to the noisy GPS through the observation matrix H.</a:t>
            </a:r>
          </a:p>
        </p:txBody>
      </p:sp>
      <p:sp>
        <p:nvSpPr>
          <p:cNvPr id="116" name="Google Shape;116;p29:notes">
            <a:extLst>
              <a:ext uri="{FF2B5EF4-FFF2-40B4-BE49-F238E27FC236}">
                <a16:creationId xmlns:a16="http://schemas.microsoft.com/office/drawing/2014/main" id="{9504BB3B-9234-C153-DF05-224DB5EBC0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32057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7B4AFD3-B6F8-BCCF-5882-112B2A3D262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A0966EA-1ACC-4A05-5645-7922321E32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train example. With the state transition matrix from the last slide, you have everything for the predict step. Now you set up the update step, which needs a way to compare your state estimate with what the sensor actually reports.</a:t>
            </a:r>
          </a:p>
          <a:p>
            <a:pPr marL="0" lvl="0" indent="0" algn="l" rtl="0">
              <a:lnSpc>
                <a:spcPct val="100000"/>
              </a:lnSpc>
              <a:spcBef>
                <a:spcPts val="0"/>
              </a:spcBef>
              <a:spcAft>
                <a:spcPts val="600"/>
              </a:spcAft>
              <a:buSzPts val="1400"/>
              <a:buNone/>
            </a:pPr>
            <a:r>
              <a:rPr lang="en-US" dirty="0"/>
              <a:t>The slide states that the train carries a noisy GPS unit. GPS directly measures position but cannot directly measure velocity. So you need an observation matrix, H, that pulls only the position out of the state vector so it can be compared with the GPS reading.</a:t>
            </a:r>
          </a:p>
          <a:p>
            <a:pPr marL="0" lvl="0" indent="0" algn="l" rtl="0">
              <a:lnSpc>
                <a:spcPct val="100000"/>
              </a:lnSpc>
              <a:spcBef>
                <a:spcPts val="0"/>
              </a:spcBef>
              <a:spcAft>
                <a:spcPts val="600"/>
              </a:spcAft>
              <a:buSzPts val="1400"/>
              <a:buNone/>
            </a:pPr>
            <a:r>
              <a:rPr lang="en-US" dirty="0"/>
              <a:t>The centered equation reads: z expected equals H times x, which equals the row vector one, zero times the column vector p, v, which equals p. In plain text: z_expected = H*x = [1 0]*[p; v] = p. The next line spells out the multiplication: 1*p + 0*v = p. The slide concludes that the 2D state has been translated into a 1D measurement.</a:t>
            </a:r>
          </a:p>
          <a:p>
            <a:pPr marL="0" lvl="0" indent="0" algn="l" rtl="0">
              <a:lnSpc>
                <a:spcPct val="100000"/>
              </a:lnSpc>
              <a:spcBef>
                <a:spcPts val="0"/>
              </a:spcBef>
              <a:spcAft>
                <a:spcPts val="600"/>
              </a:spcAft>
              <a:buSzPts val="1400"/>
              <a:buNone/>
            </a:pPr>
            <a:r>
              <a:rPr lang="en-US" dirty="0"/>
              <a:t>Check the dimensions. H is 1x2 and x is 2x1, so H*x is 1x1, a single number in the same units as the GPS reading. This matters in the update step, where the innovation y = z - H*x subtracts the predicted measurement from the real one. That subtraction only makes sense if both are in measurement space.</a:t>
            </a:r>
          </a:p>
          <a:p>
            <a:pPr marL="0" lvl="0" indent="0" algn="l" rtl="0">
              <a:lnSpc>
                <a:spcPct val="100000"/>
              </a:lnSpc>
              <a:spcBef>
                <a:spcPts val="0"/>
              </a:spcBef>
              <a:spcAft>
                <a:spcPts val="600"/>
              </a:spcAft>
              <a:buSzPts val="1400"/>
              <a:buNone/>
            </a:pPr>
            <a:r>
              <a:rPr lang="en-US" dirty="0"/>
              <a:t>A common mistake is writing H as a 2x1 column, or sizing it by the state alone. H always has one row per measurement and one column per state. As a quick check, suppose the robot's wheel encoders measured only velocity. What would H be? It would be [0 1].</a:t>
            </a:r>
          </a:p>
          <a:p>
            <a:pPr marL="0" lvl="0" indent="0" algn="l" rtl="0">
              <a:lnSpc>
                <a:spcPct val="100000"/>
              </a:lnSpc>
              <a:spcBef>
                <a:spcPts val="0"/>
              </a:spcBef>
              <a:spcAft>
                <a:spcPts val="600"/>
              </a:spcAft>
              <a:buSzPts val="1400"/>
              <a:buNone/>
            </a:pPr>
            <a:r>
              <a:rPr lang="en-US" dirty="0"/>
              <a:t>Next, you look at how noisy that GPS measurement is, which is the matrix R.</a:t>
            </a:r>
          </a:p>
        </p:txBody>
      </p:sp>
      <p:sp>
        <p:nvSpPr>
          <p:cNvPr id="116" name="Google Shape;116;p29:notes">
            <a:extLst>
              <a:ext uri="{FF2B5EF4-FFF2-40B4-BE49-F238E27FC236}">
                <a16:creationId xmlns:a16="http://schemas.microsoft.com/office/drawing/2014/main" id="{5D2BCE47-4A3F-9154-694A-3D5FA3DBB7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711889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0309B8E-3C0F-ABA9-E8AC-CA60970552E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D7483D0-CE68-D85A-22F5-C636F699A2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train example and fills in the measurement noise, R. The text reads: "Measurement Noise (R): The GPS datasheet says it has an accuracy of plus or minus 5 meters." It then asks, "What dimension is R?" and answers that R is a 1x1 matrix, a scalar, representing the variance of the sensor, which here is the GPS returning position only. Finally it asks, "Given that the standard deviation of the GPS is plus or minus 5, what is the variance?" The answer is shown centered at the bottom: R = [25].</a:t>
            </a:r>
          </a:p>
          <a:p>
            <a:pPr marL="0" lvl="0" indent="0" algn="l" rtl="0">
              <a:lnSpc>
                <a:spcPct val="100000"/>
              </a:lnSpc>
              <a:spcBef>
                <a:spcPts val="0"/>
              </a:spcBef>
              <a:spcAft>
                <a:spcPts val="600"/>
              </a:spcAft>
              <a:buSzPts val="1400"/>
              <a:buNone/>
            </a:pPr>
            <a:r>
              <a:rPr lang="en-US" dirty="0"/>
              <a:t>Think about dimensions first. On the previous slide you built the observation matrix H = [1 0], which turns the 2D state of position and velocity into a 1D measurement, position only. R describes the uncertainty of that measurement, so its size always matches the measurement vector: m by m for m measured quantities. One measurement gives a 1x1 matrix.</a:t>
            </a:r>
          </a:p>
          <a:p>
            <a:pPr marL="0" lvl="0" indent="0" algn="l" rtl="0">
              <a:lnSpc>
                <a:spcPct val="100000"/>
              </a:lnSpc>
              <a:spcBef>
                <a:spcPts val="0"/>
              </a:spcBef>
              <a:spcAft>
                <a:spcPts val="600"/>
              </a:spcAft>
              <a:buSzPts val="1400"/>
              <a:buNone/>
            </a:pPr>
            <a:r>
              <a:rPr lang="en-US" dirty="0"/>
              <a:t>Next, the value. The Kalman filter works with variances, not standard deviations. Variance is the standard deviation squared, so R = sigma^2 = 5^2 = 25, in units of meters squared. A common mistake is to put 5 directly into R. That tells the filter the GPS is much more precise than it really is, so the filter trusts the GPS too much.</a:t>
            </a:r>
          </a:p>
          <a:p>
            <a:pPr marL="0" lvl="0" indent="0" algn="l" rtl="0">
              <a:lnSpc>
                <a:spcPct val="100000"/>
              </a:lnSpc>
              <a:spcBef>
                <a:spcPts val="0"/>
              </a:spcBef>
              <a:spcAft>
                <a:spcPts val="600"/>
              </a:spcAft>
              <a:buSzPts val="1400"/>
              <a:buNone/>
            </a:pPr>
            <a:r>
              <a:rPr lang="en-US" dirty="0"/>
              <a:t>Also note that we are interpreting the datasheet's "accuracy" as one standard deviation. Datasheets are not always that clear, so on the robot you often refine R from logged sensor data.</a:t>
            </a:r>
          </a:p>
          <a:p>
            <a:pPr marL="0" lvl="0" indent="0" algn="l" rtl="0">
              <a:lnSpc>
                <a:spcPct val="100000"/>
              </a:lnSpc>
              <a:spcBef>
                <a:spcPts val="0"/>
              </a:spcBef>
              <a:spcAft>
                <a:spcPts val="600"/>
              </a:spcAft>
              <a:buSzPts val="1400"/>
              <a:buNone/>
            </a:pPr>
            <a:r>
              <a:rPr lang="en-US" dirty="0"/>
              <a:t>Quick check: if the GPS were rated at plus or minus 2 meters, what would R be? The answer is 4.</a:t>
            </a:r>
          </a:p>
          <a:p>
            <a:pPr marL="0" lvl="0" indent="0" algn="l" rtl="0">
              <a:lnSpc>
                <a:spcPct val="100000"/>
              </a:lnSpc>
              <a:spcBef>
                <a:spcPts val="0"/>
              </a:spcBef>
              <a:spcAft>
                <a:spcPts val="600"/>
              </a:spcAft>
              <a:buSzPts val="1400"/>
              <a:buNone/>
            </a:pPr>
            <a:r>
              <a:rPr lang="en-US" dirty="0"/>
              <a:t>Next, you do the same reasoning for the process noise, Q.</a:t>
            </a:r>
          </a:p>
        </p:txBody>
      </p:sp>
      <p:sp>
        <p:nvSpPr>
          <p:cNvPr id="116" name="Google Shape;116;p29:notes">
            <a:extLst>
              <a:ext uri="{FF2B5EF4-FFF2-40B4-BE49-F238E27FC236}">
                <a16:creationId xmlns:a16="http://schemas.microsoft.com/office/drawing/2014/main" id="{D58233D3-701B-B0FF-196F-48A624BB42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31619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78A8C3E-9DE5-09A6-77D4-FD149C3CE3F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A8DADE0-C3B4-A075-9103-2A3592964A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"Kalman Filter Example," continues the train example by defining the process noise, written Q. On the previous slide you found the measurement noise R. Now you account for the fact that the motion model itself is not perfect.</a:t>
            </a:r>
          </a:p>
          <a:p>
            <a:pPr marL="0" lvl="0" indent="0" algn="l" rtl="0">
              <a:lnSpc>
                <a:spcPct val="100000"/>
              </a:lnSpc>
              <a:spcBef>
                <a:spcPts val="0"/>
              </a:spcBef>
              <a:spcAft>
                <a:spcPts val="600"/>
              </a:spcAft>
              <a:buSzPts val="1400"/>
              <a:buNone/>
            </a:pPr>
            <a:r>
              <a:rPr lang="en-US" dirty="0"/>
              <a:t>The slide states that we assumed constant velocity, but wind gusts or voltage drops might slightly alter the speed. It then asks: since process noise is based on the state, what dimension is Q? The answer is that Q is a 2 by 2 matrix that injects uncertainty into both position and velocity during the predict step. The slide shows Q = [sigma_p^2, 0; 0, sigma_v^2]. In words, Q is a two by two matrix with the position variance, sigma p squared, in the top left, the velocity variance, sigma v squared, in the bottom right, and zeros off the diagonal.</a:t>
            </a:r>
          </a:p>
          <a:p>
            <a:pPr marL="0" lvl="0" indent="0" algn="l" rtl="0">
              <a:lnSpc>
                <a:spcPct val="100000"/>
              </a:lnSpc>
              <a:spcBef>
                <a:spcPts val="0"/>
              </a:spcBef>
              <a:spcAft>
                <a:spcPts val="600"/>
              </a:spcAft>
              <a:buSzPts val="1400"/>
              <a:buNone/>
            </a:pPr>
            <a:r>
              <a:rPr lang="en-US" dirty="0"/>
              <a:t>Why 2 by 2? Our state vector is [position; velocity], so the state covariance P is 2 by 2. In the predict step, P = F*P*F^T + Q, and you can only add matrices of the same size. So Q always matches the state dimension, while R always matches the measurement dimension. That is why R was 1 by 1 for the position-only GPS. A common mistake is to mix these up.</a:t>
            </a:r>
          </a:p>
          <a:p>
            <a:pPr marL="0" lvl="0" indent="0" algn="l" rtl="0">
              <a:lnSpc>
                <a:spcPct val="100000"/>
              </a:lnSpc>
              <a:spcBef>
                <a:spcPts val="0"/>
              </a:spcBef>
              <a:spcAft>
                <a:spcPts val="600"/>
              </a:spcAft>
              <a:buSzPts val="1400"/>
              <a:buNone/>
            </a:pPr>
            <a:r>
              <a:rPr lang="en-US" dirty="0"/>
              <a:t>The zeros off the diagonal mean we treat the position and velocity disturbances as independent. That is a simple and reasonable starting choice.</a:t>
            </a:r>
          </a:p>
          <a:p>
            <a:pPr marL="0" lvl="0" indent="0" algn="l" rtl="0">
              <a:lnSpc>
                <a:spcPct val="100000"/>
              </a:lnSpc>
              <a:spcBef>
                <a:spcPts val="0"/>
              </a:spcBef>
              <a:spcAft>
                <a:spcPts val="600"/>
              </a:spcAft>
              <a:buSzPts val="1400"/>
              <a:buNone/>
            </a:pPr>
            <a:r>
              <a:rPr lang="en-US" dirty="0"/>
              <a:t>A quick check: if Q were all zeros, what would happen to P over time? The filter would grow overconfident in its model and start ignoring the GPS.</a:t>
            </a:r>
          </a:p>
          <a:p>
            <a:pPr marL="0" lvl="0" indent="0" algn="l" rtl="0">
              <a:lnSpc>
                <a:spcPct val="100000"/>
              </a:lnSpc>
              <a:spcBef>
                <a:spcPts val="0"/>
              </a:spcBef>
              <a:spcAft>
                <a:spcPts val="600"/>
              </a:spcAft>
              <a:buSzPts val="1400"/>
              <a:buNone/>
            </a:pPr>
            <a:r>
              <a:rPr lang="en-US" dirty="0"/>
              <a:t>Next, you plug F, H, Q and R into the update step.</a:t>
            </a:r>
          </a:p>
        </p:txBody>
      </p:sp>
      <p:sp>
        <p:nvSpPr>
          <p:cNvPr id="116" name="Google Shape;116;p29:notes">
            <a:extLst>
              <a:ext uri="{FF2B5EF4-FFF2-40B4-BE49-F238E27FC236}">
                <a16:creationId xmlns:a16="http://schemas.microsoft.com/office/drawing/2014/main" id="{2D7E43FE-B2B5-96F6-8801-FBECA75D9B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7588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240AC17-02D0-ECE2-1210-ABE1D20ADAF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5AA2507-684D-C9C3-593C-17268A813A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completes the train example by plugging everything into the Update step. The text reads: "So now we have all the info to place into the Update step! (Simple right?)" Below that are three centered equations.</a:t>
            </a:r>
          </a:p>
          <a:p>
            <a:pPr marL="0" lvl="0" indent="0" algn="l" rtl="0">
              <a:lnSpc>
                <a:spcPct val="100000"/>
              </a:lnSpc>
              <a:spcBef>
                <a:spcPts val="0"/>
              </a:spcBef>
              <a:spcAft>
                <a:spcPts val="600"/>
              </a:spcAft>
              <a:buSzPts val="1400"/>
              <a:buNone/>
            </a:pPr>
            <a:r>
              <a:rPr lang="en-US" dirty="0"/>
              <a:t>First, the Kalman gain: K = P_(k|k-1) * H^T * (H * P_(k|k-1) * H^T + R)^(-1). In words, K equals the predicted covariance times H transpose, times the inverse of H times the predicted covariance times H transpose, plus R.</a:t>
            </a:r>
          </a:p>
          <a:p>
            <a:pPr marL="0" lvl="0" indent="0" algn="l" rtl="0">
              <a:lnSpc>
                <a:spcPct val="100000"/>
              </a:lnSpc>
              <a:spcBef>
                <a:spcPts val="0"/>
              </a:spcBef>
              <a:spcAft>
                <a:spcPts val="600"/>
              </a:spcAft>
              <a:buSzPts val="1400"/>
              <a:buNone/>
            </a:pPr>
            <a:r>
              <a:rPr lang="en-US" dirty="0"/>
              <a:t>Second, the state update: x_(k|k) = x_(k|k-1) + K * (z_k - H * x_(k|k-1)). The new estimate is the prediction plus the gain times the innovation. The innovation is the GPS measurement minus the position you predicted.</a:t>
            </a:r>
          </a:p>
          <a:p>
            <a:pPr marL="0" lvl="0" indent="0" algn="l" rtl="0">
              <a:lnSpc>
                <a:spcPct val="100000"/>
              </a:lnSpc>
              <a:spcBef>
                <a:spcPts val="0"/>
              </a:spcBef>
              <a:spcAft>
                <a:spcPts val="600"/>
              </a:spcAft>
              <a:buSzPts val="1400"/>
              <a:buNone/>
            </a:pPr>
            <a:r>
              <a:rPr lang="en-US" dirty="0"/>
              <a:t>Third, the covariance update: P_(k|k) = (I - K*H) * P_(k|k-1).</a:t>
            </a:r>
          </a:p>
          <a:p>
            <a:pPr marL="0" lvl="0" indent="0" algn="l" rtl="0">
              <a:lnSpc>
                <a:spcPct val="100000"/>
              </a:lnSpc>
              <a:spcBef>
                <a:spcPts val="0"/>
              </a:spcBef>
              <a:spcAft>
                <a:spcPts val="600"/>
              </a:spcAft>
              <a:buSzPts val="1400"/>
              <a:buNone/>
            </a:pPr>
            <a:r>
              <a:rPr lang="en-US" dirty="0"/>
              <a:t>The slide then says "And we are all done! (simpler than expected right?)" It ends by noting that the train example works perfectly with the standard Kalman filter because the math is strictly linear, just multiplication and addition. The matrix F is a linear transformation.</a:t>
            </a:r>
          </a:p>
          <a:p>
            <a:pPr marL="0" lvl="0" indent="0" algn="l" rtl="0">
              <a:lnSpc>
                <a:spcPct val="100000"/>
              </a:lnSpc>
              <a:spcBef>
                <a:spcPts val="0"/>
              </a:spcBef>
              <a:spcAft>
                <a:spcPts val="600"/>
              </a:spcAft>
              <a:buSzPts val="1400"/>
              <a:buNone/>
            </a:pPr>
            <a:r>
              <a:rPr lang="en-US" dirty="0"/>
              <a:t>Do a quick dimension check. The state holds position and velocity, so P is 2 by 2. The GPS measures position only, so H is 1 by 2 and R is 1 by 1. That makes H * P * H^T + R a scalar, so the "inverse" is just a division, and K comes out 2 by 1. Notice that one position measurement corrects both position and velocity, because P carries the correlation between them.</a:t>
            </a:r>
          </a:p>
          <a:p>
            <a:pPr marL="0" lvl="0" indent="0" algn="l" rtl="0">
              <a:lnSpc>
                <a:spcPct val="100000"/>
              </a:lnSpc>
              <a:spcBef>
                <a:spcPts val="0"/>
              </a:spcBef>
              <a:spcAft>
                <a:spcPts val="600"/>
              </a:spcAft>
              <a:buSzPts val="1400"/>
              <a:buNone/>
            </a:pPr>
            <a:r>
              <a:rPr lang="en-US" dirty="0"/>
              <a:t>A common mistake is to use the updated covariance P_(k|k) when computing K. K must use the predicted covariance P_(k|k-1).</a:t>
            </a:r>
          </a:p>
          <a:p>
            <a:pPr marL="0" lvl="0" indent="0" algn="l" rtl="0">
              <a:lnSpc>
                <a:spcPct val="100000"/>
              </a:lnSpc>
              <a:spcBef>
                <a:spcPts val="0"/>
              </a:spcBef>
              <a:spcAft>
                <a:spcPts val="600"/>
              </a:spcAft>
              <a:buSzPts val="1400"/>
              <a:buNone/>
            </a:pPr>
            <a:r>
              <a:rPr lang="en-US" dirty="0"/>
              <a:t>Here is a question to check your understanding: if R grows large, what happens to K? It shrinks, so the filter trusts the prediction more than the measurement.</a:t>
            </a:r>
          </a:p>
          <a:p>
            <a:pPr marL="0" lvl="0" indent="0" algn="l" rtl="0">
              <a:lnSpc>
                <a:spcPct val="100000"/>
              </a:lnSpc>
              <a:spcBef>
                <a:spcPts val="0"/>
              </a:spcBef>
              <a:spcAft>
                <a:spcPts val="600"/>
              </a:spcAft>
              <a:buSzPts val="1400"/>
              <a:buNone/>
            </a:pPr>
            <a:r>
              <a:rPr lang="en-US" dirty="0"/>
              <a:t>Next, consider your differential drive robot. Its motion involves sine and cosine of heading, so no constant F exists. That limitation motivates the Extended Kalman Filter.</a:t>
            </a:r>
          </a:p>
        </p:txBody>
      </p:sp>
      <p:sp>
        <p:nvSpPr>
          <p:cNvPr id="116" name="Google Shape;116;p29:notes">
            <a:extLst>
              <a:ext uri="{FF2B5EF4-FFF2-40B4-BE49-F238E27FC236}">
                <a16:creationId xmlns:a16="http://schemas.microsoft.com/office/drawing/2014/main" id="{79DF088F-0524-1EFD-D39E-7F1C7920C1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1592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7AACC8C-DB49-EF85-6E8C-D81DB85A14B6}"/>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24BC0A27-61CC-3CBB-66D9-EBE13A3888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"Extended (Nonlinear) Kalman Filter" in dark blue text on the orange Illinois background, with faint decorative sketches of equations and diagrams.</a:t>
            </a:r>
          </a:p>
          <a:p>
            <a:pPr marL="0" lvl="0" indent="0" algn="l" rtl="0">
              <a:spcBef>
                <a:spcPts val="0"/>
              </a:spcBef>
              <a:spcAft>
                <a:spcPts val="600"/>
              </a:spcAft>
              <a:buNone/>
            </a:pPr>
            <a:r>
              <a:rPr lang="en-US" dirty="0"/>
              <a:t>Our train example worked with the standard Kalman Filter because every equation was linear. Your differential drive robot is different: its motion depends on the heading angle through sine and cosine. Next you see why that breaks the standard filter and how the Extended Kalman Filter fixes it by linearizing around the current estimate.</a:t>
            </a:r>
          </a:p>
        </p:txBody>
      </p:sp>
      <p:sp>
        <p:nvSpPr>
          <p:cNvPr id="102" name="Google Shape;102;p28:notes">
            <a:extLst>
              <a:ext uri="{FF2B5EF4-FFF2-40B4-BE49-F238E27FC236}">
                <a16:creationId xmlns:a16="http://schemas.microsoft.com/office/drawing/2014/main" id="{66175557-1036-27F7-BFA8-5BD61EE71F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90325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6909F1F-F6DA-7A4E-DBC1-6E8372F05D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742B266-E0EE-4EFF-9F3E-FA74850712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why the train example breaks down on our actual robot. The text says that in lab we use differential drive platforms operating in a 2D plane. The state vector is x = [X, Y, theta]^T, read "x equals the column vector X, Y, theta": the robot's position in the plane and its heading angle.</a:t>
            </a:r>
          </a:p>
          <a:p>
            <a:pPr marL="0" lvl="0" indent="0" algn="l" rtl="0">
              <a:lnSpc>
                <a:spcPct val="100000"/>
              </a:lnSpc>
              <a:spcBef>
                <a:spcPts val="0"/>
              </a:spcBef>
              <a:spcAft>
                <a:spcPts val="600"/>
              </a:spcAft>
              <a:buSzPts val="1400"/>
              <a:buNone/>
            </a:pPr>
            <a:r>
              <a:rPr lang="en-US" dirty="0"/>
              <a:t>The slide then gives the physics for one time step dt, written as three centered equations:</a:t>
            </a:r>
          </a:p>
          <a:p>
            <a:pPr marL="0" lvl="0" indent="0" algn="l" rtl="0">
              <a:lnSpc>
                <a:spcPct val="100000"/>
              </a:lnSpc>
              <a:spcBef>
                <a:spcPts val="0"/>
              </a:spcBef>
              <a:spcAft>
                <a:spcPts val="600"/>
              </a:spcAft>
              <a:buSzPts val="1400"/>
              <a:buNone/>
            </a:pPr>
            <a:r>
              <a:rPr lang="en-US" dirty="0"/>
              <a:t>X_new = X_old + v*cos(theta)*dt, "X new equals X old plus v times cosine theta times dt."</a:t>
            </a:r>
          </a:p>
          <a:p>
            <a:pPr marL="0" lvl="0" indent="0" algn="l" rtl="0">
              <a:lnSpc>
                <a:spcPct val="100000"/>
              </a:lnSpc>
              <a:spcBef>
                <a:spcPts val="0"/>
              </a:spcBef>
              <a:spcAft>
                <a:spcPts val="600"/>
              </a:spcAft>
              <a:buSzPts val="1400"/>
              <a:buNone/>
            </a:pPr>
            <a:r>
              <a:rPr lang="en-US" dirty="0"/>
              <a:t>Y_new = Y_old + v*sin(theta)*dt, "Y new equals Y old plus v times sine theta times dt."</a:t>
            </a:r>
          </a:p>
          <a:p>
            <a:pPr marL="0" lvl="0" indent="0" algn="l" rtl="0">
              <a:lnSpc>
                <a:spcPct val="100000"/>
              </a:lnSpc>
              <a:spcBef>
                <a:spcPts val="0"/>
              </a:spcBef>
              <a:spcAft>
                <a:spcPts val="600"/>
              </a:spcAft>
              <a:buSzPts val="1400"/>
              <a:buNone/>
            </a:pPr>
            <a:r>
              <a:rPr lang="en-US" dirty="0"/>
              <a:t>theta_new = theta_old + omega*dt, "theta new equals theta old plus omega times dt."</a:t>
            </a:r>
          </a:p>
          <a:p>
            <a:pPr marL="0" lvl="0" indent="0" algn="l" rtl="0">
              <a:lnSpc>
                <a:spcPct val="100000"/>
              </a:lnSpc>
              <a:spcBef>
                <a:spcPts val="0"/>
              </a:spcBef>
              <a:spcAft>
                <a:spcPts val="600"/>
              </a:spcAft>
              <a:buSzPts val="1400"/>
              <a:buNone/>
            </a:pPr>
            <a:r>
              <a:rPr lang="en-US" dirty="0"/>
              <a:t>Here v is the forward speed and omega is the turn rate. On the robot you get both from the wheel encoders. The heading equation is linear, just like the train. The position equations are not, because theta enters through cosine and sine.</a:t>
            </a:r>
          </a:p>
          <a:p>
            <a:pPr marL="0" lvl="0" indent="0" algn="l" rtl="0">
              <a:lnSpc>
                <a:spcPct val="100000"/>
              </a:lnSpc>
              <a:spcBef>
                <a:spcPts val="0"/>
              </a:spcBef>
              <a:spcAft>
                <a:spcPts val="600"/>
              </a:spcAft>
              <a:buSzPts val="1400"/>
              <a:buNone/>
            </a:pPr>
            <a:r>
              <a:rPr lang="en-US" dirty="0"/>
              <a:t>The slide asks "What is the problem?" and answers it: you cannot create a constant linear matrix F that multiplies by theta to produce cos(theta). In the train example, F times the state gave the next state exactly. Here, no fixed set of numbers in F can turn theta into cos(theta). Any matrix that "works" would have to change with theta itself. So the standard predict step x_new = F*x has no valid F.</a:t>
            </a:r>
          </a:p>
          <a:p>
            <a:pPr marL="0" lvl="0" indent="0" algn="l" rtl="0">
              <a:lnSpc>
                <a:spcPct val="100000"/>
              </a:lnSpc>
              <a:spcBef>
                <a:spcPts val="0"/>
              </a:spcBef>
              <a:spcAft>
                <a:spcPts val="600"/>
              </a:spcAft>
              <a:buSzPts val="1400"/>
              <a:buNone/>
            </a:pPr>
            <a:r>
              <a:rPr lang="en-US" dirty="0"/>
              <a:t>Quick check: which of the three state variables updates linearly? Theta does. X and Y do not, because their updates depend on the current heading.</a:t>
            </a:r>
          </a:p>
          <a:p>
            <a:pPr marL="0" lvl="0" indent="0" algn="l" rtl="0">
              <a:lnSpc>
                <a:spcPct val="100000"/>
              </a:lnSpc>
              <a:spcBef>
                <a:spcPts val="0"/>
              </a:spcBef>
              <a:spcAft>
                <a:spcPts val="600"/>
              </a:spcAft>
              <a:buSzPts val="1400"/>
              <a:buNone/>
            </a:pPr>
            <a:r>
              <a:rPr lang="en-US" dirty="0"/>
              <a:t>The next slide explains why this matters beyond the algebra. Nonlinear functions also destroy the Gaussian assumption the Kalman filter relies on.</a:t>
            </a:r>
          </a:p>
        </p:txBody>
      </p:sp>
      <p:sp>
        <p:nvSpPr>
          <p:cNvPr id="116" name="Google Shape;116;p29:notes">
            <a:extLst>
              <a:ext uri="{FF2B5EF4-FFF2-40B4-BE49-F238E27FC236}">
                <a16:creationId xmlns:a16="http://schemas.microsoft.com/office/drawing/2014/main" id="{2A40BEE0-24B4-EE18-7F45-EF3FD3ED7E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66655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EE94CD9-5CDA-DC8C-3149-CFA3287788E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FEF8507-F0FD-65DB-70F7-82880D46B1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has no figures, only three statements on a white background under the title "Extended Kalman Filter." The first says the standard Kalman Filter guarantees an optimal estimate if and only if the system remains Gaussian, with "if and only if" in bold. The second says that a Gaussian passed through a linear function, such as 2x, stays Gaussian. The third says that a Gaussian passed through a highly nonlinear function, such as sine or cosine, becomes warped and skewed, which destroys the filter's assumptions.</a:t>
            </a:r>
          </a:p>
          <a:p>
            <a:pPr marL="0" lvl="0" indent="0" algn="l" rtl="0">
              <a:lnSpc>
                <a:spcPct val="100000"/>
              </a:lnSpc>
              <a:spcBef>
                <a:spcPts val="0"/>
              </a:spcBef>
              <a:spcAft>
                <a:spcPts val="600"/>
              </a:spcAft>
              <a:buSzPts val="1400"/>
              <a:buNone/>
            </a:pPr>
            <a:r>
              <a:rPr lang="en-US" dirty="0"/>
              <a:t>On the last slide you saw the problem: the differential drive motion model contains cos(theta) and sin(theta), so no constant matrix can carry the state forward. This slide explains why that matters.</a:t>
            </a:r>
          </a:p>
          <a:p>
            <a:pPr marL="0" lvl="0" indent="0" algn="l" rtl="0">
              <a:lnSpc>
                <a:spcPct val="100000"/>
              </a:lnSpc>
              <a:spcBef>
                <a:spcPts val="0"/>
              </a:spcBef>
              <a:spcAft>
                <a:spcPts val="600"/>
              </a:spcAft>
              <a:buSzPts val="1400"/>
              <a:buNone/>
            </a:pPr>
            <a:r>
              <a:rPr lang="en-US" dirty="0"/>
              <a:t>The Kalman Filter tracks only two things, a mean and a covariance. A Gaussian is completely described by those two numbers, so as long as every step keeps the belief Gaussian, the filter loses no information and its estimate is optimal. Linear functions preserve this. If x is Gaussian with mean mu and variance sigma^2, then y = 2x is Gaussian with mean 2*mu and variance 4*sigma^2. The shape is unchanged, only shifted and stretched.</a:t>
            </a:r>
          </a:p>
          <a:p>
            <a:pPr marL="0" lvl="0" indent="0" algn="l" rtl="0">
              <a:lnSpc>
                <a:spcPct val="100000"/>
              </a:lnSpc>
              <a:spcBef>
                <a:spcPts val="0"/>
              </a:spcBef>
              <a:spcAft>
                <a:spcPts val="600"/>
              </a:spcAft>
              <a:buSzPts val="1400"/>
              <a:buNone/>
            </a:pPr>
            <a:r>
              <a:rPr lang="en-US" dirty="0"/>
              <a:t>A nonlinear function changes the shape itself. Sine squashes values into the range minus 1 to 1 and piles probability up near the edges. The result can be skewed or even have several peaks. A mean and covariance can no longer describe it, so a filter that only stores those two numbers is wrong from that step on.</a:t>
            </a:r>
          </a:p>
          <a:p>
            <a:pPr marL="0" lvl="0" indent="0" algn="l" rtl="0">
              <a:lnSpc>
                <a:spcPct val="100000"/>
              </a:lnSpc>
              <a:spcBef>
                <a:spcPts val="0"/>
              </a:spcBef>
              <a:spcAft>
                <a:spcPts val="600"/>
              </a:spcAft>
              <a:buSzPts val="1400"/>
              <a:buNone/>
            </a:pPr>
            <a:r>
              <a:rPr lang="en-US" dirty="0"/>
              <a:t>A common misconception is that the Kalman Filter simply stops running on nonlinear systems. It still runs; it just loses its optimality guarantee.</a:t>
            </a:r>
          </a:p>
          <a:p>
            <a:pPr marL="0" lvl="0" indent="0" algn="l" rtl="0">
              <a:lnSpc>
                <a:spcPct val="100000"/>
              </a:lnSpc>
              <a:spcBef>
                <a:spcPts val="0"/>
              </a:spcBef>
              <a:spcAft>
                <a:spcPts val="600"/>
              </a:spcAft>
              <a:buSzPts val="1400"/>
              <a:buNone/>
            </a:pPr>
            <a:r>
              <a:rPr lang="en-US" dirty="0"/>
              <a:t>Quick check: is y = 3x + 5 safe for the standard filter? Yes, because it is linear, so the output is still Gaussian.</a:t>
            </a:r>
          </a:p>
          <a:p>
            <a:pPr marL="0" lvl="0" indent="0" algn="l" rtl="0">
              <a:lnSpc>
                <a:spcPct val="100000"/>
              </a:lnSpc>
              <a:spcBef>
                <a:spcPts val="0"/>
              </a:spcBef>
              <a:spcAft>
                <a:spcPts val="600"/>
              </a:spcAft>
              <a:buSzPts val="1400"/>
              <a:buNone/>
            </a:pPr>
            <a:r>
              <a:rPr lang="en-US" dirty="0"/>
              <a:t>The next slide shows this effect with histograms.</a:t>
            </a:r>
          </a:p>
        </p:txBody>
      </p:sp>
      <p:sp>
        <p:nvSpPr>
          <p:cNvPr id="116" name="Google Shape;116;p29:notes">
            <a:extLst>
              <a:ext uri="{FF2B5EF4-FFF2-40B4-BE49-F238E27FC236}">
                <a16:creationId xmlns:a16="http://schemas.microsoft.com/office/drawing/2014/main" id="{CEB94139-859D-89A6-FA09-E7BBD73455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9162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514E977-FEFA-9DB0-175D-A07C64292B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5460543-32B8-4D4D-40CB-44B12822066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three histograms side by side, each built from the same large set of random samples, and together they illustrate the point from the previous slide.</a:t>
            </a:r>
          </a:p>
          <a:p>
            <a:pPr marL="0" lvl="0" indent="0" algn="l" rtl="0">
              <a:lnSpc>
                <a:spcPct val="100000"/>
              </a:lnSpc>
              <a:spcBef>
                <a:spcPts val="0"/>
              </a:spcBef>
              <a:spcAft>
                <a:spcPts val="600"/>
              </a:spcAft>
              <a:buSzPts val="1400"/>
              <a:buNone/>
            </a:pPr>
            <a:r>
              <a:rPr lang="en-US" dirty="0"/>
              <a:t>The left histogram, in blue and titled "Gaussian," is a standard bell curve centered at 0 that spans roughly minus 4 to 4, so it has a standard deviation of about 1. The middle histogram, in pink and titled "Linear transform (2x)," shows every sample multiplied by 2. It is still a bell curve centered at 0, but it is twice as wide, spanning about minus 8 to 8. The right histogram, in orange and titled "Nonlinear transform (sin(x))," shows the sine of every sample. Its values are confined between minus 1 and 1. The middle is nearly flat, and there are tall spikes at both ends. It looks nothing like a bell.</a:t>
            </a:r>
          </a:p>
          <a:p>
            <a:pPr marL="0" lvl="0" indent="0" algn="l" rtl="0">
              <a:lnSpc>
                <a:spcPct val="100000"/>
              </a:lnSpc>
              <a:spcBef>
                <a:spcPts val="0"/>
              </a:spcBef>
              <a:spcAft>
                <a:spcPts val="600"/>
              </a:spcAft>
              <a:buSzPts val="1400"/>
              <a:buNone/>
            </a:pPr>
            <a:r>
              <a:rPr lang="en-US" dirty="0"/>
              <a:t>The key idea is this. A linear map keeps a Gaussian Gaussian. Here the mean becomes 2 times 0 = 0, and the standard deviation doubles, which means the variance multiplies by 4. That is exactly the F*P*F^T step you already use in the Kalman predict equation. Sine behaves differently. Near its peaks at plus and minus 1 the curve is almost flat, so a wide range of x values all land near plus or minus 1. Probability piles up there, and the result cannot be described by just a mean and a variance.</a:t>
            </a:r>
          </a:p>
          <a:p>
            <a:pPr marL="0" lvl="0" indent="0" algn="l" rtl="0">
              <a:lnSpc>
                <a:spcPct val="100000"/>
              </a:lnSpc>
              <a:spcBef>
                <a:spcPts val="0"/>
              </a:spcBef>
              <a:spcAft>
                <a:spcPts val="600"/>
              </a:spcAft>
              <a:buSzPts val="1400"/>
              <a:buNone/>
            </a:pPr>
            <a:r>
              <a:rPr lang="en-US" dirty="0"/>
              <a:t>A quick check: what would sin(x) look like if the input standard deviation were 0.1 instead of 1? Nearly Gaussian, because sine is close to linear near 0. Keep that intuition in mind, because it sets up the EKF's linearization trick.</a:t>
            </a:r>
          </a:p>
          <a:p>
            <a:pPr marL="0" lvl="0" indent="0" algn="l" rtl="0">
              <a:lnSpc>
                <a:spcPct val="100000"/>
              </a:lnSpc>
              <a:spcBef>
                <a:spcPts val="0"/>
              </a:spcBef>
              <a:spcAft>
                <a:spcPts val="600"/>
              </a:spcAft>
              <a:buSzPts val="1400"/>
              <a:buNone/>
            </a:pPr>
            <a:r>
              <a:rPr lang="en-US" dirty="0"/>
              <a:t>On the next slide, you see the same distortion appear in the robot's position when its heading uncertainty passes through cosine and sine.</a:t>
            </a:r>
          </a:p>
        </p:txBody>
      </p:sp>
      <p:sp>
        <p:nvSpPr>
          <p:cNvPr id="116" name="Google Shape;116;p29:notes">
            <a:extLst>
              <a:ext uri="{FF2B5EF4-FFF2-40B4-BE49-F238E27FC236}">
                <a16:creationId xmlns:a16="http://schemas.microsoft.com/office/drawing/2014/main" id="{DBD80051-E0C5-8E59-DA52-A170D38043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908216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AABA25B-E423-BE9F-5595-567B9ABE899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D7A4C99-91D7-61DB-55FD-B5D9C88C2DF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Extended Kalman Filter, shows a single scatter plot called "Monte Carlo Particles." The horizontal axis is global X position and the vertical axis is global Y position, both running from about minus 6 to 8. Thousands of small blue dots, labeled in the legend as "Monte Carlo (True Distribution)," form a curved, banana-shaped arc, not an elliptical cloud. The arc starts sparse near X minus 5, Y 2, rises to about Y 5 around X 0 to 1, then bends down through X 3, Y 4 to X 5, Y 0. It is densest between those last two points and thins into a tail near X 2 to 4, Y minus 4 to minus 5.</a:t>
            </a:r>
          </a:p>
          <a:p>
            <a:pPr marL="0" lvl="0" indent="0" algn="l" rtl="0">
              <a:lnSpc>
                <a:spcPct val="100000"/>
              </a:lnSpc>
              <a:spcBef>
                <a:spcPts val="0"/>
              </a:spcBef>
              <a:spcAft>
                <a:spcPts val="600"/>
              </a:spcAft>
              <a:buSzPts val="1400"/>
              <a:buNone/>
            </a:pPr>
            <a:r>
              <a:rPr lang="en-US" dirty="0"/>
              <a:t>This is the two-dimensional version of the sine histogram on the previous slide. Each particle is one possible outcome of a robot motion step from the origin, each with a slightly different heading and distance drawn from Gaussian noise. The new position goes through sine and cosine, roughly x = d*cos(theta) and y = d*sin(theta). Because heading uncertainty sweeps the robot along a circle of radius about 5, the Gaussian in heading becomes a curved arc in position. "Monte Carlo" means you find the true distribution by brute-force sampling: draw many random inputs, push each through the exact nonlinear model, and look at where they land.</a:t>
            </a:r>
          </a:p>
          <a:p>
            <a:pPr marL="0" lvl="0" indent="0" algn="l" rtl="0">
              <a:lnSpc>
                <a:spcPct val="100000"/>
              </a:lnSpc>
              <a:spcBef>
                <a:spcPts val="0"/>
              </a:spcBef>
              <a:spcAft>
                <a:spcPts val="600"/>
              </a:spcAft>
              <a:buSzPts val="1400"/>
              <a:buNone/>
            </a:pPr>
            <a:r>
              <a:rPr lang="en-US" dirty="0"/>
              <a:t>Here is a quick check. Could any single ellipse, which is what a Gaussian mean and covariance describe, capture this shape well? It cannot, and that is the core problem.</a:t>
            </a:r>
          </a:p>
          <a:p>
            <a:pPr marL="0" lvl="0" indent="0" algn="l" rtl="0">
              <a:lnSpc>
                <a:spcPct val="100000"/>
              </a:lnSpc>
              <a:spcBef>
                <a:spcPts val="0"/>
              </a:spcBef>
              <a:spcAft>
                <a:spcPts val="600"/>
              </a:spcAft>
              <a:buSzPts val="1400"/>
              <a:buNone/>
            </a:pPr>
            <a:r>
              <a:rPr lang="en-US" dirty="0"/>
              <a:t>Keep this banana in mind. Next you see how the Extended Kalman Filter linearizes the motion model to approximate it, and then how its ellipse compares to these particles.</a:t>
            </a:r>
          </a:p>
        </p:txBody>
      </p:sp>
      <p:sp>
        <p:nvSpPr>
          <p:cNvPr id="116" name="Google Shape;116;p29:notes">
            <a:extLst>
              <a:ext uri="{FF2B5EF4-FFF2-40B4-BE49-F238E27FC236}">
                <a16:creationId xmlns:a16="http://schemas.microsoft.com/office/drawing/2014/main" id="{7659C041-84E5-105C-1104-1AF1AB4A41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53894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B5C4102-3EB4-6C93-49B1-36C9161734B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95E0EB3-DD67-8DEA-3F92-BCF0006CE8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It introduces the Extended Kalman Filter, or EKF, as the answer to the problem from the last two slides: pushing a Gaussian through a nonlinear function, like sine of x or the robot's heading-dependent motion, produces a distribution that is no longer Gaussian, such as the banana-shaped particle cloud. The slide makes four points. The EKF uses a Taylor series expansion to approximate the nonlinear curves as straight lines at the current operating point. If you zoom in close enough to the robot's current state, the curve looks like a straight line. We use that temporary straight line, the tangent, to update our uncertainty. Finally, the slide asks which calculus tool finds these tangents, and answers: derivatives, in this case partial derivatives. (The slide spells it "Derivates.")</a:t>
            </a:r>
          </a:p>
          <a:p>
            <a:pPr marL="0" lvl="0" indent="0" algn="l" rtl="0">
              <a:lnSpc>
                <a:spcPct val="100000"/>
              </a:lnSpc>
              <a:spcBef>
                <a:spcPts val="0"/>
              </a:spcBef>
              <a:spcAft>
                <a:spcPts val="600"/>
              </a:spcAft>
              <a:buSzPts val="1400"/>
              <a:buNone/>
            </a:pPr>
            <a:r>
              <a:rPr lang="en-US" dirty="0"/>
              <a:t>Here is the idea in one dimension. A first-order Taylor expansion around an operating point x0 is f(x) ≈ f(x0) + f'(x0)*(x − x0). In words, the function is approximately its value at x0 plus its slope times the distance from x0. For example, near x0 = 0, sin(x) ≈ x. A linear function maps a Gaussian to a Gaussian, so the ordinary Kalman filter equations work again, with the slope taking the place of the linear model.</a:t>
            </a:r>
          </a:p>
          <a:p>
            <a:pPr marL="0" lvl="0" indent="0" algn="l" rtl="0">
              <a:lnSpc>
                <a:spcPct val="100000"/>
              </a:lnSpc>
              <a:spcBef>
                <a:spcPts val="0"/>
              </a:spcBef>
              <a:spcAft>
                <a:spcPts val="600"/>
              </a:spcAft>
              <a:buSzPts val="1400"/>
              <a:buNone/>
            </a:pPr>
            <a:r>
              <a:rPr lang="en-US" dirty="0"/>
              <a:t>The linearization is re-done at every time step around the newest estimate, which is why it is "temporary."</a:t>
            </a:r>
          </a:p>
          <a:p>
            <a:pPr marL="0" lvl="0" indent="0" algn="l" rtl="0">
              <a:lnSpc>
                <a:spcPct val="100000"/>
              </a:lnSpc>
              <a:spcBef>
                <a:spcPts val="0"/>
              </a:spcBef>
              <a:spcAft>
                <a:spcPts val="600"/>
              </a:spcAft>
              <a:buSzPts val="1400"/>
              <a:buNone/>
            </a:pPr>
            <a:r>
              <a:rPr lang="en-US" dirty="0"/>
              <a:t>A common mistake is assuming the tangent is always good. It only holds when the uncertainty is small compared with how sharply the function curves. The next slide shows what happens when it is not: the EKF ellipse misses much of the banana.</a:t>
            </a:r>
          </a:p>
          <a:p>
            <a:pPr marL="0" lvl="0" indent="0" algn="l" rtl="0">
              <a:lnSpc>
                <a:spcPct val="100000"/>
              </a:lnSpc>
              <a:spcBef>
                <a:spcPts val="0"/>
              </a:spcBef>
              <a:spcAft>
                <a:spcPts val="600"/>
              </a:spcAft>
              <a:buSzPts val="1400"/>
              <a:buNone/>
            </a:pPr>
            <a:r>
              <a:rPr lang="en-US" dirty="0"/>
              <a:t>Pause and ask: why partial derivatives rather than ordinary ones? Because the robot's state has several variables, x, y and theta. That leads to the Jacobian matrix on slide 81.</a:t>
            </a:r>
          </a:p>
        </p:txBody>
      </p:sp>
      <p:sp>
        <p:nvSpPr>
          <p:cNvPr id="116" name="Google Shape;116;p29:notes">
            <a:extLst>
              <a:ext uri="{FF2B5EF4-FFF2-40B4-BE49-F238E27FC236}">
                <a16:creationId xmlns:a16="http://schemas.microsoft.com/office/drawing/2014/main" id="{7AAC175E-D0B6-000C-A1A0-7DB48C0291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29185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4ED0362-EF11-0967-4FD0-F287BBC72E1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625C719-F614-3C0B-20CB-B5732A885C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"Monte Carlo plus EKF Bound," overlays the Extended Kalman Filter's uncertainty estimate on the true distribution from the previous slide. The axes are global X position, about minus 5 to 8, and global Y position, about minus 6 to 8. A black star at the origin marks the initial pose (x_0, y_0), labeled "Start." A gray dashed arrow, the nominal state update v*dt, runs up and to the right to an orange-red X near (3.5, 3.5). Thousands of blue Monte Carlo particles form the curved banana arc. It runs from about (minus 5, 2), over the top near (0, 5), and down to about (5, minus 4). An orange-red dashed ellipse, the EKF Cartesian two-sigma bound, is centered on the nominal point. Its long axis is tilted along the arc's tangent, reaching roughly from (minus 0.5, 7.8) to (7.7, minus 0.7), and it is narrow along the direction of travel.</a:t>
            </a:r>
          </a:p>
          <a:p>
            <a:pPr marL="0" lvl="0" indent="0" algn="l" rtl="0">
              <a:lnSpc>
                <a:spcPct val="100000"/>
              </a:lnSpc>
              <a:spcBef>
                <a:spcPts val="0"/>
              </a:spcBef>
              <a:spcAft>
                <a:spcPts val="600"/>
              </a:spcAft>
              <a:buSzPts val="1400"/>
              <a:buNone/>
            </a:pPr>
            <a:r>
              <a:rPr lang="en-US" dirty="0"/>
              <a:t>The banana comes from heading uncertainty. With x = x_0 + v*dt*cos(theta) and y = y_0 + v*dt*sin(theta), a spread in theta sweeps the robot along a circle of radius v*dt. The EKF replaces that circle with its tangent line at the nominal heading, which is why the ellipse is straight. It covers only the middle of the arc. It misses the two ends that curl back, and it reaches into empty space past the arc where no particles exist.</a:t>
            </a:r>
          </a:p>
          <a:p>
            <a:pPr marL="0" lvl="0" indent="0" algn="l" rtl="0">
              <a:lnSpc>
                <a:spcPct val="100000"/>
              </a:lnSpc>
              <a:spcBef>
                <a:spcPts val="0"/>
              </a:spcBef>
              <a:spcAft>
                <a:spcPts val="600"/>
              </a:spcAft>
              <a:buSzPts val="1400"/>
              <a:buNone/>
            </a:pPr>
            <a:r>
              <a:rPr lang="en-US" dirty="0"/>
              <a:t>The EKF is still very useful when uncertainty is small, because over a short stretch of arc the tangent is a good fit. Quick check: if you shrink the heading variance, what happens to the mismatch? Building that tangent requires partial derivatives, and the next slide arranges them into the Jacobian.</a:t>
            </a:r>
          </a:p>
        </p:txBody>
      </p:sp>
      <p:sp>
        <p:nvSpPr>
          <p:cNvPr id="116" name="Google Shape;116;p29:notes">
            <a:extLst>
              <a:ext uri="{FF2B5EF4-FFF2-40B4-BE49-F238E27FC236}">
                <a16:creationId xmlns:a16="http://schemas.microsoft.com/office/drawing/2014/main" id="{C1C75E86-BC04-2B82-3762-24F0AD6D70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423493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BE130F5-F146-AB3D-F781-2D92593828C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A616139-8ACB-C9CF-077A-7170673A28B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from two slides ago: which calculus tool gives us the tangent line? The text says that to find the linear approximation we take the derivative. Because our state has three variables, X, Y and theta, we take the partial derivative of every output equation with respect to every input state variable. We arrange these partial derivatives into a grid called the Jacobian matrix.</a:t>
            </a:r>
          </a:p>
          <a:p>
            <a:pPr marL="0" lvl="0" indent="0" algn="l" rtl="0">
              <a:lnSpc>
                <a:spcPct val="100000"/>
              </a:lnSpc>
              <a:spcBef>
                <a:spcPts val="0"/>
              </a:spcBef>
              <a:spcAft>
                <a:spcPts val="600"/>
              </a:spcAft>
              <a:buSzPts val="1400"/>
              <a:buNone/>
            </a:pPr>
            <a:r>
              <a:rPr lang="en-US" dirty="0"/>
              <a:t>The centered equation shows F as a 3 by 3 matrix. Row one holds partial f_1 with respect to X, then with respect to Y, then with respect to theta. Rows two and three follow the same pattern for f_2 and f_3. Here f_1, f_2 and f_3 are the motion-model equations that produce the new X, new Y and new theta. Each row is one output, and each column is one input state. The bottom-left entry is printed as "partial 3 over partial X"; it should read partial f_3 with respect to X.</a:t>
            </a:r>
          </a:p>
          <a:p>
            <a:pPr marL="0" lvl="0" indent="0" algn="l" rtl="0">
              <a:lnSpc>
                <a:spcPct val="100000"/>
              </a:lnSpc>
              <a:spcBef>
                <a:spcPts val="0"/>
              </a:spcBef>
              <a:spcAft>
                <a:spcPts val="600"/>
              </a:spcAft>
              <a:buSzPts val="1400"/>
              <a:buNone/>
            </a:pPr>
            <a:r>
              <a:rPr lang="en-US" dirty="0"/>
              <a:t>The last line says that in the EKF, this dynamic Jacobian replaces the static linear F matrix. In the linear Kalman filter, F is a constant. In the EKF, you re-evaluate the Jacobian at the current state estimate on every step, because the slope of a curve changes as you move along it. This is the tangent-line idea from the banana-shaped particle plot, extended to three dimensions.</a:t>
            </a:r>
          </a:p>
          <a:p>
            <a:pPr marL="0" lvl="0" indent="0" algn="l" rtl="0">
              <a:lnSpc>
                <a:spcPct val="100000"/>
              </a:lnSpc>
              <a:spcBef>
                <a:spcPts val="0"/>
              </a:spcBef>
              <a:spcAft>
                <a:spcPts val="600"/>
              </a:spcAft>
              <a:buSzPts val="1400"/>
              <a:buNone/>
            </a:pPr>
            <a:r>
              <a:rPr lang="en-US" dirty="0"/>
              <a:t>A common mistake is to compute the Jacobian once at startup and reuse it. Theta changes as the robot turns, so the Jacobian must be updated every time step.</a:t>
            </a:r>
          </a:p>
          <a:p>
            <a:pPr marL="0" lvl="0" indent="0" algn="l" rtl="0">
              <a:lnSpc>
                <a:spcPct val="100000"/>
              </a:lnSpc>
              <a:spcBef>
                <a:spcPts val="0"/>
              </a:spcBef>
              <a:spcAft>
                <a:spcPts val="600"/>
              </a:spcAft>
              <a:buSzPts val="1400"/>
              <a:buNone/>
            </a:pPr>
            <a:r>
              <a:rPr lang="en-US" dirty="0"/>
              <a:t>Check yourself: entry (row i, column j) tells you how sensitive output i is to a small change in state j.</a:t>
            </a:r>
          </a:p>
          <a:p>
            <a:pPr marL="0" lvl="0" indent="0" algn="l" rtl="0">
              <a:lnSpc>
                <a:spcPct val="100000"/>
              </a:lnSpc>
              <a:spcBef>
                <a:spcPts val="0"/>
              </a:spcBef>
              <a:spcAft>
                <a:spcPts val="600"/>
              </a:spcAft>
              <a:buSzPts val="1400"/>
              <a:buNone/>
            </a:pPr>
            <a:r>
              <a:rPr lang="en-US" dirty="0"/>
              <a:t>On the next slides, you compute the first row by differentiating the X position equation.</a:t>
            </a:r>
          </a:p>
        </p:txBody>
      </p:sp>
      <p:sp>
        <p:nvSpPr>
          <p:cNvPr id="116" name="Google Shape;116;p29:notes">
            <a:extLst>
              <a:ext uri="{FF2B5EF4-FFF2-40B4-BE49-F238E27FC236}">
                <a16:creationId xmlns:a16="http://schemas.microsoft.com/office/drawing/2014/main" id="{9A5C5B62-5209-4FAE-0D07-B96327C3B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04972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5C3BFF3-2998-EBC1-E291-76D3A5E994F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65A5021-3972-A98B-E106-76874921206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works the first row of the Jacobian by hand. The heading is "Extended Kalman Filter." The top line gives the X position equation from our motion model: f1 = X + v*cos(theta)*dt, read as "f one equals X plus v times cosine theta times d t." It says the new X position is the old X plus the distance traveled, v*dt, projected onto the X axis.</a:t>
            </a:r>
          </a:p>
          <a:p>
            <a:pPr marL="0" lvl="0" indent="0" algn="l" rtl="0">
              <a:lnSpc>
                <a:spcPct val="100000"/>
              </a:lnSpc>
              <a:spcBef>
                <a:spcPts val="0"/>
              </a:spcBef>
              <a:spcAft>
                <a:spcPts val="600"/>
              </a:spcAft>
              <a:buSzPts val="1400"/>
              <a:buNone/>
            </a:pPr>
            <a:r>
              <a:rPr lang="en-US" dirty="0"/>
              <a:t>Below that, the slide takes the partial derivative of f1 with respect to each state variable in turn.</a:t>
            </a:r>
          </a:p>
          <a:p>
            <a:pPr marL="0" lvl="0" indent="0" algn="l" rtl="0">
              <a:lnSpc>
                <a:spcPct val="100000"/>
              </a:lnSpc>
              <a:spcBef>
                <a:spcPts val="0"/>
              </a:spcBef>
              <a:spcAft>
                <a:spcPts val="600"/>
              </a:spcAft>
              <a:buSzPts val="1400"/>
              <a:buNone/>
            </a:pPr>
            <a:r>
              <a:rPr lang="en-US" dirty="0"/>
              <a:t>With respect to X: df1/dX = 1. X appears by itself, and v*cos(theta)*dt contains no X, so it acts as a constant.</a:t>
            </a:r>
          </a:p>
          <a:p>
            <a:pPr marL="0" lvl="0" indent="0" algn="l" rtl="0">
              <a:lnSpc>
                <a:spcPct val="100000"/>
              </a:lnSpc>
              <a:spcBef>
                <a:spcPts val="0"/>
              </a:spcBef>
              <a:spcAft>
                <a:spcPts val="600"/>
              </a:spcAft>
              <a:buSzPts val="1400"/>
              <a:buNone/>
            </a:pPr>
            <a:r>
              <a:rPr lang="en-US" dirty="0"/>
              <a:t>With respect to Y: df1/dY = 0. Y does not appear anywhere in f1, so changing Y has no effect on the new X.</a:t>
            </a:r>
          </a:p>
          <a:p>
            <a:pPr marL="0" lvl="0" indent="0" algn="l" rtl="0">
              <a:lnSpc>
                <a:spcPct val="100000"/>
              </a:lnSpc>
              <a:spcBef>
                <a:spcPts val="0"/>
              </a:spcBef>
              <a:spcAft>
                <a:spcPts val="600"/>
              </a:spcAft>
              <a:buSzPts val="1400"/>
              <a:buNone/>
            </a:pPr>
            <a:r>
              <a:rPr lang="en-US" dirty="0"/>
              <a:t>With respect to theta: the only term that depends on theta is v*cos(theta)*dt, and the derivative of cos is minus sin. That gives df1/dtheta = -v*sin(theta)*dt, read as "minus v times sine theta times d t." Velocity v and timestep dt are treated as constants here because they are inputs, not states.</a:t>
            </a:r>
          </a:p>
          <a:p>
            <a:pPr marL="0" lvl="0" indent="0" algn="l" rtl="0">
              <a:lnSpc>
                <a:spcPct val="100000"/>
              </a:lnSpc>
              <a:spcBef>
                <a:spcPts val="0"/>
              </a:spcBef>
              <a:spcAft>
                <a:spcPts val="600"/>
              </a:spcAft>
              <a:buSzPts val="1400"/>
              <a:buNone/>
            </a:pPr>
            <a:r>
              <a:rPr lang="en-US" dirty="0"/>
              <a:t>These three values form the first row of the Jacobian. They tell you how a small error in each state variable spreads into the predicted X. The theta entry carries the nonlinearity from the previous slide's banana-shaped particle cloud: a heading error shifts X by an amount that depends on the current speed and heading.</a:t>
            </a:r>
          </a:p>
          <a:p>
            <a:pPr marL="0" lvl="0" indent="0" algn="l" rtl="0">
              <a:lnSpc>
                <a:spcPct val="100000"/>
              </a:lnSpc>
              <a:spcBef>
                <a:spcPts val="0"/>
              </a:spcBef>
              <a:spcAft>
                <a:spcPts val="600"/>
              </a:spcAft>
              <a:buSzPts val="1400"/>
              <a:buNone/>
            </a:pPr>
            <a:r>
              <a:rPr lang="en-US" dirty="0"/>
              <a:t>A common mistake is dropping the minus sign, or writing 0 for the X entry instead of 1. Before the next slide, try the Y equation, f2 = Y + v*sin(theta)*dt, yourself. Which entry picks up a cosine?</a:t>
            </a:r>
          </a:p>
        </p:txBody>
      </p:sp>
      <p:sp>
        <p:nvSpPr>
          <p:cNvPr id="116" name="Google Shape;116;p29:notes">
            <a:extLst>
              <a:ext uri="{FF2B5EF4-FFF2-40B4-BE49-F238E27FC236}">
                <a16:creationId xmlns:a16="http://schemas.microsoft.com/office/drawing/2014/main" id="{B830E503-45B6-A350-3FB9-53F0B74C31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5819031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0A60F21-1285-A761-8CC5-273190358FD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0087409-A165-2EE9-C043-A901077437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repeats the process from the previous slide, now for the second row of the Jacobian: the Y position equation, f_2 = Y + v*sin(theta)*dt. In words, the new Y position equals the old Y position plus velocity times the sine of the heading times the time step.</a:t>
            </a:r>
          </a:p>
          <a:p>
            <a:pPr marL="0" lvl="0" indent="0" algn="l" rtl="0">
              <a:lnSpc>
                <a:spcPct val="100000"/>
              </a:lnSpc>
              <a:spcBef>
                <a:spcPts val="0"/>
              </a:spcBef>
              <a:spcAft>
                <a:spcPts val="600"/>
              </a:spcAft>
              <a:buSzPts val="1400"/>
              <a:buNone/>
            </a:pPr>
            <a:r>
              <a:rPr lang="en-US" dirty="0"/>
              <a:t>The slide takes three partial derivatives, one for each state variable. With respect to X: d f_2 / d X = 0. With respect to Y: d f_2 / d Y = 1. With respect to theta, the slide notes that we differentiate the term v*sin(theta)*dt, and that the derivative of sine is cosine, giving d f_2 / d theta = v*cos(theta)*dt.</a:t>
            </a:r>
          </a:p>
          <a:p>
            <a:pPr marL="0" lvl="0" indent="0" algn="l" rtl="0">
              <a:lnSpc>
                <a:spcPct val="100000"/>
              </a:lnSpc>
              <a:spcBef>
                <a:spcPts val="0"/>
              </a:spcBef>
              <a:spcAft>
                <a:spcPts val="600"/>
              </a:spcAft>
              <a:buSzPts val="1400"/>
              <a:buNone/>
            </a:pPr>
            <a:r>
              <a:rPr lang="en-US" dirty="0"/>
              <a:t>Here is why each result comes out the way it does. X does not appear anywhere in f_2, so changing X has no effect on the new Y and the partial is zero. Y appears alone with a coefficient of one, so the partial is one. For theta, the old Y has no theta in it and drops out. Velocity v and the time step dt are treated as constants, so only sin(theta) gets differentiated.</a:t>
            </a:r>
          </a:p>
          <a:p>
            <a:pPr marL="0" lvl="0" indent="0" algn="l" rtl="0">
              <a:lnSpc>
                <a:spcPct val="100000"/>
              </a:lnSpc>
              <a:spcBef>
                <a:spcPts val="0"/>
              </a:spcBef>
              <a:spcAft>
                <a:spcPts val="600"/>
              </a:spcAft>
              <a:buSzPts val="1400"/>
              <a:buNone/>
            </a:pPr>
            <a:r>
              <a:rPr lang="en-US" dirty="0"/>
              <a:t>A common mistake is mixing up the signs between the two rows. The derivative of cos is negative sine, which is why the X row on the previous slide had -v*sin(theta)*dt. The derivative of sin is positive cosine, so there is no minus sign here.</a:t>
            </a:r>
          </a:p>
          <a:p>
            <a:pPr marL="0" lvl="0" indent="0" algn="l" rtl="0">
              <a:lnSpc>
                <a:spcPct val="100000"/>
              </a:lnSpc>
              <a:spcBef>
                <a:spcPts val="0"/>
              </a:spcBef>
              <a:spcAft>
                <a:spcPts val="600"/>
              </a:spcAft>
              <a:buSzPts val="1400"/>
              <a:buNone/>
            </a:pPr>
            <a:r>
              <a:rPr lang="en-US" dirty="0"/>
              <a:t>Quick check: if the robot is heading straight along the X axis (theta = 0), how sensitive is the predicted Y to a small heading error? It is v*dt, the largest it can be.</a:t>
            </a:r>
          </a:p>
          <a:p>
            <a:pPr marL="0" lvl="0" indent="0" algn="l" rtl="0">
              <a:lnSpc>
                <a:spcPct val="100000"/>
              </a:lnSpc>
              <a:spcBef>
                <a:spcPts val="0"/>
              </a:spcBef>
              <a:spcAft>
                <a:spcPts val="600"/>
              </a:spcAft>
              <a:buSzPts val="1400"/>
              <a:buNone/>
            </a:pPr>
            <a:r>
              <a:rPr lang="en-US" dirty="0"/>
              <a:t>Next, you put both rows together with the heading row to form the full state transition Jacobian F_k.</a:t>
            </a:r>
          </a:p>
        </p:txBody>
      </p:sp>
      <p:sp>
        <p:nvSpPr>
          <p:cNvPr id="116" name="Google Shape;116;p29:notes">
            <a:extLst>
              <a:ext uri="{FF2B5EF4-FFF2-40B4-BE49-F238E27FC236}">
                <a16:creationId xmlns:a16="http://schemas.microsoft.com/office/drawing/2014/main" id="{8E8D41AC-E8D1-444A-7ECF-850E38249E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83333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0C93D05-D048-7F42-AB7A-D5E98EFD11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73FFE39-2E08-DEA2-D0C1-943286573C3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assembles the partial derivatives from the last two slides into one matrix, the Jacobian of our motion model, which the Extended Kalman Filter uses as its state transition matrix. The equation reads: F_k equals a 3-by-3 matrix. Row one is 1, 0, minus v_k times sine of theta_k times dt. Row two is 0, 1, v_k times cosine of theta_k times dt. Row three is 0, 0, 1. In plain text: F_k = [[1, 0, -v_k*sin(theta_k)*dt], [0, 1, v_k*cos(theta_k)*dt], [0, 0, 1]]. Below it, the slide points out the subscript k: this matrix is no longer static, and you must recalculate F_k on your microcontroller every loop from your current velocity and heading.</a:t>
            </a:r>
          </a:p>
          <a:p>
            <a:pPr marL="0" lvl="0" indent="0" algn="l" rtl="0">
              <a:lnSpc>
                <a:spcPct val="100000"/>
              </a:lnSpc>
              <a:spcBef>
                <a:spcPts val="0"/>
              </a:spcBef>
              <a:spcAft>
                <a:spcPts val="600"/>
              </a:spcAft>
              <a:buSzPts val="1400"/>
              <a:buNone/>
            </a:pPr>
            <a:r>
              <a:rPr lang="en-US" dirty="0"/>
              <a:t>Each row corresponds to one state, x, y and theta, and each column to the variable we differentiate with respect to. The identity-like entries say each coordinate depends directly on its own previous value. The third column is the nonlinear part: a small error in heading moves the predicted position sideways by an amount proportional to how fast you are going. That coupling lets the filter grow position uncertainty correctly when heading is uncertain.</a:t>
            </a:r>
          </a:p>
          <a:p>
            <a:pPr marL="0" lvl="0" indent="0" algn="l" rtl="0">
              <a:lnSpc>
                <a:spcPct val="100000"/>
              </a:lnSpc>
              <a:spcBef>
                <a:spcPts val="0"/>
              </a:spcBef>
              <a:spcAft>
                <a:spcPts val="600"/>
              </a:spcAft>
              <a:buSzPts val="1400"/>
              <a:buNone/>
            </a:pPr>
            <a:r>
              <a:rPr lang="en-US" dirty="0"/>
              <a:t>In the linear Kalman filter example, F was a constant you could write once. Here it depends on the operating point, so in your code you rebuild F_k each sample period, typically from the latest velocity and the current heading estimate theta_k, in radians. A common mistake is computing it once at startup and never updating it.</a:t>
            </a:r>
          </a:p>
          <a:p>
            <a:pPr marL="0" lvl="0" indent="0" algn="l" rtl="0">
              <a:lnSpc>
                <a:spcPct val="100000"/>
              </a:lnSpc>
              <a:spcBef>
                <a:spcPts val="0"/>
              </a:spcBef>
              <a:spcAft>
                <a:spcPts val="600"/>
              </a:spcAft>
              <a:buSzPts val="1400"/>
              <a:buNone/>
            </a:pPr>
            <a:r>
              <a:rPr lang="en-US" dirty="0"/>
              <a:t>Quick check: what does F_k become when the robot is stopped? (The identity matrix.) Next, we put F_k into the predict step.</a:t>
            </a:r>
          </a:p>
        </p:txBody>
      </p:sp>
      <p:sp>
        <p:nvSpPr>
          <p:cNvPr id="116" name="Google Shape;116;p29:notes">
            <a:extLst>
              <a:ext uri="{FF2B5EF4-FFF2-40B4-BE49-F238E27FC236}">
                <a16:creationId xmlns:a16="http://schemas.microsoft.com/office/drawing/2014/main" id="{6857A8B0-7949-D766-3BFE-FA66597D39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886172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570BEC5-7418-FD2C-D380-EE4AFEB39629}"/>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AADCD4BB-BB07-662C-B81E-4FDEE064C54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divider reads "Predict" in large white letters with an orange underline, on the course's dark blue background with faint hand-drawn math sketches.</a:t>
            </a:r>
          </a:p>
          <a:p>
            <a:pPr marL="0" lvl="0" indent="0" algn="l" rtl="0">
              <a:spcBef>
                <a:spcPts val="0"/>
              </a:spcBef>
              <a:spcAft>
                <a:spcPts val="600"/>
              </a:spcAft>
              <a:buNone/>
            </a:pPr>
            <a:r>
              <a:rPr lang="en-US" dirty="0"/>
              <a:t>You have just built the Jacobian F_k, which you must recompute every loop from your current velocity and heading. Now you put it to work in the extended Kalman filter's predict step. The structure is the same as the linear filter: predict the state, then predict the covariance. The difference is that the state uses the nonlinear motion model f directly, and the covariance uses F_k.</a:t>
            </a:r>
          </a:p>
        </p:txBody>
      </p:sp>
      <p:sp>
        <p:nvSpPr>
          <p:cNvPr id="87" name="Google Shape;87;p27:notes">
            <a:extLst>
              <a:ext uri="{FF2B5EF4-FFF2-40B4-BE49-F238E27FC236}">
                <a16:creationId xmlns:a16="http://schemas.microsoft.com/office/drawing/2014/main" id="{0D443E71-49D3-63C2-22DC-0E27479103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10441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C56A0AD-0932-3447-E51B-0AC42DDA24B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8D153ED-98C9-CA51-0075-B24544B939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the predict step of the Extended Kalman Filter. The text says the structure of the Kalman filter stays exactly the same; you only swap in the nonlinear functions and the Jacobian we just derived.</a:t>
            </a:r>
          </a:p>
          <a:p>
            <a:pPr marL="0" lvl="0" indent="0" algn="l" rtl="0">
              <a:lnSpc>
                <a:spcPct val="100000"/>
              </a:lnSpc>
              <a:spcBef>
                <a:spcPts val="0"/>
              </a:spcBef>
              <a:spcAft>
                <a:spcPts val="600"/>
              </a:spcAft>
              <a:buSzPts val="1400"/>
              <a:buNone/>
            </a:pPr>
            <a:r>
              <a:rPr lang="en-US" dirty="0"/>
              <a:t>Under the bold heading "State Prediction," the slide says that instead of the F matrix, you use the raw, nonlinear physics equations, and it names that function g. The equation reads: x_(k|k-1) = g(x_(k-1|k-1), u_k). In words, the predicted state at step k, given information up to step k minus 1, equals g applied to the previous best estimate and the current input u_k. Here u_k holds the forward velocity v and turn rate omega.</a:t>
            </a:r>
          </a:p>
          <a:p>
            <a:pPr marL="0" lvl="0" indent="0" algn="l" rtl="0">
              <a:lnSpc>
                <a:spcPct val="100000"/>
              </a:lnSpc>
              <a:spcBef>
                <a:spcPts val="0"/>
              </a:spcBef>
              <a:spcAft>
                <a:spcPts val="600"/>
              </a:spcAft>
              <a:buSzPts val="1400"/>
              <a:buNone/>
            </a:pPr>
            <a:r>
              <a:rPr lang="en-US" dirty="0"/>
              <a:t>For our robot, g(X, Y, theta) is three lines. X_new = X_old + v*cos(theta)*dt, Y_new = Y_old + v*sin(theta)*dt, and theta_new = theta_old + omega*dt. This is the same dead-reckoning update you use on the robot from wheel encoders and the gyro.</a:t>
            </a:r>
          </a:p>
          <a:p>
            <a:pPr marL="0" lvl="0" indent="0" algn="l" rtl="0">
              <a:lnSpc>
                <a:spcPct val="100000"/>
              </a:lnSpc>
              <a:spcBef>
                <a:spcPts val="0"/>
              </a:spcBef>
              <a:spcAft>
                <a:spcPts val="600"/>
              </a:spcAft>
              <a:buSzPts val="1400"/>
              <a:buNone/>
            </a:pPr>
            <a:r>
              <a:rPr lang="en-US" dirty="0"/>
              <a:t>The key point is that the state itself is never linearized. You propagate the estimate through the exact nonlinear model, so the mean follows the true kinematics. The Jacobian from the last slide, recomputed every loop from the current v and theta, is used only for propagating uncertainty.</a:t>
            </a:r>
          </a:p>
          <a:p>
            <a:pPr marL="0" lvl="0" indent="0" algn="l" rtl="0">
              <a:lnSpc>
                <a:spcPct val="100000"/>
              </a:lnSpc>
              <a:spcBef>
                <a:spcPts val="0"/>
              </a:spcBef>
              <a:spcAft>
                <a:spcPts val="600"/>
              </a:spcAft>
              <a:buSzPts val="1400"/>
              <a:buNone/>
            </a:pPr>
            <a:r>
              <a:rPr lang="en-US" dirty="0"/>
              <a:t>A common mistake is computing the predicted state as the Jacobian times the old state. That is wrong in the EKF. Use g for the state and the Jacobian only for the covariance. Also use theta_old, not theta_new, inside the cosine and sine.</a:t>
            </a:r>
          </a:p>
          <a:p>
            <a:pPr marL="0" lvl="0" indent="0" algn="l" rtl="0">
              <a:lnSpc>
                <a:spcPct val="100000"/>
              </a:lnSpc>
              <a:spcBef>
                <a:spcPts val="0"/>
              </a:spcBef>
              <a:spcAft>
                <a:spcPts val="600"/>
              </a:spcAft>
              <a:buSzPts val="1400"/>
              <a:buNone/>
            </a:pPr>
            <a:r>
              <a:rPr lang="en-US" dirty="0"/>
              <a:t>Next, we use that Jacobian to predict the covariance and see how it reshapes the uncertainty ellipse.</a:t>
            </a:r>
          </a:p>
        </p:txBody>
      </p:sp>
      <p:sp>
        <p:nvSpPr>
          <p:cNvPr id="116" name="Google Shape;116;p29:notes">
            <a:extLst>
              <a:ext uri="{FF2B5EF4-FFF2-40B4-BE49-F238E27FC236}">
                <a16:creationId xmlns:a16="http://schemas.microsoft.com/office/drawing/2014/main" id="{A4982073-417D-42A8-B5DF-51D3A11D31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934540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2F552EE-C4C3-DECD-067F-E711C9FB2A7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A02870C-F939-3827-6974-35A8C563BA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the covariance prediction step of the Extended Kalman Filter. The text reads: "Covariance Prediction: We use our calculated Jacobian F_k to warp the uncertainty ellipse properly." Below it is the centered equation P_(k|k-1) = F_k * P_(k-1|k-1) * F_k^T + Q. In words: the predicted covariance at step k, given information up to step k minus 1, equals the Jacobian F_k times the previous corrected covariance times the transpose of F_k, plus the process noise covariance Q. The slide ends with a question: "What dimension is Q in our nonlinear case?"</a:t>
            </a:r>
          </a:p>
          <a:p>
            <a:pPr marL="0" lvl="0" indent="0" algn="l" rtl="0">
              <a:lnSpc>
                <a:spcPct val="100000"/>
              </a:lnSpc>
              <a:spcBef>
                <a:spcPts val="0"/>
              </a:spcBef>
              <a:spcAft>
                <a:spcPts val="600"/>
              </a:spcAft>
              <a:buSzPts val="1400"/>
              <a:buNone/>
            </a:pPr>
            <a:r>
              <a:rPr lang="en-US" dirty="0"/>
              <a:t>On the previous slide, the state prediction used the raw nonlinear motion function f. Covariance cannot be pushed through a nonlinear function exactly, so the EKF linearizes f around the current estimate. F_k is the Jacobian of f with respect to the state, evaluated at that estimate, and it stands in for the A matrix of the linear filter. Multiplying by F_k on the left and F_k^T on the right stretches and rotates the uncertainty ellipse. For a turning robot, uncertainty in heading theta turns into sideways position uncertainty. Q then adds the new uncertainty from the motion itself, such as wheel slip and encoder error.</a:t>
            </a:r>
          </a:p>
          <a:p>
            <a:pPr marL="0" lvl="0" indent="0" algn="l" rtl="0">
              <a:lnSpc>
                <a:spcPct val="100000"/>
              </a:lnSpc>
              <a:spcBef>
                <a:spcPts val="0"/>
              </a:spcBef>
              <a:spcAft>
                <a:spcPts val="600"/>
              </a:spcAft>
              <a:buSzPts val="1400"/>
              <a:buNone/>
            </a:pPr>
            <a:r>
              <a:rPr lang="en-US" dirty="0"/>
              <a:t>Answer to the question: Q must have the same size as P, which is n by n for an n-dimensional state. For our robot state x, y, theta, Q is 3 by 3.</a:t>
            </a:r>
          </a:p>
          <a:p>
            <a:pPr marL="0" lvl="0" indent="0" algn="l" rtl="0">
              <a:lnSpc>
                <a:spcPct val="100000"/>
              </a:lnSpc>
              <a:spcBef>
                <a:spcPts val="0"/>
              </a:spcBef>
              <a:spcAft>
                <a:spcPts val="600"/>
              </a:spcAft>
              <a:buSzPts val="1400"/>
              <a:buNone/>
            </a:pPr>
            <a:r>
              <a:rPr lang="en-US" dirty="0"/>
              <a:t>A common mistake is to write the noise in terms of the inputs, v and omega, as a 2 by 2 matrix and add it to P directly. That noise must first be mapped into state space.</a:t>
            </a:r>
          </a:p>
          <a:p>
            <a:pPr marL="0" lvl="0" indent="0" algn="l" rtl="0">
              <a:lnSpc>
                <a:spcPct val="100000"/>
              </a:lnSpc>
              <a:spcBef>
                <a:spcPts val="0"/>
              </a:spcBef>
              <a:spcAft>
                <a:spcPts val="600"/>
              </a:spcAft>
              <a:buSzPts val="1400"/>
              <a:buNone/>
            </a:pPr>
            <a:r>
              <a:rPr lang="en-US" dirty="0"/>
              <a:t>Next, you see what this linearized ellipse misses when the true distribution curves.</a:t>
            </a:r>
          </a:p>
        </p:txBody>
      </p:sp>
      <p:sp>
        <p:nvSpPr>
          <p:cNvPr id="116" name="Google Shape;116;p29:notes">
            <a:extLst>
              <a:ext uri="{FF2B5EF4-FFF2-40B4-BE49-F238E27FC236}">
                <a16:creationId xmlns:a16="http://schemas.microsoft.com/office/drawing/2014/main" id="{C3932640-425F-A7CA-A960-BEC0AC8F37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202480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87F42AF-955E-09DA-B1E4-FC0AC04F9E5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BE38B6A-EAFD-B64E-5702-3262DC9FAD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plot, titled "Monte Carlo + EKF Bound," tests how well the Jacobian-based covariance prediction from the last slide works. The axes are Global X Position and Global Y Position, roughly minus 5 to 8. A black star at the origin, labeled Start, marks the initial pose (x_0, y_0). A dashed gray arrow, the nominal state update v*dt, runs from the start to an orange-red X at about (3.5, 3.5): the robot drove forward about 5 units heading roughly 45 degrees.</a:t>
            </a:r>
          </a:p>
          <a:p>
            <a:pPr marL="0" lvl="0" indent="0" algn="l" rtl="0">
              <a:lnSpc>
                <a:spcPct val="100000"/>
              </a:lnSpc>
              <a:spcBef>
                <a:spcPts val="0"/>
              </a:spcBef>
              <a:spcAft>
                <a:spcPts val="600"/>
              </a:spcAft>
              <a:buSzPts val="1400"/>
              <a:buNone/>
            </a:pPr>
            <a:r>
              <a:rPr lang="en-US" dirty="0"/>
              <a:t>Thousands of small blue dots are Monte Carlo particles. Each one is the same motion simulated with a random noise sample, mostly in heading. They form a curved, banana-shaped arc of radius about 5 around the start, running from about (-5, 2) over the top to about (5, -4). This is the true distribution of where the robot could be.</a:t>
            </a:r>
          </a:p>
          <a:p>
            <a:pPr marL="0" lvl="0" indent="0" algn="l" rtl="0">
              <a:lnSpc>
                <a:spcPct val="100000"/>
              </a:lnSpc>
              <a:spcBef>
                <a:spcPts val="0"/>
              </a:spcBef>
              <a:spcAft>
                <a:spcPts val="600"/>
              </a:spcAft>
              <a:buSzPts val="1400"/>
              <a:buNone/>
            </a:pPr>
            <a:r>
              <a:rPr lang="en-US" dirty="0"/>
              <a:t>The orange-red dashed ellipse is the EKF two-sigma Cartesian bound. It is centered on the nominal point and tilted along the arc's tangent, from upper left to lower right. It covers only the middle of the arc. It misses both curved tails, and its far end reaches out to about (7.7, -0.7), where no particles exist.</a:t>
            </a:r>
          </a:p>
          <a:p>
            <a:pPr marL="0" lvl="0" indent="0" algn="l" rtl="0">
              <a:lnSpc>
                <a:spcPct val="100000"/>
              </a:lnSpc>
              <a:spcBef>
                <a:spcPts val="0"/>
              </a:spcBef>
              <a:spcAft>
                <a:spcPts val="600"/>
              </a:spcAft>
              <a:buSzPts val="1400"/>
              <a:buNone/>
            </a:pPr>
            <a:r>
              <a:rPr lang="en-US" dirty="0"/>
              <a:t>The ellipse fails because position depends on cos(theta) and sin(theta). The Jacobian replaces that curve with a straight tangent line at the mean. Small heading uncertainty makes the line a good approximation. Large heading uncertainty does not. The EKF still reports a confident Gaussian, but it is wrong.</a:t>
            </a:r>
          </a:p>
          <a:p>
            <a:pPr marL="0" lvl="0" indent="0" algn="l" rtl="0">
              <a:lnSpc>
                <a:spcPct val="100000"/>
              </a:lnSpc>
              <a:spcBef>
                <a:spcPts val="0"/>
              </a:spcBef>
              <a:spcAft>
                <a:spcPts val="600"/>
              </a:spcAft>
              <a:buSzPts val="1400"/>
              <a:buNone/>
            </a:pPr>
            <a:r>
              <a:rPr lang="en-US" dirty="0"/>
              <a:t>On your robot, this is why you keep time steps small and correct heading often with measurements. Next, we apply the same linearization idea to the update step. Quick check: would this ellipse fit better if the heading noise were halved?</a:t>
            </a:r>
          </a:p>
        </p:txBody>
      </p:sp>
      <p:sp>
        <p:nvSpPr>
          <p:cNvPr id="116" name="Google Shape;116;p29:notes">
            <a:extLst>
              <a:ext uri="{FF2B5EF4-FFF2-40B4-BE49-F238E27FC236}">
                <a16:creationId xmlns:a16="http://schemas.microsoft.com/office/drawing/2014/main" id="{E1F37F41-3FEB-D8EB-CA2F-7B2E402FEA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73950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DBBA1A4-37D8-2C4A-77A6-E08892848460}"/>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F9973D30-1A60-A060-CD6E-D358299D736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divider slide reads "Update" in large white text on the dark blue Illinois background, with faint hand-drawn equations and diagrams as decoration.</a:t>
            </a:r>
          </a:p>
          <a:p>
            <a:pPr marL="0" lvl="0" indent="0" algn="l" rtl="0">
              <a:spcBef>
                <a:spcPts val="0"/>
              </a:spcBef>
              <a:spcAft>
                <a:spcPts val="600"/>
              </a:spcAft>
              <a:buNone/>
            </a:pPr>
            <a:r>
              <a:rPr lang="en-US" dirty="0"/>
              <a:t>You have just finished the Extended Kalman Filter predict step: the motion Jacobian warps the uncertainty ellipse, and the banana-shaped particle cloud showed where that linearization falls short. Now you turn to the update step, where the same idea applies to sensors. A nonlinear measurement function predicts what the sensor should read, and the sensor Jacobian is used to compute the Kalman gain. A radar tower measuring distance and bearing is the worked example coming next.</a:t>
            </a:r>
          </a:p>
        </p:txBody>
      </p:sp>
      <p:sp>
        <p:nvSpPr>
          <p:cNvPr id="87" name="Google Shape;87;p27:notes">
            <a:extLst>
              <a:ext uri="{FF2B5EF4-FFF2-40B4-BE49-F238E27FC236}">
                <a16:creationId xmlns:a16="http://schemas.microsoft.com/office/drawing/2014/main" id="{78AFB814-E3C7-A187-4374-1D2CC69289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821617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AD24A4D-44EE-CF52-8AAF-991E39091C0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006244D-38BB-FD61-5F06-E17762ED9E0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opens the update step of the Extended Kalman Filter. It has two short statements on a white background. First: "The same logic applies to sensors." Second: if a sensor measurement is non-linear, like a radar measuring angle and distance, we use the non-linear measurement function h to predict the measurement, and a sensor Jacobian H_k to calculate the gain.</a:t>
            </a:r>
          </a:p>
          <a:p>
            <a:pPr marL="0" lvl="0" indent="0" algn="l" rtl="0">
              <a:lnSpc>
                <a:spcPct val="100000"/>
              </a:lnSpc>
              <a:spcBef>
                <a:spcPts val="0"/>
              </a:spcBef>
              <a:spcAft>
                <a:spcPts val="600"/>
              </a:spcAft>
              <a:buSzPts val="1400"/>
              <a:buNone/>
            </a:pPr>
            <a:r>
              <a:rPr lang="en-US" dirty="0"/>
              <a:t>"The same logic" refers to the predict step you just saw. There, the motion model f moves the state estimate forward exactly, and its Jacobian F linearizes f so you can propagate the covariance. The update step uses the same split between the two tools.</a:t>
            </a:r>
          </a:p>
          <a:p>
            <a:pPr marL="0" lvl="0" indent="0" algn="l" rtl="0">
              <a:lnSpc>
                <a:spcPct val="100000"/>
              </a:lnSpc>
              <a:spcBef>
                <a:spcPts val="0"/>
              </a:spcBef>
              <a:spcAft>
                <a:spcPts val="600"/>
              </a:spcAft>
              <a:buSzPts val="1400"/>
              <a:buNone/>
            </a:pPr>
            <a:r>
              <a:rPr lang="en-US" dirty="0"/>
              <a:t>In the linear Kalman filter, the predicted measurement is H times x. In the EKF, the predicted measurement is z_hat = h(x_pred), the full non-linear function evaluated at the predicted state. The innovation is y = z − h(x_pred), the actual measurement minus the predicted one.</a:t>
            </a:r>
          </a:p>
          <a:p>
            <a:pPr marL="0" lvl="0" indent="0" algn="l" rtl="0">
              <a:lnSpc>
                <a:spcPct val="100000"/>
              </a:lnSpc>
              <a:spcBef>
                <a:spcPts val="0"/>
              </a:spcBef>
              <a:spcAft>
                <a:spcPts val="600"/>
              </a:spcAft>
              <a:buSzPts val="1400"/>
              <a:buNone/>
            </a:pPr>
            <a:r>
              <a:rPr lang="en-US" dirty="0"/>
              <a:t>H_k is the matrix of partial derivatives of h with respect to each state variable, evaluated at x_pred. It stands in for H wherever covariance is involved:</a:t>
            </a:r>
          </a:p>
          <a:p>
            <a:pPr marL="0" lvl="0" indent="0" algn="l" rtl="0">
              <a:lnSpc>
                <a:spcPct val="100000"/>
              </a:lnSpc>
              <a:spcBef>
                <a:spcPts val="0"/>
              </a:spcBef>
              <a:spcAft>
                <a:spcPts val="600"/>
              </a:spcAft>
              <a:buSzPts val="1400"/>
              <a:buNone/>
            </a:pPr>
            <a:r>
              <a:rPr lang="en-US" dirty="0"/>
              <a:t>S = H_k*P*H_k^T + R</a:t>
            </a:r>
          </a:p>
          <a:p>
            <a:pPr marL="0" lvl="0" indent="0" algn="l" rtl="0">
              <a:lnSpc>
                <a:spcPct val="100000"/>
              </a:lnSpc>
              <a:spcBef>
                <a:spcPts val="0"/>
              </a:spcBef>
              <a:spcAft>
                <a:spcPts val="600"/>
              </a:spcAft>
              <a:buSzPts val="1400"/>
              <a:buNone/>
            </a:pPr>
            <a:r>
              <a:rPr lang="en-US" dirty="0"/>
              <a:t>K = P*H_k^T*S^(-1)</a:t>
            </a:r>
          </a:p>
          <a:p>
            <a:pPr marL="0" lvl="0" indent="0" algn="l" rtl="0">
              <a:lnSpc>
                <a:spcPct val="100000"/>
              </a:lnSpc>
              <a:spcBef>
                <a:spcPts val="0"/>
              </a:spcBef>
              <a:spcAft>
                <a:spcPts val="600"/>
              </a:spcAft>
              <a:buSzPts val="1400"/>
              <a:buNone/>
            </a:pPr>
            <a:r>
              <a:rPr lang="en-US" dirty="0"/>
              <a:t>P_new = (I − K*H_k)*P</a:t>
            </a:r>
          </a:p>
          <a:p>
            <a:pPr marL="0" lvl="0" indent="0" algn="l" rtl="0">
              <a:lnSpc>
                <a:spcPct val="100000"/>
              </a:lnSpc>
              <a:spcBef>
                <a:spcPts val="0"/>
              </a:spcBef>
              <a:spcAft>
                <a:spcPts val="600"/>
              </a:spcAft>
              <a:buSzPts val="1400"/>
              <a:buNone/>
            </a:pPr>
            <a:r>
              <a:rPr lang="en-US" dirty="0"/>
              <a:t>A common mistake is to predict the measurement with H_k*x instead of h(x). The Jacobian is only a local slope. It shapes the gain and the covariance, but the predicted measurement itself always comes from h.</a:t>
            </a:r>
          </a:p>
          <a:p>
            <a:pPr marL="0" lvl="0" indent="0" algn="l" rtl="0">
              <a:lnSpc>
                <a:spcPct val="100000"/>
              </a:lnSpc>
              <a:spcBef>
                <a:spcPts val="0"/>
              </a:spcBef>
              <a:spcAft>
                <a:spcPts val="600"/>
              </a:spcAft>
              <a:buSzPts val="1400"/>
              <a:buNone/>
            </a:pPr>
            <a:r>
              <a:rPr lang="en-US" dirty="0"/>
              <a:t>Next, you work through a concrete case: a radar tower at the origin that reports range and bearing to the robot. You write out its h and then its Jacobian.</a:t>
            </a:r>
          </a:p>
        </p:txBody>
      </p:sp>
      <p:sp>
        <p:nvSpPr>
          <p:cNvPr id="116" name="Google Shape;116;p29:notes">
            <a:extLst>
              <a:ext uri="{FF2B5EF4-FFF2-40B4-BE49-F238E27FC236}">
                <a16:creationId xmlns:a16="http://schemas.microsoft.com/office/drawing/2014/main" id="{35EA5F98-2BD4-940B-C597-3C219775A4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248765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14B9022-3EBA-B919-83AC-F14775969F4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55E7477-6260-BAD8-82C2-A2A9ABEE1C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sets up a concrete example for the nonlinear measurement update. A stationary radar tower sits at the origin, the point (0, 0). The radar tracks our robot, but it does not report the robot's X and Y coordinates. Instead it outputs a measurement vector z with two values: the distance r from the tower to the robot, and the bearing angle phi from the tower to the robot. The slide shows this as a column vector: z equals the vector of r over phi, written z = [r; phi].</a:t>
            </a:r>
          </a:p>
          <a:p>
            <a:pPr marL="0" lvl="0" indent="0" algn="l" rtl="0">
              <a:lnSpc>
                <a:spcPct val="100000"/>
              </a:lnSpc>
              <a:spcBef>
                <a:spcPts val="0"/>
              </a:spcBef>
              <a:spcAft>
                <a:spcPts val="600"/>
              </a:spcAft>
              <a:buSzPts val="1400"/>
              <a:buNone/>
            </a:pPr>
            <a:r>
              <a:rPr lang="en-US" dirty="0"/>
              <a:t>The key point is that the sensor reports its measurements in its own "sensor space," while the filter keeps its state in X and Y. In the linear Kalman filter, a measurement matrix H converted state to measurement by a simple matrix multiplication. That cannot work here. Distance and angle depend on X and Y through a square root and an arctangent, so no constant matrix can produce them.</a:t>
            </a:r>
          </a:p>
          <a:p>
            <a:pPr marL="0" lvl="0" indent="0" algn="l" rtl="0">
              <a:lnSpc>
                <a:spcPct val="100000"/>
              </a:lnSpc>
              <a:spcBef>
                <a:spcPts val="0"/>
              </a:spcBef>
              <a:spcAft>
                <a:spcPts val="600"/>
              </a:spcAft>
              <a:buSzPts val="1400"/>
              <a:buNone/>
            </a:pPr>
            <a:r>
              <a:rPr lang="en-US" dirty="0"/>
              <a:t>Range and bearing sensors are very common in robotics. A LiDAR return, for example, is also a distance and an angle. So this example is not artificial. It is exactly the kind of measurement your robot's sensors produce.</a:t>
            </a:r>
          </a:p>
          <a:p>
            <a:pPr marL="0" lvl="0" indent="0" algn="l" rtl="0">
              <a:lnSpc>
                <a:spcPct val="100000"/>
              </a:lnSpc>
              <a:spcBef>
                <a:spcPts val="0"/>
              </a:spcBef>
              <a:spcAft>
                <a:spcPts val="600"/>
              </a:spcAft>
              <a:buSzPts val="1400"/>
              <a:buNone/>
            </a:pPr>
            <a:r>
              <a:rPr lang="en-US" dirty="0"/>
              <a:t>As a quick check, ask yourself: if the robot is at (3, 4), what should the radar report? The answer is r = 5, and phi is the angle whose tangent is 4/3, about 53 degrees.</a:t>
            </a:r>
          </a:p>
          <a:p>
            <a:pPr marL="0" lvl="0" indent="0" algn="l" rtl="0">
              <a:lnSpc>
                <a:spcPct val="100000"/>
              </a:lnSpc>
              <a:spcBef>
                <a:spcPts val="0"/>
              </a:spcBef>
              <a:spcAft>
                <a:spcPts val="600"/>
              </a:spcAft>
              <a:buSzPts val="1400"/>
              <a:buNone/>
            </a:pPr>
            <a:r>
              <a:rPr lang="en-US" dirty="0"/>
              <a:t>On the next slide we write out this geometry as the nonlinear measurement function h, which predicts what the radar should see from our current state estimate. After that, we linearize h with a Jacobian.</a:t>
            </a:r>
          </a:p>
        </p:txBody>
      </p:sp>
      <p:sp>
        <p:nvSpPr>
          <p:cNvPr id="116" name="Google Shape;116;p29:notes">
            <a:extLst>
              <a:ext uri="{FF2B5EF4-FFF2-40B4-BE49-F238E27FC236}">
                <a16:creationId xmlns:a16="http://schemas.microsoft.com/office/drawing/2014/main" id="{75072D86-E36C-F1F7-7232-83D626A20D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33345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BDF43D1-7FA2-57BE-127D-531AF45B650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B3EE175-CB7B-BD40-9318-B82804B143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moves from the radar setup on the previous slide to the radar's measurement model. The text says that once we have a predicted state, we need to guess what the radar should see based on our internal belief of where the robot is. In other words, we try to predict the radar measurement before the real one arrives.</a:t>
            </a:r>
          </a:p>
          <a:p>
            <a:pPr marL="0" lvl="0" indent="0" algn="l" rtl="0">
              <a:lnSpc>
                <a:spcPct val="100000"/>
              </a:lnSpc>
              <a:spcBef>
                <a:spcPts val="0"/>
              </a:spcBef>
              <a:spcAft>
                <a:spcPts val="600"/>
              </a:spcAft>
              <a:buSzPts val="1400"/>
              <a:buNone/>
            </a:pPr>
            <a:r>
              <a:rPr lang="en-US" dirty="0"/>
              <a:t>To do that, we use geometry to map from state space into sensor space. The slide calls this mapping the non-linear measurement function, h(x), and gives two equations. The first is r = sqrt(X^2 + Y^2): the range r equals the square root of X squared plus Y squared. The second is phi = arctan(Y/X): the bearing phi equals the arctangent of Y over X. Both follow from the radar tower sitting at the origin: r is the straight-line distance to the robot, and phi is the angle of the line from the tower to the robot.</a:t>
            </a:r>
          </a:p>
          <a:p>
            <a:pPr marL="0" lvl="0" indent="0" algn="l" rtl="0">
              <a:lnSpc>
                <a:spcPct val="100000"/>
              </a:lnSpc>
              <a:spcBef>
                <a:spcPts val="0"/>
              </a:spcBef>
              <a:spcAft>
                <a:spcPts val="600"/>
              </a:spcAft>
              <a:buSzPts val="1400"/>
              <a:buNone/>
            </a:pPr>
            <a:r>
              <a:rPr lang="en-US" dirty="0"/>
              <a:t>The predicted measurement h(x) is compared with the actual radar reading. That difference, the innovation, drives the update step.</a:t>
            </a:r>
          </a:p>
          <a:p>
            <a:pPr marL="0" lvl="0" indent="0" algn="l" rtl="0">
              <a:lnSpc>
                <a:spcPct val="100000"/>
              </a:lnSpc>
              <a:spcBef>
                <a:spcPts val="0"/>
              </a:spcBef>
              <a:spcAft>
                <a:spcPts val="600"/>
              </a:spcAft>
              <a:buSzPts val="1400"/>
              <a:buNone/>
            </a:pPr>
            <a:r>
              <a:rPr lang="en-US" dirty="0"/>
              <a:t>The slide's final point is that, just as with the nonlinear kinematics, a square root and an arctangent cannot be written as a linear matrix multiplication like H*x. So we must use Jacobians to linearize h(x) around the current estimate.</a:t>
            </a:r>
          </a:p>
          <a:p>
            <a:pPr marL="0" lvl="0" indent="0" algn="l" rtl="0">
              <a:lnSpc>
                <a:spcPct val="100000"/>
              </a:lnSpc>
              <a:spcBef>
                <a:spcPts val="0"/>
              </a:spcBef>
              <a:spcAft>
                <a:spcPts val="600"/>
              </a:spcAft>
              <a:buSzPts val="1400"/>
              <a:buNone/>
            </a:pPr>
            <a:r>
              <a:rPr lang="en-US" dirty="0"/>
              <a:t>A common mistake when you code this: plain arctan(Y/X) loses the quadrant. Use atan2(Y, X), and wrap the angle error into the range minus pi to pi.</a:t>
            </a:r>
          </a:p>
          <a:p>
            <a:pPr marL="0" lvl="0" indent="0" algn="l" rtl="0">
              <a:lnSpc>
                <a:spcPct val="100000"/>
              </a:lnSpc>
              <a:spcBef>
                <a:spcPts val="0"/>
              </a:spcBef>
              <a:spcAft>
                <a:spcPts val="600"/>
              </a:spcAft>
              <a:buSzPts val="1400"/>
              <a:buNone/>
            </a:pPr>
            <a:r>
              <a:rPr lang="en-US" dirty="0"/>
              <a:t>Quick check: does the robot's heading theta appear in either equation? It does not, which hints at what the next slides find when they take partial derivatives with respect to X, Y, and theta.</a:t>
            </a:r>
          </a:p>
        </p:txBody>
      </p:sp>
      <p:sp>
        <p:nvSpPr>
          <p:cNvPr id="116" name="Google Shape;116;p29:notes">
            <a:extLst>
              <a:ext uri="{FF2B5EF4-FFF2-40B4-BE49-F238E27FC236}">
                <a16:creationId xmlns:a16="http://schemas.microsoft.com/office/drawing/2014/main" id="{AEFB9D35-07A6-4FC0-D9BE-DC8A5C20B9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00589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668BC10-C6A1-3E13-CE4D-35F51422060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05EF2F0-D49F-206D-7E5A-19C8DD6BE0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building the measurement Jacobian for the radar example. The text says we must take the partial derivatives of r (range) and phi (bearing) with respect to our state variables X, Y and theta. It starts with the distance equation, r = sqrt(X^2 + Y^2), "r equals the square root of X squared plus Y squared," and applies the chain rule to get three results.</a:t>
            </a:r>
          </a:p>
          <a:p>
            <a:pPr marL="0" lvl="0" indent="0" algn="l" rtl="0">
              <a:lnSpc>
                <a:spcPct val="100000"/>
              </a:lnSpc>
              <a:spcBef>
                <a:spcPts val="0"/>
              </a:spcBef>
              <a:spcAft>
                <a:spcPts val="600"/>
              </a:spcAft>
              <a:buSzPts val="1400"/>
              <a:buNone/>
            </a:pPr>
            <a:r>
              <a:rPr lang="en-US" dirty="0"/>
              <a:t>With respect to X: dr/dX = X / sqrt(X^2 + Y^2) = X / r, "the partial of r with respect to X equals X over r."</a:t>
            </a:r>
          </a:p>
          <a:p>
            <a:pPr marL="0" lvl="0" indent="0" algn="l" rtl="0">
              <a:lnSpc>
                <a:spcPct val="100000"/>
              </a:lnSpc>
              <a:spcBef>
                <a:spcPts val="0"/>
              </a:spcBef>
              <a:spcAft>
                <a:spcPts val="600"/>
              </a:spcAft>
              <a:buSzPts val="1400"/>
              <a:buNone/>
            </a:pPr>
            <a:r>
              <a:rPr lang="en-US" dirty="0"/>
              <a:t>With respect to Y: dr/dY = Y / sqrt(X^2 + Y^2) = Y / r.</a:t>
            </a:r>
          </a:p>
          <a:p>
            <a:pPr marL="0" lvl="0" indent="0" algn="l" rtl="0">
              <a:lnSpc>
                <a:spcPct val="100000"/>
              </a:lnSpc>
              <a:spcBef>
                <a:spcPts val="0"/>
              </a:spcBef>
              <a:spcAft>
                <a:spcPts val="600"/>
              </a:spcAft>
              <a:buSzPts val="1400"/>
              <a:buNone/>
            </a:pPr>
            <a:r>
              <a:rPr lang="en-US" dirty="0"/>
              <a:t>With respect to theta: dr/dtheta = 0.</a:t>
            </a:r>
          </a:p>
          <a:p>
            <a:pPr marL="0" lvl="0" indent="0" algn="l" rtl="0">
              <a:lnSpc>
                <a:spcPct val="100000"/>
              </a:lnSpc>
              <a:spcBef>
                <a:spcPts val="0"/>
              </a:spcBef>
              <a:spcAft>
                <a:spcPts val="600"/>
              </a:spcAft>
              <a:buSzPts val="1400"/>
              <a:buNone/>
            </a:pPr>
            <a:r>
              <a:rPr lang="en-US" dirty="0"/>
              <a:t>The slide skips the chain rule step, so here it is. Write r = (X^2 + Y^2)^(1/2). The outer derivative is (1/2)*(X^2 + Y^2)^(-1/2), and the inner derivative with respect to X is 2X. The 2s cancel, leaving X / sqrt(X^2 + Y^2). The Y case is symmetric.</a:t>
            </a:r>
          </a:p>
          <a:p>
            <a:pPr marL="0" lvl="0" indent="0" algn="l" rtl="0">
              <a:lnSpc>
                <a:spcPct val="100000"/>
              </a:lnSpc>
              <a:spcBef>
                <a:spcPts val="0"/>
              </a:spcBef>
              <a:spcAft>
                <a:spcPts val="600"/>
              </a:spcAft>
              <a:buSzPts val="1400"/>
              <a:buNone/>
            </a:pPr>
            <a:r>
              <a:rPr lang="en-US" dirty="0"/>
              <a:t>The result has a geometric meaning. The pair (X/r, Y/r) is the unit vector pointing from the radar tower to the robot. If the robot moves a small step along that direction, the range grows one-for-one. If it moves perpendicular to that direction, the range does not change to first order.</a:t>
            </a:r>
          </a:p>
          <a:p>
            <a:pPr marL="0" lvl="0" indent="0" algn="l" rtl="0">
              <a:lnSpc>
                <a:spcPct val="100000"/>
              </a:lnSpc>
              <a:spcBef>
                <a:spcPts val="0"/>
              </a:spcBef>
              <a:spcAft>
                <a:spcPts val="600"/>
              </a:spcAft>
              <a:buSzPts val="1400"/>
              <a:buNone/>
            </a:pPr>
            <a:r>
              <a:rPr lang="en-US" dirty="0"/>
              <a:t>The theta derivative is zero because the radar measures where the robot is, not which way it faces. Turning the robot in place does not change its distance from the origin.</a:t>
            </a:r>
          </a:p>
          <a:p>
            <a:pPr marL="0" lvl="0" indent="0" algn="l" rtl="0">
              <a:lnSpc>
                <a:spcPct val="100000"/>
              </a:lnSpc>
              <a:spcBef>
                <a:spcPts val="0"/>
              </a:spcBef>
              <a:spcAft>
                <a:spcPts val="600"/>
              </a:spcAft>
              <a:buSzPts val="1400"/>
              <a:buNone/>
            </a:pPr>
            <a:r>
              <a:rPr lang="en-US" dirty="0"/>
              <a:t>A common mistake is forgetting that these entries are evaluated at the predicted state, so they change every loop. Also watch out when r is near zero, meaning the robot is on top of the tower: X/r becomes undefined, so your code should guard against dividing by zero.</a:t>
            </a:r>
          </a:p>
          <a:p>
            <a:pPr marL="0" lvl="0" indent="0" algn="l" rtl="0">
              <a:lnSpc>
                <a:spcPct val="100000"/>
              </a:lnSpc>
              <a:spcBef>
                <a:spcPts val="0"/>
              </a:spcBef>
              <a:spcAft>
                <a:spcPts val="600"/>
              </a:spcAft>
              <a:buSzPts val="1400"/>
              <a:buNone/>
            </a:pPr>
            <a:r>
              <a:rPr lang="en-US" dirty="0"/>
              <a:t>Quick check: if the predicted position is (3, 4), what are dr/dX and dr/dY? (Answer: 0.6 and 0.8.)</a:t>
            </a:r>
          </a:p>
          <a:p>
            <a:pPr marL="0" lvl="0" indent="0" algn="l" rtl="0">
              <a:lnSpc>
                <a:spcPct val="100000"/>
              </a:lnSpc>
              <a:spcBef>
                <a:spcPts val="0"/>
              </a:spcBef>
              <a:spcAft>
                <a:spcPts val="600"/>
              </a:spcAft>
              <a:buSzPts val="1400"/>
              <a:buNone/>
            </a:pPr>
            <a:r>
              <a:rPr lang="en-US" dirty="0"/>
              <a:t>Next, you do the same for the bearing equation, phi.</a:t>
            </a:r>
          </a:p>
        </p:txBody>
      </p:sp>
      <p:sp>
        <p:nvSpPr>
          <p:cNvPr id="116" name="Google Shape;116;p29:notes">
            <a:extLst>
              <a:ext uri="{FF2B5EF4-FFF2-40B4-BE49-F238E27FC236}">
                <a16:creationId xmlns:a16="http://schemas.microsoft.com/office/drawing/2014/main" id="{2F1BADAF-871E-7F38-53FA-C73A7958C7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276326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9CDA43E-551A-F1CB-D984-97D3EE3FF35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17950C8-8C4A-7F85-9EB6-A2D8D81469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Jacobian of the radar measurement function. On the previous slide you differentiated the range, r; now you do the same for the bearing, phi.</a:t>
            </a:r>
          </a:p>
          <a:p>
            <a:pPr marL="0" lvl="0" indent="0" algn="l" rtl="0">
              <a:lnSpc>
                <a:spcPct val="100000"/>
              </a:lnSpc>
              <a:spcBef>
                <a:spcPts val="0"/>
              </a:spcBef>
              <a:spcAft>
                <a:spcPts val="600"/>
              </a:spcAft>
              <a:buSzPts val="1400"/>
              <a:buNone/>
            </a:pPr>
            <a:r>
              <a:rPr lang="en-US" dirty="0"/>
              <a:t>The slide states the bearing equation: phi equals the arctangent of Y over X, phi = arctan(Y/X). It then gives the rule you need: the derivative of arctan(u) is 1 over (1 plus u squared), times u prime, written d/dx arctan(u) = (1/(1 + u^2)) * u'. After "some algebra," it lists three results. With respect to X: dphi/dX = -Y/(X^2 + Y^2) = -Y/r^2. With respect to Y: dphi/dY = X/(X^2 + Y^2) = X/r^2. With respect to theta: dphi/dtheta = 0.</a:t>
            </a:r>
          </a:p>
          <a:p>
            <a:pPr marL="0" lvl="0" indent="0" algn="l" rtl="0">
              <a:lnSpc>
                <a:spcPct val="100000"/>
              </a:lnSpc>
              <a:spcBef>
                <a:spcPts val="0"/>
              </a:spcBef>
              <a:spcAft>
                <a:spcPts val="600"/>
              </a:spcAft>
              <a:buSzPts val="1400"/>
              <a:buNone/>
            </a:pPr>
            <a:r>
              <a:rPr lang="en-US" dirty="0"/>
              <a:t>Here is the skipped algebra. Let u = Y/X. Then 1/(1 + u^2) = X^2/(X^2 + Y^2).</a:t>
            </a:r>
          </a:p>
          <a:p>
            <a:pPr marL="0" lvl="0" indent="0" algn="l" rtl="0">
              <a:lnSpc>
                <a:spcPct val="100000"/>
              </a:lnSpc>
              <a:spcBef>
                <a:spcPts val="0"/>
              </a:spcBef>
              <a:spcAft>
                <a:spcPts val="600"/>
              </a:spcAft>
              <a:buSzPts val="1400"/>
              <a:buNone/>
            </a:pPr>
            <a:r>
              <a:rPr lang="en-US" dirty="0"/>
              <a:t>For X, du/dX = -Y/X^2. Multiplying gives -Y/(X^2 + Y^2).</a:t>
            </a:r>
          </a:p>
          <a:p>
            <a:pPr marL="0" lvl="0" indent="0" algn="l" rtl="0">
              <a:lnSpc>
                <a:spcPct val="100000"/>
              </a:lnSpc>
              <a:spcBef>
                <a:spcPts val="0"/>
              </a:spcBef>
              <a:spcAft>
                <a:spcPts val="600"/>
              </a:spcAft>
              <a:buSzPts val="1400"/>
              <a:buNone/>
            </a:pPr>
            <a:r>
              <a:rPr lang="en-US" dirty="0"/>
              <a:t>For Y, du/dY = 1/X. Multiplying gives X/(X^2 + Y^2).</a:t>
            </a:r>
          </a:p>
          <a:p>
            <a:pPr marL="0" lvl="0" indent="0" algn="l" rtl="0">
              <a:lnSpc>
                <a:spcPct val="100000"/>
              </a:lnSpc>
              <a:spcBef>
                <a:spcPts val="0"/>
              </a:spcBef>
              <a:spcAft>
                <a:spcPts val="600"/>
              </a:spcAft>
              <a:buSzPts val="1400"/>
              <a:buNone/>
            </a:pPr>
            <a:r>
              <a:rPr lang="en-US" dirty="0"/>
              <a:t>Since r^2 = X^2 + Y^2 from the range equation, both results simplify to a division by r^2.</a:t>
            </a:r>
          </a:p>
          <a:p>
            <a:pPr marL="0" lvl="0" indent="0" algn="l" rtl="0">
              <a:lnSpc>
                <a:spcPct val="100000"/>
              </a:lnSpc>
              <a:spcBef>
                <a:spcPts val="0"/>
              </a:spcBef>
              <a:spcAft>
                <a:spcPts val="600"/>
              </a:spcAft>
              <a:buSzPts val="1400"/>
              <a:buNone/>
            </a:pPr>
            <a:r>
              <a:rPr lang="en-US" dirty="0"/>
              <a:t>The theta derivative is zero because this bearing is the angle of the robot's position as seen from the radar. The robot's heading does not appear in arctan(Y/X), so turning in place does not change phi.</a:t>
            </a:r>
          </a:p>
          <a:p>
            <a:pPr marL="0" lvl="0" indent="0" algn="l" rtl="0">
              <a:lnSpc>
                <a:spcPct val="100000"/>
              </a:lnSpc>
              <a:spcBef>
                <a:spcPts val="0"/>
              </a:spcBef>
              <a:spcAft>
                <a:spcPts val="600"/>
              </a:spcAft>
              <a:buSzPts val="1400"/>
              <a:buNone/>
            </a:pPr>
            <a:r>
              <a:rPr lang="en-US" dirty="0"/>
              <a:t>Two cautions help when you code this. First, use atan2(Y, X) rather than arctan(Y/X) so you get the correct quadrant. Second, wrap the angle residual into the range minus pi to pi, or the update will fling your estimate.</a:t>
            </a:r>
          </a:p>
          <a:p>
            <a:pPr marL="0" lvl="0" indent="0" algn="l" rtl="0">
              <a:lnSpc>
                <a:spcPct val="100000"/>
              </a:lnSpc>
              <a:spcBef>
                <a:spcPts val="0"/>
              </a:spcBef>
              <a:spcAft>
                <a:spcPts val="600"/>
              </a:spcAft>
              <a:buSzPts val="1400"/>
              <a:buNone/>
            </a:pPr>
            <a:r>
              <a:rPr lang="en-US" dirty="0"/>
              <a:t>Quick check: what happens to these derivatives as r approaches zero?</a:t>
            </a:r>
          </a:p>
          <a:p>
            <a:pPr marL="0" lvl="0" indent="0" algn="l" rtl="0">
              <a:lnSpc>
                <a:spcPct val="100000"/>
              </a:lnSpc>
              <a:spcBef>
                <a:spcPts val="0"/>
              </a:spcBef>
              <a:spcAft>
                <a:spcPts val="600"/>
              </a:spcAft>
              <a:buSzPts val="1400"/>
              <a:buNone/>
            </a:pPr>
            <a:r>
              <a:rPr lang="en-US" dirty="0"/>
              <a:t>Next, you stack these three terms with the range terms to form the 2-by-3 Jacobian H.</a:t>
            </a:r>
          </a:p>
        </p:txBody>
      </p:sp>
      <p:sp>
        <p:nvSpPr>
          <p:cNvPr id="116" name="Google Shape;116;p29:notes">
            <a:extLst>
              <a:ext uri="{FF2B5EF4-FFF2-40B4-BE49-F238E27FC236}">
                <a16:creationId xmlns:a16="http://schemas.microsoft.com/office/drawing/2014/main" id="{22C7F00D-71E7-DDEA-CF11-8B437BCF85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694312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8078DBE-0870-01BC-44CF-A7E40CCC215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1D1A7A9-30B4-3428-6E4A-E49C7A4C9F6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assembles the partial derivatives from the last two slides into one matrix. The text says we place them into a 2 by 3 matrix: 2 rows for the 2 measurement outputs, range and bearing, and 3 columns for the 3 state variables. This is the dynamic H_k matrix for the current time step.</a:t>
            </a:r>
          </a:p>
          <a:p>
            <a:pPr marL="0" lvl="0" indent="0" algn="l" rtl="0">
              <a:lnSpc>
                <a:spcPct val="100000"/>
              </a:lnSpc>
              <a:spcBef>
                <a:spcPts val="0"/>
              </a:spcBef>
              <a:spcAft>
                <a:spcPts val="600"/>
              </a:spcAft>
              <a:buSzPts val="1400"/>
              <a:buNone/>
            </a:pPr>
            <a:r>
              <a:rPr lang="en-US" dirty="0"/>
              <a:t>The matrix appears centered on the slide. Row one, the range row, is X/r, Y/r, 0, read "X over r, Y over r, zero." Row two, the bearing row, is -Y/r^2, X/r^2, 0, read "negative Y over r squared, X over r squared, zero." Here r = sqrt(X^2 + Y^2), the predicted distance. The bottom line, with "every single loop" in bold, says we calculate this exact matrix every loop using our predicted X and Y values.</a:t>
            </a:r>
          </a:p>
          <a:p>
            <a:pPr marL="0" lvl="0" indent="0" algn="l" rtl="0">
              <a:lnSpc>
                <a:spcPct val="100000"/>
              </a:lnSpc>
              <a:spcBef>
                <a:spcPts val="0"/>
              </a:spcBef>
              <a:spcAft>
                <a:spcPts val="600"/>
              </a:spcAft>
              <a:buSzPts val="1400"/>
              <a:buNone/>
            </a:pPr>
            <a:r>
              <a:rPr lang="en-US" dirty="0"/>
              <a:t>Read H_k as a sensitivity table. Each entry says how much one measurement changes when you nudge one state variable. The third column is zero because neither measurement depends on the third state variable. Range and bearing to the landmark depend only on position, so that column contributes nothing.</a:t>
            </a:r>
          </a:p>
          <a:p>
            <a:pPr marL="0" lvl="0" indent="0" algn="l" rtl="0">
              <a:lnSpc>
                <a:spcPct val="100000"/>
              </a:lnSpc>
              <a:spcBef>
                <a:spcPts val="0"/>
              </a:spcBef>
              <a:spcAft>
                <a:spcPts val="600"/>
              </a:spcAft>
              <a:buSzPts val="1400"/>
              <a:buNone/>
            </a:pPr>
            <a:r>
              <a:rPr lang="en-US" dirty="0"/>
              <a:t>The key difference from the linear Kalman filter is that H_k is not a fixed constant. It changes with the robot's position. When the robot is far away, r is large and the bearing row shrinks like 1/r^2, because moving sideways barely changes the angle. That is why you recompute H_k each iteration, after the predict step, from the predicted state.</a:t>
            </a:r>
          </a:p>
          <a:p>
            <a:pPr marL="0" lvl="0" indent="0" algn="l" rtl="0">
              <a:lnSpc>
                <a:spcPct val="100000"/>
              </a:lnSpc>
              <a:spcBef>
                <a:spcPts val="0"/>
              </a:spcBef>
              <a:spcAft>
                <a:spcPts val="600"/>
              </a:spcAft>
              <a:buSzPts val="1400"/>
              <a:buNone/>
            </a:pPr>
            <a:r>
              <a:rPr lang="en-US" dirty="0"/>
              <a:t>A common mistake is to compute H_k once at startup, or to evaluate it at the old state instead of the predicted one. Another is to forget to guard against r near zero, which would divide by zero in code.</a:t>
            </a:r>
          </a:p>
          <a:p>
            <a:pPr marL="0" lvl="0" indent="0" algn="l" rtl="0">
              <a:lnSpc>
                <a:spcPct val="100000"/>
              </a:lnSpc>
              <a:spcBef>
                <a:spcPts val="0"/>
              </a:spcBef>
              <a:spcAft>
                <a:spcPts val="600"/>
              </a:spcAft>
              <a:buSzPts val="1400"/>
              <a:buNone/>
            </a:pPr>
            <a:r>
              <a:rPr lang="en-US" dirty="0"/>
              <a:t>Next, you plug this H_k into the EKF update step.</a:t>
            </a:r>
          </a:p>
        </p:txBody>
      </p:sp>
      <p:sp>
        <p:nvSpPr>
          <p:cNvPr id="116" name="Google Shape;116;p29:notes">
            <a:extLst>
              <a:ext uri="{FF2B5EF4-FFF2-40B4-BE49-F238E27FC236}">
                <a16:creationId xmlns:a16="http://schemas.microsoft.com/office/drawing/2014/main" id="{6C639711-AA75-DCB6-3BE0-009F7F5FD7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33602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5DAC570-D659-F9D0-FC92-28F69B2A6B2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E5D8E28-CD74-F4CD-77C8-35786A008B6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pieces together. We now have the nonlinear measurement model h(x) and its linear Jacobian H_k from the last two slides, and we run the EKF update step in three numbered stages.</a:t>
            </a:r>
          </a:p>
          <a:p>
            <a:pPr marL="0" lvl="0" indent="0" algn="l" rtl="0">
              <a:lnSpc>
                <a:spcPct val="100000"/>
              </a:lnSpc>
              <a:spcBef>
                <a:spcPts val="0"/>
              </a:spcBef>
              <a:spcAft>
                <a:spcPts val="600"/>
              </a:spcAft>
              <a:buSzPts val="1400"/>
              <a:buNone/>
            </a:pPr>
            <a:r>
              <a:rPr lang="en-US" dirty="0"/>
              <a:t>Step 1, calculate the Kalman gain: K_k = P_(k|k-1) * H_k^T * (H_k * P_(k|k-1) * H_k^T + R)^(-1). In words, K equals the predicted covariance times H transpose, times the inverse of H times P times H transpose plus R. This is the same formula as the linear filter, with the Jacobian standing in for the measurement matrix. Check the dimensions: P is 3 by 3, H_k is 2 by 3, and R is 2 by 2, so K_k is 3 by 2. It maps a two-element measurement error into a correction for all three state variables.</a:t>
            </a:r>
          </a:p>
          <a:p>
            <a:pPr marL="0" lvl="0" indent="0" algn="l" rtl="0">
              <a:lnSpc>
                <a:spcPct val="100000"/>
              </a:lnSpc>
              <a:spcBef>
                <a:spcPts val="0"/>
              </a:spcBef>
              <a:spcAft>
                <a:spcPts val="600"/>
              </a:spcAft>
              <a:buSzPts val="1400"/>
              <a:buNone/>
            </a:pPr>
            <a:r>
              <a:rPr lang="en-US" dirty="0"/>
              <a:t>Step 2, correct the state: x_(k|k) = x_(k|k-1) + K_k * (z_measured minus the vector [sqrt(X^2 + Y^2), arctan(Y/X)]). The slide stresses this point: the predicted measurement in the residual comes from the true nonlinear h(x), the range and bearing evaluated at the predicted state, not from H_k times x. The Jacobian is only a local slope used to size the gain and the covariance. Using it to predict the measurement throws away accuracy you already have.</a:t>
            </a:r>
          </a:p>
          <a:p>
            <a:pPr marL="0" lvl="0" indent="0" algn="l" rtl="0">
              <a:lnSpc>
                <a:spcPct val="100000"/>
              </a:lnSpc>
              <a:spcBef>
                <a:spcPts val="0"/>
              </a:spcBef>
              <a:spcAft>
                <a:spcPts val="600"/>
              </a:spcAft>
              <a:buSzPts val="1400"/>
              <a:buNone/>
            </a:pPr>
            <a:r>
              <a:rPr lang="en-US" dirty="0"/>
              <a:t>Step 3, shrink the covariance: P_(k|k) = (I - K_k * H_k) * P_(k|k-1). Here the Jacobian appears again, so the uncertainty shrinks in the directions the sensor actually observes.</a:t>
            </a:r>
          </a:p>
          <a:p>
            <a:pPr marL="0" lvl="0" indent="0" algn="l" rtl="0">
              <a:lnSpc>
                <a:spcPct val="100000"/>
              </a:lnSpc>
              <a:spcBef>
                <a:spcPts val="0"/>
              </a:spcBef>
              <a:spcAft>
                <a:spcPts val="600"/>
              </a:spcAft>
              <a:buSzPts val="1400"/>
              <a:buNone/>
            </a:pPr>
            <a:r>
              <a:rPr lang="en-US" dirty="0"/>
              <a:t>A common mistake in code is to use plain arctan and forget to wrap the bearing residual into minus pi to pi. Use atan2(Y, X), and wrap the angle difference before you multiply by K.</a:t>
            </a:r>
          </a:p>
          <a:p>
            <a:pPr marL="0" lvl="0" indent="0" algn="l" rtl="0">
              <a:lnSpc>
                <a:spcPct val="100000"/>
              </a:lnSpc>
              <a:spcBef>
                <a:spcPts val="0"/>
              </a:spcBef>
              <a:spcAft>
                <a:spcPts val="600"/>
              </a:spcAft>
              <a:buSzPts val="1400"/>
              <a:buNone/>
            </a:pPr>
            <a:r>
              <a:rPr lang="en-US" dirty="0"/>
              <a:t>Next, we step back and see that this is the whole EKF.</a:t>
            </a:r>
          </a:p>
        </p:txBody>
      </p:sp>
      <p:sp>
        <p:nvSpPr>
          <p:cNvPr id="116" name="Google Shape;116;p29:notes">
            <a:extLst>
              <a:ext uri="{FF2B5EF4-FFF2-40B4-BE49-F238E27FC236}">
                <a16:creationId xmlns:a16="http://schemas.microsoft.com/office/drawing/2014/main" id="{905AB693-58B4-EF08-488B-4A53E827E1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551170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4ED10D-8069-BF47-691E-EC5C47EE471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827DB2E-EC94-06B9-8D8E-39FA8F6BB0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Extended Kalman Filter. It reads: "And that's it! That's the extended Kalman filter!" It then names more complex filters, namely particle filters, unscented filters and Lie group Kalman filters. It says all of them are trying to improve the estimate of the nonlinearity in the system, and that everything else is the same: they all have predict and update steps.</a:t>
            </a:r>
          </a:p>
          <a:p>
            <a:pPr marL="0" lvl="0" indent="0" algn="l" rtl="0">
              <a:lnSpc>
                <a:spcPct val="100000"/>
              </a:lnSpc>
              <a:spcBef>
                <a:spcPts val="0"/>
              </a:spcBef>
              <a:spcAft>
                <a:spcPts val="600"/>
              </a:spcAft>
              <a:buSzPts val="1400"/>
              <a:buNone/>
            </a:pPr>
            <a:r>
              <a:rPr lang="en-US" dirty="0"/>
              <a:t>On the previous slide you finished the EKF update with the Kalman gain, the state correction using the nonlinear h(x) for the residual, and the covariance shrink. So you now have the complete loop. Predict pushes the state through the nonlinear model f and the covariance through the Jacobian F. Update compares the real measurement with h of the predicted state and corrects using the Jacobian H.</a:t>
            </a:r>
          </a:p>
          <a:p>
            <a:pPr marL="0" lvl="0" indent="0" algn="l" rtl="0">
              <a:lnSpc>
                <a:spcPct val="100000"/>
              </a:lnSpc>
              <a:spcBef>
                <a:spcPts val="0"/>
              </a:spcBef>
              <a:spcAft>
                <a:spcPts val="600"/>
              </a:spcAft>
              <a:buSzPts val="1400"/>
              <a:buNone/>
            </a:pPr>
            <a:r>
              <a:rPr lang="en-US" dirty="0"/>
              <a:t>The key idea is that the EKF handles nonlinearity by linearizing, taking first-order derivatives at the current estimate. That works well when the uncertainty is small or the model is close to linear, and it degrades otherwise. The alternatives differ only in how they approximate the nonlinearity:</a:t>
            </a:r>
          </a:p>
          <a:p>
            <a:pPr marL="0" lvl="0" indent="0" algn="l" rtl="0">
              <a:lnSpc>
                <a:spcPct val="100000"/>
              </a:lnSpc>
              <a:spcBef>
                <a:spcPts val="0"/>
              </a:spcBef>
              <a:spcAft>
                <a:spcPts val="600"/>
              </a:spcAft>
              <a:buSzPts val="1400"/>
              <a:buNone/>
            </a:pPr>
            <a:r>
              <a:rPr lang="en-US" dirty="0"/>
              <a:t>The unscented filter pushes a small set of carefully chosen "sigma points" through the true nonlinear functions instead of computing Jacobians.</a:t>
            </a:r>
          </a:p>
          <a:p>
            <a:pPr marL="0" lvl="0" indent="0" algn="l" rtl="0">
              <a:lnSpc>
                <a:spcPct val="100000"/>
              </a:lnSpc>
              <a:spcBef>
                <a:spcPts val="0"/>
              </a:spcBef>
              <a:spcAft>
                <a:spcPts val="600"/>
              </a:spcAft>
              <a:buSzPts val="1400"/>
              <a:buNone/>
            </a:pPr>
            <a:r>
              <a:rPr lang="en-US" dirty="0"/>
              <a:t>A particle filter represents the whole distribution with many samples, so it can capture shapes that are not Gaussian at all.</a:t>
            </a:r>
          </a:p>
          <a:p>
            <a:pPr marL="0" lvl="0" indent="0" algn="l" rtl="0">
              <a:lnSpc>
                <a:spcPct val="100000"/>
              </a:lnSpc>
              <a:spcBef>
                <a:spcPts val="0"/>
              </a:spcBef>
              <a:spcAft>
                <a:spcPts val="600"/>
              </a:spcAft>
              <a:buSzPts val="1400"/>
              <a:buNone/>
            </a:pPr>
            <a:r>
              <a:rPr lang="en-US" dirty="0"/>
              <a:t>A Lie group Kalman filter respects the geometry of rotations and poses, such as SE(2) for a planar robot.</a:t>
            </a:r>
          </a:p>
          <a:p>
            <a:pPr marL="0" lvl="0" indent="0" algn="l" rtl="0">
              <a:lnSpc>
                <a:spcPct val="100000"/>
              </a:lnSpc>
              <a:spcBef>
                <a:spcPts val="0"/>
              </a:spcBef>
              <a:spcAft>
                <a:spcPts val="600"/>
              </a:spcAft>
              <a:buSzPts val="1400"/>
              <a:buNone/>
            </a:pPr>
            <a:r>
              <a:rPr lang="en-US" dirty="0"/>
              <a:t>The structure of every one of these filters is the same predict then update cycle you just built. If you understand the EKF, you understand the skeleton of all of them.</a:t>
            </a:r>
          </a:p>
          <a:p>
            <a:pPr marL="0" lvl="0" indent="0" algn="l" rtl="0">
              <a:lnSpc>
                <a:spcPct val="100000"/>
              </a:lnSpc>
              <a:spcBef>
                <a:spcPts val="0"/>
              </a:spcBef>
              <a:spcAft>
                <a:spcPts val="600"/>
              </a:spcAft>
              <a:buSzPts val="1400"/>
              <a:buNone/>
            </a:pPr>
            <a:r>
              <a:rPr lang="en-US" dirty="0"/>
              <a:t>Quick check: which part of the EKF is the approximation? The answer is the Jacobians F and H, the linearization.</a:t>
            </a:r>
          </a:p>
          <a:p>
            <a:pPr marL="0" lvl="0" indent="0" algn="l" rtl="0">
              <a:lnSpc>
                <a:spcPct val="100000"/>
              </a:lnSpc>
              <a:spcBef>
                <a:spcPts val="0"/>
              </a:spcBef>
              <a:spcAft>
                <a:spcPts val="600"/>
              </a:spcAft>
              <a:buSzPts val="1400"/>
              <a:buNone/>
            </a:pPr>
            <a:r>
              <a:rPr lang="en-US" dirty="0"/>
              <a:t>The next slide shows exactly where that linearization breaks down for a turning robot.</a:t>
            </a:r>
          </a:p>
        </p:txBody>
      </p:sp>
      <p:sp>
        <p:nvSpPr>
          <p:cNvPr id="116" name="Google Shape;116;p29:notes">
            <a:extLst>
              <a:ext uri="{FF2B5EF4-FFF2-40B4-BE49-F238E27FC236}">
                <a16:creationId xmlns:a16="http://schemas.microsoft.com/office/drawing/2014/main" id="{DCAAA0AE-801A-9F8A-24D7-262540548D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398729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A06E2B7-698D-2682-C4BE-CFD6A004F1D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69FE46E-8702-4385-80D5-36412B8B86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makes the last point from the previous slide concrete: more advanced filters exist because the EKF's linearization can misrepresent uncertainty. The plot is titled "Monte Carlo + EKF + Lie Group SE(2) Bounds." The horizontal axis is global X position, from about minus 5 to 8, and the vertical axis is global Y position, from about minus 6 to 8.</a:t>
            </a:r>
          </a:p>
          <a:p>
            <a:pPr marL="0" lvl="0" indent="0" algn="l" rtl="0">
              <a:lnSpc>
                <a:spcPct val="100000"/>
              </a:lnSpc>
              <a:spcBef>
                <a:spcPts val="0"/>
              </a:spcBef>
              <a:spcAft>
                <a:spcPts val="600"/>
              </a:spcAft>
              <a:buSzPts val="1400"/>
              <a:buNone/>
            </a:pPr>
            <a:r>
              <a:rPr lang="en-US" dirty="0"/>
              <a:t>A black star marks the initial pose (x_0, y_0) at the origin, labelled "Start." A dashed gray arrow, the nominal state update of length v*dt, goes from the start to about (3.5, 3.5). Around that endpoint are thousands of small blue Monte Carlo particles. Each one is the robot's pose after the same motion, simulated with random noise. They form a curved banana-shaped arc that runs from about (minus 5, 2), over the top near y = 5, and down to about (5, minus 4).</a:t>
            </a:r>
          </a:p>
          <a:p>
            <a:pPr marL="0" lvl="0" indent="0" algn="l" rtl="0">
              <a:lnSpc>
                <a:spcPct val="100000"/>
              </a:lnSpc>
              <a:spcBef>
                <a:spcPts val="0"/>
              </a:spcBef>
              <a:spcAft>
                <a:spcPts val="600"/>
              </a:spcAft>
              <a:buSzPts val="1400"/>
              <a:buNone/>
            </a:pPr>
            <a:r>
              <a:rPr lang="en-US" dirty="0"/>
              <a:t>Why a banana? Uncertainty in the heading theta swings the endpoint along a circle of radius v*dt, so the true spread curves.</a:t>
            </a:r>
          </a:p>
          <a:p>
            <a:pPr marL="0" lvl="0" indent="0" algn="l" rtl="0">
              <a:lnSpc>
                <a:spcPct val="100000"/>
              </a:lnSpc>
              <a:spcBef>
                <a:spcPts val="0"/>
              </a:spcBef>
              <a:spcAft>
                <a:spcPts val="600"/>
              </a:spcAft>
              <a:buSzPts val="1400"/>
              <a:buNone/>
            </a:pPr>
            <a:r>
              <a:rPr lang="en-US" dirty="0"/>
              <a:t>The orange-red dashed ellipse is the EKF Cartesian 2-sigma bound. The EKF linearizes cos(theta) and sin(theta) around the nominal heading, so it replaces the arc with its straight tangent line. The result is a tilted ellipse, stretched perpendicular to the direction of travel. It covers empty space outside the arc and misses the arc's curved tails.</a:t>
            </a:r>
          </a:p>
          <a:p>
            <a:pPr marL="0" lvl="0" indent="0" algn="l" rtl="0">
              <a:lnSpc>
                <a:spcPct val="100000"/>
              </a:lnSpc>
              <a:spcBef>
                <a:spcPts val="0"/>
              </a:spcBef>
              <a:spcAft>
                <a:spcPts val="600"/>
              </a:spcAft>
              <a:buSzPts val="1400"/>
              <a:buNone/>
            </a:pPr>
            <a:r>
              <a:rPr lang="en-US" dirty="0"/>
              <a:t>The green curve is the Lie group SE(2) 2-sigma bound. SE(2) is the group of planar rigid-body poses, x, y and heading. This bound treats uncertainty on that curved pose space, so it bends with the particles and fits the dense region much better.</a:t>
            </a:r>
          </a:p>
          <a:p>
            <a:pPr marL="0" lvl="0" indent="0" algn="l" rtl="0">
              <a:lnSpc>
                <a:spcPct val="100000"/>
              </a:lnSpc>
              <a:spcBef>
                <a:spcPts val="0"/>
              </a:spcBef>
              <a:spcAft>
                <a:spcPts val="600"/>
              </a:spcAft>
              <a:buSzPts val="1400"/>
              <a:buNone/>
            </a:pPr>
            <a:r>
              <a:rPr lang="en-US" dirty="0"/>
              <a:t>Quick check: would the EKF ellipse get better or worse if the heading uncertainty grew? It gets worse, because the arc curves more. Questions next.</a:t>
            </a:r>
          </a:p>
        </p:txBody>
      </p:sp>
      <p:sp>
        <p:nvSpPr>
          <p:cNvPr id="116" name="Google Shape;116;p29:notes">
            <a:extLst>
              <a:ext uri="{FF2B5EF4-FFF2-40B4-BE49-F238E27FC236}">
                <a16:creationId xmlns:a16="http://schemas.microsoft.com/office/drawing/2014/main" id="{492F63A5-DB7A-B06C-52E5-40720DAB8F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196787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single word "Questions?" in large white text on the dark blue Grainger Engineering background, with faint hand-drawn equations and diagrams behind it.</a:t>
            </a:r>
          </a:p>
          <a:p>
            <a:pPr marL="0" lvl="0" indent="0" algn="l" rtl="0">
              <a:spcBef>
                <a:spcPts val="0"/>
              </a:spcBef>
              <a:spcAft>
                <a:spcPts val="600"/>
              </a:spcAft>
              <a:buNone/>
            </a:pPr>
            <a:r>
              <a:rPr lang="en-US" dirty="0"/>
              <a:t>Before we close, take a moment to ask about anything from today: the 1D predict and update steps, the matrix form of the Kalman filter, or how the extended Kalman filter linearizes a nonlinear robot model. A good check for yourself is whether you can explain why the straight EKF ellipse missed the curved banana of particles on the last plot.</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is the Grainger College of Engineering title card: white text reading "The Grainger College of Engineering, University of Illinois Urbana-Champaign" beside the orange-and-blue block I logo, on an orange background with faint hand-drawn sketches of equations, a cube, a sphere, molecules and a diagram.</a:t>
            </a:r>
          </a:p>
          <a:p>
            <a:pPr marL="0" lvl="0" indent="0" algn="l" rtl="0">
              <a:spcBef>
                <a:spcPts val="0"/>
              </a:spcBef>
              <a:spcAft>
                <a:spcPts val="600"/>
              </a:spcAft>
              <a:buNone/>
            </a:pPr>
            <a:r>
              <a:rPr lang="en-US" dirty="0"/>
              <a:t>That ends Lectures 20 and 21. You have gone from fusing two noisy measurements to the 1D and N-dimensional Kalman filters, and then the Extended Kalman Filter for the robot's nonlinear motion. Keep in mind the banana-shaped uncertainty from the last plot: it is why the EKF's linearization has limits.</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4.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en.wikipedia.org/wiki/Normal_distribution"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Sum_of_normally_distributed_random_variable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3.sv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29.sv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5.svg"/><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53.svg"/><Relationship Id="rId4" Type="http://schemas.openxmlformats.org/officeDocument/2006/relationships/image" Target="../media/image52.png"/></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55.svg"/><Relationship Id="rId4" Type="http://schemas.openxmlformats.org/officeDocument/2006/relationships/image" Target="../media/image54.png"/></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57.svg"/><Relationship Id="rId4" Type="http://schemas.openxmlformats.org/officeDocument/2006/relationships/image" Target="../media/image56.png"/></Relationships>
</file>

<file path=ppt/slides/_rels/slide8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57.svg"/><Relationship Id="rId4" Type="http://schemas.openxmlformats.org/officeDocument/2006/relationships/image" Target="../media/image56.png"/></Relationships>
</file>

<file path=ppt/slides/_rels/slide8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8.xml"/><Relationship Id="rId1" Type="http://schemas.openxmlformats.org/officeDocument/2006/relationships/slideLayout" Target="../slideLayouts/slideLayout2.xml"/><Relationship Id="rId5" Type="http://schemas.openxmlformats.org/officeDocument/2006/relationships/image" Target="../media/image69.svg"/><Relationship Id="rId4" Type="http://schemas.openxmlformats.org/officeDocument/2006/relationships/image" Target="../media/image68.png"/></Relationships>
</file>

<file path=ppt/slides/_rels/slide9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0.xml"/><Relationship Id="rId1" Type="http://schemas.openxmlformats.org/officeDocument/2006/relationships/slideLayout" Target="../slideLayouts/slideLayout1.xml"/><Relationship Id="rId4"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20-21: Sensor Fusion and Kalman Filters</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Monday, April 6</a:t>
            </a:r>
            <a:r>
              <a:rPr lang="en-US" sz="1800" b="0" i="0" u="none" strike="noStrike" cap="none" baseline="30000" dirty="0">
                <a:solidFill>
                  <a:schemeClr val="lt1"/>
                </a:solidFill>
                <a:latin typeface="Atkinson Hyperlegible Next"/>
                <a:ea typeface="Arial"/>
                <a:cs typeface="Arial"/>
                <a:sym typeface="Arial"/>
              </a:rPr>
              <a:t>th</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
        <p:nvSpPr>
          <p:cNvPr id="2" name="TextBox 1">
            <a:extLst>
              <a:ext uri="{FF2B5EF4-FFF2-40B4-BE49-F238E27FC236}">
                <a16:creationId xmlns:a16="http://schemas.microsoft.com/office/drawing/2014/main" id="{321CC257-913A-F66B-FD51-488E05134F51}"/>
              </a:ext>
            </a:extLst>
          </p:cNvPr>
          <p:cNvSpPr txBox="1"/>
          <p:nvPr/>
        </p:nvSpPr>
        <p:spPr>
          <a:xfrm>
            <a:off x="5639865" y="2973398"/>
            <a:ext cx="65" cy="215444"/>
          </a:xfrm>
          <a:prstGeom prst="rect">
            <a:avLst/>
          </a:prstGeom>
          <a:noFill/>
        </p:spPr>
        <p:txBody>
          <a:bodyPr wrap="none" lIns="0" tIns="0" rIns="0" bIns="0"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What assumptions were made during path planning / trajectory planning?</a:t>
            </a:r>
          </a:p>
          <a:p>
            <a:pPr marL="285750" indent="-285750">
              <a:lnSpc>
                <a:spcPct val="100000"/>
              </a:lnSpc>
              <a:spcBef>
                <a:spcPts val="0"/>
              </a:spcBef>
              <a:buSzPts val="3000"/>
            </a:pPr>
            <a:r>
              <a:rPr lang="en-US" sz="2400" dirty="0">
                <a:latin typeface="Atkinson Hyperlegible Next"/>
                <a:ea typeface="Arial"/>
                <a:cs typeface="Arial"/>
                <a:sym typeface="Arial"/>
              </a:rPr>
              <a:t>What sensors on the robot help determine it’s the location in the world?</a:t>
            </a: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When could the odometr</a:t>
            </a:r>
            <a:r>
              <a:rPr lang="en-US" sz="2400" dirty="0">
                <a:latin typeface="Atkinson Hyperlegible Next"/>
                <a:ea typeface="Arial"/>
                <a:cs typeface="Arial"/>
                <a:sym typeface="Arial"/>
              </a:rPr>
              <a:t>y and the IMU give different values? Which one should you trust?</a:t>
            </a: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If your IMU says you accelerated forward, but LiDAR scan matching says you didn’t move, what should the system believe?</a:t>
            </a:r>
          </a:p>
          <a:p>
            <a:pPr marL="285750" indent="-285750">
              <a:lnSpc>
                <a:spcPct val="100000"/>
              </a:lnSpc>
              <a:spcBef>
                <a:spcPts val="0"/>
              </a:spcBef>
              <a:buSzPts val="3000"/>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Finishing Lab 6 this week. This a 3-week lab!</a:t>
            </a:r>
          </a:p>
          <a:p>
            <a:pPr marL="285750" indent="-285750">
              <a:lnSpc>
                <a:spcPct val="100000"/>
              </a:lnSpc>
              <a:spcBef>
                <a:spcPts val="0"/>
              </a:spcBef>
              <a:buSzPts val="3000"/>
            </a:pPr>
            <a:r>
              <a:rPr lang="en-US" sz="1800" dirty="0">
                <a:solidFill>
                  <a:schemeClr val="tx1"/>
                </a:solidFill>
                <a:latin typeface="Atkinson Hyperlegible Next"/>
                <a:ea typeface="Arial"/>
                <a:cs typeface="Arial"/>
                <a:sym typeface="Arial"/>
              </a:rPr>
              <a:t>Don’t forget to have the Lab LabVIEW application implemented before lab.</a:t>
            </a: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Ex 4 are due </a:t>
            </a:r>
            <a:r>
              <a:rPr lang="en-US" sz="1800" b="1" dirty="0">
                <a:latin typeface="Atkinson Hyperlegible Next"/>
                <a:ea typeface="Arial"/>
                <a:cs typeface="Arial"/>
                <a:sym typeface="Arial"/>
              </a:rPr>
              <a:t>April 7, 5PM (The end of office hours)</a:t>
            </a:r>
          </a:p>
          <a:p>
            <a:pPr marL="285750" indent="-285750">
              <a:lnSpc>
                <a:spcPct val="100000"/>
              </a:lnSpc>
              <a:spcBef>
                <a:spcPts val="0"/>
              </a:spcBef>
              <a:buSzPts val="3000"/>
            </a:pPr>
            <a:r>
              <a:rPr lang="en-US" sz="1800" dirty="0">
                <a:latin typeface="Atkinson Hyperlegible Next"/>
                <a:ea typeface="Arial"/>
                <a:cs typeface="Arial"/>
                <a:sym typeface="Arial"/>
              </a:rPr>
              <a:t>Remainder of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due on </a:t>
            </a:r>
            <a:r>
              <a:rPr lang="en-US" sz="1800" dirty="0" err="1">
                <a:latin typeface="Atkinson Hyperlegible Next"/>
                <a:ea typeface="Arial"/>
                <a:cs typeface="Arial"/>
                <a:sym typeface="Arial"/>
              </a:rPr>
              <a:t>Gradescope</a:t>
            </a:r>
            <a:r>
              <a:rPr lang="en-US" sz="1800" dirty="0">
                <a:latin typeface="Atkinson Hyperlegible Next"/>
                <a:ea typeface="Arial"/>
                <a:cs typeface="Arial"/>
                <a:sym typeface="Arial"/>
              </a:rPr>
              <a:t> on </a:t>
            </a:r>
            <a:r>
              <a:rPr lang="en-US" sz="1800" b="1" dirty="0">
                <a:latin typeface="Atkinson Hyperlegible Next"/>
                <a:ea typeface="Arial"/>
                <a:cs typeface="Arial"/>
                <a:sym typeface="Arial"/>
              </a:rPr>
              <a:t>April 8, 9AM</a:t>
            </a:r>
          </a:p>
          <a:p>
            <a:pPr marL="285750" indent="-285750">
              <a:lnSpc>
                <a:spcPct val="100000"/>
              </a:lnSpc>
              <a:spcBef>
                <a:spcPts val="0"/>
              </a:spcBef>
              <a:buSzPts val="3000"/>
            </a:pPr>
            <a:r>
              <a:rPr lang="en-US" sz="1800" dirty="0">
                <a:latin typeface="Atkinson Hyperlegible Next"/>
                <a:ea typeface="Arial"/>
                <a:cs typeface="Arial"/>
                <a:sym typeface="Arial"/>
              </a:rPr>
              <a:t>Next homework is primarily the </a:t>
            </a:r>
            <a:r>
              <a:rPr lang="en-US" sz="1800" b="1" dirty="0">
                <a:latin typeface="Atkinson Hyperlegible Next"/>
                <a:ea typeface="Arial"/>
                <a:cs typeface="Arial"/>
                <a:sym typeface="Arial"/>
              </a:rPr>
              <a:t>personal project </a:t>
            </a:r>
            <a:r>
              <a:rPr lang="en-US" sz="1800" dirty="0">
                <a:latin typeface="Atkinson Hyperlegible Next"/>
                <a:ea typeface="Arial"/>
                <a:cs typeface="Arial"/>
                <a:sym typeface="Arial"/>
              </a:rPr>
              <a:t>due on </a:t>
            </a:r>
            <a:r>
              <a:rPr lang="en-US" sz="1800" b="1" dirty="0">
                <a:latin typeface="Atkinson Hyperlegible Next"/>
                <a:ea typeface="Arial"/>
                <a:cs typeface="Arial"/>
                <a:sym typeface="Arial"/>
              </a:rPr>
              <a:t>April 22, 9AM</a:t>
            </a:r>
            <a:r>
              <a:rPr lang="en-US" sz="1800" dirty="0">
                <a:latin typeface="Atkinson Hyperlegible Next"/>
                <a:ea typeface="Arial"/>
                <a:cs typeface="Arial"/>
                <a:sym typeface="Arial"/>
              </a:rPr>
              <a:t>.</a:t>
            </a:r>
          </a:p>
          <a:p>
            <a:pPr marL="742950" lvl="1" indent="-285750">
              <a:lnSpc>
                <a:spcPct val="100000"/>
              </a:lnSpc>
              <a:spcBef>
                <a:spcPts val="0"/>
              </a:spcBef>
              <a:buSzPts val="3000"/>
            </a:pPr>
            <a:r>
              <a:rPr lang="en-US" sz="1800" dirty="0">
                <a:latin typeface="Atkinson Hyperlegible Next"/>
                <a:ea typeface="Arial"/>
                <a:cs typeface="Arial"/>
                <a:sym typeface="Arial"/>
              </a:rPr>
              <a:t>I would highly recommend you thinking now and maybe even starting it now if you have a good idea already!</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Sensor Fusion (1/13)</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6E76D8C-4FEF-9932-596F-DA3707FA025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D7FF229-9E61-BC16-0C96-DAE1664C259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In the real world, motors don't spin exactly as commanded due to friction and voltage drops.</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Sensors have electrical noise, mechanical imperfections, and environmental interference.</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What can cause the LiDAR to fail?</a:t>
            </a:r>
          </a:p>
          <a:p>
            <a:pPr marL="342900">
              <a:lnSpc>
                <a:spcPct val="100000"/>
              </a:lnSpc>
              <a:spcBef>
                <a:spcPts val="0"/>
              </a:spcBef>
              <a:buSzPts val="3000"/>
            </a:pPr>
            <a:r>
              <a:rPr lang="en-US" sz="1800" dirty="0">
                <a:latin typeface="Atkinson Hyperlegible Next"/>
                <a:ea typeface="Arial"/>
                <a:cs typeface="Arial"/>
                <a:sym typeface="Arial"/>
              </a:rPr>
              <a:t>Reflective / absorptive surfaces: glass, mirrors, black materials</a:t>
            </a:r>
          </a:p>
          <a:p>
            <a:pPr marL="342900">
              <a:lnSpc>
                <a:spcPct val="100000"/>
              </a:lnSpc>
              <a:spcBef>
                <a:spcPts val="0"/>
              </a:spcBef>
              <a:buSzPts val="3000"/>
            </a:pPr>
            <a:r>
              <a:rPr lang="en-US" sz="1800" dirty="0">
                <a:latin typeface="Atkinson Hyperlegible Next"/>
                <a:ea typeface="Arial"/>
                <a:cs typeface="Arial"/>
                <a:sym typeface="Arial"/>
              </a:rPr>
              <a:t>Fog, rain, dust, snow</a:t>
            </a:r>
          </a:p>
          <a:p>
            <a:pPr marL="342900">
              <a:lnSpc>
                <a:spcPct val="100000"/>
              </a:lnSpc>
              <a:spcBef>
                <a:spcPts val="0"/>
              </a:spcBef>
              <a:buSzPts val="3000"/>
            </a:pPr>
            <a:r>
              <a:rPr lang="en-US" sz="1800" dirty="0">
                <a:latin typeface="Atkinson Hyperlegible Next"/>
                <a:ea typeface="Arial"/>
                <a:cs typeface="Arial"/>
                <a:sym typeface="Arial"/>
              </a:rPr>
              <a:t>Fast motion relative to scan frequency</a:t>
            </a:r>
          </a:p>
          <a:p>
            <a:pPr marL="34290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What can cause the odometry to fail?</a:t>
            </a:r>
          </a:p>
          <a:p>
            <a:pPr marL="342900">
              <a:lnSpc>
                <a:spcPct val="100000"/>
              </a:lnSpc>
              <a:spcBef>
                <a:spcPts val="0"/>
              </a:spcBef>
              <a:buSzPts val="3000"/>
            </a:pPr>
            <a:r>
              <a:rPr lang="en-US" sz="1800" dirty="0">
                <a:latin typeface="Atkinson Hyperlegible Next"/>
                <a:ea typeface="Arial"/>
                <a:cs typeface="Arial"/>
                <a:sym typeface="Arial"/>
              </a:rPr>
              <a:t>Slippery terrain for wheel slip</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When can cause the IMU fail?</a:t>
            </a:r>
          </a:p>
          <a:p>
            <a:pPr marL="342900">
              <a:lnSpc>
                <a:spcPct val="100000"/>
              </a:lnSpc>
              <a:spcBef>
                <a:spcPts val="0"/>
              </a:spcBef>
              <a:buSzPts val="3000"/>
            </a:pPr>
            <a:r>
              <a:rPr lang="en-US" sz="1800" dirty="0">
                <a:latin typeface="Atkinson Hyperlegible Next"/>
                <a:ea typeface="Arial"/>
                <a:cs typeface="Arial"/>
                <a:sym typeface="Arial"/>
              </a:rPr>
              <a:t>IMU drift</a:t>
            </a:r>
          </a:p>
          <a:p>
            <a:pPr marL="342900">
              <a:lnSpc>
                <a:spcPct val="100000"/>
              </a:lnSpc>
              <a:spcBef>
                <a:spcPts val="0"/>
              </a:spcBef>
              <a:buSzPts val="3000"/>
            </a:pPr>
            <a:r>
              <a:rPr lang="en-US" sz="1800" dirty="0">
                <a:latin typeface="Atkinson Hyperlegible Next"/>
                <a:ea typeface="Arial"/>
                <a:cs typeface="Arial"/>
                <a:sym typeface="Arial"/>
              </a:rPr>
              <a:t>Saturating the sensors</a:t>
            </a:r>
          </a:p>
          <a:p>
            <a:pPr marL="34290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If we blindly execute our path plan open-loop, the robot will quickly crash.</a:t>
            </a:r>
            <a:endParaRPr lang="en-US" sz="18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D5AEB9E-BACA-D86A-7336-706642B1BE8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6163C82-7E4D-858D-6AE2-7BC25E50823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(2/13)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9333E97-C9BB-7F74-ABD9-BD767FF2CA5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CCC51F9-A938-D53D-35C3-6A8E5C729EB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01C3C39-EE3C-BFEB-339E-C759637A80D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68CAD8B-0F9E-88BB-8D76-2E450016817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720C4DA-E6F4-64FC-88BF-B0F903D717F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07F47A-CC92-2F64-D6CF-F566D4A9DF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2673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8">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8">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D9E420E-A29E-2817-C4F8-5AFDFD4F90B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ECC75FC-DE33-119F-3EF5-99886F6338D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need </a:t>
            </a:r>
            <a:r>
              <a:rPr lang="en-US" sz="2400" b="1" dirty="0">
                <a:latin typeface="Atkinson Hyperlegible Next"/>
                <a:ea typeface="Arial"/>
                <a:cs typeface="Arial"/>
                <a:sym typeface="Arial"/>
              </a:rPr>
              <a:t>Localization</a:t>
            </a:r>
            <a:r>
              <a:rPr lang="en-US" sz="2400" dirty="0">
                <a:latin typeface="Atkinson Hyperlegible Next"/>
                <a:ea typeface="Arial"/>
                <a:cs typeface="Arial"/>
                <a:sym typeface="Arial"/>
              </a:rPr>
              <a:t>: determining the robot's state (position, velocity, orientation) in the real world.</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To solve the localization problem, SE 423 robots use multiple sensors.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b="1" dirty="0">
                <a:solidFill>
                  <a:schemeClr val="dk1"/>
                </a:solidFill>
                <a:latin typeface="Atkinson Hyperlegible Next"/>
                <a:ea typeface="Arial"/>
                <a:cs typeface="Arial"/>
                <a:sym typeface="Arial"/>
              </a:rPr>
              <a:t>Proprioceptive </a:t>
            </a:r>
            <a:r>
              <a:rPr lang="en-US" sz="2400" dirty="0">
                <a:solidFill>
                  <a:schemeClr val="dk1"/>
                </a:solidFill>
                <a:latin typeface="Atkinson Hyperlegible Next"/>
                <a:ea typeface="Arial"/>
                <a:cs typeface="Arial"/>
                <a:sym typeface="Arial"/>
              </a:rPr>
              <a:t>sensors measure internal states: Wheel Encoders (Odometry) and IMUs.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b="1" dirty="0">
                <a:solidFill>
                  <a:schemeClr val="dk1"/>
                </a:solidFill>
                <a:latin typeface="Atkinson Hyperlegible Next"/>
                <a:ea typeface="Arial"/>
                <a:cs typeface="Arial"/>
                <a:sym typeface="Arial"/>
              </a:rPr>
              <a:t>Exteroceptive </a:t>
            </a:r>
            <a:r>
              <a:rPr lang="en-US" sz="2400" dirty="0">
                <a:solidFill>
                  <a:schemeClr val="dk1"/>
                </a:solidFill>
                <a:latin typeface="Atkinson Hyperlegible Next"/>
                <a:ea typeface="Arial"/>
                <a:cs typeface="Arial"/>
                <a:sym typeface="Arial"/>
              </a:rPr>
              <a:t>sensors measure the external environment: LiDAR.</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No single sensor is perfect; they all lie to us in different ways.</a:t>
            </a:r>
          </a:p>
        </p:txBody>
      </p:sp>
      <p:sp>
        <p:nvSpPr>
          <p:cNvPr id="119" name="Google Shape;119;p29">
            <a:extLst>
              <a:ext uri="{FF2B5EF4-FFF2-40B4-BE49-F238E27FC236}">
                <a16:creationId xmlns:a16="http://schemas.microsoft.com/office/drawing/2014/main" id="{641B44FC-1A1C-F42A-3BDA-976BB5859D9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0A2BC2F-9B03-5B8E-A1C6-72010869DE7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(3/13)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44238C5-9AB9-13BD-5FA9-06FAA119A72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885C52C-A9C9-7BB9-45B7-B21B10DD794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8CD9A88-2E48-9F2F-07C0-A68012E64C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382DF34-9E76-F12D-6585-0866D9EDDCF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45908F1-2070-3919-F15E-D11B97EA018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8A3A0F2-02A3-2B72-DDF9-1C212F06621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63700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D668A1F-A262-40BB-0420-8D46AB2FE82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BFC7474-F78F-74BF-555A-F8C0E3E1CE2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latin typeface="Atkinson Hyperlegible Next"/>
                <a:ea typeface="Arial"/>
                <a:cs typeface="Arial"/>
                <a:sym typeface="Arial"/>
              </a:rPr>
              <a:t>Wheel encoders </a:t>
            </a:r>
            <a:r>
              <a:rPr lang="en-US" sz="2400" dirty="0">
                <a:latin typeface="Atkinson Hyperlegible Next"/>
                <a:ea typeface="Arial"/>
                <a:cs typeface="Arial"/>
                <a:sym typeface="Arial"/>
              </a:rPr>
              <a:t>count the rotations of the robot's wheels. By knowing wheel radius and track width, we calculate forward kinematics to estimate position. It provides </a:t>
            </a:r>
            <a:r>
              <a:rPr lang="en-US" sz="2400" b="1" dirty="0">
                <a:latin typeface="Atkinson Hyperlegible Next"/>
                <a:ea typeface="Arial"/>
                <a:cs typeface="Arial"/>
                <a:sym typeface="Arial"/>
              </a:rPr>
              <a:t>high-frequency</a:t>
            </a:r>
            <a:r>
              <a:rPr lang="en-US" sz="2400" dirty="0">
                <a:latin typeface="Atkinson Hyperlegible Next"/>
                <a:ea typeface="Arial"/>
                <a:cs typeface="Arial"/>
                <a:sym typeface="Arial"/>
              </a:rPr>
              <a:t>, smooth data for short-term movement.</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Similarly, </a:t>
            </a:r>
            <a:r>
              <a:rPr lang="en-US" sz="2400" b="1" dirty="0">
                <a:latin typeface="Atkinson Hyperlegible Next"/>
                <a:ea typeface="Arial"/>
                <a:cs typeface="Arial"/>
                <a:sym typeface="Arial"/>
              </a:rPr>
              <a:t>IMUs</a:t>
            </a:r>
            <a:r>
              <a:rPr lang="en-US" sz="2400" dirty="0">
                <a:latin typeface="Atkinson Hyperlegible Next"/>
                <a:ea typeface="Arial"/>
                <a:cs typeface="Arial"/>
                <a:sym typeface="Arial"/>
              </a:rPr>
              <a:t> generate </a:t>
            </a:r>
            <a:r>
              <a:rPr lang="en-US" sz="2400" b="1" dirty="0">
                <a:latin typeface="Atkinson Hyperlegible Next"/>
                <a:ea typeface="Arial"/>
                <a:cs typeface="Arial"/>
                <a:sym typeface="Arial"/>
              </a:rPr>
              <a:t>high-frequency</a:t>
            </a:r>
            <a:r>
              <a:rPr lang="en-US" sz="2400" dirty="0">
                <a:latin typeface="Atkinson Hyperlegible Next"/>
                <a:ea typeface="Arial"/>
                <a:cs typeface="Arial"/>
                <a:sym typeface="Arial"/>
              </a:rPr>
              <a:t>, smooth data for short-term movement based on the integration of acceleration.</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b="1" dirty="0">
                <a:solidFill>
                  <a:schemeClr val="dk1"/>
                </a:solidFill>
                <a:latin typeface="Atkinson Hyperlegible Next"/>
                <a:ea typeface="Arial"/>
                <a:cs typeface="Arial"/>
                <a:sym typeface="Arial"/>
              </a:rPr>
              <a:t>LiDAR</a:t>
            </a:r>
            <a:r>
              <a:rPr lang="en-US" sz="2400" dirty="0">
                <a:solidFill>
                  <a:schemeClr val="dk1"/>
                </a:solidFill>
                <a:latin typeface="Atkinson Hyperlegible Next"/>
                <a:ea typeface="Arial"/>
                <a:cs typeface="Arial"/>
                <a:sym typeface="Arial"/>
              </a:rPr>
              <a:t>, unlike odometry and IMUs, LiDAR gives us </a:t>
            </a:r>
            <a:r>
              <a:rPr lang="en-US" sz="2400" b="1" dirty="0">
                <a:solidFill>
                  <a:schemeClr val="dk1"/>
                </a:solidFill>
                <a:latin typeface="Atkinson Hyperlegible Next"/>
                <a:ea typeface="Arial"/>
                <a:cs typeface="Arial"/>
                <a:sym typeface="Arial"/>
              </a:rPr>
              <a:t>absolute </a:t>
            </a:r>
            <a:r>
              <a:rPr lang="en-US" sz="2400" dirty="0">
                <a:solidFill>
                  <a:schemeClr val="dk1"/>
                </a:solidFill>
                <a:latin typeface="Atkinson Hyperlegible Next"/>
                <a:ea typeface="Arial"/>
                <a:cs typeface="Arial"/>
                <a:sym typeface="Arial"/>
              </a:rPr>
              <a:t>measurements relative to the environment.; however, </a:t>
            </a:r>
            <a:r>
              <a:rPr lang="en-US" sz="2400" dirty="0">
                <a:latin typeface="Atkinson Hyperlegible Next"/>
                <a:ea typeface="Arial"/>
                <a:cs typeface="Arial"/>
                <a:sym typeface="Arial"/>
              </a:rPr>
              <a:t>due to the additional data, the sensor runs at </a:t>
            </a:r>
            <a:r>
              <a:rPr lang="en-US" sz="2400" dirty="0">
                <a:solidFill>
                  <a:schemeClr val="dk1"/>
                </a:solidFill>
                <a:latin typeface="Atkinson Hyperlegible Next"/>
                <a:ea typeface="Arial"/>
                <a:cs typeface="Arial"/>
                <a:sym typeface="Arial"/>
              </a:rPr>
              <a:t>a lower frequency (e.g., 10Hz) compared to an IMU (e.g., 500Hz).</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If we are in a perfectly square, featureless hallway, can LiDAR tell us our position along the hallway? What about the IMU / odometry?</a:t>
            </a:r>
          </a:p>
        </p:txBody>
      </p:sp>
      <p:sp>
        <p:nvSpPr>
          <p:cNvPr id="119" name="Google Shape;119;p29">
            <a:extLst>
              <a:ext uri="{FF2B5EF4-FFF2-40B4-BE49-F238E27FC236}">
                <a16:creationId xmlns:a16="http://schemas.microsoft.com/office/drawing/2014/main" id="{7FBAB7B5-FA9E-81F7-05F1-7BBA5839624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A71CBAF-9573-1ACA-A469-078FA69C640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(4/13)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949EE72-ADCD-CE29-7521-247C63D739D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3B4B1FF-9281-2A9E-BA3B-3F21D3648C3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A98BCDB-FFB9-C0BB-A723-476D5308625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99BD75A-118C-F176-A446-6AF89C48B10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DC7EDCC-4247-6400-91FB-A6E044C1F2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EA8263E-3123-AD11-D840-181B1577509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1497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491F9D0-123C-69D8-267E-88B75912236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39A7C04-1DBB-5710-0570-A22E87C68FA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have </a:t>
            </a:r>
            <a:r>
              <a:rPr lang="en-US" sz="2400" b="1" dirty="0">
                <a:latin typeface="Atkinson Hyperlegible Next"/>
                <a:ea typeface="Arial"/>
                <a:cs typeface="Arial"/>
                <a:sym typeface="Arial"/>
              </a:rPr>
              <a:t>fast, smooth </a:t>
            </a:r>
            <a:r>
              <a:rPr lang="en-US" sz="2400" dirty="0">
                <a:latin typeface="Atkinson Hyperlegible Next"/>
                <a:ea typeface="Arial"/>
                <a:cs typeface="Arial"/>
                <a:sym typeface="Arial"/>
              </a:rPr>
              <a:t>sensors that drift (IMU, Odometry).</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have </a:t>
            </a:r>
            <a:r>
              <a:rPr lang="en-US" sz="2400" b="1" dirty="0">
                <a:latin typeface="Atkinson Hyperlegible Next"/>
                <a:ea typeface="Arial"/>
                <a:cs typeface="Arial"/>
                <a:sym typeface="Arial"/>
              </a:rPr>
              <a:t>slow</a:t>
            </a:r>
            <a:r>
              <a:rPr lang="en-US" sz="2400" dirty="0">
                <a:latin typeface="Atkinson Hyperlegible Next"/>
                <a:ea typeface="Arial"/>
                <a:cs typeface="Arial"/>
                <a:sym typeface="Arial"/>
              </a:rPr>
              <a:t>, computationally heavy sensors that don't drift (LiDAR).</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How do we combine them?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r>
              <a:rPr lang="en-US" sz="2400" dirty="0">
                <a:latin typeface="Atkinson Hyperlegible Next"/>
                <a:ea typeface="Arial"/>
                <a:cs typeface="Arial"/>
                <a:sym typeface="Arial"/>
              </a:rPr>
              <a:t>Simple averaging doesn't work because their reliability changes over time.</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2 sensors given measurements give different values which, should you trust?</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What if your sensors give you the confidence of their measurements? I.e. the LiDAR is 75% sure of its position and the IMU / Odometry are, in total, 25% sure of their positions?</a:t>
            </a: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60278E2-13A4-ECCD-9125-BF56E97905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BE1A9D2-D303-9880-1EAB-A6AE71E76AE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(5/13)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1B8DA6B-4A3E-6061-7885-7E5BA602F78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150536D-03E5-D9B1-7E72-7D3ABD555E8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BA6B9F1-37FB-33B1-73DC-9AA2ABC8F3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21C6813-4205-D682-2114-C774FAA4B09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A46402A-32B4-5BA2-923F-90393288EC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374073B-BFFD-DB1B-504A-7E22C0917E4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8781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4F1F894-E15D-FB0E-D29F-052BEDE8F33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74B849CB-6C64-3BF0-C0D4-3CAB65ECD4F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Instead of saying robot is </a:t>
                </a:r>
                <a:r>
                  <a:rPr lang="en-US" sz="2400" dirty="0">
                    <a:latin typeface="Atkinson Hyperlegible Next"/>
                    <a:ea typeface="Arial"/>
                    <a:cs typeface="Arial"/>
                    <a:sym typeface="Arial"/>
                  </a:rPr>
                  <a:t>exactly at “X = 5”, we want to say “We are 90% sure that the robot is near X=5”.</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represent our state as a probability distribution.</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use the Gaussian (Normal) Distribution, defined by a mean (</a:t>
                </a:r>
                <a14:m>
                  <m:oMath xmlns:m="http://schemas.openxmlformats.org/officeDocument/2006/math">
                    <m:r>
                      <m:rPr>
                        <m:sty m:val="p"/>
                      </m:rPr>
                      <a:rPr lang="en-US" sz="2400" b="0" i="1" smtClean="0">
                        <a:latin typeface="Cambria Math" panose="02040503050406030204" pitchFamily="18" charset="0"/>
                        <a:ea typeface="Arial"/>
                        <a:cs typeface="Arial"/>
                        <a:sym typeface="Arial"/>
                      </a:rPr>
                      <m:t>μ</m:t>
                    </m:r>
                  </m:oMath>
                </a14:m>
                <a:r>
                  <a:rPr lang="en-US" sz="2400" dirty="0">
                    <a:solidFill>
                      <a:schemeClr val="dk1"/>
                    </a:solidFill>
                    <a:latin typeface="Atkinson Hyperlegible Next"/>
                    <a:ea typeface="Arial"/>
                    <a:cs typeface="Arial"/>
                    <a:sym typeface="Arial"/>
                  </a:rPr>
                  <a:t>) and variance (</a:t>
                </a:r>
                <a14:m>
                  <m:oMath xmlns:m="http://schemas.openxmlformats.org/officeDocument/2006/math">
                    <m:sSup>
                      <m:sSupPr>
                        <m:ctrlPr>
                          <a:rPr lang="en-US" sz="2400" b="0" i="1" smtClean="0">
                            <a:solidFill>
                              <a:schemeClr val="dk1"/>
                            </a:solidFill>
                            <a:latin typeface="Cambria Math" panose="02040503050406030204" pitchFamily="18" charset="0"/>
                            <a:ea typeface="Arial"/>
                            <a:cs typeface="Arial"/>
                            <a:sym typeface="Arial"/>
                          </a:rPr>
                        </m:ctrlPr>
                      </m:sSupPr>
                      <m:e>
                        <m:r>
                          <a:rPr lang="en-US" sz="2400" b="0" i="1" smtClean="0">
                            <a:solidFill>
                              <a:schemeClr val="dk1"/>
                            </a:solidFill>
                            <a:latin typeface="Cambria Math" panose="02040503050406030204" pitchFamily="18" charset="0"/>
                            <a:ea typeface="Arial"/>
                            <a:cs typeface="Arial"/>
                            <a:sym typeface="Arial"/>
                          </a:rPr>
                          <m:t>𝜎</m:t>
                        </m:r>
                      </m:e>
                      <m:sup>
                        <m:r>
                          <a:rPr lang="en-US" sz="2400" b="0" i="1" smtClean="0">
                            <a:solidFill>
                              <a:schemeClr val="dk1"/>
                            </a:solidFill>
                            <a:latin typeface="Cambria Math" panose="02040503050406030204" pitchFamily="18" charset="0"/>
                            <a:ea typeface="Arial"/>
                            <a:cs typeface="Arial"/>
                            <a:sym typeface="Arial"/>
                          </a:rPr>
                          <m:t>2</m:t>
                        </m:r>
                      </m:sup>
                    </m:sSup>
                  </m:oMath>
                </a14:m>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74B849CB-6C64-3BF0-C0D4-3CAB65ECD4F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BBE5622-5B4F-2C92-EC24-51D1EC1AECC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205E767-726C-CE73-41AA-5F4EFDCE53B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(6/13)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64F1F63-0DDC-06F0-A670-6F9C70213DE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B44039E-071E-EF13-060A-B19D18C38D1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34A25EE-2089-FA01-C229-0E0F8FC4941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13AEA70-CAD1-C85B-4672-D627AD6641E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70EF1AB-74EE-FA3E-6B0C-42D0AC2DAB4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DC7E859-3358-75F9-FF92-673795ADEA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standard normal bell curve, probability density on the vertical axis peaking at about 0.4 at the mean, horizontal axis in standard deviations from minus 3 sigma to 3 sigma. Shaded bands show the probability in each interval: 34.1% between the mean and 1 sigma on each side, 13.6% between 1 and 2 sigma, 2.1% between 2 and 3 sigma, and 0.1% beyond 3 sigma. About 68% lies within 1 sigma and 95% within 2 sigma.">
            <a:extLst>
              <a:ext uri="{FF2B5EF4-FFF2-40B4-BE49-F238E27FC236}">
                <a16:creationId xmlns:a16="http://schemas.microsoft.com/office/drawing/2014/main" id="{898DA8B1-06EE-F383-1742-DF52DE9381C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13998" y="3548943"/>
            <a:ext cx="5835650" cy="2917825"/>
          </a:xfrm>
          <a:prstGeom prst="rect">
            <a:avLst/>
          </a:prstGeom>
        </p:spPr>
      </p:pic>
      <p:sp>
        <p:nvSpPr>
          <p:cNvPr id="5" name="TextBox 4">
            <a:extLst>
              <a:ext uri="{FF2B5EF4-FFF2-40B4-BE49-F238E27FC236}">
                <a16:creationId xmlns:a16="http://schemas.microsoft.com/office/drawing/2014/main" id="{3291B65C-D484-7EF3-5C21-CCADE55E7A9E}"/>
              </a:ext>
            </a:extLst>
          </p:cNvPr>
          <p:cNvSpPr txBox="1"/>
          <p:nvPr/>
        </p:nvSpPr>
        <p:spPr>
          <a:xfrm>
            <a:off x="4495484" y="6328059"/>
            <a:ext cx="2940050" cy="246221"/>
          </a:xfrm>
          <a:prstGeom prst="rect">
            <a:avLst/>
          </a:prstGeom>
          <a:noFill/>
        </p:spPr>
        <p:txBody>
          <a:bodyPr wrap="square">
            <a:spAutoFit/>
          </a:bodyPr>
          <a:lstStyle/>
          <a:p>
            <a:pPr algn="ctr"/>
            <a:r>
              <a:rPr lang="en-US" sz="1000" dirty="0">
                <a:hlinkClick r:id="rId7"/>
              </a:rPr>
              <a:t>https://en.wikipedia.org/wiki/Normal_distribution</a:t>
            </a:r>
            <a:r>
              <a:rPr lang="en-US" sz="1000" dirty="0"/>
              <a:t> </a:t>
            </a:r>
          </a:p>
        </p:txBody>
      </p:sp>
    </p:spTree>
    <p:extLst>
      <p:ext uri="{BB962C8B-B14F-4D97-AF65-F5344CB8AC3E}">
        <p14:creationId xmlns:p14="http://schemas.microsoft.com/office/powerpoint/2010/main" val="2798787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0F7EB40-14FB-7621-B579-298C7123075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C9A827F-3835-FF0A-D899-55C40F8C9C1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Why Gaussians?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a:t>
                </a:r>
                <a:r>
                  <a:rPr lang="en-US" sz="2400" b="1" dirty="0">
                    <a:solidFill>
                      <a:schemeClr val="dk1"/>
                    </a:solidFill>
                    <a:latin typeface="Atkinson Hyperlegible Next"/>
                    <a:ea typeface="Arial"/>
                    <a:cs typeface="Arial"/>
                    <a:sym typeface="Arial"/>
                  </a:rPr>
                  <a:t>mean</a:t>
                </a:r>
                <a:r>
                  <a:rPr lang="en-US" sz="2400" dirty="0">
                    <a:solidFill>
                      <a:schemeClr val="dk1"/>
                    </a:solidFill>
                    <a:latin typeface="Atkinson Hyperlegible Next"/>
                    <a:ea typeface="Arial"/>
                    <a:cs typeface="Arial"/>
                    <a:sym typeface="Arial"/>
                  </a:rPr>
                  <a:t> (</a:t>
                </a:r>
                <a14:m>
                  <m:oMath xmlns:m="http://schemas.openxmlformats.org/officeDocument/2006/math">
                    <m:r>
                      <m:rPr>
                        <m:sty m:val="p"/>
                      </m:rPr>
                      <a:rPr lang="en-US" sz="2400" i="1">
                        <a:latin typeface="Cambria Math" panose="02040503050406030204" pitchFamily="18" charset="0"/>
                        <a:ea typeface="Arial"/>
                        <a:cs typeface="Arial"/>
                        <a:sym typeface="Arial"/>
                      </a:rPr>
                      <m:t>μ</m:t>
                    </m:r>
                  </m:oMath>
                </a14:m>
                <a:r>
                  <a:rPr lang="en-US" sz="2400" dirty="0">
                    <a:solidFill>
                      <a:schemeClr val="dk1"/>
                    </a:solidFill>
                    <a:latin typeface="Atkinson Hyperlegible Next"/>
                    <a:ea typeface="Arial"/>
                    <a:cs typeface="Arial"/>
                    <a:sym typeface="Arial"/>
                  </a:rPr>
                  <a:t>) represents our best guess of the robot's state. </a:t>
                </a: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a:t>
                </a:r>
                <a:r>
                  <a:rPr lang="en-US" sz="2400" b="1" dirty="0">
                    <a:solidFill>
                      <a:schemeClr val="dk1"/>
                    </a:solidFill>
                    <a:latin typeface="Atkinson Hyperlegible Next"/>
                    <a:ea typeface="Arial"/>
                    <a:cs typeface="Arial"/>
                    <a:sym typeface="Arial"/>
                  </a:rPr>
                  <a:t>variance</a:t>
                </a:r>
                <a:r>
                  <a:rPr lang="en-US" sz="2400" dirty="0">
                    <a:solidFill>
                      <a:schemeClr val="dk1"/>
                    </a:solidFill>
                    <a:latin typeface="Atkinson Hyperlegible Next"/>
                    <a:ea typeface="Arial"/>
                    <a:cs typeface="Arial"/>
                    <a:sym typeface="Arial"/>
                  </a:rPr>
                  <a:t> (</a:t>
                </a:r>
                <a14:m>
                  <m:oMath xmlns:m="http://schemas.openxmlformats.org/officeDocument/2006/math">
                    <m:sSup>
                      <m:sSupPr>
                        <m:ctrlPr>
                          <a:rPr lang="en-US" sz="2400" i="1">
                            <a:latin typeface="Cambria Math" panose="02040503050406030204" pitchFamily="18" charset="0"/>
                            <a:ea typeface="Arial"/>
                            <a:cs typeface="Arial"/>
                            <a:sym typeface="Arial"/>
                          </a:rPr>
                        </m:ctrlPr>
                      </m:sSupPr>
                      <m:e>
                        <m:r>
                          <a:rPr lang="en-US" sz="2400" i="1">
                            <a:latin typeface="Cambria Math" panose="02040503050406030204" pitchFamily="18" charset="0"/>
                            <a:ea typeface="Arial"/>
                            <a:cs typeface="Arial"/>
                            <a:sym typeface="Arial"/>
                          </a:rPr>
                          <m:t>𝜎</m:t>
                        </m:r>
                      </m:e>
                      <m:sup>
                        <m:r>
                          <a:rPr lang="en-US" sz="2400" i="1">
                            <a:latin typeface="Cambria Math" panose="02040503050406030204" pitchFamily="18" charset="0"/>
                            <a:ea typeface="Arial"/>
                            <a:cs typeface="Arial"/>
                            <a:sym typeface="Arial"/>
                          </a:rPr>
                          <m:t>2</m:t>
                        </m:r>
                      </m:sup>
                    </m:sSup>
                  </m:oMath>
                </a14:m>
                <a:r>
                  <a:rPr lang="en-US" sz="2400" dirty="0">
                    <a:solidFill>
                      <a:schemeClr val="dk1"/>
                    </a:solidFill>
                    <a:latin typeface="Atkinson Hyperlegible Next"/>
                    <a:ea typeface="Arial"/>
                    <a:cs typeface="Arial"/>
                    <a:sym typeface="Arial"/>
                  </a:rPr>
                  <a:t>) represents our uncertainty; a wide curve means we are lost, a narrow curve means we are confident.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Gaussians are mathematically convenient: multiplying two Gaussians results in a new Gaussian!</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 addition, a lot of math can be derived in closed form when using Gaussians (most other more complex probability distributions do not allow for this)</a:t>
                </a:r>
              </a:p>
            </p:txBody>
          </p:sp>
        </mc:Choice>
        <mc:Fallback xmlns="">
          <p:sp>
            <p:nvSpPr>
              <p:cNvPr id="118" name="Google Shape;118;p29">
                <a:extLst>
                  <a:ext uri="{FF2B5EF4-FFF2-40B4-BE49-F238E27FC236}">
                    <a16:creationId xmlns:a16="http://schemas.microsoft.com/office/drawing/2014/main" id="{BC9A827F-3835-FF0A-D899-55C40F8C9C1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7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59A792D-73AA-B827-13FC-82701B03B1E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3DD6FA-6E47-BDE9-FD34-02C8EC10AE4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(7/13)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FC45940-0BC9-49D1-F097-623A891A495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6A13348-9FFF-12D7-F48B-7A58B6B81F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4D9C4B5-8D20-B681-A69F-6BF56E57698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0519B6F-AE0F-73AC-A787-D1813F87C4D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F772B7-755D-910D-082F-5CF34A2F72C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48F8A90-5FD3-0FC3-835D-21AB8AF0D07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3760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AE3407-DC15-E96F-1536-4061F8034D6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26828DE-7025-F60D-D286-1D176287E47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Which sensor would you trust more?</a:t>
            </a:r>
          </a:p>
        </p:txBody>
      </p:sp>
      <p:sp>
        <p:nvSpPr>
          <p:cNvPr id="119" name="Google Shape;119;p29">
            <a:extLst>
              <a:ext uri="{FF2B5EF4-FFF2-40B4-BE49-F238E27FC236}">
                <a16:creationId xmlns:a16="http://schemas.microsoft.com/office/drawing/2014/main" id="{08436E42-519C-8FBA-60FE-3DC889204B5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8FF8032-C12B-C2CB-444A-A0512EF8328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(8/13)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4ED8C47-DA2D-F9CA-BE64-9F6804D81D0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0DA912-5B67-3134-80D5-C63002A3582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10BCBFC-CF2D-E3CC-B865-799FC9C43B5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6B07321-EC64-5CC4-5484-A51AAA84939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CC28203-BC0F-B2C9-7FB0-DA9FBF6EDA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DB71EEC-11F9-42E4-1533-A111DB64FF8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two Gaussian probability curves for a robot's x position. The red &quot;high uncertainty&quot; curve is centered at 0 and is wide and flat, peaking near 0.27 with a standard deviation of about 1.5. The blue &quot;low uncertainty&quot; curve is centered at 2 and is narrow and tall, peaking near 0.8 with a standard deviation of about 0.5. The narrower blue estimate is the more trustworthy sensor reading.">
            <a:extLst>
              <a:ext uri="{FF2B5EF4-FFF2-40B4-BE49-F238E27FC236}">
                <a16:creationId xmlns:a16="http://schemas.microsoft.com/office/drawing/2014/main" id="{1BCCD553-6D42-489E-24ED-5153F66EF2A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76517" y="1767070"/>
            <a:ext cx="6438966" cy="4834468"/>
          </a:xfrm>
          <a:prstGeom prst="rect">
            <a:avLst/>
          </a:prstGeom>
        </p:spPr>
      </p:pic>
    </p:spTree>
    <p:extLst>
      <p:ext uri="{BB962C8B-B14F-4D97-AF65-F5344CB8AC3E}">
        <p14:creationId xmlns:p14="http://schemas.microsoft.com/office/powerpoint/2010/main" val="3181888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5BB7596D-AB5E-E668-0807-0F5C4D03BBA9}"/>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7BBEBD30-0974-E20F-66CE-64A248A723B8}"/>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1D Kalman Filter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F1CEC4E9-065D-A9B7-2231-6DA0067BE541}"/>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A5CCF883-A390-1D27-19CA-86FA466D63A3}"/>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A3FAFF9A-09BE-1DBB-E7A3-034C7EBAA458}"/>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9766FD44-52A2-EE8F-9038-E1988B4E655F}"/>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B8650BDC-C45F-AED6-37F8-6E96BF57414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A68C5E82-93BD-05A5-E6C4-1F06699045AF}"/>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F1FE877D-1538-AF19-861D-E979FAA69BA7}"/>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44FFDEF6-1FDA-99C9-EC2A-037F38A67AD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30CEB405-E7A5-3A29-E013-1E5EC83784F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89032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A65329B-39F2-867F-0A04-9B098071B11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E3A8761-5B83-328D-A126-38F076CC624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Kalman Filter is an optimal estimator for </a:t>
            </a:r>
            <a:r>
              <a:rPr lang="en-US" sz="2400" b="1" dirty="0">
                <a:solidFill>
                  <a:schemeClr val="dk1"/>
                </a:solidFill>
                <a:latin typeface="Atkinson Hyperlegible Next"/>
                <a:ea typeface="Arial"/>
                <a:cs typeface="Arial"/>
                <a:sym typeface="Arial"/>
              </a:rPr>
              <a:t>linear </a:t>
            </a:r>
            <a:r>
              <a:rPr lang="en-US" sz="2400" dirty="0">
                <a:solidFill>
                  <a:schemeClr val="dk1"/>
                </a:solidFill>
                <a:latin typeface="Atkinson Hyperlegible Next"/>
                <a:ea typeface="Arial"/>
                <a:cs typeface="Arial"/>
                <a:sym typeface="Arial"/>
              </a:rPr>
              <a:t>systems subject to </a:t>
            </a:r>
            <a:r>
              <a:rPr lang="en-US" sz="2400" b="1" dirty="0">
                <a:solidFill>
                  <a:schemeClr val="dk1"/>
                </a:solidFill>
                <a:latin typeface="Atkinson Hyperlegible Next"/>
                <a:ea typeface="Arial"/>
                <a:cs typeface="Arial"/>
                <a:sym typeface="Arial"/>
              </a:rPr>
              <a:t>Gaussian </a:t>
            </a:r>
            <a:r>
              <a:rPr lang="en-US" sz="2400" dirty="0">
                <a:solidFill>
                  <a:schemeClr val="dk1"/>
                </a:solidFill>
                <a:latin typeface="Atkinson Hyperlegible Next"/>
                <a:ea typeface="Arial"/>
                <a:cs typeface="Arial"/>
                <a:sym typeface="Arial"/>
              </a:rPr>
              <a:t>noise.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When would the Kalman Filter not be appropriate?</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gn="ctr">
              <a:lnSpc>
                <a:spcPct val="100000"/>
              </a:lnSpc>
              <a:spcBef>
                <a:spcPts val="0"/>
              </a:spcBef>
              <a:buSzPts val="3000"/>
              <a:buNone/>
            </a:pPr>
            <a:r>
              <a:rPr lang="en-US" sz="2400" dirty="0">
                <a:solidFill>
                  <a:schemeClr val="dk1"/>
                </a:solidFill>
                <a:latin typeface="Atkinson Hyperlegible Next"/>
                <a:ea typeface="Arial"/>
                <a:cs typeface="Arial"/>
                <a:sym typeface="Arial"/>
              </a:rPr>
              <a:t>If your sensor or system if non-linear and / or does not follow a Gaussian noise distribution! Always understand how your sensors / system acts and the underlying assumptions for algorithms!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It operates in a continuous, two-step loop: </a:t>
            </a:r>
            <a:r>
              <a:rPr lang="en-US" sz="2400" b="1" dirty="0">
                <a:solidFill>
                  <a:schemeClr val="dk1"/>
                </a:solidFill>
                <a:latin typeface="Atkinson Hyperlegible Next"/>
                <a:ea typeface="Arial"/>
                <a:cs typeface="Arial"/>
                <a:sym typeface="Arial"/>
              </a:rPr>
              <a:t>Predict</a:t>
            </a:r>
            <a:r>
              <a:rPr lang="en-US" sz="2400" dirty="0">
                <a:solidFill>
                  <a:schemeClr val="dk1"/>
                </a:solidFill>
                <a:latin typeface="Atkinson Hyperlegible Next"/>
                <a:ea typeface="Arial"/>
                <a:cs typeface="Arial"/>
                <a:sym typeface="Arial"/>
              </a:rPr>
              <a:t> and </a:t>
            </a:r>
            <a:r>
              <a:rPr lang="en-US" sz="2400" b="1" dirty="0">
                <a:solidFill>
                  <a:schemeClr val="dk1"/>
                </a:solidFill>
                <a:latin typeface="Atkinson Hyperlegible Next"/>
                <a:ea typeface="Arial"/>
                <a:cs typeface="Arial"/>
                <a:sym typeface="Arial"/>
              </a:rPr>
              <a:t>Update</a:t>
            </a:r>
            <a:r>
              <a:rPr lang="en-US" sz="2400" dirty="0">
                <a:solidFill>
                  <a:schemeClr val="dk1"/>
                </a:solidFill>
                <a:latin typeface="Atkinson Hyperlegible Next"/>
                <a:ea typeface="Arial"/>
                <a:cs typeface="Arial"/>
                <a:sym typeface="Arial"/>
              </a:rPr>
              <a:t>.</a:t>
            </a:r>
          </a:p>
        </p:txBody>
      </p:sp>
      <p:sp>
        <p:nvSpPr>
          <p:cNvPr id="119" name="Google Shape;119;p29">
            <a:extLst>
              <a:ext uri="{FF2B5EF4-FFF2-40B4-BE49-F238E27FC236}">
                <a16:creationId xmlns:a16="http://schemas.microsoft.com/office/drawing/2014/main" id="{7E472022-BB26-A280-4E9F-ADDC70DFC27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F55D5F8-A3B7-2695-9B43-9B5EF757196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(9/13)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138AAD8-4295-2D1C-F3D6-D375B9C194D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9C38A00-8B26-B25A-8993-54C2AC7CA59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A439B2F-9A64-BA63-289D-75BB0FCDE03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E20DD1A-D2C9-3CCD-6A14-738983F101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FD72C88-2EDB-1CE2-4E4B-8AB91424BA4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65A9CAD-537B-BC1C-8FC1-4CDB9AFDE7D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46074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2868176-5818-6A02-B09B-2DA78D460F2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13740F5-3D2A-7756-7F9D-9154445BCCF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97510A0-882A-A843-6A2E-5C1F47BCA9C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(10/13)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F66113E-A496-FC67-CF7A-CC5B8699649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D2A2C0C-2528-01A0-C67C-5964FE538B3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19B5FE1-C72D-285C-066A-3F0003D15C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335AA4E-ACB6-3FB0-E090-AF433EA275F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A73F5B8-C3E4-1798-6308-D23F5E96243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45BE8C7-FAFA-4449-7A05-9A1E0E1A5F2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Kalman filter cycle: prior state estimate x hat sub k minus 1 given k minus 1, with covariance P sub k minus 1 given k minus 1 (a wide, tilted uncertainty ellipse), goes through a prediction step based on a physical model to give x hat sub k given k minus 1 and P sub k given k minus 1. An update step compares this prediction to measurements y sub k (a small round uncertainty region), producing x hat sub k given k and P sub k given k. That output estimate has a smaller ellipse, and k becomes k plus 1 to repeat.">
            <a:extLst>
              <a:ext uri="{FF2B5EF4-FFF2-40B4-BE49-F238E27FC236}">
                <a16:creationId xmlns:a16="http://schemas.microsoft.com/office/drawing/2014/main" id="{8BA59FD0-35B2-89C5-FDBD-04FCD45DED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9157" y="868221"/>
            <a:ext cx="11173686" cy="5655816"/>
          </a:xfrm>
          <a:prstGeom prst="rect">
            <a:avLst/>
          </a:prstGeom>
        </p:spPr>
      </p:pic>
      <p:sp>
        <p:nvSpPr>
          <p:cNvPr id="6" name="Rectangle 5">
            <a:extLst>
              <a:ext uri="{FF2B5EF4-FFF2-40B4-BE49-F238E27FC236}">
                <a16:creationId xmlns:a16="http://schemas.microsoft.com/office/drawing/2014/main" id="{D3174F6D-4417-D7E2-1109-F5593B2CC584}"/>
              </a:ext>
            </a:extLst>
          </p:cNvPr>
          <p:cNvSpPr/>
          <p:nvPr/>
        </p:nvSpPr>
        <p:spPr>
          <a:xfrm>
            <a:off x="1009650" y="958850"/>
            <a:ext cx="2197100" cy="17208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B22CC04-9718-F1F7-241C-FA54E61578EF}"/>
              </a:ext>
            </a:extLst>
          </p:cNvPr>
          <p:cNvSpPr/>
          <p:nvPr/>
        </p:nvSpPr>
        <p:spPr>
          <a:xfrm>
            <a:off x="6096000" y="906290"/>
            <a:ext cx="2089150" cy="10368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4522EFA-256E-7135-3175-8369BF5F8BED}"/>
              </a:ext>
            </a:extLst>
          </p:cNvPr>
          <p:cNvSpPr/>
          <p:nvPr/>
        </p:nvSpPr>
        <p:spPr>
          <a:xfrm>
            <a:off x="5905500" y="3814590"/>
            <a:ext cx="2435225" cy="10368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0AEBF65-49DB-D222-8A49-60B639CE487A}"/>
              </a:ext>
            </a:extLst>
          </p:cNvPr>
          <p:cNvSpPr/>
          <p:nvPr/>
        </p:nvSpPr>
        <p:spPr>
          <a:xfrm>
            <a:off x="3660775" y="5201217"/>
            <a:ext cx="2162175" cy="7885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6069F143-771D-627B-EAAC-70033AECD387}"/>
              </a:ext>
            </a:extLst>
          </p:cNvPr>
          <p:cNvCxnSpPr>
            <a:stCxn id="9" idx="0"/>
            <a:endCxn id="6" idx="2"/>
          </p:cNvCxnSpPr>
          <p:nvPr/>
        </p:nvCxnSpPr>
        <p:spPr>
          <a:xfrm flipH="1" flipV="1">
            <a:off x="2108200" y="2679700"/>
            <a:ext cx="2633663" cy="25215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12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2"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animBg="1"/>
      <p:bldP spid="7" grpId="1" animBg="1"/>
      <p:bldP spid="8" grpId="0" animBg="1"/>
      <p:bldP spid="8" grpId="1" animBg="1"/>
      <p:bldP spid="9" grpId="0" animBg="1"/>
      <p:bldP spid="9"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DDB4493-D9D8-6AD3-51AC-CF4793D5AC4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554BD8F-ADA5-EA1B-8DE0-AD93BC21168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solidFill>
                  <a:schemeClr val="dk1"/>
                </a:solidFill>
                <a:latin typeface="Atkinson Hyperlegible Next"/>
                <a:ea typeface="Arial"/>
                <a:cs typeface="Arial"/>
                <a:sym typeface="Arial"/>
              </a:rPr>
              <a:t>Step 1</a:t>
            </a:r>
            <a:r>
              <a:rPr lang="en-US" sz="2400" dirty="0">
                <a:solidFill>
                  <a:schemeClr val="dk1"/>
                </a:solidFill>
                <a:latin typeface="Atkinson Hyperlegible Next"/>
                <a:ea typeface="Arial"/>
                <a:cs typeface="Arial"/>
                <a:sym typeface="Arial"/>
              </a:rPr>
              <a:t>: The robot </a:t>
            </a:r>
            <a:r>
              <a:rPr lang="en-US" sz="2400" b="1" dirty="0">
                <a:solidFill>
                  <a:schemeClr val="dk1"/>
                </a:solidFill>
                <a:latin typeface="Atkinson Hyperlegible Next"/>
                <a:ea typeface="Arial"/>
                <a:cs typeface="Arial"/>
                <a:sym typeface="Arial"/>
              </a:rPr>
              <a:t>moves</a:t>
            </a:r>
            <a:r>
              <a:rPr lang="en-US" sz="2400" dirty="0">
                <a:solidFill>
                  <a:schemeClr val="dk1"/>
                </a:solidFill>
                <a:latin typeface="Atkinson Hyperlegible Next"/>
                <a:ea typeface="Arial"/>
                <a:cs typeface="Arial"/>
                <a:sym typeface="Arial"/>
              </a:rPr>
              <a:t>. We use our fast, noisy sensors (Odometry/IMU) to </a:t>
            </a:r>
            <a:r>
              <a:rPr lang="en-US" sz="2400" b="1" dirty="0">
                <a:solidFill>
                  <a:schemeClr val="dk1"/>
                </a:solidFill>
                <a:latin typeface="Atkinson Hyperlegible Next"/>
                <a:ea typeface="Arial"/>
                <a:cs typeface="Arial"/>
                <a:sym typeface="Arial"/>
              </a:rPr>
              <a:t>Predict</a:t>
            </a:r>
            <a:r>
              <a:rPr lang="en-US" sz="2400" dirty="0">
                <a:solidFill>
                  <a:schemeClr val="dk1"/>
                </a:solidFill>
                <a:latin typeface="Atkinson Hyperlegible Next"/>
                <a:ea typeface="Arial"/>
                <a:cs typeface="Arial"/>
                <a:sym typeface="Arial"/>
              </a:rPr>
              <a:t> where we are. Our uncertainty grows.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b="1" dirty="0">
                <a:solidFill>
                  <a:schemeClr val="dk1"/>
                </a:solidFill>
                <a:latin typeface="Atkinson Hyperlegible Next"/>
                <a:ea typeface="Arial"/>
                <a:cs typeface="Arial"/>
                <a:sym typeface="Arial"/>
              </a:rPr>
              <a:t>Step 2:</a:t>
            </a:r>
            <a:r>
              <a:rPr lang="en-US" sz="2400" dirty="0">
                <a:solidFill>
                  <a:schemeClr val="dk1"/>
                </a:solidFill>
                <a:latin typeface="Atkinson Hyperlegible Next"/>
                <a:ea typeface="Arial"/>
                <a:cs typeface="Arial"/>
                <a:sym typeface="Arial"/>
              </a:rPr>
              <a:t> The robot </a:t>
            </a:r>
            <a:r>
              <a:rPr lang="en-US" sz="2400" b="1" dirty="0">
                <a:solidFill>
                  <a:schemeClr val="dk1"/>
                </a:solidFill>
                <a:latin typeface="Atkinson Hyperlegible Next"/>
                <a:ea typeface="Arial"/>
                <a:cs typeface="Arial"/>
                <a:sym typeface="Arial"/>
              </a:rPr>
              <a:t>looks</a:t>
            </a:r>
            <a:r>
              <a:rPr lang="en-US" sz="2400" dirty="0">
                <a:solidFill>
                  <a:schemeClr val="dk1"/>
                </a:solidFill>
                <a:latin typeface="Atkinson Hyperlegible Next"/>
                <a:ea typeface="Arial"/>
                <a:cs typeface="Arial"/>
                <a:sym typeface="Arial"/>
              </a:rPr>
              <a:t>. We take a measurement with our absolute sensor (LiDAR) to </a:t>
            </a:r>
            <a:r>
              <a:rPr lang="en-US" sz="2400" b="1" dirty="0">
                <a:solidFill>
                  <a:schemeClr val="dk1"/>
                </a:solidFill>
                <a:latin typeface="Atkinson Hyperlegible Next"/>
                <a:ea typeface="Arial"/>
                <a:cs typeface="Arial"/>
                <a:sym typeface="Arial"/>
              </a:rPr>
              <a:t>Update</a:t>
            </a:r>
            <a:r>
              <a:rPr lang="en-US" sz="2400" dirty="0">
                <a:solidFill>
                  <a:schemeClr val="dk1"/>
                </a:solidFill>
                <a:latin typeface="Atkinson Hyperlegible Next"/>
                <a:ea typeface="Arial"/>
                <a:cs typeface="Arial"/>
                <a:sym typeface="Arial"/>
              </a:rPr>
              <a:t> our belief. Our uncertainty shrinks.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Rinse and repeat thousands of times a second.</a:t>
            </a:r>
          </a:p>
        </p:txBody>
      </p:sp>
      <p:sp>
        <p:nvSpPr>
          <p:cNvPr id="119" name="Google Shape;119;p29">
            <a:extLst>
              <a:ext uri="{FF2B5EF4-FFF2-40B4-BE49-F238E27FC236}">
                <a16:creationId xmlns:a16="http://schemas.microsoft.com/office/drawing/2014/main" id="{E376E3B1-134B-A92F-832F-A20DC6C9145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D32CD28-BE88-F845-00A1-5A4DEFB900D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(11/13)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4D7FA8B-A4B3-75D3-6F82-1164570B7BE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B24B13C-C0B8-E382-99CF-E9BF4D08D14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5A7BEDE-BC74-822A-748C-B76164B3D9E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52E0AD5-15AB-90FD-F7D0-D607498CDDE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6428992-8FDC-0D6C-C78D-E8468CE9F14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B674D67-627C-B72C-E09C-8CB5FD92C49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2340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31B2B4F-5738-FDF9-FD39-4A8C8376F6A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FAD5EF0-059F-3536-5885-8D1B1A9E352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851F5CC-E10E-7B51-D4B3-ABA254B8A34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(12/13)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943C047-CDC9-33EE-16AA-58930CC374C9}"/>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0CDE8AC-E7C3-6C8D-2C85-8D631400D9A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825EE23-8497-A8AF-D688-63C2861D70A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5017000-93DD-562B-15F8-4ADD83DE227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01F4652-1E6B-F4F1-9BAC-BC043FFFD6B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22EEB2C-584D-7969-94DF-3D6304C00FB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kalman_1d_publication_quality" descr="Animation (47 s, no sound): a 1D Kalman filter tracking a moving object's position and velocity over 140 time steps. The top plot shows the position estimate as a bell-shaped probability density with a shaded plus-or-minus 3 sigma band, the true position as a green X, and, every 20 steps, a sensor measurement as a dashed orange line. Between measurements only the prediction step runs: the curve moves with the estimated velocity and spreads out. At each measurement the correction step pulls the estimate toward it and the curve becomes tall and narrow. The bottom plot shows position variance against time step as a sawtooth: it grows from 5 to about 11 by step 20, drops to near zero at each correction, and its peaks shrink (about 4, then about 2) as the filter converges. At step 140 the estimate is 15.71 against a true position of 15.65.">
            <a:hlinkClick r:id="" action="ppaction://media"/>
            <a:extLst>
              <a:ext uri="{FF2B5EF4-FFF2-40B4-BE49-F238E27FC236}">
                <a16:creationId xmlns:a16="http://schemas.microsoft.com/office/drawing/2014/main" id="{2F7F4B1C-22CC-1CC9-EFFA-09BF652E5528}"/>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88314" y="876107"/>
            <a:ext cx="6815371" cy="5679476"/>
          </a:xfrm>
          <a:prstGeom prst="rect">
            <a:avLst/>
          </a:prstGeom>
        </p:spPr>
      </p:pic>
    </p:spTree>
    <p:extLst>
      <p:ext uri="{BB962C8B-B14F-4D97-AF65-F5344CB8AC3E}">
        <p14:creationId xmlns:p14="http://schemas.microsoft.com/office/powerpoint/2010/main" val="355191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67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72125E9E-E2D6-67AA-3DBB-D82B3334010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AB6AA8A-3EE5-93A2-BA0A-835FD4CAD767}"/>
              </a:ext>
            </a:extLst>
          </p:cNvPr>
          <p:cNvGrpSpPr/>
          <p:nvPr/>
        </p:nvGrpSpPr>
        <p:grpSpPr>
          <a:xfrm>
            <a:off x="2206906" y="2296815"/>
            <a:ext cx="7778187" cy="1508744"/>
            <a:chOff x="2206906" y="1491040"/>
            <a:chExt cx="7778187" cy="1508744"/>
          </a:xfrm>
        </p:grpSpPr>
        <p:sp>
          <p:nvSpPr>
            <p:cNvPr id="89" name="Google Shape;89;p27">
              <a:extLst>
                <a:ext uri="{FF2B5EF4-FFF2-40B4-BE49-F238E27FC236}">
                  <a16:creationId xmlns:a16="http://schemas.microsoft.com/office/drawing/2014/main" id="{03EF32AB-88A2-42FD-9BF9-CD648CE0B4FD}"/>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Predict (1/3)</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32C0A57B-AB89-CDF8-CF9B-CCF141D24694}"/>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0431533B-C682-BD9D-3B2C-79D9CF535D0C}"/>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2189D3E4-6E06-B9D8-B8A8-97ABB5BD698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C9B5CF19-5FE8-9313-4DF6-DE1FD45AEEC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EF487D5F-E3CC-2E3D-CF49-70BB0AE2950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2A31DF77-130C-9037-6E67-3ADCC0B6B6D5}"/>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1F62580A-77F2-6F27-141E-DD8213AC3A37}"/>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285EAC71-D086-AB62-11C8-D58BBA97EEB5}"/>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817248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4C1449-3E0A-4861-9392-BE1442E4AF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B82F22-2950-651A-368C-79B66C4118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Last lectures, we covered algorithms like A*, </a:t>
            </a:r>
            <a:r>
              <a:rPr lang="en-US" sz="2400" dirty="0" err="1">
                <a:latin typeface="Atkinson Hyperlegible Next"/>
                <a:ea typeface="Arial"/>
                <a:cs typeface="Arial"/>
                <a:sym typeface="Arial"/>
              </a:rPr>
              <a:t>Dijkstras</a:t>
            </a:r>
            <a:r>
              <a:rPr lang="en-US" sz="2400" dirty="0">
                <a:latin typeface="Atkinson Hyperlegible Next"/>
                <a:ea typeface="Arial"/>
                <a:cs typeface="Arial"/>
                <a:sym typeface="Arial"/>
              </a:rPr>
              <a:t>, Hybrid A* for path planning.</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learned to compute an optimal, collision-free trajectory from Point A to Point B.</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However, path planning operates in a perfect, simulated world!</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a:t>
            </a:r>
            <a:r>
              <a:rPr lang="en-US" sz="2400" b="1" dirty="0">
                <a:latin typeface="Atkinson Hyperlegible Next"/>
                <a:ea typeface="Arial"/>
                <a:cs typeface="Arial"/>
                <a:sym typeface="Arial"/>
              </a:rPr>
              <a:t>fundamental assumption</a:t>
            </a:r>
            <a:r>
              <a:rPr lang="en-US" sz="2400" dirty="0">
                <a:latin typeface="Atkinson Hyperlegible Next"/>
                <a:ea typeface="Arial"/>
                <a:cs typeface="Arial"/>
                <a:sym typeface="Arial"/>
              </a:rPr>
              <a:t> we made about the robot to execute these plans were:</a:t>
            </a:r>
          </a:p>
          <a:p>
            <a:pPr marL="0" indent="0">
              <a:lnSpc>
                <a:spcPct val="100000"/>
              </a:lnSpc>
              <a:spcBef>
                <a:spcPts val="0"/>
              </a:spcBef>
              <a:buSzPts val="3000"/>
              <a:buNone/>
            </a:pPr>
            <a:endParaRPr lang="en-US" sz="2400" b="1" dirty="0">
              <a:solidFill>
                <a:schemeClr val="dk1"/>
              </a:solidFill>
              <a:latin typeface="Atkinson Hyperlegible Next"/>
              <a:ea typeface="Arial"/>
              <a:cs typeface="Arial"/>
              <a:sym typeface="Arial"/>
            </a:endParaRPr>
          </a:p>
          <a:p>
            <a:pPr marL="0" indent="0" algn="ctr">
              <a:lnSpc>
                <a:spcPct val="100000"/>
              </a:lnSpc>
              <a:spcBef>
                <a:spcPts val="0"/>
              </a:spcBef>
              <a:buSzPts val="3000"/>
              <a:buNone/>
            </a:pPr>
            <a:r>
              <a:rPr lang="en-US" sz="2400" dirty="0">
                <a:latin typeface="Atkinson Hyperlegible Next"/>
                <a:ea typeface="Arial"/>
                <a:cs typeface="Arial"/>
                <a:sym typeface="Arial"/>
              </a:rPr>
              <a:t>Perfect localization and actuation!</a:t>
            </a: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A628A2B-B709-CACE-8F95-69BCFBA168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0483023-EDBE-4389-5B7F-1D8932DD80A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(13/13)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330AC21-503A-97DC-BCF1-95DD8206162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0C9303-015B-BA26-66AF-C804A163D8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640AD6F-925A-DF39-18C2-1660A40D8D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34384-62C3-933E-328D-C094682345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2058DB-8DC9-B90E-8DCC-F65D880AB5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9392-D2C8-BB5F-1616-0AF3151C33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0078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6AB8B77-7D8F-9C2F-DFA1-D1BA48EDBF1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444E61C-02F9-C990-1E7E-5501AB07947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We use a physical model of the robot (kinematics) and our control inputs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𝑢</m:t>
                    </m:r>
                  </m:oMath>
                </a14:m>
                <a:r>
                  <a:rPr lang="en-US" sz="2400" dirty="0">
                    <a:solidFill>
                      <a:schemeClr val="dk1"/>
                    </a:solidFill>
                    <a:latin typeface="Atkinson Hyperlegible Next"/>
                    <a:ea typeface="Arial"/>
                    <a:cs typeface="Arial"/>
                    <a:sym typeface="Arial"/>
                  </a:rPr>
                  <a:t>) to guess the new state.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Because we know our model and our encoders are imperfect, we actively increase our uncertainty covariance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𝑃</m:t>
                    </m:r>
                  </m:oMath>
                </a14:m>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This represents "flying blind" between reference measurements.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If we close our eyes and take 5 steps, are we more or less certain of our position than before we moved?</a:t>
                </a:r>
              </a:p>
            </p:txBody>
          </p:sp>
        </mc:Choice>
        <mc:Fallback xmlns="">
          <p:sp>
            <p:nvSpPr>
              <p:cNvPr id="118" name="Google Shape;118;p29">
                <a:extLst>
                  <a:ext uri="{FF2B5EF4-FFF2-40B4-BE49-F238E27FC236}">
                    <a16:creationId xmlns:a16="http://schemas.microsoft.com/office/drawing/2014/main" id="{A444E61C-02F9-C990-1E7E-5501AB07947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43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D73FE52-A7A5-6FEE-F734-1255D05DD22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B7DCF16-91BF-8467-BCB4-09388966110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12BA770-93EC-2352-E466-015C3CF3F90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1F65073-39B2-ECE9-F4FA-BA5E7294480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9C72B3C-712E-A7DF-D83D-60BFF3F5838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FFD3AC2-7FCB-B17D-56B3-26BEB48A41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53B4413-E482-2CE4-07FD-B76E82585A2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FF61FD4-F396-E179-3A2D-056FB83E6C7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580347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68A07BB-12B5-8BEC-2F0E-E8D94158DC6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7BC29F1-3770-84E0-6794-1E7E81F94CF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Before we look at massive matrices, let's look at a robot on a 1-Dimensional train track.</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Its state is just one number: its position on the track, </a:t>
                </a:r>
                <a14:m>
                  <m:oMath xmlns:m="http://schemas.openxmlformats.org/officeDocument/2006/math">
                    <m:r>
                      <m:rPr>
                        <m:sty m:val="p"/>
                      </m:rPr>
                      <a:rPr lang="en-US" sz="2400" b="0" i="1" smtClean="0">
                        <a:latin typeface="Cambria Math" panose="02040503050406030204" pitchFamily="18" charset="0"/>
                        <a:ea typeface="Arial"/>
                        <a:cs typeface="Arial"/>
                        <a:sym typeface="Arial"/>
                      </a:rPr>
                      <m:t>μ</m:t>
                    </m:r>
                  </m:oMath>
                </a14:m>
                <a:r>
                  <a:rPr lang="en-US" sz="2400" dirty="0">
                    <a:latin typeface="Atkinson Hyperlegible Next"/>
                    <a:ea typeface="Arial"/>
                    <a:cs typeface="Arial"/>
                    <a:sym typeface="Arial"/>
                  </a:rPr>
                  <a:t>. Its uncertainty is also just one number: the variance, </a:t>
                </a:r>
                <a14:m>
                  <m:oMath xmlns:m="http://schemas.openxmlformats.org/officeDocument/2006/math">
                    <m:sSup>
                      <m:sSupPr>
                        <m:ctrlPr>
                          <a:rPr lang="en-US" sz="2400" i="1">
                            <a:latin typeface="Cambria Math" panose="02040503050406030204" pitchFamily="18" charset="0"/>
                            <a:ea typeface="Arial"/>
                            <a:cs typeface="Arial"/>
                            <a:sym typeface="Arial"/>
                          </a:rPr>
                        </m:ctrlPr>
                      </m:sSupPr>
                      <m:e>
                        <m:r>
                          <a:rPr lang="en-US" sz="2400" i="1">
                            <a:latin typeface="Cambria Math" panose="02040503050406030204" pitchFamily="18" charset="0"/>
                            <a:ea typeface="Arial"/>
                            <a:cs typeface="Arial"/>
                            <a:sym typeface="Arial"/>
                          </a:rPr>
                          <m:t>𝜎</m:t>
                        </m:r>
                      </m:e>
                      <m:sup>
                        <m:r>
                          <a:rPr lang="en-US" sz="2400" i="1">
                            <a:latin typeface="Cambria Math" panose="02040503050406030204" pitchFamily="18" charset="0"/>
                            <a:ea typeface="Arial"/>
                            <a:cs typeface="Arial"/>
                            <a:sym typeface="Arial"/>
                          </a:rPr>
                          <m:t>2</m:t>
                        </m:r>
                      </m:sup>
                    </m:sSup>
                    <m:r>
                      <a:rPr lang="en-US" sz="2400" i="1">
                        <a:latin typeface="Cambria Math" panose="02040503050406030204" pitchFamily="18" charset="0"/>
                        <a:ea typeface="Arial"/>
                        <a:cs typeface="Arial"/>
                        <a:sym typeface="Arial"/>
                      </a:rPr>
                      <m:t> </m:t>
                    </m:r>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Together, they form a 1D Gaussian (Bell Curve) representing our "belief".</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7BC29F1-3770-84E0-6794-1E7E81F94CF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81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71553DE-1FC9-A108-70AA-CE4F3210477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909B984-032F-143B-8486-3672CA3DFE3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38DD75A-722A-42C3-B592-8087EF86197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070733E-2711-9ECD-183E-A720C5E0031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974EFA8-5AA6-7F56-A5EB-09691014550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83DCC83-1B18-29FF-9B56-6219EB0E0F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3B0A41D-F920-0600-5286-811D11480BC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92DCF1F-D150-CBC3-BA0E-26CE575C06A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64980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EBEB7A0-9C14-A99B-9284-27021024766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ADEE7DE-F787-2BF2-817E-CF565E6C3D7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47BEB2D-D533-4BAB-A122-758A7FAD7AE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CFED6B8-22A3-E25E-6CFD-512B7C36D01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8CF868A-512A-0A57-2D65-B294682C3F8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9302325-1FD4-7B7B-9C68-5CD28072399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FCE4BEA-CF12-4F1F-D2F7-AEF804C7A22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4021BCC-D959-5D13-B3E3-E511995B193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31B2141-4BEB-7520-1011-8ADA48C6DFA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initial belief about position as a Gaussian with mean 4.0 and variance 1.0, shown as a filled bell curve peaking at x equals 4. Nearly all probability lies between about x equals 1 and 7 on a position axis running from 0 to 15. This is the starting estimate before the predict step is applied.">
            <a:extLst>
              <a:ext uri="{FF2B5EF4-FFF2-40B4-BE49-F238E27FC236}">
                <a16:creationId xmlns:a16="http://schemas.microsoft.com/office/drawing/2014/main" id="{F36F80FA-8AB9-CA0B-87D2-56033447C5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321" y="982504"/>
            <a:ext cx="10855188" cy="5427594"/>
          </a:xfrm>
          <a:prstGeom prst="rect">
            <a:avLst/>
          </a:prstGeom>
        </p:spPr>
      </p:pic>
    </p:spTree>
    <p:extLst>
      <p:ext uri="{BB962C8B-B14F-4D97-AF65-F5344CB8AC3E}">
        <p14:creationId xmlns:p14="http://schemas.microsoft.com/office/powerpoint/2010/main" val="2216817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3D3F0FC-7A2B-0DD8-DB53-01441FCCE76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7F7B560-5CB2-A935-3A3D-3A997F6BF2A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robot commands its motors to move forward by distance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𝑢</m:t>
                    </m:r>
                  </m:oMath>
                </a14:m>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Our new predicted mean simply shifts: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solidFill>
                                <a:schemeClr val="dk1"/>
                              </a:solidFill>
                              <a:latin typeface="Cambria Math" panose="02040503050406030204" pitchFamily="18" charset="0"/>
                              <a:ea typeface="Arial"/>
                              <a:cs typeface="Arial"/>
                              <a:sym typeface="Arial"/>
                            </a:rPr>
                          </m:ctrlPr>
                        </m:sSubPr>
                        <m:e>
                          <m:r>
                            <a:rPr lang="en-US" sz="2400" i="1" dirty="0" smtClean="0">
                              <a:solidFill>
                                <a:schemeClr val="dk1"/>
                              </a:solidFill>
                              <a:latin typeface="Cambria Math" panose="02040503050406030204" pitchFamily="18" charset="0"/>
                              <a:ea typeface="Arial"/>
                              <a:cs typeface="Arial"/>
                              <a:sym typeface="Arial"/>
                            </a:rPr>
                            <m:t>𝜇</m:t>
                          </m:r>
                        </m:e>
                        <m:sub>
                          <m:r>
                            <a:rPr lang="en-US" sz="2400" i="1" dirty="0" smtClean="0">
                              <a:solidFill>
                                <a:schemeClr val="dk1"/>
                              </a:solidFill>
                              <a:latin typeface="Cambria Math" panose="02040503050406030204" pitchFamily="18" charset="0"/>
                              <a:ea typeface="Arial"/>
                              <a:cs typeface="Arial"/>
                              <a:sym typeface="Arial"/>
                            </a:rPr>
                            <m:t>𝑝𝑟𝑒𝑑</m:t>
                          </m:r>
                        </m:sub>
                      </m:sSub>
                      <m:r>
                        <a:rPr lang="en-US" sz="2400" i="1" dirty="0" smtClean="0">
                          <a:solidFill>
                            <a:schemeClr val="dk1"/>
                          </a:solidFill>
                          <a:latin typeface="Cambria Math" panose="02040503050406030204" pitchFamily="18" charset="0"/>
                          <a:ea typeface="Arial"/>
                          <a:cs typeface="Arial"/>
                          <a:sym typeface="Arial"/>
                        </a:rPr>
                        <m:t>=</m:t>
                      </m:r>
                      <m:sSub>
                        <m:sSubPr>
                          <m:ctrlPr>
                            <a:rPr lang="en-US" sz="2400" i="1" dirty="0" smtClean="0">
                              <a:solidFill>
                                <a:schemeClr val="dk1"/>
                              </a:solidFill>
                              <a:latin typeface="Cambria Math" panose="02040503050406030204" pitchFamily="18" charset="0"/>
                              <a:ea typeface="Arial"/>
                              <a:cs typeface="Arial"/>
                              <a:sym typeface="Arial"/>
                            </a:rPr>
                          </m:ctrlPr>
                        </m:sSubPr>
                        <m:e>
                          <m:r>
                            <a:rPr lang="en-US" sz="2400" i="1" dirty="0" smtClean="0">
                              <a:solidFill>
                                <a:schemeClr val="dk1"/>
                              </a:solidFill>
                              <a:latin typeface="Cambria Math" panose="02040503050406030204" pitchFamily="18" charset="0"/>
                              <a:ea typeface="Arial"/>
                              <a:cs typeface="Arial"/>
                              <a:sym typeface="Arial"/>
                            </a:rPr>
                            <m:t>𝜇</m:t>
                          </m:r>
                        </m:e>
                        <m:sub>
                          <m:r>
                            <a:rPr lang="en-US" sz="2400" i="1" dirty="0" smtClean="0">
                              <a:solidFill>
                                <a:schemeClr val="dk1"/>
                              </a:solidFill>
                              <a:latin typeface="Cambria Math" panose="02040503050406030204" pitchFamily="18" charset="0"/>
                              <a:ea typeface="Arial"/>
                              <a:cs typeface="Arial"/>
                              <a:sym typeface="Arial"/>
                            </a:rPr>
                            <m:t>𝑜𝑙𝑑</m:t>
                          </m:r>
                        </m:sub>
                      </m:sSub>
                      <m:r>
                        <a:rPr lang="en-US" sz="2400" i="1" dirty="0" smtClean="0">
                          <a:solidFill>
                            <a:schemeClr val="dk1"/>
                          </a:solidFill>
                          <a:latin typeface="Cambria Math" panose="02040503050406030204" pitchFamily="18" charset="0"/>
                          <a:ea typeface="Arial"/>
                          <a:cs typeface="Arial"/>
                          <a:sym typeface="Arial"/>
                        </a:rPr>
                        <m:t>+</m:t>
                      </m:r>
                      <m:r>
                        <a:rPr lang="en-US" sz="2400" i="1" dirty="0" smtClean="0">
                          <a:solidFill>
                            <a:schemeClr val="dk1"/>
                          </a:solidFill>
                          <a:latin typeface="Cambria Math" panose="02040503050406030204" pitchFamily="18" charset="0"/>
                          <a:ea typeface="Arial"/>
                          <a:cs typeface="Arial"/>
                          <a:sym typeface="Arial"/>
                        </a:rPr>
                        <m:t>𝑢</m:t>
                      </m:r>
                    </m:oMath>
                  </m:oMathPara>
                </a14:m>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But moving is never perfect (slipping, bumps). We add adds </a:t>
                </a:r>
                <a:r>
                  <a:rPr lang="en-US" sz="2400" b="1" dirty="0">
                    <a:solidFill>
                      <a:schemeClr val="dk1"/>
                    </a:solidFill>
                    <a:latin typeface="Atkinson Hyperlegible Next"/>
                    <a:ea typeface="Arial"/>
                    <a:cs typeface="Arial"/>
                    <a:sym typeface="Arial"/>
                  </a:rPr>
                  <a:t>process noise </a:t>
                </a:r>
                <a:r>
                  <a:rPr lang="en-US" sz="2400" dirty="0">
                    <a:solidFill>
                      <a:schemeClr val="dk1"/>
                    </a:solidFill>
                    <a:latin typeface="Atkinson Hyperlegible Next"/>
                    <a:ea typeface="Arial"/>
                    <a:cs typeface="Arial"/>
                    <a:sym typeface="Arial"/>
                  </a:rPr>
                  <a:t>(</a:t>
                </a:r>
                <a14:m>
                  <m:oMath xmlns:m="http://schemas.openxmlformats.org/officeDocument/2006/math">
                    <m:sSubSup>
                      <m:sSubSupPr>
                        <m:ctrlPr>
                          <a:rPr lang="en-US" sz="2400" i="1" dirty="0" smtClean="0">
                            <a:solidFill>
                              <a:schemeClr val="dk1"/>
                            </a:solidFill>
                            <a:latin typeface="Cambria Math" panose="02040503050406030204" pitchFamily="18" charset="0"/>
                            <a:ea typeface="Arial"/>
                            <a:cs typeface="Arial"/>
                            <a:sym typeface="Arial"/>
                          </a:rPr>
                        </m:ctrlPr>
                      </m:sSubSupPr>
                      <m:e>
                        <m:r>
                          <a:rPr lang="en-US" sz="2400" i="1" dirty="0" smtClean="0">
                            <a:solidFill>
                              <a:schemeClr val="dk1"/>
                            </a:solidFill>
                            <a:latin typeface="Cambria Math" panose="02040503050406030204" pitchFamily="18" charset="0"/>
                            <a:ea typeface="Arial"/>
                            <a:cs typeface="Arial"/>
                            <a:sym typeface="Arial"/>
                          </a:rPr>
                          <m:t>𝜎</m:t>
                        </m:r>
                      </m:e>
                      <m:sub>
                        <m:r>
                          <a:rPr lang="en-US" sz="2400" i="1" dirty="0" smtClean="0">
                            <a:solidFill>
                              <a:schemeClr val="dk1"/>
                            </a:solidFill>
                            <a:latin typeface="Cambria Math" panose="02040503050406030204" pitchFamily="18" charset="0"/>
                            <a:ea typeface="Arial"/>
                            <a:cs typeface="Arial"/>
                            <a:sym typeface="Arial"/>
                          </a:rPr>
                          <m:t>𝑚𝑜𝑣𝑒</m:t>
                        </m:r>
                      </m:sub>
                      <m:sup>
                        <m:r>
                          <a:rPr lang="en-US" sz="2400" i="1" dirty="0" smtClean="0">
                            <a:solidFill>
                              <a:schemeClr val="dk1"/>
                            </a:solidFill>
                            <a:latin typeface="Cambria Math" panose="02040503050406030204" pitchFamily="18" charset="0"/>
                            <a:ea typeface="Arial"/>
                            <a:cs typeface="Arial"/>
                            <a:sym typeface="Arial"/>
                          </a:rPr>
                          <m:t>2</m:t>
                        </m:r>
                      </m:sup>
                    </m:sSubSup>
                  </m:oMath>
                </a14:m>
                <a:r>
                  <a:rPr lang="en-US" sz="2400" dirty="0">
                    <a:solidFill>
                      <a:schemeClr val="dk1"/>
                    </a:solidFill>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Therefore our uncertainty </a:t>
                </a:r>
                <a:r>
                  <a:rPr lang="en-US" sz="2400" b="1" dirty="0">
                    <a:solidFill>
                      <a:schemeClr val="dk1"/>
                    </a:solidFill>
                    <a:latin typeface="Atkinson Hyperlegible Next"/>
                    <a:ea typeface="Arial"/>
                    <a:cs typeface="Arial"/>
                    <a:sym typeface="Arial"/>
                  </a:rPr>
                  <a:t>always </a:t>
                </a:r>
                <a:r>
                  <a:rPr lang="en-US" sz="2400" dirty="0">
                    <a:solidFill>
                      <a:schemeClr val="dk1"/>
                    </a:solidFill>
                    <a:latin typeface="Atkinson Hyperlegible Next"/>
                    <a:ea typeface="Arial"/>
                    <a:cs typeface="Arial"/>
                    <a:sym typeface="Arial"/>
                  </a:rPr>
                  <a:t>grows.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Sup>
                        <m:sSubSupPr>
                          <m:ctrlPr>
                            <a:rPr lang="en-US" sz="2400" i="1" dirty="0" smtClean="0">
                              <a:solidFill>
                                <a:schemeClr val="dk1"/>
                              </a:solidFill>
                              <a:latin typeface="Cambria Math" panose="02040503050406030204" pitchFamily="18" charset="0"/>
                              <a:ea typeface="Arial"/>
                              <a:cs typeface="Arial"/>
                              <a:sym typeface="Arial"/>
                            </a:rPr>
                          </m:ctrlPr>
                        </m:sSubSupPr>
                        <m:e>
                          <m:r>
                            <a:rPr lang="en-US" sz="2400" i="1" dirty="0" smtClean="0">
                              <a:solidFill>
                                <a:schemeClr val="dk1"/>
                              </a:solidFill>
                              <a:latin typeface="Cambria Math" panose="02040503050406030204" pitchFamily="18" charset="0"/>
                              <a:ea typeface="Arial"/>
                              <a:cs typeface="Arial"/>
                              <a:sym typeface="Arial"/>
                            </a:rPr>
                            <m:t>𝜎</m:t>
                          </m:r>
                        </m:e>
                        <m:sub>
                          <m:r>
                            <a:rPr lang="en-US" sz="2400" i="1" dirty="0" smtClean="0">
                              <a:solidFill>
                                <a:schemeClr val="dk1"/>
                              </a:solidFill>
                              <a:latin typeface="Cambria Math" panose="02040503050406030204" pitchFamily="18" charset="0"/>
                              <a:ea typeface="Arial"/>
                              <a:cs typeface="Arial"/>
                              <a:sym typeface="Arial"/>
                            </a:rPr>
                            <m:t>𝑝𝑟𝑒𝑑</m:t>
                          </m:r>
                        </m:sub>
                        <m:sup>
                          <m:r>
                            <a:rPr lang="en-US" sz="2400" i="1" dirty="0" smtClean="0">
                              <a:solidFill>
                                <a:schemeClr val="dk1"/>
                              </a:solidFill>
                              <a:latin typeface="Cambria Math" panose="02040503050406030204" pitchFamily="18" charset="0"/>
                              <a:ea typeface="Arial"/>
                              <a:cs typeface="Arial"/>
                              <a:sym typeface="Arial"/>
                            </a:rPr>
                            <m:t>2</m:t>
                          </m:r>
                        </m:sup>
                      </m:sSubSup>
                      <m:r>
                        <a:rPr lang="en-US" sz="2400" i="1" dirty="0" smtClean="0">
                          <a:solidFill>
                            <a:schemeClr val="dk1"/>
                          </a:solidFill>
                          <a:latin typeface="Cambria Math" panose="02040503050406030204" pitchFamily="18" charset="0"/>
                          <a:ea typeface="Arial"/>
                          <a:cs typeface="Arial"/>
                          <a:sym typeface="Arial"/>
                        </a:rPr>
                        <m:t>=</m:t>
                      </m:r>
                      <m:sSubSup>
                        <m:sSubSupPr>
                          <m:ctrlPr>
                            <a:rPr lang="en-US" sz="2400" i="1" dirty="0" smtClean="0">
                              <a:solidFill>
                                <a:schemeClr val="dk1"/>
                              </a:solidFill>
                              <a:latin typeface="Cambria Math" panose="02040503050406030204" pitchFamily="18" charset="0"/>
                              <a:ea typeface="Arial"/>
                              <a:cs typeface="Arial"/>
                              <a:sym typeface="Arial"/>
                            </a:rPr>
                          </m:ctrlPr>
                        </m:sSubSupPr>
                        <m:e>
                          <m:r>
                            <a:rPr lang="en-US" sz="2400" i="1" dirty="0" smtClean="0">
                              <a:solidFill>
                                <a:schemeClr val="dk1"/>
                              </a:solidFill>
                              <a:latin typeface="Cambria Math" panose="02040503050406030204" pitchFamily="18" charset="0"/>
                              <a:ea typeface="Arial"/>
                              <a:cs typeface="Arial"/>
                              <a:sym typeface="Arial"/>
                            </a:rPr>
                            <m:t>𝜎</m:t>
                          </m:r>
                        </m:e>
                        <m:sub>
                          <m:r>
                            <a:rPr lang="en-US" sz="2400" i="1" dirty="0" smtClean="0">
                              <a:solidFill>
                                <a:schemeClr val="dk1"/>
                              </a:solidFill>
                              <a:latin typeface="Cambria Math" panose="02040503050406030204" pitchFamily="18" charset="0"/>
                              <a:ea typeface="Arial"/>
                              <a:cs typeface="Arial"/>
                              <a:sym typeface="Arial"/>
                            </a:rPr>
                            <m:t>𝑜𝑙𝑑</m:t>
                          </m:r>
                        </m:sub>
                        <m:sup>
                          <m:r>
                            <a:rPr lang="en-US" sz="2400" i="1" dirty="0" smtClean="0">
                              <a:solidFill>
                                <a:schemeClr val="dk1"/>
                              </a:solidFill>
                              <a:latin typeface="Cambria Math" panose="02040503050406030204" pitchFamily="18" charset="0"/>
                              <a:ea typeface="Arial"/>
                              <a:cs typeface="Arial"/>
                              <a:sym typeface="Arial"/>
                            </a:rPr>
                            <m:t>2</m:t>
                          </m:r>
                        </m:sup>
                      </m:sSubSup>
                      <m:r>
                        <a:rPr lang="en-US" sz="2400" i="1" dirty="0" smtClean="0">
                          <a:solidFill>
                            <a:schemeClr val="dk1"/>
                          </a:solidFill>
                          <a:latin typeface="Cambria Math" panose="02040503050406030204" pitchFamily="18" charset="0"/>
                          <a:ea typeface="Arial"/>
                          <a:cs typeface="Arial"/>
                          <a:sym typeface="Arial"/>
                        </a:rPr>
                        <m:t>+</m:t>
                      </m:r>
                      <m:sSubSup>
                        <m:sSubSupPr>
                          <m:ctrlPr>
                            <a:rPr lang="en-US" sz="2400" i="1" dirty="0" smtClean="0">
                              <a:solidFill>
                                <a:schemeClr val="dk1"/>
                              </a:solidFill>
                              <a:latin typeface="Cambria Math" panose="02040503050406030204" pitchFamily="18" charset="0"/>
                              <a:ea typeface="Arial"/>
                              <a:cs typeface="Arial"/>
                              <a:sym typeface="Arial"/>
                            </a:rPr>
                          </m:ctrlPr>
                        </m:sSubSupPr>
                        <m:e>
                          <m:r>
                            <a:rPr lang="en-US" sz="2400" i="1" dirty="0" smtClean="0">
                              <a:solidFill>
                                <a:schemeClr val="dk1"/>
                              </a:solidFill>
                              <a:latin typeface="Cambria Math" panose="02040503050406030204" pitchFamily="18" charset="0"/>
                              <a:ea typeface="Arial"/>
                              <a:cs typeface="Arial"/>
                              <a:sym typeface="Arial"/>
                            </a:rPr>
                            <m:t>𝜎</m:t>
                          </m:r>
                        </m:e>
                        <m:sub>
                          <m:r>
                            <a:rPr lang="en-US" sz="2400" i="1" dirty="0" smtClean="0">
                              <a:solidFill>
                                <a:schemeClr val="dk1"/>
                              </a:solidFill>
                              <a:latin typeface="Cambria Math" panose="02040503050406030204" pitchFamily="18" charset="0"/>
                              <a:ea typeface="Arial"/>
                              <a:cs typeface="Arial"/>
                              <a:sym typeface="Arial"/>
                            </a:rPr>
                            <m:t>𝑚𝑜𝑣𝑒</m:t>
                          </m:r>
                        </m:sub>
                        <m:sup>
                          <m:r>
                            <a:rPr lang="en-US" sz="2400" i="1" dirty="0" smtClean="0">
                              <a:solidFill>
                                <a:schemeClr val="dk1"/>
                              </a:solidFill>
                              <a:latin typeface="Cambria Math" panose="02040503050406030204" pitchFamily="18" charset="0"/>
                              <a:ea typeface="Arial"/>
                              <a:cs typeface="Arial"/>
                              <a:sym typeface="Arial"/>
                            </a:rPr>
                            <m:t>2</m:t>
                          </m:r>
                        </m:sup>
                      </m:sSubSup>
                    </m:oMath>
                  </m:oMathPara>
                </a14:m>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87F7B560-5CB2-A935-3A3D-3A997F6BF2A3}"/>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68E1554-8107-F257-CA0F-17B68BA099C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1B21338-72E2-D33F-10A5-18DA957FCF6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(4/39)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277B434-106E-59F3-C7C8-5A6260022D1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2734453-4DD0-54A4-CA8C-56A904E7CB9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942B63A-ED3E-6D46-10A1-0C8D45D5DD7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7A2EDD6-2B9C-0A51-9BA2-278B4582ECD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6CECA21-4760-0C19-5F59-D2C13CBF30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929AFF5-62CE-11D2-2B88-EC9E84A0678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3166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CC46DD4-F0E9-00D1-9DE8-8AC37EB847D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E34F803-63E6-9716-FE5B-13F0C9E1000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05FE115-D2FF-CEA9-0592-C9BFE02234F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(5/39)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CF98374-1E79-0217-EB38-764EAEBC691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A71898-D5D9-E0E7-E6D3-1CF6F27854C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A12D5EC-6E0F-A584-3A61-BA11033E584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E407C28-2849-08A0-6C8E-ABB8ED8C64B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30F84C1-D990-E94C-FF99-63B9665F284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945626C-483F-21D9-BCF6-BE1A8B29063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one-dimensional Kalman predict step over position x from 0 to 14. The old belief is a narrow, tall Gaussian centered at x equals 4. An arrow labeled plus u equals 4 shifts it to the prediction, a shaded Gaussian centered at 8 with variance 2.5. The prediction is wider and lower than the old belief, showing that the motion command moves the mean while added process noise increases the uncertainty.">
            <a:extLst>
              <a:ext uri="{FF2B5EF4-FFF2-40B4-BE49-F238E27FC236}">
                <a16:creationId xmlns:a16="http://schemas.microsoft.com/office/drawing/2014/main" id="{ABCE8D01-A433-765C-31F8-999610B4C62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02321" y="982504"/>
            <a:ext cx="10855188" cy="5427594"/>
          </a:xfrm>
          <a:prstGeom prst="rect">
            <a:avLst/>
          </a:prstGeom>
        </p:spPr>
      </p:pic>
    </p:spTree>
    <p:extLst>
      <p:ext uri="{BB962C8B-B14F-4D97-AF65-F5344CB8AC3E}">
        <p14:creationId xmlns:p14="http://schemas.microsoft.com/office/powerpoint/2010/main" val="1839712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E3F0C36-C162-5986-87D6-D1B65829BC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A25EF48-A626-2479-79A7-B9D0A76129D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This prediction updates the covariance and the means as such because we are assuming </a:t>
                </a:r>
                <a:r>
                  <a:rPr lang="en-US" sz="2400" b="1" dirty="0">
                    <a:latin typeface="Atkinson Hyperlegible Next"/>
                    <a:ea typeface="Arial"/>
                    <a:cs typeface="Arial"/>
                    <a:sym typeface="Arial"/>
                  </a:rPr>
                  <a:t>Gaussian </a:t>
                </a:r>
                <a:r>
                  <a:rPr lang="en-US" sz="2400" dirty="0">
                    <a:latin typeface="Atkinson Hyperlegible Next"/>
                    <a:ea typeface="Arial"/>
                    <a:cs typeface="Arial"/>
                    <a:sym typeface="Arial"/>
                  </a:rPr>
                  <a:t>random variables.</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Let X and Y be independent random variables that are normally distributed, then their sum is also normally distributed. i.e., if</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𝑋</m:t>
                      </m:r>
                      <m:r>
                        <a:rPr lang="en-US" sz="2400" b="0" i="1" smtClean="0">
                          <a:solidFill>
                            <a:schemeClr val="dk1"/>
                          </a:solidFill>
                          <a:latin typeface="Cambria Math" panose="02040503050406030204" pitchFamily="18" charset="0"/>
                          <a:ea typeface="Arial"/>
                          <a:cs typeface="Arial"/>
                          <a:sym typeface="Arial"/>
                        </a:rPr>
                        <m:t>∼</m:t>
                      </m:r>
                      <m:r>
                        <a:rPr lang="en-US" sz="2400" b="0" i="1" smtClean="0">
                          <a:solidFill>
                            <a:schemeClr val="dk1"/>
                          </a:solidFill>
                          <a:latin typeface="Cambria Math" panose="02040503050406030204" pitchFamily="18" charset="0"/>
                          <a:ea typeface="Arial"/>
                          <a:cs typeface="Arial"/>
                          <a:sym typeface="Arial"/>
                        </a:rPr>
                        <m:t>𝑁</m:t>
                      </m:r>
                      <m:d>
                        <m:dPr>
                          <m:ctrlPr>
                            <a:rPr lang="en-US" sz="2400" b="0" i="1" smtClean="0">
                              <a:solidFill>
                                <a:schemeClr val="dk1"/>
                              </a:solidFill>
                              <a:latin typeface="Cambria Math" panose="02040503050406030204" pitchFamily="18" charset="0"/>
                              <a:ea typeface="Arial"/>
                              <a:cs typeface="Arial"/>
                              <a:sym typeface="Arial"/>
                            </a:rPr>
                          </m:ctrlPr>
                        </m:dPr>
                        <m:e>
                          <m:sSub>
                            <m:sSubPr>
                              <m:ctrlPr>
                                <a:rPr lang="en-US" sz="2400" b="0" i="1" smtClean="0">
                                  <a:solidFill>
                                    <a:schemeClr val="dk1"/>
                                  </a:solidFill>
                                  <a:latin typeface="Cambria Math" panose="02040503050406030204" pitchFamily="18" charset="0"/>
                                  <a:ea typeface="Arial"/>
                                  <a:cs typeface="Arial"/>
                                  <a:sym typeface="Arial"/>
                                </a:rPr>
                              </m:ctrlPr>
                            </m:sSubPr>
                            <m:e>
                              <m:r>
                                <a:rPr lang="en-US" sz="2400" b="0" i="1" smtClean="0">
                                  <a:solidFill>
                                    <a:schemeClr val="dk1"/>
                                  </a:solidFill>
                                  <a:latin typeface="Cambria Math" panose="02040503050406030204" pitchFamily="18" charset="0"/>
                                  <a:ea typeface="Arial"/>
                                  <a:cs typeface="Arial"/>
                                  <a:sym typeface="Arial"/>
                                </a:rPr>
                                <m:t>𝜇</m:t>
                              </m:r>
                            </m:e>
                            <m:sub>
                              <m:r>
                                <a:rPr lang="en-US" sz="2400" b="0" i="1" smtClean="0">
                                  <a:solidFill>
                                    <a:schemeClr val="dk1"/>
                                  </a:solidFill>
                                  <a:latin typeface="Cambria Math" panose="02040503050406030204" pitchFamily="18" charset="0"/>
                                  <a:ea typeface="Arial"/>
                                  <a:cs typeface="Arial"/>
                                  <a:sym typeface="Arial"/>
                                </a:rPr>
                                <m:t>𝑋</m:t>
                              </m:r>
                            </m:sub>
                          </m:sSub>
                          <m:r>
                            <a:rPr lang="en-US" sz="2400" b="0" i="1" smtClean="0">
                              <a:solidFill>
                                <a:schemeClr val="dk1"/>
                              </a:solidFill>
                              <a:latin typeface="Cambria Math" panose="02040503050406030204" pitchFamily="18" charset="0"/>
                              <a:ea typeface="Arial"/>
                              <a:cs typeface="Arial"/>
                              <a:sym typeface="Arial"/>
                            </a:rPr>
                            <m:t>,</m:t>
                          </m:r>
                          <m:sSubSup>
                            <m:sSubSupPr>
                              <m:ctrlPr>
                                <a:rPr lang="en-US" sz="2400" b="0" i="1" smtClean="0">
                                  <a:solidFill>
                                    <a:schemeClr val="dk1"/>
                                  </a:solidFill>
                                  <a:latin typeface="Cambria Math" panose="02040503050406030204" pitchFamily="18" charset="0"/>
                                  <a:ea typeface="Arial"/>
                                  <a:cs typeface="Arial"/>
                                  <a:sym typeface="Arial"/>
                                </a:rPr>
                              </m:ctrlPr>
                            </m:sSubSupPr>
                            <m:e>
                              <m:r>
                                <a:rPr lang="en-US" sz="2400" b="0" i="1" smtClean="0">
                                  <a:solidFill>
                                    <a:schemeClr val="dk1"/>
                                  </a:solidFill>
                                  <a:latin typeface="Cambria Math" panose="02040503050406030204" pitchFamily="18" charset="0"/>
                                  <a:ea typeface="Arial"/>
                                  <a:cs typeface="Arial"/>
                                  <a:sym typeface="Arial"/>
                                </a:rPr>
                                <m:t>𝜎</m:t>
                              </m:r>
                            </m:e>
                            <m:sub>
                              <m:r>
                                <a:rPr lang="en-US" sz="2400" b="0" i="1" smtClean="0">
                                  <a:solidFill>
                                    <a:schemeClr val="dk1"/>
                                  </a:solidFill>
                                  <a:latin typeface="Cambria Math" panose="02040503050406030204" pitchFamily="18" charset="0"/>
                                  <a:ea typeface="Arial"/>
                                  <a:cs typeface="Arial"/>
                                  <a:sym typeface="Arial"/>
                                </a:rPr>
                                <m:t>𝑋</m:t>
                              </m:r>
                            </m:sub>
                            <m:sup>
                              <m:r>
                                <a:rPr lang="en-US" sz="2400" b="0" i="1" smtClean="0">
                                  <a:solidFill>
                                    <a:schemeClr val="dk1"/>
                                  </a:solidFill>
                                  <a:latin typeface="Cambria Math" panose="02040503050406030204" pitchFamily="18" charset="0"/>
                                  <a:ea typeface="Arial"/>
                                  <a:cs typeface="Arial"/>
                                  <a:sym typeface="Arial"/>
                                </a:rPr>
                                <m:t>2</m:t>
                              </m:r>
                            </m:sup>
                          </m:sSubSup>
                        </m:e>
                      </m:d>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latin typeface="Cambria Math" panose="02040503050406030204" pitchFamily="18" charset="0"/>
                          <a:ea typeface="Arial"/>
                          <a:cs typeface="Arial"/>
                          <a:sym typeface="Arial"/>
                        </a:rPr>
                        <m:t>Y</m:t>
                      </m:r>
                      <m:r>
                        <a:rPr lang="en-US" sz="2400" i="1">
                          <a:latin typeface="Cambria Math" panose="02040503050406030204" pitchFamily="18" charset="0"/>
                          <a:ea typeface="Arial"/>
                          <a:cs typeface="Arial"/>
                          <a:sym typeface="Arial"/>
                        </a:rPr>
                        <m:t>∼</m:t>
                      </m:r>
                      <m:r>
                        <a:rPr lang="en-US" sz="2400" i="1">
                          <a:latin typeface="Cambria Math" panose="02040503050406030204" pitchFamily="18" charset="0"/>
                          <a:ea typeface="Arial"/>
                          <a:cs typeface="Arial"/>
                          <a:sym typeface="Arial"/>
                        </a:rPr>
                        <m:t>𝑁</m:t>
                      </m:r>
                      <m:d>
                        <m:dPr>
                          <m:ctrlPr>
                            <a:rPr lang="en-US" sz="2400" i="1">
                              <a:latin typeface="Cambria Math" panose="02040503050406030204" pitchFamily="18" charset="0"/>
                              <a:ea typeface="Arial"/>
                              <a:cs typeface="Arial"/>
                              <a:sym typeface="Arial"/>
                            </a:rPr>
                          </m:ctrlPr>
                        </m:dPr>
                        <m:e>
                          <m:sSub>
                            <m:sSubPr>
                              <m:ctrlPr>
                                <a:rPr lang="en-US" sz="2400" i="1">
                                  <a:latin typeface="Cambria Math" panose="02040503050406030204" pitchFamily="18" charset="0"/>
                                  <a:ea typeface="Arial"/>
                                  <a:cs typeface="Arial"/>
                                  <a:sym typeface="Arial"/>
                                </a:rPr>
                              </m:ctrlPr>
                            </m:sSubPr>
                            <m:e>
                              <m:r>
                                <a:rPr lang="en-US" sz="2400" i="1">
                                  <a:latin typeface="Cambria Math" panose="02040503050406030204" pitchFamily="18" charset="0"/>
                                  <a:ea typeface="Arial"/>
                                  <a:cs typeface="Arial"/>
                                  <a:sym typeface="Arial"/>
                                </a:rPr>
                                <m:t>𝜇</m:t>
                              </m:r>
                            </m:e>
                            <m:sub>
                              <m:r>
                                <m:rPr>
                                  <m:sty m:val="p"/>
                                </m:rPr>
                                <a:rPr lang="en-US" sz="2400" b="0" i="1" smtClean="0">
                                  <a:latin typeface="Cambria Math" panose="02040503050406030204" pitchFamily="18" charset="0"/>
                                  <a:ea typeface="Arial"/>
                                  <a:cs typeface="Arial"/>
                                  <a:sym typeface="Arial"/>
                                </a:rPr>
                                <m:t>Y</m:t>
                              </m:r>
                            </m:sub>
                          </m:sSub>
                          <m:r>
                            <a:rPr lang="en-US" sz="2400" i="1">
                              <a:latin typeface="Cambria Math" panose="02040503050406030204" pitchFamily="18" charset="0"/>
                              <a:ea typeface="Arial"/>
                              <a:cs typeface="Arial"/>
                              <a:sym typeface="Arial"/>
                            </a:rPr>
                            <m:t>,</m:t>
                          </m:r>
                          <m:sSubSup>
                            <m:sSubSupPr>
                              <m:ctrlPr>
                                <a:rPr lang="en-US" sz="2400" i="1">
                                  <a:latin typeface="Cambria Math" panose="02040503050406030204" pitchFamily="18" charset="0"/>
                                  <a:ea typeface="Arial"/>
                                  <a:cs typeface="Arial"/>
                                  <a:sym typeface="Arial"/>
                                </a:rPr>
                              </m:ctrlPr>
                            </m:sSubSupPr>
                            <m:e>
                              <m:r>
                                <a:rPr lang="en-US" sz="2400" i="1">
                                  <a:latin typeface="Cambria Math" panose="02040503050406030204" pitchFamily="18" charset="0"/>
                                  <a:ea typeface="Arial"/>
                                  <a:cs typeface="Arial"/>
                                  <a:sym typeface="Arial"/>
                                </a:rPr>
                                <m:t>𝜎</m:t>
                              </m:r>
                            </m:e>
                            <m:sub>
                              <m:r>
                                <m:rPr>
                                  <m:sty m:val="p"/>
                                </m:rPr>
                                <a:rPr lang="en-US" sz="2400" b="0" i="1" smtClean="0">
                                  <a:latin typeface="Cambria Math" panose="02040503050406030204" pitchFamily="18" charset="0"/>
                                  <a:ea typeface="Arial"/>
                                  <a:cs typeface="Arial"/>
                                  <a:sym typeface="Arial"/>
                                </a:rPr>
                                <m:t>Y</m:t>
                              </m:r>
                            </m:sub>
                            <m:sup>
                              <m:r>
                                <a:rPr lang="en-US" sz="2400" i="1">
                                  <a:latin typeface="Cambria Math" panose="02040503050406030204" pitchFamily="18" charset="0"/>
                                  <a:ea typeface="Arial"/>
                                  <a:cs typeface="Arial"/>
                                  <a:sym typeface="Arial"/>
                                </a:rPr>
                                <m:t>2</m:t>
                              </m:r>
                            </m:sup>
                          </m:sSubSup>
                        </m:e>
                      </m:d>
                    </m:oMath>
                  </m:oMathPara>
                </a14:m>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Z</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X</m:t>
                      </m:r>
                      <m:r>
                        <a:rPr lang="en-US" sz="2400" b="0" i="1" smtClean="0">
                          <a:solidFill>
                            <a:schemeClr val="dk1"/>
                          </a:solidFill>
                          <a:latin typeface="Cambria Math" panose="02040503050406030204" pitchFamily="18" charset="0"/>
                          <a:ea typeface="Arial"/>
                          <a:cs typeface="Arial"/>
                          <a:sym typeface="Arial"/>
                        </a:rPr>
                        <m:t> + </m:t>
                      </m:r>
                      <m:r>
                        <m:rPr>
                          <m:sty m:val="p"/>
                        </m:rPr>
                        <a:rPr lang="en-US" sz="2400" b="0" i="1" smtClean="0">
                          <a:solidFill>
                            <a:schemeClr val="dk1"/>
                          </a:solidFill>
                          <a:latin typeface="Cambria Math" panose="02040503050406030204" pitchFamily="18" charset="0"/>
                          <a:ea typeface="Arial"/>
                          <a:cs typeface="Arial"/>
                          <a:sym typeface="Arial"/>
                        </a:rPr>
                        <m:t>Y</m:t>
                      </m:r>
                    </m:oMath>
                  </m:oMathPara>
                </a14:m>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Then,</a:t>
                </a: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ea typeface="Arial"/>
                          <a:cs typeface="Arial"/>
                          <a:sym typeface="Arial"/>
                        </a:rPr>
                        <m:t>Z</m:t>
                      </m:r>
                      <m:r>
                        <a:rPr lang="en-US" sz="2400" i="1">
                          <a:latin typeface="Cambria Math" panose="02040503050406030204" pitchFamily="18" charset="0"/>
                          <a:ea typeface="Arial"/>
                          <a:cs typeface="Arial"/>
                          <a:sym typeface="Arial"/>
                        </a:rPr>
                        <m:t>∼</m:t>
                      </m:r>
                      <m:r>
                        <a:rPr lang="en-US" sz="2400" i="1">
                          <a:latin typeface="Cambria Math" panose="02040503050406030204" pitchFamily="18" charset="0"/>
                          <a:ea typeface="Arial"/>
                          <a:cs typeface="Arial"/>
                          <a:sym typeface="Arial"/>
                        </a:rPr>
                        <m:t>𝑁</m:t>
                      </m:r>
                      <m:d>
                        <m:dPr>
                          <m:ctrlPr>
                            <a:rPr lang="en-US" sz="2400" i="1">
                              <a:latin typeface="Cambria Math" panose="02040503050406030204" pitchFamily="18" charset="0"/>
                              <a:ea typeface="Arial"/>
                              <a:cs typeface="Arial"/>
                              <a:sym typeface="Arial"/>
                            </a:rPr>
                          </m:ctrlPr>
                        </m:dPr>
                        <m:e>
                          <m:sSub>
                            <m:sSubPr>
                              <m:ctrlPr>
                                <a:rPr lang="en-US" sz="2400" i="1">
                                  <a:latin typeface="Cambria Math" panose="02040503050406030204" pitchFamily="18" charset="0"/>
                                  <a:ea typeface="Arial"/>
                                  <a:cs typeface="Arial"/>
                                  <a:sym typeface="Arial"/>
                                </a:rPr>
                              </m:ctrlPr>
                            </m:sSubPr>
                            <m:e>
                              <m:r>
                                <a:rPr lang="en-US" sz="2400" i="1">
                                  <a:latin typeface="Cambria Math" panose="02040503050406030204" pitchFamily="18" charset="0"/>
                                  <a:ea typeface="Arial"/>
                                  <a:cs typeface="Arial"/>
                                  <a:sym typeface="Arial"/>
                                </a:rPr>
                                <m:t>𝜇</m:t>
                              </m:r>
                            </m:e>
                            <m:sub>
                              <m:r>
                                <a:rPr lang="en-US" sz="2400" i="1">
                                  <a:latin typeface="Cambria Math" panose="02040503050406030204" pitchFamily="18" charset="0"/>
                                  <a:ea typeface="Arial"/>
                                  <a:cs typeface="Arial"/>
                                  <a:sym typeface="Arial"/>
                                </a:rPr>
                                <m:t>𝑋</m:t>
                              </m:r>
                            </m:sub>
                          </m:sSub>
                          <m:r>
                            <a:rPr lang="en-US" sz="2400" b="0" i="1" smtClean="0">
                              <a:latin typeface="Cambria Math" panose="02040503050406030204" pitchFamily="18" charset="0"/>
                              <a:ea typeface="Arial"/>
                              <a:cs typeface="Arial"/>
                              <a:sym typeface="Arial"/>
                            </a:rPr>
                            <m:t>+</m:t>
                          </m:r>
                          <m:sSub>
                            <m:sSubPr>
                              <m:ctrlPr>
                                <a:rPr lang="en-US" sz="2400" i="1">
                                  <a:latin typeface="Cambria Math" panose="02040503050406030204" pitchFamily="18" charset="0"/>
                                  <a:ea typeface="Arial"/>
                                  <a:cs typeface="Arial"/>
                                  <a:sym typeface="Arial"/>
                                </a:rPr>
                              </m:ctrlPr>
                            </m:sSubPr>
                            <m:e>
                              <m:r>
                                <a:rPr lang="en-US" sz="2400" i="1">
                                  <a:latin typeface="Cambria Math" panose="02040503050406030204" pitchFamily="18" charset="0"/>
                                  <a:ea typeface="Arial"/>
                                  <a:cs typeface="Arial"/>
                                  <a:sym typeface="Arial"/>
                                </a:rPr>
                                <m:t>𝜇</m:t>
                              </m:r>
                            </m:e>
                            <m:sub>
                              <m:r>
                                <m:rPr>
                                  <m:sty m:val="p"/>
                                </m:rPr>
                                <a:rPr lang="en-US" sz="2400" i="1">
                                  <a:latin typeface="Cambria Math" panose="02040503050406030204" pitchFamily="18" charset="0"/>
                                  <a:ea typeface="Arial"/>
                                  <a:cs typeface="Arial"/>
                                  <a:sym typeface="Arial"/>
                                </a:rPr>
                                <m:t>Y</m:t>
                              </m:r>
                            </m:sub>
                          </m:sSub>
                          <m:r>
                            <a:rPr lang="en-US" sz="2400" i="1">
                              <a:latin typeface="Cambria Math" panose="02040503050406030204" pitchFamily="18" charset="0"/>
                              <a:ea typeface="Arial"/>
                              <a:cs typeface="Arial"/>
                              <a:sym typeface="Arial"/>
                            </a:rPr>
                            <m:t>,</m:t>
                          </m:r>
                          <m:sSubSup>
                            <m:sSubSupPr>
                              <m:ctrlPr>
                                <a:rPr lang="en-US" sz="2400" i="1">
                                  <a:latin typeface="Cambria Math" panose="02040503050406030204" pitchFamily="18" charset="0"/>
                                  <a:ea typeface="Arial"/>
                                  <a:cs typeface="Arial"/>
                                  <a:sym typeface="Arial"/>
                                </a:rPr>
                              </m:ctrlPr>
                            </m:sSubSupPr>
                            <m:e>
                              <m:r>
                                <a:rPr lang="en-US" sz="2400" i="1">
                                  <a:latin typeface="Cambria Math" panose="02040503050406030204" pitchFamily="18" charset="0"/>
                                  <a:ea typeface="Arial"/>
                                  <a:cs typeface="Arial"/>
                                  <a:sym typeface="Arial"/>
                                </a:rPr>
                                <m:t>𝜎</m:t>
                              </m:r>
                            </m:e>
                            <m:sub>
                              <m:r>
                                <a:rPr lang="en-US" sz="2400" i="1">
                                  <a:latin typeface="Cambria Math" panose="02040503050406030204" pitchFamily="18" charset="0"/>
                                  <a:ea typeface="Arial"/>
                                  <a:cs typeface="Arial"/>
                                  <a:sym typeface="Arial"/>
                                </a:rPr>
                                <m:t>𝑋</m:t>
                              </m:r>
                            </m:sub>
                            <m:sup>
                              <m:r>
                                <a:rPr lang="en-US" sz="2400" i="1">
                                  <a:latin typeface="Cambria Math" panose="02040503050406030204" pitchFamily="18" charset="0"/>
                                  <a:ea typeface="Arial"/>
                                  <a:cs typeface="Arial"/>
                                  <a:sym typeface="Arial"/>
                                </a:rPr>
                                <m:t>2</m:t>
                              </m:r>
                            </m:sup>
                          </m:sSubSup>
                          <m:r>
                            <a:rPr lang="en-US" sz="2400" b="0" i="1" smtClean="0">
                              <a:latin typeface="Cambria Math" panose="02040503050406030204" pitchFamily="18" charset="0"/>
                              <a:ea typeface="Arial"/>
                              <a:cs typeface="Arial"/>
                              <a:sym typeface="Arial"/>
                            </a:rPr>
                            <m:t>+</m:t>
                          </m:r>
                          <m:sSubSup>
                            <m:sSubSupPr>
                              <m:ctrlPr>
                                <a:rPr lang="en-US" sz="2400" i="1">
                                  <a:latin typeface="Cambria Math" panose="02040503050406030204" pitchFamily="18" charset="0"/>
                                  <a:ea typeface="Arial"/>
                                  <a:cs typeface="Arial"/>
                                  <a:sym typeface="Arial"/>
                                </a:rPr>
                              </m:ctrlPr>
                            </m:sSubSupPr>
                            <m:e>
                              <m:r>
                                <a:rPr lang="en-US" sz="2400" i="1">
                                  <a:latin typeface="Cambria Math" panose="02040503050406030204" pitchFamily="18" charset="0"/>
                                  <a:ea typeface="Arial"/>
                                  <a:cs typeface="Arial"/>
                                  <a:sym typeface="Arial"/>
                                </a:rPr>
                                <m:t>𝜎</m:t>
                              </m:r>
                            </m:e>
                            <m:sub>
                              <m:r>
                                <m:rPr>
                                  <m:sty m:val="p"/>
                                </m:rPr>
                                <a:rPr lang="en-US" sz="2400" i="1">
                                  <a:latin typeface="Cambria Math" panose="02040503050406030204" pitchFamily="18" charset="0"/>
                                  <a:ea typeface="Arial"/>
                                  <a:cs typeface="Arial"/>
                                  <a:sym typeface="Arial"/>
                                </a:rPr>
                                <m:t>Y</m:t>
                              </m:r>
                            </m:sub>
                            <m:sup>
                              <m:r>
                                <a:rPr lang="en-US" sz="2400" i="1">
                                  <a:latin typeface="Cambria Math" panose="02040503050406030204" pitchFamily="18" charset="0"/>
                                  <a:ea typeface="Arial"/>
                                  <a:cs typeface="Arial"/>
                                  <a:sym typeface="Arial"/>
                                </a:rPr>
                                <m:t>2</m:t>
                              </m:r>
                            </m:sup>
                          </m:sSubSup>
                        </m:e>
                      </m:d>
                    </m:oMath>
                  </m:oMathPara>
                </a14:m>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For how to derive it you can look </a:t>
                </a:r>
                <a:r>
                  <a:rPr lang="en-US" sz="2400" dirty="0">
                    <a:latin typeface="Atkinson Hyperlegible Next"/>
                    <a:ea typeface="Arial"/>
                    <a:cs typeface="Arial"/>
                    <a:sym typeface="Arial"/>
                    <a:hlinkClick r:id="rId3"/>
                  </a:rPr>
                  <a:t>here (from Wikipedia)</a:t>
                </a:r>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CA25EF48-A626-2479-79A7-B9D0A76129D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4"/>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C631F36-F78C-757F-C1AC-5348001429A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74A0024-FE46-52C7-8BCE-E45E2DF66AE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(6/39)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7631BA9-D174-6F92-B57A-F72156AEF28E}"/>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1233507-DD4E-09E4-8B19-F3F68F287C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2F46915-D4D0-20B4-EA15-BF71A35D658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FD619B1-5C2B-042D-B7CC-21B3DCD381E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0A89019-4475-CF78-5C5A-9F557006AD7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86A4B80-EAA7-9252-6199-762F8EA1ADD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05819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C61C6F48-6502-7594-732B-3309D0AAFA7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9612DE5-007D-444A-BC56-F3B3CC1FABD0}"/>
              </a:ext>
            </a:extLst>
          </p:cNvPr>
          <p:cNvGrpSpPr/>
          <p:nvPr/>
        </p:nvGrpSpPr>
        <p:grpSpPr>
          <a:xfrm>
            <a:off x="2206906" y="2296815"/>
            <a:ext cx="7778187" cy="1508744"/>
            <a:chOff x="2206906" y="1491040"/>
            <a:chExt cx="7778187" cy="1508744"/>
          </a:xfrm>
        </p:grpSpPr>
        <p:sp>
          <p:nvSpPr>
            <p:cNvPr id="89" name="Google Shape;89;p27">
              <a:extLst>
                <a:ext uri="{FF2B5EF4-FFF2-40B4-BE49-F238E27FC236}">
                  <a16:creationId xmlns:a16="http://schemas.microsoft.com/office/drawing/2014/main" id="{3F9511B2-D0F0-B479-B055-1332C0E28693}"/>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Update (1/3)</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84EABE5F-B5FA-990A-EC98-EDDE5603B36A}"/>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66E5E5D8-F2F3-4639-917F-8333F14E62E7}"/>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E9551B3E-856F-2CBE-FA3A-C3FC310E0AB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67DE7A0E-06C4-1650-A7B6-044D5411F43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29CE709-52AA-AAEB-F8F4-A01817D0D76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28198507-8C05-C9BB-3571-D0D1C82A4CC3}"/>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7D004251-199A-1E4B-0EF1-41D56E6416B8}"/>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DFF6B2B7-460F-4FD6-6D3C-EEE2C975F3B2}"/>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904497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74BA4E5-9F0F-9A96-BDA3-71D0F40F71F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1717540-90E8-76EB-0874-AD7238E42CE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Now, our absolute sensor (like a 1D LiDAR) </a:t>
                </a:r>
                <a:r>
                  <a:rPr lang="en-US" sz="2400" b="1" dirty="0">
                    <a:latin typeface="Atkinson Hyperlegible Next"/>
                    <a:ea typeface="Arial"/>
                    <a:cs typeface="Arial"/>
                    <a:sym typeface="Arial"/>
                  </a:rPr>
                  <a:t>takes a measurement</a:t>
                </a:r>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It says the robot is at position </a:t>
                </a:r>
                <a14:m>
                  <m:oMath xmlns:m="http://schemas.openxmlformats.org/officeDocument/2006/math">
                    <m:r>
                      <a:rPr lang="en-US" sz="2400" i="1" dirty="0" smtClean="0">
                        <a:latin typeface="Cambria Math" panose="02040503050406030204" pitchFamily="18" charset="0"/>
                        <a:ea typeface="Arial"/>
                        <a:cs typeface="Arial"/>
                        <a:sym typeface="Arial"/>
                      </a:rPr>
                      <m:t>𝑧</m:t>
                    </m:r>
                  </m:oMath>
                </a14:m>
                <a:r>
                  <a:rPr lang="en-US" sz="2400" dirty="0">
                    <a:latin typeface="Atkinson Hyperlegible Next"/>
                    <a:ea typeface="Arial"/>
                    <a:cs typeface="Arial"/>
                    <a:sym typeface="Arial"/>
                  </a:rPr>
                  <a:t>, with a sensor noise variance of </a:t>
                </a:r>
                <a14:m>
                  <m:oMath xmlns:m="http://schemas.openxmlformats.org/officeDocument/2006/math">
                    <m:sSubSup>
                      <m:sSubSupPr>
                        <m:ctrlPr>
                          <a:rPr lang="en-US" sz="2400" i="1" dirty="0" smtClean="0">
                            <a:latin typeface="Cambria Math" panose="02040503050406030204" pitchFamily="18" charset="0"/>
                            <a:ea typeface="Arial"/>
                            <a:cs typeface="Arial"/>
                            <a:sym typeface="Arial"/>
                          </a:rPr>
                        </m:ctrlPr>
                      </m:sSubSupPr>
                      <m:e>
                        <m:r>
                          <a:rPr lang="en-US" sz="2400" i="1" dirty="0" smtClean="0">
                            <a:latin typeface="Cambria Math" panose="02040503050406030204" pitchFamily="18" charset="0"/>
                            <a:ea typeface="Arial"/>
                            <a:cs typeface="Arial"/>
                            <a:sym typeface="Arial"/>
                          </a:rPr>
                          <m:t>𝜎</m:t>
                        </m:r>
                      </m:e>
                      <m:sub>
                        <m:r>
                          <a:rPr lang="en-US" sz="2400" i="1" dirty="0" smtClean="0">
                            <a:latin typeface="Cambria Math" panose="02040503050406030204" pitchFamily="18" charset="0"/>
                            <a:ea typeface="Arial"/>
                            <a:cs typeface="Arial"/>
                            <a:sym typeface="Arial"/>
                          </a:rPr>
                          <m:t>𝑠𝑒𝑛𝑠𝑜𝑟</m:t>
                        </m:r>
                      </m:sub>
                      <m:sup>
                        <m:r>
                          <a:rPr lang="en-US" sz="2400" i="1" dirty="0" smtClean="0">
                            <a:latin typeface="Cambria Math" panose="02040503050406030204" pitchFamily="18" charset="0"/>
                            <a:ea typeface="Arial"/>
                            <a:cs typeface="Arial"/>
                            <a:sym typeface="Arial"/>
                          </a:rPr>
                          <m:t>2</m:t>
                        </m:r>
                      </m:sup>
                    </m:sSubSup>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now have </a:t>
                </a:r>
                <a:r>
                  <a:rPr lang="en-US" sz="2400" b="1" dirty="0">
                    <a:latin typeface="Atkinson Hyperlegible Next"/>
                    <a:ea typeface="Arial"/>
                    <a:cs typeface="Arial"/>
                    <a:sym typeface="Arial"/>
                  </a:rPr>
                  <a:t>two</a:t>
                </a:r>
                <a:r>
                  <a:rPr lang="en-US" sz="2400" dirty="0">
                    <a:latin typeface="Atkinson Hyperlegible Next"/>
                    <a:ea typeface="Arial"/>
                    <a:cs typeface="Arial"/>
                    <a:sym typeface="Arial"/>
                  </a:rPr>
                  <a:t> Gaussian curves: our flattened </a:t>
                </a:r>
                <a:r>
                  <a:rPr lang="en-US" sz="2400" b="1" dirty="0">
                    <a:latin typeface="Atkinson Hyperlegible Next"/>
                    <a:ea typeface="Arial"/>
                    <a:cs typeface="Arial"/>
                    <a:sym typeface="Arial"/>
                  </a:rPr>
                  <a:t>prediction</a:t>
                </a:r>
                <a:r>
                  <a:rPr lang="en-US" sz="2400" dirty="0">
                    <a:latin typeface="Atkinson Hyperlegible Next"/>
                    <a:ea typeface="Arial"/>
                    <a:cs typeface="Arial"/>
                    <a:sym typeface="Arial"/>
                  </a:rPr>
                  <a:t> curve, and the new </a:t>
                </a:r>
                <a:r>
                  <a:rPr lang="en-US" sz="2400" b="1" dirty="0">
                    <a:latin typeface="Atkinson Hyperlegible Next"/>
                    <a:ea typeface="Arial"/>
                    <a:cs typeface="Arial"/>
                    <a:sym typeface="Arial"/>
                  </a:rPr>
                  <a:t>sensor</a:t>
                </a:r>
                <a:r>
                  <a:rPr lang="en-US" sz="2400" dirty="0">
                    <a:latin typeface="Atkinson Hyperlegible Next"/>
                    <a:ea typeface="Arial"/>
                    <a:cs typeface="Arial"/>
                    <a:sym typeface="Arial"/>
                  </a:rPr>
                  <a:t> curve.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How do we combine these two conflicting opinions into one single truth?</a:t>
                </a:r>
              </a:p>
            </p:txBody>
          </p:sp>
        </mc:Choice>
        <mc:Fallback xmlns="">
          <p:sp>
            <p:nvSpPr>
              <p:cNvPr id="118" name="Google Shape;118;p29">
                <a:extLst>
                  <a:ext uri="{FF2B5EF4-FFF2-40B4-BE49-F238E27FC236}">
                    <a16:creationId xmlns:a16="http://schemas.microsoft.com/office/drawing/2014/main" id="{D1717540-90E8-76EB-0874-AD7238E42CE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7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B389A5F-DDEA-D4FB-5C72-809C560730A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F28F7A9-7BE0-C541-B732-FA8D7F180F7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(7/39)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BD93A15-F017-8647-ADDA-B94836B7C7C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4CE0E9F-80C7-E742-AD1E-0E862F37548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121A9CB-89CE-3748-D3A0-7BFD6CA54DA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72C7A10-2D1D-BB01-4755-44EE5C7E8E3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32C9B73-71F9-CADA-86BF-1672C407AE3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1BD8AB2-8849-7911-19E7-ACE33DE0C1B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61969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5BC2D05-6E4A-839C-D75F-276EC3DF0E1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46AA350-1B4E-77A8-1016-25D64DD4A0A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66AD620-B882-938B-3FF5-330530767F6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(8/39)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E1E9622-ACC3-403C-C00A-7507A9EE19E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85B086A-912F-86EB-F78E-8F5EA17AC7D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1017A1E-A54D-1E8A-0AE7-D75969F6642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291C21D-8D99-3DFE-7E8B-4CF01F727B5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E2EA7E2-F515-7D6C-9BAE-BB3B5330732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D5A279F-E552-03A6-9719-2B54A8AC641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titled &quot;1D Update (Conflicting Opinions)&quot;: two Gaussian probability curves over position x from 0 to 15. The pink prediction is centered at x equals 8 and is wider and lower. The dashed orange sensor measurement is centered at z equals 9.5 with variance 1.2, so it is narrower and taller. The curves overlap between about 8 and 10, showing that the prediction and the more certain sensor reading disagree on the position before they are fused.">
            <a:extLst>
              <a:ext uri="{FF2B5EF4-FFF2-40B4-BE49-F238E27FC236}">
                <a16:creationId xmlns:a16="http://schemas.microsoft.com/office/drawing/2014/main" id="{BF02FE44-DD7C-2BF2-7311-06C963C661F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02321" y="982504"/>
            <a:ext cx="10855188" cy="5427594"/>
          </a:xfrm>
          <a:prstGeom prst="rect">
            <a:avLst/>
          </a:prstGeom>
        </p:spPr>
      </p:pic>
    </p:spTree>
    <p:extLst>
      <p:ext uri="{BB962C8B-B14F-4D97-AF65-F5344CB8AC3E}">
        <p14:creationId xmlns:p14="http://schemas.microsoft.com/office/powerpoint/2010/main" val="4030000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6411D8D-9382-4533-2668-A5DA8264E03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6FCB5A3-559A-9BE7-2A07-E8D4BC2B572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In probability, to fuse two independent estimates, we </a:t>
            </a:r>
            <a:r>
              <a:rPr lang="en-US" sz="2400" b="1" dirty="0">
                <a:latin typeface="Atkinson Hyperlegible Next"/>
                <a:ea typeface="Arial"/>
                <a:cs typeface="Arial"/>
                <a:sym typeface="Arial"/>
              </a:rPr>
              <a:t>multiply their distributions </a:t>
            </a:r>
            <a:r>
              <a:rPr lang="en-US" sz="2400" dirty="0">
                <a:latin typeface="Atkinson Hyperlegible Next"/>
                <a:ea typeface="Arial"/>
                <a:cs typeface="Arial"/>
                <a:sym typeface="Arial"/>
              </a:rPr>
              <a:t>together.</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a:t>
            </a:r>
            <a:r>
              <a:rPr lang="en-US" sz="2400" b="1" dirty="0">
                <a:latin typeface="Atkinson Hyperlegible Next"/>
                <a:ea typeface="Arial"/>
                <a:cs typeface="Arial"/>
                <a:sym typeface="Arial"/>
              </a:rPr>
              <a:t>magical property </a:t>
            </a:r>
            <a:r>
              <a:rPr lang="en-US" sz="2400" dirty="0">
                <a:latin typeface="Atkinson Hyperlegible Next"/>
                <a:ea typeface="Arial"/>
                <a:cs typeface="Arial"/>
                <a:sym typeface="Arial"/>
              </a:rPr>
              <a:t>of Gaussians: Multiplying two Gaussians </a:t>
            </a:r>
            <a:r>
              <a:rPr lang="en-US" sz="2400" b="1" dirty="0">
                <a:latin typeface="Atkinson Hyperlegible Next"/>
                <a:ea typeface="Arial"/>
                <a:cs typeface="Arial"/>
                <a:sym typeface="Arial"/>
              </a:rPr>
              <a:t>always</a:t>
            </a:r>
            <a:r>
              <a:rPr lang="en-US" sz="2400" dirty="0">
                <a:latin typeface="Atkinson Hyperlegible Next"/>
                <a:ea typeface="Arial"/>
                <a:cs typeface="Arial"/>
                <a:sym typeface="Arial"/>
              </a:rPr>
              <a:t> produces a new </a:t>
            </a:r>
            <a:r>
              <a:rPr lang="en-US" sz="2400" b="1" dirty="0">
                <a:latin typeface="Atkinson Hyperlegible Next"/>
                <a:ea typeface="Arial"/>
                <a:cs typeface="Arial"/>
                <a:sym typeface="Arial"/>
              </a:rPr>
              <a:t>Gaussian</a:t>
            </a:r>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Because the new curve represents the overlapping area of agreement, it is always taller and narrower than both original curves.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Fusing data </a:t>
            </a:r>
            <a:r>
              <a:rPr lang="en-US" sz="2400" b="1" dirty="0">
                <a:latin typeface="Atkinson Hyperlegible Next"/>
                <a:ea typeface="Arial"/>
                <a:cs typeface="Arial"/>
                <a:sym typeface="Arial"/>
              </a:rPr>
              <a:t>reduces</a:t>
            </a:r>
            <a:r>
              <a:rPr lang="en-US" sz="2400" dirty="0">
                <a:latin typeface="Atkinson Hyperlegible Next"/>
                <a:ea typeface="Arial"/>
                <a:cs typeface="Arial"/>
                <a:sym typeface="Arial"/>
              </a:rPr>
              <a:t> uncertainty!</a:t>
            </a: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09CE65A-43FB-1C3F-DFF4-2B3EC93E19A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0027510-26EC-0DE5-6059-60AA11D1561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(9/39)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A80E73D-CC32-C367-291A-5A4D9CBD810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64F0A1C-AC21-6003-DC0C-94CE2474621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D7195FA-2F8D-2084-4C68-1C64BA4036C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95B1338-A756-EA86-02FA-7455B9B2470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6E65568-EAF0-88AF-69F4-C83A9F7789D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57CFC5-14DE-9E58-4677-5B0C9D07455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3446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83E5ED3-D160-09E8-9563-3285D327042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568C3C2-1F8C-EB2C-73A8-6C194BCEDB5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01E60B4-5694-9B3E-7FFA-168184A0D63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(10/39)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B8F665D-933A-FF46-9E21-A8EEC2F629A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6EF40B8-2E7F-81C1-F574-6A9541D3B8F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930D312-0777-8A9B-06BF-0697CB0E7B4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4F521A9-0F0E-4695-2DA0-57878F41FA5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8F6DC97-169D-1278-9FAA-9C0D36EFE0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D3F7635-8046-F458-BA19-E643EF89A78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of probability versus position x from 0 to 14, with three bell curves. The prediction is wide and low, centered at 8. The sensor reading is narrower and taller, centered near 9.5. Their product, the fused estimate, is the tallest and narrowest curve, with mean 9.01 and variance 0.81. It lies between the two, closer to the more certain sensor, with Kalman gain K equal to 0.68. Fusing yields less uncertainty than either input alone.">
            <a:extLst>
              <a:ext uri="{FF2B5EF4-FFF2-40B4-BE49-F238E27FC236}">
                <a16:creationId xmlns:a16="http://schemas.microsoft.com/office/drawing/2014/main" id="{DE7AA5F7-52D4-DFA6-6A7F-55939E48489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02321" y="982504"/>
            <a:ext cx="10855188" cy="5427594"/>
          </a:xfrm>
          <a:prstGeom prst="rect">
            <a:avLst/>
          </a:prstGeom>
        </p:spPr>
      </p:pic>
    </p:spTree>
    <p:extLst>
      <p:ext uri="{BB962C8B-B14F-4D97-AF65-F5344CB8AC3E}">
        <p14:creationId xmlns:p14="http://schemas.microsoft.com/office/powerpoint/2010/main" val="2740705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EC0D3CB-1908-7BBE-261B-D42172313DA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A140B39-747E-CD9D-551F-D1D7844A4A5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solidFill>
                      <a:schemeClr val="dk1"/>
                    </a:solidFill>
                    <a:latin typeface="Atkinson Hyperlegible Next"/>
                    <a:ea typeface="Arial"/>
                    <a:cs typeface="Arial"/>
                    <a:sym typeface="Arial"/>
                  </a:rPr>
                  <a:t>The math behind that multiplication gives us the 1D </a:t>
                </a:r>
                <a:r>
                  <a:rPr lang="en-US" sz="2300" b="1" dirty="0">
                    <a:solidFill>
                      <a:schemeClr val="dk1"/>
                    </a:solidFill>
                    <a:latin typeface="Atkinson Hyperlegible Next"/>
                    <a:ea typeface="Arial"/>
                    <a:cs typeface="Arial"/>
                    <a:sym typeface="Arial"/>
                  </a:rPr>
                  <a:t>Kalman Gain </a:t>
                </a:r>
                <a:r>
                  <a:rPr lang="en-US" sz="2300" dirty="0">
                    <a:solidFill>
                      <a:schemeClr val="dk1"/>
                    </a:solidFill>
                    <a:latin typeface="Atkinson Hyperlegible Next"/>
                    <a:ea typeface="Arial"/>
                    <a:cs typeface="Arial"/>
                    <a:sym typeface="Arial"/>
                  </a:rPr>
                  <a:t>(</a:t>
                </a:r>
                <a14:m>
                  <m:oMath xmlns:m="http://schemas.openxmlformats.org/officeDocument/2006/math">
                    <m:r>
                      <a:rPr lang="en-US" sz="2300" i="1" dirty="0">
                        <a:latin typeface="Cambria Math" panose="02040503050406030204" pitchFamily="18" charset="0"/>
                        <a:ea typeface="Arial"/>
                        <a:cs typeface="Arial"/>
                        <a:sym typeface="Arial"/>
                      </a:rPr>
                      <m:t>𝐾</m:t>
                    </m:r>
                  </m:oMath>
                </a14:m>
                <a:r>
                  <a:rPr lang="en-US" sz="23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solidFill>
                            <a:schemeClr val="dk1"/>
                          </a:solidFill>
                          <a:latin typeface="Cambria Math" panose="02040503050406030204" pitchFamily="18" charset="0"/>
                          <a:ea typeface="Arial"/>
                          <a:cs typeface="Arial"/>
                          <a:sym typeface="Arial"/>
                        </a:rPr>
                        <m:t>𝐾</m:t>
                      </m:r>
                      <m:r>
                        <a:rPr lang="en-US" sz="2300" i="1" dirty="0" smtClean="0">
                          <a:solidFill>
                            <a:schemeClr val="dk1"/>
                          </a:solidFill>
                          <a:latin typeface="Cambria Math" panose="02040503050406030204" pitchFamily="18" charset="0"/>
                          <a:ea typeface="Arial"/>
                          <a:cs typeface="Arial"/>
                          <a:sym typeface="Arial"/>
                        </a:rPr>
                        <m:t>=</m:t>
                      </m:r>
                      <m:f>
                        <m:fPr>
                          <m:ctrlPr>
                            <a:rPr lang="en-US" sz="2300" i="1" dirty="0" smtClean="0">
                              <a:solidFill>
                                <a:schemeClr val="dk1"/>
                              </a:solidFill>
                              <a:latin typeface="Cambria Math" panose="02040503050406030204" pitchFamily="18" charset="0"/>
                              <a:ea typeface="Arial"/>
                              <a:cs typeface="Arial"/>
                              <a:sym typeface="Arial"/>
                            </a:rPr>
                          </m:ctrlPr>
                        </m:fPr>
                        <m:num>
                          <m:r>
                            <m:rPr>
                              <m:sty m:val="p"/>
                            </m:rPr>
                            <a:rPr lang="en-US" sz="2300" b="0" i="1" dirty="0" smtClean="0">
                              <a:solidFill>
                                <a:schemeClr val="dk1"/>
                              </a:solidFill>
                              <a:latin typeface="Cambria Math" panose="02040503050406030204" pitchFamily="18" charset="0"/>
                              <a:ea typeface="Arial"/>
                              <a:cs typeface="Arial"/>
                              <a:sym typeface="Arial"/>
                            </a:rPr>
                            <m:t>Prediction</m:t>
                          </m:r>
                          <m:r>
                            <a:rPr lang="en-US" sz="2300" b="0" i="1" dirty="0" smtClean="0">
                              <a:solidFill>
                                <a:schemeClr val="dk1"/>
                              </a:solidFill>
                              <a:latin typeface="Cambria Math" panose="02040503050406030204" pitchFamily="18" charset="0"/>
                              <a:ea typeface="Arial"/>
                              <a:cs typeface="Arial"/>
                              <a:sym typeface="Arial"/>
                            </a:rPr>
                            <m:t> </m:t>
                          </m:r>
                          <m:r>
                            <m:rPr>
                              <m:sty m:val="p"/>
                            </m:rPr>
                            <a:rPr lang="en-US" sz="2300" b="0" i="1" dirty="0" smtClean="0">
                              <a:solidFill>
                                <a:schemeClr val="dk1"/>
                              </a:solidFill>
                              <a:latin typeface="Cambria Math" panose="02040503050406030204" pitchFamily="18" charset="0"/>
                              <a:ea typeface="Arial"/>
                              <a:cs typeface="Arial"/>
                              <a:sym typeface="Arial"/>
                            </a:rPr>
                            <m:t>Uncertainty</m:t>
                          </m:r>
                        </m:num>
                        <m:den>
                          <m:r>
                            <m:rPr>
                              <m:sty m:val="p"/>
                            </m:rPr>
                            <a:rPr lang="en-US" sz="2300" b="0" i="1" dirty="0" smtClean="0">
                              <a:solidFill>
                                <a:schemeClr val="dk1"/>
                              </a:solidFill>
                              <a:latin typeface="Cambria Math" panose="02040503050406030204" pitchFamily="18" charset="0"/>
                              <a:ea typeface="Arial"/>
                              <a:cs typeface="Arial"/>
                              <a:sym typeface="Arial"/>
                            </a:rPr>
                            <m:t>Total</m:t>
                          </m:r>
                          <m:r>
                            <a:rPr lang="en-US" sz="2300" b="0" i="1" dirty="0" smtClean="0">
                              <a:solidFill>
                                <a:schemeClr val="dk1"/>
                              </a:solidFill>
                              <a:latin typeface="Cambria Math" panose="02040503050406030204" pitchFamily="18" charset="0"/>
                              <a:ea typeface="Arial"/>
                              <a:cs typeface="Arial"/>
                              <a:sym typeface="Arial"/>
                            </a:rPr>
                            <m:t> </m:t>
                          </m:r>
                          <m:r>
                            <m:rPr>
                              <m:sty m:val="p"/>
                            </m:rPr>
                            <a:rPr lang="en-US" sz="2300" b="0" i="1" dirty="0" smtClean="0">
                              <a:solidFill>
                                <a:schemeClr val="dk1"/>
                              </a:solidFill>
                              <a:latin typeface="Cambria Math" panose="02040503050406030204" pitchFamily="18" charset="0"/>
                              <a:ea typeface="Arial"/>
                              <a:cs typeface="Arial"/>
                              <a:sym typeface="Arial"/>
                            </a:rPr>
                            <m:t>System</m:t>
                          </m:r>
                          <m:r>
                            <a:rPr lang="en-US" sz="2300" b="0" i="1" dirty="0" smtClean="0">
                              <a:solidFill>
                                <a:schemeClr val="dk1"/>
                              </a:solidFill>
                              <a:latin typeface="Cambria Math" panose="02040503050406030204" pitchFamily="18" charset="0"/>
                              <a:ea typeface="Arial"/>
                              <a:cs typeface="Arial"/>
                              <a:sym typeface="Arial"/>
                            </a:rPr>
                            <m:t> </m:t>
                          </m:r>
                          <m:r>
                            <m:rPr>
                              <m:sty m:val="p"/>
                            </m:rPr>
                            <a:rPr lang="en-US" sz="2300" b="0" i="1" dirty="0" smtClean="0">
                              <a:solidFill>
                                <a:schemeClr val="dk1"/>
                              </a:solidFill>
                              <a:latin typeface="Cambria Math" panose="02040503050406030204" pitchFamily="18" charset="0"/>
                              <a:ea typeface="Arial"/>
                              <a:cs typeface="Arial"/>
                              <a:sym typeface="Arial"/>
                            </a:rPr>
                            <m:t>Uncertainty</m:t>
                          </m:r>
                        </m:den>
                      </m:f>
                    </m:oMath>
                  </m:oMathPara>
                </a14:m>
                <a:endParaRPr lang="en-US" sz="2300" i="1" dirty="0">
                  <a:solidFill>
                    <a:schemeClr val="dk1"/>
                  </a:solidFill>
                  <a:latin typeface="Cambria Math" panose="02040503050406030204" pitchFamily="18" charset="0"/>
                  <a:ea typeface="Arial"/>
                  <a:cs typeface="Arial"/>
                  <a:sym typeface="Arial"/>
                </a:endParaRPr>
              </a:p>
              <a:p>
                <a:pPr marL="0" indent="0">
                  <a:lnSpc>
                    <a:spcPct val="100000"/>
                  </a:lnSpc>
                  <a:spcBef>
                    <a:spcPts val="0"/>
                  </a:spcBef>
                  <a:buSzPts val="3000"/>
                  <a:buNone/>
                </a:pPr>
                <a:endParaRPr lang="en-US" sz="2300" i="1" dirty="0">
                  <a:solidFill>
                    <a:schemeClr val="dk1"/>
                  </a:solidFill>
                  <a:latin typeface="Cambria Math" panose="02040503050406030204" pitchFamily="18" charset="0"/>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If the sensor is perfect, </a:t>
                </a:r>
                <a14:m>
                  <m:oMath xmlns:m="http://schemas.openxmlformats.org/officeDocument/2006/math">
                    <m:r>
                      <a:rPr lang="en-US" sz="2300" i="1" dirty="0">
                        <a:latin typeface="Cambria Math" panose="02040503050406030204" pitchFamily="18" charset="0"/>
                        <a:ea typeface="Arial"/>
                        <a:cs typeface="Arial"/>
                        <a:sym typeface="Arial"/>
                      </a:rPr>
                      <m:t>𝐾</m:t>
                    </m:r>
                    <m:r>
                      <a:rPr lang="en-US" sz="2300" b="0" i="1" dirty="0" smtClean="0">
                        <a:latin typeface="Cambria Math" panose="02040503050406030204" pitchFamily="18" charset="0"/>
                        <a:ea typeface="Arial"/>
                        <a:cs typeface="Arial"/>
                        <a:sym typeface="Arial"/>
                      </a:rPr>
                      <m:t>=1</m:t>
                    </m:r>
                  </m:oMath>
                </a14:m>
                <a:r>
                  <a:rPr lang="en-US" sz="2300" dirty="0">
                    <a:latin typeface="Atkinson Hyperlegible Next"/>
                    <a:ea typeface="Arial"/>
                    <a:cs typeface="Arial"/>
                    <a:sym typeface="Arial"/>
                  </a:rPr>
                  <a:t>, and then we trust the sensor completely.</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If the sensor is garbage, </a:t>
                </a:r>
                <a14:m>
                  <m:oMath xmlns:m="http://schemas.openxmlformats.org/officeDocument/2006/math">
                    <m:r>
                      <a:rPr lang="en-US" sz="2300" i="1" dirty="0">
                        <a:latin typeface="Cambria Math" panose="02040503050406030204" pitchFamily="18" charset="0"/>
                        <a:ea typeface="Arial"/>
                        <a:cs typeface="Arial"/>
                        <a:sym typeface="Arial"/>
                      </a:rPr>
                      <m:t>𝐾</m:t>
                    </m:r>
                    <m:r>
                      <a:rPr lang="en-US" sz="2300" i="1" dirty="0">
                        <a:latin typeface="Cambria Math" panose="02040503050406030204" pitchFamily="18" charset="0"/>
                        <a:ea typeface="Arial"/>
                        <a:cs typeface="Arial"/>
                        <a:sym typeface="Arial"/>
                      </a:rPr>
                      <m:t>=0</m:t>
                    </m:r>
                  </m:oMath>
                </a14:m>
                <a:r>
                  <a:rPr lang="en-US" sz="2300" dirty="0">
                    <a:latin typeface="Atkinson Hyperlegible Next"/>
                    <a:ea typeface="Arial"/>
                    <a:cs typeface="Arial"/>
                    <a:sym typeface="Arial"/>
                  </a:rPr>
                  <a:t>, we ignore it! </a:t>
                </a:r>
              </a:p>
            </p:txBody>
          </p:sp>
        </mc:Choice>
        <mc:Fallback xmlns="">
          <p:sp>
            <p:nvSpPr>
              <p:cNvPr id="118" name="Google Shape;118;p29">
                <a:extLst>
                  <a:ext uri="{FF2B5EF4-FFF2-40B4-BE49-F238E27FC236}">
                    <a16:creationId xmlns:a16="http://schemas.microsoft.com/office/drawing/2014/main" id="{6A140B39-747E-CD9D-551F-D1D7844A4A5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9B77F08-2B14-4454-3F63-7DEBBC302C2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BD376A4-B652-DE0B-6666-1B2A9D133DE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(11/39)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1268616-8F73-D3BF-93DD-EFAD77DEEF3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306C20C-09BF-39D5-F89A-1D1BDC68DDD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547339E-497C-3C54-E3B4-936167C4264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83EEDB-4A4A-79F9-4A9F-74A84666783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CE173F8-2F4E-B2CA-E66D-E78F4F876B1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A04616D-8F99-7163-8F54-D14FD9B0D4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71685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E7F8C3A-06ED-81E9-F50E-0B296E5DAA1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CCBBD64-5DE5-3319-EFFB-00B5AD6C368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solidFill>
                      <a:schemeClr val="dk1"/>
                    </a:solidFill>
                    <a:latin typeface="Atkinson Hyperlegible Next"/>
                    <a:ea typeface="Arial"/>
                    <a:cs typeface="Arial"/>
                    <a:sym typeface="Arial"/>
                  </a:rPr>
                  <a:t>The math behind that multiplication gives us the 1D </a:t>
                </a:r>
                <a:r>
                  <a:rPr lang="en-US" sz="2300" b="1" dirty="0">
                    <a:solidFill>
                      <a:schemeClr val="dk1"/>
                    </a:solidFill>
                    <a:latin typeface="Atkinson Hyperlegible Next"/>
                    <a:ea typeface="Arial"/>
                    <a:cs typeface="Arial"/>
                    <a:sym typeface="Arial"/>
                  </a:rPr>
                  <a:t>Kalman Gain </a:t>
                </a:r>
                <a:r>
                  <a:rPr lang="en-US" sz="2300" dirty="0">
                    <a:solidFill>
                      <a:schemeClr val="dk1"/>
                    </a:solidFill>
                    <a:latin typeface="Atkinson Hyperlegible Next"/>
                    <a:ea typeface="Arial"/>
                    <a:cs typeface="Arial"/>
                    <a:sym typeface="Arial"/>
                  </a:rPr>
                  <a:t>(</a:t>
                </a:r>
                <a14:m>
                  <m:oMath xmlns:m="http://schemas.openxmlformats.org/officeDocument/2006/math">
                    <m:r>
                      <a:rPr lang="en-US" sz="2300" i="1" dirty="0">
                        <a:latin typeface="Cambria Math" panose="02040503050406030204" pitchFamily="18" charset="0"/>
                        <a:ea typeface="Arial"/>
                        <a:cs typeface="Arial"/>
                        <a:sym typeface="Arial"/>
                      </a:rPr>
                      <m:t>𝐾</m:t>
                    </m:r>
                  </m:oMath>
                </a14:m>
                <a:r>
                  <a:rPr lang="en-US" sz="23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solidFill>
                            <a:schemeClr val="dk1"/>
                          </a:solidFill>
                          <a:latin typeface="Cambria Math" panose="02040503050406030204" pitchFamily="18" charset="0"/>
                          <a:ea typeface="Arial"/>
                          <a:cs typeface="Arial"/>
                          <a:sym typeface="Arial"/>
                        </a:rPr>
                        <m:t>𝐾</m:t>
                      </m:r>
                      <m:r>
                        <a:rPr lang="en-US" sz="2300" i="1" dirty="0" smtClean="0">
                          <a:solidFill>
                            <a:schemeClr val="dk1"/>
                          </a:solidFill>
                          <a:latin typeface="Cambria Math" panose="02040503050406030204" pitchFamily="18" charset="0"/>
                          <a:ea typeface="Arial"/>
                          <a:cs typeface="Arial"/>
                          <a:sym typeface="Arial"/>
                        </a:rPr>
                        <m:t>=</m:t>
                      </m:r>
                      <m:f>
                        <m:fPr>
                          <m:ctrlPr>
                            <a:rPr lang="en-US" sz="2300" i="1" dirty="0" smtClean="0">
                              <a:solidFill>
                                <a:schemeClr val="dk1"/>
                              </a:solidFill>
                              <a:latin typeface="Cambria Math" panose="02040503050406030204" pitchFamily="18" charset="0"/>
                              <a:ea typeface="Arial"/>
                              <a:cs typeface="Arial"/>
                              <a:sym typeface="Arial"/>
                            </a:rPr>
                          </m:ctrlPr>
                        </m:fPr>
                        <m:num>
                          <m:sSubSup>
                            <m:sSubSupPr>
                              <m:ctrlPr>
                                <a:rPr lang="en-US" sz="2300" i="1" dirty="0" smtClean="0">
                                  <a:solidFill>
                                    <a:schemeClr val="dk1"/>
                                  </a:solidFill>
                                  <a:latin typeface="Cambria Math" panose="02040503050406030204" pitchFamily="18" charset="0"/>
                                  <a:ea typeface="Arial"/>
                                  <a:cs typeface="Arial"/>
                                  <a:sym typeface="Arial"/>
                                </a:rPr>
                              </m:ctrlPr>
                            </m:sSubSupPr>
                            <m:e>
                              <m:r>
                                <a:rPr lang="en-US" sz="2300" i="1" dirty="0" smtClean="0">
                                  <a:solidFill>
                                    <a:schemeClr val="dk1"/>
                                  </a:solidFill>
                                  <a:latin typeface="Cambria Math" panose="02040503050406030204" pitchFamily="18" charset="0"/>
                                  <a:ea typeface="Arial"/>
                                  <a:cs typeface="Arial"/>
                                  <a:sym typeface="Arial"/>
                                </a:rPr>
                                <m:t>𝜎</m:t>
                              </m:r>
                            </m:e>
                            <m:sub>
                              <m:r>
                                <a:rPr lang="en-US" sz="2300" i="1" dirty="0" smtClean="0">
                                  <a:solidFill>
                                    <a:schemeClr val="dk1"/>
                                  </a:solidFill>
                                  <a:latin typeface="Cambria Math" panose="02040503050406030204" pitchFamily="18" charset="0"/>
                                  <a:ea typeface="Arial"/>
                                  <a:cs typeface="Arial"/>
                                  <a:sym typeface="Arial"/>
                                </a:rPr>
                                <m:t>𝑝𝑟𝑒𝑑</m:t>
                              </m:r>
                            </m:sub>
                            <m:sup>
                              <m:r>
                                <a:rPr lang="en-US" sz="2300" i="1" dirty="0" smtClean="0">
                                  <a:solidFill>
                                    <a:schemeClr val="dk1"/>
                                  </a:solidFill>
                                  <a:latin typeface="Cambria Math" panose="02040503050406030204" pitchFamily="18" charset="0"/>
                                  <a:ea typeface="Arial"/>
                                  <a:cs typeface="Arial"/>
                                  <a:sym typeface="Arial"/>
                                </a:rPr>
                                <m:t>2</m:t>
                              </m:r>
                            </m:sup>
                          </m:sSubSup>
                        </m:num>
                        <m:den>
                          <m:sSubSup>
                            <m:sSubSupPr>
                              <m:ctrlPr>
                                <a:rPr lang="en-US" sz="2300" i="1" dirty="0" smtClean="0">
                                  <a:solidFill>
                                    <a:schemeClr val="dk1"/>
                                  </a:solidFill>
                                  <a:latin typeface="Cambria Math" panose="02040503050406030204" pitchFamily="18" charset="0"/>
                                  <a:ea typeface="Arial"/>
                                  <a:cs typeface="Arial"/>
                                  <a:sym typeface="Arial"/>
                                </a:rPr>
                              </m:ctrlPr>
                            </m:sSubSupPr>
                            <m:e>
                              <m:r>
                                <a:rPr lang="en-US" sz="2300" i="1" dirty="0" smtClean="0">
                                  <a:solidFill>
                                    <a:schemeClr val="dk1"/>
                                  </a:solidFill>
                                  <a:latin typeface="Cambria Math" panose="02040503050406030204" pitchFamily="18" charset="0"/>
                                  <a:ea typeface="Arial"/>
                                  <a:cs typeface="Arial"/>
                                  <a:sym typeface="Arial"/>
                                </a:rPr>
                                <m:t>𝜎</m:t>
                              </m:r>
                            </m:e>
                            <m:sub>
                              <m:r>
                                <a:rPr lang="en-US" sz="2300" i="1" dirty="0" smtClean="0">
                                  <a:solidFill>
                                    <a:schemeClr val="dk1"/>
                                  </a:solidFill>
                                  <a:latin typeface="Cambria Math" panose="02040503050406030204" pitchFamily="18" charset="0"/>
                                  <a:ea typeface="Arial"/>
                                  <a:cs typeface="Arial"/>
                                  <a:sym typeface="Arial"/>
                                </a:rPr>
                                <m:t>𝑝𝑟𝑒𝑑</m:t>
                              </m:r>
                            </m:sub>
                            <m:sup>
                              <m:r>
                                <a:rPr lang="en-US" sz="2300" i="1" dirty="0" smtClean="0">
                                  <a:solidFill>
                                    <a:schemeClr val="dk1"/>
                                  </a:solidFill>
                                  <a:latin typeface="Cambria Math" panose="02040503050406030204" pitchFamily="18" charset="0"/>
                                  <a:ea typeface="Arial"/>
                                  <a:cs typeface="Arial"/>
                                  <a:sym typeface="Arial"/>
                                </a:rPr>
                                <m:t>2</m:t>
                              </m:r>
                            </m:sup>
                          </m:sSubSup>
                          <m:r>
                            <a:rPr lang="en-US" sz="2300" i="1" dirty="0" smtClean="0">
                              <a:solidFill>
                                <a:schemeClr val="dk1"/>
                              </a:solidFill>
                              <a:latin typeface="Cambria Math" panose="02040503050406030204" pitchFamily="18" charset="0"/>
                              <a:ea typeface="Arial"/>
                              <a:cs typeface="Arial"/>
                              <a:sym typeface="Arial"/>
                            </a:rPr>
                            <m:t>+</m:t>
                          </m:r>
                          <m:sSubSup>
                            <m:sSubSupPr>
                              <m:ctrlPr>
                                <a:rPr lang="en-US" sz="2300" i="1" dirty="0" smtClean="0">
                                  <a:solidFill>
                                    <a:schemeClr val="dk1"/>
                                  </a:solidFill>
                                  <a:latin typeface="Cambria Math" panose="02040503050406030204" pitchFamily="18" charset="0"/>
                                  <a:ea typeface="Arial"/>
                                  <a:cs typeface="Arial"/>
                                  <a:sym typeface="Arial"/>
                                </a:rPr>
                              </m:ctrlPr>
                            </m:sSubSupPr>
                            <m:e>
                              <m:r>
                                <a:rPr lang="en-US" sz="2300" i="1" dirty="0" smtClean="0">
                                  <a:solidFill>
                                    <a:schemeClr val="dk1"/>
                                  </a:solidFill>
                                  <a:latin typeface="Cambria Math" panose="02040503050406030204" pitchFamily="18" charset="0"/>
                                  <a:ea typeface="Arial"/>
                                  <a:cs typeface="Arial"/>
                                  <a:sym typeface="Arial"/>
                                </a:rPr>
                                <m:t>𝜎</m:t>
                              </m:r>
                            </m:e>
                            <m:sub>
                              <m:r>
                                <a:rPr lang="en-US" sz="2300" i="1" dirty="0" smtClean="0">
                                  <a:solidFill>
                                    <a:schemeClr val="dk1"/>
                                  </a:solidFill>
                                  <a:latin typeface="Cambria Math" panose="02040503050406030204" pitchFamily="18" charset="0"/>
                                  <a:ea typeface="Arial"/>
                                  <a:cs typeface="Arial"/>
                                  <a:sym typeface="Arial"/>
                                </a:rPr>
                                <m:t>𝑠𝑒𝑛𝑠𝑜𝑟</m:t>
                              </m:r>
                            </m:sub>
                            <m:sup>
                              <m:r>
                                <a:rPr lang="en-US" sz="2300" i="1" dirty="0" smtClean="0">
                                  <a:solidFill>
                                    <a:schemeClr val="dk1"/>
                                  </a:solidFill>
                                  <a:latin typeface="Cambria Math" panose="02040503050406030204" pitchFamily="18" charset="0"/>
                                  <a:ea typeface="Arial"/>
                                  <a:cs typeface="Arial"/>
                                  <a:sym typeface="Arial"/>
                                </a:rPr>
                                <m:t>2</m:t>
                              </m:r>
                            </m:sup>
                          </m:sSubSup>
                        </m:den>
                      </m:f>
                    </m:oMath>
                  </m:oMathPara>
                </a14:m>
                <a:endParaRPr lang="en-US" sz="2300" i="1" dirty="0">
                  <a:solidFill>
                    <a:schemeClr val="dk1"/>
                  </a:solidFill>
                  <a:latin typeface="Cambria Math" panose="02040503050406030204" pitchFamily="18" charset="0"/>
                  <a:ea typeface="Arial"/>
                  <a:cs typeface="Arial"/>
                  <a:sym typeface="Arial"/>
                </a:endParaRPr>
              </a:p>
              <a:p>
                <a:pPr marL="0" indent="0">
                  <a:lnSpc>
                    <a:spcPct val="100000"/>
                  </a:lnSpc>
                  <a:spcBef>
                    <a:spcPts val="0"/>
                  </a:spcBef>
                  <a:buSzPts val="3000"/>
                  <a:buNone/>
                </a:pPr>
                <a:endParaRPr lang="en-US" sz="2300" i="1" dirty="0">
                  <a:solidFill>
                    <a:schemeClr val="dk1"/>
                  </a:solidFill>
                  <a:latin typeface="Cambria Math" panose="02040503050406030204" pitchFamily="18" charset="0"/>
                  <a:ea typeface="Arial"/>
                  <a:cs typeface="Arial"/>
                  <a:sym typeface="Arial"/>
                </a:endParaRPr>
              </a:p>
              <a:p>
                <a:pPr marL="0" indent="0">
                  <a:lnSpc>
                    <a:spcPct val="100000"/>
                  </a:lnSpc>
                  <a:spcBef>
                    <a:spcPts val="0"/>
                  </a:spcBef>
                  <a:buSzPts val="3000"/>
                  <a:buNone/>
                </a:pPr>
                <a14:m>
                  <m:oMath xmlns:m="http://schemas.openxmlformats.org/officeDocument/2006/math">
                    <m:r>
                      <a:rPr lang="en-US" sz="2300" i="1" dirty="0" smtClean="0">
                        <a:solidFill>
                          <a:schemeClr val="dk1"/>
                        </a:solidFill>
                        <a:latin typeface="Cambria Math" panose="02040503050406030204" pitchFamily="18" charset="0"/>
                        <a:ea typeface="Arial"/>
                        <a:cs typeface="Arial"/>
                        <a:sym typeface="Arial"/>
                      </a:rPr>
                      <m:t>𝐾</m:t>
                    </m:r>
                  </m:oMath>
                </a14:m>
                <a:r>
                  <a:rPr lang="en-US" sz="2300" dirty="0">
                    <a:solidFill>
                      <a:schemeClr val="dk1"/>
                    </a:solidFill>
                    <a:latin typeface="Atkinson Hyperlegible Next"/>
                    <a:ea typeface="Arial"/>
                    <a:cs typeface="Arial"/>
                    <a:sym typeface="Arial"/>
                  </a:rPr>
                  <a:t> is just a ratio! It's the ratio of our prediction uncertainty to the total system uncertainty. It always falls between 0 and 1.</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solidFill>
                      <a:schemeClr val="dk1"/>
                    </a:solidFill>
                    <a:latin typeface="Atkinson Hyperlegible Next"/>
                    <a:ea typeface="Arial"/>
                    <a:cs typeface="Arial"/>
                    <a:sym typeface="Arial"/>
                  </a:rPr>
                  <a:t>We update our position using this ratio:</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solidFill>
                                <a:schemeClr val="dk1"/>
                              </a:solidFill>
                              <a:latin typeface="Cambria Math" panose="02040503050406030204" pitchFamily="18" charset="0"/>
                              <a:ea typeface="Arial"/>
                              <a:cs typeface="Arial"/>
                              <a:sym typeface="Arial"/>
                            </a:rPr>
                          </m:ctrlPr>
                        </m:sSubPr>
                        <m:e>
                          <m:r>
                            <a:rPr lang="en-US" sz="2300" i="1" dirty="0" smtClean="0">
                              <a:solidFill>
                                <a:schemeClr val="dk1"/>
                              </a:solidFill>
                              <a:latin typeface="Cambria Math" panose="02040503050406030204" pitchFamily="18" charset="0"/>
                              <a:ea typeface="Arial"/>
                              <a:cs typeface="Arial"/>
                              <a:sym typeface="Arial"/>
                            </a:rPr>
                            <m:t>𝜇</m:t>
                          </m:r>
                        </m:e>
                        <m:sub>
                          <m:r>
                            <a:rPr lang="en-US" sz="2300" i="1" dirty="0" smtClean="0">
                              <a:solidFill>
                                <a:schemeClr val="dk1"/>
                              </a:solidFill>
                              <a:latin typeface="Cambria Math" panose="02040503050406030204" pitchFamily="18" charset="0"/>
                              <a:ea typeface="Arial"/>
                              <a:cs typeface="Arial"/>
                              <a:sym typeface="Arial"/>
                            </a:rPr>
                            <m:t>𝑛𝑒𝑤</m:t>
                          </m:r>
                        </m:sub>
                      </m:sSub>
                      <m:r>
                        <a:rPr lang="en-US" sz="2300" i="1" dirty="0" smtClean="0">
                          <a:solidFill>
                            <a:schemeClr val="dk1"/>
                          </a:solidFill>
                          <a:latin typeface="Cambria Math" panose="02040503050406030204" pitchFamily="18" charset="0"/>
                          <a:ea typeface="Arial"/>
                          <a:cs typeface="Arial"/>
                          <a:sym typeface="Arial"/>
                        </a:rPr>
                        <m:t>=</m:t>
                      </m:r>
                      <m:sSub>
                        <m:sSubPr>
                          <m:ctrlPr>
                            <a:rPr lang="en-US" sz="2300" i="1" dirty="0" smtClean="0">
                              <a:solidFill>
                                <a:schemeClr val="dk1"/>
                              </a:solidFill>
                              <a:latin typeface="Cambria Math" panose="02040503050406030204" pitchFamily="18" charset="0"/>
                              <a:ea typeface="Arial"/>
                              <a:cs typeface="Arial"/>
                              <a:sym typeface="Arial"/>
                            </a:rPr>
                          </m:ctrlPr>
                        </m:sSubPr>
                        <m:e>
                          <m:r>
                            <a:rPr lang="en-US" sz="2300" i="1" dirty="0" smtClean="0">
                              <a:solidFill>
                                <a:schemeClr val="dk1"/>
                              </a:solidFill>
                              <a:latin typeface="Cambria Math" panose="02040503050406030204" pitchFamily="18" charset="0"/>
                              <a:ea typeface="Arial"/>
                              <a:cs typeface="Arial"/>
                              <a:sym typeface="Arial"/>
                            </a:rPr>
                            <m:t>𝜇</m:t>
                          </m:r>
                        </m:e>
                        <m:sub>
                          <m:r>
                            <a:rPr lang="en-US" sz="2300" i="1" dirty="0" smtClean="0">
                              <a:solidFill>
                                <a:schemeClr val="dk1"/>
                              </a:solidFill>
                              <a:latin typeface="Cambria Math" panose="02040503050406030204" pitchFamily="18" charset="0"/>
                              <a:ea typeface="Arial"/>
                              <a:cs typeface="Arial"/>
                              <a:sym typeface="Arial"/>
                            </a:rPr>
                            <m:t>𝑝𝑟𝑒𝑑</m:t>
                          </m:r>
                        </m:sub>
                      </m:sSub>
                      <m:r>
                        <a:rPr lang="en-US" sz="2300" i="1" dirty="0" smtClean="0">
                          <a:solidFill>
                            <a:schemeClr val="dk1"/>
                          </a:solidFill>
                          <a:latin typeface="Cambria Math" panose="02040503050406030204" pitchFamily="18" charset="0"/>
                          <a:ea typeface="Arial"/>
                          <a:cs typeface="Arial"/>
                          <a:sym typeface="Arial"/>
                        </a:rPr>
                        <m:t>+</m:t>
                      </m:r>
                      <m:r>
                        <a:rPr lang="en-US" sz="2300" i="1" dirty="0" smtClean="0">
                          <a:solidFill>
                            <a:schemeClr val="dk1"/>
                          </a:solidFill>
                          <a:latin typeface="Cambria Math" panose="02040503050406030204" pitchFamily="18" charset="0"/>
                          <a:ea typeface="Arial"/>
                          <a:cs typeface="Arial"/>
                          <a:sym typeface="Arial"/>
                        </a:rPr>
                        <m:t>𝐾</m:t>
                      </m:r>
                      <m:d>
                        <m:dPr>
                          <m:ctrlPr>
                            <a:rPr lang="en-US" sz="2300" i="1" dirty="0" smtClean="0">
                              <a:solidFill>
                                <a:schemeClr val="dk1"/>
                              </a:solidFill>
                              <a:latin typeface="Cambria Math" panose="02040503050406030204" pitchFamily="18" charset="0"/>
                              <a:ea typeface="Arial"/>
                              <a:cs typeface="Arial"/>
                              <a:sym typeface="Arial"/>
                            </a:rPr>
                          </m:ctrlPr>
                        </m:dPr>
                        <m:e>
                          <m:r>
                            <a:rPr lang="en-US" sz="2300" i="1" dirty="0" smtClean="0">
                              <a:solidFill>
                                <a:schemeClr val="dk1"/>
                              </a:solidFill>
                              <a:latin typeface="Cambria Math" panose="02040503050406030204" pitchFamily="18" charset="0"/>
                              <a:ea typeface="Arial"/>
                              <a:cs typeface="Arial"/>
                              <a:sym typeface="Arial"/>
                            </a:rPr>
                            <m:t>𝑧</m:t>
                          </m:r>
                          <m:r>
                            <a:rPr lang="en-US" sz="2300" i="1" dirty="0" smtClean="0">
                              <a:solidFill>
                                <a:schemeClr val="dk1"/>
                              </a:solidFill>
                              <a:latin typeface="Cambria Math" panose="02040503050406030204" pitchFamily="18" charset="0"/>
                              <a:ea typeface="Arial"/>
                              <a:cs typeface="Arial"/>
                              <a:sym typeface="Arial"/>
                            </a:rPr>
                            <m:t>−</m:t>
                          </m:r>
                          <m:sSub>
                            <m:sSubPr>
                              <m:ctrlPr>
                                <a:rPr lang="en-US" sz="2300" i="1" dirty="0" smtClean="0">
                                  <a:solidFill>
                                    <a:schemeClr val="dk1"/>
                                  </a:solidFill>
                                  <a:latin typeface="Cambria Math" panose="02040503050406030204" pitchFamily="18" charset="0"/>
                                  <a:ea typeface="Arial"/>
                                  <a:cs typeface="Arial"/>
                                  <a:sym typeface="Arial"/>
                                </a:rPr>
                              </m:ctrlPr>
                            </m:sSubPr>
                            <m:e>
                              <m:r>
                                <a:rPr lang="en-US" sz="2300" i="1" dirty="0" smtClean="0">
                                  <a:solidFill>
                                    <a:schemeClr val="dk1"/>
                                  </a:solidFill>
                                  <a:latin typeface="Cambria Math" panose="02040503050406030204" pitchFamily="18" charset="0"/>
                                  <a:ea typeface="Arial"/>
                                  <a:cs typeface="Arial"/>
                                  <a:sym typeface="Arial"/>
                                </a:rPr>
                                <m:t>𝜇</m:t>
                              </m:r>
                            </m:e>
                            <m:sub>
                              <m:r>
                                <a:rPr lang="en-US" sz="2300" i="1" dirty="0" smtClean="0">
                                  <a:solidFill>
                                    <a:schemeClr val="dk1"/>
                                  </a:solidFill>
                                  <a:latin typeface="Cambria Math" panose="02040503050406030204" pitchFamily="18" charset="0"/>
                                  <a:ea typeface="Arial"/>
                                  <a:cs typeface="Arial"/>
                                  <a:sym typeface="Arial"/>
                                </a:rPr>
                                <m:t>𝑝𝑟𝑒𝑑</m:t>
                              </m:r>
                            </m:sub>
                          </m:sSub>
                        </m:e>
                      </m:d>
                    </m:oMath>
                  </m:oMathPara>
                </a14:m>
                <a:endParaRPr lang="en-US" sz="23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All it really says is “how much of the measurement should we incorporate”?</a:t>
                </a:r>
              </a:p>
            </p:txBody>
          </p:sp>
        </mc:Choice>
        <mc:Fallback xmlns="">
          <p:sp>
            <p:nvSpPr>
              <p:cNvPr id="118" name="Google Shape;118;p29">
                <a:extLst>
                  <a:ext uri="{FF2B5EF4-FFF2-40B4-BE49-F238E27FC236}">
                    <a16:creationId xmlns:a16="http://schemas.microsoft.com/office/drawing/2014/main" id="{FCCBBD64-5DE5-3319-EFFB-00B5AD6C368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b="-3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426198B-48F2-DBCF-8ADC-27C9B15ED6F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DAD612D-E7B0-AEB4-8812-5A201F6864A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(12/39)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ABA8F1F-1CDF-2469-E334-67184D9835D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29FF714-8212-1644-54D8-2E0B2F32E3B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E29C982-F4C8-F9FB-AB4A-36EFC8A3461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1830561-F7A0-25BC-90E5-74639DD54E9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6F1B609-BCB4-8415-9969-D8EE64E4552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34F9F58-9660-3CB5-D29E-8D99CA01601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7248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DB73DC2-58D2-91F4-F2CF-B9E7021BB72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2BA07C7-B861-5421-7C0F-90DC1DC47C5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That’s all the Kalman filter is!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What is the current limitation of the formulation?</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gn="ctr">
                  <a:lnSpc>
                    <a:spcPct val="100000"/>
                  </a:lnSpc>
                  <a:spcBef>
                    <a:spcPts val="0"/>
                  </a:spcBef>
                  <a:buSzPts val="3000"/>
                  <a:buNone/>
                </a:pPr>
                <a:r>
                  <a:rPr lang="en-US" sz="2300" dirty="0">
                    <a:latin typeface="Atkinson Hyperlegible Next"/>
                    <a:ea typeface="Arial"/>
                    <a:cs typeface="Arial"/>
                    <a:sym typeface="Arial"/>
                  </a:rPr>
                  <a:t>We are only looking at a problem with 1 state, can this be generalized to be N-dimensional?</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For our differentiable robot, we live in a 2D plane with an </a:t>
                </a:r>
                <a14:m>
                  <m:oMath xmlns:m="http://schemas.openxmlformats.org/officeDocument/2006/math">
                    <m:r>
                      <a:rPr lang="en-US" sz="2300" i="1" dirty="0" smtClean="0">
                        <a:latin typeface="Cambria Math" panose="02040503050406030204" pitchFamily="18" charset="0"/>
                        <a:ea typeface="Arial"/>
                        <a:cs typeface="Arial"/>
                        <a:sym typeface="Arial"/>
                      </a:rPr>
                      <m:t>𝑋</m:t>
                    </m:r>
                  </m:oMath>
                </a14:m>
                <a:r>
                  <a:rPr lang="en-US" sz="2300" dirty="0">
                    <a:latin typeface="Atkinson Hyperlegible Next"/>
                    <a:ea typeface="Arial"/>
                    <a:cs typeface="Arial"/>
                    <a:sym typeface="Arial"/>
                  </a:rPr>
                  <a:t>, </a:t>
                </a:r>
                <a14:m>
                  <m:oMath xmlns:m="http://schemas.openxmlformats.org/officeDocument/2006/math">
                    <m:r>
                      <m:rPr>
                        <m:sty m:val="p"/>
                      </m:rPr>
                      <a:rPr lang="en-US" sz="2300" b="0" i="1" smtClean="0">
                        <a:latin typeface="Cambria Math" panose="02040503050406030204" pitchFamily="18" charset="0"/>
                        <a:ea typeface="Arial"/>
                        <a:cs typeface="Arial"/>
                        <a:sym typeface="Arial"/>
                      </a:rPr>
                      <m:t>Y</m:t>
                    </m:r>
                  </m:oMath>
                </a14:m>
                <a:r>
                  <a:rPr lang="en-US" sz="2300" dirty="0">
                    <a:latin typeface="Atkinson Hyperlegible Next"/>
                    <a:ea typeface="Arial"/>
                    <a:cs typeface="Arial"/>
                    <a:sym typeface="Arial"/>
                  </a:rPr>
                  <a:t>, and heading </a:t>
                </a:r>
                <a14:m>
                  <m:oMath xmlns:m="http://schemas.openxmlformats.org/officeDocument/2006/math">
                    <m:r>
                      <a:rPr lang="en-US" sz="2300" i="1" dirty="0" smtClean="0">
                        <a:latin typeface="Cambria Math" panose="02040503050406030204" pitchFamily="18" charset="0"/>
                        <a:ea typeface="Arial"/>
                        <a:cs typeface="Arial"/>
                        <a:sym typeface="Arial"/>
                      </a:rPr>
                      <m:t>𝜃</m:t>
                    </m:r>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can no longer use a single scalar number </a:t>
                </a:r>
                <a14:m>
                  <m:oMath xmlns:m="http://schemas.openxmlformats.org/officeDocument/2006/math">
                    <m:r>
                      <a:rPr lang="en-US" sz="2300" i="1" dirty="0" smtClean="0">
                        <a:latin typeface="Cambria Math" panose="02040503050406030204" pitchFamily="18" charset="0"/>
                        <a:ea typeface="Arial"/>
                        <a:cs typeface="Arial"/>
                        <a:sym typeface="Arial"/>
                      </a:rPr>
                      <m:t>𝜇</m:t>
                    </m:r>
                  </m:oMath>
                </a14:m>
                <a:r>
                  <a:rPr lang="en-US" sz="2300" dirty="0">
                    <a:latin typeface="Atkinson Hyperlegible Next"/>
                    <a:ea typeface="Arial"/>
                    <a:cs typeface="Arial"/>
                    <a:sym typeface="Arial"/>
                  </a:rPr>
                  <a:t> for position. We must use a </a:t>
                </a:r>
                <a:r>
                  <a:rPr lang="en-US" sz="2300" b="1" dirty="0">
                    <a:latin typeface="Atkinson Hyperlegible Next"/>
                    <a:ea typeface="Arial"/>
                    <a:cs typeface="Arial"/>
                    <a:sym typeface="Arial"/>
                  </a:rPr>
                  <a:t>State Vector</a:t>
                </a:r>
                <a:r>
                  <a:rPr lang="en-US" sz="2300" dirty="0">
                    <a:latin typeface="Atkinson Hyperlegible Next"/>
                    <a:ea typeface="Arial"/>
                    <a:cs typeface="Arial"/>
                    <a:sym typeface="Arial"/>
                  </a:rPr>
                  <a:t>: </a:t>
                </a:r>
                <a14:m>
                  <m:oMath xmlns:m="http://schemas.openxmlformats.org/officeDocument/2006/math">
                    <m:r>
                      <a:rPr lang="en-US" sz="2300" i="1" dirty="0" smtClean="0">
                        <a:latin typeface="Cambria Math" panose="02040503050406030204" pitchFamily="18" charset="0"/>
                        <a:ea typeface="Arial"/>
                        <a:cs typeface="Arial"/>
                        <a:sym typeface="Arial"/>
                      </a:rPr>
                      <m:t>𝑥</m:t>
                    </m:r>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𝑌</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𝜃</m:t>
                            </m:r>
                          </m:e>
                        </m:d>
                      </m:e>
                      <m:sup>
                        <m:r>
                          <a:rPr lang="en-US" sz="2300" i="1" dirty="0" err="1" smtClean="0">
                            <a:latin typeface="Cambria Math" panose="02040503050406030204" pitchFamily="18" charset="0"/>
                            <a:ea typeface="Arial"/>
                            <a:cs typeface="Arial"/>
                            <a:sym typeface="Arial"/>
                          </a:rPr>
                          <m:t>𝑇</m:t>
                        </m:r>
                      </m:sup>
                    </m:sSup>
                  </m:oMath>
                </a14:m>
                <a:r>
                  <a:rPr lang="en-US" sz="2300" dirty="0">
                    <a:latin typeface="Atkinson Hyperlegible Next"/>
                    <a:ea typeface="Arial"/>
                    <a:cs typeface="Arial"/>
                    <a:sym typeface="Arial"/>
                  </a:rPr>
                  <a:t>.</a:t>
                </a:r>
              </a:p>
              <a:p>
                <a:pPr marL="0" indent="0">
                  <a:lnSpc>
                    <a:spcPct val="100000"/>
                  </a:lnSpc>
                  <a:spcBef>
                    <a:spcPts val="0"/>
                  </a:spcBef>
                  <a:buSzPts val="3000"/>
                  <a:buNone/>
                </a:pPr>
                <a:r>
                  <a:rPr lang="en-US" sz="2300" dirty="0">
                    <a:latin typeface="Atkinson Hyperlegible Next"/>
                    <a:ea typeface="Arial"/>
                    <a:cs typeface="Arial"/>
                    <a:sym typeface="Arial"/>
                  </a:rPr>
                  <a:t>We can no longer use a single scalar variance </a:t>
                </a:r>
                <a14:m>
                  <m:oMath xmlns:m="http://schemas.openxmlformats.org/officeDocument/2006/math">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𝜎</m:t>
                        </m:r>
                      </m:e>
                      <m:sup>
                        <m:r>
                          <a:rPr lang="en-US" sz="2300" i="1" dirty="0" smtClean="0">
                            <a:latin typeface="Cambria Math" panose="02040503050406030204" pitchFamily="18" charset="0"/>
                            <a:ea typeface="Arial"/>
                            <a:cs typeface="Arial"/>
                            <a:sym typeface="Arial"/>
                          </a:rPr>
                          <m:t>2</m:t>
                        </m:r>
                      </m:sup>
                    </m:sSup>
                  </m:oMath>
                </a14:m>
                <a:r>
                  <a:rPr lang="en-US" sz="2300" dirty="0">
                    <a:latin typeface="Atkinson Hyperlegible Next"/>
                    <a:ea typeface="Arial"/>
                    <a:cs typeface="Arial"/>
                    <a:sym typeface="Arial"/>
                  </a:rPr>
                  <a:t>. We must use a </a:t>
                </a:r>
                <a:r>
                  <a:rPr lang="en-US" sz="2300" b="1" dirty="0">
                    <a:latin typeface="Atkinson Hyperlegible Next"/>
                    <a:ea typeface="Arial"/>
                    <a:cs typeface="Arial"/>
                    <a:sym typeface="Arial"/>
                  </a:rPr>
                  <a:t>Covariance Matrix</a:t>
                </a:r>
                <a:r>
                  <a:rPr lang="en-US" sz="2300" dirty="0">
                    <a:latin typeface="Atkinson Hyperlegible Next"/>
                    <a:ea typeface="Arial"/>
                    <a:cs typeface="Arial"/>
                    <a:sym typeface="Arial"/>
                  </a:rPr>
                  <a:t>, </a:t>
                </a:r>
                <a14:m>
                  <m:oMath xmlns:m="http://schemas.openxmlformats.org/officeDocument/2006/math">
                    <m:r>
                      <a:rPr lang="en-US" sz="2300" i="1" dirty="0" smtClean="0">
                        <a:latin typeface="Cambria Math" panose="02040503050406030204" pitchFamily="18" charset="0"/>
                        <a:ea typeface="Arial"/>
                        <a:cs typeface="Arial"/>
                        <a:sym typeface="Arial"/>
                      </a:rPr>
                      <m:t>𝑃</m:t>
                    </m:r>
                  </m:oMath>
                </a14:m>
                <a:r>
                  <a:rPr lang="en-US" sz="23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B2BA07C7-B861-5421-7C0F-90DC1DC47C5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96777F2-6C77-51D1-C8B9-64F1920EBDE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06715D4-8B00-B85D-2167-91DA621CEF8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(13/39)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92175EB-3F6C-D62D-25BA-5217911047D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FD85456-00B2-46B1-8819-CBBE0ACF49B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CD03A0D-5C42-625F-8B21-357E15F06AC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1898B86-ADAC-9156-40E1-55BCCF20AC5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7629CEF-B88B-5097-7BCE-AE0738D50FB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64DB92F-2773-0CA3-01CC-99F2DD8E3EE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5279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178026D5-642E-5FA9-B24D-BB2F972494A9}"/>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AD81CE76-DDEC-FA99-FE82-7667F179E333}"/>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ND - Kalman Filter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F89C1F07-A7C6-0EEA-CFAB-6F81C647B9F5}"/>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F880808B-6498-A126-653F-999B98699611}"/>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156DDC46-269F-36DC-A402-F6E99CDF68B4}"/>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78E0BEC5-D794-6D25-29A5-3AD4D43A3AD5}"/>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721836FB-150F-B968-985A-700320E8808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9620420A-DDCC-006C-B82D-A8816FF2F838}"/>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C4DE278D-5E0E-C64F-6934-39A876AF81BC}"/>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8FBC960A-FF3C-4EB4-A835-CF3221E4AD5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011DE33F-D1A3-A366-7206-3D6A422E3AF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71204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57C5B89B-AD73-052F-BE6B-E2D5E4828FA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D972F50-0BAC-51F8-4674-B2E240CF2F54}"/>
              </a:ext>
            </a:extLst>
          </p:cNvPr>
          <p:cNvGrpSpPr/>
          <p:nvPr/>
        </p:nvGrpSpPr>
        <p:grpSpPr>
          <a:xfrm>
            <a:off x="2206906" y="2296815"/>
            <a:ext cx="7778187" cy="1508744"/>
            <a:chOff x="2206906" y="1491040"/>
            <a:chExt cx="7778187" cy="1508744"/>
          </a:xfrm>
        </p:grpSpPr>
        <p:sp>
          <p:nvSpPr>
            <p:cNvPr id="89" name="Google Shape;89;p27">
              <a:extLst>
                <a:ext uri="{FF2B5EF4-FFF2-40B4-BE49-F238E27FC236}">
                  <a16:creationId xmlns:a16="http://schemas.microsoft.com/office/drawing/2014/main" id="{723464BF-EB2B-8CDD-8CD9-330961639EDC}"/>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Predict (2/3)</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1A7A3610-AC45-2DEC-4EF4-C7B00CC4CE17}"/>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8823D590-5B53-D3FA-297C-FFDE942030AA}"/>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0FEC59D2-D2A7-D664-A59D-8CF83C66544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4691F89-242A-4F33-F3FD-67E3F1272B2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D4CAA65C-DD16-7ED6-E55C-3B7BC86523E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611E5D39-7D89-943D-BB1E-5FEF15C3372E}"/>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076A2E18-640F-E2D4-5E9A-72D8DA6662AD}"/>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261E9803-1AC5-8F81-A128-A5A1A7B68B10}"/>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826949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90D03BE-2741-77CF-6AA5-8BA5A79B7C7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3A06F7D-0576-FD78-083B-927F78519EC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A81555A-9873-C25D-2321-857A0246152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(14/39)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1F5E44-655F-112D-D445-334EF4CACFC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C5A2C5C-8A0E-264A-6A39-30BDB621FE8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D9914FF-C258-88FD-8E53-23A285BD305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0A0F55D-2807-04CD-4C04-8051D66EAF7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AB8E005-277B-C577-1754-E2C0532E3F7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9C2ECA1-AEEE-E5C1-7E1E-690F0A62674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titled &quot;MD Initial Belief (The State Vector)&quot;: the initial belief x sub 0 is a filled ellipse centered near position X equals 2, Y equals 2, spanning about minus 0.5 to 4.5 on both axes and tilted at roughly 45 degrees, indicating positive correlation between x and y uncertainty. Annotations: bold x equals x, y transpose; bold P equals the matrix with rows sigma x squared, sigma x y and sigma y x, sigma y squared. Axes run X from minus 2 to 16 and Y from minus 2 to 10.">
            <a:extLst>
              <a:ext uri="{FF2B5EF4-FFF2-40B4-BE49-F238E27FC236}">
                <a16:creationId xmlns:a16="http://schemas.microsoft.com/office/drawing/2014/main" id="{C912C74F-6B49-F930-5A27-F2BCE85E1FC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606920" y="982504"/>
            <a:ext cx="9045990" cy="5427594"/>
          </a:xfrm>
          <a:prstGeom prst="rect">
            <a:avLst/>
          </a:prstGeom>
        </p:spPr>
      </p:pic>
    </p:spTree>
    <p:extLst>
      <p:ext uri="{BB962C8B-B14F-4D97-AF65-F5344CB8AC3E}">
        <p14:creationId xmlns:p14="http://schemas.microsoft.com/office/powerpoint/2010/main" val="1049193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944DA11-165C-EF65-7459-9CD026C63C2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67F5410-EB67-8B93-6A57-E23368557AC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Let's translate our 1D prediction (</a:t>
                </a:r>
                <a14:m>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𝜇</m:t>
                        </m:r>
                      </m:e>
                      <m:sub>
                        <m:r>
                          <a:rPr lang="en-US" sz="2300" i="1" dirty="0" smtClean="0">
                            <a:latin typeface="Cambria Math" panose="02040503050406030204" pitchFamily="18" charset="0"/>
                            <a:ea typeface="Arial"/>
                            <a:cs typeface="Arial"/>
                            <a:sym typeface="Arial"/>
                          </a:rPr>
                          <m:t>𝑝𝑟𝑒𝑑</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𝜇</m:t>
                        </m:r>
                      </m:e>
                      <m:sub>
                        <m:r>
                          <a:rPr lang="en-US" sz="2300" i="1" dirty="0" smtClean="0">
                            <a:latin typeface="Cambria Math" panose="02040503050406030204" pitchFamily="18" charset="0"/>
                            <a:ea typeface="Arial"/>
                            <a:cs typeface="Arial"/>
                            <a:sym typeface="Arial"/>
                          </a:rPr>
                          <m:t>𝑜𝑙𝑑</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𝑢</m:t>
                    </m:r>
                  </m:oMath>
                </a14:m>
                <a:r>
                  <a:rPr lang="en-US" sz="2300" dirty="0">
                    <a:latin typeface="Atkinson Hyperlegible Next"/>
                    <a:ea typeface="Arial"/>
                    <a:cs typeface="Arial"/>
                    <a:sym typeface="Arial"/>
                  </a:rPr>
                  <a:t>) to N-Dimensions: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𝐹</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𝐵</m:t>
                    </m:r>
                    <m:sSub>
                      <m:sSubPr>
                        <m:ctrlPr>
                          <a:rPr lang="en-US" sz="2300" i="1" dirty="0" err="1" smtClean="0">
                            <a:latin typeface="Cambria Math" panose="02040503050406030204" pitchFamily="18" charset="0"/>
                            <a:ea typeface="Arial"/>
                            <a:cs typeface="Arial"/>
                            <a:sym typeface="Arial"/>
                          </a:rPr>
                        </m:ctrlPr>
                      </m:sSubPr>
                      <m:e>
                        <m:r>
                          <a:rPr lang="en-US" sz="2300" i="1" dirty="0" err="1" smtClean="0">
                            <a:latin typeface="Cambria Math" panose="02040503050406030204" pitchFamily="18" charset="0"/>
                            <a:ea typeface="Arial"/>
                            <a:cs typeface="Arial"/>
                            <a:sym typeface="Arial"/>
                          </a:rPr>
                          <m:t>𝑢</m:t>
                        </m:r>
                      </m:e>
                      <m:sub>
                        <m:r>
                          <a:rPr lang="en-US" sz="2300" i="1" dirty="0" err="1" smtClean="0">
                            <a:latin typeface="Cambria Math" panose="02040503050406030204" pitchFamily="18" charset="0"/>
                            <a:ea typeface="Arial"/>
                            <a:cs typeface="Arial"/>
                            <a:sym typeface="Arial"/>
                          </a:rPr>
                          <m:t>𝑘</m:t>
                        </m:r>
                      </m:sub>
                    </m:sSub>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m:rPr>
                        <m:sty m:val="p"/>
                      </m:rPr>
                      <a:rPr lang="en-US" sz="2300" i="1" dirty="0">
                        <a:latin typeface="Cambria Math" panose="02040503050406030204" pitchFamily="18" charset="0"/>
                        <a:ea typeface="Arial"/>
                        <a:cs typeface="Arial"/>
                        <a:sym typeface="Arial"/>
                      </a:rPr>
                      <m:t>μ</m:t>
                    </m:r>
                  </m:oMath>
                </a14:m>
                <a:r>
                  <a:rPr lang="en-US" sz="2300" dirty="0">
                    <a:latin typeface="Atkinson Hyperlegible Next"/>
                    <a:ea typeface="Arial"/>
                    <a:cs typeface="Arial"/>
                    <a:sym typeface="Arial"/>
                  </a:rPr>
                  <a:t> becomes the state vector </a:t>
                </a:r>
                <a14:m>
                  <m:oMath xmlns:m="http://schemas.openxmlformats.org/officeDocument/2006/math">
                    <m:r>
                      <a:rPr lang="en-US" sz="2300" i="1" dirty="0">
                        <a:latin typeface="Cambria Math" panose="02040503050406030204" pitchFamily="18" charset="0"/>
                        <a:ea typeface="Arial"/>
                        <a:cs typeface="Arial"/>
                        <a:sym typeface="Arial"/>
                      </a:rPr>
                      <m:t>𝑥</m:t>
                    </m:r>
                  </m:oMath>
                </a14:m>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a:rPr lang="en-US" sz="2300" i="1" dirty="0">
                        <a:latin typeface="Cambria Math" panose="02040503050406030204" pitchFamily="18" charset="0"/>
                        <a:ea typeface="Arial"/>
                        <a:cs typeface="Arial"/>
                        <a:sym typeface="Arial"/>
                      </a:rPr>
                      <m:t>𝐹</m:t>
                    </m:r>
                  </m:oMath>
                </a14:m>
                <a:r>
                  <a:rPr lang="en-US" sz="2300" dirty="0">
                    <a:latin typeface="Atkinson Hyperlegible Next"/>
                    <a:ea typeface="Arial"/>
                    <a:cs typeface="Arial"/>
                    <a:sym typeface="Arial"/>
                  </a:rPr>
                  <a:t> is our state transition matrix (how physics updates the state).</a:t>
                </a:r>
              </a:p>
            </p:txBody>
          </p:sp>
        </mc:Choice>
        <mc:Fallback xmlns="">
          <p:sp>
            <p:nvSpPr>
              <p:cNvPr id="118" name="Google Shape;118;p29">
                <a:extLst>
                  <a:ext uri="{FF2B5EF4-FFF2-40B4-BE49-F238E27FC236}">
                    <a16:creationId xmlns:a16="http://schemas.microsoft.com/office/drawing/2014/main" id="{B67F5410-EB67-8B93-6A57-E23368557ACD}"/>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13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0227CA2-F185-B75C-D910-453CF3B33C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FA53280-0AA5-9631-2590-CAEFD5F700B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(15/39)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0ACA5C6-E616-E19C-B0E6-2AD169E1F90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42877C7-4046-CCE7-234B-808887AA0D3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28A48F2-0323-8338-C1D7-A599CD56CAE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94BEB94-A006-4683-94C6-6D6CDDE2265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DAF02A8-C81B-135B-84A1-948CCF04CBB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5537A04-12BB-77C2-3FBF-EA34608B67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97871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327B7D-7FEA-E73A-14E4-93893E959B1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7F16B4E-1D2C-F7C7-08EB-B89D3A9E543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CD9912D-E46C-999C-21FE-A93DE3C8F32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(16/39)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7C2C88A-8817-7E05-6C4A-38745E9C93D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B5255BF-C516-3744-8215-EF33C32A783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38065CE-2002-7252-9D2A-8EDB18A7E15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7690B1B-39E0-1563-0CC5-EA5DE91AD4C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287750E-4C26-ECA9-62B0-C7290E8BF7D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2D8D187-1A56-3B17-669A-64FD3892DB9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of the Kalman filter predict step on position X versus position Y axes. The old belief is a point at (2, 2) inside a narrow, tilted blue covariance ellipse; a slightly larger pink outline shows it transformed by F P F transpose. A motion arrow moves the mean to about (8, 5), where a much larger filled pink ellipse shows the predicted prior: x sub pred equals F x sub k minus 1 plus B u, and P sub pred equals F P sub k minus 1 F transpose plus Q. Prediction shifts the estimate and grows its uncertainty.">
            <a:extLst>
              <a:ext uri="{FF2B5EF4-FFF2-40B4-BE49-F238E27FC236}">
                <a16:creationId xmlns:a16="http://schemas.microsoft.com/office/drawing/2014/main" id="{CD571A45-C401-F0E2-ABC0-41DDD883CAA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606920" y="982504"/>
            <a:ext cx="9045990" cy="5427594"/>
          </a:xfrm>
          <a:prstGeom prst="rect">
            <a:avLst/>
          </a:prstGeom>
        </p:spPr>
      </p:pic>
    </p:spTree>
    <p:extLst>
      <p:ext uri="{BB962C8B-B14F-4D97-AF65-F5344CB8AC3E}">
        <p14:creationId xmlns:p14="http://schemas.microsoft.com/office/powerpoint/2010/main" val="2372965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85EBFB3-1EF9-8EC5-867F-1BFD8C6922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40E74E3-A999-C8C0-8BEE-C1133A20002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The </a:t>
                </a:r>
                <a:r>
                  <a:rPr lang="en-US" sz="2300" b="1" dirty="0">
                    <a:latin typeface="Atkinson Hyperlegible Next"/>
                    <a:ea typeface="Arial"/>
                    <a:cs typeface="Arial"/>
                    <a:sym typeface="Arial"/>
                  </a:rPr>
                  <a:t>Covariance Matrix </a:t>
                </a:r>
                <a14:m>
                  <m:oMath xmlns:m="http://schemas.openxmlformats.org/officeDocument/2006/math">
                    <m:r>
                      <a:rPr lang="en-US" sz="2300" i="1" dirty="0" smtClean="0">
                        <a:latin typeface="Cambria Math" panose="02040503050406030204" pitchFamily="18" charset="0"/>
                        <a:ea typeface="Arial"/>
                        <a:cs typeface="Arial"/>
                        <a:sym typeface="Arial"/>
                      </a:rPr>
                      <m:t>𝑃</m:t>
                    </m:r>
                  </m:oMath>
                </a14:m>
                <a:r>
                  <a:rPr lang="en-US" sz="2300" dirty="0">
                    <a:latin typeface="Atkinson Hyperlegible Next"/>
                    <a:ea typeface="Arial"/>
                    <a:cs typeface="Arial"/>
                    <a:sym typeface="Arial"/>
                  </a:rPr>
                  <a:t> represents multi-dimensional uncertainty as an ellipse, not a 1D curve.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diagonal elements are the individual variances (e.g., how unsure are we about </a:t>
                </a:r>
                <a14:m>
                  <m:oMath xmlns:m="http://schemas.openxmlformats.org/officeDocument/2006/math">
                    <m:r>
                      <a:rPr lang="en-US" sz="2300" i="1" dirty="0" smtClean="0">
                        <a:latin typeface="Cambria Math" panose="02040503050406030204" pitchFamily="18" charset="0"/>
                        <a:ea typeface="Arial"/>
                        <a:cs typeface="Arial"/>
                        <a:sym typeface="Arial"/>
                      </a:rPr>
                      <m:t>𝑋</m:t>
                    </m:r>
                  </m:oMath>
                </a14:m>
                <a:r>
                  <a:rPr lang="en-US" sz="2300" dirty="0">
                    <a:latin typeface="Atkinson Hyperlegible Next"/>
                    <a:ea typeface="Arial"/>
                    <a:cs typeface="Arial"/>
                    <a:sym typeface="Arial"/>
                  </a:rPr>
                  <a:t> independent of everything else?).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off-diagonal elements are the critical addition: </a:t>
                </a:r>
                <a:r>
                  <a:rPr lang="en-US" sz="2300" b="1" dirty="0">
                    <a:latin typeface="Atkinson Hyperlegible Next"/>
                    <a:ea typeface="Arial"/>
                    <a:cs typeface="Arial"/>
                    <a:sym typeface="Arial"/>
                  </a:rPr>
                  <a:t>Correlations</a:t>
                </a:r>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If our robot only drives forward, and we are uncertain about our heading </a:t>
                </a:r>
                <a14:m>
                  <m:oMath xmlns:m="http://schemas.openxmlformats.org/officeDocument/2006/math">
                    <m:r>
                      <a:rPr lang="en-US" sz="2300" i="1" dirty="0" smtClean="0">
                        <a:latin typeface="Cambria Math" panose="02040503050406030204" pitchFamily="18" charset="0"/>
                        <a:ea typeface="Arial"/>
                        <a:cs typeface="Arial"/>
                        <a:sym typeface="Arial"/>
                      </a:rPr>
                      <m:t>𝜃</m:t>
                    </m:r>
                  </m:oMath>
                </a14:m>
                <a:r>
                  <a:rPr lang="en-US" sz="2300" dirty="0">
                    <a:latin typeface="Atkinson Hyperlegible Next"/>
                    <a:ea typeface="Arial"/>
                    <a:cs typeface="Arial"/>
                    <a:sym typeface="Arial"/>
                  </a:rPr>
                  <a:t>, will that create an uncertainty in </a:t>
                </a:r>
                <a14:m>
                  <m:oMath xmlns:m="http://schemas.openxmlformats.org/officeDocument/2006/math">
                    <m:r>
                      <a:rPr lang="en-US" sz="2300" i="1" dirty="0" smtClean="0">
                        <a:latin typeface="Cambria Math" panose="02040503050406030204" pitchFamily="18" charset="0"/>
                        <a:ea typeface="Arial"/>
                        <a:cs typeface="Arial"/>
                        <a:sym typeface="Arial"/>
                      </a:rPr>
                      <m:t>𝑌</m:t>
                    </m:r>
                  </m:oMath>
                </a14:m>
                <a:r>
                  <a:rPr lang="en-US" sz="2300" dirty="0">
                    <a:latin typeface="Atkinson Hyperlegible Next"/>
                    <a:ea typeface="Arial"/>
                    <a:cs typeface="Arial"/>
                    <a:sym typeface="Arial"/>
                  </a:rPr>
                  <a:t> as we travel?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gn="ctr">
                  <a:lnSpc>
                    <a:spcPct val="100000"/>
                  </a:lnSpc>
                  <a:spcBef>
                    <a:spcPts val="0"/>
                  </a:spcBef>
                  <a:buSzPts val="3000"/>
                  <a:buNone/>
                </a:pPr>
                <a:r>
                  <a:rPr lang="en-US" sz="2300" dirty="0">
                    <a:latin typeface="Atkinson Hyperlegible Next"/>
                    <a:ea typeface="Arial"/>
                    <a:cs typeface="Arial"/>
                    <a:sym typeface="Arial"/>
                  </a:rPr>
                  <a:t>Yes, errors in </a:t>
                </a:r>
                <a14:m>
                  <m:oMath xmlns:m="http://schemas.openxmlformats.org/officeDocument/2006/math">
                    <m:r>
                      <a:rPr lang="en-US" sz="2300" i="1" dirty="0" smtClean="0">
                        <a:latin typeface="Cambria Math" panose="02040503050406030204" pitchFamily="18" charset="0"/>
                        <a:ea typeface="Arial"/>
                        <a:cs typeface="Arial"/>
                        <a:sym typeface="Arial"/>
                      </a:rPr>
                      <m:t>𝜃</m:t>
                    </m:r>
                  </m:oMath>
                </a14:m>
                <a:r>
                  <a:rPr lang="en-US" sz="2300" dirty="0">
                    <a:latin typeface="Atkinson Hyperlegible Next"/>
                    <a:ea typeface="Arial"/>
                    <a:cs typeface="Arial"/>
                    <a:sym typeface="Arial"/>
                  </a:rPr>
                  <a:t> are highly correlated with errors in </a:t>
                </a:r>
                <a14:m>
                  <m:oMath xmlns:m="http://schemas.openxmlformats.org/officeDocument/2006/math">
                    <m:r>
                      <a:rPr lang="en-US" sz="2300" i="1" dirty="0" smtClean="0">
                        <a:latin typeface="Cambria Math" panose="02040503050406030204" pitchFamily="18" charset="0"/>
                        <a:ea typeface="Arial"/>
                        <a:cs typeface="Arial"/>
                        <a:sym typeface="Arial"/>
                      </a:rPr>
                      <m:t>𝑋</m:t>
                    </m:r>
                  </m:oMath>
                </a14:m>
                <a:r>
                  <a:rPr lang="en-US" sz="2300" dirty="0">
                    <a:latin typeface="Atkinson Hyperlegible Next"/>
                    <a:ea typeface="Arial"/>
                    <a:cs typeface="Arial"/>
                    <a:sym typeface="Arial"/>
                  </a:rPr>
                  <a:t> and </a:t>
                </a:r>
                <a14:m>
                  <m:oMath xmlns:m="http://schemas.openxmlformats.org/officeDocument/2006/math">
                    <m:r>
                      <a:rPr lang="en-US" sz="2300" i="1" dirty="0" smtClean="0">
                        <a:latin typeface="Cambria Math" panose="02040503050406030204" pitchFamily="18" charset="0"/>
                        <a:ea typeface="Arial"/>
                        <a:cs typeface="Arial"/>
                        <a:sym typeface="Arial"/>
                      </a:rPr>
                      <m:t>𝑌</m:t>
                    </m:r>
                  </m:oMath>
                </a14:m>
                <a:r>
                  <a:rPr lang="en-US" sz="23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140E74E3-A999-C8C0-8BEE-C1133A20002E}"/>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09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8CE9117-7D7E-73E9-FCB2-D173B899D60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D2E25B4-9C80-65C9-0132-0BC3107A42C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(17/39)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268C4F9-6EEA-954F-1101-5550EE46989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098213B-00FB-430A-FDF5-638419BC8E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F693843-1AC4-F863-C72F-63E16D30714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80E8B05-3179-DEEC-574A-3A98802C08E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150F6C8-41A2-4DAF-A588-1B86396E546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6273D03-808C-03FB-F450-60DB1E081EE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8594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5747B13-4078-2579-5CF3-192A99C6A73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7A99B7E-3621-627E-2235-8438A3DDF03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9405DF6-419E-CCD5-D645-2A4BF021AEF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(18/39)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6368A7C-58D1-ACE8-0D0E-28CC016916F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F984D39-5F9A-3DFA-E2FD-4F34C8A1DA4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C4320B4-4EF9-3A5F-1697-3CA8CA71BF0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EBF7F5C-2AFF-FAEE-F225-E00853602DD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C9D257-AFD4-BDF2-8B45-B783A65F0B8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BA2575C-A1C0-F20B-2B6C-2F29DC269E2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2D covariance of robot x and y position. Covariance matrix Sigma has sigma x squared equals 4.0, sigma y squared equals 3.0, and sigma x y equals sigma y x equals 2.5. A tilted 1-sigma ellipse is centered on the mean at (5, 5). Its long axis runs diagonally up-right, showing positive x-y correlation. Horizontal and vertical arrows mark sigma x and sigma y. An orange-red arrow, square root of lambda 1 times v 1, marks the major axis along the tilt. A perpendicular green arrow, square root of lambda 2 times v 2, marks the minor axis.">
            <a:extLst>
              <a:ext uri="{FF2B5EF4-FFF2-40B4-BE49-F238E27FC236}">
                <a16:creationId xmlns:a16="http://schemas.microsoft.com/office/drawing/2014/main" id="{7EA5D460-2371-5DDC-7B12-80A2B905D86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80638" y="556313"/>
            <a:ext cx="6430725" cy="6430725"/>
          </a:xfrm>
          <a:prstGeom prst="rect">
            <a:avLst/>
          </a:prstGeom>
        </p:spPr>
      </p:pic>
    </p:spTree>
    <p:extLst>
      <p:ext uri="{BB962C8B-B14F-4D97-AF65-F5344CB8AC3E}">
        <p14:creationId xmlns:p14="http://schemas.microsoft.com/office/powerpoint/2010/main" val="35571619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8E72C3-8BEE-CEC8-6058-7BC82650921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14F4595-D47E-8E37-5E1F-F3B3D60B2EA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What is </a:t>
                </a:r>
                <a:r>
                  <a:rPr lang="en-US" sz="2300" b="1" dirty="0">
                    <a:latin typeface="Atkinson Hyperlegible Next"/>
                    <a:ea typeface="Arial"/>
                    <a:cs typeface="Arial"/>
                    <a:sym typeface="Arial"/>
                  </a:rPr>
                  <a:t>Variance</a:t>
                </a:r>
                <a:r>
                  <a:rPr lang="en-US" sz="2300" dirty="0">
                    <a:latin typeface="Atkinson Hyperlegible Next"/>
                    <a:ea typeface="Arial"/>
                    <a:cs typeface="Arial"/>
                    <a:sym typeface="Arial"/>
                  </a:rPr>
                  <a:t>, Really?</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Before we calculate how uncertainty grows, we must define what it is.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Imagine throwing 100 darts at a board. The </a:t>
                </a:r>
                <a:r>
                  <a:rPr lang="en-US" sz="2300" b="1" dirty="0">
                    <a:latin typeface="Atkinson Hyperlegible Next"/>
                    <a:ea typeface="Arial"/>
                    <a:cs typeface="Arial"/>
                    <a:sym typeface="Arial"/>
                  </a:rPr>
                  <a:t>Expected Value </a:t>
                </a:r>
                <a14:m>
                  <m:oMath xmlns:m="http://schemas.openxmlformats.org/officeDocument/2006/math">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oMath>
                </a14:m>
                <a:r>
                  <a:rPr lang="en-US" sz="2300" dirty="0">
                    <a:latin typeface="Atkinson Hyperlegible Next"/>
                    <a:ea typeface="Arial"/>
                    <a:cs typeface="Arial"/>
                    <a:sym typeface="Arial"/>
                  </a:rPr>
                  <a:t>, or mean </a:t>
                </a:r>
                <a14:m>
                  <m:oMath xmlns:m="http://schemas.openxmlformats.org/officeDocument/2006/math">
                    <m:r>
                      <a:rPr lang="en-US" sz="2300" i="1" dirty="0" smtClean="0">
                        <a:latin typeface="Cambria Math" panose="02040503050406030204" pitchFamily="18" charset="0"/>
                        <a:ea typeface="Arial"/>
                        <a:cs typeface="Arial"/>
                        <a:sym typeface="Arial"/>
                      </a:rPr>
                      <m:t>𝜇</m:t>
                    </m:r>
                  </m:oMath>
                </a14:m>
                <a:r>
                  <a:rPr lang="en-US" sz="2300" dirty="0">
                    <a:latin typeface="Atkinson Hyperlegible Next"/>
                    <a:ea typeface="Arial"/>
                    <a:cs typeface="Arial"/>
                    <a:sym typeface="Arial"/>
                  </a:rPr>
                  <a:t>) is the center point of all your darts.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b="1" dirty="0">
                    <a:latin typeface="Atkinson Hyperlegible Next"/>
                    <a:ea typeface="Arial"/>
                    <a:cs typeface="Arial"/>
                    <a:sym typeface="Arial"/>
                  </a:rPr>
                  <a:t>Variance</a:t>
                </a:r>
                <a:r>
                  <a:rPr lang="en-US" sz="2300" dirty="0">
                    <a:latin typeface="Atkinson Hyperlegible Next"/>
                    <a:ea typeface="Arial"/>
                    <a:cs typeface="Arial"/>
                    <a:sym typeface="Arial"/>
                  </a:rPr>
                  <a:t> measures </a:t>
                </a:r>
                <a:r>
                  <a:rPr lang="en-US" sz="2300" b="1" dirty="0">
                    <a:latin typeface="Atkinson Hyperlegible Next"/>
                    <a:ea typeface="Arial"/>
                    <a:cs typeface="Arial"/>
                    <a:sym typeface="Arial"/>
                  </a:rPr>
                  <a:t>how spread out </a:t>
                </a:r>
                <a:r>
                  <a:rPr lang="en-US" sz="2300" dirty="0">
                    <a:latin typeface="Atkinson Hyperlegible Next"/>
                    <a:ea typeface="Arial"/>
                    <a:cs typeface="Arial"/>
                    <a:sym typeface="Arial"/>
                  </a:rPr>
                  <a:t>those darts are from the center. It is the average of the squared distances from the mean.</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write this mathematically as: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e>
                            <m:sup>
                              <m:r>
                                <a:rPr lang="en-US" sz="2300" i="1" dirty="0" smtClean="0">
                                  <a:latin typeface="Cambria Math" panose="02040503050406030204" pitchFamily="18" charset="0"/>
                                  <a:ea typeface="Arial"/>
                                  <a:cs typeface="Arial"/>
                                  <a:sym typeface="Arial"/>
                                </a:rPr>
                                <m:t>2</m:t>
                              </m:r>
                            </m:sup>
                          </m:sSup>
                        </m:e>
                      </m:d>
                    </m:oMath>
                  </m:oMathPara>
                </a14:m>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C14F4595-D47E-8E37-5E1F-F3B3D60B2EA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2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0036BC4-3069-A517-9085-A6B0835EFC9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7E81DB4-AABF-ABD8-7008-DCB0C1BCE45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(19/39)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A1F5C47-8016-E787-4409-DD855A1AEFE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2EE9FB8-DBB9-F93F-7175-1EAB0A5EBE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FCFEEC2-0152-918E-1329-173D4AD4621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C87EC6B-71AE-3ACE-3B89-69A4B7F43BF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540CD8F-032C-C367-6351-C8CD108322A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E28E6B9-E7DC-4370-2429-D59D886C3DE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4124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F9B016A-07A7-5B19-363D-207486F4CBA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E8650B6-E658-55BC-99EC-63616B2ACFD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What happens to our uncertainty if we multiply our state by a constant </a:t>
                </a:r>
                <a14:m>
                  <m:oMath xmlns:m="http://schemas.openxmlformats.org/officeDocument/2006/math">
                    <m:r>
                      <a:rPr lang="en-US" sz="2300" i="1" dirty="0" smtClean="0">
                        <a:latin typeface="Cambria Math" panose="02040503050406030204" pitchFamily="18" charset="0"/>
                        <a:ea typeface="Arial"/>
                        <a:cs typeface="Arial"/>
                        <a:sym typeface="Arial"/>
                      </a:rPr>
                      <m:t>𝑎</m:t>
                    </m:r>
                  </m:oMath>
                </a14:m>
                <a:r>
                  <a:rPr lang="en-US" sz="2300" dirty="0">
                    <a:latin typeface="Atkinson Hyperlegible Next"/>
                    <a:ea typeface="Arial"/>
                    <a:cs typeface="Arial"/>
                    <a:sym typeface="Arial"/>
                  </a:rPr>
                  <a:t> (like applying a gear ratio to a wheel)?</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e>
                                  </m:d>
                                </m:e>
                              </m:d>
                            </m:e>
                            <m:sup>
                              <m:r>
                                <a:rPr lang="en-US" sz="2300" i="1" dirty="0" smtClean="0">
                                  <a:latin typeface="Cambria Math" panose="02040503050406030204" pitchFamily="18" charset="0"/>
                                  <a:ea typeface="Arial"/>
                                  <a:cs typeface="Arial"/>
                                  <a:sym typeface="Arial"/>
                                </a:rPr>
                                <m:t>2</m:t>
                              </m:r>
                            </m:sup>
                          </m:sSup>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𝑎</m:t>
                                  </m:r>
                                  <m:r>
                                    <a:rPr lang="en-US" sz="2300" i="1" dirty="0" smtClean="0">
                                      <a:latin typeface="Cambria Math" panose="02040503050406030204" pitchFamily="18" charset="0"/>
                                      <a:ea typeface="Arial"/>
                                      <a:cs typeface="Arial"/>
                                      <a:sym typeface="Arial"/>
                                    </a:rPr>
                                    <m:t>𝜇</m:t>
                                  </m:r>
                                </m:e>
                              </m:d>
                            </m:e>
                            <m:sup>
                              <m:r>
                                <a:rPr lang="en-US" sz="2300" i="1" dirty="0" smtClean="0">
                                  <a:latin typeface="Cambria Math" panose="02040503050406030204" pitchFamily="18" charset="0"/>
                                  <a:ea typeface="Arial"/>
                                  <a:cs typeface="Arial"/>
                                  <a:sym typeface="Arial"/>
                                </a:rPr>
                                <m:t>2</m:t>
                              </m:r>
                            </m:sup>
                          </m:sSup>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𝑎</m:t>
                              </m:r>
                            </m:e>
                            <m:sup>
                              <m:r>
                                <a:rPr lang="en-US" sz="2300" i="1" dirty="0" smtClean="0">
                                  <a:latin typeface="Cambria Math" panose="02040503050406030204" pitchFamily="18" charset="0"/>
                                  <a:ea typeface="Arial"/>
                                  <a:cs typeface="Arial"/>
                                  <a:sym typeface="Arial"/>
                                </a:rPr>
                                <m:t>2</m:t>
                              </m:r>
                            </m:sup>
                          </m:sSup>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e>
                            <m:sup>
                              <m:r>
                                <a:rPr lang="en-US" sz="2300" i="1" dirty="0" smtClean="0">
                                  <a:latin typeface="Cambria Math" panose="02040503050406030204" pitchFamily="18" charset="0"/>
                                  <a:ea typeface="Arial"/>
                                  <a:cs typeface="Arial"/>
                                  <a:sym typeface="Arial"/>
                                </a:rPr>
                                <m:t>2</m:t>
                              </m:r>
                            </m:sup>
                          </m:sSup>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Because </a:t>
                </a:r>
                <a14:m>
                  <m:oMath xmlns:m="http://schemas.openxmlformats.org/officeDocument/2006/math">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𝑎</m:t>
                        </m:r>
                      </m:e>
                      <m:sup>
                        <m:r>
                          <a:rPr lang="en-US" sz="2300" i="1" dirty="0" smtClean="0">
                            <a:latin typeface="Cambria Math" panose="02040503050406030204" pitchFamily="18" charset="0"/>
                            <a:ea typeface="Arial"/>
                            <a:cs typeface="Arial"/>
                            <a:sym typeface="Arial"/>
                          </a:rPr>
                          <m:t>2</m:t>
                        </m:r>
                      </m:sup>
                    </m:sSup>
                  </m:oMath>
                </a14:m>
                <a:r>
                  <a:rPr lang="en-US" sz="2300" dirty="0">
                    <a:latin typeface="Atkinson Hyperlegible Next"/>
                    <a:ea typeface="Arial"/>
                    <a:cs typeface="Arial"/>
                    <a:sym typeface="Arial"/>
                  </a:rPr>
                  <a:t> is a constant, we pull it out: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e>
                      </m:d>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𝑎</m:t>
                          </m:r>
                        </m:e>
                        <m:sup>
                          <m:r>
                            <a:rPr lang="en-US" sz="2300" i="1" dirty="0" smtClean="0">
                              <a:latin typeface="Cambria Math" panose="02040503050406030204" pitchFamily="18" charset="0"/>
                              <a:ea typeface="Arial"/>
                              <a:cs typeface="Arial"/>
                              <a:sym typeface="Arial"/>
                            </a:rPr>
                            <m:t>2</m:t>
                          </m:r>
                        </m:sup>
                      </m:sSup>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e>
                            <m:sup>
                              <m:r>
                                <a:rPr lang="en-US" sz="2300" i="1" dirty="0" smtClean="0">
                                  <a:latin typeface="Cambria Math" panose="02040503050406030204" pitchFamily="18" charset="0"/>
                                  <a:ea typeface="Arial"/>
                                  <a:cs typeface="Arial"/>
                                  <a:sym typeface="Arial"/>
                                </a:rPr>
                                <m:t>2</m:t>
                              </m:r>
                            </m:sup>
                          </m:sSup>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ea typeface="Arial"/>
                    <a:cs typeface="Arial"/>
                    <a:sym typeface="Arial"/>
                  </a:rPr>
                  <a:t>Thus, </a:t>
                </a:r>
                <a14:m>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e>
                    </m:d>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𝑎</m:t>
                        </m:r>
                      </m:e>
                      <m:sup>
                        <m:r>
                          <a:rPr lang="en-US" sz="2300" i="1" dirty="0" smtClean="0">
                            <a:latin typeface="Cambria Math" panose="02040503050406030204" pitchFamily="18" charset="0"/>
                            <a:ea typeface="Arial"/>
                            <a:cs typeface="Arial"/>
                            <a:sym typeface="Arial"/>
                          </a:rPr>
                          <m:t>2</m:t>
                        </m:r>
                      </m:sup>
                    </m:sSup>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e>
                    </m:d>
                  </m:oMath>
                </a14:m>
                <a:r>
                  <a:rPr lang="en-US" sz="2300" dirty="0">
                    <a:latin typeface="Atkinson Hyperlegible Next"/>
                    <a:ea typeface="Arial"/>
                    <a:cs typeface="Arial"/>
                    <a:sym typeface="Arial"/>
                  </a:rPr>
                  <a:t>. Scaling the state scales the uncertainty quadratically.</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If a motor spins twice as fast, does the position uncertainty double? </a:t>
                </a:r>
              </a:p>
              <a:p>
                <a:pPr marL="0" indent="0" algn="ctr">
                  <a:lnSpc>
                    <a:spcPct val="100000"/>
                  </a:lnSpc>
                  <a:spcBef>
                    <a:spcPts val="0"/>
                  </a:spcBef>
                  <a:buSzPts val="3000"/>
                  <a:buNone/>
                </a:pPr>
                <a:r>
                  <a:rPr lang="en-US" sz="2300" dirty="0">
                    <a:latin typeface="Atkinson Hyperlegible Next"/>
                    <a:ea typeface="Arial"/>
                    <a:cs typeface="Arial"/>
                    <a:sym typeface="Arial"/>
                  </a:rPr>
                  <a:t>No, it </a:t>
                </a:r>
                <a:r>
                  <a:rPr lang="en-US" sz="2300" b="1" dirty="0">
                    <a:latin typeface="Atkinson Hyperlegible Next"/>
                    <a:ea typeface="Arial"/>
                    <a:cs typeface="Arial"/>
                    <a:sym typeface="Arial"/>
                  </a:rPr>
                  <a:t>quadruples</a:t>
                </a:r>
                <a:r>
                  <a:rPr lang="en-US" sz="23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0E8650B6-E658-55BC-99EC-63616B2ACFD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ECD4026-4D30-6469-3669-618C555F355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C44AFBB-DF47-2AE0-6532-CE0CE735CE0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(20/39)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970C62E-C339-ABCD-6424-1B1C2DC2644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9A17A87-19B7-DDC3-C604-742D6D871C5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B321BC5-3AA3-F483-F378-DF421402761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432A3FD-B547-089E-F7CA-AEA48A11BAD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7FDE8D2-6085-15D2-4857-EBCA2FCCC8C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4ADEB2F-9DC0-C942-4A34-FC3B732285F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5883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6ABC5D9-A4E3-F417-E87B-C568CB9D36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710F1563-4DD8-AF30-9B05-0119957EC65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Real robots experience random bumps and slip. We represent this as adding a random noise variable </a:t>
                </a:r>
                <a14:m>
                  <m:oMath xmlns:m="http://schemas.openxmlformats.org/officeDocument/2006/math">
                    <m:r>
                      <a:rPr lang="en-US" sz="2300" i="1" dirty="0" smtClean="0">
                        <a:latin typeface="Cambria Math" panose="02040503050406030204" pitchFamily="18" charset="0"/>
                        <a:ea typeface="Arial"/>
                        <a:cs typeface="Arial"/>
                        <a:sym typeface="Arial"/>
                      </a:rPr>
                      <m:t>𝑊</m:t>
                    </m:r>
                  </m:oMath>
                </a14:m>
                <a:r>
                  <a:rPr lang="en-US" sz="2300" dirty="0">
                    <a:latin typeface="Atkinson Hyperlegible Next"/>
                    <a:ea typeface="Arial"/>
                    <a:cs typeface="Arial"/>
                    <a:sym typeface="Arial"/>
                  </a:rPr>
                  <a:t> to our state.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Assuming the noise </a:t>
                </a:r>
                <a14:m>
                  <m:oMath xmlns:m="http://schemas.openxmlformats.org/officeDocument/2006/math">
                    <m:r>
                      <a:rPr lang="en-US" sz="2300" i="1" dirty="0" smtClean="0">
                        <a:latin typeface="Cambria Math" panose="02040503050406030204" pitchFamily="18" charset="0"/>
                        <a:ea typeface="Arial"/>
                        <a:cs typeface="Arial"/>
                        <a:sym typeface="Arial"/>
                      </a:rPr>
                      <m:t>𝑊</m:t>
                    </m:r>
                  </m:oMath>
                </a14:m>
                <a:r>
                  <a:rPr lang="en-US" sz="2300" dirty="0">
                    <a:latin typeface="Atkinson Hyperlegible Next"/>
                    <a:ea typeface="Arial"/>
                    <a:cs typeface="Arial"/>
                    <a:sym typeface="Arial"/>
                  </a:rPr>
                  <a:t> is </a:t>
                </a:r>
                <a:r>
                  <a:rPr lang="en-US" sz="2300" b="1" dirty="0">
                    <a:latin typeface="Atkinson Hyperlegible Next"/>
                    <a:ea typeface="Arial"/>
                    <a:cs typeface="Arial"/>
                    <a:sym typeface="Arial"/>
                  </a:rPr>
                  <a:t>completely independent </a:t>
                </a:r>
                <a:r>
                  <a:rPr lang="en-US" sz="2300" dirty="0">
                    <a:latin typeface="Atkinson Hyperlegible Next"/>
                    <a:ea typeface="Arial"/>
                    <a:cs typeface="Arial"/>
                    <a:sym typeface="Arial"/>
                  </a:rPr>
                  <a:t>of our state </a:t>
                </a:r>
                <a14:m>
                  <m:oMath xmlns:m="http://schemas.openxmlformats.org/officeDocument/2006/math">
                    <m:r>
                      <a:rPr lang="en-US" sz="2300" i="1" dirty="0" smtClean="0">
                        <a:latin typeface="Cambria Math" panose="02040503050406030204" pitchFamily="18" charset="0"/>
                        <a:ea typeface="Arial"/>
                        <a:cs typeface="Arial"/>
                        <a:sym typeface="Arial"/>
                      </a:rPr>
                      <m:t>𝑋</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𝑊</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𝑊</m:t>
                          </m:r>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Substituting our previous proof:</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err="1" smtClean="0">
                              <a:latin typeface="Cambria Math" panose="02040503050406030204" pitchFamily="18" charset="0"/>
                              <a:ea typeface="Arial"/>
                              <a:cs typeface="Arial"/>
                              <a:sym typeface="Arial"/>
                            </a:rPr>
                            <m:t>𝑎𝑋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𝑊</m:t>
                          </m:r>
                        </m:e>
                      </m:d>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𝑎</m:t>
                          </m:r>
                        </m:e>
                        <m:sup>
                          <m:r>
                            <a:rPr lang="en-US" sz="2300" i="1" dirty="0" smtClean="0">
                              <a:latin typeface="Cambria Math" panose="02040503050406030204" pitchFamily="18" charset="0"/>
                              <a:ea typeface="Arial"/>
                              <a:cs typeface="Arial"/>
                              <a:sym typeface="Arial"/>
                            </a:rPr>
                            <m:t>2</m:t>
                          </m:r>
                        </m:sup>
                      </m:sSup>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𝑊</m:t>
                          </m:r>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This simple 1D equation is the exact heart of the Kalman Filter's predict step!</a:t>
                </a:r>
              </a:p>
            </p:txBody>
          </p:sp>
        </mc:Choice>
        <mc:Fallback xmlns="">
          <p:sp>
            <p:nvSpPr>
              <p:cNvPr id="118" name="Google Shape;118;p29">
                <a:extLst>
                  <a:ext uri="{FF2B5EF4-FFF2-40B4-BE49-F238E27FC236}">
                    <a16:creationId xmlns:a16="http://schemas.microsoft.com/office/drawing/2014/main" id="{710F1563-4DD8-AF30-9B05-0119957EC65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58E0F47-638B-FB83-2BA4-6C20B2B80E1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2B7CD04-32C8-4EF4-7257-53F64BAE02C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(21/39)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A1644AC-33C8-3FE3-8176-1E23A6EB5C7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EB56B4A-3928-CDA4-D22E-F2CB78B69F4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3569527-4BCB-50B6-A764-D4FE0D2BD70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03A071F-C80E-9823-7D72-1116E9BED2F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E4201BB-6457-D8B0-9711-EAB861DCE83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5AF5DD5-A184-15AD-515D-31840C0A186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48399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7C7E1C4-9EF9-CDC5-BBD8-7D67CAADB04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24920CB-0467-20A1-AFCB-8E7BFC6939A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Our 1D variance equation is </a:t>
                </a:r>
                <a14:m>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𝑋</m:t>
                            </m:r>
                          </m:e>
                          <m:sub>
                            <m:r>
                              <a:rPr lang="en-US" sz="2300" i="1" dirty="0" smtClean="0">
                                <a:latin typeface="Cambria Math" panose="02040503050406030204" pitchFamily="18" charset="0"/>
                                <a:ea typeface="Arial"/>
                                <a:cs typeface="Arial"/>
                                <a:sym typeface="Arial"/>
                              </a:rPr>
                              <m:t>𝑛𝑒𝑤</m:t>
                            </m:r>
                          </m:sub>
                        </m:sSub>
                      </m:e>
                    </m:d>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𝑎</m:t>
                        </m:r>
                      </m:e>
                      <m:sup>
                        <m:r>
                          <a:rPr lang="en-US" sz="2300" i="1" dirty="0" smtClean="0">
                            <a:latin typeface="Cambria Math" panose="02040503050406030204" pitchFamily="18" charset="0"/>
                            <a:ea typeface="Arial"/>
                            <a:cs typeface="Arial"/>
                            <a:sym typeface="Arial"/>
                          </a:rPr>
                          <m:t>2</m:t>
                        </m:r>
                      </m:sup>
                    </m:sSup>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𝑉𝑎𝑟</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𝑊</m:t>
                        </m:r>
                      </m:e>
                    </m:d>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In a multidimensional robot, </a:t>
                </a:r>
                <a14:m>
                  <m:oMath xmlns:m="http://schemas.openxmlformats.org/officeDocument/2006/math">
                    <m:r>
                      <a:rPr lang="en-US" sz="2300" i="1" dirty="0" smtClean="0">
                        <a:latin typeface="Cambria Math" panose="02040503050406030204" pitchFamily="18" charset="0"/>
                        <a:ea typeface="Arial"/>
                        <a:cs typeface="Arial"/>
                        <a:sym typeface="Arial"/>
                      </a:rPr>
                      <m:t>𝑎</m:t>
                    </m:r>
                  </m:oMath>
                </a14:m>
                <a:r>
                  <a:rPr lang="en-US" sz="2300" dirty="0">
                    <a:latin typeface="Atkinson Hyperlegible Next"/>
                    <a:ea typeface="Arial"/>
                    <a:cs typeface="Arial"/>
                    <a:sym typeface="Arial"/>
                  </a:rPr>
                  <a:t> becomes the State Transition Matrix </a:t>
                </a:r>
                <a14:m>
                  <m:oMath xmlns:m="http://schemas.openxmlformats.org/officeDocument/2006/math">
                    <m:r>
                      <a:rPr lang="en-US" sz="2300" i="1" dirty="0" smtClean="0">
                        <a:latin typeface="Cambria Math" panose="02040503050406030204" pitchFamily="18" charset="0"/>
                        <a:ea typeface="Arial"/>
                        <a:cs typeface="Arial"/>
                        <a:sym typeface="Arial"/>
                      </a:rPr>
                      <m:t>𝐹</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a:latin typeface="Cambria Math" panose="02040503050406030204" pitchFamily="18" charset="0"/>
                            <a:ea typeface="Arial"/>
                            <a:cs typeface="Arial"/>
                            <a:sym typeface="Arial"/>
                          </a:rPr>
                        </m:ctrlPr>
                      </m:dPr>
                      <m:e>
                        <m:r>
                          <a:rPr lang="en-US" sz="2300" i="1" dirty="0">
                            <a:latin typeface="Cambria Math" panose="02040503050406030204" pitchFamily="18" charset="0"/>
                            <a:ea typeface="Arial"/>
                            <a:cs typeface="Arial"/>
                            <a:sym typeface="Arial"/>
                          </a:rPr>
                          <m:t>𝑋</m:t>
                        </m:r>
                      </m:e>
                    </m:d>
                  </m:oMath>
                </a14:m>
                <a:r>
                  <a:rPr lang="en-US" sz="2300" dirty="0">
                    <a:latin typeface="Atkinson Hyperlegible Next"/>
                    <a:ea typeface="Arial"/>
                    <a:cs typeface="Arial"/>
                    <a:sym typeface="Arial"/>
                  </a:rPr>
                  <a:t> becomes the Covariance Matrix </a:t>
                </a:r>
                <a14:m>
                  <m:oMath xmlns:m="http://schemas.openxmlformats.org/officeDocument/2006/math">
                    <m:r>
                      <a:rPr lang="en-US" sz="2300" i="1" dirty="0" smtClean="0">
                        <a:latin typeface="Cambria Math" panose="02040503050406030204" pitchFamily="18" charset="0"/>
                        <a:ea typeface="Arial"/>
                        <a:cs typeface="Arial"/>
                        <a:sym typeface="Arial"/>
                      </a:rPr>
                      <m:t>𝑃</m:t>
                    </m:r>
                  </m:oMath>
                </a14:m>
                <a:r>
                  <a:rPr lang="en-US" sz="2300" dirty="0">
                    <a:latin typeface="Atkinson Hyperlegible Next"/>
                    <a:ea typeface="Arial"/>
                    <a:cs typeface="Arial"/>
                    <a:sym typeface="Arial"/>
                  </a:rPr>
                  <a:t>.</a:t>
                </a:r>
              </a:p>
              <a:p>
                <a:pPr marL="0" indent="0">
                  <a:lnSpc>
                    <a:spcPct val="100000"/>
                  </a:lnSpc>
                  <a:spcBef>
                    <a:spcPts val="0"/>
                  </a:spcBef>
                  <a:buSzPts val="3000"/>
                  <a:buNone/>
                </a:pPr>
                <a14:m>
                  <m:oMath xmlns:m="http://schemas.openxmlformats.org/officeDocument/2006/math">
                    <m:r>
                      <a:rPr lang="en-US" sz="2300" i="1" dirty="0" smtClean="0">
                        <a:latin typeface="Cambria Math" panose="02040503050406030204" pitchFamily="18" charset="0"/>
                        <a:ea typeface="Arial"/>
                        <a:cs typeface="Arial"/>
                        <a:sym typeface="Arial"/>
                      </a:rPr>
                      <m:t>𝑉𝑎𝑟</m:t>
                    </m:r>
                    <m:d>
                      <m:dPr>
                        <m:ctrlPr>
                          <a:rPr lang="en-US" sz="2300" i="1" dirty="0">
                            <a:latin typeface="Cambria Math" panose="02040503050406030204" pitchFamily="18" charset="0"/>
                            <a:ea typeface="Arial"/>
                            <a:cs typeface="Arial"/>
                            <a:sym typeface="Arial"/>
                          </a:rPr>
                        </m:ctrlPr>
                      </m:dPr>
                      <m:e>
                        <m:r>
                          <a:rPr lang="en-US" sz="2300" i="1" dirty="0">
                            <a:latin typeface="Cambria Math" panose="02040503050406030204" pitchFamily="18" charset="0"/>
                            <a:ea typeface="Arial"/>
                            <a:cs typeface="Arial"/>
                            <a:sym typeface="Arial"/>
                          </a:rPr>
                          <m:t>𝑊</m:t>
                        </m:r>
                      </m:e>
                    </m:d>
                  </m:oMath>
                </a14:m>
                <a:r>
                  <a:rPr lang="en-US" sz="2300" dirty="0">
                    <a:latin typeface="Atkinson Hyperlegible Next"/>
                    <a:ea typeface="Arial"/>
                    <a:cs typeface="Arial"/>
                    <a:sym typeface="Arial"/>
                  </a:rPr>
                  <a:t> becomes the Process Noise Matrix </a:t>
                </a:r>
                <a14:m>
                  <m:oMath xmlns:m="http://schemas.openxmlformats.org/officeDocument/2006/math">
                    <m:r>
                      <a:rPr lang="en-US" sz="2300" i="1" dirty="0" smtClean="0">
                        <a:latin typeface="Cambria Math" panose="02040503050406030204" pitchFamily="18" charset="0"/>
                        <a:ea typeface="Arial"/>
                        <a:cs typeface="Arial"/>
                        <a:sym typeface="Arial"/>
                      </a:rPr>
                      <m:t>𝑄</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But how do we square a matrix to get the equivalent of </a:t>
                </a:r>
                <a14:m>
                  <m:oMath xmlns:m="http://schemas.openxmlformats.org/officeDocument/2006/math">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𝑎</m:t>
                        </m:r>
                      </m:e>
                      <m:sup>
                        <m:r>
                          <a:rPr lang="en-US" sz="2300" i="1" dirty="0" smtClean="0">
                            <a:latin typeface="Cambria Math" panose="02040503050406030204" pitchFamily="18" charset="0"/>
                            <a:ea typeface="Arial"/>
                            <a:cs typeface="Arial"/>
                            <a:sym typeface="Arial"/>
                          </a:rPr>
                          <m:t>2</m:t>
                        </m:r>
                      </m:sup>
                    </m:sSup>
                  </m:oMath>
                </a14:m>
                <a:r>
                  <a:rPr lang="en-US" sz="2300" dirty="0">
                    <a:latin typeface="Atkinson Hyperlegible Next"/>
                    <a:ea typeface="Arial"/>
                    <a:cs typeface="Arial"/>
                    <a:sym typeface="Arial"/>
                  </a:rPr>
                  <a:t>? We can't just write </a:t>
                </a:r>
                <a14:m>
                  <m:oMath xmlns:m="http://schemas.openxmlformats.org/officeDocument/2006/math">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𝐹</m:t>
                        </m:r>
                      </m:e>
                      <m:sup>
                        <m:r>
                          <a:rPr lang="en-US" sz="2300" i="1" dirty="0" smtClean="0">
                            <a:latin typeface="Cambria Math" panose="02040503050406030204" pitchFamily="18" charset="0"/>
                            <a:ea typeface="Arial"/>
                            <a:cs typeface="Arial"/>
                            <a:sym typeface="Arial"/>
                          </a:rPr>
                          <m:t>2</m:t>
                        </m:r>
                      </m:sup>
                    </m:sSup>
                  </m:oMath>
                </a14:m>
                <a:r>
                  <a:rPr lang="en-US" sz="23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024920CB-0467-20A1-AFCB-8E7BFC6939A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04EA7C8-CF95-8E49-E830-29DE3D44178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9B8E689-A0A1-04AF-0F6C-D863EE78F3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(22/39)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1A98E1A-F638-3A1E-85FC-71CC62575D1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A27A1F5-0CD8-27F7-16CF-09212B7524C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8141965-4ACE-2488-025E-00B33BDB1FC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FA56BB5-C90F-7ED3-DF10-A885B11232D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EEE12D5-33E4-4A05-47C1-D6004720399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D739886-C430-5F59-DD3B-8DA7EF2A6E8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07406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2667E1-5F67-0DB8-5C09-D06E398D47B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B0CE337-5050-8012-9C14-671998C8597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In linear algebra, the variance of a matrix transformation is derived using the transpose:</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𝐶𝑜𝑣</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𝐹𝑋</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𝐹𝑋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𝐹𝑋</m:t>
                                  </m:r>
                                </m:e>
                              </m:d>
                            </m:e>
                          </m:d>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𝐹𝑋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𝐹𝑋</m:t>
                                      </m:r>
                                    </m:e>
                                  </m:d>
                                </m:e>
                              </m:d>
                            </m:e>
                            <m:sup>
                              <m:r>
                                <a:rPr lang="en-US" sz="2300" i="1" dirty="0" smtClean="0">
                                  <a:latin typeface="Cambria Math" panose="02040503050406030204" pitchFamily="18" charset="0"/>
                                  <a:ea typeface="Arial"/>
                                  <a:cs typeface="Arial"/>
                                  <a:sym typeface="Arial"/>
                                </a:rPr>
                                <m:t>𝑇</m:t>
                              </m:r>
                            </m:sup>
                          </m:sSup>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𝐹</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𝐹</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e>
                              </m:d>
                            </m:e>
                            <m:sup>
                              <m:r>
                                <a:rPr lang="en-US" sz="2300" i="1" dirty="0" smtClean="0">
                                  <a:latin typeface="Cambria Math" panose="02040503050406030204" pitchFamily="18" charset="0"/>
                                  <a:ea typeface="Arial"/>
                                  <a:cs typeface="Arial"/>
                                  <a:sym typeface="Arial"/>
                                </a:rPr>
                                <m:t>𝑇</m:t>
                              </m:r>
                            </m:sup>
                          </m:sSup>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By the rules of matrix transposition </a:t>
                </a:r>
                <a14:m>
                  <m:oMath xmlns:m="http://schemas.openxmlformats.org/officeDocument/2006/math">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𝐴𝐵</m:t>
                            </m:r>
                          </m:e>
                        </m:d>
                      </m:e>
                      <m:sup>
                        <m:r>
                          <a:rPr lang="en-US" sz="2300" i="1" dirty="0" smtClean="0">
                            <a:latin typeface="Cambria Math" panose="02040503050406030204" pitchFamily="18" charset="0"/>
                            <a:ea typeface="Arial"/>
                            <a:cs typeface="Arial"/>
                            <a:sym typeface="Arial"/>
                          </a:rPr>
                          <m:t>𝑇</m:t>
                        </m:r>
                      </m:sup>
                    </m:sSup>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𝐵</m:t>
                        </m:r>
                      </m:e>
                      <m:sup>
                        <m:r>
                          <a:rPr lang="en-US" sz="2300" i="1" dirty="0" smtClean="0">
                            <a:latin typeface="Cambria Math" panose="02040503050406030204" pitchFamily="18" charset="0"/>
                            <a:ea typeface="Arial"/>
                            <a:cs typeface="Arial"/>
                            <a:sym typeface="Arial"/>
                          </a:rPr>
                          <m:t>𝑇</m:t>
                        </m:r>
                      </m:sup>
                    </m:sSup>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𝐴</m:t>
                        </m:r>
                      </m:e>
                      <m:sup>
                        <m:r>
                          <a:rPr lang="en-US" sz="2300" i="1" dirty="0" smtClean="0">
                            <a:latin typeface="Cambria Math" panose="02040503050406030204" pitchFamily="18" charset="0"/>
                            <a:ea typeface="Arial"/>
                            <a:cs typeface="Arial"/>
                            <a:sym typeface="Arial"/>
                          </a:rPr>
                          <m:t>𝑇</m:t>
                        </m:r>
                      </m:sup>
                    </m:sSup>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𝐸</m:t>
                      </m:r>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𝐹</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e>
                            <m:sup>
                              <m:r>
                                <a:rPr lang="en-US" sz="2300" i="1" dirty="0" smtClean="0">
                                  <a:latin typeface="Cambria Math" panose="02040503050406030204" pitchFamily="18" charset="0"/>
                                  <a:ea typeface="Arial"/>
                                  <a:cs typeface="Arial"/>
                                  <a:sym typeface="Arial"/>
                                </a:rPr>
                                <m:t>𝑇</m:t>
                              </m:r>
                            </m:sup>
                          </m:sSup>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𝐹</m:t>
                              </m:r>
                            </m:e>
                            <m:sup>
                              <m:r>
                                <a:rPr lang="en-US" sz="2300" i="1" dirty="0" smtClean="0">
                                  <a:latin typeface="Cambria Math" panose="02040503050406030204" pitchFamily="18" charset="0"/>
                                  <a:ea typeface="Arial"/>
                                  <a:cs typeface="Arial"/>
                                  <a:sym typeface="Arial"/>
                                </a:rPr>
                                <m:t>𝑇</m:t>
                              </m:r>
                            </m:sup>
                          </m:sSup>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pull the constant </a:t>
                </a:r>
                <a14:m>
                  <m:oMath xmlns:m="http://schemas.openxmlformats.org/officeDocument/2006/math">
                    <m:r>
                      <a:rPr lang="en-US" sz="2300" i="1" dirty="0">
                        <a:latin typeface="Cambria Math" panose="02040503050406030204" pitchFamily="18" charset="0"/>
                        <a:ea typeface="Arial"/>
                        <a:cs typeface="Arial"/>
                        <a:sym typeface="Arial"/>
                      </a:rPr>
                      <m:t>𝐹</m:t>
                    </m:r>
                  </m:oMath>
                </a14:m>
                <a:r>
                  <a:rPr lang="en-US" sz="2300" dirty="0">
                    <a:latin typeface="Atkinson Hyperlegible Next"/>
                    <a:ea typeface="Arial"/>
                    <a:cs typeface="Arial"/>
                    <a:sym typeface="Arial"/>
                  </a:rPr>
                  <a:t> matrices out of the Expectation:</a:t>
                </a:r>
                <a:endParaRPr lang="en-US" sz="23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𝐹𝐸</m:t>
                      </m:r>
                      <m:d>
                        <m:dPr>
                          <m:begChr m:val="["/>
                          <m:endChr m:val="]"/>
                          <m:ctrlPr>
                            <a:rPr lang="en-US" sz="2300" i="1" dirty="0" smtClean="0">
                              <a:latin typeface="Cambria Math" panose="02040503050406030204" pitchFamily="18" charset="0"/>
                              <a:ea typeface="Arial"/>
                              <a:cs typeface="Arial"/>
                              <a:sym typeface="Arial"/>
                            </a:rPr>
                          </m:ctrlPr>
                        </m:d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𝜇</m:t>
                                  </m:r>
                                </m:e>
                              </m:d>
                            </m:e>
                            <m:sup>
                              <m:r>
                                <a:rPr lang="en-US" sz="2300" i="1" dirty="0" smtClean="0">
                                  <a:latin typeface="Cambria Math" panose="02040503050406030204" pitchFamily="18" charset="0"/>
                                  <a:ea typeface="Arial"/>
                                  <a:cs typeface="Arial"/>
                                  <a:sym typeface="Arial"/>
                                </a:rPr>
                                <m:t>𝑇</m:t>
                              </m:r>
                            </m:sup>
                          </m:sSup>
                        </m:e>
                      </m:d>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𝐹</m:t>
                          </m:r>
                        </m:e>
                        <m:sup>
                          <m:r>
                            <a:rPr lang="en-US" sz="2300" i="1" dirty="0" smtClean="0">
                              <a:latin typeface="Cambria Math" panose="02040503050406030204" pitchFamily="18" charset="0"/>
                              <a:ea typeface="Arial"/>
                              <a:cs typeface="Arial"/>
                              <a:sym typeface="Arial"/>
                            </a:rPr>
                            <m:t>𝑇</m:t>
                          </m:r>
                        </m:sup>
                      </m:sSup>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𝐹𝑃</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𝐹</m:t>
                          </m:r>
                        </m:e>
                        <m:sup>
                          <m:r>
                            <a:rPr lang="en-US" sz="2300" i="1" dirty="0" smtClean="0">
                              <a:latin typeface="Cambria Math" panose="02040503050406030204" pitchFamily="18" charset="0"/>
                              <a:ea typeface="Arial"/>
                              <a:cs typeface="Arial"/>
                              <a:sym typeface="Arial"/>
                            </a:rPr>
                            <m:t>𝑇</m:t>
                          </m:r>
                        </m:sup>
                      </m:sSup>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Adding our noise matrix </a:t>
                </a:r>
                <a14:m>
                  <m:oMath xmlns:m="http://schemas.openxmlformats.org/officeDocument/2006/math">
                    <m:r>
                      <a:rPr lang="en-US" sz="2300" i="1" dirty="0" smtClean="0">
                        <a:latin typeface="Cambria Math" panose="02040503050406030204" pitchFamily="18" charset="0"/>
                        <a:ea typeface="Arial"/>
                        <a:cs typeface="Arial"/>
                        <a:sym typeface="Arial"/>
                      </a:rPr>
                      <m:t>𝑄</m:t>
                    </m:r>
                  </m:oMath>
                </a14:m>
                <a:r>
                  <a:rPr lang="en-US" sz="2300" dirty="0">
                    <a:latin typeface="Atkinson Hyperlegible Next"/>
                    <a:ea typeface="Arial"/>
                    <a:cs typeface="Arial"/>
                    <a:sym typeface="Arial"/>
                  </a:rPr>
                  <a:t>, we get our final prediction: </a:t>
                </a:r>
                <a14:m>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smtClean="0">
                            <a:latin typeface="Cambria Math" panose="02040503050406030204" pitchFamily="18" charset="0"/>
                            <a:ea typeface="Arial"/>
                            <a:cs typeface="Arial"/>
                            <a:sym typeface="Arial"/>
                          </a:rPr>
                          <m:t>𝑛𝑒𝑤</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𝐹𝑃</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𝐹</m:t>
                        </m:r>
                      </m:e>
                      <m:sup>
                        <m:r>
                          <a:rPr lang="en-US" sz="2300" i="1" dirty="0" smtClean="0">
                            <a:latin typeface="Cambria Math" panose="02040503050406030204" pitchFamily="18" charset="0"/>
                            <a:ea typeface="Arial"/>
                            <a:cs typeface="Arial"/>
                            <a:sym typeface="Arial"/>
                          </a:rPr>
                          <m:t>𝑇</m:t>
                        </m:r>
                      </m:sup>
                    </m:sSup>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𝑄</m:t>
                    </m:r>
                  </m:oMath>
                </a14:m>
                <a:r>
                  <a:rPr lang="en-US" sz="23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3B0CE337-5050-8012-9C14-671998C8597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b="-290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204EB41-99D2-CB91-1D37-E46749CD5D6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19BE1EE-B9AA-5E6A-F60B-C6EA7E0E6A4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(23/39)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3C5DF78-BDE1-1A56-16A7-F8AE22EAB95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1B89505-CDA3-4401-1E4D-2693F070747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33D6E1E-2E62-DEB3-5B7E-AC24130879B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D17DEB8-70F4-3A64-38DF-9A99EFCC9D8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B94B319-24C4-3EF1-B583-15D6241A6B6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D25237A-482F-6977-C5F2-1115686A8E2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7763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3EC627B-6F9F-1879-29D8-4BB941F3099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BFF4C25-583E-847E-B3A1-D0F989ABB9A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The multi-dimensional </a:t>
                </a:r>
                <a:r>
                  <a:rPr lang="en-US" sz="2300" b="1" dirty="0">
                    <a:latin typeface="Atkinson Hyperlegible Next"/>
                    <a:ea typeface="Arial"/>
                    <a:cs typeface="Arial"/>
                    <a:sym typeface="Arial"/>
                  </a:rPr>
                  <a:t>Prediction </a:t>
                </a:r>
                <a:r>
                  <a:rPr lang="en-US" sz="2300" dirty="0">
                    <a:latin typeface="Atkinson Hyperlegible Next"/>
                    <a:ea typeface="Arial"/>
                    <a:cs typeface="Arial"/>
                    <a:sym typeface="Arial"/>
                  </a:rPr>
                  <a:t>step is thus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6000" i="1" dirty="0">
                              <a:latin typeface="Cambria Math" panose="02040503050406030204" pitchFamily="18" charset="0"/>
                              <a:ea typeface="Arial"/>
                              <a:cs typeface="Arial"/>
                              <a:sym typeface="Arial"/>
                            </a:rPr>
                          </m:ctrlPr>
                        </m:sSubPr>
                        <m:e>
                          <m:r>
                            <a:rPr lang="en-US" sz="6000" i="1" dirty="0">
                              <a:latin typeface="Cambria Math" panose="02040503050406030204" pitchFamily="18" charset="0"/>
                              <a:ea typeface="Arial"/>
                              <a:cs typeface="Arial"/>
                              <a:sym typeface="Arial"/>
                            </a:rPr>
                            <m:t>𝑥</m:t>
                          </m:r>
                        </m:e>
                        <m:sub>
                          <m:r>
                            <a:rPr lang="en-US" sz="6000" i="1" dirty="0" smtClean="0">
                              <a:latin typeface="Cambria Math" panose="02040503050406030204" pitchFamily="18" charset="0"/>
                              <a:ea typeface="Arial"/>
                              <a:cs typeface="Arial"/>
                              <a:sym typeface="Arial"/>
                            </a:rPr>
                            <m:t>𝑘</m:t>
                          </m:r>
                          <m:r>
                            <a:rPr lang="en-US" sz="6000" i="1" dirty="0" smtClean="0">
                              <a:latin typeface="Cambria Math" panose="02040503050406030204" pitchFamily="18" charset="0"/>
                              <a:ea typeface="Arial"/>
                              <a:cs typeface="Arial"/>
                              <a:sym typeface="Arial"/>
                            </a:rPr>
                            <m:t>|</m:t>
                          </m:r>
                          <m:r>
                            <a:rPr lang="en-US" sz="6000" i="1" dirty="0" smtClean="0">
                              <a:latin typeface="Cambria Math" panose="02040503050406030204" pitchFamily="18" charset="0"/>
                              <a:ea typeface="Arial"/>
                              <a:cs typeface="Arial"/>
                              <a:sym typeface="Arial"/>
                            </a:rPr>
                            <m:t>𝑘</m:t>
                          </m:r>
                          <m:r>
                            <a:rPr lang="en-US" sz="6000" i="1" dirty="0" smtClean="0">
                              <a:latin typeface="Cambria Math" panose="02040503050406030204" pitchFamily="18" charset="0"/>
                              <a:ea typeface="Arial"/>
                              <a:cs typeface="Arial"/>
                              <a:sym typeface="Arial"/>
                            </a:rPr>
                            <m:t>−1</m:t>
                          </m:r>
                        </m:sub>
                      </m:sSub>
                      <m:r>
                        <a:rPr lang="en-US" sz="6000" i="1" dirty="0">
                          <a:latin typeface="Cambria Math" panose="02040503050406030204" pitchFamily="18" charset="0"/>
                          <a:ea typeface="Arial"/>
                          <a:cs typeface="Arial"/>
                          <a:sym typeface="Arial"/>
                        </a:rPr>
                        <m:t>=</m:t>
                      </m:r>
                      <m:r>
                        <a:rPr lang="en-US" sz="6000" i="1" dirty="0">
                          <a:latin typeface="Cambria Math" panose="02040503050406030204" pitchFamily="18" charset="0"/>
                          <a:ea typeface="Arial"/>
                          <a:cs typeface="Arial"/>
                          <a:sym typeface="Arial"/>
                        </a:rPr>
                        <m:t>𝐹</m:t>
                      </m:r>
                      <m:sSub>
                        <m:sSubPr>
                          <m:ctrlPr>
                            <a:rPr lang="en-US" sz="6000" i="1" dirty="0">
                              <a:latin typeface="Cambria Math" panose="02040503050406030204" pitchFamily="18" charset="0"/>
                              <a:ea typeface="Arial"/>
                              <a:cs typeface="Arial"/>
                              <a:sym typeface="Arial"/>
                            </a:rPr>
                          </m:ctrlPr>
                        </m:sSubPr>
                        <m:e>
                          <m:r>
                            <a:rPr lang="en-US" sz="6000" i="1" dirty="0">
                              <a:latin typeface="Cambria Math" panose="02040503050406030204" pitchFamily="18" charset="0"/>
                              <a:ea typeface="Arial"/>
                              <a:cs typeface="Arial"/>
                              <a:sym typeface="Arial"/>
                            </a:rPr>
                            <m:t>𝑥</m:t>
                          </m:r>
                        </m:e>
                        <m:sub>
                          <m:r>
                            <a:rPr lang="en-US" sz="6000" i="1" dirty="0">
                              <a:latin typeface="Cambria Math" panose="02040503050406030204" pitchFamily="18" charset="0"/>
                              <a:ea typeface="Arial"/>
                              <a:cs typeface="Arial"/>
                              <a:sym typeface="Arial"/>
                            </a:rPr>
                            <m:t>𝑘</m:t>
                          </m:r>
                          <m:r>
                            <a:rPr lang="en-US" sz="6000" i="1" dirty="0">
                              <a:latin typeface="Cambria Math" panose="02040503050406030204" pitchFamily="18" charset="0"/>
                              <a:ea typeface="Arial"/>
                              <a:cs typeface="Arial"/>
                              <a:sym typeface="Arial"/>
                            </a:rPr>
                            <m:t>−1|</m:t>
                          </m:r>
                          <m:r>
                            <a:rPr lang="en-US" sz="6000" i="1" dirty="0">
                              <a:latin typeface="Cambria Math" panose="02040503050406030204" pitchFamily="18" charset="0"/>
                              <a:ea typeface="Arial"/>
                              <a:cs typeface="Arial"/>
                              <a:sym typeface="Arial"/>
                            </a:rPr>
                            <m:t>𝑘</m:t>
                          </m:r>
                          <m:r>
                            <a:rPr lang="en-US" sz="6000" i="1" dirty="0">
                              <a:latin typeface="Cambria Math" panose="02040503050406030204" pitchFamily="18" charset="0"/>
                              <a:ea typeface="Arial"/>
                              <a:cs typeface="Arial"/>
                              <a:sym typeface="Arial"/>
                            </a:rPr>
                            <m:t>−1</m:t>
                          </m:r>
                        </m:sub>
                      </m:sSub>
                      <m:r>
                        <a:rPr lang="en-US" sz="6000" i="1" dirty="0">
                          <a:latin typeface="Cambria Math" panose="02040503050406030204" pitchFamily="18" charset="0"/>
                          <a:ea typeface="Arial"/>
                          <a:cs typeface="Arial"/>
                          <a:sym typeface="Arial"/>
                        </a:rPr>
                        <m:t>+</m:t>
                      </m:r>
                      <m:r>
                        <a:rPr lang="en-US" sz="6000" i="1" dirty="0">
                          <a:latin typeface="Cambria Math" panose="02040503050406030204" pitchFamily="18" charset="0"/>
                          <a:ea typeface="Arial"/>
                          <a:cs typeface="Arial"/>
                          <a:sym typeface="Arial"/>
                        </a:rPr>
                        <m:t>𝐵</m:t>
                      </m:r>
                      <m:sSub>
                        <m:sSubPr>
                          <m:ctrlPr>
                            <a:rPr lang="en-US" sz="6000" i="1" dirty="0" err="1">
                              <a:latin typeface="Cambria Math" panose="02040503050406030204" pitchFamily="18" charset="0"/>
                              <a:ea typeface="Arial"/>
                              <a:cs typeface="Arial"/>
                              <a:sym typeface="Arial"/>
                            </a:rPr>
                          </m:ctrlPr>
                        </m:sSubPr>
                        <m:e>
                          <m:r>
                            <a:rPr lang="en-US" sz="6000" i="1" dirty="0" err="1">
                              <a:latin typeface="Cambria Math" panose="02040503050406030204" pitchFamily="18" charset="0"/>
                              <a:ea typeface="Arial"/>
                              <a:cs typeface="Arial"/>
                              <a:sym typeface="Arial"/>
                            </a:rPr>
                            <m:t>𝑢</m:t>
                          </m:r>
                        </m:e>
                        <m:sub>
                          <m:r>
                            <a:rPr lang="en-US" sz="6000" i="1" dirty="0" err="1">
                              <a:latin typeface="Cambria Math" panose="02040503050406030204" pitchFamily="18" charset="0"/>
                              <a:ea typeface="Arial"/>
                              <a:cs typeface="Arial"/>
                              <a:sym typeface="Arial"/>
                            </a:rPr>
                            <m:t>𝑘</m:t>
                          </m:r>
                        </m:sub>
                      </m:sSub>
                    </m:oMath>
                  </m:oMathPara>
                </a14:m>
                <a:endParaRPr lang="en-US" sz="6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6000" i="1" dirty="0">
                          <a:latin typeface="Cambria Math" panose="02040503050406030204" pitchFamily="18" charset="0"/>
                          <a:ea typeface="Arial"/>
                          <a:cs typeface="Arial"/>
                          <a:sym typeface="Arial"/>
                        </a:rPr>
                        <m:t>𝑃</m:t>
                      </m:r>
                      <m:r>
                        <a:rPr lang="en-US" sz="6000" i="1" dirty="0">
                          <a:latin typeface="Cambria Math" panose="02040503050406030204" pitchFamily="18" charset="0"/>
                          <a:ea typeface="Arial"/>
                          <a:cs typeface="Arial"/>
                          <a:sym typeface="Arial"/>
                        </a:rPr>
                        <m:t> =</m:t>
                      </m:r>
                      <m:r>
                        <a:rPr lang="en-US" sz="6000" i="1" dirty="0" smtClean="0">
                          <a:latin typeface="Cambria Math" panose="02040503050406030204" pitchFamily="18" charset="0"/>
                          <a:ea typeface="Arial"/>
                          <a:cs typeface="Arial"/>
                          <a:sym typeface="Arial"/>
                        </a:rPr>
                        <m:t>𝐹𝑃</m:t>
                      </m:r>
                      <m:sSup>
                        <m:sSupPr>
                          <m:ctrlPr>
                            <a:rPr lang="en-US" sz="6000" i="1" dirty="0" smtClean="0">
                              <a:latin typeface="Cambria Math" panose="02040503050406030204" pitchFamily="18" charset="0"/>
                              <a:ea typeface="Arial"/>
                              <a:cs typeface="Arial"/>
                              <a:sym typeface="Arial"/>
                            </a:rPr>
                          </m:ctrlPr>
                        </m:sSupPr>
                        <m:e>
                          <m:r>
                            <a:rPr lang="en-US" sz="6000" i="1" dirty="0" smtClean="0">
                              <a:latin typeface="Cambria Math" panose="02040503050406030204" pitchFamily="18" charset="0"/>
                              <a:ea typeface="Arial"/>
                              <a:cs typeface="Arial"/>
                              <a:sym typeface="Arial"/>
                            </a:rPr>
                            <m:t>𝐹</m:t>
                          </m:r>
                        </m:e>
                        <m:sup>
                          <m:r>
                            <a:rPr lang="en-US" sz="6000" i="1" dirty="0" smtClean="0">
                              <a:latin typeface="Cambria Math" panose="02040503050406030204" pitchFamily="18" charset="0"/>
                              <a:ea typeface="Arial"/>
                              <a:cs typeface="Arial"/>
                              <a:sym typeface="Arial"/>
                            </a:rPr>
                            <m:t>𝑇</m:t>
                          </m:r>
                        </m:sup>
                      </m:sSup>
                      <m:r>
                        <a:rPr lang="en-US" sz="6000" i="1" dirty="0" smtClean="0">
                          <a:latin typeface="Cambria Math" panose="02040503050406030204" pitchFamily="18" charset="0"/>
                          <a:ea typeface="Arial"/>
                          <a:cs typeface="Arial"/>
                          <a:sym typeface="Arial"/>
                        </a:rPr>
                        <m:t>+</m:t>
                      </m:r>
                      <m:r>
                        <a:rPr lang="en-US" sz="6000" i="1" dirty="0" smtClean="0">
                          <a:latin typeface="Cambria Math" panose="02040503050406030204" pitchFamily="18" charset="0"/>
                          <a:ea typeface="Arial"/>
                          <a:cs typeface="Arial"/>
                          <a:sym typeface="Arial"/>
                        </a:rPr>
                        <m:t>𝑄</m:t>
                      </m:r>
                    </m:oMath>
                  </m:oMathPara>
                </a14:m>
                <a:endParaRPr lang="en-US" sz="6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BFF4C25-583E-847E-B3A1-D0F989ABB9A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198E611-10C8-21CF-4EA9-DDC28F1D015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1E09A62-1204-9FD4-2553-E556C05F120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(24/39)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B553397-F743-290A-586E-9BB98759BF4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67CCE68-1474-75D6-2926-91DDC61E8AA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ED18B47-DEA2-374D-ADF7-A1FD301054D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0BEBF4E-3F5B-FB79-08A6-D3AC3D363D1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2DDBE37-C00A-D436-0498-9E66BA3148E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909C9F6-BBF7-D591-B9D3-565919F5EF8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5459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DF69A64A-19C9-08C8-DDE3-FE66D1FF284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74C295F-96BD-4918-1F74-AC997FBBA191}"/>
              </a:ext>
            </a:extLst>
          </p:cNvPr>
          <p:cNvGrpSpPr/>
          <p:nvPr/>
        </p:nvGrpSpPr>
        <p:grpSpPr>
          <a:xfrm>
            <a:off x="2206906" y="2296815"/>
            <a:ext cx="7778187" cy="1508744"/>
            <a:chOff x="2206906" y="1491040"/>
            <a:chExt cx="7778187" cy="1508744"/>
          </a:xfrm>
        </p:grpSpPr>
        <p:sp>
          <p:nvSpPr>
            <p:cNvPr id="89" name="Google Shape;89;p27">
              <a:extLst>
                <a:ext uri="{FF2B5EF4-FFF2-40B4-BE49-F238E27FC236}">
                  <a16:creationId xmlns:a16="http://schemas.microsoft.com/office/drawing/2014/main" id="{96BC45DC-6C69-AC7A-66D2-F56524700FF7}"/>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Update (2/3)</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E18FC36B-1E6B-C96B-92B2-1595EE1DF040}"/>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B8D16E4-7B13-FB08-E11E-10C7E38A7270}"/>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115E0878-88D7-E8A2-830B-BD8AE32E955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F4B8701E-01D1-C11B-28C7-67A99241B3B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B4FE3106-A569-BA6B-AC5B-10392AD8E3C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C2F044D1-C0E1-25BC-D2D0-C870ACFE53E5}"/>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DD693D82-9BD4-24F3-BC33-DD1CA4926C6E}"/>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DCFABB74-8B08-B3E4-E3FF-405B5A804F02}"/>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2768076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8E5D3BB-280E-F770-9958-7B688FC873A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B6CE28F-1534-871A-9628-A954D34C7C6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We’ve successfully predicted our new position, but our uncertainty (</a:t>
                </a:r>
                <a14:m>
                  <m:oMath xmlns:m="http://schemas.openxmlformats.org/officeDocument/2006/math">
                    <m:r>
                      <a:rPr lang="en-US" sz="2300" i="1" dirty="0" smtClean="0">
                        <a:latin typeface="Cambria Math" panose="02040503050406030204" pitchFamily="18" charset="0"/>
                        <a:ea typeface="Arial"/>
                        <a:cs typeface="Arial"/>
                        <a:sym typeface="Arial"/>
                      </a:rPr>
                      <m:t>𝑃</m:t>
                    </m:r>
                  </m:oMath>
                </a14:m>
                <a:r>
                  <a:rPr lang="en-US" sz="2300" dirty="0">
                    <a:latin typeface="Atkinson Hyperlegible Next"/>
                    <a:ea typeface="Arial"/>
                    <a:cs typeface="Arial"/>
                    <a:sym typeface="Arial"/>
                  </a:rPr>
                  <a:t>) has grown.</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Now, our sensor (e.g., LiDAR) provides a new measurement (</a:t>
                </a:r>
                <a14:m>
                  <m:oMath xmlns:m="http://schemas.openxmlformats.org/officeDocument/2006/math">
                    <m:r>
                      <a:rPr lang="en-US" sz="2300" i="1" dirty="0" smtClean="0">
                        <a:latin typeface="Cambria Math" panose="02040503050406030204" pitchFamily="18" charset="0"/>
                        <a:ea typeface="Arial"/>
                        <a:cs typeface="Arial"/>
                        <a:sym typeface="Arial"/>
                      </a:rPr>
                      <m:t>𝑧</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have two imperfect guesses for our position: our prediction and our sensor. How do we fuse them? Think of a </a:t>
                </a:r>
                <a:r>
                  <a:rPr lang="en-US" sz="2300" b="1" dirty="0">
                    <a:latin typeface="Atkinson Hyperlegible Next"/>
                    <a:ea typeface="Arial"/>
                    <a:cs typeface="Arial"/>
                    <a:sym typeface="Arial"/>
                  </a:rPr>
                  <a:t>Weighted Average</a:t>
                </a:r>
                <a:r>
                  <a:rPr lang="en-US" sz="2300" dirty="0">
                    <a:latin typeface="Atkinson Hyperlegible Next"/>
                    <a:ea typeface="Arial"/>
                    <a:cs typeface="Arial"/>
                    <a:sym typeface="Arial"/>
                  </a:rPr>
                  <a:t>. If you and an expert both guess the weight of a robot, you don't just average the two numbers.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You give more weight to the expert.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𝐸𝑠𝑡𝑖𝑚𝑎𝑡𝑒</m:t>
                      </m:r>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𝑊</m:t>
                          </m:r>
                        </m:e>
                        <m:sub>
                          <m:r>
                            <a:rPr lang="en-US" sz="2300" i="1" dirty="0" smtClean="0">
                              <a:latin typeface="Cambria Math" panose="02040503050406030204" pitchFamily="18" charset="0"/>
                              <a:ea typeface="Arial"/>
                              <a:cs typeface="Arial"/>
                              <a:sym typeface="Arial"/>
                            </a:rPr>
                            <m:t>𝑚𝑜𝑑𝑒𝑙</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𝑃𝑟𝑒𝑑𝑖𝑐𝑡𝑖𝑜𝑛</m:t>
                      </m:r>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𝑊</m:t>
                          </m:r>
                        </m:e>
                        <m:sub>
                          <m:r>
                            <a:rPr lang="en-US" sz="2300" i="1" dirty="0" smtClean="0">
                              <a:latin typeface="Cambria Math" panose="02040503050406030204" pitchFamily="18" charset="0"/>
                              <a:ea typeface="Arial"/>
                              <a:cs typeface="Arial"/>
                              <a:sym typeface="Arial"/>
                            </a:rPr>
                            <m:t>𝑠𝑒𝑛𝑠𝑜𝑟</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𝑀𝑒𝑎𝑠𝑢𝑟𝑒𝑚𝑒𝑛𝑡</m:t>
                      </m:r>
                    </m:oMath>
                  </m:oMathPara>
                </a14:m>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CB6CE28F-1534-871A-9628-A954D34C7C6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9F487B5-ACFA-2081-4072-44F50F0AE20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51BD0F7-D1DE-D5FA-9091-EDC8632AD66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(25/39)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4871D5E-C47B-9363-5497-9891AB08EBB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F2867A2-B064-5FA8-1DA4-A1DF25F10A2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0B94D61-43CD-18B1-64CF-67BD449C64C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E2AD41B-5803-CB75-1F76-8283E0AB19B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56398C4-4C01-C859-9ABE-D55A66CCAD0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59644D6-A071-4A41-1301-00473DDBA79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66959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8CCF289-5619-5F94-9267-60F71C15792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520CE7A-FBDA-B270-0701-E76646C666B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Again, for 1D the equation is: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𝜇</m:t>
                          </m:r>
                        </m:e>
                        <m:sub>
                          <m:r>
                            <a:rPr lang="en-US" sz="2300" i="1">
                              <a:latin typeface="Cambria Math" panose="02040503050406030204" pitchFamily="18" charset="0"/>
                              <a:cs typeface="Arial"/>
                              <a:sym typeface="Arial"/>
                            </a:rPr>
                            <m:t>𝑛𝑒𝑤</m:t>
                          </m:r>
                        </m:sub>
                      </m:sSub>
                      <m:r>
                        <a:rPr lang="en-US" sz="2300" i="1">
                          <a:latin typeface="Cambria Math" panose="02040503050406030204" pitchFamily="18" charset="0"/>
                          <a:cs typeface="Arial"/>
                          <a:sym typeface="Arial"/>
                        </a:rPr>
                        <m:t>=</m:t>
                      </m:r>
                      <m:sSub>
                        <m:sSubPr>
                          <m:ctrlPr>
                            <a:rPr lang="en-US" sz="2300" i="1">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𝜇</m:t>
                          </m:r>
                        </m:e>
                        <m:sub>
                          <m:r>
                            <a:rPr lang="en-US" sz="2300" i="1">
                              <a:latin typeface="Cambria Math" panose="02040503050406030204" pitchFamily="18" charset="0"/>
                              <a:cs typeface="Arial"/>
                              <a:sym typeface="Arial"/>
                            </a:rPr>
                            <m:t>𝑝𝑟𝑒𝑑</m:t>
                          </m:r>
                        </m:sub>
                      </m:sSub>
                      <m:r>
                        <a:rPr lang="en-US" sz="2300" i="1">
                          <a:latin typeface="Cambria Math" panose="02040503050406030204" pitchFamily="18" charset="0"/>
                          <a:cs typeface="Arial"/>
                          <a:sym typeface="Arial"/>
                        </a:rPr>
                        <m:t>+</m:t>
                      </m:r>
                      <m:r>
                        <a:rPr lang="en-US" sz="2300" i="1">
                          <a:latin typeface="Cambria Math" panose="02040503050406030204" pitchFamily="18" charset="0"/>
                          <a:cs typeface="Arial"/>
                          <a:sym typeface="Arial"/>
                        </a:rPr>
                        <m:t>𝐾</m:t>
                      </m:r>
                      <m:d>
                        <m:dPr>
                          <m:ctrlPr>
                            <a:rPr lang="en-US" sz="2300" i="1">
                              <a:latin typeface="Cambria Math" panose="02040503050406030204" pitchFamily="18" charset="0"/>
                              <a:cs typeface="Arial"/>
                              <a:sym typeface="Arial"/>
                            </a:rPr>
                          </m:ctrlPr>
                        </m:dPr>
                        <m:e>
                          <m:r>
                            <a:rPr lang="en-US" sz="2300" i="1">
                              <a:latin typeface="Cambria Math" panose="02040503050406030204" pitchFamily="18" charset="0"/>
                              <a:cs typeface="Arial"/>
                              <a:sym typeface="Arial"/>
                            </a:rPr>
                            <m:t>𝑧</m:t>
                          </m:r>
                          <m:r>
                            <a:rPr lang="en-US" sz="2300" i="1">
                              <a:latin typeface="Cambria Math" panose="02040503050406030204" pitchFamily="18" charset="0"/>
                              <a:cs typeface="Arial"/>
                              <a:sym typeface="Arial"/>
                            </a:rPr>
                            <m:t>−</m:t>
                          </m:r>
                          <m:sSub>
                            <m:sSubPr>
                              <m:ctrlPr>
                                <a:rPr lang="en-US" sz="2300" i="1">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𝜇</m:t>
                              </m:r>
                            </m:e>
                            <m:sub>
                              <m:r>
                                <a:rPr lang="en-US" sz="2300" i="1">
                                  <a:latin typeface="Cambria Math" panose="02040503050406030204" pitchFamily="18" charset="0"/>
                                  <a:cs typeface="Arial"/>
                                  <a:sym typeface="Arial"/>
                                </a:rPr>
                                <m:t>𝑝𝑟𝑒𝑑</m:t>
                              </m:r>
                            </m:sub>
                          </m:sSub>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Where we have: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smtClean="0">
                          <a:latin typeface="Cambria Math" panose="02040503050406030204" pitchFamily="18" charset="0"/>
                          <a:cs typeface="Arial"/>
                          <a:sym typeface="Arial"/>
                        </a:rPr>
                        <m:t>𝐾</m:t>
                      </m:r>
                      <m:r>
                        <a:rPr lang="en-US" sz="2300" i="1" smtClean="0">
                          <a:latin typeface="Cambria Math" panose="02040503050406030204" pitchFamily="18" charset="0"/>
                          <a:cs typeface="Arial"/>
                          <a:sym typeface="Arial"/>
                        </a:rPr>
                        <m:t>=</m:t>
                      </m:r>
                      <m:f>
                        <m:fPr>
                          <m:ctrlPr>
                            <a:rPr lang="en-US" sz="2300" i="1">
                              <a:latin typeface="Cambria Math" panose="02040503050406030204" pitchFamily="18" charset="0"/>
                              <a:cs typeface="Arial"/>
                              <a:sym typeface="Arial"/>
                            </a:rPr>
                          </m:ctrlPr>
                        </m:fPr>
                        <m:num>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𝑝𝑟𝑒𝑑</m:t>
                              </m:r>
                            </m:sub>
                            <m:sup>
                              <m:r>
                                <a:rPr lang="en-US" sz="2300" i="1">
                                  <a:latin typeface="Cambria Math" panose="02040503050406030204" pitchFamily="18" charset="0"/>
                                  <a:cs typeface="Arial"/>
                                  <a:sym typeface="Arial"/>
                                </a:rPr>
                                <m:t>2</m:t>
                              </m:r>
                            </m:sup>
                          </m:sSubSup>
                        </m:num>
                        <m:den>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𝑝𝑟𝑒𝑑</m:t>
                              </m:r>
                            </m:sub>
                            <m:sup>
                              <m:r>
                                <a:rPr lang="en-US" sz="2300" i="1">
                                  <a:latin typeface="Cambria Math" panose="02040503050406030204" pitchFamily="18" charset="0"/>
                                  <a:cs typeface="Arial"/>
                                  <a:sym typeface="Arial"/>
                                </a:rPr>
                                <m:t>2</m:t>
                              </m:r>
                            </m:sup>
                          </m:sSubSup>
                          <m:r>
                            <a:rPr lang="en-US" sz="2300" i="1">
                              <a:latin typeface="Cambria Math" panose="02040503050406030204" pitchFamily="18" charset="0"/>
                              <a:cs typeface="Arial"/>
                              <a:sym typeface="Arial"/>
                            </a:rPr>
                            <m:t>+</m:t>
                          </m:r>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𝑠𝑒𝑛𝑠𝑜𝑟</m:t>
                              </m:r>
                            </m:sub>
                            <m:sup>
                              <m:r>
                                <a:rPr lang="en-US" sz="2300" i="1">
                                  <a:latin typeface="Cambria Math" panose="02040503050406030204" pitchFamily="18" charset="0"/>
                                  <a:cs typeface="Arial"/>
                                  <a:sym typeface="Arial"/>
                                </a:rPr>
                                <m:t>2</m:t>
                              </m:r>
                            </m:sup>
                          </m:sSubSup>
                        </m:den>
                      </m:f>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If our sensor is perfect (</a:t>
                </a:r>
                <a14:m>
                  <m:oMath xmlns:m="http://schemas.openxmlformats.org/officeDocument/2006/math">
                    <m:sSubSup>
                      <m:sSubSupPr>
                        <m:ctrlPr>
                          <a:rPr lang="en-US" sz="2300" i="1" dirty="0" smtClean="0">
                            <a:latin typeface="Cambria Math" panose="02040503050406030204" pitchFamily="18" charset="0"/>
                            <a:ea typeface="Arial"/>
                            <a:cs typeface="Arial"/>
                            <a:sym typeface="Arial"/>
                          </a:rPr>
                        </m:ctrlPr>
                      </m:sSubSupPr>
                      <m:e>
                        <m:r>
                          <a:rPr lang="en-US" sz="2300" i="1" dirty="0" smtClean="0">
                            <a:latin typeface="Cambria Math" panose="02040503050406030204" pitchFamily="18" charset="0"/>
                            <a:ea typeface="Arial"/>
                            <a:cs typeface="Arial"/>
                            <a:sym typeface="Arial"/>
                          </a:rPr>
                          <m:t>𝜎</m:t>
                        </m:r>
                      </m:e>
                      <m:sub>
                        <m:r>
                          <a:rPr lang="en-US" sz="2300" i="1" dirty="0" smtClean="0">
                            <a:latin typeface="Cambria Math" panose="02040503050406030204" pitchFamily="18" charset="0"/>
                            <a:ea typeface="Arial"/>
                            <a:cs typeface="Arial"/>
                            <a:sym typeface="Arial"/>
                          </a:rPr>
                          <m:t>𝑠𝑒𝑛𝑠𝑜𝑟</m:t>
                        </m:r>
                      </m:sub>
                      <m:sup>
                        <m:r>
                          <a:rPr lang="en-US" sz="2300" i="1" dirty="0" smtClean="0">
                            <a:latin typeface="Cambria Math" panose="02040503050406030204" pitchFamily="18" charset="0"/>
                            <a:ea typeface="Arial"/>
                            <a:cs typeface="Arial"/>
                            <a:sym typeface="Arial"/>
                          </a:rPr>
                          <m:t>2</m:t>
                        </m:r>
                      </m:sup>
                    </m:sSubSup>
                    <m:r>
                      <a:rPr lang="en-US" sz="2300" i="1" dirty="0" smtClean="0">
                        <a:latin typeface="Cambria Math" panose="02040503050406030204" pitchFamily="18" charset="0"/>
                        <a:ea typeface="Arial"/>
                        <a:cs typeface="Arial"/>
                        <a:sym typeface="Arial"/>
                      </a:rPr>
                      <m:t>=0</m:t>
                    </m:r>
                  </m:oMath>
                </a14:m>
                <a:r>
                  <a:rPr lang="en-US" sz="2300" dirty="0">
                    <a:latin typeface="Atkinson Hyperlegible Next"/>
                    <a:ea typeface="Arial"/>
                    <a:cs typeface="Arial"/>
                    <a:sym typeface="Arial"/>
                  </a:rPr>
                  <a:t>), what does </a:t>
                </a:r>
                <a14:m>
                  <m:oMath xmlns:m="http://schemas.openxmlformats.org/officeDocument/2006/math">
                    <m:r>
                      <a:rPr lang="en-US" sz="2300" i="1" dirty="0" smtClean="0">
                        <a:latin typeface="Cambria Math" panose="02040503050406030204" pitchFamily="18" charset="0"/>
                        <a:ea typeface="Arial"/>
                        <a:cs typeface="Arial"/>
                        <a:sym typeface="Arial"/>
                      </a:rPr>
                      <m:t>𝐾</m:t>
                    </m:r>
                  </m:oMath>
                </a14:m>
                <a:r>
                  <a:rPr lang="en-US" sz="2300" dirty="0">
                    <a:latin typeface="Atkinson Hyperlegible Next"/>
                    <a:ea typeface="Arial"/>
                    <a:cs typeface="Arial"/>
                    <a:sym typeface="Arial"/>
                  </a:rPr>
                  <a:t> become, and what happens to </a:t>
                </a:r>
                <a14:m>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𝜇</m:t>
                        </m:r>
                      </m:e>
                      <m:sub>
                        <m:r>
                          <a:rPr lang="en-US" sz="2300" i="1" dirty="0" smtClean="0">
                            <a:latin typeface="Cambria Math" panose="02040503050406030204" pitchFamily="18" charset="0"/>
                            <a:ea typeface="Arial"/>
                            <a:cs typeface="Arial"/>
                            <a:sym typeface="Arial"/>
                          </a:rPr>
                          <m:t>𝑛𝑒𝑤</m:t>
                        </m:r>
                      </m:sub>
                    </m:sSub>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a:rPr lang="en-US" sz="2300" i="1" dirty="0" smtClean="0">
                        <a:latin typeface="Cambria Math" panose="02040503050406030204" pitchFamily="18" charset="0"/>
                        <a:ea typeface="Arial"/>
                        <a:cs typeface="Arial"/>
                        <a:sym typeface="Arial"/>
                      </a:rPr>
                      <m:t>𝐾</m:t>
                    </m:r>
                    <m:r>
                      <a:rPr lang="en-US" sz="2300" i="1" dirty="0" smtClean="0">
                        <a:latin typeface="Cambria Math" panose="02040503050406030204" pitchFamily="18" charset="0"/>
                        <a:ea typeface="Arial"/>
                        <a:cs typeface="Arial"/>
                        <a:sym typeface="Arial"/>
                      </a:rPr>
                      <m:t> = 1</m:t>
                    </m:r>
                  </m:oMath>
                </a14:m>
                <a:r>
                  <a:rPr lang="en-US" sz="2300" dirty="0">
                    <a:latin typeface="Atkinson Hyperlegible Next"/>
                    <a:ea typeface="Arial"/>
                    <a:cs typeface="Arial"/>
                    <a:sym typeface="Arial"/>
                  </a:rPr>
                  <a:t>, and our new estimate exactly equals the sensor measurement!</a:t>
                </a:r>
              </a:p>
            </p:txBody>
          </p:sp>
        </mc:Choice>
        <mc:Fallback xmlns="">
          <p:sp>
            <p:nvSpPr>
              <p:cNvPr id="118" name="Google Shape;118;p29">
                <a:extLst>
                  <a:ext uri="{FF2B5EF4-FFF2-40B4-BE49-F238E27FC236}">
                    <a16:creationId xmlns:a16="http://schemas.microsoft.com/office/drawing/2014/main" id="{F520CE7A-FBDA-B270-0701-E76646C666B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b="-3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02680AE-216B-F2BA-858E-EA32CED86B7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2B6C4B7-F2A7-DAD7-D393-31C9AA508EF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(26/39)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252F565-EDB0-C0C5-7B83-F7C9CC29284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1498C3F-0345-1C93-698C-C0311EB3583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E8957EB-82E7-1FAF-ACF2-AA1F04AC8E4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8DDF4B4-0E9D-A741-1565-B15D3C01EA9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C011B75-845E-2439-2097-C8609147C53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DD0338C-3C11-3999-5C0E-C5B8BF20008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47190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4E9685C-4611-C60F-AC9E-8760C83A0A2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5EFBB5F-57AB-A192-1EAE-CE29B1EA9D8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In 1D, state and measurement were both just position along a track. In 2D/3D, our state is </a:t>
                </a:r>
                <a14:m>
                  <m:oMath xmlns:m="http://schemas.openxmlformats.org/officeDocument/2006/math">
                    <m:r>
                      <a:rPr lang="en-US" sz="2300" i="1" dirty="0" smtClean="0">
                        <a:latin typeface="Cambria Math" panose="02040503050406030204" pitchFamily="18" charset="0"/>
                        <a:ea typeface="Arial"/>
                        <a:cs typeface="Arial"/>
                        <a:sym typeface="Arial"/>
                      </a:rPr>
                      <m:t>𝑥</m:t>
                    </m:r>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𝑌</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𝜃</m:t>
                            </m:r>
                          </m:e>
                        </m:d>
                      </m:e>
                      <m:sup>
                        <m:r>
                          <a:rPr lang="en-US" sz="2300" i="1" dirty="0" smtClean="0">
                            <a:latin typeface="Cambria Math" panose="02040503050406030204" pitchFamily="18" charset="0"/>
                            <a:ea typeface="Arial"/>
                            <a:cs typeface="Arial"/>
                            <a:sym typeface="Arial"/>
                          </a:rPr>
                          <m:t>𝑇</m:t>
                        </m:r>
                      </m:sup>
                    </m:sSup>
                  </m:oMath>
                </a14:m>
                <a:r>
                  <a:rPr lang="en-US" sz="2300" dirty="0">
                    <a:latin typeface="Atkinson Hyperlegible Next"/>
                    <a:ea typeface="Arial"/>
                    <a:cs typeface="Arial"/>
                    <a:sym typeface="Arial"/>
                  </a:rPr>
                  <a:t>. But our LiDAR might just measure the </a:t>
                </a:r>
                <a:r>
                  <a:rPr lang="en-US" sz="2300" b="1" dirty="0">
                    <a:latin typeface="Atkinson Hyperlegible Next"/>
                    <a:ea typeface="Arial"/>
                    <a:cs typeface="Arial"/>
                    <a:sym typeface="Arial"/>
                  </a:rPr>
                  <a:t>straight-line distance </a:t>
                </a:r>
                <a:r>
                  <a:rPr lang="en-US" sz="2300" dirty="0">
                    <a:latin typeface="Atkinson Hyperlegible Next"/>
                    <a:ea typeface="Arial"/>
                    <a:cs typeface="Arial"/>
                    <a:sym typeface="Arial"/>
                  </a:rPr>
                  <a:t>to a wall.</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What is the problem?</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cannot subtract a state vector from a distance measurement! They speak different languages!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introduce the </a:t>
                </a:r>
                <a:r>
                  <a:rPr lang="en-US" sz="2300" b="1" dirty="0">
                    <a:latin typeface="Atkinson Hyperlegible Next"/>
                    <a:ea typeface="Arial"/>
                    <a:cs typeface="Arial"/>
                    <a:sym typeface="Arial"/>
                  </a:rPr>
                  <a:t>Observation Matrix </a:t>
                </a:r>
                <a:r>
                  <a:rPr lang="en-US" sz="2300" dirty="0">
                    <a:latin typeface="Atkinson Hyperlegible Next"/>
                    <a:ea typeface="Arial"/>
                    <a:cs typeface="Arial"/>
                    <a:sym typeface="Arial"/>
                  </a:rPr>
                  <a:t>(</a:t>
                </a:r>
                <a14:m>
                  <m:oMath xmlns:m="http://schemas.openxmlformats.org/officeDocument/2006/math">
                    <m:r>
                      <a:rPr lang="en-US" sz="2300" i="1" dirty="0" smtClean="0">
                        <a:latin typeface="Cambria Math" panose="02040503050406030204" pitchFamily="18" charset="0"/>
                        <a:ea typeface="Arial"/>
                        <a:cs typeface="Arial"/>
                        <a:sym typeface="Arial"/>
                      </a:rPr>
                      <m:t>𝐻</m:t>
                    </m:r>
                  </m:oMath>
                </a14:m>
                <a:r>
                  <a:rPr lang="en-US" sz="2300" dirty="0">
                    <a:latin typeface="Atkinson Hyperlegible Next"/>
                    <a:ea typeface="Arial"/>
                    <a:cs typeface="Arial"/>
                    <a:sym typeface="Arial"/>
                  </a:rPr>
                  <a:t>), which translates our internal state into the format of the sensor.</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Expected Measurement = </a:t>
                </a:r>
                <a14:m>
                  <m:oMath xmlns:m="http://schemas.openxmlformats.org/officeDocument/2006/math">
                    <m:r>
                      <a:rPr lang="en-US" sz="2300" i="1" dirty="0" smtClean="0">
                        <a:latin typeface="Cambria Math" panose="02040503050406030204" pitchFamily="18" charset="0"/>
                        <a:ea typeface="Arial"/>
                        <a:cs typeface="Arial"/>
                        <a:sym typeface="Arial"/>
                      </a:rPr>
                      <m:t>𝐻</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𝑝𝑟𝑒𝑑</m:t>
                        </m:r>
                      </m:sub>
                    </m:sSub>
                  </m:oMath>
                </a14:m>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A5EFBB5F-57AB-A192-1EAE-CE29B1EA9D8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2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C242EC9-ADA2-F29A-E08C-D68DC3E9BE9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4EF55EE-03DE-195E-716D-A63E94C422A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(27/39)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1DEF6CE-160F-DB0B-4CC0-BAFCA11BFFD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2EE61BB-6C9D-4637-7989-C0789ED69E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7C8B5ED-B33D-55CA-C835-2249208C836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6970939-F86A-3EAD-B9ED-D11E21AFF6B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C12B160-17F1-B58A-5D9C-006AED511E8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05D22F1-2485-C6CC-7422-AE7646EAB5B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5798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2C1FBAD-4841-66AC-EF9F-1DAB92B2B3B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4AEF29A-0173-85FA-43D0-7CCF1CC9E70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We thus, start by modifying the 1D Kalman Gain into matrices.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smtClean="0">
                          <a:latin typeface="Cambria Math" panose="02040503050406030204" pitchFamily="18" charset="0"/>
                          <a:cs typeface="Arial"/>
                          <a:sym typeface="Arial"/>
                        </a:rPr>
                        <m:t>𝐾</m:t>
                      </m:r>
                      <m:r>
                        <a:rPr lang="en-US" sz="2300" i="1" smtClean="0">
                          <a:latin typeface="Cambria Math" panose="02040503050406030204" pitchFamily="18" charset="0"/>
                          <a:cs typeface="Arial"/>
                          <a:sym typeface="Arial"/>
                        </a:rPr>
                        <m:t>=</m:t>
                      </m:r>
                      <m:f>
                        <m:fPr>
                          <m:ctrlPr>
                            <a:rPr lang="en-US" sz="2300" i="1">
                              <a:latin typeface="Cambria Math" panose="02040503050406030204" pitchFamily="18" charset="0"/>
                              <a:cs typeface="Arial"/>
                              <a:sym typeface="Arial"/>
                            </a:rPr>
                          </m:ctrlPr>
                        </m:fPr>
                        <m:num>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𝑝𝑟𝑒𝑑</m:t>
                              </m:r>
                            </m:sub>
                            <m:sup>
                              <m:r>
                                <a:rPr lang="en-US" sz="2300" i="1">
                                  <a:latin typeface="Cambria Math" panose="02040503050406030204" pitchFamily="18" charset="0"/>
                                  <a:cs typeface="Arial"/>
                                  <a:sym typeface="Arial"/>
                                </a:rPr>
                                <m:t>2</m:t>
                              </m:r>
                            </m:sup>
                          </m:sSubSup>
                        </m:num>
                        <m:den>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𝑝𝑟𝑒𝑑</m:t>
                              </m:r>
                            </m:sub>
                            <m:sup>
                              <m:r>
                                <a:rPr lang="en-US" sz="2300" i="1">
                                  <a:latin typeface="Cambria Math" panose="02040503050406030204" pitchFamily="18" charset="0"/>
                                  <a:cs typeface="Arial"/>
                                  <a:sym typeface="Arial"/>
                                </a:rPr>
                                <m:t>2</m:t>
                              </m:r>
                            </m:sup>
                          </m:sSubSup>
                          <m:r>
                            <a:rPr lang="en-US" sz="2300" i="1">
                              <a:latin typeface="Cambria Math" panose="02040503050406030204" pitchFamily="18" charset="0"/>
                              <a:cs typeface="Arial"/>
                              <a:sym typeface="Arial"/>
                            </a:rPr>
                            <m:t>+</m:t>
                          </m:r>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𝑠𝑒𝑛𝑠𝑜𝑟</m:t>
                              </m:r>
                            </m:sub>
                            <m:sup>
                              <m:r>
                                <a:rPr lang="en-US" sz="2300" i="1">
                                  <a:latin typeface="Cambria Math" panose="02040503050406030204" pitchFamily="18" charset="0"/>
                                  <a:cs typeface="Arial"/>
                                  <a:sym typeface="Arial"/>
                                </a:rPr>
                                <m:t>2</m:t>
                              </m:r>
                            </m:sup>
                          </m:sSubSup>
                        </m:den>
                      </m:f>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sSubSup>
                      <m:sSubSupPr>
                        <m:ctrlPr>
                          <a:rPr lang="en-US" sz="2300" i="1" dirty="0" smtClean="0">
                            <a:latin typeface="Cambria Math" panose="02040503050406030204" pitchFamily="18" charset="0"/>
                            <a:ea typeface="Arial"/>
                            <a:cs typeface="Arial"/>
                            <a:sym typeface="Arial"/>
                          </a:rPr>
                        </m:ctrlPr>
                      </m:sSubSupPr>
                      <m:e>
                        <m:r>
                          <a:rPr lang="en-US" sz="2300" i="1" dirty="0" smtClean="0">
                            <a:latin typeface="Cambria Math" panose="02040503050406030204" pitchFamily="18" charset="0"/>
                            <a:ea typeface="Arial"/>
                            <a:cs typeface="Arial"/>
                            <a:sym typeface="Arial"/>
                          </a:rPr>
                          <m:t>𝜎</m:t>
                        </m:r>
                      </m:e>
                      <m:sub>
                        <m:r>
                          <a:rPr lang="en-US" sz="2300" i="1" dirty="0" smtClean="0">
                            <a:latin typeface="Cambria Math" panose="02040503050406030204" pitchFamily="18" charset="0"/>
                            <a:ea typeface="Arial"/>
                            <a:cs typeface="Arial"/>
                            <a:sym typeface="Arial"/>
                          </a:rPr>
                          <m:t>𝑝𝑟𝑒𝑑</m:t>
                        </m:r>
                      </m:sub>
                      <m:sup>
                        <m:r>
                          <a:rPr lang="en-US" sz="2300" i="1" dirty="0" smtClean="0">
                            <a:latin typeface="Cambria Math" panose="02040503050406030204" pitchFamily="18" charset="0"/>
                            <a:ea typeface="Arial"/>
                            <a:cs typeface="Arial"/>
                            <a:sym typeface="Arial"/>
                          </a:rPr>
                          <m:t>2</m:t>
                        </m:r>
                      </m:sup>
                    </m:sSubSup>
                  </m:oMath>
                </a14:m>
                <a:r>
                  <a:rPr lang="en-US" sz="2300" dirty="0">
                    <a:latin typeface="Atkinson Hyperlegible Next"/>
                    <a:ea typeface="Arial"/>
                    <a:cs typeface="Arial"/>
                    <a:sym typeface="Arial"/>
                  </a:rPr>
                  <a:t> becomes our covariance </a:t>
                </a:r>
                <a14:m>
                  <m:oMath xmlns:m="http://schemas.openxmlformats.org/officeDocument/2006/math">
                    <m:r>
                      <a:rPr lang="en-US" sz="2300" i="1" dirty="0" smtClean="0">
                        <a:latin typeface="Cambria Math" panose="02040503050406030204" pitchFamily="18" charset="0"/>
                        <a:ea typeface="Arial"/>
                        <a:cs typeface="Arial"/>
                        <a:sym typeface="Arial"/>
                      </a:rPr>
                      <m:t>𝑃</m:t>
                    </m:r>
                  </m:oMath>
                </a14:m>
                <a:r>
                  <a:rPr lang="en-US" sz="2300" dirty="0">
                    <a:latin typeface="Atkinson Hyperlegible Next"/>
                    <a:ea typeface="Arial"/>
                    <a:cs typeface="Arial"/>
                    <a:sym typeface="Arial"/>
                  </a:rPr>
                  <a:t>.</a:t>
                </a:r>
              </a:p>
              <a:p>
                <a:pPr marL="0" indent="0">
                  <a:lnSpc>
                    <a:spcPct val="100000"/>
                  </a:lnSpc>
                  <a:spcBef>
                    <a:spcPts val="0"/>
                  </a:spcBef>
                  <a:buSzPts val="3000"/>
                  <a:buNone/>
                </a:pPr>
                <a14:m>
                  <m:oMath xmlns:m="http://schemas.openxmlformats.org/officeDocument/2006/math">
                    <m:sSubSup>
                      <m:sSubSupPr>
                        <m:ctrlPr>
                          <a:rPr lang="en-US" sz="2300" i="1" dirty="0" smtClean="0">
                            <a:latin typeface="Cambria Math" panose="02040503050406030204" pitchFamily="18" charset="0"/>
                            <a:ea typeface="Arial"/>
                            <a:cs typeface="Arial"/>
                            <a:sym typeface="Arial"/>
                          </a:rPr>
                        </m:ctrlPr>
                      </m:sSubSupPr>
                      <m:e>
                        <m:r>
                          <a:rPr lang="en-US" sz="2300" i="1" dirty="0" smtClean="0">
                            <a:latin typeface="Cambria Math" panose="02040503050406030204" pitchFamily="18" charset="0"/>
                            <a:ea typeface="Arial"/>
                            <a:cs typeface="Arial"/>
                            <a:sym typeface="Arial"/>
                          </a:rPr>
                          <m:t>𝜎</m:t>
                        </m:r>
                      </m:e>
                      <m:sub>
                        <m:r>
                          <a:rPr lang="en-US" sz="2300" i="1" dirty="0" smtClean="0">
                            <a:latin typeface="Cambria Math" panose="02040503050406030204" pitchFamily="18" charset="0"/>
                            <a:ea typeface="Arial"/>
                            <a:cs typeface="Arial"/>
                            <a:sym typeface="Arial"/>
                          </a:rPr>
                          <m:t>𝑠𝑒𝑛𝑠𝑜𝑟</m:t>
                        </m:r>
                      </m:sub>
                      <m:sup>
                        <m:r>
                          <a:rPr lang="en-US" sz="2300" i="1" dirty="0" smtClean="0">
                            <a:latin typeface="Cambria Math" panose="02040503050406030204" pitchFamily="18" charset="0"/>
                            <a:ea typeface="Arial"/>
                            <a:cs typeface="Arial"/>
                            <a:sym typeface="Arial"/>
                          </a:rPr>
                          <m:t>2</m:t>
                        </m:r>
                      </m:sup>
                    </m:sSubSup>
                  </m:oMath>
                </a14:m>
                <a:r>
                  <a:rPr lang="en-US" sz="2300" dirty="0">
                    <a:latin typeface="Atkinson Hyperlegible Next"/>
                    <a:ea typeface="Arial"/>
                    <a:cs typeface="Arial"/>
                    <a:sym typeface="Arial"/>
                  </a:rPr>
                  <a:t> becomes our measurement noise </a:t>
                </a:r>
                <a14:m>
                  <m:oMath xmlns:m="http://schemas.openxmlformats.org/officeDocument/2006/math">
                    <m:r>
                      <a:rPr lang="en-US" sz="2300" i="1" dirty="0" smtClean="0">
                        <a:latin typeface="Cambria Math" panose="02040503050406030204" pitchFamily="18" charset="0"/>
                        <a:ea typeface="Arial"/>
                        <a:cs typeface="Arial"/>
                        <a:sym typeface="Arial"/>
                      </a:rPr>
                      <m:t>𝑅</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But we must map </a:t>
                </a:r>
                <a14:m>
                  <m:oMath xmlns:m="http://schemas.openxmlformats.org/officeDocument/2006/math">
                    <m:r>
                      <a:rPr lang="en-US" sz="2300" i="1" dirty="0">
                        <a:latin typeface="Cambria Math" panose="02040503050406030204" pitchFamily="18" charset="0"/>
                        <a:ea typeface="Arial"/>
                        <a:cs typeface="Arial"/>
                        <a:sym typeface="Arial"/>
                      </a:rPr>
                      <m:t>𝑃</m:t>
                    </m:r>
                  </m:oMath>
                </a14:m>
                <a:r>
                  <a:rPr lang="en-US" sz="2300" dirty="0">
                    <a:latin typeface="Atkinson Hyperlegible Next"/>
                    <a:ea typeface="Arial"/>
                    <a:cs typeface="Arial"/>
                    <a:sym typeface="Arial"/>
                  </a:rPr>
                  <a:t> into sensor space using </a:t>
                </a:r>
                <a14:m>
                  <m:oMath xmlns:m="http://schemas.openxmlformats.org/officeDocument/2006/math">
                    <m:r>
                      <m:rPr>
                        <m:sty m:val="p"/>
                      </m:rPr>
                      <a:rPr lang="en-US" sz="2300" b="0" i="1" smtClean="0">
                        <a:latin typeface="Cambria Math" panose="02040503050406030204" pitchFamily="18" charset="0"/>
                        <a:ea typeface="Arial"/>
                        <a:cs typeface="Arial"/>
                        <a:sym typeface="Arial"/>
                      </a:rPr>
                      <m:t>H</m:t>
                    </m:r>
                  </m:oMath>
                </a14:m>
                <a:r>
                  <a:rPr lang="en-US" sz="2300" dirty="0">
                    <a:latin typeface="Atkinson Hyperlegible Next"/>
                    <a:ea typeface="Arial"/>
                    <a:cs typeface="Arial"/>
                    <a:sym typeface="Arial"/>
                  </a:rPr>
                  <a:t>. Just like </a:t>
                </a:r>
                <a14:m>
                  <m:oMath xmlns:m="http://schemas.openxmlformats.org/officeDocument/2006/math">
                    <m:r>
                      <a:rPr lang="en-US" sz="2300" i="1" dirty="0" smtClean="0">
                        <a:latin typeface="Cambria Math" panose="02040503050406030204" pitchFamily="18" charset="0"/>
                        <a:ea typeface="Arial"/>
                        <a:cs typeface="Arial"/>
                        <a:sym typeface="Arial"/>
                      </a:rPr>
                      <m:t>𝐹𝑃</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𝐹</m:t>
                        </m:r>
                      </m:e>
                      <m:sup>
                        <m:r>
                          <a:rPr lang="en-US" sz="2300" i="1" dirty="0" smtClean="0">
                            <a:latin typeface="Cambria Math" panose="02040503050406030204" pitchFamily="18" charset="0"/>
                            <a:ea typeface="Arial"/>
                            <a:cs typeface="Arial"/>
                            <a:sym typeface="Arial"/>
                          </a:rPr>
                          <m:t>𝑇</m:t>
                        </m:r>
                      </m:sup>
                    </m:sSup>
                  </m:oMath>
                </a14:m>
                <a:r>
                  <a:rPr lang="en-US" sz="2300" dirty="0">
                    <a:latin typeface="Atkinson Hyperlegible Next"/>
                    <a:ea typeface="Arial"/>
                    <a:cs typeface="Arial"/>
                    <a:sym typeface="Arial"/>
                  </a:rPr>
                  <a:t> for motion, we use </a:t>
                </a:r>
                <a14:m>
                  <m:oMath xmlns:m="http://schemas.openxmlformats.org/officeDocument/2006/math">
                    <m:r>
                      <a:rPr lang="en-US" sz="2300" i="1" dirty="0" smtClean="0">
                        <a:latin typeface="Cambria Math" panose="02040503050406030204" pitchFamily="18" charset="0"/>
                        <a:ea typeface="Arial"/>
                        <a:cs typeface="Arial"/>
                        <a:sym typeface="Arial"/>
                      </a:rPr>
                      <m:t>𝐻𝑃</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𝐻</m:t>
                        </m:r>
                      </m:e>
                      <m:sup>
                        <m:r>
                          <a:rPr lang="en-US" sz="2300" i="1" dirty="0" smtClean="0">
                            <a:latin typeface="Cambria Math" panose="02040503050406030204" pitchFamily="18" charset="0"/>
                            <a:ea typeface="Arial"/>
                            <a:cs typeface="Arial"/>
                            <a:sym typeface="Arial"/>
                          </a:rPr>
                          <m:t>𝑇</m:t>
                        </m:r>
                      </m:sup>
                    </m:sSup>
                  </m:oMath>
                </a14:m>
                <a:r>
                  <a:rPr lang="en-US" sz="2300" dirty="0">
                    <a:latin typeface="Atkinson Hyperlegible Next"/>
                    <a:ea typeface="Arial"/>
                    <a:cs typeface="Arial"/>
                    <a:sym typeface="Arial"/>
                  </a:rPr>
                  <a:t> for sensors!</a:t>
                </a:r>
              </a:p>
            </p:txBody>
          </p:sp>
        </mc:Choice>
        <mc:Fallback xmlns="">
          <p:sp>
            <p:nvSpPr>
              <p:cNvPr id="118" name="Google Shape;118;p29">
                <a:extLst>
                  <a:ext uri="{FF2B5EF4-FFF2-40B4-BE49-F238E27FC236}">
                    <a16:creationId xmlns:a16="http://schemas.microsoft.com/office/drawing/2014/main" id="{04AEF29A-0173-85FA-43D0-7CCF1CC9E70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00167D7-B8C4-BE72-FFE2-CAC26A12EBF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4F2F602-B691-FE4D-AEA5-F4029CCB397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(28/39)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B68D8F5-0A0A-A074-6E72-9DF12F416E2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478006B-3A18-27D9-C1D2-A3F031854ED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872ED4-E921-7296-A93B-D2BADDE90D3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164F5F9-B724-BD41-3781-6A8C4A3A539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4105440-2358-6699-44ED-CEFD04F28C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0D446F8-7EB1-370D-F217-828A5080A2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9154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ABA1ED8-BA63-C08C-B272-85C534B9EB4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B3A9FBB-BEE9-F182-E2F9-CCABE6615F6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We thus, start by modifying the 1D Kalman Gain into matrices.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smtClean="0">
                          <a:latin typeface="Cambria Math" panose="02040503050406030204" pitchFamily="18" charset="0"/>
                          <a:cs typeface="Arial"/>
                          <a:sym typeface="Arial"/>
                        </a:rPr>
                        <m:t>𝐾</m:t>
                      </m:r>
                      <m:r>
                        <a:rPr lang="en-US" sz="2300" i="1" smtClean="0">
                          <a:latin typeface="Cambria Math" panose="02040503050406030204" pitchFamily="18" charset="0"/>
                          <a:cs typeface="Arial"/>
                          <a:sym typeface="Arial"/>
                        </a:rPr>
                        <m:t>=</m:t>
                      </m:r>
                      <m:f>
                        <m:fPr>
                          <m:ctrlPr>
                            <a:rPr lang="en-US" sz="2300" i="1">
                              <a:latin typeface="Cambria Math" panose="02040503050406030204" pitchFamily="18" charset="0"/>
                              <a:cs typeface="Arial"/>
                              <a:sym typeface="Arial"/>
                            </a:rPr>
                          </m:ctrlPr>
                        </m:fPr>
                        <m:num>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𝑝𝑟𝑒𝑑</m:t>
                              </m:r>
                            </m:sub>
                            <m:sup>
                              <m:r>
                                <a:rPr lang="en-US" sz="2300" i="1">
                                  <a:latin typeface="Cambria Math" panose="02040503050406030204" pitchFamily="18" charset="0"/>
                                  <a:cs typeface="Arial"/>
                                  <a:sym typeface="Arial"/>
                                </a:rPr>
                                <m:t>2</m:t>
                              </m:r>
                            </m:sup>
                          </m:sSubSup>
                        </m:num>
                        <m:den>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𝑝𝑟𝑒𝑑</m:t>
                              </m:r>
                            </m:sub>
                            <m:sup>
                              <m:r>
                                <a:rPr lang="en-US" sz="2300" i="1">
                                  <a:latin typeface="Cambria Math" panose="02040503050406030204" pitchFamily="18" charset="0"/>
                                  <a:cs typeface="Arial"/>
                                  <a:sym typeface="Arial"/>
                                </a:rPr>
                                <m:t>2</m:t>
                              </m:r>
                            </m:sup>
                          </m:sSubSup>
                          <m:r>
                            <a:rPr lang="en-US" sz="2300" i="1">
                              <a:latin typeface="Cambria Math" panose="02040503050406030204" pitchFamily="18" charset="0"/>
                              <a:cs typeface="Arial"/>
                              <a:sym typeface="Arial"/>
                            </a:rPr>
                            <m:t>+</m:t>
                          </m:r>
                          <m:sSubSup>
                            <m:sSubSupPr>
                              <m:ctrlPr>
                                <a:rPr lang="en-US" sz="2300" i="1">
                                  <a:latin typeface="Cambria Math" panose="02040503050406030204" pitchFamily="18" charset="0"/>
                                  <a:cs typeface="Arial"/>
                                  <a:sym typeface="Arial"/>
                                </a:rPr>
                              </m:ctrlPr>
                            </m:sSubSupPr>
                            <m:e>
                              <m:r>
                                <a:rPr lang="en-US" sz="2300" i="1">
                                  <a:latin typeface="Cambria Math" panose="02040503050406030204" pitchFamily="18" charset="0"/>
                                  <a:cs typeface="Arial"/>
                                  <a:sym typeface="Arial"/>
                                </a:rPr>
                                <m:t>𝜎</m:t>
                              </m:r>
                            </m:e>
                            <m:sub>
                              <m:r>
                                <a:rPr lang="en-US" sz="2300" i="1">
                                  <a:latin typeface="Cambria Math" panose="02040503050406030204" pitchFamily="18" charset="0"/>
                                  <a:cs typeface="Arial"/>
                                  <a:sym typeface="Arial"/>
                                </a:rPr>
                                <m:t>𝑠𝑒𝑛𝑠𝑜𝑟</m:t>
                              </m:r>
                            </m:sub>
                            <m:sup>
                              <m:r>
                                <a:rPr lang="en-US" sz="2300" i="1">
                                  <a:latin typeface="Cambria Math" panose="02040503050406030204" pitchFamily="18" charset="0"/>
                                  <a:cs typeface="Arial"/>
                                  <a:sym typeface="Arial"/>
                                </a:rPr>
                                <m:t>2</m:t>
                              </m:r>
                            </m:sup>
                          </m:sSubSup>
                        </m:den>
                      </m:f>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numerator is the prediction covariance mapped to the sensor. The denominator is the total system noise.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Because we can't divide matrices, we multiply by the inverse: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𝐾</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𝑃</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𝐻</m:t>
                          </m:r>
                        </m:e>
                        <m:sup>
                          <m:r>
                            <a:rPr lang="en-US" sz="2300" i="1" dirty="0" smtClean="0">
                              <a:latin typeface="Cambria Math" panose="02040503050406030204" pitchFamily="18" charset="0"/>
                              <a:ea typeface="Arial"/>
                              <a:cs typeface="Arial"/>
                              <a:sym typeface="Arial"/>
                            </a:rPr>
                            <m:t>𝑇</m:t>
                          </m:r>
                        </m:sup>
                      </m:sSup>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𝐻𝑃</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𝐻</m:t>
                                  </m:r>
                                </m:e>
                                <m:sup>
                                  <m:r>
                                    <a:rPr lang="en-US" sz="2300" i="1" dirty="0" smtClean="0">
                                      <a:latin typeface="Cambria Math" panose="02040503050406030204" pitchFamily="18" charset="0"/>
                                      <a:ea typeface="Arial"/>
                                      <a:cs typeface="Arial"/>
                                      <a:sym typeface="Arial"/>
                                    </a:rPr>
                                    <m:t>𝑇</m:t>
                                  </m:r>
                                </m:sup>
                              </m:sSup>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𝑅</m:t>
                              </m:r>
                            </m:e>
                          </m:d>
                        </m:e>
                        <m:sup>
                          <m:r>
                            <a:rPr lang="en-US" sz="2300" i="1" dirty="0" smtClean="0">
                              <a:latin typeface="Cambria Math" panose="02040503050406030204" pitchFamily="18" charset="0"/>
                              <a:ea typeface="Arial"/>
                              <a:cs typeface="Arial"/>
                              <a:sym typeface="Arial"/>
                            </a:rPr>
                            <m:t>−1</m:t>
                          </m:r>
                        </m:sup>
                      </m:sSup>
                    </m:oMath>
                  </m:oMathPara>
                </a14:m>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FB3A9FBB-BEE9-F182-E2F9-CCABE6615F6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DF0E94B-AEB8-7E61-AEAA-B696F3C0B3C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D9B3820-9599-69BE-FA22-BA7C69AA40D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(29/39)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5C2B5E4-D5A9-CFE1-D9BA-A862308DEF4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8286E2A-B36C-0DF6-ECEC-66AC57A70F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A1E93BC-63C4-08BA-B6E3-BDD9A7F1CAA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E56FEBB-B8BB-7A06-FF1E-0C75C01020E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490F9F5-1681-1D5D-B1CB-14DDEADE7D2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AEEAF82-F476-D665-A055-B3165A5A2E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398036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B56B897-DEC8-2B26-D22B-BC74380081E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CABA63D-676D-DB15-AA7C-008A0C1EA80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27FA70-6F56-3C23-FD71-9F7EAC07C13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(30/39)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B43CD4C-B581-B87E-3035-36A4C64BB75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405AF36-36A8-3B2C-CD6D-4516197DBDB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4A988B-12EB-43B5-78FD-3A43F1BD0FD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93B84B7-9D80-F8D9-B84B-CD1B62AF153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A331E9F-9559-044D-1389-295DEE88CF0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C646723-2410-5FB4-D47D-69413E64966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titled &quot;MD Update (Transforming the Measurement),&quot; position X versus position Y. A large pink prediction uncertainty ellipse, tilted up and to the right, is centered near (8.2, 5). A smaller filled orange ellipse, the effective sensor belief at H inverse z sub k with covariance P sub meas, is centered near (12, 8) and only partly overlaps it. A gray line between the two centers is the residual, z sub k minus H x sub pred. The innovation covariance is S equals H P sub pred H transpose plus R.">
            <a:extLst>
              <a:ext uri="{FF2B5EF4-FFF2-40B4-BE49-F238E27FC236}">
                <a16:creationId xmlns:a16="http://schemas.microsoft.com/office/drawing/2014/main" id="{C258B433-0AD9-AB4A-4E5E-7067A7B3F22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606920" y="982504"/>
            <a:ext cx="9045990" cy="5427594"/>
          </a:xfrm>
          <a:prstGeom prst="rect">
            <a:avLst/>
          </a:prstGeom>
        </p:spPr>
      </p:pic>
    </p:spTree>
    <p:extLst>
      <p:ext uri="{BB962C8B-B14F-4D97-AF65-F5344CB8AC3E}">
        <p14:creationId xmlns:p14="http://schemas.microsoft.com/office/powerpoint/2010/main" val="459975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9AE040A-7D15-0295-5020-984F5349479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F8E9F1B-F383-AE66-5A2F-1AF8F2A08A7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Now we apply our matrix </a:t>
                </a:r>
                <a14:m>
                  <m:oMath xmlns:m="http://schemas.openxmlformats.org/officeDocument/2006/math">
                    <m:r>
                      <a:rPr lang="en-US" sz="2300" i="1" dirty="0" smtClean="0">
                        <a:latin typeface="Cambria Math" panose="02040503050406030204" pitchFamily="18" charset="0"/>
                        <a:ea typeface="Arial"/>
                        <a:cs typeface="Arial"/>
                        <a:sym typeface="Arial"/>
                      </a:rPr>
                      <m:t>𝐾</m:t>
                    </m:r>
                  </m:oMath>
                </a14:m>
                <a:r>
                  <a:rPr lang="en-US" sz="2300" dirty="0">
                    <a:latin typeface="Atkinson Hyperlegible Next"/>
                    <a:ea typeface="Arial"/>
                    <a:cs typeface="Arial"/>
                    <a:sym typeface="Arial"/>
                  </a:rPr>
                  <a:t> to update the multi-dimensional state.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1D equation </a:t>
                </a:r>
                <a14:m>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𝜇</m:t>
                        </m:r>
                      </m:e>
                      <m:sub>
                        <m:r>
                          <a:rPr lang="en-US" sz="2300" i="1" dirty="0" smtClean="0">
                            <a:latin typeface="Cambria Math" panose="02040503050406030204" pitchFamily="18" charset="0"/>
                            <a:ea typeface="Arial"/>
                            <a:cs typeface="Arial"/>
                            <a:sym typeface="Arial"/>
                          </a:rPr>
                          <m:t>𝑛𝑒𝑤</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𝜇</m:t>
                        </m:r>
                      </m:e>
                      <m:sub>
                        <m:r>
                          <a:rPr lang="en-US" sz="2300" i="1" dirty="0" smtClean="0">
                            <a:latin typeface="Cambria Math" panose="02040503050406030204" pitchFamily="18" charset="0"/>
                            <a:ea typeface="Arial"/>
                            <a:cs typeface="Arial"/>
                            <a:sym typeface="Arial"/>
                          </a:rPr>
                          <m:t>𝑝𝑟𝑒𝑑</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𝑧</m:t>
                        </m:r>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𝜇</m:t>
                            </m:r>
                          </m:e>
                          <m:sub>
                            <m:r>
                              <a:rPr lang="en-US" sz="2300" i="1" dirty="0" smtClean="0">
                                <a:latin typeface="Cambria Math" panose="02040503050406030204" pitchFamily="18" charset="0"/>
                                <a:ea typeface="Arial"/>
                                <a:cs typeface="Arial"/>
                                <a:sym typeface="Arial"/>
                              </a:rPr>
                              <m:t>𝑝𝑟𝑒𝑑</m:t>
                            </m:r>
                          </m:sub>
                        </m:sSub>
                      </m:e>
                    </m:d>
                  </m:oMath>
                </a14:m>
                <a:r>
                  <a:rPr lang="en-US" sz="2300" dirty="0">
                    <a:latin typeface="Atkinson Hyperlegible Next"/>
                    <a:ea typeface="Arial"/>
                    <a:cs typeface="Arial"/>
                    <a:sym typeface="Arial"/>
                  </a:rPr>
                  <a:t> becomes: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err="1"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err="1" smtClean="0">
                              <a:latin typeface="Cambria Math" panose="02040503050406030204" pitchFamily="18" charset="0"/>
                              <a:ea typeface="Arial"/>
                              <a:cs typeface="Arial"/>
                              <a:sym typeface="Arial"/>
                            </a:rPr>
                            <m:t>𝑘</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m:t>
                      </m:r>
                      <m:d>
                        <m:dPr>
                          <m:ctrlPr>
                            <a:rPr lang="en-US" sz="2300" i="1" dirty="0" smtClean="0">
                              <a:latin typeface="Cambria Math" panose="02040503050406030204" pitchFamily="18" charset="0"/>
                              <a:ea typeface="Arial"/>
                              <a:cs typeface="Arial"/>
                              <a:sym typeface="Arial"/>
                            </a:rPr>
                          </m:ctrlPr>
                        </m:dPr>
                        <m:e>
                          <m:sSub>
                            <m:sSubPr>
                              <m:ctrlPr>
                                <a:rPr lang="en-US" sz="2300" i="1" dirty="0" err="1" smtClean="0">
                                  <a:latin typeface="Cambria Math" panose="02040503050406030204" pitchFamily="18" charset="0"/>
                                  <a:ea typeface="Arial"/>
                                  <a:cs typeface="Arial"/>
                                  <a:sym typeface="Arial"/>
                                </a:rPr>
                              </m:ctrlPr>
                            </m:sSubPr>
                            <m:e>
                              <m:r>
                                <a:rPr lang="en-US" sz="2300" i="1" dirty="0" err="1" smtClean="0">
                                  <a:latin typeface="Cambria Math" panose="02040503050406030204" pitchFamily="18" charset="0"/>
                                  <a:ea typeface="Arial"/>
                                  <a:cs typeface="Arial"/>
                                  <a:sym typeface="Arial"/>
                                </a:rPr>
                                <m:t>𝑧</m:t>
                              </m:r>
                            </m:e>
                            <m:sub>
                              <m:r>
                                <a:rPr lang="en-US" sz="2300" i="1" dirty="0" err="1" smtClean="0">
                                  <a:latin typeface="Cambria Math" panose="02040503050406030204" pitchFamily="18" charset="0"/>
                                  <a:ea typeface="Arial"/>
                                  <a:cs typeface="Arial"/>
                                  <a:sym typeface="Arial"/>
                                </a:rPr>
                                <m:t>𝑘</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𝐻</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Finally, we update the uncertainty ellipse. We pull the information from the sensor out of our uncertainty:</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err="1" smtClean="0">
                              <a:latin typeface="Cambria Math" panose="02040503050406030204" pitchFamily="18" charset="0"/>
                              <a:ea typeface="Arial"/>
                              <a:cs typeface="Arial"/>
                              <a:sym typeface="Arial"/>
                            </a:rPr>
                            <m:t>𝑘𝑘</m:t>
                          </m:r>
                        </m:sub>
                      </m:sSub>
                      <m:r>
                        <a:rPr lang="en-US" sz="2300" i="1" dirty="0" smtClean="0">
                          <a:latin typeface="Cambria Math" panose="02040503050406030204" pitchFamily="18" charset="0"/>
                          <a:ea typeface="Arial"/>
                          <a:cs typeface="Arial"/>
                          <a:sym typeface="Arial"/>
                        </a:rPr>
                        <m:t>=</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𝐼</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𝐾𝐻</m:t>
                          </m:r>
                        </m:e>
                      </m:d>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smtClean="0">
                              <a:latin typeface="Cambria Math" panose="02040503050406030204" pitchFamily="18" charset="0"/>
                              <a:ea typeface="Arial"/>
                              <a:cs typeface="Arial"/>
                              <a:sym typeface="Arial"/>
                            </a:rPr>
                            <m:t>𝑘𝑘</m:t>
                          </m:r>
                          <m:r>
                            <a:rPr lang="en-US" sz="2300" i="1" dirty="0" smtClean="0">
                              <a:latin typeface="Cambria Math" panose="02040503050406030204" pitchFamily="18" charset="0"/>
                              <a:ea typeface="Arial"/>
                              <a:cs typeface="Arial"/>
                              <a:sym typeface="Arial"/>
                            </a:rPr>
                            <m:t>−1</m:t>
                          </m:r>
                        </m:sub>
                      </m:sSub>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a:t>
                </a:r>
                <a14:m>
                  <m:oMath xmlns:m="http://schemas.openxmlformats.org/officeDocument/2006/math">
                    <m:r>
                      <a:rPr lang="en-US" sz="2300" i="1" dirty="0" smtClean="0">
                        <a:latin typeface="Cambria Math" panose="02040503050406030204" pitchFamily="18" charset="0"/>
                        <a:ea typeface="Arial"/>
                        <a:cs typeface="Arial"/>
                        <a:sym typeface="Arial"/>
                      </a:rPr>
                      <m:t>𝐼</m:t>
                    </m:r>
                  </m:oMath>
                </a14:m>
                <a:r>
                  <a:rPr lang="en-US" sz="2300" dirty="0">
                    <a:latin typeface="Atkinson Hyperlegible Next"/>
                    <a:ea typeface="Arial"/>
                    <a:cs typeface="Arial"/>
                    <a:sym typeface="Arial"/>
                  </a:rPr>
                  <a:t> is the Identity Matrix, the matrix equivalent of the number 1). </a:t>
                </a:r>
              </a:p>
              <a:p>
                <a:pPr marL="0" indent="0">
                  <a:lnSpc>
                    <a:spcPct val="100000"/>
                  </a:lnSpc>
                  <a:spcBef>
                    <a:spcPts val="0"/>
                  </a:spcBef>
                  <a:buSzPts val="3000"/>
                  <a:buNone/>
                </a:pPr>
                <a:r>
                  <a:rPr lang="en-US" sz="2300" dirty="0">
                    <a:latin typeface="Atkinson Hyperlegible Next"/>
                    <a:ea typeface="Arial"/>
                    <a:cs typeface="Arial"/>
                    <a:sym typeface="Arial"/>
                  </a:rPr>
                  <a:t>And we are done!</a:t>
                </a:r>
              </a:p>
            </p:txBody>
          </p:sp>
        </mc:Choice>
        <mc:Fallback xmlns="">
          <p:sp>
            <p:nvSpPr>
              <p:cNvPr id="118" name="Google Shape;118;p29">
                <a:extLst>
                  <a:ext uri="{FF2B5EF4-FFF2-40B4-BE49-F238E27FC236}">
                    <a16:creationId xmlns:a16="http://schemas.microsoft.com/office/drawing/2014/main" id="{BF8E9F1B-F383-AE66-5A2F-1AF8F2A08A7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418" b="-139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42C050A-4674-A80C-CC95-7CE77F0909D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C4D5CA6-CA4D-A84D-ED61-130637CF49D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(31/39)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49A78A4-A45F-3D36-4377-BE970A379B7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410EFEE-D783-E85C-4DC4-5E1167B7EF1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E3C1F41-E88C-E5CB-639F-05993716316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E0DD394-78A6-3A04-CBCE-76E0ABCCF22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12A098B-EE22-DED9-1CC0-C114DC3C767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E7187A0-05F2-DBA7-3A1B-5C00F76FABE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750896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3DA9AB8-2BF0-674C-F21B-898EF7236A14}"/>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DA2ECFB-738A-C93D-F220-341A0A7E9BE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FC1EAAF-3AEA-F8C1-E89E-B529C8A2BB7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(32/39)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F0A8007-CC4B-657F-97AA-BF012427A8D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46FB9A-6A10-591B-6DF0-A4A6DE32226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647D0EE-E257-5840-A668-915D9DC7295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C79E7C1-E117-598F-ECC7-320DFA5582D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C3CD6CD-D61E-68BB-B4C2-E94CF9B2EBF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213CDB3-FCBD-033C-7FA6-2C81ADF001A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Plot of a Kalman filter update in X–Y position. A large tilted pink prediction ellipse, centered near (8, 5), overlaps a smaller orange measurement ellipse near (12, 8). A green arrow labeled K times the innovation moves the estimate from the prediction center to a small filled green fused estimate near (11, 7.6), mostly inside the measurement ellipse. Annotations: Kalman gain K[0,0] equals 0.72; K equals P sub pred H transpose S inverse; P sub k equals (I minus K H) P sub pred.">
            <a:extLst>
              <a:ext uri="{FF2B5EF4-FFF2-40B4-BE49-F238E27FC236}">
                <a16:creationId xmlns:a16="http://schemas.microsoft.com/office/drawing/2014/main" id="{B7BD1292-1381-74C9-7D60-929C34529F9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606920" y="982504"/>
            <a:ext cx="9045990" cy="5427594"/>
          </a:xfrm>
          <a:prstGeom prst="rect">
            <a:avLst/>
          </a:prstGeom>
        </p:spPr>
      </p:pic>
    </p:spTree>
    <p:extLst>
      <p:ext uri="{BB962C8B-B14F-4D97-AF65-F5344CB8AC3E}">
        <p14:creationId xmlns:p14="http://schemas.microsoft.com/office/powerpoint/2010/main" val="29751256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1A12F04-D8EB-C94D-12CD-8C30B11F5C7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08ECBD5-53EF-A828-F0F0-CA33C404223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But what does </a:t>
                </a:r>
                <a14:m>
                  <m:oMath xmlns:m="http://schemas.openxmlformats.org/officeDocument/2006/math">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𝐼</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𝐾𝐻</m:t>
                        </m:r>
                      </m:e>
                    </m:d>
                  </m:oMath>
                </a14:m>
                <a:r>
                  <a:rPr lang="en-US" sz="2300" dirty="0">
                    <a:latin typeface="Atkinson Hyperlegible Next"/>
                    <a:ea typeface="Arial"/>
                    <a:cs typeface="Arial"/>
                    <a:sym typeface="Arial"/>
                  </a:rPr>
                  <a:t> mean physically?</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Think of the Identity Matrix (</a:t>
                </a:r>
                <a14:m>
                  <m:oMath xmlns:m="http://schemas.openxmlformats.org/officeDocument/2006/math">
                    <m:r>
                      <a:rPr lang="en-US" sz="2300" i="1" dirty="0" smtClean="0">
                        <a:latin typeface="Cambria Math" panose="02040503050406030204" pitchFamily="18" charset="0"/>
                        <a:ea typeface="Arial"/>
                        <a:cs typeface="Arial"/>
                        <a:sym typeface="Arial"/>
                      </a:rPr>
                      <m:t>𝐼</m:t>
                    </m:r>
                  </m:oMath>
                </a14:m>
                <a:r>
                  <a:rPr lang="en-US" sz="2300" dirty="0">
                    <a:latin typeface="Atkinson Hyperlegible Next"/>
                    <a:ea typeface="Arial"/>
                    <a:cs typeface="Arial"/>
                    <a:sym typeface="Arial"/>
                  </a:rPr>
                  <a:t>) as the number 1, representing 100% of our previous uncertainty (</a:t>
                </a:r>
                <a14:m>
                  <m:oMath xmlns:m="http://schemas.openxmlformats.org/officeDocument/2006/math">
                    <m:sSub>
                      <m:sSubPr>
                        <m:ctrlPr>
                          <a:rPr lang="en-US" sz="2300" i="1">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𝑃</m:t>
                        </m:r>
                      </m:e>
                      <m:sub>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m:t>
                        </m:r>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−1</m:t>
                        </m:r>
                      </m:sub>
                    </m:sSub>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a:rPr lang="en-US" sz="2300" i="1" dirty="0" smtClean="0">
                        <a:latin typeface="Cambria Math" panose="02040503050406030204" pitchFamily="18" charset="0"/>
                        <a:ea typeface="Arial"/>
                        <a:cs typeface="Arial"/>
                        <a:sym typeface="Arial"/>
                      </a:rPr>
                      <m:t>𝐻</m:t>
                    </m:r>
                  </m:oMath>
                </a14:m>
                <a:r>
                  <a:rPr lang="en-US" sz="2300" dirty="0">
                    <a:latin typeface="Atkinson Hyperlegible Next"/>
                    <a:ea typeface="Arial"/>
                    <a:cs typeface="Arial"/>
                    <a:sym typeface="Arial"/>
                  </a:rPr>
                  <a:t> maps our state to the sensor. </a:t>
                </a:r>
              </a:p>
              <a:p>
                <a:pPr marL="0" indent="0">
                  <a:lnSpc>
                    <a:spcPct val="100000"/>
                  </a:lnSpc>
                  <a:spcBef>
                    <a:spcPts val="0"/>
                  </a:spcBef>
                  <a:buSzPts val="3000"/>
                  <a:buNone/>
                </a:pPr>
                <a14:m>
                  <m:oMath xmlns:m="http://schemas.openxmlformats.org/officeDocument/2006/math">
                    <m:r>
                      <a:rPr lang="en-US" sz="2300" i="1" dirty="0" smtClean="0">
                        <a:latin typeface="Cambria Math" panose="02040503050406030204" pitchFamily="18" charset="0"/>
                        <a:ea typeface="Arial"/>
                        <a:cs typeface="Arial"/>
                        <a:sym typeface="Arial"/>
                      </a:rPr>
                      <m:t>𝐾</m:t>
                    </m:r>
                  </m:oMath>
                </a14:m>
                <a:r>
                  <a:rPr lang="en-US" sz="2300" dirty="0">
                    <a:latin typeface="Atkinson Hyperlegible Next"/>
                    <a:ea typeface="Arial"/>
                    <a:cs typeface="Arial"/>
                    <a:sym typeface="Arial"/>
                  </a:rPr>
                  <a:t> is how much we trust the sensor.</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Therefore, </a:t>
                </a:r>
                <a14:m>
                  <m:oMath xmlns:m="http://schemas.openxmlformats.org/officeDocument/2006/math">
                    <m:r>
                      <a:rPr lang="en-US" sz="2300" i="1" dirty="0" smtClean="0">
                        <a:latin typeface="Cambria Math" panose="02040503050406030204" pitchFamily="18" charset="0"/>
                        <a:ea typeface="Arial"/>
                        <a:cs typeface="Arial"/>
                        <a:sym typeface="Arial"/>
                      </a:rPr>
                      <m:t>𝐾𝐻</m:t>
                    </m:r>
                  </m:oMath>
                </a14:m>
                <a:r>
                  <a:rPr lang="en-US" sz="2300" dirty="0">
                    <a:latin typeface="Atkinson Hyperlegible Next"/>
                    <a:ea typeface="Arial"/>
                    <a:cs typeface="Arial"/>
                    <a:sym typeface="Arial"/>
                  </a:rPr>
                  <a:t> is the </a:t>
                </a:r>
                <a:r>
                  <a:rPr lang="en-US" sz="2300" b="1" dirty="0">
                    <a:latin typeface="Atkinson Hyperlegible Next"/>
                    <a:ea typeface="Arial"/>
                    <a:cs typeface="Arial"/>
                    <a:sym typeface="Arial"/>
                  </a:rPr>
                  <a:t>percentage of uncertainty the sensor measurement removes</a:t>
                </a:r>
                <a:r>
                  <a:rPr lang="en-US" sz="2300" dirty="0">
                    <a:latin typeface="Atkinson Hyperlegible Next"/>
                    <a:ea typeface="Arial"/>
                    <a:cs typeface="Arial"/>
                    <a:sym typeface="Arial"/>
                  </a:rPr>
                  <a:t>. </a:t>
                </a:r>
              </a:p>
              <a:p>
                <a:pPr marL="0" indent="0">
                  <a:lnSpc>
                    <a:spcPct val="100000"/>
                  </a:lnSpc>
                  <a:spcBef>
                    <a:spcPts val="0"/>
                  </a:spcBef>
                  <a:buSzPts val="3000"/>
                  <a:buNone/>
                </a:pPr>
                <a:r>
                  <a:rPr lang="en-US" sz="2300" dirty="0">
                    <a:latin typeface="Atkinson Hyperlegible Next"/>
                    <a:ea typeface="Arial"/>
                    <a:cs typeface="Arial"/>
                    <a:sym typeface="Arial"/>
                  </a:rPr>
                  <a:t>If the sensor is completely useless (pure noise, K=0), what does the equation become? </a:t>
                </a:r>
              </a:p>
              <a:p>
                <a:pPr marL="0" indent="0" algn="ctr">
                  <a:lnSpc>
                    <a:spcPct val="100000"/>
                  </a:lnSpc>
                  <a:spcBef>
                    <a:spcPts val="0"/>
                  </a:spcBef>
                  <a:buSzPts val="3000"/>
                  <a:buNone/>
                </a:pPr>
                <a14:m>
                  <m:oMath xmlns:m="http://schemas.openxmlformats.org/officeDocument/2006/math">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𝑃</m:t>
                        </m:r>
                      </m:e>
                      <m:sub>
                        <m:r>
                          <a:rPr lang="en-US" sz="2300" i="1" smtClean="0">
                            <a:latin typeface="Cambria Math" panose="02040503050406030204" pitchFamily="18" charset="0"/>
                            <a:cs typeface="Arial"/>
                            <a:sym typeface="Arial"/>
                          </a:rPr>
                          <m:t>𝑛𝑒𝑤</m:t>
                        </m:r>
                      </m:sub>
                    </m:sSub>
                    <m:r>
                      <a:rPr lang="en-US" sz="2300" i="1" smtClean="0">
                        <a:latin typeface="Cambria Math" panose="02040503050406030204" pitchFamily="18" charset="0"/>
                        <a:cs typeface="Arial"/>
                        <a:sym typeface="Arial"/>
                      </a:rPr>
                      <m:t>=</m:t>
                    </m:r>
                    <m:d>
                      <m:dPr>
                        <m:ctrlPr>
                          <a:rPr lang="en-US" sz="2300" i="1" smtClean="0">
                            <a:latin typeface="Cambria Math" panose="02040503050406030204" pitchFamily="18" charset="0"/>
                            <a:cs typeface="Arial"/>
                            <a:sym typeface="Arial"/>
                          </a:rPr>
                        </m:ctrlPr>
                      </m:dPr>
                      <m:e>
                        <m:r>
                          <a:rPr lang="en-US" sz="2300" i="1" smtClean="0">
                            <a:latin typeface="Cambria Math" panose="02040503050406030204" pitchFamily="18" charset="0"/>
                            <a:cs typeface="Arial"/>
                            <a:sym typeface="Arial"/>
                          </a:rPr>
                          <m:t>𝐼</m:t>
                        </m:r>
                        <m:r>
                          <a:rPr lang="en-US" sz="2300" i="1" smtClean="0">
                            <a:latin typeface="Cambria Math" panose="02040503050406030204" pitchFamily="18" charset="0"/>
                            <a:cs typeface="Arial"/>
                            <a:sym typeface="Arial"/>
                          </a:rPr>
                          <m:t>−0</m:t>
                        </m:r>
                      </m:e>
                    </m:d>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𝑃</m:t>
                        </m:r>
                      </m:e>
                      <m:sub>
                        <m:r>
                          <a:rPr lang="en-US" sz="2300" i="1" smtClean="0">
                            <a:latin typeface="Cambria Math" panose="02040503050406030204" pitchFamily="18" charset="0"/>
                            <a:cs typeface="Arial"/>
                            <a:sym typeface="Arial"/>
                          </a:rPr>
                          <m:t>𝑜𝑙𝑑</m:t>
                        </m:r>
                      </m:sub>
                    </m:sSub>
                    <m:r>
                      <a:rPr lang="en-US" sz="2300" i="1" smtClean="0">
                        <a:latin typeface="Cambria Math" panose="02040503050406030204" pitchFamily="18" charset="0"/>
                        <a:cs typeface="Arial"/>
                        <a:sym typeface="Arial"/>
                      </a:rPr>
                      <m:t>=</m:t>
                    </m:r>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𝑃</m:t>
                        </m:r>
                      </m:e>
                      <m:sub>
                        <m:r>
                          <a:rPr lang="en-US" sz="2300" i="1" smtClean="0">
                            <a:latin typeface="Cambria Math" panose="02040503050406030204" pitchFamily="18" charset="0"/>
                            <a:cs typeface="Arial"/>
                            <a:sym typeface="Arial"/>
                          </a:rPr>
                          <m:t>𝑜𝑙𝑑</m:t>
                        </m:r>
                      </m:sub>
                    </m:sSub>
                  </m:oMath>
                </a14:m>
                <a:r>
                  <a:rPr lang="en-US" sz="2300" dirty="0">
                    <a:latin typeface="Atkinson Hyperlegible Next"/>
                    <a:ea typeface="Arial"/>
                    <a:cs typeface="Arial"/>
                    <a:sym typeface="Arial"/>
                  </a:rPr>
                  <a:t>. Our uncertainty doesn't shrink at all!</a:t>
                </a:r>
              </a:p>
            </p:txBody>
          </p:sp>
        </mc:Choice>
        <mc:Fallback xmlns="">
          <p:sp>
            <p:nvSpPr>
              <p:cNvPr id="118" name="Google Shape;118;p29">
                <a:extLst>
                  <a:ext uri="{FF2B5EF4-FFF2-40B4-BE49-F238E27FC236}">
                    <a16:creationId xmlns:a16="http://schemas.microsoft.com/office/drawing/2014/main" id="{508ECBD5-53EF-A828-F0F0-CA33C404223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56D4FED-072D-4925-AC4B-3C181247483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60C6C0C-18F7-78C5-2CEC-D622CFBBA9C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(33/39)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473F8A6-DB58-B672-DA65-2CC05B3C19D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B9323EB-2B7C-BD05-FF2D-60A6FF7E05F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B6ED305-2F67-8665-AF87-2AAA7DA23BD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4C95B91-31B3-8134-935D-7427F25A6C3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D68C02C-2AD8-B340-E1E2-C2A6F2C01B5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28E4CF7-203E-95BA-5314-4A7B9D184FB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9489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F7DFC41-D516-7E94-017E-B667648C557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C386CD8-0E24-AA79-BDA9-C20184EBA85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b="1" dirty="0">
                    <a:latin typeface="Atkinson Hyperlegible Next"/>
                    <a:ea typeface="Arial"/>
                    <a:cs typeface="Arial"/>
                    <a:sym typeface="Arial"/>
                  </a:rPr>
                  <a:t>Prediction:</a:t>
                </a: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State Prediction (Where do we think we are?):</a:t>
                </a:r>
                <a:endParaRPr lang="en-US" sz="2300" i="1" dirty="0">
                  <a:latin typeface="Cambria Math" panose="02040503050406030204" pitchFamily="18" charset="0"/>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𝑥</m:t>
                          </m:r>
                        </m:e>
                        <m:sub>
                          <m:r>
                            <a:rPr lang="en-US" sz="2300" i="1" smtClean="0">
                              <a:latin typeface="Cambria Math" panose="02040503050406030204" pitchFamily="18" charset="0"/>
                              <a:cs typeface="Arial"/>
                              <a:sym typeface="Arial"/>
                            </a:rPr>
                            <m:t>𝑘</m:t>
                          </m:r>
                          <m:r>
                            <a:rPr lang="en-US" sz="2300" b="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𝑘</m:t>
                          </m:r>
                          <m:r>
                            <a:rPr lang="en-US" sz="2300" i="1" smtClean="0">
                              <a:latin typeface="Cambria Math" panose="02040503050406030204" pitchFamily="18" charset="0"/>
                              <a:cs typeface="Arial"/>
                              <a:sym typeface="Arial"/>
                            </a:rPr>
                            <m:t>−1</m:t>
                          </m:r>
                        </m:sub>
                      </m:sSub>
                      <m:r>
                        <a:rPr lang="en-US" sz="230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𝐹</m:t>
                      </m:r>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𝑥</m:t>
                          </m:r>
                        </m:e>
                        <m:sub>
                          <m:r>
                            <a:rPr lang="en-US" sz="2300" i="1" smtClean="0">
                              <a:latin typeface="Cambria Math" panose="02040503050406030204" pitchFamily="18" charset="0"/>
                              <a:cs typeface="Arial"/>
                              <a:sym typeface="Arial"/>
                            </a:rPr>
                            <m:t>𝑘</m:t>
                          </m:r>
                          <m:r>
                            <a:rPr lang="en-US" sz="2300" i="1" smtClean="0">
                              <a:latin typeface="Cambria Math" panose="02040503050406030204" pitchFamily="18" charset="0"/>
                              <a:cs typeface="Arial"/>
                              <a:sym typeface="Arial"/>
                            </a:rPr>
                            <m:t>−1|</m:t>
                          </m:r>
                          <m:r>
                            <a:rPr lang="en-US" sz="2300" i="1" smtClean="0">
                              <a:latin typeface="Cambria Math" panose="02040503050406030204" pitchFamily="18" charset="0"/>
                              <a:cs typeface="Arial"/>
                              <a:sym typeface="Arial"/>
                            </a:rPr>
                            <m:t>𝑘</m:t>
                          </m:r>
                          <m:r>
                            <a:rPr lang="en-US" sz="2300" i="1" smtClean="0">
                              <a:latin typeface="Cambria Math" panose="02040503050406030204" pitchFamily="18" charset="0"/>
                              <a:cs typeface="Arial"/>
                              <a:sym typeface="Arial"/>
                            </a:rPr>
                            <m:t>−1</m:t>
                          </m:r>
                        </m:sub>
                      </m:sSub>
                      <m:r>
                        <a:rPr lang="en-US" sz="230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𝐵</m:t>
                      </m:r>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𝑢</m:t>
                          </m:r>
                        </m:e>
                        <m:sub>
                          <m:r>
                            <a:rPr lang="en-US" sz="2300" i="1" smtClean="0">
                              <a:latin typeface="Cambria Math" panose="02040503050406030204" pitchFamily="18" charset="0"/>
                              <a:cs typeface="Arial"/>
                              <a:sym typeface="Arial"/>
                            </a:rPr>
                            <m:t>𝑘</m:t>
                          </m:r>
                        </m:sub>
                      </m:sSub>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Covariance Prediction (How uncertain are we getting?):</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𝑃</m:t>
                          </m:r>
                        </m:e>
                        <m:sub>
                          <m:r>
                            <a:rPr lang="en-US" sz="2300" i="1" smtClean="0">
                              <a:latin typeface="Cambria Math" panose="02040503050406030204" pitchFamily="18" charset="0"/>
                              <a:cs typeface="Arial"/>
                              <a:sym typeface="Arial"/>
                            </a:rPr>
                            <m:t>𝑘</m:t>
                          </m:r>
                          <m:r>
                            <a:rPr lang="en-US" sz="2300" b="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𝑘</m:t>
                          </m:r>
                          <m:r>
                            <a:rPr lang="en-US" sz="2300" i="1" smtClean="0">
                              <a:latin typeface="Cambria Math" panose="02040503050406030204" pitchFamily="18" charset="0"/>
                              <a:cs typeface="Arial"/>
                              <a:sym typeface="Arial"/>
                            </a:rPr>
                            <m:t>−1</m:t>
                          </m:r>
                        </m:sub>
                      </m:sSub>
                      <m:r>
                        <a:rPr lang="en-US" sz="230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𝐹</m:t>
                      </m:r>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𝑃</m:t>
                          </m:r>
                        </m:e>
                        <m:sub>
                          <m:r>
                            <a:rPr lang="en-US" sz="2300" i="1" smtClean="0">
                              <a:latin typeface="Cambria Math" panose="02040503050406030204" pitchFamily="18" charset="0"/>
                              <a:cs typeface="Arial"/>
                              <a:sym typeface="Arial"/>
                            </a:rPr>
                            <m:t>𝑘</m:t>
                          </m:r>
                          <m:r>
                            <a:rPr lang="en-US" sz="2300" i="1" smtClean="0">
                              <a:latin typeface="Cambria Math" panose="02040503050406030204" pitchFamily="18" charset="0"/>
                              <a:cs typeface="Arial"/>
                              <a:sym typeface="Arial"/>
                            </a:rPr>
                            <m:t>−1|</m:t>
                          </m:r>
                          <m:r>
                            <a:rPr lang="en-US" sz="2300" i="1" smtClean="0">
                              <a:latin typeface="Cambria Math" panose="02040503050406030204" pitchFamily="18" charset="0"/>
                              <a:cs typeface="Arial"/>
                              <a:sym typeface="Arial"/>
                            </a:rPr>
                            <m:t>𝑘</m:t>
                          </m:r>
                          <m:r>
                            <a:rPr lang="en-US" sz="2300" i="1" smtClean="0">
                              <a:latin typeface="Cambria Math" panose="02040503050406030204" pitchFamily="18" charset="0"/>
                              <a:cs typeface="Arial"/>
                              <a:sym typeface="Arial"/>
                            </a:rPr>
                            <m:t>−1</m:t>
                          </m:r>
                        </m:sub>
                      </m:sSub>
                      <m:sSup>
                        <m:sSupPr>
                          <m:ctrlPr>
                            <a:rPr lang="en-US" sz="2300" i="1" smtClean="0">
                              <a:latin typeface="Cambria Math" panose="02040503050406030204" pitchFamily="18" charset="0"/>
                              <a:cs typeface="Arial"/>
                              <a:sym typeface="Arial"/>
                            </a:rPr>
                          </m:ctrlPr>
                        </m:sSupPr>
                        <m:e>
                          <m:r>
                            <a:rPr lang="en-US" sz="2300" i="1" smtClean="0">
                              <a:latin typeface="Cambria Math" panose="02040503050406030204" pitchFamily="18" charset="0"/>
                              <a:cs typeface="Arial"/>
                              <a:sym typeface="Arial"/>
                            </a:rPr>
                            <m:t>𝐹</m:t>
                          </m:r>
                        </m:e>
                        <m:sup>
                          <m:r>
                            <a:rPr lang="en-US" sz="2300" i="1" smtClean="0">
                              <a:latin typeface="Cambria Math" panose="02040503050406030204" pitchFamily="18" charset="0"/>
                              <a:cs typeface="Arial"/>
                              <a:sym typeface="Arial"/>
                            </a:rPr>
                            <m:t>𝑇</m:t>
                          </m:r>
                        </m:sup>
                      </m:sSup>
                      <m:r>
                        <a:rPr lang="en-US" sz="230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𝑄</m:t>
                      </m:r>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b="1" dirty="0">
                    <a:latin typeface="Atkinson Hyperlegible Next"/>
                    <a:ea typeface="Arial"/>
                    <a:cs typeface="Arial"/>
                    <a:sym typeface="Arial"/>
                  </a:rPr>
                  <a:t>Update</a:t>
                </a:r>
                <a:r>
                  <a:rPr lang="en-US" sz="2300" dirty="0">
                    <a:latin typeface="Atkinson Hyperlegible Next"/>
                    <a:ea typeface="Arial"/>
                    <a:cs typeface="Arial"/>
                    <a:sym typeface="Arial"/>
                  </a:rPr>
                  <a:t>:</a:t>
                </a:r>
              </a:p>
              <a:p>
                <a:pPr marL="0" indent="0">
                  <a:lnSpc>
                    <a:spcPct val="100000"/>
                  </a:lnSpc>
                  <a:spcBef>
                    <a:spcPts val="0"/>
                  </a:spcBef>
                  <a:buSzPts val="3000"/>
                  <a:buNone/>
                </a:pPr>
                <a:r>
                  <a:rPr lang="en-US" sz="2300" dirty="0">
                    <a:latin typeface="Atkinson Hyperlegible Next"/>
                    <a:ea typeface="Arial"/>
                    <a:cs typeface="Arial"/>
                    <a:sym typeface="Arial"/>
                  </a:rPr>
                  <a:t>The Kalman Gain (Who do we trust more?):</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𝐾</m:t>
                      </m:r>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𝐻</m:t>
                          </m:r>
                        </m:e>
                        <m:sup>
                          <m:r>
                            <a:rPr lang="en-US" sz="2300" i="1" dirty="0" smtClean="0">
                              <a:latin typeface="Cambria Math" panose="02040503050406030204" pitchFamily="18" charset="0"/>
                              <a:ea typeface="Arial"/>
                              <a:cs typeface="Arial"/>
                              <a:sym typeface="Arial"/>
                            </a:rPr>
                            <m:t>𝑇</m:t>
                          </m:r>
                        </m:sup>
                      </m:sSup>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𝐻</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𝐻</m:t>
                                  </m:r>
                                </m:e>
                                <m:sup>
                                  <m:r>
                                    <a:rPr lang="en-US" sz="2300" i="1" dirty="0" smtClean="0">
                                      <a:latin typeface="Cambria Math" panose="02040503050406030204" pitchFamily="18" charset="0"/>
                                      <a:ea typeface="Arial"/>
                                      <a:cs typeface="Arial"/>
                                      <a:sym typeface="Arial"/>
                                    </a:rPr>
                                    <m:t>𝑇</m:t>
                                  </m:r>
                                </m:sup>
                              </m:sSup>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𝑅</m:t>
                              </m:r>
                            </m:e>
                          </m:d>
                        </m:e>
                        <m:sup>
                          <m:r>
                            <a:rPr lang="en-US" sz="2300" i="1" dirty="0" smtClean="0">
                              <a:latin typeface="Cambria Math" panose="02040503050406030204" pitchFamily="18" charset="0"/>
                              <a:ea typeface="Arial"/>
                              <a:cs typeface="Arial"/>
                              <a:sym typeface="Arial"/>
                            </a:rPr>
                            <m:t>−1</m:t>
                          </m:r>
                        </m:sup>
                      </m:sSup>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State Update (Correcting our position):</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m:t>
                      </m:r>
                      <m:d>
                        <m:dPr>
                          <m:ctrlPr>
                            <a:rPr lang="en-US" sz="2300" i="1" dirty="0" smtClean="0">
                              <a:latin typeface="Cambria Math" panose="02040503050406030204" pitchFamily="18" charset="0"/>
                              <a:ea typeface="Arial"/>
                              <a:cs typeface="Arial"/>
                              <a:sym typeface="Arial"/>
                            </a:rPr>
                          </m:ctrlPr>
                        </m:dPr>
                        <m:e>
                          <m:sSub>
                            <m:sSubPr>
                              <m:ctrlPr>
                                <a:rPr lang="en-US" sz="2300" i="1" dirty="0" err="1" smtClean="0">
                                  <a:latin typeface="Cambria Math" panose="02040503050406030204" pitchFamily="18" charset="0"/>
                                  <a:ea typeface="Arial"/>
                                  <a:cs typeface="Arial"/>
                                  <a:sym typeface="Arial"/>
                                </a:rPr>
                              </m:ctrlPr>
                            </m:sSubPr>
                            <m:e>
                              <m:r>
                                <a:rPr lang="en-US" sz="2300" i="1" dirty="0" err="1" smtClean="0">
                                  <a:latin typeface="Cambria Math" panose="02040503050406030204" pitchFamily="18" charset="0"/>
                                  <a:ea typeface="Arial"/>
                                  <a:cs typeface="Arial"/>
                                  <a:sym typeface="Arial"/>
                                </a:rPr>
                                <m:t>𝑧</m:t>
                              </m:r>
                            </m:e>
                            <m:sub>
                              <m:r>
                                <a:rPr lang="en-US" sz="2300" i="1" dirty="0" err="1" smtClean="0">
                                  <a:latin typeface="Cambria Math" panose="02040503050406030204" pitchFamily="18" charset="0"/>
                                  <a:ea typeface="Arial"/>
                                  <a:cs typeface="Arial"/>
                                  <a:sym typeface="Arial"/>
                                </a:rPr>
                                <m:t>𝑘</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𝐻</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Covariance Update (Shrinking our uncertainty):</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sub>
                      </m:sSub>
                      <m:r>
                        <a:rPr lang="en-US" sz="2300" i="1" dirty="0" smtClean="0">
                          <a:latin typeface="Cambria Math" panose="02040503050406030204" pitchFamily="18" charset="0"/>
                          <a:ea typeface="Arial"/>
                          <a:cs typeface="Arial"/>
                          <a:sym typeface="Arial"/>
                        </a:rPr>
                        <m:t>=</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𝐼</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𝐾𝐻</m:t>
                          </m:r>
                        </m:e>
                      </m:d>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oMath>
                  </m:oMathPara>
                </a14:m>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8C386CD8-0E24-AA79-BDA9-C20184EBA85D}"/>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b="-341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65CE801-BAB7-A218-9AB6-AC59568D41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009875A-EDAF-C7F8-E0FB-D9FE2CC5B03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(34/39)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53636CA-143C-A6E6-E065-7B439B068A4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AACB31D-AB74-231E-C81B-B6C2E9D36F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E655265-183E-41C1-028A-00677A217C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B5225A8-6CA1-D221-A30C-DB94FDE827B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EB6ACB1-ACDF-5EE4-9493-248A6C36551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B67D41D-248D-DEC3-4302-4CAC0F980F4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419897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D8AEEAF-DD7F-FDD5-F0A4-0106A263232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3200EB2-CF9A-5D3D-3146-58E18650A71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65A6397-DEBB-BF1E-DDC8-281F16FF509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(35/39)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FFDF86A-2C63-3430-D379-93D523263ED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E555416-5570-4699-D86F-D3F14E2D8D3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DE6F546-5ED5-8698-1C6B-1122009AA18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6BB8AD6-9E40-2413-A4B9-AD895C60BC9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E2A915F-BEF3-EE49-DD69-BC8012DE2F8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9FE8DEB-BF5E-2B33-F489-DFB3CB80C0A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AC61F16-A724-2BED-6A48-95709F44506D}"/>
                  </a:ext>
                </a:extLst>
              </p:cNvPr>
              <p:cNvGraphicFramePr>
                <a:graphicFrameLocks noGrp="1"/>
              </p:cNvGraphicFramePr>
              <p:nvPr>
                <p:extLst>
                  <p:ext uri="{D42A27DB-BD31-4B8C-83A1-F6EECF244321}">
                    <p14:modId xmlns:p14="http://schemas.microsoft.com/office/powerpoint/2010/main" val="2381280231"/>
                  </p:ext>
                </p:extLst>
              </p:nvPr>
            </p:nvGraphicFramePr>
            <p:xfrm>
              <a:off x="159718" y="2065343"/>
              <a:ext cx="11732644" cy="3113342"/>
            </p:xfrm>
            <a:graphic>
              <a:graphicData uri="http://schemas.openxmlformats.org/drawingml/2006/table">
                <a:tbl>
                  <a:tblPr firstRow="1" bandRow="1">
                    <a:tableStyleId>{5C22544A-7EE6-4342-B048-85BDC9FD1C3A}</a:tableStyleId>
                  </a:tblPr>
                  <a:tblGrid>
                    <a:gridCol w="1534402">
                      <a:extLst>
                        <a:ext uri="{9D8B030D-6E8A-4147-A177-3AD203B41FA5}">
                          <a16:colId xmlns:a16="http://schemas.microsoft.com/office/drawing/2014/main" val="3920864192"/>
                        </a:ext>
                      </a:extLst>
                    </a:gridCol>
                    <a:gridCol w="2095642">
                      <a:extLst>
                        <a:ext uri="{9D8B030D-6E8A-4147-A177-3AD203B41FA5}">
                          <a16:colId xmlns:a16="http://schemas.microsoft.com/office/drawing/2014/main" val="1103532210"/>
                        </a:ext>
                      </a:extLst>
                    </a:gridCol>
                    <a:gridCol w="2101850">
                      <a:extLst>
                        <a:ext uri="{9D8B030D-6E8A-4147-A177-3AD203B41FA5}">
                          <a16:colId xmlns:a16="http://schemas.microsoft.com/office/drawing/2014/main" val="1613415694"/>
                        </a:ext>
                      </a:extLst>
                    </a:gridCol>
                    <a:gridCol w="6000750">
                      <a:extLst>
                        <a:ext uri="{9D8B030D-6E8A-4147-A177-3AD203B41FA5}">
                          <a16:colId xmlns:a16="http://schemas.microsoft.com/office/drawing/2014/main" val="2886094722"/>
                        </a:ext>
                      </a:extLst>
                    </a:gridCol>
                  </a:tblGrid>
                  <a:tr h="365760">
                    <a:tc>
                      <a:txBody>
                        <a:bodyPr/>
                        <a:lstStyle/>
                        <a:p>
                          <a:pPr algn="ctr"/>
                          <a:r>
                            <a:rPr lang="en-US" dirty="0"/>
                            <a:t>Concept</a:t>
                          </a:r>
                        </a:p>
                      </a:txBody>
                      <a:tcPr/>
                    </a:tc>
                    <a:tc>
                      <a:txBody>
                        <a:bodyPr/>
                        <a:lstStyle/>
                        <a:p>
                          <a:pPr algn="ctr"/>
                          <a:r>
                            <a:rPr lang="en-US" dirty="0"/>
                            <a:t>1D (Scalar)</a:t>
                          </a:r>
                        </a:p>
                      </a:txBody>
                      <a:tcPr/>
                    </a:tc>
                    <a:tc>
                      <a:txBody>
                        <a:bodyPr/>
                        <a:lstStyle/>
                        <a:p>
                          <a:pPr algn="ctr"/>
                          <a:r>
                            <a:rPr lang="en-US" dirty="0"/>
                            <a:t>N-dimensional (Matrix)</a:t>
                          </a:r>
                        </a:p>
                      </a:txBody>
                      <a:tcPr/>
                    </a:tc>
                    <a:tc>
                      <a:txBody>
                        <a:bodyPr/>
                        <a:lstStyle/>
                        <a:p>
                          <a:pPr algn="ctr"/>
                          <a:r>
                            <a:rPr lang="en-US" dirty="0"/>
                            <a:t>Description</a:t>
                          </a:r>
                        </a:p>
                      </a:txBody>
                      <a:tcPr/>
                    </a:tc>
                    <a:extLst>
                      <a:ext uri="{0D108BD9-81ED-4DB2-BD59-A6C34878D82A}">
                        <a16:rowId xmlns:a16="http://schemas.microsoft.com/office/drawing/2014/main" val="2301377319"/>
                      </a:ext>
                    </a:extLst>
                  </a:tr>
                  <a:tr h="0">
                    <a:tc>
                      <a:txBody>
                        <a:bodyPr/>
                        <a:lstStyle/>
                        <a:p>
                          <a:r>
                            <a:rPr lang="en-US" b="1" dirty="0"/>
                            <a:t>State</a:t>
                          </a:r>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𝜇</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𝑥</m:t>
                                </m:r>
                              </m:oMath>
                            </m:oMathPara>
                          </a14:m>
                          <a:endParaRPr lang="en-US" dirty="0"/>
                        </a:p>
                      </a:txBody>
                      <a:tcPr/>
                    </a:tc>
                    <a:tc>
                      <a:txBody>
                        <a:bodyPr/>
                        <a:lstStyle/>
                        <a:p>
                          <a:r>
                            <a:rPr lang="en-US" dirty="0"/>
                            <a:t>The robot's current estimated condition (Position, Velocity, etc.)</a:t>
                          </a:r>
                        </a:p>
                      </a:txBody>
                      <a:tcPr/>
                    </a:tc>
                    <a:extLst>
                      <a:ext uri="{0D108BD9-81ED-4DB2-BD59-A6C34878D82A}">
                        <a16:rowId xmlns:a16="http://schemas.microsoft.com/office/drawing/2014/main" val="938139900"/>
                      </a:ext>
                    </a:extLst>
                  </a:tr>
                  <a:tr h="0">
                    <a:tc>
                      <a:txBody>
                        <a:bodyPr/>
                        <a:lstStyle/>
                        <a:p>
                          <a:r>
                            <a:rPr lang="en-US" b="1" dirty="0"/>
                            <a:t>Uncertainty</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oMath>
                            </m:oMathPara>
                          </a14:m>
                          <a:endParaRPr lang="en-US" dirty="0"/>
                        </a:p>
                      </a:txBody>
                      <a:tcPr/>
                    </a:tc>
                    <a:tc>
                      <a:txBody>
                        <a:bodyPr/>
                        <a:lstStyle/>
                        <a:p>
                          <a:r>
                            <a:rPr lang="en-US" dirty="0"/>
                            <a:t>How unsure we are about the state (Variance / Covariance Matrix)</a:t>
                          </a:r>
                        </a:p>
                      </a:txBody>
                      <a:tcPr/>
                    </a:tc>
                    <a:extLst>
                      <a:ext uri="{0D108BD9-81ED-4DB2-BD59-A6C34878D82A}">
                        <a16:rowId xmlns:a16="http://schemas.microsoft.com/office/drawing/2014/main" val="1052411826"/>
                      </a:ext>
                    </a:extLst>
                  </a:tr>
                  <a:tr h="0">
                    <a:tc>
                      <a:txBody>
                        <a:bodyPr/>
                        <a:lstStyle/>
                        <a:p>
                          <a:r>
                            <a:rPr lang="en-US" b="1" dirty="0"/>
                            <a:t>Physics Model</a:t>
                          </a:r>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𝑎</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𝐹</m:t>
                                </m:r>
                              </m:oMath>
                            </m:oMathPara>
                          </a14:m>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How the state naturally evolves over time (State Transition / Jacobian)</a:t>
                          </a:r>
                          <a:endParaRPr lang="en-US" dirty="0"/>
                        </a:p>
                      </a:txBody>
                      <a:tcPr/>
                    </a:tc>
                    <a:extLst>
                      <a:ext uri="{0D108BD9-81ED-4DB2-BD59-A6C34878D82A}">
                        <a16:rowId xmlns:a16="http://schemas.microsoft.com/office/drawing/2014/main" val="341423068"/>
                      </a:ext>
                    </a:extLst>
                  </a:tr>
                  <a:tr h="0">
                    <a:tc>
                      <a:txBody>
                        <a:bodyPr/>
                        <a:lstStyle/>
                        <a:p>
                          <a:r>
                            <a:rPr lang="en-US" b="1" dirty="0"/>
                            <a:t>Process Noise</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𝑚𝑜𝑣𝑒</m:t>
                                    </m:r>
                                  </m:sub>
                                  <m:sup>
                                    <m:r>
                                      <a:rPr lang="en-US" i="1">
                                        <a:latin typeface="Cambria Math" panose="02040503050406030204" pitchFamily="18" charset="0"/>
                                      </a:rPr>
                                      <m:t>2</m:t>
                                    </m:r>
                                  </m:sup>
                                </m:sSub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𝑄</m:t>
                                </m:r>
                              </m:oMath>
                            </m:oMathPara>
                          </a14:m>
                          <a:endParaRPr lang="en-US" dirty="0"/>
                        </a:p>
                      </a:txBody>
                      <a:tcPr/>
                    </a:tc>
                    <a:tc>
                      <a:txBody>
                        <a:bodyPr/>
                        <a:lstStyle/>
                        <a:p>
                          <a:r>
                            <a:rPr lang="en-US" dirty="0"/>
                            <a:t>Uncertainty added simply by moving / imperfections in the physics model</a:t>
                          </a:r>
                        </a:p>
                      </a:txBody>
                      <a:tcPr/>
                    </a:tc>
                    <a:extLst>
                      <a:ext uri="{0D108BD9-81ED-4DB2-BD59-A6C34878D82A}">
                        <a16:rowId xmlns:a16="http://schemas.microsoft.com/office/drawing/2014/main" val="3886846778"/>
                      </a:ext>
                    </a:extLst>
                  </a:tr>
                  <a:tr h="0">
                    <a:tc>
                      <a:txBody>
                        <a:bodyPr/>
                        <a:lstStyle/>
                        <a:p>
                          <a:r>
                            <a:rPr lang="en-US" b="1" dirty="0"/>
                            <a:t>Sensor Model</a:t>
                          </a:r>
                        </a:p>
                      </a:txBody>
                      <a:tcPr/>
                    </a:tc>
                    <a:tc>
                      <a:txBody>
                        <a:bodyPr/>
                        <a:lstStyle/>
                        <a:p>
                          <a:pPr algn="ctr"/>
                          <a:r>
                            <a:rPr lang="en-US" dirty="0"/>
                            <a:t>1 (direct)</a:t>
                          </a:r>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𝐻</m:t>
                                </m:r>
                              </m:oMath>
                            </m:oMathPara>
                          </a14:m>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Translates internal state space into the format the sensor outputs</a:t>
                          </a:r>
                          <a:endParaRPr lang="en-US" dirty="0"/>
                        </a:p>
                      </a:txBody>
                      <a:tcPr/>
                    </a:tc>
                    <a:extLst>
                      <a:ext uri="{0D108BD9-81ED-4DB2-BD59-A6C34878D82A}">
                        <a16:rowId xmlns:a16="http://schemas.microsoft.com/office/drawing/2014/main" val="401781755"/>
                      </a:ext>
                    </a:extLst>
                  </a:tr>
                  <a:tr h="0">
                    <a:tc>
                      <a:txBody>
                        <a:bodyPr/>
                        <a:lstStyle/>
                        <a:p>
                          <a:r>
                            <a:rPr lang="en-US" b="1" dirty="0"/>
                            <a:t>Sensor Noise</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𝑠𝑒𝑛𝑠𝑜𝑟</m:t>
                                    </m:r>
                                  </m:sub>
                                  <m:sup>
                                    <m:r>
                                      <a:rPr lang="en-US" i="1">
                                        <a:latin typeface="Cambria Math" panose="02040503050406030204" pitchFamily="18" charset="0"/>
                                      </a:rPr>
                                      <m:t>2</m:t>
                                    </m:r>
                                  </m:sup>
                                </m:sSub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m:t>
                                </m:r>
                              </m:oMath>
                            </m:oMathPara>
                          </a14:m>
                          <a:endParaRPr lang="en-US" dirty="0"/>
                        </a:p>
                      </a:txBody>
                      <a:tcPr/>
                    </a:tc>
                    <a:tc>
                      <a:txBody>
                        <a:bodyPr/>
                        <a:lstStyle/>
                        <a:p>
                          <a:r>
                            <a:rPr lang="en-US" dirty="0"/>
                            <a:t>The inherent electrical/mechanical noise of the specific sensor</a:t>
                          </a:r>
                        </a:p>
                      </a:txBody>
                      <a:tcPr/>
                    </a:tc>
                    <a:extLst>
                      <a:ext uri="{0D108BD9-81ED-4DB2-BD59-A6C34878D82A}">
                        <a16:rowId xmlns:a16="http://schemas.microsoft.com/office/drawing/2014/main" val="2905781874"/>
                      </a:ext>
                    </a:extLst>
                  </a:tr>
                  <a:tr h="0">
                    <a:tc>
                      <a:txBody>
                        <a:bodyPr/>
                        <a:lstStyle/>
                        <a:p>
                          <a:r>
                            <a:rPr lang="en-US" b="1" dirty="0"/>
                            <a:t>Measurement</a:t>
                          </a:r>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𝑧</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𝑧</m:t>
                                </m:r>
                              </m:oMath>
                            </m:oMathPara>
                          </a14:m>
                          <a:endParaRPr lang="en-US" dirty="0"/>
                        </a:p>
                      </a:txBody>
                      <a:tcPr/>
                    </a:tc>
                    <a:tc>
                      <a:txBody>
                        <a:bodyPr/>
                        <a:lstStyle/>
                        <a:p>
                          <a:r>
                            <a:rPr lang="en-US" dirty="0"/>
                            <a:t>The raw data point provided by the sensor (LiDAR, Encoders, etc.)</a:t>
                          </a:r>
                        </a:p>
                      </a:txBody>
                      <a:tcPr/>
                    </a:tc>
                    <a:extLst>
                      <a:ext uri="{0D108BD9-81ED-4DB2-BD59-A6C34878D82A}">
                        <a16:rowId xmlns:a16="http://schemas.microsoft.com/office/drawing/2014/main" val="3762659002"/>
                      </a:ext>
                    </a:extLst>
                  </a:tr>
                  <a:tr h="0">
                    <a:tc>
                      <a:txBody>
                        <a:bodyPr/>
                        <a:lstStyle/>
                        <a:p>
                          <a:r>
                            <a:rPr lang="en-US" b="1" dirty="0"/>
                            <a:t>Kalman Gain</a:t>
                          </a:r>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𝐾</m:t>
                                </m:r>
                                <m:r>
                                  <a:rPr lang="en-US"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𝑝𝑟𝑒𝑑</m:t>
                                        </m:r>
                                      </m:sub>
                                      <m:sup>
                                        <m:r>
                                          <a:rPr lang="en-US" i="1">
                                            <a:latin typeface="Cambria Math" panose="02040503050406030204" pitchFamily="18" charset="0"/>
                                          </a:rPr>
                                          <m:t>2</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𝑝𝑟𝑒𝑑</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𝑠𝑒𝑛𝑠𝑜𝑟</m:t>
                                        </m:r>
                                      </m:sub>
                                      <m:sup>
                                        <m:r>
                                          <a:rPr lang="en-US" i="1">
                                            <a:latin typeface="Cambria Math" panose="02040503050406030204" pitchFamily="18" charset="0"/>
                                          </a:rPr>
                                          <m:t>2</m:t>
                                        </m:r>
                                      </m:sup>
                                    </m:sSubSup>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𝐾</m:t>
                                </m:r>
                                <m:r>
                                  <a:rPr lang="en-US" i="1" smtClean="0">
                                    <a:latin typeface="Cambria Math" panose="02040503050406030204" pitchFamily="18" charset="0"/>
                                  </a:rPr>
                                  <m:t>=</m:t>
                                </m:r>
                                <m:r>
                                  <a:rPr lang="en-US" i="1" smtClean="0">
                                    <a:latin typeface="Cambria Math" panose="02040503050406030204" pitchFamily="18" charset="0"/>
                                  </a:rPr>
                                  <m:t>𝑃</m:t>
                                </m:r>
                                <m:sSup>
                                  <m:sSupPr>
                                    <m:ctrlPr>
                                      <a:rPr lang="en-US" i="1">
                                        <a:latin typeface="Cambria Math" panose="02040503050406030204" pitchFamily="18" charset="0"/>
                                      </a:rPr>
                                    </m:ctrlPr>
                                  </m:sSupPr>
                                  <m:e>
                                    <m:r>
                                      <a:rPr lang="en-US" i="1">
                                        <a:latin typeface="Cambria Math" panose="02040503050406030204" pitchFamily="18" charset="0"/>
                                      </a:rPr>
                                      <m:t>𝐻</m:t>
                                    </m:r>
                                  </m:e>
                                  <m:sup>
                                    <m:r>
                                      <a:rPr lang="en-US" i="1">
                                        <a:latin typeface="Cambria Math" panose="02040503050406030204" pitchFamily="18" charset="0"/>
                                      </a:rPr>
                                      <m:t>𝑇</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𝐻𝑃</m:t>
                                        </m:r>
                                        <m:sSup>
                                          <m:sSupPr>
                                            <m:ctrlPr>
                                              <a:rPr lang="en-US" i="1">
                                                <a:latin typeface="Cambria Math" panose="02040503050406030204" pitchFamily="18" charset="0"/>
                                              </a:rPr>
                                            </m:ctrlPr>
                                          </m:sSupPr>
                                          <m:e>
                                            <m:r>
                                              <a:rPr lang="en-US" i="1">
                                                <a:latin typeface="Cambria Math" panose="02040503050406030204" pitchFamily="18" charset="0"/>
                                              </a:rPr>
                                              <m:t>𝐻</m:t>
                                            </m:r>
                                          </m:e>
                                          <m:sup>
                                            <m:r>
                                              <a:rPr lang="en-US" i="1">
                                                <a:latin typeface="Cambria Math" panose="02040503050406030204" pitchFamily="18" charset="0"/>
                                              </a:rPr>
                                              <m:t>𝑇</m:t>
                                            </m:r>
                                          </m:sup>
                                        </m:sSup>
                                        <m:r>
                                          <a:rPr lang="en-US" i="1">
                                            <a:latin typeface="Cambria Math" panose="02040503050406030204" pitchFamily="18" charset="0"/>
                                          </a:rPr>
                                          <m:t>+</m:t>
                                        </m:r>
                                        <m:r>
                                          <a:rPr lang="en-US" i="1">
                                            <a:latin typeface="Cambria Math" panose="02040503050406030204" pitchFamily="18" charset="0"/>
                                          </a:rPr>
                                          <m:t>𝑅</m:t>
                                        </m:r>
                                      </m:e>
                                    </m:d>
                                  </m:e>
                                  <m:sup>
                                    <m:r>
                                      <a:rPr lang="en-US" i="1">
                                        <a:latin typeface="Cambria Math" panose="02040503050406030204" pitchFamily="18" charset="0"/>
                                      </a:rPr>
                                      <m:t>−1</m:t>
                                    </m:r>
                                  </m:sup>
                                </m:sSup>
                              </m:oMath>
                            </m:oMathPara>
                          </a14:m>
                          <a:endParaRPr lang="en-US" dirty="0"/>
                        </a:p>
                      </a:txBody>
                      <a:tcPr/>
                    </a:tc>
                    <a:tc>
                      <a:txBody>
                        <a:bodyPr/>
                        <a:lstStyle/>
                        <a:p>
                          <a:r>
                            <a:rPr lang="en-US" dirty="0"/>
                            <a:t>The dynamic weight that decides whether to trust the model or the sensor</a:t>
                          </a:r>
                        </a:p>
                      </a:txBody>
                      <a:tcPr/>
                    </a:tc>
                    <a:extLst>
                      <a:ext uri="{0D108BD9-81ED-4DB2-BD59-A6C34878D82A}">
                        <a16:rowId xmlns:a16="http://schemas.microsoft.com/office/drawing/2014/main" val="1403763760"/>
                      </a:ext>
                    </a:extLst>
                  </a:tr>
                </a:tbl>
              </a:graphicData>
            </a:graphic>
          </p:graphicFrame>
        </mc:Choice>
        <mc:Fallback xmlns="">
          <p:graphicFrame>
            <p:nvGraphicFramePr>
              <p:cNvPr id="3" name="Table 2">
                <a:extLst>
                  <a:ext uri="{FF2B5EF4-FFF2-40B4-BE49-F238E27FC236}">
                    <a16:creationId xmlns:a16="http://schemas.microsoft.com/office/drawing/2014/main" id="{3AC61F16-A724-2BED-6A48-95709F44506D}"/>
                  </a:ext>
                </a:extLst>
              </p:cNvPr>
              <p:cNvGraphicFramePr>
                <a:graphicFrameLocks noGrp="1"/>
              </p:cNvGraphicFramePr>
              <p:nvPr>
                <p:extLst>
                  <p:ext uri="{D42A27DB-BD31-4B8C-83A1-F6EECF244321}">
                    <p14:modId xmlns:p14="http://schemas.microsoft.com/office/powerpoint/2010/main" val="2381280231"/>
                  </p:ext>
                </p:extLst>
              </p:nvPr>
            </p:nvGraphicFramePr>
            <p:xfrm>
              <a:off x="159718" y="2065343"/>
              <a:ext cx="11732644" cy="3113342"/>
            </p:xfrm>
            <a:graphic>
              <a:graphicData uri="http://schemas.openxmlformats.org/drawingml/2006/table">
                <a:tbl>
                  <a:tblPr firstRow="1" bandRow="1">
                    <a:tableStyleId>{5C22544A-7EE6-4342-B048-85BDC9FD1C3A}</a:tableStyleId>
                  </a:tblPr>
                  <a:tblGrid>
                    <a:gridCol w="1534402">
                      <a:extLst>
                        <a:ext uri="{9D8B030D-6E8A-4147-A177-3AD203B41FA5}">
                          <a16:colId xmlns:a16="http://schemas.microsoft.com/office/drawing/2014/main" val="3920864192"/>
                        </a:ext>
                      </a:extLst>
                    </a:gridCol>
                    <a:gridCol w="2095642">
                      <a:extLst>
                        <a:ext uri="{9D8B030D-6E8A-4147-A177-3AD203B41FA5}">
                          <a16:colId xmlns:a16="http://schemas.microsoft.com/office/drawing/2014/main" val="1103532210"/>
                        </a:ext>
                      </a:extLst>
                    </a:gridCol>
                    <a:gridCol w="2101850">
                      <a:extLst>
                        <a:ext uri="{9D8B030D-6E8A-4147-A177-3AD203B41FA5}">
                          <a16:colId xmlns:a16="http://schemas.microsoft.com/office/drawing/2014/main" val="1613415694"/>
                        </a:ext>
                      </a:extLst>
                    </a:gridCol>
                    <a:gridCol w="6000750">
                      <a:extLst>
                        <a:ext uri="{9D8B030D-6E8A-4147-A177-3AD203B41FA5}">
                          <a16:colId xmlns:a16="http://schemas.microsoft.com/office/drawing/2014/main" val="2886094722"/>
                        </a:ext>
                      </a:extLst>
                    </a:gridCol>
                  </a:tblGrid>
                  <a:tr h="365760">
                    <a:tc>
                      <a:txBody>
                        <a:bodyPr/>
                        <a:lstStyle/>
                        <a:p>
                          <a:pPr algn="ctr"/>
                          <a:r>
                            <a:rPr lang="en-US" dirty="0"/>
                            <a:t>Concept</a:t>
                          </a:r>
                        </a:p>
                      </a:txBody>
                      <a:tcPr/>
                    </a:tc>
                    <a:tc>
                      <a:txBody>
                        <a:bodyPr/>
                        <a:lstStyle/>
                        <a:p>
                          <a:pPr algn="ctr"/>
                          <a:r>
                            <a:rPr lang="en-US" dirty="0"/>
                            <a:t>1D (Scalar)</a:t>
                          </a:r>
                        </a:p>
                      </a:txBody>
                      <a:tcPr/>
                    </a:tc>
                    <a:tc>
                      <a:txBody>
                        <a:bodyPr/>
                        <a:lstStyle/>
                        <a:p>
                          <a:pPr algn="ctr"/>
                          <a:r>
                            <a:rPr lang="en-US" dirty="0"/>
                            <a:t>N-dimensional (Matrix)</a:t>
                          </a:r>
                        </a:p>
                      </a:txBody>
                      <a:tcPr/>
                    </a:tc>
                    <a:tc>
                      <a:txBody>
                        <a:bodyPr/>
                        <a:lstStyle/>
                        <a:p>
                          <a:pPr algn="ctr"/>
                          <a:r>
                            <a:rPr lang="en-US" dirty="0"/>
                            <a:t>Description</a:t>
                          </a:r>
                        </a:p>
                      </a:txBody>
                      <a:tcPr/>
                    </a:tc>
                    <a:extLst>
                      <a:ext uri="{0D108BD9-81ED-4DB2-BD59-A6C34878D82A}">
                        <a16:rowId xmlns:a16="http://schemas.microsoft.com/office/drawing/2014/main" val="2301377319"/>
                      </a:ext>
                    </a:extLst>
                  </a:tr>
                  <a:tr h="304800">
                    <a:tc>
                      <a:txBody>
                        <a:bodyPr/>
                        <a:lstStyle/>
                        <a:p>
                          <a:r>
                            <a:rPr lang="en-US" b="1" dirty="0"/>
                            <a:t>State</a:t>
                          </a:r>
                        </a:p>
                      </a:txBody>
                      <a:tcPr/>
                    </a:tc>
                    <a:tc>
                      <a:txBody>
                        <a:bodyPr/>
                        <a:lstStyle/>
                        <a:p>
                          <a:endParaRPr lang="en-US"/>
                        </a:p>
                      </a:txBody>
                      <a:tcPr>
                        <a:blipFill>
                          <a:blip r:embed="rId4"/>
                          <a:stretch>
                            <a:fillRect l="-73547" t="-122000" r="-387791" b="-808000"/>
                          </a:stretch>
                        </a:blipFill>
                      </a:tcPr>
                    </a:tc>
                    <a:tc>
                      <a:txBody>
                        <a:bodyPr/>
                        <a:lstStyle/>
                        <a:p>
                          <a:endParaRPr lang="en-US"/>
                        </a:p>
                      </a:txBody>
                      <a:tcPr>
                        <a:blipFill>
                          <a:blip r:embed="rId4"/>
                          <a:stretch>
                            <a:fillRect l="-173547" t="-122000" r="-287791" b="-808000"/>
                          </a:stretch>
                        </a:blipFill>
                      </a:tcPr>
                    </a:tc>
                    <a:tc>
                      <a:txBody>
                        <a:bodyPr/>
                        <a:lstStyle/>
                        <a:p>
                          <a:r>
                            <a:rPr lang="en-US" dirty="0"/>
                            <a:t>The robot's current estimated condition (Position, Velocity, etc.)</a:t>
                          </a:r>
                        </a:p>
                      </a:txBody>
                      <a:tcPr/>
                    </a:tc>
                    <a:extLst>
                      <a:ext uri="{0D108BD9-81ED-4DB2-BD59-A6C34878D82A}">
                        <a16:rowId xmlns:a16="http://schemas.microsoft.com/office/drawing/2014/main" val="938139900"/>
                      </a:ext>
                    </a:extLst>
                  </a:tr>
                  <a:tr h="304800">
                    <a:tc>
                      <a:txBody>
                        <a:bodyPr/>
                        <a:lstStyle/>
                        <a:p>
                          <a:r>
                            <a:rPr lang="en-US" b="1" dirty="0"/>
                            <a:t>Uncertainty</a:t>
                          </a:r>
                        </a:p>
                      </a:txBody>
                      <a:tcPr/>
                    </a:tc>
                    <a:tc>
                      <a:txBody>
                        <a:bodyPr/>
                        <a:lstStyle/>
                        <a:p>
                          <a:endParaRPr lang="en-US"/>
                        </a:p>
                      </a:txBody>
                      <a:tcPr>
                        <a:blipFill>
                          <a:blip r:embed="rId4"/>
                          <a:stretch>
                            <a:fillRect l="-73547" t="-222000" r="-387791" b="-708000"/>
                          </a:stretch>
                        </a:blipFill>
                      </a:tcPr>
                    </a:tc>
                    <a:tc>
                      <a:txBody>
                        <a:bodyPr/>
                        <a:lstStyle/>
                        <a:p>
                          <a:endParaRPr lang="en-US"/>
                        </a:p>
                      </a:txBody>
                      <a:tcPr>
                        <a:blipFill>
                          <a:blip r:embed="rId4"/>
                          <a:stretch>
                            <a:fillRect l="-173547" t="-222000" r="-287791" b="-708000"/>
                          </a:stretch>
                        </a:blipFill>
                      </a:tcPr>
                    </a:tc>
                    <a:tc>
                      <a:txBody>
                        <a:bodyPr/>
                        <a:lstStyle/>
                        <a:p>
                          <a:r>
                            <a:rPr lang="en-US" dirty="0"/>
                            <a:t>How unsure we are about the state (Variance / Covariance Matrix)</a:t>
                          </a:r>
                        </a:p>
                      </a:txBody>
                      <a:tcPr/>
                    </a:tc>
                    <a:extLst>
                      <a:ext uri="{0D108BD9-81ED-4DB2-BD59-A6C34878D82A}">
                        <a16:rowId xmlns:a16="http://schemas.microsoft.com/office/drawing/2014/main" val="1052411826"/>
                      </a:ext>
                    </a:extLst>
                  </a:tr>
                  <a:tr h="304800">
                    <a:tc>
                      <a:txBody>
                        <a:bodyPr/>
                        <a:lstStyle/>
                        <a:p>
                          <a:r>
                            <a:rPr lang="en-US" b="1" dirty="0"/>
                            <a:t>Physics Model</a:t>
                          </a:r>
                        </a:p>
                      </a:txBody>
                      <a:tcPr/>
                    </a:tc>
                    <a:tc>
                      <a:txBody>
                        <a:bodyPr/>
                        <a:lstStyle/>
                        <a:p>
                          <a:endParaRPr lang="en-US"/>
                        </a:p>
                      </a:txBody>
                      <a:tcPr>
                        <a:blipFill>
                          <a:blip r:embed="rId4"/>
                          <a:stretch>
                            <a:fillRect l="-73547" t="-315686" r="-387791" b="-594118"/>
                          </a:stretch>
                        </a:blipFill>
                      </a:tcPr>
                    </a:tc>
                    <a:tc>
                      <a:txBody>
                        <a:bodyPr/>
                        <a:lstStyle/>
                        <a:p>
                          <a:endParaRPr lang="en-US"/>
                        </a:p>
                      </a:txBody>
                      <a:tcPr>
                        <a:blipFill>
                          <a:blip r:embed="rId4"/>
                          <a:stretch>
                            <a:fillRect l="-173547" t="-315686" r="-287791" b="-594118"/>
                          </a:stretch>
                        </a:blipFill>
                      </a:tcPr>
                    </a:tc>
                    <a:tc>
                      <a:txBody>
                        <a:bodyPr/>
                        <a:lstStyle/>
                        <a:p>
                          <a:r>
                            <a:rPr lang="en-US" sz="1400" b="0" i="0" u="none" strike="noStrike" cap="none" dirty="0">
                              <a:solidFill>
                                <a:schemeClr val="dk1"/>
                              </a:solidFill>
                              <a:effectLst/>
                              <a:latin typeface="+mn-lt"/>
                              <a:ea typeface="+mn-ea"/>
                              <a:cs typeface="+mn-cs"/>
                              <a:sym typeface="Arial"/>
                            </a:rPr>
                            <a:t>How the state naturally evolves over time (State Transition / Jacobian)</a:t>
                          </a:r>
                          <a:endParaRPr lang="en-US" dirty="0"/>
                        </a:p>
                      </a:txBody>
                      <a:tcPr/>
                    </a:tc>
                    <a:extLst>
                      <a:ext uri="{0D108BD9-81ED-4DB2-BD59-A6C34878D82A}">
                        <a16:rowId xmlns:a16="http://schemas.microsoft.com/office/drawing/2014/main" val="341423068"/>
                      </a:ext>
                    </a:extLst>
                  </a:tr>
                  <a:tr h="304800">
                    <a:tc>
                      <a:txBody>
                        <a:bodyPr/>
                        <a:lstStyle/>
                        <a:p>
                          <a:r>
                            <a:rPr lang="en-US" b="1" dirty="0"/>
                            <a:t>Process Noise</a:t>
                          </a:r>
                        </a:p>
                      </a:txBody>
                      <a:tcPr/>
                    </a:tc>
                    <a:tc>
                      <a:txBody>
                        <a:bodyPr/>
                        <a:lstStyle/>
                        <a:p>
                          <a:endParaRPr lang="en-US"/>
                        </a:p>
                      </a:txBody>
                      <a:tcPr>
                        <a:blipFill>
                          <a:blip r:embed="rId4"/>
                          <a:stretch>
                            <a:fillRect l="-73547" t="-424000" r="-387791" b="-506000"/>
                          </a:stretch>
                        </a:blipFill>
                      </a:tcPr>
                    </a:tc>
                    <a:tc>
                      <a:txBody>
                        <a:bodyPr/>
                        <a:lstStyle/>
                        <a:p>
                          <a:endParaRPr lang="en-US"/>
                        </a:p>
                      </a:txBody>
                      <a:tcPr>
                        <a:blipFill>
                          <a:blip r:embed="rId4"/>
                          <a:stretch>
                            <a:fillRect l="-173547" t="-424000" r="-287791" b="-506000"/>
                          </a:stretch>
                        </a:blipFill>
                      </a:tcPr>
                    </a:tc>
                    <a:tc>
                      <a:txBody>
                        <a:bodyPr/>
                        <a:lstStyle/>
                        <a:p>
                          <a:r>
                            <a:rPr lang="en-US" dirty="0"/>
                            <a:t>Uncertainty added simply by moving / imperfections in the physics model</a:t>
                          </a:r>
                        </a:p>
                      </a:txBody>
                      <a:tcPr/>
                    </a:tc>
                    <a:extLst>
                      <a:ext uri="{0D108BD9-81ED-4DB2-BD59-A6C34878D82A}">
                        <a16:rowId xmlns:a16="http://schemas.microsoft.com/office/drawing/2014/main" val="3886846778"/>
                      </a:ext>
                    </a:extLst>
                  </a:tr>
                  <a:tr h="304800">
                    <a:tc>
                      <a:txBody>
                        <a:bodyPr/>
                        <a:lstStyle/>
                        <a:p>
                          <a:r>
                            <a:rPr lang="en-US" b="1" dirty="0"/>
                            <a:t>Sensor Model</a:t>
                          </a:r>
                        </a:p>
                      </a:txBody>
                      <a:tcPr/>
                    </a:tc>
                    <a:tc>
                      <a:txBody>
                        <a:bodyPr/>
                        <a:lstStyle/>
                        <a:p>
                          <a:pPr algn="ctr"/>
                          <a:r>
                            <a:rPr lang="en-US" dirty="0"/>
                            <a:t>1 (direct)</a:t>
                          </a:r>
                        </a:p>
                      </a:txBody>
                      <a:tcPr/>
                    </a:tc>
                    <a:tc>
                      <a:txBody>
                        <a:bodyPr/>
                        <a:lstStyle/>
                        <a:p>
                          <a:endParaRPr lang="en-US"/>
                        </a:p>
                      </a:txBody>
                      <a:tcPr>
                        <a:blipFill>
                          <a:blip r:embed="rId4"/>
                          <a:stretch>
                            <a:fillRect l="-173547" t="-524000" r="-287791" b="-406000"/>
                          </a:stretch>
                        </a:blipFill>
                      </a:tcPr>
                    </a:tc>
                    <a:tc>
                      <a:txBody>
                        <a:bodyPr/>
                        <a:lstStyle/>
                        <a:p>
                          <a:r>
                            <a:rPr lang="en-US" sz="1400" b="0" i="0" u="none" strike="noStrike" cap="none" dirty="0">
                              <a:solidFill>
                                <a:schemeClr val="dk1"/>
                              </a:solidFill>
                              <a:effectLst/>
                              <a:latin typeface="+mn-lt"/>
                              <a:ea typeface="+mn-ea"/>
                              <a:cs typeface="+mn-cs"/>
                              <a:sym typeface="Arial"/>
                            </a:rPr>
                            <a:t>Translates internal state space into the format the sensor outputs</a:t>
                          </a:r>
                          <a:endParaRPr lang="en-US" dirty="0"/>
                        </a:p>
                      </a:txBody>
                      <a:tcPr/>
                    </a:tc>
                    <a:extLst>
                      <a:ext uri="{0D108BD9-81ED-4DB2-BD59-A6C34878D82A}">
                        <a16:rowId xmlns:a16="http://schemas.microsoft.com/office/drawing/2014/main" val="401781755"/>
                      </a:ext>
                    </a:extLst>
                  </a:tr>
                  <a:tr h="304800">
                    <a:tc>
                      <a:txBody>
                        <a:bodyPr/>
                        <a:lstStyle/>
                        <a:p>
                          <a:r>
                            <a:rPr lang="en-US" b="1" dirty="0"/>
                            <a:t>Sensor Noise</a:t>
                          </a:r>
                        </a:p>
                      </a:txBody>
                      <a:tcPr/>
                    </a:tc>
                    <a:tc>
                      <a:txBody>
                        <a:bodyPr/>
                        <a:lstStyle/>
                        <a:p>
                          <a:endParaRPr lang="en-US"/>
                        </a:p>
                      </a:txBody>
                      <a:tcPr>
                        <a:blipFill>
                          <a:blip r:embed="rId4"/>
                          <a:stretch>
                            <a:fillRect l="-73547" t="-624000" r="-387791" b="-306000"/>
                          </a:stretch>
                        </a:blipFill>
                      </a:tcPr>
                    </a:tc>
                    <a:tc>
                      <a:txBody>
                        <a:bodyPr/>
                        <a:lstStyle/>
                        <a:p>
                          <a:endParaRPr lang="en-US"/>
                        </a:p>
                      </a:txBody>
                      <a:tcPr>
                        <a:blipFill>
                          <a:blip r:embed="rId4"/>
                          <a:stretch>
                            <a:fillRect l="-173547" t="-624000" r="-287791" b="-306000"/>
                          </a:stretch>
                        </a:blipFill>
                      </a:tcPr>
                    </a:tc>
                    <a:tc>
                      <a:txBody>
                        <a:bodyPr/>
                        <a:lstStyle/>
                        <a:p>
                          <a:r>
                            <a:rPr lang="en-US" dirty="0"/>
                            <a:t>The inherent electrical/mechanical noise of the specific sensor</a:t>
                          </a:r>
                        </a:p>
                      </a:txBody>
                      <a:tcPr/>
                    </a:tc>
                    <a:extLst>
                      <a:ext uri="{0D108BD9-81ED-4DB2-BD59-A6C34878D82A}">
                        <a16:rowId xmlns:a16="http://schemas.microsoft.com/office/drawing/2014/main" val="2905781874"/>
                      </a:ext>
                    </a:extLst>
                  </a:tr>
                  <a:tr h="304800">
                    <a:tc>
                      <a:txBody>
                        <a:bodyPr/>
                        <a:lstStyle/>
                        <a:p>
                          <a:r>
                            <a:rPr lang="en-US" b="1" dirty="0"/>
                            <a:t>Measurement</a:t>
                          </a:r>
                        </a:p>
                      </a:txBody>
                      <a:tcPr/>
                    </a:tc>
                    <a:tc>
                      <a:txBody>
                        <a:bodyPr/>
                        <a:lstStyle/>
                        <a:p>
                          <a:endParaRPr lang="en-US"/>
                        </a:p>
                      </a:txBody>
                      <a:tcPr>
                        <a:blipFill>
                          <a:blip r:embed="rId4"/>
                          <a:stretch>
                            <a:fillRect l="-73547" t="-724000" r="-387791" b="-206000"/>
                          </a:stretch>
                        </a:blipFill>
                      </a:tcPr>
                    </a:tc>
                    <a:tc>
                      <a:txBody>
                        <a:bodyPr/>
                        <a:lstStyle/>
                        <a:p>
                          <a:endParaRPr lang="en-US"/>
                        </a:p>
                      </a:txBody>
                      <a:tcPr>
                        <a:blipFill>
                          <a:blip r:embed="rId4"/>
                          <a:stretch>
                            <a:fillRect l="-173547" t="-724000" r="-287791" b="-206000"/>
                          </a:stretch>
                        </a:blipFill>
                      </a:tcPr>
                    </a:tc>
                    <a:tc>
                      <a:txBody>
                        <a:bodyPr/>
                        <a:lstStyle/>
                        <a:p>
                          <a:r>
                            <a:rPr lang="en-US" dirty="0"/>
                            <a:t>The raw data point provided by the sensor (LiDAR, Encoders, etc.)</a:t>
                          </a:r>
                        </a:p>
                      </a:txBody>
                      <a:tcPr/>
                    </a:tc>
                    <a:extLst>
                      <a:ext uri="{0D108BD9-81ED-4DB2-BD59-A6C34878D82A}">
                        <a16:rowId xmlns:a16="http://schemas.microsoft.com/office/drawing/2014/main" val="3762659002"/>
                      </a:ext>
                    </a:extLst>
                  </a:tr>
                  <a:tr h="613982">
                    <a:tc>
                      <a:txBody>
                        <a:bodyPr/>
                        <a:lstStyle/>
                        <a:p>
                          <a:r>
                            <a:rPr lang="en-US" b="1" dirty="0"/>
                            <a:t>Kalman Gain</a:t>
                          </a:r>
                        </a:p>
                      </a:txBody>
                      <a:tcPr/>
                    </a:tc>
                    <a:tc>
                      <a:txBody>
                        <a:bodyPr/>
                        <a:lstStyle/>
                        <a:p>
                          <a:endParaRPr lang="en-US"/>
                        </a:p>
                      </a:txBody>
                      <a:tcPr>
                        <a:blipFill>
                          <a:blip r:embed="rId4"/>
                          <a:stretch>
                            <a:fillRect l="-73547" t="-407921" r="-387791" b="-1980"/>
                          </a:stretch>
                        </a:blipFill>
                      </a:tcPr>
                    </a:tc>
                    <a:tc>
                      <a:txBody>
                        <a:bodyPr/>
                        <a:lstStyle/>
                        <a:p>
                          <a:endParaRPr lang="en-US"/>
                        </a:p>
                      </a:txBody>
                      <a:tcPr>
                        <a:blipFill>
                          <a:blip r:embed="rId4"/>
                          <a:stretch>
                            <a:fillRect l="-173547" t="-407921" r="-287791" b="-1980"/>
                          </a:stretch>
                        </a:blipFill>
                      </a:tcPr>
                    </a:tc>
                    <a:tc>
                      <a:txBody>
                        <a:bodyPr/>
                        <a:lstStyle/>
                        <a:p>
                          <a:r>
                            <a:rPr lang="en-US" dirty="0"/>
                            <a:t>The dynamic weight that decides whether to trust the model or the sensor</a:t>
                          </a:r>
                        </a:p>
                      </a:txBody>
                      <a:tcPr/>
                    </a:tc>
                    <a:extLst>
                      <a:ext uri="{0D108BD9-81ED-4DB2-BD59-A6C34878D82A}">
                        <a16:rowId xmlns:a16="http://schemas.microsoft.com/office/drawing/2014/main" val="1403763760"/>
                      </a:ext>
                    </a:extLst>
                  </a:tr>
                </a:tbl>
              </a:graphicData>
            </a:graphic>
          </p:graphicFrame>
        </mc:Fallback>
      </mc:AlternateContent>
    </p:spTree>
    <p:extLst>
      <p:ext uri="{BB962C8B-B14F-4D97-AF65-F5344CB8AC3E}">
        <p14:creationId xmlns:p14="http://schemas.microsoft.com/office/powerpoint/2010/main" val="34553565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4EC33857-135B-AB50-1507-C754507AF1C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9E72938-1689-2B23-6F6B-C2EFFC013ED8}"/>
              </a:ext>
            </a:extLst>
          </p:cNvPr>
          <p:cNvGrpSpPr/>
          <p:nvPr/>
        </p:nvGrpSpPr>
        <p:grpSpPr>
          <a:xfrm>
            <a:off x="2206906" y="2296815"/>
            <a:ext cx="7778187" cy="1508744"/>
            <a:chOff x="2206906" y="1491040"/>
            <a:chExt cx="7778187" cy="1508744"/>
          </a:xfrm>
        </p:grpSpPr>
        <p:sp>
          <p:nvSpPr>
            <p:cNvPr id="89" name="Google Shape;89;p27">
              <a:extLst>
                <a:ext uri="{FF2B5EF4-FFF2-40B4-BE49-F238E27FC236}">
                  <a16:creationId xmlns:a16="http://schemas.microsoft.com/office/drawing/2014/main" id="{5811111C-06D0-FA3E-B154-B6624BA11E03}"/>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Optional Derivations</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75C67633-2500-6059-A049-8440CF6C8F57}"/>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E3BF31AD-D16C-1367-54D3-146BC92BC174}"/>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B7D66021-C30A-9BEB-7B79-0F7694BCE8F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A3504242-8444-A1F8-CD2B-33DA99CD944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E02150D2-E29E-9D3E-1E58-A383C8C4498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D3FDF156-ACF3-B775-4C2E-F056166E02A1}"/>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575B9E0A-E1CC-680E-2909-520A88F91FB0}"/>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5945E8F5-36CD-F223-41DA-6C55FEC2B3FC}"/>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5095575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A274AC9-436B-C113-2A75-EDD37E8BDF9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A839B95-2A10-5AF8-A30A-45DB8791A3F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To derive the multi-dimensional math, we must define our ultimate goal: </a:t>
                </a:r>
                <a:r>
                  <a:rPr lang="en-US" sz="2300" b="1" dirty="0">
                    <a:latin typeface="Atkinson Hyperlegible Next"/>
                    <a:ea typeface="Arial"/>
                    <a:cs typeface="Arial"/>
                    <a:sym typeface="Arial"/>
                  </a:rPr>
                  <a:t>Minimizing Uncertainty</a:t>
                </a:r>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Mathematically, total uncertainty is the </a:t>
                </a:r>
                <a:r>
                  <a:rPr lang="en-US" sz="2300" b="1" dirty="0">
                    <a:latin typeface="Atkinson Hyperlegible Next"/>
                    <a:ea typeface="Arial"/>
                    <a:cs typeface="Arial"/>
                    <a:sym typeface="Arial"/>
                  </a:rPr>
                  <a:t>sum of the variances </a:t>
                </a:r>
                <a:r>
                  <a:rPr lang="en-US" sz="2300" dirty="0">
                    <a:latin typeface="Atkinson Hyperlegible Next"/>
                    <a:ea typeface="Arial"/>
                    <a:cs typeface="Arial"/>
                    <a:sym typeface="Arial"/>
                  </a:rPr>
                  <a:t>of our state variables (the </a:t>
                </a:r>
                <a:r>
                  <a:rPr lang="en-US" sz="2300" b="1" dirty="0">
                    <a:latin typeface="Atkinson Hyperlegible Next"/>
                    <a:ea typeface="Arial"/>
                    <a:cs typeface="Arial"/>
                    <a:sym typeface="Arial"/>
                  </a:rPr>
                  <a:t>diagonal elements of the covariance matrix </a:t>
                </a:r>
                <a14:m>
                  <m:oMath xmlns:m="http://schemas.openxmlformats.org/officeDocument/2006/math">
                    <m:r>
                      <a:rPr lang="en-US" sz="2300" i="1" dirty="0" smtClean="0">
                        <a:latin typeface="Cambria Math" panose="02040503050406030204" pitchFamily="18" charset="0"/>
                        <a:ea typeface="Arial"/>
                        <a:cs typeface="Arial"/>
                        <a:sym typeface="Arial"/>
                      </a:rPr>
                      <m:t>𝑃</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sum of the diagonal elements of a matrix is called the </a:t>
                </a:r>
                <a:r>
                  <a:rPr lang="en-US" sz="2300" b="1" dirty="0">
                    <a:latin typeface="Atkinson Hyperlegible Next"/>
                    <a:ea typeface="Arial"/>
                    <a:cs typeface="Arial"/>
                    <a:sym typeface="Arial"/>
                  </a:rPr>
                  <a:t>Trace</a:t>
                </a:r>
                <a:r>
                  <a:rPr lang="en-US" sz="2300" dirty="0">
                    <a:latin typeface="Atkinson Hyperlegible Next"/>
                    <a:ea typeface="Arial"/>
                    <a:cs typeface="Arial"/>
                    <a:sym typeface="Arial"/>
                  </a:rPr>
                  <a:t>, written </a:t>
                </a:r>
                <a14:m>
                  <m:oMath xmlns:m="http://schemas.openxmlformats.org/officeDocument/2006/math">
                    <m:r>
                      <a:rPr lang="en-US" sz="2300" i="1" smtClean="0">
                        <a:latin typeface="Cambria Math" panose="02040503050406030204" pitchFamily="18" charset="0"/>
                        <a:cs typeface="Arial"/>
                        <a:sym typeface="Arial"/>
                      </a:rPr>
                      <m:t>𝑇𝑟</m:t>
                    </m:r>
                    <m:d>
                      <m:dPr>
                        <m:ctrlPr>
                          <a:rPr lang="en-US" sz="2300" i="1">
                            <a:latin typeface="Cambria Math" panose="02040503050406030204" pitchFamily="18" charset="0"/>
                            <a:cs typeface="Arial"/>
                            <a:sym typeface="Arial"/>
                          </a:rPr>
                        </m:ctrlPr>
                      </m:dPr>
                      <m:e>
                        <m:r>
                          <a:rPr lang="en-US" sz="2300" i="1">
                            <a:latin typeface="Cambria Math" panose="02040503050406030204" pitchFamily="18" charset="0"/>
                            <a:cs typeface="Arial"/>
                            <a:sym typeface="Arial"/>
                          </a:rPr>
                          <m:t>𝑃</m:t>
                        </m:r>
                      </m:e>
                    </m:d>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Thus the objective is to find the Gain matrix, that forces the derive to achieve: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300" i="1" smtClean="0">
                              <a:latin typeface="Cambria Math" panose="02040503050406030204" pitchFamily="18" charset="0"/>
                              <a:cs typeface="Arial"/>
                              <a:sym typeface="Arial"/>
                            </a:rPr>
                          </m:ctrlPr>
                        </m:fPr>
                        <m:num>
                          <m:r>
                            <a:rPr lang="en-US" sz="230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𝑇𝑟</m:t>
                          </m:r>
                          <m:d>
                            <m:dPr>
                              <m:ctrlPr>
                                <a:rPr lang="en-US" sz="2300" i="1" smtClean="0">
                                  <a:latin typeface="Cambria Math" panose="02040503050406030204" pitchFamily="18" charset="0"/>
                                  <a:cs typeface="Arial"/>
                                  <a:sym typeface="Arial"/>
                                </a:rPr>
                              </m:ctrlPr>
                            </m:dPr>
                            <m:e>
                              <m:sSub>
                                <m:sSubPr>
                                  <m:ctrlPr>
                                    <a:rPr lang="en-US" sz="2300" i="1" smtClean="0">
                                      <a:latin typeface="Cambria Math" panose="02040503050406030204" pitchFamily="18" charset="0"/>
                                      <a:cs typeface="Arial"/>
                                      <a:sym typeface="Arial"/>
                                    </a:rPr>
                                  </m:ctrlPr>
                                </m:sSubPr>
                                <m:e>
                                  <m:r>
                                    <a:rPr lang="en-US" sz="2300" i="1" smtClean="0">
                                      <a:latin typeface="Cambria Math" panose="02040503050406030204" pitchFamily="18" charset="0"/>
                                      <a:cs typeface="Arial"/>
                                      <a:sym typeface="Arial"/>
                                    </a:rPr>
                                    <m:t>𝑃</m:t>
                                  </m:r>
                                </m:e>
                                <m:sub>
                                  <m:r>
                                    <a:rPr lang="en-US" sz="2300" i="1" smtClean="0">
                                      <a:latin typeface="Cambria Math" panose="02040503050406030204" pitchFamily="18" charset="0"/>
                                      <a:cs typeface="Arial"/>
                                      <a:sym typeface="Arial"/>
                                    </a:rPr>
                                    <m:t>𝑘</m:t>
                                  </m:r>
                                  <m:r>
                                    <a:rPr lang="en-US" sz="2300" b="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𝑘</m:t>
                                  </m:r>
                                </m:sub>
                              </m:sSub>
                            </m:e>
                          </m:d>
                        </m:num>
                        <m:den>
                          <m:r>
                            <a:rPr lang="en-US" sz="2300" i="1" smtClean="0">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𝐾</m:t>
                          </m:r>
                        </m:den>
                      </m:f>
                      <m:r>
                        <a:rPr lang="en-US" sz="2300" i="1" smtClean="0">
                          <a:latin typeface="Cambria Math" panose="02040503050406030204" pitchFamily="18" charset="0"/>
                          <a:cs typeface="Arial"/>
                          <a:sym typeface="Arial"/>
                        </a:rPr>
                        <m:t>=0</m:t>
                      </m:r>
                    </m:oMath>
                  </m:oMathPara>
                </a14:m>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FA839B95-2A10-5AF8-A30A-45DB8791A3F2}"/>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E951129-192E-D12E-AC6B-555B91519EA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92E1B41-7B76-B7AB-6E59-9F45EE29B05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(36/39)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268556E-5330-F865-3CC2-23BE16728A0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C4B7F32-34E8-586D-3968-452A5DCFADF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E07AC03-0533-1551-F34F-9D39F181CEE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D58D728-3246-5924-7090-9B3B8C01770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8DBABE-2630-95C3-D499-66E5436A49E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DE46740-6A8B-A59A-12A6-17FD3FC2E42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5599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706CDB5-1F0B-5A8F-2308-6EDAA9D7B9B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A023A5C-39A7-A88D-861E-23B8244D61E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150" dirty="0">
                    <a:latin typeface="Atkinson Hyperlegible Next"/>
                    <a:ea typeface="Arial"/>
                    <a:cs typeface="Arial"/>
                    <a:sym typeface="Arial"/>
                  </a:rPr>
                  <a:t>Let's define the actual error of our updated state: </a:t>
                </a:r>
                <a14:m>
                  <m:oMath xmlns:m="http://schemas.openxmlformats.org/officeDocument/2006/math">
                    <m:r>
                      <a:rPr lang="en-US" sz="2150" i="1" dirty="0" smtClean="0">
                        <a:latin typeface="Cambria Math" panose="02040503050406030204" pitchFamily="18" charset="0"/>
                        <a:ea typeface="Arial"/>
                        <a:cs typeface="Arial"/>
                        <a:sym typeface="Arial"/>
                      </a:rPr>
                      <m:t>𝑒</m:t>
                    </m:r>
                    <m:r>
                      <a:rPr lang="en-US" sz="2150" i="1" dirty="0" smtClean="0">
                        <a:latin typeface="Cambria Math" panose="02040503050406030204" pitchFamily="18" charset="0"/>
                        <a:ea typeface="Arial"/>
                        <a:cs typeface="Arial"/>
                        <a:sym typeface="Arial"/>
                      </a:rPr>
                      <m:t>=</m:t>
                    </m:r>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𝑥</m:t>
                        </m:r>
                      </m:e>
                      <m:sub>
                        <m:r>
                          <a:rPr lang="en-US" sz="2150" i="1" dirty="0" smtClean="0">
                            <a:latin typeface="Cambria Math" panose="02040503050406030204" pitchFamily="18" charset="0"/>
                            <a:ea typeface="Arial"/>
                            <a:cs typeface="Arial"/>
                            <a:sym typeface="Arial"/>
                          </a:rPr>
                          <m:t>𝑡𝑟𝑢𝑒</m:t>
                        </m:r>
                      </m:sub>
                    </m:sSub>
                    <m:r>
                      <a:rPr lang="en-US" sz="2150" i="1" dirty="0" smtClean="0">
                        <a:latin typeface="Cambria Math" panose="02040503050406030204" pitchFamily="18" charset="0"/>
                        <a:ea typeface="Arial"/>
                        <a:cs typeface="Arial"/>
                        <a:sym typeface="Arial"/>
                      </a:rPr>
                      <m:t>−</m:t>
                    </m:r>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𝑥</m:t>
                        </m:r>
                      </m:e>
                      <m:sub>
                        <m:r>
                          <a:rPr lang="en-US" sz="2150" i="1" dirty="0" err="1" smtClean="0">
                            <a:latin typeface="Cambria Math" panose="02040503050406030204" pitchFamily="18" charset="0"/>
                            <a:ea typeface="Arial"/>
                            <a:cs typeface="Arial"/>
                            <a:sym typeface="Arial"/>
                          </a:rPr>
                          <m:t>𝑘</m:t>
                        </m:r>
                        <m:r>
                          <a:rPr lang="en-US" sz="2150" i="1" dirty="0" err="1" smtClean="0">
                            <a:latin typeface="Cambria Math" panose="02040503050406030204" pitchFamily="18" charset="0"/>
                            <a:ea typeface="Arial"/>
                            <a:cs typeface="Arial"/>
                            <a:sym typeface="Arial"/>
                          </a:rPr>
                          <m:t>|</m:t>
                        </m:r>
                        <m:r>
                          <a:rPr lang="en-US" sz="2150" i="1" dirty="0" err="1" smtClean="0">
                            <a:latin typeface="Cambria Math" panose="02040503050406030204" pitchFamily="18" charset="0"/>
                            <a:ea typeface="Arial"/>
                            <a:cs typeface="Arial"/>
                            <a:sym typeface="Arial"/>
                          </a:rPr>
                          <m:t>𝑘</m:t>
                        </m:r>
                      </m:sub>
                    </m:sSub>
                  </m:oMath>
                </a14:m>
                <a:r>
                  <a:rPr lang="en-US" sz="2150" dirty="0">
                    <a:latin typeface="Atkinson Hyperlegible Next"/>
                    <a:ea typeface="Arial"/>
                    <a:cs typeface="Arial"/>
                    <a:sym typeface="Arial"/>
                  </a:rPr>
                  <a:t>.</a:t>
                </a: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r>
                  <a:rPr lang="en-US" sz="2150" dirty="0">
                    <a:latin typeface="Atkinson Hyperlegible Next"/>
                    <a:ea typeface="Arial"/>
                    <a:cs typeface="Arial"/>
                    <a:sym typeface="Arial"/>
                  </a:rPr>
                  <a:t>We substitute our update equation </a:t>
                </a:r>
                <a14:m>
                  <m:oMath xmlns:m="http://schemas.openxmlformats.org/officeDocument/2006/math">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𝑥</m:t>
                        </m:r>
                      </m:e>
                      <m:sub>
                        <m:r>
                          <a:rPr lang="en-US" sz="2150" i="1" dirty="0" err="1"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err="1" smtClean="0">
                            <a:latin typeface="Cambria Math" panose="02040503050406030204" pitchFamily="18" charset="0"/>
                            <a:ea typeface="Arial"/>
                            <a:cs typeface="Arial"/>
                            <a:sym typeface="Arial"/>
                          </a:rPr>
                          <m:t>𝑘</m:t>
                        </m:r>
                      </m:sub>
                    </m:sSub>
                    <m:r>
                      <a:rPr lang="en-US" sz="2150" i="1" dirty="0" smtClean="0">
                        <a:latin typeface="Cambria Math" panose="02040503050406030204" pitchFamily="18" charset="0"/>
                        <a:ea typeface="Arial"/>
                        <a:cs typeface="Arial"/>
                        <a:sym typeface="Arial"/>
                      </a:rPr>
                      <m:t>=</m:t>
                    </m:r>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𝑥</m:t>
                        </m:r>
                      </m:e>
                      <m:sub>
                        <m:r>
                          <a:rPr lang="en-US" sz="2150" i="1" dirty="0"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𝑘</m:t>
                        </m:r>
                        <m:r>
                          <a:rPr lang="en-US" sz="2150" i="1" dirty="0" smtClean="0">
                            <a:latin typeface="Cambria Math" panose="02040503050406030204" pitchFamily="18" charset="0"/>
                            <a:ea typeface="Arial"/>
                            <a:cs typeface="Arial"/>
                            <a:sym typeface="Arial"/>
                          </a:rPr>
                          <m:t>−1</m:t>
                        </m:r>
                      </m:sub>
                    </m:sSub>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𝐾</m:t>
                    </m:r>
                    <m:d>
                      <m:dPr>
                        <m:ctrlPr>
                          <a:rPr lang="en-US" sz="2150" i="1" dirty="0" smtClean="0">
                            <a:latin typeface="Cambria Math" panose="02040503050406030204" pitchFamily="18" charset="0"/>
                            <a:ea typeface="Arial"/>
                            <a:cs typeface="Arial"/>
                            <a:sym typeface="Arial"/>
                          </a:rPr>
                        </m:ctrlPr>
                      </m:dPr>
                      <m:e>
                        <m:r>
                          <a:rPr lang="en-US" sz="2150" i="1" dirty="0" smtClean="0">
                            <a:latin typeface="Cambria Math" panose="02040503050406030204" pitchFamily="18" charset="0"/>
                            <a:ea typeface="Arial"/>
                            <a:cs typeface="Arial"/>
                            <a:sym typeface="Arial"/>
                          </a:rPr>
                          <m:t>𝑧</m:t>
                        </m:r>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𝐻</m:t>
                        </m:r>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𝑥</m:t>
                            </m:r>
                          </m:e>
                          <m:sub>
                            <m:r>
                              <a:rPr lang="en-US" sz="2150" i="1" dirty="0"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𝑘</m:t>
                            </m:r>
                            <m:r>
                              <a:rPr lang="en-US" sz="2150" i="1" dirty="0" smtClean="0">
                                <a:latin typeface="Cambria Math" panose="02040503050406030204" pitchFamily="18" charset="0"/>
                                <a:ea typeface="Arial"/>
                                <a:cs typeface="Arial"/>
                                <a:sym typeface="Arial"/>
                              </a:rPr>
                              <m:t>−1</m:t>
                            </m:r>
                          </m:sub>
                        </m:sSub>
                      </m:e>
                    </m:d>
                  </m:oMath>
                </a14:m>
                <a:r>
                  <a:rPr lang="en-US" sz="2150" dirty="0">
                    <a:latin typeface="Atkinson Hyperlegible Next"/>
                    <a:ea typeface="Arial"/>
                    <a:cs typeface="Arial"/>
                    <a:sym typeface="Arial"/>
                  </a:rPr>
                  <a:t> into the error definition.</a:t>
                </a: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r>
                  <a:rPr lang="en-US" sz="2150" dirty="0">
                    <a:latin typeface="Atkinson Hyperlegible Next"/>
                    <a:ea typeface="Arial"/>
                    <a:cs typeface="Arial"/>
                    <a:sym typeface="Arial"/>
                  </a:rPr>
                  <a:t>Covariance is defined as the expected value of the error squared: </a:t>
                </a:r>
                <a14:m>
                  <m:oMath xmlns:m="http://schemas.openxmlformats.org/officeDocument/2006/math">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𝑃</m:t>
                        </m:r>
                      </m:e>
                      <m:sub>
                        <m:r>
                          <a:rPr lang="en-US" sz="2150" i="1" dirty="0" err="1"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err="1" smtClean="0">
                            <a:latin typeface="Cambria Math" panose="02040503050406030204" pitchFamily="18" charset="0"/>
                            <a:ea typeface="Arial"/>
                            <a:cs typeface="Arial"/>
                            <a:sym typeface="Arial"/>
                          </a:rPr>
                          <m:t>𝑘</m:t>
                        </m:r>
                      </m:sub>
                    </m:sSub>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𝐸</m:t>
                    </m:r>
                    <m:d>
                      <m:dPr>
                        <m:begChr m:val="["/>
                        <m:endChr m:val="]"/>
                        <m:ctrlPr>
                          <a:rPr lang="en-US" sz="2150" i="1" dirty="0" smtClean="0">
                            <a:latin typeface="Cambria Math" panose="02040503050406030204" pitchFamily="18" charset="0"/>
                            <a:ea typeface="Arial"/>
                            <a:cs typeface="Arial"/>
                            <a:sym typeface="Arial"/>
                          </a:rPr>
                        </m:ctrlPr>
                      </m:dPr>
                      <m:e>
                        <m:r>
                          <a:rPr lang="en-US" sz="2150" i="1" dirty="0" smtClean="0">
                            <a:latin typeface="Cambria Math" panose="02040503050406030204" pitchFamily="18" charset="0"/>
                            <a:ea typeface="Arial"/>
                            <a:cs typeface="Arial"/>
                            <a:sym typeface="Arial"/>
                          </a:rPr>
                          <m:t>𝑒</m:t>
                        </m:r>
                        <m:sSup>
                          <m:sSupPr>
                            <m:ctrlPr>
                              <a:rPr lang="en-US" sz="2150" i="1" dirty="0" err="1" smtClean="0">
                                <a:latin typeface="Cambria Math" panose="02040503050406030204" pitchFamily="18" charset="0"/>
                                <a:ea typeface="Arial"/>
                                <a:cs typeface="Arial"/>
                                <a:sym typeface="Arial"/>
                              </a:rPr>
                            </m:ctrlPr>
                          </m:sSupPr>
                          <m:e>
                            <m:r>
                              <a:rPr lang="en-US" sz="2150" i="1" dirty="0" err="1" smtClean="0">
                                <a:latin typeface="Cambria Math" panose="02040503050406030204" pitchFamily="18" charset="0"/>
                                <a:ea typeface="Arial"/>
                                <a:cs typeface="Arial"/>
                                <a:sym typeface="Arial"/>
                              </a:rPr>
                              <m:t>𝑒</m:t>
                            </m:r>
                          </m:e>
                          <m:sup>
                            <m:r>
                              <a:rPr lang="en-US" sz="2150" i="1" dirty="0" err="1" smtClean="0">
                                <a:latin typeface="Cambria Math" panose="02040503050406030204" pitchFamily="18" charset="0"/>
                                <a:ea typeface="Arial"/>
                                <a:cs typeface="Arial"/>
                                <a:sym typeface="Arial"/>
                              </a:rPr>
                              <m:t>𝑇</m:t>
                            </m:r>
                          </m:sup>
                        </m:sSup>
                      </m:e>
                    </m:d>
                  </m:oMath>
                </a14:m>
                <a:r>
                  <a:rPr lang="en-US" sz="2150" dirty="0">
                    <a:latin typeface="Atkinson Hyperlegible Next"/>
                    <a:ea typeface="Arial"/>
                    <a:cs typeface="Arial"/>
                    <a:sym typeface="Arial"/>
                  </a:rPr>
                  <a:t>.</a:t>
                </a: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r>
                  <a:rPr lang="en-US" sz="2150" dirty="0">
                    <a:latin typeface="Atkinson Hyperlegible Next"/>
                    <a:ea typeface="Arial"/>
                    <a:cs typeface="Arial"/>
                    <a:sym typeface="Arial"/>
                  </a:rPr>
                  <a:t>Expanding this massive expected value yields the universally true </a:t>
                </a:r>
                <a:r>
                  <a:rPr lang="en-US" sz="2150" b="1" dirty="0">
                    <a:latin typeface="Atkinson Hyperlegible Next"/>
                    <a:ea typeface="Arial"/>
                    <a:cs typeface="Arial"/>
                    <a:sym typeface="Arial"/>
                  </a:rPr>
                  <a:t>Joseph Form of the covariance update</a:t>
                </a:r>
                <a:r>
                  <a:rPr lang="en-US" sz="2150" dirty="0">
                    <a:latin typeface="Atkinson Hyperlegible Next"/>
                    <a:ea typeface="Arial"/>
                    <a:cs typeface="Arial"/>
                    <a:sym typeface="Arial"/>
                  </a:rPr>
                  <a:t>:</a:t>
                </a: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𝑃</m:t>
                          </m:r>
                        </m:e>
                        <m:sub>
                          <m:r>
                            <a:rPr lang="en-US" sz="2150" i="1" dirty="0" err="1"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err="1" smtClean="0">
                              <a:latin typeface="Cambria Math" panose="02040503050406030204" pitchFamily="18" charset="0"/>
                              <a:ea typeface="Arial"/>
                              <a:cs typeface="Arial"/>
                              <a:sym typeface="Arial"/>
                            </a:rPr>
                            <m:t>𝑘</m:t>
                          </m:r>
                        </m:sub>
                      </m:sSub>
                      <m:r>
                        <a:rPr lang="en-US" sz="2150" i="1" dirty="0" smtClean="0">
                          <a:latin typeface="Cambria Math" panose="02040503050406030204" pitchFamily="18" charset="0"/>
                          <a:ea typeface="Arial"/>
                          <a:cs typeface="Arial"/>
                          <a:sym typeface="Arial"/>
                        </a:rPr>
                        <m:t>=</m:t>
                      </m:r>
                      <m:d>
                        <m:dPr>
                          <m:ctrlPr>
                            <a:rPr lang="en-US" sz="2150" i="1" dirty="0" smtClean="0">
                              <a:latin typeface="Cambria Math" panose="02040503050406030204" pitchFamily="18" charset="0"/>
                              <a:ea typeface="Arial"/>
                              <a:cs typeface="Arial"/>
                              <a:sym typeface="Arial"/>
                            </a:rPr>
                          </m:ctrlPr>
                        </m:dPr>
                        <m:e>
                          <m:r>
                            <a:rPr lang="en-US" sz="2150" i="1" dirty="0" smtClean="0">
                              <a:latin typeface="Cambria Math" panose="02040503050406030204" pitchFamily="18" charset="0"/>
                              <a:ea typeface="Arial"/>
                              <a:cs typeface="Arial"/>
                              <a:sym typeface="Arial"/>
                            </a:rPr>
                            <m:t>𝐼</m:t>
                          </m:r>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𝐾𝐻</m:t>
                          </m:r>
                        </m:e>
                      </m:d>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𝑃</m:t>
                          </m:r>
                        </m:e>
                        <m:sub>
                          <m:r>
                            <a:rPr lang="en-US" sz="2150" i="1" dirty="0"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𝑘</m:t>
                          </m:r>
                          <m:r>
                            <a:rPr lang="en-US" sz="2150" i="1" dirty="0" smtClean="0">
                              <a:latin typeface="Cambria Math" panose="02040503050406030204" pitchFamily="18" charset="0"/>
                              <a:ea typeface="Arial"/>
                              <a:cs typeface="Arial"/>
                              <a:sym typeface="Arial"/>
                            </a:rPr>
                            <m:t>−1</m:t>
                          </m:r>
                        </m:sub>
                      </m:sSub>
                      <m:sSup>
                        <m:sSupPr>
                          <m:ctrlPr>
                            <a:rPr lang="en-US" sz="2150" i="1" dirty="0" smtClean="0">
                              <a:latin typeface="Cambria Math" panose="02040503050406030204" pitchFamily="18" charset="0"/>
                              <a:ea typeface="Arial"/>
                              <a:cs typeface="Arial"/>
                              <a:sym typeface="Arial"/>
                            </a:rPr>
                          </m:ctrlPr>
                        </m:sSupPr>
                        <m:e>
                          <m:d>
                            <m:dPr>
                              <m:ctrlPr>
                                <a:rPr lang="en-US" sz="2150" i="1" dirty="0" smtClean="0">
                                  <a:latin typeface="Cambria Math" panose="02040503050406030204" pitchFamily="18" charset="0"/>
                                  <a:ea typeface="Arial"/>
                                  <a:cs typeface="Arial"/>
                                  <a:sym typeface="Arial"/>
                                </a:rPr>
                              </m:ctrlPr>
                            </m:dPr>
                            <m:e>
                              <m:r>
                                <a:rPr lang="en-US" sz="2150" i="1" dirty="0" smtClean="0">
                                  <a:latin typeface="Cambria Math" panose="02040503050406030204" pitchFamily="18" charset="0"/>
                                  <a:ea typeface="Arial"/>
                                  <a:cs typeface="Arial"/>
                                  <a:sym typeface="Arial"/>
                                </a:rPr>
                                <m:t>𝐼</m:t>
                              </m:r>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𝐾𝐻</m:t>
                              </m:r>
                            </m:e>
                          </m:d>
                        </m:e>
                        <m:sup>
                          <m:r>
                            <a:rPr lang="en-US" sz="2150" i="1" dirty="0" smtClean="0">
                              <a:latin typeface="Cambria Math" panose="02040503050406030204" pitchFamily="18" charset="0"/>
                              <a:ea typeface="Arial"/>
                              <a:cs typeface="Arial"/>
                              <a:sym typeface="Arial"/>
                            </a:rPr>
                            <m:t>𝑇</m:t>
                          </m:r>
                        </m:sup>
                      </m:sSup>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𝐾𝑅</m:t>
                      </m:r>
                      <m:sSup>
                        <m:sSupPr>
                          <m:ctrlPr>
                            <a:rPr lang="en-US" sz="2150" i="1" dirty="0" smtClean="0">
                              <a:latin typeface="Cambria Math" panose="02040503050406030204" pitchFamily="18" charset="0"/>
                              <a:ea typeface="Arial"/>
                              <a:cs typeface="Arial"/>
                              <a:sym typeface="Arial"/>
                            </a:rPr>
                          </m:ctrlPr>
                        </m:sSupPr>
                        <m:e>
                          <m:r>
                            <a:rPr lang="en-US" sz="2150" i="1" dirty="0" smtClean="0">
                              <a:latin typeface="Cambria Math" panose="02040503050406030204" pitchFamily="18" charset="0"/>
                              <a:ea typeface="Arial"/>
                              <a:cs typeface="Arial"/>
                              <a:sym typeface="Arial"/>
                            </a:rPr>
                            <m:t>𝐾</m:t>
                          </m:r>
                        </m:e>
                        <m:sup>
                          <m:r>
                            <a:rPr lang="en-US" sz="2150" i="1" dirty="0" smtClean="0">
                              <a:latin typeface="Cambria Math" panose="02040503050406030204" pitchFamily="18" charset="0"/>
                              <a:ea typeface="Arial"/>
                              <a:cs typeface="Arial"/>
                              <a:sym typeface="Arial"/>
                            </a:rPr>
                            <m:t>𝑇</m:t>
                          </m:r>
                        </m:sup>
                      </m:sSup>
                    </m:oMath>
                  </m:oMathPara>
                </a14:m>
                <a:endParaRPr lang="en-US" sz="2150" dirty="0">
                  <a:latin typeface="Atkinson Hyperlegible Next"/>
                  <a:ea typeface="Arial"/>
                  <a:cs typeface="Arial"/>
                  <a:sym typeface="Arial"/>
                </a:endParaRP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r>
                  <a:rPr lang="en-US" sz="2150" dirty="0">
                    <a:latin typeface="Atkinson Hyperlegible Next"/>
                    <a:ea typeface="Arial"/>
                    <a:cs typeface="Arial"/>
                    <a:sym typeface="Arial"/>
                  </a:rPr>
                  <a:t>Why do we see both </a:t>
                </a:r>
                <a14:m>
                  <m:oMath xmlns:m="http://schemas.openxmlformats.org/officeDocument/2006/math">
                    <m:r>
                      <a:rPr lang="en-US" sz="2150" i="1" dirty="0" smtClean="0">
                        <a:latin typeface="Cambria Math" panose="02040503050406030204" pitchFamily="18" charset="0"/>
                        <a:ea typeface="Arial"/>
                        <a:cs typeface="Arial"/>
                        <a:sym typeface="Arial"/>
                      </a:rPr>
                      <m:t>𝑃</m:t>
                    </m:r>
                  </m:oMath>
                </a14:m>
                <a:r>
                  <a:rPr lang="en-US" sz="2150" dirty="0">
                    <a:latin typeface="Atkinson Hyperlegible Next"/>
                    <a:ea typeface="Arial"/>
                    <a:cs typeface="Arial"/>
                    <a:sym typeface="Arial"/>
                  </a:rPr>
                  <a:t> (model noise) and </a:t>
                </a:r>
                <a14:m>
                  <m:oMath xmlns:m="http://schemas.openxmlformats.org/officeDocument/2006/math">
                    <m:r>
                      <a:rPr lang="en-US" sz="2150" i="1" dirty="0" smtClean="0">
                        <a:latin typeface="Cambria Math" panose="02040503050406030204" pitchFamily="18" charset="0"/>
                        <a:ea typeface="Arial"/>
                        <a:cs typeface="Arial"/>
                        <a:sym typeface="Arial"/>
                      </a:rPr>
                      <m:t>𝑅</m:t>
                    </m:r>
                  </m:oMath>
                </a14:m>
                <a:r>
                  <a:rPr lang="en-US" sz="2150" dirty="0">
                    <a:latin typeface="Atkinson Hyperlegible Next"/>
                    <a:ea typeface="Arial"/>
                    <a:cs typeface="Arial"/>
                    <a:sym typeface="Arial"/>
                  </a:rPr>
                  <a:t> (sensor noise) in this equation? </a:t>
                </a:r>
              </a:p>
              <a:p>
                <a:pPr marL="0" indent="0" algn="ctr">
                  <a:lnSpc>
                    <a:spcPct val="100000"/>
                  </a:lnSpc>
                  <a:spcBef>
                    <a:spcPts val="0"/>
                  </a:spcBef>
                  <a:buSzPts val="3000"/>
                  <a:buNone/>
                </a:pPr>
                <a:r>
                  <a:rPr lang="en-US" sz="2150" dirty="0">
                    <a:latin typeface="Atkinson Hyperlegible Next"/>
                    <a:ea typeface="Arial"/>
                    <a:cs typeface="Arial"/>
                    <a:sym typeface="Arial"/>
                  </a:rPr>
                  <a:t>Because our new estimate relies on both, so both sources contribute to the final error</a:t>
                </a:r>
              </a:p>
            </p:txBody>
          </p:sp>
        </mc:Choice>
        <mc:Fallback xmlns="">
          <p:sp>
            <p:nvSpPr>
              <p:cNvPr id="118" name="Google Shape;118;p29">
                <a:extLst>
                  <a:ext uri="{FF2B5EF4-FFF2-40B4-BE49-F238E27FC236}">
                    <a16:creationId xmlns:a16="http://schemas.microsoft.com/office/drawing/2014/main" id="{9A023A5C-39A7-A88D-861E-23B8244D61E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D0FE1F3-1C29-1E21-A7F3-BFDF337F9D8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AD53CFA-7BE3-6AD5-7180-3CCF26A0CFF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(37/39)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85037B2-81B8-96C9-6776-1F2AE51DC87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88584A6-55A1-22C4-FA76-C682FBBC0A2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9464786-DBF6-7B3F-E0A1-3F0D663D903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9515808-2577-D1E1-C114-23B8031E069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4F0A57E-6D58-C184-4486-64AB1075CF3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C371933-6D63-FFAA-EE1A-AB243F05DC9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85953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D66D19E-F35C-6978-CBAE-71744A8388B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8A9E61C-2F42-AEF4-3176-98850536911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150" dirty="0">
                    <a:latin typeface="Atkinson Hyperlegible Next"/>
                    <a:ea typeface="Arial"/>
                    <a:cs typeface="Arial"/>
                    <a:sym typeface="Arial"/>
                  </a:rPr>
                  <a:t>We have our covariance equation. Now, we use matrix calculus to minimize its Trace:</a:t>
                </a:r>
                <a:endParaRPr lang="en-US" sz="2150" i="1"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150" i="1" dirty="0" smtClean="0">
                              <a:latin typeface="Cambria Math" panose="02040503050406030204" pitchFamily="18" charset="0"/>
                              <a:ea typeface="Arial"/>
                              <a:cs typeface="Arial"/>
                              <a:sym typeface="Arial"/>
                            </a:rPr>
                          </m:ctrlPr>
                        </m:fPr>
                        <m:num>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𝑇𝑟</m:t>
                          </m:r>
                          <m:d>
                            <m:dPr>
                              <m:ctrlPr>
                                <a:rPr lang="en-US" sz="2150" i="1" dirty="0" smtClean="0">
                                  <a:latin typeface="Cambria Math" panose="02040503050406030204" pitchFamily="18" charset="0"/>
                                  <a:ea typeface="Arial"/>
                                  <a:cs typeface="Arial"/>
                                  <a:sym typeface="Arial"/>
                                </a:rPr>
                              </m:ctrlPr>
                            </m:dPr>
                            <m:e>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𝑃</m:t>
                                  </m:r>
                                </m:e>
                                <m:sub>
                                  <m:r>
                                    <a:rPr lang="en-US" sz="2150" i="1" dirty="0"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𝑘</m:t>
                                  </m:r>
                                </m:sub>
                              </m:sSub>
                            </m:e>
                          </m:d>
                        </m:num>
                        <m:den>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𝐾</m:t>
                          </m:r>
                        </m:den>
                      </m:f>
                      <m:r>
                        <a:rPr lang="en-US" sz="2150" i="1" dirty="0" smtClean="0">
                          <a:latin typeface="Cambria Math" panose="02040503050406030204" pitchFamily="18" charset="0"/>
                          <a:ea typeface="Arial"/>
                          <a:cs typeface="Arial"/>
                          <a:sym typeface="Arial"/>
                        </a:rPr>
                        <m:t>=0</m:t>
                      </m:r>
                    </m:oMath>
                  </m:oMathPara>
                </a14:m>
                <a:endParaRPr lang="en-US" sz="2150" dirty="0">
                  <a:latin typeface="Atkinson Hyperlegible Next"/>
                  <a:ea typeface="Arial"/>
                  <a:cs typeface="Arial"/>
                  <a:sym typeface="Arial"/>
                </a:endParaRP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r>
                  <a:rPr lang="en-US" sz="2150" dirty="0">
                    <a:latin typeface="Atkinson Hyperlegible Next"/>
                    <a:ea typeface="Arial"/>
                    <a:cs typeface="Arial"/>
                    <a:sym typeface="Arial"/>
                  </a:rPr>
                  <a:t>Taking the derivative of the Joseph Form with respect to </a:t>
                </a:r>
                <a14:m>
                  <m:oMath xmlns:m="http://schemas.openxmlformats.org/officeDocument/2006/math">
                    <m:r>
                      <a:rPr lang="en-US" sz="2150" i="1" dirty="0">
                        <a:latin typeface="Cambria Math" panose="02040503050406030204" pitchFamily="18" charset="0"/>
                        <a:ea typeface="Arial"/>
                        <a:cs typeface="Arial"/>
                        <a:sym typeface="Arial"/>
                      </a:rPr>
                      <m:t>𝐾</m:t>
                    </m:r>
                  </m:oMath>
                </a14:m>
                <a:r>
                  <a:rPr lang="en-US" sz="2150" dirty="0">
                    <a:latin typeface="Atkinson Hyperlegible Next"/>
                    <a:ea typeface="Arial"/>
                    <a:cs typeface="Arial"/>
                    <a:sym typeface="Arial"/>
                  </a:rPr>
                  <a:t> yields:</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150" i="1" dirty="0" smtClean="0">
                          <a:latin typeface="Cambria Math" panose="02040503050406030204" pitchFamily="18" charset="0"/>
                          <a:ea typeface="Arial"/>
                          <a:cs typeface="Arial"/>
                          <a:sym typeface="Arial"/>
                        </a:rPr>
                        <m:t>−2</m:t>
                      </m:r>
                      <m:d>
                        <m:dPr>
                          <m:ctrlPr>
                            <a:rPr lang="en-US" sz="2150" i="1" dirty="0" smtClean="0">
                              <a:latin typeface="Cambria Math" panose="02040503050406030204" pitchFamily="18" charset="0"/>
                              <a:ea typeface="Arial"/>
                              <a:cs typeface="Arial"/>
                              <a:sym typeface="Arial"/>
                            </a:rPr>
                          </m:ctrlPr>
                        </m:dPr>
                        <m:e>
                          <m:r>
                            <a:rPr lang="en-US" sz="2150" i="1" dirty="0" smtClean="0">
                              <a:latin typeface="Cambria Math" panose="02040503050406030204" pitchFamily="18" charset="0"/>
                              <a:ea typeface="Arial"/>
                              <a:cs typeface="Arial"/>
                              <a:sym typeface="Arial"/>
                            </a:rPr>
                            <m:t>𝐼</m:t>
                          </m:r>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𝐾𝐻</m:t>
                          </m:r>
                        </m:e>
                      </m:d>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𝑃</m:t>
                          </m:r>
                        </m:e>
                        <m:sub>
                          <m:r>
                            <a:rPr lang="en-US" sz="2150" i="1" dirty="0"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𝑘</m:t>
                          </m:r>
                          <m:r>
                            <a:rPr lang="en-US" sz="2150" i="1" dirty="0" smtClean="0">
                              <a:latin typeface="Cambria Math" panose="02040503050406030204" pitchFamily="18" charset="0"/>
                              <a:ea typeface="Arial"/>
                              <a:cs typeface="Arial"/>
                              <a:sym typeface="Arial"/>
                            </a:rPr>
                            <m:t>−1</m:t>
                          </m:r>
                        </m:sub>
                      </m:sSub>
                      <m:sSup>
                        <m:sSupPr>
                          <m:ctrlPr>
                            <a:rPr lang="en-US" sz="2150" i="1" dirty="0" smtClean="0">
                              <a:latin typeface="Cambria Math" panose="02040503050406030204" pitchFamily="18" charset="0"/>
                              <a:ea typeface="Arial"/>
                              <a:cs typeface="Arial"/>
                              <a:sym typeface="Arial"/>
                            </a:rPr>
                          </m:ctrlPr>
                        </m:sSupPr>
                        <m:e>
                          <m:r>
                            <a:rPr lang="en-US" sz="2150" i="1" dirty="0" smtClean="0">
                              <a:latin typeface="Cambria Math" panose="02040503050406030204" pitchFamily="18" charset="0"/>
                              <a:ea typeface="Arial"/>
                              <a:cs typeface="Arial"/>
                              <a:sym typeface="Arial"/>
                            </a:rPr>
                            <m:t>𝐻</m:t>
                          </m:r>
                        </m:e>
                        <m:sup>
                          <m:r>
                            <a:rPr lang="en-US" sz="2150" i="1" dirty="0" smtClean="0">
                              <a:latin typeface="Cambria Math" panose="02040503050406030204" pitchFamily="18" charset="0"/>
                              <a:ea typeface="Arial"/>
                              <a:cs typeface="Arial"/>
                              <a:sym typeface="Arial"/>
                            </a:rPr>
                            <m:t>𝑇</m:t>
                          </m:r>
                        </m:sup>
                      </m:sSup>
                      <m:r>
                        <a:rPr lang="en-US" sz="2150" i="1" dirty="0" smtClean="0">
                          <a:latin typeface="Cambria Math" panose="02040503050406030204" pitchFamily="18" charset="0"/>
                          <a:ea typeface="Arial"/>
                          <a:cs typeface="Arial"/>
                          <a:sym typeface="Arial"/>
                        </a:rPr>
                        <m:t>+2</m:t>
                      </m:r>
                      <m:r>
                        <a:rPr lang="en-US" sz="2150" i="1" dirty="0" smtClean="0">
                          <a:latin typeface="Cambria Math" panose="02040503050406030204" pitchFamily="18" charset="0"/>
                          <a:ea typeface="Arial"/>
                          <a:cs typeface="Arial"/>
                          <a:sym typeface="Arial"/>
                        </a:rPr>
                        <m:t>𝐾𝑅</m:t>
                      </m:r>
                      <m:r>
                        <a:rPr lang="en-US" sz="2150" i="1" dirty="0" smtClean="0">
                          <a:latin typeface="Cambria Math" panose="02040503050406030204" pitchFamily="18" charset="0"/>
                          <a:ea typeface="Arial"/>
                          <a:cs typeface="Arial"/>
                          <a:sym typeface="Arial"/>
                        </a:rPr>
                        <m:t>=0</m:t>
                      </m:r>
                    </m:oMath>
                  </m:oMathPara>
                </a14:m>
                <a:endParaRPr lang="en-US" sz="2150" dirty="0">
                  <a:latin typeface="Atkinson Hyperlegible Next"/>
                  <a:ea typeface="Arial"/>
                  <a:cs typeface="Arial"/>
                  <a:sym typeface="Arial"/>
                </a:endParaRP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r>
                  <a:rPr lang="en-US" sz="2150" dirty="0">
                    <a:latin typeface="Atkinson Hyperlegible Next"/>
                    <a:ea typeface="Arial"/>
                    <a:cs typeface="Arial"/>
                    <a:sym typeface="Arial"/>
                  </a:rPr>
                  <a:t>Divide by 2, expand, and isolate the </a:t>
                </a:r>
                <a14:m>
                  <m:oMath xmlns:m="http://schemas.openxmlformats.org/officeDocument/2006/math">
                    <m:r>
                      <a:rPr lang="en-US" sz="2150" i="1" dirty="0">
                        <a:latin typeface="Cambria Math" panose="02040503050406030204" pitchFamily="18" charset="0"/>
                        <a:ea typeface="Arial"/>
                        <a:cs typeface="Arial"/>
                        <a:sym typeface="Arial"/>
                      </a:rPr>
                      <m:t>𝐾</m:t>
                    </m:r>
                  </m:oMath>
                </a14:m>
                <a:r>
                  <a:rPr lang="en-US" sz="2150" dirty="0">
                    <a:latin typeface="Atkinson Hyperlegible Next"/>
                    <a:ea typeface="Arial"/>
                    <a:cs typeface="Arial"/>
                    <a:sym typeface="Arial"/>
                  </a:rPr>
                  <a:t> terms:</a:t>
                </a: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𝑃</m:t>
                        </m:r>
                      </m:e>
                      <m:sub>
                        <m:r>
                          <a:rPr lang="en-US" sz="2150" i="1" dirty="0"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𝑘</m:t>
                        </m:r>
                        <m:r>
                          <a:rPr lang="en-US" sz="2150" i="1" dirty="0" smtClean="0">
                            <a:latin typeface="Cambria Math" panose="02040503050406030204" pitchFamily="18" charset="0"/>
                            <a:ea typeface="Arial"/>
                            <a:cs typeface="Arial"/>
                            <a:sym typeface="Arial"/>
                          </a:rPr>
                          <m:t>−1</m:t>
                        </m:r>
                      </m:sub>
                    </m:sSub>
                    <m:sSup>
                      <m:sSupPr>
                        <m:ctrlPr>
                          <a:rPr lang="en-US" sz="2150" i="1" dirty="0" smtClean="0">
                            <a:latin typeface="Cambria Math" panose="02040503050406030204" pitchFamily="18" charset="0"/>
                            <a:ea typeface="Arial"/>
                            <a:cs typeface="Arial"/>
                            <a:sym typeface="Arial"/>
                          </a:rPr>
                        </m:ctrlPr>
                      </m:sSupPr>
                      <m:e>
                        <m:r>
                          <a:rPr lang="en-US" sz="2150" i="1" dirty="0" smtClean="0">
                            <a:latin typeface="Cambria Math" panose="02040503050406030204" pitchFamily="18" charset="0"/>
                            <a:ea typeface="Arial"/>
                            <a:cs typeface="Arial"/>
                            <a:sym typeface="Arial"/>
                          </a:rPr>
                          <m:t>𝐻</m:t>
                        </m:r>
                      </m:e>
                      <m:sup>
                        <m:r>
                          <a:rPr lang="en-US" sz="2150" i="1" dirty="0" smtClean="0">
                            <a:latin typeface="Cambria Math" panose="02040503050406030204" pitchFamily="18" charset="0"/>
                            <a:ea typeface="Arial"/>
                            <a:cs typeface="Arial"/>
                            <a:sym typeface="Arial"/>
                          </a:rPr>
                          <m:t>𝑇</m:t>
                        </m:r>
                      </m:sup>
                    </m:sSup>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𝐾</m:t>
                    </m:r>
                    <m:d>
                      <m:dPr>
                        <m:ctrlPr>
                          <a:rPr lang="en-US" sz="2150" i="1" dirty="0" smtClean="0">
                            <a:latin typeface="Cambria Math" panose="02040503050406030204" pitchFamily="18" charset="0"/>
                            <a:ea typeface="Arial"/>
                            <a:cs typeface="Arial"/>
                            <a:sym typeface="Arial"/>
                          </a:rPr>
                        </m:ctrlPr>
                      </m:dPr>
                      <m:e>
                        <m:r>
                          <a:rPr lang="en-US" sz="2150" i="1" dirty="0" smtClean="0">
                            <a:latin typeface="Cambria Math" panose="02040503050406030204" pitchFamily="18" charset="0"/>
                            <a:ea typeface="Arial"/>
                            <a:cs typeface="Arial"/>
                            <a:sym typeface="Arial"/>
                          </a:rPr>
                          <m:t>𝐻</m:t>
                        </m:r>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𝑃</m:t>
                            </m:r>
                          </m:e>
                          <m:sub>
                            <m:r>
                              <a:rPr lang="en-US" sz="2150" i="1" dirty="0" smtClean="0">
                                <a:latin typeface="Cambria Math" panose="02040503050406030204" pitchFamily="18" charset="0"/>
                                <a:ea typeface="Arial"/>
                                <a:cs typeface="Arial"/>
                                <a:sym typeface="Arial"/>
                              </a:rPr>
                              <m:t>𝑘</m:t>
                            </m:r>
                            <m:r>
                              <a:rPr lang="en-US" sz="2150" b="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𝑘</m:t>
                            </m:r>
                            <m:r>
                              <a:rPr lang="en-US" sz="2150" i="1" dirty="0" smtClean="0">
                                <a:latin typeface="Cambria Math" panose="02040503050406030204" pitchFamily="18" charset="0"/>
                                <a:ea typeface="Arial"/>
                                <a:cs typeface="Arial"/>
                                <a:sym typeface="Arial"/>
                              </a:rPr>
                              <m:t>−1</m:t>
                            </m:r>
                          </m:sub>
                        </m:sSub>
                        <m:sSup>
                          <m:sSupPr>
                            <m:ctrlPr>
                              <a:rPr lang="en-US" sz="2150" i="1" dirty="0" smtClean="0">
                                <a:latin typeface="Cambria Math" panose="02040503050406030204" pitchFamily="18" charset="0"/>
                                <a:ea typeface="Arial"/>
                                <a:cs typeface="Arial"/>
                                <a:sym typeface="Arial"/>
                              </a:rPr>
                            </m:ctrlPr>
                          </m:sSupPr>
                          <m:e>
                            <m:r>
                              <a:rPr lang="en-US" sz="2150" i="1" dirty="0" smtClean="0">
                                <a:latin typeface="Cambria Math" panose="02040503050406030204" pitchFamily="18" charset="0"/>
                                <a:ea typeface="Arial"/>
                                <a:cs typeface="Arial"/>
                                <a:sym typeface="Arial"/>
                              </a:rPr>
                              <m:t>𝐻</m:t>
                            </m:r>
                          </m:e>
                          <m:sup>
                            <m:r>
                              <a:rPr lang="en-US" sz="2150" i="1" dirty="0" smtClean="0">
                                <a:latin typeface="Cambria Math" panose="02040503050406030204" pitchFamily="18" charset="0"/>
                                <a:ea typeface="Arial"/>
                                <a:cs typeface="Arial"/>
                                <a:sym typeface="Arial"/>
                              </a:rPr>
                              <m:t>𝑇</m:t>
                            </m:r>
                          </m:sup>
                        </m:sSup>
                        <m:r>
                          <a:rPr lang="en-US" sz="2150" i="1" dirty="0" smtClean="0">
                            <a:latin typeface="Cambria Math" panose="02040503050406030204" pitchFamily="18" charset="0"/>
                            <a:ea typeface="Arial"/>
                            <a:cs typeface="Arial"/>
                            <a:sym typeface="Arial"/>
                          </a:rPr>
                          <m:t>+</m:t>
                        </m:r>
                        <m:r>
                          <a:rPr lang="en-US" sz="2150" i="1" dirty="0" smtClean="0">
                            <a:latin typeface="Cambria Math" panose="02040503050406030204" pitchFamily="18" charset="0"/>
                            <a:ea typeface="Arial"/>
                            <a:cs typeface="Arial"/>
                            <a:sym typeface="Arial"/>
                          </a:rPr>
                          <m:t>𝑅</m:t>
                        </m:r>
                      </m:e>
                    </m:d>
                  </m:oMath>
                </a14:m>
                <a:r>
                  <a:rPr lang="en-US" sz="2150" dirty="0">
                    <a:latin typeface="Atkinson Hyperlegible Next"/>
                    <a:ea typeface="Arial"/>
                    <a:cs typeface="Arial"/>
                    <a:sym typeface="Arial"/>
                  </a:rPr>
                  <a:t>There it is! </a:t>
                </a:r>
              </a:p>
              <a:p>
                <a:pPr marL="0" indent="0">
                  <a:lnSpc>
                    <a:spcPct val="100000"/>
                  </a:lnSpc>
                  <a:spcBef>
                    <a:spcPts val="0"/>
                  </a:spcBef>
                  <a:buSzPts val="3000"/>
                  <a:buNone/>
                </a:pPr>
                <a:endParaRPr lang="en-US" sz="2150" dirty="0">
                  <a:latin typeface="Atkinson Hyperlegible Next"/>
                  <a:ea typeface="Arial"/>
                  <a:cs typeface="Arial"/>
                  <a:sym typeface="Arial"/>
                </a:endParaRPr>
              </a:p>
              <a:p>
                <a:pPr marL="0" indent="0">
                  <a:lnSpc>
                    <a:spcPct val="100000"/>
                  </a:lnSpc>
                  <a:spcBef>
                    <a:spcPts val="0"/>
                  </a:spcBef>
                  <a:buSzPts val="3000"/>
                  <a:buNone/>
                </a:pPr>
                <a:r>
                  <a:rPr lang="en-US" sz="2150" dirty="0">
                    <a:latin typeface="Atkinson Hyperlegible Next"/>
                    <a:ea typeface="Arial"/>
                    <a:cs typeface="Arial"/>
                    <a:sym typeface="Arial"/>
                  </a:rPr>
                  <a:t>The </a:t>
                </a:r>
                <a14:m>
                  <m:oMath xmlns:m="http://schemas.openxmlformats.org/officeDocument/2006/math">
                    <m:sSub>
                      <m:sSubPr>
                        <m:ctrlPr>
                          <a:rPr lang="en-US" sz="2150" i="1" dirty="0" smtClean="0">
                            <a:latin typeface="Cambria Math" panose="02040503050406030204" pitchFamily="18" charset="0"/>
                            <a:ea typeface="Arial"/>
                            <a:cs typeface="Arial"/>
                            <a:sym typeface="Arial"/>
                          </a:rPr>
                        </m:ctrlPr>
                      </m:sSubPr>
                      <m:e>
                        <m:r>
                          <a:rPr lang="en-US" sz="2150" i="1" dirty="0" smtClean="0">
                            <a:latin typeface="Cambria Math" panose="02040503050406030204" pitchFamily="18" charset="0"/>
                            <a:ea typeface="Arial"/>
                            <a:cs typeface="Arial"/>
                            <a:sym typeface="Arial"/>
                          </a:rPr>
                          <m:t>𝑃</m:t>
                        </m:r>
                      </m:e>
                      <m:sub>
                        <m:r>
                          <a:rPr lang="en-US" sz="2150" i="1" dirty="0" smtClean="0">
                            <a:latin typeface="Cambria Math" panose="02040503050406030204" pitchFamily="18" charset="0"/>
                            <a:ea typeface="Arial"/>
                            <a:cs typeface="Arial"/>
                            <a:sym typeface="Arial"/>
                          </a:rPr>
                          <m:t>𝑘𝑘</m:t>
                        </m:r>
                        <m:r>
                          <a:rPr lang="en-US" sz="2150" i="1" dirty="0" smtClean="0">
                            <a:latin typeface="Cambria Math" panose="02040503050406030204" pitchFamily="18" charset="0"/>
                            <a:ea typeface="Arial"/>
                            <a:cs typeface="Arial"/>
                            <a:sym typeface="Arial"/>
                          </a:rPr>
                          <m:t>−1</m:t>
                        </m:r>
                      </m:sub>
                    </m:sSub>
                    <m:sSup>
                      <m:sSupPr>
                        <m:ctrlPr>
                          <a:rPr lang="en-US" sz="2150" i="1" dirty="0" smtClean="0">
                            <a:latin typeface="Cambria Math" panose="02040503050406030204" pitchFamily="18" charset="0"/>
                            <a:ea typeface="Arial"/>
                            <a:cs typeface="Arial"/>
                            <a:sym typeface="Arial"/>
                          </a:rPr>
                        </m:ctrlPr>
                      </m:sSupPr>
                      <m:e>
                        <m:r>
                          <a:rPr lang="en-US" sz="2150" i="1" dirty="0" smtClean="0">
                            <a:latin typeface="Cambria Math" panose="02040503050406030204" pitchFamily="18" charset="0"/>
                            <a:ea typeface="Arial"/>
                            <a:cs typeface="Arial"/>
                            <a:sym typeface="Arial"/>
                          </a:rPr>
                          <m:t>𝐻</m:t>
                        </m:r>
                      </m:e>
                      <m:sup>
                        <m:r>
                          <a:rPr lang="en-US" sz="2150" i="1" dirty="0" smtClean="0">
                            <a:latin typeface="Cambria Math" panose="02040503050406030204" pitchFamily="18" charset="0"/>
                            <a:ea typeface="Arial"/>
                            <a:cs typeface="Arial"/>
                            <a:sym typeface="Arial"/>
                          </a:rPr>
                          <m:t>𝑇</m:t>
                        </m:r>
                      </m:sup>
                    </m:sSup>
                  </m:oMath>
                </a14:m>
                <a:r>
                  <a:rPr lang="en-US" sz="2150" dirty="0">
                    <a:latin typeface="Atkinson Hyperlegible Next"/>
                    <a:ea typeface="Arial"/>
                    <a:cs typeface="Arial"/>
                    <a:sym typeface="Arial"/>
                  </a:rPr>
                  <a:t> term emerges naturally from taking the derivative of the covariance. It represents the </a:t>
                </a:r>
                <a:r>
                  <a:rPr lang="en-US" sz="2150" b="1" dirty="0">
                    <a:latin typeface="Atkinson Hyperlegible Next"/>
                    <a:ea typeface="Arial"/>
                    <a:cs typeface="Arial"/>
                    <a:sym typeface="Arial"/>
                  </a:rPr>
                  <a:t>cross-covariance between our state error and our measurement error</a:t>
                </a:r>
                <a:r>
                  <a:rPr lang="en-US" sz="215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F8A9E61C-2F42-AEF4-3176-98850536911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5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334F522-4643-14F4-40CD-3876D6F8E34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BA39E3F-275A-9D5A-BAF7-969391E06A4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(38/39)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E463C07-97D1-F686-C908-D359966E2A7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4EFED57-9E8C-E1FD-8861-00B323B6D1D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DF72137-5126-93C6-E270-25A121D442F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E979EE7-0796-C8F0-58DB-1231933D5BA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BE6B8F8-70F8-25FB-D30E-8A9B2EF7DB9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DF958F1-4751-B84B-8E83-9B51E49369E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8796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A38B4C8-D79A-D713-1B78-6F3A9859EE5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F6FFA1A-E340-999C-1653-305525CBB65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Now we have our optimal </a:t>
                </a:r>
                <a14:m>
                  <m:oMath xmlns:m="http://schemas.openxmlformats.org/officeDocument/2006/math">
                    <m:r>
                      <a:rPr lang="en-US" sz="2300" i="1" dirty="0" smtClean="0">
                        <a:latin typeface="Cambria Math" panose="02040503050406030204" pitchFamily="18" charset="0"/>
                        <a:ea typeface="Arial"/>
                        <a:cs typeface="Arial"/>
                        <a:sym typeface="Arial"/>
                      </a:rPr>
                      <m:t>𝐾</m:t>
                    </m:r>
                  </m:oMath>
                </a14:m>
                <a:r>
                  <a:rPr lang="en-US" sz="2300" dirty="0">
                    <a:latin typeface="Atkinson Hyperlegible Next"/>
                    <a:ea typeface="Arial"/>
                    <a:cs typeface="Arial"/>
                    <a:sym typeface="Arial"/>
                  </a:rPr>
                  <a:t>. But calculating the massive Joseph Form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err="1"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err="1" smtClean="0">
                              <a:latin typeface="Cambria Math" panose="02040503050406030204" pitchFamily="18" charset="0"/>
                              <a:ea typeface="Arial"/>
                              <a:cs typeface="Arial"/>
                              <a:sym typeface="Arial"/>
                            </a:rPr>
                            <m:t>𝑘</m:t>
                          </m:r>
                        </m:sub>
                      </m:sSub>
                      <m:r>
                        <a:rPr lang="en-US" sz="2300" i="1" dirty="0" smtClean="0">
                          <a:latin typeface="Cambria Math" panose="02040503050406030204" pitchFamily="18" charset="0"/>
                          <a:ea typeface="Arial"/>
                          <a:cs typeface="Arial"/>
                          <a:sym typeface="Arial"/>
                        </a:rPr>
                        <m:t>=</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𝐼</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𝐾𝐻</m:t>
                          </m:r>
                        </m:e>
                      </m:d>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sSup>
                        <m:sSupPr>
                          <m:ctrlPr>
                            <a:rPr lang="en-US" sz="2300" i="1" dirty="0" smtClean="0">
                              <a:latin typeface="Cambria Math" panose="02040503050406030204" pitchFamily="18" charset="0"/>
                              <a:ea typeface="Arial"/>
                              <a:cs typeface="Arial"/>
                              <a:sym typeface="Arial"/>
                            </a:rPr>
                          </m:ctrlPr>
                        </m:sSupPr>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𝐼</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𝐾𝐻</m:t>
                              </m:r>
                            </m:e>
                          </m:d>
                        </m:e>
                        <m:sup>
                          <m:r>
                            <a:rPr lang="en-US" sz="2300" i="1" dirty="0" smtClean="0">
                              <a:latin typeface="Cambria Math" panose="02040503050406030204" pitchFamily="18" charset="0"/>
                              <a:ea typeface="Arial"/>
                              <a:cs typeface="Arial"/>
                              <a:sym typeface="Arial"/>
                            </a:rPr>
                            <m:t>𝑇</m:t>
                          </m:r>
                        </m:sup>
                      </m:sSup>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𝐾𝑅</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𝐾</m:t>
                          </m:r>
                        </m:e>
                        <m:sup>
                          <m:r>
                            <a:rPr lang="en-US" sz="2300" i="1" dirty="0" smtClean="0">
                              <a:latin typeface="Cambria Math" panose="02040503050406030204" pitchFamily="18" charset="0"/>
                              <a:ea typeface="Arial"/>
                              <a:cs typeface="Arial"/>
                              <a:sym typeface="Arial"/>
                            </a:rPr>
                            <m:t>𝑇</m:t>
                          </m:r>
                        </m:sup>
                      </m:sSup>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takes too much processing power on a microcontroller. Let's substitute our newly derived optimal </a:t>
                </a:r>
                <a14:m>
                  <m:oMath xmlns:m="http://schemas.openxmlformats.org/officeDocument/2006/math">
                    <m:r>
                      <a:rPr lang="en-US" sz="2300" i="1" dirty="0">
                        <a:latin typeface="Cambria Math" panose="02040503050406030204" pitchFamily="18" charset="0"/>
                        <a:ea typeface="Arial"/>
                        <a:cs typeface="Arial"/>
                        <a:sym typeface="Arial"/>
                      </a:rPr>
                      <m:t>𝐾</m:t>
                    </m:r>
                  </m:oMath>
                </a14:m>
                <a:r>
                  <a:rPr lang="en-US" sz="2300" dirty="0">
                    <a:latin typeface="Atkinson Hyperlegible Next"/>
                    <a:ea typeface="Arial"/>
                    <a:cs typeface="Arial"/>
                    <a:sym typeface="Arial"/>
                  </a:rPr>
                  <a:t> back into the Joseph Form.</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Because </a:t>
                </a:r>
                <a14:m>
                  <m:oMath xmlns:m="http://schemas.openxmlformats.org/officeDocument/2006/math">
                    <m:r>
                      <a:rPr lang="en-US" sz="2300" i="1" dirty="0" smtClean="0">
                        <a:latin typeface="Cambria Math" panose="02040503050406030204" pitchFamily="18" charset="0"/>
                        <a:ea typeface="Arial"/>
                        <a:cs typeface="Arial"/>
                        <a:sym typeface="Arial"/>
                      </a:rPr>
                      <m:t>𝐾</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𝐻𝑃</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𝐻</m:t>
                            </m:r>
                          </m:e>
                          <m:sup>
                            <m:r>
                              <a:rPr lang="en-US" sz="2300" i="1" dirty="0" smtClean="0">
                                <a:latin typeface="Cambria Math" panose="02040503050406030204" pitchFamily="18" charset="0"/>
                                <a:ea typeface="Arial"/>
                                <a:cs typeface="Arial"/>
                                <a:sym typeface="Arial"/>
                              </a:rPr>
                              <m:t>𝑇</m:t>
                            </m:r>
                          </m:sup>
                        </m:sSup>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𝑅</m:t>
                        </m:r>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𝑃</m:t>
                    </m:r>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𝐻</m:t>
                        </m:r>
                      </m:e>
                      <m:sup>
                        <m:r>
                          <a:rPr lang="en-US" sz="2300" i="1" dirty="0" smtClean="0">
                            <a:latin typeface="Cambria Math" panose="02040503050406030204" pitchFamily="18" charset="0"/>
                            <a:ea typeface="Arial"/>
                            <a:cs typeface="Arial"/>
                            <a:sym typeface="Arial"/>
                          </a:rPr>
                          <m:t>𝑇</m:t>
                        </m:r>
                      </m:sup>
                    </m:sSup>
                  </m:oMath>
                </a14:m>
                <a:r>
                  <a:rPr lang="en-US" sz="2300" dirty="0">
                    <a:latin typeface="Atkinson Hyperlegible Next"/>
                    <a:ea typeface="Arial"/>
                    <a:cs typeface="Arial"/>
                    <a:sym typeface="Arial"/>
                  </a:rPr>
                  <a:t>, massive sections of the Joseph equation perfectly cancel each other out.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equation collapses into the short form:</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err="1"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err="1" smtClean="0">
                              <a:latin typeface="Cambria Math" panose="02040503050406030204" pitchFamily="18" charset="0"/>
                              <a:ea typeface="Arial"/>
                              <a:cs typeface="Arial"/>
                              <a:sym typeface="Arial"/>
                            </a:rPr>
                            <m:t>𝑘</m:t>
                          </m:r>
                        </m:sub>
                      </m:sSub>
                      <m:r>
                        <a:rPr lang="en-US" sz="2300" i="1" dirty="0" smtClean="0">
                          <a:latin typeface="Cambria Math" panose="02040503050406030204" pitchFamily="18" charset="0"/>
                          <a:ea typeface="Arial"/>
                          <a:cs typeface="Arial"/>
                          <a:sym typeface="Arial"/>
                        </a:rPr>
                        <m:t>=</m:t>
                      </m:r>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𝐼</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𝐾𝐻</m:t>
                          </m:r>
                        </m:e>
                      </m:d>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𝑃</m:t>
                          </m:r>
                        </m:e>
                        <m:sub>
                          <m:r>
                            <a:rPr lang="en-US" sz="2300" i="1" dirty="0" smtClean="0">
                              <a:latin typeface="Cambria Math" panose="02040503050406030204" pitchFamily="18" charset="0"/>
                              <a:ea typeface="Arial"/>
                              <a:cs typeface="Arial"/>
                              <a:sym typeface="Arial"/>
                            </a:rPr>
                            <m:t>𝑘</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oMath>
                  </m:oMathPara>
                </a14:m>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3F6FFA1A-E340-999C-1653-305525CBB65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06C7794-B025-0D31-D258-6877AFE3221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602B0EF-FB34-256A-7FDB-707F03FFC92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Sensor Fusion – Predict Step (39/39)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90DD414-82B2-1121-FBAF-EE81108B030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A4B7E33-9CB7-C541-8BC3-3CA8FB9F839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1622B32-7B1B-05FF-18EE-8BF63AF9949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798CBE1-BC35-8A5E-7602-4D404217663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D99734A-2E5D-DA57-6F9B-7109CAAD611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9BCA8FC-AC9A-7B0A-7F36-D3E7C04E732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882670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32FBD52E-76F9-4322-FCE1-7B1E06BAC75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0AA8EC63-4360-B126-CF2C-E4E3DA9041ED}"/>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Kalman Filter Example (1/9)</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5963495D-0245-29D1-BAE9-9FCFABC45991}"/>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3B1CA421-4148-F26B-197E-47407E764F59}"/>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0E34D3D9-AB86-4C33-D085-8DF6C49E608A}"/>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E434C9A5-3942-5734-5288-5904455960AC}"/>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078CDB3B-DC31-70AF-2362-A90E9320C37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35470888-80F5-094E-A1E2-4258EBA55CC5}"/>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908DFECE-ABEA-1B03-DCD0-793D05FA2B1F}"/>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B236CA14-8EC5-5DBF-D8B4-E06A42968B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F42E1642-6321-67BB-95BC-85F8C4BC405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708263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73C30CD-1B65-20F2-E066-1245C808E0E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F6F4D47-DAB0-24EB-3A0C-0D225555718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200000"/>
              </a:lnSpc>
              <a:spcBef>
                <a:spcPts val="0"/>
              </a:spcBef>
              <a:buSzPts val="3000"/>
            </a:pPr>
            <a:r>
              <a:rPr lang="en-US" sz="2400" dirty="0">
                <a:solidFill>
                  <a:schemeClr val="dk1"/>
                </a:solidFill>
                <a:latin typeface="Atkinson Hyperlegible Next"/>
                <a:ea typeface="Arial"/>
                <a:cs typeface="Arial"/>
                <a:sym typeface="Arial"/>
              </a:rPr>
              <a:t>The Kalman Filter works as a 2 steps process, what are they called?</a:t>
            </a:r>
          </a:p>
          <a:p>
            <a:pPr marL="285750" indent="-285750">
              <a:lnSpc>
                <a:spcPct val="200000"/>
              </a:lnSpc>
              <a:spcBef>
                <a:spcPts val="0"/>
              </a:spcBef>
              <a:buSzPts val="3000"/>
            </a:pPr>
            <a:r>
              <a:rPr lang="en-US" sz="2400" dirty="0">
                <a:latin typeface="Atkinson Hyperlegible Next"/>
                <a:ea typeface="Arial"/>
                <a:cs typeface="Arial"/>
                <a:sym typeface="Arial"/>
              </a:rPr>
              <a:t>What are the conditions on the sensor / process noise?</a:t>
            </a:r>
          </a:p>
          <a:p>
            <a:pPr marL="285750" indent="-285750">
              <a:lnSpc>
                <a:spcPct val="200000"/>
              </a:lnSpc>
              <a:spcBef>
                <a:spcPts val="0"/>
              </a:spcBef>
              <a:buSzPts val="3000"/>
            </a:pPr>
            <a:r>
              <a:rPr lang="en-US" sz="2400" dirty="0">
                <a:solidFill>
                  <a:schemeClr val="dk1"/>
                </a:solidFill>
                <a:latin typeface="Atkinson Hyperlegible Next"/>
                <a:ea typeface="Arial"/>
                <a:cs typeface="Arial"/>
                <a:sym typeface="Arial"/>
              </a:rPr>
              <a:t>What are the conditions imposed on the state transition of the system?</a:t>
            </a:r>
          </a:p>
          <a:p>
            <a:pPr marL="285750" indent="-285750">
              <a:lnSpc>
                <a:spcPct val="100000"/>
              </a:lnSpc>
              <a:spcBef>
                <a:spcPts val="0"/>
              </a:spcBef>
              <a:buSzPts val="3000"/>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8E2EF820-4A0A-FC19-5F69-A7B8D060C9B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4651D24-31BE-1EB0-3B75-F1BF79E9E06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B7226CD-1562-0B62-C3E3-F4B3978E461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DDD2DC3-5265-145A-EE6C-7CC65F31D7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5C4AB5B-1743-835A-E06C-123AF5F326E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5A7184F-4745-FCC6-45BB-7D010FF913E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6C39536-5BA7-38DE-F091-D1926C84E43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94AFB19-ED94-969C-7541-DA079609E61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170281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8B026BE-5D94-22CB-B4EE-63B261AF76D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E3ED04D-7E89-264D-0AD8-019C05FAFC7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Up to this point, we have looked at a lot of theoretical matrices: </a:t>
                </a:r>
                <a14:m>
                  <m:oMath xmlns:m="http://schemas.openxmlformats.org/officeDocument/2006/math">
                    <m:r>
                      <a:rPr lang="pt-BR" sz="2300" i="1" dirty="0" smtClean="0">
                        <a:latin typeface="Cambria Math" panose="02040503050406030204" pitchFamily="18" charset="0"/>
                        <a:ea typeface="Arial"/>
                        <a:cs typeface="Arial"/>
                        <a:sym typeface="Arial"/>
                      </a:rPr>
                      <m:t>𝐹</m:t>
                    </m:r>
                    <m:r>
                      <a:rPr lang="pt-BR" sz="2300" i="1" dirty="0" smtClean="0">
                        <a:latin typeface="Cambria Math" panose="02040503050406030204" pitchFamily="18" charset="0"/>
                        <a:ea typeface="Arial"/>
                        <a:cs typeface="Arial"/>
                        <a:sym typeface="Arial"/>
                      </a:rPr>
                      <m:t>, </m:t>
                    </m:r>
                    <m:r>
                      <a:rPr lang="pt-BR" sz="2300" i="1" dirty="0" smtClean="0">
                        <a:latin typeface="Cambria Math" panose="02040503050406030204" pitchFamily="18" charset="0"/>
                        <a:ea typeface="Arial"/>
                        <a:cs typeface="Arial"/>
                        <a:sym typeface="Arial"/>
                      </a:rPr>
                      <m:t>𝐻</m:t>
                    </m:r>
                    <m:r>
                      <a:rPr lang="pt-BR" sz="2300" i="1" dirty="0" smtClean="0">
                        <a:latin typeface="Cambria Math" panose="02040503050406030204" pitchFamily="18" charset="0"/>
                        <a:ea typeface="Arial"/>
                        <a:cs typeface="Arial"/>
                        <a:sym typeface="Arial"/>
                      </a:rPr>
                      <m:t>, </m:t>
                    </m:r>
                    <m:r>
                      <a:rPr lang="pt-BR" sz="2300" i="1" dirty="0" smtClean="0">
                        <a:latin typeface="Cambria Math" panose="02040503050406030204" pitchFamily="18" charset="0"/>
                        <a:ea typeface="Arial"/>
                        <a:cs typeface="Arial"/>
                        <a:sym typeface="Arial"/>
                      </a:rPr>
                      <m:t>𝑃</m:t>
                    </m:r>
                    <m:r>
                      <a:rPr lang="pt-BR" sz="2300" i="1" dirty="0" smtClean="0">
                        <a:latin typeface="Cambria Math" panose="02040503050406030204" pitchFamily="18" charset="0"/>
                        <a:ea typeface="Arial"/>
                        <a:cs typeface="Arial"/>
                        <a:sym typeface="Arial"/>
                      </a:rPr>
                      <m:t>, </m:t>
                    </m:r>
                    <m:r>
                      <a:rPr lang="pt-BR" sz="2300" i="1" dirty="0" smtClean="0">
                        <a:latin typeface="Cambria Math" panose="02040503050406030204" pitchFamily="18" charset="0"/>
                        <a:ea typeface="Arial"/>
                        <a:cs typeface="Arial"/>
                        <a:sym typeface="Arial"/>
                      </a:rPr>
                      <m:t>𝑄</m:t>
                    </m:r>
                    <m:r>
                      <a:rPr lang="pt-BR" sz="2300" i="1" dirty="0" smtClean="0">
                        <a:latin typeface="Cambria Math" panose="02040503050406030204" pitchFamily="18" charset="0"/>
                        <a:ea typeface="Arial"/>
                        <a:cs typeface="Arial"/>
                        <a:sym typeface="Arial"/>
                      </a:rPr>
                      <m:t>, </m:t>
                    </m:r>
                    <m:r>
                      <a:rPr lang="pt-BR" sz="2300" i="1" dirty="0" smtClean="0">
                        <a:latin typeface="Cambria Math" panose="02040503050406030204" pitchFamily="18" charset="0"/>
                        <a:ea typeface="Arial"/>
                        <a:cs typeface="Arial"/>
                        <a:sym typeface="Arial"/>
                      </a:rPr>
                      <m:t>𝑅</m:t>
                    </m:r>
                  </m:oMath>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But that is always difficult to understand. We will build a complete, multi-dimensional Kalman Filter from scratch for a simple robotic system!</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Let’s go back to our previous autonomous train example from before!</a:t>
                </a:r>
              </a:p>
            </p:txBody>
          </p:sp>
        </mc:Choice>
        <mc:Fallback xmlns="">
          <p:sp>
            <p:nvSpPr>
              <p:cNvPr id="118" name="Google Shape;118;p29">
                <a:extLst>
                  <a:ext uri="{FF2B5EF4-FFF2-40B4-BE49-F238E27FC236}">
                    <a16:creationId xmlns:a16="http://schemas.microsoft.com/office/drawing/2014/main" id="{0E3ED04D-7E89-264D-0AD8-019C05FAFC7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A8C9263-8CA8-4F4A-2792-7EC1250391E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1BE017B-A888-BB83-AB6A-78F80CFEA7E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Kalman Filter Example (2/9)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0E02E32-5B4B-0415-5D3A-421C81FFFD6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4339AA2-699F-3D16-F402-1E23D136538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91F0B2B-1522-0FBB-4340-2670D883644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D6DC924-F250-8380-548F-AA1662D9312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89E9323-E056-B25A-6C9D-C939925DA75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6A5FF2C-7E8F-8794-F3E2-54FD21224AB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18098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04601C3-8FEC-ABFB-97FE-32E9FA7D0F6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8BE9A57-F1F4-2282-FF6E-A2FA834B753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Imagine a simple robot constrained to a 1D track (like a train). It can move forward and backward, but it cannot steer.</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want to track both its </a:t>
                </a:r>
                <a:r>
                  <a:rPr lang="en-US" sz="2300" b="1" dirty="0">
                    <a:latin typeface="Atkinson Hyperlegible Next"/>
                    <a:ea typeface="Arial"/>
                    <a:cs typeface="Arial"/>
                    <a:sym typeface="Arial"/>
                  </a:rPr>
                  <a:t>Position</a:t>
                </a:r>
                <a:r>
                  <a:rPr lang="en-US" sz="2300" dirty="0">
                    <a:latin typeface="Atkinson Hyperlegible Next"/>
                    <a:ea typeface="Arial"/>
                    <a:cs typeface="Arial"/>
                    <a:sym typeface="Arial"/>
                  </a:rPr>
                  <a:t> (</a:t>
                </a:r>
                <a14:m>
                  <m:oMath xmlns:m="http://schemas.openxmlformats.org/officeDocument/2006/math">
                    <m:r>
                      <a:rPr lang="en-US" sz="2300" i="1" dirty="0" smtClean="0">
                        <a:latin typeface="Cambria Math" panose="02040503050406030204" pitchFamily="18" charset="0"/>
                        <a:ea typeface="Arial"/>
                        <a:cs typeface="Arial"/>
                        <a:sym typeface="Arial"/>
                      </a:rPr>
                      <m:t>𝑝</m:t>
                    </m:r>
                  </m:oMath>
                </a14:m>
                <a:r>
                  <a:rPr lang="en-US" sz="2300" dirty="0">
                    <a:latin typeface="Atkinson Hyperlegible Next"/>
                    <a:ea typeface="Arial"/>
                    <a:cs typeface="Arial"/>
                    <a:sym typeface="Arial"/>
                  </a:rPr>
                  <a:t>) and its </a:t>
                </a:r>
                <a:r>
                  <a:rPr lang="en-US" sz="2300" b="1" dirty="0">
                    <a:latin typeface="Atkinson Hyperlegible Next"/>
                    <a:ea typeface="Arial"/>
                    <a:cs typeface="Arial"/>
                    <a:sym typeface="Arial"/>
                  </a:rPr>
                  <a:t>Velocity</a:t>
                </a:r>
                <a:r>
                  <a:rPr lang="en-US" sz="2300" dirty="0">
                    <a:latin typeface="Atkinson Hyperlegible Next"/>
                    <a:ea typeface="Arial"/>
                    <a:cs typeface="Arial"/>
                    <a:sym typeface="Arial"/>
                  </a:rPr>
                  <a:t> (</a:t>
                </a:r>
                <a14:m>
                  <m:oMath xmlns:m="http://schemas.openxmlformats.org/officeDocument/2006/math">
                    <m:r>
                      <a:rPr lang="en-US" sz="2300" i="1" dirty="0" smtClean="0">
                        <a:latin typeface="Cambria Math" panose="02040503050406030204" pitchFamily="18" charset="0"/>
                        <a:ea typeface="Arial"/>
                        <a:cs typeface="Arial"/>
                        <a:sym typeface="Arial"/>
                      </a:rPr>
                      <m:t>𝑣</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What would our state be?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Our State Vector (</a:t>
                </a:r>
                <a14:m>
                  <m:oMath xmlns:m="http://schemas.openxmlformats.org/officeDocument/2006/math">
                    <m:r>
                      <a:rPr lang="en-US" sz="2300" i="1" dirty="0" smtClean="0">
                        <a:latin typeface="Cambria Math" panose="02040503050406030204" pitchFamily="18" charset="0"/>
                        <a:ea typeface="Arial"/>
                        <a:cs typeface="Arial"/>
                        <a:sym typeface="Arial"/>
                      </a:rPr>
                      <m:t>𝑥</m:t>
                    </m:r>
                  </m:oMath>
                </a14:m>
                <a:r>
                  <a:rPr lang="en-US" sz="2300" dirty="0">
                    <a:latin typeface="Atkinson Hyperlegible Next"/>
                    <a:ea typeface="Arial"/>
                    <a:cs typeface="Arial"/>
                    <a:sym typeface="Arial"/>
                  </a:rPr>
                  <a:t>) is now a 2x1 column matrix:</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𝑥</m:t>
                      </m:r>
                      <m:r>
                        <a:rPr lang="en-US" sz="2300" i="1" dirty="0" smtClean="0">
                          <a:latin typeface="Cambria Math" panose="02040503050406030204" pitchFamily="18" charset="0"/>
                          <a:ea typeface="Arial"/>
                          <a:cs typeface="Arial"/>
                          <a:sym typeface="Arial"/>
                        </a:rPr>
                        <m:t>=</m:t>
                      </m:r>
                      <m:d>
                        <m:dPr>
                          <m:begChr m:val="["/>
                          <m:endChr m:val="]"/>
                          <m:ctrlPr>
                            <a:rPr lang="en-US" sz="230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300" i="1" dirty="0" smtClean="0">
                                  <a:latin typeface="Cambria Math" panose="02040503050406030204" pitchFamily="18" charset="0"/>
                                  <a:ea typeface="Arial"/>
                                  <a:cs typeface="Arial"/>
                                  <a:sym typeface="Arial"/>
                                </a:rPr>
                              </m:ctrlPr>
                            </m:mPr>
                            <m:mr>
                              <m:e>
                                <m:r>
                                  <a:rPr lang="en-US" sz="2300" i="1" dirty="0" smtClean="0">
                                    <a:latin typeface="Cambria Math" panose="02040503050406030204" pitchFamily="18" charset="0"/>
                                    <a:ea typeface="Arial"/>
                                    <a:cs typeface="Arial"/>
                                    <a:sym typeface="Arial"/>
                                  </a:rPr>
                                  <m:t>𝑝</m:t>
                                </m:r>
                              </m:e>
                            </m:mr>
                            <m:mr>
                              <m:e>
                                <m:r>
                                  <a:rPr lang="en-US" sz="2300" i="1" dirty="0" smtClean="0">
                                    <a:latin typeface="Cambria Math" panose="02040503050406030204" pitchFamily="18" charset="0"/>
                                    <a:ea typeface="Arial"/>
                                    <a:cs typeface="Arial"/>
                                    <a:sym typeface="Arial"/>
                                  </a:rPr>
                                  <m:t>𝑣</m:t>
                                </m:r>
                              </m:e>
                            </m:mr>
                          </m:m>
                        </m:e>
                      </m:d>
                    </m:oMath>
                  </m:oMathPara>
                </a14:m>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8BE9A57-F1F4-2282-FF6E-A2FA834B753C}"/>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5B1EA85-EE60-FCDC-6BC5-ECF5FA08F5B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BCAA2DA-153C-54DD-1F10-1BB1BC2BC40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Kalman Filter Example (3/9)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955BB5A-57B9-49FC-5FFB-6F4B89621BD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DF6D3AC-0205-DFC9-992C-732891A7A7C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52C4F8F-AF67-B2E5-A4DA-D38681C3097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20689C9-1D28-7E50-8BBF-9DE99A34E04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47B4831-7AFB-E22C-BD2C-AF2034193ED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0B8FC6A-5535-A496-D1EF-ACB77388662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2302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F78A0BF-2AC9-DA99-F4E2-9C8392E1907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BC2FDFE-E16B-633D-6B11-D85E4B5FF12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To predict the future state, we need basic kinematic equations.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If our time step is </a:t>
                </a:r>
                <a14:m>
                  <m:oMath xmlns:m="http://schemas.openxmlformats.org/officeDocument/2006/math">
                    <m:r>
                      <m:rPr>
                        <m:sty m:val="p"/>
                      </m:rPr>
                      <a:rPr lang="en-US" sz="2300" i="0" dirty="0" smtClean="0">
                        <a:latin typeface="Cambria Math" panose="02040503050406030204" pitchFamily="18" charset="0"/>
                        <a:ea typeface="Arial"/>
                        <a:cs typeface="Arial"/>
                        <a:sym typeface="Arial"/>
                      </a:rPr>
                      <m:t>Δ</m:t>
                    </m:r>
                    <m:r>
                      <a:rPr lang="en-US" sz="2300" i="1" dirty="0" smtClean="0">
                        <a:latin typeface="Cambria Math" panose="02040503050406030204" pitchFamily="18" charset="0"/>
                        <a:ea typeface="Arial"/>
                        <a:cs typeface="Arial"/>
                        <a:sym typeface="Arial"/>
                      </a:rPr>
                      <m:t>𝑡</m:t>
                    </m:r>
                  </m:oMath>
                </a14:m>
                <a:r>
                  <a:rPr lang="en-US" sz="2300" dirty="0">
                    <a:latin typeface="Atkinson Hyperlegible Next"/>
                    <a:ea typeface="Arial"/>
                    <a:cs typeface="Arial"/>
                    <a:sym typeface="Arial"/>
                  </a:rPr>
                  <a:t>, the new position is the old position plus velocity times time: </a:t>
                </a:r>
              </a:p>
              <a:p>
                <a:pPr marL="0" indent="0">
                  <a:lnSpc>
                    <a:spcPct val="100000"/>
                  </a:lnSpc>
                  <a:spcBef>
                    <a:spcPts val="0"/>
                  </a:spcBef>
                  <a:buSzPts val="3000"/>
                  <a:buNone/>
                </a:pPr>
                <a:endParaRPr lang="en-US" sz="2300" i="1"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𝑝</m:t>
                          </m:r>
                        </m:e>
                        <m:sub>
                          <m:r>
                            <a:rPr lang="en-US" sz="2300" i="1" dirty="0" smtClean="0">
                              <a:latin typeface="Cambria Math" panose="02040503050406030204" pitchFamily="18" charset="0"/>
                              <a:ea typeface="Arial"/>
                              <a:cs typeface="Arial"/>
                              <a:sym typeface="Arial"/>
                            </a:rPr>
                            <m:t>𝑛𝑒𝑤</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𝑝</m:t>
                          </m:r>
                        </m:e>
                        <m:sub>
                          <m:r>
                            <a:rPr lang="en-US" sz="2300" i="1" dirty="0" smtClean="0">
                              <a:latin typeface="Cambria Math" panose="02040503050406030204" pitchFamily="18" charset="0"/>
                              <a:ea typeface="Arial"/>
                              <a:cs typeface="Arial"/>
                              <a:sym typeface="Arial"/>
                            </a:rPr>
                            <m:t>𝑜𝑙𝑑</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𝑣</m:t>
                          </m:r>
                        </m:e>
                        <m:sub>
                          <m:r>
                            <a:rPr lang="en-US" sz="2300" i="1" dirty="0" smtClean="0">
                              <a:latin typeface="Cambria Math" panose="02040503050406030204" pitchFamily="18" charset="0"/>
                              <a:ea typeface="Arial"/>
                              <a:cs typeface="Arial"/>
                              <a:sym typeface="Arial"/>
                            </a:rPr>
                            <m:t>𝑜𝑙𝑑</m:t>
                          </m:r>
                        </m:sub>
                      </m:sSub>
                      <m:r>
                        <m:rPr>
                          <m:sty m:val="p"/>
                        </m:rPr>
                        <a:rPr lang="en-US" sz="2300" i="0" dirty="0" smtClean="0">
                          <a:latin typeface="Cambria Math" panose="02040503050406030204" pitchFamily="18" charset="0"/>
                          <a:ea typeface="Arial"/>
                          <a:cs typeface="Arial"/>
                          <a:sym typeface="Arial"/>
                        </a:rPr>
                        <m:t>Δ</m:t>
                      </m:r>
                      <m:r>
                        <a:rPr lang="en-US" sz="2300" i="1" dirty="0" err="1" smtClean="0">
                          <a:latin typeface="Cambria Math" panose="02040503050406030204" pitchFamily="18" charset="0"/>
                          <a:ea typeface="Arial"/>
                          <a:cs typeface="Arial"/>
                          <a:sym typeface="Arial"/>
                        </a:rPr>
                        <m:t>𝑡</m:t>
                      </m:r>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Assuming a constant velocity model (for simplicity), the new velocity is just the old velocity: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𝑣</m:t>
                          </m:r>
                        </m:e>
                        <m:sub>
                          <m:r>
                            <a:rPr lang="en-US" sz="2300" i="1" dirty="0" smtClean="0">
                              <a:latin typeface="Cambria Math" panose="02040503050406030204" pitchFamily="18" charset="0"/>
                              <a:ea typeface="Arial"/>
                              <a:cs typeface="Arial"/>
                              <a:sym typeface="Arial"/>
                            </a:rPr>
                            <m:t>𝑛𝑒𝑤</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𝑣</m:t>
                          </m:r>
                        </m:e>
                        <m:sub>
                          <m:r>
                            <a:rPr lang="en-US" sz="2300" i="1" dirty="0" smtClean="0">
                              <a:latin typeface="Cambria Math" panose="02040503050406030204" pitchFamily="18" charset="0"/>
                              <a:ea typeface="Arial"/>
                              <a:cs typeface="Arial"/>
                              <a:sym typeface="Arial"/>
                            </a:rPr>
                            <m:t>𝑜𝑙𝑑</m:t>
                          </m:r>
                        </m:sub>
                      </m:sSub>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1BC2FDFE-E16B-633D-6B11-D85E4B5FF12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3187D44-F9A8-06D7-31B4-576D77050A7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AF4FD37-8860-786D-08CB-751FD295740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Kalman Filter Example (4/9)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2F28082-BDB5-0419-0597-E252CB8302F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D68CB41-38DC-26F1-0128-C7FCE600134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F6A44FA-42E4-2351-F584-C7162C271E3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78C7CD3-8FE6-4CED-E5C8-A619C57A409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C31A616-E83A-1151-8BF3-AAE1001A9B7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9984D50-71CC-FA64-5898-D2D0CB81286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211653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31F25B5-EA70-4405-BB65-F43BB2FB31E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0186B73-C17C-6F27-FB18-1EFF5DD99DF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𝑝</m:t>
                          </m:r>
                        </m:e>
                        <m:sub>
                          <m:r>
                            <a:rPr lang="en-US" sz="2300" i="1" dirty="0">
                              <a:latin typeface="Cambria Math" panose="02040503050406030204" pitchFamily="18" charset="0"/>
                              <a:ea typeface="Arial"/>
                              <a:cs typeface="Arial"/>
                              <a:sym typeface="Arial"/>
                            </a:rPr>
                            <m:t>𝑛𝑒𝑤</m:t>
                          </m:r>
                        </m:sub>
                      </m:sSub>
                      <m:r>
                        <a:rPr lang="en-US" sz="2300" i="1" dirty="0">
                          <a:latin typeface="Cambria Math" panose="02040503050406030204" pitchFamily="18" charset="0"/>
                          <a:ea typeface="Arial"/>
                          <a:cs typeface="Arial"/>
                          <a:sym typeface="Arial"/>
                        </a:rPr>
                        <m:t>=</m:t>
                      </m:r>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𝑝</m:t>
                          </m:r>
                        </m:e>
                        <m:sub>
                          <m:r>
                            <a:rPr lang="en-US" sz="2300" i="1" dirty="0">
                              <a:latin typeface="Cambria Math" panose="02040503050406030204" pitchFamily="18" charset="0"/>
                              <a:ea typeface="Arial"/>
                              <a:cs typeface="Arial"/>
                              <a:sym typeface="Arial"/>
                            </a:rPr>
                            <m:t>𝑜𝑙𝑑</m:t>
                          </m:r>
                        </m:sub>
                      </m:sSub>
                      <m:r>
                        <a:rPr lang="en-US" sz="2300" i="1" dirty="0">
                          <a:latin typeface="Cambria Math" panose="02040503050406030204" pitchFamily="18" charset="0"/>
                          <a:ea typeface="Arial"/>
                          <a:cs typeface="Arial"/>
                          <a:sym typeface="Arial"/>
                        </a:rPr>
                        <m:t>+</m:t>
                      </m:r>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𝑣</m:t>
                          </m:r>
                        </m:e>
                        <m:sub>
                          <m:r>
                            <a:rPr lang="en-US" sz="2300" i="1" dirty="0">
                              <a:latin typeface="Cambria Math" panose="02040503050406030204" pitchFamily="18" charset="0"/>
                              <a:ea typeface="Arial"/>
                              <a:cs typeface="Arial"/>
                              <a:sym typeface="Arial"/>
                            </a:rPr>
                            <m:t>𝑜𝑙𝑑</m:t>
                          </m:r>
                        </m:sub>
                      </m:sSub>
                      <m:r>
                        <m:rPr>
                          <m:sty m:val="p"/>
                        </m:rPr>
                        <a:rPr lang="en-US" sz="2300" dirty="0">
                          <a:latin typeface="Cambria Math" panose="02040503050406030204" pitchFamily="18" charset="0"/>
                          <a:ea typeface="Arial"/>
                          <a:cs typeface="Arial"/>
                          <a:sym typeface="Arial"/>
                        </a:rPr>
                        <m:t>Δ</m:t>
                      </m:r>
                      <m:r>
                        <a:rPr lang="en-US" sz="2300" i="1" dirty="0" err="1">
                          <a:latin typeface="Cambria Math" panose="02040503050406030204" pitchFamily="18" charset="0"/>
                          <a:ea typeface="Arial"/>
                          <a:cs typeface="Arial"/>
                          <a:sym typeface="Arial"/>
                        </a:rPr>
                        <m:t>𝑡</m:t>
                      </m:r>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𝑣</m:t>
                          </m:r>
                        </m:e>
                        <m:sub>
                          <m:r>
                            <a:rPr lang="en-US" sz="2300" i="1" dirty="0">
                              <a:latin typeface="Cambria Math" panose="02040503050406030204" pitchFamily="18" charset="0"/>
                              <a:ea typeface="Arial"/>
                              <a:cs typeface="Arial"/>
                              <a:sym typeface="Arial"/>
                            </a:rPr>
                            <m:t>𝑛𝑒𝑤</m:t>
                          </m:r>
                        </m:sub>
                      </m:sSub>
                      <m:r>
                        <a:rPr lang="en-US" sz="2300" i="1" dirty="0">
                          <a:latin typeface="Cambria Math" panose="02040503050406030204" pitchFamily="18" charset="0"/>
                          <a:ea typeface="Arial"/>
                          <a:cs typeface="Arial"/>
                          <a:sym typeface="Arial"/>
                        </a:rPr>
                        <m:t>=</m:t>
                      </m:r>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𝑣</m:t>
                          </m:r>
                        </m:e>
                        <m:sub>
                          <m:r>
                            <a:rPr lang="en-US" sz="2300" i="1" dirty="0">
                              <a:latin typeface="Cambria Math" panose="02040503050406030204" pitchFamily="18" charset="0"/>
                              <a:ea typeface="Arial"/>
                              <a:cs typeface="Arial"/>
                              <a:sym typeface="Arial"/>
                            </a:rPr>
                            <m:t>𝑜𝑙𝑑</m:t>
                          </m:r>
                        </m:sub>
                      </m:sSub>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format this into our State Transition Matrix (</a:t>
                </a:r>
                <a14:m>
                  <m:oMath xmlns:m="http://schemas.openxmlformats.org/officeDocument/2006/math">
                    <m:r>
                      <a:rPr lang="en-US" sz="2300" i="1" dirty="0" smtClean="0">
                        <a:latin typeface="Cambria Math" panose="02040503050406030204" pitchFamily="18" charset="0"/>
                        <a:ea typeface="Arial"/>
                        <a:cs typeface="Arial"/>
                        <a:sym typeface="Arial"/>
                      </a:rPr>
                      <m:t>𝐹</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begChr m:val="["/>
                          <m:endChr m:val="]"/>
                          <m:ctrlPr>
                            <a:rPr lang="en-US" sz="230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300" i="1" dirty="0" smtClean="0">
                                  <a:latin typeface="Cambria Math" panose="02040503050406030204" pitchFamily="18" charset="0"/>
                                  <a:ea typeface="Arial"/>
                                  <a:cs typeface="Arial"/>
                                  <a:sym typeface="Arial"/>
                                </a:rPr>
                              </m:ctrlPr>
                            </m:mPr>
                            <m:mr>
                              <m:e>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𝑝</m:t>
                                    </m:r>
                                  </m:e>
                                  <m:sub>
                                    <m:r>
                                      <a:rPr lang="en-US" sz="2300" i="1" dirty="0" smtClean="0">
                                        <a:latin typeface="Cambria Math" panose="02040503050406030204" pitchFamily="18" charset="0"/>
                                        <a:ea typeface="Arial"/>
                                        <a:cs typeface="Arial"/>
                                        <a:sym typeface="Arial"/>
                                      </a:rPr>
                                      <m:t>𝑛𝑒𝑤</m:t>
                                    </m:r>
                                  </m:sub>
                                </m:sSub>
                              </m:e>
                            </m:mr>
                            <m:mr>
                              <m:e>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𝑣</m:t>
                                    </m:r>
                                  </m:e>
                                  <m:sub>
                                    <m:r>
                                      <a:rPr lang="en-US" sz="2300" i="1" dirty="0" smtClean="0">
                                        <a:latin typeface="Cambria Math" panose="02040503050406030204" pitchFamily="18" charset="0"/>
                                        <a:ea typeface="Arial"/>
                                        <a:cs typeface="Arial"/>
                                        <a:sym typeface="Arial"/>
                                      </a:rPr>
                                      <m:t>𝑛𝑒𝑤</m:t>
                                    </m:r>
                                  </m:sub>
                                </m:sSub>
                              </m:e>
                            </m:mr>
                          </m:m>
                        </m:e>
                      </m:d>
                      <m:r>
                        <a:rPr lang="en-US" sz="2300" i="1" dirty="0" smtClean="0">
                          <a:latin typeface="Cambria Math" panose="02040503050406030204" pitchFamily="18" charset="0"/>
                          <a:ea typeface="Arial"/>
                          <a:cs typeface="Arial"/>
                          <a:sym typeface="Arial"/>
                        </a:rPr>
                        <m:t>=</m:t>
                      </m:r>
                      <m:d>
                        <m:dPr>
                          <m:begChr m:val="["/>
                          <m:endChr m:val="]"/>
                          <m:ctrlPr>
                            <a:rPr lang="en-US" sz="2300" i="1" dirty="0" smtClean="0">
                              <a:latin typeface="Cambria Math" panose="02040503050406030204" pitchFamily="18" charset="0"/>
                              <a:ea typeface="Arial"/>
                              <a:cs typeface="Arial"/>
                              <a:sym typeface="Arial"/>
                            </a:rPr>
                          </m:ctrlPr>
                        </m:dPr>
                        <m:e>
                          <m:m>
                            <m:mPr>
                              <m:plcHide m:val="on"/>
                              <m:mcs>
                                <m:mc>
                                  <m:mcPr>
                                    <m:count m:val="2"/>
                                    <m:mcJc m:val="center"/>
                                  </m:mcPr>
                                </m:mc>
                              </m:mcs>
                              <m:ctrlPr>
                                <a:rPr lang="en-US" sz="2300" i="1" dirty="0" smtClean="0">
                                  <a:latin typeface="Cambria Math" panose="02040503050406030204" pitchFamily="18" charset="0"/>
                                  <a:ea typeface="Arial"/>
                                  <a:cs typeface="Arial"/>
                                  <a:sym typeface="Arial"/>
                                </a:rPr>
                              </m:ctrlPr>
                            </m:mPr>
                            <m:mr>
                              <m:e>
                                <m:r>
                                  <a:rPr lang="en-US" sz="2300" i="1" dirty="0" smtClean="0">
                                    <a:latin typeface="Cambria Math" panose="02040503050406030204" pitchFamily="18" charset="0"/>
                                    <a:ea typeface="Arial"/>
                                    <a:cs typeface="Arial"/>
                                    <a:sym typeface="Arial"/>
                                  </a:rPr>
                                  <m:t>1</m:t>
                                </m:r>
                              </m:e>
                              <m:e>
                                <m:r>
                                  <m:rPr>
                                    <m:sty m:val="p"/>
                                  </m:rPr>
                                  <a:rPr lang="en-US" sz="2300" i="0" dirty="0" smtClean="0">
                                    <a:latin typeface="Cambria Math" panose="02040503050406030204" pitchFamily="18" charset="0"/>
                                    <a:ea typeface="Arial"/>
                                    <a:cs typeface="Arial"/>
                                    <a:sym typeface="Arial"/>
                                  </a:rPr>
                                  <m:t>Δ</m:t>
                                </m:r>
                                <m:r>
                                  <a:rPr lang="en-US" sz="2300" i="1" dirty="0" smtClean="0">
                                    <a:latin typeface="Cambria Math" panose="02040503050406030204" pitchFamily="18" charset="0"/>
                                    <a:ea typeface="Arial"/>
                                    <a:cs typeface="Arial"/>
                                    <a:sym typeface="Arial"/>
                                  </a:rPr>
                                  <m:t>𝑡</m:t>
                                </m:r>
                              </m:e>
                            </m:mr>
                            <m:mr>
                              <m:e>
                                <m:r>
                                  <a:rPr lang="en-US" sz="2300" i="1" dirty="0" smtClean="0">
                                    <a:latin typeface="Cambria Math" panose="02040503050406030204" pitchFamily="18" charset="0"/>
                                    <a:ea typeface="Arial"/>
                                    <a:cs typeface="Arial"/>
                                    <a:sym typeface="Arial"/>
                                  </a:rPr>
                                  <m:t>0</m:t>
                                </m:r>
                              </m:e>
                              <m:e>
                                <m:r>
                                  <a:rPr lang="en-US" sz="2300" i="1" dirty="0" smtClean="0">
                                    <a:latin typeface="Cambria Math" panose="02040503050406030204" pitchFamily="18" charset="0"/>
                                    <a:ea typeface="Arial"/>
                                    <a:cs typeface="Arial"/>
                                    <a:sym typeface="Arial"/>
                                  </a:rPr>
                                  <m:t>1</m:t>
                                </m:r>
                              </m:e>
                            </m:mr>
                          </m:m>
                        </m:e>
                      </m:d>
                      <m:d>
                        <m:dPr>
                          <m:begChr m:val="["/>
                          <m:endChr m:val="]"/>
                          <m:ctrlPr>
                            <a:rPr lang="en-US" sz="230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300" i="1" dirty="0" smtClean="0">
                                  <a:latin typeface="Cambria Math" panose="02040503050406030204" pitchFamily="18" charset="0"/>
                                  <a:ea typeface="Arial"/>
                                  <a:cs typeface="Arial"/>
                                  <a:sym typeface="Arial"/>
                                </a:rPr>
                              </m:ctrlPr>
                            </m:mPr>
                            <m:mr>
                              <m:e>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𝑝</m:t>
                                    </m:r>
                                  </m:e>
                                  <m:sub>
                                    <m:r>
                                      <a:rPr lang="en-US" sz="2300" i="1" dirty="0" smtClean="0">
                                        <a:latin typeface="Cambria Math" panose="02040503050406030204" pitchFamily="18" charset="0"/>
                                        <a:ea typeface="Arial"/>
                                        <a:cs typeface="Arial"/>
                                        <a:sym typeface="Arial"/>
                                      </a:rPr>
                                      <m:t>𝑜𝑙𝑑</m:t>
                                    </m:r>
                                  </m:sub>
                                </m:sSub>
                              </m:e>
                            </m:mr>
                            <m:mr>
                              <m:e>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𝑣</m:t>
                                    </m:r>
                                  </m:e>
                                  <m:sub>
                                    <m:r>
                                      <a:rPr lang="en-US" sz="2300" i="1" dirty="0" smtClean="0">
                                        <a:latin typeface="Cambria Math" panose="02040503050406030204" pitchFamily="18" charset="0"/>
                                        <a:ea typeface="Arial"/>
                                        <a:cs typeface="Arial"/>
                                        <a:sym typeface="Arial"/>
                                      </a:rPr>
                                      <m:t>𝑜𝑙𝑑</m:t>
                                    </m:r>
                                  </m:sub>
                                </m:sSub>
                              </m:e>
                            </m:mr>
                          </m:m>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So now we all the info to place into the </a:t>
                </a:r>
                <a:r>
                  <a:rPr lang="en-US" sz="2300" b="1" dirty="0">
                    <a:latin typeface="Atkinson Hyperlegible Next"/>
                    <a:ea typeface="Arial"/>
                    <a:cs typeface="Arial"/>
                    <a:sym typeface="Arial"/>
                  </a:rPr>
                  <a:t>Predict</a:t>
                </a:r>
                <a:r>
                  <a:rPr lang="en-US" sz="2300" dirty="0">
                    <a:latin typeface="Atkinson Hyperlegible Next"/>
                    <a:ea typeface="Arial"/>
                    <a:cs typeface="Arial"/>
                    <a:sym typeface="Arial"/>
                  </a:rPr>
                  <a:t> step! (Simple right?)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𝑥</m:t>
                          </m:r>
                        </m:e>
                        <m:sub>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m:t>
                          </m:r>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−1</m:t>
                          </m:r>
                        </m:sub>
                      </m:sSub>
                      <m:r>
                        <a:rPr lang="en-US" sz="2300" i="1">
                          <a:latin typeface="Cambria Math" panose="02040503050406030204" pitchFamily="18" charset="0"/>
                          <a:cs typeface="Arial"/>
                          <a:sym typeface="Arial"/>
                        </a:rPr>
                        <m:t>=</m:t>
                      </m:r>
                      <m:r>
                        <a:rPr lang="en-US" sz="2300" i="1">
                          <a:latin typeface="Cambria Math" panose="02040503050406030204" pitchFamily="18" charset="0"/>
                          <a:cs typeface="Arial"/>
                          <a:sym typeface="Arial"/>
                        </a:rPr>
                        <m:t>𝐹</m:t>
                      </m:r>
                      <m:sSub>
                        <m:sSubPr>
                          <m:ctrlPr>
                            <a:rPr lang="en-US" sz="2300" i="1">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𝑥</m:t>
                          </m:r>
                        </m:e>
                        <m:sub>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−1|</m:t>
                          </m:r>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−1</m:t>
                          </m:r>
                        </m:sub>
                      </m:sSub>
                      <m:r>
                        <a:rPr lang="en-US" sz="2300" i="1">
                          <a:latin typeface="Cambria Math" panose="02040503050406030204" pitchFamily="18" charset="0"/>
                          <a:cs typeface="Arial"/>
                          <a:sym typeface="Arial"/>
                        </a:rPr>
                        <m:t>+</m:t>
                      </m:r>
                      <m:r>
                        <a:rPr lang="en-US" sz="2300" i="1">
                          <a:latin typeface="Cambria Math" panose="02040503050406030204" pitchFamily="18" charset="0"/>
                          <a:cs typeface="Arial"/>
                          <a:sym typeface="Arial"/>
                        </a:rPr>
                        <m:t>𝐵</m:t>
                      </m:r>
                      <m:sSub>
                        <m:sSubPr>
                          <m:ctrlPr>
                            <a:rPr lang="en-US" sz="2300" i="1">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𝑢</m:t>
                          </m:r>
                        </m:e>
                        <m:sub>
                          <m:r>
                            <a:rPr lang="en-US" sz="2300" i="1">
                              <a:latin typeface="Cambria Math" panose="02040503050406030204" pitchFamily="18" charset="0"/>
                              <a:cs typeface="Arial"/>
                              <a:sym typeface="Arial"/>
                            </a:rPr>
                            <m:t>𝑘</m:t>
                          </m:r>
                        </m:sub>
                      </m:sSub>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𝑃</m:t>
                          </m:r>
                        </m:e>
                        <m:sub>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m:t>
                          </m:r>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−1</m:t>
                          </m:r>
                        </m:sub>
                      </m:sSub>
                      <m:r>
                        <a:rPr lang="en-US" sz="2300" i="1">
                          <a:latin typeface="Cambria Math" panose="02040503050406030204" pitchFamily="18" charset="0"/>
                          <a:cs typeface="Arial"/>
                          <a:sym typeface="Arial"/>
                        </a:rPr>
                        <m:t>=</m:t>
                      </m:r>
                      <m:r>
                        <a:rPr lang="en-US" sz="2300" i="1">
                          <a:latin typeface="Cambria Math" panose="02040503050406030204" pitchFamily="18" charset="0"/>
                          <a:cs typeface="Arial"/>
                          <a:sym typeface="Arial"/>
                        </a:rPr>
                        <m:t>𝐹</m:t>
                      </m:r>
                      <m:sSub>
                        <m:sSubPr>
                          <m:ctrlPr>
                            <a:rPr lang="en-US" sz="2300" i="1">
                              <a:latin typeface="Cambria Math" panose="02040503050406030204" pitchFamily="18" charset="0"/>
                              <a:cs typeface="Arial"/>
                              <a:sym typeface="Arial"/>
                            </a:rPr>
                          </m:ctrlPr>
                        </m:sSubPr>
                        <m:e>
                          <m:r>
                            <a:rPr lang="en-US" sz="2300" i="1">
                              <a:latin typeface="Cambria Math" panose="02040503050406030204" pitchFamily="18" charset="0"/>
                              <a:cs typeface="Arial"/>
                              <a:sym typeface="Arial"/>
                            </a:rPr>
                            <m:t>𝑃</m:t>
                          </m:r>
                        </m:e>
                        <m:sub>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−1|</m:t>
                          </m:r>
                          <m:r>
                            <a:rPr lang="en-US" sz="2300" i="1">
                              <a:latin typeface="Cambria Math" panose="02040503050406030204" pitchFamily="18" charset="0"/>
                              <a:cs typeface="Arial"/>
                              <a:sym typeface="Arial"/>
                            </a:rPr>
                            <m:t>𝑘</m:t>
                          </m:r>
                          <m:r>
                            <a:rPr lang="en-US" sz="2300" i="1">
                              <a:latin typeface="Cambria Math" panose="02040503050406030204" pitchFamily="18" charset="0"/>
                              <a:cs typeface="Arial"/>
                              <a:sym typeface="Arial"/>
                            </a:rPr>
                            <m:t>−1</m:t>
                          </m:r>
                        </m:sub>
                      </m:sSub>
                      <m:sSup>
                        <m:sSupPr>
                          <m:ctrlPr>
                            <a:rPr lang="en-US" sz="2300" i="1">
                              <a:latin typeface="Cambria Math" panose="02040503050406030204" pitchFamily="18" charset="0"/>
                              <a:cs typeface="Arial"/>
                              <a:sym typeface="Arial"/>
                            </a:rPr>
                          </m:ctrlPr>
                        </m:sSupPr>
                        <m:e>
                          <m:r>
                            <a:rPr lang="en-US" sz="2300" i="1">
                              <a:latin typeface="Cambria Math" panose="02040503050406030204" pitchFamily="18" charset="0"/>
                              <a:cs typeface="Arial"/>
                              <a:sym typeface="Arial"/>
                            </a:rPr>
                            <m:t>𝐹</m:t>
                          </m:r>
                        </m:e>
                        <m:sup>
                          <m:r>
                            <a:rPr lang="en-US" sz="2300" i="1">
                              <a:latin typeface="Cambria Math" panose="02040503050406030204" pitchFamily="18" charset="0"/>
                              <a:cs typeface="Arial"/>
                              <a:sym typeface="Arial"/>
                            </a:rPr>
                            <m:t>𝑇</m:t>
                          </m:r>
                        </m:sup>
                      </m:sSup>
                      <m:r>
                        <a:rPr lang="en-US" sz="2300" i="1">
                          <a:latin typeface="Cambria Math" panose="02040503050406030204" pitchFamily="18" charset="0"/>
                          <a:cs typeface="Arial"/>
                          <a:sym typeface="Arial"/>
                        </a:rPr>
                        <m:t>+</m:t>
                      </m:r>
                      <m:r>
                        <a:rPr lang="en-US" sz="2300" i="1" smtClean="0">
                          <a:latin typeface="Cambria Math" panose="02040503050406030204" pitchFamily="18" charset="0"/>
                          <a:cs typeface="Arial"/>
                          <a:sym typeface="Arial"/>
                        </a:rPr>
                        <m:t>𝑄</m:t>
                      </m:r>
                    </m:oMath>
                  </m:oMathPara>
                </a14:m>
                <a:endParaRPr lang="en-US" sz="2300" dirty="0">
                  <a:latin typeface="Atkinson Hyperlegible Next"/>
                  <a:cs typeface="Arial"/>
                  <a:sym typeface="Arial"/>
                </a:endParaRPr>
              </a:p>
            </p:txBody>
          </p:sp>
        </mc:Choice>
        <mc:Fallback xmlns="">
          <p:sp>
            <p:nvSpPr>
              <p:cNvPr id="118" name="Google Shape;118;p29">
                <a:extLst>
                  <a:ext uri="{FF2B5EF4-FFF2-40B4-BE49-F238E27FC236}">
                    <a16:creationId xmlns:a16="http://schemas.microsoft.com/office/drawing/2014/main" id="{60186B73-C17C-6F27-FB18-1EFF5DD99DF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4534929-C76A-57F9-F95F-AFCF92EEFCC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52CF5E2-2AB4-4662-1E14-B61C25699F1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Kalman Filter Example (5/9)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C30F54F-5BD5-C96C-32A9-DA4D419893E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5A0DE45-4C3A-3882-D0AD-CE4C6162082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E8F1CA5-6E7D-621B-7EFF-47DE6986C69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893AA66-FF89-B663-CE78-5E19114A234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589DB0C-5270-26F3-9E14-1D9ADA710E1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8BAD30C-208E-61BE-21D5-F5FE7C7A24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3860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493987E-6EE7-89D9-D933-16DCF1256C2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BBA3C79-049A-FC6E-D838-84B975EE6B0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Our train is equipped with a noisy GPS unit.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GPS directly measures </a:t>
                </a:r>
                <a:r>
                  <a:rPr lang="en-US" sz="2300" b="1" dirty="0">
                    <a:latin typeface="Atkinson Hyperlegible Next"/>
                    <a:ea typeface="Arial"/>
                    <a:cs typeface="Arial"/>
                    <a:sym typeface="Arial"/>
                  </a:rPr>
                  <a:t>Position</a:t>
                </a:r>
                <a:r>
                  <a:rPr lang="en-US" sz="2300" dirty="0">
                    <a:latin typeface="Atkinson Hyperlegible Next"/>
                    <a:ea typeface="Arial"/>
                    <a:cs typeface="Arial"/>
                    <a:sym typeface="Arial"/>
                  </a:rPr>
                  <a:t>, but it cannot directly measure </a:t>
                </a:r>
                <a:r>
                  <a:rPr lang="en-US" sz="2300" b="1" dirty="0">
                    <a:latin typeface="Atkinson Hyperlegible Next"/>
                    <a:ea typeface="Arial"/>
                    <a:cs typeface="Arial"/>
                    <a:sym typeface="Arial"/>
                  </a:rPr>
                  <a:t>Velocity</a:t>
                </a:r>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need an </a:t>
                </a:r>
                <a:r>
                  <a:rPr lang="en-US" sz="2300" b="1" dirty="0">
                    <a:latin typeface="Atkinson Hyperlegible Next"/>
                    <a:ea typeface="Arial"/>
                    <a:cs typeface="Arial"/>
                    <a:sym typeface="Arial"/>
                  </a:rPr>
                  <a:t>Observation Matrix</a:t>
                </a:r>
                <a:r>
                  <a:rPr lang="en-US" sz="2300" dirty="0">
                    <a:latin typeface="Atkinson Hyperlegible Next"/>
                    <a:ea typeface="Arial"/>
                    <a:cs typeface="Arial"/>
                    <a:sym typeface="Arial"/>
                  </a:rPr>
                  <a:t> (</a:t>
                </a:r>
                <a14:m>
                  <m:oMath xmlns:m="http://schemas.openxmlformats.org/officeDocument/2006/math">
                    <m:r>
                      <a:rPr lang="en-US" sz="2300" i="1" dirty="0" smtClean="0">
                        <a:latin typeface="Cambria Math" panose="02040503050406030204" pitchFamily="18" charset="0"/>
                        <a:ea typeface="Arial"/>
                        <a:cs typeface="Arial"/>
                        <a:sym typeface="Arial"/>
                      </a:rPr>
                      <m:t>𝐻</m:t>
                    </m:r>
                  </m:oMath>
                </a14:m>
                <a:r>
                  <a:rPr lang="en-US" sz="2300" dirty="0">
                    <a:latin typeface="Atkinson Hyperlegible Next"/>
                    <a:ea typeface="Arial"/>
                    <a:cs typeface="Arial"/>
                    <a:sym typeface="Arial"/>
                  </a:rPr>
                  <a:t>) that extracts only the position from our state vector to compare it with the GPS reading.</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𝑧</m:t>
                          </m:r>
                        </m:e>
                        <m:sub>
                          <m:r>
                            <a:rPr lang="en-US" sz="2300" i="1" dirty="0" smtClean="0">
                              <a:latin typeface="Cambria Math" panose="02040503050406030204" pitchFamily="18" charset="0"/>
                              <a:ea typeface="Arial"/>
                              <a:cs typeface="Arial"/>
                              <a:sym typeface="Arial"/>
                            </a:rPr>
                            <m:t>𝑒𝑥𝑝𝑒𝑐𝑡𝑒𝑑</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𝐻𝑥</m:t>
                      </m:r>
                      <m:r>
                        <a:rPr lang="en-US" sz="2300" i="1" dirty="0" smtClean="0">
                          <a:latin typeface="Cambria Math" panose="02040503050406030204" pitchFamily="18" charset="0"/>
                          <a:ea typeface="Arial"/>
                          <a:cs typeface="Arial"/>
                          <a:sym typeface="Arial"/>
                        </a:rPr>
                        <m:t>=</m:t>
                      </m:r>
                      <m:d>
                        <m:dPr>
                          <m:begChr m:val="["/>
                          <m:endChr m:val="]"/>
                          <m:ctrlPr>
                            <a:rPr lang="en-US" sz="2300" i="1" dirty="0" smtClean="0">
                              <a:latin typeface="Cambria Math" panose="02040503050406030204" pitchFamily="18" charset="0"/>
                              <a:ea typeface="Arial"/>
                              <a:cs typeface="Arial"/>
                              <a:sym typeface="Arial"/>
                            </a:rPr>
                          </m:ctrlPr>
                        </m:dPr>
                        <m:e>
                          <m:m>
                            <m:mPr>
                              <m:plcHide m:val="on"/>
                              <m:mcs>
                                <m:mc>
                                  <m:mcPr>
                                    <m:count m:val="2"/>
                                    <m:mcJc m:val="center"/>
                                  </m:mcPr>
                                </m:mc>
                              </m:mcs>
                              <m:ctrlPr>
                                <a:rPr lang="en-US" sz="2300" i="1" dirty="0" smtClean="0">
                                  <a:latin typeface="Cambria Math" panose="02040503050406030204" pitchFamily="18" charset="0"/>
                                  <a:ea typeface="Arial"/>
                                  <a:cs typeface="Arial"/>
                                  <a:sym typeface="Arial"/>
                                </a:rPr>
                              </m:ctrlPr>
                            </m:mPr>
                            <m:mr>
                              <m:e>
                                <m:r>
                                  <a:rPr lang="en-US" sz="2300" i="1" dirty="0" smtClean="0">
                                    <a:latin typeface="Cambria Math" panose="02040503050406030204" pitchFamily="18" charset="0"/>
                                    <a:ea typeface="Arial"/>
                                    <a:cs typeface="Arial"/>
                                    <a:sym typeface="Arial"/>
                                  </a:rPr>
                                  <m:t>1</m:t>
                                </m:r>
                              </m:e>
                              <m:e>
                                <m:r>
                                  <a:rPr lang="en-US" sz="2300" i="1" dirty="0" smtClean="0">
                                    <a:latin typeface="Cambria Math" panose="02040503050406030204" pitchFamily="18" charset="0"/>
                                    <a:ea typeface="Arial"/>
                                    <a:cs typeface="Arial"/>
                                    <a:sym typeface="Arial"/>
                                  </a:rPr>
                                  <m:t>0</m:t>
                                </m:r>
                              </m:e>
                            </m:mr>
                          </m:m>
                        </m:e>
                      </m:d>
                      <m:d>
                        <m:dPr>
                          <m:begChr m:val="["/>
                          <m:endChr m:val="]"/>
                          <m:ctrlPr>
                            <a:rPr lang="en-US" sz="230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300" i="1" dirty="0" smtClean="0">
                                  <a:latin typeface="Cambria Math" panose="02040503050406030204" pitchFamily="18" charset="0"/>
                                  <a:ea typeface="Arial"/>
                                  <a:cs typeface="Arial"/>
                                  <a:sym typeface="Arial"/>
                                </a:rPr>
                              </m:ctrlPr>
                            </m:mPr>
                            <m:mr>
                              <m:e>
                                <m:r>
                                  <a:rPr lang="en-US" sz="2300" i="1" dirty="0" smtClean="0">
                                    <a:latin typeface="Cambria Math" panose="02040503050406030204" pitchFamily="18" charset="0"/>
                                    <a:ea typeface="Arial"/>
                                    <a:cs typeface="Arial"/>
                                    <a:sym typeface="Arial"/>
                                  </a:rPr>
                                  <m:t>𝑝</m:t>
                                </m:r>
                              </m:e>
                            </m:mr>
                            <m:mr>
                              <m:e>
                                <m:r>
                                  <a:rPr lang="en-US" sz="2300" i="1" dirty="0" smtClean="0">
                                    <a:latin typeface="Cambria Math" panose="02040503050406030204" pitchFamily="18" charset="0"/>
                                    <a:ea typeface="Arial"/>
                                    <a:cs typeface="Arial"/>
                                    <a:sym typeface="Arial"/>
                                  </a:rPr>
                                  <m:t>𝑣</m:t>
                                </m:r>
                              </m:e>
                            </m:mr>
                          </m:m>
                        </m:e>
                      </m:d>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𝑝</m:t>
                      </m:r>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By making </a:t>
                </a:r>
                <a14:m>
                  <m:oMath xmlns:m="http://schemas.openxmlformats.org/officeDocument/2006/math">
                    <m:r>
                      <a:rPr lang="en-US" sz="2300" i="1" dirty="0" smtClean="0">
                        <a:latin typeface="Cambria Math" panose="02040503050406030204" pitchFamily="18" charset="0"/>
                        <a:ea typeface="Arial"/>
                        <a:cs typeface="Arial"/>
                        <a:sym typeface="Arial"/>
                      </a:rPr>
                      <m:t>𝐻</m:t>
                    </m:r>
                    <m:r>
                      <a:rPr lang="en-US" sz="2300" i="1" dirty="0" smtClean="0">
                        <a:latin typeface="Cambria Math" panose="02040503050406030204" pitchFamily="18" charset="0"/>
                        <a:ea typeface="Arial"/>
                        <a:cs typeface="Arial"/>
                        <a:sym typeface="Arial"/>
                      </a:rPr>
                      <m:t> = [1, 0]</m:t>
                    </m:r>
                  </m:oMath>
                </a14:m>
                <a:r>
                  <a:rPr lang="en-US" sz="2300" dirty="0">
                    <a:latin typeface="Atkinson Hyperlegible Next"/>
                    <a:ea typeface="Arial"/>
                    <a:cs typeface="Arial"/>
                    <a:sym typeface="Arial"/>
                  </a:rPr>
                  <a:t>, we multiply </a:t>
                </a:r>
                <a14:m>
                  <m:oMath xmlns:m="http://schemas.openxmlformats.org/officeDocument/2006/math">
                    <m:r>
                      <a:rPr lang="en-US" sz="2300" i="1" dirty="0" smtClean="0">
                        <a:latin typeface="Cambria Math" panose="02040503050406030204" pitchFamily="18" charset="0"/>
                        <a:ea typeface="Arial"/>
                        <a:cs typeface="Arial"/>
                        <a:sym typeface="Arial"/>
                      </a:rPr>
                      <m:t>1 ⋅</m:t>
                    </m:r>
                    <m:r>
                      <a:rPr lang="en-US" sz="2300" i="1" dirty="0" smtClean="0">
                        <a:latin typeface="Cambria Math" panose="02040503050406030204" pitchFamily="18" charset="0"/>
                        <a:ea typeface="Arial"/>
                        <a:cs typeface="Arial"/>
                        <a:sym typeface="Arial"/>
                      </a:rPr>
                      <m:t>𝑝</m:t>
                    </m:r>
                    <m:r>
                      <a:rPr lang="en-US" sz="2300" i="1" dirty="0" smtClean="0">
                        <a:latin typeface="Cambria Math" panose="02040503050406030204" pitchFamily="18" charset="0"/>
                        <a:ea typeface="Arial"/>
                        <a:cs typeface="Arial"/>
                        <a:sym typeface="Arial"/>
                      </a:rPr>
                      <m:t> + 0 ⋅</m:t>
                    </m:r>
                    <m:r>
                      <a:rPr lang="en-US" sz="2300" i="1" dirty="0" smtClean="0">
                        <a:latin typeface="Cambria Math" panose="02040503050406030204" pitchFamily="18" charset="0"/>
                        <a:ea typeface="Arial"/>
                        <a:cs typeface="Arial"/>
                        <a:sym typeface="Arial"/>
                      </a:rPr>
                      <m:t>𝑣</m:t>
                    </m:r>
                    <m:r>
                      <a:rPr lang="en-US" sz="2300" b="0" i="1" dirty="0" smtClean="0">
                        <a:latin typeface="Cambria Math" panose="02040503050406030204" pitchFamily="18" charset="0"/>
                        <a:ea typeface="Arial"/>
                        <a:cs typeface="Arial"/>
                        <a:sym typeface="Arial"/>
                      </a:rPr>
                      <m:t> = </m:t>
                    </m:r>
                    <m:r>
                      <m:rPr>
                        <m:sty m:val="p"/>
                      </m:rPr>
                      <a:rPr lang="en-US" sz="2300" b="0" i="1" dirty="0" smtClean="0">
                        <a:latin typeface="Cambria Math" panose="02040503050406030204" pitchFamily="18" charset="0"/>
                        <a:ea typeface="Arial"/>
                        <a:cs typeface="Arial"/>
                        <a:sym typeface="Arial"/>
                      </a:rPr>
                      <m:t>p</m:t>
                    </m:r>
                  </m:oMath>
                </a14:m>
                <a:r>
                  <a:rPr lang="en-US" sz="2300" dirty="0">
                    <a:latin typeface="Atkinson Hyperlegible Next"/>
                    <a:ea typeface="Arial"/>
                    <a:cs typeface="Arial"/>
                    <a:sym typeface="Arial"/>
                  </a:rPr>
                  <a:t>.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have successfully translated our 2D state into a 1D measurement!</a:t>
                </a:r>
              </a:p>
            </p:txBody>
          </p:sp>
        </mc:Choice>
        <mc:Fallback xmlns="">
          <p:sp>
            <p:nvSpPr>
              <p:cNvPr id="118" name="Google Shape;118;p29">
                <a:extLst>
                  <a:ext uri="{FF2B5EF4-FFF2-40B4-BE49-F238E27FC236}">
                    <a16:creationId xmlns:a16="http://schemas.microsoft.com/office/drawing/2014/main" id="{8BBA3C79-049A-FC6E-D838-84B975EE6B07}"/>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01E99BC-1661-7814-EC44-91AF22B9F53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092BB99-5E88-B06A-FD6D-80F7D0A20BA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Kalman Filter Example (6/9)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6200909-553E-2F93-2CD7-DCA0BC4A095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DD55304-6D58-5A6D-F8D2-F9F6B6EA72A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935ED08-63E8-36F8-1F8A-65A2CEE90B8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5B0BE5F-6863-B1D3-504D-E832A9B036E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BE1BE4C-D9C6-B0AC-8667-3D1B9806798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5DC5F1-0C76-8EDD-8AD3-5B20F3D7490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04018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0712CC8-B3DB-F00F-0B6F-62B9C0F819B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877AE1B-6280-A422-C4E4-2795788F56F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b="1" dirty="0">
                    <a:latin typeface="Atkinson Hyperlegible Next"/>
                    <a:ea typeface="Arial"/>
                    <a:cs typeface="Arial"/>
                    <a:sym typeface="Arial"/>
                  </a:rPr>
                  <a:t>Measurement Noise </a:t>
                </a:r>
                <a:r>
                  <a:rPr lang="en-US" sz="2300" dirty="0">
                    <a:latin typeface="Atkinson Hyperlegible Next"/>
                    <a:ea typeface="Arial"/>
                    <a:cs typeface="Arial"/>
                    <a:sym typeface="Arial"/>
                  </a:rPr>
                  <a:t>(</a:t>
                </a:r>
                <a14:m>
                  <m:oMath xmlns:m="http://schemas.openxmlformats.org/officeDocument/2006/math">
                    <m:r>
                      <a:rPr lang="en-US" sz="2300" i="1" dirty="0" smtClean="0">
                        <a:latin typeface="Cambria Math" panose="02040503050406030204" pitchFamily="18" charset="0"/>
                        <a:ea typeface="Arial"/>
                        <a:cs typeface="Arial"/>
                        <a:sym typeface="Arial"/>
                      </a:rPr>
                      <m:t>𝑅</m:t>
                    </m:r>
                  </m:oMath>
                </a14:m>
                <a:r>
                  <a:rPr lang="en-US" sz="2300" dirty="0">
                    <a:latin typeface="Atkinson Hyperlegible Next"/>
                    <a:ea typeface="Arial"/>
                    <a:cs typeface="Arial"/>
                    <a:sym typeface="Arial"/>
                  </a:rPr>
                  <a:t>): The GPS datasheet says it has an accuracy of </a:t>
                </a:r>
                <a14:m>
                  <m:oMath xmlns:m="http://schemas.openxmlformats.org/officeDocument/2006/math">
                    <m:r>
                      <a:rPr lang="en-US" sz="2300" i="1" dirty="0" smtClean="0">
                        <a:latin typeface="Cambria Math" panose="02040503050406030204" pitchFamily="18" charset="0"/>
                        <a:ea typeface="Arial"/>
                        <a:cs typeface="Arial"/>
                        <a:sym typeface="Arial"/>
                      </a:rPr>
                      <m:t>±5</m:t>
                    </m:r>
                  </m:oMath>
                </a14:m>
                <a:r>
                  <a:rPr lang="en-US" sz="2300" dirty="0">
                    <a:latin typeface="Atkinson Hyperlegible Next"/>
                    <a:ea typeface="Arial"/>
                    <a:cs typeface="Arial"/>
                    <a:sym typeface="Arial"/>
                  </a:rPr>
                  <a:t> meters.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What dimension is R?</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a:rPr lang="en-US" sz="2300" i="1" dirty="0">
                        <a:latin typeface="Cambria Math" panose="02040503050406030204" pitchFamily="18" charset="0"/>
                        <a:ea typeface="Arial"/>
                        <a:cs typeface="Arial"/>
                        <a:sym typeface="Arial"/>
                      </a:rPr>
                      <m:t>𝑅</m:t>
                    </m:r>
                  </m:oMath>
                </a14:m>
                <a:r>
                  <a:rPr lang="en-US" sz="2300" dirty="0">
                    <a:latin typeface="Atkinson Hyperlegible Next"/>
                    <a:ea typeface="Arial"/>
                    <a:cs typeface="Arial"/>
                    <a:sym typeface="Arial"/>
                  </a:rPr>
                  <a:t> is a 1x1 matrix (a scalar) representing the variance of the </a:t>
                </a:r>
                <a:r>
                  <a:rPr lang="en-US" sz="2300" b="1" dirty="0">
                    <a:latin typeface="Atkinson Hyperlegible Next"/>
                    <a:ea typeface="Arial"/>
                    <a:cs typeface="Arial"/>
                    <a:sym typeface="Arial"/>
                  </a:rPr>
                  <a:t>sensor</a:t>
                </a:r>
                <a:r>
                  <a:rPr lang="en-US" sz="2300" dirty="0">
                    <a:latin typeface="Atkinson Hyperlegible Next"/>
                    <a:ea typeface="Arial"/>
                    <a:cs typeface="Arial"/>
                    <a:sym typeface="Arial"/>
                  </a:rPr>
                  <a:t>, which in this case is the GPS returning position only</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Given that the standard deviation of the GPS is </a:t>
                </a:r>
                <a14:m>
                  <m:oMath xmlns:m="http://schemas.openxmlformats.org/officeDocument/2006/math">
                    <m:r>
                      <a:rPr lang="en-US" sz="2300" i="1" dirty="0">
                        <a:latin typeface="Cambria Math" panose="02040503050406030204" pitchFamily="18" charset="0"/>
                        <a:ea typeface="Arial"/>
                        <a:cs typeface="Arial"/>
                        <a:sym typeface="Arial"/>
                      </a:rPr>
                      <m:t>±5</m:t>
                    </m:r>
                  </m:oMath>
                </a14:m>
                <a:r>
                  <a:rPr lang="en-US" sz="2300" dirty="0">
                    <a:latin typeface="Atkinson Hyperlegible Next"/>
                    <a:ea typeface="Arial"/>
                    <a:cs typeface="Arial"/>
                    <a:sym typeface="Arial"/>
                  </a:rPr>
                  <a:t>, what is the variance?</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𝑅</m:t>
                      </m:r>
                      <m:r>
                        <a:rPr lang="en-US" sz="2300" i="1" dirty="0" smtClean="0">
                          <a:latin typeface="Cambria Math" panose="02040503050406030204" pitchFamily="18" charset="0"/>
                          <a:ea typeface="Arial"/>
                          <a:cs typeface="Arial"/>
                          <a:sym typeface="Arial"/>
                        </a:rPr>
                        <m:t>=</m:t>
                      </m:r>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25</m:t>
                          </m:r>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877AE1B-6280-A422-C4E4-2795788F56F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BF68613-D512-2FCF-74AB-9F714BD3B3D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74305F5-8E54-A40F-4C94-5DBD46CDF4D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Kalman Filter Example (7/9)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8E3670C-B3ED-C30B-8F18-7C7145B1B62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893D4BD-1A4E-43E6-E4BD-6DA4381A9E5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5B9613A-73F3-ACD4-E822-DBB9774F81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D0C2E8E-B1ED-EFB0-7492-C082D8ECB5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7843D0E-AA02-9BF4-C4B0-518086EA885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89B2880-DDDE-57DC-F98F-DA6A3BACB7B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3440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2617A21-A6A5-9DBE-2C8A-99128F3F76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F385008-4CA2-EFA1-A780-A17B5D0DD77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b="1" dirty="0">
                    <a:latin typeface="Atkinson Hyperlegible Next"/>
                    <a:ea typeface="Arial"/>
                    <a:cs typeface="Arial"/>
                    <a:sym typeface="Arial"/>
                  </a:rPr>
                  <a:t>Process Noise </a:t>
                </a:r>
                <a:r>
                  <a:rPr lang="en-US" sz="2300" dirty="0">
                    <a:latin typeface="Atkinson Hyperlegible Next"/>
                    <a:ea typeface="Arial"/>
                    <a:cs typeface="Arial"/>
                    <a:sym typeface="Arial"/>
                  </a:rPr>
                  <a:t>(</a:t>
                </a:r>
                <a14:m>
                  <m:oMath xmlns:m="http://schemas.openxmlformats.org/officeDocument/2006/math">
                    <m:r>
                      <a:rPr lang="en-US" sz="2300" i="1" dirty="0" smtClean="0">
                        <a:latin typeface="Cambria Math" panose="02040503050406030204" pitchFamily="18" charset="0"/>
                        <a:ea typeface="Arial"/>
                        <a:cs typeface="Arial"/>
                        <a:sym typeface="Arial"/>
                      </a:rPr>
                      <m:t>𝑄</m:t>
                    </m:r>
                  </m:oMath>
                </a14:m>
                <a:r>
                  <a:rPr lang="en-US" sz="2300" dirty="0">
                    <a:latin typeface="Atkinson Hyperlegible Next"/>
                    <a:ea typeface="Arial"/>
                    <a:cs typeface="Arial"/>
                    <a:sym typeface="Arial"/>
                  </a:rPr>
                  <a:t>): We assumed constant velocity, but wind gusts or voltage drops might slightly alter the speed.</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process noise is based on the state, as such what dimension is </a:t>
                </a:r>
                <a14:m>
                  <m:oMath xmlns:m="http://schemas.openxmlformats.org/officeDocument/2006/math">
                    <m:r>
                      <a:rPr lang="en-US" sz="2300" i="1" dirty="0">
                        <a:latin typeface="Cambria Math" panose="02040503050406030204" pitchFamily="18" charset="0"/>
                        <a:ea typeface="Arial"/>
                        <a:cs typeface="Arial"/>
                        <a:sym typeface="Arial"/>
                      </a:rPr>
                      <m:t>𝑄</m:t>
                    </m:r>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a:rPr lang="en-US" sz="2300" i="1" dirty="0" smtClean="0">
                        <a:latin typeface="Cambria Math" panose="02040503050406030204" pitchFamily="18" charset="0"/>
                        <a:ea typeface="Arial"/>
                        <a:cs typeface="Arial"/>
                        <a:sym typeface="Arial"/>
                      </a:rPr>
                      <m:t>𝑄</m:t>
                    </m:r>
                  </m:oMath>
                </a14:m>
                <a:r>
                  <a:rPr lang="en-US" sz="2300" dirty="0">
                    <a:latin typeface="Atkinson Hyperlegible Next"/>
                    <a:ea typeface="Arial"/>
                    <a:cs typeface="Arial"/>
                    <a:sym typeface="Arial"/>
                  </a:rPr>
                  <a:t> is a </a:t>
                </a:r>
                <a14:m>
                  <m:oMath xmlns:m="http://schemas.openxmlformats.org/officeDocument/2006/math">
                    <m:r>
                      <a:rPr lang="en-US" sz="2300" i="1" dirty="0" smtClean="0">
                        <a:latin typeface="Cambria Math" panose="02040503050406030204" pitchFamily="18" charset="0"/>
                        <a:ea typeface="Arial"/>
                        <a:cs typeface="Arial"/>
                        <a:sym typeface="Arial"/>
                      </a:rPr>
                      <m:t>2 ×2</m:t>
                    </m:r>
                  </m:oMath>
                </a14:m>
                <a:r>
                  <a:rPr lang="en-US" sz="2300" dirty="0">
                    <a:latin typeface="Atkinson Hyperlegible Next"/>
                    <a:ea typeface="Arial"/>
                    <a:cs typeface="Arial"/>
                    <a:sym typeface="Arial"/>
                  </a:rPr>
                  <a:t> matrix injecting uncertainty into both position and velocity during the predict step!</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latin typeface="Cambria Math" panose="02040503050406030204" pitchFamily="18" charset="0"/>
                          <a:ea typeface="Arial"/>
                          <a:cs typeface="Arial"/>
                          <a:sym typeface="Arial"/>
                        </a:rPr>
                        <m:t>𝑄</m:t>
                      </m:r>
                      <m:r>
                        <a:rPr lang="en-US" sz="2300" i="1" dirty="0" smtClean="0">
                          <a:latin typeface="Cambria Math" panose="02040503050406030204" pitchFamily="18" charset="0"/>
                          <a:ea typeface="Arial"/>
                          <a:cs typeface="Arial"/>
                          <a:sym typeface="Arial"/>
                        </a:rPr>
                        <m:t>=</m:t>
                      </m:r>
                      <m:d>
                        <m:dPr>
                          <m:begChr m:val="["/>
                          <m:endChr m:val="]"/>
                          <m:ctrlPr>
                            <a:rPr lang="en-US" sz="2300" i="1" dirty="0" smtClean="0">
                              <a:latin typeface="Cambria Math" panose="02040503050406030204" pitchFamily="18" charset="0"/>
                              <a:ea typeface="Arial"/>
                              <a:cs typeface="Arial"/>
                              <a:sym typeface="Arial"/>
                            </a:rPr>
                          </m:ctrlPr>
                        </m:dPr>
                        <m:e>
                          <m:m>
                            <m:mPr>
                              <m:plcHide m:val="on"/>
                              <m:mcs>
                                <m:mc>
                                  <m:mcPr>
                                    <m:count m:val="2"/>
                                    <m:mcJc m:val="center"/>
                                  </m:mcPr>
                                </m:mc>
                              </m:mcs>
                              <m:ctrlPr>
                                <a:rPr lang="en-US" sz="2300" i="1" dirty="0" smtClean="0">
                                  <a:latin typeface="Cambria Math" panose="02040503050406030204" pitchFamily="18" charset="0"/>
                                  <a:ea typeface="Arial"/>
                                  <a:cs typeface="Arial"/>
                                  <a:sym typeface="Arial"/>
                                </a:rPr>
                              </m:ctrlPr>
                            </m:mPr>
                            <m:mr>
                              <m:e>
                                <m:sSubSup>
                                  <m:sSubSupPr>
                                    <m:ctrlPr>
                                      <a:rPr lang="en-US" sz="2300" i="1" dirty="0" smtClean="0">
                                        <a:latin typeface="Cambria Math" panose="02040503050406030204" pitchFamily="18" charset="0"/>
                                        <a:ea typeface="Arial"/>
                                        <a:cs typeface="Arial"/>
                                        <a:sym typeface="Arial"/>
                                      </a:rPr>
                                    </m:ctrlPr>
                                  </m:sSubSupPr>
                                  <m:e>
                                    <m:r>
                                      <a:rPr lang="en-US" sz="2300" i="1" dirty="0" smtClean="0">
                                        <a:latin typeface="Cambria Math" panose="02040503050406030204" pitchFamily="18" charset="0"/>
                                        <a:ea typeface="Arial"/>
                                        <a:cs typeface="Arial"/>
                                        <a:sym typeface="Arial"/>
                                      </a:rPr>
                                      <m:t>𝜎</m:t>
                                    </m:r>
                                  </m:e>
                                  <m:sub>
                                    <m:r>
                                      <a:rPr lang="en-US" sz="2300" i="1" dirty="0" smtClean="0">
                                        <a:latin typeface="Cambria Math" panose="02040503050406030204" pitchFamily="18" charset="0"/>
                                        <a:ea typeface="Arial"/>
                                        <a:cs typeface="Arial"/>
                                        <a:sym typeface="Arial"/>
                                      </a:rPr>
                                      <m:t>𝑝</m:t>
                                    </m:r>
                                  </m:sub>
                                  <m:sup>
                                    <m:r>
                                      <a:rPr lang="en-US" sz="2300" i="1" dirty="0" smtClean="0">
                                        <a:latin typeface="Cambria Math" panose="02040503050406030204" pitchFamily="18" charset="0"/>
                                        <a:ea typeface="Arial"/>
                                        <a:cs typeface="Arial"/>
                                        <a:sym typeface="Arial"/>
                                      </a:rPr>
                                      <m:t>2</m:t>
                                    </m:r>
                                  </m:sup>
                                </m:sSubSup>
                              </m:e>
                              <m:e>
                                <m:r>
                                  <a:rPr lang="en-US" sz="2300" i="1" dirty="0" smtClean="0">
                                    <a:latin typeface="Cambria Math" panose="02040503050406030204" pitchFamily="18" charset="0"/>
                                    <a:ea typeface="Arial"/>
                                    <a:cs typeface="Arial"/>
                                    <a:sym typeface="Arial"/>
                                  </a:rPr>
                                  <m:t>0</m:t>
                                </m:r>
                              </m:e>
                            </m:mr>
                            <m:mr>
                              <m:e>
                                <m:r>
                                  <a:rPr lang="en-US" sz="2300" i="1" dirty="0" smtClean="0">
                                    <a:latin typeface="Cambria Math" panose="02040503050406030204" pitchFamily="18" charset="0"/>
                                    <a:ea typeface="Arial"/>
                                    <a:cs typeface="Arial"/>
                                    <a:sym typeface="Arial"/>
                                  </a:rPr>
                                  <m:t>0</m:t>
                                </m:r>
                              </m:e>
                              <m:e>
                                <m:sSubSup>
                                  <m:sSubSupPr>
                                    <m:ctrlPr>
                                      <a:rPr lang="en-US" sz="2300" i="1" dirty="0" smtClean="0">
                                        <a:latin typeface="Cambria Math" panose="02040503050406030204" pitchFamily="18" charset="0"/>
                                        <a:ea typeface="Arial"/>
                                        <a:cs typeface="Arial"/>
                                        <a:sym typeface="Arial"/>
                                      </a:rPr>
                                    </m:ctrlPr>
                                  </m:sSubSupPr>
                                  <m:e>
                                    <m:r>
                                      <a:rPr lang="en-US" sz="2300" i="1" dirty="0" smtClean="0">
                                        <a:latin typeface="Cambria Math" panose="02040503050406030204" pitchFamily="18" charset="0"/>
                                        <a:ea typeface="Arial"/>
                                        <a:cs typeface="Arial"/>
                                        <a:sym typeface="Arial"/>
                                      </a:rPr>
                                      <m:t>𝜎</m:t>
                                    </m:r>
                                  </m:e>
                                  <m:sub>
                                    <m:r>
                                      <a:rPr lang="en-US" sz="2300" i="1" dirty="0" smtClean="0">
                                        <a:latin typeface="Cambria Math" panose="02040503050406030204" pitchFamily="18" charset="0"/>
                                        <a:ea typeface="Arial"/>
                                        <a:cs typeface="Arial"/>
                                        <a:sym typeface="Arial"/>
                                      </a:rPr>
                                      <m:t>𝑣</m:t>
                                    </m:r>
                                  </m:sub>
                                  <m:sup>
                                    <m:r>
                                      <a:rPr lang="en-US" sz="2300" i="1" dirty="0" smtClean="0">
                                        <a:latin typeface="Cambria Math" panose="02040503050406030204" pitchFamily="18" charset="0"/>
                                        <a:ea typeface="Arial"/>
                                        <a:cs typeface="Arial"/>
                                        <a:sym typeface="Arial"/>
                                      </a:rPr>
                                      <m:t>2</m:t>
                                    </m:r>
                                  </m:sup>
                                </m:sSubSup>
                              </m:e>
                            </m:mr>
                          </m:m>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4F385008-4CA2-EFA1-A780-A17B5D0DD77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FD66E5A-AF7D-B13A-9AC2-F5A117BB0DD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FF2238A-5876-8163-09CC-5923ECB6876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Kalman Filter Example (8/9)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7A5C920-E554-AB2B-0919-40DA0F158C6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4984853-4AE3-0467-964D-B1B3262B210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642C607-27B3-C044-893F-4738C3C90C8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D53FD0D-3CEE-15B0-F7AD-6CF7625777A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F17BA4A-3C0F-A3AC-452F-F5D5C102FCE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04A6CA2-CD2D-9F55-0DB1-40EBAD452F6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87935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8AF857D-5907-4111-CC55-A77EA9A08DC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FC8180C-91C0-84D1-D887-8F1F865DA91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So now we all the info to place into the </a:t>
                </a:r>
                <a:r>
                  <a:rPr lang="en-US" sz="2300" b="1" dirty="0">
                    <a:latin typeface="Atkinson Hyperlegible Next"/>
                    <a:ea typeface="Arial"/>
                    <a:cs typeface="Arial"/>
                    <a:sym typeface="Arial"/>
                  </a:rPr>
                  <a:t>Update</a:t>
                </a:r>
                <a:r>
                  <a:rPr lang="en-US" sz="2300" dirty="0">
                    <a:latin typeface="Atkinson Hyperlegible Next"/>
                    <a:ea typeface="Arial"/>
                    <a:cs typeface="Arial"/>
                    <a:sym typeface="Arial"/>
                  </a:rPr>
                  <a:t> step! (Simple right?)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a:latin typeface="Cambria Math" panose="02040503050406030204" pitchFamily="18" charset="0"/>
                          <a:ea typeface="Arial"/>
                          <a:cs typeface="Arial"/>
                          <a:sym typeface="Arial"/>
                        </a:rPr>
                        <m:t>𝐾</m:t>
                      </m:r>
                      <m:r>
                        <a:rPr lang="en-US" sz="2300" i="1" dirty="0">
                          <a:latin typeface="Cambria Math" panose="02040503050406030204" pitchFamily="18" charset="0"/>
                          <a:ea typeface="Arial"/>
                          <a:cs typeface="Arial"/>
                          <a:sym typeface="Arial"/>
                        </a:rPr>
                        <m:t>=</m:t>
                      </m:r>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𝑃</m:t>
                          </m:r>
                        </m:e>
                        <m:sub>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−1</m:t>
                          </m:r>
                        </m:sub>
                      </m:sSub>
                      <m:sSup>
                        <m:sSupPr>
                          <m:ctrlPr>
                            <a:rPr lang="en-US" sz="2300" i="1" dirty="0">
                              <a:latin typeface="Cambria Math" panose="02040503050406030204" pitchFamily="18" charset="0"/>
                              <a:ea typeface="Arial"/>
                              <a:cs typeface="Arial"/>
                              <a:sym typeface="Arial"/>
                            </a:rPr>
                          </m:ctrlPr>
                        </m:sSupPr>
                        <m:e>
                          <m:r>
                            <a:rPr lang="en-US" sz="2300" i="1" dirty="0">
                              <a:latin typeface="Cambria Math" panose="02040503050406030204" pitchFamily="18" charset="0"/>
                              <a:ea typeface="Arial"/>
                              <a:cs typeface="Arial"/>
                              <a:sym typeface="Arial"/>
                            </a:rPr>
                            <m:t>𝐻</m:t>
                          </m:r>
                        </m:e>
                        <m:sup>
                          <m:r>
                            <a:rPr lang="en-US" sz="2300" i="1" dirty="0">
                              <a:latin typeface="Cambria Math" panose="02040503050406030204" pitchFamily="18" charset="0"/>
                              <a:ea typeface="Arial"/>
                              <a:cs typeface="Arial"/>
                              <a:sym typeface="Arial"/>
                            </a:rPr>
                            <m:t>𝑇</m:t>
                          </m:r>
                        </m:sup>
                      </m:sSup>
                      <m:sSup>
                        <m:sSupPr>
                          <m:ctrlPr>
                            <a:rPr lang="en-US" sz="2300" i="1" dirty="0">
                              <a:latin typeface="Cambria Math" panose="02040503050406030204" pitchFamily="18" charset="0"/>
                              <a:ea typeface="Arial"/>
                              <a:cs typeface="Arial"/>
                              <a:sym typeface="Arial"/>
                            </a:rPr>
                          </m:ctrlPr>
                        </m:sSupPr>
                        <m:e>
                          <m:d>
                            <m:dPr>
                              <m:ctrlPr>
                                <a:rPr lang="en-US" sz="2300" i="1" dirty="0">
                                  <a:latin typeface="Cambria Math" panose="02040503050406030204" pitchFamily="18" charset="0"/>
                                  <a:ea typeface="Arial"/>
                                  <a:cs typeface="Arial"/>
                                  <a:sym typeface="Arial"/>
                                </a:rPr>
                              </m:ctrlPr>
                            </m:dPr>
                            <m:e>
                              <m:r>
                                <a:rPr lang="en-US" sz="2300" i="1" dirty="0">
                                  <a:latin typeface="Cambria Math" panose="02040503050406030204" pitchFamily="18" charset="0"/>
                                  <a:ea typeface="Arial"/>
                                  <a:cs typeface="Arial"/>
                                  <a:sym typeface="Arial"/>
                                </a:rPr>
                                <m:t>𝐻</m:t>
                              </m:r>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𝑃</m:t>
                                  </m:r>
                                </m:e>
                                <m:sub>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−1</m:t>
                                  </m:r>
                                </m:sub>
                              </m:sSub>
                              <m:sSup>
                                <m:sSupPr>
                                  <m:ctrlPr>
                                    <a:rPr lang="en-US" sz="2300" i="1" dirty="0">
                                      <a:latin typeface="Cambria Math" panose="02040503050406030204" pitchFamily="18" charset="0"/>
                                      <a:ea typeface="Arial"/>
                                      <a:cs typeface="Arial"/>
                                      <a:sym typeface="Arial"/>
                                    </a:rPr>
                                  </m:ctrlPr>
                                </m:sSupPr>
                                <m:e>
                                  <m:r>
                                    <a:rPr lang="en-US" sz="2300" i="1" dirty="0">
                                      <a:latin typeface="Cambria Math" panose="02040503050406030204" pitchFamily="18" charset="0"/>
                                      <a:ea typeface="Arial"/>
                                      <a:cs typeface="Arial"/>
                                      <a:sym typeface="Arial"/>
                                    </a:rPr>
                                    <m:t>𝐻</m:t>
                                  </m:r>
                                </m:e>
                                <m:sup>
                                  <m:r>
                                    <a:rPr lang="en-US" sz="2300" i="1" dirty="0">
                                      <a:latin typeface="Cambria Math" panose="02040503050406030204" pitchFamily="18" charset="0"/>
                                      <a:ea typeface="Arial"/>
                                      <a:cs typeface="Arial"/>
                                      <a:sym typeface="Arial"/>
                                    </a:rPr>
                                    <m:t>𝑇</m:t>
                                  </m:r>
                                </m:sup>
                              </m:sSup>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𝑅</m:t>
                              </m:r>
                            </m:e>
                          </m:d>
                        </m:e>
                        <m:sup>
                          <m:r>
                            <a:rPr lang="en-US" sz="2300" i="1" dirty="0">
                              <a:latin typeface="Cambria Math" panose="02040503050406030204" pitchFamily="18" charset="0"/>
                              <a:ea typeface="Arial"/>
                              <a:cs typeface="Arial"/>
                              <a:sym typeface="Arial"/>
                            </a:rPr>
                            <m:t>−1</m:t>
                          </m:r>
                        </m:sup>
                      </m:sSup>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𝑥</m:t>
                          </m:r>
                        </m:e>
                        <m:sub>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𝑘</m:t>
                          </m:r>
                        </m:sub>
                      </m:sSub>
                      <m:r>
                        <a:rPr lang="en-US" sz="2300" i="1" dirty="0">
                          <a:latin typeface="Cambria Math" panose="02040503050406030204" pitchFamily="18" charset="0"/>
                          <a:ea typeface="Arial"/>
                          <a:cs typeface="Arial"/>
                          <a:sym typeface="Arial"/>
                        </a:rPr>
                        <m:t>=</m:t>
                      </m:r>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𝑥</m:t>
                          </m:r>
                        </m:e>
                        <m:sub>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−1</m:t>
                          </m:r>
                        </m:sub>
                      </m:sSub>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𝐾</m:t>
                      </m:r>
                      <m:d>
                        <m:dPr>
                          <m:ctrlPr>
                            <a:rPr lang="en-US" sz="2300" i="1" dirty="0">
                              <a:latin typeface="Cambria Math" panose="02040503050406030204" pitchFamily="18" charset="0"/>
                              <a:ea typeface="Arial"/>
                              <a:cs typeface="Arial"/>
                              <a:sym typeface="Arial"/>
                            </a:rPr>
                          </m:ctrlPr>
                        </m:dPr>
                        <m:e>
                          <m:sSub>
                            <m:sSubPr>
                              <m:ctrlPr>
                                <a:rPr lang="en-US" sz="2300" i="1" dirty="0" err="1">
                                  <a:latin typeface="Cambria Math" panose="02040503050406030204" pitchFamily="18" charset="0"/>
                                  <a:ea typeface="Arial"/>
                                  <a:cs typeface="Arial"/>
                                  <a:sym typeface="Arial"/>
                                </a:rPr>
                              </m:ctrlPr>
                            </m:sSubPr>
                            <m:e>
                              <m:r>
                                <a:rPr lang="en-US" sz="2300" i="1" dirty="0" err="1">
                                  <a:latin typeface="Cambria Math" panose="02040503050406030204" pitchFamily="18" charset="0"/>
                                  <a:ea typeface="Arial"/>
                                  <a:cs typeface="Arial"/>
                                  <a:sym typeface="Arial"/>
                                </a:rPr>
                                <m:t>𝑧</m:t>
                              </m:r>
                            </m:e>
                            <m:sub>
                              <m:r>
                                <a:rPr lang="en-US" sz="2300" i="1" dirty="0" err="1">
                                  <a:latin typeface="Cambria Math" panose="02040503050406030204" pitchFamily="18" charset="0"/>
                                  <a:ea typeface="Arial"/>
                                  <a:cs typeface="Arial"/>
                                  <a:sym typeface="Arial"/>
                                </a:rPr>
                                <m:t>𝑘</m:t>
                              </m:r>
                            </m:sub>
                          </m:sSub>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𝐻</m:t>
                          </m:r>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𝑥</m:t>
                              </m:r>
                            </m:e>
                            <m:sub>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−1</m:t>
                              </m:r>
                            </m:sub>
                          </m:sSub>
                        </m:e>
                      </m:d>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𝑃</m:t>
                          </m:r>
                        </m:e>
                        <m:sub>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𝑘</m:t>
                          </m:r>
                        </m:sub>
                      </m:sSub>
                      <m:r>
                        <a:rPr lang="en-US" sz="2300" i="1" dirty="0">
                          <a:latin typeface="Cambria Math" panose="02040503050406030204" pitchFamily="18" charset="0"/>
                          <a:ea typeface="Arial"/>
                          <a:cs typeface="Arial"/>
                          <a:sym typeface="Arial"/>
                        </a:rPr>
                        <m:t>=</m:t>
                      </m:r>
                      <m:d>
                        <m:dPr>
                          <m:ctrlPr>
                            <a:rPr lang="en-US" sz="2300" i="1" dirty="0">
                              <a:latin typeface="Cambria Math" panose="02040503050406030204" pitchFamily="18" charset="0"/>
                              <a:ea typeface="Arial"/>
                              <a:cs typeface="Arial"/>
                              <a:sym typeface="Arial"/>
                            </a:rPr>
                          </m:ctrlPr>
                        </m:dPr>
                        <m:e>
                          <m:r>
                            <a:rPr lang="en-US" sz="2300" i="1" dirty="0">
                              <a:latin typeface="Cambria Math" panose="02040503050406030204" pitchFamily="18" charset="0"/>
                              <a:ea typeface="Arial"/>
                              <a:cs typeface="Arial"/>
                              <a:sym typeface="Arial"/>
                            </a:rPr>
                            <m:t>𝐼</m:t>
                          </m:r>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𝐾𝐻</m:t>
                          </m:r>
                        </m:e>
                      </m:d>
                      <m:sSub>
                        <m:sSubPr>
                          <m:ctrlPr>
                            <a:rPr lang="en-US" sz="2300" i="1" dirty="0">
                              <a:latin typeface="Cambria Math" panose="02040503050406030204" pitchFamily="18" charset="0"/>
                              <a:ea typeface="Arial"/>
                              <a:cs typeface="Arial"/>
                              <a:sym typeface="Arial"/>
                            </a:rPr>
                          </m:ctrlPr>
                        </m:sSubPr>
                        <m:e>
                          <m:r>
                            <a:rPr lang="en-US" sz="2300" i="1" dirty="0">
                              <a:latin typeface="Cambria Math" panose="02040503050406030204" pitchFamily="18" charset="0"/>
                              <a:ea typeface="Arial"/>
                              <a:cs typeface="Arial"/>
                              <a:sym typeface="Arial"/>
                            </a:rPr>
                            <m:t>𝑃</m:t>
                          </m:r>
                        </m:e>
                        <m:sub>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m:t>
                          </m:r>
                          <m:r>
                            <a:rPr lang="en-US" sz="2300" i="1" dirty="0">
                              <a:latin typeface="Cambria Math" panose="02040503050406030204" pitchFamily="18" charset="0"/>
                              <a:ea typeface="Arial"/>
                              <a:cs typeface="Arial"/>
                              <a:sym typeface="Arial"/>
                            </a:rPr>
                            <m:t>𝑘</m:t>
                          </m:r>
                          <m:r>
                            <a:rPr lang="en-US" sz="2300" i="1" dirty="0">
                              <a:latin typeface="Cambria Math" panose="02040503050406030204" pitchFamily="18" charset="0"/>
                              <a:ea typeface="Arial"/>
                              <a:cs typeface="Arial"/>
                              <a:sym typeface="Arial"/>
                            </a:rPr>
                            <m:t>−1</m:t>
                          </m:r>
                        </m:sub>
                      </m:sSub>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And we are all done! (simpler than expected right?)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Our train example works perfectly with the standard Kalman Filter equations because the math is strictly </a:t>
                </a:r>
                <a:r>
                  <a:rPr lang="en-US" sz="2300" b="1" dirty="0">
                    <a:latin typeface="Atkinson Hyperlegible Next"/>
                    <a:ea typeface="Arial"/>
                    <a:cs typeface="Arial"/>
                    <a:sym typeface="Arial"/>
                  </a:rPr>
                  <a:t>linear</a:t>
                </a:r>
                <a:r>
                  <a:rPr lang="en-US" sz="2300" dirty="0">
                    <a:latin typeface="Atkinson Hyperlegible Next"/>
                    <a:ea typeface="Arial"/>
                    <a:cs typeface="Arial"/>
                    <a:sym typeface="Arial"/>
                  </a:rPr>
                  <a:t> (simple multiplication and addition).</a:t>
                </a:r>
              </a:p>
              <a:p>
                <a:pPr marL="0" indent="0">
                  <a:lnSpc>
                    <a:spcPct val="100000"/>
                  </a:lnSpc>
                  <a:spcBef>
                    <a:spcPts val="0"/>
                  </a:spcBef>
                  <a:buSzPts val="3000"/>
                  <a:buNone/>
                </a:pPr>
                <a:r>
                  <a:rPr lang="en-US" sz="2300" dirty="0">
                    <a:latin typeface="Atkinson Hyperlegible Next"/>
                    <a:ea typeface="Arial"/>
                    <a:cs typeface="Arial"/>
                    <a:sym typeface="Arial"/>
                  </a:rPr>
                  <a:t>Matrix (</a:t>
                </a:r>
                <a14:m>
                  <m:oMath xmlns:m="http://schemas.openxmlformats.org/officeDocument/2006/math">
                    <m:r>
                      <a:rPr lang="en-US" sz="2300" i="1" dirty="0" smtClean="0">
                        <a:latin typeface="Cambria Math" panose="02040503050406030204" pitchFamily="18" charset="0"/>
                        <a:ea typeface="Arial"/>
                        <a:cs typeface="Arial"/>
                        <a:sym typeface="Arial"/>
                      </a:rPr>
                      <m:t>𝐹</m:t>
                    </m:r>
                  </m:oMath>
                </a14:m>
                <a:r>
                  <a:rPr lang="en-US" sz="2300" dirty="0">
                    <a:latin typeface="Atkinson Hyperlegible Next"/>
                    <a:ea typeface="Arial"/>
                    <a:cs typeface="Arial"/>
                    <a:sym typeface="Arial"/>
                  </a:rPr>
                  <a:t>) is a linear transformation.</a:t>
                </a:r>
              </a:p>
            </p:txBody>
          </p:sp>
        </mc:Choice>
        <mc:Fallback xmlns="">
          <p:sp>
            <p:nvSpPr>
              <p:cNvPr id="118" name="Google Shape;118;p29">
                <a:extLst>
                  <a:ext uri="{FF2B5EF4-FFF2-40B4-BE49-F238E27FC236}">
                    <a16:creationId xmlns:a16="http://schemas.microsoft.com/office/drawing/2014/main" id="{0FC8180C-91C0-84D1-D887-8F1F865DA91D}"/>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3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8E907F0-DBAC-CEFB-4F19-4B7EAAF6A9D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B2FF3DA-E1F4-A811-4BD6-14753AC778B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Kalman Filter Example (9/9)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F8052BF-499B-461E-9A47-65002ECDC36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6FC8E9C-A885-7348-F39A-EE152BFF0BE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74EB949-9D2F-299D-A7DF-4D7D6AC6711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5665586-7452-E5BE-B733-850E74FAF19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890575D-B926-C828-0405-BCC942C490D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C69C496-D342-2EB6-0600-F6E618B2DB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95462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71694CC0-6902-E866-537C-4C5A5ADBE13A}"/>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A01F8ED9-94CD-1860-179E-32A849CA5912}"/>
              </a:ext>
            </a:extLst>
          </p:cNvPr>
          <p:cNvSpPr/>
          <p:nvPr>
            <p:ph type="title"/>
          </p:nvPr>
        </p:nvSpPr>
        <p:spPr>
          <a:xfrm>
            <a:off x="1295400" y="2879241"/>
            <a:ext cx="9601200" cy="147728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Extended (Nonlinear) Kalman Filter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915687DB-F86B-AFE3-B8E8-C363052FB731}"/>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C52007C9-F1DE-73B9-A16A-7100DACD0E8C}"/>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5F898FAE-F218-37B1-DD8D-812D2EF5C7DD}"/>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DB143006-7ADA-502F-84FD-B6B44AE1AC82}"/>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AA062D97-6771-0445-E3BE-65712B27A6D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9DBC35F-0B7F-A354-73CC-AA047AA52121}"/>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AE72E6BC-D68D-5180-6E08-23729E332450}"/>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2AC5B19E-C8FB-F95E-0212-1CD6A7007BD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7224F464-AE88-4ABA-2CCD-696735FC9B9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467544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2D915EA-7840-CDF3-0081-8C2A2E77607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3969E7C-61A4-DEB8-D33A-485DA9C005E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We use differential drive platforms operating in a 2D plane in lab.</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state vector is </a:t>
                </a:r>
                <a14:m>
                  <m:oMath xmlns:m="http://schemas.openxmlformats.org/officeDocument/2006/math">
                    <m:r>
                      <a:rPr lang="en-US" sz="2300" i="1" dirty="0" smtClean="0">
                        <a:latin typeface="Cambria Math" panose="02040503050406030204" pitchFamily="18" charset="0"/>
                        <a:ea typeface="Arial"/>
                        <a:cs typeface="Arial"/>
                        <a:sym typeface="Arial"/>
                      </a:rPr>
                      <m:t>𝑥</m:t>
                    </m:r>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𝑌</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𝜃</m:t>
                            </m:r>
                          </m:e>
                        </m:d>
                      </m:e>
                      <m:sup>
                        <m:r>
                          <a:rPr lang="en-US" sz="2300" i="1" dirty="0" err="1" smtClean="0">
                            <a:latin typeface="Cambria Math" panose="02040503050406030204" pitchFamily="18" charset="0"/>
                            <a:ea typeface="Arial"/>
                            <a:cs typeface="Arial"/>
                            <a:sym typeface="Arial"/>
                          </a:rPr>
                          <m:t>𝑇</m:t>
                        </m:r>
                      </m:sup>
                    </m:sSup>
                  </m:oMath>
                </a14:m>
                <a:r>
                  <a:rPr lang="en-US" sz="2300" dirty="0">
                    <a:latin typeface="Atkinson Hyperlegible Next"/>
                    <a:ea typeface="Arial"/>
                    <a:cs typeface="Arial"/>
                    <a:sym typeface="Arial"/>
                  </a:rPr>
                  <a: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physics equations for the next time step (</a:t>
                </a:r>
                <a14:m>
                  <m:oMath xmlns:m="http://schemas.openxmlformats.org/officeDocument/2006/math">
                    <m:r>
                      <a:rPr lang="en-US" sz="2300" i="1" dirty="0" smtClean="0">
                        <a:latin typeface="Cambria Math" panose="02040503050406030204" pitchFamily="18" charset="0"/>
                        <a:ea typeface="Arial"/>
                        <a:cs typeface="Arial"/>
                        <a:sym typeface="Arial"/>
                      </a:rPr>
                      <m:t>𝑑𝑡</m:t>
                    </m:r>
                  </m:oMath>
                </a14:m>
                <a:r>
                  <a:rPr lang="en-US" sz="2300" dirty="0">
                    <a:latin typeface="Atkinson Hyperlegible Next"/>
                    <a:ea typeface="Arial"/>
                    <a:cs typeface="Arial"/>
                    <a:sym typeface="Arial"/>
                  </a:rPr>
                  <a:t>) involve steering:</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𝑋</m:t>
                          </m:r>
                        </m:e>
                        <m:sub>
                          <m:r>
                            <a:rPr lang="en-US" sz="2300" i="1" dirty="0" smtClean="0">
                              <a:latin typeface="Cambria Math" panose="02040503050406030204" pitchFamily="18" charset="0"/>
                              <a:ea typeface="Arial"/>
                              <a:cs typeface="Arial"/>
                              <a:sym typeface="Arial"/>
                            </a:rPr>
                            <m:t>𝑛𝑒𝑤</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𝑋</m:t>
                          </m:r>
                        </m:e>
                        <m:sub>
                          <m:r>
                            <a:rPr lang="en-US" sz="2300" i="1" dirty="0" smtClean="0">
                              <a:latin typeface="Cambria Math" panose="02040503050406030204" pitchFamily="18" charset="0"/>
                              <a:ea typeface="Arial"/>
                              <a:cs typeface="Arial"/>
                              <a:sym typeface="Arial"/>
                            </a:rPr>
                            <m:t>𝑜𝑙𝑑</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𝑣</m:t>
                      </m:r>
                      <m:func>
                        <m:funcPr>
                          <m:ctrlPr>
                            <a:rPr lang="en-US" sz="2300" i="1" dirty="0" smtClean="0">
                              <a:latin typeface="Cambria Math" panose="02040503050406030204" pitchFamily="18" charset="0"/>
                              <a:ea typeface="Arial"/>
                              <a:cs typeface="Arial"/>
                              <a:sym typeface="Arial"/>
                            </a:rPr>
                          </m:ctrlPr>
                        </m:funcPr>
                        <m:fName>
                          <m:r>
                            <m:rPr>
                              <m:sty m:val="p"/>
                            </m:rPr>
                            <a:rPr lang="en-US" sz="2300" i="0" dirty="0" smtClean="0">
                              <a:latin typeface="Cambria Math" panose="02040503050406030204" pitchFamily="18" charset="0"/>
                              <a:ea typeface="Arial"/>
                              <a:cs typeface="Arial"/>
                              <a:sym typeface="Arial"/>
                            </a:rPr>
                            <m:t>cos</m:t>
                          </m:r>
                        </m:fName>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𝜃</m:t>
                              </m:r>
                            </m:e>
                          </m:d>
                        </m:e>
                      </m:func>
                      <m:r>
                        <a:rPr lang="en-US" sz="2300" i="1" dirty="0" smtClean="0">
                          <a:latin typeface="Cambria Math" panose="02040503050406030204" pitchFamily="18" charset="0"/>
                          <a:ea typeface="Arial"/>
                          <a:cs typeface="Arial"/>
                          <a:sym typeface="Arial"/>
                        </a:rPr>
                        <m:t>𝑑𝑡</m:t>
                      </m:r>
                    </m:oMath>
                  </m:oMathPara>
                </a14:m>
                <a:endParaRPr lang="en-US" sz="23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𝑌</m:t>
                          </m:r>
                        </m:e>
                        <m:sub>
                          <m:r>
                            <a:rPr lang="en-US" sz="2300" i="1" dirty="0" smtClean="0">
                              <a:latin typeface="Cambria Math" panose="02040503050406030204" pitchFamily="18" charset="0"/>
                              <a:ea typeface="Arial"/>
                              <a:cs typeface="Arial"/>
                              <a:sym typeface="Arial"/>
                            </a:rPr>
                            <m:t>𝑛𝑒𝑤</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𝑌</m:t>
                          </m:r>
                        </m:e>
                        <m:sub>
                          <m:r>
                            <a:rPr lang="en-US" sz="2300" i="1" dirty="0" smtClean="0">
                              <a:latin typeface="Cambria Math" panose="02040503050406030204" pitchFamily="18" charset="0"/>
                              <a:ea typeface="Arial"/>
                              <a:cs typeface="Arial"/>
                              <a:sym typeface="Arial"/>
                            </a:rPr>
                            <m:t>𝑜𝑙𝑑</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𝑣</m:t>
                      </m:r>
                      <m:func>
                        <m:funcPr>
                          <m:ctrlPr>
                            <a:rPr lang="en-US" sz="2300" i="1" dirty="0" smtClean="0">
                              <a:latin typeface="Cambria Math" panose="02040503050406030204" pitchFamily="18" charset="0"/>
                              <a:ea typeface="Arial"/>
                              <a:cs typeface="Arial"/>
                              <a:sym typeface="Arial"/>
                            </a:rPr>
                          </m:ctrlPr>
                        </m:funcPr>
                        <m:fName>
                          <m:r>
                            <m:rPr>
                              <m:sty m:val="p"/>
                            </m:rPr>
                            <a:rPr lang="en-US" sz="2300" i="0" dirty="0" smtClean="0">
                              <a:latin typeface="Cambria Math" panose="02040503050406030204" pitchFamily="18" charset="0"/>
                              <a:ea typeface="Arial"/>
                              <a:cs typeface="Arial"/>
                              <a:sym typeface="Arial"/>
                            </a:rPr>
                            <m:t>sin</m:t>
                          </m:r>
                        </m:fName>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𝜃</m:t>
                              </m:r>
                            </m:e>
                          </m:d>
                        </m:e>
                      </m:func>
                      <m:r>
                        <a:rPr lang="en-US" sz="2300" i="1" dirty="0" smtClean="0">
                          <a:latin typeface="Cambria Math" panose="02040503050406030204" pitchFamily="18" charset="0"/>
                          <a:ea typeface="Arial"/>
                          <a:cs typeface="Arial"/>
                          <a:sym typeface="Arial"/>
                        </a:rPr>
                        <m:t>𝑑𝑡</m:t>
                      </m:r>
                    </m:oMath>
                  </m:oMathPara>
                </a14:m>
                <a:endParaRPr lang="en-US" sz="23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𝜃</m:t>
                          </m:r>
                        </m:e>
                        <m:sub>
                          <m:r>
                            <a:rPr lang="en-US" sz="2300" i="1" dirty="0" smtClean="0">
                              <a:latin typeface="Cambria Math" panose="02040503050406030204" pitchFamily="18" charset="0"/>
                              <a:ea typeface="Arial"/>
                              <a:cs typeface="Arial"/>
                              <a:sym typeface="Arial"/>
                            </a:rPr>
                            <m:t>𝑛𝑒𝑤</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𝜃</m:t>
                          </m:r>
                        </m:e>
                        <m:sub>
                          <m:r>
                            <a:rPr lang="en-US" sz="2300" i="1" dirty="0" smtClean="0">
                              <a:latin typeface="Cambria Math" panose="02040503050406030204" pitchFamily="18" charset="0"/>
                              <a:ea typeface="Arial"/>
                              <a:cs typeface="Arial"/>
                              <a:sym typeface="Arial"/>
                            </a:rPr>
                            <m:t>𝑜𝑙𝑑</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𝜔</m:t>
                      </m:r>
                      <m:r>
                        <a:rPr lang="en-US" sz="2300" i="1" dirty="0" smtClean="0">
                          <a:latin typeface="Cambria Math" panose="02040503050406030204" pitchFamily="18" charset="0"/>
                          <a:ea typeface="Arial"/>
                          <a:cs typeface="Arial"/>
                          <a:sym typeface="Arial"/>
                        </a:rPr>
                        <m:t>𝑑𝑡</m:t>
                      </m:r>
                    </m:oMath>
                  </m:oMathPara>
                </a14:m>
                <a:endParaRPr lang="en-US" sz="2300" dirty="0">
                  <a:latin typeface="Atkinson Hyperlegible Next"/>
                  <a:ea typeface="Arial"/>
                  <a:cs typeface="Arial"/>
                  <a:sym typeface="Arial"/>
                </a:endParaRP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What is the problem?</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You cannot create a constant linear matrix </a:t>
                </a:r>
                <a14:m>
                  <m:oMath xmlns:m="http://schemas.openxmlformats.org/officeDocument/2006/math">
                    <m:r>
                      <a:rPr lang="en-US" sz="2300" i="1" dirty="0" smtClean="0">
                        <a:latin typeface="Cambria Math" panose="02040503050406030204" pitchFamily="18" charset="0"/>
                        <a:ea typeface="Arial"/>
                        <a:cs typeface="Arial"/>
                        <a:sym typeface="Arial"/>
                      </a:rPr>
                      <m:t>𝐹</m:t>
                    </m:r>
                  </m:oMath>
                </a14:m>
                <a:r>
                  <a:rPr lang="en-US" sz="2300" dirty="0">
                    <a:latin typeface="Atkinson Hyperlegible Next"/>
                    <a:ea typeface="Arial"/>
                    <a:cs typeface="Arial"/>
                    <a:sym typeface="Arial"/>
                  </a:rPr>
                  <a:t> that multiplies by </a:t>
                </a:r>
                <a14:m>
                  <m:oMath xmlns:m="http://schemas.openxmlformats.org/officeDocument/2006/math">
                    <m:r>
                      <a:rPr lang="en-US" sz="2300" i="1" dirty="0" smtClean="0">
                        <a:latin typeface="Cambria Math" panose="02040503050406030204" pitchFamily="18" charset="0"/>
                        <a:ea typeface="Arial"/>
                        <a:cs typeface="Arial"/>
                        <a:sym typeface="Arial"/>
                      </a:rPr>
                      <m:t>𝜃</m:t>
                    </m:r>
                  </m:oMath>
                </a14:m>
                <a:r>
                  <a:rPr lang="en-US" sz="2300" dirty="0">
                    <a:latin typeface="Atkinson Hyperlegible Next"/>
                    <a:ea typeface="Arial"/>
                    <a:cs typeface="Arial"/>
                    <a:sym typeface="Arial"/>
                  </a:rPr>
                  <a:t> to produce </a:t>
                </a:r>
                <a14:m>
                  <m:oMath xmlns:m="http://schemas.openxmlformats.org/officeDocument/2006/math">
                    <m:func>
                      <m:funcPr>
                        <m:ctrlPr>
                          <a:rPr lang="en-US" sz="2300" i="1" dirty="0" smtClean="0">
                            <a:latin typeface="Cambria Math" panose="02040503050406030204" pitchFamily="18" charset="0"/>
                            <a:ea typeface="Arial"/>
                            <a:cs typeface="Arial"/>
                            <a:sym typeface="Arial"/>
                          </a:rPr>
                        </m:ctrlPr>
                      </m:funcPr>
                      <m:fName>
                        <m:r>
                          <m:rPr>
                            <m:sty m:val="p"/>
                          </m:rPr>
                          <a:rPr lang="en-US" sz="2300" i="0" dirty="0" smtClean="0">
                            <a:latin typeface="Cambria Math" panose="02040503050406030204" pitchFamily="18" charset="0"/>
                            <a:ea typeface="Arial"/>
                            <a:cs typeface="Arial"/>
                            <a:sym typeface="Arial"/>
                          </a:rPr>
                          <m:t>cos</m:t>
                        </m:r>
                      </m:fName>
                      <m:e>
                        <m:d>
                          <m:dPr>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𝜃</m:t>
                            </m:r>
                          </m:e>
                        </m:d>
                      </m:e>
                    </m:func>
                  </m:oMath>
                </a14:m>
                <a:r>
                  <a:rPr lang="en-US" sz="23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93969E7C-61A4-DEB8-D33A-485DA9C005EE}"/>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88A1ED6-7A77-F6A8-7EE3-55765047F5D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B3E98D0-A99C-4D4B-72AC-5DAE33FA3C1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E417F34-0668-C324-BBF0-6903F509AAF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6EE4969-C77B-E1E7-83FD-F3FB49C160A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739D0FC-2209-D8EA-5F65-AD71B4636C6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4B854F1-1D5F-F33B-D136-3D171D80CBF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B84F166-D5EE-5DAB-B838-03B4565EE11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813AF3D-B9E2-0242-28DE-416C05B3C40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85192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8C047FB-D4B2-5CA4-9118-F6090BC3403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2AB664A-4D77-28E3-166E-E546A86435E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The standard Kalman Filter guarantees an optimal estimate </a:t>
                </a:r>
                <a:r>
                  <a:rPr lang="en-US" sz="2300" b="1" dirty="0">
                    <a:latin typeface="Atkinson Hyperlegible Next"/>
                    <a:ea typeface="Arial"/>
                    <a:cs typeface="Arial"/>
                    <a:sym typeface="Arial"/>
                  </a:rPr>
                  <a:t>if and only if </a:t>
                </a:r>
                <a:r>
                  <a:rPr lang="en-US" sz="2300" dirty="0">
                    <a:latin typeface="Atkinson Hyperlegible Next"/>
                    <a:ea typeface="Arial"/>
                    <a:cs typeface="Arial"/>
                    <a:sym typeface="Arial"/>
                  </a:rPr>
                  <a:t>the system remains Gaussian.</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If you pass a Gaussian distribution through a linear function (like </a:t>
                </a:r>
                <a14:m>
                  <m:oMath xmlns:m="http://schemas.openxmlformats.org/officeDocument/2006/math">
                    <m:r>
                      <a:rPr lang="en-US" sz="2300" i="1" dirty="0" smtClean="0">
                        <a:latin typeface="Cambria Math" panose="02040503050406030204" pitchFamily="18" charset="0"/>
                        <a:ea typeface="Arial"/>
                        <a:cs typeface="Arial"/>
                        <a:sym typeface="Arial"/>
                      </a:rPr>
                      <m:t>2</m:t>
                    </m:r>
                    <m:r>
                      <a:rPr lang="en-US" sz="2300" i="1" dirty="0" smtClean="0">
                        <a:latin typeface="Cambria Math" panose="02040503050406030204" pitchFamily="18" charset="0"/>
                        <a:ea typeface="Arial"/>
                        <a:cs typeface="Arial"/>
                        <a:sym typeface="Arial"/>
                      </a:rPr>
                      <m:t>𝑥</m:t>
                    </m:r>
                  </m:oMath>
                </a14:m>
                <a:r>
                  <a:rPr lang="en-US" sz="2300" dirty="0">
                    <a:latin typeface="Atkinson Hyperlegible Next"/>
                    <a:ea typeface="Arial"/>
                    <a:cs typeface="Arial"/>
                    <a:sym typeface="Arial"/>
                  </a:rPr>
                  <a:t>), it stays Gaussian!</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If you pass a Gaussian distribution through a highly non-linear function (like sine or cosine), it becomes warped, skewed, and destroys the assumptions of the filter!</a:t>
                </a:r>
              </a:p>
            </p:txBody>
          </p:sp>
        </mc:Choice>
        <mc:Fallback xmlns="">
          <p:sp>
            <p:nvSpPr>
              <p:cNvPr id="118" name="Google Shape;118;p29">
                <a:extLst>
                  <a:ext uri="{FF2B5EF4-FFF2-40B4-BE49-F238E27FC236}">
                    <a16:creationId xmlns:a16="http://schemas.microsoft.com/office/drawing/2014/main" id="{52AB664A-4D77-28E3-166E-E546A86435E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09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C829330-1549-F6CC-6C5E-BEDFFDC0E8D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35151CD-B3D2-8125-85A4-8BF434EEBD6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(2/22)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BD9D9AF-A750-3CD1-D408-25D74431410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22ECABF-7417-D5EF-A544-AA818B34784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3C293A-0794-3FEF-E40C-00126981642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994B735-EE97-D590-1052-7B1EF3AC442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B853140-1ABC-8C5F-0DD9-FE2ADA6A65F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DDECCFA-A71B-FFA4-F894-3E7320F098B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956929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68A0919-E22D-2720-2A77-2E464A2354D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228D9E9-7115-9234-2955-18A4BBC982C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BFA685E-614C-10FC-E49D-F6CF99F57D1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(3/22)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3695483-8B51-407F-2EBB-10BD36D3A59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BEDB71D-F8DF-710D-A440-576EFD7D29E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7A336BE-194D-566F-4223-65A222041BE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0236815-78B8-96B3-4D3F-E27DE888771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56A6F09-D4DE-014E-62A5-1CF695DB964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42822D-494F-7BB8-D83A-DC9C1DB793F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hree histograms showing why the Extended Kalman Filter is needed. First, Gaussian samples centered at 0, spanning about minus 4 to 4. Second, the same samples after the linear transform 2x: still a bell-shaped Gaussian centered at 0, but twice as wide, spanning about minus 8 to 8. Third, after the nonlinear transform sine of x: confined to minus 1 to 1, nearly flat in the middle with tall spikes at both ends, so it is no longer Gaussian.">
            <a:extLst>
              <a:ext uri="{FF2B5EF4-FFF2-40B4-BE49-F238E27FC236}">
                <a16:creationId xmlns:a16="http://schemas.microsoft.com/office/drawing/2014/main" id="{916BB3D0-BBD4-DBFB-B0F6-36E53C66B7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1397000"/>
            <a:ext cx="12192000" cy="4064000"/>
          </a:xfrm>
          <a:prstGeom prst="rect">
            <a:avLst/>
          </a:prstGeom>
        </p:spPr>
      </p:pic>
    </p:spTree>
    <p:extLst>
      <p:ext uri="{BB962C8B-B14F-4D97-AF65-F5344CB8AC3E}">
        <p14:creationId xmlns:p14="http://schemas.microsoft.com/office/powerpoint/2010/main" val="31631148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93BD434-4ABD-90A7-B328-2A13B37CFE9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58E8E4A-ACCF-15FD-94F9-2CFCD792356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05951A8-58BD-FAE6-B8C3-EA3AAEB9C5B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(4/22)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D7A564A-CF19-F68F-D565-7EB959C4D34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F8873E1-B7A6-EC00-891F-3D53FFE6C90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6395717-2EDA-7534-C346-94D9C99A2CA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416C6AD-EA4A-FBDF-5814-A271D697576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BABD447-956E-A4B7-3ED0-070B0B840E1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07991EF-A553-A0E2-C7FD-E9A5D7FFE99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Scatter plot: thousands of Monte Carlo particles, labeled the true distribution, plotted as global X position versus global Y position. They form a curved, banana-shaped arc rather than an elliptical Gaussian cloud. The arc starts sparse near X minus 5, Y 2, rises to about Y 5 around X 0 to 1, and bends down through X 3, Y 4 to X 5, Y 0. It is densest between those last two points and thins into a tail near X 2 to 4, Y minus 4 to minus 5.">
            <a:extLst>
              <a:ext uri="{FF2B5EF4-FFF2-40B4-BE49-F238E27FC236}">
                <a16:creationId xmlns:a16="http://schemas.microsoft.com/office/drawing/2014/main" id="{42196BA8-67CB-FEC0-DC5E-09554E7A5D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03137" y="868221"/>
            <a:ext cx="5785727" cy="5785727"/>
          </a:xfrm>
          <a:prstGeom prst="rect">
            <a:avLst/>
          </a:prstGeom>
        </p:spPr>
      </p:pic>
    </p:spTree>
    <p:extLst>
      <p:ext uri="{BB962C8B-B14F-4D97-AF65-F5344CB8AC3E}">
        <p14:creationId xmlns:p14="http://schemas.microsoft.com/office/powerpoint/2010/main" val="36971149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3C9C72B-7E09-26D8-E7BB-4A175B33018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C6D92ED-9E79-BC73-1EB4-B32B6406D6C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To solve this, we introduce the </a:t>
            </a:r>
            <a:r>
              <a:rPr lang="en-US" sz="2300" b="1" dirty="0">
                <a:latin typeface="Atkinson Hyperlegible Next"/>
                <a:ea typeface="Arial"/>
                <a:cs typeface="Arial"/>
                <a:sym typeface="Arial"/>
              </a:rPr>
              <a:t>Extended Kalman Filter </a:t>
            </a:r>
            <a:r>
              <a:rPr lang="en-US" sz="2300" dirty="0">
                <a:latin typeface="Atkinson Hyperlegible Next"/>
                <a:ea typeface="Arial"/>
                <a:cs typeface="Arial"/>
                <a:sym typeface="Arial"/>
              </a:rPr>
              <a:t>(EKF)</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The EKF uses the </a:t>
            </a:r>
            <a:r>
              <a:rPr lang="en-US" sz="2300" b="1" dirty="0">
                <a:latin typeface="Atkinson Hyperlegible Next"/>
                <a:ea typeface="Arial"/>
                <a:cs typeface="Arial"/>
                <a:sym typeface="Arial"/>
              </a:rPr>
              <a:t>Taylor Series </a:t>
            </a:r>
            <a:r>
              <a:rPr lang="en-US" sz="2300" dirty="0">
                <a:latin typeface="Atkinson Hyperlegible Next"/>
                <a:ea typeface="Arial"/>
                <a:cs typeface="Arial"/>
                <a:sym typeface="Arial"/>
              </a:rPr>
              <a:t>expansion to approximate the non-linear curves as flat lines right at our current operating point.</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By zooming in incredibly close to the robot's current state, the curve looks like a straight line. </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We use that temporary straight line (tangent) to update our uncertainty.</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nSpc>
                <a:spcPct val="100000"/>
              </a:lnSpc>
              <a:spcBef>
                <a:spcPts val="0"/>
              </a:spcBef>
              <a:buSzPts val="3000"/>
              <a:buNone/>
            </a:pPr>
            <a:r>
              <a:rPr lang="en-US" sz="2300" dirty="0">
                <a:latin typeface="Atkinson Hyperlegible Next"/>
                <a:ea typeface="Arial"/>
                <a:cs typeface="Arial"/>
                <a:sym typeface="Arial"/>
              </a:rPr>
              <a:t>What calculus tool allows us to find these tangents?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0" indent="0" algn="ctr">
              <a:lnSpc>
                <a:spcPct val="100000"/>
              </a:lnSpc>
              <a:spcBef>
                <a:spcPts val="0"/>
              </a:spcBef>
              <a:buSzPts val="3000"/>
              <a:buNone/>
            </a:pPr>
            <a:r>
              <a:rPr lang="en-US" sz="2300" dirty="0">
                <a:latin typeface="Atkinson Hyperlegible Next"/>
                <a:ea typeface="Arial"/>
                <a:cs typeface="Arial"/>
                <a:sym typeface="Arial"/>
              </a:rPr>
              <a:t>Derivates (in this case </a:t>
            </a:r>
            <a:r>
              <a:rPr lang="en-US" sz="2300" b="1" dirty="0">
                <a:latin typeface="Atkinson Hyperlegible Next"/>
                <a:ea typeface="Arial"/>
                <a:cs typeface="Arial"/>
                <a:sym typeface="Arial"/>
              </a:rPr>
              <a:t>Partial Derivatives</a:t>
            </a:r>
            <a:r>
              <a:rPr lang="en-US" sz="2300" dirty="0">
                <a:latin typeface="Atkinson Hyperlegible Next"/>
                <a:ea typeface="Arial"/>
                <a:cs typeface="Arial"/>
                <a:sym typeface="Arial"/>
              </a:rPr>
              <a:t>)</a:t>
            </a:r>
          </a:p>
        </p:txBody>
      </p:sp>
      <p:sp>
        <p:nvSpPr>
          <p:cNvPr id="119" name="Google Shape;119;p29">
            <a:extLst>
              <a:ext uri="{FF2B5EF4-FFF2-40B4-BE49-F238E27FC236}">
                <a16:creationId xmlns:a16="http://schemas.microsoft.com/office/drawing/2014/main" id="{5218F053-A21D-4AA6-2BC1-1781257ADA4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342EDF9-A4A3-AC28-2192-405182E0947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(5/22)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7A4465F-8453-09B1-218C-BCF177BD6F1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0E3A5A5-A07B-FC00-2CD2-D89328298B8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B3371D0-7852-4B82-8E11-7EC50EC69BC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4E49E93-B0D2-64F0-05C3-E4103D17BAC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1085FA8-4244-0613-5FE2-BEDF8AE0905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33759E8-AB16-2F0A-EEF9-30F0CD4754D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0221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D88CD6D-8985-1478-7682-504C48910E4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AA4B27A-CF27-AEBC-88EC-1E346D5232F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5C4132A-C3C3-F47F-2A59-8D00687F140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(6/22)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108F67A-5E7C-2B45-DBFA-637A6A6A6A9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7BC2084-ADBF-2762-9C1A-93B1F2393D6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295EC39-C777-775B-631C-3C9457C7278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2BC11E5-3370-D31E-5419-2906DDC270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6B0EF79-8CE2-E42C-CC3C-FE4858E232E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BC6B329-3604-0FE6-1DDA-CCD478883AB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Robot position uncertainty after a motion step, global X versus Y. From a start pose at the origin, a nominal update arrow points to about (3.5, 3.5). Thousands of Monte Carlo particles form a curved banana-shaped arc of radius about 5 around the start, running from (−5, 2) over the top to (5, −4). The EKF two-sigma ellipse, centered at the nominal point and tilted along the arc's tangent, covers only the middle of the arc. Its linearization misses the curvature and much of the true spread.">
            <a:extLst>
              <a:ext uri="{FF2B5EF4-FFF2-40B4-BE49-F238E27FC236}">
                <a16:creationId xmlns:a16="http://schemas.microsoft.com/office/drawing/2014/main" id="{0F746960-7837-7025-1E03-27CDC991D05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203137" y="868221"/>
            <a:ext cx="5785727" cy="5785727"/>
          </a:xfrm>
          <a:prstGeom prst="rect">
            <a:avLst/>
          </a:prstGeom>
        </p:spPr>
      </p:pic>
    </p:spTree>
    <p:extLst>
      <p:ext uri="{BB962C8B-B14F-4D97-AF65-F5344CB8AC3E}">
        <p14:creationId xmlns:p14="http://schemas.microsoft.com/office/powerpoint/2010/main" val="13908013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03927E3-3693-CE76-B3D0-A136D44717C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59AE72B-B252-1C42-369D-50717E706C9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To find that linear approximation, we take the derivative.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Because our state has multiple variables (</a:t>
                </a:r>
                <a14:m>
                  <m:oMath xmlns:m="http://schemas.openxmlformats.org/officeDocument/2006/math">
                    <m:r>
                      <a:rPr lang="en-US" sz="2000" i="1" dirty="0" smtClean="0">
                        <a:latin typeface="Cambria Math" panose="02040503050406030204" pitchFamily="18" charset="0"/>
                        <a:ea typeface="Arial"/>
                        <a:cs typeface="Arial"/>
                        <a:sym typeface="Arial"/>
                      </a:rPr>
                      <m:t>𝑋</m:t>
                    </m:r>
                    <m:r>
                      <a:rPr lang="en-US" sz="2000" i="1"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𝑌</m:t>
                    </m:r>
                    <m:r>
                      <a:rPr lang="en-US" sz="2000" i="1"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𝜃</m:t>
                    </m:r>
                  </m:oMath>
                </a14:m>
                <a:r>
                  <a:rPr lang="en-US" sz="2000" dirty="0">
                    <a:latin typeface="Atkinson Hyperlegible Next"/>
                    <a:ea typeface="Arial"/>
                    <a:cs typeface="Arial"/>
                    <a:sym typeface="Arial"/>
                  </a:rPr>
                  <a:t>), we must take the </a:t>
                </a:r>
                <a:r>
                  <a:rPr lang="en-US" sz="2000" b="1" dirty="0">
                    <a:latin typeface="Atkinson Hyperlegible Next"/>
                    <a:ea typeface="Arial"/>
                    <a:cs typeface="Arial"/>
                    <a:sym typeface="Arial"/>
                  </a:rPr>
                  <a:t>Partial Derivative </a:t>
                </a:r>
                <a:r>
                  <a:rPr lang="en-US" sz="2000" dirty="0">
                    <a:latin typeface="Atkinson Hyperlegible Next"/>
                    <a:ea typeface="Arial"/>
                    <a:cs typeface="Arial"/>
                    <a:sym typeface="Arial"/>
                  </a:rPr>
                  <a:t>of every output equation with respect to every input state variable.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arrange these partial derivatives into a grid called the </a:t>
                </a:r>
                <a:r>
                  <a:rPr lang="en-US" sz="2000" b="1" dirty="0">
                    <a:latin typeface="Atkinson Hyperlegible Next"/>
                    <a:ea typeface="Arial"/>
                    <a:cs typeface="Arial"/>
                    <a:sym typeface="Arial"/>
                  </a:rPr>
                  <a:t>Jacobian Matrix</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ea typeface="Arial"/>
                          <a:cs typeface="Arial"/>
                          <a:sym typeface="Arial"/>
                        </a:rPr>
                        <m:t>𝐹</m:t>
                      </m:r>
                      <m:r>
                        <a:rPr lang="en-US" sz="2000" i="1" dirty="0" smtClean="0">
                          <a:latin typeface="Cambria Math" panose="02040503050406030204" pitchFamily="18" charset="0"/>
                          <a:ea typeface="Arial"/>
                          <a:cs typeface="Arial"/>
                          <a:sym typeface="Arial"/>
                        </a:rPr>
                        <m:t> = </m:t>
                      </m:r>
                      <m:d>
                        <m:dPr>
                          <m:begChr m:val="["/>
                          <m:endChr m:val="]"/>
                          <m:ctrlPr>
                            <a:rPr lang="en-US" sz="2000" i="1" dirty="0" smtClean="0">
                              <a:latin typeface="Cambria Math" panose="02040503050406030204" pitchFamily="18" charset="0"/>
                              <a:ea typeface="Arial"/>
                              <a:cs typeface="Arial"/>
                              <a:sym typeface="Arial"/>
                            </a:rPr>
                          </m:ctrlPr>
                        </m:dPr>
                        <m:e>
                          <m:m>
                            <m:mPr>
                              <m:plcHide m:val="on"/>
                              <m:mcs>
                                <m:mc>
                                  <m:mcPr>
                                    <m:count m:val="3"/>
                                    <m:mcJc m:val="center"/>
                                  </m:mcPr>
                                </m:mc>
                              </m:mcs>
                              <m:ctrlPr>
                                <a:rPr lang="en-US" sz="2000" i="1" dirty="0" smtClean="0">
                                  <a:latin typeface="Cambria Math" panose="02040503050406030204" pitchFamily="18" charset="0"/>
                                  <a:ea typeface="Arial"/>
                                  <a:cs typeface="Arial"/>
                                  <a:sym typeface="Arial"/>
                                </a:rPr>
                              </m:ctrlPr>
                            </m:mPr>
                            <m:mr>
                              <m:e>
                                <m:f>
                                  <m:fPr>
                                    <m:ctrlPr>
                                      <a:rPr lang="en-US" sz="2000" i="1" dirty="0" smtClean="0">
                                        <a:latin typeface="Cambria Math" panose="02040503050406030204" pitchFamily="18" charset="0"/>
                                        <a:ea typeface="Arial"/>
                                        <a:cs typeface="Arial"/>
                                        <a:sym typeface="Arial"/>
                                      </a:rPr>
                                    </m:ctrlPr>
                                  </m:fPr>
                                  <m:num>
                                    <m:r>
                                      <a:rPr lang="en-US" sz="2000" i="1" dirty="0">
                                        <a:latin typeface="Cambria Math" panose="02040503050406030204" pitchFamily="18" charset="0"/>
                                        <a:cs typeface="Arial"/>
                                        <a:sym typeface="Arial"/>
                                      </a:rPr>
                                      <m:t>𝜕</m:t>
                                    </m:r>
                                    <m:sSub>
                                      <m:sSubPr>
                                        <m:ctrlPr>
                                          <a:rPr lang="en-US" sz="2000" i="1" dirty="0">
                                            <a:latin typeface="Cambria Math" panose="02040503050406030204" pitchFamily="18" charset="0"/>
                                            <a:cs typeface="Arial"/>
                                            <a:sym typeface="Arial"/>
                                          </a:rPr>
                                        </m:ctrlPr>
                                      </m:sSubPr>
                                      <m:e>
                                        <m:r>
                                          <a:rPr lang="en-US" sz="2000" i="1" dirty="0">
                                            <a:latin typeface="Cambria Math" panose="02040503050406030204" pitchFamily="18" charset="0"/>
                                            <a:cs typeface="Arial"/>
                                            <a:sym typeface="Arial"/>
                                          </a:rPr>
                                          <m:t>𝑓</m:t>
                                        </m:r>
                                      </m:e>
                                      <m:sub>
                                        <m:r>
                                          <a:rPr lang="en-US" sz="2000" i="1" dirty="0">
                                            <a:latin typeface="Cambria Math" panose="02040503050406030204" pitchFamily="18" charset="0"/>
                                            <a:cs typeface="Arial"/>
                                            <a:sym typeface="Arial"/>
                                          </a:rPr>
                                          <m:t>1</m:t>
                                        </m:r>
                                      </m:sub>
                                    </m:sSub>
                                  </m:num>
                                  <m:den>
                                    <m:r>
                                      <a:rPr lang="en-US" sz="2000" i="1" dirty="0">
                                        <a:latin typeface="Cambria Math" panose="02040503050406030204" pitchFamily="18" charset="0"/>
                                        <a:cs typeface="Arial"/>
                                        <a:sym typeface="Arial"/>
                                      </a:rPr>
                                      <m:t>𝜕</m:t>
                                    </m:r>
                                    <m:r>
                                      <a:rPr lang="en-US" sz="2000" i="1" dirty="0">
                                        <a:latin typeface="Cambria Math" panose="02040503050406030204" pitchFamily="18" charset="0"/>
                                        <a:cs typeface="Arial"/>
                                        <a:sym typeface="Arial"/>
                                      </a:rPr>
                                      <m:t>𝑋</m:t>
                                    </m:r>
                                  </m:den>
                                </m:f>
                              </m:e>
                              <m:e>
                                <m:f>
                                  <m:fPr>
                                    <m:ctrlPr>
                                      <a:rPr lang="en-US" sz="2000" b="0" i="1" dirty="0" smtClean="0">
                                        <a:latin typeface="Cambria Math" panose="02040503050406030204" pitchFamily="18" charset="0"/>
                                        <a:cs typeface="Arial"/>
                                        <a:sym typeface="Arial"/>
                                      </a:rPr>
                                    </m:ctrlPr>
                                  </m:fPr>
                                  <m:num>
                                    <m:r>
                                      <a:rPr lang="en-US" sz="2000" b="0" i="1" dirty="0" smtClean="0">
                                        <a:latin typeface="Cambria Math" panose="02040503050406030204" pitchFamily="18" charset="0"/>
                                        <a:cs typeface="Arial"/>
                                        <a:sym typeface="Arial"/>
                                      </a:rPr>
                                      <m:t>𝜕</m:t>
                                    </m:r>
                                    <m:sSub>
                                      <m:sSubPr>
                                        <m:ctrlPr>
                                          <a:rPr lang="en-US" sz="2000" b="0" i="1" dirty="0" smtClean="0">
                                            <a:latin typeface="Cambria Math" panose="02040503050406030204" pitchFamily="18" charset="0"/>
                                            <a:cs typeface="Arial"/>
                                            <a:sym typeface="Arial"/>
                                          </a:rPr>
                                        </m:ctrlPr>
                                      </m:sSubPr>
                                      <m:e>
                                        <m:r>
                                          <a:rPr lang="en-US" sz="2000" b="0" i="1" dirty="0" smtClean="0">
                                            <a:latin typeface="Cambria Math" panose="02040503050406030204" pitchFamily="18" charset="0"/>
                                            <a:cs typeface="Arial"/>
                                            <a:sym typeface="Arial"/>
                                          </a:rPr>
                                          <m:t>𝑓</m:t>
                                        </m:r>
                                      </m:e>
                                      <m:sub>
                                        <m:r>
                                          <a:rPr lang="en-US" sz="2000" b="0" i="1" dirty="0" smtClean="0">
                                            <a:latin typeface="Cambria Math" panose="02040503050406030204" pitchFamily="18" charset="0"/>
                                            <a:cs typeface="Arial"/>
                                            <a:sym typeface="Arial"/>
                                          </a:rPr>
                                          <m:t>1</m:t>
                                        </m:r>
                                      </m:sub>
                                    </m:sSub>
                                  </m:num>
                                  <m:den>
                                    <m:r>
                                      <a:rPr lang="en-US" sz="2000" b="0" i="1" dirty="0" smtClean="0">
                                        <a:latin typeface="Cambria Math" panose="02040503050406030204" pitchFamily="18" charset="0"/>
                                        <a:cs typeface="Arial"/>
                                        <a:sym typeface="Arial"/>
                                      </a:rPr>
                                      <m:t>𝜕</m:t>
                                    </m:r>
                                    <m:r>
                                      <a:rPr lang="en-US" sz="2000" b="0" i="1" dirty="0" smtClean="0">
                                        <a:latin typeface="Cambria Math" panose="02040503050406030204" pitchFamily="18" charset="0"/>
                                        <a:cs typeface="Arial"/>
                                        <a:sym typeface="Arial"/>
                                      </a:rPr>
                                      <m:t>𝑌</m:t>
                                    </m:r>
                                  </m:den>
                                </m:f>
                              </m:e>
                              <m:e>
                                <m:f>
                                  <m:fPr>
                                    <m:ctrlPr>
                                      <a:rPr lang="en-US" sz="2000" b="0" i="1" dirty="0" smtClean="0">
                                        <a:latin typeface="Cambria Math" panose="02040503050406030204" pitchFamily="18" charset="0"/>
                                        <a:cs typeface="Arial"/>
                                        <a:sym typeface="Arial"/>
                                      </a:rPr>
                                    </m:ctrlPr>
                                  </m:fPr>
                                  <m:num>
                                    <m:r>
                                      <a:rPr lang="en-US" sz="2000" b="0" i="1" dirty="0" smtClean="0">
                                        <a:latin typeface="Cambria Math" panose="02040503050406030204" pitchFamily="18" charset="0"/>
                                        <a:cs typeface="Arial"/>
                                        <a:sym typeface="Arial"/>
                                      </a:rPr>
                                      <m:t>𝜕</m:t>
                                    </m:r>
                                    <m:sSub>
                                      <m:sSubPr>
                                        <m:ctrlPr>
                                          <a:rPr lang="en-US" sz="2000" b="0" i="1" dirty="0" smtClean="0">
                                            <a:latin typeface="Cambria Math" panose="02040503050406030204" pitchFamily="18" charset="0"/>
                                            <a:cs typeface="Arial"/>
                                            <a:sym typeface="Arial"/>
                                          </a:rPr>
                                        </m:ctrlPr>
                                      </m:sSubPr>
                                      <m:e>
                                        <m:r>
                                          <a:rPr lang="en-US" sz="2000" b="0" i="1" dirty="0" smtClean="0">
                                            <a:latin typeface="Cambria Math" panose="02040503050406030204" pitchFamily="18" charset="0"/>
                                            <a:cs typeface="Arial"/>
                                            <a:sym typeface="Arial"/>
                                          </a:rPr>
                                          <m:t>𝑓</m:t>
                                        </m:r>
                                      </m:e>
                                      <m:sub>
                                        <m:r>
                                          <a:rPr lang="en-US" sz="2000" b="0" i="1" dirty="0" smtClean="0">
                                            <a:latin typeface="Cambria Math" panose="02040503050406030204" pitchFamily="18" charset="0"/>
                                            <a:cs typeface="Arial"/>
                                            <a:sym typeface="Arial"/>
                                          </a:rPr>
                                          <m:t>1</m:t>
                                        </m:r>
                                      </m:sub>
                                    </m:sSub>
                                  </m:num>
                                  <m:den>
                                    <m:r>
                                      <a:rPr lang="en-US" sz="2000" b="0" i="1" dirty="0" smtClean="0">
                                        <a:latin typeface="Cambria Math" panose="02040503050406030204" pitchFamily="18" charset="0"/>
                                        <a:cs typeface="Arial"/>
                                        <a:sym typeface="Arial"/>
                                      </a:rPr>
                                      <m:t>𝜕𝜃</m:t>
                                    </m:r>
                                  </m:den>
                                </m:f>
                              </m:e>
                            </m:mr>
                            <m:mr>
                              <m:e>
                                <m:f>
                                  <m:fPr>
                                    <m:ctrlPr>
                                      <a:rPr lang="en-US" sz="2000" b="0" i="1" dirty="0" smtClean="0">
                                        <a:latin typeface="Cambria Math" panose="02040503050406030204" pitchFamily="18" charset="0"/>
                                        <a:cs typeface="Arial"/>
                                        <a:sym typeface="Arial"/>
                                      </a:rPr>
                                    </m:ctrlPr>
                                  </m:fPr>
                                  <m:num>
                                    <m:r>
                                      <a:rPr lang="en-US" sz="2000" b="0" i="1" dirty="0" smtClean="0">
                                        <a:latin typeface="Cambria Math" panose="02040503050406030204" pitchFamily="18" charset="0"/>
                                        <a:cs typeface="Arial"/>
                                        <a:sym typeface="Arial"/>
                                      </a:rPr>
                                      <m:t>𝜕</m:t>
                                    </m:r>
                                    <m:sSub>
                                      <m:sSubPr>
                                        <m:ctrlPr>
                                          <a:rPr lang="en-US" sz="2000" b="0" i="1" dirty="0" smtClean="0">
                                            <a:latin typeface="Cambria Math" panose="02040503050406030204" pitchFamily="18" charset="0"/>
                                            <a:cs typeface="Arial"/>
                                            <a:sym typeface="Arial"/>
                                          </a:rPr>
                                        </m:ctrlPr>
                                      </m:sSubPr>
                                      <m:e>
                                        <m:r>
                                          <a:rPr lang="en-US" sz="2000" b="0" i="1" dirty="0" smtClean="0">
                                            <a:latin typeface="Cambria Math" panose="02040503050406030204" pitchFamily="18" charset="0"/>
                                            <a:cs typeface="Arial"/>
                                            <a:sym typeface="Arial"/>
                                          </a:rPr>
                                          <m:t>𝑓</m:t>
                                        </m:r>
                                      </m:e>
                                      <m:sub>
                                        <m:r>
                                          <a:rPr lang="en-US" sz="2000" b="0" i="1" dirty="0" smtClean="0">
                                            <a:latin typeface="Cambria Math" panose="02040503050406030204" pitchFamily="18" charset="0"/>
                                            <a:cs typeface="Arial"/>
                                            <a:sym typeface="Arial"/>
                                          </a:rPr>
                                          <m:t>2</m:t>
                                        </m:r>
                                      </m:sub>
                                    </m:sSub>
                                  </m:num>
                                  <m:den>
                                    <m:r>
                                      <a:rPr lang="en-US" sz="2000" b="0" i="1" dirty="0" smtClean="0">
                                        <a:latin typeface="Cambria Math" panose="02040503050406030204" pitchFamily="18" charset="0"/>
                                        <a:cs typeface="Arial"/>
                                        <a:sym typeface="Arial"/>
                                      </a:rPr>
                                      <m:t>𝜕</m:t>
                                    </m:r>
                                    <m:r>
                                      <a:rPr lang="en-US" sz="2000" b="0" i="1" dirty="0" smtClean="0">
                                        <a:latin typeface="Cambria Math" panose="02040503050406030204" pitchFamily="18" charset="0"/>
                                        <a:cs typeface="Arial"/>
                                        <a:sym typeface="Arial"/>
                                      </a:rPr>
                                      <m:t>𝑋</m:t>
                                    </m:r>
                                  </m:den>
                                </m:f>
                              </m:e>
                              <m:e>
                                <m:f>
                                  <m:fPr>
                                    <m:ctrlPr>
                                      <a:rPr lang="en-US" sz="2000" b="0" i="1" dirty="0" smtClean="0">
                                        <a:latin typeface="Cambria Math" panose="02040503050406030204" pitchFamily="18" charset="0"/>
                                        <a:cs typeface="Arial"/>
                                        <a:sym typeface="Arial"/>
                                      </a:rPr>
                                    </m:ctrlPr>
                                  </m:fPr>
                                  <m:num>
                                    <m:r>
                                      <a:rPr lang="en-US" sz="2000" b="0" i="1" dirty="0" smtClean="0">
                                        <a:latin typeface="Cambria Math" panose="02040503050406030204" pitchFamily="18" charset="0"/>
                                        <a:cs typeface="Arial"/>
                                        <a:sym typeface="Arial"/>
                                      </a:rPr>
                                      <m:t>𝜕</m:t>
                                    </m:r>
                                    <m:sSub>
                                      <m:sSubPr>
                                        <m:ctrlPr>
                                          <a:rPr lang="en-US" sz="2000" b="0" i="1" dirty="0" smtClean="0">
                                            <a:latin typeface="Cambria Math" panose="02040503050406030204" pitchFamily="18" charset="0"/>
                                            <a:cs typeface="Arial"/>
                                            <a:sym typeface="Arial"/>
                                          </a:rPr>
                                        </m:ctrlPr>
                                      </m:sSubPr>
                                      <m:e>
                                        <m:r>
                                          <a:rPr lang="en-US" sz="2000" b="0" i="1" dirty="0" smtClean="0">
                                            <a:latin typeface="Cambria Math" panose="02040503050406030204" pitchFamily="18" charset="0"/>
                                            <a:cs typeface="Arial"/>
                                            <a:sym typeface="Arial"/>
                                          </a:rPr>
                                          <m:t>𝑓</m:t>
                                        </m:r>
                                      </m:e>
                                      <m:sub>
                                        <m:r>
                                          <a:rPr lang="en-US" sz="2000" b="0" i="1" dirty="0" smtClean="0">
                                            <a:latin typeface="Cambria Math" panose="02040503050406030204" pitchFamily="18" charset="0"/>
                                            <a:cs typeface="Arial"/>
                                            <a:sym typeface="Arial"/>
                                          </a:rPr>
                                          <m:t>2</m:t>
                                        </m:r>
                                      </m:sub>
                                    </m:sSub>
                                  </m:num>
                                  <m:den>
                                    <m:r>
                                      <a:rPr lang="en-US" sz="2000" b="0" i="1" dirty="0" smtClean="0">
                                        <a:latin typeface="Cambria Math" panose="02040503050406030204" pitchFamily="18" charset="0"/>
                                        <a:cs typeface="Arial"/>
                                        <a:sym typeface="Arial"/>
                                      </a:rPr>
                                      <m:t>𝜕</m:t>
                                    </m:r>
                                    <m:r>
                                      <a:rPr lang="en-US" sz="2000" b="0" i="1" dirty="0" smtClean="0">
                                        <a:latin typeface="Cambria Math" panose="02040503050406030204" pitchFamily="18" charset="0"/>
                                        <a:cs typeface="Arial"/>
                                        <a:sym typeface="Arial"/>
                                      </a:rPr>
                                      <m:t>𝑌</m:t>
                                    </m:r>
                                  </m:den>
                                </m:f>
                              </m:e>
                              <m:e>
                                <m:f>
                                  <m:fPr>
                                    <m:ctrlPr>
                                      <a:rPr lang="en-US" sz="2000" b="0" i="1" dirty="0" smtClean="0">
                                        <a:latin typeface="Cambria Math" panose="02040503050406030204" pitchFamily="18" charset="0"/>
                                        <a:cs typeface="Arial"/>
                                        <a:sym typeface="Arial"/>
                                      </a:rPr>
                                    </m:ctrlPr>
                                  </m:fPr>
                                  <m:num>
                                    <m:r>
                                      <a:rPr lang="en-US" sz="2000" b="0" i="1" dirty="0" smtClean="0">
                                        <a:latin typeface="Cambria Math" panose="02040503050406030204" pitchFamily="18" charset="0"/>
                                        <a:cs typeface="Arial"/>
                                        <a:sym typeface="Arial"/>
                                      </a:rPr>
                                      <m:t>𝜕</m:t>
                                    </m:r>
                                    <m:sSub>
                                      <m:sSubPr>
                                        <m:ctrlPr>
                                          <a:rPr lang="en-US" sz="2000" b="0" i="1" dirty="0" smtClean="0">
                                            <a:latin typeface="Cambria Math" panose="02040503050406030204" pitchFamily="18" charset="0"/>
                                            <a:cs typeface="Arial"/>
                                            <a:sym typeface="Arial"/>
                                          </a:rPr>
                                        </m:ctrlPr>
                                      </m:sSubPr>
                                      <m:e>
                                        <m:r>
                                          <a:rPr lang="en-US" sz="2000" b="0" i="1" dirty="0" smtClean="0">
                                            <a:latin typeface="Cambria Math" panose="02040503050406030204" pitchFamily="18" charset="0"/>
                                            <a:cs typeface="Arial"/>
                                            <a:sym typeface="Arial"/>
                                          </a:rPr>
                                          <m:t>𝑓</m:t>
                                        </m:r>
                                      </m:e>
                                      <m:sub>
                                        <m:r>
                                          <a:rPr lang="en-US" sz="2000" b="0" i="1" dirty="0" smtClean="0">
                                            <a:latin typeface="Cambria Math" panose="02040503050406030204" pitchFamily="18" charset="0"/>
                                            <a:cs typeface="Arial"/>
                                            <a:sym typeface="Arial"/>
                                          </a:rPr>
                                          <m:t>2</m:t>
                                        </m:r>
                                      </m:sub>
                                    </m:sSub>
                                  </m:num>
                                  <m:den>
                                    <m:r>
                                      <a:rPr lang="en-US" sz="2000" b="0" i="1" dirty="0" smtClean="0">
                                        <a:latin typeface="Cambria Math" panose="02040503050406030204" pitchFamily="18" charset="0"/>
                                        <a:cs typeface="Arial"/>
                                        <a:sym typeface="Arial"/>
                                      </a:rPr>
                                      <m:t>𝜕𝜃</m:t>
                                    </m:r>
                                  </m:den>
                                </m:f>
                              </m:e>
                            </m:mr>
                            <m:mr>
                              <m:e>
                                <m:f>
                                  <m:fPr>
                                    <m:ctrlPr>
                                      <a:rPr lang="en-US" sz="2000" b="0" i="1" dirty="0" smtClean="0">
                                        <a:latin typeface="Cambria Math" panose="02040503050406030204" pitchFamily="18" charset="0"/>
                                        <a:cs typeface="Arial"/>
                                        <a:sym typeface="Arial"/>
                                      </a:rPr>
                                    </m:ctrlPr>
                                  </m:fPr>
                                  <m:num>
                                    <m:r>
                                      <a:rPr lang="en-US" sz="2000" b="0" i="1" dirty="0" smtClean="0">
                                        <a:latin typeface="Cambria Math" panose="02040503050406030204" pitchFamily="18" charset="0"/>
                                        <a:cs typeface="Arial"/>
                                        <a:sym typeface="Arial"/>
                                      </a:rPr>
                                      <m:t>𝜕</m:t>
                                    </m:r>
                                    <m:r>
                                      <a:rPr lang="en-US" sz="2000" b="0" i="1" dirty="0" smtClean="0">
                                        <a:latin typeface="Cambria Math" panose="02040503050406030204" pitchFamily="18" charset="0"/>
                                        <a:cs typeface="Arial"/>
                                        <a:sym typeface="Arial"/>
                                      </a:rPr>
                                      <m:t>3</m:t>
                                    </m:r>
                                  </m:num>
                                  <m:den>
                                    <m:r>
                                      <a:rPr lang="en-US" sz="2000" b="0" i="1" dirty="0" smtClean="0">
                                        <a:latin typeface="Cambria Math" panose="02040503050406030204" pitchFamily="18" charset="0"/>
                                        <a:cs typeface="Arial"/>
                                        <a:sym typeface="Arial"/>
                                      </a:rPr>
                                      <m:t>𝜕</m:t>
                                    </m:r>
                                    <m:r>
                                      <a:rPr lang="en-US" sz="2000" b="0" i="1" dirty="0" smtClean="0">
                                        <a:latin typeface="Cambria Math" panose="02040503050406030204" pitchFamily="18" charset="0"/>
                                        <a:cs typeface="Arial"/>
                                        <a:sym typeface="Arial"/>
                                      </a:rPr>
                                      <m:t>𝑋</m:t>
                                    </m:r>
                                  </m:den>
                                </m:f>
                              </m:e>
                              <m:e>
                                <m:f>
                                  <m:fPr>
                                    <m:ctrlPr>
                                      <a:rPr lang="en-US" sz="2000" b="0" i="1" dirty="0" smtClean="0">
                                        <a:latin typeface="Cambria Math" panose="02040503050406030204" pitchFamily="18" charset="0"/>
                                        <a:cs typeface="Arial"/>
                                        <a:sym typeface="Arial"/>
                                      </a:rPr>
                                    </m:ctrlPr>
                                  </m:fPr>
                                  <m:num>
                                    <m:r>
                                      <a:rPr lang="en-US" sz="2000" b="0" i="1" dirty="0" smtClean="0">
                                        <a:latin typeface="Cambria Math" panose="02040503050406030204" pitchFamily="18" charset="0"/>
                                        <a:cs typeface="Arial"/>
                                        <a:sym typeface="Arial"/>
                                      </a:rPr>
                                      <m:t>𝜕</m:t>
                                    </m:r>
                                    <m:sSub>
                                      <m:sSubPr>
                                        <m:ctrlPr>
                                          <a:rPr lang="en-US" sz="2000" b="0" i="1" dirty="0" smtClean="0">
                                            <a:latin typeface="Cambria Math" panose="02040503050406030204" pitchFamily="18" charset="0"/>
                                            <a:cs typeface="Arial"/>
                                            <a:sym typeface="Arial"/>
                                          </a:rPr>
                                        </m:ctrlPr>
                                      </m:sSubPr>
                                      <m:e>
                                        <m:r>
                                          <a:rPr lang="en-US" sz="2000" b="0" i="1" dirty="0" smtClean="0">
                                            <a:latin typeface="Cambria Math" panose="02040503050406030204" pitchFamily="18" charset="0"/>
                                            <a:cs typeface="Arial"/>
                                            <a:sym typeface="Arial"/>
                                          </a:rPr>
                                          <m:t>𝑓</m:t>
                                        </m:r>
                                      </m:e>
                                      <m:sub>
                                        <m:r>
                                          <a:rPr lang="en-US" sz="2000" b="0" i="1" dirty="0" smtClean="0">
                                            <a:latin typeface="Cambria Math" panose="02040503050406030204" pitchFamily="18" charset="0"/>
                                            <a:cs typeface="Arial"/>
                                            <a:sym typeface="Arial"/>
                                          </a:rPr>
                                          <m:t>3</m:t>
                                        </m:r>
                                      </m:sub>
                                    </m:sSub>
                                  </m:num>
                                  <m:den>
                                    <m:r>
                                      <a:rPr lang="en-US" sz="2000" b="0" i="1" dirty="0" smtClean="0">
                                        <a:latin typeface="Cambria Math" panose="02040503050406030204" pitchFamily="18" charset="0"/>
                                        <a:cs typeface="Arial"/>
                                        <a:sym typeface="Arial"/>
                                      </a:rPr>
                                      <m:t>𝜕</m:t>
                                    </m:r>
                                    <m:r>
                                      <a:rPr lang="en-US" sz="2000" b="0" i="1" dirty="0" smtClean="0">
                                        <a:latin typeface="Cambria Math" panose="02040503050406030204" pitchFamily="18" charset="0"/>
                                        <a:cs typeface="Arial"/>
                                        <a:sym typeface="Arial"/>
                                      </a:rPr>
                                      <m:t>𝑌</m:t>
                                    </m:r>
                                  </m:den>
                                </m:f>
                              </m:e>
                              <m:e>
                                <m:f>
                                  <m:fPr>
                                    <m:ctrlPr>
                                      <a:rPr lang="en-US" sz="2000" b="0" i="1" dirty="0" smtClean="0">
                                        <a:latin typeface="Cambria Math" panose="02040503050406030204" pitchFamily="18" charset="0"/>
                                        <a:cs typeface="Arial"/>
                                        <a:sym typeface="Arial"/>
                                      </a:rPr>
                                    </m:ctrlPr>
                                  </m:fPr>
                                  <m:num>
                                    <m:r>
                                      <a:rPr lang="en-US" sz="2000" b="0" i="1" dirty="0" smtClean="0">
                                        <a:latin typeface="Cambria Math" panose="02040503050406030204" pitchFamily="18" charset="0"/>
                                        <a:cs typeface="Arial"/>
                                        <a:sym typeface="Arial"/>
                                      </a:rPr>
                                      <m:t>𝜕</m:t>
                                    </m:r>
                                    <m:sSub>
                                      <m:sSubPr>
                                        <m:ctrlPr>
                                          <a:rPr lang="en-US" sz="2000" b="0" i="1" dirty="0" smtClean="0">
                                            <a:latin typeface="Cambria Math" panose="02040503050406030204" pitchFamily="18" charset="0"/>
                                            <a:cs typeface="Arial"/>
                                            <a:sym typeface="Arial"/>
                                          </a:rPr>
                                        </m:ctrlPr>
                                      </m:sSubPr>
                                      <m:e>
                                        <m:r>
                                          <a:rPr lang="en-US" sz="2000" b="0" i="1" dirty="0" smtClean="0">
                                            <a:latin typeface="Cambria Math" panose="02040503050406030204" pitchFamily="18" charset="0"/>
                                            <a:cs typeface="Arial"/>
                                            <a:sym typeface="Arial"/>
                                          </a:rPr>
                                          <m:t>𝑓</m:t>
                                        </m:r>
                                      </m:e>
                                      <m:sub>
                                        <m:r>
                                          <a:rPr lang="en-US" sz="2000" b="0" i="1" dirty="0" smtClean="0">
                                            <a:latin typeface="Cambria Math" panose="02040503050406030204" pitchFamily="18" charset="0"/>
                                            <a:cs typeface="Arial"/>
                                            <a:sym typeface="Arial"/>
                                          </a:rPr>
                                          <m:t>3</m:t>
                                        </m:r>
                                      </m:sub>
                                    </m:sSub>
                                  </m:num>
                                  <m:den>
                                    <m:r>
                                      <a:rPr lang="en-US" sz="2000" b="0" i="1" dirty="0" smtClean="0">
                                        <a:latin typeface="Cambria Math" panose="02040503050406030204" pitchFamily="18" charset="0"/>
                                        <a:cs typeface="Arial"/>
                                        <a:sym typeface="Arial"/>
                                      </a:rPr>
                                      <m:t>𝜕𝜃</m:t>
                                    </m:r>
                                  </m:den>
                                </m:f>
                              </m:e>
                            </m:mr>
                          </m:m>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In the EKF, the dynamic Jacobian matrix replaces the static linear </a:t>
                </a:r>
                <a14:m>
                  <m:oMath xmlns:m="http://schemas.openxmlformats.org/officeDocument/2006/math">
                    <m:r>
                      <a:rPr lang="en-US" sz="2000" i="1" dirty="0" smtClean="0">
                        <a:latin typeface="Cambria Math" panose="02040503050406030204" pitchFamily="18" charset="0"/>
                        <a:ea typeface="Arial"/>
                        <a:cs typeface="Arial"/>
                        <a:sym typeface="Arial"/>
                      </a:rPr>
                      <m:t>𝐹</m:t>
                    </m:r>
                  </m:oMath>
                </a14:m>
                <a:r>
                  <a:rPr lang="en-US" sz="2000" dirty="0">
                    <a:latin typeface="Atkinson Hyperlegible Next"/>
                    <a:ea typeface="Arial"/>
                    <a:cs typeface="Arial"/>
                    <a:sym typeface="Arial"/>
                  </a:rPr>
                  <a:t> matrix.</a:t>
                </a:r>
              </a:p>
            </p:txBody>
          </p:sp>
        </mc:Choice>
        <mc:Fallback xmlns="">
          <p:sp>
            <p:nvSpPr>
              <p:cNvPr id="118" name="Google Shape;118;p29">
                <a:extLst>
                  <a:ext uri="{FF2B5EF4-FFF2-40B4-BE49-F238E27FC236}">
                    <a16:creationId xmlns:a16="http://schemas.microsoft.com/office/drawing/2014/main" id="{459AE72B-B252-1C42-369D-50717E706C9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28E8599-A1DE-967D-352D-2F93F965696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9CADB72-FB4E-7B00-3F3A-99467A812D6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(7/22)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03E16C2-8675-AE5C-3A0D-F2FFC3CF3C0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04D8740-1FFD-F89A-4C54-B089BD71F29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2F6A285-E76B-234D-04E7-D8DEA8D3416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DD8ABDD-F506-0C99-EB5E-DF32D3A6C70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584EF2F-BD45-549A-5ACA-EFC0E09E6DF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7EE84A-6832-4230-3504-1C35FAA41BD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2720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B5BB04A-308D-31C8-2BA7-DE3328369A4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C3089F5-0F7E-1951-D1C6-D98116107A2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Let's calculate the partial derivatives for our </a:t>
                </a:r>
                <a14:m>
                  <m:oMath xmlns:m="http://schemas.openxmlformats.org/officeDocument/2006/math">
                    <m:r>
                      <a:rPr lang="en-US" sz="2000" i="1" dirty="0" smtClean="0">
                        <a:latin typeface="Cambria Math" panose="02040503050406030204" pitchFamily="18" charset="0"/>
                        <a:ea typeface="Arial"/>
                        <a:cs typeface="Arial"/>
                        <a:sym typeface="Arial"/>
                      </a:rPr>
                      <m:t>𝑋</m:t>
                    </m:r>
                  </m:oMath>
                </a14:m>
                <a:r>
                  <a:rPr lang="en-US" sz="2000" dirty="0">
                    <a:latin typeface="Atkinson Hyperlegible Next"/>
                    <a:ea typeface="Arial"/>
                    <a:cs typeface="Arial"/>
                    <a:sym typeface="Arial"/>
                  </a:rPr>
                  <a:t> position equation: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𝑓</m:t>
                        </m:r>
                      </m:e>
                      <m:sub>
                        <m:r>
                          <a:rPr lang="en-US" sz="2000" i="1" dirty="0" smtClean="0">
                            <a:latin typeface="Cambria Math" panose="02040503050406030204" pitchFamily="18" charset="0"/>
                            <a:ea typeface="Arial"/>
                            <a:cs typeface="Arial"/>
                            <a:sym typeface="Arial"/>
                          </a:rPr>
                          <m:t>1</m:t>
                        </m:r>
                      </m:sub>
                    </m:sSub>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𝑋</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𝑣</m:t>
                    </m:r>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cos</m:t>
                        </m:r>
                      </m:fName>
                      <m:e>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𝜃</m:t>
                            </m:r>
                          </m:e>
                        </m:d>
                      </m:e>
                    </m:func>
                    <m:r>
                      <a:rPr lang="en-US" sz="2000" i="1" dirty="0" smtClean="0">
                        <a:latin typeface="Cambria Math" panose="02040503050406030204" pitchFamily="18" charset="0"/>
                        <a:ea typeface="Arial"/>
                        <a:cs typeface="Arial"/>
                        <a:sym typeface="Arial"/>
                      </a:rPr>
                      <m:t>𝑑𝑡</m:t>
                    </m:r>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With respect to </a:t>
                </a:r>
                <a14:m>
                  <m:oMath xmlns:m="http://schemas.openxmlformats.org/officeDocument/2006/math">
                    <m:r>
                      <a:rPr lang="en-US" sz="2000" i="1" dirty="0" smtClean="0">
                        <a:latin typeface="Cambria Math" panose="02040503050406030204" pitchFamily="18" charset="0"/>
                        <a:ea typeface="Arial"/>
                        <a:cs typeface="Arial"/>
                        <a:sym typeface="Arial"/>
                      </a:rPr>
                      <m:t>𝑋</m:t>
                    </m:r>
                  </m:oMath>
                </a14:m>
                <a:r>
                  <a:rPr lang="en-US" sz="2000" dirty="0">
                    <a:latin typeface="Atkinson Hyperlegible Next"/>
                    <a:ea typeface="Arial"/>
                    <a:cs typeface="Arial"/>
                    <a:sym typeface="Arial"/>
                  </a:rPr>
                  <a:t>: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𝑓</m:t>
                              </m:r>
                            </m:e>
                            <m:sub>
                              <m:r>
                                <a:rPr lang="en-US" sz="2000" i="1" dirty="0" smtClean="0">
                                  <a:latin typeface="Cambria Math" panose="02040503050406030204" pitchFamily="18" charset="0"/>
                                  <a:ea typeface="Arial"/>
                                  <a:cs typeface="Arial"/>
                                  <a:sym typeface="Arial"/>
                                </a:rPr>
                                <m:t>1</m:t>
                              </m:r>
                            </m:sub>
                          </m:sSub>
                        </m:num>
                        <m:den>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𝑋</m:t>
                          </m:r>
                        </m:den>
                      </m:f>
                      <m:r>
                        <a:rPr lang="en-US" sz="2000" i="1" dirty="0" smtClean="0">
                          <a:latin typeface="Cambria Math" panose="02040503050406030204" pitchFamily="18" charset="0"/>
                          <a:ea typeface="Arial"/>
                          <a:cs typeface="Arial"/>
                          <a:sym typeface="Arial"/>
                        </a:rPr>
                        <m:t>=1</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With respect to </a:t>
                </a:r>
                <a14:m>
                  <m:oMath xmlns:m="http://schemas.openxmlformats.org/officeDocument/2006/math">
                    <m:r>
                      <m:rPr>
                        <m:sty m:val="p"/>
                      </m:rPr>
                      <a:rPr lang="en-US" sz="2000" b="0" i="1" smtClean="0">
                        <a:latin typeface="Cambria Math" panose="02040503050406030204" pitchFamily="18" charset="0"/>
                        <a:ea typeface="Arial"/>
                        <a:cs typeface="Arial"/>
                        <a:sym typeface="Arial"/>
                      </a:rPr>
                      <m:t>Y</m:t>
                    </m:r>
                  </m:oMath>
                </a14:m>
                <a:r>
                  <a:rPr lang="en-US" sz="2000" dirty="0">
                    <a:latin typeface="Atkinson Hyperlegible Next"/>
                    <a:ea typeface="Arial"/>
                    <a:cs typeface="Arial"/>
                    <a:sym typeface="Arial"/>
                  </a:rPr>
                  <a:t>: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Arial"/>
                              <a:cs typeface="Arial"/>
                              <a:sym typeface="Arial"/>
                            </a:rPr>
                          </m:ctrlPr>
                        </m:fPr>
                        <m:num>
                          <m:r>
                            <a:rPr lang="en-US" sz="2000" i="1" dirty="0">
                              <a:latin typeface="Cambria Math" panose="02040503050406030204" pitchFamily="18" charset="0"/>
                              <a:ea typeface="Arial"/>
                              <a:cs typeface="Arial"/>
                              <a:sym typeface="Arial"/>
                            </a:rPr>
                            <m:t>𝜕</m:t>
                          </m:r>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𝑓</m:t>
                              </m:r>
                            </m:e>
                            <m:sub>
                              <m:r>
                                <a:rPr lang="en-US" sz="2000" i="1" dirty="0">
                                  <a:latin typeface="Cambria Math" panose="02040503050406030204" pitchFamily="18" charset="0"/>
                                  <a:ea typeface="Arial"/>
                                  <a:cs typeface="Arial"/>
                                  <a:sym typeface="Arial"/>
                                </a:rPr>
                                <m:t>1</m:t>
                              </m:r>
                            </m:sub>
                          </m:sSub>
                        </m:num>
                        <m:den>
                          <m:r>
                            <a:rPr lang="en-US" sz="2000" i="1" dirty="0">
                              <a:latin typeface="Cambria Math" panose="02040503050406030204" pitchFamily="18" charset="0"/>
                              <a:ea typeface="Arial"/>
                              <a:cs typeface="Arial"/>
                              <a:sym typeface="Arial"/>
                            </a:rPr>
                            <m:t>𝜕</m:t>
                          </m:r>
                          <m:r>
                            <m:rPr>
                              <m:sty m:val="p"/>
                            </m:rPr>
                            <a:rPr lang="en-US" sz="2000" b="0" i="1" dirty="0" smtClean="0">
                              <a:latin typeface="Cambria Math" panose="02040503050406030204" pitchFamily="18" charset="0"/>
                              <a:ea typeface="Arial"/>
                              <a:cs typeface="Arial"/>
                              <a:sym typeface="Arial"/>
                            </a:rPr>
                            <m:t>Y</m:t>
                          </m:r>
                        </m:den>
                      </m:f>
                      <m:r>
                        <a:rPr lang="en-US" sz="2000" i="1" dirty="0">
                          <a:latin typeface="Cambria Math" panose="02040503050406030204" pitchFamily="18" charset="0"/>
                          <a:ea typeface="Arial"/>
                          <a:cs typeface="Arial"/>
                          <a:sym typeface="Arial"/>
                        </a:rPr>
                        <m:t>=</m:t>
                      </m:r>
                      <m:r>
                        <a:rPr lang="en-US" sz="2000" b="0" i="1" dirty="0" smtClean="0">
                          <a:latin typeface="Cambria Math" panose="02040503050406030204" pitchFamily="18" charset="0"/>
                          <a:ea typeface="Arial"/>
                          <a:cs typeface="Arial"/>
                          <a:sym typeface="Arial"/>
                        </a:rPr>
                        <m:t>0</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With respect to </a:t>
                </a:r>
                <a14:m>
                  <m:oMath xmlns:m="http://schemas.openxmlformats.org/officeDocument/2006/math">
                    <m:r>
                      <m:rPr>
                        <m:sty m:val="p"/>
                      </m:rPr>
                      <a:rPr lang="en-US" sz="2000" b="0" i="1" smtClean="0">
                        <a:latin typeface="Cambria Math" panose="02040503050406030204" pitchFamily="18" charset="0"/>
                        <a:ea typeface="Arial"/>
                        <a:cs typeface="Arial"/>
                        <a:sym typeface="Arial"/>
                      </a:rPr>
                      <m:t>θ</m:t>
                    </m:r>
                  </m:oMath>
                </a14:m>
                <a:r>
                  <a:rPr lang="en-US" sz="2000" dirty="0">
                    <a:latin typeface="Atkinson Hyperlegible Next"/>
                    <a:ea typeface="Arial"/>
                    <a:cs typeface="Arial"/>
                    <a:sym typeface="Arial"/>
                  </a:rPr>
                  <a:t>: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take the derivative of </a:t>
                </a:r>
                <a14:m>
                  <m:oMath xmlns:m="http://schemas.openxmlformats.org/officeDocument/2006/math">
                    <m:r>
                      <a:rPr lang="en-US" sz="2000" i="1" dirty="0" smtClean="0">
                        <a:latin typeface="Cambria Math" panose="02040503050406030204" pitchFamily="18" charset="0"/>
                        <a:ea typeface="Arial"/>
                        <a:cs typeface="Arial"/>
                        <a:sym typeface="Arial"/>
                      </a:rPr>
                      <m:t>𝑣</m:t>
                    </m:r>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cos</m:t>
                        </m:r>
                      </m:fName>
                      <m:e>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𝜃</m:t>
                            </m:r>
                          </m:e>
                        </m:d>
                      </m:e>
                    </m:func>
                    <m:r>
                      <a:rPr lang="en-US" sz="2000" i="1" dirty="0" smtClean="0">
                        <a:latin typeface="Cambria Math" panose="02040503050406030204" pitchFamily="18" charset="0"/>
                        <a:ea typeface="Arial"/>
                        <a:cs typeface="Arial"/>
                        <a:sym typeface="Arial"/>
                      </a:rPr>
                      <m:t>𝑑𝑡</m:t>
                    </m:r>
                  </m:oMath>
                </a14:m>
                <a:r>
                  <a:rPr lang="en-US" sz="2000" dirty="0">
                    <a:latin typeface="Atkinson Hyperlegible Next"/>
                    <a:ea typeface="Arial"/>
                    <a:cs typeface="Arial"/>
                    <a:sym typeface="Arial"/>
                  </a:rPr>
                  <a:t>. The derivative of </a:t>
                </a:r>
                <a14:m>
                  <m:oMath xmlns:m="http://schemas.openxmlformats.org/officeDocument/2006/math">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cos</m:t>
                        </m:r>
                      </m:fName>
                      <m:e>
                        <m:r>
                          <a:rPr lang="en-US" sz="2000" b="0" i="1" dirty="0" smtClean="0">
                            <a:latin typeface="Cambria Math" panose="02040503050406030204" pitchFamily="18" charset="0"/>
                            <a:ea typeface="Arial"/>
                            <a:cs typeface="Arial"/>
                            <a:sym typeface="Arial"/>
                          </a:rPr>
                          <m:t>(⋅)</m:t>
                        </m:r>
                      </m:e>
                    </m:func>
                  </m:oMath>
                </a14:m>
                <a:r>
                  <a:rPr lang="en-US" sz="2000" dirty="0">
                    <a:latin typeface="Atkinson Hyperlegible Next"/>
                    <a:ea typeface="Arial"/>
                    <a:cs typeface="Arial"/>
                    <a:sym typeface="Arial"/>
                  </a:rPr>
                  <a:t> is </a:t>
                </a:r>
                <a14:m>
                  <m:oMath xmlns:m="http://schemas.openxmlformats.org/officeDocument/2006/math">
                    <m:r>
                      <a:rPr lang="en-US" sz="2000" i="1" dirty="0" smtClean="0">
                        <a:latin typeface="Cambria Math" panose="02040503050406030204" pitchFamily="18" charset="0"/>
                        <a:ea typeface="Arial"/>
                        <a:cs typeface="Arial"/>
                        <a:sym typeface="Arial"/>
                      </a:rPr>
                      <m:t>−</m:t>
                    </m:r>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sin</m:t>
                        </m:r>
                      </m:fName>
                      <m:e>
                        <m:r>
                          <a:rPr lang="en-US" sz="2000" i="1" dirty="0">
                            <a:latin typeface="Cambria Math" panose="02040503050406030204" pitchFamily="18" charset="0"/>
                            <a:ea typeface="Arial"/>
                            <a:cs typeface="Arial"/>
                            <a:sym typeface="Arial"/>
                          </a:rPr>
                          <m:t>(⋅)</m:t>
                        </m:r>
                      </m:e>
                    </m:func>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𝑓</m:t>
                              </m:r>
                            </m:e>
                            <m:sub>
                              <m:r>
                                <a:rPr lang="en-US" sz="2000" i="1" dirty="0" smtClean="0">
                                  <a:latin typeface="Cambria Math" panose="02040503050406030204" pitchFamily="18" charset="0"/>
                                  <a:ea typeface="Arial"/>
                                  <a:cs typeface="Arial"/>
                                  <a:sym typeface="Arial"/>
                                </a:rPr>
                                <m:t>1</m:t>
                              </m:r>
                            </m:sub>
                          </m:sSub>
                        </m:num>
                        <m:den>
                          <m:r>
                            <a:rPr lang="en-US" sz="2000" i="1" dirty="0" smtClean="0">
                              <a:latin typeface="Cambria Math" panose="02040503050406030204" pitchFamily="18" charset="0"/>
                              <a:ea typeface="Arial"/>
                              <a:cs typeface="Arial"/>
                              <a:sym typeface="Arial"/>
                            </a:rPr>
                            <m:t>𝜕𝜃</m:t>
                          </m:r>
                        </m:den>
                      </m:f>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𝑣</m:t>
                      </m:r>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sin</m:t>
                          </m:r>
                        </m:fName>
                        <m:e>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𝜃</m:t>
                              </m:r>
                            </m:e>
                          </m:d>
                        </m:e>
                      </m:func>
                      <m:r>
                        <a:rPr lang="en-US" sz="2000" i="1" dirty="0" smtClean="0">
                          <a:latin typeface="Cambria Math" panose="02040503050406030204" pitchFamily="18" charset="0"/>
                          <a:ea typeface="Arial"/>
                          <a:cs typeface="Arial"/>
                          <a:sym typeface="Arial"/>
                        </a:rPr>
                        <m:t>𝑑𝑡</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CC3089F5-0F7E-1951-D1C6-D98116107A2E}"/>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DB8BEA8-7ABF-FC31-B18A-390E61E7580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3A8203A-5DA0-9FEF-AD6A-1880F6056A8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(8/22)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271D5F5-7C2D-1D4E-FEB3-27E06BDCA39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DBF524B-8981-EE67-21F5-4FBDD6085EE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08FE9EC-0DBF-F3B9-ED39-1881B2DB22A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A8E767D-312A-98B8-E28B-88266741E35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09F2ED-ED70-B21A-6B00-00DB4F2D392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7E46C46-2329-3F38-DF48-60846B9EE2F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3979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7D4A323-FD45-2C53-3E3B-873EF0CAFE0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F130303-E5AB-25C5-613A-638F756AFA0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Let's calculate the partial derivatives for our </a:t>
                </a:r>
                <a14:m>
                  <m:oMath xmlns:m="http://schemas.openxmlformats.org/officeDocument/2006/math">
                    <m:r>
                      <m:rPr>
                        <m:sty m:val="p"/>
                      </m:rPr>
                      <a:rPr lang="en-US" sz="2000" b="0" i="1" dirty="0" smtClean="0">
                        <a:latin typeface="Cambria Math" panose="02040503050406030204" pitchFamily="18" charset="0"/>
                        <a:ea typeface="Arial"/>
                        <a:cs typeface="Arial"/>
                        <a:sym typeface="Arial"/>
                      </a:rPr>
                      <m:t>Y</m:t>
                    </m:r>
                  </m:oMath>
                </a14:m>
                <a:r>
                  <a:rPr lang="en-US" sz="2000" dirty="0">
                    <a:latin typeface="Atkinson Hyperlegible Next"/>
                    <a:ea typeface="Arial"/>
                    <a:cs typeface="Arial"/>
                    <a:sym typeface="Arial"/>
                  </a:rPr>
                  <a:t> position equation: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𝑓</m:t>
                        </m:r>
                      </m:e>
                      <m:sub>
                        <m:r>
                          <a:rPr lang="en-US" sz="2000" b="0" i="1" dirty="0" smtClean="0">
                            <a:latin typeface="Cambria Math" panose="02040503050406030204" pitchFamily="18" charset="0"/>
                            <a:ea typeface="Arial"/>
                            <a:cs typeface="Arial"/>
                            <a:sym typeface="Arial"/>
                          </a:rPr>
                          <m:t>2</m:t>
                        </m:r>
                      </m:sub>
                    </m:sSub>
                    <m:r>
                      <a:rPr lang="en-US" sz="2000" i="1" dirty="0" smtClean="0">
                        <a:latin typeface="Cambria Math" panose="02040503050406030204" pitchFamily="18" charset="0"/>
                        <a:ea typeface="Arial"/>
                        <a:cs typeface="Arial"/>
                        <a:sym typeface="Arial"/>
                      </a:rPr>
                      <m:t>=</m:t>
                    </m:r>
                    <m:r>
                      <m:rPr>
                        <m:sty m:val="p"/>
                      </m:rPr>
                      <a:rPr lang="en-US" sz="2000" b="0" i="1" dirty="0" smtClean="0">
                        <a:latin typeface="Cambria Math" panose="02040503050406030204" pitchFamily="18" charset="0"/>
                        <a:ea typeface="Arial"/>
                        <a:cs typeface="Arial"/>
                        <a:sym typeface="Arial"/>
                      </a:rPr>
                      <m:t>Y</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𝑣</m:t>
                    </m:r>
                    <m:func>
                      <m:funcPr>
                        <m:ctrlPr>
                          <a:rPr lang="en-US" sz="2000" i="1" dirty="0" smtClean="0">
                            <a:latin typeface="Cambria Math" panose="02040503050406030204" pitchFamily="18" charset="0"/>
                            <a:ea typeface="Arial"/>
                            <a:cs typeface="Arial"/>
                            <a:sym typeface="Arial"/>
                          </a:rPr>
                        </m:ctrlPr>
                      </m:funcPr>
                      <m:fName>
                        <m:r>
                          <m:rPr>
                            <m:sty m:val="p"/>
                          </m:rPr>
                          <a:rPr lang="en-US" sz="2000" b="0" i="0" dirty="0" smtClean="0">
                            <a:latin typeface="Cambria Math" panose="02040503050406030204" pitchFamily="18" charset="0"/>
                            <a:ea typeface="Arial"/>
                            <a:cs typeface="Arial"/>
                            <a:sym typeface="Arial"/>
                          </a:rPr>
                          <m:t>sin</m:t>
                        </m:r>
                      </m:fName>
                      <m:e>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𝜃</m:t>
                            </m:r>
                          </m:e>
                        </m:d>
                      </m:e>
                    </m:func>
                    <m:r>
                      <a:rPr lang="en-US" sz="2000" i="1" dirty="0" smtClean="0">
                        <a:latin typeface="Cambria Math" panose="02040503050406030204" pitchFamily="18" charset="0"/>
                        <a:ea typeface="Arial"/>
                        <a:cs typeface="Arial"/>
                        <a:sym typeface="Arial"/>
                      </a:rPr>
                      <m:t>𝑑𝑡</m:t>
                    </m:r>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With respect to </a:t>
                </a:r>
                <a14:m>
                  <m:oMath xmlns:m="http://schemas.openxmlformats.org/officeDocument/2006/math">
                    <m:r>
                      <a:rPr lang="en-US" sz="2000" i="1" dirty="0" smtClean="0">
                        <a:latin typeface="Cambria Math" panose="02040503050406030204" pitchFamily="18" charset="0"/>
                        <a:ea typeface="Arial"/>
                        <a:cs typeface="Arial"/>
                        <a:sym typeface="Arial"/>
                      </a:rPr>
                      <m:t>𝑋</m:t>
                    </m:r>
                  </m:oMath>
                </a14:m>
                <a:r>
                  <a:rPr lang="en-US" sz="2000" dirty="0">
                    <a:latin typeface="Atkinson Hyperlegible Next"/>
                    <a:ea typeface="Arial"/>
                    <a:cs typeface="Arial"/>
                    <a:sym typeface="Arial"/>
                  </a:rPr>
                  <a:t>: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𝑓</m:t>
                              </m:r>
                            </m:e>
                            <m:sub>
                              <m:r>
                                <a:rPr lang="en-US" sz="2000" b="0" i="1" dirty="0" smtClean="0">
                                  <a:latin typeface="Cambria Math" panose="02040503050406030204" pitchFamily="18" charset="0"/>
                                  <a:ea typeface="Arial"/>
                                  <a:cs typeface="Arial"/>
                                  <a:sym typeface="Arial"/>
                                </a:rPr>
                                <m:t>2</m:t>
                              </m:r>
                            </m:sub>
                          </m:sSub>
                        </m:num>
                        <m:den>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𝑋</m:t>
                          </m:r>
                        </m:den>
                      </m:f>
                      <m:r>
                        <a:rPr lang="en-US" sz="2000" i="1" dirty="0" smtClean="0">
                          <a:latin typeface="Cambria Math" panose="02040503050406030204" pitchFamily="18" charset="0"/>
                          <a:ea typeface="Arial"/>
                          <a:cs typeface="Arial"/>
                          <a:sym typeface="Arial"/>
                        </a:rPr>
                        <m:t>=</m:t>
                      </m:r>
                      <m:r>
                        <a:rPr lang="en-US" sz="2000" b="0" i="1" dirty="0" smtClean="0">
                          <a:latin typeface="Cambria Math" panose="02040503050406030204" pitchFamily="18" charset="0"/>
                          <a:ea typeface="Arial"/>
                          <a:cs typeface="Arial"/>
                          <a:sym typeface="Arial"/>
                        </a:rPr>
                        <m:t>0</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With respect to </a:t>
                </a:r>
                <a14:m>
                  <m:oMath xmlns:m="http://schemas.openxmlformats.org/officeDocument/2006/math">
                    <m:r>
                      <m:rPr>
                        <m:sty m:val="p"/>
                      </m:rPr>
                      <a:rPr lang="en-US" sz="2000" b="0" i="1" smtClean="0">
                        <a:latin typeface="Cambria Math" panose="02040503050406030204" pitchFamily="18" charset="0"/>
                        <a:ea typeface="Arial"/>
                        <a:cs typeface="Arial"/>
                        <a:sym typeface="Arial"/>
                      </a:rPr>
                      <m:t>Y</m:t>
                    </m:r>
                  </m:oMath>
                </a14:m>
                <a:r>
                  <a:rPr lang="en-US" sz="2000" dirty="0">
                    <a:latin typeface="Atkinson Hyperlegible Next"/>
                    <a:ea typeface="Arial"/>
                    <a:cs typeface="Arial"/>
                    <a:sym typeface="Arial"/>
                  </a:rPr>
                  <a:t>: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Arial"/>
                              <a:cs typeface="Arial"/>
                              <a:sym typeface="Arial"/>
                            </a:rPr>
                          </m:ctrlPr>
                        </m:fPr>
                        <m:num>
                          <m:r>
                            <a:rPr lang="en-US" sz="2000" i="1" dirty="0">
                              <a:latin typeface="Cambria Math" panose="02040503050406030204" pitchFamily="18" charset="0"/>
                              <a:ea typeface="Arial"/>
                              <a:cs typeface="Arial"/>
                              <a:sym typeface="Arial"/>
                            </a:rPr>
                            <m:t>𝜕</m:t>
                          </m:r>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𝑓</m:t>
                              </m:r>
                            </m:e>
                            <m:sub>
                              <m:r>
                                <a:rPr lang="en-US" sz="2000" b="0" i="1" dirty="0" smtClean="0">
                                  <a:latin typeface="Cambria Math" panose="02040503050406030204" pitchFamily="18" charset="0"/>
                                  <a:ea typeface="Arial"/>
                                  <a:cs typeface="Arial"/>
                                  <a:sym typeface="Arial"/>
                                </a:rPr>
                                <m:t>2</m:t>
                              </m:r>
                            </m:sub>
                          </m:sSub>
                        </m:num>
                        <m:den>
                          <m:r>
                            <a:rPr lang="en-US" sz="2000" i="1" dirty="0">
                              <a:latin typeface="Cambria Math" panose="02040503050406030204" pitchFamily="18" charset="0"/>
                              <a:ea typeface="Arial"/>
                              <a:cs typeface="Arial"/>
                              <a:sym typeface="Arial"/>
                            </a:rPr>
                            <m:t>𝜕</m:t>
                          </m:r>
                          <m:r>
                            <m:rPr>
                              <m:sty m:val="p"/>
                            </m:rPr>
                            <a:rPr lang="en-US" sz="2000" b="0" i="1" dirty="0" smtClean="0">
                              <a:latin typeface="Cambria Math" panose="02040503050406030204" pitchFamily="18" charset="0"/>
                              <a:ea typeface="Arial"/>
                              <a:cs typeface="Arial"/>
                              <a:sym typeface="Arial"/>
                            </a:rPr>
                            <m:t>Y</m:t>
                          </m:r>
                        </m:den>
                      </m:f>
                      <m:r>
                        <a:rPr lang="en-US" sz="2000" i="1" dirty="0">
                          <a:latin typeface="Cambria Math" panose="02040503050406030204" pitchFamily="18" charset="0"/>
                          <a:ea typeface="Arial"/>
                          <a:cs typeface="Arial"/>
                          <a:sym typeface="Arial"/>
                        </a:rPr>
                        <m:t>=</m:t>
                      </m:r>
                      <m:r>
                        <a:rPr lang="en-US" sz="2000" b="0" i="1" dirty="0" smtClean="0">
                          <a:latin typeface="Cambria Math" panose="02040503050406030204" pitchFamily="18" charset="0"/>
                          <a:ea typeface="Arial"/>
                          <a:cs typeface="Arial"/>
                          <a:sym typeface="Arial"/>
                        </a:rPr>
                        <m:t>1</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With respect to </a:t>
                </a:r>
                <a14:m>
                  <m:oMath xmlns:m="http://schemas.openxmlformats.org/officeDocument/2006/math">
                    <m:r>
                      <m:rPr>
                        <m:sty m:val="p"/>
                      </m:rPr>
                      <a:rPr lang="en-US" sz="2000" b="0" i="1" smtClean="0">
                        <a:latin typeface="Cambria Math" panose="02040503050406030204" pitchFamily="18" charset="0"/>
                        <a:ea typeface="Arial"/>
                        <a:cs typeface="Arial"/>
                        <a:sym typeface="Arial"/>
                      </a:rPr>
                      <m:t>θ</m:t>
                    </m:r>
                  </m:oMath>
                </a14:m>
                <a:r>
                  <a:rPr lang="en-US" sz="2000" dirty="0">
                    <a:latin typeface="Atkinson Hyperlegible Next"/>
                    <a:ea typeface="Arial"/>
                    <a:cs typeface="Arial"/>
                    <a:sym typeface="Arial"/>
                  </a:rPr>
                  <a:t>: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derive </a:t>
                </a:r>
                <a14:m>
                  <m:oMath xmlns:m="http://schemas.openxmlformats.org/officeDocument/2006/math">
                    <m:r>
                      <a:rPr lang="en-US" sz="2000" i="1" dirty="0" smtClean="0">
                        <a:latin typeface="Cambria Math" panose="02040503050406030204" pitchFamily="18" charset="0"/>
                        <a:ea typeface="Arial"/>
                        <a:cs typeface="Arial"/>
                        <a:sym typeface="Arial"/>
                      </a:rPr>
                      <m:t>𝑣</m:t>
                    </m:r>
                    <m:func>
                      <m:funcPr>
                        <m:ctrlPr>
                          <a:rPr lang="en-US" sz="2000" i="1" dirty="0" smtClean="0">
                            <a:latin typeface="Cambria Math" panose="02040503050406030204" pitchFamily="18" charset="0"/>
                            <a:ea typeface="Arial"/>
                            <a:cs typeface="Arial"/>
                            <a:sym typeface="Arial"/>
                          </a:rPr>
                        </m:ctrlPr>
                      </m:funcPr>
                      <m:fName>
                        <m:r>
                          <m:rPr>
                            <m:sty m:val="p"/>
                          </m:rPr>
                          <a:rPr lang="en-US" sz="2000" b="0" i="0" dirty="0" smtClean="0">
                            <a:latin typeface="Cambria Math" panose="02040503050406030204" pitchFamily="18" charset="0"/>
                            <a:ea typeface="Arial"/>
                            <a:cs typeface="Arial"/>
                            <a:sym typeface="Arial"/>
                          </a:rPr>
                          <m:t>sin</m:t>
                        </m:r>
                      </m:fName>
                      <m:e>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𝜃</m:t>
                            </m:r>
                          </m:e>
                        </m:d>
                      </m:e>
                    </m:func>
                    <m:r>
                      <a:rPr lang="en-US" sz="2000" i="1" dirty="0" smtClean="0">
                        <a:latin typeface="Cambria Math" panose="02040503050406030204" pitchFamily="18" charset="0"/>
                        <a:ea typeface="Arial"/>
                        <a:cs typeface="Arial"/>
                        <a:sym typeface="Arial"/>
                      </a:rPr>
                      <m:t>𝑑𝑡</m:t>
                    </m:r>
                  </m:oMath>
                </a14:m>
                <a:r>
                  <a:rPr lang="en-US" sz="2000" dirty="0">
                    <a:latin typeface="Atkinson Hyperlegible Next"/>
                    <a:ea typeface="Arial"/>
                    <a:cs typeface="Arial"/>
                    <a:sym typeface="Arial"/>
                  </a:rPr>
                  <a:t>. The derivative of </a:t>
                </a:r>
                <a14:m>
                  <m:oMath xmlns:m="http://schemas.openxmlformats.org/officeDocument/2006/math">
                    <m:func>
                      <m:funcPr>
                        <m:ctrlPr>
                          <a:rPr lang="en-US" sz="2000" i="1" dirty="0" smtClean="0">
                            <a:latin typeface="Cambria Math" panose="02040503050406030204" pitchFamily="18" charset="0"/>
                            <a:ea typeface="Arial"/>
                            <a:cs typeface="Arial"/>
                            <a:sym typeface="Arial"/>
                          </a:rPr>
                        </m:ctrlPr>
                      </m:funcPr>
                      <m:fName>
                        <m:r>
                          <m:rPr>
                            <m:sty m:val="p"/>
                          </m:rPr>
                          <a:rPr lang="en-US" sz="2000" b="0" i="0" dirty="0" smtClean="0">
                            <a:latin typeface="Cambria Math" panose="02040503050406030204" pitchFamily="18" charset="0"/>
                            <a:ea typeface="Arial"/>
                            <a:cs typeface="Arial"/>
                            <a:sym typeface="Arial"/>
                          </a:rPr>
                          <m:t>sin</m:t>
                        </m:r>
                      </m:fName>
                      <m:e>
                        <m:r>
                          <a:rPr lang="en-US" sz="2000" b="0" i="1" dirty="0" smtClean="0">
                            <a:latin typeface="Cambria Math" panose="02040503050406030204" pitchFamily="18" charset="0"/>
                            <a:ea typeface="Arial"/>
                            <a:cs typeface="Arial"/>
                            <a:sym typeface="Arial"/>
                          </a:rPr>
                          <m:t>(⋅)</m:t>
                        </m:r>
                      </m:e>
                    </m:func>
                  </m:oMath>
                </a14:m>
                <a:r>
                  <a:rPr lang="en-US" sz="2000" dirty="0">
                    <a:latin typeface="Atkinson Hyperlegible Next"/>
                    <a:ea typeface="Arial"/>
                    <a:cs typeface="Arial"/>
                    <a:sym typeface="Arial"/>
                  </a:rPr>
                  <a:t> is </a:t>
                </a:r>
                <a14:m>
                  <m:oMath xmlns:m="http://schemas.openxmlformats.org/officeDocument/2006/math">
                    <m:func>
                      <m:funcPr>
                        <m:ctrlPr>
                          <a:rPr lang="en-US" sz="2000" i="1" dirty="0" smtClean="0">
                            <a:latin typeface="Cambria Math" panose="02040503050406030204" pitchFamily="18" charset="0"/>
                            <a:ea typeface="Arial"/>
                            <a:cs typeface="Arial"/>
                            <a:sym typeface="Arial"/>
                          </a:rPr>
                        </m:ctrlPr>
                      </m:funcPr>
                      <m:fName>
                        <m:r>
                          <m:rPr>
                            <m:sty m:val="p"/>
                          </m:rPr>
                          <a:rPr lang="en-US" sz="2000" i="1" dirty="0">
                            <a:latin typeface="Cambria Math" panose="02040503050406030204" pitchFamily="18" charset="0"/>
                            <a:ea typeface="Arial"/>
                            <a:cs typeface="Arial"/>
                            <a:sym typeface="Arial"/>
                          </a:rPr>
                          <m:t>cos</m:t>
                        </m:r>
                      </m:fName>
                      <m:e>
                        <m:r>
                          <a:rPr lang="en-US" sz="2000" b="0" i="1" dirty="0" smtClean="0">
                            <a:latin typeface="Cambria Math" panose="02040503050406030204" pitchFamily="18" charset="0"/>
                            <a:ea typeface="Arial"/>
                            <a:cs typeface="Arial"/>
                            <a:sym typeface="Arial"/>
                          </a:rPr>
                          <m:t> </m:t>
                        </m:r>
                        <m:r>
                          <a:rPr lang="en-US" sz="2000" i="1" dirty="0">
                            <a:latin typeface="Cambria Math" panose="02040503050406030204" pitchFamily="18" charset="0"/>
                            <a:ea typeface="Arial"/>
                            <a:cs typeface="Arial"/>
                            <a:sym typeface="Arial"/>
                          </a:rPr>
                          <m:t>(⋅)</m:t>
                        </m:r>
                      </m:e>
                    </m:func>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𝑓</m:t>
                              </m:r>
                            </m:e>
                            <m:sub>
                              <m:r>
                                <a:rPr lang="en-US" sz="2000" b="0" i="1" dirty="0" smtClean="0">
                                  <a:latin typeface="Cambria Math" panose="02040503050406030204" pitchFamily="18" charset="0"/>
                                  <a:ea typeface="Arial"/>
                                  <a:cs typeface="Arial"/>
                                  <a:sym typeface="Arial"/>
                                </a:rPr>
                                <m:t>2</m:t>
                              </m:r>
                            </m:sub>
                          </m:sSub>
                        </m:num>
                        <m:den>
                          <m:r>
                            <a:rPr lang="en-US" sz="2000" i="1" dirty="0" smtClean="0">
                              <a:latin typeface="Cambria Math" panose="02040503050406030204" pitchFamily="18" charset="0"/>
                              <a:ea typeface="Arial"/>
                              <a:cs typeface="Arial"/>
                              <a:sym typeface="Arial"/>
                            </a:rPr>
                            <m:t>𝜕𝜃</m:t>
                          </m:r>
                        </m:den>
                      </m:f>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𝑣</m:t>
                      </m:r>
                      <m:func>
                        <m:funcPr>
                          <m:ctrlPr>
                            <a:rPr lang="en-US" sz="2000" i="1" dirty="0" smtClean="0">
                              <a:latin typeface="Cambria Math" panose="02040503050406030204" pitchFamily="18" charset="0"/>
                              <a:ea typeface="Arial"/>
                              <a:cs typeface="Arial"/>
                              <a:sym typeface="Arial"/>
                            </a:rPr>
                          </m:ctrlPr>
                        </m:funcPr>
                        <m:fName>
                          <m:r>
                            <m:rPr>
                              <m:sty m:val="p"/>
                            </m:rPr>
                            <a:rPr lang="en-US" sz="2000" b="0" i="0" dirty="0" smtClean="0">
                              <a:latin typeface="Cambria Math" panose="02040503050406030204" pitchFamily="18" charset="0"/>
                              <a:ea typeface="Arial"/>
                              <a:cs typeface="Arial"/>
                              <a:sym typeface="Arial"/>
                            </a:rPr>
                            <m:t>cos</m:t>
                          </m:r>
                        </m:fName>
                        <m:e>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𝜃</m:t>
                              </m:r>
                            </m:e>
                          </m:d>
                        </m:e>
                      </m:func>
                      <m:r>
                        <a:rPr lang="en-US" sz="2000" i="1" dirty="0" smtClean="0">
                          <a:latin typeface="Cambria Math" panose="02040503050406030204" pitchFamily="18" charset="0"/>
                          <a:ea typeface="Arial"/>
                          <a:cs typeface="Arial"/>
                          <a:sym typeface="Arial"/>
                        </a:rPr>
                        <m:t>𝑑𝑡</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EF130303-E5AB-25C5-613A-638F756AFA03}"/>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32C5AB5-E759-F3B6-FB14-052A0CB94E1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6344416-3A91-1817-343E-5539EC8173E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(9/22)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987968D-B07E-67DF-27B9-34E5F52D29B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6B903B9-0DB3-3050-A7A9-3538866013D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B1843B4-D5B1-72D4-0CE2-66D5CCE054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24CE45A-4A20-F501-FE99-527279BCC1F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B8595AF-ADCC-0032-4EB3-2AEFE0BECD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249F129-1D7E-A4DA-C3FC-6B0E10D0EBA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485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0DDBAD9-8D2B-9173-DF07-A1F4CEB74C8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93FF1CE-5C3F-A722-0400-C61A7F08051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Putting everything together into the State Transition Matrix:</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𝐹</m:t>
                          </m:r>
                        </m:e>
                        <m:sub>
                          <m:r>
                            <a:rPr lang="en-US" sz="2400" i="1" dirty="0" err="1" smtClean="0">
                              <a:latin typeface="Cambria Math" panose="02040503050406030204" pitchFamily="18" charset="0"/>
                              <a:ea typeface="Arial"/>
                              <a:cs typeface="Arial"/>
                              <a:sym typeface="Arial"/>
                            </a:rPr>
                            <m:t>𝑘</m:t>
                          </m:r>
                        </m:sub>
                      </m:sSub>
                      <m:r>
                        <a:rPr lang="en-US" sz="2400" i="1" dirty="0" smtClean="0">
                          <a:latin typeface="Cambria Math" panose="02040503050406030204" pitchFamily="18" charset="0"/>
                          <a:ea typeface="Arial"/>
                          <a:cs typeface="Arial"/>
                          <a:sym typeface="Arial"/>
                        </a:rPr>
                        <m:t>=</m:t>
                      </m:r>
                      <m:d>
                        <m:dPr>
                          <m:begChr m:val="["/>
                          <m:endChr m:val="]"/>
                          <m:ctrlPr>
                            <a:rPr lang="en-US" sz="2400" i="1" dirty="0" smtClean="0">
                              <a:latin typeface="Cambria Math" panose="02040503050406030204" pitchFamily="18" charset="0"/>
                              <a:ea typeface="Arial"/>
                              <a:cs typeface="Arial"/>
                              <a:sym typeface="Arial"/>
                            </a:rPr>
                          </m:ctrlPr>
                        </m:dPr>
                        <m:e>
                          <m:m>
                            <m:mPr>
                              <m:plcHide m:val="on"/>
                              <m:mcs>
                                <m:mc>
                                  <m:mcPr>
                                    <m:count m:val="3"/>
                                    <m:mcJc m:val="center"/>
                                  </m:mcPr>
                                </m:mc>
                              </m:mcs>
                              <m:ctrlPr>
                                <a:rPr lang="en-US" sz="2400" i="1" dirty="0" smtClean="0">
                                  <a:latin typeface="Cambria Math" panose="02040503050406030204" pitchFamily="18" charset="0"/>
                                  <a:ea typeface="Arial"/>
                                  <a:cs typeface="Arial"/>
                                  <a:sym typeface="Arial"/>
                                </a:rPr>
                              </m:ctrlPr>
                            </m:mPr>
                            <m:mr>
                              <m:e>
                                <m:r>
                                  <a:rPr lang="en-US" sz="2400" i="1" dirty="0" smtClean="0">
                                    <a:latin typeface="Cambria Math" panose="02040503050406030204" pitchFamily="18" charset="0"/>
                                    <a:ea typeface="Arial"/>
                                    <a:cs typeface="Arial"/>
                                    <a:sym typeface="Arial"/>
                                  </a:rPr>
                                  <m:t>1</m:t>
                                </m:r>
                              </m:e>
                              <m:e>
                                <m:r>
                                  <a:rPr lang="en-US" sz="2400" i="1" dirty="0" smtClean="0">
                                    <a:latin typeface="Cambria Math" panose="02040503050406030204" pitchFamily="18" charset="0"/>
                                    <a:ea typeface="Arial"/>
                                    <a:cs typeface="Arial"/>
                                    <a:sym typeface="Arial"/>
                                  </a:rPr>
                                  <m:t>0</m:t>
                                </m:r>
                              </m:e>
                              <m:e>
                                <m:r>
                                  <a:rPr lang="en-US" sz="2400" i="1" dirty="0" smtClean="0">
                                    <a:latin typeface="Cambria Math" panose="02040503050406030204" pitchFamily="18" charset="0"/>
                                    <a:ea typeface="Arial"/>
                                    <a:cs typeface="Arial"/>
                                    <a:sym typeface="Arial"/>
                                  </a:rPr>
                                  <m:t>−</m:t>
                                </m:r>
                                <m:sSub>
                                  <m:sSubPr>
                                    <m:ctrlPr>
                                      <a:rPr lang="en-US" sz="2400" b="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𝑣</m:t>
                                    </m:r>
                                  </m:e>
                                  <m:sub>
                                    <m:r>
                                      <a:rPr lang="en-US" sz="2400" b="0" i="1" dirty="0" smtClean="0">
                                        <a:latin typeface="Cambria Math" panose="02040503050406030204" pitchFamily="18" charset="0"/>
                                        <a:ea typeface="Arial"/>
                                        <a:cs typeface="Arial"/>
                                        <a:sym typeface="Arial"/>
                                      </a:rPr>
                                      <m:t>𝑘</m:t>
                                    </m:r>
                                  </m:sub>
                                </m:sSub>
                                <m:func>
                                  <m:funcPr>
                                    <m:ctrlPr>
                                      <a:rPr lang="en-US" sz="2400" b="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sin</m:t>
                                    </m:r>
                                  </m:fName>
                                  <m:e>
                                    <m:d>
                                      <m:dPr>
                                        <m:ctrlPr>
                                          <a:rPr lang="en-US" sz="2400" i="1" dirty="0" smtClean="0">
                                            <a:latin typeface="Cambria Math" panose="02040503050406030204" pitchFamily="18" charset="0"/>
                                            <a:ea typeface="Arial"/>
                                            <a:cs typeface="Arial"/>
                                            <a:sym typeface="Arial"/>
                                          </a:rPr>
                                        </m:ctrlPr>
                                      </m:dPr>
                                      <m:e>
                                        <m:sSub>
                                          <m:sSubPr>
                                            <m:ctrlPr>
                                              <a:rPr lang="en-US" sz="2400" i="1" dirty="0" err="1"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𝜃</m:t>
                                            </m:r>
                                          </m:e>
                                          <m:sub>
                                            <m:r>
                                              <a:rPr lang="en-US" sz="2400" i="1" dirty="0" err="1" smtClean="0">
                                                <a:latin typeface="Cambria Math" panose="02040503050406030204" pitchFamily="18" charset="0"/>
                                                <a:ea typeface="Arial"/>
                                                <a:cs typeface="Arial"/>
                                                <a:sym typeface="Arial"/>
                                              </a:rPr>
                                              <m:t>𝑘</m:t>
                                            </m:r>
                                          </m:sub>
                                        </m:sSub>
                                      </m:e>
                                    </m:d>
                                  </m:e>
                                </m:func>
                                <m:r>
                                  <a:rPr lang="en-US" sz="2400" i="1" dirty="0" smtClean="0">
                                    <a:latin typeface="Cambria Math" panose="02040503050406030204" pitchFamily="18" charset="0"/>
                                    <a:ea typeface="Arial"/>
                                    <a:cs typeface="Arial"/>
                                    <a:sym typeface="Arial"/>
                                  </a:rPr>
                                  <m:t>𝑑𝑡</m:t>
                                </m:r>
                              </m:e>
                            </m:mr>
                            <m:mr>
                              <m:e>
                                <m:r>
                                  <a:rPr lang="en-US" sz="2400" i="1" dirty="0" smtClean="0">
                                    <a:latin typeface="Cambria Math" panose="02040503050406030204" pitchFamily="18" charset="0"/>
                                    <a:ea typeface="Arial"/>
                                    <a:cs typeface="Arial"/>
                                    <a:sym typeface="Arial"/>
                                  </a:rPr>
                                  <m:t>0</m:t>
                                </m:r>
                              </m:e>
                              <m:e>
                                <m:r>
                                  <a:rPr lang="en-US" sz="2400" i="1" dirty="0" smtClean="0">
                                    <a:latin typeface="Cambria Math" panose="02040503050406030204" pitchFamily="18" charset="0"/>
                                    <a:ea typeface="Arial"/>
                                    <a:cs typeface="Arial"/>
                                    <a:sym typeface="Arial"/>
                                  </a:rPr>
                                  <m:t>1</m:t>
                                </m:r>
                              </m:e>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𝑣</m:t>
                                    </m:r>
                                  </m:e>
                                  <m:sub>
                                    <m:r>
                                      <a:rPr lang="en-US" sz="2400" i="1" dirty="0">
                                        <a:latin typeface="Cambria Math" panose="02040503050406030204" pitchFamily="18" charset="0"/>
                                        <a:ea typeface="Arial"/>
                                        <a:cs typeface="Arial"/>
                                        <a:sym typeface="Arial"/>
                                      </a:rPr>
                                      <m:t>𝑘</m:t>
                                    </m:r>
                                  </m:sub>
                                </m:sSub>
                                <m:func>
                                  <m:funcPr>
                                    <m:ctrlPr>
                                      <a:rPr lang="en-US" sz="240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cos</m:t>
                                    </m:r>
                                  </m:fName>
                                  <m:e>
                                    <m:d>
                                      <m:dPr>
                                        <m:ctrlPr>
                                          <a:rPr lang="en-US" sz="2400" i="1" dirty="0" smtClean="0">
                                            <a:latin typeface="Cambria Math" panose="02040503050406030204" pitchFamily="18" charset="0"/>
                                            <a:ea typeface="Arial"/>
                                            <a:cs typeface="Arial"/>
                                            <a:sym typeface="Arial"/>
                                          </a:rPr>
                                        </m:ctrlPr>
                                      </m:dPr>
                                      <m:e>
                                        <m:sSub>
                                          <m:sSubPr>
                                            <m:ctrlPr>
                                              <a:rPr lang="en-US" sz="2400" i="1" dirty="0" err="1"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𝜃</m:t>
                                            </m:r>
                                          </m:e>
                                          <m:sub>
                                            <m:r>
                                              <a:rPr lang="en-US" sz="2400" i="1" dirty="0" err="1" smtClean="0">
                                                <a:latin typeface="Cambria Math" panose="02040503050406030204" pitchFamily="18" charset="0"/>
                                                <a:ea typeface="Arial"/>
                                                <a:cs typeface="Arial"/>
                                                <a:sym typeface="Arial"/>
                                              </a:rPr>
                                              <m:t>𝑘</m:t>
                                            </m:r>
                                          </m:sub>
                                        </m:sSub>
                                      </m:e>
                                    </m:d>
                                  </m:e>
                                </m:func>
                                <m:r>
                                  <a:rPr lang="en-US" sz="2400" i="1" dirty="0" smtClean="0">
                                    <a:latin typeface="Cambria Math" panose="02040503050406030204" pitchFamily="18" charset="0"/>
                                    <a:ea typeface="Arial"/>
                                    <a:cs typeface="Arial"/>
                                    <a:sym typeface="Arial"/>
                                  </a:rPr>
                                  <m:t>𝑑𝑡</m:t>
                                </m:r>
                              </m:e>
                            </m:mr>
                            <m:mr>
                              <m:e>
                                <m:r>
                                  <a:rPr lang="en-US" sz="2400" i="1" dirty="0" smtClean="0">
                                    <a:latin typeface="Cambria Math" panose="02040503050406030204" pitchFamily="18" charset="0"/>
                                    <a:ea typeface="Arial"/>
                                    <a:cs typeface="Arial"/>
                                    <a:sym typeface="Arial"/>
                                  </a:rPr>
                                  <m:t>0</m:t>
                                </m:r>
                              </m:e>
                              <m:e>
                                <m:r>
                                  <a:rPr lang="en-US" sz="2400" i="1" dirty="0" smtClean="0">
                                    <a:latin typeface="Cambria Math" panose="02040503050406030204" pitchFamily="18" charset="0"/>
                                    <a:ea typeface="Arial"/>
                                    <a:cs typeface="Arial"/>
                                    <a:sym typeface="Arial"/>
                                  </a:rPr>
                                  <m:t>0</m:t>
                                </m:r>
                              </m:e>
                              <m:e>
                                <m:r>
                                  <a:rPr lang="en-US" sz="2400" i="1" dirty="0" smtClean="0">
                                    <a:latin typeface="Cambria Math" panose="02040503050406030204" pitchFamily="18" charset="0"/>
                                    <a:ea typeface="Arial"/>
                                    <a:cs typeface="Arial"/>
                                    <a:sym typeface="Arial"/>
                                  </a:rPr>
                                  <m:t>1</m:t>
                                </m:r>
                              </m:e>
                            </m:mr>
                          </m:m>
                        </m:e>
                      </m: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Notice the </a:t>
                </a:r>
                <a14:m>
                  <m:oMath xmlns:m="http://schemas.openxmlformats.org/officeDocument/2006/math">
                    <m:r>
                      <a:rPr lang="en-US" sz="2400" i="1" dirty="0" smtClean="0">
                        <a:latin typeface="Cambria Math" panose="02040503050406030204" pitchFamily="18" charset="0"/>
                        <a:ea typeface="Arial"/>
                        <a:cs typeface="Arial"/>
                        <a:sym typeface="Arial"/>
                      </a:rPr>
                      <m:t>𝑘</m:t>
                    </m:r>
                  </m:oMath>
                </a14:m>
                <a:r>
                  <a:rPr lang="en-US" sz="2400" dirty="0">
                    <a:latin typeface="Atkinson Hyperlegible Next"/>
                    <a:ea typeface="Arial"/>
                    <a:cs typeface="Arial"/>
                    <a:sym typeface="Arial"/>
                  </a:rPr>
                  <a:t> subscript. This matrix is no longer static.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You must </a:t>
                </a:r>
                <a:r>
                  <a:rPr lang="en-US" sz="2400" b="1" dirty="0">
                    <a:latin typeface="Atkinson Hyperlegible Next"/>
                    <a:ea typeface="Arial"/>
                    <a:cs typeface="Arial"/>
                    <a:sym typeface="Arial"/>
                  </a:rPr>
                  <a:t>re-calculate</a:t>
                </a:r>
                <a:r>
                  <a:rPr lang="en-US" sz="2400" dirty="0">
                    <a:latin typeface="Atkinson Hyperlegible Next"/>
                    <a:ea typeface="Arial"/>
                    <a:cs typeface="Arial"/>
                    <a:sym typeface="Arial"/>
                  </a:rPr>
                  <a:t>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𝐹</m:t>
                        </m:r>
                      </m:e>
                      <m:sub>
                        <m:r>
                          <a:rPr lang="en-US" sz="2400" i="1" dirty="0" err="1" smtClean="0">
                            <a:latin typeface="Cambria Math" panose="02040503050406030204" pitchFamily="18" charset="0"/>
                            <a:ea typeface="Arial"/>
                            <a:cs typeface="Arial"/>
                            <a:sym typeface="Arial"/>
                          </a:rPr>
                          <m:t>𝑘</m:t>
                        </m:r>
                      </m:sub>
                    </m:sSub>
                  </m:oMath>
                </a14:m>
                <a:r>
                  <a:rPr lang="en-US" sz="2400" dirty="0">
                    <a:latin typeface="Atkinson Hyperlegible Next"/>
                    <a:ea typeface="Arial"/>
                    <a:cs typeface="Arial"/>
                    <a:sym typeface="Arial"/>
                  </a:rPr>
                  <a:t> on your microcontroller every single loop based on your </a:t>
                </a:r>
                <a:r>
                  <a:rPr lang="en-US" sz="2400" b="1" dirty="0">
                    <a:latin typeface="Atkinson Hyperlegible Next"/>
                    <a:ea typeface="Arial"/>
                    <a:cs typeface="Arial"/>
                    <a:sym typeface="Arial"/>
                  </a:rPr>
                  <a:t>current velocity and heading</a:t>
                </a:r>
                <a:r>
                  <a:rPr lang="en-US" sz="24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C93FF1CE-5C3F-A722-0400-C61A7F080517}"/>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1C00726-012A-E73E-7F60-20838BF464B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43AEF18-9348-903F-A003-A1816BDEB17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(10/22)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CF342E9-1CB4-361A-3695-862A026A0B1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3AD82E1-6875-2A40-EFC9-45046E3B5A9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BD7D62-3B56-AEC7-060B-EAE81D7F711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CC94C3D-5445-D555-5DBA-784FF6B9EFA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6E6F0B2-C1F2-6A32-257E-BCB00D62F3C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B27D17B-D4D3-2125-7362-BD4DC15EEA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704288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6AD8CB2A-9A8D-5795-0CFA-D3BAB932B43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A59559A-EF40-1CB1-9D96-3015EF99445B}"/>
              </a:ext>
            </a:extLst>
          </p:cNvPr>
          <p:cNvGrpSpPr/>
          <p:nvPr/>
        </p:nvGrpSpPr>
        <p:grpSpPr>
          <a:xfrm>
            <a:off x="2206906" y="2296815"/>
            <a:ext cx="7778187" cy="1508744"/>
            <a:chOff x="2206906" y="1491040"/>
            <a:chExt cx="7778187" cy="1508744"/>
          </a:xfrm>
        </p:grpSpPr>
        <p:sp>
          <p:nvSpPr>
            <p:cNvPr id="89" name="Google Shape;89;p27">
              <a:extLst>
                <a:ext uri="{FF2B5EF4-FFF2-40B4-BE49-F238E27FC236}">
                  <a16:creationId xmlns:a16="http://schemas.microsoft.com/office/drawing/2014/main" id="{9F8BA038-8A45-1E45-2E72-99014E53AE4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Predict (3/3)</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F3346009-86DF-4EAA-7E15-5FE993D911D3}"/>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0CECEDD4-E737-A9E0-C27E-867274E49653}"/>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DB857650-7CE7-0F40-486D-829DF916318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B47566FB-1603-B23A-05F6-2BFB021DDB5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8AB3215F-21FF-93E7-54FD-C540D2C3FE1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AC75DD8B-2894-635F-B7F7-CBFB25568248}"/>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E047F730-9070-E25E-3BCB-948EBF53E065}"/>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0CB1B4A9-0787-4FAE-9995-8B4B722C268B}"/>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8718840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A1A3043-9F0D-CE3C-8D7D-ADE922C4709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12850F2-10E4-496C-196A-B3F30AC9FB5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structure of the Kalman filter remains exactly the same, we just swap in our non-linear functions and our newly derived Jacobian.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State Prediction</a:t>
                </a:r>
                <a:r>
                  <a:rPr lang="en-US" sz="2000" dirty="0">
                    <a:latin typeface="Atkinson Hyperlegible Next"/>
                    <a:ea typeface="Arial"/>
                    <a:cs typeface="Arial"/>
                    <a:sym typeface="Arial"/>
                  </a:rPr>
                  <a:t>: Instead of the </a:t>
                </a:r>
                <a14:m>
                  <m:oMath xmlns:m="http://schemas.openxmlformats.org/officeDocument/2006/math">
                    <m:r>
                      <a:rPr lang="en-US" sz="2000" i="1" dirty="0" smtClean="0">
                        <a:latin typeface="Cambria Math" panose="02040503050406030204" pitchFamily="18" charset="0"/>
                        <a:ea typeface="Arial"/>
                        <a:cs typeface="Arial"/>
                        <a:sym typeface="Arial"/>
                      </a:rPr>
                      <m:t>𝐹</m:t>
                    </m:r>
                  </m:oMath>
                </a14:m>
                <a:r>
                  <a:rPr lang="en-US" sz="2000" dirty="0">
                    <a:latin typeface="Atkinson Hyperlegible Next"/>
                    <a:ea typeface="Arial"/>
                    <a:cs typeface="Arial"/>
                    <a:sym typeface="Arial"/>
                  </a:rPr>
                  <a:t> matrix here and just use the raw, non-linear physics equations (let's call the function </a:t>
                </a:r>
                <a14:m>
                  <m:oMath xmlns:m="http://schemas.openxmlformats.org/officeDocument/2006/math">
                    <m:r>
                      <a:rPr lang="en-US" sz="2000" i="1" dirty="0" smtClean="0">
                        <a:latin typeface="Cambria Math" panose="02040503050406030204" pitchFamily="18" charset="0"/>
                        <a:ea typeface="Arial"/>
                        <a:cs typeface="Arial"/>
                        <a:sym typeface="Arial"/>
                      </a:rPr>
                      <m:t>𝑔</m:t>
                    </m:r>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cs typeface="Arial"/>
                              <a:sym typeface="Arial"/>
                            </a:rPr>
                          </m:ctrlPr>
                        </m:sSubPr>
                        <m:e>
                          <m:r>
                            <a:rPr lang="en-US" sz="2000" i="1" smtClean="0">
                              <a:latin typeface="Cambria Math" panose="02040503050406030204" pitchFamily="18" charset="0"/>
                              <a:cs typeface="Arial"/>
                              <a:sym typeface="Arial"/>
                            </a:rPr>
                            <m:t>𝑥</m:t>
                          </m:r>
                        </m:e>
                        <m:sub>
                          <m:r>
                            <a:rPr lang="en-US" sz="2000" i="1" smtClean="0">
                              <a:latin typeface="Cambria Math" panose="02040503050406030204" pitchFamily="18" charset="0"/>
                              <a:cs typeface="Arial"/>
                              <a:sym typeface="Arial"/>
                            </a:rPr>
                            <m:t>𝑘</m:t>
                          </m:r>
                          <m:r>
                            <a:rPr lang="en-US" sz="2000" b="0" i="1" smtClean="0">
                              <a:latin typeface="Cambria Math" panose="02040503050406030204" pitchFamily="18" charset="0"/>
                              <a:cs typeface="Arial"/>
                              <a:sym typeface="Arial"/>
                            </a:rPr>
                            <m:t>|</m:t>
                          </m:r>
                          <m:r>
                            <a:rPr lang="en-US" sz="2000" i="1" smtClean="0">
                              <a:latin typeface="Cambria Math" panose="02040503050406030204" pitchFamily="18" charset="0"/>
                              <a:cs typeface="Arial"/>
                              <a:sym typeface="Arial"/>
                            </a:rPr>
                            <m:t>𝑘</m:t>
                          </m:r>
                          <m:r>
                            <a:rPr lang="en-US" sz="2000" i="1" smtClean="0">
                              <a:latin typeface="Cambria Math" panose="02040503050406030204" pitchFamily="18" charset="0"/>
                              <a:cs typeface="Arial"/>
                              <a:sym typeface="Arial"/>
                            </a:rPr>
                            <m:t>−1</m:t>
                          </m:r>
                        </m:sub>
                      </m:sSub>
                      <m:r>
                        <a:rPr lang="en-US" sz="2000" i="1" smtClean="0">
                          <a:latin typeface="Cambria Math" panose="02040503050406030204" pitchFamily="18" charset="0"/>
                          <a:cs typeface="Arial"/>
                          <a:sym typeface="Arial"/>
                        </a:rPr>
                        <m:t>=</m:t>
                      </m:r>
                      <m:r>
                        <a:rPr lang="en-US" sz="2000" i="1" smtClean="0">
                          <a:latin typeface="Cambria Math" panose="02040503050406030204" pitchFamily="18" charset="0"/>
                          <a:cs typeface="Arial"/>
                          <a:sym typeface="Arial"/>
                        </a:rPr>
                        <m:t>𝑔</m:t>
                      </m:r>
                      <m:d>
                        <m:dPr>
                          <m:ctrlPr>
                            <a:rPr lang="en-US" sz="2000" i="1" smtClean="0">
                              <a:latin typeface="Cambria Math" panose="02040503050406030204" pitchFamily="18" charset="0"/>
                              <a:cs typeface="Arial"/>
                              <a:sym typeface="Arial"/>
                            </a:rPr>
                          </m:ctrlPr>
                        </m:dPr>
                        <m:e>
                          <m:sSub>
                            <m:sSubPr>
                              <m:ctrlPr>
                                <a:rPr lang="en-US" sz="2000" i="1" smtClean="0">
                                  <a:latin typeface="Cambria Math" panose="02040503050406030204" pitchFamily="18" charset="0"/>
                                  <a:cs typeface="Arial"/>
                                  <a:sym typeface="Arial"/>
                                </a:rPr>
                              </m:ctrlPr>
                            </m:sSubPr>
                            <m:e>
                              <m:r>
                                <a:rPr lang="en-US" sz="2000" i="1" smtClean="0">
                                  <a:latin typeface="Cambria Math" panose="02040503050406030204" pitchFamily="18" charset="0"/>
                                  <a:cs typeface="Arial"/>
                                  <a:sym typeface="Arial"/>
                                </a:rPr>
                                <m:t>𝑥</m:t>
                              </m:r>
                            </m:e>
                            <m:sub>
                              <m:r>
                                <a:rPr lang="en-US" sz="2000" i="1" smtClean="0">
                                  <a:latin typeface="Cambria Math" panose="02040503050406030204" pitchFamily="18" charset="0"/>
                                  <a:cs typeface="Arial"/>
                                  <a:sym typeface="Arial"/>
                                </a:rPr>
                                <m:t>𝑘</m:t>
                              </m:r>
                              <m:r>
                                <a:rPr lang="en-US" sz="2000" i="1" smtClean="0">
                                  <a:latin typeface="Cambria Math" panose="02040503050406030204" pitchFamily="18" charset="0"/>
                                  <a:cs typeface="Arial"/>
                                  <a:sym typeface="Arial"/>
                                </a:rPr>
                                <m:t>−1|</m:t>
                              </m:r>
                              <m:r>
                                <a:rPr lang="en-US" sz="2000" i="1" smtClean="0">
                                  <a:latin typeface="Cambria Math" panose="02040503050406030204" pitchFamily="18" charset="0"/>
                                  <a:cs typeface="Arial"/>
                                  <a:sym typeface="Arial"/>
                                </a:rPr>
                                <m:t>𝑘</m:t>
                              </m:r>
                              <m:r>
                                <a:rPr lang="en-US" sz="2000" i="1" smtClean="0">
                                  <a:latin typeface="Cambria Math" panose="02040503050406030204" pitchFamily="18" charset="0"/>
                                  <a:cs typeface="Arial"/>
                                  <a:sym typeface="Arial"/>
                                </a:rPr>
                                <m:t>−1</m:t>
                              </m:r>
                            </m:sub>
                          </m:sSub>
                          <m:r>
                            <a:rPr lang="en-US" sz="2000" i="1" smtClean="0">
                              <a:latin typeface="Cambria Math" panose="02040503050406030204" pitchFamily="18" charset="0"/>
                              <a:cs typeface="Arial"/>
                              <a:sym typeface="Arial"/>
                            </a:rPr>
                            <m:t>,</m:t>
                          </m:r>
                          <m:sSub>
                            <m:sSubPr>
                              <m:ctrlPr>
                                <a:rPr lang="en-US" sz="2000" i="1" smtClean="0">
                                  <a:latin typeface="Cambria Math" panose="02040503050406030204" pitchFamily="18" charset="0"/>
                                  <a:cs typeface="Arial"/>
                                  <a:sym typeface="Arial"/>
                                </a:rPr>
                              </m:ctrlPr>
                            </m:sSubPr>
                            <m:e>
                              <m:r>
                                <a:rPr lang="en-US" sz="2000" i="1" smtClean="0">
                                  <a:latin typeface="Cambria Math" panose="02040503050406030204" pitchFamily="18" charset="0"/>
                                  <a:cs typeface="Arial"/>
                                  <a:sym typeface="Arial"/>
                                </a:rPr>
                                <m:t>𝑢</m:t>
                              </m:r>
                            </m:e>
                            <m:sub>
                              <m:r>
                                <a:rPr lang="en-US" sz="2000" i="1" smtClean="0">
                                  <a:latin typeface="Cambria Math" panose="02040503050406030204" pitchFamily="18" charset="0"/>
                                  <a:cs typeface="Arial"/>
                                  <a:sym typeface="Arial"/>
                                </a:rPr>
                                <m:t>𝑘</m:t>
                              </m:r>
                            </m:sub>
                          </m:sSub>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In our case </a:t>
                </a:r>
                <a14:m>
                  <m:oMath xmlns:m="http://schemas.openxmlformats.org/officeDocument/2006/math">
                    <m:r>
                      <a:rPr lang="en-US" sz="2000" i="1" dirty="0" smtClean="0">
                        <a:latin typeface="Cambria Math" panose="02040503050406030204" pitchFamily="18" charset="0"/>
                        <a:ea typeface="Arial"/>
                        <a:cs typeface="Arial"/>
                        <a:sym typeface="Arial"/>
                      </a:rPr>
                      <m:t>𝑔</m:t>
                    </m:r>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𝑋</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𝑌</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𝜃</m:t>
                        </m:r>
                      </m:e>
                    </m:d>
                  </m:oMath>
                </a14:m>
                <a:r>
                  <a:rPr lang="en-US" sz="2000" dirty="0">
                    <a:latin typeface="Atkinson Hyperlegible Next"/>
                    <a:ea typeface="Arial"/>
                    <a:cs typeface="Arial"/>
                    <a:sym typeface="Arial"/>
                  </a:rPr>
                  <a: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𝑋</m:t>
                          </m:r>
                        </m:e>
                        <m:sub>
                          <m:r>
                            <a:rPr lang="en-US" sz="2000" i="1" dirty="0">
                              <a:latin typeface="Cambria Math" panose="02040503050406030204" pitchFamily="18" charset="0"/>
                              <a:ea typeface="Arial"/>
                              <a:cs typeface="Arial"/>
                              <a:sym typeface="Arial"/>
                            </a:rPr>
                            <m:t>𝑛𝑒𝑤</m:t>
                          </m:r>
                        </m:sub>
                      </m:sSub>
                      <m:r>
                        <a:rPr lang="en-US" sz="2000" i="1" dirty="0">
                          <a:latin typeface="Cambria Math" panose="02040503050406030204" pitchFamily="18" charset="0"/>
                          <a:ea typeface="Arial"/>
                          <a:cs typeface="Arial"/>
                          <a:sym typeface="Arial"/>
                        </a:rPr>
                        <m:t>=</m:t>
                      </m:r>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𝑋</m:t>
                          </m:r>
                        </m:e>
                        <m:sub>
                          <m:r>
                            <a:rPr lang="en-US" sz="2000" i="1" dirty="0">
                              <a:latin typeface="Cambria Math" panose="02040503050406030204" pitchFamily="18" charset="0"/>
                              <a:ea typeface="Arial"/>
                              <a:cs typeface="Arial"/>
                              <a:sym typeface="Arial"/>
                            </a:rPr>
                            <m:t>𝑜𝑙𝑑</m:t>
                          </m:r>
                        </m:sub>
                      </m:sSub>
                      <m:r>
                        <a:rPr lang="en-US" sz="2000" i="1" dirty="0">
                          <a:latin typeface="Cambria Math" panose="02040503050406030204" pitchFamily="18" charset="0"/>
                          <a:ea typeface="Arial"/>
                          <a:cs typeface="Arial"/>
                          <a:sym typeface="Arial"/>
                        </a:rPr>
                        <m:t>+</m:t>
                      </m:r>
                      <m:r>
                        <a:rPr lang="en-US" sz="2000" i="1" dirty="0">
                          <a:latin typeface="Cambria Math" panose="02040503050406030204" pitchFamily="18" charset="0"/>
                          <a:ea typeface="Arial"/>
                          <a:cs typeface="Arial"/>
                          <a:sym typeface="Arial"/>
                        </a:rPr>
                        <m:t>𝑣</m:t>
                      </m:r>
                      <m:func>
                        <m:funcPr>
                          <m:ctrlPr>
                            <a:rPr lang="en-US" sz="2000" i="1" dirty="0">
                              <a:latin typeface="Cambria Math" panose="02040503050406030204" pitchFamily="18" charset="0"/>
                              <a:ea typeface="Arial"/>
                              <a:cs typeface="Arial"/>
                              <a:sym typeface="Arial"/>
                            </a:rPr>
                          </m:ctrlPr>
                        </m:funcPr>
                        <m:fName>
                          <m:r>
                            <m:rPr>
                              <m:sty m:val="p"/>
                            </m:rPr>
                            <a:rPr lang="en-US" sz="2000" dirty="0">
                              <a:latin typeface="Cambria Math" panose="02040503050406030204" pitchFamily="18" charset="0"/>
                              <a:ea typeface="Arial"/>
                              <a:cs typeface="Arial"/>
                              <a:sym typeface="Arial"/>
                            </a:rPr>
                            <m:t>cos</m:t>
                          </m:r>
                        </m:fName>
                        <m:e>
                          <m:d>
                            <m:dPr>
                              <m:ctrlPr>
                                <a:rPr lang="en-US" sz="2000" i="1" dirty="0">
                                  <a:latin typeface="Cambria Math" panose="02040503050406030204" pitchFamily="18" charset="0"/>
                                  <a:ea typeface="Arial"/>
                                  <a:cs typeface="Arial"/>
                                  <a:sym typeface="Arial"/>
                                </a:rPr>
                              </m:ctrlPr>
                            </m:dPr>
                            <m:e>
                              <m:r>
                                <a:rPr lang="en-US" sz="2000" i="1" dirty="0">
                                  <a:latin typeface="Cambria Math" panose="02040503050406030204" pitchFamily="18" charset="0"/>
                                  <a:ea typeface="Arial"/>
                                  <a:cs typeface="Arial"/>
                                  <a:sym typeface="Arial"/>
                                </a:rPr>
                                <m:t>𝜃</m:t>
                              </m:r>
                            </m:e>
                          </m:d>
                        </m:e>
                      </m:func>
                      <m:r>
                        <a:rPr lang="en-US" sz="2000" i="1" dirty="0">
                          <a:latin typeface="Cambria Math" panose="02040503050406030204" pitchFamily="18" charset="0"/>
                          <a:ea typeface="Arial"/>
                          <a:cs typeface="Arial"/>
                          <a:sym typeface="Arial"/>
                        </a:rPr>
                        <m:t>𝑑𝑡</m:t>
                      </m:r>
                    </m:oMath>
                  </m:oMathPara>
                </a14:m>
                <a:endParaRPr lang="en-US" sz="20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𝑌</m:t>
                          </m:r>
                        </m:e>
                        <m:sub>
                          <m:r>
                            <a:rPr lang="en-US" sz="2000" i="1" dirty="0">
                              <a:latin typeface="Cambria Math" panose="02040503050406030204" pitchFamily="18" charset="0"/>
                              <a:ea typeface="Arial"/>
                              <a:cs typeface="Arial"/>
                              <a:sym typeface="Arial"/>
                            </a:rPr>
                            <m:t>𝑛𝑒𝑤</m:t>
                          </m:r>
                        </m:sub>
                      </m:sSub>
                      <m:r>
                        <a:rPr lang="en-US" sz="2000" i="1" dirty="0">
                          <a:latin typeface="Cambria Math" panose="02040503050406030204" pitchFamily="18" charset="0"/>
                          <a:ea typeface="Arial"/>
                          <a:cs typeface="Arial"/>
                          <a:sym typeface="Arial"/>
                        </a:rPr>
                        <m:t>=</m:t>
                      </m:r>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𝑌</m:t>
                          </m:r>
                        </m:e>
                        <m:sub>
                          <m:r>
                            <a:rPr lang="en-US" sz="2000" i="1" dirty="0">
                              <a:latin typeface="Cambria Math" panose="02040503050406030204" pitchFamily="18" charset="0"/>
                              <a:ea typeface="Arial"/>
                              <a:cs typeface="Arial"/>
                              <a:sym typeface="Arial"/>
                            </a:rPr>
                            <m:t>𝑜𝑙𝑑</m:t>
                          </m:r>
                        </m:sub>
                      </m:sSub>
                      <m:r>
                        <a:rPr lang="en-US" sz="2000" i="1" dirty="0">
                          <a:latin typeface="Cambria Math" panose="02040503050406030204" pitchFamily="18" charset="0"/>
                          <a:ea typeface="Arial"/>
                          <a:cs typeface="Arial"/>
                          <a:sym typeface="Arial"/>
                        </a:rPr>
                        <m:t>+</m:t>
                      </m:r>
                      <m:r>
                        <a:rPr lang="en-US" sz="2000" i="1" dirty="0">
                          <a:latin typeface="Cambria Math" panose="02040503050406030204" pitchFamily="18" charset="0"/>
                          <a:ea typeface="Arial"/>
                          <a:cs typeface="Arial"/>
                          <a:sym typeface="Arial"/>
                        </a:rPr>
                        <m:t>𝑣</m:t>
                      </m:r>
                      <m:func>
                        <m:funcPr>
                          <m:ctrlPr>
                            <a:rPr lang="en-US" sz="2000" i="1" dirty="0">
                              <a:latin typeface="Cambria Math" panose="02040503050406030204" pitchFamily="18" charset="0"/>
                              <a:ea typeface="Arial"/>
                              <a:cs typeface="Arial"/>
                              <a:sym typeface="Arial"/>
                            </a:rPr>
                          </m:ctrlPr>
                        </m:funcPr>
                        <m:fName>
                          <m:r>
                            <m:rPr>
                              <m:sty m:val="p"/>
                            </m:rPr>
                            <a:rPr lang="en-US" sz="2000" dirty="0">
                              <a:latin typeface="Cambria Math" panose="02040503050406030204" pitchFamily="18" charset="0"/>
                              <a:ea typeface="Arial"/>
                              <a:cs typeface="Arial"/>
                              <a:sym typeface="Arial"/>
                            </a:rPr>
                            <m:t>sin</m:t>
                          </m:r>
                        </m:fName>
                        <m:e>
                          <m:d>
                            <m:dPr>
                              <m:ctrlPr>
                                <a:rPr lang="en-US" sz="2000" i="1" dirty="0">
                                  <a:latin typeface="Cambria Math" panose="02040503050406030204" pitchFamily="18" charset="0"/>
                                  <a:ea typeface="Arial"/>
                                  <a:cs typeface="Arial"/>
                                  <a:sym typeface="Arial"/>
                                </a:rPr>
                              </m:ctrlPr>
                            </m:dPr>
                            <m:e>
                              <m:r>
                                <a:rPr lang="en-US" sz="2000" i="1" dirty="0">
                                  <a:latin typeface="Cambria Math" panose="02040503050406030204" pitchFamily="18" charset="0"/>
                                  <a:ea typeface="Arial"/>
                                  <a:cs typeface="Arial"/>
                                  <a:sym typeface="Arial"/>
                                </a:rPr>
                                <m:t>𝜃</m:t>
                              </m:r>
                            </m:e>
                          </m:d>
                        </m:e>
                      </m:func>
                      <m:r>
                        <a:rPr lang="en-US" sz="2000" i="1" dirty="0">
                          <a:latin typeface="Cambria Math" panose="02040503050406030204" pitchFamily="18" charset="0"/>
                          <a:ea typeface="Arial"/>
                          <a:cs typeface="Arial"/>
                          <a:sym typeface="Arial"/>
                        </a:rPr>
                        <m:t>𝑑𝑡</m:t>
                      </m:r>
                    </m:oMath>
                  </m:oMathPara>
                </a14:m>
                <a:endParaRPr lang="en-US" sz="20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𝜃</m:t>
                          </m:r>
                        </m:e>
                        <m:sub>
                          <m:r>
                            <a:rPr lang="en-US" sz="2000" i="1" dirty="0">
                              <a:latin typeface="Cambria Math" panose="02040503050406030204" pitchFamily="18" charset="0"/>
                              <a:ea typeface="Arial"/>
                              <a:cs typeface="Arial"/>
                              <a:sym typeface="Arial"/>
                            </a:rPr>
                            <m:t>𝑛𝑒𝑤</m:t>
                          </m:r>
                        </m:sub>
                      </m:sSub>
                      <m:r>
                        <a:rPr lang="en-US" sz="2000" i="1" dirty="0">
                          <a:latin typeface="Cambria Math" panose="02040503050406030204" pitchFamily="18" charset="0"/>
                          <a:ea typeface="Arial"/>
                          <a:cs typeface="Arial"/>
                          <a:sym typeface="Arial"/>
                        </a:rPr>
                        <m:t>=</m:t>
                      </m:r>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𝜃</m:t>
                          </m:r>
                        </m:e>
                        <m:sub>
                          <m:r>
                            <a:rPr lang="en-US" sz="2000" i="1" dirty="0">
                              <a:latin typeface="Cambria Math" panose="02040503050406030204" pitchFamily="18" charset="0"/>
                              <a:ea typeface="Arial"/>
                              <a:cs typeface="Arial"/>
                              <a:sym typeface="Arial"/>
                            </a:rPr>
                            <m:t>𝑜𝑙𝑑</m:t>
                          </m:r>
                        </m:sub>
                      </m:sSub>
                      <m:r>
                        <a:rPr lang="en-US" sz="2000" i="1" dirty="0">
                          <a:latin typeface="Cambria Math" panose="02040503050406030204" pitchFamily="18" charset="0"/>
                          <a:ea typeface="Arial"/>
                          <a:cs typeface="Arial"/>
                          <a:sym typeface="Arial"/>
                        </a:rPr>
                        <m:t>+</m:t>
                      </m:r>
                      <m:r>
                        <a:rPr lang="en-US" sz="2000" i="1" dirty="0">
                          <a:latin typeface="Cambria Math" panose="02040503050406030204" pitchFamily="18" charset="0"/>
                          <a:ea typeface="Arial"/>
                          <a:cs typeface="Arial"/>
                          <a:sym typeface="Arial"/>
                        </a:rPr>
                        <m:t>𝜔</m:t>
                      </m:r>
                      <m:r>
                        <a:rPr lang="en-US" sz="2000" i="1" dirty="0">
                          <a:latin typeface="Cambria Math" panose="02040503050406030204" pitchFamily="18" charset="0"/>
                          <a:ea typeface="Arial"/>
                          <a:cs typeface="Arial"/>
                          <a:sym typeface="Arial"/>
                        </a:rPr>
                        <m:t>𝑑𝑡</m:t>
                      </m:r>
                    </m:oMath>
                  </m:oMathPara>
                </a14:m>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D12850F2-10E4-496C-196A-B3F30AC9FB52}"/>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r="-1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DD097E8-2BFE-1B37-97AB-959BAD5EA05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2100F42-3771-278A-E3BE-CCE428DDCA9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(11/22)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1EC150E-F6C8-9B22-24DC-BDF598D0C23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0B0B6E0-4800-9B48-320C-EF9D41F0C15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1DFB19B-EFE6-30CC-5047-857D6FA1870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04F13E7-6559-36B2-552A-DCFFA24AC31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2A7AC65-81E0-FA2F-69ED-698521BB7DE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1FEA173-D3FC-4ACA-836F-AF8FB6F579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948045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A06E977-3F53-56C9-D0BB-492027DC209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E709B19-F163-7BB4-E0B2-D476D7C12A8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latin typeface="Atkinson Hyperlegible Next"/>
                    <a:ea typeface="Arial"/>
                    <a:cs typeface="Arial"/>
                    <a:sym typeface="Arial"/>
                  </a:rPr>
                  <a:t>Covariance Prediction</a:t>
                </a:r>
                <a:r>
                  <a:rPr lang="en-US" sz="2400" dirty="0">
                    <a:latin typeface="Atkinson Hyperlegible Next"/>
                    <a:ea typeface="Arial"/>
                    <a:cs typeface="Arial"/>
                    <a:sym typeface="Arial"/>
                  </a:rPr>
                  <a:t>: We use our calculated Jacobian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𝐹</m:t>
                        </m:r>
                      </m:e>
                      <m:sub>
                        <m:r>
                          <a:rPr lang="en-US" sz="2400" i="1" dirty="0" err="1" smtClean="0">
                            <a:latin typeface="Cambria Math" panose="02040503050406030204" pitchFamily="18" charset="0"/>
                            <a:ea typeface="Arial"/>
                            <a:cs typeface="Arial"/>
                            <a:sym typeface="Arial"/>
                          </a:rPr>
                          <m:t>𝑘</m:t>
                        </m:r>
                      </m:sub>
                    </m:sSub>
                  </m:oMath>
                </a14:m>
                <a:r>
                  <a:rPr lang="en-US" sz="2400" dirty="0">
                    <a:latin typeface="Atkinson Hyperlegible Next"/>
                    <a:ea typeface="Arial"/>
                    <a:cs typeface="Arial"/>
                    <a:sym typeface="Arial"/>
                  </a:rPr>
                  <a:t> to warp the uncertainty ellipse properly.</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𝑃</m:t>
                          </m:r>
                        </m:e>
                        <m:sub>
                          <m:r>
                            <a:rPr lang="en-US" sz="2400" i="1" dirty="0" smtClean="0">
                              <a:latin typeface="Cambria Math" panose="02040503050406030204" pitchFamily="18" charset="0"/>
                              <a:ea typeface="Arial"/>
                              <a:cs typeface="Arial"/>
                              <a:sym typeface="Arial"/>
                            </a:rPr>
                            <m:t>𝑘</m:t>
                          </m:r>
                          <m:r>
                            <a:rPr lang="en-US" sz="2400" b="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𝑘</m:t>
                          </m:r>
                          <m:r>
                            <a:rPr lang="en-US" sz="2400" i="1" dirty="0" smtClean="0">
                              <a:latin typeface="Cambria Math" panose="02040503050406030204" pitchFamily="18" charset="0"/>
                              <a:ea typeface="Arial"/>
                              <a:cs typeface="Arial"/>
                              <a:sym typeface="Arial"/>
                            </a:rPr>
                            <m:t>−1</m:t>
                          </m:r>
                        </m:sub>
                      </m:sSub>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𝐹</m:t>
                          </m:r>
                        </m:e>
                        <m:sub>
                          <m:r>
                            <a:rPr lang="en-US" sz="2400" i="1" dirty="0" err="1" smtClean="0">
                              <a:latin typeface="Cambria Math" panose="02040503050406030204" pitchFamily="18" charset="0"/>
                              <a:ea typeface="Arial"/>
                              <a:cs typeface="Arial"/>
                              <a:sym typeface="Arial"/>
                            </a:rPr>
                            <m:t>𝑘</m:t>
                          </m:r>
                        </m:sub>
                      </m:sSub>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𝑃</m:t>
                          </m:r>
                        </m:e>
                        <m:sub>
                          <m:r>
                            <a:rPr lang="en-US" sz="2400" i="1" dirty="0" smtClean="0">
                              <a:latin typeface="Cambria Math" panose="02040503050406030204" pitchFamily="18" charset="0"/>
                              <a:ea typeface="Arial"/>
                              <a:cs typeface="Arial"/>
                              <a:sym typeface="Arial"/>
                            </a:rPr>
                            <m:t>𝑘</m:t>
                          </m:r>
                          <m:r>
                            <a:rPr lang="en-US" sz="2400" i="1" dirty="0" smtClean="0">
                              <a:latin typeface="Cambria Math" panose="02040503050406030204" pitchFamily="18" charset="0"/>
                              <a:ea typeface="Arial"/>
                              <a:cs typeface="Arial"/>
                              <a:sym typeface="Arial"/>
                            </a:rPr>
                            <m:t>−1|</m:t>
                          </m:r>
                          <m:r>
                            <a:rPr lang="en-US" sz="2400" i="1" dirty="0" smtClean="0">
                              <a:latin typeface="Cambria Math" panose="02040503050406030204" pitchFamily="18" charset="0"/>
                              <a:ea typeface="Arial"/>
                              <a:cs typeface="Arial"/>
                              <a:sym typeface="Arial"/>
                            </a:rPr>
                            <m:t>𝑘</m:t>
                          </m:r>
                          <m:r>
                            <a:rPr lang="en-US" sz="2400" i="1" dirty="0" smtClean="0">
                              <a:latin typeface="Cambria Math" panose="02040503050406030204" pitchFamily="18" charset="0"/>
                              <a:ea typeface="Arial"/>
                              <a:cs typeface="Arial"/>
                              <a:sym typeface="Arial"/>
                            </a:rPr>
                            <m:t>−1</m:t>
                          </m:r>
                        </m:sub>
                      </m:sSub>
                      <m:sSubSup>
                        <m:sSubSupPr>
                          <m:ctrlPr>
                            <a:rPr lang="en-US" sz="2400" i="1" dirty="0" err="1" smtClean="0">
                              <a:latin typeface="Cambria Math" panose="02040503050406030204" pitchFamily="18" charset="0"/>
                              <a:ea typeface="Arial"/>
                              <a:cs typeface="Arial"/>
                              <a:sym typeface="Arial"/>
                            </a:rPr>
                          </m:ctrlPr>
                        </m:sSubSupPr>
                        <m:e>
                          <m:r>
                            <a:rPr lang="en-US" sz="2400" i="1" dirty="0" err="1" smtClean="0">
                              <a:latin typeface="Cambria Math" panose="02040503050406030204" pitchFamily="18" charset="0"/>
                              <a:ea typeface="Arial"/>
                              <a:cs typeface="Arial"/>
                              <a:sym typeface="Arial"/>
                            </a:rPr>
                            <m:t>𝐹</m:t>
                          </m:r>
                        </m:e>
                        <m:sub>
                          <m:r>
                            <a:rPr lang="en-US" sz="2400" i="1" dirty="0" err="1" smtClean="0">
                              <a:latin typeface="Cambria Math" panose="02040503050406030204" pitchFamily="18" charset="0"/>
                              <a:ea typeface="Arial"/>
                              <a:cs typeface="Arial"/>
                              <a:sym typeface="Arial"/>
                            </a:rPr>
                            <m:t>𝑘</m:t>
                          </m:r>
                        </m:sub>
                        <m:sup>
                          <m:r>
                            <a:rPr lang="en-US" sz="2400" i="1" dirty="0" err="1" smtClean="0">
                              <a:latin typeface="Cambria Math" panose="02040503050406030204" pitchFamily="18" charset="0"/>
                              <a:ea typeface="Arial"/>
                              <a:cs typeface="Arial"/>
                              <a:sym typeface="Arial"/>
                            </a:rPr>
                            <m:t>𝑇</m:t>
                          </m:r>
                        </m:sup>
                      </m:sSubSup>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𝑄</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What dimension is Q in our nonlinear case?</a:t>
                </a:r>
              </a:p>
            </p:txBody>
          </p:sp>
        </mc:Choice>
        <mc:Fallback xmlns="">
          <p:sp>
            <p:nvSpPr>
              <p:cNvPr id="118" name="Google Shape;118;p29">
                <a:extLst>
                  <a:ext uri="{FF2B5EF4-FFF2-40B4-BE49-F238E27FC236}">
                    <a16:creationId xmlns:a16="http://schemas.microsoft.com/office/drawing/2014/main" id="{2E709B19-F163-7BB4-E0B2-D476D7C12A8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0FD1F5E-F20D-46DE-9561-9CDAAC2A49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B3781B2-7043-A78E-FE40-3C1F1316604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(12/22)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9DDD1FD-A55E-5936-1203-55E7E97A73B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6638F4-3FB9-37FC-43FE-F31E4711FDB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C4C9F5A-FDA5-FD3B-0349-A27D923CCC8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8DE69AD-D6A3-7613-3C43-A8FB0DB28C3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B564A8F-9329-2359-1DA6-494905A255B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EA182BD-4F8D-A66D-9A50-9EB4B02233C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191419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0C61058-7C82-C561-7EE2-22D85E028D4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78A133C-1F0A-B05B-A98F-765ABC3A68C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88EF3D-A0A0-CE63-98D1-7F446B53D0E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(13/22)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42E247F-8288-5D75-034D-76935DADCDA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E4E6BD7-656F-461F-3A8A-C9A2DA3603F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A0785B1-6A62-383B-3E40-53E7EA3ADD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605A427-F696-84C5-53C1-DD6EB9AFD41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F28D31D-B6CD-7AD9-2BF8-B3E5E7306FD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D55CE9A-4D7D-5DA4-A562-CFA9BA24C44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Robot position uncertainty after a motion step, global X versus Y. From a start pose at the origin, a nominal update arrow points to about (3.5, 3.5). Thousands of Monte Carlo particles form a curved banana-shaped arc of radius about 5 around the start, running from (−5, 2) over the top to (5, −4). The EKF two-sigma ellipse, centered at the nominal point and tilted along the arc's tangent, covers only the middle of the arc. Its linearization misses the curvature and much of the true spread.">
            <a:extLst>
              <a:ext uri="{FF2B5EF4-FFF2-40B4-BE49-F238E27FC236}">
                <a16:creationId xmlns:a16="http://schemas.microsoft.com/office/drawing/2014/main" id="{BAB53DCF-39D4-00A6-32FB-1B692FF53B1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203137" y="868221"/>
            <a:ext cx="5785727" cy="5785727"/>
          </a:xfrm>
          <a:prstGeom prst="rect">
            <a:avLst/>
          </a:prstGeom>
        </p:spPr>
      </p:pic>
    </p:spTree>
    <p:extLst>
      <p:ext uri="{BB962C8B-B14F-4D97-AF65-F5344CB8AC3E}">
        <p14:creationId xmlns:p14="http://schemas.microsoft.com/office/powerpoint/2010/main" val="27499318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C25C843E-2917-7D30-EAED-3E9ACF3BE7F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3F1B886-A2FB-F21F-15E5-E049390E68D1}"/>
              </a:ext>
            </a:extLst>
          </p:cNvPr>
          <p:cNvGrpSpPr/>
          <p:nvPr/>
        </p:nvGrpSpPr>
        <p:grpSpPr>
          <a:xfrm>
            <a:off x="2206906" y="2296815"/>
            <a:ext cx="7778187" cy="1508744"/>
            <a:chOff x="2206906" y="1491040"/>
            <a:chExt cx="7778187" cy="1508744"/>
          </a:xfrm>
        </p:grpSpPr>
        <p:sp>
          <p:nvSpPr>
            <p:cNvPr id="89" name="Google Shape;89;p27">
              <a:extLst>
                <a:ext uri="{FF2B5EF4-FFF2-40B4-BE49-F238E27FC236}">
                  <a16:creationId xmlns:a16="http://schemas.microsoft.com/office/drawing/2014/main" id="{F1525255-F323-E525-5A31-24742B69DC5D}"/>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Update (3/3)</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C52AE850-B8B1-B5FB-3314-B9CDD207BF6E}"/>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EAF7C25A-74BC-5E87-A917-B7AEFE9E0B93}"/>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F4D2EEC2-3DE9-BD2C-9D2A-E3300580695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A281EA2F-10F9-2512-FA01-648E224787B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8D4CF60C-3E0E-6352-7880-E17D7655708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DBF2E64B-7ACD-6D01-1A6E-684D15E2BCAD}"/>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8B1B9476-FF04-1CD7-EF23-0936AECC1272}"/>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7E87DA1-C2BF-B577-B173-FBD88A1DB1FD}"/>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36548868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B966A2A-FC76-74B5-772A-77355A3A22B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177DE21-6B77-04D4-6244-F2DD982BD25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The same logic applies to sensors.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a sensor measurement is non-linear (like a radar measuring angle and distance), we use the non-linear measurement function </a:t>
                </a:r>
                <a14:m>
                  <m:oMath xmlns:m="http://schemas.openxmlformats.org/officeDocument/2006/math">
                    <m:r>
                      <a:rPr lang="en-US" sz="2400" i="1" dirty="0" smtClean="0">
                        <a:latin typeface="Cambria Math" panose="02040503050406030204" pitchFamily="18" charset="0"/>
                        <a:ea typeface="Arial"/>
                        <a:cs typeface="Arial"/>
                        <a:sym typeface="Arial"/>
                      </a:rPr>
                      <m:t>h</m:t>
                    </m:r>
                  </m:oMath>
                </a14:m>
                <a:r>
                  <a:rPr lang="en-US" sz="2400" dirty="0">
                    <a:latin typeface="Atkinson Hyperlegible Next"/>
                    <a:ea typeface="Arial"/>
                    <a:cs typeface="Arial"/>
                    <a:sym typeface="Arial"/>
                  </a:rPr>
                  <a:t> to predict the measurement, and a sensor Jacobian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𝐻</m:t>
                        </m:r>
                      </m:e>
                      <m:sub>
                        <m:r>
                          <a:rPr lang="en-US" sz="2400" i="1" dirty="0" smtClean="0">
                            <a:latin typeface="Cambria Math" panose="02040503050406030204" pitchFamily="18" charset="0"/>
                            <a:ea typeface="Arial"/>
                            <a:cs typeface="Arial"/>
                            <a:sym typeface="Arial"/>
                          </a:rPr>
                          <m:t>𝑘</m:t>
                        </m:r>
                      </m:sub>
                    </m:sSub>
                  </m:oMath>
                </a14:m>
                <a:r>
                  <a:rPr lang="en-US" sz="2400" dirty="0">
                    <a:latin typeface="Atkinson Hyperlegible Next"/>
                    <a:ea typeface="Arial"/>
                    <a:cs typeface="Arial"/>
                    <a:sym typeface="Arial"/>
                  </a:rPr>
                  <a:t> to calculate the gain.</a:t>
                </a:r>
              </a:p>
              <a:p>
                <a:pPr marL="0" indent="0">
                  <a:lnSpc>
                    <a:spcPct val="100000"/>
                  </a:lnSpc>
                  <a:spcBef>
                    <a:spcPts val="0"/>
                  </a:spcBef>
                  <a:buSzPts val="3000"/>
                  <a:buNone/>
                </a:pPr>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B177DE21-6B77-04D4-6244-F2DD982BD25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9F9D712-AB18-E5E6-4E16-E2B2FC38537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3089C76-53F9-1677-D637-FD1CCD82AF9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(14/22)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7655A5E-CFA9-B521-13D5-52ED011843A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9A4047B-5A68-BD6D-5808-A2A846B8F58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6B2DBC2-EB2F-84D4-AC2A-CD532660A8D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F70EA24-4877-7BF1-0336-7F62B93A2E8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04E03D2-1061-6926-C86F-599C43A14EC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F39646B-EE9E-D2F5-EA9B-4C547D66F8B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5357637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1089A31-2797-4751-B137-5969A9D3006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4740B13-0CF1-6C52-CCD9-083E1106772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Let's say our robot is being tracked by a stationary radar tower located at the origin </a:t>
                </a:r>
                <a14:m>
                  <m:oMath xmlns:m="http://schemas.openxmlformats.org/officeDocument/2006/math">
                    <m:d>
                      <m:dPr>
                        <m:ctrlPr>
                          <a:rPr lang="en-US" sz="2400" i="1">
                            <a:latin typeface="Cambria Math" panose="02040503050406030204" pitchFamily="18" charset="0"/>
                            <a:cs typeface="Arial"/>
                            <a:sym typeface="Arial"/>
                          </a:rPr>
                        </m:ctrlPr>
                      </m:dPr>
                      <m:e>
                        <m:r>
                          <a:rPr lang="en-US" sz="2400" i="1">
                            <a:latin typeface="Cambria Math" panose="02040503050406030204" pitchFamily="18" charset="0"/>
                            <a:cs typeface="Arial"/>
                            <a:sym typeface="Arial"/>
                          </a:rPr>
                          <m:t>0,0</m:t>
                        </m:r>
                      </m:e>
                    </m:d>
                  </m:oMath>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radar doesn't measure </a:t>
                </a:r>
                <a14:m>
                  <m:oMath xmlns:m="http://schemas.openxmlformats.org/officeDocument/2006/math">
                    <m:r>
                      <a:rPr lang="en-US" sz="2400" i="1" dirty="0">
                        <a:latin typeface="Cambria Math" panose="02040503050406030204" pitchFamily="18" charset="0"/>
                        <a:ea typeface="Arial"/>
                        <a:cs typeface="Arial"/>
                        <a:sym typeface="Arial"/>
                      </a:rPr>
                      <m:t>𝑋</m:t>
                    </m:r>
                  </m:oMath>
                </a14:m>
                <a:r>
                  <a:rPr lang="en-US" sz="2400" dirty="0">
                    <a:latin typeface="Atkinson Hyperlegible Next"/>
                    <a:ea typeface="Arial"/>
                    <a:cs typeface="Arial"/>
                    <a:sym typeface="Arial"/>
                  </a:rPr>
                  <a:t> and </a:t>
                </a:r>
                <a14:m>
                  <m:oMath xmlns:m="http://schemas.openxmlformats.org/officeDocument/2006/math">
                    <m:r>
                      <a:rPr lang="en-US" sz="2400" i="1" dirty="0">
                        <a:latin typeface="Cambria Math" panose="02040503050406030204" pitchFamily="18" charset="0"/>
                        <a:ea typeface="Arial"/>
                        <a:cs typeface="Arial"/>
                        <a:sym typeface="Arial"/>
                      </a:rPr>
                      <m:t>𝑌</m:t>
                    </m:r>
                  </m:oMath>
                </a14:m>
                <a:r>
                  <a:rPr lang="en-US" sz="2400" dirty="0">
                    <a:latin typeface="Atkinson Hyperlegible Next"/>
                    <a:ea typeface="Arial"/>
                    <a:cs typeface="Arial"/>
                    <a:sym typeface="Arial"/>
                  </a:rPr>
                  <a:t> coordinates. It outputs a measurement vector </a:t>
                </a:r>
                <a14:m>
                  <m:oMath xmlns:m="http://schemas.openxmlformats.org/officeDocument/2006/math">
                    <m:r>
                      <a:rPr lang="en-US" sz="2400" i="1" dirty="0">
                        <a:latin typeface="Cambria Math" panose="02040503050406030204" pitchFamily="18" charset="0"/>
                        <a:ea typeface="Arial"/>
                        <a:cs typeface="Arial"/>
                        <a:sym typeface="Arial"/>
                      </a:rPr>
                      <m:t>𝑧</m:t>
                    </m:r>
                  </m:oMath>
                </a14:m>
                <a:r>
                  <a:rPr lang="en-US" sz="2400" dirty="0">
                    <a:latin typeface="Atkinson Hyperlegible Next"/>
                    <a:ea typeface="Arial"/>
                    <a:cs typeface="Arial"/>
                    <a:sym typeface="Arial"/>
                  </a:rPr>
                  <a:t> containing two values: distance (</a:t>
                </a:r>
                <a14:m>
                  <m:oMath xmlns:m="http://schemas.openxmlformats.org/officeDocument/2006/math">
                    <m:r>
                      <a:rPr lang="en-US" sz="2400" i="1" dirty="0">
                        <a:latin typeface="Cambria Math" panose="02040503050406030204" pitchFamily="18" charset="0"/>
                        <a:ea typeface="Arial"/>
                        <a:cs typeface="Arial"/>
                        <a:sym typeface="Arial"/>
                      </a:rPr>
                      <m:t>𝑟</m:t>
                    </m:r>
                  </m:oMath>
                </a14:m>
                <a:r>
                  <a:rPr lang="en-US" sz="2400" dirty="0">
                    <a:latin typeface="Atkinson Hyperlegible Next"/>
                    <a:ea typeface="Arial"/>
                    <a:cs typeface="Arial"/>
                    <a:sym typeface="Arial"/>
                  </a:rPr>
                  <a:t>) and bearing angle (</a:t>
                </a:r>
                <a14:m>
                  <m:oMath xmlns:m="http://schemas.openxmlformats.org/officeDocument/2006/math">
                    <m:r>
                      <a:rPr lang="en-US" sz="2400" i="1" dirty="0">
                        <a:latin typeface="Cambria Math" panose="02040503050406030204" pitchFamily="18" charset="0"/>
                        <a:ea typeface="Arial"/>
                        <a:cs typeface="Arial"/>
                        <a:sym typeface="Arial"/>
                      </a:rPr>
                      <m:t>𝜙</m:t>
                    </m:r>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Arial"/>
                          <a:cs typeface="Arial"/>
                          <a:sym typeface="Arial"/>
                        </a:rPr>
                        <m:t>𝑧</m:t>
                      </m:r>
                      <m:r>
                        <a:rPr lang="en-US" sz="2400" i="1" dirty="0">
                          <a:latin typeface="Cambria Math" panose="02040503050406030204" pitchFamily="18" charset="0"/>
                          <a:ea typeface="Arial"/>
                          <a:cs typeface="Arial"/>
                          <a:sym typeface="Arial"/>
                        </a:rPr>
                        <m:t>=</m:t>
                      </m:r>
                      <m:d>
                        <m:dPr>
                          <m:begChr m:val="["/>
                          <m:endChr m:val="]"/>
                          <m:ctrlPr>
                            <a:rPr lang="en-US" sz="2400" i="1" dirty="0">
                              <a:latin typeface="Cambria Math" panose="02040503050406030204" pitchFamily="18" charset="0"/>
                              <a:ea typeface="Arial"/>
                              <a:cs typeface="Arial"/>
                              <a:sym typeface="Arial"/>
                            </a:rPr>
                          </m:ctrlPr>
                        </m:dPr>
                        <m:e>
                          <m:m>
                            <m:mPr>
                              <m:plcHide m:val="on"/>
                              <m:mcs>
                                <m:mc>
                                  <m:mcPr>
                                    <m:count m:val="1"/>
                                    <m:mcJc m:val="center"/>
                                  </m:mcPr>
                                </m:mc>
                              </m:mcs>
                              <m:ctrlPr>
                                <a:rPr lang="en-US" sz="2400" i="1" dirty="0">
                                  <a:latin typeface="Cambria Math" panose="02040503050406030204" pitchFamily="18" charset="0"/>
                                  <a:ea typeface="Arial"/>
                                  <a:cs typeface="Arial"/>
                                  <a:sym typeface="Arial"/>
                                </a:rPr>
                              </m:ctrlPr>
                            </m:mPr>
                            <m:mr>
                              <m:e>
                                <m:r>
                                  <a:rPr lang="en-US" sz="2400" i="1" dirty="0">
                                    <a:latin typeface="Cambria Math" panose="02040503050406030204" pitchFamily="18" charset="0"/>
                                    <a:ea typeface="Arial"/>
                                    <a:cs typeface="Arial"/>
                                    <a:sym typeface="Arial"/>
                                  </a:rPr>
                                  <m:t>𝑟</m:t>
                                </m:r>
                              </m:e>
                            </m:mr>
                            <m:mr>
                              <m:e>
                                <m:r>
                                  <a:rPr lang="en-US" sz="2400" i="1" dirty="0">
                                    <a:latin typeface="Cambria Math" panose="02040503050406030204" pitchFamily="18" charset="0"/>
                                    <a:ea typeface="Arial"/>
                                    <a:cs typeface="Arial"/>
                                    <a:sym typeface="Arial"/>
                                  </a:rPr>
                                  <m:t>𝜙</m:t>
                                </m:r>
                              </m:e>
                            </m:mr>
                          </m:m>
                        </m:e>
                      </m:d>
                    </m:oMath>
                  </m:oMathPara>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4740B13-0CF1-6C52-CCD9-083E1106772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6C81C90-AFF5-74BD-9A9A-5532A4B03A7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0C7CEB6-4706-EE78-4071-DBEF1630C93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(15/22)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8E1D893-72A5-383E-B20F-A461309E9E9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2D13700-FEA2-1480-E74A-4E5A4F8B046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7694DB1-70DB-880D-7412-E1D7BE3DDE5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3408FCC-35E0-9FAD-4572-34035E59D60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0F3E20B-C49C-93F3-4EB2-B423E67876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15F7FB2-46E1-4F32-C659-D5CB3150FB8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495451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7CD0FC6-0E36-2621-8F34-5B531838B74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A401537-2FBE-2248-F116-7A45F1653C3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During the Predict Step, we need to guess </a:t>
                </a:r>
                <a:r>
                  <a:rPr lang="en-US" sz="2400" b="1" dirty="0">
                    <a:latin typeface="Atkinson Hyperlegible Next"/>
                    <a:ea typeface="Arial"/>
                    <a:cs typeface="Arial"/>
                    <a:sym typeface="Arial"/>
                  </a:rPr>
                  <a:t>what the radar should see </a:t>
                </a:r>
                <a:r>
                  <a:rPr lang="en-US" sz="2400" dirty="0">
                    <a:latin typeface="Atkinson Hyperlegible Next"/>
                    <a:ea typeface="Arial"/>
                    <a:cs typeface="Arial"/>
                    <a:sym typeface="Arial"/>
                  </a:rPr>
                  <a:t>based on our internal belief of where we are (try to guess the radar measurement).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use geometry to map our state space into sensor space. This is our non-linear measurement function, </a:t>
                </a:r>
                <a14:m>
                  <m:oMath xmlns:m="http://schemas.openxmlformats.org/officeDocument/2006/math">
                    <m:r>
                      <a:rPr lang="en-US" sz="2400" i="1" smtClean="0">
                        <a:latin typeface="Cambria Math" panose="02040503050406030204" pitchFamily="18" charset="0"/>
                        <a:cs typeface="Arial"/>
                        <a:sym typeface="Arial"/>
                      </a:rPr>
                      <m:t>h</m:t>
                    </m:r>
                    <m:d>
                      <m:dPr>
                        <m:ctrlPr>
                          <a:rPr lang="en-US" sz="2400" i="1" smtClean="0">
                            <a:latin typeface="Cambria Math" panose="02040503050406030204" pitchFamily="18" charset="0"/>
                            <a:cs typeface="Arial"/>
                            <a:sym typeface="Arial"/>
                          </a:rPr>
                        </m:ctrlPr>
                      </m:dPr>
                      <m:e>
                        <m:r>
                          <a:rPr lang="en-US" sz="2400" i="1" smtClean="0">
                            <a:latin typeface="Cambria Math" panose="02040503050406030204" pitchFamily="18" charset="0"/>
                            <a:cs typeface="Arial"/>
                            <a:sym typeface="Arial"/>
                          </a:rPr>
                          <m:t>𝑥</m:t>
                        </m:r>
                      </m:e>
                    </m:d>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cs typeface="Arial"/>
                          <a:sym typeface="Arial"/>
                        </a:rPr>
                        <m:t>𝑟</m:t>
                      </m:r>
                      <m:r>
                        <a:rPr lang="en-US" sz="2400" i="1" smtClean="0">
                          <a:latin typeface="Cambria Math" panose="02040503050406030204" pitchFamily="18" charset="0"/>
                          <a:cs typeface="Arial"/>
                          <a:sym typeface="Arial"/>
                        </a:rPr>
                        <m:t>=</m:t>
                      </m:r>
                      <m:rad>
                        <m:radPr>
                          <m:degHide m:val="on"/>
                          <m:ctrlPr>
                            <a:rPr lang="en-US" sz="2400" i="1">
                              <a:latin typeface="Cambria Math" panose="02040503050406030204" pitchFamily="18" charset="0"/>
                              <a:cs typeface="Arial"/>
                              <a:sym typeface="Arial"/>
                            </a:rPr>
                          </m:ctrlPr>
                        </m:radPr>
                        <m:deg/>
                        <m:e>
                          <m:sSup>
                            <m:sSupPr>
                              <m:ctrlPr>
                                <a:rPr lang="en-US" sz="2400" i="1">
                                  <a:latin typeface="Cambria Math" panose="02040503050406030204" pitchFamily="18" charset="0"/>
                                  <a:cs typeface="Arial"/>
                                  <a:sym typeface="Arial"/>
                                </a:rPr>
                              </m:ctrlPr>
                            </m:sSupPr>
                            <m:e>
                              <m:r>
                                <a:rPr lang="en-US" sz="2400" i="1">
                                  <a:latin typeface="Cambria Math" panose="02040503050406030204" pitchFamily="18" charset="0"/>
                                  <a:cs typeface="Arial"/>
                                  <a:sym typeface="Arial"/>
                                </a:rPr>
                                <m:t>𝑋</m:t>
                              </m:r>
                            </m:e>
                            <m:sup>
                              <m:r>
                                <a:rPr lang="en-US" sz="2400" i="1">
                                  <a:latin typeface="Cambria Math" panose="02040503050406030204" pitchFamily="18" charset="0"/>
                                  <a:cs typeface="Arial"/>
                                  <a:sym typeface="Arial"/>
                                </a:rPr>
                                <m:t>2</m:t>
                              </m:r>
                            </m:sup>
                          </m:sSup>
                          <m:r>
                            <a:rPr lang="en-US" sz="2400" i="1">
                              <a:latin typeface="Cambria Math" panose="02040503050406030204" pitchFamily="18" charset="0"/>
                              <a:cs typeface="Arial"/>
                              <a:sym typeface="Arial"/>
                            </a:rPr>
                            <m:t>+</m:t>
                          </m:r>
                          <m:sSup>
                            <m:sSupPr>
                              <m:ctrlPr>
                                <a:rPr lang="en-US" sz="2400" i="1">
                                  <a:latin typeface="Cambria Math" panose="02040503050406030204" pitchFamily="18" charset="0"/>
                                  <a:cs typeface="Arial"/>
                                  <a:sym typeface="Arial"/>
                                </a:rPr>
                              </m:ctrlPr>
                            </m:sSupPr>
                            <m:e>
                              <m:r>
                                <a:rPr lang="en-US" sz="2400" i="1">
                                  <a:latin typeface="Cambria Math" panose="02040503050406030204" pitchFamily="18" charset="0"/>
                                  <a:cs typeface="Arial"/>
                                  <a:sym typeface="Arial"/>
                                </a:rPr>
                                <m:t>𝑌</m:t>
                              </m:r>
                            </m:e>
                            <m:sup>
                              <m:r>
                                <a:rPr lang="en-US" sz="2400" i="1">
                                  <a:latin typeface="Cambria Math" panose="02040503050406030204" pitchFamily="18" charset="0"/>
                                  <a:cs typeface="Arial"/>
                                  <a:sym typeface="Arial"/>
                                </a:rPr>
                                <m:t>2</m:t>
                              </m:r>
                            </m:sup>
                          </m:sSup>
                        </m:e>
                      </m:ra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cs typeface="Arial"/>
                          <a:sym typeface="Arial"/>
                        </a:rPr>
                        <m:t>𝜙</m:t>
                      </m:r>
                      <m:r>
                        <a:rPr lang="en-US" sz="2400" i="1" smtClean="0">
                          <a:latin typeface="Cambria Math" panose="02040503050406030204" pitchFamily="18" charset="0"/>
                          <a:cs typeface="Arial"/>
                          <a:sym typeface="Arial"/>
                        </a:rPr>
                        <m:t>=</m:t>
                      </m:r>
                      <m:func>
                        <m:funcPr>
                          <m:ctrlPr>
                            <a:rPr lang="en-US" sz="2400" i="1">
                              <a:latin typeface="Cambria Math" panose="02040503050406030204" pitchFamily="18" charset="0"/>
                              <a:cs typeface="Arial"/>
                              <a:sym typeface="Arial"/>
                            </a:rPr>
                          </m:ctrlPr>
                        </m:funcPr>
                        <m:fName>
                          <m:r>
                            <m:rPr>
                              <m:sty m:val="p"/>
                            </m:rPr>
                            <a:rPr lang="en-US" sz="2400" i="0">
                              <a:latin typeface="Cambria Math" panose="02040503050406030204" pitchFamily="18" charset="0"/>
                              <a:cs typeface="Arial"/>
                              <a:sym typeface="Arial"/>
                            </a:rPr>
                            <m:t>arctan</m:t>
                          </m:r>
                        </m:fName>
                        <m:e>
                          <m:d>
                            <m:dPr>
                              <m:ctrlPr>
                                <a:rPr lang="en-US" sz="2400" i="1">
                                  <a:latin typeface="Cambria Math" panose="02040503050406030204" pitchFamily="18" charset="0"/>
                                  <a:cs typeface="Arial"/>
                                  <a:sym typeface="Arial"/>
                                </a:rPr>
                              </m:ctrlPr>
                            </m:dPr>
                            <m:e>
                              <m:f>
                                <m:fPr>
                                  <m:ctrlPr>
                                    <a:rPr lang="en-US" sz="2400" i="1">
                                      <a:latin typeface="Cambria Math" panose="02040503050406030204" pitchFamily="18" charset="0"/>
                                      <a:cs typeface="Arial"/>
                                      <a:sym typeface="Arial"/>
                                    </a:rPr>
                                  </m:ctrlPr>
                                </m:fPr>
                                <m:num>
                                  <m:r>
                                    <a:rPr lang="en-US" sz="2400" i="1">
                                      <a:latin typeface="Cambria Math" panose="02040503050406030204" pitchFamily="18" charset="0"/>
                                      <a:cs typeface="Arial"/>
                                      <a:sym typeface="Arial"/>
                                    </a:rPr>
                                    <m:t>𝑌</m:t>
                                  </m:r>
                                </m:num>
                                <m:den>
                                  <m:r>
                                    <a:rPr lang="en-US" sz="2400" i="1">
                                      <a:latin typeface="Cambria Math" panose="02040503050406030204" pitchFamily="18" charset="0"/>
                                      <a:cs typeface="Arial"/>
                                      <a:sym typeface="Arial"/>
                                    </a:rPr>
                                    <m:t>𝑋</m:t>
                                  </m:r>
                                </m:den>
                              </m:f>
                            </m:e>
                          </m:d>
                        </m:e>
                      </m:func>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Just like kinematics, we cannot express this as a linear matrix multiplication. We must use Jacobians to linearize it!</a:t>
                </a:r>
              </a:p>
            </p:txBody>
          </p:sp>
        </mc:Choice>
        <mc:Fallback xmlns="">
          <p:sp>
            <p:nvSpPr>
              <p:cNvPr id="118" name="Google Shape;118;p29">
                <a:extLst>
                  <a:ext uri="{FF2B5EF4-FFF2-40B4-BE49-F238E27FC236}">
                    <a16:creationId xmlns:a16="http://schemas.microsoft.com/office/drawing/2014/main" id="{4A401537-2FBE-2248-F116-7A45F1653C3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709" b="-455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8428D59-20A6-D22C-C1E7-C4CA747E7A3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EEF21D7-8C78-B080-B03D-FAD2F28220C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(16/22)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7704064-AEE9-07E6-1377-CF82D720EC5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84DB86-71DB-422A-D99D-17C0DF696D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7028ADC-D701-04F5-0075-C7E6C55426E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0A609AE-8CCA-7CC6-235A-C217E37E54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D2E09B6-4D9D-C21D-66E7-9FDFD1C7661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D9ED7B0-8903-AF95-4AC0-28119AB1038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6106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C1FA05-7B16-6DE9-9DAA-A966E8198EA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4F8060F-EF5C-BA1B-C4A1-5EE5F8ED608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must take the partial derivatives of </a:t>
                </a:r>
                <a14:m>
                  <m:oMath xmlns:m="http://schemas.openxmlformats.org/officeDocument/2006/math">
                    <m:r>
                      <a:rPr lang="en-US" sz="2400" i="1" dirty="0" smtClean="0">
                        <a:latin typeface="Cambria Math" panose="02040503050406030204" pitchFamily="18" charset="0"/>
                        <a:ea typeface="Arial"/>
                        <a:cs typeface="Arial"/>
                        <a:sym typeface="Arial"/>
                      </a:rPr>
                      <m:t>𝑟</m:t>
                    </m:r>
                  </m:oMath>
                </a14:m>
                <a:r>
                  <a:rPr lang="en-US" sz="2400" dirty="0">
                    <a:latin typeface="Atkinson Hyperlegible Next"/>
                    <a:ea typeface="Arial"/>
                    <a:cs typeface="Arial"/>
                    <a:sym typeface="Arial"/>
                  </a:rPr>
                  <a:t> and </a:t>
                </a:r>
                <a14:m>
                  <m:oMath xmlns:m="http://schemas.openxmlformats.org/officeDocument/2006/math">
                    <m:r>
                      <a:rPr lang="en-US" sz="2400" i="1" dirty="0" smtClean="0">
                        <a:latin typeface="Cambria Math" panose="02040503050406030204" pitchFamily="18" charset="0"/>
                        <a:ea typeface="Arial"/>
                        <a:cs typeface="Arial"/>
                        <a:sym typeface="Arial"/>
                      </a:rPr>
                      <m:t>𝜙</m:t>
                    </m:r>
                  </m:oMath>
                </a14:m>
                <a:r>
                  <a:rPr lang="en-US" sz="2400" dirty="0">
                    <a:latin typeface="Atkinson Hyperlegible Next"/>
                    <a:ea typeface="Arial"/>
                    <a:cs typeface="Arial"/>
                    <a:sym typeface="Arial"/>
                  </a:rPr>
                  <a:t> with respect to our state variables (</a:t>
                </a:r>
                <a14:m>
                  <m:oMath xmlns:m="http://schemas.openxmlformats.org/officeDocument/2006/math">
                    <m:r>
                      <a:rPr lang="en-US" sz="2400" i="1" dirty="0" smtClean="0">
                        <a:latin typeface="Cambria Math" panose="02040503050406030204" pitchFamily="18" charset="0"/>
                        <a:ea typeface="Arial"/>
                        <a:cs typeface="Arial"/>
                        <a:sym typeface="Arial"/>
                      </a:rPr>
                      <m:t>𝑋</m:t>
                    </m:r>
                    <m:r>
                      <a:rPr lang="en-US" sz="2400" i="1" dirty="0" smtClean="0">
                        <a:latin typeface="Cambria Math" panose="02040503050406030204" pitchFamily="18" charset="0"/>
                        <a:ea typeface="Arial"/>
                        <a:cs typeface="Arial"/>
                        <a:sym typeface="Arial"/>
                      </a:rPr>
                      <m:t>, </m:t>
                    </m:r>
                    <m:r>
                      <a:rPr lang="en-US" sz="2400" i="1" dirty="0" smtClean="0">
                        <a:latin typeface="Cambria Math" panose="02040503050406030204" pitchFamily="18" charset="0"/>
                        <a:ea typeface="Arial"/>
                        <a:cs typeface="Arial"/>
                        <a:sym typeface="Arial"/>
                      </a:rPr>
                      <m:t>𝑌</m:t>
                    </m:r>
                    <m:r>
                      <a:rPr lang="en-US" sz="2400" i="1" dirty="0" smtClean="0">
                        <a:latin typeface="Cambria Math" panose="02040503050406030204" pitchFamily="18" charset="0"/>
                        <a:ea typeface="Arial"/>
                        <a:cs typeface="Arial"/>
                        <a:sym typeface="Arial"/>
                      </a:rPr>
                      <m:t>, </m:t>
                    </m:r>
                    <m:r>
                      <a:rPr lang="en-US" sz="2400" i="1" dirty="0" smtClean="0">
                        <a:latin typeface="Cambria Math" panose="02040503050406030204" pitchFamily="18" charset="0"/>
                        <a:ea typeface="Arial"/>
                        <a:cs typeface="Arial"/>
                        <a:sym typeface="Arial"/>
                      </a:rPr>
                      <m:t>𝜃</m:t>
                    </m:r>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Let's look at the distance equation: </a:t>
                </a:r>
                <a14:m>
                  <m:oMath xmlns:m="http://schemas.openxmlformats.org/officeDocument/2006/math">
                    <m:r>
                      <a:rPr lang="en-US" sz="2400" i="1" smtClean="0">
                        <a:latin typeface="Cambria Math" panose="02040503050406030204" pitchFamily="18" charset="0"/>
                        <a:cs typeface="Arial"/>
                        <a:sym typeface="Arial"/>
                      </a:rPr>
                      <m:t>𝑟</m:t>
                    </m:r>
                    <m:r>
                      <a:rPr lang="en-US" sz="2400" i="1" smtClean="0">
                        <a:latin typeface="Cambria Math" panose="02040503050406030204" pitchFamily="18" charset="0"/>
                        <a:cs typeface="Arial"/>
                        <a:sym typeface="Arial"/>
                      </a:rPr>
                      <m:t>=</m:t>
                    </m:r>
                    <m:rad>
                      <m:radPr>
                        <m:degHide m:val="on"/>
                        <m:ctrlPr>
                          <a:rPr lang="en-US" sz="2400" i="1">
                            <a:latin typeface="Cambria Math" panose="02040503050406030204" pitchFamily="18" charset="0"/>
                            <a:cs typeface="Arial"/>
                            <a:sym typeface="Arial"/>
                          </a:rPr>
                        </m:ctrlPr>
                      </m:radPr>
                      <m:deg/>
                      <m:e>
                        <m:sSup>
                          <m:sSupPr>
                            <m:ctrlPr>
                              <a:rPr lang="en-US" sz="2400" i="1">
                                <a:latin typeface="Cambria Math" panose="02040503050406030204" pitchFamily="18" charset="0"/>
                                <a:cs typeface="Arial"/>
                                <a:sym typeface="Arial"/>
                              </a:rPr>
                            </m:ctrlPr>
                          </m:sSupPr>
                          <m:e>
                            <m:r>
                              <a:rPr lang="en-US" sz="2400" i="1">
                                <a:latin typeface="Cambria Math" panose="02040503050406030204" pitchFamily="18" charset="0"/>
                                <a:cs typeface="Arial"/>
                                <a:sym typeface="Arial"/>
                              </a:rPr>
                              <m:t>𝑋</m:t>
                            </m:r>
                          </m:e>
                          <m:sup>
                            <m:r>
                              <a:rPr lang="en-US" sz="2400" i="1">
                                <a:latin typeface="Cambria Math" panose="02040503050406030204" pitchFamily="18" charset="0"/>
                                <a:cs typeface="Arial"/>
                                <a:sym typeface="Arial"/>
                              </a:rPr>
                              <m:t>2</m:t>
                            </m:r>
                          </m:sup>
                        </m:sSup>
                        <m:r>
                          <a:rPr lang="en-US" sz="2400" i="1">
                            <a:latin typeface="Cambria Math" panose="02040503050406030204" pitchFamily="18" charset="0"/>
                            <a:cs typeface="Arial"/>
                            <a:sym typeface="Arial"/>
                          </a:rPr>
                          <m:t>+</m:t>
                        </m:r>
                        <m:sSup>
                          <m:sSupPr>
                            <m:ctrlPr>
                              <a:rPr lang="en-US" sz="2400" i="1">
                                <a:latin typeface="Cambria Math" panose="02040503050406030204" pitchFamily="18" charset="0"/>
                                <a:cs typeface="Arial"/>
                                <a:sym typeface="Arial"/>
                              </a:rPr>
                            </m:ctrlPr>
                          </m:sSupPr>
                          <m:e>
                            <m:r>
                              <a:rPr lang="en-US" sz="2400" i="1">
                                <a:latin typeface="Cambria Math" panose="02040503050406030204" pitchFamily="18" charset="0"/>
                                <a:cs typeface="Arial"/>
                                <a:sym typeface="Arial"/>
                              </a:rPr>
                              <m:t>𝑌</m:t>
                            </m:r>
                          </m:e>
                          <m:sup>
                            <m:r>
                              <a:rPr lang="en-US" sz="2400" i="1">
                                <a:latin typeface="Cambria Math" panose="02040503050406030204" pitchFamily="18" charset="0"/>
                                <a:cs typeface="Arial"/>
                                <a:sym typeface="Arial"/>
                              </a:rPr>
                              <m:t>2</m:t>
                            </m:r>
                          </m:sup>
                        </m:sSup>
                      </m:e>
                    </m:rad>
                  </m:oMath>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Using the chain rule: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With respect to </a:t>
                </a:r>
                <a14:m>
                  <m:oMath xmlns:m="http://schemas.openxmlformats.org/officeDocument/2006/math">
                    <m:r>
                      <a:rPr lang="en-US" sz="2400" i="1" dirty="0" smtClean="0">
                        <a:latin typeface="Cambria Math" panose="02040503050406030204" pitchFamily="18" charset="0"/>
                        <a:ea typeface="Arial"/>
                        <a:cs typeface="Arial"/>
                        <a:sym typeface="Arial"/>
                      </a:rPr>
                      <m:t>𝑋</m:t>
                    </m:r>
                  </m:oMath>
                </a14:m>
                <a:r>
                  <a:rPr lang="en-US" sz="2400" dirty="0">
                    <a:latin typeface="Atkinson Hyperlegible Next"/>
                    <a:ea typeface="Arial"/>
                    <a:cs typeface="Arial"/>
                    <a:sym typeface="Arial"/>
                  </a:rPr>
                  <a:t>: </a:t>
                </a:r>
                <a14:m>
                  <m:oMath xmlns:m="http://schemas.openxmlformats.org/officeDocument/2006/math">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𝑟</m:t>
                        </m:r>
                      </m:num>
                      <m:den>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𝑋</m:t>
                        </m:r>
                      </m:den>
                    </m:f>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𝑋</m:t>
                        </m:r>
                      </m:num>
                      <m:den>
                        <m:rad>
                          <m:radPr>
                            <m:degHide m:val="on"/>
                            <m:ctrlPr>
                              <a:rPr lang="en-US" sz="2400" i="1" dirty="0" smtClean="0">
                                <a:latin typeface="Cambria Math" panose="02040503050406030204" pitchFamily="18" charset="0"/>
                                <a:ea typeface="Arial"/>
                                <a:cs typeface="Arial"/>
                                <a:sym typeface="Arial"/>
                              </a:rPr>
                            </m:ctrlPr>
                          </m:radPr>
                          <m:deg/>
                          <m:e>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𝑋</m:t>
                                </m:r>
                              </m:e>
                              <m:sup>
                                <m:r>
                                  <a:rPr lang="en-US" sz="2400" i="1" dirty="0" smtClean="0">
                                    <a:latin typeface="Cambria Math" panose="02040503050406030204" pitchFamily="18" charset="0"/>
                                    <a:ea typeface="Arial"/>
                                    <a:cs typeface="Arial"/>
                                    <a:sym typeface="Arial"/>
                                  </a:rPr>
                                  <m:t>2</m:t>
                                </m:r>
                              </m:sup>
                            </m:sSup>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𝑌</m:t>
                                </m:r>
                              </m:e>
                              <m:sup>
                                <m:r>
                                  <a:rPr lang="en-US" sz="2400" i="1" dirty="0" smtClean="0">
                                    <a:latin typeface="Cambria Math" panose="02040503050406030204" pitchFamily="18" charset="0"/>
                                    <a:ea typeface="Arial"/>
                                    <a:cs typeface="Arial"/>
                                    <a:sym typeface="Arial"/>
                                  </a:rPr>
                                  <m:t>2</m:t>
                                </m:r>
                              </m:sup>
                            </m:sSup>
                          </m:e>
                        </m:rad>
                      </m:den>
                    </m:f>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𝑋</m:t>
                        </m:r>
                      </m:num>
                      <m:den>
                        <m:r>
                          <a:rPr lang="en-US" sz="2400" i="1" dirty="0" smtClean="0">
                            <a:latin typeface="Cambria Math" panose="02040503050406030204" pitchFamily="18" charset="0"/>
                            <a:ea typeface="Arial"/>
                            <a:cs typeface="Arial"/>
                            <a:sym typeface="Arial"/>
                          </a:rPr>
                          <m:t>𝑟</m:t>
                        </m:r>
                      </m:den>
                    </m:f>
                  </m:oMath>
                </a14:m>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With respect to </a:t>
                </a:r>
                <a14:m>
                  <m:oMath xmlns:m="http://schemas.openxmlformats.org/officeDocument/2006/math">
                    <m:r>
                      <a:rPr lang="en-US" sz="2400" i="1" dirty="0" smtClean="0">
                        <a:latin typeface="Cambria Math" panose="02040503050406030204" pitchFamily="18" charset="0"/>
                        <a:ea typeface="Arial"/>
                        <a:cs typeface="Arial"/>
                        <a:sym typeface="Arial"/>
                      </a:rPr>
                      <m:t>𝑌</m:t>
                    </m:r>
                    <m:r>
                      <a:rPr lang="en-US" sz="2400" i="1" dirty="0" smtClean="0">
                        <a:latin typeface="Cambria Math" panose="02040503050406030204" pitchFamily="18" charset="0"/>
                        <a:ea typeface="Arial"/>
                        <a:cs typeface="Arial"/>
                        <a:sym typeface="Arial"/>
                      </a:rPr>
                      <m:t>: </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𝑟</m:t>
                        </m:r>
                      </m:num>
                      <m:den>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𝑌</m:t>
                        </m:r>
                      </m:den>
                    </m:f>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𝑌</m:t>
                        </m:r>
                      </m:num>
                      <m:den>
                        <m:rad>
                          <m:radPr>
                            <m:degHide m:val="on"/>
                            <m:ctrlPr>
                              <a:rPr lang="en-US" sz="2400" i="1" dirty="0" smtClean="0">
                                <a:latin typeface="Cambria Math" panose="02040503050406030204" pitchFamily="18" charset="0"/>
                                <a:ea typeface="Arial"/>
                                <a:cs typeface="Arial"/>
                                <a:sym typeface="Arial"/>
                              </a:rPr>
                            </m:ctrlPr>
                          </m:radPr>
                          <m:deg/>
                          <m:e>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𝑋</m:t>
                                </m:r>
                              </m:e>
                              <m:sup>
                                <m:r>
                                  <a:rPr lang="en-US" sz="2400" i="1" dirty="0" smtClean="0">
                                    <a:latin typeface="Cambria Math" panose="02040503050406030204" pitchFamily="18" charset="0"/>
                                    <a:ea typeface="Arial"/>
                                    <a:cs typeface="Arial"/>
                                    <a:sym typeface="Arial"/>
                                  </a:rPr>
                                  <m:t>2</m:t>
                                </m:r>
                              </m:sup>
                            </m:sSup>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𝑌</m:t>
                                </m:r>
                              </m:e>
                              <m:sup>
                                <m:r>
                                  <a:rPr lang="en-US" sz="2400" i="1" dirty="0" smtClean="0">
                                    <a:latin typeface="Cambria Math" panose="02040503050406030204" pitchFamily="18" charset="0"/>
                                    <a:ea typeface="Arial"/>
                                    <a:cs typeface="Arial"/>
                                    <a:sym typeface="Arial"/>
                                  </a:rPr>
                                  <m:t>2</m:t>
                                </m:r>
                              </m:sup>
                            </m:sSup>
                          </m:e>
                        </m:rad>
                      </m:den>
                    </m:f>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𝑌</m:t>
                        </m:r>
                      </m:num>
                      <m:den>
                        <m:r>
                          <a:rPr lang="en-US" sz="2400" i="1" dirty="0" smtClean="0">
                            <a:latin typeface="Cambria Math" panose="02040503050406030204" pitchFamily="18" charset="0"/>
                            <a:ea typeface="Arial"/>
                            <a:cs typeface="Arial"/>
                            <a:sym typeface="Arial"/>
                          </a:rPr>
                          <m:t>𝑟</m:t>
                        </m:r>
                      </m:den>
                    </m:f>
                  </m:oMath>
                </a14:m>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With respect to </a:t>
                </a:r>
                <a14:m>
                  <m:oMath xmlns:m="http://schemas.openxmlformats.org/officeDocument/2006/math">
                    <m:r>
                      <a:rPr lang="en-US" sz="2400" i="1" dirty="0" smtClean="0">
                        <a:latin typeface="Cambria Math" panose="02040503050406030204" pitchFamily="18" charset="0"/>
                        <a:ea typeface="Arial"/>
                        <a:cs typeface="Arial"/>
                        <a:sym typeface="Arial"/>
                      </a:rPr>
                      <m:t>𝜃</m:t>
                    </m:r>
                    <m:r>
                      <a:rPr lang="en-US" sz="2400" i="1" dirty="0" smtClean="0">
                        <a:latin typeface="Cambria Math" panose="02040503050406030204" pitchFamily="18" charset="0"/>
                        <a:ea typeface="Arial"/>
                        <a:cs typeface="Arial"/>
                        <a:sym typeface="Arial"/>
                      </a:rPr>
                      <m:t>: </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𝑟</m:t>
                        </m:r>
                      </m:num>
                      <m:den>
                        <m:r>
                          <a:rPr lang="en-US" sz="2400" i="1" dirty="0" smtClean="0">
                            <a:latin typeface="Cambria Math" panose="02040503050406030204" pitchFamily="18" charset="0"/>
                            <a:ea typeface="Arial"/>
                            <a:cs typeface="Arial"/>
                            <a:sym typeface="Arial"/>
                          </a:rPr>
                          <m:t>𝜕𝜃</m:t>
                        </m:r>
                      </m:den>
                    </m:f>
                    <m:r>
                      <a:rPr lang="en-US" sz="2400" i="1" dirty="0" smtClean="0">
                        <a:latin typeface="Cambria Math" panose="02040503050406030204" pitchFamily="18" charset="0"/>
                        <a:ea typeface="Arial"/>
                        <a:cs typeface="Arial"/>
                        <a:sym typeface="Arial"/>
                      </a:rPr>
                      <m:t>=0</m:t>
                    </m:r>
                  </m:oMath>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54F8060F-EF5C-BA1B-C4A1-5EE5F8ED608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927"/>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62B8DB8-6539-FB82-22A7-BC189B38939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1E010CE-C681-CC98-7372-5AE5B33AF5B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(17/22)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94EDA05-B699-AC22-5C63-53A6195EE48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2780196-B775-EAD0-AF1F-A680AD8FFA7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8495CD5-CBCA-E75D-F8B2-FDECDF76C7E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ABAFCA5-56CC-03B1-DE86-B0C9ED562C8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EEF9DC2-9175-2625-900F-BD0B7EEB6AF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E0E8952-516C-3F4C-FC5D-60D625C3BD8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0899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0C9AEF7-FD56-A35E-CEF0-021B9C3EC2E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2234EE9-4FEE-BB9F-147D-582C8340A2F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Now the bearing equation:  </a:t>
                </a:r>
                <a14:m>
                  <m:oMath xmlns:m="http://schemas.openxmlformats.org/officeDocument/2006/math">
                    <m:r>
                      <a:rPr lang="en-US" sz="2400" i="1" dirty="0" smtClean="0">
                        <a:latin typeface="Cambria Math" panose="02040503050406030204" pitchFamily="18" charset="0"/>
                        <a:ea typeface="Arial"/>
                        <a:cs typeface="Arial"/>
                        <a:sym typeface="Arial"/>
                      </a:rPr>
                      <m:t>𝜙</m:t>
                    </m:r>
                    <m:r>
                      <a:rPr lang="en-US" sz="2400" i="1" dirty="0" smtClean="0">
                        <a:latin typeface="Cambria Math" panose="02040503050406030204" pitchFamily="18" charset="0"/>
                        <a:ea typeface="Arial"/>
                        <a:cs typeface="Arial"/>
                        <a:sym typeface="Arial"/>
                      </a:rPr>
                      <m:t>=</m:t>
                    </m:r>
                    <m:func>
                      <m:funcPr>
                        <m:ctrlPr>
                          <a:rPr lang="en-US" sz="240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arctan</m:t>
                        </m:r>
                      </m:fName>
                      <m:e>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𝑌</m:t>
                            </m:r>
                            <m:r>
                              <m:rPr>
                                <m:lit/>
                              </m:rP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𝑋</m:t>
                            </m:r>
                          </m:e>
                        </m:d>
                      </m:e>
                    </m:func>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derivative of </a:t>
                </a:r>
                <a14:m>
                  <m:oMath xmlns:m="http://schemas.openxmlformats.org/officeDocument/2006/math">
                    <m:func>
                      <m:funcPr>
                        <m:ctrlPr>
                          <a:rPr lang="en-US" sz="240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arctan</m:t>
                        </m:r>
                      </m:fName>
                      <m:e>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𝑢</m:t>
                            </m:r>
                          </m:e>
                        </m:d>
                      </m:e>
                    </m:func>
                    <m:r>
                      <a:rPr lang="en-US" sz="2400" i="1" dirty="0" smtClean="0">
                        <a:latin typeface="Cambria Math" panose="02040503050406030204" pitchFamily="18" charset="0"/>
                        <a:ea typeface="Arial"/>
                        <a:cs typeface="Arial"/>
                        <a:sym typeface="Arial"/>
                      </a:rPr>
                      <m:t>𝑖𝑠</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1</m:t>
                        </m:r>
                      </m:num>
                      <m:den>
                        <m:r>
                          <a:rPr lang="en-US" sz="2400" i="1" dirty="0" smtClean="0">
                            <a:latin typeface="Cambria Math" panose="02040503050406030204" pitchFamily="18" charset="0"/>
                            <a:ea typeface="Arial"/>
                            <a:cs typeface="Arial"/>
                            <a:sym typeface="Arial"/>
                          </a:rPr>
                          <m:t>1+</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𝑢</m:t>
                            </m:r>
                          </m:e>
                          <m:sup>
                            <m:r>
                              <a:rPr lang="en-US" sz="2400" i="1" dirty="0" smtClean="0">
                                <a:latin typeface="Cambria Math" panose="02040503050406030204" pitchFamily="18" charset="0"/>
                                <a:ea typeface="Arial"/>
                                <a:cs typeface="Arial"/>
                                <a:sym typeface="Arial"/>
                              </a:rPr>
                              <m:t>2</m:t>
                            </m:r>
                          </m:sup>
                        </m:sSup>
                      </m:den>
                    </m:f>
                    <m:r>
                      <a:rPr lang="en-US" sz="2400" i="1" dirty="0" smtClean="0">
                        <a:latin typeface="Cambria Math" panose="02040503050406030204" pitchFamily="18" charset="0"/>
                        <a:ea typeface="Arial"/>
                        <a:cs typeface="Arial"/>
                        <a:sym typeface="Arial"/>
                      </a:rPr>
                      <m:t>⋅</m:t>
                    </m:r>
                    <m:sSup>
                      <m:sSupPr>
                        <m:ctrlPr>
                          <a:rPr lang="en-US" sz="2400" i="1" dirty="0" err="1" smtClean="0">
                            <a:latin typeface="Cambria Math" panose="02040503050406030204" pitchFamily="18" charset="0"/>
                            <a:ea typeface="Arial"/>
                            <a:cs typeface="Arial"/>
                            <a:sym typeface="Arial"/>
                          </a:rPr>
                        </m:ctrlPr>
                      </m:sSupPr>
                      <m:e>
                        <m:r>
                          <a:rPr lang="en-US" sz="2400" i="1" dirty="0" err="1" smtClean="0">
                            <a:latin typeface="Cambria Math" panose="02040503050406030204" pitchFamily="18" charset="0"/>
                            <a:ea typeface="Arial"/>
                            <a:cs typeface="Arial"/>
                            <a:sym typeface="Arial"/>
                          </a:rPr>
                          <m:t>𝑢</m:t>
                        </m:r>
                      </m:e>
                      <m:sup>
                        <m:r>
                          <a:rPr lang="en-US" sz="2400" i="1" dirty="0" err="1"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After some algebra:</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With respect to </a:t>
                </a:r>
                <a14:m>
                  <m:oMath xmlns:m="http://schemas.openxmlformats.org/officeDocument/2006/math">
                    <m:r>
                      <a:rPr lang="en-US" sz="2400" i="1" dirty="0" smtClean="0">
                        <a:latin typeface="Cambria Math" panose="02040503050406030204" pitchFamily="18" charset="0"/>
                        <a:ea typeface="Arial"/>
                        <a:cs typeface="Arial"/>
                        <a:sym typeface="Arial"/>
                      </a:rPr>
                      <m:t>𝑋</m:t>
                    </m:r>
                  </m:oMath>
                </a14:m>
                <a:r>
                  <a:rPr lang="en-US" sz="2400" dirty="0">
                    <a:latin typeface="Atkinson Hyperlegible Next"/>
                    <a:ea typeface="Arial"/>
                    <a:cs typeface="Arial"/>
                    <a:sym typeface="Arial"/>
                  </a:rPr>
                  <a:t>: </a:t>
                </a:r>
                <a14:m>
                  <m:oMath xmlns:m="http://schemas.openxmlformats.org/officeDocument/2006/math">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𝜕𝜙</m:t>
                        </m:r>
                      </m:num>
                      <m:den>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𝑋</m:t>
                        </m:r>
                      </m:den>
                    </m:f>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𝑌</m:t>
                        </m:r>
                      </m:num>
                      <m:den>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𝑋</m:t>
                            </m:r>
                          </m:e>
                          <m:sup>
                            <m:r>
                              <a:rPr lang="en-US" sz="2400" i="1" dirty="0" smtClean="0">
                                <a:latin typeface="Cambria Math" panose="02040503050406030204" pitchFamily="18" charset="0"/>
                                <a:ea typeface="Arial"/>
                                <a:cs typeface="Arial"/>
                                <a:sym typeface="Arial"/>
                              </a:rPr>
                              <m:t>2</m:t>
                            </m:r>
                          </m:sup>
                        </m:sSup>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𝑌</m:t>
                            </m:r>
                          </m:e>
                          <m:sup>
                            <m:r>
                              <a:rPr lang="en-US" sz="2400" i="1" dirty="0" smtClean="0">
                                <a:latin typeface="Cambria Math" panose="02040503050406030204" pitchFamily="18" charset="0"/>
                                <a:ea typeface="Arial"/>
                                <a:cs typeface="Arial"/>
                                <a:sym typeface="Arial"/>
                              </a:rPr>
                              <m:t>2</m:t>
                            </m:r>
                          </m:sup>
                        </m:sSup>
                      </m:den>
                    </m:f>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𝑌</m:t>
                        </m:r>
                      </m:num>
                      <m:den>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𝑟</m:t>
                            </m:r>
                          </m:e>
                          <m:sup>
                            <m:r>
                              <a:rPr lang="en-US" sz="2400" i="1" dirty="0" smtClean="0">
                                <a:latin typeface="Cambria Math" panose="02040503050406030204" pitchFamily="18" charset="0"/>
                                <a:ea typeface="Arial"/>
                                <a:cs typeface="Arial"/>
                                <a:sym typeface="Arial"/>
                              </a:rPr>
                              <m:t>2</m:t>
                            </m:r>
                          </m:sup>
                        </m:sSup>
                      </m:den>
                    </m:f>
                  </m:oMath>
                </a14:m>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With respect to </a:t>
                </a:r>
                <a14:m>
                  <m:oMath xmlns:m="http://schemas.openxmlformats.org/officeDocument/2006/math">
                    <m:r>
                      <a:rPr lang="en-US" sz="2400" i="1" dirty="0" smtClean="0">
                        <a:latin typeface="Cambria Math" panose="02040503050406030204" pitchFamily="18" charset="0"/>
                        <a:ea typeface="Arial"/>
                        <a:cs typeface="Arial"/>
                        <a:sym typeface="Arial"/>
                      </a:rPr>
                      <m:t>𝑌</m:t>
                    </m:r>
                  </m:oMath>
                </a14:m>
                <a:r>
                  <a:rPr lang="en-US" sz="2400" dirty="0">
                    <a:latin typeface="Atkinson Hyperlegible Next"/>
                    <a:ea typeface="Arial"/>
                    <a:cs typeface="Arial"/>
                    <a:sym typeface="Arial"/>
                  </a:rPr>
                  <a:t>: </a:t>
                </a:r>
                <a14:m>
                  <m:oMath xmlns:m="http://schemas.openxmlformats.org/officeDocument/2006/math">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𝜕𝜙</m:t>
                        </m:r>
                      </m:num>
                      <m:den>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𝑌</m:t>
                        </m:r>
                      </m:den>
                    </m:f>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𝑋</m:t>
                        </m:r>
                      </m:num>
                      <m:den>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𝑋</m:t>
                            </m:r>
                          </m:e>
                          <m:sup>
                            <m:r>
                              <a:rPr lang="en-US" sz="2400" i="1" dirty="0" smtClean="0">
                                <a:latin typeface="Cambria Math" panose="02040503050406030204" pitchFamily="18" charset="0"/>
                                <a:ea typeface="Arial"/>
                                <a:cs typeface="Arial"/>
                                <a:sym typeface="Arial"/>
                              </a:rPr>
                              <m:t>2</m:t>
                            </m:r>
                          </m:sup>
                        </m:sSup>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𝑌</m:t>
                            </m:r>
                          </m:e>
                          <m:sup>
                            <m:r>
                              <a:rPr lang="en-US" sz="2400" i="1" dirty="0" smtClean="0">
                                <a:latin typeface="Cambria Math" panose="02040503050406030204" pitchFamily="18" charset="0"/>
                                <a:ea typeface="Arial"/>
                                <a:cs typeface="Arial"/>
                                <a:sym typeface="Arial"/>
                              </a:rPr>
                              <m:t>2</m:t>
                            </m:r>
                          </m:sup>
                        </m:sSup>
                      </m:den>
                    </m:f>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𝑋</m:t>
                        </m:r>
                      </m:num>
                      <m:den>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𝑟</m:t>
                            </m:r>
                          </m:e>
                          <m:sup>
                            <m:r>
                              <a:rPr lang="en-US" sz="2400" i="1" dirty="0" smtClean="0">
                                <a:latin typeface="Cambria Math" panose="02040503050406030204" pitchFamily="18" charset="0"/>
                                <a:ea typeface="Arial"/>
                                <a:cs typeface="Arial"/>
                                <a:sym typeface="Arial"/>
                              </a:rPr>
                              <m:t>2</m:t>
                            </m:r>
                          </m:sup>
                        </m:sSup>
                      </m:den>
                    </m:f>
                  </m:oMath>
                </a14:m>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With respect to </a:t>
                </a:r>
                <a14:m>
                  <m:oMath xmlns:m="http://schemas.openxmlformats.org/officeDocument/2006/math">
                    <m:r>
                      <a:rPr lang="en-US" sz="2400" i="1" dirty="0" smtClean="0">
                        <a:latin typeface="Cambria Math" panose="02040503050406030204" pitchFamily="18" charset="0"/>
                        <a:ea typeface="Arial"/>
                        <a:cs typeface="Arial"/>
                        <a:sym typeface="Arial"/>
                      </a:rPr>
                      <m:t>𝜃</m:t>
                    </m:r>
                  </m:oMath>
                </a14:m>
                <a:r>
                  <a:rPr lang="en-US" sz="2400" dirty="0">
                    <a:latin typeface="Atkinson Hyperlegible Next"/>
                    <a:ea typeface="Arial"/>
                    <a:cs typeface="Arial"/>
                    <a:sym typeface="Arial"/>
                  </a:rPr>
                  <a:t>: </a:t>
                </a:r>
                <a14:m>
                  <m:oMath xmlns:m="http://schemas.openxmlformats.org/officeDocument/2006/math">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𝜕𝜙</m:t>
                        </m:r>
                      </m:num>
                      <m:den>
                        <m:r>
                          <a:rPr lang="en-US" sz="2400" i="1" dirty="0" smtClean="0">
                            <a:latin typeface="Cambria Math" panose="02040503050406030204" pitchFamily="18" charset="0"/>
                            <a:ea typeface="Arial"/>
                            <a:cs typeface="Arial"/>
                            <a:sym typeface="Arial"/>
                          </a:rPr>
                          <m:t>𝜕𝜃</m:t>
                        </m:r>
                      </m:den>
                    </m:f>
                    <m:r>
                      <a:rPr lang="en-US" sz="2400" i="1" dirty="0" smtClean="0">
                        <a:latin typeface="Cambria Math" panose="02040503050406030204" pitchFamily="18" charset="0"/>
                        <a:ea typeface="Arial"/>
                        <a:cs typeface="Arial"/>
                        <a:sym typeface="Arial"/>
                      </a:rPr>
                      <m:t>=0</m:t>
                    </m:r>
                  </m:oMath>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12234EE9-4FEE-BB9F-147D-582C8340A2F2}"/>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3851790-7177-6E20-2A7B-2E56D8D7963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AF13B18-C885-7F63-E0A1-C7167CA3FE2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(18/22)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F50E8FB-CAD2-BC28-BC79-AA71671915A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8670190-0B17-2BC4-DA68-062719F9398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BFEF5C8-06F3-7ACF-BA18-DEDC474F041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57921CC-77CD-C6F8-8309-34138BDA0D7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D698EC7-EF87-D231-8825-549501E2FD2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9FF7AB-F41C-41C8-96F6-7D0880D914F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3025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D2776F4-820E-D0EB-4B34-C3A6BB885B0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D5ABC27-4246-7A4E-84BA-4E6FC0D67F4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assemble our partial derivatives into a </a:t>
                </a:r>
                <a14:m>
                  <m:oMath xmlns:m="http://schemas.openxmlformats.org/officeDocument/2006/math">
                    <m:r>
                      <a:rPr lang="en-US" sz="2400" i="1" dirty="0" smtClean="0">
                        <a:latin typeface="Cambria Math" panose="02040503050406030204" pitchFamily="18" charset="0"/>
                        <a:ea typeface="Arial"/>
                        <a:cs typeface="Arial"/>
                        <a:sym typeface="Arial"/>
                      </a:rPr>
                      <m:t>2 ×3</m:t>
                    </m:r>
                  </m:oMath>
                </a14:m>
                <a:r>
                  <a:rPr lang="en-US" sz="2400" dirty="0">
                    <a:latin typeface="Atkinson Hyperlegible Next"/>
                    <a:ea typeface="Arial"/>
                    <a:cs typeface="Arial"/>
                    <a:sym typeface="Arial"/>
                  </a:rPr>
                  <a:t> matrix (2 measurement outputs, 3 state variables).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is our dynamic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𝐻</m:t>
                        </m:r>
                      </m:e>
                      <m:sub>
                        <m:r>
                          <a:rPr lang="en-US" sz="2400" i="1" dirty="0" err="1" smtClean="0">
                            <a:latin typeface="Cambria Math" panose="02040503050406030204" pitchFamily="18" charset="0"/>
                            <a:ea typeface="Arial"/>
                            <a:cs typeface="Arial"/>
                            <a:sym typeface="Arial"/>
                          </a:rPr>
                          <m:t>𝑘</m:t>
                        </m:r>
                      </m:sub>
                    </m:sSub>
                  </m:oMath>
                </a14:m>
                <a:r>
                  <a:rPr lang="en-US" sz="2400" dirty="0">
                    <a:latin typeface="Atkinson Hyperlegible Next"/>
                    <a:ea typeface="Arial"/>
                    <a:cs typeface="Arial"/>
                    <a:sym typeface="Arial"/>
                  </a:rPr>
                  <a:t> matrix for the current time step:</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𝐻</m:t>
                          </m:r>
                        </m:e>
                        <m:sub>
                          <m:r>
                            <a:rPr lang="en-US" sz="2400" i="1" dirty="0" err="1" smtClean="0">
                              <a:latin typeface="Cambria Math" panose="02040503050406030204" pitchFamily="18" charset="0"/>
                              <a:ea typeface="Arial"/>
                              <a:cs typeface="Arial"/>
                              <a:sym typeface="Arial"/>
                            </a:rPr>
                            <m:t>𝑘</m:t>
                          </m:r>
                        </m:sub>
                      </m:sSub>
                      <m:r>
                        <a:rPr lang="en-US" sz="2400" i="1" dirty="0" smtClean="0">
                          <a:latin typeface="Cambria Math" panose="02040503050406030204" pitchFamily="18" charset="0"/>
                          <a:ea typeface="Arial"/>
                          <a:cs typeface="Arial"/>
                          <a:sym typeface="Arial"/>
                        </a:rPr>
                        <m:t>=</m:t>
                      </m:r>
                      <m:d>
                        <m:dPr>
                          <m:begChr m:val="["/>
                          <m:endChr m:val="]"/>
                          <m:ctrlPr>
                            <a:rPr lang="en-US" sz="2400" i="1" dirty="0" smtClean="0">
                              <a:latin typeface="Cambria Math" panose="02040503050406030204" pitchFamily="18" charset="0"/>
                              <a:ea typeface="Arial"/>
                              <a:cs typeface="Arial"/>
                              <a:sym typeface="Arial"/>
                            </a:rPr>
                          </m:ctrlPr>
                        </m:dPr>
                        <m:e>
                          <m:m>
                            <m:mPr>
                              <m:plcHide m:val="on"/>
                              <m:mcs>
                                <m:mc>
                                  <m:mcPr>
                                    <m:count m:val="3"/>
                                    <m:mcJc m:val="center"/>
                                  </m:mcPr>
                                </m:mc>
                              </m:mcs>
                              <m:ctrlPr>
                                <a:rPr lang="en-US" sz="2400" i="1" dirty="0" smtClean="0">
                                  <a:latin typeface="Cambria Math" panose="02040503050406030204" pitchFamily="18" charset="0"/>
                                  <a:ea typeface="Arial"/>
                                  <a:cs typeface="Arial"/>
                                  <a:sym typeface="Arial"/>
                                </a:rPr>
                              </m:ctrlPr>
                            </m:mPr>
                            <m:mr>
                              <m:e>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𝑋</m:t>
                                    </m:r>
                                  </m:num>
                                  <m:den>
                                    <m:r>
                                      <a:rPr lang="en-US" sz="2400" i="1" dirty="0" smtClean="0">
                                        <a:latin typeface="Cambria Math" panose="02040503050406030204" pitchFamily="18" charset="0"/>
                                        <a:ea typeface="Arial"/>
                                        <a:cs typeface="Arial"/>
                                        <a:sym typeface="Arial"/>
                                      </a:rPr>
                                      <m:t>𝑟</m:t>
                                    </m:r>
                                  </m:den>
                                </m:f>
                              </m:e>
                              <m:e>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𝑌</m:t>
                                    </m:r>
                                  </m:num>
                                  <m:den>
                                    <m:r>
                                      <a:rPr lang="en-US" sz="2400" i="1" dirty="0" smtClean="0">
                                        <a:latin typeface="Cambria Math" panose="02040503050406030204" pitchFamily="18" charset="0"/>
                                        <a:ea typeface="Arial"/>
                                        <a:cs typeface="Arial"/>
                                        <a:sym typeface="Arial"/>
                                      </a:rPr>
                                      <m:t>𝑟</m:t>
                                    </m:r>
                                  </m:den>
                                </m:f>
                              </m:e>
                              <m:e>
                                <m:r>
                                  <a:rPr lang="en-US" sz="2400" i="1" dirty="0" smtClean="0">
                                    <a:latin typeface="Cambria Math" panose="02040503050406030204" pitchFamily="18" charset="0"/>
                                    <a:ea typeface="Arial"/>
                                    <a:cs typeface="Arial"/>
                                    <a:sym typeface="Arial"/>
                                  </a:rPr>
                                  <m:t>0</m:t>
                                </m:r>
                              </m:e>
                            </m:mr>
                            <m:mr>
                              <m:e/>
                              <m:e/>
                              <m:e/>
                            </m:mr>
                            <m:mr>
                              <m:e>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𝑌</m:t>
                                    </m:r>
                                  </m:num>
                                  <m:den>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𝑟</m:t>
                                        </m:r>
                                      </m:e>
                                      <m:sup>
                                        <m:r>
                                          <a:rPr lang="en-US" sz="2400" i="1" dirty="0" smtClean="0">
                                            <a:latin typeface="Cambria Math" panose="02040503050406030204" pitchFamily="18" charset="0"/>
                                            <a:ea typeface="Arial"/>
                                            <a:cs typeface="Arial"/>
                                            <a:sym typeface="Arial"/>
                                          </a:rPr>
                                          <m:t>2</m:t>
                                        </m:r>
                                      </m:sup>
                                    </m:sSup>
                                  </m:den>
                                </m:f>
                              </m:e>
                              <m:e>
                                <m:f>
                                  <m:fPr>
                                    <m:ctrlPr>
                                      <a:rPr lang="en-US" sz="2400" i="1" dirty="0" smtClean="0">
                                        <a:latin typeface="Cambria Math" panose="02040503050406030204" pitchFamily="18" charset="0"/>
                                        <a:ea typeface="Arial"/>
                                        <a:cs typeface="Arial"/>
                                        <a:sym typeface="Arial"/>
                                      </a:rPr>
                                    </m:ctrlPr>
                                  </m:fPr>
                                  <m:num>
                                    <m:r>
                                      <a:rPr lang="en-US" sz="2400" i="1" dirty="0" smtClean="0">
                                        <a:latin typeface="Cambria Math" panose="02040503050406030204" pitchFamily="18" charset="0"/>
                                        <a:ea typeface="Arial"/>
                                        <a:cs typeface="Arial"/>
                                        <a:sym typeface="Arial"/>
                                      </a:rPr>
                                      <m:t>𝑋</m:t>
                                    </m:r>
                                  </m:num>
                                  <m:den>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𝑟</m:t>
                                        </m:r>
                                      </m:e>
                                      <m:sup>
                                        <m:r>
                                          <a:rPr lang="en-US" sz="2400" i="1" dirty="0" smtClean="0">
                                            <a:latin typeface="Cambria Math" panose="02040503050406030204" pitchFamily="18" charset="0"/>
                                            <a:ea typeface="Arial"/>
                                            <a:cs typeface="Arial"/>
                                            <a:sym typeface="Arial"/>
                                          </a:rPr>
                                          <m:t>2</m:t>
                                        </m:r>
                                      </m:sup>
                                    </m:sSup>
                                  </m:den>
                                </m:f>
                              </m:e>
                              <m:e>
                                <m:r>
                                  <a:rPr lang="en-US" sz="2400" i="1" dirty="0" smtClean="0">
                                    <a:latin typeface="Cambria Math" panose="02040503050406030204" pitchFamily="18" charset="0"/>
                                    <a:ea typeface="Arial"/>
                                    <a:cs typeface="Arial"/>
                                    <a:sym typeface="Arial"/>
                                  </a:rPr>
                                  <m:t>0</m:t>
                                </m:r>
                              </m:e>
                            </m:mr>
                          </m:m>
                        </m:e>
                      </m: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calculate this exact matrix </a:t>
                </a:r>
                <a:r>
                  <a:rPr lang="en-US" sz="2400" b="1" dirty="0">
                    <a:latin typeface="Atkinson Hyperlegible Next"/>
                    <a:ea typeface="Arial"/>
                    <a:cs typeface="Arial"/>
                    <a:sym typeface="Arial"/>
                  </a:rPr>
                  <a:t>every single loop </a:t>
                </a:r>
                <a:r>
                  <a:rPr lang="en-US" sz="2400" dirty="0">
                    <a:latin typeface="Atkinson Hyperlegible Next"/>
                    <a:ea typeface="Arial"/>
                    <a:cs typeface="Arial"/>
                    <a:sym typeface="Arial"/>
                  </a:rPr>
                  <a:t>using our predicted </a:t>
                </a:r>
                <a14:m>
                  <m:oMath xmlns:m="http://schemas.openxmlformats.org/officeDocument/2006/math">
                    <m:r>
                      <a:rPr lang="en-US" sz="2400" i="1" dirty="0" smtClean="0">
                        <a:latin typeface="Cambria Math" panose="02040503050406030204" pitchFamily="18" charset="0"/>
                        <a:ea typeface="Arial"/>
                        <a:cs typeface="Arial"/>
                        <a:sym typeface="Arial"/>
                      </a:rPr>
                      <m:t>𝑋</m:t>
                    </m:r>
                  </m:oMath>
                </a14:m>
                <a:r>
                  <a:rPr lang="en-US" sz="2400" dirty="0">
                    <a:latin typeface="Atkinson Hyperlegible Next"/>
                    <a:ea typeface="Arial"/>
                    <a:cs typeface="Arial"/>
                    <a:sym typeface="Arial"/>
                  </a:rPr>
                  <a:t> and </a:t>
                </a:r>
                <a14:m>
                  <m:oMath xmlns:m="http://schemas.openxmlformats.org/officeDocument/2006/math">
                    <m:r>
                      <a:rPr lang="en-US" sz="2400" i="1" dirty="0" smtClean="0">
                        <a:latin typeface="Cambria Math" panose="02040503050406030204" pitchFamily="18" charset="0"/>
                        <a:ea typeface="Arial"/>
                        <a:cs typeface="Arial"/>
                        <a:sym typeface="Arial"/>
                      </a:rPr>
                      <m:t>𝑌</m:t>
                    </m:r>
                  </m:oMath>
                </a14:m>
                <a:r>
                  <a:rPr lang="en-US" sz="2400" dirty="0">
                    <a:latin typeface="Atkinson Hyperlegible Next"/>
                    <a:ea typeface="Arial"/>
                    <a:cs typeface="Arial"/>
                    <a:sym typeface="Arial"/>
                  </a:rPr>
                  <a:t> values.</a:t>
                </a:r>
              </a:p>
            </p:txBody>
          </p:sp>
        </mc:Choice>
        <mc:Fallback xmlns="">
          <p:sp>
            <p:nvSpPr>
              <p:cNvPr id="118" name="Google Shape;118;p29">
                <a:extLst>
                  <a:ext uri="{FF2B5EF4-FFF2-40B4-BE49-F238E27FC236}">
                    <a16:creationId xmlns:a16="http://schemas.microsoft.com/office/drawing/2014/main" id="{5D5ABC27-4246-7A4E-84BA-4E6FC0D67F4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65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60D6E75-E0DD-378E-6984-E23347EA9BE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0402F8B-DFF9-EE34-1AF5-9DC30D47C06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(19/22)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24BDFCE-0081-6A99-FC1E-45AF39BC116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515A7CE-31C7-8004-CE18-51279CF86D7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5ADE0A2-0282-B736-4631-26C9581A0CA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DF356D2-64E2-79CE-16A7-0F15A1E4609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7439657-065E-F57C-9DCA-558D212E154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CCE1488-4729-34E5-BEE8-FE26F31A428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360989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7108140-61AE-4941-CD72-096BF4ED673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7A51193-575C-E6C4-2881-BF811DADFBB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Now that we have our non-linear </a:t>
                </a:r>
                <a14:m>
                  <m:oMath xmlns:m="http://schemas.openxmlformats.org/officeDocument/2006/math">
                    <m:r>
                      <a:rPr lang="en-US" sz="2400" i="1" dirty="0" smtClean="0">
                        <a:latin typeface="Cambria Math" panose="02040503050406030204" pitchFamily="18" charset="0"/>
                        <a:ea typeface="Arial"/>
                        <a:cs typeface="Arial"/>
                        <a:sym typeface="Arial"/>
                      </a:rPr>
                      <m:t>h</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𝑥</m:t>
                        </m:r>
                      </m:e>
                    </m:d>
                  </m:oMath>
                </a14:m>
                <a:r>
                  <a:rPr lang="en-US" sz="2400" dirty="0">
                    <a:latin typeface="Atkinson Hyperlegible Next"/>
                    <a:ea typeface="Arial"/>
                    <a:cs typeface="Arial"/>
                    <a:sym typeface="Arial"/>
                  </a:rPr>
                  <a:t> and our linear Jacobian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𝐻</m:t>
                        </m:r>
                      </m:e>
                      <m:sub>
                        <m:r>
                          <a:rPr lang="en-US" sz="2400" i="1" dirty="0" err="1" smtClean="0">
                            <a:latin typeface="Cambria Math" panose="02040503050406030204" pitchFamily="18" charset="0"/>
                            <a:ea typeface="Arial"/>
                            <a:cs typeface="Arial"/>
                            <a:sym typeface="Arial"/>
                          </a:rPr>
                          <m:t>𝑘</m:t>
                        </m:r>
                      </m:sub>
                    </m:sSub>
                  </m:oMath>
                </a14:m>
                <a:r>
                  <a:rPr lang="en-US" sz="2400" dirty="0">
                    <a:latin typeface="Atkinson Hyperlegible Next"/>
                    <a:ea typeface="Arial"/>
                    <a:cs typeface="Arial"/>
                    <a:sym typeface="Arial"/>
                  </a:rPr>
                  <a:t>, we execute the EKF Update step:</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1. Calculate Kalman Gain:</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𝐾</m:t>
                          </m:r>
                        </m:e>
                        <m:sub>
                          <m:r>
                            <a:rPr lang="en-US" sz="2400" i="1" dirty="0" err="1" smtClean="0">
                              <a:latin typeface="Cambria Math" panose="02040503050406030204" pitchFamily="18" charset="0"/>
                              <a:ea typeface="Arial"/>
                              <a:cs typeface="Arial"/>
                              <a:sym typeface="Arial"/>
                            </a:rPr>
                            <m:t>𝑘</m:t>
                          </m:r>
                        </m:sub>
                      </m:sSub>
                      <m:r>
                        <a:rPr lang="en-US" sz="2400" i="1" dirty="0" smtClean="0">
                          <a:latin typeface="Cambria Math" panose="02040503050406030204" pitchFamily="18" charset="0"/>
                          <a:ea typeface="Arial"/>
                          <a:cs typeface="Arial"/>
                          <a:sym typeface="Arial"/>
                        </a:rPr>
                        <m:t>=</m:t>
                      </m:r>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𝑃</m:t>
                          </m:r>
                        </m:e>
                        <m:sub>
                          <m:r>
                            <a:rPr lang="en-US" sz="2400" i="1" dirty="0" smtClean="0">
                              <a:latin typeface="Cambria Math" panose="02040503050406030204" pitchFamily="18" charset="0"/>
                              <a:ea typeface="Arial"/>
                              <a:cs typeface="Arial"/>
                              <a:sym typeface="Arial"/>
                            </a:rPr>
                            <m:t>𝑘𝑘</m:t>
                          </m:r>
                          <m:r>
                            <a:rPr lang="en-US" sz="2400" i="1" dirty="0" smtClean="0">
                              <a:latin typeface="Cambria Math" panose="02040503050406030204" pitchFamily="18" charset="0"/>
                              <a:ea typeface="Arial"/>
                              <a:cs typeface="Arial"/>
                              <a:sym typeface="Arial"/>
                            </a:rPr>
                            <m:t>−1</m:t>
                          </m:r>
                        </m:sub>
                      </m:sSub>
                      <m:sSubSup>
                        <m:sSubSupPr>
                          <m:ctrlPr>
                            <a:rPr lang="en-US" sz="2400" i="1" dirty="0" err="1" smtClean="0">
                              <a:latin typeface="Cambria Math" panose="02040503050406030204" pitchFamily="18" charset="0"/>
                              <a:ea typeface="Arial"/>
                              <a:cs typeface="Arial"/>
                              <a:sym typeface="Arial"/>
                            </a:rPr>
                          </m:ctrlPr>
                        </m:sSubSupPr>
                        <m:e>
                          <m:r>
                            <a:rPr lang="en-US" sz="2400" i="1" dirty="0" err="1" smtClean="0">
                              <a:latin typeface="Cambria Math" panose="02040503050406030204" pitchFamily="18" charset="0"/>
                              <a:ea typeface="Arial"/>
                              <a:cs typeface="Arial"/>
                              <a:sym typeface="Arial"/>
                            </a:rPr>
                            <m:t>𝐻</m:t>
                          </m:r>
                        </m:e>
                        <m:sub>
                          <m:r>
                            <a:rPr lang="en-US" sz="2400" i="1" dirty="0" err="1" smtClean="0">
                              <a:latin typeface="Cambria Math" panose="02040503050406030204" pitchFamily="18" charset="0"/>
                              <a:ea typeface="Arial"/>
                              <a:cs typeface="Arial"/>
                              <a:sym typeface="Arial"/>
                            </a:rPr>
                            <m:t>𝑘</m:t>
                          </m:r>
                        </m:sub>
                        <m:sup>
                          <m:r>
                            <a:rPr lang="en-US" sz="2400" i="1" dirty="0" err="1" smtClean="0">
                              <a:latin typeface="Cambria Math" panose="02040503050406030204" pitchFamily="18" charset="0"/>
                              <a:ea typeface="Arial"/>
                              <a:cs typeface="Arial"/>
                              <a:sym typeface="Arial"/>
                            </a:rPr>
                            <m:t>𝑇</m:t>
                          </m:r>
                        </m:sup>
                      </m:sSubSup>
                      <m:sSup>
                        <m:sSupPr>
                          <m:ctrlPr>
                            <a:rPr lang="en-US" sz="2400" i="1" dirty="0" smtClean="0">
                              <a:latin typeface="Cambria Math" panose="02040503050406030204" pitchFamily="18" charset="0"/>
                              <a:ea typeface="Arial"/>
                              <a:cs typeface="Arial"/>
                              <a:sym typeface="Arial"/>
                            </a:rPr>
                          </m:ctrlPr>
                        </m:sSupPr>
                        <m:e>
                          <m:d>
                            <m:dPr>
                              <m:ctrlPr>
                                <a:rPr lang="en-US" sz="2400" i="1" dirty="0" smtClean="0">
                                  <a:latin typeface="Cambria Math" panose="02040503050406030204" pitchFamily="18" charset="0"/>
                                  <a:ea typeface="Arial"/>
                                  <a:cs typeface="Arial"/>
                                  <a:sym typeface="Arial"/>
                                </a:rPr>
                              </m:ctrlPr>
                            </m:dPr>
                            <m:e>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𝐻</m:t>
                                  </m:r>
                                </m:e>
                                <m:sub>
                                  <m:r>
                                    <a:rPr lang="en-US" sz="2400" i="1" dirty="0" err="1" smtClean="0">
                                      <a:latin typeface="Cambria Math" panose="02040503050406030204" pitchFamily="18" charset="0"/>
                                      <a:ea typeface="Arial"/>
                                      <a:cs typeface="Arial"/>
                                      <a:sym typeface="Arial"/>
                                    </a:rPr>
                                    <m:t>𝑘</m:t>
                                  </m:r>
                                </m:sub>
                              </m:sSub>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𝑃</m:t>
                                  </m:r>
                                </m:e>
                                <m:sub>
                                  <m:r>
                                    <a:rPr lang="en-US" sz="2400" i="1" dirty="0" smtClean="0">
                                      <a:latin typeface="Cambria Math" panose="02040503050406030204" pitchFamily="18" charset="0"/>
                                      <a:ea typeface="Arial"/>
                                      <a:cs typeface="Arial"/>
                                      <a:sym typeface="Arial"/>
                                    </a:rPr>
                                    <m:t>𝑘𝑘</m:t>
                                  </m:r>
                                  <m:r>
                                    <a:rPr lang="en-US" sz="2400" i="1" dirty="0" smtClean="0">
                                      <a:latin typeface="Cambria Math" panose="02040503050406030204" pitchFamily="18" charset="0"/>
                                      <a:ea typeface="Arial"/>
                                      <a:cs typeface="Arial"/>
                                      <a:sym typeface="Arial"/>
                                    </a:rPr>
                                    <m:t>−1</m:t>
                                  </m:r>
                                </m:sub>
                              </m:sSub>
                              <m:sSubSup>
                                <m:sSubSupPr>
                                  <m:ctrlPr>
                                    <a:rPr lang="en-US" sz="2400" i="1" dirty="0" err="1" smtClean="0">
                                      <a:latin typeface="Cambria Math" panose="02040503050406030204" pitchFamily="18" charset="0"/>
                                      <a:ea typeface="Arial"/>
                                      <a:cs typeface="Arial"/>
                                      <a:sym typeface="Arial"/>
                                    </a:rPr>
                                  </m:ctrlPr>
                                </m:sSubSupPr>
                                <m:e>
                                  <m:r>
                                    <a:rPr lang="en-US" sz="2400" i="1" dirty="0" err="1" smtClean="0">
                                      <a:latin typeface="Cambria Math" panose="02040503050406030204" pitchFamily="18" charset="0"/>
                                      <a:ea typeface="Arial"/>
                                      <a:cs typeface="Arial"/>
                                      <a:sym typeface="Arial"/>
                                    </a:rPr>
                                    <m:t>𝐻</m:t>
                                  </m:r>
                                </m:e>
                                <m:sub>
                                  <m:r>
                                    <a:rPr lang="en-US" sz="2400" i="1" dirty="0" err="1" smtClean="0">
                                      <a:latin typeface="Cambria Math" panose="02040503050406030204" pitchFamily="18" charset="0"/>
                                      <a:ea typeface="Arial"/>
                                      <a:cs typeface="Arial"/>
                                      <a:sym typeface="Arial"/>
                                    </a:rPr>
                                    <m:t>𝑘</m:t>
                                  </m:r>
                                </m:sub>
                                <m:sup>
                                  <m:r>
                                    <a:rPr lang="en-US" sz="2400" i="1" dirty="0" err="1" smtClean="0">
                                      <a:latin typeface="Cambria Math" panose="02040503050406030204" pitchFamily="18" charset="0"/>
                                      <a:ea typeface="Arial"/>
                                      <a:cs typeface="Arial"/>
                                      <a:sym typeface="Arial"/>
                                    </a:rPr>
                                    <m:t>𝑇</m:t>
                                  </m:r>
                                </m:sup>
                              </m:sSubSup>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𝑅</m:t>
                              </m:r>
                            </m:e>
                          </m:d>
                        </m:e>
                        <m:sup>
                          <m:r>
                            <a:rPr lang="en-US" sz="2400" i="1" dirty="0" smtClean="0">
                              <a:latin typeface="Cambria Math" panose="02040503050406030204" pitchFamily="18" charset="0"/>
                              <a:ea typeface="Arial"/>
                              <a:cs typeface="Arial"/>
                              <a:sym typeface="Arial"/>
                            </a:rPr>
                            <m:t>−1</m:t>
                          </m:r>
                        </m:sup>
                      </m:sSup>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2. Correct the State: (Notice we use </a:t>
                </a:r>
                <a14:m>
                  <m:oMath xmlns:m="http://schemas.openxmlformats.org/officeDocument/2006/math">
                    <m:r>
                      <a:rPr lang="en-US" sz="2400" i="1" dirty="0" smtClean="0">
                        <a:latin typeface="Cambria Math" panose="02040503050406030204" pitchFamily="18" charset="0"/>
                        <a:ea typeface="Arial"/>
                        <a:cs typeface="Arial"/>
                        <a:sym typeface="Arial"/>
                      </a:rPr>
                      <m:t>h</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𝑥</m:t>
                        </m:r>
                      </m:e>
                    </m:d>
                  </m:oMath>
                </a14:m>
                <a:r>
                  <a:rPr lang="en-US" sz="2400" dirty="0">
                    <a:latin typeface="Atkinson Hyperlegible Next"/>
                    <a:ea typeface="Arial"/>
                    <a:cs typeface="Arial"/>
                    <a:sym typeface="Arial"/>
                  </a:rPr>
                  <a:t> to calculate the residual, not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𝐻</m:t>
                        </m:r>
                      </m:e>
                      <m:sub>
                        <m:r>
                          <a:rPr lang="en-US" sz="2400" i="1" dirty="0" err="1" smtClean="0">
                            <a:latin typeface="Cambria Math" panose="02040503050406030204" pitchFamily="18" charset="0"/>
                            <a:ea typeface="Arial"/>
                            <a:cs typeface="Arial"/>
                            <a:sym typeface="Arial"/>
                          </a:rPr>
                          <m:t>𝑘</m:t>
                        </m:r>
                      </m:sub>
                    </m:sSub>
                  </m:oMath>
                </a14:m>
                <a:r>
                  <a:rPr lang="en-US" sz="2400" dirty="0">
                    <a:latin typeface="Atkinson Hyperlegible Next"/>
                    <a:ea typeface="Arial"/>
                    <a:cs typeface="Arial"/>
                    <a:sym typeface="Arial"/>
                  </a:rPr>
                  <a: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𝑥</m:t>
                          </m:r>
                        </m:e>
                        <m:sub>
                          <m:r>
                            <a:rPr lang="en-US" sz="2400" i="1" dirty="0" err="1" smtClean="0">
                              <a:latin typeface="Cambria Math" panose="02040503050406030204" pitchFamily="18" charset="0"/>
                              <a:ea typeface="Arial"/>
                              <a:cs typeface="Arial"/>
                              <a:sym typeface="Arial"/>
                            </a:rPr>
                            <m:t>𝑘</m:t>
                          </m:r>
                          <m:r>
                            <a:rPr lang="en-US" sz="2400" b="0" i="1" dirty="0" smtClean="0">
                              <a:latin typeface="Cambria Math" panose="02040503050406030204" pitchFamily="18" charset="0"/>
                              <a:ea typeface="Arial"/>
                              <a:cs typeface="Arial"/>
                              <a:sym typeface="Arial"/>
                            </a:rPr>
                            <m:t>|</m:t>
                          </m:r>
                          <m:r>
                            <a:rPr lang="en-US" sz="2400" i="1" dirty="0" err="1" smtClean="0">
                              <a:latin typeface="Cambria Math" panose="02040503050406030204" pitchFamily="18" charset="0"/>
                              <a:ea typeface="Arial"/>
                              <a:cs typeface="Arial"/>
                              <a:sym typeface="Arial"/>
                            </a:rPr>
                            <m:t>𝑘</m:t>
                          </m:r>
                        </m:sub>
                      </m:sSub>
                      <m:r>
                        <a:rPr lang="en-US" sz="2400" i="1" dirty="0" smtClean="0">
                          <a:latin typeface="Cambria Math" panose="02040503050406030204" pitchFamily="18" charset="0"/>
                          <a:ea typeface="Arial"/>
                          <a:cs typeface="Arial"/>
                          <a:sym typeface="Arial"/>
                        </a:rPr>
                        <m:t>=</m:t>
                      </m:r>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𝑥</m:t>
                          </m:r>
                        </m:e>
                        <m:sub>
                          <m:r>
                            <a:rPr lang="en-US" sz="2400" i="1" dirty="0" smtClean="0">
                              <a:latin typeface="Cambria Math" panose="02040503050406030204" pitchFamily="18" charset="0"/>
                              <a:ea typeface="Arial"/>
                              <a:cs typeface="Arial"/>
                              <a:sym typeface="Arial"/>
                            </a:rPr>
                            <m:t>𝑘</m:t>
                          </m:r>
                          <m:r>
                            <a:rPr lang="en-US" sz="2400" b="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𝑘</m:t>
                          </m:r>
                          <m:r>
                            <a:rPr lang="en-US" sz="2400" i="1" dirty="0" smtClean="0">
                              <a:latin typeface="Cambria Math" panose="02040503050406030204" pitchFamily="18" charset="0"/>
                              <a:ea typeface="Arial"/>
                              <a:cs typeface="Arial"/>
                              <a:sym typeface="Arial"/>
                            </a:rPr>
                            <m:t>−1</m:t>
                          </m:r>
                        </m:sub>
                      </m:sSub>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𝐾</m:t>
                          </m:r>
                        </m:e>
                        <m:sub>
                          <m:r>
                            <a:rPr lang="en-US" sz="2400" i="1" dirty="0" err="1" smtClean="0">
                              <a:latin typeface="Cambria Math" panose="02040503050406030204" pitchFamily="18" charset="0"/>
                              <a:ea typeface="Arial"/>
                              <a:cs typeface="Arial"/>
                              <a:sym typeface="Arial"/>
                            </a:rPr>
                            <m:t>𝑘</m:t>
                          </m:r>
                        </m:sub>
                      </m:sSub>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𝑧</m:t>
                              </m:r>
                            </m:e>
                            <m:sub>
                              <m:r>
                                <a:rPr lang="en-US" sz="2400" i="1" dirty="0" smtClean="0">
                                  <a:latin typeface="Cambria Math" panose="02040503050406030204" pitchFamily="18" charset="0"/>
                                  <a:ea typeface="Arial"/>
                                  <a:cs typeface="Arial"/>
                                  <a:sym typeface="Arial"/>
                                </a:rPr>
                                <m:t>𝑚𝑒𝑎𝑠𝑢𝑟𝑒𝑑</m:t>
                              </m:r>
                            </m:sub>
                          </m:sSub>
                          <m:r>
                            <a:rPr lang="en-US" sz="2400" i="1" dirty="0" smtClean="0">
                              <a:latin typeface="Cambria Math" panose="02040503050406030204" pitchFamily="18" charset="0"/>
                              <a:ea typeface="Arial"/>
                              <a:cs typeface="Arial"/>
                              <a:sym typeface="Arial"/>
                            </a:rPr>
                            <m:t>−</m:t>
                          </m:r>
                          <m:d>
                            <m:dPr>
                              <m:begChr m:val="["/>
                              <m:endChr m:val="]"/>
                              <m:ctrlPr>
                                <a:rPr lang="en-US" sz="240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400" i="1" dirty="0" smtClean="0">
                                      <a:latin typeface="Cambria Math" panose="02040503050406030204" pitchFamily="18" charset="0"/>
                                      <a:ea typeface="Arial"/>
                                      <a:cs typeface="Arial"/>
                                      <a:sym typeface="Arial"/>
                                    </a:rPr>
                                  </m:ctrlPr>
                                </m:mPr>
                                <m:mr>
                                  <m:e>
                                    <m:rad>
                                      <m:radPr>
                                        <m:degHide m:val="on"/>
                                        <m:ctrlPr>
                                          <a:rPr lang="en-US" sz="2400" i="1" dirty="0" smtClean="0">
                                            <a:latin typeface="Cambria Math" panose="02040503050406030204" pitchFamily="18" charset="0"/>
                                            <a:ea typeface="Arial"/>
                                            <a:cs typeface="Arial"/>
                                            <a:sym typeface="Arial"/>
                                          </a:rPr>
                                        </m:ctrlPr>
                                      </m:radPr>
                                      <m:deg/>
                                      <m:e>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𝑋</m:t>
                                            </m:r>
                                          </m:e>
                                          <m:sup>
                                            <m:r>
                                              <a:rPr lang="en-US" sz="2400" i="1" dirty="0" smtClean="0">
                                                <a:latin typeface="Cambria Math" panose="02040503050406030204" pitchFamily="18" charset="0"/>
                                                <a:ea typeface="Arial"/>
                                                <a:cs typeface="Arial"/>
                                                <a:sym typeface="Arial"/>
                                              </a:rPr>
                                              <m:t>2</m:t>
                                            </m:r>
                                          </m:sup>
                                        </m:sSup>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𝑌</m:t>
                                            </m:r>
                                          </m:e>
                                          <m:sup>
                                            <m:r>
                                              <a:rPr lang="en-US" sz="2400" i="1" dirty="0" smtClean="0">
                                                <a:latin typeface="Cambria Math" panose="02040503050406030204" pitchFamily="18" charset="0"/>
                                                <a:ea typeface="Arial"/>
                                                <a:cs typeface="Arial"/>
                                                <a:sym typeface="Arial"/>
                                              </a:rPr>
                                              <m:t>2</m:t>
                                            </m:r>
                                          </m:sup>
                                        </m:sSup>
                                      </m:e>
                                    </m:rad>
                                  </m:e>
                                </m:mr>
                                <m:mr>
                                  <m:e>
                                    <m:func>
                                      <m:funcPr>
                                        <m:ctrlPr>
                                          <a:rPr lang="en-US" sz="240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arctan</m:t>
                                        </m:r>
                                      </m:fName>
                                      <m:e>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𝑌</m:t>
                                            </m:r>
                                            <m:r>
                                              <m:rPr>
                                                <m:lit/>
                                              </m:rP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𝑋</m:t>
                                            </m:r>
                                          </m:e>
                                        </m:d>
                                      </m:e>
                                    </m:func>
                                  </m:e>
                                </m:mr>
                              </m:m>
                            </m:e>
                          </m:d>
                        </m:e>
                      </m: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3. Shrink Covariance:</a:t>
                </a:r>
                <a:endParaRPr lang="en-US" sz="24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𝑃</m:t>
                          </m:r>
                        </m:e>
                        <m:sub>
                          <m:r>
                            <a:rPr lang="en-US" sz="2400" i="1" dirty="0" smtClean="0">
                              <a:latin typeface="Cambria Math" panose="02040503050406030204" pitchFamily="18" charset="0"/>
                              <a:ea typeface="Arial"/>
                              <a:cs typeface="Arial"/>
                              <a:sym typeface="Arial"/>
                            </a:rPr>
                            <m:t>𝑘𝑘</m:t>
                          </m:r>
                        </m:sub>
                      </m:sSub>
                      <m:r>
                        <a:rPr lang="en-US" sz="2400" i="1" dirty="0" smtClean="0">
                          <a:latin typeface="Cambria Math" panose="02040503050406030204" pitchFamily="18" charset="0"/>
                          <a:ea typeface="Arial"/>
                          <a:cs typeface="Arial"/>
                          <a:sym typeface="Arial"/>
                        </a:rPr>
                        <m:t>=</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𝐼</m:t>
                          </m:r>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𝐾</m:t>
                              </m:r>
                            </m:e>
                            <m:sub>
                              <m:r>
                                <a:rPr lang="en-US" sz="2400" i="1" dirty="0" err="1" smtClean="0">
                                  <a:latin typeface="Cambria Math" panose="02040503050406030204" pitchFamily="18" charset="0"/>
                                  <a:ea typeface="Arial"/>
                                  <a:cs typeface="Arial"/>
                                  <a:sym typeface="Arial"/>
                                </a:rPr>
                                <m:t>𝑘</m:t>
                              </m:r>
                            </m:sub>
                          </m:sSub>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𝐻</m:t>
                              </m:r>
                            </m:e>
                            <m:sub>
                              <m:r>
                                <a:rPr lang="en-US" sz="2400" i="1" dirty="0" err="1" smtClean="0">
                                  <a:latin typeface="Cambria Math" panose="02040503050406030204" pitchFamily="18" charset="0"/>
                                  <a:ea typeface="Arial"/>
                                  <a:cs typeface="Arial"/>
                                  <a:sym typeface="Arial"/>
                                </a:rPr>
                                <m:t>𝑘</m:t>
                              </m:r>
                            </m:sub>
                          </m:sSub>
                        </m:e>
                      </m:d>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𝑃</m:t>
                          </m:r>
                        </m:e>
                        <m:sub>
                          <m:r>
                            <a:rPr lang="en-US" sz="2400" i="1" dirty="0" smtClean="0">
                              <a:latin typeface="Cambria Math" panose="02040503050406030204" pitchFamily="18" charset="0"/>
                              <a:ea typeface="Arial"/>
                              <a:cs typeface="Arial"/>
                              <a:sym typeface="Arial"/>
                            </a:rPr>
                            <m:t>𝑘𝑘</m:t>
                          </m:r>
                          <m:r>
                            <a:rPr lang="en-US" sz="2400" i="1" dirty="0" smtClean="0">
                              <a:latin typeface="Cambria Math" panose="02040503050406030204" pitchFamily="18" charset="0"/>
                              <a:ea typeface="Arial"/>
                              <a:cs typeface="Arial"/>
                              <a:sym typeface="Arial"/>
                            </a:rPr>
                            <m:t>−1</m:t>
                          </m:r>
                        </m:sub>
                      </m:sSub>
                    </m:oMath>
                  </m:oMathPara>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B7A51193-575C-E6C4-2881-BF811DADFBBC}"/>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514259F-0756-0FCF-AFDF-44EA3CD0E3C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47FD8E7-73BE-2716-E570-010B88D8854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(20/22)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F9B3BB7-8093-6975-3E68-39A07744863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7D977A5-2CF1-FC27-9394-BC9EDCF1740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AE2138F-EC52-A5CB-7F0E-EA71A236C63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A46873A-580F-F0B1-16E4-2D3BFCBF40C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E8409B2-AD12-126B-0D85-9D1C6E782D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FC5B4C0-5913-7635-8B9E-C99FFDEAD93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80612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E798335-A1A1-BF5C-D7A2-B8CB0276E82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C3765FE-088C-F3B4-29C1-668D02CDC16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And that’s it! That’s the extended Kalman filter!</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There are more complex filters out there such as Particle Filters, Unscented filters, Lie Group Kalman Filters.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But all they are trying to do is improve the estimate of the non-linearity in the system!</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Everything else is the same, they all have update and predict steps!</a:t>
            </a:r>
          </a:p>
        </p:txBody>
      </p:sp>
      <p:sp>
        <p:nvSpPr>
          <p:cNvPr id="119" name="Google Shape;119;p29">
            <a:extLst>
              <a:ext uri="{FF2B5EF4-FFF2-40B4-BE49-F238E27FC236}">
                <a16:creationId xmlns:a16="http://schemas.microsoft.com/office/drawing/2014/main" id="{7E95A136-82EF-9A5F-3185-247275EC399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D14A5D9-ECA7-B426-88C4-B5D3CDEC9B0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(21/22)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B3E9316-A1D8-FDAF-2D9D-0E93CE02693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6C8E7C6-F27F-2648-AC21-A415DD58D0E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5296CAE-69CA-75CB-BFF0-A9C94618BD7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06B5DC2-645E-0818-A2C8-3C05E6F6BFF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40C1522-D7D8-1959-34B5-D287562CF17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6E0C3D8-9FB2-8A1B-AAEF-11DC1465ED5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373013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8E29F8F-5303-E70F-FFE6-D3708965697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A34BB72-C316-DC73-E098-486F9838DBA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486E2CD-5C47-312A-64AC-58DE2176825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Extended Kalman Filter (22/22)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E01A1CA-9AB2-C015-A9CE-6B669611221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9E54AF5-726E-3BBE-0C25-CC30FB0AD65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8C09236-C978-6C24-8B69-B3538B13579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692FCE9-D90F-0223-04EF-9D6345D047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D6E96C1-913A-FC30-E19D-AE3A7565E2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68910D3-9E8A-74FA-0490-2AD4CE5BBE6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Robot pose uncertainty after moving from the start at (0, 0) along a nominal update arrow to about (3.5, 3.5), axes are global x and y position. Monte Carlo particles form a curved banana-shaped arc, running from about (−5, 2) over the top near y = 5 and down to about (5, −4). The dashed orange-red EKF Cartesian 2-sigma ellipse is a straight tilted ellipse that misses much of the arc. The green Lie group SE(2) 2-sigma bound bends with the particles and fits the dense region better.">
            <a:extLst>
              <a:ext uri="{FF2B5EF4-FFF2-40B4-BE49-F238E27FC236}">
                <a16:creationId xmlns:a16="http://schemas.microsoft.com/office/drawing/2014/main" id="{FB821CD5-ADF9-81BC-13BF-E2E66DCE4CC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203137" y="868221"/>
            <a:ext cx="5785727" cy="5785727"/>
          </a:xfrm>
          <a:prstGeom prst="rect">
            <a:avLst/>
          </a:prstGeom>
        </p:spPr>
      </p:pic>
    </p:spTree>
    <p:extLst>
      <p:ext uri="{BB962C8B-B14F-4D97-AF65-F5344CB8AC3E}">
        <p14:creationId xmlns:p14="http://schemas.microsoft.com/office/powerpoint/2010/main" val="22580669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Lectures 20–21</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1471</TotalTime>
  <Words>5606</Words>
  <Application>Microsoft Office PowerPoint</Application>
  <PresentationFormat>Widescreen</PresentationFormat>
  <Paragraphs>926</Paragraphs>
  <Slides>100</Slides>
  <Notes>100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100</vt:i4>
      </vt:variant>
    </vt:vector>
  </HeadingPairs>
  <TitlesOfParts>
    <vt:vector size="104"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326</cp:revision>
  <dcterms:created xsi:type="dcterms:W3CDTF">2019-01-14T22:06:33Z</dcterms:created>
  <dcterms:modified xsi:type="dcterms:W3CDTF">2026-04-08T13:45:38Z</dcterms:modified>
</cp:coreProperties>
</file>